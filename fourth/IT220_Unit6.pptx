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Draw out 'all-or-nothing'. Agenda: what a transaction is → single vs multi-user → why things fail → transaction states → the system log.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Say the eSewa transfer aloud as read Rita → debit 500 → credit Hari → commit. One unit, many steps.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min. Preview: two people paying the same NEA bill in the same second — a concurrency problem we'll fix in S39.</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min. Local example: load-shedding kills a bank server mid-batch; a Ntc data-center power trip. Different failures, different fixes.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Walk the eSewa transfer around the diagram — commit is the point of no return; before that a failure just rolls back.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Analogy: the log is like a shopkeeper's khata (ledger) — every entry recorded before acting, so nothing is lost.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Draw out the partially-committed-is-not-safe point and the log's undo/redo role.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Introduce ACID as four promises, each preventing a specific eSewa failure. Agenda: A → C → I → D → ACID as a checklist.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eSewa: both the debit AND the credit, or roll back both. Never one without the other.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Show the sum: before = Rita 2000 + Hari 1000 = 3000; after = 1500 + 1500 = 3000. The invariant holds.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Analogy: separate queues at separate bank counters — you don't grab cash from the next person's stack mid-count.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min. After eSewa shows 'Transfer successful', a power cut must NOT erase it. The committed log record guarantees this.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SOLVED PROBLEM [~8 min]. This is exam Q16 — students should be able to narrate the log trace and the three guarantees.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Draw out that atomicity ≠ consistency — a fully-run transaction can still be inconsistent if its logic is wrong.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Motivate correctness of interleaving. Agenda: schedules → the lost-update problem → serializable schedules → conflicting operations → the precedence graph.</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Show T1 (Rita +500) and T2 (Hari +300) on the family wallet, once serial, once interleaved.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Work the numbers: both read 1000, T1 writes 1500, T2 writes 1300 → final 1300, and T1's +500 is lost.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Analogy: interleaved tasks that, when you squint, are equivalent to doing one full task then the next.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T1's write on the wallet vs T2's read on the same wallet = conflict; two reads of the wallet = no conflict.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Draw one acyclic (serializable) and one cyclic (not) graph; stress cycle ≠ deadlock.</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SOLVED PROBLEM [~8 min]. Reinforce: cycle = not serializable, NOT deadlock. Optionally redraw a safe version (T1 reads/writes, then T2).</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Reinforce cycle-in-precedence-graph = not serializable, and read-read never conflicts.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Motivate locks and the deadlock risk. Agenda: locks (S/X) → the 2PL protocol → variants → deadlock → starvation.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T1 takes an X-lock on the wallet row to debit it; T2 wanting the same row must WAIT until T1 releases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Analogy: collect all your shopping first (growing), then start returning items (shrinking) — never grab again after returning starts.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Strict 2PL on the eSewa wallet: a half-committed debit is never read by another transaction.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T1 locks Rita's row &amp; wants Hari's; T2 locks Hari's row &amp; wants Rita's — neither can move.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 Contrast with deadlock: deadlock freezes several; starvation strands one while others proceed.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Reinforce phases (grow→shrink) and precedence-graph vs wait-for-graph cycles.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Contrast with locking. Agenda: timestamps → read/write timestamps on items → the basic TO protocol → Thomas's write rule → 2PL vs TO.</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Each eSewa transfer is stamped with its arrival time; the earlier one is the 'senior' transaction.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min. Draw item X with its two timestamps; every op is validated against them.</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A 'late' transaction trying to write a wallet already written by a 'newer' one is rolled back and restarted.</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 Show a write that is simply skipped because a newer write already replaced that value.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SOLVED PROBLEM [~8 min]. Contrast the basic-rule abort with the Thomas's-rule skip on the same trace.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Reinforce abort-and-restart (no waiting) and the no-deadlock-but-starvation trade-off.</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Motivate undo vs redo. Agenda: recovery concepts → caching, WAL → checkpoints → deferred update → its limitation.</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Post-crash, the DBMS scans the eSewa log to decide undo or redo per transaction.</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The key myth to kill: commit does NOT mean 'instantly on disk' — it means 'safely in the log'.</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Analogy: a save point in a video game — you never replay the whole game, just from the last save.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min. Rita's debit only hits the wallet table AFTER [commit,T]; crash before commit = DB never changed → no undo.</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 Bridge to S43: writing everything only at commit doesn't scale for huge updates.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SOLVED PROBLEM [~8 min]. This is the exam 'you find [start] but no [commit]' discussion made concrete.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Draw out no-undo (nothing written pre-commit) and WAL as the durability guarantee.</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Motivate UNDO and an alternative to logging. Agenda: immediate update → UNDO/REDO variants → recovery procedure → shadow paging → its pros/cons.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Rita's debit hits the wallet table immediately; if she aborts, UNDO restores the old balance from the log.</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Put the three techniques side by side in the table so the undo/redo needs are unmistakable.</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Walk the eSewa log after a crash: redo the committed transfer, undo the half-done one from its old values.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Analogy: edit a PHOTOCOPY; if happy, make the copy official (pointer flip); if not, tear it up and keep the original.</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 Note where the idea lives on: copy-on-write file systems and storage snapshots.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SOLVED PROBLEM [~8 min]. Contrast directly with the S42 deferred-update problem: there T2 needed no undo; here it does.</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Reinforce UNDO/REDO for immediate update and the atomic pointer flip for shadow paging.</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Distinguish catastrophic from ordinary failure. Agenda: catastrophic vs non-catastrophic → backups → 3-2-1 strategy → recovery procedure → RPO/RTO &amp; HA → Unit 6 synthesis.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2015-earthquake / fire / flood scenario for a Nepali bank data-center; ransomware wiping the disks.</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Backup + archived log = restore the last backup, then REDO from the archived log to the failure point.</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Analogy: keep a copy of your important documents at a relative's house in another town in case yours burns down.</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Data-center down at 3 PM; last full backup midnight + archived logs → reconstruct up to 3 PM.</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min. Bust the myth: backups protect data, HA/replication protects uptime — different goals, both needed.</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CAPSTONE [~8 min]. This is exam Q16–Q18 combined — the single 'one transfer, all concepts' narrative students should be able to give.</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Reinforce backup ≠ high availability and RPO (data) vs RTO (time).</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as a 20-minute review quiz. The per-session 2-MCQ checks above are retained for in-class use.</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Consolidated quiz Part A.</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Consolidated quiz Parts B–C. Model answers are on the concept slides and in Unit6_material.md.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3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3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40.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5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58.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6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7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2B4A"/>
        </a:solidFill>
        <a:effectLst/>
      </p:bgPr>
    </p:bg>
    <p:spTree>
      <p:nvGrpSpPr>
        <p:cNvPr id="1" name=""/>
        <p:cNvGrpSpPr/>
        <p:nvPr/>
      </p:nvGrpSpPr>
      <p:grpSpPr/>
      <p:sp>
        <p:nvSpPr>
          <p:cNvPr id="2" name="Rectangle 1"/>
          <p:cNvSpPr/>
          <p:nvPr/>
        </p:nvSpPr>
        <p:spPr>
          <a:xfrm>
            <a:off x="822960" y="2788920"/>
            <a:ext cx="1463040" cy="91440"/>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828800"/>
            <a:ext cx="10515600" cy="1005840"/>
          </a:xfrm>
          <a:prstGeom prst="rect">
            <a:avLst/>
          </a:prstGeom>
          <a:noFill/>
        </p:spPr>
        <p:txBody>
          <a:bodyPr wrap="square">
            <a:spAutoFit/>
          </a:bodyPr>
          <a:lstStyle/>
          <a:p>
            <a:r>
              <a:rPr sz="3300" b="1">
                <a:solidFill>
                  <a:srgbClr val="FFFFFF"/>
                </a:solidFill>
              </a:rPr>
              <a:t>Unit 6 — Transaction Processing, Concurrency Control &amp; Recovery</a:t>
            </a:r>
          </a:p>
        </p:txBody>
      </p:sp>
      <p:sp>
        <p:nvSpPr>
          <p:cNvPr id="4" name="TextBox 3"/>
          <p:cNvSpPr txBox="1"/>
          <p:nvPr/>
        </p:nvSpPr>
        <p:spPr>
          <a:xfrm>
            <a:off x="822960" y="3017520"/>
            <a:ext cx="10515600" cy="1097280"/>
          </a:xfrm>
          <a:prstGeom prst="rect">
            <a:avLst/>
          </a:prstGeom>
          <a:noFill/>
        </p:spPr>
        <p:txBody>
          <a:bodyPr wrap="square">
            <a:spAutoFit/>
          </a:bodyPr>
          <a:lstStyle/>
          <a:p>
            <a:r>
              <a:rPr sz="1800">
                <a:solidFill>
                  <a:srgbClr val="CFDDEA"/>
                </a:solidFill>
              </a:rPr>
              <a:t>IT 220: Database Management System  ·  BIM 4th Semester  ·  Sessions S37–S44</a:t>
            </a:r>
          </a:p>
        </p:txBody>
      </p:sp>
      <p:sp>
        <p:nvSpPr>
          <p:cNvPr id="5" name="TextBox 4"/>
          <p:cNvSpPr txBox="1"/>
          <p:nvPr/>
        </p:nvSpPr>
        <p:spPr>
          <a:xfrm>
            <a:off x="822960" y="5852160"/>
            <a:ext cx="10515600" cy="731520"/>
          </a:xfrm>
          <a:prstGeom prst="rect">
            <a:avLst/>
          </a:prstGeom>
          <a:noFill/>
        </p:spPr>
        <p:txBody>
          <a:bodyPr wrap="square">
            <a:spAutoFit/>
          </a:bodyPr>
          <a:lstStyle/>
          <a:p>
            <a:r>
              <a:rPr sz="1300">
                <a:solidFill>
                  <a:srgbClr val="9AB2C6"/>
                </a:solidFill>
              </a:rPr>
              <a:t>Self-contained slides with depth: every concept grounded in comparison &amp; concrete-example TABLES (Nepal / IT localised — eSewa, bank transfers, ticket booking). A running example (Rita sends Rs. 500 to Hari) threads the whole unit. Exports to PDF with no information lost.</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1 / 136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TRANSACTIONS · CONCURRENCY · RECOVERY  ·  S37–S44</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Unit 6 — Learning Outcomes</a:t>
            </a:r>
          </a:p>
        </p:txBody>
      </p:sp>
      <p:sp>
        <p:nvSpPr>
          <p:cNvPr id="5" name="TextBox 4"/>
          <p:cNvSpPr txBox="1"/>
          <p:nvPr/>
        </p:nvSpPr>
        <p:spPr>
          <a:xfrm>
            <a:off x="640080" y="1600200"/>
            <a:ext cx="10972800" cy="4206240"/>
          </a:xfrm>
          <a:prstGeom prst="rect">
            <a:avLst/>
          </a:prstGeom>
          <a:noFill/>
        </p:spPr>
        <p:txBody>
          <a:bodyPr wrap="square">
            <a:spAutoFit/>
          </a:bodyPr>
          <a:lstStyle/>
          <a:p>
            <a:pPr>
              <a:spcAft>
                <a:spcPts val="800"/>
              </a:spcAft>
            </a:pPr>
            <a:r>
              <a:rPr sz="1600" b="1">
                <a:solidFill>
                  <a:srgbClr val="0C2B4A"/>
                </a:solidFill>
              </a:rPr>
              <a:t>By the end of this unit, you will be able to:</a:t>
            </a:r>
          </a:p>
          <a:p>
            <a:pPr>
              <a:spcAft>
                <a:spcPts val="500"/>
              </a:spcAft>
            </a:pPr>
            <a:r>
              <a:rPr sz="1450">
                <a:solidFill>
                  <a:srgbClr val="1A1A1A"/>
                </a:solidFill>
              </a:rPr>
              <a:t>•  Define a transaction, trace its states, and explain the role of the system log (S37)</a:t>
            </a:r>
          </a:p>
          <a:p>
            <a:pPr>
              <a:spcAft>
                <a:spcPts val="500"/>
              </a:spcAft>
            </a:pPr>
            <a:r>
              <a:rPr sz="1450">
                <a:solidFill>
                  <a:srgbClr val="1A1A1A"/>
                </a:solidFill>
              </a:rPr>
              <a:t>•  State and apply the ACID properties to judge whether a transaction is correct (S38)</a:t>
            </a:r>
          </a:p>
          <a:p>
            <a:pPr>
              <a:spcAft>
                <a:spcPts val="500"/>
              </a:spcAft>
            </a:pPr>
            <a:r>
              <a:rPr sz="1450">
                <a:solidFill>
                  <a:srgbClr val="1A1A1A"/>
                </a:solidFill>
              </a:rPr>
              <a:t>•  Build and analyse schedules; test conflict serializability with a precedence graph (S39)</a:t>
            </a:r>
          </a:p>
          <a:p>
            <a:pPr>
              <a:spcAft>
                <a:spcPts val="500"/>
              </a:spcAft>
            </a:pPr>
            <a:r>
              <a:rPr sz="1450">
                <a:solidFill>
                  <a:srgbClr val="1A1A1A"/>
                </a:solidFill>
              </a:rPr>
              <a:t>•  Apply Two-Phase Locking and Timestamp Ordering, and recognise deadlock vs starvation (S40–S41)</a:t>
            </a:r>
          </a:p>
          <a:p>
            <a:pPr>
              <a:spcAft>
                <a:spcPts val="500"/>
              </a:spcAft>
            </a:pPr>
            <a:r>
              <a:rPr sz="1450">
                <a:solidFill>
                  <a:srgbClr val="1A1A1A"/>
                </a:solidFill>
              </a:rPr>
              <a:t>•  Distinguish deferred / immediate / shadow-paging recovery and design a backup strategy (S42–S44)</a:t>
            </a:r>
          </a:p>
        </p:txBody>
      </p:sp>
      <p:sp>
        <p:nvSpPr>
          <p:cNvPr id="6" name="Rounded Rectangle 5"/>
          <p:cNvSpPr/>
          <p:nvPr/>
        </p:nvSpPr>
        <p:spPr>
          <a:xfrm>
            <a:off x="640080" y="5806440"/>
            <a:ext cx="10972800" cy="77724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Course context</a:t>
            </a:r>
          </a:p>
          <a:p>
            <a:pPr>
              <a:spcBef>
                <a:spcPts val="300"/>
              </a:spcBef>
            </a:pPr>
            <a:r>
              <a:rPr sz="1300">
                <a:solidFill>
                  <a:srgbClr val="1A1A1A"/>
                </a:solidFill>
              </a:rPr>
              <a:t>This is Unit 6 of IT 220. It builds on Unit 5's SQL (COMMIT/ROLLBACK are TCL) and answers the question behind 'your money is safe': how a DBMS keeps data correct despite concurrency and crashes.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 / 136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UNIT 6 — ROADMAP</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Where each session fits (S37–S44)</a:t>
            </a:r>
          </a:p>
        </p:txBody>
      </p:sp>
      <p:sp>
        <p:nvSpPr>
          <p:cNvPr id="5" name="Rounded Rectangle 4"/>
          <p:cNvSpPr/>
          <p:nvPr/>
        </p:nvSpPr>
        <p:spPr>
          <a:xfrm>
            <a:off x="640080" y="1645920"/>
            <a:ext cx="5349240" cy="416052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THIS UNIT  ·  S1–S5</a:t>
            </a:r>
          </a:p>
          <a:p>
            <a:pPr>
              <a:spcBef>
                <a:spcPts val="300"/>
              </a:spcBef>
            </a:pPr>
            <a:r>
              <a:rPr sz="1400">
                <a:solidFill>
                  <a:srgbClr val="1A1A1A"/>
                </a:solidFill>
              </a:rPr>
              <a:t>S37  Transaction &amp; system concepts · states · the log
S38  ACID — the four guarantees
S39  Schedules · serializability · precedence graph
S40  Two-Phase Locking · deadlock
S41  Timestamp Ordering concurrency control
S42  Recovery: deferred update (NO-UNDO/REDO)
S43  Immediate update · shadow paging
S44  Backup &amp; catastrophic recovery — closes unit</a:t>
            </a:r>
          </a:p>
        </p:txBody>
      </p:sp>
      <p:sp>
        <p:nvSpPr>
          <p:cNvPr id="6" name="Rounded Rectangle 5"/>
          <p:cNvSpPr/>
          <p:nvPr/>
        </p:nvSpPr>
        <p:spPr>
          <a:xfrm>
            <a:off x="6199632" y="1645920"/>
            <a:ext cx="5349240" cy="4160520"/>
          </a:xfrm>
          <a:prstGeom prst="roundRect">
            <a:avLst/>
          </a:prstGeom>
          <a:solidFill>
            <a:srgbClr val="F2F5F8"/>
          </a:solidFill>
          <a:ln w="12700">
            <a:solidFill>
              <a:srgbClr val="55606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55606B"/>
                </a:solidFill>
              </a:rPr>
              <a:t>⏭️  LATER UNITS</a:t>
            </a:r>
          </a:p>
          <a:p>
            <a:pPr>
              <a:spcBef>
                <a:spcPts val="300"/>
              </a:spcBef>
            </a:pPr>
            <a:r>
              <a:rPr sz="1400">
                <a:solidFill>
                  <a:srgbClr val="1A1A1A"/>
                </a:solidFill>
              </a:rPr>
              <a:t>Units 1–5   DONE: concepts, ER, relational algebra, normalization, SQL
Unit 7   Advanced topics — tuning, security,
             distributed DBs, warehousing, big data, NoSQL</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 / 136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37 · LECTURE HOUR 1 (OF 8)</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Introduction to Transaction Processing</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Rita taps 'Send Rs. 500' on eSewa. The app debits her wallet, then the wifi dies before Hari is credited. Where did the Rs. 500 go — and how does the system make sure money is never created or destroyed by a half-done action?</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4 / 136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S37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What Is a Transaction</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A transaction is a logical unit of work — one or more database operations treated as a single, indivisible action that must either complete entirely or have no effect at all. It begins with BEGIN and ends with COMMIT (success) or ABORT/ROLLBACK (undo).</a:t>
            </a:r>
          </a:p>
          <a:p>
            <a:pPr>
              <a:spcAft>
                <a:spcPts val="500"/>
              </a:spcAft>
            </a:pPr>
            <a:r>
              <a:rPr sz="1200" b="1">
                <a:solidFill>
                  <a:srgbClr val="185FA5"/>
                </a:solidFill>
              </a:rPr>
              <a:t>HOW IT WORKS</a:t>
            </a:r>
          </a:p>
          <a:p>
            <a:pPr>
              <a:spcAft>
                <a:spcPts val="600"/>
              </a:spcAft>
            </a:pPr>
            <a:r>
              <a:rPr sz="1400">
                <a:solidFill>
                  <a:srgbClr val="1A1A1A"/>
                </a:solidFill>
              </a:rPr>
              <a:t>•  Its basic operations are read_item(X) and write_item(X) on data items.</a:t>
            </a:r>
          </a:p>
          <a:p>
            <a:pPr>
              <a:spcAft>
                <a:spcPts val="600"/>
              </a:spcAft>
            </a:pPr>
            <a:r>
              <a:rPr sz="1400">
                <a:solidFill>
                  <a:srgbClr val="1A1A1A"/>
                </a:solidFill>
              </a:rPr>
              <a:t>•  BEGIN → operations → COMMIT makes changes permanent; ABORT/ROLLBACK undoes them all.</a:t>
            </a:r>
          </a:p>
          <a:p>
            <a:pPr>
              <a:spcAft>
                <a:spcPts val="600"/>
              </a:spcAft>
            </a:pPr>
            <a:r>
              <a:rPr sz="1400">
                <a:solidFill>
                  <a:srgbClr val="1A1A1A"/>
                </a:solidFill>
              </a:rPr>
              <a:t>•  'Indivisible' means the outside world sees it as one step, never half-done.</a:t>
            </a:r>
          </a:p>
          <a:p>
            <a:pPr>
              <a:spcAft>
                <a:spcPts val="600"/>
              </a:spcAft>
            </a:pPr>
            <a:r>
              <a:rPr sz="1400">
                <a:solidFill>
                  <a:srgbClr val="1A1A1A"/>
                </a:solidFill>
              </a:rPr>
              <a:t>•  An ATM withdrawal is a transaction: read balance → check → debit → dispense — all or nothing.</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A transaction = one all-or-nothing unit of work, not one SQL line.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5 / 136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S37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What Is a Transaction</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eSewa transfer: read Rita's balance → debit Rs. 500 → credit Hari Rs. 500 → commit. All four steps are one transaction. If the phone dies after the debit but before the credit, the whole unit is rolled back so Rita's Rs. 500 is restored — the money is never left in limbo between the two wallets.</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 transaction = a single SQL statement." No — a transaction can group many statements (several reads and writes) into one indivisible unit. The debit and the credit are two statements inside ONE transaction.</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 transaction is a logical unit of work comprising one or more database operations (read_item/write_item) that are executed as a single, indivisible action — it begins with BEGIN and ends with COMMIT (making changes permanent) or ABORT/ROLLBACK (undoing them). It must be all-or-nothing: either every operation takes effect or none does.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transaction · logical unit of work · BEGIN/COMMIT/ROLLBACK · read_item/write_item · all-or-nothing</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6 / 136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S37 · CONCEPT 1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Everyday actions that are really multi-step transactions</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934729"/>
                <a:gridCol w="4479324"/>
                <a:gridCol w="4015945"/>
              </a:tblGrid>
              <a:tr h="630936">
                <a:tc>
                  <a:txBody>
                    <a:bodyPr wrap="square"/>
                    <a:lstStyle/>
                    <a:p>
                      <a:r>
                        <a:rPr sz="1150" b="1">
                          <a:solidFill>
                            <a:srgbClr val="FFFFFF"/>
                          </a:solidFill>
                        </a:rPr>
                        <a:t>Action (Nepal / IT)</a:t>
                      </a:r>
                    </a:p>
                  </a:txBody>
                  <a:tcPr anchor="ctr" marL="73152" marR="54864" marT="27432" marB="27432">
                    <a:solidFill>
                      <a:srgbClr val="0C2B4A"/>
                    </a:solidFill>
                  </a:tcPr>
                </a:tc>
                <a:tc>
                  <a:txBody>
                    <a:bodyPr wrap="square"/>
                    <a:lstStyle/>
                    <a:p>
                      <a:r>
                        <a:rPr sz="1150" b="1">
                          <a:solidFill>
                            <a:srgbClr val="FFFFFF"/>
                          </a:solidFill>
                        </a:rPr>
                        <a:t>The steps inside the ONE transaction</a:t>
                      </a:r>
                    </a:p>
                  </a:txBody>
                  <a:tcPr anchor="ctr" marL="73152" marR="54864" marT="27432" marB="27432">
                    <a:solidFill>
                      <a:srgbClr val="0C2B4A"/>
                    </a:solidFill>
                  </a:tcPr>
                </a:tc>
                <a:tc>
                  <a:txBody>
                    <a:bodyPr wrap="square"/>
                    <a:lstStyle/>
                    <a:p>
                      <a:r>
                        <a:rPr sz="1150" b="1">
                          <a:solidFill>
                            <a:srgbClr val="FFFFFF"/>
                          </a:solidFill>
                        </a:rPr>
                        <a:t>What must happen if it fails halfway</a:t>
                      </a:r>
                    </a:p>
                  </a:txBody>
                  <a:tcPr anchor="ctr" marL="73152" marR="54864" marT="27432" marB="27432">
                    <a:solidFill>
                      <a:srgbClr val="0C2B4A"/>
                    </a:solidFill>
                  </a:tcPr>
                </a:tc>
              </a:tr>
              <a:tr h="630936">
                <a:tc>
                  <a:txBody>
                    <a:bodyPr wrap="square"/>
                    <a:lstStyle/>
                    <a:p>
                      <a:r>
                        <a:rPr sz="1100" b="1">
                          <a:solidFill>
                            <a:srgbClr val="0C2B4A"/>
                          </a:solidFill>
                        </a:rPr>
                        <a:t>eSewa: Rita sends Rs. 500 to Hari</a:t>
                      </a:r>
                    </a:p>
                  </a:txBody>
                  <a:tcPr anchor="ctr" marL="73152" marR="54864" marT="27432" marB="27432">
                    <a:solidFill>
                      <a:srgbClr val="FFFFFF"/>
                    </a:solidFill>
                  </a:tcPr>
                </a:tc>
                <a:tc>
                  <a:txBody>
                    <a:bodyPr wrap="square"/>
                    <a:lstStyle/>
                    <a:p>
                      <a:r>
                        <a:rPr sz="1100">
                          <a:solidFill>
                            <a:srgbClr val="1A1A1A"/>
                          </a:solidFill>
                        </a:rPr>
                        <a:t>read Rita → debit 500 → credit Hari → commit</a:t>
                      </a:r>
                    </a:p>
                  </a:txBody>
                  <a:tcPr anchor="ctr" marL="73152" marR="54864" marT="27432" marB="27432">
                    <a:solidFill>
                      <a:srgbClr val="FFFFFF"/>
                    </a:solidFill>
                  </a:tcPr>
                </a:tc>
                <a:tc>
                  <a:txBody>
                    <a:bodyPr wrap="square"/>
                    <a:lstStyle/>
                    <a:p>
                      <a:r>
                        <a:rPr sz="1100">
                          <a:solidFill>
                            <a:srgbClr val="1A1A1A"/>
                          </a:solidFill>
                        </a:rPr>
                        <a:t>roll back the debit — restore Rita's balance</a:t>
                      </a:r>
                    </a:p>
                  </a:txBody>
                  <a:tcPr anchor="ctr" marL="73152" marR="54864" marT="27432" marB="27432">
                    <a:solidFill>
                      <a:srgbClr val="FFFFFF"/>
                    </a:solidFill>
                  </a:tcPr>
                </a:tc>
              </a:tr>
              <a:tr h="630936">
                <a:tc>
                  <a:txBody>
                    <a:bodyPr wrap="square"/>
                    <a:lstStyle/>
                    <a:p>
                      <a:r>
                        <a:rPr sz="1100" b="1">
                          <a:solidFill>
                            <a:srgbClr val="0C2B4A"/>
                          </a:solidFill>
                        </a:rPr>
                        <a:t>ATM cash withdrawal</a:t>
                      </a:r>
                    </a:p>
                  </a:txBody>
                  <a:tcPr anchor="ctr" marL="73152" marR="54864" marT="27432" marB="27432">
                    <a:solidFill>
                      <a:srgbClr val="EEF3F8"/>
                    </a:solidFill>
                  </a:tcPr>
                </a:tc>
                <a:tc>
                  <a:txBody>
                    <a:bodyPr wrap="square"/>
                    <a:lstStyle/>
                    <a:p>
                      <a:r>
                        <a:rPr sz="1100">
                          <a:solidFill>
                            <a:srgbClr val="1A1A1A"/>
                          </a:solidFill>
                        </a:rPr>
                        <a:t>read balance → check → debit → dispense cash</a:t>
                      </a:r>
                    </a:p>
                  </a:txBody>
                  <a:tcPr anchor="ctr" marL="73152" marR="54864" marT="27432" marB="27432">
                    <a:solidFill>
                      <a:srgbClr val="EEF3F8"/>
                    </a:solidFill>
                  </a:tcPr>
                </a:tc>
                <a:tc>
                  <a:txBody>
                    <a:bodyPr wrap="square"/>
                    <a:lstStyle/>
                    <a:p>
                      <a:r>
                        <a:rPr sz="1100">
                          <a:solidFill>
                            <a:srgbClr val="1A1A1A"/>
                          </a:solidFill>
                        </a:rPr>
                        <a:t>if cash not dispensed, re-credit the account</a:t>
                      </a:r>
                    </a:p>
                  </a:txBody>
                  <a:tcPr anchor="ctr" marL="73152" marR="54864" marT="27432" marB="27432">
                    <a:solidFill>
                      <a:srgbClr val="EEF3F8"/>
                    </a:solidFill>
                  </a:tcPr>
                </a:tc>
              </a:tr>
              <a:tr h="630936">
                <a:tc>
                  <a:txBody>
                    <a:bodyPr wrap="square"/>
                    <a:lstStyle/>
                    <a:p>
                      <a:r>
                        <a:rPr sz="1100" b="1">
                          <a:solidFill>
                            <a:srgbClr val="0C2B4A"/>
                          </a:solidFill>
                        </a:rPr>
                        <a:t>IRCTC / bus ticket booking</a:t>
                      </a:r>
                    </a:p>
                  </a:txBody>
                  <a:tcPr anchor="ctr" marL="73152" marR="54864" marT="27432" marB="27432">
                    <a:solidFill>
                      <a:srgbClr val="FFFFFF"/>
                    </a:solidFill>
                  </a:tcPr>
                </a:tc>
                <a:tc>
                  <a:txBody>
                    <a:bodyPr wrap="square"/>
                    <a:lstStyle/>
                    <a:p>
                      <a:r>
                        <a:rPr sz="1100">
                          <a:solidFill>
                            <a:srgbClr val="1A1A1A"/>
                          </a:solidFill>
                        </a:rPr>
                        <a:t>reserve seat → charge card → issue ticket</a:t>
                      </a:r>
                    </a:p>
                  </a:txBody>
                  <a:tcPr anchor="ctr" marL="73152" marR="54864" marT="27432" marB="27432">
                    <a:solidFill>
                      <a:srgbClr val="FFFFFF"/>
                    </a:solidFill>
                  </a:tcPr>
                </a:tc>
                <a:tc>
                  <a:txBody>
                    <a:bodyPr wrap="square"/>
                    <a:lstStyle/>
                    <a:p>
                      <a:r>
                        <a:rPr sz="1100">
                          <a:solidFill>
                            <a:srgbClr val="1A1A1A"/>
                          </a:solidFill>
                        </a:rPr>
                        <a:t>if charge fails, release the held seat</a:t>
                      </a:r>
                    </a:p>
                  </a:txBody>
                  <a:tcPr anchor="ctr" marL="73152" marR="54864" marT="27432" marB="27432">
                    <a:solidFill>
                      <a:srgbClr val="FFFFFF"/>
                    </a:solidFill>
                  </a:tcPr>
                </a:tc>
              </a:tr>
              <a:tr h="630936">
                <a:tc>
                  <a:txBody>
                    <a:bodyPr wrap="square"/>
                    <a:lstStyle/>
                    <a:p>
                      <a:r>
                        <a:rPr sz="1100" b="1">
                          <a:solidFill>
                            <a:srgbClr val="0C2B4A"/>
                          </a:solidFill>
                        </a:rPr>
                        <a:t>NEA electricity bill payment</a:t>
                      </a:r>
                    </a:p>
                  </a:txBody>
                  <a:tcPr anchor="ctr" marL="73152" marR="54864" marT="27432" marB="27432">
                    <a:solidFill>
                      <a:srgbClr val="EEF3F8"/>
                    </a:solidFill>
                  </a:tcPr>
                </a:tc>
                <a:tc>
                  <a:txBody>
                    <a:bodyPr wrap="square"/>
                    <a:lstStyle/>
                    <a:p>
                      <a:r>
                        <a:rPr sz="1100">
                          <a:solidFill>
                            <a:srgbClr val="1A1A1A"/>
                          </a:solidFill>
                        </a:rPr>
                        <a:t>read due amount → debit wallet → mark bill paid</a:t>
                      </a:r>
                    </a:p>
                  </a:txBody>
                  <a:tcPr anchor="ctr" marL="73152" marR="54864" marT="27432" marB="27432">
                    <a:solidFill>
                      <a:srgbClr val="EEF3F8"/>
                    </a:solidFill>
                  </a:tcPr>
                </a:tc>
                <a:tc>
                  <a:txBody>
                    <a:bodyPr wrap="square"/>
                    <a:lstStyle/>
                    <a:p>
                      <a:r>
                        <a:rPr sz="1100">
                          <a:solidFill>
                            <a:srgbClr val="1A1A1A"/>
                          </a:solidFill>
                        </a:rPr>
                        <a:t>if 'mark paid' fails, refund the debit</a:t>
                      </a:r>
                    </a:p>
                  </a:txBody>
                  <a:tcPr anchor="ctr" marL="73152" marR="54864" marT="27432" marB="27432">
                    <a:solidFill>
                      <a:srgbClr val="EEF3F8"/>
                    </a:solidFill>
                  </a:tcPr>
                </a:tc>
              </a:tr>
              <a:tr h="630936">
                <a:tc>
                  <a:txBody>
                    <a:bodyPr wrap="square"/>
                    <a:lstStyle/>
                    <a:p>
                      <a:r>
                        <a:rPr sz="1100" b="1">
                          <a:solidFill>
                            <a:srgbClr val="0C2B4A"/>
                          </a:solidFill>
                        </a:rPr>
                        <a:t>Bank fund transfer (A→B)</a:t>
                      </a:r>
                    </a:p>
                  </a:txBody>
                  <a:tcPr anchor="ctr" marL="73152" marR="54864" marT="27432" marB="27432">
                    <a:solidFill>
                      <a:srgbClr val="FFFFFF"/>
                    </a:solidFill>
                  </a:tcPr>
                </a:tc>
                <a:tc>
                  <a:txBody>
                    <a:bodyPr wrap="square"/>
                    <a:lstStyle/>
                    <a:p>
                      <a:r>
                        <a:rPr sz="1100">
                          <a:solidFill>
                            <a:srgbClr val="1A1A1A"/>
                          </a:solidFill>
                        </a:rPr>
                        <a:t>debit A → credit B → log both</a:t>
                      </a:r>
                    </a:p>
                  </a:txBody>
                  <a:tcPr anchor="ctr" marL="73152" marR="54864" marT="27432" marB="27432">
                    <a:solidFill>
                      <a:srgbClr val="FFFFFF"/>
                    </a:solidFill>
                  </a:tcPr>
                </a:tc>
                <a:tc>
                  <a:txBody>
                    <a:bodyPr wrap="square"/>
                    <a:lstStyle/>
                    <a:p>
                      <a:r>
                        <a:rPr sz="1100">
                          <a:solidFill>
                            <a:srgbClr val="1A1A1A"/>
                          </a:solidFill>
                        </a:rPr>
                        <a:t>undo the debit if the credit never happens</a:t>
                      </a:r>
                    </a:p>
                  </a:txBody>
                  <a:tcPr anchor="ctr" marL="73152" marR="54864" marT="27432" marB="27432">
                    <a:solidFill>
                      <a:srgbClr val="FFFFFF"/>
                    </a:solidFill>
                  </a:tcPr>
                </a:tc>
              </a:tr>
              <a:tr h="630936">
                <a:tc>
                  <a:txBody>
                    <a:bodyPr wrap="square"/>
                    <a:lstStyle/>
                    <a:p>
                      <a:r>
                        <a:rPr sz="1100" b="1">
                          <a:solidFill>
                            <a:srgbClr val="0C2B4A"/>
                          </a:solidFill>
                        </a:rPr>
                        <a:t>Daraz checkout</a:t>
                      </a:r>
                    </a:p>
                  </a:txBody>
                  <a:tcPr anchor="ctr" marL="73152" marR="54864" marT="27432" marB="27432">
                    <a:solidFill>
                      <a:srgbClr val="EEF3F8"/>
                    </a:solidFill>
                  </a:tcPr>
                </a:tc>
                <a:tc>
                  <a:txBody>
                    <a:bodyPr wrap="square"/>
                    <a:lstStyle/>
                    <a:p>
                      <a:r>
                        <a:rPr sz="1100">
                          <a:solidFill>
                            <a:srgbClr val="1A1A1A"/>
                          </a:solidFill>
                        </a:rPr>
                        <a:t>reserve stock → charge → create order</a:t>
                      </a:r>
                    </a:p>
                  </a:txBody>
                  <a:tcPr anchor="ctr" marL="73152" marR="54864" marT="27432" marB="27432">
                    <a:solidFill>
                      <a:srgbClr val="EEF3F8"/>
                    </a:solidFill>
                  </a:tcPr>
                </a:tc>
                <a:tc>
                  <a:txBody>
                    <a:bodyPr wrap="square"/>
                    <a:lstStyle/>
                    <a:p>
                      <a:r>
                        <a:rPr sz="1100">
                          <a:solidFill>
                            <a:srgbClr val="1A1A1A"/>
                          </a:solidFill>
                        </a:rPr>
                        <a:t>release the stock if payment is declined</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Each is ONE transaction made of several operations. 'All-or-nothing' is why none of them can leave you charged with nothing to show, or credited with nothing paid.</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7 / 136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S37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Single-User vs Multi-User &amp; Why It Matters</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A single-user system runs one transaction at a time; a multi-user system lets many transactions interleave and run concurrently. Concurrency — many transactions touching the same data at once — is the entire reason this unit exists.</a:t>
            </a:r>
          </a:p>
          <a:p>
            <a:pPr>
              <a:spcAft>
                <a:spcPts val="500"/>
              </a:spcAft>
            </a:pPr>
            <a:r>
              <a:rPr sz="1200" b="1">
                <a:solidFill>
                  <a:srgbClr val="185FA5"/>
                </a:solidFill>
              </a:rPr>
              <a:t>HOW IT WORKS</a:t>
            </a:r>
          </a:p>
          <a:p>
            <a:pPr>
              <a:spcAft>
                <a:spcPts val="600"/>
              </a:spcAft>
            </a:pPr>
            <a:r>
              <a:rPr sz="1400">
                <a:solidFill>
                  <a:srgbClr val="1A1A1A"/>
                </a:solidFill>
              </a:rPr>
              <a:t>•  Multi-user DBMSs interleave operations of different transactions to keep the CPU and disk busy.</a:t>
            </a:r>
          </a:p>
          <a:p>
            <a:pPr>
              <a:spcAft>
                <a:spcPts val="600"/>
              </a:spcAft>
            </a:pPr>
            <a:r>
              <a:rPr sz="1400">
                <a:solidFill>
                  <a:srgbClr val="1A1A1A"/>
                </a:solidFill>
              </a:rPr>
              <a:t>•  Interleaving is efficient, but uncontrolled interleaving can corrupt shared data.</a:t>
            </a:r>
          </a:p>
          <a:p>
            <a:pPr>
              <a:spcAft>
                <a:spcPts val="600"/>
              </a:spcAft>
            </a:pPr>
            <a:r>
              <a:rPr sz="1400">
                <a:solidFill>
                  <a:srgbClr val="1A1A1A"/>
                </a:solidFill>
              </a:rPr>
              <a:t>•  This motivates concurrency control (S39–S41): rules that make interleaving safe.</a:t>
            </a:r>
          </a:p>
          <a:p>
            <a:pPr>
              <a:spcAft>
                <a:spcPts val="600"/>
              </a:spcAft>
            </a:pPr>
            <a:r>
              <a:rPr sz="1400">
                <a:solidFill>
                  <a:srgbClr val="1A1A1A"/>
                </a:solidFill>
              </a:rPr>
              <a:t>•  Thousands of Dashain shoppers checking out on Daraz at once is the everyday multi-user case.</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One-at-a-time is easy; many-at-once is why concurrency control exists.</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8 / 136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S37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Single-User vs Multi-User &amp; Why It Matters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During Dashain, thousands of Daraz shoppers check out at the same second and many eSewa transfers run at once. The DBMS interleaves their operations rather than forcing a queue of one-at-a-time — but that interleaving must be controlled, or two people paying the same NEA bill could both 'succeed' and corrupt the record.</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"Concurrency always corrupts data." No — only SOME interleavings are unsafe; the DBMS's job (S39–S41) is to allow the safe ones and block the unsafe ones, so concurrency is both fast AND correct.</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 single-user system executes one transaction at a time, while a multi-user system allows many transactions to interleave and execute concurrently for efficiency. Because concurrent access to shared data can corrupt it if uncontrolled, multi-user systems require concurrency control — the motivation for schedules, locking, and timestamp ordering studied later in this unit.</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single-user · multi-user · concurrency · interleaving · concurrency control (motivation)</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9 / 136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S37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Why Transactions Go Wrong — Types of Failure</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Transactions can fail in several ways, and recovery (S42–S44) must handle each. The standard categories are computer crash, transaction/system error, local logical error, concurrency-enforcement abort, disk failure, and physical catastrophe.</a:t>
            </a:r>
          </a:p>
          <a:p>
            <a:pPr>
              <a:spcAft>
                <a:spcPts val="500"/>
              </a:spcAft>
            </a:pPr>
            <a:r>
              <a:rPr sz="1200" b="1">
                <a:solidFill>
                  <a:srgbClr val="185FA5"/>
                </a:solidFill>
              </a:rPr>
              <a:t>HOW IT WORKS</a:t>
            </a:r>
          </a:p>
          <a:p>
            <a:pPr>
              <a:spcAft>
                <a:spcPts val="600"/>
              </a:spcAft>
            </a:pPr>
            <a:r>
              <a:rPr sz="1400">
                <a:solidFill>
                  <a:srgbClr val="1A1A1A"/>
                </a:solidFill>
              </a:rPr>
              <a:t>•  System crash: power/hardware/software failure wipes main memory (the buffer) mid-transaction.</a:t>
            </a:r>
          </a:p>
          <a:p>
            <a:pPr>
              <a:spcAft>
                <a:spcPts val="600"/>
              </a:spcAft>
            </a:pPr>
            <a:r>
              <a:rPr sz="1400">
                <a:solidFill>
                  <a:srgbClr val="1A1A1A"/>
                </a:solidFill>
              </a:rPr>
              <a:t>•  Transaction/local error: bad input, insufficient balance, division by zero → the transaction aborts itself.</a:t>
            </a:r>
          </a:p>
          <a:p>
            <a:pPr>
              <a:spcAft>
                <a:spcPts val="600"/>
              </a:spcAft>
            </a:pPr>
            <a:r>
              <a:rPr sz="1400">
                <a:solidFill>
                  <a:srgbClr val="1A1A1A"/>
                </a:solidFill>
              </a:rPr>
              <a:t>•  Concurrency enforcement: the DBMS aborts a transaction to break a deadlock or preserve serializability.</a:t>
            </a:r>
          </a:p>
          <a:p>
            <a:pPr>
              <a:spcAft>
                <a:spcPts val="600"/>
              </a:spcAft>
            </a:pPr>
            <a:r>
              <a:rPr sz="1400">
                <a:solidFill>
                  <a:srgbClr val="1A1A1A"/>
                </a:solidFill>
              </a:rPr>
              <a:t>•  Disk failure / physical catastrophe: the media or whole data-center is destroyed (S44's problem).</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Failures range from a mid-txn crash to a whole data-center gone.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10 / 136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S37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Why Transactions Go Wrong — Types of Failure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Load-shedding cuts power to a Nepali bank server mid-batch (system crash — buffer lost); Rita tries to send Rs. 500 with only Rs. 300 (local error — transaction aborts itself); the DBMS aborts one of two frozen transfers to break a deadlock (concurrency enforcement); a fire destroys the disk array (catastrophe — needs S44's backup).</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 failure always means the hardware broke." Many failures are logical (insufficient balance, a deadlock the DBMS chose to break) — the transaction aborts cleanly and the data stays consistent. Not every abort is a disaster.</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Transactions fail through: system crashes (memory/buffer lost), transaction or system errors, local logical errors (e.g. insufficient balance), concurrency-control enforcement (the DBMS aborts a transaction to preserve correctness or break a deadlock), disk failures, and physical catastrophes. Recovery techniques (S42–S44) are designed to restore a consistent state after each kind.</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system crash · transaction/local error · concurrency enforcement · disk failure · physical catastrophe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11 / 136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S37 · CONCEPT 3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Each failure type → a Nepali example → how recovery responds</a:t>
            </a:r>
          </a:p>
        </p:txBody>
      </p:sp>
      <p:graphicFrame>
        <p:nvGraphicFramePr>
          <p:cNvPr id="5" name="Table 4"/>
          <p:cNvGraphicFramePr>
            <a:graphicFrameLocks noGrp="1"/>
          </p:cNvGraphicFramePr>
          <p:nvPr/>
        </p:nvGraphicFramePr>
        <p:xfrm>
          <a:off x="384048" y="1572768"/>
          <a:ext cx="11430000" cy="4416552"/>
        </p:xfrm>
        <a:graphic>
          <a:graphicData uri="http://schemas.openxmlformats.org/drawingml/2006/table">
            <a:tbl>
              <a:tblPr>
                <a:tableStyleId>{5C22544A-7EE6-4342-B048-85BDC9FD1C3A}</a:tableStyleId>
              </a:tblPr>
              <a:tblGrid>
                <a:gridCol w="3048000"/>
                <a:gridCol w="4267200"/>
                <a:gridCol w="4114800"/>
              </a:tblGrid>
              <a:tr h="630936">
                <a:tc>
                  <a:txBody>
                    <a:bodyPr wrap="square"/>
                    <a:lstStyle/>
                    <a:p>
                      <a:r>
                        <a:rPr sz="1150" b="1">
                          <a:solidFill>
                            <a:srgbClr val="FFFFFF"/>
                          </a:solidFill>
                        </a:rPr>
                        <a:t>Failure type</a:t>
                      </a:r>
                    </a:p>
                  </a:txBody>
                  <a:tcPr anchor="ctr" marL="73152" marR="54864" marT="27432" marB="27432">
                    <a:solidFill>
                      <a:srgbClr val="0C2B4A"/>
                    </a:solidFill>
                  </a:tcPr>
                </a:tc>
                <a:tc>
                  <a:txBody>
                    <a:bodyPr wrap="square"/>
                    <a:lstStyle/>
                    <a:p>
                      <a:r>
                        <a:rPr sz="1150" b="1">
                          <a:solidFill>
                            <a:srgbClr val="FFFFFF"/>
                          </a:solidFill>
                        </a:rPr>
                        <a:t>Example (Nepal / IT)</a:t>
                      </a:r>
                    </a:p>
                  </a:txBody>
                  <a:tcPr anchor="ctr" marL="73152" marR="54864" marT="27432" marB="27432">
                    <a:solidFill>
                      <a:srgbClr val="0C2B4A"/>
                    </a:solidFill>
                  </a:tcPr>
                </a:tc>
                <a:tc>
                  <a:txBody>
                    <a:bodyPr wrap="square"/>
                    <a:lstStyle/>
                    <a:p>
                      <a:r>
                        <a:rPr sz="1150" b="1">
                          <a:solidFill>
                            <a:srgbClr val="FFFFFF"/>
                          </a:solidFill>
                        </a:rPr>
                        <a:t>How the system recovers</a:t>
                      </a:r>
                    </a:p>
                  </a:txBody>
                  <a:tcPr anchor="ctr" marL="73152" marR="54864" marT="27432" marB="27432">
                    <a:solidFill>
                      <a:srgbClr val="0C2B4A"/>
                    </a:solidFill>
                  </a:tcPr>
                </a:tc>
              </a:tr>
              <a:tr h="630936">
                <a:tc>
                  <a:txBody>
                    <a:bodyPr wrap="square"/>
                    <a:lstStyle/>
                    <a:p>
                      <a:r>
                        <a:rPr sz="1100" b="1">
                          <a:solidFill>
                            <a:srgbClr val="0C2B4A"/>
                          </a:solidFill>
                        </a:rPr>
                        <a:t>System crash (memory lost)</a:t>
                      </a:r>
                    </a:p>
                  </a:txBody>
                  <a:tcPr anchor="ctr" marL="73152" marR="54864" marT="27432" marB="27432">
                    <a:solidFill>
                      <a:srgbClr val="FFFFFF"/>
                    </a:solidFill>
                  </a:tcPr>
                </a:tc>
                <a:tc>
                  <a:txBody>
                    <a:bodyPr wrap="square"/>
                    <a:lstStyle/>
                    <a:p>
                      <a:r>
                        <a:rPr sz="1100">
                          <a:solidFill>
                            <a:srgbClr val="1A1A1A"/>
                          </a:solidFill>
                        </a:rPr>
                        <a:t>Load-shedding kills a bank server mid-batch</a:t>
                      </a:r>
                    </a:p>
                  </a:txBody>
                  <a:tcPr anchor="ctr" marL="73152" marR="54864" marT="27432" marB="27432">
                    <a:solidFill>
                      <a:srgbClr val="FFFFFF"/>
                    </a:solidFill>
                  </a:tcPr>
                </a:tc>
                <a:tc>
                  <a:txBody>
                    <a:bodyPr wrap="square"/>
                    <a:lstStyle/>
                    <a:p>
                      <a:r>
                        <a:rPr sz="1100">
                          <a:solidFill>
                            <a:srgbClr val="1A1A1A"/>
                          </a:solidFill>
                        </a:rPr>
                        <a:t>Reboot → scan log → REDO committed, UNDO the rest</a:t>
                      </a:r>
                    </a:p>
                  </a:txBody>
                  <a:tcPr anchor="ctr" marL="73152" marR="54864" marT="27432" marB="27432">
                    <a:solidFill>
                      <a:srgbClr val="FFFFFF"/>
                    </a:solidFill>
                  </a:tcPr>
                </a:tc>
              </a:tr>
              <a:tr h="630936">
                <a:tc>
                  <a:txBody>
                    <a:bodyPr wrap="square"/>
                    <a:lstStyle/>
                    <a:p>
                      <a:r>
                        <a:rPr sz="1100" b="1">
                          <a:solidFill>
                            <a:srgbClr val="0C2B4A"/>
                          </a:solidFill>
                        </a:rPr>
                        <a:t>Transaction / local error</a:t>
                      </a:r>
                    </a:p>
                  </a:txBody>
                  <a:tcPr anchor="ctr" marL="73152" marR="54864" marT="27432" marB="27432">
                    <a:solidFill>
                      <a:srgbClr val="EEF3F8"/>
                    </a:solidFill>
                  </a:tcPr>
                </a:tc>
                <a:tc>
                  <a:txBody>
                    <a:bodyPr wrap="square"/>
                    <a:lstStyle/>
                    <a:p>
                      <a:r>
                        <a:rPr sz="1100">
                          <a:solidFill>
                            <a:srgbClr val="1A1A1A"/>
                          </a:solidFill>
                        </a:rPr>
                        <a:t>Rita sends Rs. 500 with only Rs. 300</a:t>
                      </a:r>
                    </a:p>
                  </a:txBody>
                  <a:tcPr anchor="ctr" marL="73152" marR="54864" marT="27432" marB="27432">
                    <a:solidFill>
                      <a:srgbClr val="EEF3F8"/>
                    </a:solidFill>
                  </a:tcPr>
                </a:tc>
                <a:tc>
                  <a:txBody>
                    <a:bodyPr wrap="square"/>
                    <a:lstStyle/>
                    <a:p>
                      <a:r>
                        <a:rPr sz="1100">
                          <a:solidFill>
                            <a:srgbClr val="1A1A1A"/>
                          </a:solidFill>
                        </a:rPr>
                        <a:t>Transaction aborts itself; no change made</a:t>
                      </a:r>
                    </a:p>
                  </a:txBody>
                  <a:tcPr anchor="ctr" marL="73152" marR="54864" marT="27432" marB="27432">
                    <a:solidFill>
                      <a:srgbClr val="EEF3F8"/>
                    </a:solidFill>
                  </a:tcPr>
                </a:tc>
              </a:tr>
              <a:tr h="630936">
                <a:tc>
                  <a:txBody>
                    <a:bodyPr wrap="square"/>
                    <a:lstStyle/>
                    <a:p>
                      <a:r>
                        <a:rPr sz="1100" b="1">
                          <a:solidFill>
                            <a:srgbClr val="0C2B4A"/>
                          </a:solidFill>
                        </a:rPr>
                        <a:t>System error</a:t>
                      </a:r>
                    </a:p>
                  </a:txBody>
                  <a:tcPr anchor="ctr" marL="73152" marR="54864" marT="27432" marB="27432">
                    <a:solidFill>
                      <a:srgbClr val="FFFFFF"/>
                    </a:solidFill>
                  </a:tcPr>
                </a:tc>
                <a:tc>
                  <a:txBody>
                    <a:bodyPr wrap="square"/>
                    <a:lstStyle/>
                    <a:p>
                      <a:r>
                        <a:rPr sz="1100">
                          <a:solidFill>
                            <a:srgbClr val="1A1A1A"/>
                          </a:solidFill>
                        </a:rPr>
                        <a:t>Division by zero in a report job</a:t>
                      </a:r>
                    </a:p>
                  </a:txBody>
                  <a:tcPr anchor="ctr" marL="73152" marR="54864" marT="27432" marB="27432">
                    <a:solidFill>
                      <a:srgbClr val="FFFFFF"/>
                    </a:solidFill>
                  </a:tcPr>
                </a:tc>
                <a:tc>
                  <a:txBody>
                    <a:bodyPr wrap="square"/>
                    <a:lstStyle/>
                    <a:p>
                      <a:r>
                        <a:rPr sz="1100">
                          <a:solidFill>
                            <a:srgbClr val="1A1A1A"/>
                          </a:solidFill>
                        </a:rPr>
                        <a:t>Abort the transaction; log the error</a:t>
                      </a:r>
                    </a:p>
                  </a:txBody>
                  <a:tcPr anchor="ctr" marL="73152" marR="54864" marT="27432" marB="27432">
                    <a:solidFill>
                      <a:srgbClr val="FFFFFF"/>
                    </a:solidFill>
                  </a:tcPr>
                </a:tc>
              </a:tr>
              <a:tr h="630936">
                <a:tc>
                  <a:txBody>
                    <a:bodyPr wrap="square"/>
                    <a:lstStyle/>
                    <a:p>
                      <a:r>
                        <a:rPr sz="1100" b="1">
                          <a:solidFill>
                            <a:srgbClr val="0C2B4A"/>
                          </a:solidFill>
                        </a:rPr>
                        <a:t>Concurrency enforcement</a:t>
                      </a:r>
                    </a:p>
                  </a:txBody>
                  <a:tcPr anchor="ctr" marL="73152" marR="54864" marT="27432" marB="27432">
                    <a:solidFill>
                      <a:srgbClr val="EEF3F8"/>
                    </a:solidFill>
                  </a:tcPr>
                </a:tc>
                <a:tc>
                  <a:txBody>
                    <a:bodyPr wrap="square"/>
                    <a:lstStyle/>
                    <a:p>
                      <a:r>
                        <a:rPr sz="1100">
                          <a:solidFill>
                            <a:srgbClr val="1A1A1A"/>
                          </a:solidFill>
                        </a:rPr>
                        <a:t>DBMS aborts one txn to break a deadlock</a:t>
                      </a:r>
                    </a:p>
                  </a:txBody>
                  <a:tcPr anchor="ctr" marL="73152" marR="54864" marT="27432" marB="27432">
                    <a:solidFill>
                      <a:srgbClr val="EEF3F8"/>
                    </a:solidFill>
                  </a:tcPr>
                </a:tc>
                <a:tc>
                  <a:txBody>
                    <a:bodyPr wrap="square"/>
                    <a:lstStyle/>
                    <a:p>
                      <a:r>
                        <a:rPr sz="1100">
                          <a:solidFill>
                            <a:srgbClr val="1A1A1A"/>
                          </a:solidFill>
                        </a:rPr>
                        <a:t>Abort victim, restart it later</a:t>
                      </a:r>
                    </a:p>
                  </a:txBody>
                  <a:tcPr anchor="ctr" marL="73152" marR="54864" marT="27432" marB="27432">
                    <a:solidFill>
                      <a:srgbClr val="EEF3F8"/>
                    </a:solidFill>
                  </a:tcPr>
                </a:tc>
              </a:tr>
              <a:tr h="630936">
                <a:tc>
                  <a:txBody>
                    <a:bodyPr wrap="square"/>
                    <a:lstStyle/>
                    <a:p>
                      <a:r>
                        <a:rPr sz="1100" b="1">
                          <a:solidFill>
                            <a:srgbClr val="0C2B4A"/>
                          </a:solidFill>
                        </a:rPr>
                        <a:t>Disk / media failure</a:t>
                      </a:r>
                    </a:p>
                  </a:txBody>
                  <a:tcPr anchor="ctr" marL="73152" marR="54864" marT="27432" marB="27432">
                    <a:solidFill>
                      <a:srgbClr val="FFFFFF"/>
                    </a:solidFill>
                  </a:tcPr>
                </a:tc>
                <a:tc>
                  <a:txBody>
                    <a:bodyPr wrap="square"/>
                    <a:lstStyle/>
                    <a:p>
                      <a:r>
                        <a:rPr sz="1100">
                          <a:solidFill>
                            <a:srgbClr val="1A1A1A"/>
                          </a:solidFill>
                        </a:rPr>
                        <a:t>A hard-disk array fails at a data-center</a:t>
                      </a:r>
                    </a:p>
                  </a:txBody>
                  <a:tcPr anchor="ctr" marL="73152" marR="54864" marT="27432" marB="27432">
                    <a:solidFill>
                      <a:srgbClr val="FFFFFF"/>
                    </a:solidFill>
                  </a:tcPr>
                </a:tc>
                <a:tc>
                  <a:txBody>
                    <a:bodyPr wrap="square"/>
                    <a:lstStyle/>
                    <a:p>
                      <a:r>
                        <a:rPr sz="1100">
                          <a:solidFill>
                            <a:srgbClr val="1A1A1A"/>
                          </a:solidFill>
                        </a:rPr>
                        <a:t>Restore from backup + archived log (S44)</a:t>
                      </a:r>
                    </a:p>
                  </a:txBody>
                  <a:tcPr anchor="ctr" marL="73152" marR="54864" marT="27432" marB="27432">
                    <a:solidFill>
                      <a:srgbClr val="FFFFFF"/>
                    </a:solidFill>
                  </a:tcPr>
                </a:tc>
              </a:tr>
              <a:tr h="630936">
                <a:tc>
                  <a:txBody>
                    <a:bodyPr wrap="square"/>
                    <a:lstStyle/>
                    <a:p>
                      <a:r>
                        <a:rPr sz="1100" b="1">
                          <a:solidFill>
                            <a:srgbClr val="0C2B4A"/>
                          </a:solidFill>
                        </a:rPr>
                        <a:t>Physical catastrophe</a:t>
                      </a:r>
                    </a:p>
                  </a:txBody>
                  <a:tcPr anchor="ctr" marL="73152" marR="54864" marT="27432" marB="27432">
                    <a:solidFill>
                      <a:srgbClr val="EEF3F8"/>
                    </a:solidFill>
                  </a:tcPr>
                </a:tc>
                <a:tc>
                  <a:txBody>
                    <a:bodyPr wrap="square"/>
                    <a:lstStyle/>
                    <a:p>
                      <a:r>
                        <a:rPr sz="1100">
                          <a:solidFill>
                            <a:srgbClr val="1A1A1A"/>
                          </a:solidFill>
                        </a:rPr>
                        <a:t>Earthquake / fire destroys the data-center</a:t>
                      </a:r>
                    </a:p>
                  </a:txBody>
                  <a:tcPr anchor="ctr" marL="73152" marR="54864" marT="27432" marB="27432">
                    <a:solidFill>
                      <a:srgbClr val="EEF3F8"/>
                    </a:solidFill>
                  </a:tcPr>
                </a:tc>
                <a:tc>
                  <a:txBody>
                    <a:bodyPr wrap="square"/>
                    <a:lstStyle/>
                    <a:p>
                      <a:r>
                        <a:rPr sz="1100">
                          <a:solidFill>
                            <a:srgbClr val="1A1A1A"/>
                          </a:solidFill>
                        </a:rPr>
                        <a:t>Off-site backup is the only recovery (S44)</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first four are non-catastrophic (disk intact → log-based recovery, S42–S43). The last two are catastrophic (disk gone → only a separate backup saves you, S44).</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12 / 136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S37 · CONCEPT 4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Transaction States &amp; the State Diagram</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A transaction moves through defined states: Active (executing operations) → Partially Committed (last operation done, not yet made permanent) → Committed (changes durable). If anything goes wrong it enters Failed → Aborted (terminated, rolled back).</a:t>
            </a:r>
          </a:p>
          <a:p>
            <a:pPr>
              <a:spcAft>
                <a:spcPts val="500"/>
              </a:spcAft>
            </a:pPr>
            <a:r>
              <a:rPr sz="1200" b="1">
                <a:solidFill>
                  <a:srgbClr val="185FA5"/>
                </a:solidFill>
              </a:rPr>
              <a:t>HOW IT WORKS</a:t>
            </a:r>
          </a:p>
          <a:p>
            <a:pPr>
              <a:spcAft>
                <a:spcPts val="600"/>
              </a:spcAft>
            </a:pPr>
            <a:r>
              <a:rPr sz="1400">
                <a:solidFill>
                  <a:srgbClr val="1A1A1A"/>
                </a:solidFill>
              </a:rPr>
              <a:t>•  Active: the transaction is reading and writing data items.</a:t>
            </a:r>
          </a:p>
          <a:p>
            <a:pPr>
              <a:spcAft>
                <a:spcPts val="600"/>
              </a:spcAft>
            </a:pPr>
            <a:r>
              <a:rPr sz="1400">
                <a:solidFill>
                  <a:srgbClr val="1A1A1A"/>
                </a:solidFill>
              </a:rPr>
              <a:t>•  Partially committed: all operations executed, but changes not yet flushed to stable storage.</a:t>
            </a:r>
          </a:p>
          <a:p>
            <a:pPr>
              <a:spcAft>
                <a:spcPts val="600"/>
              </a:spcAft>
            </a:pPr>
            <a:r>
              <a:rPr sz="1400">
                <a:solidFill>
                  <a:srgbClr val="1A1A1A"/>
                </a:solidFill>
              </a:rPr>
              <a:t>•  Committed: the commit succeeded and changes are durable — the point of no return.</a:t>
            </a:r>
          </a:p>
          <a:p>
            <a:pPr>
              <a:spcAft>
                <a:spcPts val="600"/>
              </a:spcAft>
            </a:pPr>
            <a:r>
              <a:rPr sz="1400">
                <a:solidFill>
                  <a:srgbClr val="1A1A1A"/>
                </a:solidFill>
              </a:rPr>
              <a:t>•  Failed → Aborted: an error occurs; the transaction is rolled back and terminated.</a:t>
            </a:r>
          </a:p>
        </p:txBody>
      </p:sp>
      <p:pic>
        <p:nvPicPr>
          <p:cNvPr id="6" name="Picture 5" descr="s37_states.png"/>
          <p:cNvPicPr>
            <a:picLocks noChangeAspect="1"/>
          </p:cNvPicPr>
          <p:nvPr/>
        </p:nvPicPr>
        <p:blipFill>
          <a:blip r:embed="rId2"/>
          <a:stretch>
            <a:fillRect/>
          </a:stretch>
        </p:blipFill>
        <p:spPr>
          <a:xfrm>
            <a:off x="6355080" y="2286776"/>
            <a:ext cx="5532120" cy="3061687"/>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Active → Partially committed → Committed; any failure → Failed → Aborted.</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13 / 136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S37 · CONCEPT 4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Transaction States &amp; the State Diagram</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Rita's transfer is Active while it reads and debits; Partially Committed the instant the credit to Hari is computed but not yet flushed to disk; Committed once eSewa shows 'Transfer successful' and the log is safely stored. Had the wifi died during the debit, it would go Failed → Aborted, and Rita's balance would be restored.</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"Partially committed means it's done and safe." No — a partially committed transaction is NOT durable yet; a crash before the commit record is flushed can still lose it. Only the Committed state is safe.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 transaction's states are: Active (executing read/write operations), Partially Committed (all operations done but changes not yet made permanent), Committed (changes durably stored), Failed (an error occurred), and Aborted (rolled back and terminated). The success path is Active → Partially Committed → Committed; any failure diverts to Failed → Aborted, undoing all changes.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active · partially committed · committed · failed · aborted · rollback · commit point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14 / 136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S37 · CONCEPT 5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System Log (Journal)</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The system log is a sequential record, on stable storage, of every write a transaction makes — kept so the system can REDO or UNDO changes after a failure. It is the safety net behind durability and recovery.</a:t>
            </a:r>
          </a:p>
          <a:p>
            <a:pPr>
              <a:spcAft>
                <a:spcPts val="500"/>
              </a:spcAft>
            </a:pPr>
            <a:r>
              <a:rPr sz="1200" b="1">
                <a:solidFill>
                  <a:srgbClr val="185FA5"/>
                </a:solidFill>
              </a:rPr>
              <a:t>HOW IT WORKS</a:t>
            </a:r>
          </a:p>
          <a:p>
            <a:pPr>
              <a:spcAft>
                <a:spcPts val="600"/>
              </a:spcAft>
            </a:pPr>
            <a:r>
              <a:rPr sz="1400">
                <a:solidFill>
                  <a:srgbClr val="1A1A1A"/>
                </a:solidFill>
              </a:rPr>
              <a:t>•  Entry types: [start,T], [write,T,X,old_value,new_value], [commit,T], [abort,T], [checkpoint].</a:t>
            </a:r>
          </a:p>
          <a:p>
            <a:pPr>
              <a:spcAft>
                <a:spcPts val="600"/>
              </a:spcAft>
            </a:pPr>
            <a:r>
              <a:rPr sz="1400">
                <a:solidFill>
                  <a:srgbClr val="1A1A1A"/>
                </a:solidFill>
              </a:rPr>
              <a:t>•  The old value in a write record enables UNDO; the new value enables REDO.</a:t>
            </a:r>
          </a:p>
          <a:p>
            <a:pPr>
              <a:spcAft>
                <a:spcPts val="600"/>
              </a:spcAft>
            </a:pPr>
            <a:r>
              <a:rPr sz="1400">
                <a:solidFill>
                  <a:srgbClr val="1A1A1A"/>
                </a:solidFill>
              </a:rPr>
              <a:t>•  The log lives on stable storage so it survives a crash of main memory.</a:t>
            </a:r>
          </a:p>
          <a:p>
            <a:pPr>
              <a:spcAft>
                <a:spcPts val="600"/>
              </a:spcAft>
            </a:pPr>
            <a:r>
              <a:rPr sz="1400">
                <a:solidFill>
                  <a:srgbClr val="1A1A1A"/>
                </a:solidFill>
              </a:rPr>
              <a:t>•  Write-Ahead Logging (S42): the log record is written BEFORE the data page — guaranteeing recoverability.</a:t>
            </a:r>
          </a:p>
        </p:txBody>
      </p:sp>
      <p:pic>
        <p:nvPicPr>
          <p:cNvPr id="6" name="Picture 5" descr="s37_log.png"/>
          <p:cNvPicPr>
            <a:picLocks noChangeAspect="1"/>
          </p:cNvPicPr>
          <p:nvPr/>
        </p:nvPicPr>
        <p:blipFill>
          <a:blip r:embed="rId2"/>
          <a:stretch>
            <a:fillRect/>
          </a:stretch>
        </p:blipFill>
        <p:spPr>
          <a:xfrm>
            <a:off x="6355080" y="2444902"/>
            <a:ext cx="5532120" cy="2745435"/>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The log is a khata: note every entry before acting, so you can retrace.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15 / 136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S37 · CONCEPT 5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System Log (Journal)</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For Rita's transfer, the log records [start,T], then [write,T,RitaBal,2000,1500] and [write,T,HariBal,1000,1500] — each with the OLD and NEW value — then [commit,T]. If the server crashes, the DBMS replays this log: the old values let it UNDO an unfinished transfer, the new values let it REDO a committed one.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"The log is just an error message for developers." No — the log is the load-bearing record of every write, stored on stable storage; recovery is literally impossible without it. It is data, not a debug print.</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The system log (journal) is a sequential record on stable storage of every write operation, with entries such as [start,T], [write,T,X,old,new], [commit,T], and [abort,T]. The old values enable UNDO and the new values enable REDO after a failure. It is the foundation of durability and recovery, written under the Write-Ahead Logging rule.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system log/journal · [start]/[write]/[commit]/[abort] · old value = UNDO · new value = REDO · stable storage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16 / 136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S37 · CONCEPT 5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Reading the log: each record type and its recovery job</a:t>
            </a:r>
          </a:p>
        </p:txBody>
      </p:sp>
      <p:graphicFrame>
        <p:nvGraphicFramePr>
          <p:cNvPr id="5" name="Table 4"/>
          <p:cNvGraphicFramePr>
            <a:graphicFrameLocks noGrp="1"/>
          </p:cNvGraphicFramePr>
          <p:nvPr/>
        </p:nvGraphicFramePr>
        <p:xfrm>
          <a:off x="384048" y="1572768"/>
          <a:ext cx="11429997" cy="4416552"/>
        </p:xfrm>
        <a:graphic>
          <a:graphicData uri="http://schemas.openxmlformats.org/drawingml/2006/table">
            <a:tbl>
              <a:tblPr>
                <a:tableStyleId>{5C22544A-7EE6-4342-B048-85BDC9FD1C3A}</a:tableStyleId>
              </a:tblPr>
              <a:tblGrid>
                <a:gridCol w="3200399"/>
                <a:gridCol w="4114799"/>
                <a:gridCol w="4114799"/>
              </a:tblGrid>
              <a:tr h="630936">
                <a:tc>
                  <a:txBody>
                    <a:bodyPr wrap="square"/>
                    <a:lstStyle/>
                    <a:p>
                      <a:r>
                        <a:rPr sz="1150" b="1">
                          <a:solidFill>
                            <a:srgbClr val="FFFFFF"/>
                          </a:solidFill>
                        </a:rPr>
                        <a:t>Log record</a:t>
                      </a:r>
                    </a:p>
                  </a:txBody>
                  <a:tcPr anchor="ctr" marL="73152" marR="54864" marT="27432" marB="27432">
                    <a:solidFill>
                      <a:srgbClr val="0C2B4A"/>
                    </a:solidFill>
                  </a:tcPr>
                </a:tc>
                <a:tc>
                  <a:txBody>
                    <a:bodyPr wrap="square"/>
                    <a:lstStyle/>
                    <a:p>
                      <a:r>
                        <a:rPr sz="1150" b="1">
                          <a:solidFill>
                            <a:srgbClr val="FFFFFF"/>
                          </a:solidFill>
                        </a:rPr>
                        <a:t>What it stores</a:t>
                      </a:r>
                    </a:p>
                  </a:txBody>
                  <a:tcPr anchor="ctr" marL="73152" marR="54864" marT="27432" marB="27432">
                    <a:solidFill>
                      <a:srgbClr val="0C2B4A"/>
                    </a:solidFill>
                  </a:tcPr>
                </a:tc>
                <a:tc>
                  <a:txBody>
                    <a:bodyPr wrap="square"/>
                    <a:lstStyle/>
                    <a:p>
                      <a:r>
                        <a:rPr sz="1150" b="1">
                          <a:solidFill>
                            <a:srgbClr val="FFFFFF"/>
                          </a:solidFill>
                        </a:rPr>
                        <a:t>Its job in recovery</a:t>
                      </a:r>
                    </a:p>
                  </a:txBody>
                  <a:tcPr anchor="ctr" marL="73152" marR="54864" marT="27432" marB="27432">
                    <a:solidFill>
                      <a:srgbClr val="0C2B4A"/>
                    </a:solidFill>
                  </a:tcPr>
                </a:tc>
              </a:tr>
              <a:tr h="630936">
                <a:tc>
                  <a:txBody>
                    <a:bodyPr wrap="square"/>
                    <a:lstStyle/>
                    <a:p>
                      <a:r>
                        <a:rPr sz="1100" b="1">
                          <a:solidFill>
                            <a:srgbClr val="0C2B4A"/>
                          </a:solidFill>
                        </a:rPr>
                        <a:t>[start, T]</a:t>
                      </a:r>
                    </a:p>
                  </a:txBody>
                  <a:tcPr anchor="ctr" marL="73152" marR="54864" marT="27432" marB="27432">
                    <a:solidFill>
                      <a:srgbClr val="FFFFFF"/>
                    </a:solidFill>
                  </a:tcPr>
                </a:tc>
                <a:tc>
                  <a:txBody>
                    <a:bodyPr wrap="square"/>
                    <a:lstStyle/>
                    <a:p>
                      <a:r>
                        <a:rPr sz="1100">
                          <a:solidFill>
                            <a:srgbClr val="1A1A1A"/>
                          </a:solidFill>
                        </a:rPr>
                        <a:t>Transaction T has begun</a:t>
                      </a:r>
                    </a:p>
                  </a:txBody>
                  <a:tcPr anchor="ctr" marL="73152" marR="54864" marT="27432" marB="27432">
                    <a:solidFill>
                      <a:srgbClr val="FFFFFF"/>
                    </a:solidFill>
                  </a:tcPr>
                </a:tc>
                <a:tc>
                  <a:txBody>
                    <a:bodyPr wrap="square"/>
                    <a:lstStyle/>
                    <a:p>
                      <a:r>
                        <a:rPr sz="1100">
                          <a:solidFill>
                            <a:srgbClr val="1A1A1A"/>
                          </a:solidFill>
                        </a:rPr>
                        <a:t>Marks where T's work starts in the log</a:t>
                      </a:r>
                    </a:p>
                  </a:txBody>
                  <a:tcPr anchor="ctr" marL="73152" marR="54864" marT="27432" marB="27432">
                    <a:solidFill>
                      <a:srgbClr val="FFFFFF"/>
                    </a:solidFill>
                  </a:tcPr>
                </a:tc>
              </a:tr>
              <a:tr h="630936">
                <a:tc>
                  <a:txBody>
                    <a:bodyPr wrap="square"/>
                    <a:lstStyle/>
                    <a:p>
                      <a:r>
                        <a:rPr sz="1100" b="1">
                          <a:solidFill>
                            <a:srgbClr val="0C2B4A"/>
                          </a:solidFill>
                        </a:rPr>
                        <a:t>[write, T, X, old, new]</a:t>
                      </a:r>
                    </a:p>
                  </a:txBody>
                  <a:tcPr anchor="ctr" marL="73152" marR="54864" marT="27432" marB="27432">
                    <a:solidFill>
                      <a:srgbClr val="EEF3F8"/>
                    </a:solidFill>
                  </a:tcPr>
                </a:tc>
                <a:tc>
                  <a:txBody>
                    <a:bodyPr wrap="square"/>
                    <a:lstStyle/>
                    <a:p>
                      <a:r>
                        <a:rPr sz="1100">
                          <a:solidFill>
                            <a:srgbClr val="1A1A1A"/>
                          </a:solidFill>
                        </a:rPr>
                        <a:t>T changed item X from old → new</a:t>
                      </a:r>
                    </a:p>
                  </a:txBody>
                  <a:tcPr anchor="ctr" marL="73152" marR="54864" marT="27432" marB="27432">
                    <a:solidFill>
                      <a:srgbClr val="EEF3F8"/>
                    </a:solidFill>
                  </a:tcPr>
                </a:tc>
                <a:tc>
                  <a:txBody>
                    <a:bodyPr wrap="square"/>
                    <a:lstStyle/>
                    <a:p>
                      <a:r>
                        <a:rPr sz="1100">
                          <a:solidFill>
                            <a:srgbClr val="1A1A1A"/>
                          </a:solidFill>
                        </a:rPr>
                        <a:t>old value → UNDO;  new value → REDO</a:t>
                      </a:r>
                    </a:p>
                  </a:txBody>
                  <a:tcPr anchor="ctr" marL="73152" marR="54864" marT="27432" marB="27432">
                    <a:solidFill>
                      <a:srgbClr val="EEF3F8"/>
                    </a:solidFill>
                  </a:tcPr>
                </a:tc>
              </a:tr>
              <a:tr h="630936">
                <a:tc>
                  <a:txBody>
                    <a:bodyPr wrap="square"/>
                    <a:lstStyle/>
                    <a:p>
                      <a:r>
                        <a:rPr sz="1100" b="1">
                          <a:solidFill>
                            <a:srgbClr val="0C2B4A"/>
                          </a:solidFill>
                        </a:rPr>
                        <a:t>[read, T, X]</a:t>
                      </a:r>
                    </a:p>
                  </a:txBody>
                  <a:tcPr anchor="ctr" marL="73152" marR="54864" marT="27432" marB="27432">
                    <a:solidFill>
                      <a:srgbClr val="FFFFFF"/>
                    </a:solidFill>
                  </a:tcPr>
                </a:tc>
                <a:tc>
                  <a:txBody>
                    <a:bodyPr wrap="square"/>
                    <a:lstStyle/>
                    <a:p>
                      <a:r>
                        <a:rPr sz="1100">
                          <a:solidFill>
                            <a:srgbClr val="1A1A1A"/>
                          </a:solidFill>
                        </a:rPr>
                        <a:t>T read item X (some systems)</a:t>
                      </a:r>
                    </a:p>
                  </a:txBody>
                  <a:tcPr anchor="ctr" marL="73152" marR="54864" marT="27432" marB="27432">
                    <a:solidFill>
                      <a:srgbClr val="FFFFFF"/>
                    </a:solidFill>
                  </a:tcPr>
                </a:tc>
                <a:tc>
                  <a:txBody>
                    <a:bodyPr wrap="square"/>
                    <a:lstStyle/>
                    <a:p>
                      <a:r>
                        <a:rPr sz="1100">
                          <a:solidFill>
                            <a:srgbClr val="1A1A1A"/>
                          </a:solidFill>
                        </a:rPr>
                        <a:t>Not needed for undo/redo; used for analysis</a:t>
                      </a:r>
                    </a:p>
                  </a:txBody>
                  <a:tcPr anchor="ctr" marL="73152" marR="54864" marT="27432" marB="27432">
                    <a:solidFill>
                      <a:srgbClr val="FFFFFF"/>
                    </a:solidFill>
                  </a:tcPr>
                </a:tc>
              </a:tr>
              <a:tr h="630936">
                <a:tc>
                  <a:txBody>
                    <a:bodyPr wrap="square"/>
                    <a:lstStyle/>
                    <a:p>
                      <a:r>
                        <a:rPr sz="1100" b="1">
                          <a:solidFill>
                            <a:srgbClr val="0C2B4A"/>
                          </a:solidFill>
                        </a:rPr>
                        <a:t>[commit, T]</a:t>
                      </a:r>
                    </a:p>
                  </a:txBody>
                  <a:tcPr anchor="ctr" marL="73152" marR="54864" marT="27432" marB="27432">
                    <a:solidFill>
                      <a:srgbClr val="EEF3F8"/>
                    </a:solidFill>
                  </a:tcPr>
                </a:tc>
                <a:tc>
                  <a:txBody>
                    <a:bodyPr wrap="square"/>
                    <a:lstStyle/>
                    <a:p>
                      <a:r>
                        <a:rPr sz="1100">
                          <a:solidFill>
                            <a:srgbClr val="1A1A1A"/>
                          </a:solidFill>
                        </a:rPr>
                        <a:t>T committed successfully</a:t>
                      </a:r>
                    </a:p>
                  </a:txBody>
                  <a:tcPr anchor="ctr" marL="73152" marR="54864" marT="27432" marB="27432">
                    <a:solidFill>
                      <a:srgbClr val="EEF3F8"/>
                    </a:solidFill>
                  </a:tcPr>
                </a:tc>
                <a:tc>
                  <a:txBody>
                    <a:bodyPr wrap="square"/>
                    <a:lstStyle/>
                    <a:p>
                      <a:r>
                        <a:rPr sz="1100">
                          <a:solidFill>
                            <a:srgbClr val="1A1A1A"/>
                          </a:solidFill>
                        </a:rPr>
                        <a:t>Tells recovery to REDO T (it is durable)</a:t>
                      </a:r>
                    </a:p>
                  </a:txBody>
                  <a:tcPr anchor="ctr" marL="73152" marR="54864" marT="27432" marB="27432">
                    <a:solidFill>
                      <a:srgbClr val="EEF3F8"/>
                    </a:solidFill>
                  </a:tcPr>
                </a:tc>
              </a:tr>
              <a:tr h="630936">
                <a:tc>
                  <a:txBody>
                    <a:bodyPr wrap="square"/>
                    <a:lstStyle/>
                    <a:p>
                      <a:r>
                        <a:rPr sz="1100" b="1">
                          <a:solidFill>
                            <a:srgbClr val="0C2B4A"/>
                          </a:solidFill>
                        </a:rPr>
                        <a:t>[abort, T]</a:t>
                      </a:r>
                    </a:p>
                  </a:txBody>
                  <a:tcPr anchor="ctr" marL="73152" marR="54864" marT="27432" marB="27432">
                    <a:solidFill>
                      <a:srgbClr val="FFFFFF"/>
                    </a:solidFill>
                  </a:tcPr>
                </a:tc>
                <a:tc>
                  <a:txBody>
                    <a:bodyPr wrap="square"/>
                    <a:lstStyle/>
                    <a:p>
                      <a:r>
                        <a:rPr sz="1100">
                          <a:solidFill>
                            <a:srgbClr val="1A1A1A"/>
                          </a:solidFill>
                        </a:rPr>
                        <a:t>T was rolled back</a:t>
                      </a:r>
                    </a:p>
                  </a:txBody>
                  <a:tcPr anchor="ctr" marL="73152" marR="54864" marT="27432" marB="27432">
                    <a:solidFill>
                      <a:srgbClr val="FFFFFF"/>
                    </a:solidFill>
                  </a:tcPr>
                </a:tc>
                <a:tc>
                  <a:txBody>
                    <a:bodyPr wrap="square"/>
                    <a:lstStyle/>
                    <a:p>
                      <a:r>
                        <a:rPr sz="1100">
                          <a:solidFill>
                            <a:srgbClr val="1A1A1A"/>
                          </a:solidFill>
                        </a:rPr>
                        <a:t>Tells recovery to UNDO / ignore T</a:t>
                      </a:r>
                    </a:p>
                  </a:txBody>
                  <a:tcPr anchor="ctr" marL="73152" marR="54864" marT="27432" marB="27432">
                    <a:solidFill>
                      <a:srgbClr val="FFFFFF"/>
                    </a:solidFill>
                  </a:tcPr>
                </a:tc>
              </a:tr>
              <a:tr h="630936">
                <a:tc>
                  <a:txBody>
                    <a:bodyPr wrap="square"/>
                    <a:lstStyle/>
                    <a:p>
                      <a:r>
                        <a:rPr sz="1100" b="1">
                          <a:solidFill>
                            <a:srgbClr val="0C2B4A"/>
                          </a:solidFill>
                        </a:rPr>
                        <a:t>[checkpoint]</a:t>
                      </a:r>
                    </a:p>
                  </a:txBody>
                  <a:tcPr anchor="ctr" marL="73152" marR="54864" marT="27432" marB="27432">
                    <a:solidFill>
                      <a:srgbClr val="EEF3F8"/>
                    </a:solidFill>
                  </a:tcPr>
                </a:tc>
                <a:tc>
                  <a:txBody>
                    <a:bodyPr wrap="square"/>
                    <a:lstStyle/>
                    <a:p>
                      <a:r>
                        <a:rPr sz="1100">
                          <a:solidFill>
                            <a:srgbClr val="1A1A1A"/>
                          </a:solidFill>
                        </a:rPr>
                        <a:t>Buffers flushed at this point</a:t>
                      </a:r>
                    </a:p>
                  </a:txBody>
                  <a:tcPr anchor="ctr" marL="73152" marR="54864" marT="27432" marB="27432">
                    <a:solidFill>
                      <a:srgbClr val="EEF3F8"/>
                    </a:solidFill>
                  </a:tcPr>
                </a:tc>
                <a:tc>
                  <a:txBody>
                    <a:bodyPr wrap="square"/>
                    <a:lstStyle/>
                    <a:p>
                      <a:r>
                        <a:rPr sz="1100">
                          <a:solidFill>
                            <a:srgbClr val="1A1A1A"/>
                          </a:solidFill>
                        </a:rPr>
                        <a:t>Limits how far back recovery must scan (S42)</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Recovery is just disciplined reading of this log: REDO transactions with both [start] and [commit]; UNDO those with [start] but no [commit]. Every technique in S42–S44 is built on these records.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17 / 136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S37 — 'Spot the transaction'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name one phone action that is really a multi-step transaction (not a single tap).</a:t>
            </a:r>
          </a:p>
          <a:p>
            <a:pPr>
              <a:spcAft>
                <a:spcPts val="700"/>
              </a:spcAft>
            </a:pPr>
            <a:r>
              <a:rPr sz="1550">
                <a:solidFill>
                  <a:srgbClr val="1A1A1A"/>
                </a:solidFill>
              </a:rPr>
              <a:t>•  List its steps, and say what should happen if it fails halfway through.</a:t>
            </a:r>
          </a:p>
          <a:p>
            <a:pPr>
              <a:spcAft>
                <a:spcPts val="700"/>
              </a:spcAft>
            </a:pPr>
            <a:r>
              <a:rPr sz="1550">
                <a:solidFill>
                  <a:srgbClr val="1A1A1A"/>
                </a:solidFill>
              </a:rPr>
              <a:t>•  Take 3–4 answers aloud (3 min); mark which step is the 'point of no return'.</a:t>
            </a:r>
          </a:p>
          <a:p>
            <a:pPr>
              <a:spcAft>
                <a:spcPts val="700"/>
              </a:spcAft>
            </a:pPr>
            <a:r>
              <a:rPr sz="1550">
                <a:solidFill>
                  <a:srgbClr val="1A1A1A"/>
                </a:solidFill>
              </a:rPr>
              <a:t>•  Close: every good example is all-or-nothing — a half-done version would corrupt data or money.</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Seeds: eSewa/Khalti transfer, bus/movie ticket booking, mobile top-up, Daraz checkout. Push students to name the rollback (undo the debit, release the seat) and to locate the commit point.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18 / 136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S37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A transaction that has executed all its operations but is not yet made permanent is in which state?</a:t>
            </a:r>
          </a:p>
          <a:p>
            <a:pPr lvl="1"/>
            <a:r>
              <a:rPr sz="1500" b="1">
                <a:solidFill>
                  <a:srgbClr val="0F6E56"/>
                </a:solidFill>
              </a:rPr>
              <a:t>a) active   b) ✅ partially committed   c) committed   d) aborted</a:t>
            </a:r>
          </a:p>
          <a:p>
            <a:pPr lvl="1">
              <a:spcBef>
                <a:spcPts val="600"/>
              </a:spcBef>
            </a:pPr>
            <a:r>
              <a:rPr sz="1500" i="1">
                <a:solidFill>
                  <a:srgbClr val="1A1A1A"/>
                </a:solidFill>
              </a:rPr>
              <a:t>     Why: all ops are done but changes aren't durable yet — a crash here can still lose it.</a:t>
            </a:r>
          </a:p>
          <a:p>
            <a:pPr>
              <a:spcBef>
                <a:spcPts val="900"/>
              </a:spcBef>
            </a:pPr>
            <a:r>
              <a:rPr sz="1700" b="1">
                <a:solidFill>
                  <a:srgbClr val="0C2B4A"/>
                </a:solidFill>
              </a:rPr>
              <a:t>Q2.  Which log record lets the system UNDO a change?</a:t>
            </a:r>
          </a:p>
          <a:p>
            <a:pPr lvl="1"/>
            <a:r>
              <a:rPr sz="1500" b="1">
                <a:solidFill>
                  <a:srgbClr val="0F6E56"/>
                </a:solidFill>
              </a:rPr>
              <a:t>a) [commit]   b) ✅ the old value in [write,T,X,old,new]   c) [start]   d) [checkpoint]</a:t>
            </a:r>
          </a:p>
          <a:p>
            <a:pPr lvl="1">
              <a:spcBef>
                <a:spcPts val="600"/>
              </a:spcBef>
            </a:pPr>
            <a:r>
              <a:rPr sz="1500" i="1">
                <a:solidFill>
                  <a:srgbClr val="1A1A1A"/>
                </a:solidFill>
              </a:rPr>
              <a:t>     Why: the old value is what the change is rolled back to; the new value is for REDO.</a:t>
            </a:r>
          </a:p>
          <a:p>
            <a:pPr lvl="1">
              <a:spcBef>
                <a:spcPts val="600"/>
              </a:spcBef>
            </a:pPr>
            <a:r>
              <a:rPr sz="1500" i="1">
                <a:solidFill>
                  <a:srgbClr val="1A1A1A"/>
                </a:solidFill>
              </a:rPr>
              <a:t>Discussion: describe one phone action that is really a multi-step transaction, and what should happen if it fails halfway.</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19 / 136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S37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A transaction is an all-or-nothing logical unit of work (BEGIN → ops → COMMIT / ROLLBACK), not a single SQL line.</a:t>
            </a:r>
          </a:p>
          <a:p>
            <a:pPr>
              <a:spcAft>
                <a:spcPts val="800"/>
              </a:spcAft>
            </a:pPr>
            <a:r>
              <a:rPr sz="1500">
                <a:solidFill>
                  <a:srgbClr val="1A1A1A"/>
                </a:solidFill>
              </a:rPr>
              <a:t>2.  It moves through defined states (Active → Partially Committed → Committed; or Failed → Aborted); commit is the point of no return.</a:t>
            </a:r>
          </a:p>
          <a:p>
            <a:pPr>
              <a:spcAft>
                <a:spcPts val="800"/>
              </a:spcAft>
            </a:pPr>
            <a:r>
              <a:rPr sz="1500">
                <a:solidFill>
                  <a:srgbClr val="1A1A1A"/>
                </a:solidFill>
              </a:rPr>
              <a:t>3.  The system log records every write (old + new values) on stable storage so failures can be UNDONE or REDONE.</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Every eSewa/Khalti payment and every bank fund transfer is wrapped in a logged transaction — this is the safety net behind the promise 'your money is safe'. Understanding it is expected of any fintech or backend developer in Nepal.</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S38 — the four guarantees every correct transaction must keep: ACID.</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20 / 136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38 · LECTURE HOUR 2 (OF 8)</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Desirable Properties of Transactions — ACID</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Rita's Rs. 500 was debited but never credited to Hari — and the bank just says 'the system was busy'. Which promise did the system break? Every correct transaction must keep four promises: A, C, I, D.</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21 / 136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S38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Atomicity</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Atomicity guarantees that all operations of a transaction happen, or none do — there are no half-done transactions. If a transaction cannot complete, every change it made is rolled back.</a:t>
            </a:r>
          </a:p>
          <a:p>
            <a:pPr>
              <a:spcAft>
                <a:spcPts val="500"/>
              </a:spcAft>
            </a:pPr>
            <a:r>
              <a:rPr sz="1200" b="1">
                <a:solidFill>
                  <a:srgbClr val="185FA5"/>
                </a:solidFill>
              </a:rPr>
              <a:t>HOW IT WORKS</a:t>
            </a:r>
          </a:p>
          <a:p>
            <a:pPr>
              <a:spcAft>
                <a:spcPts val="600"/>
              </a:spcAft>
            </a:pPr>
            <a:r>
              <a:rPr sz="1400">
                <a:solidFill>
                  <a:srgbClr val="1A1A1A"/>
                </a:solidFill>
              </a:rPr>
              <a:t>•  The transaction is treated as a single indivisible ('atomic') step by the outside world.</a:t>
            </a:r>
          </a:p>
          <a:p>
            <a:pPr>
              <a:spcAft>
                <a:spcPts val="600"/>
              </a:spcAft>
            </a:pPr>
            <a:r>
              <a:rPr sz="1400">
                <a:solidFill>
                  <a:srgbClr val="1A1A1A"/>
                </a:solidFill>
              </a:rPr>
              <a:t>•  On failure, the recovery manager uses the log's old values to UNDO partial changes.</a:t>
            </a:r>
          </a:p>
          <a:p>
            <a:pPr>
              <a:spcAft>
                <a:spcPts val="600"/>
              </a:spcAft>
            </a:pPr>
            <a:r>
              <a:rPr sz="1400">
                <a:solidFill>
                  <a:srgbClr val="1A1A1A"/>
                </a:solidFill>
              </a:rPr>
              <a:t>•  It is the direct enforcement of the 'all-or-nothing' idea from S37.</a:t>
            </a:r>
          </a:p>
          <a:p>
            <a:pPr>
              <a:spcAft>
                <a:spcPts val="600"/>
              </a:spcAft>
            </a:pPr>
            <a:r>
              <a:rPr sz="1400">
                <a:solidFill>
                  <a:srgbClr val="1A1A1A"/>
                </a:solidFill>
              </a:rPr>
              <a:t>•  Atomicity is what makes a debit-without-credit impossible to leave behind.</a:t>
            </a:r>
          </a:p>
        </p:txBody>
      </p:sp>
      <p:pic>
        <p:nvPicPr>
          <p:cNvPr id="6" name="Picture 5" descr="s38_acid.png"/>
          <p:cNvPicPr>
            <a:picLocks noChangeAspect="1"/>
          </p:cNvPicPr>
          <p:nvPr/>
        </p:nvPicPr>
        <p:blipFill>
          <a:blip r:embed="rId2"/>
          <a:stretch>
            <a:fillRect/>
          </a:stretch>
        </p:blipFill>
        <p:spPr>
          <a:xfrm>
            <a:off x="6355080" y="2286776"/>
            <a:ext cx="5532120" cy="3061687"/>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Atomicity = all-or-nothing; a half-done transaction is undone.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22 / 136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S38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Atomicity</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eSewa transfer: the system must perform BOTH the debit from Rita AND the credit to Hari, or neither. If the credit fails, atomicity forces a rollback of the debit, so Rita's Rs. 500 reappears in her wallet — the money is never silently lost between the two accounts.</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"If the app crashes, it just leaves things as they are." No — an incomplete transaction must be UNDONE (rolled back), not frozen half-done. 'Leaving it as-is' after a debit-but-no-credit is exactly the corruption atomicity prevents.</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Atomicity is the ACID property guaranteeing that all of a transaction's operations execute completely or not at all — there are no partial transactions. If a transaction fails, the recovery manager rolls back every change it made (using the log's old values). In the eSewa transfer, atomicity ensures both the debit and credit happen, or neither does.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atomicity · all-or-nothing · rollback · no partial transactions · recovery manager</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23 / 136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S38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Consistency</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Consistency guarantees that a transaction takes the database from one valid state to another valid state, preserving all integrity constraints and invariants. A correctly written transaction, run alone, never violates a rule.</a:t>
            </a:r>
          </a:p>
          <a:p>
            <a:pPr>
              <a:spcAft>
                <a:spcPts val="500"/>
              </a:spcAft>
            </a:pPr>
            <a:r>
              <a:rPr sz="1200" b="1">
                <a:solidFill>
                  <a:srgbClr val="185FA5"/>
                </a:solidFill>
              </a:rPr>
              <a:t>HOW IT WORKS</a:t>
            </a:r>
          </a:p>
          <a:p>
            <a:pPr>
              <a:spcAft>
                <a:spcPts val="600"/>
              </a:spcAft>
            </a:pPr>
            <a:r>
              <a:rPr sz="1400">
                <a:solidFill>
                  <a:srgbClr val="1A1A1A"/>
                </a:solidFill>
              </a:rPr>
              <a:t>•  An invariant is a rule that must always hold — e.g. total money in the system is unchanged by a transfer.</a:t>
            </a:r>
          </a:p>
          <a:p>
            <a:pPr>
              <a:spcAft>
                <a:spcPts val="600"/>
              </a:spcAft>
            </a:pPr>
            <a:r>
              <a:rPr sz="1400">
                <a:solidFill>
                  <a:srgbClr val="1A1A1A"/>
                </a:solidFill>
              </a:rPr>
              <a:t>•  Before and after any transfer, the sum of all balances must be equal.</a:t>
            </a:r>
          </a:p>
          <a:p>
            <a:pPr>
              <a:spcAft>
                <a:spcPts val="600"/>
              </a:spcAft>
            </a:pPr>
            <a:r>
              <a:rPr sz="1400">
                <a:solidFill>
                  <a:srgbClr val="1A1A1A"/>
                </a:solidFill>
              </a:rPr>
              <a:t>•  It is a shared responsibility: the DBMS enforces constraints, the developer writes correct logic.</a:t>
            </a:r>
          </a:p>
          <a:p>
            <a:pPr>
              <a:spcAft>
                <a:spcPts val="600"/>
              </a:spcAft>
            </a:pPr>
            <a:r>
              <a:rPr sz="1400">
                <a:solidFill>
                  <a:srgbClr val="1A1A1A"/>
                </a:solidFill>
              </a:rPr>
              <a:t>•  A bug that credits twice (creating money) breaks consistency even if atomicity held.</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Consistency = valid state → valid state; the invariant is never broken.</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24 / 136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S38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Consistency</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Before the transfer: Rita Rs. 2000 + Hari Rs. 1000 = Rs. 3000. After: Rita Rs. 1500 + Hari Rs. 1500 = Rs. 3000. The invariant 'total money is conserved' is preserved — that is consistency. A bug that credited Hari twice (Rs. 2000 total after) would create money from nothing and break consistency.</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"Consistency is the same thing as atomicity." No — atomicity is about all-or-nothing execution; consistency is about not violating the rules/invariants. A fully-executed (atomic) transaction can still leave the DB inconsistent if its logic is wrong (e.g. double-credit).</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Consistency is the ACID property guaranteeing that a transaction moves the database from one valid state to another, preserving all integrity constraints and invariants (such as 'total money is conserved' in a transfer). The DBMS enforces declared constraints and the developer supplies correct logic; a transaction that broke an invariant (e.g. double-crediting) would violate consistency.</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consistency · valid state → valid state · integrity constraints · invariant · conservation of money</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25 / 136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S38 · CONCEPT 2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Consistency: preserving the invariant (money is conserved)</a:t>
            </a:r>
          </a:p>
        </p:txBody>
      </p:sp>
      <p:graphicFrame>
        <p:nvGraphicFramePr>
          <p:cNvPr id="5" name="Table 4"/>
          <p:cNvGraphicFramePr>
            <a:graphicFrameLocks noGrp="1"/>
          </p:cNvGraphicFramePr>
          <p:nvPr/>
        </p:nvGraphicFramePr>
        <p:xfrm>
          <a:off x="384048" y="1572768"/>
          <a:ext cx="11430000" cy="4416552"/>
        </p:xfrm>
        <a:graphic>
          <a:graphicData uri="http://schemas.openxmlformats.org/drawingml/2006/table">
            <a:tbl>
              <a:tblPr>
                <a:tableStyleId>{5C22544A-7EE6-4342-B048-85BDC9FD1C3A}</a:tableStyleId>
              </a:tblPr>
              <a:tblGrid>
                <a:gridCol w="2428875"/>
                <a:gridCol w="2428875"/>
                <a:gridCol w="2714625"/>
                <a:gridCol w="3857625"/>
              </a:tblGrid>
              <a:tr h="630936">
                <a:tc>
                  <a:txBody>
                    <a:bodyPr wrap="square"/>
                    <a:lstStyle/>
                    <a:p>
                      <a:r>
                        <a:rPr sz="1100" b="1">
                          <a:solidFill>
                            <a:srgbClr val="FFFFFF"/>
                          </a:solidFill>
                        </a:rPr>
                        <a:t>Scenario</a:t>
                      </a:r>
                    </a:p>
                  </a:txBody>
                  <a:tcPr anchor="ctr" marL="73152" marR="54864" marT="27432" marB="27432">
                    <a:solidFill>
                      <a:srgbClr val="0C2B4A"/>
                    </a:solidFill>
                  </a:tcPr>
                </a:tc>
                <a:tc>
                  <a:txBody>
                    <a:bodyPr wrap="square"/>
                    <a:lstStyle/>
                    <a:p>
                      <a:r>
                        <a:rPr sz="1100" b="1">
                          <a:solidFill>
                            <a:srgbClr val="FFFFFF"/>
                          </a:solidFill>
                        </a:rPr>
                        <a:t>Before</a:t>
                      </a:r>
                    </a:p>
                  </a:txBody>
                  <a:tcPr anchor="ctr" marL="73152" marR="54864" marT="27432" marB="27432">
                    <a:solidFill>
                      <a:srgbClr val="0C2B4A"/>
                    </a:solidFill>
                  </a:tcPr>
                </a:tc>
                <a:tc>
                  <a:txBody>
                    <a:bodyPr wrap="square"/>
                    <a:lstStyle/>
                    <a:p>
                      <a:r>
                        <a:rPr sz="1100" b="1">
                          <a:solidFill>
                            <a:srgbClr val="FFFFFF"/>
                          </a:solidFill>
                        </a:rPr>
                        <a:t>After — correct</a:t>
                      </a:r>
                    </a:p>
                  </a:txBody>
                  <a:tcPr anchor="ctr" marL="73152" marR="54864" marT="27432" marB="27432">
                    <a:solidFill>
                      <a:srgbClr val="0C2B4A"/>
                    </a:solidFill>
                  </a:tcPr>
                </a:tc>
                <a:tc>
                  <a:txBody>
                    <a:bodyPr wrap="square"/>
                    <a:lstStyle/>
                    <a:p>
                      <a:r>
                        <a:rPr sz="1100" b="1">
                          <a:solidFill>
                            <a:srgbClr val="FFFFFF"/>
                          </a:solidFill>
                        </a:rPr>
                        <a:t>What a bug would do (violates consistency)</a:t>
                      </a:r>
                    </a:p>
                  </a:txBody>
                  <a:tcPr anchor="ctr" marL="73152" marR="54864" marT="27432" marB="27432">
                    <a:solidFill>
                      <a:srgbClr val="0C2B4A"/>
                    </a:solidFill>
                  </a:tcPr>
                </a:tc>
              </a:tr>
              <a:tr h="630936">
                <a:tc>
                  <a:txBody>
                    <a:bodyPr wrap="square"/>
                    <a:lstStyle/>
                    <a:p>
                      <a:r>
                        <a:rPr sz="1050" b="1">
                          <a:solidFill>
                            <a:srgbClr val="0C2B4A"/>
                          </a:solidFill>
                        </a:rPr>
                        <a:t>Rita → Hari Rs. 500</a:t>
                      </a:r>
                    </a:p>
                  </a:txBody>
                  <a:tcPr anchor="ctr" marL="73152" marR="54864" marT="27432" marB="27432">
                    <a:solidFill>
                      <a:srgbClr val="FFFFFF"/>
                    </a:solidFill>
                  </a:tcPr>
                </a:tc>
                <a:tc>
                  <a:txBody>
                    <a:bodyPr wrap="square"/>
                    <a:lstStyle/>
                    <a:p>
                      <a:r>
                        <a:rPr sz="1050">
                          <a:solidFill>
                            <a:srgbClr val="1A1A1A"/>
                          </a:solidFill>
                        </a:rPr>
                        <a:t>Rita 2000, Hari 1000 (=3000)</a:t>
                      </a:r>
                    </a:p>
                  </a:txBody>
                  <a:tcPr anchor="ctr" marL="73152" marR="54864" marT="27432" marB="27432">
                    <a:solidFill>
                      <a:srgbClr val="FFFFFF"/>
                    </a:solidFill>
                  </a:tcPr>
                </a:tc>
                <a:tc>
                  <a:txBody>
                    <a:bodyPr wrap="square"/>
                    <a:lstStyle/>
                    <a:p>
                      <a:r>
                        <a:rPr sz="1050">
                          <a:solidFill>
                            <a:srgbClr val="1A1A1A"/>
                          </a:solidFill>
                        </a:rPr>
                        <a:t>Rita 1500, Hari 1500 (=3000)</a:t>
                      </a:r>
                    </a:p>
                  </a:txBody>
                  <a:tcPr anchor="ctr" marL="73152" marR="54864" marT="27432" marB="27432">
                    <a:solidFill>
                      <a:srgbClr val="FFFFFF"/>
                    </a:solidFill>
                  </a:tcPr>
                </a:tc>
                <a:tc>
                  <a:txBody>
                    <a:bodyPr wrap="square"/>
                    <a:lstStyle/>
                    <a:p>
                      <a:r>
                        <a:rPr sz="1050">
                          <a:solidFill>
                            <a:srgbClr val="1A1A1A"/>
                          </a:solidFill>
                        </a:rPr>
                        <a:t>credit Hari twice → 3500 (money created)</a:t>
                      </a:r>
                    </a:p>
                  </a:txBody>
                  <a:tcPr anchor="ctr" marL="73152" marR="54864" marT="27432" marB="27432">
                    <a:solidFill>
                      <a:srgbClr val="FFFFFF"/>
                    </a:solidFill>
                  </a:tcPr>
                </a:tc>
              </a:tr>
              <a:tr h="630936">
                <a:tc>
                  <a:txBody>
                    <a:bodyPr wrap="square"/>
                    <a:lstStyle/>
                    <a:p>
                      <a:r>
                        <a:rPr sz="1050" b="1">
                          <a:solidFill>
                            <a:srgbClr val="0C2B4A"/>
                          </a:solidFill>
                        </a:rPr>
                        <a:t>eSewa cashback Rs. 50</a:t>
                      </a:r>
                    </a:p>
                  </a:txBody>
                  <a:tcPr anchor="ctr" marL="73152" marR="54864" marT="27432" marB="27432">
                    <a:solidFill>
                      <a:srgbClr val="EEF3F8"/>
                    </a:solidFill>
                  </a:tcPr>
                </a:tc>
                <a:tc>
                  <a:txBody>
                    <a:bodyPr wrap="square"/>
                    <a:lstStyle/>
                    <a:p>
                      <a:r>
                        <a:rPr sz="1050">
                          <a:solidFill>
                            <a:srgbClr val="1A1A1A"/>
                          </a:solidFill>
                        </a:rPr>
                        <a:t>Wallet 200 (+bank)</a:t>
                      </a:r>
                    </a:p>
                  </a:txBody>
                  <a:tcPr anchor="ctr" marL="73152" marR="54864" marT="27432" marB="27432">
                    <a:solidFill>
                      <a:srgbClr val="EEF3F8"/>
                    </a:solidFill>
                  </a:tcPr>
                </a:tc>
                <a:tc>
                  <a:txBody>
                    <a:bodyPr wrap="square"/>
                    <a:lstStyle/>
                    <a:p>
                      <a:r>
                        <a:rPr sz="1050">
                          <a:solidFill>
                            <a:srgbClr val="1A1A1A"/>
                          </a:solidFill>
                        </a:rPr>
                        <a:t>Wallet 250, promo-fund −50</a:t>
                      </a:r>
                    </a:p>
                  </a:txBody>
                  <a:tcPr anchor="ctr" marL="73152" marR="54864" marT="27432" marB="27432">
                    <a:solidFill>
                      <a:srgbClr val="EEF3F8"/>
                    </a:solidFill>
                  </a:tcPr>
                </a:tc>
                <a:tc>
                  <a:txBody>
                    <a:bodyPr wrap="square"/>
                    <a:lstStyle/>
                    <a:p>
                      <a:r>
                        <a:rPr sz="1050">
                          <a:solidFill>
                            <a:srgbClr val="1A1A1A"/>
                          </a:solidFill>
                        </a:rPr>
                        <a:t>cashback with no matching debit → money created</a:t>
                      </a:r>
                    </a:p>
                  </a:txBody>
                  <a:tcPr anchor="ctr" marL="73152" marR="54864" marT="27432" marB="27432">
                    <a:solidFill>
                      <a:srgbClr val="EEF3F8"/>
                    </a:solidFill>
                  </a:tcPr>
                </a:tc>
              </a:tr>
              <a:tr h="630936">
                <a:tc>
                  <a:txBody>
                    <a:bodyPr wrap="square"/>
                    <a:lstStyle/>
                    <a:p>
                      <a:r>
                        <a:rPr sz="1050" b="1">
                          <a:solidFill>
                            <a:srgbClr val="0C2B4A"/>
                          </a:solidFill>
                        </a:rPr>
                        <a:t>Bank A → B Rs. 10,000</a:t>
                      </a:r>
                    </a:p>
                  </a:txBody>
                  <a:tcPr anchor="ctr" marL="73152" marR="54864" marT="27432" marB="27432">
                    <a:solidFill>
                      <a:srgbClr val="FFFFFF"/>
                    </a:solidFill>
                  </a:tcPr>
                </a:tc>
                <a:tc>
                  <a:txBody>
                    <a:bodyPr wrap="square"/>
                    <a:lstStyle/>
                    <a:p>
                      <a:r>
                        <a:rPr sz="1050">
                          <a:solidFill>
                            <a:srgbClr val="1A1A1A"/>
                          </a:solidFill>
                        </a:rPr>
                        <a:t>A 50k, B 20k (=70k)</a:t>
                      </a:r>
                    </a:p>
                  </a:txBody>
                  <a:tcPr anchor="ctr" marL="73152" marR="54864" marT="27432" marB="27432">
                    <a:solidFill>
                      <a:srgbClr val="FFFFFF"/>
                    </a:solidFill>
                  </a:tcPr>
                </a:tc>
                <a:tc>
                  <a:txBody>
                    <a:bodyPr wrap="square"/>
                    <a:lstStyle/>
                    <a:p>
                      <a:r>
                        <a:rPr sz="1050">
                          <a:solidFill>
                            <a:srgbClr val="1A1A1A"/>
                          </a:solidFill>
                        </a:rPr>
                        <a:t>A 40k, B 30k (=70k)</a:t>
                      </a:r>
                    </a:p>
                  </a:txBody>
                  <a:tcPr anchor="ctr" marL="73152" marR="54864" marT="27432" marB="27432">
                    <a:solidFill>
                      <a:srgbClr val="FFFFFF"/>
                    </a:solidFill>
                  </a:tcPr>
                </a:tc>
                <a:tc>
                  <a:txBody>
                    <a:bodyPr wrap="square"/>
                    <a:lstStyle/>
                    <a:p>
                      <a:r>
                        <a:rPr sz="1050">
                          <a:solidFill>
                            <a:srgbClr val="1A1A1A"/>
                          </a:solidFill>
                        </a:rPr>
                        <a:t>debit A but skip credit B → 60k (money lost)</a:t>
                      </a:r>
                    </a:p>
                  </a:txBody>
                  <a:tcPr anchor="ctr" marL="73152" marR="54864" marT="27432" marB="27432">
                    <a:solidFill>
                      <a:srgbClr val="FFFFFF"/>
                    </a:solidFill>
                  </a:tcPr>
                </a:tc>
              </a:tr>
              <a:tr h="630936">
                <a:tc>
                  <a:txBody>
                    <a:bodyPr wrap="square"/>
                    <a:lstStyle/>
                    <a:p>
                      <a:r>
                        <a:rPr sz="1050" b="1">
                          <a:solidFill>
                            <a:srgbClr val="0C2B4A"/>
                          </a:solidFill>
                        </a:rPr>
                        <a:t>Ticket refund Rs. 800</a:t>
                      </a:r>
                    </a:p>
                  </a:txBody>
                  <a:tcPr anchor="ctr" marL="73152" marR="54864" marT="27432" marB="27432">
                    <a:solidFill>
                      <a:srgbClr val="EEF3F8"/>
                    </a:solidFill>
                  </a:tcPr>
                </a:tc>
                <a:tc>
                  <a:txBody>
                    <a:bodyPr wrap="square"/>
                    <a:lstStyle/>
                    <a:p>
                      <a:r>
                        <a:rPr sz="1050">
                          <a:solidFill>
                            <a:srgbClr val="1A1A1A"/>
                          </a:solidFill>
                        </a:rPr>
                        <a:t>Seat sold, wallet 100</a:t>
                      </a:r>
                    </a:p>
                  </a:txBody>
                  <a:tcPr anchor="ctr" marL="73152" marR="54864" marT="27432" marB="27432">
                    <a:solidFill>
                      <a:srgbClr val="EEF3F8"/>
                    </a:solidFill>
                  </a:tcPr>
                </a:tc>
                <a:tc>
                  <a:txBody>
                    <a:bodyPr wrap="square"/>
                    <a:lstStyle/>
                    <a:p>
                      <a:r>
                        <a:rPr sz="1050">
                          <a:solidFill>
                            <a:srgbClr val="1A1A1A"/>
                          </a:solidFill>
                        </a:rPr>
                        <a:t>Seat freed, wallet 900</a:t>
                      </a:r>
                    </a:p>
                  </a:txBody>
                  <a:tcPr anchor="ctr" marL="73152" marR="54864" marT="27432" marB="27432">
                    <a:solidFill>
                      <a:srgbClr val="EEF3F8"/>
                    </a:solidFill>
                  </a:tcPr>
                </a:tc>
                <a:tc>
                  <a:txBody>
                    <a:bodyPr wrap="square"/>
                    <a:lstStyle/>
                    <a:p>
                      <a:r>
                        <a:rPr sz="1050">
                          <a:solidFill>
                            <a:srgbClr val="1A1A1A"/>
                          </a:solidFill>
                        </a:rPr>
                        <a:t>refund without freeing seat → seat double-sold</a:t>
                      </a:r>
                    </a:p>
                  </a:txBody>
                  <a:tcPr anchor="ctr" marL="73152" marR="54864" marT="27432" marB="27432">
                    <a:solidFill>
                      <a:srgbClr val="EEF3F8"/>
                    </a:solidFill>
                  </a:tcPr>
                </a:tc>
              </a:tr>
              <a:tr h="630936">
                <a:tc>
                  <a:txBody>
                    <a:bodyPr wrap="square"/>
                    <a:lstStyle/>
                    <a:p>
                      <a:r>
                        <a:rPr sz="1050" b="1">
                          <a:solidFill>
                            <a:srgbClr val="0C2B4A"/>
                          </a:solidFill>
                        </a:rPr>
                        <a:t>NEA bill Rs. 1200</a:t>
                      </a:r>
                    </a:p>
                  </a:txBody>
                  <a:tcPr anchor="ctr" marL="73152" marR="54864" marT="27432" marB="27432">
                    <a:solidFill>
                      <a:srgbClr val="FFFFFF"/>
                    </a:solidFill>
                  </a:tcPr>
                </a:tc>
                <a:tc>
                  <a:txBody>
                    <a:bodyPr wrap="square"/>
                    <a:lstStyle/>
                    <a:p>
                      <a:r>
                        <a:rPr sz="1050">
                          <a:solidFill>
                            <a:srgbClr val="1A1A1A"/>
                          </a:solidFill>
                        </a:rPr>
                        <a:t>Wallet 2000, bill due</a:t>
                      </a:r>
                    </a:p>
                  </a:txBody>
                  <a:tcPr anchor="ctr" marL="73152" marR="54864" marT="27432" marB="27432">
                    <a:solidFill>
                      <a:srgbClr val="FFFFFF"/>
                    </a:solidFill>
                  </a:tcPr>
                </a:tc>
                <a:tc>
                  <a:txBody>
                    <a:bodyPr wrap="square"/>
                    <a:lstStyle/>
                    <a:p>
                      <a:r>
                        <a:rPr sz="1050">
                          <a:solidFill>
                            <a:srgbClr val="1A1A1A"/>
                          </a:solidFill>
                        </a:rPr>
                        <a:t>Wallet 800, bill paid</a:t>
                      </a:r>
                    </a:p>
                  </a:txBody>
                  <a:tcPr anchor="ctr" marL="73152" marR="54864" marT="27432" marB="27432">
                    <a:solidFill>
                      <a:srgbClr val="FFFFFF"/>
                    </a:solidFill>
                  </a:tcPr>
                </a:tc>
                <a:tc>
                  <a:txBody>
                    <a:bodyPr wrap="square"/>
                    <a:lstStyle/>
                    <a:p>
                      <a:r>
                        <a:rPr sz="1050">
                          <a:solidFill>
                            <a:srgbClr val="1A1A1A"/>
                          </a:solidFill>
                        </a:rPr>
                        <a:t>mark paid without debit → revenue lost</a:t>
                      </a:r>
                    </a:p>
                  </a:txBody>
                  <a:tcPr anchor="ctr" marL="73152" marR="54864" marT="27432" marB="27432">
                    <a:solidFill>
                      <a:srgbClr val="FFFFFF"/>
                    </a:solidFill>
                  </a:tcPr>
                </a:tc>
              </a:tr>
              <a:tr h="630936">
                <a:tc>
                  <a:txBody>
                    <a:bodyPr wrap="square"/>
                    <a:lstStyle/>
                    <a:p>
                      <a:r>
                        <a:rPr sz="1050" b="1">
                          <a:solidFill>
                            <a:srgbClr val="0C2B4A"/>
                          </a:solidFill>
                        </a:rPr>
                        <a:t>Daraz order Rs. 3000</a:t>
                      </a:r>
                    </a:p>
                  </a:txBody>
                  <a:tcPr anchor="ctr" marL="73152" marR="54864" marT="27432" marB="27432">
                    <a:solidFill>
                      <a:srgbClr val="EEF3F8"/>
                    </a:solidFill>
                  </a:tcPr>
                </a:tc>
                <a:tc>
                  <a:txBody>
                    <a:bodyPr wrap="square"/>
                    <a:lstStyle/>
                    <a:p>
                      <a:r>
                        <a:rPr sz="1050">
                          <a:solidFill>
                            <a:srgbClr val="1A1A1A"/>
                          </a:solidFill>
                        </a:rPr>
                        <a:t>Stock 5, wallet 5000</a:t>
                      </a:r>
                    </a:p>
                  </a:txBody>
                  <a:tcPr anchor="ctr" marL="73152" marR="54864" marT="27432" marB="27432">
                    <a:solidFill>
                      <a:srgbClr val="EEF3F8"/>
                    </a:solidFill>
                  </a:tcPr>
                </a:tc>
                <a:tc>
                  <a:txBody>
                    <a:bodyPr wrap="square"/>
                    <a:lstStyle/>
                    <a:p>
                      <a:r>
                        <a:rPr sz="1050">
                          <a:solidFill>
                            <a:srgbClr val="1A1A1A"/>
                          </a:solidFill>
                        </a:rPr>
                        <a:t>Stock 4, wallet 2000</a:t>
                      </a:r>
                    </a:p>
                  </a:txBody>
                  <a:tcPr anchor="ctr" marL="73152" marR="54864" marT="27432" marB="27432">
                    <a:solidFill>
                      <a:srgbClr val="EEF3F8"/>
                    </a:solidFill>
                  </a:tcPr>
                </a:tc>
                <a:tc>
                  <a:txBody>
                    <a:bodyPr wrap="square"/>
                    <a:lstStyle/>
                    <a:p>
                      <a:r>
                        <a:rPr sz="1050">
                          <a:solidFill>
                            <a:srgbClr val="1A1A1A"/>
                          </a:solidFill>
                        </a:rPr>
                        <a:t>charge without reducing stock → oversell</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Consistency = the invariant (money conserved, stock matched, seat count correct) holds before AND after. The last column is money/goods appearing or vanishing — exactly what consistency forbids.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26 / 136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S38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Isolation</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Isolation guarantees that concurrently executing transactions do not interfere with each other — each transaction behaves as if it were running alone, even though the DBMS interleaves them for efficiency.</a:t>
            </a:r>
          </a:p>
          <a:p>
            <a:pPr>
              <a:spcAft>
                <a:spcPts val="500"/>
              </a:spcAft>
            </a:pPr>
            <a:r>
              <a:rPr sz="1200" b="1">
                <a:solidFill>
                  <a:srgbClr val="185FA5"/>
                </a:solidFill>
              </a:rPr>
              <a:t>HOW IT WORKS</a:t>
            </a:r>
          </a:p>
          <a:p>
            <a:pPr>
              <a:spcAft>
                <a:spcPts val="600"/>
              </a:spcAft>
            </a:pPr>
            <a:r>
              <a:rPr sz="1400">
                <a:solidFill>
                  <a:srgbClr val="1A1A1A"/>
                </a:solidFill>
              </a:rPr>
              <a:t>•  Transactions interleave (for speed) but must APPEAR to run one after another.</a:t>
            </a:r>
          </a:p>
          <a:p>
            <a:pPr>
              <a:spcAft>
                <a:spcPts val="600"/>
              </a:spcAft>
            </a:pPr>
            <a:r>
              <a:rPr sz="1400">
                <a:solidFill>
                  <a:srgbClr val="1A1A1A"/>
                </a:solidFill>
              </a:rPr>
              <a:t>•  No transaction should see another's uncommitted, half-finished changes.</a:t>
            </a:r>
          </a:p>
          <a:p>
            <a:pPr>
              <a:spcAft>
                <a:spcPts val="600"/>
              </a:spcAft>
            </a:pPr>
            <a:r>
              <a:rPr sz="1400">
                <a:solidFill>
                  <a:srgbClr val="1A1A1A"/>
                </a:solidFill>
              </a:rPr>
              <a:t>•  Isolation is enforced by concurrency control (locking S40, timestamps S41).</a:t>
            </a:r>
          </a:p>
          <a:p>
            <a:pPr>
              <a:spcAft>
                <a:spcPts val="600"/>
              </a:spcAft>
            </a:pPr>
            <a:r>
              <a:rPr sz="1400">
                <a:solidFill>
                  <a:srgbClr val="1A1A1A"/>
                </a:solidFill>
              </a:rPr>
              <a:t>•  Weaker isolation levels trade some safety for more concurrency (a real DBMS setting).</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Isolation = interleave freely, but each txn appears to run alone.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27 / 136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S38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Isolation</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Rita sends money to Hari at the same moment Hari sends money to a shop. Isolation ensures neither transaction sees the other's half-finished state: Hari's outgoing payment doesn't read a balance that Rita's incoming transfer has only partly written. Each behaves as if it ran alone, so the final balances are correct.</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"Isolation means transactions run strictly one-at-a-time." No — they INTERLEAVE for efficiency; isolation only requires that the RESULT is as if they ran in some serial order. Serial execution is one way to get isolation, not the definition of it.</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Isolation is the ACID property guaranteeing that concurrent transactions do not interfere: each behaves as though it executed alone, even though the DBMS interleaves their operations. No transaction sees another's uncommitted changes. It is enforced by concurrency-control techniques (two-phase locking, timestamp ordering), and the equivalent serial order is the correctness standard (serializability, S39).</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isolation · no interference · interleave but appear alone · uncommitted data hidden · concurrency control</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28 / 136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S38 · CONCEPT 4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Durability</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Durability guarantees that once a transaction has committed, its changes survive any subsequent failure — including a power cut or crash. Committed means permanent.</a:t>
            </a:r>
          </a:p>
          <a:p>
            <a:pPr>
              <a:spcAft>
                <a:spcPts val="500"/>
              </a:spcAft>
            </a:pPr>
            <a:r>
              <a:rPr sz="1200" b="1">
                <a:solidFill>
                  <a:srgbClr val="185FA5"/>
                </a:solidFill>
              </a:rPr>
              <a:t>HOW IT WORKS</a:t>
            </a:r>
          </a:p>
          <a:p>
            <a:pPr>
              <a:spcAft>
                <a:spcPts val="600"/>
              </a:spcAft>
            </a:pPr>
            <a:r>
              <a:rPr sz="1400">
                <a:solidFill>
                  <a:srgbClr val="1A1A1A"/>
                </a:solidFill>
              </a:rPr>
              <a:t>•  Achieved via the log written to stable storage plus flushing at commit.</a:t>
            </a:r>
          </a:p>
          <a:p>
            <a:pPr>
              <a:spcAft>
                <a:spcPts val="600"/>
              </a:spcAft>
            </a:pPr>
            <a:r>
              <a:rPr sz="1400">
                <a:solidFill>
                  <a:srgbClr val="1A1A1A"/>
                </a:solidFill>
              </a:rPr>
              <a:t>•  Even if the data page is still only in the buffer, the committed log record lets recovery REDO it.</a:t>
            </a:r>
          </a:p>
          <a:p>
            <a:pPr>
              <a:spcAft>
                <a:spcPts val="600"/>
              </a:spcAft>
            </a:pPr>
            <a:r>
              <a:rPr sz="1400">
                <a:solidFill>
                  <a:srgbClr val="1A1A1A"/>
                </a:solidFill>
              </a:rPr>
              <a:t>•  This is why 'Transfer successful' can be trusted the instant it appears.</a:t>
            </a:r>
          </a:p>
          <a:p>
            <a:pPr>
              <a:spcAft>
                <a:spcPts val="600"/>
              </a:spcAft>
            </a:pPr>
            <a:r>
              <a:rPr sz="1400">
                <a:solidFill>
                  <a:srgbClr val="1A1A1A"/>
                </a:solidFill>
              </a:rPr>
              <a:t>•  Durability is the 'D' that recovery techniques (S42–S44) exist to guarantee.</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Durability = once committed, it survives any later crash.</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29 / 136</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S38 · CONCEPT 4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Durability</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The instant eSewa shows Rita 'Transfer successful', durability guarantees that a power cut one second later cannot erase the transfer. Even if the updated balance is still sitting in the buffer (not yet on disk), the committed log record on stable storage lets recovery REDO the change after reboot.</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"Data is written to disk the instant you commit." Not necessarily — the data page may still be in the buffer. What guarantees durability is the LOG record flushed to stable storage at commit, not the data page itself (S42's WAL idea).</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Durability is the ACID property guaranteeing that once a transaction commits, its changes persist through any subsequent failure. It is achieved by writing the transaction's log records to stable storage at commit time, so even if the updated data pages are still in the buffer when a crash occurs, recovery can REDO the committed changes. 'Committed' therefore means permanent.</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durability · committed = permanent · survives crashes · log on stable storage · REDO from log</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30 / 136</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S38 · ACID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ACID as a checklist — each letter, its job, and the eSewa failure it prevents</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1904999"/>
                <a:gridCol w="2041071"/>
                <a:gridCol w="3537857"/>
                <a:gridCol w="3946071"/>
              </a:tblGrid>
              <a:tr h="630936">
                <a:tc>
                  <a:txBody>
                    <a:bodyPr wrap="square"/>
                    <a:lstStyle/>
                    <a:p>
                      <a:r>
                        <a:rPr sz="1150" b="1">
                          <a:solidFill>
                            <a:srgbClr val="FFFFFF"/>
                          </a:solidFill>
                        </a:rPr>
                        <a:t>Property</a:t>
                      </a:r>
                    </a:p>
                  </a:txBody>
                  <a:tcPr anchor="ctr" marL="73152" marR="54864" marT="27432" marB="27432">
                    <a:solidFill>
                      <a:srgbClr val="0C2B4A"/>
                    </a:solidFill>
                  </a:tcPr>
                </a:tc>
                <a:tc>
                  <a:txBody>
                    <a:bodyPr wrap="square"/>
                    <a:lstStyle/>
                    <a:p>
                      <a:r>
                        <a:rPr sz="1150" b="1">
                          <a:solidFill>
                            <a:srgbClr val="FFFFFF"/>
                          </a:solidFill>
                        </a:rPr>
                        <a:t>One-word job</a:t>
                      </a:r>
                    </a:p>
                  </a:txBody>
                  <a:tcPr anchor="ctr" marL="73152" marR="54864" marT="27432" marB="27432">
                    <a:solidFill>
                      <a:srgbClr val="0C2B4A"/>
                    </a:solidFill>
                  </a:tcPr>
                </a:tc>
                <a:tc>
                  <a:txBody>
                    <a:bodyPr wrap="square"/>
                    <a:lstStyle/>
                    <a:p>
                      <a:r>
                        <a:rPr sz="1150" b="1">
                          <a:solidFill>
                            <a:srgbClr val="FFFFFF"/>
                          </a:solidFill>
                        </a:rPr>
                        <a:t>What it guarantees</a:t>
                      </a:r>
                    </a:p>
                  </a:txBody>
                  <a:tcPr anchor="ctr" marL="73152" marR="54864" marT="27432" marB="27432">
                    <a:solidFill>
                      <a:srgbClr val="0C2B4A"/>
                    </a:solidFill>
                  </a:tcPr>
                </a:tc>
                <a:tc>
                  <a:txBody>
                    <a:bodyPr wrap="square"/>
                    <a:lstStyle/>
                    <a:p>
                      <a:r>
                        <a:rPr sz="1150" b="1">
                          <a:solidFill>
                            <a:srgbClr val="FFFFFF"/>
                          </a:solidFill>
                        </a:rPr>
                        <a:t>eSewa failure it prevents</a:t>
                      </a:r>
                    </a:p>
                  </a:txBody>
                  <a:tcPr anchor="ctr" marL="73152" marR="54864" marT="27432" marB="27432">
                    <a:solidFill>
                      <a:srgbClr val="0C2B4A"/>
                    </a:solidFill>
                  </a:tcPr>
                </a:tc>
              </a:tr>
              <a:tr h="630936">
                <a:tc>
                  <a:txBody>
                    <a:bodyPr wrap="square"/>
                    <a:lstStyle/>
                    <a:p>
                      <a:r>
                        <a:rPr sz="1100" b="1">
                          <a:solidFill>
                            <a:srgbClr val="0C2B4A"/>
                          </a:solidFill>
                        </a:rPr>
                        <a:t>Atomicity</a:t>
                      </a:r>
                    </a:p>
                  </a:txBody>
                  <a:tcPr anchor="ctr" marL="73152" marR="54864" marT="27432" marB="27432">
                    <a:solidFill>
                      <a:srgbClr val="FFFFFF"/>
                    </a:solidFill>
                  </a:tcPr>
                </a:tc>
                <a:tc>
                  <a:txBody>
                    <a:bodyPr wrap="square"/>
                    <a:lstStyle/>
                    <a:p>
                      <a:r>
                        <a:rPr sz="1100">
                          <a:solidFill>
                            <a:srgbClr val="1A1A1A"/>
                          </a:solidFill>
                        </a:rPr>
                        <a:t>All-or-nothing</a:t>
                      </a:r>
                    </a:p>
                  </a:txBody>
                  <a:tcPr anchor="ctr" marL="73152" marR="54864" marT="27432" marB="27432">
                    <a:solidFill>
                      <a:srgbClr val="FFFFFF"/>
                    </a:solidFill>
                  </a:tcPr>
                </a:tc>
                <a:tc>
                  <a:txBody>
                    <a:bodyPr wrap="square"/>
                    <a:lstStyle/>
                    <a:p>
                      <a:r>
                        <a:rPr sz="1100">
                          <a:solidFill>
                            <a:srgbClr val="1A1A1A"/>
                          </a:solidFill>
                        </a:rPr>
                        <a:t>Every op happens or none do</a:t>
                      </a:r>
                    </a:p>
                  </a:txBody>
                  <a:tcPr anchor="ctr" marL="73152" marR="54864" marT="27432" marB="27432">
                    <a:solidFill>
                      <a:srgbClr val="FFFFFF"/>
                    </a:solidFill>
                  </a:tcPr>
                </a:tc>
                <a:tc>
                  <a:txBody>
                    <a:bodyPr wrap="square"/>
                    <a:lstStyle/>
                    <a:p>
                      <a:r>
                        <a:rPr sz="1100">
                          <a:solidFill>
                            <a:srgbClr val="1A1A1A"/>
                          </a:solidFill>
                        </a:rPr>
                        <a:t>Rita debited but Hari never credited</a:t>
                      </a:r>
                    </a:p>
                  </a:txBody>
                  <a:tcPr anchor="ctr" marL="73152" marR="54864" marT="27432" marB="27432">
                    <a:solidFill>
                      <a:srgbClr val="FFFFFF"/>
                    </a:solidFill>
                  </a:tcPr>
                </a:tc>
              </a:tr>
              <a:tr h="630936">
                <a:tc>
                  <a:txBody>
                    <a:bodyPr wrap="square"/>
                    <a:lstStyle/>
                    <a:p>
                      <a:r>
                        <a:rPr sz="1100" b="1">
                          <a:solidFill>
                            <a:srgbClr val="0C2B4A"/>
                          </a:solidFill>
                        </a:rPr>
                        <a:t>Consistency</a:t>
                      </a:r>
                    </a:p>
                  </a:txBody>
                  <a:tcPr anchor="ctr" marL="73152" marR="54864" marT="27432" marB="27432">
                    <a:solidFill>
                      <a:srgbClr val="EEF3F8"/>
                    </a:solidFill>
                  </a:tcPr>
                </a:tc>
                <a:tc>
                  <a:txBody>
                    <a:bodyPr wrap="square"/>
                    <a:lstStyle/>
                    <a:p>
                      <a:r>
                        <a:rPr sz="1100">
                          <a:solidFill>
                            <a:srgbClr val="1A1A1A"/>
                          </a:solidFill>
                        </a:rPr>
                        <a:t>Valid → valid</a:t>
                      </a:r>
                    </a:p>
                  </a:txBody>
                  <a:tcPr anchor="ctr" marL="73152" marR="54864" marT="27432" marB="27432">
                    <a:solidFill>
                      <a:srgbClr val="EEF3F8"/>
                    </a:solidFill>
                  </a:tcPr>
                </a:tc>
                <a:tc>
                  <a:txBody>
                    <a:bodyPr wrap="square"/>
                    <a:lstStyle/>
                    <a:p>
                      <a:r>
                        <a:rPr sz="1100">
                          <a:solidFill>
                            <a:srgbClr val="1A1A1A"/>
                          </a:solidFill>
                        </a:rPr>
                        <a:t>Invariants/constraints preserved</a:t>
                      </a:r>
                    </a:p>
                  </a:txBody>
                  <a:tcPr anchor="ctr" marL="73152" marR="54864" marT="27432" marB="27432">
                    <a:solidFill>
                      <a:srgbClr val="EEF3F8"/>
                    </a:solidFill>
                  </a:tcPr>
                </a:tc>
                <a:tc>
                  <a:txBody>
                    <a:bodyPr wrap="square"/>
                    <a:lstStyle/>
                    <a:p>
                      <a:r>
                        <a:rPr sz="1100">
                          <a:solidFill>
                            <a:srgbClr val="1A1A1A"/>
                          </a:solidFill>
                        </a:rPr>
                        <a:t>A double-credit creating money from nothing</a:t>
                      </a:r>
                    </a:p>
                  </a:txBody>
                  <a:tcPr anchor="ctr" marL="73152" marR="54864" marT="27432" marB="27432">
                    <a:solidFill>
                      <a:srgbClr val="EEF3F8"/>
                    </a:solidFill>
                  </a:tcPr>
                </a:tc>
              </a:tr>
              <a:tr h="630936">
                <a:tc>
                  <a:txBody>
                    <a:bodyPr wrap="square"/>
                    <a:lstStyle/>
                    <a:p>
                      <a:r>
                        <a:rPr sz="1100" b="1">
                          <a:solidFill>
                            <a:srgbClr val="0C2B4A"/>
                          </a:solidFill>
                        </a:rPr>
                        <a:t>Isolation</a:t>
                      </a:r>
                    </a:p>
                  </a:txBody>
                  <a:tcPr anchor="ctr" marL="73152" marR="54864" marT="27432" marB="27432">
                    <a:solidFill>
                      <a:srgbClr val="FFFFFF"/>
                    </a:solidFill>
                  </a:tcPr>
                </a:tc>
                <a:tc>
                  <a:txBody>
                    <a:bodyPr wrap="square"/>
                    <a:lstStyle/>
                    <a:p>
                      <a:r>
                        <a:rPr sz="1100">
                          <a:solidFill>
                            <a:srgbClr val="1A1A1A"/>
                          </a:solidFill>
                        </a:rPr>
                        <a:t>No interference</a:t>
                      </a:r>
                    </a:p>
                  </a:txBody>
                  <a:tcPr anchor="ctr" marL="73152" marR="54864" marT="27432" marB="27432">
                    <a:solidFill>
                      <a:srgbClr val="FFFFFF"/>
                    </a:solidFill>
                  </a:tcPr>
                </a:tc>
                <a:tc>
                  <a:txBody>
                    <a:bodyPr wrap="square"/>
                    <a:lstStyle/>
                    <a:p>
                      <a:r>
                        <a:rPr sz="1100">
                          <a:solidFill>
                            <a:srgbClr val="1A1A1A"/>
                          </a:solidFill>
                        </a:rPr>
                        <a:t>Concurrent txns appear to run alone</a:t>
                      </a:r>
                    </a:p>
                  </a:txBody>
                  <a:tcPr anchor="ctr" marL="73152" marR="54864" marT="27432" marB="27432">
                    <a:solidFill>
                      <a:srgbClr val="FFFFFF"/>
                    </a:solidFill>
                  </a:tcPr>
                </a:tc>
                <a:tc>
                  <a:txBody>
                    <a:bodyPr wrap="square"/>
                    <a:lstStyle/>
                    <a:p>
                      <a:r>
                        <a:rPr sz="1100">
                          <a:solidFill>
                            <a:srgbClr val="1A1A1A"/>
                          </a:solidFill>
                        </a:rPr>
                        <a:t>Two transfers reading each other's half state</a:t>
                      </a:r>
                    </a:p>
                  </a:txBody>
                  <a:tcPr anchor="ctr" marL="73152" marR="54864" marT="27432" marB="27432">
                    <a:solidFill>
                      <a:srgbClr val="FFFFFF"/>
                    </a:solidFill>
                  </a:tcPr>
                </a:tc>
              </a:tr>
              <a:tr h="630936">
                <a:tc>
                  <a:txBody>
                    <a:bodyPr wrap="square"/>
                    <a:lstStyle/>
                    <a:p>
                      <a:r>
                        <a:rPr sz="1100" b="1">
                          <a:solidFill>
                            <a:srgbClr val="0C2B4A"/>
                          </a:solidFill>
                        </a:rPr>
                        <a:t>Durability</a:t>
                      </a:r>
                    </a:p>
                  </a:txBody>
                  <a:tcPr anchor="ctr" marL="73152" marR="54864" marT="27432" marB="27432">
                    <a:solidFill>
                      <a:srgbClr val="EEF3F8"/>
                    </a:solidFill>
                  </a:tcPr>
                </a:tc>
                <a:tc>
                  <a:txBody>
                    <a:bodyPr wrap="square"/>
                    <a:lstStyle/>
                    <a:p>
                      <a:r>
                        <a:rPr sz="1100">
                          <a:solidFill>
                            <a:srgbClr val="1A1A1A"/>
                          </a:solidFill>
                        </a:rPr>
                        <a:t>Survives crashes</a:t>
                      </a:r>
                    </a:p>
                  </a:txBody>
                  <a:tcPr anchor="ctr" marL="73152" marR="54864" marT="27432" marB="27432">
                    <a:solidFill>
                      <a:srgbClr val="EEF3F8"/>
                    </a:solidFill>
                  </a:tcPr>
                </a:tc>
                <a:tc>
                  <a:txBody>
                    <a:bodyPr wrap="square"/>
                    <a:lstStyle/>
                    <a:p>
                      <a:r>
                        <a:rPr sz="1100">
                          <a:solidFill>
                            <a:srgbClr val="1A1A1A"/>
                          </a:solidFill>
                        </a:rPr>
                        <a:t>Committed changes are permanent</a:t>
                      </a:r>
                    </a:p>
                  </a:txBody>
                  <a:tcPr anchor="ctr" marL="73152" marR="54864" marT="27432" marB="27432">
                    <a:solidFill>
                      <a:srgbClr val="EEF3F8"/>
                    </a:solidFill>
                  </a:tcPr>
                </a:tc>
                <a:tc>
                  <a:txBody>
                    <a:bodyPr wrap="square"/>
                    <a:lstStyle/>
                    <a:p>
                      <a:r>
                        <a:rPr sz="1100">
                          <a:solidFill>
                            <a:srgbClr val="1A1A1A"/>
                          </a:solidFill>
                        </a:rPr>
                        <a:t>'Transfer successful' erased by a power cut</a:t>
                      </a:r>
                    </a:p>
                  </a:txBody>
                  <a:tcPr anchor="ctr" marL="73152" marR="54864" marT="27432" marB="27432">
                    <a:solidFill>
                      <a:srgbClr val="EEF3F8"/>
                    </a:solidFill>
                  </a:tcPr>
                </a:tc>
              </a:tr>
              <a:tr h="630936">
                <a:tc>
                  <a:txBody>
                    <a:bodyPr wrap="square"/>
                    <a:lstStyle/>
                    <a:p>
                      <a:r>
                        <a:rPr sz="1100" b="1">
                          <a:solidFill>
                            <a:srgbClr val="0C2B4A"/>
                          </a:solidFill>
                        </a:rPr>
                        <a:t>(together)</a:t>
                      </a:r>
                    </a:p>
                  </a:txBody>
                  <a:tcPr anchor="ctr" marL="73152" marR="54864" marT="27432" marB="27432">
                    <a:solidFill>
                      <a:srgbClr val="FFFFFF"/>
                    </a:solidFill>
                  </a:tcPr>
                </a:tc>
                <a:tc>
                  <a:txBody>
                    <a:bodyPr wrap="square"/>
                    <a:lstStyle/>
                    <a:p>
                      <a:r>
                        <a:rPr sz="1100">
                          <a:solidFill>
                            <a:srgbClr val="1A1A1A"/>
                          </a:solidFill>
                        </a:rPr>
                        <a:t>Correctness</a:t>
                      </a:r>
                    </a:p>
                  </a:txBody>
                  <a:tcPr anchor="ctr" marL="73152" marR="54864" marT="27432" marB="27432">
                    <a:solidFill>
                      <a:srgbClr val="FFFFFF"/>
                    </a:solidFill>
                  </a:tcPr>
                </a:tc>
                <a:tc>
                  <a:txBody>
                    <a:bodyPr wrap="square"/>
                    <a:lstStyle/>
                    <a:p>
                      <a:r>
                        <a:rPr sz="1100">
                          <a:solidFill>
                            <a:srgbClr val="1A1A1A"/>
                          </a:solidFill>
                        </a:rPr>
                        <a:t>A trustworthy transaction</a:t>
                      </a:r>
                    </a:p>
                  </a:txBody>
                  <a:tcPr anchor="ctr" marL="73152" marR="54864" marT="27432" marB="27432">
                    <a:solidFill>
                      <a:srgbClr val="FFFFFF"/>
                    </a:solidFill>
                  </a:tcPr>
                </a:tc>
                <a:tc>
                  <a:txBody>
                    <a:bodyPr wrap="square"/>
                    <a:lstStyle/>
                    <a:p>
                      <a:r>
                        <a:rPr sz="1100">
                          <a:solidFill>
                            <a:srgbClr val="1A1A1A"/>
                          </a:solidFill>
                        </a:rPr>
                        <a:t>The reason NRB trusts digital wallets</a:t>
                      </a:r>
                    </a:p>
                  </a:txBody>
                  <a:tcPr anchor="ctr" marL="73152" marR="54864" marT="27432" marB="27432">
                    <a:solidFill>
                      <a:srgbClr val="FFFFFF"/>
                    </a:solidFill>
                  </a:tcPr>
                </a:tc>
              </a:tr>
              <a:tr h="630936">
                <a:tc>
                  <a:txBody>
                    <a:bodyPr wrap="square"/>
                    <a:lstStyle/>
                    <a:p>
                      <a:r>
                        <a:rPr sz="1100" b="1">
                          <a:solidFill>
                            <a:srgbClr val="0C2B4A"/>
                          </a:solidFill>
                        </a:rPr>
                        <a:t>(enforced by)</a:t>
                      </a:r>
                    </a:p>
                  </a:txBody>
                  <a:tcPr anchor="ctr" marL="73152" marR="54864" marT="27432" marB="27432">
                    <a:solidFill>
                      <a:srgbClr val="EEF3F8"/>
                    </a:solidFill>
                  </a:tcPr>
                </a:tc>
                <a:tc>
                  <a:txBody>
                    <a:bodyPr wrap="square"/>
                    <a:lstStyle/>
                    <a:p>
                      <a:r>
                        <a:rPr sz="1100">
                          <a:solidFill>
                            <a:srgbClr val="1A1A1A"/>
                          </a:solidFill>
                        </a:rPr>
                        <a:t>Log + CC</a:t>
                      </a:r>
                    </a:p>
                  </a:txBody>
                  <a:tcPr anchor="ctr" marL="73152" marR="54864" marT="27432" marB="27432">
                    <a:solidFill>
                      <a:srgbClr val="EEF3F8"/>
                    </a:solidFill>
                  </a:tcPr>
                </a:tc>
                <a:tc>
                  <a:txBody>
                    <a:bodyPr wrap="square"/>
                    <a:lstStyle/>
                    <a:p>
                      <a:r>
                        <a:rPr sz="1100">
                          <a:solidFill>
                            <a:srgbClr val="1A1A1A"/>
                          </a:solidFill>
                        </a:rPr>
                        <a:t>Log = A/C/D; concurrency control = I</a:t>
                      </a:r>
                    </a:p>
                  </a:txBody>
                  <a:tcPr anchor="ctr" marL="73152" marR="54864" marT="27432" marB="27432">
                    <a:solidFill>
                      <a:srgbClr val="EEF3F8"/>
                    </a:solidFill>
                  </a:tcPr>
                </a:tc>
                <a:tc>
                  <a:txBody>
                    <a:bodyPr wrap="square"/>
                    <a:lstStyle/>
                    <a:p>
                      <a:r>
                        <a:rPr sz="1100">
                          <a:solidFill>
                            <a:srgbClr val="1A1A1A"/>
                          </a:solidFill>
                        </a:rPr>
                        <a:t>—</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ACID is the literal reason regulators (Nepal Rastra Bank) trust digital wallets, and 'explain ACID' is a near-certain fintech interview question. Map each letter to the failure it stops.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31 / 136</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S38 · SOLVED PROBLEM · [EXAMPLE]</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Trace Rita → Hari Rs. 500 through A, I, and D</a:t>
            </a:r>
          </a:p>
        </p:txBody>
      </p:sp>
      <p:sp>
        <p:nvSpPr>
          <p:cNvPr id="5" name="Rounded Rectangle 4"/>
          <p:cNvSpPr/>
          <p:nvPr/>
        </p:nvSpPr>
        <p:spPr>
          <a:xfrm>
            <a:off x="640080" y="1444752"/>
            <a:ext cx="10972800" cy="91440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Problem</a:t>
            </a:r>
          </a:p>
          <a:p>
            <a:pPr>
              <a:spcBef>
                <a:spcPts val="300"/>
              </a:spcBef>
            </a:pPr>
            <a:r>
              <a:rPr sz="1300">
                <a:solidFill>
                  <a:srgbClr val="1A1A1A"/>
                </a:solidFill>
              </a:rPr>
              <a:t>Rita (balance 2000) sends Rs. 500 to Hari (balance 1000). Show what Atomicity, Isolation, and Durability each guarantee, and what the log records at each step.</a:t>
            </a:r>
          </a:p>
        </p:txBody>
      </p:sp>
      <p:sp>
        <p:nvSpPr>
          <p:cNvPr id="6" name="TextBox 5"/>
          <p:cNvSpPr txBox="1"/>
          <p:nvPr/>
        </p:nvSpPr>
        <p:spPr>
          <a:xfrm>
            <a:off x="777240" y="2487168"/>
            <a:ext cx="10698480" cy="2697480"/>
          </a:xfrm>
          <a:prstGeom prst="rect">
            <a:avLst/>
          </a:prstGeom>
          <a:noFill/>
        </p:spPr>
        <p:txBody>
          <a:bodyPr wrap="square">
            <a:spAutoFit/>
          </a:bodyPr>
          <a:lstStyle/>
          <a:p>
            <a:pPr>
              <a:spcAft>
                <a:spcPts val="400"/>
              </a:spcAft>
            </a:pPr>
            <a:r>
              <a:rPr sz="1250" b="1">
                <a:solidFill>
                  <a:srgbClr val="854F0B"/>
                </a:solidFill>
              </a:rPr>
              <a:t>Step 1.  </a:t>
            </a:r>
            <a:r>
              <a:rPr sz="1250">
                <a:solidFill>
                  <a:srgbClr val="1A1A1A"/>
                </a:solidFill>
              </a:rPr>
              <a:t>Atomicity — the debit (Rita 2000→1500) and credit (Hari 1000→1500) are ONE unit: both, or neither. If the credit fails, the debit is rolled back using the log's old value (2000).</a:t>
            </a:r>
          </a:p>
          <a:p>
            <a:pPr>
              <a:spcAft>
                <a:spcPts val="400"/>
              </a:spcAft>
            </a:pPr>
            <a:r>
              <a:rPr sz="1250" b="1">
                <a:solidFill>
                  <a:srgbClr val="854F0B"/>
                </a:solidFill>
              </a:rPr>
              <a:t>Step 2.  </a:t>
            </a:r>
            <a:r>
              <a:rPr sz="1250">
                <a:solidFill>
                  <a:srgbClr val="1A1A1A"/>
                </a:solidFill>
              </a:rPr>
              <a:t>Isolation — if Hari is simultaneously paying a shop, his transaction must not read Rita's half-written balance; each appears to run alone, so no update is lost.</a:t>
            </a:r>
          </a:p>
          <a:p>
            <a:pPr>
              <a:spcAft>
                <a:spcPts val="400"/>
              </a:spcAft>
            </a:pPr>
            <a:r>
              <a:rPr sz="1250" b="1">
                <a:solidFill>
                  <a:srgbClr val="854F0B"/>
                </a:solidFill>
              </a:rPr>
              <a:t>Step 3.  </a:t>
            </a:r>
            <a:r>
              <a:rPr sz="1250">
                <a:solidFill>
                  <a:srgbClr val="1A1A1A"/>
                </a:solidFill>
              </a:rPr>
              <a:t>Durability — once eSewa shows 'Transfer successful', the committed log record on stable storage means a power cut cannot undo it; recovery will REDO if needed.</a:t>
            </a:r>
          </a:p>
          <a:p>
            <a:pPr>
              <a:spcAft>
                <a:spcPts val="400"/>
              </a:spcAft>
            </a:pPr>
            <a:r>
              <a:rPr sz="1250" b="1">
                <a:solidFill>
                  <a:srgbClr val="854F0B"/>
                </a:solidFill>
              </a:rPr>
              <a:t>Step 4.  </a:t>
            </a:r>
            <a:r>
              <a:rPr sz="1250">
                <a:solidFill>
                  <a:srgbClr val="1A1A1A"/>
                </a:solidFill>
              </a:rPr>
              <a:t>Log trace: [start,T] → [write,T,RitaBal,2000,1500] → [write,T,HariBal,1000,1500] → [commit,T].</a:t>
            </a:r>
          </a:p>
        </p:txBody>
      </p:sp>
      <p:sp>
        <p:nvSpPr>
          <p:cNvPr id="7" name="Rounded Rectangle 6"/>
          <p:cNvSpPr/>
          <p:nvPr/>
        </p:nvSpPr>
        <p:spPr>
          <a:xfrm>
            <a:off x="640080" y="5230368"/>
            <a:ext cx="10972800" cy="137160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Worked answer</a:t>
            </a:r>
          </a:p>
          <a:p>
            <a:pPr>
              <a:spcBef>
                <a:spcPts val="300"/>
              </a:spcBef>
            </a:pPr>
            <a:r>
              <a:rPr sz="1300">
                <a:solidFill>
                  <a:srgbClr val="1A1A1A"/>
                </a:solidFill>
              </a:rPr>
              <a:t>A = both debit and credit or neither (rollback via old values). I = neither transfer sees the other's uncommitted state. D = the committed log record survives the crash. Consistency holds throughout: 3000 before = 3000 after.</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32 / 136</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S38 — 'Name the broken promise'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for each mini-scenario, decide WHICH ACID property was broken.</a:t>
            </a:r>
          </a:p>
          <a:p>
            <a:pPr>
              <a:spcAft>
                <a:spcPts val="700"/>
              </a:spcAft>
            </a:pPr>
            <a:r>
              <a:rPr sz="1550">
                <a:solidFill>
                  <a:srgbClr val="1A1A1A"/>
                </a:solidFill>
              </a:rPr>
              <a:t>•  (a) money debited, never credited; (b) 'success' shown then erased by a crash; (c) a double-credit created money; (d) two transfers corrupted each other.</a:t>
            </a:r>
          </a:p>
          <a:p>
            <a:pPr>
              <a:spcAft>
                <a:spcPts val="700"/>
              </a:spcAft>
            </a:pPr>
            <a:r>
              <a:rPr sz="1550">
                <a:solidFill>
                  <a:srgbClr val="1A1A1A"/>
                </a:solidFill>
              </a:rPr>
              <a:t>•  Take answers aloud (3 min): (a) Atomicity, (b) Durability, (c) Consistency, (d) Isolation.</a:t>
            </a:r>
          </a:p>
          <a:p>
            <a:pPr>
              <a:spcAft>
                <a:spcPts val="700"/>
              </a:spcAft>
            </a:pPr>
            <a:r>
              <a:rPr sz="1550">
                <a:solidFill>
                  <a:srgbClr val="1A1A1A"/>
                </a:solidFill>
              </a:rPr>
              <a:t>•  Close: every real payment bug maps to exactly one ACID letter — that's why the acronym is worth memorising.</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(a) Atomicity — half-done. (b) Durability — committed change lost. (c) Consistency — invariant broken. (d) Isolation — interference. Reward students who can also name the mechanism (log, locks) that would have prevented it.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33 / 136</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S38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'Once committed, it survives a crash' is which property?</a:t>
            </a:r>
          </a:p>
          <a:p>
            <a:pPr lvl="1"/>
            <a:r>
              <a:rPr sz="1500" b="1">
                <a:solidFill>
                  <a:srgbClr val="0F6E56"/>
                </a:solidFill>
              </a:rPr>
              <a:t>a) atomicity   b) consistency   c) isolation   d) ✅ durability</a:t>
            </a:r>
          </a:p>
          <a:p>
            <a:pPr lvl="1">
              <a:spcBef>
                <a:spcPts val="600"/>
              </a:spcBef>
            </a:pPr>
            <a:r>
              <a:rPr sz="1500" i="1">
                <a:solidFill>
                  <a:srgbClr val="1A1A1A"/>
                </a:solidFill>
              </a:rPr>
              <a:t>     Why: durability = committed changes are permanent, guaranteed by the log on stable storage.</a:t>
            </a:r>
          </a:p>
          <a:p>
            <a:pPr>
              <a:spcBef>
                <a:spcPts val="900"/>
              </a:spcBef>
            </a:pPr>
            <a:r>
              <a:rPr sz="1700" b="1">
                <a:solidFill>
                  <a:srgbClr val="0C2B4A"/>
                </a:solidFill>
              </a:rPr>
              <a:t>Q2.  Two transactions interleaving but not corrupting each other is ensured by:</a:t>
            </a:r>
          </a:p>
          <a:p>
            <a:pPr lvl="1"/>
            <a:r>
              <a:rPr sz="1500" b="1">
                <a:solidFill>
                  <a:srgbClr val="0F6E56"/>
                </a:solidFill>
              </a:rPr>
              <a:t>a) atomicity   b) ✅ isolation   c) durability   d) consistency</a:t>
            </a:r>
          </a:p>
          <a:p>
            <a:pPr lvl="1">
              <a:spcBef>
                <a:spcPts val="600"/>
              </a:spcBef>
            </a:pPr>
            <a:r>
              <a:rPr sz="1500" i="1">
                <a:solidFill>
                  <a:srgbClr val="1A1A1A"/>
                </a:solidFill>
              </a:rPr>
              <a:t>     Why: isolation makes concurrent transactions appear to run alone.</a:t>
            </a:r>
          </a:p>
          <a:p>
            <a:pPr lvl="1">
              <a:spcBef>
                <a:spcPts val="600"/>
              </a:spcBef>
            </a:pPr>
            <a:r>
              <a:rPr sz="1500" i="1">
                <a:solidFill>
                  <a:srgbClr val="1A1A1A"/>
                </a:solidFill>
              </a:rPr>
              <a:t>Discussion: give a real Nepali payment scenario where breaking CONSISTENCY would let money appear or vanish.</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34 / 136</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S38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Atomicity = all-or-nothing; Consistency = valid state → valid state (invariants preserved).</a:t>
            </a:r>
          </a:p>
          <a:p>
            <a:pPr>
              <a:spcAft>
                <a:spcPts val="800"/>
              </a:spcAft>
            </a:pPr>
            <a:r>
              <a:rPr sz="1500">
                <a:solidFill>
                  <a:srgbClr val="1A1A1A"/>
                </a:solidFill>
              </a:rPr>
              <a:t>2.  Isolation = concurrent transactions don't interfere (appear to run alone); Durability = committed changes survive crashes.</a:t>
            </a:r>
          </a:p>
          <a:p>
            <a:pPr>
              <a:spcAft>
                <a:spcPts val="800"/>
              </a:spcAft>
            </a:pPr>
            <a:r>
              <a:rPr sz="1500">
                <a:solidFill>
                  <a:srgbClr val="1A1A1A"/>
                </a:solidFill>
              </a:rPr>
              <a:t>3.  A/C/D are guaranteed mainly by the log; Isolation is guaranteed by concurrency control (S40–S41).</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ACID is why NRB and customers trust eSewa, Khalti, and every bank app — and 'explain ACID' is one of the most common fintech/backend interview questions in Nepal and abroad. Know each letter with an example.</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S39 — when many transactions run together, which interleavings are actually safe? Schedules &amp; serializability.</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35 / 136</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39 · LECTURE HOUR 3 (OF 8)</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Serializable Schedules</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Rita and Hari both top-up from the SAME shared family eSewa wallet at the exact same second. Whose top-up 'wins' — and is the final balance right? A schedule decides whether concurrent transactions stay correct.</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36 / 136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S39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Schedules (Histories)</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A schedule (history) is an ordering of the operations of several transactions, preserving the order within each transaction. A serial schedule runs one transaction completely before the next; a non-serial (concurrent) schedule interleaves their operations.</a:t>
            </a:r>
          </a:p>
          <a:p>
            <a:pPr>
              <a:spcAft>
                <a:spcPts val="500"/>
              </a:spcAft>
            </a:pPr>
            <a:r>
              <a:rPr sz="1200" b="1">
                <a:solidFill>
                  <a:srgbClr val="185FA5"/>
                </a:solidFill>
              </a:rPr>
              <a:t>HOW IT WORKS</a:t>
            </a:r>
          </a:p>
          <a:p>
            <a:pPr>
              <a:spcAft>
                <a:spcPts val="600"/>
              </a:spcAft>
            </a:pPr>
            <a:r>
              <a:rPr sz="1400">
                <a:solidFill>
                  <a:srgbClr val="1A1A1A"/>
                </a:solidFill>
              </a:rPr>
              <a:t>•  A serial schedule is always correct but wastes time (no concurrency).</a:t>
            </a:r>
          </a:p>
          <a:p>
            <a:pPr>
              <a:spcAft>
                <a:spcPts val="600"/>
              </a:spcAft>
            </a:pPr>
            <a:r>
              <a:rPr sz="1400">
                <a:solidFill>
                  <a:srgbClr val="1A1A1A"/>
                </a:solidFill>
              </a:rPr>
              <a:t>•  A non-serial schedule interleaves operations to run faster — but may or may not be correct.</a:t>
            </a:r>
          </a:p>
          <a:p>
            <a:pPr>
              <a:spcAft>
                <a:spcPts val="600"/>
              </a:spcAft>
            </a:pPr>
            <a:r>
              <a:rPr sz="1400">
                <a:solidFill>
                  <a:srgbClr val="1A1A1A"/>
                </a:solidFill>
              </a:rPr>
              <a:t>•  Operations within a single transaction keep their relative order in any schedule.</a:t>
            </a:r>
          </a:p>
          <a:p>
            <a:pPr>
              <a:spcAft>
                <a:spcPts val="600"/>
              </a:spcAft>
            </a:pPr>
            <a:r>
              <a:rPr sz="1400">
                <a:solidFill>
                  <a:srgbClr val="1A1A1A"/>
                </a:solidFill>
              </a:rPr>
              <a:t>•  The goal: get the SPEED of a non-serial schedule with the CORRECTNESS of a serial one.</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A schedule orders interleaved ops; serial = one-at-a-time, non-serial = interleaved.</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37 / 136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S39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Schedules (Histories)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On the family wallet, T1 (Rita +500) and T2 (Hari +300) can run serially (T1 fully, then T2) or interleaved (read/write operations mixed). The serial order is obviously correct — final balance = start + 800 — but slow at scale; the DBMS wants a fast interleaving that gives the SAME result.</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"Any interleaving is just as good as running them one at a time." No — some interleavings corrupt data (the lost-update problem, next). Only interleavings equivalent to SOME serial order are safe.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 schedule (history) is a total ordering of the operations of a set of transactions that preserves each transaction's internal operation order. A serial schedule executes transactions one at a time (correct but with no concurrency); a non-serial (concurrent) schedule interleaves their operations for efficiency but must be checked for correctness. The aim is concurrency that behaves like some serial order.</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schedule/history · serial vs non-serial · interleaving · preserves per-transaction order</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38 / 136</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S39 · CONCEPT 2 · [THEORY] [EXAMPLE]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Lost-Update Problem</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The lost-update problem is a concurrency anomaly where two transactions read the same value, then both write back based on it, so one update overwrites (loses) the other. It is the classic reason uncontrolled interleaving is unsafe.</a:t>
            </a:r>
          </a:p>
          <a:p>
            <a:pPr>
              <a:spcAft>
                <a:spcPts val="500"/>
              </a:spcAft>
            </a:pPr>
            <a:r>
              <a:rPr sz="1200" b="1">
                <a:solidFill>
                  <a:srgbClr val="185FA5"/>
                </a:solidFill>
              </a:rPr>
              <a:t>HOW IT WORKS</a:t>
            </a:r>
          </a:p>
          <a:p>
            <a:pPr>
              <a:spcAft>
                <a:spcPts val="600"/>
              </a:spcAft>
            </a:pPr>
            <a:r>
              <a:rPr sz="1400">
                <a:solidFill>
                  <a:srgbClr val="1A1A1A"/>
                </a:solidFill>
              </a:rPr>
              <a:t>•  Both transactions read the old balance before either writes → they work from a stale value.</a:t>
            </a:r>
          </a:p>
          <a:p>
            <a:pPr>
              <a:spcAft>
                <a:spcPts val="600"/>
              </a:spcAft>
            </a:pPr>
            <a:r>
              <a:rPr sz="1400">
                <a:solidFill>
                  <a:srgbClr val="1A1A1A"/>
                </a:solidFill>
              </a:rPr>
              <a:t>•  The second write overwrites the first, so one top-up simply vanishes.</a:t>
            </a:r>
          </a:p>
          <a:p>
            <a:pPr>
              <a:spcAft>
                <a:spcPts val="600"/>
              </a:spcAft>
            </a:pPr>
            <a:r>
              <a:rPr sz="1400">
                <a:solidFill>
                  <a:srgbClr val="1A1A1A"/>
                </a:solidFill>
              </a:rPr>
              <a:t>•  Other anomalies: dirty read (reading uncommitted data) and incorrect summary.</a:t>
            </a:r>
          </a:p>
          <a:p>
            <a:pPr>
              <a:spcAft>
                <a:spcPts val="600"/>
              </a:spcAft>
            </a:pPr>
            <a:r>
              <a:rPr sz="1400">
                <a:solidFill>
                  <a:srgbClr val="1A1A1A"/>
                </a:solidFill>
              </a:rPr>
              <a:t>•  The fix is concurrency control (locking / timestamps) that forces a safe order.</a:t>
            </a:r>
          </a:p>
        </p:txBody>
      </p:sp>
      <p:pic>
        <p:nvPicPr>
          <p:cNvPr id="6" name="Picture 5" descr="s39_lost_update.png"/>
          <p:cNvPicPr>
            <a:picLocks noChangeAspect="1"/>
          </p:cNvPicPr>
          <p:nvPr/>
        </p:nvPicPr>
        <p:blipFill>
          <a:blip r:embed="rId2"/>
          <a:stretch>
            <a:fillRect/>
          </a:stretch>
        </p:blipFill>
        <p:spPr>
          <a:xfrm>
            <a:off x="6355080" y="2339485"/>
            <a:ext cx="5532120" cy="2956270"/>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Lost update: both read old value → one write overwrites the other.</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39 / 136</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S39 · CONCEPT 2 · [THEORY] [EXAMPLE]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Lost-Update Problem</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Family wallet at Rs. 1000. Rita's top-up (+500) and Hari's top-up (+300) both READ 1000 first. Rita writes 1500; Hari then writes 1300 — overwriting Rita's update. Final balance = 1300, but it should be 1800. Rita's Rs. 500 top-up is silently LOST because both worked from the same stale read.</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"Concurrency always corrupts data." No — only unsafe interleavings do. If Hari's transaction had read AFTER Rita's write (a serializable order), the result would be correct. The problem is the ordering, not concurrency itself.</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The lost-update problem occurs when two concurrent transactions read the same data item and then both write back a value based on the value they read, so the second write overwrites and loses the first update. In the family-wallet example both read 1000 and one top-up is lost. It (with dirty read and incorrect summary) shows why uncontrolled interleaving is unsafe and motivates concurrency control.</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lost update · dirty read · incorrect summary · stale read · overwrite · concurrency anomaly</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40 / 136</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S39 · CONCEPT 2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Concurrency anomalies — what goes wrong and the fix</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2341084"/>
                <a:gridCol w="3993614"/>
                <a:gridCol w="2616506"/>
                <a:gridCol w="2478795"/>
              </a:tblGrid>
              <a:tr h="630936">
                <a:tc>
                  <a:txBody>
                    <a:bodyPr wrap="square"/>
                    <a:lstStyle/>
                    <a:p>
                      <a:r>
                        <a:rPr sz="1100" b="1">
                          <a:solidFill>
                            <a:srgbClr val="FFFFFF"/>
                          </a:solidFill>
                        </a:rPr>
                        <a:t>Anomaly</a:t>
                      </a:r>
                    </a:p>
                  </a:txBody>
                  <a:tcPr anchor="ctr" marL="73152" marR="54864" marT="27432" marB="27432">
                    <a:solidFill>
                      <a:srgbClr val="0C2B4A"/>
                    </a:solidFill>
                  </a:tcPr>
                </a:tc>
                <a:tc>
                  <a:txBody>
                    <a:bodyPr wrap="square"/>
                    <a:lstStyle/>
                    <a:p>
                      <a:r>
                        <a:rPr sz="1100" b="1">
                          <a:solidFill>
                            <a:srgbClr val="FFFFFF"/>
                          </a:solidFill>
                        </a:rPr>
                        <a:t>What happens (Nepal / IT)</a:t>
                      </a:r>
                    </a:p>
                  </a:txBody>
                  <a:tcPr anchor="ctr" marL="73152" marR="54864" marT="27432" marB="27432">
                    <a:solidFill>
                      <a:srgbClr val="0C2B4A"/>
                    </a:solidFill>
                  </a:tcPr>
                </a:tc>
                <a:tc>
                  <a:txBody>
                    <a:bodyPr wrap="square"/>
                    <a:lstStyle/>
                    <a:p>
                      <a:r>
                        <a:rPr sz="1100" b="1">
                          <a:solidFill>
                            <a:srgbClr val="FFFFFF"/>
                          </a:solidFill>
                        </a:rPr>
                        <a:t>Result</a:t>
                      </a:r>
                    </a:p>
                  </a:txBody>
                  <a:tcPr anchor="ctr" marL="73152" marR="54864" marT="27432" marB="27432">
                    <a:solidFill>
                      <a:srgbClr val="0C2B4A"/>
                    </a:solidFill>
                  </a:tcPr>
                </a:tc>
                <a:tc>
                  <a:txBody>
                    <a:bodyPr wrap="square"/>
                    <a:lstStyle/>
                    <a:p>
                      <a:r>
                        <a:rPr sz="1100" b="1">
                          <a:solidFill>
                            <a:srgbClr val="FFFFFF"/>
                          </a:solidFill>
                        </a:rPr>
                        <a:t>Fix</a:t>
                      </a:r>
                    </a:p>
                  </a:txBody>
                  <a:tcPr anchor="ctr" marL="73152" marR="54864" marT="27432" marB="27432">
                    <a:solidFill>
                      <a:srgbClr val="0C2B4A"/>
                    </a:solidFill>
                  </a:tcPr>
                </a:tc>
              </a:tr>
              <a:tr h="630936">
                <a:tc>
                  <a:txBody>
                    <a:bodyPr wrap="square"/>
                    <a:lstStyle/>
                    <a:p>
                      <a:r>
                        <a:rPr sz="1050" b="1">
                          <a:solidFill>
                            <a:srgbClr val="0C2B4A"/>
                          </a:solidFill>
                        </a:rPr>
                        <a:t>Lost update</a:t>
                      </a:r>
                    </a:p>
                  </a:txBody>
                  <a:tcPr anchor="ctr" marL="73152" marR="54864" marT="27432" marB="27432">
                    <a:solidFill>
                      <a:srgbClr val="FFFFFF"/>
                    </a:solidFill>
                  </a:tcPr>
                </a:tc>
                <a:tc>
                  <a:txBody>
                    <a:bodyPr wrap="square"/>
                    <a:lstStyle/>
                    <a:p>
                      <a:r>
                        <a:rPr sz="1050">
                          <a:solidFill>
                            <a:srgbClr val="1A1A1A"/>
                          </a:solidFill>
                        </a:rPr>
                        <a:t>Two top-ups read Rs.1000, both write back</a:t>
                      </a:r>
                    </a:p>
                  </a:txBody>
                  <a:tcPr anchor="ctr" marL="73152" marR="54864" marT="27432" marB="27432">
                    <a:solidFill>
                      <a:srgbClr val="FFFFFF"/>
                    </a:solidFill>
                  </a:tcPr>
                </a:tc>
                <a:tc>
                  <a:txBody>
                    <a:bodyPr wrap="square"/>
                    <a:lstStyle/>
                    <a:p>
                      <a:r>
                        <a:rPr sz="1050">
                          <a:solidFill>
                            <a:srgbClr val="1A1A1A"/>
                          </a:solidFill>
                        </a:rPr>
                        <a:t>One top-up vanishes</a:t>
                      </a:r>
                    </a:p>
                  </a:txBody>
                  <a:tcPr anchor="ctr" marL="73152" marR="54864" marT="27432" marB="27432">
                    <a:solidFill>
                      <a:srgbClr val="FFFFFF"/>
                    </a:solidFill>
                  </a:tcPr>
                </a:tc>
                <a:tc>
                  <a:txBody>
                    <a:bodyPr wrap="square"/>
                    <a:lstStyle/>
                    <a:p>
                      <a:r>
                        <a:rPr sz="1050">
                          <a:solidFill>
                            <a:srgbClr val="1A1A1A"/>
                          </a:solidFill>
                        </a:rPr>
                        <a:t>lock/serialize the writes</a:t>
                      </a:r>
                    </a:p>
                  </a:txBody>
                  <a:tcPr anchor="ctr" marL="73152" marR="54864" marT="27432" marB="27432">
                    <a:solidFill>
                      <a:srgbClr val="FFFFFF"/>
                    </a:solidFill>
                  </a:tcPr>
                </a:tc>
              </a:tr>
              <a:tr h="630936">
                <a:tc>
                  <a:txBody>
                    <a:bodyPr wrap="square"/>
                    <a:lstStyle/>
                    <a:p>
                      <a:r>
                        <a:rPr sz="1050" b="1">
                          <a:solidFill>
                            <a:srgbClr val="0C2B4A"/>
                          </a:solidFill>
                        </a:rPr>
                        <a:t>Dirty read</a:t>
                      </a:r>
                    </a:p>
                  </a:txBody>
                  <a:tcPr anchor="ctr" marL="73152" marR="54864" marT="27432" marB="27432">
                    <a:solidFill>
                      <a:srgbClr val="EEF3F8"/>
                    </a:solidFill>
                  </a:tcPr>
                </a:tc>
                <a:tc>
                  <a:txBody>
                    <a:bodyPr wrap="square"/>
                    <a:lstStyle/>
                    <a:p>
                      <a:r>
                        <a:rPr sz="1050">
                          <a:solidFill>
                            <a:srgbClr val="1A1A1A"/>
                          </a:solidFill>
                        </a:rPr>
                        <a:t>T2 reads Rita's balance mid-transfer, T1 aborts</a:t>
                      </a:r>
                    </a:p>
                  </a:txBody>
                  <a:tcPr anchor="ctr" marL="73152" marR="54864" marT="27432" marB="27432">
                    <a:solidFill>
                      <a:srgbClr val="EEF3F8"/>
                    </a:solidFill>
                  </a:tcPr>
                </a:tc>
                <a:tc>
                  <a:txBody>
                    <a:bodyPr wrap="square"/>
                    <a:lstStyle/>
                    <a:p>
                      <a:r>
                        <a:rPr sz="1050">
                          <a:solidFill>
                            <a:srgbClr val="1A1A1A"/>
                          </a:solidFill>
                        </a:rPr>
                        <a:t>T2 used data that never existed</a:t>
                      </a:r>
                    </a:p>
                  </a:txBody>
                  <a:tcPr anchor="ctr" marL="73152" marR="54864" marT="27432" marB="27432">
                    <a:solidFill>
                      <a:srgbClr val="EEF3F8"/>
                    </a:solidFill>
                  </a:tcPr>
                </a:tc>
                <a:tc>
                  <a:txBody>
                    <a:bodyPr wrap="square"/>
                    <a:lstStyle/>
                    <a:p>
                      <a:r>
                        <a:rPr sz="1050">
                          <a:solidFill>
                            <a:srgbClr val="1A1A1A"/>
                          </a:solidFill>
                        </a:rPr>
                        <a:t>don't read uncommitted data</a:t>
                      </a:r>
                    </a:p>
                  </a:txBody>
                  <a:tcPr anchor="ctr" marL="73152" marR="54864" marT="27432" marB="27432">
                    <a:solidFill>
                      <a:srgbClr val="EEF3F8"/>
                    </a:solidFill>
                  </a:tcPr>
                </a:tc>
              </a:tr>
              <a:tr h="630936">
                <a:tc>
                  <a:txBody>
                    <a:bodyPr wrap="square"/>
                    <a:lstStyle/>
                    <a:p>
                      <a:r>
                        <a:rPr sz="1050" b="1">
                          <a:solidFill>
                            <a:srgbClr val="0C2B4A"/>
                          </a:solidFill>
                        </a:rPr>
                        <a:t>Incorrect summary</a:t>
                      </a:r>
                    </a:p>
                  </a:txBody>
                  <a:tcPr anchor="ctr" marL="73152" marR="54864" marT="27432" marB="27432">
                    <a:solidFill>
                      <a:srgbClr val="FFFFFF"/>
                    </a:solidFill>
                  </a:tcPr>
                </a:tc>
                <a:tc>
                  <a:txBody>
                    <a:bodyPr wrap="square"/>
                    <a:lstStyle/>
                    <a:p>
                      <a:r>
                        <a:rPr sz="1050">
                          <a:solidFill>
                            <a:srgbClr val="1A1A1A"/>
                          </a:solidFill>
                        </a:rPr>
                        <a:t>A report sums balances while transfers run</a:t>
                      </a:r>
                    </a:p>
                  </a:txBody>
                  <a:tcPr anchor="ctr" marL="73152" marR="54864" marT="27432" marB="27432">
                    <a:solidFill>
                      <a:srgbClr val="FFFFFF"/>
                    </a:solidFill>
                  </a:tcPr>
                </a:tc>
                <a:tc>
                  <a:txBody>
                    <a:bodyPr wrap="square"/>
                    <a:lstStyle/>
                    <a:p>
                      <a:r>
                        <a:rPr sz="1050">
                          <a:solidFill>
                            <a:srgbClr val="1A1A1A"/>
                          </a:solidFill>
                        </a:rPr>
                        <a:t>Total is off by an in-flight amount</a:t>
                      </a:r>
                    </a:p>
                  </a:txBody>
                  <a:tcPr anchor="ctr" marL="73152" marR="54864" marT="27432" marB="27432">
                    <a:solidFill>
                      <a:srgbClr val="FFFFFF"/>
                    </a:solidFill>
                  </a:tcPr>
                </a:tc>
                <a:tc>
                  <a:txBody>
                    <a:bodyPr wrap="square"/>
                    <a:lstStyle/>
                    <a:p>
                      <a:r>
                        <a:rPr sz="1050">
                          <a:solidFill>
                            <a:srgbClr val="1A1A1A"/>
                          </a:solidFill>
                        </a:rPr>
                        <a:t>isolate the reporting txn</a:t>
                      </a:r>
                    </a:p>
                  </a:txBody>
                  <a:tcPr anchor="ctr" marL="73152" marR="54864" marT="27432" marB="27432">
                    <a:solidFill>
                      <a:srgbClr val="FFFFFF"/>
                    </a:solidFill>
                  </a:tcPr>
                </a:tc>
              </a:tr>
              <a:tr h="630936">
                <a:tc>
                  <a:txBody>
                    <a:bodyPr wrap="square"/>
                    <a:lstStyle/>
                    <a:p>
                      <a:r>
                        <a:rPr sz="1050" b="1">
                          <a:solidFill>
                            <a:srgbClr val="0C2B4A"/>
                          </a:solidFill>
                        </a:rPr>
                        <a:t>Unrepeatable read</a:t>
                      </a:r>
                    </a:p>
                  </a:txBody>
                  <a:tcPr anchor="ctr" marL="73152" marR="54864" marT="27432" marB="27432">
                    <a:solidFill>
                      <a:srgbClr val="EEF3F8"/>
                    </a:solidFill>
                  </a:tcPr>
                </a:tc>
                <a:tc>
                  <a:txBody>
                    <a:bodyPr wrap="square"/>
                    <a:lstStyle/>
                    <a:p>
                      <a:r>
                        <a:rPr sz="1050">
                          <a:solidFill>
                            <a:srgbClr val="1A1A1A"/>
                          </a:solidFill>
                        </a:rPr>
                        <a:t>A balance re-read in one txn gives two values</a:t>
                      </a:r>
                    </a:p>
                  </a:txBody>
                  <a:tcPr anchor="ctr" marL="73152" marR="54864" marT="27432" marB="27432">
                    <a:solidFill>
                      <a:srgbClr val="EEF3F8"/>
                    </a:solidFill>
                  </a:tcPr>
                </a:tc>
                <a:tc>
                  <a:txBody>
                    <a:bodyPr wrap="square"/>
                    <a:lstStyle/>
                    <a:p>
                      <a:r>
                        <a:rPr sz="1050">
                          <a:solidFill>
                            <a:srgbClr val="1A1A1A"/>
                          </a:solidFill>
                        </a:rPr>
                        <a:t>Inconsistent decision</a:t>
                      </a:r>
                    </a:p>
                  </a:txBody>
                  <a:tcPr anchor="ctr" marL="73152" marR="54864" marT="27432" marB="27432">
                    <a:solidFill>
                      <a:srgbClr val="EEF3F8"/>
                    </a:solidFill>
                  </a:tcPr>
                </a:tc>
                <a:tc>
                  <a:txBody>
                    <a:bodyPr wrap="square"/>
                    <a:lstStyle/>
                    <a:p>
                      <a:r>
                        <a:rPr sz="1050">
                          <a:solidFill>
                            <a:srgbClr val="1A1A1A"/>
                          </a:solidFill>
                        </a:rPr>
                        <a:t>hold the read lock</a:t>
                      </a:r>
                    </a:p>
                  </a:txBody>
                  <a:tcPr anchor="ctr" marL="73152" marR="54864" marT="27432" marB="27432">
                    <a:solidFill>
                      <a:srgbClr val="EEF3F8"/>
                    </a:solidFill>
                  </a:tcPr>
                </a:tc>
              </a:tr>
              <a:tr h="630936">
                <a:tc>
                  <a:txBody>
                    <a:bodyPr wrap="square"/>
                    <a:lstStyle/>
                    <a:p>
                      <a:r>
                        <a:rPr sz="1050" b="1">
                          <a:solidFill>
                            <a:srgbClr val="0C2B4A"/>
                          </a:solidFill>
                        </a:rPr>
                        <a:t>Phantom</a:t>
                      </a:r>
                    </a:p>
                  </a:txBody>
                  <a:tcPr anchor="ctr" marL="73152" marR="54864" marT="27432" marB="27432">
                    <a:solidFill>
                      <a:srgbClr val="FFFFFF"/>
                    </a:solidFill>
                  </a:tcPr>
                </a:tc>
                <a:tc>
                  <a:txBody>
                    <a:bodyPr wrap="square"/>
                    <a:lstStyle/>
                    <a:p>
                      <a:r>
                        <a:rPr sz="1050">
                          <a:solidFill>
                            <a:srgbClr val="1A1A1A"/>
                          </a:solidFill>
                        </a:rPr>
                        <a:t>Count of 'today's txns' changes mid-report</a:t>
                      </a:r>
                    </a:p>
                  </a:txBody>
                  <a:tcPr anchor="ctr" marL="73152" marR="54864" marT="27432" marB="27432">
                    <a:solidFill>
                      <a:srgbClr val="FFFFFF"/>
                    </a:solidFill>
                  </a:tcPr>
                </a:tc>
                <a:tc>
                  <a:txBody>
                    <a:bodyPr wrap="square"/>
                    <a:lstStyle/>
                    <a:p>
                      <a:r>
                        <a:rPr sz="1050">
                          <a:solidFill>
                            <a:srgbClr val="1A1A1A"/>
                          </a:solidFill>
                        </a:rPr>
                        <a:t>New rows appear unexpectedly</a:t>
                      </a:r>
                    </a:p>
                  </a:txBody>
                  <a:tcPr anchor="ctr" marL="73152" marR="54864" marT="27432" marB="27432">
                    <a:solidFill>
                      <a:srgbClr val="FFFFFF"/>
                    </a:solidFill>
                  </a:tcPr>
                </a:tc>
                <a:tc>
                  <a:txBody>
                    <a:bodyPr wrap="square"/>
                    <a:lstStyle/>
                    <a:p>
                      <a:r>
                        <a:rPr sz="1050">
                          <a:solidFill>
                            <a:srgbClr val="1A1A1A"/>
                          </a:solidFill>
                        </a:rPr>
                        <a:t>range/predicate locking</a:t>
                      </a:r>
                    </a:p>
                  </a:txBody>
                  <a:tcPr anchor="ctr" marL="73152" marR="54864" marT="27432" marB="27432">
                    <a:solidFill>
                      <a:srgbClr val="FFFFFF"/>
                    </a:solidFill>
                  </a:tcPr>
                </a:tc>
              </a:tr>
              <a:tr h="630936">
                <a:tc>
                  <a:txBody>
                    <a:bodyPr wrap="square"/>
                    <a:lstStyle/>
                    <a:p>
                      <a:r>
                        <a:rPr sz="1050" b="1">
                          <a:solidFill>
                            <a:srgbClr val="0C2B4A"/>
                          </a:solidFill>
                        </a:rPr>
                        <a:t>Double booking</a:t>
                      </a:r>
                    </a:p>
                  </a:txBody>
                  <a:tcPr anchor="ctr" marL="73152" marR="54864" marT="27432" marB="27432">
                    <a:solidFill>
                      <a:srgbClr val="EEF3F8"/>
                    </a:solidFill>
                  </a:tcPr>
                </a:tc>
                <a:tc>
                  <a:txBody>
                    <a:bodyPr wrap="square"/>
                    <a:lstStyle/>
                    <a:p>
                      <a:r>
                        <a:rPr sz="1050">
                          <a:solidFill>
                            <a:srgbClr val="1A1A1A"/>
                          </a:solidFill>
                        </a:rPr>
                        <a:t>Two users book the last bus seat at once</a:t>
                      </a:r>
                    </a:p>
                  </a:txBody>
                  <a:tcPr anchor="ctr" marL="73152" marR="54864" marT="27432" marB="27432">
                    <a:solidFill>
                      <a:srgbClr val="EEF3F8"/>
                    </a:solidFill>
                  </a:tcPr>
                </a:tc>
                <a:tc>
                  <a:txBody>
                    <a:bodyPr wrap="square"/>
                    <a:lstStyle/>
                    <a:p>
                      <a:r>
                        <a:rPr sz="1050">
                          <a:solidFill>
                            <a:srgbClr val="1A1A1A"/>
                          </a:solidFill>
                        </a:rPr>
                        <a:t>Seat sold twice</a:t>
                      </a:r>
                    </a:p>
                  </a:txBody>
                  <a:tcPr anchor="ctr" marL="73152" marR="54864" marT="27432" marB="27432">
                    <a:solidFill>
                      <a:srgbClr val="EEF3F8"/>
                    </a:solidFill>
                  </a:tcPr>
                </a:tc>
                <a:tc>
                  <a:txBody>
                    <a:bodyPr wrap="square"/>
                    <a:lstStyle/>
                    <a:p>
                      <a:r>
                        <a:rPr sz="1050">
                          <a:solidFill>
                            <a:srgbClr val="1A1A1A"/>
                          </a:solidFill>
                        </a:rPr>
                        <a:t>serialize on the seat row</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Every one of these is a specific bad interleaving. Concurrency control (S40 locking, S41 timestamps) exists to allow the safe interleavings and block exactly these.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41 / 136</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S39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Serializable Schedules</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A schedule is serializable if its effect is equivalent to SOME serial execution of the same transactions. Serializability is the gold standard of correctness for concurrent execution: a serializable schedule is guaranteed correct.</a:t>
            </a:r>
          </a:p>
          <a:p>
            <a:pPr>
              <a:spcAft>
                <a:spcPts val="500"/>
              </a:spcAft>
            </a:pPr>
            <a:r>
              <a:rPr sz="1200" b="1">
                <a:solidFill>
                  <a:srgbClr val="185FA5"/>
                </a:solidFill>
              </a:rPr>
              <a:t>HOW IT WORKS</a:t>
            </a:r>
          </a:p>
          <a:p>
            <a:pPr>
              <a:spcAft>
                <a:spcPts val="600"/>
              </a:spcAft>
            </a:pPr>
            <a:r>
              <a:rPr sz="1400">
                <a:solidFill>
                  <a:srgbClr val="1A1A1A"/>
                </a:solidFill>
              </a:rPr>
              <a:t>•  'Equivalent to a serial order' means the final database state is the same as if run one-at-a-time.</a:t>
            </a:r>
          </a:p>
          <a:p>
            <a:pPr>
              <a:spcAft>
                <a:spcPts val="600"/>
              </a:spcAft>
            </a:pPr>
            <a:r>
              <a:rPr sz="1400">
                <a:solidFill>
                  <a:srgbClr val="1A1A1A"/>
                </a:solidFill>
              </a:rPr>
              <a:t>•  There may be several valid serial orders; matching any ONE of them is enough.</a:t>
            </a:r>
          </a:p>
          <a:p>
            <a:pPr>
              <a:spcAft>
                <a:spcPts val="600"/>
              </a:spcAft>
            </a:pPr>
            <a:r>
              <a:rPr sz="1400">
                <a:solidFill>
                  <a:srgbClr val="1A1A1A"/>
                </a:solidFill>
              </a:rPr>
              <a:t>•  Conflict serializability (next) is the practical, testable form used by real DBMSs.</a:t>
            </a:r>
          </a:p>
          <a:p>
            <a:pPr>
              <a:spcAft>
                <a:spcPts val="600"/>
              </a:spcAft>
            </a:pPr>
            <a:r>
              <a:rPr sz="1400">
                <a:solidFill>
                  <a:srgbClr val="1A1A1A"/>
                </a:solidFill>
              </a:rPr>
              <a:t>•  If a schedule is serializable, no anomaly like lost update can occur.</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Serializable = interleaved, but equals SOME one-at-a-time order.</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42 / 136</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S39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Serializable Schedules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The DBMS behind eSewa or Daraz checkout accepts a fast interleaving of thousands of transactions ONLY if it is serializable — equivalent to some order of running them one after another. That guarantee is why your balance is never 'lost' during peak Dashain traffic, even though everything is running concurrently.</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"Serializable means the schedule IS serial." No — a serializable schedule is usually NON-serial (interleaved); it just has the same EFFECT as some serial order. Serial is a special case; serializable is the useful general property.</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 schedule is serializable if it is equivalent in effect to some serial execution of the same transactions — i.e. the final database state matches running them one at a time in some order. Serializability is the correctness standard for concurrency: a serializable schedule cannot produce anomalies like lost updates. The practical, testable form is conflict serializability.</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serializable schedule · equivalent to a serial order · correctness standard · conflict serializability</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43 / 136</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S39 · CONCEPT 4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Conflicting Operations &amp; Conflict Serializability</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Two operations conflict if they belong to different transactions, act on the SAME data item, and at least one is a WRITE. A schedule is conflict-serializable if it can be turned into a serial schedule by swapping only non-conflicting adjacent operations.</a:t>
            </a:r>
          </a:p>
          <a:p>
            <a:pPr>
              <a:spcAft>
                <a:spcPts val="500"/>
              </a:spcAft>
            </a:pPr>
            <a:r>
              <a:rPr sz="1200" b="1">
                <a:solidFill>
                  <a:srgbClr val="185FA5"/>
                </a:solidFill>
              </a:rPr>
              <a:t>HOW IT WORKS</a:t>
            </a:r>
          </a:p>
          <a:p>
            <a:pPr>
              <a:spcAft>
                <a:spcPts val="600"/>
              </a:spcAft>
            </a:pPr>
            <a:r>
              <a:rPr sz="1400">
                <a:solidFill>
                  <a:srgbClr val="1A1A1A"/>
                </a:solidFill>
              </a:rPr>
              <a:t>•  The three conflict types on the same item: write-write, read-write, and write-read.</a:t>
            </a:r>
          </a:p>
          <a:p>
            <a:pPr>
              <a:spcAft>
                <a:spcPts val="600"/>
              </a:spcAft>
            </a:pPr>
            <a:r>
              <a:rPr sz="1400">
                <a:solidFill>
                  <a:srgbClr val="1A1A1A"/>
                </a:solidFill>
              </a:rPr>
              <a:t>•  Read-read on the same item does NOT conflict (both just read).</a:t>
            </a:r>
          </a:p>
          <a:p>
            <a:pPr>
              <a:spcAft>
                <a:spcPts val="600"/>
              </a:spcAft>
            </a:pPr>
            <a:r>
              <a:rPr sz="1400">
                <a:solidFill>
                  <a:srgbClr val="1A1A1A"/>
                </a:solidFill>
              </a:rPr>
              <a:t>•  Operations on DIFFERENT items never conflict; operations in the same transaction aren't 'conflicts'.</a:t>
            </a:r>
          </a:p>
          <a:p>
            <a:pPr>
              <a:spcAft>
                <a:spcPts val="600"/>
              </a:spcAft>
            </a:pPr>
            <a:r>
              <a:rPr sz="1400">
                <a:solidFill>
                  <a:srgbClr val="1A1A1A"/>
                </a:solidFill>
              </a:rPr>
              <a:t>•  Swapping non-conflicting operations doesn't change the result — that's the test for equivalence.</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Conflict = same item, different txns, at least one write (W-W, R-W, W-R).</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44 / 136</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S39 · CONCEPT 4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Conflicting Operations &amp; Conflict Serializability</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On the family wallet, T1's write(wallet) and T2's read(wallet) CONFLICT — swapping them changes what T2 sees, so their order matters. But T1's read(wallet) and T2's read(wallet) do NOT conflict — two reads can be freely reordered. Conflict serializability checks whether reordering only the non-conflicting ops can reach a serial schedule.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"Any two operations on the same item conflict." No — two READS of the same item do not conflict (neither changes it). A conflict needs at least one WRITE plus different transactions plus the same item.</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Two operations conflict if they are from different transactions, access the same data item, and at least one is a write (the conflict types are write-write, read-write, and write-read). A schedule is conflict-serializable if it can be transformed into a serial schedule by swapping only non-conflicting adjacent operations — a testable, sufficient condition for serializability used by real DBMSs.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conflict · same item + different txn + ≥1 write · W-W/R-W/W-R · read-read never conflicts · conflict-serializable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45 / 136</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S39 · CONCEPT 4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Do these two operations conflict? (same data item)</a:t>
            </a:r>
          </a:p>
        </p:txBody>
      </p:sp>
      <p:graphicFrame>
        <p:nvGraphicFramePr>
          <p:cNvPr id="5" name="Table 4"/>
          <p:cNvGraphicFramePr>
            <a:graphicFrameLocks noGrp="1"/>
          </p:cNvGraphicFramePr>
          <p:nvPr/>
        </p:nvGraphicFramePr>
        <p:xfrm>
          <a:off x="384048" y="1572768"/>
          <a:ext cx="11430000" cy="4416552"/>
        </p:xfrm>
        <a:graphic>
          <a:graphicData uri="http://schemas.openxmlformats.org/drawingml/2006/table">
            <a:tbl>
              <a:tblPr>
                <a:tableStyleId>{5C22544A-7EE6-4342-B048-85BDC9FD1C3A}</a:tableStyleId>
              </a:tblPr>
              <a:tblGrid>
                <a:gridCol w="2714625"/>
                <a:gridCol w="2714625"/>
                <a:gridCol w="2000250"/>
                <a:gridCol w="4000500"/>
              </a:tblGrid>
              <a:tr h="630936">
                <a:tc>
                  <a:txBody>
                    <a:bodyPr wrap="square"/>
                    <a:lstStyle/>
                    <a:p>
                      <a:r>
                        <a:rPr sz="1150" b="1">
                          <a:solidFill>
                            <a:srgbClr val="FFFFFF"/>
                          </a:solidFill>
                        </a:rPr>
                        <a:t>T_i operation</a:t>
                      </a:r>
                    </a:p>
                  </a:txBody>
                  <a:tcPr anchor="ctr" marL="73152" marR="54864" marT="27432" marB="27432">
                    <a:solidFill>
                      <a:srgbClr val="0C2B4A"/>
                    </a:solidFill>
                  </a:tcPr>
                </a:tc>
                <a:tc>
                  <a:txBody>
                    <a:bodyPr wrap="square"/>
                    <a:lstStyle/>
                    <a:p>
                      <a:r>
                        <a:rPr sz="1150" b="1">
                          <a:solidFill>
                            <a:srgbClr val="FFFFFF"/>
                          </a:solidFill>
                        </a:rPr>
                        <a:t>T_j operation</a:t>
                      </a:r>
                    </a:p>
                  </a:txBody>
                  <a:tcPr anchor="ctr" marL="73152" marR="54864" marT="27432" marB="27432">
                    <a:solidFill>
                      <a:srgbClr val="0C2B4A"/>
                    </a:solidFill>
                  </a:tcPr>
                </a:tc>
                <a:tc>
                  <a:txBody>
                    <a:bodyPr wrap="square"/>
                    <a:lstStyle/>
                    <a:p>
                      <a:r>
                        <a:rPr sz="1150" b="1">
                          <a:solidFill>
                            <a:srgbClr val="FFFFFF"/>
                          </a:solidFill>
                        </a:rPr>
                        <a:t>Conflict?</a:t>
                      </a:r>
                    </a:p>
                  </a:txBody>
                  <a:tcPr anchor="ctr" marL="73152" marR="54864" marT="27432" marB="27432">
                    <a:solidFill>
                      <a:srgbClr val="0C2B4A"/>
                    </a:solidFill>
                  </a:tcPr>
                </a:tc>
                <a:tc>
                  <a:txBody>
                    <a:bodyPr wrap="square"/>
                    <a:lstStyle/>
                    <a:p>
                      <a:r>
                        <a:rPr sz="1150" b="1">
                          <a:solidFill>
                            <a:srgbClr val="FFFFFF"/>
                          </a:solidFill>
                        </a:rPr>
                        <a:t>Why</a:t>
                      </a:r>
                    </a:p>
                  </a:txBody>
                  <a:tcPr anchor="ctr" marL="73152" marR="54864" marT="27432" marB="27432">
                    <a:solidFill>
                      <a:srgbClr val="0C2B4A"/>
                    </a:solidFill>
                  </a:tcPr>
                </a:tc>
              </a:tr>
              <a:tr h="630936">
                <a:tc>
                  <a:txBody>
                    <a:bodyPr wrap="square"/>
                    <a:lstStyle/>
                    <a:p>
                      <a:r>
                        <a:rPr sz="1100" b="1">
                          <a:solidFill>
                            <a:srgbClr val="0C2B4A"/>
                          </a:solidFill>
                        </a:rPr>
                        <a:t>read(X)</a:t>
                      </a:r>
                    </a:p>
                  </a:txBody>
                  <a:tcPr anchor="ctr" marL="73152" marR="54864" marT="27432" marB="27432">
                    <a:solidFill>
                      <a:srgbClr val="FFFFFF"/>
                    </a:solidFill>
                  </a:tcPr>
                </a:tc>
                <a:tc>
                  <a:txBody>
                    <a:bodyPr wrap="square"/>
                    <a:lstStyle/>
                    <a:p>
                      <a:r>
                        <a:rPr sz="1100">
                          <a:solidFill>
                            <a:srgbClr val="1A1A1A"/>
                          </a:solidFill>
                        </a:rPr>
                        <a:t>read(X)</a:t>
                      </a:r>
                    </a:p>
                  </a:txBody>
                  <a:tcPr anchor="ctr" marL="73152" marR="54864" marT="27432" marB="27432">
                    <a:solidFill>
                      <a:srgbClr val="FFFFFF"/>
                    </a:solidFill>
                  </a:tcPr>
                </a:tc>
                <a:tc>
                  <a:txBody>
                    <a:bodyPr wrap="square"/>
                    <a:lstStyle/>
                    <a:p>
                      <a:r>
                        <a:rPr sz="1100">
                          <a:solidFill>
                            <a:srgbClr val="1A1A1A"/>
                          </a:solidFill>
                        </a:rPr>
                        <a:t>No</a:t>
                      </a:r>
                    </a:p>
                  </a:txBody>
                  <a:tcPr anchor="ctr" marL="73152" marR="54864" marT="27432" marB="27432">
                    <a:solidFill>
                      <a:srgbClr val="FFFFFF"/>
                    </a:solidFill>
                  </a:tcPr>
                </a:tc>
                <a:tc>
                  <a:txBody>
                    <a:bodyPr wrap="square"/>
                    <a:lstStyle/>
                    <a:p>
                      <a:r>
                        <a:rPr sz="1100">
                          <a:solidFill>
                            <a:srgbClr val="1A1A1A"/>
                          </a:solidFill>
                        </a:rPr>
                        <a:t>neither changes X — order doesn't matter</a:t>
                      </a:r>
                    </a:p>
                  </a:txBody>
                  <a:tcPr anchor="ctr" marL="73152" marR="54864" marT="27432" marB="27432">
                    <a:solidFill>
                      <a:srgbClr val="FFFFFF"/>
                    </a:solidFill>
                  </a:tcPr>
                </a:tc>
              </a:tr>
              <a:tr h="630936">
                <a:tc>
                  <a:txBody>
                    <a:bodyPr wrap="square"/>
                    <a:lstStyle/>
                    <a:p>
                      <a:r>
                        <a:rPr sz="1100" b="1">
                          <a:solidFill>
                            <a:srgbClr val="0C2B4A"/>
                          </a:solidFill>
                        </a:rPr>
                        <a:t>read(X)</a:t>
                      </a:r>
                    </a:p>
                  </a:txBody>
                  <a:tcPr anchor="ctr" marL="73152" marR="54864" marT="27432" marB="27432">
                    <a:solidFill>
                      <a:srgbClr val="EEF3F8"/>
                    </a:solidFill>
                  </a:tcPr>
                </a:tc>
                <a:tc>
                  <a:txBody>
                    <a:bodyPr wrap="square"/>
                    <a:lstStyle/>
                    <a:p>
                      <a:r>
                        <a:rPr sz="1100">
                          <a:solidFill>
                            <a:srgbClr val="1A1A1A"/>
                          </a:solidFill>
                        </a:rPr>
                        <a:t>write(X)</a:t>
                      </a:r>
                    </a:p>
                  </a:txBody>
                  <a:tcPr anchor="ctr" marL="73152" marR="54864" marT="27432" marB="27432">
                    <a:solidFill>
                      <a:srgbClr val="EEF3F8"/>
                    </a:solidFill>
                  </a:tcPr>
                </a:tc>
                <a:tc>
                  <a:txBody>
                    <a:bodyPr wrap="square"/>
                    <a:lstStyle/>
                    <a:p>
                      <a:r>
                        <a:rPr sz="1100">
                          <a:solidFill>
                            <a:srgbClr val="1A1A1A"/>
                          </a:solidFill>
                        </a:rPr>
                        <a:t>Yes (R-W)</a:t>
                      </a:r>
                    </a:p>
                  </a:txBody>
                  <a:tcPr anchor="ctr" marL="73152" marR="54864" marT="27432" marB="27432">
                    <a:solidFill>
                      <a:srgbClr val="EEF3F8"/>
                    </a:solidFill>
                  </a:tcPr>
                </a:tc>
                <a:tc>
                  <a:txBody>
                    <a:bodyPr wrap="square"/>
                    <a:lstStyle/>
                    <a:p>
                      <a:r>
                        <a:rPr sz="1100">
                          <a:solidFill>
                            <a:srgbClr val="1A1A1A"/>
                          </a:solidFill>
                        </a:rPr>
                        <a:t>T_j changes what T_i reads</a:t>
                      </a:r>
                    </a:p>
                  </a:txBody>
                  <a:tcPr anchor="ctr" marL="73152" marR="54864" marT="27432" marB="27432">
                    <a:solidFill>
                      <a:srgbClr val="EEF3F8"/>
                    </a:solidFill>
                  </a:tcPr>
                </a:tc>
              </a:tr>
              <a:tr h="630936">
                <a:tc>
                  <a:txBody>
                    <a:bodyPr wrap="square"/>
                    <a:lstStyle/>
                    <a:p>
                      <a:r>
                        <a:rPr sz="1100" b="1">
                          <a:solidFill>
                            <a:srgbClr val="0C2B4A"/>
                          </a:solidFill>
                        </a:rPr>
                        <a:t>write(X)</a:t>
                      </a:r>
                    </a:p>
                  </a:txBody>
                  <a:tcPr anchor="ctr" marL="73152" marR="54864" marT="27432" marB="27432">
                    <a:solidFill>
                      <a:srgbClr val="FFFFFF"/>
                    </a:solidFill>
                  </a:tcPr>
                </a:tc>
                <a:tc>
                  <a:txBody>
                    <a:bodyPr wrap="square"/>
                    <a:lstStyle/>
                    <a:p>
                      <a:r>
                        <a:rPr sz="1100">
                          <a:solidFill>
                            <a:srgbClr val="1A1A1A"/>
                          </a:solidFill>
                        </a:rPr>
                        <a:t>read(X)</a:t>
                      </a:r>
                    </a:p>
                  </a:txBody>
                  <a:tcPr anchor="ctr" marL="73152" marR="54864" marT="27432" marB="27432">
                    <a:solidFill>
                      <a:srgbClr val="FFFFFF"/>
                    </a:solidFill>
                  </a:tcPr>
                </a:tc>
                <a:tc>
                  <a:txBody>
                    <a:bodyPr wrap="square"/>
                    <a:lstStyle/>
                    <a:p>
                      <a:r>
                        <a:rPr sz="1100">
                          <a:solidFill>
                            <a:srgbClr val="1A1A1A"/>
                          </a:solidFill>
                        </a:rPr>
                        <a:t>Yes (W-R)</a:t>
                      </a:r>
                    </a:p>
                  </a:txBody>
                  <a:tcPr anchor="ctr" marL="73152" marR="54864" marT="27432" marB="27432">
                    <a:solidFill>
                      <a:srgbClr val="FFFFFF"/>
                    </a:solidFill>
                  </a:tcPr>
                </a:tc>
                <a:tc>
                  <a:txBody>
                    <a:bodyPr wrap="square"/>
                    <a:lstStyle/>
                    <a:p>
                      <a:r>
                        <a:rPr sz="1100">
                          <a:solidFill>
                            <a:srgbClr val="1A1A1A"/>
                          </a:solidFill>
                        </a:rPr>
                        <a:t>T_j reads what T_i wrote</a:t>
                      </a:r>
                    </a:p>
                  </a:txBody>
                  <a:tcPr anchor="ctr" marL="73152" marR="54864" marT="27432" marB="27432">
                    <a:solidFill>
                      <a:srgbClr val="FFFFFF"/>
                    </a:solidFill>
                  </a:tcPr>
                </a:tc>
              </a:tr>
              <a:tr h="630936">
                <a:tc>
                  <a:txBody>
                    <a:bodyPr wrap="square"/>
                    <a:lstStyle/>
                    <a:p>
                      <a:r>
                        <a:rPr sz="1100" b="1">
                          <a:solidFill>
                            <a:srgbClr val="0C2B4A"/>
                          </a:solidFill>
                        </a:rPr>
                        <a:t>write(X)</a:t>
                      </a:r>
                    </a:p>
                  </a:txBody>
                  <a:tcPr anchor="ctr" marL="73152" marR="54864" marT="27432" marB="27432">
                    <a:solidFill>
                      <a:srgbClr val="EEF3F8"/>
                    </a:solidFill>
                  </a:tcPr>
                </a:tc>
                <a:tc>
                  <a:txBody>
                    <a:bodyPr wrap="square"/>
                    <a:lstStyle/>
                    <a:p>
                      <a:r>
                        <a:rPr sz="1100">
                          <a:solidFill>
                            <a:srgbClr val="1A1A1A"/>
                          </a:solidFill>
                        </a:rPr>
                        <a:t>write(X)</a:t>
                      </a:r>
                    </a:p>
                  </a:txBody>
                  <a:tcPr anchor="ctr" marL="73152" marR="54864" marT="27432" marB="27432">
                    <a:solidFill>
                      <a:srgbClr val="EEF3F8"/>
                    </a:solidFill>
                  </a:tcPr>
                </a:tc>
                <a:tc>
                  <a:txBody>
                    <a:bodyPr wrap="square"/>
                    <a:lstStyle/>
                    <a:p>
                      <a:r>
                        <a:rPr sz="1100">
                          <a:solidFill>
                            <a:srgbClr val="1A1A1A"/>
                          </a:solidFill>
                        </a:rPr>
                        <a:t>Yes (W-W)</a:t>
                      </a:r>
                    </a:p>
                  </a:txBody>
                  <a:tcPr anchor="ctr" marL="73152" marR="54864" marT="27432" marB="27432">
                    <a:solidFill>
                      <a:srgbClr val="EEF3F8"/>
                    </a:solidFill>
                  </a:tcPr>
                </a:tc>
                <a:tc>
                  <a:txBody>
                    <a:bodyPr wrap="square"/>
                    <a:lstStyle/>
                    <a:p>
                      <a:r>
                        <a:rPr sz="1100">
                          <a:solidFill>
                            <a:srgbClr val="1A1A1A"/>
                          </a:solidFill>
                        </a:rPr>
                        <a:t>final value depends on order</a:t>
                      </a:r>
                    </a:p>
                  </a:txBody>
                  <a:tcPr anchor="ctr" marL="73152" marR="54864" marT="27432" marB="27432">
                    <a:solidFill>
                      <a:srgbClr val="EEF3F8"/>
                    </a:solidFill>
                  </a:tcPr>
                </a:tc>
              </a:tr>
              <a:tr h="630936">
                <a:tc>
                  <a:txBody>
                    <a:bodyPr wrap="square"/>
                    <a:lstStyle/>
                    <a:p>
                      <a:r>
                        <a:rPr sz="1100" b="1">
                          <a:solidFill>
                            <a:srgbClr val="0C2B4A"/>
                          </a:solidFill>
                        </a:rPr>
                        <a:t>read/write(X)</a:t>
                      </a:r>
                    </a:p>
                  </a:txBody>
                  <a:tcPr anchor="ctr" marL="73152" marR="54864" marT="27432" marB="27432">
                    <a:solidFill>
                      <a:srgbClr val="FFFFFF"/>
                    </a:solidFill>
                  </a:tcPr>
                </a:tc>
                <a:tc>
                  <a:txBody>
                    <a:bodyPr wrap="square"/>
                    <a:lstStyle/>
                    <a:p>
                      <a:r>
                        <a:rPr sz="1100">
                          <a:solidFill>
                            <a:srgbClr val="1A1A1A"/>
                          </a:solidFill>
                        </a:rPr>
                        <a:t>read/write(Y)</a:t>
                      </a:r>
                    </a:p>
                  </a:txBody>
                  <a:tcPr anchor="ctr" marL="73152" marR="54864" marT="27432" marB="27432">
                    <a:solidFill>
                      <a:srgbClr val="FFFFFF"/>
                    </a:solidFill>
                  </a:tcPr>
                </a:tc>
                <a:tc>
                  <a:txBody>
                    <a:bodyPr wrap="square"/>
                    <a:lstStyle/>
                    <a:p>
                      <a:r>
                        <a:rPr sz="1100">
                          <a:solidFill>
                            <a:srgbClr val="1A1A1A"/>
                          </a:solidFill>
                        </a:rPr>
                        <a:t>No</a:t>
                      </a:r>
                    </a:p>
                  </a:txBody>
                  <a:tcPr anchor="ctr" marL="73152" marR="54864" marT="27432" marB="27432">
                    <a:solidFill>
                      <a:srgbClr val="FFFFFF"/>
                    </a:solidFill>
                  </a:tcPr>
                </a:tc>
                <a:tc>
                  <a:txBody>
                    <a:bodyPr wrap="square"/>
                    <a:lstStyle/>
                    <a:p>
                      <a:r>
                        <a:rPr sz="1100">
                          <a:solidFill>
                            <a:srgbClr val="1A1A1A"/>
                          </a:solidFill>
                        </a:rPr>
                        <a:t>different items — independent</a:t>
                      </a:r>
                    </a:p>
                  </a:txBody>
                  <a:tcPr anchor="ctr" marL="73152" marR="54864" marT="27432" marB="27432">
                    <a:solidFill>
                      <a:srgbClr val="FFFFFF"/>
                    </a:solidFill>
                  </a:tcPr>
                </a:tc>
              </a:tr>
              <a:tr h="630936">
                <a:tc>
                  <a:txBody>
                    <a:bodyPr wrap="square"/>
                    <a:lstStyle/>
                    <a:p>
                      <a:r>
                        <a:rPr sz="1100" b="1">
                          <a:solidFill>
                            <a:srgbClr val="0C2B4A"/>
                          </a:solidFill>
                        </a:rPr>
                        <a:t>two ops of the SAME txn</a:t>
                      </a:r>
                    </a:p>
                  </a:txBody>
                  <a:tcPr anchor="ctr" marL="73152" marR="54864" marT="27432" marB="27432">
                    <a:solidFill>
                      <a:srgbClr val="EEF3F8"/>
                    </a:solidFill>
                  </a:tcPr>
                </a:tc>
                <a:tc>
                  <a:txBody>
                    <a:bodyPr wrap="square"/>
                    <a:lstStyle/>
                    <a:p>
                      <a:r>
                        <a:rPr sz="1100">
                          <a:solidFill>
                            <a:srgbClr val="1A1A1A"/>
                          </a:solidFill>
                        </a:rPr>
                        <a:t>—</a:t>
                      </a:r>
                    </a:p>
                  </a:txBody>
                  <a:tcPr anchor="ctr" marL="73152" marR="54864" marT="27432" marB="27432">
                    <a:solidFill>
                      <a:srgbClr val="EEF3F8"/>
                    </a:solidFill>
                  </a:tcPr>
                </a:tc>
                <a:tc>
                  <a:txBody>
                    <a:bodyPr wrap="square"/>
                    <a:lstStyle/>
                    <a:p>
                      <a:r>
                        <a:rPr sz="1100">
                          <a:solidFill>
                            <a:srgbClr val="1A1A1A"/>
                          </a:solidFill>
                        </a:rPr>
                        <a:t>N/A</a:t>
                      </a:r>
                    </a:p>
                  </a:txBody>
                  <a:tcPr anchor="ctr" marL="73152" marR="54864" marT="27432" marB="27432">
                    <a:solidFill>
                      <a:srgbClr val="EEF3F8"/>
                    </a:solidFill>
                  </a:tcPr>
                </a:tc>
                <a:tc>
                  <a:txBody>
                    <a:bodyPr wrap="square"/>
                    <a:lstStyle/>
                    <a:p>
                      <a:r>
                        <a:rPr sz="1100">
                          <a:solidFill>
                            <a:srgbClr val="1A1A1A"/>
                          </a:solidFill>
                        </a:rPr>
                        <a:t>conflicts are only ACROSS transactions</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Rule of thumb: a conflict needs different transactions + the same item + at least one write. Read-read and different-item pairs are always safe to reorder.</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46 / 136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S39 · CONCEPT 5 · [THEORY] [EXAMPLE]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Precedence (Serialization) Graph</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A precedence graph has one node per transaction and a directed edge Ti → Tj whenever an operation of Ti precedes and conflicts with an operation of Tj on the same item. The rule: a schedule is conflict-serializable if and only if its precedence graph has NO cycle.</a:t>
            </a:r>
          </a:p>
          <a:p>
            <a:pPr>
              <a:spcAft>
                <a:spcPts val="500"/>
              </a:spcAft>
            </a:pPr>
            <a:r>
              <a:rPr sz="1200" b="1">
                <a:solidFill>
                  <a:srgbClr val="185FA5"/>
                </a:solidFill>
              </a:rPr>
              <a:t>HOW IT WORKS</a:t>
            </a:r>
          </a:p>
          <a:p>
            <a:pPr>
              <a:spcAft>
                <a:spcPts val="600"/>
              </a:spcAft>
            </a:pPr>
            <a:r>
              <a:rPr sz="1400">
                <a:solidFill>
                  <a:srgbClr val="1A1A1A"/>
                </a:solidFill>
              </a:rPr>
              <a:t>•  Draw a node for each transaction, then add an edge for every conflicting pair in schedule order.</a:t>
            </a:r>
          </a:p>
          <a:p>
            <a:pPr>
              <a:spcAft>
                <a:spcPts val="600"/>
              </a:spcAft>
            </a:pPr>
            <a:r>
              <a:rPr sz="1400">
                <a:solidFill>
                  <a:srgbClr val="1A1A1A"/>
                </a:solidFill>
              </a:rPr>
              <a:t>•  No cycle → the graph gives a valid serial order (topological sort) → serializable.</a:t>
            </a:r>
          </a:p>
          <a:p>
            <a:pPr>
              <a:spcAft>
                <a:spcPts val="600"/>
              </a:spcAft>
            </a:pPr>
            <a:r>
              <a:rPr sz="1400">
                <a:solidFill>
                  <a:srgbClr val="1A1A1A"/>
                </a:solidFill>
              </a:rPr>
              <a:t>•  A cycle → there is no consistent serial order → NOT conflict-serializable.</a:t>
            </a:r>
          </a:p>
          <a:p>
            <a:pPr>
              <a:spcAft>
                <a:spcPts val="600"/>
              </a:spcAft>
            </a:pPr>
            <a:r>
              <a:rPr sz="1400">
                <a:solidFill>
                  <a:srgbClr val="1A1A1A"/>
                </a:solidFill>
              </a:rPr>
              <a:t>•  A cycle here means 'not serializable' — it is NOT the same as a deadlock (that is S40).</a:t>
            </a:r>
          </a:p>
        </p:txBody>
      </p:sp>
      <p:pic>
        <p:nvPicPr>
          <p:cNvPr id="6" name="Picture 5" descr="s39_precedence.png"/>
          <p:cNvPicPr>
            <a:picLocks noChangeAspect="1"/>
          </p:cNvPicPr>
          <p:nvPr/>
        </p:nvPicPr>
        <p:blipFill>
          <a:blip r:embed="rId2"/>
          <a:stretch>
            <a:fillRect/>
          </a:stretch>
        </p:blipFill>
        <p:spPr>
          <a:xfrm>
            <a:off x="6355080" y="2444902"/>
            <a:ext cx="5532120" cy="2745435"/>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Conflict-serializable ⟺ the precedence graph has NO cycle.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47 / 136</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S39 · CONCEPT 5 · [THEORY] [EXAMPLE]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Precedence (Serialization) Graph</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Build a precedence graph for the day's wallet transactions: if T1 writes the wallet before T2 reads it, draw T1 → T2. If the edges form a straight chain (T1→T2→T3), there's no cycle → the schedule is serializable and safe. If you also find T2 → T1, that cycle means no serial order exists → the schedule must be rejected or reordered.</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 cycle in the precedence graph means deadlock." No — here a cycle means the schedule is NOT conflict-serializable. Deadlock (a cycle in the WAIT-FOR graph, S40) is a different idea about transactions waiting on each other's locks.</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 precedence (serialization) graph has a node per transaction and a directed edge Ti → Tj whenever a conflicting operation of Ti precedes one of Tj on the same item. A schedule is conflict-serializable if and only if this graph is acyclic; the topological order of an acyclic graph gives an equivalent serial schedule. A cycle means the schedule is not serializable (distinct from deadlock, which is a cycle in the wait-for graph).</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precedence/serialization graph · node per txn · edge Ti→Tj on conflict · acyclic ⟺ serializable · cycle ≠ deadlock</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48 / 136</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S39 · SOLVED PROBLEM · [EXAMPLE]</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Test a schedule for conflict serializability</a:t>
            </a:r>
          </a:p>
        </p:txBody>
      </p:sp>
      <p:sp>
        <p:nvSpPr>
          <p:cNvPr id="5" name="Rounded Rectangle 4"/>
          <p:cNvSpPr/>
          <p:nvPr/>
        </p:nvSpPr>
        <p:spPr>
          <a:xfrm>
            <a:off x="640080" y="1444752"/>
            <a:ext cx="10972800" cy="91440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Problem</a:t>
            </a:r>
          </a:p>
          <a:p>
            <a:pPr>
              <a:spcBef>
                <a:spcPts val="300"/>
              </a:spcBef>
            </a:pPr>
            <a:r>
              <a:rPr sz="1300">
                <a:solidFill>
                  <a:srgbClr val="1A1A1A"/>
                </a:solidFill>
              </a:rPr>
              <a:t>Schedule S on item X (family wallet): T1:read(X); T2:read(X); T1:write(X); T2:write(X). Is S conflict-serializable? Build the precedence graph and decide.</a:t>
            </a:r>
          </a:p>
        </p:txBody>
      </p:sp>
      <p:sp>
        <p:nvSpPr>
          <p:cNvPr id="6" name="TextBox 5"/>
          <p:cNvSpPr txBox="1"/>
          <p:nvPr/>
        </p:nvSpPr>
        <p:spPr>
          <a:xfrm>
            <a:off x="777240" y="2487168"/>
            <a:ext cx="10698480" cy="2697480"/>
          </a:xfrm>
          <a:prstGeom prst="rect">
            <a:avLst/>
          </a:prstGeom>
          <a:noFill/>
        </p:spPr>
        <p:txBody>
          <a:bodyPr wrap="square">
            <a:spAutoFit/>
          </a:bodyPr>
          <a:lstStyle/>
          <a:p>
            <a:pPr>
              <a:spcAft>
                <a:spcPts val="400"/>
              </a:spcAft>
            </a:pPr>
            <a:r>
              <a:rPr sz="1250" b="1">
                <a:solidFill>
                  <a:srgbClr val="854F0B"/>
                </a:solidFill>
              </a:rPr>
              <a:t>Step 1.  </a:t>
            </a:r>
            <a:r>
              <a:rPr sz="1250">
                <a:solidFill>
                  <a:srgbClr val="1A1A1A"/>
                </a:solidFill>
              </a:rPr>
              <a:t>List the conflicting pairs (same item X, different txns, ≥1 write). Reads-only pairs (both read X) do NOT conflict.</a:t>
            </a:r>
          </a:p>
          <a:p>
            <a:pPr>
              <a:spcAft>
                <a:spcPts val="400"/>
              </a:spcAft>
            </a:pPr>
            <a:r>
              <a:rPr sz="1250" b="1">
                <a:solidFill>
                  <a:srgbClr val="854F0B"/>
                </a:solidFill>
              </a:rPr>
              <a:t>Step 2.  </a:t>
            </a:r>
            <a:r>
              <a:rPr sz="1250">
                <a:solidFill>
                  <a:srgbClr val="1A1A1A"/>
                </a:solidFill>
              </a:rPr>
              <a:t>T1:write(X) after T2:read(X) → T2 read X before T1 wrote it → edge T2 → T1.</a:t>
            </a:r>
          </a:p>
          <a:p>
            <a:pPr>
              <a:spcAft>
                <a:spcPts val="400"/>
              </a:spcAft>
            </a:pPr>
            <a:r>
              <a:rPr sz="1250" b="1">
                <a:solidFill>
                  <a:srgbClr val="854F0B"/>
                </a:solidFill>
              </a:rPr>
              <a:t>Step 3.  </a:t>
            </a:r>
            <a:r>
              <a:rPr sz="1250">
                <a:solidFill>
                  <a:srgbClr val="1A1A1A"/>
                </a:solidFill>
              </a:rPr>
              <a:t>T2:write(X) after T1:write(X) → T1 wrote X before T2 → edge T1 → T2.</a:t>
            </a:r>
          </a:p>
          <a:p>
            <a:pPr>
              <a:spcAft>
                <a:spcPts val="400"/>
              </a:spcAft>
            </a:pPr>
            <a:r>
              <a:rPr sz="1250" b="1">
                <a:solidFill>
                  <a:srgbClr val="854F0B"/>
                </a:solidFill>
              </a:rPr>
              <a:t>Step 4.  </a:t>
            </a:r>
            <a:r>
              <a:rPr sz="1250">
                <a:solidFill>
                  <a:srgbClr val="1A1A1A"/>
                </a:solidFill>
              </a:rPr>
              <a:t>The graph now has T1 → T2 AND T2 → T1 → a CYCLE.</a:t>
            </a:r>
          </a:p>
          <a:p>
            <a:pPr>
              <a:spcAft>
                <a:spcPts val="400"/>
              </a:spcAft>
            </a:pPr>
            <a:r>
              <a:rPr sz="1250" b="1">
                <a:solidFill>
                  <a:srgbClr val="854F0B"/>
                </a:solidFill>
              </a:rPr>
              <a:t>Step 5.  </a:t>
            </a:r>
            <a:r>
              <a:rPr sz="1250">
                <a:solidFill>
                  <a:srgbClr val="1A1A1A"/>
                </a:solidFill>
              </a:rPr>
              <a:t>By the rule 'serializable ⟺ acyclic', a cycle means S is NOT conflict-serializable.</a:t>
            </a:r>
          </a:p>
        </p:txBody>
      </p:sp>
      <p:sp>
        <p:nvSpPr>
          <p:cNvPr id="7" name="Rounded Rectangle 6"/>
          <p:cNvSpPr/>
          <p:nvPr/>
        </p:nvSpPr>
        <p:spPr>
          <a:xfrm>
            <a:off x="640080" y="5230368"/>
            <a:ext cx="10972800" cy="137160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Worked answer</a:t>
            </a:r>
          </a:p>
          <a:p>
            <a:pPr>
              <a:spcBef>
                <a:spcPts val="300"/>
              </a:spcBef>
            </a:pPr>
            <a:r>
              <a:rPr sz="1300">
                <a:solidFill>
                  <a:srgbClr val="1A1A1A"/>
                </a:solidFill>
              </a:rPr>
              <a:t>S is NOT conflict-serializable — the precedence graph has a cycle (T1⇄T2). This is exactly the lost-update pattern: both read the old X, then overwrite each other. A DBMS would prevent it via locking (S40) or timestamps (S41).</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49 / 136</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S39 — 'Cause a lost update, then fix it'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(3 min): on a shared wallet at Rs. 1000, write two top-ups (T1 +500, T2 +300) as an interleaving that causes a LOST UPDATE.</a:t>
            </a:r>
          </a:p>
          <a:p>
            <a:pPr>
              <a:spcAft>
                <a:spcPts val="700"/>
              </a:spcAft>
            </a:pPr>
            <a:r>
              <a:rPr sz="1550">
                <a:solidFill>
                  <a:srgbClr val="1A1A1A"/>
                </a:solidFill>
              </a:rPr>
              <a:t>•  Show the wrong final balance, then REORDER the operations so the final balance is correct (Rs. 1800).</a:t>
            </a:r>
          </a:p>
          <a:p>
            <a:pPr>
              <a:spcAft>
                <a:spcPts val="700"/>
              </a:spcAft>
            </a:pPr>
            <a:r>
              <a:rPr sz="1550">
                <a:solidFill>
                  <a:srgbClr val="1A1A1A"/>
                </a:solidFill>
              </a:rPr>
              <a:t>•  Draw the precedence graph for each version; note which has a cycle.</a:t>
            </a:r>
          </a:p>
          <a:p>
            <a:pPr>
              <a:spcAft>
                <a:spcPts val="700"/>
              </a:spcAft>
            </a:pPr>
            <a:r>
              <a:rPr sz="1550">
                <a:solidFill>
                  <a:srgbClr val="1A1A1A"/>
                </a:solidFill>
              </a:rPr>
              <a:t>•  Share (2 min): the bad version has a cycle / lost update; the good version is serial-equivalent.</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Bad interleaving: both read 1000, then both write → 1300 or 1500 (one lost). Fixed: T1 reads-writes fully, then T2 reads the new value → 1800. Reward students who connect the cycle in the graph to the lost update.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50 / 136</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S39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A schedule is conflict-serializable if its precedence graph:</a:t>
            </a:r>
          </a:p>
          <a:p>
            <a:pPr lvl="1"/>
            <a:r>
              <a:rPr sz="1500" b="1">
                <a:solidFill>
                  <a:srgbClr val="0F6E56"/>
                </a:solidFill>
              </a:rPr>
              <a:t>a) has a cycle   b) ✅ has no cycle   c) is empty   d) has one node</a:t>
            </a:r>
          </a:p>
          <a:p>
            <a:pPr lvl="1">
              <a:spcBef>
                <a:spcPts val="600"/>
              </a:spcBef>
            </a:pPr>
            <a:r>
              <a:rPr sz="1500" i="1">
                <a:solidFill>
                  <a:srgbClr val="1A1A1A"/>
                </a:solidFill>
              </a:rPr>
              <a:t>     Why: an acyclic graph can be topologically ordered into an equivalent serial schedule.</a:t>
            </a:r>
          </a:p>
          <a:p>
            <a:pPr>
              <a:spcBef>
                <a:spcPts val="900"/>
              </a:spcBef>
            </a:pPr>
            <a:r>
              <a:rPr sz="1700" b="1">
                <a:solidFill>
                  <a:srgbClr val="0C2B4A"/>
                </a:solidFill>
              </a:rPr>
              <a:t>Q2.  Which pair of operations CONFLICTS?</a:t>
            </a:r>
          </a:p>
          <a:p>
            <a:pPr lvl="1"/>
            <a:r>
              <a:rPr sz="1500" b="1">
                <a:solidFill>
                  <a:srgbClr val="0F6E56"/>
                </a:solidFill>
              </a:rPr>
              <a:t>a) read–read on X   b) ✅ write–write on the same item X   c) ops on different items   d) two ops of one txn</a:t>
            </a:r>
          </a:p>
          <a:p>
            <a:pPr lvl="1">
              <a:spcBef>
                <a:spcPts val="600"/>
              </a:spcBef>
            </a:pPr>
            <a:r>
              <a:rPr sz="1500" i="1">
                <a:solidFill>
                  <a:srgbClr val="1A1A1A"/>
                </a:solidFill>
              </a:rPr>
              <a:t>     Why: a conflict needs the same item, different txns, and at least one write.</a:t>
            </a:r>
          </a:p>
          <a:p>
            <a:pPr lvl="1">
              <a:spcBef>
                <a:spcPts val="600"/>
              </a:spcBef>
            </a:pPr>
            <a:r>
              <a:rPr sz="1500" i="1">
                <a:solidFill>
                  <a:srgbClr val="1A1A1A"/>
                </a:solidFill>
              </a:rPr>
              <a:t>Discussion: sketch two top-ups on one shared wallet that cause a lost update, then reorder them to fix it.</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51 / 136</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S39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A schedule orders interleaved operations; serial is always correct, non-serial is fast but must be checked.</a:t>
            </a:r>
          </a:p>
          <a:p>
            <a:pPr>
              <a:spcAft>
                <a:spcPts val="800"/>
              </a:spcAft>
            </a:pPr>
            <a:r>
              <a:rPr sz="1500">
                <a:solidFill>
                  <a:srgbClr val="1A1A1A"/>
                </a:solidFill>
              </a:rPr>
              <a:t>2.  Bad interleavings cause anomalies (lost update, dirty read); the safe ones are serializable (equal to some serial order).</a:t>
            </a:r>
          </a:p>
          <a:p>
            <a:pPr>
              <a:spcAft>
                <a:spcPts val="800"/>
              </a:spcAft>
            </a:pPr>
            <a:r>
              <a:rPr sz="1500">
                <a:solidFill>
                  <a:srgbClr val="1A1A1A"/>
                </a:solidFill>
              </a:rPr>
              <a:t>3.  Test conflict serializability with a precedence graph: serializable ⟺ the graph is acyclic (a cycle ≠ deadlock).</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The database engine behind Daraz checkout and eSewa silently rejects or reorders unsafe interleavings so your balance is never lost during peak Dashain traffic — serializability is the theory that makes that guarantee possible.</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S40 — HOW the DBMS actually enforces a serializable order: locking and Two-Phase Locking.</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52 / 136</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40 · LECTURE HOUR 4 (OF 8)</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Two-Phase Locking (2PL) Concurrency Control</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To stop two people grabbing the same wallet balance, the DBMS hands out 'keys' (locks) so only one transaction holds an item at a time. But what if Rita holds Hari's key and Hari holds Rita's — and neither will let go?</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53 / 136</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S40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Locks — Shared and Exclusive</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A lock reserves a data item for a transaction so others can't interfere. A shared (S) lock is for reading — many transactions can hold it at once; an exclusive (X) lock is for writing — only one transaction can hold it, and no S-locks may coexist.</a:t>
            </a:r>
          </a:p>
          <a:p>
            <a:pPr>
              <a:spcAft>
                <a:spcPts val="500"/>
              </a:spcAft>
            </a:pPr>
            <a:r>
              <a:rPr sz="1200" b="1">
                <a:solidFill>
                  <a:srgbClr val="185FA5"/>
                </a:solidFill>
              </a:rPr>
              <a:t>HOW IT WORKS</a:t>
            </a:r>
          </a:p>
          <a:p>
            <a:pPr>
              <a:spcAft>
                <a:spcPts val="600"/>
              </a:spcAft>
            </a:pPr>
            <a:r>
              <a:rPr sz="1400">
                <a:solidFill>
                  <a:srgbClr val="1A1A1A"/>
                </a:solidFill>
              </a:rPr>
              <a:t>•  Shared (S) = read lock: multiple readers can share it simultaneously.</a:t>
            </a:r>
          </a:p>
          <a:p>
            <a:pPr>
              <a:spcAft>
                <a:spcPts val="600"/>
              </a:spcAft>
            </a:pPr>
            <a:r>
              <a:rPr sz="1400">
                <a:solidFill>
                  <a:srgbClr val="1A1A1A"/>
                </a:solidFill>
              </a:rPr>
              <a:t>•  Exclusive (X) = write lock: held by exactly one transaction, blocks all others.</a:t>
            </a:r>
          </a:p>
          <a:p>
            <a:pPr>
              <a:spcAft>
                <a:spcPts val="600"/>
              </a:spcAft>
            </a:pPr>
            <a:r>
              <a:rPr sz="1400">
                <a:solidFill>
                  <a:srgbClr val="1A1A1A"/>
                </a:solidFill>
              </a:rPr>
              <a:t>•  The lock compatibility matrix: S–S compatible; S–X, X–S, X–X all incompatible.</a:t>
            </a:r>
          </a:p>
          <a:p>
            <a:pPr>
              <a:spcAft>
                <a:spcPts val="600"/>
              </a:spcAft>
            </a:pPr>
            <a:r>
              <a:rPr sz="1400">
                <a:solidFill>
                  <a:srgbClr val="1A1A1A"/>
                </a:solidFill>
              </a:rPr>
              <a:t>•  A transaction must acquire the right lock before reading (S) or writing (X) an item.</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S-locks share among readers; an X-lock is exclusive to one writer.</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54 / 136</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S40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Locks — Shared and Exclusive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To debit the family wallet, T1 takes an EXCLUSIVE (X) lock on that row; any other transaction wanting to read or write the same row must wait until T1 releases it. But if two transactions only want to READ the balance (e.g. two balance-checks), both can hold a SHARED (S) lock at the same time — reads don't interfere.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 shared lock blocks other readers." No — MULTIPLE shared locks can coexist; that's the point of 'shared'. Only an EXCLUSIVE (write) lock conflicts with others, because a write must not overlap any other access.</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 lock reserves a data item for a transaction. A shared (S) lock permits reading and can be held by several transactions simultaneously; an exclusive (X) lock permits writing and can be held by only one transaction, with no other S or X lock allowed on the item. Compatibility: S–S is allowed; any pairing involving X is not. A transaction acquires the appropriate lock before accessing an item.</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lock · shared (S, read) · exclusive (X, write) · compatibility matrix · S–S compatible, X conflicts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55 / 136</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S40 · CONCEPT 1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Lock compatibility matrix — can the requested lock be granted?</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4034117"/>
                <a:gridCol w="3361764"/>
                <a:gridCol w="4034117"/>
              </a:tblGrid>
              <a:tr h="630936">
                <a:tc>
                  <a:txBody>
                    <a:bodyPr wrap="square"/>
                    <a:lstStyle/>
                    <a:p>
                      <a:r>
                        <a:rPr sz="1150" b="1">
                          <a:solidFill>
                            <a:srgbClr val="FFFFFF"/>
                          </a:solidFill>
                        </a:rPr>
                        <a:t>Item currently held as…</a:t>
                      </a:r>
                    </a:p>
                  </a:txBody>
                  <a:tcPr anchor="ctr" marL="73152" marR="54864" marT="27432" marB="27432">
                    <a:solidFill>
                      <a:srgbClr val="0C2B4A"/>
                    </a:solidFill>
                  </a:tcPr>
                </a:tc>
                <a:tc>
                  <a:txBody>
                    <a:bodyPr wrap="square"/>
                    <a:lstStyle/>
                    <a:p>
                      <a:r>
                        <a:rPr sz="1150" b="1">
                          <a:solidFill>
                            <a:srgbClr val="FFFFFF"/>
                          </a:solidFill>
                        </a:rPr>
                        <a:t>Request: Shared (S)</a:t>
                      </a:r>
                    </a:p>
                  </a:txBody>
                  <a:tcPr anchor="ctr" marL="73152" marR="54864" marT="27432" marB="27432">
                    <a:solidFill>
                      <a:srgbClr val="0C2B4A"/>
                    </a:solidFill>
                  </a:tcPr>
                </a:tc>
                <a:tc>
                  <a:txBody>
                    <a:bodyPr wrap="square"/>
                    <a:lstStyle/>
                    <a:p>
                      <a:r>
                        <a:rPr sz="1150" b="1">
                          <a:solidFill>
                            <a:srgbClr val="FFFFFF"/>
                          </a:solidFill>
                        </a:rPr>
                        <a:t>Request: Exclusive (X)</a:t>
                      </a:r>
                    </a:p>
                  </a:txBody>
                  <a:tcPr anchor="ctr" marL="73152" marR="54864" marT="27432" marB="27432">
                    <a:solidFill>
                      <a:srgbClr val="0C2B4A"/>
                    </a:solidFill>
                  </a:tcPr>
                </a:tc>
              </a:tr>
              <a:tr h="630936">
                <a:tc>
                  <a:txBody>
                    <a:bodyPr wrap="square"/>
                    <a:lstStyle/>
                    <a:p>
                      <a:r>
                        <a:rPr sz="1100" b="1">
                          <a:solidFill>
                            <a:srgbClr val="0C2B4A"/>
                          </a:solidFill>
                        </a:rPr>
                        <a:t>(no lock held)</a:t>
                      </a:r>
                    </a:p>
                  </a:txBody>
                  <a:tcPr anchor="ctr" marL="73152" marR="54864" marT="27432" marB="27432">
                    <a:solidFill>
                      <a:srgbClr val="FFFFFF"/>
                    </a:solidFill>
                  </a:tcPr>
                </a:tc>
                <a:tc>
                  <a:txBody>
                    <a:bodyPr wrap="square"/>
                    <a:lstStyle/>
                    <a:p>
                      <a:r>
                        <a:rPr sz="1100">
                          <a:solidFill>
                            <a:srgbClr val="1A1A1A"/>
                          </a:solidFill>
                        </a:rPr>
                        <a:t>✅ granted</a:t>
                      </a:r>
                    </a:p>
                  </a:txBody>
                  <a:tcPr anchor="ctr" marL="73152" marR="54864" marT="27432" marB="27432">
                    <a:solidFill>
                      <a:srgbClr val="FFFFFF"/>
                    </a:solidFill>
                  </a:tcPr>
                </a:tc>
                <a:tc>
                  <a:txBody>
                    <a:bodyPr wrap="square"/>
                    <a:lstStyle/>
                    <a:p>
                      <a:r>
                        <a:rPr sz="1100">
                          <a:solidFill>
                            <a:srgbClr val="1A1A1A"/>
                          </a:solidFill>
                        </a:rPr>
                        <a:t>✅ granted</a:t>
                      </a:r>
                    </a:p>
                  </a:txBody>
                  <a:tcPr anchor="ctr" marL="73152" marR="54864" marT="27432" marB="27432">
                    <a:solidFill>
                      <a:srgbClr val="FFFFFF"/>
                    </a:solidFill>
                  </a:tcPr>
                </a:tc>
              </a:tr>
              <a:tr h="630936">
                <a:tc>
                  <a:txBody>
                    <a:bodyPr wrap="square"/>
                    <a:lstStyle/>
                    <a:p>
                      <a:r>
                        <a:rPr sz="1100" b="1">
                          <a:solidFill>
                            <a:srgbClr val="0C2B4A"/>
                          </a:solidFill>
                        </a:rPr>
                        <a:t>Shared (S) by others</a:t>
                      </a:r>
                    </a:p>
                  </a:txBody>
                  <a:tcPr anchor="ctr" marL="73152" marR="54864" marT="27432" marB="27432">
                    <a:solidFill>
                      <a:srgbClr val="EEF3F8"/>
                    </a:solidFill>
                  </a:tcPr>
                </a:tc>
                <a:tc>
                  <a:txBody>
                    <a:bodyPr wrap="square"/>
                    <a:lstStyle/>
                    <a:p>
                      <a:r>
                        <a:rPr sz="1100">
                          <a:solidFill>
                            <a:srgbClr val="1A1A1A"/>
                          </a:solidFill>
                        </a:rPr>
                        <a:t>✅ granted (readers share)</a:t>
                      </a:r>
                    </a:p>
                  </a:txBody>
                  <a:tcPr anchor="ctr" marL="73152" marR="54864" marT="27432" marB="27432">
                    <a:solidFill>
                      <a:srgbClr val="EEF3F8"/>
                    </a:solidFill>
                  </a:tcPr>
                </a:tc>
                <a:tc>
                  <a:txBody>
                    <a:bodyPr wrap="square"/>
                    <a:lstStyle/>
                    <a:p>
                      <a:r>
                        <a:rPr sz="1100">
                          <a:solidFill>
                            <a:srgbClr val="1A1A1A"/>
                          </a:solidFill>
                        </a:rPr>
                        <a:t>✗ must wait (write needs exclusivity)</a:t>
                      </a:r>
                    </a:p>
                  </a:txBody>
                  <a:tcPr anchor="ctr" marL="73152" marR="54864" marT="27432" marB="27432">
                    <a:solidFill>
                      <a:srgbClr val="EEF3F8"/>
                    </a:solidFill>
                  </a:tcPr>
                </a:tc>
              </a:tr>
              <a:tr h="630936">
                <a:tc>
                  <a:txBody>
                    <a:bodyPr wrap="square"/>
                    <a:lstStyle/>
                    <a:p>
                      <a:r>
                        <a:rPr sz="1100" b="1">
                          <a:solidFill>
                            <a:srgbClr val="0C2B4A"/>
                          </a:solidFill>
                        </a:rPr>
                        <a:t>Exclusive (X) by another</a:t>
                      </a:r>
                    </a:p>
                  </a:txBody>
                  <a:tcPr anchor="ctr" marL="73152" marR="54864" marT="27432" marB="27432">
                    <a:solidFill>
                      <a:srgbClr val="FFFFFF"/>
                    </a:solidFill>
                  </a:tcPr>
                </a:tc>
                <a:tc>
                  <a:txBody>
                    <a:bodyPr wrap="square"/>
                    <a:lstStyle/>
                    <a:p>
                      <a:r>
                        <a:rPr sz="1100">
                          <a:solidFill>
                            <a:srgbClr val="1A1A1A"/>
                          </a:solidFill>
                        </a:rPr>
                        <a:t>✗ must wait</a:t>
                      </a:r>
                    </a:p>
                  </a:txBody>
                  <a:tcPr anchor="ctr" marL="73152" marR="54864" marT="27432" marB="27432">
                    <a:solidFill>
                      <a:srgbClr val="FFFFFF"/>
                    </a:solidFill>
                  </a:tcPr>
                </a:tc>
                <a:tc>
                  <a:txBody>
                    <a:bodyPr wrap="square"/>
                    <a:lstStyle/>
                    <a:p>
                      <a:r>
                        <a:rPr sz="1100">
                          <a:solidFill>
                            <a:srgbClr val="1A1A1A"/>
                          </a:solidFill>
                        </a:rPr>
                        <a:t>✗ must wait</a:t>
                      </a:r>
                    </a:p>
                  </a:txBody>
                  <a:tcPr anchor="ctr" marL="73152" marR="54864" marT="27432" marB="27432">
                    <a:solidFill>
                      <a:srgbClr val="FFFFFF"/>
                    </a:solidFill>
                  </a:tcPr>
                </a:tc>
              </a:tr>
              <a:tr h="630936">
                <a:tc>
                  <a:txBody>
                    <a:bodyPr wrap="square"/>
                    <a:lstStyle/>
                    <a:p>
                      <a:r>
                        <a:rPr sz="1100" b="1">
                          <a:solidFill>
                            <a:srgbClr val="0C2B4A"/>
                          </a:solidFill>
                        </a:rPr>
                        <a:t>Example: two balance checks</a:t>
                      </a:r>
                    </a:p>
                  </a:txBody>
                  <a:tcPr anchor="ctr" marL="73152" marR="54864" marT="27432" marB="27432">
                    <a:solidFill>
                      <a:srgbClr val="EEF3F8"/>
                    </a:solidFill>
                  </a:tcPr>
                </a:tc>
                <a:tc>
                  <a:txBody>
                    <a:bodyPr wrap="square"/>
                    <a:lstStyle/>
                    <a:p>
                      <a:r>
                        <a:rPr sz="1100">
                          <a:solidFill>
                            <a:srgbClr val="1A1A1A"/>
                          </a:solidFill>
                        </a:rPr>
                        <a:t>both get S → run together</a:t>
                      </a:r>
                    </a:p>
                  </a:txBody>
                  <a:tcPr anchor="ctr" marL="73152" marR="54864" marT="27432" marB="27432">
                    <a:solidFill>
                      <a:srgbClr val="EEF3F8"/>
                    </a:solidFill>
                  </a:tcPr>
                </a:tc>
                <a:tc>
                  <a:txBody>
                    <a:bodyPr wrap="square"/>
                    <a:lstStyle/>
                    <a:p>
                      <a:r>
                        <a:rPr sz="1100">
                          <a:solidFill>
                            <a:srgbClr val="1A1A1A"/>
                          </a:solidFill>
                        </a:rPr>
                        <a:t>—</a:t>
                      </a:r>
                    </a:p>
                  </a:txBody>
                  <a:tcPr anchor="ctr" marL="73152" marR="54864" marT="27432" marB="27432">
                    <a:solidFill>
                      <a:srgbClr val="EEF3F8"/>
                    </a:solidFill>
                  </a:tcPr>
                </a:tc>
              </a:tr>
              <a:tr h="630936">
                <a:tc>
                  <a:txBody>
                    <a:bodyPr wrap="square"/>
                    <a:lstStyle/>
                    <a:p>
                      <a:r>
                        <a:rPr sz="1100" b="1">
                          <a:solidFill>
                            <a:srgbClr val="0C2B4A"/>
                          </a:solidFill>
                        </a:rPr>
                        <a:t>Example: a debit (write)</a:t>
                      </a:r>
                    </a:p>
                  </a:txBody>
                  <a:tcPr anchor="ctr" marL="73152" marR="54864" marT="27432" marB="27432">
                    <a:solidFill>
                      <a:srgbClr val="FFFFFF"/>
                    </a:solidFill>
                  </a:tcPr>
                </a:tc>
                <a:tc>
                  <a:txBody>
                    <a:bodyPr wrap="square"/>
                    <a:lstStyle/>
                    <a:p>
                      <a:r>
                        <a:rPr sz="1100">
                          <a:solidFill>
                            <a:srgbClr val="1A1A1A"/>
                          </a:solidFill>
                        </a:rPr>
                        <a:t>—</a:t>
                      </a:r>
                    </a:p>
                  </a:txBody>
                  <a:tcPr anchor="ctr" marL="73152" marR="54864" marT="27432" marB="27432">
                    <a:solidFill>
                      <a:srgbClr val="FFFFFF"/>
                    </a:solidFill>
                  </a:tcPr>
                </a:tc>
                <a:tc>
                  <a:txBody>
                    <a:bodyPr wrap="square"/>
                    <a:lstStyle/>
                    <a:p>
                      <a:r>
                        <a:rPr sz="1100">
                          <a:solidFill>
                            <a:srgbClr val="1A1A1A"/>
                          </a:solidFill>
                        </a:rPr>
                        <a:t>one X only → others wait</a:t>
                      </a:r>
                    </a:p>
                  </a:txBody>
                  <a:tcPr anchor="ctr" marL="73152" marR="54864" marT="27432" marB="27432">
                    <a:solidFill>
                      <a:srgbClr val="FFFFFF"/>
                    </a:solidFill>
                  </a:tcPr>
                </a:tc>
              </a:tr>
              <a:tr h="630936">
                <a:tc>
                  <a:txBody>
                    <a:bodyPr wrap="square"/>
                    <a:lstStyle/>
                    <a:p>
                      <a:r>
                        <a:rPr sz="1100" b="1">
                          <a:solidFill>
                            <a:srgbClr val="0C2B4A"/>
                          </a:solidFill>
                        </a:rPr>
                        <a:t>Rule</a:t>
                      </a:r>
                    </a:p>
                  </a:txBody>
                  <a:tcPr anchor="ctr" marL="73152" marR="54864" marT="27432" marB="27432">
                    <a:solidFill>
                      <a:srgbClr val="EEF3F8"/>
                    </a:solidFill>
                  </a:tcPr>
                </a:tc>
                <a:tc>
                  <a:txBody>
                    <a:bodyPr wrap="square"/>
                    <a:lstStyle/>
                    <a:p>
                      <a:r>
                        <a:rPr sz="1100">
                          <a:solidFill>
                            <a:srgbClr val="1A1A1A"/>
                          </a:solidFill>
                        </a:rPr>
                        <a:t>only S–S is compatible</a:t>
                      </a:r>
                    </a:p>
                  </a:txBody>
                  <a:tcPr anchor="ctr" marL="73152" marR="54864" marT="27432" marB="27432">
                    <a:solidFill>
                      <a:srgbClr val="EEF3F8"/>
                    </a:solidFill>
                  </a:tcPr>
                </a:tc>
                <a:tc>
                  <a:txBody>
                    <a:bodyPr wrap="square"/>
                    <a:lstStyle/>
                    <a:p>
                      <a:r>
                        <a:rPr sz="1100">
                          <a:solidFill>
                            <a:srgbClr val="1A1A1A"/>
                          </a:solidFill>
                        </a:rPr>
                        <a:t>any X pairing conflicts</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Read-read shares (S–S compatible), so many balance-checks run together; any write needs an exclusive X-lock, so it blocks and is blocked by everything else on that item.</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56 / 136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S40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Two-Phase Locking Protocol</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Two-Phase Locking (2PL) requires that every transaction acquire ALL the locks it needs before releasing ANY lock. This splits its life into a growing phase (only acquire) and a shrinking phase (only release), with a single peak. 2PL guarantees conflict-serializability.</a:t>
            </a:r>
          </a:p>
          <a:p>
            <a:pPr>
              <a:spcAft>
                <a:spcPts val="500"/>
              </a:spcAft>
            </a:pPr>
            <a:r>
              <a:rPr sz="1200" b="1">
                <a:solidFill>
                  <a:srgbClr val="185FA5"/>
                </a:solidFill>
              </a:rPr>
              <a:t>HOW IT WORKS</a:t>
            </a:r>
          </a:p>
          <a:p>
            <a:pPr>
              <a:spcAft>
                <a:spcPts val="600"/>
              </a:spcAft>
            </a:pPr>
            <a:r>
              <a:rPr sz="1400">
                <a:solidFill>
                  <a:srgbClr val="1A1A1A"/>
                </a:solidFill>
              </a:rPr>
              <a:t>•  Growing phase: the transaction only ACQUIRES locks (lock count rises to a peak).</a:t>
            </a:r>
          </a:p>
          <a:p>
            <a:pPr>
              <a:spcAft>
                <a:spcPts val="600"/>
              </a:spcAft>
            </a:pPr>
            <a:r>
              <a:rPr sz="1400">
                <a:solidFill>
                  <a:srgbClr val="1A1A1A"/>
                </a:solidFill>
              </a:rPr>
              <a:t>•  Shrinking phase: after the first release, it may only RELEASE locks (never acquire again).</a:t>
            </a:r>
          </a:p>
          <a:p>
            <a:pPr>
              <a:spcAft>
                <a:spcPts val="600"/>
              </a:spcAft>
            </a:pPr>
            <a:r>
              <a:rPr sz="1400">
                <a:solidFill>
                  <a:srgbClr val="1A1A1A"/>
                </a:solidFill>
              </a:rPr>
              <a:t>•  The single 'lock point' (the peak) is what forces a serializable order.</a:t>
            </a:r>
          </a:p>
          <a:p>
            <a:pPr>
              <a:spcAft>
                <a:spcPts val="600"/>
              </a:spcAft>
            </a:pPr>
            <a:r>
              <a:rPr sz="1400">
                <a:solidFill>
                  <a:srgbClr val="1A1A1A"/>
                </a:solidFill>
              </a:rPr>
              <a:t>•  2PL is the most widely used concurrency-control method in real relational DBMSs.</a:t>
            </a:r>
          </a:p>
        </p:txBody>
      </p:sp>
      <p:pic>
        <p:nvPicPr>
          <p:cNvPr id="6" name="Picture 5" descr="s40_phases.png"/>
          <p:cNvPicPr>
            <a:picLocks noChangeAspect="1"/>
          </p:cNvPicPr>
          <p:nvPr/>
        </p:nvPicPr>
        <p:blipFill>
          <a:blip r:embed="rId2"/>
          <a:stretch>
            <a:fillRect/>
          </a:stretch>
        </p:blipFill>
        <p:spPr>
          <a:xfrm>
            <a:off x="6355080" y="2444902"/>
            <a:ext cx="5532120" cy="2745435"/>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Grow (acquire) then shrink (release); one peak, never re-acquire.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57 / 136</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S40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Two-Phase Locking Protocol</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transfer transaction under 2PL first ACQUIRES exclusive locks on both the sender's and receiver's wallet rows (growing phase), performs the debit and credit, and only THEN begins releasing locks (shrinking phase). Because it never grabs a new lock after releasing one, the DBMS can prove the overall schedule is serializable.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"2PL means locking in exactly two steps / two locks." No — 'two-phase' refers to the growing then shrinking PHASES of lock activity over the transaction's life, not the number of locks or steps. It can hold many locks.</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Two-Phase Locking (2PL) is a concurrency-control protocol in which every transaction acquires all its locks before releasing any, dividing its execution into a growing phase (locks only acquired) and a shrinking phase (locks only released), separated by a single lock point. This discipline guarantees conflict-serializability and is the most common locking scheme in real DBMSs.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two-phase locking · growing phase · shrinking phase · lock point · guarantees serializability</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58 / 136</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S40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Variants of 2PL</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Several 2PL variants trade concurrency for stronger guarantees: basic 2PL, conservative (static) 2PL, strict 2PL, and rigorous 2PL. They differ in WHEN locks are acquired and released.</a:t>
            </a:r>
          </a:p>
          <a:p>
            <a:pPr>
              <a:spcAft>
                <a:spcPts val="500"/>
              </a:spcAft>
            </a:pPr>
            <a:r>
              <a:rPr sz="1200" b="1">
                <a:solidFill>
                  <a:srgbClr val="185FA5"/>
                </a:solidFill>
              </a:rPr>
              <a:t>HOW IT WORKS</a:t>
            </a:r>
          </a:p>
          <a:p>
            <a:pPr>
              <a:spcAft>
                <a:spcPts val="600"/>
              </a:spcAft>
            </a:pPr>
            <a:r>
              <a:rPr sz="1400">
                <a:solidFill>
                  <a:srgbClr val="1A1A1A"/>
                </a:solidFill>
              </a:rPr>
              <a:t>•  Basic 2PL: the plain grow-then-shrink rule (serializable, but deadlock possible).</a:t>
            </a:r>
          </a:p>
          <a:p>
            <a:pPr>
              <a:spcAft>
                <a:spcPts val="600"/>
              </a:spcAft>
            </a:pPr>
            <a:r>
              <a:rPr sz="1400">
                <a:solidFill>
                  <a:srgbClr val="1A1A1A"/>
                </a:solidFill>
              </a:rPr>
              <a:t>•  Conservative (static) 2PL: acquire ALL locks up front → deadlock-free, but lower concurrency.</a:t>
            </a:r>
          </a:p>
          <a:p>
            <a:pPr>
              <a:spcAft>
                <a:spcPts val="600"/>
              </a:spcAft>
            </a:pPr>
            <a:r>
              <a:rPr sz="1400">
                <a:solidFill>
                  <a:srgbClr val="1A1A1A"/>
                </a:solidFill>
              </a:rPr>
              <a:t>•  Strict 2PL: hold all EXCLUSIVE locks until commit/abort → avoids cascading rollback (most common).</a:t>
            </a:r>
          </a:p>
          <a:p>
            <a:pPr>
              <a:spcAft>
                <a:spcPts val="600"/>
              </a:spcAft>
            </a:pPr>
            <a:r>
              <a:rPr sz="1400">
                <a:solidFill>
                  <a:srgbClr val="1A1A1A"/>
                </a:solidFill>
              </a:rPr>
              <a:t>•  Rigorous 2PL: hold ALL locks (S and X) until commit → simplest to reason about.</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Variants differ in when locks are taken (conservative) or released (strict/rigorous).</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59 / 136</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S40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Variants of 2PL</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eSewa would use STRICT 2PL on wallet rows: a transfer holds its exclusive locks until it commits, so no other transaction can read a half-committed debit (preventing dirty reads and cascading rollback). A batch job that knows all the rows it needs up front might use CONSERVATIVE 2PL to avoid deadlock entirely.</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"All 2PL variants behave the same." No — basic 2PL can deadlock and allow cascading rollback; conservative 2PL avoids deadlock; strict/rigorous 2PL prevent cascading rollback. The choice is a real trade-off between concurrency and safety.</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Variants of 2PL: basic 2PL (grow then shrink; serializable but deadlock-prone), conservative/static 2PL (all locks acquired up front → deadlock-free but low concurrency), strict 2PL (exclusive locks held until commit/abort → prevents cascading rollback; the most common in practice), and rigorous 2PL (all locks held until commit). They trade concurrency against stronger recovery/deadlock guarantees.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basic 2PL · conservative (static) 2PL · strict 2PL · rigorous 2PL · cascading rollback · deadlock-free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60 / 136</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S40 · CONCEPT 4 · [THEORY] [EXAMPLE]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Deadlock</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A deadlock occurs when two or more transactions are each waiting for a lock held by another, so none can ever proceed — a frozen stalemate. It is detected as a cycle in the wait-for graph, and resolved by aborting a 'victim'.</a:t>
            </a:r>
          </a:p>
          <a:p>
            <a:pPr>
              <a:spcAft>
                <a:spcPts val="500"/>
              </a:spcAft>
            </a:pPr>
            <a:r>
              <a:rPr sz="1200" b="1">
                <a:solidFill>
                  <a:srgbClr val="185FA5"/>
                </a:solidFill>
              </a:rPr>
              <a:t>HOW IT WORKS</a:t>
            </a:r>
          </a:p>
          <a:p>
            <a:pPr>
              <a:spcAft>
                <a:spcPts val="600"/>
              </a:spcAft>
            </a:pPr>
            <a:r>
              <a:rPr sz="1400">
                <a:solidFill>
                  <a:srgbClr val="1A1A1A"/>
                </a:solidFill>
              </a:rPr>
              <a:t>•  Cause: T1 holds A and wants B; T2 holds B and wants A → circular wait.</a:t>
            </a:r>
          </a:p>
          <a:p>
            <a:pPr>
              <a:spcAft>
                <a:spcPts val="600"/>
              </a:spcAft>
            </a:pPr>
            <a:r>
              <a:rPr sz="1400">
                <a:solidFill>
                  <a:srgbClr val="1A1A1A"/>
                </a:solidFill>
              </a:rPr>
              <a:t>•  Detection: build a wait-for graph (edge Ti→Tj if Ti waits for a lock Tj holds); a cycle = deadlock.</a:t>
            </a:r>
          </a:p>
          <a:p>
            <a:pPr>
              <a:spcAft>
                <a:spcPts val="600"/>
              </a:spcAft>
            </a:pPr>
            <a:r>
              <a:rPr sz="1400">
                <a:solidFill>
                  <a:srgbClr val="1A1A1A"/>
                </a:solidFill>
              </a:rPr>
              <a:t>•  Prevention schemes: wait-die and wound-wait use timestamps to decide who waits vs aborts.</a:t>
            </a:r>
          </a:p>
          <a:p>
            <a:pPr>
              <a:spcAft>
                <a:spcPts val="600"/>
              </a:spcAft>
            </a:pPr>
            <a:r>
              <a:rPr sz="1400">
                <a:solidFill>
                  <a:srgbClr val="1A1A1A"/>
                </a:solidFill>
              </a:rPr>
              <a:t>•  Resolution: abort one transaction (the victim), release its locks, and restart it later.</a:t>
            </a:r>
          </a:p>
        </p:txBody>
      </p:sp>
      <p:pic>
        <p:nvPicPr>
          <p:cNvPr id="6" name="Picture 5" descr="s40_deadlock.png"/>
          <p:cNvPicPr>
            <a:picLocks noChangeAspect="1"/>
          </p:cNvPicPr>
          <p:nvPr/>
        </p:nvPicPr>
        <p:blipFill>
          <a:blip r:embed="rId2"/>
          <a:stretch>
            <a:fillRect/>
          </a:stretch>
        </p:blipFill>
        <p:spPr>
          <a:xfrm>
            <a:off x="6355080" y="2497611"/>
            <a:ext cx="5532120" cy="2640017"/>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Deadlock = a cycle in the wait-for graph; abort a victim to break it.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61 / 136</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S40 · CONCEPT 4 · [THEORY] [EXAMPLE]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Deadlock</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Two eSewa transfers deadlock: T1 (Rita→Hari) locks Rita's row and waits for Hari's; T2 (Hari→Rita) locks Hari's row and waits for Rita's. Each holds what the other needs — a circular wait. The DBMS detects the cycle in the wait-for graph and aborts one transaction (say T2), releasing its locks so T1 finishes; T2 is restarted afterwards.</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"Deadlock means the server crashed." No — a deadlock is a logical stalemate, not a crash. The DBMS detects it and resolves it by aborting and restarting a victim transaction; the server keeps running fine.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 deadlock is a state where two or more transactions each hold a lock the other needs and wait indefinitely — a circular wait. It is detected by finding a cycle in the wait-for graph (edge Ti→Tj when Ti waits for a lock held by Tj) and resolved by aborting a victim transaction and restarting it. Prevention schemes (wait-die, wound-wait) use transaction timestamps to avoid the circular wait.</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deadlock · circular wait · wait-for graph · cycle = deadlock · victim abort · wait-die/wound-wait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62 / 136</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S40 · CONCEPT 4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Two cycles, two very different meanings</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286000"/>
                <a:gridCol w="1804736"/>
                <a:gridCol w="2767263"/>
                <a:gridCol w="2646947"/>
                <a:gridCol w="1925052"/>
              </a:tblGrid>
              <a:tr h="883310">
                <a:tc>
                  <a:txBody>
                    <a:bodyPr wrap="square"/>
                    <a:lstStyle/>
                    <a:p>
                      <a:r>
                        <a:rPr sz="1100" b="1">
                          <a:solidFill>
                            <a:srgbClr val="FFFFFF"/>
                          </a:solidFill>
                        </a:rPr>
                        <a:t>Graph</a:t>
                      </a:r>
                    </a:p>
                  </a:txBody>
                  <a:tcPr anchor="ctr" marL="73152" marR="54864" marT="27432" marB="27432">
                    <a:solidFill>
                      <a:srgbClr val="0C2B4A"/>
                    </a:solidFill>
                  </a:tcPr>
                </a:tc>
                <a:tc>
                  <a:txBody>
                    <a:bodyPr wrap="square"/>
                    <a:lstStyle/>
                    <a:p>
                      <a:r>
                        <a:rPr sz="1100" b="1">
                          <a:solidFill>
                            <a:srgbClr val="FFFFFF"/>
                          </a:solidFill>
                        </a:rPr>
                        <a:t>Node = </a:t>
                      </a:r>
                    </a:p>
                  </a:txBody>
                  <a:tcPr anchor="ctr" marL="73152" marR="54864" marT="27432" marB="27432">
                    <a:solidFill>
                      <a:srgbClr val="0C2B4A"/>
                    </a:solidFill>
                  </a:tcPr>
                </a:tc>
                <a:tc>
                  <a:txBody>
                    <a:bodyPr wrap="square"/>
                    <a:lstStyle/>
                    <a:p>
                      <a:r>
                        <a:rPr sz="1100" b="1">
                          <a:solidFill>
                            <a:srgbClr val="FFFFFF"/>
                          </a:solidFill>
                        </a:rPr>
                        <a:t>Edge means</a:t>
                      </a:r>
                    </a:p>
                  </a:txBody>
                  <a:tcPr anchor="ctr" marL="73152" marR="54864" marT="27432" marB="27432">
                    <a:solidFill>
                      <a:srgbClr val="0C2B4A"/>
                    </a:solidFill>
                  </a:tcPr>
                </a:tc>
                <a:tc>
                  <a:txBody>
                    <a:bodyPr wrap="square"/>
                    <a:lstStyle/>
                    <a:p>
                      <a:r>
                        <a:rPr sz="1100" b="1">
                          <a:solidFill>
                            <a:srgbClr val="FFFFFF"/>
                          </a:solidFill>
                        </a:rPr>
                        <a:t>A cycle means…</a:t>
                      </a:r>
                    </a:p>
                  </a:txBody>
                  <a:tcPr anchor="ctr" marL="73152" marR="54864" marT="27432" marB="27432">
                    <a:solidFill>
                      <a:srgbClr val="0C2B4A"/>
                    </a:solidFill>
                  </a:tcPr>
                </a:tc>
                <a:tc>
                  <a:txBody>
                    <a:bodyPr wrap="square"/>
                    <a:lstStyle/>
                    <a:p>
                      <a:r>
                        <a:rPr sz="1100" b="1">
                          <a:solidFill>
                            <a:srgbClr val="FFFFFF"/>
                          </a:solidFill>
                        </a:rPr>
                        <a:t>Belongs to</a:t>
                      </a:r>
                    </a:p>
                  </a:txBody>
                  <a:tcPr anchor="ctr" marL="73152" marR="54864" marT="27432" marB="27432">
                    <a:solidFill>
                      <a:srgbClr val="0C2B4A"/>
                    </a:solidFill>
                  </a:tcPr>
                </a:tc>
              </a:tr>
              <a:tr h="883310">
                <a:tc>
                  <a:txBody>
                    <a:bodyPr wrap="square"/>
                    <a:lstStyle/>
                    <a:p>
                      <a:r>
                        <a:rPr sz="1050" b="1">
                          <a:solidFill>
                            <a:srgbClr val="0C2B4A"/>
                          </a:solidFill>
                        </a:rPr>
                        <a:t>Precedence graph</a:t>
                      </a:r>
                    </a:p>
                  </a:txBody>
                  <a:tcPr anchor="ctr" marL="73152" marR="54864" marT="27432" marB="27432">
                    <a:solidFill>
                      <a:srgbClr val="FFFFFF"/>
                    </a:solidFill>
                  </a:tcPr>
                </a:tc>
                <a:tc>
                  <a:txBody>
                    <a:bodyPr wrap="square"/>
                    <a:lstStyle/>
                    <a:p>
                      <a:r>
                        <a:rPr sz="1050">
                          <a:solidFill>
                            <a:srgbClr val="1A1A1A"/>
                          </a:solidFill>
                        </a:rPr>
                        <a:t>a transaction</a:t>
                      </a:r>
                    </a:p>
                  </a:txBody>
                  <a:tcPr anchor="ctr" marL="73152" marR="54864" marT="27432" marB="27432">
                    <a:solidFill>
                      <a:srgbClr val="FFFFFF"/>
                    </a:solidFill>
                  </a:tcPr>
                </a:tc>
                <a:tc>
                  <a:txBody>
                    <a:bodyPr wrap="square"/>
                    <a:lstStyle/>
                    <a:p>
                      <a:r>
                        <a:rPr sz="1050">
                          <a:solidFill>
                            <a:srgbClr val="1A1A1A"/>
                          </a:solidFill>
                        </a:rPr>
                        <a:t>Ti's op conflicts before Tj's</a:t>
                      </a:r>
                    </a:p>
                  </a:txBody>
                  <a:tcPr anchor="ctr" marL="73152" marR="54864" marT="27432" marB="27432">
                    <a:solidFill>
                      <a:srgbClr val="FFFFFF"/>
                    </a:solidFill>
                  </a:tcPr>
                </a:tc>
                <a:tc>
                  <a:txBody>
                    <a:bodyPr wrap="square"/>
                    <a:lstStyle/>
                    <a:p>
                      <a:r>
                        <a:rPr sz="1050">
                          <a:solidFill>
                            <a:srgbClr val="1A1A1A"/>
                          </a:solidFill>
                        </a:rPr>
                        <a:t>schedule is NOT serializable</a:t>
                      </a:r>
                    </a:p>
                  </a:txBody>
                  <a:tcPr anchor="ctr" marL="73152" marR="54864" marT="27432" marB="27432">
                    <a:solidFill>
                      <a:srgbClr val="FFFFFF"/>
                    </a:solidFill>
                  </a:tcPr>
                </a:tc>
                <a:tc>
                  <a:txBody>
                    <a:bodyPr wrap="square"/>
                    <a:lstStyle/>
                    <a:p>
                      <a:r>
                        <a:rPr sz="1050">
                          <a:solidFill>
                            <a:srgbClr val="1A1A1A"/>
                          </a:solidFill>
                        </a:rPr>
                        <a:t>S39 (correctness)</a:t>
                      </a:r>
                    </a:p>
                  </a:txBody>
                  <a:tcPr anchor="ctr" marL="73152" marR="54864" marT="27432" marB="27432">
                    <a:solidFill>
                      <a:srgbClr val="FFFFFF"/>
                    </a:solidFill>
                  </a:tcPr>
                </a:tc>
              </a:tr>
              <a:tr h="883310">
                <a:tc>
                  <a:txBody>
                    <a:bodyPr wrap="square"/>
                    <a:lstStyle/>
                    <a:p>
                      <a:r>
                        <a:rPr sz="1050" b="1">
                          <a:solidFill>
                            <a:srgbClr val="0C2B4A"/>
                          </a:solidFill>
                        </a:rPr>
                        <a:t>Wait-for graph</a:t>
                      </a:r>
                    </a:p>
                  </a:txBody>
                  <a:tcPr anchor="ctr" marL="73152" marR="54864" marT="27432" marB="27432">
                    <a:solidFill>
                      <a:srgbClr val="EEF3F8"/>
                    </a:solidFill>
                  </a:tcPr>
                </a:tc>
                <a:tc>
                  <a:txBody>
                    <a:bodyPr wrap="square"/>
                    <a:lstStyle/>
                    <a:p>
                      <a:r>
                        <a:rPr sz="1050">
                          <a:solidFill>
                            <a:srgbClr val="1A1A1A"/>
                          </a:solidFill>
                        </a:rPr>
                        <a:t>a transaction</a:t>
                      </a:r>
                    </a:p>
                  </a:txBody>
                  <a:tcPr anchor="ctr" marL="73152" marR="54864" marT="27432" marB="27432">
                    <a:solidFill>
                      <a:srgbClr val="EEF3F8"/>
                    </a:solidFill>
                  </a:tcPr>
                </a:tc>
                <a:tc>
                  <a:txBody>
                    <a:bodyPr wrap="square"/>
                    <a:lstStyle/>
                    <a:p>
                      <a:r>
                        <a:rPr sz="1050">
                          <a:solidFill>
                            <a:srgbClr val="1A1A1A"/>
                          </a:solidFill>
                        </a:rPr>
                        <a:t>Ti waits for a lock Tj holds</a:t>
                      </a:r>
                    </a:p>
                  </a:txBody>
                  <a:tcPr anchor="ctr" marL="73152" marR="54864" marT="27432" marB="27432">
                    <a:solidFill>
                      <a:srgbClr val="EEF3F8"/>
                    </a:solidFill>
                  </a:tcPr>
                </a:tc>
                <a:tc>
                  <a:txBody>
                    <a:bodyPr wrap="square"/>
                    <a:lstStyle/>
                    <a:p>
                      <a:r>
                        <a:rPr sz="1050">
                          <a:solidFill>
                            <a:srgbClr val="1A1A1A"/>
                          </a:solidFill>
                        </a:rPr>
                        <a:t>DEADLOCK (frozen stalemate)</a:t>
                      </a:r>
                    </a:p>
                  </a:txBody>
                  <a:tcPr anchor="ctr" marL="73152" marR="54864" marT="27432" marB="27432">
                    <a:solidFill>
                      <a:srgbClr val="EEF3F8"/>
                    </a:solidFill>
                  </a:tcPr>
                </a:tc>
                <a:tc>
                  <a:txBody>
                    <a:bodyPr wrap="square"/>
                    <a:lstStyle/>
                    <a:p>
                      <a:r>
                        <a:rPr sz="1050">
                          <a:solidFill>
                            <a:srgbClr val="1A1A1A"/>
                          </a:solidFill>
                        </a:rPr>
                        <a:t>S40 (locking)</a:t>
                      </a:r>
                    </a:p>
                  </a:txBody>
                  <a:tcPr anchor="ctr" marL="73152" marR="54864" marT="27432" marB="27432">
                    <a:solidFill>
                      <a:srgbClr val="EEF3F8"/>
                    </a:solidFill>
                  </a:tcPr>
                </a:tc>
              </a:tr>
              <a:tr h="883310">
                <a:tc>
                  <a:txBody>
                    <a:bodyPr wrap="square"/>
                    <a:lstStyle/>
                    <a:p>
                      <a:r>
                        <a:rPr sz="1050" b="1">
                          <a:solidFill>
                            <a:srgbClr val="0C2B4A"/>
                          </a:solidFill>
                        </a:rPr>
                        <a:t>Fix for precedence cycle</a:t>
                      </a:r>
                    </a:p>
                  </a:txBody>
                  <a:tcPr anchor="ctr" marL="73152" marR="54864" marT="27432" marB="27432">
                    <a:solidFill>
                      <a:srgbClr val="FFFFFF"/>
                    </a:solidFill>
                  </a:tcPr>
                </a:tc>
                <a:tc>
                  <a:txBody>
                    <a:bodyPr wrap="square"/>
                    <a:lstStyle/>
                    <a:p>
                      <a:r>
                        <a:rPr sz="1050">
                          <a:solidFill>
                            <a:srgbClr val="1A1A1A"/>
                          </a:solidFill>
                        </a:rPr>
                        <a:t>—</a:t>
                      </a:r>
                    </a:p>
                  </a:txBody>
                  <a:tcPr anchor="ctr" marL="73152" marR="54864" marT="27432" marB="27432">
                    <a:solidFill>
                      <a:srgbClr val="FFFFFF"/>
                    </a:solidFill>
                  </a:tcPr>
                </a:tc>
                <a:tc>
                  <a:txBody>
                    <a:bodyPr wrap="square"/>
                    <a:lstStyle/>
                    <a:p>
                      <a:r>
                        <a:rPr sz="1050">
                          <a:solidFill>
                            <a:srgbClr val="1A1A1A"/>
                          </a:solidFill>
                        </a:rPr>
                        <a:t>—</a:t>
                      </a:r>
                    </a:p>
                  </a:txBody>
                  <a:tcPr anchor="ctr" marL="73152" marR="54864" marT="27432" marB="27432">
                    <a:solidFill>
                      <a:srgbClr val="FFFFFF"/>
                    </a:solidFill>
                  </a:tcPr>
                </a:tc>
                <a:tc>
                  <a:txBody>
                    <a:bodyPr wrap="square"/>
                    <a:lstStyle/>
                    <a:p>
                      <a:r>
                        <a:rPr sz="1050">
                          <a:solidFill>
                            <a:srgbClr val="1A1A1A"/>
                          </a:solidFill>
                        </a:rPr>
                        <a:t>reject / reorder the schedule</a:t>
                      </a:r>
                    </a:p>
                  </a:txBody>
                  <a:tcPr anchor="ctr" marL="73152" marR="54864" marT="27432" marB="27432">
                    <a:solidFill>
                      <a:srgbClr val="FFFFFF"/>
                    </a:solidFill>
                  </a:tcPr>
                </a:tc>
                <a:tc>
                  <a:txBody>
                    <a:bodyPr wrap="square"/>
                    <a:lstStyle/>
                    <a:p>
                      <a:r>
                        <a:rPr sz="1050">
                          <a:solidFill>
                            <a:srgbClr val="1A1A1A"/>
                          </a:solidFill>
                        </a:rPr>
                        <a:t>—</a:t>
                      </a:r>
                    </a:p>
                  </a:txBody>
                  <a:tcPr anchor="ctr" marL="73152" marR="54864" marT="27432" marB="27432">
                    <a:solidFill>
                      <a:srgbClr val="FFFFFF"/>
                    </a:solidFill>
                  </a:tcPr>
                </a:tc>
              </a:tr>
              <a:tr h="883312">
                <a:tc>
                  <a:txBody>
                    <a:bodyPr wrap="square"/>
                    <a:lstStyle/>
                    <a:p>
                      <a:r>
                        <a:rPr sz="1050" b="1">
                          <a:solidFill>
                            <a:srgbClr val="0C2B4A"/>
                          </a:solidFill>
                        </a:rPr>
                        <a:t>Fix for wait-for cycle</a:t>
                      </a:r>
                    </a:p>
                  </a:txBody>
                  <a:tcPr anchor="ctr" marL="73152" marR="54864" marT="27432" marB="27432">
                    <a:solidFill>
                      <a:srgbClr val="EEF3F8"/>
                    </a:solidFill>
                  </a:tcPr>
                </a:tc>
                <a:tc>
                  <a:txBody>
                    <a:bodyPr wrap="square"/>
                    <a:lstStyle/>
                    <a:p>
                      <a:r>
                        <a:rPr sz="1050">
                          <a:solidFill>
                            <a:srgbClr val="1A1A1A"/>
                          </a:solidFill>
                        </a:rPr>
                        <a:t>—</a:t>
                      </a:r>
                    </a:p>
                  </a:txBody>
                  <a:tcPr anchor="ctr" marL="73152" marR="54864" marT="27432" marB="27432">
                    <a:solidFill>
                      <a:srgbClr val="EEF3F8"/>
                    </a:solidFill>
                  </a:tcPr>
                </a:tc>
                <a:tc>
                  <a:txBody>
                    <a:bodyPr wrap="square"/>
                    <a:lstStyle/>
                    <a:p>
                      <a:r>
                        <a:rPr sz="1050">
                          <a:solidFill>
                            <a:srgbClr val="1A1A1A"/>
                          </a:solidFill>
                        </a:rPr>
                        <a:t>—</a:t>
                      </a:r>
                    </a:p>
                  </a:txBody>
                  <a:tcPr anchor="ctr" marL="73152" marR="54864" marT="27432" marB="27432">
                    <a:solidFill>
                      <a:srgbClr val="EEF3F8"/>
                    </a:solidFill>
                  </a:tcPr>
                </a:tc>
                <a:tc>
                  <a:txBody>
                    <a:bodyPr wrap="square"/>
                    <a:lstStyle/>
                    <a:p>
                      <a:r>
                        <a:rPr sz="1050">
                          <a:solidFill>
                            <a:srgbClr val="1A1A1A"/>
                          </a:solidFill>
                        </a:rPr>
                        <a:t>abort a victim, restart it</a:t>
                      </a:r>
                    </a:p>
                  </a:txBody>
                  <a:tcPr anchor="ctr" marL="73152" marR="54864" marT="27432" marB="27432">
                    <a:solidFill>
                      <a:srgbClr val="EEF3F8"/>
                    </a:solidFill>
                  </a:tcPr>
                </a:tc>
                <a:tc>
                  <a:txBody>
                    <a:bodyPr wrap="square"/>
                    <a:lstStyle/>
                    <a:p>
                      <a:r>
                        <a:rPr sz="1050">
                          <a:solidFill>
                            <a:srgbClr val="1A1A1A"/>
                          </a:solidFill>
                        </a:rPr>
                        <a:t>—</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Do not confuse them: a cycle in the PRECEDENCE graph = not serializable (S39); a cycle in the WAIT-FOR graph = deadlock (S40). Same word 'cycle', completely different problem.</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63 / 136</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S40 · CONCEPT 5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Starvation</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Starvation happens when a particular transaction is repeatedly delayed or chosen as the deadlock victim, so it never gets the locks it needs and never completes. It is a fairness problem, distinct from deadlock.</a:t>
            </a:r>
          </a:p>
          <a:p>
            <a:pPr>
              <a:spcAft>
                <a:spcPts val="500"/>
              </a:spcAft>
            </a:pPr>
            <a:r>
              <a:rPr sz="1200" b="1">
                <a:solidFill>
                  <a:srgbClr val="185FA5"/>
                </a:solidFill>
              </a:rPr>
              <a:t>HOW IT WORKS</a:t>
            </a:r>
          </a:p>
          <a:p>
            <a:pPr>
              <a:spcAft>
                <a:spcPts val="600"/>
              </a:spcAft>
            </a:pPr>
            <a:r>
              <a:rPr sz="1400">
                <a:solidFill>
                  <a:srgbClr val="1A1A1A"/>
                </a:solidFill>
              </a:rPr>
              <a:t>•  Cause: the same transaction keeps losing — always waiting or always the aborted victim.</a:t>
            </a:r>
          </a:p>
          <a:p>
            <a:pPr>
              <a:spcAft>
                <a:spcPts val="600"/>
              </a:spcAft>
            </a:pPr>
            <a:r>
              <a:rPr sz="1400">
                <a:solidFill>
                  <a:srgbClr val="1A1A1A"/>
                </a:solidFill>
              </a:rPr>
              <a:t>•  Unlike deadlock, the system as a whole keeps making progress; one transaction is left behind.</a:t>
            </a:r>
          </a:p>
          <a:p>
            <a:pPr>
              <a:spcAft>
                <a:spcPts val="600"/>
              </a:spcAft>
            </a:pPr>
            <a:r>
              <a:rPr sz="1400">
                <a:solidFill>
                  <a:srgbClr val="1A1A1A"/>
                </a:solidFill>
              </a:rPr>
              <a:t>•  Fix: fair scheduling, priorities, or aging (raise a waiting transaction's priority over time).</a:t>
            </a:r>
          </a:p>
          <a:p>
            <a:pPr>
              <a:spcAft>
                <a:spcPts val="600"/>
              </a:spcAft>
            </a:pPr>
            <a:r>
              <a:rPr sz="1400">
                <a:solidFill>
                  <a:srgbClr val="1A1A1A"/>
                </a:solidFill>
              </a:rPr>
              <a:t>•  Aging guarantees an old, repeatedly-delayed transaction eventually wins.</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Starvation = one txn never gets its turn; fix with priorities / aging.</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64 / 136</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S40 · CONCEPT 5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Starvation</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During a Dashain rush, a low-priority reporting transaction keeps getting picked as the victim whenever it clashes with high-value transfers — it is aborted and restarted again and again, never finishing. Aging fixes this: each time it is delayed, its priority rises, until it eventually outranks new arrivals and completes.</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"Starvation is the same as deadlock." No — in deadlock NObody proceeds (a mutual freeze); in starvation the system keeps working but ONE unlucky transaction never gets its turn. Deadlock is a stalemate; starvation is unfairness.</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Starvation is a situation where a transaction is repeatedly delayed or repeatedly selected as the victim to abort, so it never acquires the resources it needs to complete — even though the system as a whole makes progress. Unlike deadlock (a mutual freeze), starvation strands a single transaction, and it is addressed by fair scheduling, priorities, or aging (increasing a waiting transaction's priority over time).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starvation · repeated victim/delay · fairness · priorities · aging · distinct from deadlock</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65 / 136</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S40 — 'Deadlock two transfers'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(3 min): write two eSewa transfers on rows A (Rita) and B (Hari) that DEADLOCK.</a:t>
            </a:r>
          </a:p>
          <a:p>
            <a:pPr>
              <a:spcAft>
                <a:spcPts val="700"/>
              </a:spcAft>
            </a:pPr>
            <a:r>
              <a:rPr sz="1550">
                <a:solidFill>
                  <a:srgbClr val="1A1A1A"/>
                </a:solidFill>
              </a:rPr>
              <a:t>•  Show which lock each holds and which it is waiting for; draw the wait-for graph and mark the cycle.</a:t>
            </a:r>
          </a:p>
          <a:p>
            <a:pPr>
              <a:spcAft>
                <a:spcPts val="700"/>
              </a:spcAft>
            </a:pPr>
            <a:r>
              <a:rPr sz="1550">
                <a:solidFill>
                  <a:srgbClr val="1A1A1A"/>
                </a:solidFill>
              </a:rPr>
              <a:t>•  Decide which transaction you would abort as the victim, and why.</a:t>
            </a:r>
          </a:p>
          <a:p>
            <a:pPr>
              <a:spcAft>
                <a:spcPts val="700"/>
              </a:spcAft>
            </a:pPr>
            <a:r>
              <a:rPr sz="1550">
                <a:solidFill>
                  <a:srgbClr val="1A1A1A"/>
                </a:solidFill>
              </a:rPr>
              <a:t>•  Share (2 min): note that the fix is aborting + restarting one, not restarting the server.</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Deadlock: T1 X-locks A, wants B; T2 X-locks B, wants A → wait-for cycle. Reasonable victim policy: abort the younger/less-work transaction and restart it. Reward correct wait-for graphs and a clear victim rationale.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66 / 136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S40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In 2PL, once a transaction releases its first lock it is in the:</a:t>
            </a:r>
          </a:p>
          <a:p>
            <a:pPr lvl="1"/>
            <a:r>
              <a:rPr sz="1500" b="1">
                <a:solidFill>
                  <a:srgbClr val="0F6E56"/>
                </a:solidFill>
              </a:rPr>
              <a:t>a) growing phase   b) ✅ shrinking phase   c) commit phase   d) abort phase</a:t>
            </a:r>
          </a:p>
          <a:p>
            <a:pPr lvl="1">
              <a:spcBef>
                <a:spcPts val="600"/>
              </a:spcBef>
            </a:pPr>
            <a:r>
              <a:rPr sz="1500" i="1">
                <a:solidFill>
                  <a:srgbClr val="1A1A1A"/>
                </a:solidFill>
              </a:rPr>
              <a:t>     Why: after the first release it may only release, never acquire — the shrinking phase.</a:t>
            </a:r>
          </a:p>
          <a:p>
            <a:pPr>
              <a:spcBef>
                <a:spcPts val="900"/>
              </a:spcBef>
            </a:pPr>
            <a:r>
              <a:rPr sz="1700" b="1">
                <a:solidFill>
                  <a:srgbClr val="0C2B4A"/>
                </a:solidFill>
              </a:rPr>
              <a:t>Q2.  Deadlock is detected by finding a cycle in the:</a:t>
            </a:r>
          </a:p>
          <a:p>
            <a:pPr lvl="1"/>
            <a:r>
              <a:rPr sz="1500" b="1">
                <a:solidFill>
                  <a:srgbClr val="0F6E56"/>
                </a:solidFill>
              </a:rPr>
              <a:t>a) precedence graph   b) ✅ wait-for graph   c) B-tree   d) page table</a:t>
            </a:r>
          </a:p>
          <a:p>
            <a:pPr lvl="1">
              <a:spcBef>
                <a:spcPts val="600"/>
              </a:spcBef>
            </a:pPr>
            <a:r>
              <a:rPr sz="1500" i="1">
                <a:solidFill>
                  <a:srgbClr val="1A1A1A"/>
                </a:solidFill>
              </a:rPr>
              <a:t>     Why: an edge Ti→Tj means Ti waits for a lock Tj holds; a cycle = mutual wait = deadlock.</a:t>
            </a:r>
          </a:p>
          <a:p>
            <a:pPr lvl="1">
              <a:spcBef>
                <a:spcPts val="600"/>
              </a:spcBef>
            </a:pPr>
            <a:r>
              <a:rPr sz="1500" i="1">
                <a:solidFill>
                  <a:srgbClr val="1A1A1A"/>
                </a:solidFill>
              </a:rPr>
              <a:t>Discussion: describe a two-person eSewa scenario that deadlocks, and which transaction you'd abort to break it.</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67 / 136</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S40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S (read, shareable) and X (write, exclusive) locks reserve data items; only S–S is compatible.</a:t>
            </a:r>
          </a:p>
          <a:p>
            <a:pPr>
              <a:spcAft>
                <a:spcPts val="800"/>
              </a:spcAft>
            </a:pPr>
            <a:r>
              <a:rPr sz="1500">
                <a:solidFill>
                  <a:srgbClr val="1A1A1A"/>
                </a:solidFill>
              </a:rPr>
              <a:t>2.  Two-Phase Locking (grow then shrink, one lock point) guarantees conflict-serializability; strict 2PL also stops cascading rollback.</a:t>
            </a:r>
          </a:p>
          <a:p>
            <a:pPr>
              <a:spcAft>
                <a:spcPts val="800"/>
              </a:spcAft>
            </a:pPr>
            <a:r>
              <a:rPr sz="1500">
                <a:solidFill>
                  <a:srgbClr val="1A1A1A"/>
                </a:solidFill>
              </a:rPr>
              <a:t>3.  Locking can deadlock (cycle in the wait-for graph → abort a victim) and can starve a transaction (fix with aging).</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Every relational DB behind Nepali fintech apps (MySQL, PostgreSQL) uses locking; 'deadlock found; aborting one transaction' is a real production error developers must understand and design around.</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S41 — a lock-free alternative that orders transactions by a timestamp instead of fighting over keys.</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68 / 136</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41 · LECTURE HOUR 5 (OF 8)</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Timestamp Ordering Concurrency Control</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Instead of fighting over keys (locks), what if every eSewa transaction got a numbered ticket the moment it arrived — and the DBMS simply enforced 'serve in ticket order'? That is timestamp ordering: concurrency control with no locks.</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69 / 136</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S41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Timestamps</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A timestamp TS(T) is a unique, monotonically increasing identifier assigned to a transaction when it starts. An older (smaller) timestamp means higher priority — the DBMS enforces an execution order equivalent to timestamp order.</a:t>
            </a:r>
          </a:p>
          <a:p>
            <a:pPr>
              <a:spcAft>
                <a:spcPts val="500"/>
              </a:spcAft>
            </a:pPr>
            <a:r>
              <a:rPr sz="1200" b="1">
                <a:solidFill>
                  <a:srgbClr val="185FA5"/>
                </a:solidFill>
              </a:rPr>
              <a:t>HOW IT WORKS</a:t>
            </a:r>
          </a:p>
          <a:p>
            <a:pPr>
              <a:spcAft>
                <a:spcPts val="600"/>
              </a:spcAft>
            </a:pPr>
            <a:r>
              <a:rPr sz="1400">
                <a:solidFill>
                  <a:srgbClr val="1A1A1A"/>
                </a:solidFill>
              </a:rPr>
              <a:t>•  Source: the system clock, or a simple logical counter that increments per transaction.</a:t>
            </a:r>
          </a:p>
          <a:p>
            <a:pPr>
              <a:spcAft>
                <a:spcPts val="600"/>
              </a:spcAft>
            </a:pPr>
            <a:r>
              <a:rPr sz="1400">
                <a:solidFill>
                  <a:srgbClr val="1A1A1A"/>
                </a:solidFill>
              </a:rPr>
              <a:t>•  Each transaction's timestamp is unique and never reused — it fixes a total order.</a:t>
            </a:r>
          </a:p>
          <a:p>
            <a:pPr>
              <a:spcAft>
                <a:spcPts val="600"/>
              </a:spcAft>
            </a:pPr>
            <a:r>
              <a:rPr sz="1400">
                <a:solidFill>
                  <a:srgbClr val="1A1A1A"/>
                </a:solidFill>
              </a:rPr>
              <a:t>•  The 'senior' (earlier) transaction is the one with the smaller timestamp.</a:t>
            </a:r>
          </a:p>
          <a:p>
            <a:pPr>
              <a:spcAft>
                <a:spcPts val="600"/>
              </a:spcAft>
            </a:pPr>
            <a:r>
              <a:rPr sz="1400">
                <a:solidFill>
                  <a:srgbClr val="1A1A1A"/>
                </a:solidFill>
              </a:rPr>
              <a:t>•  This fixed order is the serial order the schedule will be made equivalent to.</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Timestamp = a ticket number at start; smaller TS = older = higher priority.</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70 / 136</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S41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Timestamps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Every eSewa transfer is stamped with its arrival order — think of the token/ticket you take at a bank counter. If Rita's transfer arrives at TS=101 and Hari's at TS=102, Rita's is 'senior'. The DBMS will enforce a schedule equivalent to running them in timestamp order (101 before 102), no locks required.</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"Timestamps are just the wall-clock time and can repeat." No — timestamps must be UNIQUE and strictly increasing; a logical counter is often used precisely so two transactions never share a timestamp, which would break the total order.</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 timestamp TS(T) is a unique, monotonically increasing identifier assigned to a transaction at its start, drawn from the system clock or a logical counter. It defines a total order on transactions in which a smaller timestamp means an older, higher-priority transaction. Timestamp-ordering concurrency control enforces a schedule equivalent to executing transactions in timestamp order.</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timestamp TS(T) · unique · monotonically increasing · older = higher priority · defines serial order</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71 / 136</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S41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Read and Write Timestamps on Data Items</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To enforce timestamp order, each data item X keeps two values: read_TS(X) — the largest timestamp of any transaction that has READ X — and write_TS(X) — the largest timestamp of any transaction that has WRITTEN X.</a:t>
            </a:r>
          </a:p>
          <a:p>
            <a:pPr>
              <a:spcAft>
                <a:spcPts val="500"/>
              </a:spcAft>
            </a:pPr>
            <a:r>
              <a:rPr sz="1200" b="1">
                <a:solidFill>
                  <a:srgbClr val="185FA5"/>
                </a:solidFill>
              </a:rPr>
              <a:t>HOW IT WORKS</a:t>
            </a:r>
          </a:p>
          <a:p>
            <a:pPr>
              <a:spcAft>
                <a:spcPts val="600"/>
              </a:spcAft>
            </a:pPr>
            <a:r>
              <a:rPr sz="1400">
                <a:solidFill>
                  <a:srgbClr val="1A1A1A"/>
                </a:solidFill>
              </a:rPr>
              <a:t>•  read_TS(X): the timestamp of the youngest transaction that successfully read X.</a:t>
            </a:r>
          </a:p>
          <a:p>
            <a:pPr>
              <a:spcAft>
                <a:spcPts val="600"/>
              </a:spcAft>
            </a:pPr>
            <a:r>
              <a:rPr sz="1400">
                <a:solidFill>
                  <a:srgbClr val="1A1A1A"/>
                </a:solidFill>
              </a:rPr>
              <a:t>•  write_TS(X): the timestamp of the youngest transaction that successfully wrote X.</a:t>
            </a:r>
          </a:p>
          <a:p>
            <a:pPr>
              <a:spcAft>
                <a:spcPts val="600"/>
              </a:spcAft>
            </a:pPr>
            <a:r>
              <a:rPr sz="1400">
                <a:solidFill>
                  <a:srgbClr val="1A1A1A"/>
                </a:solidFill>
              </a:rPr>
              <a:t>•  Every read/write request is checked against these two values before it is allowed.</a:t>
            </a:r>
          </a:p>
          <a:p>
            <a:pPr>
              <a:spcAft>
                <a:spcPts val="600"/>
              </a:spcAft>
            </a:pPr>
            <a:r>
              <a:rPr sz="1400">
                <a:solidFill>
                  <a:srgbClr val="1A1A1A"/>
                </a:solidFill>
              </a:rPr>
              <a:t>•  These two stamps let the DBMS spot an operation that arrives 'too late' (out of order).</a:t>
            </a:r>
          </a:p>
        </p:txBody>
      </p:sp>
      <p:pic>
        <p:nvPicPr>
          <p:cNvPr id="6" name="Picture 5" descr="s41_timestamps.png"/>
          <p:cNvPicPr>
            <a:picLocks noChangeAspect="1"/>
          </p:cNvPicPr>
          <p:nvPr/>
        </p:nvPicPr>
        <p:blipFill>
          <a:blip r:embed="rId2"/>
          <a:stretch>
            <a:fillRect/>
          </a:stretch>
        </p:blipFill>
        <p:spPr>
          <a:xfrm>
            <a:off x="6355080" y="2444902"/>
            <a:ext cx="5532120" cy="2745435"/>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Each item X carries read_TS(X) and write_TS(X) — the newest reader/writer.</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72 / 136</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S41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Read and Write Timestamps on Data Items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The family-wallet item X remembers read_TS(X) (the newest transaction that read the balance) and write_TS(X) (the newest that wrote it). When a new transfer tries to read or write X, the DBMS compares its timestamp against these two — this is how it detects a 'late' transaction trying to act after a 'newer' one already has.</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 data item only needs one timestamp." No — it needs TWO (read_TS and write_TS), because reads and writes create different kinds of ordering conflicts; a single stamp couldn't distinguish a late read from a late write.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In timestamp ordering, each data item X stores read_TS(X), the largest timestamp of any transaction that has read X, and write_TS(X), the largest timestamp of any transaction that has written X. Every read or write request is validated against these two values to ensure operations occur in timestamp order; the stamps are updated when an operation is allowed.</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read_TS(X) · write_TS(X) · largest reader/writer timestamp · validate each op · updated on success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73 / 136</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S41 · CONCEPT 3 · [THEORY] [EXAMPLE]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Basic Timestamp-Ordering Protocol</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Under basic timestamp ordering, a read or write is allowed only if it does not violate timestamp order; an operation that would violate it causes the transaction to be ABORTED and RESTARTED with a new, larger timestamp. This produces a serializable schedule and, because nothing ever waits, cannot deadlock.</a:t>
            </a:r>
          </a:p>
          <a:p>
            <a:pPr>
              <a:spcAft>
                <a:spcPts val="500"/>
              </a:spcAft>
            </a:pPr>
            <a:r>
              <a:rPr sz="1200" b="1">
                <a:solidFill>
                  <a:srgbClr val="185FA5"/>
                </a:solidFill>
              </a:rPr>
              <a:t>HOW IT WORKS</a:t>
            </a:r>
          </a:p>
          <a:p>
            <a:pPr>
              <a:spcAft>
                <a:spcPts val="600"/>
              </a:spcAft>
            </a:pPr>
            <a:r>
              <a:rPr sz="1400">
                <a:solidFill>
                  <a:srgbClr val="1A1A1A"/>
                </a:solidFill>
              </a:rPr>
              <a:t>•  Write rule: T's write(X) is rejected if a YOUNGER transaction has already read or written X.</a:t>
            </a:r>
          </a:p>
          <a:p>
            <a:pPr>
              <a:spcAft>
                <a:spcPts val="600"/>
              </a:spcAft>
            </a:pPr>
            <a:r>
              <a:rPr sz="1400">
                <a:solidFill>
                  <a:srgbClr val="1A1A1A"/>
                </a:solidFill>
              </a:rPr>
              <a:t>•  Read rule: T's read(X) is rejected if a YOUNGER transaction has already written X.</a:t>
            </a:r>
          </a:p>
          <a:p>
            <a:pPr>
              <a:spcAft>
                <a:spcPts val="600"/>
              </a:spcAft>
            </a:pPr>
            <a:r>
              <a:rPr sz="1400">
                <a:solidFill>
                  <a:srgbClr val="1A1A1A"/>
                </a:solidFill>
              </a:rPr>
              <a:t>•  A rejected transaction is rolled back and restarted with a fresh (larger) timestamp.</a:t>
            </a:r>
          </a:p>
          <a:p>
            <a:pPr>
              <a:spcAft>
                <a:spcPts val="600"/>
              </a:spcAft>
            </a:pPr>
            <a:r>
              <a:rPr sz="1400">
                <a:solidFill>
                  <a:srgbClr val="1A1A1A"/>
                </a:solidFill>
              </a:rPr>
              <a:t>•  No waiting means no circular wait → no deadlock (but repeated restarts can cause starvation).</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Out-of-order op → abort &amp; restart with a larger timestamp; never wait, never deadlock.</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74 / 136</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S41 · CONCEPT 3 · [THEORY] [EXAMPLE]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Basic Timestamp-Ordering Protocol</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slow transfer with TS=101 tries to write the wallet, but a newer transfer (TS=102) has ALREADY written it (write_TS=102 &gt; 101). Allowing the old write would overwrite newer data out of order, so the DBMS aborts the TS=101 transaction and restarts it with a fresh, larger timestamp — no lock, no waiting, no deadlock.</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"Timestamp ordering can deadlock like 2PL." No — it NEVER makes a transaction wait; conflicts are resolved by aborting/restarting, so there is no circular wait and therefore no deadlock (though repeated restarts can starve a transaction).</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The basic timestamp-ordering protocol allows an operation only if it respects timestamp order: a write is rejected if a younger transaction has already read or written the item, and a read is rejected if a younger transaction has already written it. A violating transaction is aborted and restarted with a larger timestamp. This yields a serializable schedule and is deadlock-free (nothing waits), though it can cause starvation.</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basic TO protocol · read/write rules · reject out-of-order op · abort &amp; restart · deadlock-free · starvation possible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75 / 136</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S41 · CONCEPT 4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Thomas's Write Rule</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Thomas's write rule is an optimisation of basic timestamp ordering: an OBSOLETE write — one by a transaction older than the item's write_TS — can simply be IGNORED instead of aborting the transaction, because a newer write has already superseded it. This allows more concurrency.</a:t>
            </a:r>
          </a:p>
          <a:p>
            <a:pPr>
              <a:spcAft>
                <a:spcPts val="500"/>
              </a:spcAft>
            </a:pPr>
            <a:r>
              <a:rPr sz="1200" b="1">
                <a:solidFill>
                  <a:srgbClr val="185FA5"/>
                </a:solidFill>
              </a:rPr>
              <a:t>HOW IT WORKS</a:t>
            </a:r>
          </a:p>
          <a:p>
            <a:pPr>
              <a:spcAft>
                <a:spcPts val="600"/>
              </a:spcAft>
            </a:pPr>
            <a:r>
              <a:rPr sz="1400">
                <a:solidFill>
                  <a:srgbClr val="1A1A1A"/>
                </a:solidFill>
              </a:rPr>
              <a:t>•  If T's write(X) is outdated (a younger transaction already wrote X), the write is simply skipped.</a:t>
            </a:r>
          </a:p>
          <a:p>
            <a:pPr>
              <a:spcAft>
                <a:spcPts val="600"/>
              </a:spcAft>
            </a:pPr>
            <a:r>
              <a:rPr sz="1400">
                <a:solidFill>
                  <a:srgbClr val="1A1A1A"/>
                </a:solidFill>
              </a:rPr>
              <a:t>•  Skipping is safe because the value T would write is immediately overwritten anyway.</a:t>
            </a:r>
          </a:p>
          <a:p>
            <a:pPr>
              <a:spcAft>
                <a:spcPts val="600"/>
              </a:spcAft>
            </a:pPr>
            <a:r>
              <a:rPr sz="1400">
                <a:solidFill>
                  <a:srgbClr val="1A1A1A"/>
                </a:solidFill>
              </a:rPr>
              <a:t>•  It relaxes the basic rule, rejecting fewer transactions and allowing more concurrency.</a:t>
            </a:r>
          </a:p>
          <a:p>
            <a:pPr>
              <a:spcAft>
                <a:spcPts val="600"/>
              </a:spcAft>
            </a:pPr>
            <a:r>
              <a:rPr sz="1400">
                <a:solidFill>
                  <a:srgbClr val="1A1A1A"/>
                </a:solidFill>
              </a:rPr>
              <a:t>•  It applies only to write-write ordering; read rules are unchanged.</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Thomas's rule: ignore an obsolete write instead of aborting → more concurrency.</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76 / 136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S41 · CONCEPT 4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Thomas's Write Rule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transaction with TS=101 tries to write the wallet's non-critical field, but TS=105 has already written it. Under the BASIC rule, TS=101 would be aborted; under THOMAS'S rule, the DBMS simply IGNORES the obsolete write (its value would be overwritten anyway) and lets TS=101 continue — fewer aborts, more concurrency.</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"Thomas's rule loses data by skipping a write." No — it only skips a write that a NEWER write has already superseded, so the skipped value would have been immediately overwritten regardless. No committed data is lost.</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Thomas's write rule optimises timestamp ordering by ignoring an obsolete write — a write by a transaction whose timestamp is older than the item's write_TS — rather than aborting the transaction, since a younger write has already superseded that value. It applies only to write-write cases and increases concurrency by rejecting fewer operations, while still producing a serializable schedule.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Thomas's write rule · obsolete write · ignore instead of abort · write-write only · more concurrency</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77 / 136</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S41 · 2PL VS TO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Two-Phase Locking vs Timestamp Ordering — the two concurrency-control families</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816086"/>
                <a:gridCol w="4306956"/>
                <a:gridCol w="4306956"/>
              </a:tblGrid>
              <a:tr h="630936">
                <a:tc>
                  <a:txBody>
                    <a:bodyPr wrap="square"/>
                    <a:lstStyle/>
                    <a:p>
                      <a:r>
                        <a:rPr sz="1150" b="1">
                          <a:solidFill>
                            <a:srgbClr val="FFFFFF"/>
                          </a:solidFill>
                        </a:rPr>
                        <a:t>Dimension</a:t>
                      </a:r>
                    </a:p>
                  </a:txBody>
                  <a:tcPr anchor="ctr" marL="73152" marR="54864" marT="27432" marB="27432">
                    <a:solidFill>
                      <a:srgbClr val="0C2B4A"/>
                    </a:solidFill>
                  </a:tcPr>
                </a:tc>
                <a:tc>
                  <a:txBody>
                    <a:bodyPr wrap="square"/>
                    <a:lstStyle/>
                    <a:p>
                      <a:r>
                        <a:rPr sz="1150" b="1">
                          <a:solidFill>
                            <a:srgbClr val="FFFFFF"/>
                          </a:solidFill>
                        </a:rPr>
                        <a:t>Two-Phase Locking (2PL)</a:t>
                      </a:r>
                    </a:p>
                  </a:txBody>
                  <a:tcPr anchor="ctr" marL="73152" marR="54864" marT="27432" marB="27432">
                    <a:solidFill>
                      <a:srgbClr val="0C2B4A"/>
                    </a:solidFill>
                  </a:tcPr>
                </a:tc>
                <a:tc>
                  <a:txBody>
                    <a:bodyPr wrap="square"/>
                    <a:lstStyle/>
                    <a:p>
                      <a:r>
                        <a:rPr sz="1150" b="1">
                          <a:solidFill>
                            <a:srgbClr val="FFFFFF"/>
                          </a:solidFill>
                        </a:rPr>
                        <a:t>Timestamp Ordering (TO)</a:t>
                      </a:r>
                    </a:p>
                  </a:txBody>
                  <a:tcPr anchor="ctr" marL="73152" marR="54864" marT="27432" marB="27432">
                    <a:solidFill>
                      <a:srgbClr val="0C2B4A"/>
                    </a:solidFill>
                  </a:tcPr>
                </a:tc>
              </a:tr>
              <a:tr h="630936">
                <a:tc>
                  <a:txBody>
                    <a:bodyPr wrap="square"/>
                    <a:lstStyle/>
                    <a:p>
                      <a:r>
                        <a:rPr sz="1100" b="1">
                          <a:solidFill>
                            <a:srgbClr val="0C2B4A"/>
                          </a:solidFill>
                        </a:rPr>
                        <a:t>Mechanism</a:t>
                      </a:r>
                    </a:p>
                  </a:txBody>
                  <a:tcPr anchor="ctr" marL="73152" marR="54864" marT="27432" marB="27432">
                    <a:solidFill>
                      <a:srgbClr val="FFFFFF"/>
                    </a:solidFill>
                  </a:tcPr>
                </a:tc>
                <a:tc>
                  <a:txBody>
                    <a:bodyPr wrap="square"/>
                    <a:lstStyle/>
                    <a:p>
                      <a:r>
                        <a:rPr sz="1100">
                          <a:solidFill>
                            <a:srgbClr val="1A1A1A"/>
                          </a:solidFill>
                        </a:rPr>
                        <a:t>Locks (S/X); acquire then release</a:t>
                      </a:r>
                    </a:p>
                  </a:txBody>
                  <a:tcPr anchor="ctr" marL="73152" marR="54864" marT="27432" marB="27432">
                    <a:solidFill>
                      <a:srgbClr val="FFFFFF"/>
                    </a:solidFill>
                  </a:tcPr>
                </a:tc>
                <a:tc>
                  <a:txBody>
                    <a:bodyPr wrap="square"/>
                    <a:lstStyle/>
                    <a:p>
                      <a:r>
                        <a:rPr sz="1100">
                          <a:solidFill>
                            <a:srgbClr val="1A1A1A"/>
                          </a:solidFill>
                        </a:rPr>
                        <a:t>Timestamps; serve in TS order</a:t>
                      </a:r>
                    </a:p>
                  </a:txBody>
                  <a:tcPr anchor="ctr" marL="73152" marR="54864" marT="27432" marB="27432">
                    <a:solidFill>
                      <a:srgbClr val="FFFFFF"/>
                    </a:solidFill>
                  </a:tcPr>
                </a:tc>
              </a:tr>
              <a:tr h="630936">
                <a:tc>
                  <a:txBody>
                    <a:bodyPr wrap="square"/>
                    <a:lstStyle/>
                    <a:p>
                      <a:r>
                        <a:rPr sz="1100" b="1">
                          <a:solidFill>
                            <a:srgbClr val="0C2B4A"/>
                          </a:solidFill>
                        </a:rPr>
                        <a:t>Transactions that clash</a:t>
                      </a:r>
                    </a:p>
                  </a:txBody>
                  <a:tcPr anchor="ctr" marL="73152" marR="54864" marT="27432" marB="27432">
                    <a:solidFill>
                      <a:srgbClr val="EEF3F8"/>
                    </a:solidFill>
                  </a:tcPr>
                </a:tc>
                <a:tc>
                  <a:txBody>
                    <a:bodyPr wrap="square"/>
                    <a:lstStyle/>
                    <a:p>
                      <a:r>
                        <a:rPr sz="1100">
                          <a:solidFill>
                            <a:srgbClr val="1A1A1A"/>
                          </a:solidFill>
                        </a:rPr>
                        <a:t>WAIT for the lock to be freed</a:t>
                      </a:r>
                    </a:p>
                  </a:txBody>
                  <a:tcPr anchor="ctr" marL="73152" marR="54864" marT="27432" marB="27432">
                    <a:solidFill>
                      <a:srgbClr val="EEF3F8"/>
                    </a:solidFill>
                  </a:tcPr>
                </a:tc>
                <a:tc>
                  <a:txBody>
                    <a:bodyPr wrap="square"/>
                    <a:lstStyle/>
                    <a:p>
                      <a:r>
                        <a:rPr sz="1100">
                          <a:solidFill>
                            <a:srgbClr val="1A1A1A"/>
                          </a:solidFill>
                        </a:rPr>
                        <a:t>ABORT &amp; restart with a larger TS</a:t>
                      </a:r>
                    </a:p>
                  </a:txBody>
                  <a:tcPr anchor="ctr" marL="73152" marR="54864" marT="27432" marB="27432">
                    <a:solidFill>
                      <a:srgbClr val="EEF3F8"/>
                    </a:solidFill>
                  </a:tcPr>
                </a:tc>
              </a:tr>
              <a:tr h="630936">
                <a:tc>
                  <a:txBody>
                    <a:bodyPr wrap="square"/>
                    <a:lstStyle/>
                    <a:p>
                      <a:r>
                        <a:rPr sz="1100" b="1">
                          <a:solidFill>
                            <a:srgbClr val="0C2B4A"/>
                          </a:solidFill>
                        </a:rPr>
                        <a:t>Guarantees</a:t>
                      </a:r>
                    </a:p>
                  </a:txBody>
                  <a:tcPr anchor="ctr" marL="73152" marR="54864" marT="27432" marB="27432">
                    <a:solidFill>
                      <a:srgbClr val="FFFFFF"/>
                    </a:solidFill>
                  </a:tcPr>
                </a:tc>
                <a:tc>
                  <a:txBody>
                    <a:bodyPr wrap="square"/>
                    <a:lstStyle/>
                    <a:p>
                      <a:r>
                        <a:rPr sz="1100">
                          <a:solidFill>
                            <a:srgbClr val="1A1A1A"/>
                          </a:solidFill>
                        </a:rPr>
                        <a:t>Conflict-serializability</a:t>
                      </a:r>
                    </a:p>
                  </a:txBody>
                  <a:tcPr anchor="ctr" marL="73152" marR="54864" marT="27432" marB="27432">
                    <a:solidFill>
                      <a:srgbClr val="FFFFFF"/>
                    </a:solidFill>
                  </a:tcPr>
                </a:tc>
                <a:tc>
                  <a:txBody>
                    <a:bodyPr wrap="square"/>
                    <a:lstStyle/>
                    <a:p>
                      <a:r>
                        <a:rPr sz="1100">
                          <a:solidFill>
                            <a:srgbClr val="1A1A1A"/>
                          </a:solidFill>
                        </a:rPr>
                        <a:t>Serializable in timestamp order</a:t>
                      </a:r>
                    </a:p>
                  </a:txBody>
                  <a:tcPr anchor="ctr" marL="73152" marR="54864" marT="27432" marB="27432">
                    <a:solidFill>
                      <a:srgbClr val="FFFFFF"/>
                    </a:solidFill>
                  </a:tcPr>
                </a:tc>
              </a:tr>
              <a:tr h="630936">
                <a:tc>
                  <a:txBody>
                    <a:bodyPr wrap="square"/>
                    <a:lstStyle/>
                    <a:p>
                      <a:r>
                        <a:rPr sz="1100" b="1">
                          <a:solidFill>
                            <a:srgbClr val="0C2B4A"/>
                          </a:solidFill>
                        </a:rPr>
                        <a:t>Failure mode</a:t>
                      </a:r>
                    </a:p>
                  </a:txBody>
                  <a:tcPr anchor="ctr" marL="73152" marR="54864" marT="27432" marB="27432">
                    <a:solidFill>
                      <a:srgbClr val="EEF3F8"/>
                    </a:solidFill>
                  </a:tcPr>
                </a:tc>
                <a:tc>
                  <a:txBody>
                    <a:bodyPr wrap="square"/>
                    <a:lstStyle/>
                    <a:p>
                      <a:r>
                        <a:rPr sz="1100">
                          <a:solidFill>
                            <a:srgbClr val="1A1A1A"/>
                          </a:solidFill>
                        </a:rPr>
                        <a:t>Deadlock (circular wait) possible</a:t>
                      </a:r>
                    </a:p>
                  </a:txBody>
                  <a:tcPr anchor="ctr" marL="73152" marR="54864" marT="27432" marB="27432">
                    <a:solidFill>
                      <a:srgbClr val="EEF3F8"/>
                    </a:solidFill>
                  </a:tcPr>
                </a:tc>
                <a:tc>
                  <a:txBody>
                    <a:bodyPr wrap="square"/>
                    <a:lstStyle/>
                    <a:p>
                      <a:r>
                        <a:rPr sz="1100">
                          <a:solidFill>
                            <a:srgbClr val="1A1A1A"/>
                          </a:solidFill>
                        </a:rPr>
                        <a:t>Starvation (repeated restarts) possible</a:t>
                      </a:r>
                    </a:p>
                  </a:txBody>
                  <a:tcPr anchor="ctr" marL="73152" marR="54864" marT="27432" marB="27432">
                    <a:solidFill>
                      <a:srgbClr val="EEF3F8"/>
                    </a:solidFill>
                  </a:tcPr>
                </a:tc>
              </a:tr>
              <a:tr h="630936">
                <a:tc>
                  <a:txBody>
                    <a:bodyPr wrap="square"/>
                    <a:lstStyle/>
                    <a:p>
                      <a:r>
                        <a:rPr sz="1100" b="1">
                          <a:solidFill>
                            <a:srgbClr val="0C2B4A"/>
                          </a:solidFill>
                        </a:rPr>
                        <a:t>Deadlock?</a:t>
                      </a:r>
                    </a:p>
                  </a:txBody>
                  <a:tcPr anchor="ctr" marL="73152" marR="54864" marT="27432" marB="27432">
                    <a:solidFill>
                      <a:srgbClr val="FFFFFF"/>
                    </a:solidFill>
                  </a:tcPr>
                </a:tc>
                <a:tc>
                  <a:txBody>
                    <a:bodyPr wrap="square"/>
                    <a:lstStyle/>
                    <a:p>
                      <a:r>
                        <a:rPr sz="1100">
                          <a:solidFill>
                            <a:srgbClr val="1A1A1A"/>
                          </a:solidFill>
                        </a:rPr>
                        <a:t>Yes — detect/prevent it</a:t>
                      </a:r>
                    </a:p>
                  </a:txBody>
                  <a:tcPr anchor="ctr" marL="73152" marR="54864" marT="27432" marB="27432">
                    <a:solidFill>
                      <a:srgbClr val="FFFFFF"/>
                    </a:solidFill>
                  </a:tcPr>
                </a:tc>
                <a:tc>
                  <a:txBody>
                    <a:bodyPr wrap="square"/>
                    <a:lstStyle/>
                    <a:p>
                      <a:r>
                        <a:rPr sz="1100">
                          <a:solidFill>
                            <a:srgbClr val="1A1A1A"/>
                          </a:solidFill>
                        </a:rPr>
                        <a:t>No — nothing ever waits</a:t>
                      </a:r>
                    </a:p>
                  </a:txBody>
                  <a:tcPr anchor="ctr" marL="73152" marR="54864" marT="27432" marB="27432">
                    <a:solidFill>
                      <a:srgbClr val="FFFFFF"/>
                    </a:solidFill>
                  </a:tcPr>
                </a:tc>
              </a:tr>
              <a:tr h="630936">
                <a:tc>
                  <a:txBody>
                    <a:bodyPr wrap="square"/>
                    <a:lstStyle/>
                    <a:p>
                      <a:r>
                        <a:rPr sz="1100" b="1">
                          <a:solidFill>
                            <a:srgbClr val="0C2B4A"/>
                          </a:solidFill>
                        </a:rPr>
                        <a:t>Best fit (Nepal / IT)</a:t>
                      </a:r>
                    </a:p>
                  </a:txBody>
                  <a:tcPr anchor="ctr" marL="73152" marR="54864" marT="27432" marB="27432">
                    <a:solidFill>
                      <a:srgbClr val="EEF3F8"/>
                    </a:solidFill>
                  </a:tcPr>
                </a:tc>
                <a:tc>
                  <a:txBody>
                    <a:bodyPr wrap="square"/>
                    <a:lstStyle/>
                    <a:p>
                      <a:r>
                        <a:rPr sz="1100">
                          <a:solidFill>
                            <a:srgbClr val="1A1A1A"/>
                          </a:solidFill>
                        </a:rPr>
                        <a:t>High-conflict eSewa peak (steadier)</a:t>
                      </a:r>
                    </a:p>
                  </a:txBody>
                  <a:tcPr anchor="ctr" marL="73152" marR="54864" marT="27432" marB="27432">
                    <a:solidFill>
                      <a:srgbClr val="EEF3F8"/>
                    </a:solidFill>
                  </a:tcPr>
                </a:tc>
                <a:tc>
                  <a:txBody>
                    <a:bodyPr wrap="square"/>
                    <a:lstStyle/>
                    <a:p>
                      <a:r>
                        <a:rPr sz="1100">
                          <a:solidFill>
                            <a:srgbClr val="1A1A1A"/>
                          </a:solidFill>
                        </a:rPr>
                        <a:t>Low-conflict reporting / distributed jobs</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core trade-off: 2PL makes clashing transactions WAIT (so it can deadlock); TO makes them RESTART (so it can starve but never deadlocks). Pick by how much contention the workload has.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78 / 136</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S41 · SOLVED PROBLEM · [EXAMPLE]</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Apply the basic timestamp-ordering rules</a:t>
            </a:r>
          </a:p>
        </p:txBody>
      </p:sp>
      <p:sp>
        <p:nvSpPr>
          <p:cNvPr id="5" name="Rounded Rectangle 4"/>
          <p:cNvSpPr/>
          <p:nvPr/>
        </p:nvSpPr>
        <p:spPr>
          <a:xfrm>
            <a:off x="640080" y="1444752"/>
            <a:ext cx="10972800" cy="91440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Problem</a:t>
            </a:r>
          </a:p>
          <a:p>
            <a:pPr>
              <a:spcBef>
                <a:spcPts val="300"/>
              </a:spcBef>
            </a:pPr>
            <a:r>
              <a:rPr sz="1300">
                <a:solidFill>
                  <a:srgbClr val="1A1A1A"/>
                </a:solidFill>
              </a:rPr>
              <a:t>Item X has read_TS(X)=0, write_TS(X)=0. Transactions arrive with TS: T1=100, T2=110. Trace: T2 write(X); T1 write(X). What does basic TO do with each operation?</a:t>
            </a:r>
          </a:p>
        </p:txBody>
      </p:sp>
      <p:sp>
        <p:nvSpPr>
          <p:cNvPr id="6" name="TextBox 5"/>
          <p:cNvSpPr txBox="1"/>
          <p:nvPr/>
        </p:nvSpPr>
        <p:spPr>
          <a:xfrm>
            <a:off x="777240" y="2487168"/>
            <a:ext cx="10698480" cy="2697480"/>
          </a:xfrm>
          <a:prstGeom prst="rect">
            <a:avLst/>
          </a:prstGeom>
          <a:noFill/>
        </p:spPr>
        <p:txBody>
          <a:bodyPr wrap="square">
            <a:spAutoFit/>
          </a:bodyPr>
          <a:lstStyle/>
          <a:p>
            <a:pPr>
              <a:spcAft>
                <a:spcPts val="400"/>
              </a:spcAft>
            </a:pPr>
            <a:r>
              <a:rPr sz="1250" b="1">
                <a:solidFill>
                  <a:srgbClr val="854F0B"/>
                </a:solidFill>
              </a:rPr>
              <a:t>Step 1.  </a:t>
            </a:r>
            <a:r>
              <a:rPr sz="1250">
                <a:solidFill>
                  <a:srgbClr val="1A1A1A"/>
                </a:solidFill>
              </a:rPr>
              <a:t>T2 write(X): check younger reader/writer? read_TS(X)=0 and write_TS(X)=0 are both &lt; 110 → ALLOWED. Update write_TS(X)=110.</a:t>
            </a:r>
          </a:p>
          <a:p>
            <a:pPr>
              <a:spcAft>
                <a:spcPts val="400"/>
              </a:spcAft>
            </a:pPr>
            <a:r>
              <a:rPr sz="1250" b="1">
                <a:solidFill>
                  <a:srgbClr val="854F0B"/>
                </a:solidFill>
              </a:rPr>
              <a:t>Step 2.  </a:t>
            </a:r>
            <a:r>
              <a:rPr sz="1250">
                <a:solidFill>
                  <a:srgbClr val="1A1A1A"/>
                </a:solidFill>
              </a:rPr>
              <a:t>T1 write(X): T1's TS=100. Compare with write_TS(X)=110 (a YOUNGER transaction, T2, already wrote X).</a:t>
            </a:r>
          </a:p>
          <a:p>
            <a:pPr>
              <a:spcAft>
                <a:spcPts val="400"/>
              </a:spcAft>
            </a:pPr>
            <a:r>
              <a:rPr sz="1250" b="1">
                <a:solidFill>
                  <a:srgbClr val="854F0B"/>
                </a:solidFill>
              </a:rPr>
              <a:t>Step 3.  </a:t>
            </a:r>
            <a:r>
              <a:rPr sz="1250">
                <a:solidFill>
                  <a:srgbClr val="1A1A1A"/>
                </a:solidFill>
              </a:rPr>
              <a:t>A write by an OLDER transaction over a value a younger one already wrote violates timestamp order.</a:t>
            </a:r>
          </a:p>
          <a:p>
            <a:pPr>
              <a:spcAft>
                <a:spcPts val="400"/>
              </a:spcAft>
            </a:pPr>
            <a:r>
              <a:rPr sz="1250" b="1">
                <a:solidFill>
                  <a:srgbClr val="854F0B"/>
                </a:solidFill>
              </a:rPr>
              <a:t>Step 4.  </a:t>
            </a:r>
            <a:r>
              <a:rPr sz="1250">
                <a:solidFill>
                  <a:srgbClr val="1A1A1A"/>
                </a:solidFill>
              </a:rPr>
              <a:t>Basic rule → ABORT T1 and restart it with a new timestamp larger than 110.</a:t>
            </a:r>
          </a:p>
          <a:p>
            <a:pPr>
              <a:spcAft>
                <a:spcPts val="400"/>
              </a:spcAft>
            </a:pPr>
            <a:r>
              <a:rPr sz="1250" b="1">
                <a:solidFill>
                  <a:srgbClr val="854F0B"/>
                </a:solidFill>
              </a:rPr>
              <a:t>Step 5.  </a:t>
            </a:r>
            <a:r>
              <a:rPr sz="1250">
                <a:solidFill>
                  <a:srgbClr val="1A1A1A"/>
                </a:solidFill>
              </a:rPr>
              <a:t>(Under Thomas's write rule instead, T1's obsolete write would simply be IGNORED — no abort.)</a:t>
            </a:r>
          </a:p>
        </p:txBody>
      </p:sp>
      <p:sp>
        <p:nvSpPr>
          <p:cNvPr id="7" name="Rounded Rectangle 6"/>
          <p:cNvSpPr/>
          <p:nvPr/>
        </p:nvSpPr>
        <p:spPr>
          <a:xfrm>
            <a:off x="640080" y="5230368"/>
            <a:ext cx="10972800" cy="137160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Worked answer</a:t>
            </a:r>
          </a:p>
          <a:p>
            <a:pPr>
              <a:spcBef>
                <a:spcPts val="300"/>
              </a:spcBef>
            </a:pPr>
            <a:r>
              <a:rPr sz="1300">
                <a:solidFill>
                  <a:srgbClr val="1A1A1A"/>
                </a:solidFill>
              </a:rPr>
              <a:t>Basic TO aborts and restarts T1 (its write arrived after younger T2's write on X). No waiting occurred, so no deadlock is possible. Thomas's write rule would instead ignore T1's obsolete write, allowing more concurrency.</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79 / 136</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S41 — 'Lock vs ticket'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for a high-conflict eSewa peak and a low-conflict nightly report job, decide whether 2PL (locking) or timestamp ordering fits better.</a:t>
            </a:r>
          </a:p>
          <a:p>
            <a:pPr>
              <a:spcAft>
                <a:spcPts val="700"/>
              </a:spcAft>
            </a:pPr>
            <a:r>
              <a:rPr sz="1550">
                <a:solidFill>
                  <a:srgbClr val="1A1A1A"/>
                </a:solidFill>
              </a:rPr>
              <a:t>•  List the failure mode each would suffer (deadlock vs starvation/restarts).</a:t>
            </a:r>
          </a:p>
          <a:p>
            <a:pPr>
              <a:spcAft>
                <a:spcPts val="700"/>
              </a:spcAft>
            </a:pPr>
            <a:r>
              <a:rPr sz="1550">
                <a:solidFill>
                  <a:srgbClr val="1A1A1A"/>
                </a:solidFill>
              </a:rPr>
              <a:t>•  Take 3–4 answers aloud (3 min).</a:t>
            </a:r>
          </a:p>
          <a:p>
            <a:pPr>
              <a:spcAft>
                <a:spcPts val="700"/>
              </a:spcAft>
            </a:pPr>
            <a:r>
              <a:rPr sz="1550">
                <a:solidFill>
                  <a:srgbClr val="1A1A1A"/>
                </a:solidFill>
              </a:rPr>
              <a:t>•  Close: high conflict → many restarts under TO (locking may be steadier); low conflict → TO's no-wait shines.</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Reasonable answers: TO avoids deadlock but restarts a lot under high contention (wasteful at peak); 2PL is steadier under contention but risks deadlock. Reward reasoning about the trade-off, not a single 'right' answer.</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80 / 136</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S41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In basic timestamp ordering, a transaction that violates the timestamp order is:</a:t>
            </a:r>
          </a:p>
          <a:p>
            <a:pPr lvl="1"/>
            <a:r>
              <a:rPr sz="1500" b="1">
                <a:solidFill>
                  <a:srgbClr val="0F6E56"/>
                </a:solidFill>
              </a:rPr>
              <a:t>a) queued   b) ignored always   c) ✅ aborted and restarted (with a larger timestamp)   d) committed early</a:t>
            </a:r>
          </a:p>
          <a:p>
            <a:pPr lvl="1">
              <a:spcBef>
                <a:spcPts val="600"/>
              </a:spcBef>
            </a:pPr>
            <a:r>
              <a:rPr sz="1500" i="1">
                <a:solidFill>
                  <a:srgbClr val="1A1A1A"/>
                </a:solidFill>
              </a:rPr>
              <a:t>     Why: it never waits — conflicts are resolved by rolling back and restarting.</a:t>
            </a:r>
          </a:p>
          <a:p>
            <a:pPr>
              <a:spcBef>
                <a:spcPts val="900"/>
              </a:spcBef>
            </a:pPr>
            <a:r>
              <a:rPr sz="1700" b="1">
                <a:solidFill>
                  <a:srgbClr val="0C2B4A"/>
                </a:solidFill>
              </a:rPr>
              <a:t>Q2.  Compared to 2PL, basic timestamp ordering:</a:t>
            </a:r>
          </a:p>
          <a:p>
            <a:pPr lvl="1"/>
            <a:r>
              <a:rPr sz="1500" b="1">
                <a:solidFill>
                  <a:srgbClr val="0F6E56"/>
                </a:solidFill>
              </a:rPr>
              <a:t>a) deadlocks more   b) ✅ cannot deadlock   c) needs more locks   d) is always faster</a:t>
            </a:r>
          </a:p>
          <a:p>
            <a:pPr lvl="1">
              <a:spcBef>
                <a:spcPts val="600"/>
              </a:spcBef>
            </a:pPr>
            <a:r>
              <a:rPr sz="1500" i="1">
                <a:solidFill>
                  <a:srgbClr val="1A1A1A"/>
                </a:solidFill>
              </a:rPr>
              <a:t>     Why: nothing waits, so there is no circular wait and no deadlock (though starvation is possible).</a:t>
            </a:r>
          </a:p>
          <a:p>
            <a:pPr lvl="1">
              <a:spcBef>
                <a:spcPts val="600"/>
              </a:spcBef>
            </a:pPr>
            <a:r>
              <a:rPr sz="1500" i="1">
                <a:solidFill>
                  <a:srgbClr val="1A1A1A"/>
                </a:solidFill>
              </a:rPr>
              <a:t>Discussion: timestamp ordering never deadlocks but can starve a transaction — why is that trade-off sometimes acceptable for a wallet system?</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81 / 136</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S41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A timestamp gives each transaction a fixed order at start (older = higher priority); items keep read_TS and write_TS.</a:t>
            </a:r>
          </a:p>
          <a:p>
            <a:pPr>
              <a:spcAft>
                <a:spcPts val="800"/>
              </a:spcAft>
            </a:pPr>
            <a:r>
              <a:rPr sz="1500">
                <a:solidFill>
                  <a:srgbClr val="1A1A1A"/>
                </a:solidFill>
              </a:rPr>
              <a:t>2.  Basic timestamp ordering aborts and restarts any operation that violates timestamp order — it never waits.</a:t>
            </a:r>
          </a:p>
          <a:p>
            <a:pPr>
              <a:spcAft>
                <a:spcPts val="800"/>
              </a:spcAft>
            </a:pPr>
            <a:r>
              <a:rPr sz="1500">
                <a:solidFill>
                  <a:srgbClr val="1A1A1A"/>
                </a:solidFill>
              </a:rPr>
              <a:t>3.  No waiting means no deadlock, but repeated restarts can cause starvation; Thomas's write rule ignores obsolete writes for more concurrency.</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Timestamp and multiversion ordering underpin high-concurrency and distributed databases (relevant to large-scale e-commerce and telecom billing across South Asia), where avoiding lock waits at massive scale is worth the restarts.</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S42 — what happens AFTER a failure: recovery begins with the deferred-update (NO-UNDO/REDO) technique.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82 / 136</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42 · LECTURE HOUR 6 (OF 8)</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Recovery Concepts · Deferred Update (NO-UNDO/REDO)</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The eSewa server crashes one second AFTER Rita's transfer commits — and mid-way through a second transfer that had not yet committed. After reboot, which one must be redone and which one thrown away?</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83 / 136</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S42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Recovery Concepts — UNDO and REDO</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Recovery is the process of restoring the database to the most recent consistent state after a failure, using the system log. Its two basic operations are UNDO (remove the effects of an uncommitted transaction) and REDO (reapply the effects of a committed one).</a:t>
            </a:r>
          </a:p>
          <a:p>
            <a:pPr>
              <a:spcAft>
                <a:spcPts val="500"/>
              </a:spcAft>
            </a:pPr>
            <a:r>
              <a:rPr sz="1200" b="1">
                <a:solidFill>
                  <a:srgbClr val="185FA5"/>
                </a:solidFill>
              </a:rPr>
              <a:t>HOW IT WORKS</a:t>
            </a:r>
          </a:p>
          <a:p>
            <a:pPr>
              <a:spcAft>
                <a:spcPts val="600"/>
              </a:spcAft>
            </a:pPr>
            <a:r>
              <a:rPr sz="1400">
                <a:solidFill>
                  <a:srgbClr val="1A1A1A"/>
                </a:solidFill>
              </a:rPr>
              <a:t>•  After a crash, the recovery manager scans the log to classify each transaction.</a:t>
            </a:r>
          </a:p>
          <a:p>
            <a:pPr>
              <a:spcAft>
                <a:spcPts val="600"/>
              </a:spcAft>
            </a:pPr>
            <a:r>
              <a:rPr sz="1400">
                <a:solidFill>
                  <a:srgbClr val="1A1A1A"/>
                </a:solidFill>
              </a:rPr>
              <a:t>•  UNDO: transactions with [start] but no [commit] → roll back using old values.</a:t>
            </a:r>
          </a:p>
          <a:p>
            <a:pPr>
              <a:spcAft>
                <a:spcPts val="600"/>
              </a:spcAft>
            </a:pPr>
            <a:r>
              <a:rPr sz="1400">
                <a:solidFill>
                  <a:srgbClr val="1A1A1A"/>
                </a:solidFill>
              </a:rPr>
              <a:t>•  REDO: transactions with both [start] and [commit] → reapply using new values.</a:t>
            </a:r>
          </a:p>
          <a:p>
            <a:pPr>
              <a:spcAft>
                <a:spcPts val="600"/>
              </a:spcAft>
            </a:pPr>
            <a:r>
              <a:rPr sz="1400">
                <a:solidFill>
                  <a:srgbClr val="1A1A1A"/>
                </a:solidFill>
              </a:rPr>
              <a:t>•  The exact mix of undo/redo depends on the update technique (deferred vs immediate).</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Recovery = restore last consistent state; UNDO the uncommitted, REDO the committed.</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84 / 136</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S42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Recovery Concepts — UNDO and REDO</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After the eSewa server reboots, the recovery manager scans the log: Rita's transfer has both [start] and [commit], so it is REDONE (reapplied from the new values) to be sure it's on disk; the second transfer has [start] but no [commit], so it is UNDONE (or simply discarded) — the customer never saw 'success' for it.</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"Recovery just reloads the last backup." Not for a normal crash — the disk is intact, so recovery uses the LOG to undo/redo individual transactions to the last consistent state. Full backups are only for catastrophic media loss (S44).</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Recovery is the restoration of the database to its most recent consistent state after a failure, driven by the system log. It relies on two operations: UNDO, which removes the effects of transactions that did not commit (using the log's old values), and REDO, which reapplies the effects of committed transactions (using the new values). Which operations are needed depends on the update technique in use.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recovery · last consistent state · UNDO (uncommitted, old values) · REDO (committed, new values) · log-driven</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85 / 136</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S42 · CONCEPT 1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recovery-action table — what to do with each transaction after a crash</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3484756"/>
                <a:gridCol w="2090853"/>
                <a:gridCol w="3624146"/>
                <a:gridCol w="2230243"/>
              </a:tblGrid>
              <a:tr h="630936">
                <a:tc>
                  <a:txBody>
                    <a:bodyPr wrap="square"/>
                    <a:lstStyle/>
                    <a:p>
                      <a:r>
                        <a:rPr sz="1100" b="1">
                          <a:solidFill>
                            <a:srgbClr val="FFFFFF"/>
                          </a:solidFill>
                        </a:rPr>
                        <a:t>Transaction (log evidence)</a:t>
                      </a:r>
                    </a:p>
                  </a:txBody>
                  <a:tcPr anchor="ctr" marL="73152" marR="54864" marT="27432" marB="27432">
                    <a:solidFill>
                      <a:srgbClr val="0C2B4A"/>
                    </a:solidFill>
                  </a:tcPr>
                </a:tc>
                <a:tc>
                  <a:txBody>
                    <a:bodyPr wrap="square"/>
                    <a:lstStyle/>
                    <a:p>
                      <a:r>
                        <a:rPr sz="1100" b="1">
                          <a:solidFill>
                            <a:srgbClr val="FFFFFF"/>
                          </a:solidFill>
                        </a:rPr>
                        <a:t>Status</a:t>
                      </a:r>
                    </a:p>
                  </a:txBody>
                  <a:tcPr anchor="ctr" marL="73152" marR="54864" marT="27432" marB="27432">
                    <a:solidFill>
                      <a:srgbClr val="0C2B4A"/>
                    </a:solidFill>
                  </a:tcPr>
                </a:tc>
                <a:tc>
                  <a:txBody>
                    <a:bodyPr wrap="square"/>
                    <a:lstStyle/>
                    <a:p>
                      <a:r>
                        <a:rPr sz="1100" b="1">
                          <a:solidFill>
                            <a:srgbClr val="FFFFFF"/>
                          </a:solidFill>
                        </a:rPr>
                        <a:t>Recovery action</a:t>
                      </a:r>
                    </a:p>
                  </a:txBody>
                  <a:tcPr anchor="ctr" marL="73152" marR="54864" marT="27432" marB="27432">
                    <a:solidFill>
                      <a:srgbClr val="0C2B4A"/>
                    </a:solidFill>
                  </a:tcPr>
                </a:tc>
                <a:tc>
                  <a:txBody>
                    <a:bodyPr wrap="square"/>
                    <a:lstStyle/>
                    <a:p>
                      <a:r>
                        <a:rPr sz="1100" b="1">
                          <a:solidFill>
                            <a:srgbClr val="FFFFFF"/>
                          </a:solidFill>
                        </a:rPr>
                        <a:t>Values used</a:t>
                      </a:r>
                    </a:p>
                  </a:txBody>
                  <a:tcPr anchor="ctr" marL="73152" marR="54864" marT="27432" marB="27432">
                    <a:solidFill>
                      <a:srgbClr val="0C2B4A"/>
                    </a:solidFill>
                  </a:tcPr>
                </a:tc>
              </a:tr>
              <a:tr h="630936">
                <a:tc>
                  <a:txBody>
                    <a:bodyPr wrap="square"/>
                    <a:lstStyle/>
                    <a:p>
                      <a:r>
                        <a:rPr sz="1050" b="1">
                          <a:solidFill>
                            <a:srgbClr val="0C2B4A"/>
                          </a:solidFill>
                        </a:rPr>
                        <a:t>[start,T] and [commit,T] present</a:t>
                      </a:r>
                    </a:p>
                  </a:txBody>
                  <a:tcPr anchor="ctr" marL="73152" marR="54864" marT="27432" marB="27432">
                    <a:solidFill>
                      <a:srgbClr val="FFFFFF"/>
                    </a:solidFill>
                  </a:tcPr>
                </a:tc>
                <a:tc>
                  <a:txBody>
                    <a:bodyPr wrap="square"/>
                    <a:lstStyle/>
                    <a:p>
                      <a:r>
                        <a:rPr sz="1050">
                          <a:solidFill>
                            <a:srgbClr val="1A1A1A"/>
                          </a:solidFill>
                        </a:rPr>
                        <a:t>Committed</a:t>
                      </a:r>
                    </a:p>
                  </a:txBody>
                  <a:tcPr anchor="ctr" marL="73152" marR="54864" marT="27432" marB="27432">
                    <a:solidFill>
                      <a:srgbClr val="FFFFFF"/>
                    </a:solidFill>
                  </a:tcPr>
                </a:tc>
                <a:tc>
                  <a:txBody>
                    <a:bodyPr wrap="square"/>
                    <a:lstStyle/>
                    <a:p>
                      <a:r>
                        <a:rPr sz="1050">
                          <a:solidFill>
                            <a:srgbClr val="1A1A1A"/>
                          </a:solidFill>
                        </a:rPr>
                        <a:t>REDO (make sure it's on disk)</a:t>
                      </a:r>
                    </a:p>
                  </a:txBody>
                  <a:tcPr anchor="ctr" marL="73152" marR="54864" marT="27432" marB="27432">
                    <a:solidFill>
                      <a:srgbClr val="FFFFFF"/>
                    </a:solidFill>
                  </a:tcPr>
                </a:tc>
                <a:tc>
                  <a:txBody>
                    <a:bodyPr wrap="square"/>
                    <a:lstStyle/>
                    <a:p>
                      <a:r>
                        <a:rPr sz="1050">
                          <a:solidFill>
                            <a:srgbClr val="1A1A1A"/>
                          </a:solidFill>
                        </a:rPr>
                        <a:t>new values</a:t>
                      </a:r>
                    </a:p>
                  </a:txBody>
                  <a:tcPr anchor="ctr" marL="73152" marR="54864" marT="27432" marB="27432">
                    <a:solidFill>
                      <a:srgbClr val="FFFFFF"/>
                    </a:solidFill>
                  </a:tcPr>
                </a:tc>
              </a:tr>
              <a:tr h="630936">
                <a:tc>
                  <a:txBody>
                    <a:bodyPr wrap="square"/>
                    <a:lstStyle/>
                    <a:p>
                      <a:r>
                        <a:rPr sz="1050" b="1">
                          <a:solidFill>
                            <a:srgbClr val="0C2B4A"/>
                          </a:solidFill>
                        </a:rPr>
                        <a:t>[start,T] but NO [commit,T]</a:t>
                      </a:r>
                    </a:p>
                  </a:txBody>
                  <a:tcPr anchor="ctr" marL="73152" marR="54864" marT="27432" marB="27432">
                    <a:solidFill>
                      <a:srgbClr val="EEF3F8"/>
                    </a:solidFill>
                  </a:tcPr>
                </a:tc>
                <a:tc>
                  <a:txBody>
                    <a:bodyPr wrap="square"/>
                    <a:lstStyle/>
                    <a:p>
                      <a:r>
                        <a:rPr sz="1050">
                          <a:solidFill>
                            <a:srgbClr val="1A1A1A"/>
                          </a:solidFill>
                        </a:rPr>
                        <a:t>Uncommitted</a:t>
                      </a:r>
                    </a:p>
                  </a:txBody>
                  <a:tcPr anchor="ctr" marL="73152" marR="54864" marT="27432" marB="27432">
                    <a:solidFill>
                      <a:srgbClr val="EEF3F8"/>
                    </a:solidFill>
                  </a:tcPr>
                </a:tc>
                <a:tc>
                  <a:txBody>
                    <a:bodyPr wrap="square"/>
                    <a:lstStyle/>
                    <a:p>
                      <a:r>
                        <a:rPr sz="1050">
                          <a:solidFill>
                            <a:srgbClr val="1A1A1A"/>
                          </a:solidFill>
                        </a:rPr>
                        <a:t>UNDO (immediate) / ignore (deferred)</a:t>
                      </a:r>
                    </a:p>
                  </a:txBody>
                  <a:tcPr anchor="ctr" marL="73152" marR="54864" marT="27432" marB="27432">
                    <a:solidFill>
                      <a:srgbClr val="EEF3F8"/>
                    </a:solidFill>
                  </a:tcPr>
                </a:tc>
                <a:tc>
                  <a:txBody>
                    <a:bodyPr wrap="square"/>
                    <a:lstStyle/>
                    <a:p>
                      <a:r>
                        <a:rPr sz="1050">
                          <a:solidFill>
                            <a:srgbClr val="1A1A1A"/>
                          </a:solidFill>
                        </a:rPr>
                        <a:t>old values</a:t>
                      </a:r>
                    </a:p>
                  </a:txBody>
                  <a:tcPr anchor="ctr" marL="73152" marR="54864" marT="27432" marB="27432">
                    <a:solidFill>
                      <a:srgbClr val="EEF3F8"/>
                    </a:solidFill>
                  </a:tcPr>
                </a:tc>
              </a:tr>
              <a:tr h="630936">
                <a:tc>
                  <a:txBody>
                    <a:bodyPr wrap="square"/>
                    <a:lstStyle/>
                    <a:p>
                      <a:r>
                        <a:rPr sz="1050" b="1">
                          <a:solidFill>
                            <a:srgbClr val="0C2B4A"/>
                          </a:solidFill>
                        </a:rPr>
                        <a:t>[start,T] then [abort,T]</a:t>
                      </a:r>
                    </a:p>
                  </a:txBody>
                  <a:tcPr anchor="ctr" marL="73152" marR="54864" marT="27432" marB="27432">
                    <a:solidFill>
                      <a:srgbClr val="FFFFFF"/>
                    </a:solidFill>
                  </a:tcPr>
                </a:tc>
                <a:tc>
                  <a:txBody>
                    <a:bodyPr wrap="square"/>
                    <a:lstStyle/>
                    <a:p>
                      <a:r>
                        <a:rPr sz="1050">
                          <a:solidFill>
                            <a:srgbClr val="1A1A1A"/>
                          </a:solidFill>
                        </a:rPr>
                        <a:t>Aborted</a:t>
                      </a:r>
                    </a:p>
                  </a:txBody>
                  <a:tcPr anchor="ctr" marL="73152" marR="54864" marT="27432" marB="27432">
                    <a:solidFill>
                      <a:srgbClr val="FFFFFF"/>
                    </a:solidFill>
                  </a:tcPr>
                </a:tc>
                <a:tc>
                  <a:txBody>
                    <a:bodyPr wrap="square"/>
                    <a:lstStyle/>
                    <a:p>
                      <a:r>
                        <a:rPr sz="1050">
                          <a:solidFill>
                            <a:srgbClr val="1A1A1A"/>
                          </a:solidFill>
                        </a:rPr>
                        <a:t>UNDO / already rolled back</a:t>
                      </a:r>
                    </a:p>
                  </a:txBody>
                  <a:tcPr anchor="ctr" marL="73152" marR="54864" marT="27432" marB="27432">
                    <a:solidFill>
                      <a:srgbClr val="FFFFFF"/>
                    </a:solidFill>
                  </a:tcPr>
                </a:tc>
                <a:tc>
                  <a:txBody>
                    <a:bodyPr wrap="square"/>
                    <a:lstStyle/>
                    <a:p>
                      <a:r>
                        <a:rPr sz="1050">
                          <a:solidFill>
                            <a:srgbClr val="1A1A1A"/>
                          </a:solidFill>
                        </a:rPr>
                        <a:t>old values</a:t>
                      </a:r>
                    </a:p>
                  </a:txBody>
                  <a:tcPr anchor="ctr" marL="73152" marR="54864" marT="27432" marB="27432">
                    <a:solidFill>
                      <a:srgbClr val="FFFFFF"/>
                    </a:solidFill>
                  </a:tcPr>
                </a:tc>
              </a:tr>
              <a:tr h="630936">
                <a:tc>
                  <a:txBody>
                    <a:bodyPr wrap="square"/>
                    <a:lstStyle/>
                    <a:p>
                      <a:r>
                        <a:rPr sz="1050" b="1">
                          <a:solidFill>
                            <a:srgbClr val="0C2B4A"/>
                          </a:solidFill>
                        </a:rPr>
                        <a:t>Committed before last [checkpoint]</a:t>
                      </a:r>
                    </a:p>
                  </a:txBody>
                  <a:tcPr anchor="ctr" marL="73152" marR="54864" marT="27432" marB="27432">
                    <a:solidFill>
                      <a:srgbClr val="EEF3F8"/>
                    </a:solidFill>
                  </a:tcPr>
                </a:tc>
                <a:tc>
                  <a:txBody>
                    <a:bodyPr wrap="square"/>
                    <a:lstStyle/>
                    <a:p>
                      <a:r>
                        <a:rPr sz="1050">
                          <a:solidFill>
                            <a:srgbClr val="1A1A1A"/>
                          </a:solidFill>
                        </a:rPr>
                        <a:t>Durable</a:t>
                      </a:r>
                    </a:p>
                  </a:txBody>
                  <a:tcPr anchor="ctr" marL="73152" marR="54864" marT="27432" marB="27432">
                    <a:solidFill>
                      <a:srgbClr val="EEF3F8"/>
                    </a:solidFill>
                  </a:tcPr>
                </a:tc>
                <a:tc>
                  <a:txBody>
                    <a:bodyPr wrap="square"/>
                    <a:lstStyle/>
                    <a:p>
                      <a:r>
                        <a:rPr sz="1050">
                          <a:solidFill>
                            <a:srgbClr val="1A1A1A"/>
                          </a:solidFill>
                        </a:rPr>
                        <a:t>Skip — already flushed</a:t>
                      </a:r>
                    </a:p>
                  </a:txBody>
                  <a:tcPr anchor="ctr" marL="73152" marR="54864" marT="27432" marB="27432">
                    <a:solidFill>
                      <a:srgbClr val="EEF3F8"/>
                    </a:solidFill>
                  </a:tcPr>
                </a:tc>
                <a:tc>
                  <a:txBody>
                    <a:bodyPr wrap="square"/>
                    <a:lstStyle/>
                    <a:p>
                      <a:r>
                        <a:rPr sz="1050">
                          <a:solidFill>
                            <a:srgbClr val="1A1A1A"/>
                          </a:solidFill>
                        </a:rPr>
                        <a:t>none</a:t>
                      </a:r>
                    </a:p>
                  </a:txBody>
                  <a:tcPr anchor="ctr" marL="73152" marR="54864" marT="27432" marB="27432">
                    <a:solidFill>
                      <a:srgbClr val="EEF3F8"/>
                    </a:solidFill>
                  </a:tcPr>
                </a:tc>
              </a:tr>
              <a:tr h="630936">
                <a:tc>
                  <a:txBody>
                    <a:bodyPr wrap="square"/>
                    <a:lstStyle/>
                    <a:p>
                      <a:r>
                        <a:rPr sz="1050" b="1">
                          <a:solidFill>
                            <a:srgbClr val="0C2B4A"/>
                          </a:solidFill>
                        </a:rPr>
                        <a:t>Rita's transfer: committed pre-crash</a:t>
                      </a:r>
                    </a:p>
                  </a:txBody>
                  <a:tcPr anchor="ctr" marL="73152" marR="54864" marT="27432" marB="27432">
                    <a:solidFill>
                      <a:srgbClr val="FFFFFF"/>
                    </a:solidFill>
                  </a:tcPr>
                </a:tc>
                <a:tc>
                  <a:txBody>
                    <a:bodyPr wrap="square"/>
                    <a:lstStyle/>
                    <a:p>
                      <a:r>
                        <a:rPr sz="1050">
                          <a:solidFill>
                            <a:srgbClr val="1A1A1A"/>
                          </a:solidFill>
                        </a:rPr>
                        <a:t>Committed</a:t>
                      </a:r>
                    </a:p>
                  </a:txBody>
                  <a:tcPr anchor="ctr" marL="73152" marR="54864" marT="27432" marB="27432">
                    <a:solidFill>
                      <a:srgbClr val="FFFFFF"/>
                    </a:solidFill>
                  </a:tcPr>
                </a:tc>
                <a:tc>
                  <a:txBody>
                    <a:bodyPr wrap="square"/>
                    <a:lstStyle/>
                    <a:p>
                      <a:r>
                        <a:rPr sz="1050">
                          <a:solidFill>
                            <a:srgbClr val="1A1A1A"/>
                          </a:solidFill>
                        </a:rPr>
                        <a:t>REDO the debit + credit</a:t>
                      </a:r>
                    </a:p>
                  </a:txBody>
                  <a:tcPr anchor="ctr" marL="73152" marR="54864" marT="27432" marB="27432">
                    <a:solidFill>
                      <a:srgbClr val="FFFFFF"/>
                    </a:solidFill>
                  </a:tcPr>
                </a:tc>
                <a:tc>
                  <a:txBody>
                    <a:bodyPr wrap="square"/>
                    <a:lstStyle/>
                    <a:p>
                      <a:r>
                        <a:rPr sz="1050">
                          <a:solidFill>
                            <a:srgbClr val="1A1A1A"/>
                          </a:solidFill>
                        </a:rPr>
                        <a:t>new balances</a:t>
                      </a:r>
                    </a:p>
                  </a:txBody>
                  <a:tcPr anchor="ctr" marL="73152" marR="54864" marT="27432" marB="27432">
                    <a:solidFill>
                      <a:srgbClr val="FFFFFF"/>
                    </a:solidFill>
                  </a:tcPr>
                </a:tc>
              </a:tr>
              <a:tr h="630936">
                <a:tc>
                  <a:txBody>
                    <a:bodyPr wrap="square"/>
                    <a:lstStyle/>
                    <a:p>
                      <a:r>
                        <a:rPr sz="1050" b="1">
                          <a:solidFill>
                            <a:srgbClr val="0C2B4A"/>
                          </a:solidFill>
                        </a:rPr>
                        <a:t>Hari's transfer: crashed mid-way</a:t>
                      </a:r>
                    </a:p>
                  </a:txBody>
                  <a:tcPr anchor="ctr" marL="73152" marR="54864" marT="27432" marB="27432">
                    <a:solidFill>
                      <a:srgbClr val="EEF3F8"/>
                    </a:solidFill>
                  </a:tcPr>
                </a:tc>
                <a:tc>
                  <a:txBody>
                    <a:bodyPr wrap="square"/>
                    <a:lstStyle/>
                    <a:p>
                      <a:r>
                        <a:rPr sz="1050">
                          <a:solidFill>
                            <a:srgbClr val="1A1A1A"/>
                          </a:solidFill>
                        </a:rPr>
                        <a:t>Uncommitted</a:t>
                      </a:r>
                    </a:p>
                  </a:txBody>
                  <a:tcPr anchor="ctr" marL="73152" marR="54864" marT="27432" marB="27432">
                    <a:solidFill>
                      <a:srgbClr val="EEF3F8"/>
                    </a:solidFill>
                  </a:tcPr>
                </a:tc>
                <a:tc>
                  <a:txBody>
                    <a:bodyPr wrap="square"/>
                    <a:lstStyle/>
                    <a:p>
                      <a:r>
                        <a:rPr sz="1050">
                          <a:solidFill>
                            <a:srgbClr val="1A1A1A"/>
                          </a:solidFill>
                        </a:rPr>
                        <a:t>UNDO the partial debit</a:t>
                      </a:r>
                    </a:p>
                  </a:txBody>
                  <a:tcPr anchor="ctr" marL="73152" marR="54864" marT="27432" marB="27432">
                    <a:solidFill>
                      <a:srgbClr val="EEF3F8"/>
                    </a:solidFill>
                  </a:tcPr>
                </a:tc>
                <a:tc>
                  <a:txBody>
                    <a:bodyPr wrap="square"/>
                    <a:lstStyle/>
                    <a:p>
                      <a:r>
                        <a:rPr sz="1050">
                          <a:solidFill>
                            <a:srgbClr val="1A1A1A"/>
                          </a:solidFill>
                        </a:rPr>
                        <a:t>old balance</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Recovery is disciplined log-reading: REDO transactions with [start]+[commit]; UNDO (or ignore, under deferred update) those with [start] but no [commit]. The checkpoint marks what is already safely on disk.</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86 / 136</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S42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Caching, In-Place Update &amp; Write-Ahead Logging</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For efficiency, the DBMS updates data in a memory buffer (cache) first and writes to disk later; in-place update overwrites the item in its disk location. Write-Ahead Logging (WAL) is the rule that the log record must reach stable storage BEFORE the corresponding data page is written.</a:t>
            </a:r>
          </a:p>
          <a:p>
            <a:pPr>
              <a:spcAft>
                <a:spcPts val="500"/>
              </a:spcAft>
            </a:pPr>
            <a:r>
              <a:rPr sz="1200" b="1">
                <a:solidFill>
                  <a:srgbClr val="185FA5"/>
                </a:solidFill>
              </a:rPr>
              <a:t>HOW IT WORKS</a:t>
            </a:r>
          </a:p>
          <a:p>
            <a:pPr>
              <a:spcAft>
                <a:spcPts val="600"/>
              </a:spcAft>
            </a:pPr>
            <a:r>
              <a:rPr sz="1400">
                <a:solidFill>
                  <a:srgbClr val="1A1A1A"/>
                </a:solidFill>
              </a:rPr>
              <a:t>•  Writes hit the buffer first; dirty pages are flushed to disk later, not instantly at commit.</a:t>
            </a:r>
          </a:p>
          <a:p>
            <a:pPr>
              <a:spcAft>
                <a:spcPts val="600"/>
              </a:spcAft>
            </a:pPr>
            <a:r>
              <a:rPr sz="1400">
                <a:solidFill>
                  <a:srgbClr val="1A1A1A"/>
                </a:solidFill>
              </a:rPr>
              <a:t>•  WAL guarantees the old value (for UNDO) and new value (for REDO) are safely logged before the data page changes.</a:t>
            </a:r>
          </a:p>
          <a:p>
            <a:pPr>
              <a:spcAft>
                <a:spcPts val="600"/>
              </a:spcAft>
            </a:pPr>
            <a:r>
              <a:rPr sz="1400">
                <a:solidFill>
                  <a:srgbClr val="1A1A1A"/>
                </a:solidFill>
              </a:rPr>
              <a:t>•  Without WAL, a crash could leave a changed data page with no log record to undo/redo it.</a:t>
            </a:r>
          </a:p>
          <a:p>
            <a:pPr>
              <a:spcAft>
                <a:spcPts val="600"/>
              </a:spcAft>
            </a:pPr>
            <a:r>
              <a:rPr sz="1400">
                <a:solidFill>
                  <a:srgbClr val="1A1A1A"/>
                </a:solidFill>
              </a:rPr>
              <a:t>•  WAL is what actually makes durability and recovery possible.</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WAL: write the log record to stable storage BEFORE the data page.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87 / 136</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S42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Caching, In-Place Update &amp; Write-Ahead Logging</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When eSewa commits Rita's transfer, the updated balance may still be sitting in the buffer, not yet on disk. What makes 'success' safe is that the log records ([write...][commit]) were flushed to stable storage FIRST (WAL). If the server crashes before the data page is written, recovery REDOes the change from the logged new value.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"Data is written to disk the instant you commit." No — the data page may linger in the buffer; only the LOG record is guaranteed on stable storage at commit. Durability comes from the log (WAL), not from an immediate data-page write.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The DBMS caches data in a memory buffer and updates it there first (in-place update overwrites the item's disk copy when flushed). Write-Ahead Logging (WAL) requires a transaction's log record to reach stable storage before the corresponding data page, so every change can be undone (old value) or redone (new value) after a crash. WAL is the foundation of durability: commit means 'safely logged', not 'already on the data disk'.</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buffer/cache · in-place update · dirty page · Write-Ahead Logging (WAL) · log before data page · commit = logged</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88 / 136</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S42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Checkpoints</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A checkpoint is a periodic point at which the DBMS flushes all buffered updates to disk and writes a [checkpoint] record to the log. It limits how far back recovery must scan: transactions that committed before the checkpoint need not be redone.</a:t>
            </a:r>
          </a:p>
          <a:p>
            <a:pPr>
              <a:spcAft>
                <a:spcPts val="500"/>
              </a:spcAft>
            </a:pPr>
            <a:r>
              <a:rPr sz="1200" b="1">
                <a:solidFill>
                  <a:srgbClr val="185FA5"/>
                </a:solidFill>
              </a:rPr>
              <a:t>HOW IT WORKS</a:t>
            </a:r>
          </a:p>
          <a:p>
            <a:pPr>
              <a:spcAft>
                <a:spcPts val="600"/>
              </a:spcAft>
            </a:pPr>
            <a:r>
              <a:rPr sz="1400">
                <a:solidFill>
                  <a:srgbClr val="1A1A1A"/>
                </a:solidFill>
              </a:rPr>
              <a:t>•  At a checkpoint, dirty buffer pages are forced to disk and a [checkpoint] mark is logged.</a:t>
            </a:r>
          </a:p>
          <a:p>
            <a:pPr>
              <a:spcAft>
                <a:spcPts val="600"/>
              </a:spcAft>
            </a:pPr>
            <a:r>
              <a:rPr sz="1400">
                <a:solidFill>
                  <a:srgbClr val="1A1A1A"/>
                </a:solidFill>
              </a:rPr>
              <a:t>•  After a crash, recovery only needs to consider transactions active at or after the last checkpoint.</a:t>
            </a:r>
          </a:p>
          <a:p>
            <a:pPr>
              <a:spcAft>
                <a:spcPts val="600"/>
              </a:spcAft>
            </a:pPr>
            <a:r>
              <a:rPr sz="1400">
                <a:solidFill>
                  <a:srgbClr val="1A1A1A"/>
                </a:solidFill>
              </a:rPr>
              <a:t>•  This bounds recovery time — you never replay the ENTIRE log from the beginning.</a:t>
            </a:r>
          </a:p>
          <a:p>
            <a:pPr>
              <a:spcAft>
                <a:spcPts val="600"/>
              </a:spcAft>
            </a:pPr>
            <a:r>
              <a:rPr sz="1400">
                <a:solidFill>
                  <a:srgbClr val="1A1A1A"/>
                </a:solidFill>
              </a:rPr>
              <a:t>•  Checkpoints trade a brief pause now for much faster recovery later.</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Checkpoint = a save point; recovery starts from the last one, not the very start.</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89 / 136</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S42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Checkpoints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eSewa's DBMS takes a checkpoint every few minutes, flushing buffered balances to disk and logging a [checkpoint] mark. If it crashes at 3:07 and the last checkpoint was 3:05, recovery only replays the log from 3:05 — transfers that committed and were flushed before 3:05 are already safe on disk and skipped.</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"Recovery always replays the whole log from the beginning." No — the last [checkpoint] bounds the work: anything committed and flushed before it is already durable, so recovery starts from the checkpoint, not from transaction one.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 checkpoint is a periodic operation in which the DBMS flushes all buffered (dirty) pages to disk and records a [checkpoint] entry in the log. Because everything committed before the checkpoint is guaranteed on disk, recovery after a crash only needs to examine transactions active at or after the last checkpoint, bounding recovery time. It is like a save point that avoids replaying the entire log.</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checkpoint · flush dirty pages · [checkpoint] log record · bounds recovery scan · save point analogy</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90 / 136</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S42 · CONCEPT 4 · [THEORY] [EXAMPLE]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Deferred Update (NO-UNDO/REDO)</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In the deferred-update technique, all actual database writes are DEFERRED until AFTER the transaction commits; until then the changes live only in the log and buffer. Because uncommitted transactions never touched the database, recovery needs NO UNDO — only REDO for committed transactions not yet flushed.</a:t>
            </a:r>
          </a:p>
          <a:p>
            <a:pPr>
              <a:spcAft>
                <a:spcPts val="500"/>
              </a:spcAft>
            </a:pPr>
            <a:r>
              <a:rPr sz="1200" b="1">
                <a:solidFill>
                  <a:srgbClr val="185FA5"/>
                </a:solidFill>
              </a:rPr>
              <a:t>HOW IT WORKS</a:t>
            </a:r>
          </a:p>
          <a:p>
            <a:pPr>
              <a:spcAft>
                <a:spcPts val="600"/>
              </a:spcAft>
            </a:pPr>
            <a:r>
              <a:rPr sz="1400">
                <a:solidFill>
                  <a:srgbClr val="1A1A1A"/>
                </a:solidFill>
              </a:rPr>
              <a:t>•  Before commit, the DB on disk is untouched; changes are recorded in the log only.</a:t>
            </a:r>
          </a:p>
          <a:p>
            <a:pPr>
              <a:spcAft>
                <a:spcPts val="600"/>
              </a:spcAft>
            </a:pPr>
            <a:r>
              <a:rPr sz="1400">
                <a:solidFill>
                  <a:srgbClr val="1A1A1A"/>
                </a:solidFill>
              </a:rPr>
              <a:t>•  NO-UNDO: an uncommitted transaction changed nothing on disk → nothing to roll back.</a:t>
            </a:r>
          </a:p>
          <a:p>
            <a:pPr>
              <a:spcAft>
                <a:spcPts val="600"/>
              </a:spcAft>
            </a:pPr>
            <a:r>
              <a:rPr sz="1400">
                <a:solidFill>
                  <a:srgbClr val="1A1A1A"/>
                </a:solidFill>
              </a:rPr>
              <a:t>•  REDO: a committed transaction's changes may still be only in the log/buffer → reapply from the log.</a:t>
            </a:r>
          </a:p>
          <a:p>
            <a:pPr>
              <a:spcAft>
                <a:spcPts val="600"/>
              </a:spcAft>
            </a:pPr>
            <a:r>
              <a:rPr sz="1400">
                <a:solidFill>
                  <a:srgbClr val="1A1A1A"/>
                </a:solidFill>
              </a:rPr>
              <a:t>•  Recovery rule: REDO every transaction with both [start] and [commit]; ignore the rest.</a:t>
            </a:r>
          </a:p>
        </p:txBody>
      </p:sp>
      <p:pic>
        <p:nvPicPr>
          <p:cNvPr id="6" name="Picture 5" descr="s42_deferred.png"/>
          <p:cNvPicPr>
            <a:picLocks noChangeAspect="1"/>
          </p:cNvPicPr>
          <p:nvPr/>
        </p:nvPicPr>
        <p:blipFill>
          <a:blip r:embed="rId2"/>
          <a:stretch>
            <a:fillRect/>
          </a:stretch>
        </p:blipFill>
        <p:spPr>
          <a:xfrm>
            <a:off x="6355080" y="2392193"/>
            <a:ext cx="5532120" cy="2850852"/>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Deferred update: write only after commit → REDO only, never UNDO.</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91 / 136</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S42 · CONCEPT 4 · [THEORY] [EXAMPLE]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Deferred Update (NO-UNDO/REDO)</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Under deferred update, Rita's debit is written to the wallet table only AFTER [commit,T] is logged. If the server crashes before she commits, the wallet table was never changed — nothing to undo. If it crashes just after commit but before the buffer is flushed, recovery REDOes her transfer from the logged new values.</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"Deferred update still needs to undo unfinished transactions." No — because writes are deferred until after commit, an uncommitted transaction made NO changes to the database, so there is nothing to undo. Deferred update is NO-UNDO/REDO by design.</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The deferred-update (NO-UNDO/REDO) technique postpones all database writes until after a transaction commits, keeping changes in the log/buffer until then. Consequently, uncommitted transactions never modify the database (no UNDO is ever needed), while committed transactions whose changes may still be buffered are reapplied (REDO). Recovery simply REDOes every transaction having both [start] and [commit] and ignores the rest.</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deferred update · NO-UNDO/REDO · write after commit · nothing to undo · REDO committed · [start]+[commit] rule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92 / 136</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S42 · CONCEPT 5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Limitation of Deferred Update</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Deferred update is simple and needs no UNDO, but it must hold ALL of a transaction's changes in the log/buffer until commit. For long or large transactions this consumes a lot of buffer/log space and delays visibility of changes — which motivates the immediate-update technique (S43).</a:t>
            </a:r>
          </a:p>
          <a:p>
            <a:pPr>
              <a:spcAft>
                <a:spcPts val="500"/>
              </a:spcAft>
            </a:pPr>
            <a:r>
              <a:rPr sz="1200" b="1">
                <a:solidFill>
                  <a:srgbClr val="185FA5"/>
                </a:solidFill>
              </a:rPr>
              <a:t>HOW IT WORKS</a:t>
            </a:r>
          </a:p>
          <a:p>
            <a:pPr>
              <a:spcAft>
                <a:spcPts val="600"/>
              </a:spcAft>
            </a:pPr>
            <a:r>
              <a:rPr sz="1400">
                <a:solidFill>
                  <a:srgbClr val="1A1A1A"/>
                </a:solidFill>
              </a:rPr>
              <a:t>•  A long transaction accumulates many buffered changes it cannot write until it commits.</a:t>
            </a:r>
          </a:p>
          <a:p>
            <a:pPr>
              <a:spcAft>
                <a:spcPts val="600"/>
              </a:spcAft>
            </a:pPr>
            <a:r>
              <a:rPr sz="1400">
                <a:solidFill>
                  <a:srgbClr val="1A1A1A"/>
                </a:solidFill>
              </a:rPr>
              <a:t>•  Large batch updates can exhaust buffer space under pure deferred update.</a:t>
            </a:r>
          </a:p>
          <a:p>
            <a:pPr>
              <a:spcAft>
                <a:spcPts val="600"/>
              </a:spcAft>
            </a:pPr>
            <a:r>
              <a:rPr sz="1400">
                <a:solidFill>
                  <a:srgbClr val="1A1A1A"/>
                </a:solidFill>
              </a:rPr>
              <a:t>•  Changes are invisible on disk until commit, delaying when they become durable there.</a:t>
            </a:r>
          </a:p>
          <a:p>
            <a:pPr>
              <a:spcAft>
                <a:spcPts val="600"/>
              </a:spcAft>
            </a:pPr>
            <a:r>
              <a:rPr sz="1400">
                <a:solidFill>
                  <a:srgbClr val="1A1A1A"/>
                </a:solidFill>
              </a:rPr>
              <a:t>•  Immediate update (S43) fixes this by writing early — at the cost of needing UNDO.</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Deferred update strains memory for long/large transactions → motivates immediate update.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93 / 136</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S42 · CONCEPT 5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Limitation of Deferred Update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bank's nightly interest-calculation batch updates millions of accounts in one transaction. Under pure deferred update, every one of those changes must sit in the log/buffer until the whole batch commits — a heavy memory and log burden. This is exactly the case where immediate update (write as you go) is preferable.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"Deferred update is always the best choice because it needs no undo." No — its no-undo simplicity costs buffer/log space and delays durability for long/large transactions; immediate update trades in an UNDO requirement to write early and scale better.</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The main limitation of deferred update is that it must retain all of a transaction's changes in the log/buffer until commit, which strains memory and log space for long-running or large (e.g. batch) transactions and delays when changes reach disk. This scalability cost motivates the immediate-update technique, which writes changes to the database as they occur at the price of requiring UNDO.</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limitation of deferred update · buffer/log pressure · long/large transactions · delayed durability · motivates immediate update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94 / 136</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S42 · SOLVED PROBLEM · [EXAMPLE]</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Recover a deferred-update log after a crash</a:t>
            </a:r>
          </a:p>
        </p:txBody>
      </p:sp>
      <p:sp>
        <p:nvSpPr>
          <p:cNvPr id="5" name="Rounded Rectangle 4"/>
          <p:cNvSpPr/>
          <p:nvPr/>
        </p:nvSpPr>
        <p:spPr>
          <a:xfrm>
            <a:off x="640080" y="1444752"/>
            <a:ext cx="10972800" cy="91440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Problem</a:t>
            </a:r>
          </a:p>
          <a:p>
            <a:pPr>
              <a:spcBef>
                <a:spcPts val="300"/>
              </a:spcBef>
            </a:pPr>
            <a:r>
              <a:rPr sz="1300">
                <a:solidFill>
                  <a:srgbClr val="1A1A1A"/>
                </a:solidFill>
              </a:rPr>
              <a:t>After a crash under DEFERRED update, the log shows: [start,T1] [write,T1,X,-,50] [commit,T1] [start,T2] [write,T2,Y,-,80] — then CRASH (no [commit,T2]). What does recovery do?</a:t>
            </a:r>
          </a:p>
        </p:txBody>
      </p:sp>
      <p:sp>
        <p:nvSpPr>
          <p:cNvPr id="6" name="TextBox 5"/>
          <p:cNvSpPr txBox="1"/>
          <p:nvPr/>
        </p:nvSpPr>
        <p:spPr>
          <a:xfrm>
            <a:off x="777240" y="2487168"/>
            <a:ext cx="10698480" cy="2697480"/>
          </a:xfrm>
          <a:prstGeom prst="rect">
            <a:avLst/>
          </a:prstGeom>
          <a:noFill/>
        </p:spPr>
        <p:txBody>
          <a:bodyPr wrap="square">
            <a:spAutoFit/>
          </a:bodyPr>
          <a:lstStyle/>
          <a:p>
            <a:pPr>
              <a:spcAft>
                <a:spcPts val="400"/>
              </a:spcAft>
            </a:pPr>
            <a:r>
              <a:rPr sz="1250" b="1">
                <a:solidFill>
                  <a:srgbClr val="854F0B"/>
                </a:solidFill>
              </a:rPr>
              <a:t>Step 1.  </a:t>
            </a:r>
            <a:r>
              <a:rPr sz="1250">
                <a:solidFill>
                  <a:srgbClr val="1A1A1A"/>
                </a:solidFill>
              </a:rPr>
              <a:t>Deferred update is NO-UNDO/REDO: writes happened only after commit, so uncommitted transactions changed nothing on disk.</a:t>
            </a:r>
          </a:p>
          <a:p>
            <a:pPr>
              <a:spcAft>
                <a:spcPts val="400"/>
              </a:spcAft>
            </a:pPr>
            <a:r>
              <a:rPr sz="1250" b="1">
                <a:solidFill>
                  <a:srgbClr val="854F0B"/>
                </a:solidFill>
              </a:rPr>
              <a:t>Step 2.  </a:t>
            </a:r>
            <a:r>
              <a:rPr sz="1250">
                <a:solidFill>
                  <a:srgbClr val="1A1A1A"/>
                </a:solidFill>
              </a:rPr>
              <a:t>T1 has both [start,T1] and [commit,T1] → it committed → REDO T1: reapply write X=50 from the log's new value.</a:t>
            </a:r>
          </a:p>
          <a:p>
            <a:pPr>
              <a:spcAft>
                <a:spcPts val="400"/>
              </a:spcAft>
            </a:pPr>
            <a:r>
              <a:rPr sz="1250" b="1">
                <a:solidFill>
                  <a:srgbClr val="854F0B"/>
                </a:solidFill>
              </a:rPr>
              <a:t>Step 3.  </a:t>
            </a:r>
            <a:r>
              <a:rPr sz="1250">
                <a:solidFill>
                  <a:srgbClr val="1A1A1A"/>
                </a:solidFill>
              </a:rPr>
              <a:t>T2 has [start,T2] but NO [commit,T2] → it never committed → its write was never applied to the DB.</a:t>
            </a:r>
          </a:p>
          <a:p>
            <a:pPr>
              <a:spcAft>
                <a:spcPts val="400"/>
              </a:spcAft>
            </a:pPr>
            <a:r>
              <a:rPr sz="1250" b="1">
                <a:solidFill>
                  <a:srgbClr val="854F0B"/>
                </a:solidFill>
              </a:rPr>
              <a:t>Step 4.  </a:t>
            </a:r>
            <a:r>
              <a:rPr sz="1250">
                <a:solidFill>
                  <a:srgbClr val="1A1A1A"/>
                </a:solidFill>
              </a:rPr>
              <a:t>So T2 needs NO UNDO (nothing was written) — simply ignore/discard T2.</a:t>
            </a:r>
          </a:p>
          <a:p>
            <a:pPr>
              <a:spcAft>
                <a:spcPts val="400"/>
              </a:spcAft>
            </a:pPr>
            <a:r>
              <a:rPr sz="1250" b="1">
                <a:solidFill>
                  <a:srgbClr val="854F0B"/>
                </a:solidFill>
              </a:rPr>
              <a:t>Step 5.  </a:t>
            </a:r>
            <a:r>
              <a:rPr sz="1250">
                <a:solidFill>
                  <a:srgbClr val="1A1A1A"/>
                </a:solidFill>
              </a:rPr>
              <a:t>Result: X=50 is restored/confirmed; Y is untouched, exactly as if T2 never ran.</a:t>
            </a:r>
          </a:p>
        </p:txBody>
      </p:sp>
      <p:sp>
        <p:nvSpPr>
          <p:cNvPr id="7" name="Rounded Rectangle 6"/>
          <p:cNvSpPr/>
          <p:nvPr/>
        </p:nvSpPr>
        <p:spPr>
          <a:xfrm>
            <a:off x="640080" y="5230368"/>
            <a:ext cx="10972800" cy="137160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Worked answer</a:t>
            </a:r>
          </a:p>
          <a:p>
            <a:pPr>
              <a:spcBef>
                <a:spcPts val="300"/>
              </a:spcBef>
            </a:pPr>
            <a:r>
              <a:rPr sz="1300">
                <a:solidFill>
                  <a:srgbClr val="1A1A1A"/>
                </a:solidFill>
              </a:rPr>
              <a:t>REDO T1 (committed) from the logged new value X=50; ignore T2 (no commit) — no undo needed because deferred update never wrote uncommitted changes to disk. This is why the technique is called NO-UNDO/REDO.</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95 / 136</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S42 — 'Undo, redo, or ignore?'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(3 min): under DEFERRED update, a crash leaves these in the log — classify each transaction.</a:t>
            </a:r>
          </a:p>
          <a:p>
            <a:pPr>
              <a:spcAft>
                <a:spcPts val="700"/>
              </a:spcAft>
            </a:pPr>
            <a:r>
              <a:rPr sz="1550">
                <a:solidFill>
                  <a:srgbClr val="1A1A1A"/>
                </a:solidFill>
              </a:rPr>
              <a:t>•  T_a: [start][write][commit];  T_b: [start][write] (no commit);  T_c: committed before the last [checkpoint].</a:t>
            </a:r>
          </a:p>
          <a:p>
            <a:pPr>
              <a:spcAft>
                <a:spcPts val="700"/>
              </a:spcAft>
            </a:pPr>
            <a:r>
              <a:rPr sz="1550">
                <a:solidFill>
                  <a:srgbClr val="1A1A1A"/>
                </a:solidFill>
              </a:rPr>
              <a:t>•  Decide REDO / ignore for each, and say why deferred update never needs UNDO.</a:t>
            </a:r>
          </a:p>
          <a:p>
            <a:pPr>
              <a:spcAft>
                <a:spcPts val="700"/>
              </a:spcAft>
            </a:pPr>
            <a:r>
              <a:rPr sz="1550">
                <a:solidFill>
                  <a:srgbClr val="1A1A1A"/>
                </a:solidFill>
              </a:rPr>
              <a:t>•  Share (2 min): T_a → REDO; T_b → ignore (nothing written); T_c → already on disk, skip.</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T_a REDO (committed, maybe still buffered); T_b ignore (deferred → no disk change, no undo); T_c skip (flushed at the checkpoint). Reward the reason 'nothing was written before commit' for the no-undo point.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96 / 136</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S42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In deferred update (NO-UNDO/REDO), uncommitted transactions need:</a:t>
            </a:r>
          </a:p>
          <a:p>
            <a:pPr lvl="1"/>
            <a:r>
              <a:rPr sz="1500" b="1">
                <a:solidFill>
                  <a:srgbClr val="0F6E56"/>
                </a:solidFill>
              </a:rPr>
              <a:t>a) undo only   b) both undo and redo   c) ✅ no undo   d) redo only</a:t>
            </a:r>
          </a:p>
          <a:p>
            <a:pPr lvl="1">
              <a:spcBef>
                <a:spcPts val="600"/>
              </a:spcBef>
            </a:pPr>
            <a:r>
              <a:rPr sz="1500" i="1">
                <a:solidFill>
                  <a:srgbClr val="1A1A1A"/>
                </a:solidFill>
              </a:rPr>
              <a:t>     Why: writes are deferred until commit, so an uncommitted txn changed nothing on disk.</a:t>
            </a:r>
          </a:p>
          <a:p>
            <a:pPr>
              <a:spcBef>
                <a:spcPts val="900"/>
              </a:spcBef>
            </a:pPr>
            <a:r>
              <a:rPr sz="1700" b="1">
                <a:solidFill>
                  <a:srgbClr val="0C2B4A"/>
                </a:solidFill>
              </a:rPr>
              <a:t>Q2.  Writing the log record before the data page is the rule called:</a:t>
            </a:r>
          </a:p>
          <a:p>
            <a:pPr lvl="1"/>
            <a:r>
              <a:rPr sz="1500" b="1">
                <a:solidFill>
                  <a:srgbClr val="0F6E56"/>
                </a:solidFill>
              </a:rPr>
              <a:t>a) checkpointing   b) ✅ Write-Ahead Logging (WAL)   c) shadow paging   d) in-place update</a:t>
            </a:r>
          </a:p>
          <a:p>
            <a:pPr lvl="1">
              <a:spcBef>
                <a:spcPts val="600"/>
              </a:spcBef>
            </a:pPr>
            <a:r>
              <a:rPr sz="1500" i="1">
                <a:solidFill>
                  <a:srgbClr val="1A1A1A"/>
                </a:solidFill>
              </a:rPr>
              <a:t>     Why: WAL guarantees the undo/redo information is safe before the data changes.</a:t>
            </a:r>
          </a:p>
          <a:p>
            <a:pPr lvl="1">
              <a:spcBef>
                <a:spcPts val="600"/>
              </a:spcBef>
            </a:pPr>
            <a:r>
              <a:rPr sz="1500" i="1">
                <a:solidFill>
                  <a:srgbClr val="1A1A1A"/>
                </a:solidFill>
              </a:rPr>
              <a:t>Discussion: after a crash you find [start,T] but no [commit,T] for Rita's transfer under deferred update. What do you do, and why is it safe?</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97 / 136</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S42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Recovery restores the last consistent state from the log: UNDO the uncommitted, REDO the committed.</a:t>
            </a:r>
          </a:p>
          <a:p>
            <a:pPr>
              <a:spcAft>
                <a:spcPts val="800"/>
              </a:spcAft>
            </a:pPr>
            <a:r>
              <a:rPr sz="1500">
                <a:solidFill>
                  <a:srgbClr val="1A1A1A"/>
                </a:solidFill>
              </a:rPr>
              <a:t>2.  Write-Ahead Logging (log before data page) plus checkpoints make recovery correct and fast.</a:t>
            </a:r>
          </a:p>
          <a:p>
            <a:pPr>
              <a:spcAft>
                <a:spcPts val="800"/>
              </a:spcAft>
            </a:pPr>
            <a:r>
              <a:rPr sz="1500">
                <a:solidFill>
                  <a:srgbClr val="1A1A1A"/>
                </a:solidFill>
              </a:rPr>
              <a:t>3.  Deferred update writes only after commit → NO-UNDO/REDO, but strains memory for long/large transactions.</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Deferred-update-style recovery is why a wallet app can confidently show 'Transfer successful' even though the actual disk write may happen slightly later — the committed log record is the real guarantee.</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S43 — the alternative: write to the database immediately (and be ready to UNDO), plus shadow paging.</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98 / 136</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43 · LECTURE HOUR 7 (OF 8)</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Recovery Based on Immediate Update · Shadow Paging</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What if eSewa wrote each debit to disk INSTANTLY — faster, but now a crash can leave a half-done transfer already on disk. How do we take it back? And is there a way to update with no undo log at all?</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99 / 136</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S43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Immediate Update</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In the immediate-update technique, the database is modified WHILE the transaction is still active — before it commits — with Write-Ahead Logging enforced. Because uncommitted changes may already be on disk, recovery requires BOTH UNDO (for uncommitted writes) and REDO (for committed writes not yet flushed).</a:t>
            </a:r>
          </a:p>
          <a:p>
            <a:pPr>
              <a:spcAft>
                <a:spcPts val="500"/>
              </a:spcAft>
            </a:pPr>
            <a:r>
              <a:rPr sz="1200" b="1">
                <a:solidFill>
                  <a:srgbClr val="185FA5"/>
                </a:solidFill>
              </a:rPr>
              <a:t>HOW IT WORKS</a:t>
            </a:r>
          </a:p>
          <a:p>
            <a:pPr>
              <a:spcAft>
                <a:spcPts val="600"/>
              </a:spcAft>
            </a:pPr>
            <a:r>
              <a:rPr sz="1400">
                <a:solidFill>
                  <a:srgbClr val="1A1A1A"/>
                </a:solidFill>
              </a:rPr>
              <a:t>•  Changes are written to the database as operations execute, not deferred to commit.</a:t>
            </a:r>
          </a:p>
          <a:p>
            <a:pPr>
              <a:spcAft>
                <a:spcPts val="600"/>
              </a:spcAft>
            </a:pPr>
            <a:r>
              <a:rPr sz="1400">
                <a:solidFill>
                  <a:srgbClr val="1A1A1A"/>
                </a:solidFill>
              </a:rPr>
              <a:t>•  WAL is mandatory: the old value must be logged before the data page changes, so UNDO is possible.</a:t>
            </a:r>
          </a:p>
          <a:p>
            <a:pPr>
              <a:spcAft>
                <a:spcPts val="600"/>
              </a:spcAft>
            </a:pPr>
            <a:r>
              <a:rPr sz="1400">
                <a:solidFill>
                  <a:srgbClr val="1A1A1A"/>
                </a:solidFill>
              </a:rPr>
              <a:t>•  UNDO handles uncommitted writes already on disk; REDO handles committed writes still in buffer.</a:t>
            </a:r>
          </a:p>
          <a:p>
            <a:pPr>
              <a:spcAft>
                <a:spcPts val="600"/>
              </a:spcAft>
            </a:pPr>
            <a:r>
              <a:rPr sz="1400">
                <a:solidFill>
                  <a:srgbClr val="1A1A1A"/>
                </a:solidFill>
              </a:rPr>
              <a:t>•  This is the UNDO/REDO model used by most real DBMS engines.</a:t>
            </a:r>
          </a:p>
        </p:txBody>
      </p:sp>
      <p:pic>
        <p:nvPicPr>
          <p:cNvPr id="6" name="Picture 5" descr="s43_immediate.png"/>
          <p:cNvPicPr>
            <a:picLocks noChangeAspect="1"/>
          </p:cNvPicPr>
          <p:nvPr/>
        </p:nvPicPr>
        <p:blipFill>
          <a:blip r:embed="rId2"/>
          <a:stretch>
            <a:fillRect/>
          </a:stretch>
        </p:blipFill>
        <p:spPr>
          <a:xfrm>
            <a:off x="6355080" y="2392193"/>
            <a:ext cx="5532120" cy="2850852"/>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Immediate update writes early → recovery needs BOTH UNDO and REDO.</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100 / 136</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S43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Immediate Update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Under immediate update, Rita's debit is written to the wallet table AS it happens. If she then aborts (or the server crashes before commit), that debit is already on disk, so recovery must UNDO it — restoring her old balance from the log's old value. Committed-but-unflushed transfers are REDONE. Hence UNDO/REDO.</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"Immediate update is just deferred update done faster." No — it changes the RECOVERY requirement: because uncommitted changes can reach disk, you now MUST be able to UNDO them. Deferred update never needs undo; immediate update always might.</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The immediate-update technique writes a transaction's changes to the database while it is still active (before commit), under Write-Ahead Logging. Because uncommitted changes may already be on disk, recovery requires both UNDO (rolling back uncommitted writes using logged old values) and REDO (reapplying committed writes still in the buffer). It is the UNDO/REDO model implemented by most production DBMSs.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immediate update · write before commit · WAL enforced · UNDO/REDO · old value enables undo</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101 / 136</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S43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UNDO/REDO vs UNDO-only Variants</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Immediate update has variants depending on flushing policy. UNDO/REDO (the general case) does not force all writes to disk at commit, so it may need REDO. UNDO-only forces all of a transaction's writes to disk at commit, so committed changes are already durable and no REDO is ever needed.</a:t>
            </a:r>
          </a:p>
          <a:p>
            <a:pPr>
              <a:spcAft>
                <a:spcPts val="500"/>
              </a:spcAft>
            </a:pPr>
            <a:r>
              <a:rPr sz="1200" b="1">
                <a:solidFill>
                  <a:srgbClr val="185FA5"/>
                </a:solidFill>
              </a:rPr>
              <a:t>HOW IT WORKS</a:t>
            </a:r>
          </a:p>
          <a:p>
            <a:pPr>
              <a:spcAft>
                <a:spcPts val="600"/>
              </a:spcAft>
            </a:pPr>
            <a:r>
              <a:rPr sz="1400">
                <a:solidFill>
                  <a:srgbClr val="1A1A1A"/>
                </a:solidFill>
              </a:rPr>
              <a:t>•  UNDO/REDO: don't force-flush at commit → may need both undo and redo (most flexible).</a:t>
            </a:r>
          </a:p>
          <a:p>
            <a:pPr>
              <a:spcAft>
                <a:spcPts val="600"/>
              </a:spcAft>
            </a:pPr>
            <a:r>
              <a:rPr sz="1400">
                <a:solidFill>
                  <a:srgbClr val="1A1A1A"/>
                </a:solidFill>
              </a:rPr>
              <a:t>•  UNDO-only (force at commit): flush all writes at commit → committed data is on disk → no redo needed.</a:t>
            </a:r>
          </a:p>
          <a:p>
            <a:pPr>
              <a:spcAft>
                <a:spcPts val="600"/>
              </a:spcAft>
            </a:pPr>
            <a:r>
              <a:rPr sz="1400">
                <a:solidFill>
                  <a:srgbClr val="1A1A1A"/>
                </a:solidFill>
              </a:rPr>
              <a:t>•  Contrast with deferred update's NO-UNDO/REDO (writes only after commit → no undo).</a:t>
            </a:r>
          </a:p>
          <a:p>
            <a:pPr>
              <a:spcAft>
                <a:spcPts val="600"/>
              </a:spcAft>
            </a:pPr>
            <a:r>
              <a:rPr sz="1400">
                <a:solidFill>
                  <a:srgbClr val="1A1A1A"/>
                </a:solidFill>
              </a:rPr>
              <a:t>•  The choice trades commit-time I/O against recovery-time work.</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UNDO-only forces writes at commit (no redo); UNDO/REDO defers the flush (may redo).</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102 / 136</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S43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UNDO/REDO vs UNDO-only Variants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payment system that force-flushes each committed transfer to disk (UNDO-only) never needs REDO — once 'success' is shown, the data is already on disk — but pays extra I/O at every commit. A system that lets committed changes linger in the buffer (UNDO/REDO) commits faster but must REDO after a crash. Both must UNDO uncommitted writes.</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"All immediate-update recovery is the same." No — forcing writes at commit (UNDO-only) removes the REDO step but adds commit-time I/O; not forcing (UNDO/REDO) is faster at commit but needs REDO on recovery. It's a real trade-off.</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Immediate-update variants differ by commit-time flushing: the general UNDO/REDO variant does not force all writes to disk at commit, so recovery may need REDO as well as UNDO; the UNDO-only variant forces all of a transaction's writes to disk at commit, making committed changes durable so no REDO is needed. Both contrast with deferred update's NO-UNDO/REDO, and the choice trades commit-time I/O against recovery work.</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UNDO/REDO · UNDO-only (force-at-commit) · no-redo when forced · commit-time I/O trade-off · vs NO-UNDO/REDO</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103 / 136</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S43 · CONCEPT 2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three recovery techniques — UNDO/REDO needs at a glance</a:t>
            </a:r>
          </a:p>
        </p:txBody>
      </p:sp>
      <p:graphicFrame>
        <p:nvGraphicFramePr>
          <p:cNvPr id="5" name="Table 4"/>
          <p:cNvGraphicFramePr>
            <a:graphicFrameLocks noGrp="1"/>
          </p:cNvGraphicFramePr>
          <p:nvPr/>
        </p:nvGraphicFramePr>
        <p:xfrm>
          <a:off x="384048" y="1572768"/>
          <a:ext cx="11430000" cy="4416552"/>
        </p:xfrm>
        <a:graphic>
          <a:graphicData uri="http://schemas.openxmlformats.org/drawingml/2006/table">
            <a:tbl>
              <a:tblPr>
                <a:tableStyleId>{5C22544A-7EE6-4342-B048-85BDC9FD1C3A}</a:tableStyleId>
              </a:tblPr>
              <a:tblGrid>
                <a:gridCol w="2171700"/>
                <a:gridCol w="2514600"/>
                <a:gridCol w="1943100"/>
                <a:gridCol w="1943100"/>
                <a:gridCol w="2857500"/>
              </a:tblGrid>
              <a:tr h="883310">
                <a:tc>
                  <a:txBody>
                    <a:bodyPr wrap="square"/>
                    <a:lstStyle/>
                    <a:p>
                      <a:r>
                        <a:rPr sz="1100" b="1">
                          <a:solidFill>
                            <a:srgbClr val="FFFFFF"/>
                          </a:solidFill>
                        </a:rPr>
                        <a:t>Technique</a:t>
                      </a:r>
                    </a:p>
                  </a:txBody>
                  <a:tcPr anchor="ctr" marL="73152" marR="54864" marT="27432" marB="27432">
                    <a:solidFill>
                      <a:srgbClr val="0C2B4A"/>
                    </a:solidFill>
                  </a:tcPr>
                </a:tc>
                <a:tc>
                  <a:txBody>
                    <a:bodyPr wrap="square"/>
                    <a:lstStyle/>
                    <a:p>
                      <a:r>
                        <a:rPr sz="1100" b="1">
                          <a:solidFill>
                            <a:srgbClr val="FFFFFF"/>
                          </a:solidFill>
                        </a:rPr>
                        <a:t>When DB is written</a:t>
                      </a:r>
                    </a:p>
                  </a:txBody>
                  <a:tcPr anchor="ctr" marL="73152" marR="54864" marT="27432" marB="27432">
                    <a:solidFill>
                      <a:srgbClr val="0C2B4A"/>
                    </a:solidFill>
                  </a:tcPr>
                </a:tc>
                <a:tc>
                  <a:txBody>
                    <a:bodyPr wrap="square"/>
                    <a:lstStyle/>
                    <a:p>
                      <a:r>
                        <a:rPr sz="1100" b="1">
                          <a:solidFill>
                            <a:srgbClr val="FFFFFF"/>
                          </a:solidFill>
                        </a:rPr>
                        <a:t>UNDO needed?</a:t>
                      </a:r>
                    </a:p>
                  </a:txBody>
                  <a:tcPr anchor="ctr" marL="73152" marR="54864" marT="27432" marB="27432">
                    <a:solidFill>
                      <a:srgbClr val="0C2B4A"/>
                    </a:solidFill>
                  </a:tcPr>
                </a:tc>
                <a:tc>
                  <a:txBody>
                    <a:bodyPr wrap="square"/>
                    <a:lstStyle/>
                    <a:p>
                      <a:r>
                        <a:rPr sz="1100" b="1">
                          <a:solidFill>
                            <a:srgbClr val="FFFFFF"/>
                          </a:solidFill>
                        </a:rPr>
                        <a:t>REDO needed?</a:t>
                      </a:r>
                    </a:p>
                  </a:txBody>
                  <a:tcPr anchor="ctr" marL="73152" marR="54864" marT="27432" marB="27432">
                    <a:solidFill>
                      <a:srgbClr val="0C2B4A"/>
                    </a:solidFill>
                  </a:tcPr>
                </a:tc>
                <a:tc>
                  <a:txBody>
                    <a:bodyPr wrap="square"/>
                    <a:lstStyle/>
                    <a:p>
                      <a:r>
                        <a:rPr sz="1100" b="1">
                          <a:solidFill>
                            <a:srgbClr val="FFFFFF"/>
                          </a:solidFill>
                        </a:rPr>
                        <a:t>Trade-off</a:t>
                      </a:r>
                    </a:p>
                  </a:txBody>
                  <a:tcPr anchor="ctr" marL="73152" marR="54864" marT="27432" marB="27432">
                    <a:solidFill>
                      <a:srgbClr val="0C2B4A"/>
                    </a:solidFill>
                  </a:tcPr>
                </a:tc>
              </a:tr>
              <a:tr h="883310">
                <a:tc>
                  <a:txBody>
                    <a:bodyPr wrap="square"/>
                    <a:lstStyle/>
                    <a:p>
                      <a:r>
                        <a:rPr sz="1050" b="1">
                          <a:solidFill>
                            <a:srgbClr val="0C2B4A"/>
                          </a:solidFill>
                        </a:rPr>
                        <a:t>Deferred update</a:t>
                      </a:r>
                    </a:p>
                  </a:txBody>
                  <a:tcPr anchor="ctr" marL="73152" marR="54864" marT="27432" marB="27432">
                    <a:solidFill>
                      <a:srgbClr val="FFFFFF"/>
                    </a:solidFill>
                  </a:tcPr>
                </a:tc>
                <a:tc>
                  <a:txBody>
                    <a:bodyPr wrap="square"/>
                    <a:lstStyle/>
                    <a:p>
                      <a:r>
                        <a:rPr sz="1050">
                          <a:solidFill>
                            <a:srgbClr val="1A1A1A"/>
                          </a:solidFill>
                        </a:rPr>
                        <a:t>only AFTER commit</a:t>
                      </a:r>
                    </a:p>
                  </a:txBody>
                  <a:tcPr anchor="ctr" marL="73152" marR="54864" marT="27432" marB="27432">
                    <a:solidFill>
                      <a:srgbClr val="FFFFFF"/>
                    </a:solidFill>
                  </a:tcPr>
                </a:tc>
                <a:tc>
                  <a:txBody>
                    <a:bodyPr wrap="square"/>
                    <a:lstStyle/>
                    <a:p>
                      <a:r>
                        <a:rPr sz="1050">
                          <a:solidFill>
                            <a:srgbClr val="1A1A1A"/>
                          </a:solidFill>
                        </a:rPr>
                        <a:t>No (nothing written pre-commit)</a:t>
                      </a:r>
                    </a:p>
                  </a:txBody>
                  <a:tcPr anchor="ctr" marL="73152" marR="54864" marT="27432" marB="27432">
                    <a:solidFill>
                      <a:srgbClr val="FFFFFF"/>
                    </a:solidFill>
                  </a:tcPr>
                </a:tc>
                <a:tc>
                  <a:txBody>
                    <a:bodyPr wrap="square"/>
                    <a:lstStyle/>
                    <a:p>
                      <a:r>
                        <a:rPr sz="1050">
                          <a:solidFill>
                            <a:srgbClr val="1A1A1A"/>
                          </a:solidFill>
                        </a:rPr>
                        <a:t>Yes (committed, maybe buffered)</a:t>
                      </a:r>
                    </a:p>
                  </a:txBody>
                  <a:tcPr anchor="ctr" marL="73152" marR="54864" marT="27432" marB="27432">
                    <a:solidFill>
                      <a:srgbClr val="FFFFFF"/>
                    </a:solidFill>
                  </a:tcPr>
                </a:tc>
                <a:tc>
                  <a:txBody>
                    <a:bodyPr wrap="square"/>
                    <a:lstStyle/>
                    <a:p>
                      <a:r>
                        <a:rPr sz="1050">
                          <a:solidFill>
                            <a:srgbClr val="1A1A1A"/>
                          </a:solidFill>
                        </a:rPr>
                        <a:t>simple, but strains buffer for big txns</a:t>
                      </a:r>
                    </a:p>
                  </a:txBody>
                  <a:tcPr anchor="ctr" marL="73152" marR="54864" marT="27432" marB="27432">
                    <a:solidFill>
                      <a:srgbClr val="FFFFFF"/>
                    </a:solidFill>
                  </a:tcPr>
                </a:tc>
              </a:tr>
              <a:tr h="883310">
                <a:tc>
                  <a:txBody>
                    <a:bodyPr wrap="square"/>
                    <a:lstStyle/>
                    <a:p>
                      <a:r>
                        <a:rPr sz="1050" b="1">
                          <a:solidFill>
                            <a:srgbClr val="0C2B4A"/>
                          </a:solidFill>
                        </a:rPr>
                        <a:t>Immediate update (UNDO/REDO)</a:t>
                      </a:r>
                    </a:p>
                  </a:txBody>
                  <a:tcPr anchor="ctr" marL="73152" marR="54864" marT="27432" marB="27432">
                    <a:solidFill>
                      <a:srgbClr val="EEF3F8"/>
                    </a:solidFill>
                  </a:tcPr>
                </a:tc>
                <a:tc>
                  <a:txBody>
                    <a:bodyPr wrap="square"/>
                    <a:lstStyle/>
                    <a:p>
                      <a:r>
                        <a:rPr sz="1050">
                          <a:solidFill>
                            <a:srgbClr val="1A1A1A"/>
                          </a:solidFill>
                        </a:rPr>
                        <a:t>during the txn; no force at commit</a:t>
                      </a:r>
                    </a:p>
                  </a:txBody>
                  <a:tcPr anchor="ctr" marL="73152" marR="54864" marT="27432" marB="27432">
                    <a:solidFill>
                      <a:srgbClr val="EEF3F8"/>
                    </a:solidFill>
                  </a:tcPr>
                </a:tc>
                <a:tc>
                  <a:txBody>
                    <a:bodyPr wrap="square"/>
                    <a:lstStyle/>
                    <a:p>
                      <a:r>
                        <a:rPr sz="1050">
                          <a:solidFill>
                            <a:srgbClr val="1A1A1A"/>
                          </a:solidFill>
                        </a:rPr>
                        <a:t>Yes (uncommitted may be on disk)</a:t>
                      </a:r>
                    </a:p>
                  </a:txBody>
                  <a:tcPr anchor="ctr" marL="73152" marR="54864" marT="27432" marB="27432">
                    <a:solidFill>
                      <a:srgbClr val="EEF3F8"/>
                    </a:solidFill>
                  </a:tcPr>
                </a:tc>
                <a:tc>
                  <a:txBody>
                    <a:bodyPr wrap="square"/>
                    <a:lstStyle/>
                    <a:p>
                      <a:r>
                        <a:rPr sz="1050">
                          <a:solidFill>
                            <a:srgbClr val="1A1A1A"/>
                          </a:solidFill>
                        </a:rPr>
                        <a:t>Yes (committed, maybe buffered)</a:t>
                      </a:r>
                    </a:p>
                  </a:txBody>
                  <a:tcPr anchor="ctr" marL="73152" marR="54864" marT="27432" marB="27432">
                    <a:solidFill>
                      <a:srgbClr val="EEF3F8"/>
                    </a:solidFill>
                  </a:tcPr>
                </a:tc>
                <a:tc>
                  <a:txBody>
                    <a:bodyPr wrap="square"/>
                    <a:lstStyle/>
                    <a:p>
                      <a:r>
                        <a:rPr sz="1050">
                          <a:solidFill>
                            <a:srgbClr val="1A1A1A"/>
                          </a:solidFill>
                        </a:rPr>
                        <a:t>fast commit; most recovery work</a:t>
                      </a:r>
                    </a:p>
                  </a:txBody>
                  <a:tcPr anchor="ctr" marL="73152" marR="54864" marT="27432" marB="27432">
                    <a:solidFill>
                      <a:srgbClr val="EEF3F8"/>
                    </a:solidFill>
                  </a:tcPr>
                </a:tc>
              </a:tr>
              <a:tr h="883310">
                <a:tc>
                  <a:txBody>
                    <a:bodyPr wrap="square"/>
                    <a:lstStyle/>
                    <a:p>
                      <a:r>
                        <a:rPr sz="1050" b="1">
                          <a:solidFill>
                            <a:srgbClr val="0C2B4A"/>
                          </a:solidFill>
                        </a:rPr>
                        <a:t>Immediate update (UNDO-only)</a:t>
                      </a:r>
                    </a:p>
                  </a:txBody>
                  <a:tcPr anchor="ctr" marL="73152" marR="54864" marT="27432" marB="27432">
                    <a:solidFill>
                      <a:srgbClr val="FFFFFF"/>
                    </a:solidFill>
                  </a:tcPr>
                </a:tc>
                <a:tc>
                  <a:txBody>
                    <a:bodyPr wrap="square"/>
                    <a:lstStyle/>
                    <a:p>
                      <a:r>
                        <a:rPr sz="1050">
                          <a:solidFill>
                            <a:srgbClr val="1A1A1A"/>
                          </a:solidFill>
                        </a:rPr>
                        <a:t>during the txn; force at commit</a:t>
                      </a:r>
                    </a:p>
                  </a:txBody>
                  <a:tcPr anchor="ctr" marL="73152" marR="54864" marT="27432" marB="27432">
                    <a:solidFill>
                      <a:srgbClr val="FFFFFF"/>
                    </a:solidFill>
                  </a:tcPr>
                </a:tc>
                <a:tc>
                  <a:txBody>
                    <a:bodyPr wrap="square"/>
                    <a:lstStyle/>
                    <a:p>
                      <a:r>
                        <a:rPr sz="1050">
                          <a:solidFill>
                            <a:srgbClr val="1A1A1A"/>
                          </a:solidFill>
                        </a:rPr>
                        <a:t>Yes</a:t>
                      </a:r>
                    </a:p>
                  </a:txBody>
                  <a:tcPr anchor="ctr" marL="73152" marR="54864" marT="27432" marB="27432">
                    <a:solidFill>
                      <a:srgbClr val="FFFFFF"/>
                    </a:solidFill>
                  </a:tcPr>
                </a:tc>
                <a:tc>
                  <a:txBody>
                    <a:bodyPr wrap="square"/>
                    <a:lstStyle/>
                    <a:p>
                      <a:r>
                        <a:rPr sz="1050">
                          <a:solidFill>
                            <a:srgbClr val="1A1A1A"/>
                          </a:solidFill>
                        </a:rPr>
                        <a:t>No (forced to disk at commit)</a:t>
                      </a:r>
                    </a:p>
                  </a:txBody>
                  <a:tcPr anchor="ctr" marL="73152" marR="54864" marT="27432" marB="27432">
                    <a:solidFill>
                      <a:srgbClr val="FFFFFF"/>
                    </a:solidFill>
                  </a:tcPr>
                </a:tc>
                <a:tc>
                  <a:txBody>
                    <a:bodyPr wrap="square"/>
                    <a:lstStyle/>
                    <a:p>
                      <a:r>
                        <a:rPr sz="1050">
                          <a:solidFill>
                            <a:srgbClr val="1A1A1A"/>
                          </a:solidFill>
                        </a:rPr>
                        <a:t>no redo, but extra commit-time I/O</a:t>
                      </a:r>
                    </a:p>
                  </a:txBody>
                  <a:tcPr anchor="ctr" marL="73152" marR="54864" marT="27432" marB="27432">
                    <a:solidFill>
                      <a:srgbClr val="FFFFFF"/>
                    </a:solidFill>
                  </a:tcPr>
                </a:tc>
              </a:tr>
              <a:tr h="883312">
                <a:tc>
                  <a:txBody>
                    <a:bodyPr wrap="square"/>
                    <a:lstStyle/>
                    <a:p>
                      <a:r>
                        <a:rPr sz="1050" b="1">
                          <a:solidFill>
                            <a:srgbClr val="0C2B4A"/>
                          </a:solidFill>
                        </a:rPr>
                        <a:t>Shadow paging</a:t>
                      </a:r>
                    </a:p>
                  </a:txBody>
                  <a:tcPr anchor="ctr" marL="73152" marR="54864" marT="27432" marB="27432">
                    <a:solidFill>
                      <a:srgbClr val="EEF3F8"/>
                    </a:solidFill>
                  </a:tcPr>
                </a:tc>
                <a:tc>
                  <a:txBody>
                    <a:bodyPr wrap="square"/>
                    <a:lstStyle/>
                    <a:p>
                      <a:r>
                        <a:rPr sz="1050">
                          <a:solidFill>
                            <a:srgbClr val="1A1A1A"/>
                          </a:solidFill>
                        </a:rPr>
                        <a:t>new pages; pointer flip at commit</a:t>
                      </a:r>
                    </a:p>
                  </a:txBody>
                  <a:tcPr anchor="ctr" marL="73152" marR="54864" marT="27432" marB="27432">
                    <a:solidFill>
                      <a:srgbClr val="EEF3F8"/>
                    </a:solidFill>
                  </a:tcPr>
                </a:tc>
                <a:tc>
                  <a:txBody>
                    <a:bodyPr wrap="square"/>
                    <a:lstStyle/>
                    <a:p>
                      <a:r>
                        <a:rPr sz="1050">
                          <a:solidFill>
                            <a:srgbClr val="1A1A1A"/>
                          </a:solidFill>
                        </a:rPr>
                        <a:t>No (discard new pages)</a:t>
                      </a:r>
                    </a:p>
                  </a:txBody>
                  <a:tcPr anchor="ctr" marL="73152" marR="54864" marT="27432" marB="27432">
                    <a:solidFill>
                      <a:srgbClr val="EEF3F8"/>
                    </a:solidFill>
                  </a:tcPr>
                </a:tc>
                <a:tc>
                  <a:txBody>
                    <a:bodyPr wrap="square"/>
                    <a:lstStyle/>
                    <a:p>
                      <a:r>
                        <a:rPr sz="1050">
                          <a:solidFill>
                            <a:srgbClr val="1A1A1A"/>
                          </a:solidFill>
                        </a:rPr>
                        <a:t>No (pointer flip is atomic)</a:t>
                      </a:r>
                    </a:p>
                  </a:txBody>
                  <a:tcPr anchor="ctr" marL="73152" marR="54864" marT="27432" marB="27432">
                    <a:solidFill>
                      <a:srgbClr val="EEF3F8"/>
                    </a:solidFill>
                  </a:tcPr>
                </a:tc>
                <a:tc>
                  <a:txBody>
                    <a:bodyPr wrap="square"/>
                    <a:lstStyle/>
                    <a:p>
                      <a:r>
                        <a:rPr sz="1050">
                          <a:solidFill>
                            <a:srgbClr val="1A1A1A"/>
                          </a:solidFill>
                        </a:rPr>
                        <a:t>no undo log, but fragmentation &amp; poor concurrency</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Read the undo/redo columns as the exam answer: deferred = NO-UNDO/REDO; immediate = UNDO/REDO (or UNDO-only if force-flushed); shadow paging needs neither because commit is an atomic pointer switch.</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104 / 136</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S43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Recovery Procedure for Immediate Update</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To recover an immediate-update database after a crash, the recovery manager scans the log and: REDOes every committed transaction (forward, using new values) and UNDOes every uncommitted transaction (in REVERSE order, using old values).</a:t>
            </a:r>
          </a:p>
          <a:p>
            <a:pPr>
              <a:spcAft>
                <a:spcPts val="500"/>
              </a:spcAft>
            </a:pPr>
            <a:r>
              <a:rPr sz="1200" b="1">
                <a:solidFill>
                  <a:srgbClr val="185FA5"/>
                </a:solidFill>
              </a:rPr>
              <a:t>HOW IT WORKS</a:t>
            </a:r>
          </a:p>
          <a:p>
            <a:pPr>
              <a:spcAft>
                <a:spcPts val="600"/>
              </a:spcAft>
            </a:pPr>
            <a:r>
              <a:rPr sz="1400">
                <a:solidFill>
                  <a:srgbClr val="1A1A1A"/>
                </a:solidFill>
              </a:rPr>
              <a:t>•  Identify committed transactions ([start]+[commit]) and uncommitted ones ([start], no [commit]).</a:t>
            </a:r>
          </a:p>
          <a:p>
            <a:pPr>
              <a:spcAft>
                <a:spcPts val="600"/>
              </a:spcAft>
            </a:pPr>
            <a:r>
              <a:rPr sz="1400">
                <a:solidFill>
                  <a:srgbClr val="1A1A1A"/>
                </a:solidFill>
              </a:rPr>
              <a:t>•  REDO committed transactions forward from their logged new values.</a:t>
            </a:r>
          </a:p>
          <a:p>
            <a:pPr>
              <a:spcAft>
                <a:spcPts val="600"/>
              </a:spcAft>
            </a:pPr>
            <a:r>
              <a:rPr sz="1400">
                <a:solidFill>
                  <a:srgbClr val="1A1A1A"/>
                </a:solidFill>
              </a:rPr>
              <a:t>•  UNDO uncommitted transactions backward (reverse order) from their logged old values.</a:t>
            </a:r>
          </a:p>
          <a:p>
            <a:pPr>
              <a:spcAft>
                <a:spcPts val="600"/>
              </a:spcAft>
            </a:pPr>
            <a:r>
              <a:rPr sz="1400">
                <a:solidFill>
                  <a:srgbClr val="1A1A1A"/>
                </a:solidFill>
              </a:rPr>
              <a:t>•  Reverse order for UNDO ensures overlapping changes are rolled back correctly.</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Immediate-update recovery: REDO committed (forward), UNDO uncommitted (reverse).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105 / 136</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S43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Recovery Procedure for Immediate Update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After an eSewa crash under immediate update, the log shows one committed transfer and one that wrote a debit but never committed. Recovery REDOes the committed transfer (reapplying its new values) and UNDOes the uncommitted one in reverse, restoring the old balance from the logged old value — so the half-done debit disappears.</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"You can undo transactions in any order." No — UNDO must go in REVERSE chronological order so that if two uncommitted writes touched the same item, the earliest old value is restored last and the item ends correct.</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Recovery under immediate update scans the log and REDOes all committed transactions (in forward order, using logged new values) while UNDOing all uncommitted transactions (in reverse order, using logged old values). Redoing ensures committed changes are durable even if only buffered; undoing in reverse ensures overlapping uncommitted changes are correctly rolled back to the last consistent state.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immediate-update recovery · REDO committed forward · UNDO uncommitted reverse · old/new values · consistent state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106 / 136</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S43 · CONCEPT 4 · [THEORY] [EXAMPLE]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Shadow Paging</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Shadow paging is a recovery technique that keeps an unchanged SHADOW (old) copy of the page table while updates go to NEW copies of pages. Committing means atomically switching the current page-table pointer to the new table; aborting means discarding the new pages and keeping the shadow — so no undo log is needed.</a:t>
            </a:r>
          </a:p>
          <a:p>
            <a:pPr>
              <a:spcAft>
                <a:spcPts val="500"/>
              </a:spcAft>
            </a:pPr>
            <a:r>
              <a:rPr sz="1200" b="1">
                <a:solidFill>
                  <a:srgbClr val="185FA5"/>
                </a:solidFill>
              </a:rPr>
              <a:t>HOW IT WORKS</a:t>
            </a:r>
          </a:p>
          <a:p>
            <a:pPr>
              <a:spcAft>
                <a:spcPts val="600"/>
              </a:spcAft>
            </a:pPr>
            <a:r>
              <a:rPr sz="1400">
                <a:solidFill>
                  <a:srgbClr val="1A1A1A"/>
                </a:solidFill>
              </a:rPr>
              <a:t>•  Two page tables: a shadow (points to old, unchanged pages) and a current (points to new pages).</a:t>
            </a:r>
          </a:p>
          <a:p>
            <a:pPr>
              <a:spcAft>
                <a:spcPts val="600"/>
              </a:spcAft>
            </a:pPr>
            <a:r>
              <a:rPr sz="1400">
                <a:solidFill>
                  <a:srgbClr val="1A1A1A"/>
                </a:solidFill>
              </a:rPr>
              <a:t>•  A write creates a NEW copy of the page; the shadow's pages are never overwritten.</a:t>
            </a:r>
          </a:p>
          <a:p>
            <a:pPr>
              <a:spcAft>
                <a:spcPts val="600"/>
              </a:spcAft>
            </a:pPr>
            <a:r>
              <a:rPr sz="1400">
                <a:solidFill>
                  <a:srgbClr val="1A1A1A"/>
                </a:solidFill>
              </a:rPr>
              <a:t>•  Commit = atomically switch the pointer from the shadow to the current page table.</a:t>
            </a:r>
          </a:p>
          <a:p>
            <a:pPr>
              <a:spcAft>
                <a:spcPts val="600"/>
              </a:spcAft>
            </a:pPr>
            <a:r>
              <a:rPr sz="1400">
                <a:solidFill>
                  <a:srgbClr val="1A1A1A"/>
                </a:solidFill>
              </a:rPr>
              <a:t>•  Abort = simply discard the new pages; the shadow already points to the consistent old state (no undo).</a:t>
            </a:r>
          </a:p>
        </p:txBody>
      </p:sp>
      <p:pic>
        <p:nvPicPr>
          <p:cNvPr id="6" name="Picture 5" descr="s43_shadow.png"/>
          <p:cNvPicPr>
            <a:picLocks noChangeAspect="1"/>
          </p:cNvPicPr>
          <p:nvPr/>
        </p:nvPicPr>
        <p:blipFill>
          <a:blip r:embed="rId2"/>
          <a:stretch>
            <a:fillRect/>
          </a:stretch>
        </p:blipFill>
        <p:spPr>
          <a:xfrm>
            <a:off x="6355080" y="2392193"/>
            <a:ext cx="5532120" cy="2850852"/>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Shadow paging: edit copies, then flip the page-table pointer atomically to commit.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107 / 136</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S43 · CONCEPT 4 · [THEORY] [EXAMPLE]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Shadow Paging</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batch update to a customer table is done on shadow pages: new copies of the changed pages are written while the originals stay put. If the batch succeeds, one atomic pointer flip makes all the new pages live at once; if it fails, the new pages are discarded and the original (shadow) table is untouched — recovery is instant with no undo log.</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"Shadow paging is always better because it needs no log." No — it causes data fragmentation, complicates concurrency (hard to share pages being versioned), and needs garbage collection of old pages, so it scales poorly. Most real DBMSs still use log-based recovery.</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Shadow paging keeps a shadow (old) page table pointing to the original pages while updates are written to new page copies referenced by a current page table. Committing atomically switches the pointer to the current table; aborting discards the new pages and retains the shadow, so no undo log is required. Its drawbacks — fragmentation, poor concurrency support, and garbage collection — mean most production systems prefer log-based recovery.</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shadow paging · shadow vs current page table · new page copies · atomic pointer switch · no undo log · fragmentation</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108 / 136</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S43 · CONCEPT 5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Pros and Cons of Shadow Paging</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Shadow paging's advantage is simplicity — atomic commit by pointer flip and no undo log. Its disadvantages are data fragmentation, difficulty supporting high concurrency, and the overhead of garbage-collecting obsolete pages.</a:t>
            </a:r>
          </a:p>
          <a:p>
            <a:pPr>
              <a:spcAft>
                <a:spcPts val="500"/>
              </a:spcAft>
            </a:pPr>
            <a:r>
              <a:rPr sz="1200" b="1">
                <a:solidFill>
                  <a:srgbClr val="185FA5"/>
                </a:solidFill>
              </a:rPr>
              <a:t>HOW IT WORKS</a:t>
            </a:r>
          </a:p>
          <a:p>
            <a:pPr>
              <a:spcAft>
                <a:spcPts val="600"/>
              </a:spcAft>
            </a:pPr>
            <a:r>
              <a:rPr sz="1400">
                <a:solidFill>
                  <a:srgbClr val="1A1A1A"/>
                </a:solidFill>
              </a:rPr>
              <a:t>•  Pro: commit/abort are simple and atomic; no undo log to maintain.</a:t>
            </a:r>
          </a:p>
          <a:p>
            <a:pPr>
              <a:spcAft>
                <a:spcPts val="600"/>
              </a:spcAft>
            </a:pPr>
            <a:r>
              <a:rPr sz="1400">
                <a:solidFill>
                  <a:srgbClr val="1A1A1A"/>
                </a:solidFill>
              </a:rPr>
              <a:t>•  Con: updated pages scatter across the disk → fragmentation and lost locality.</a:t>
            </a:r>
          </a:p>
          <a:p>
            <a:pPr>
              <a:spcAft>
                <a:spcPts val="600"/>
              </a:spcAft>
            </a:pPr>
            <a:r>
              <a:rPr sz="1400">
                <a:solidFill>
                  <a:srgbClr val="1A1A1A"/>
                </a:solidFill>
              </a:rPr>
              <a:t>•  Con: hard to combine with high-concurrency access to shared pages.</a:t>
            </a:r>
          </a:p>
          <a:p>
            <a:pPr>
              <a:spcAft>
                <a:spcPts val="600"/>
              </a:spcAft>
            </a:pPr>
            <a:r>
              <a:rPr sz="1400">
                <a:solidFill>
                  <a:srgbClr val="1A1A1A"/>
                </a:solidFill>
              </a:rPr>
              <a:t>•  Con: old (shadow) pages must be garbage-collected, adding overhead.</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Shadow paging: simple atomic commit, but fragments data and scales poorly under concurrency.</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109 / 136</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S43 · CONCEPT 5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Pros and Cons of Shadow Paging</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Shadow-paging ideas survive in copy-on-write file systems and storage snapshots (e.g. taking a point-in-time snapshot before an upgrade). But for a high-concurrency wallet like eSewa, its fragmentation and weak concurrency support make log-based UNDO/REDO the better fit — which is exactly what MySQL/InnoDB and PostgreSQL implement.</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"Shadow paging is obsolete and unused." No — while unsuitable as a busy DBMS's main recovery method, its copy-on-write, atomic-switch idea is alive in modern file systems and snapshot features. The concept matters even where the full technique doesn't scale.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Shadow paging's pros are its simplicity: atomic commit via a pointer switch and no need for an undo log. Its cons are data fragmentation (updated pages scatter), poor support for high concurrency, and the overhead of garbage collecting obsolete shadow pages. These limitations lead most DBMSs to use log-based recovery, though the copy-on-write idea persists in modern file systems and snapshots.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pros: simple, atomic commit, no undo log · cons: fragmentation, poor concurrency, garbage collection · copy-on-write legacy</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110 / 136</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S43 · SOLVED PROBLEM · [EXAMPLE]</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Recover an immediate-update log (UNDO + REDO)</a:t>
            </a:r>
          </a:p>
        </p:txBody>
      </p:sp>
      <p:sp>
        <p:nvSpPr>
          <p:cNvPr id="5" name="Rounded Rectangle 4"/>
          <p:cNvSpPr/>
          <p:nvPr/>
        </p:nvSpPr>
        <p:spPr>
          <a:xfrm>
            <a:off x="640080" y="1444752"/>
            <a:ext cx="10972800" cy="91440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Problem</a:t>
            </a:r>
          </a:p>
          <a:p>
            <a:pPr>
              <a:spcBef>
                <a:spcPts val="300"/>
              </a:spcBef>
            </a:pPr>
            <a:r>
              <a:rPr sz="1300">
                <a:solidFill>
                  <a:srgbClr val="1A1A1A"/>
                </a:solidFill>
              </a:rPr>
              <a:t>After a crash under IMMEDIATE update, the log shows: [start,T1] [write,T1,X,10,50] [commit,T1] [start,T2] [write,T2,Y,20,80] — then CRASH (no [commit,T2]). Both writes may already be on disk. What does recovery do?</a:t>
            </a:r>
          </a:p>
        </p:txBody>
      </p:sp>
      <p:sp>
        <p:nvSpPr>
          <p:cNvPr id="6" name="TextBox 5"/>
          <p:cNvSpPr txBox="1"/>
          <p:nvPr/>
        </p:nvSpPr>
        <p:spPr>
          <a:xfrm>
            <a:off x="777240" y="2487168"/>
            <a:ext cx="10698480" cy="2697480"/>
          </a:xfrm>
          <a:prstGeom prst="rect">
            <a:avLst/>
          </a:prstGeom>
          <a:noFill/>
        </p:spPr>
        <p:txBody>
          <a:bodyPr wrap="square">
            <a:spAutoFit/>
          </a:bodyPr>
          <a:lstStyle/>
          <a:p>
            <a:pPr>
              <a:spcAft>
                <a:spcPts val="400"/>
              </a:spcAft>
            </a:pPr>
            <a:r>
              <a:rPr sz="1250" b="1">
                <a:solidFill>
                  <a:srgbClr val="854F0B"/>
                </a:solidFill>
              </a:rPr>
              <a:t>Step 1.  </a:t>
            </a:r>
            <a:r>
              <a:rPr sz="1250">
                <a:solidFill>
                  <a:srgbClr val="1A1A1A"/>
                </a:solidFill>
              </a:rPr>
              <a:t>Immediate update is UNDO/REDO: uncommitted changes can already be on disk, so undo is required.</a:t>
            </a:r>
          </a:p>
          <a:p>
            <a:pPr>
              <a:spcAft>
                <a:spcPts val="400"/>
              </a:spcAft>
            </a:pPr>
            <a:r>
              <a:rPr sz="1250" b="1">
                <a:solidFill>
                  <a:srgbClr val="854F0B"/>
                </a:solidFill>
              </a:rPr>
              <a:t>Step 2.  </a:t>
            </a:r>
            <a:r>
              <a:rPr sz="1250">
                <a:solidFill>
                  <a:srgbClr val="1A1A1A"/>
                </a:solidFill>
              </a:rPr>
              <a:t>Classify: T1 has [start]+[commit] → committed; T2 has [start] but no [commit] → uncommitted.</a:t>
            </a:r>
          </a:p>
          <a:p>
            <a:pPr>
              <a:spcAft>
                <a:spcPts val="400"/>
              </a:spcAft>
            </a:pPr>
            <a:r>
              <a:rPr sz="1250" b="1">
                <a:solidFill>
                  <a:srgbClr val="854F0B"/>
                </a:solidFill>
              </a:rPr>
              <a:t>Step 3.  </a:t>
            </a:r>
            <a:r>
              <a:rPr sz="1250">
                <a:solidFill>
                  <a:srgbClr val="1A1A1A"/>
                </a:solidFill>
              </a:rPr>
              <a:t>REDO T1 forward from its NEW value → ensure X=50 is on disk (it may only have been buffered).</a:t>
            </a:r>
          </a:p>
          <a:p>
            <a:pPr>
              <a:spcAft>
                <a:spcPts val="400"/>
              </a:spcAft>
            </a:pPr>
            <a:r>
              <a:rPr sz="1250" b="1">
                <a:solidFill>
                  <a:srgbClr val="854F0B"/>
                </a:solidFill>
              </a:rPr>
              <a:t>Step 4.  </a:t>
            </a:r>
            <a:r>
              <a:rPr sz="1250">
                <a:solidFill>
                  <a:srgbClr val="1A1A1A"/>
                </a:solidFill>
              </a:rPr>
              <a:t>UNDO T2 using its OLD value → restore Y=20 (its write of 80 may already be on disk and must be rolled back).</a:t>
            </a:r>
          </a:p>
          <a:p>
            <a:pPr>
              <a:spcAft>
                <a:spcPts val="400"/>
              </a:spcAft>
            </a:pPr>
            <a:r>
              <a:rPr sz="1250" b="1">
                <a:solidFill>
                  <a:srgbClr val="854F0B"/>
                </a:solidFill>
              </a:rPr>
              <a:t>Step 5.  </a:t>
            </a:r>
            <a:r>
              <a:rPr sz="1250">
                <a:solidFill>
                  <a:srgbClr val="1A1A1A"/>
                </a:solidFill>
              </a:rPr>
              <a:t>Process UNDO in reverse order of the log for correctness.</a:t>
            </a:r>
          </a:p>
        </p:txBody>
      </p:sp>
      <p:sp>
        <p:nvSpPr>
          <p:cNvPr id="7" name="Rounded Rectangle 6"/>
          <p:cNvSpPr/>
          <p:nvPr/>
        </p:nvSpPr>
        <p:spPr>
          <a:xfrm>
            <a:off x="640080" y="5230368"/>
            <a:ext cx="10972800" cy="137160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Worked answer</a:t>
            </a:r>
          </a:p>
          <a:p>
            <a:pPr>
              <a:spcBef>
                <a:spcPts val="300"/>
              </a:spcBef>
            </a:pPr>
            <a:r>
              <a:rPr sz="1300">
                <a:solidFill>
                  <a:srgbClr val="1A1A1A"/>
                </a:solidFill>
              </a:rPr>
              <a:t>REDO T1 (X→50, committed) and UNDO T2 (Y→20, uncommitted). This needs BOTH operations — the defining feature of immediate update (UNDO/REDO), unlike deferred update which never undoes.</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111 / 136</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S43 — 'Edit the original vs edit a photocopy'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(3 min): for a bank's nightly batch update, compare IMMEDIATE update (edit the original directly) with SHADOW paging (edit a photocopy, then flip the pointer).</a:t>
            </a:r>
          </a:p>
          <a:p>
            <a:pPr>
              <a:spcAft>
                <a:spcPts val="700"/>
              </a:spcAft>
            </a:pPr>
            <a:r>
              <a:rPr sz="1550">
                <a:solidFill>
                  <a:srgbClr val="1A1A1A"/>
                </a:solidFill>
              </a:rPr>
              <a:t>•  For each, state what happens on a mid-batch crash and what recovery costs.</a:t>
            </a:r>
          </a:p>
          <a:p>
            <a:pPr>
              <a:spcAft>
                <a:spcPts val="700"/>
              </a:spcAft>
            </a:pPr>
            <a:r>
              <a:rPr sz="1550">
                <a:solidFill>
                  <a:srgbClr val="1A1A1A"/>
                </a:solidFill>
              </a:rPr>
              <a:t>•  Decide which you'd trust more for this batch and why.</a:t>
            </a:r>
          </a:p>
          <a:p>
            <a:pPr>
              <a:spcAft>
                <a:spcPts val="700"/>
              </a:spcAft>
            </a:pPr>
            <a:r>
              <a:rPr sz="1550">
                <a:solidFill>
                  <a:srgbClr val="1A1A1A"/>
                </a:solidFill>
              </a:rPr>
              <a:t>•  Share (2 min): immediate = UNDO/REDO from the log; shadow = discard new pages, keep the original (instant, no undo log).</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Immediate update: crash → UNDO uncommitted from the log, REDO committed. Shadow paging: crash before the pointer flip → the original is intact, discard new pages. Reward reasoning about concurrency and fragmentation, not just correctness.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112 / 136</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S43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Immediate-update recovery requires:</a:t>
            </a:r>
          </a:p>
          <a:p>
            <a:pPr lvl="1"/>
            <a:r>
              <a:rPr sz="1500" b="1">
                <a:solidFill>
                  <a:srgbClr val="0F6E56"/>
                </a:solidFill>
              </a:rPr>
              <a:t>a) undo only   b) redo only   c) ✅ both UNDO and REDO   d) neither</a:t>
            </a:r>
          </a:p>
          <a:p>
            <a:pPr lvl="1">
              <a:spcBef>
                <a:spcPts val="600"/>
              </a:spcBef>
            </a:pPr>
            <a:r>
              <a:rPr sz="1500" i="1">
                <a:solidFill>
                  <a:srgbClr val="1A1A1A"/>
                </a:solidFill>
              </a:rPr>
              <a:t>     Why: uncommitted writes may be on disk (need UNDO) and committed writes may be buffered (need REDO).</a:t>
            </a:r>
          </a:p>
          <a:p>
            <a:pPr>
              <a:spcBef>
                <a:spcPts val="900"/>
              </a:spcBef>
            </a:pPr>
            <a:r>
              <a:rPr sz="1700" b="1">
                <a:solidFill>
                  <a:srgbClr val="0C2B4A"/>
                </a:solidFill>
              </a:rPr>
              <a:t>Q2.  In shadow paging, committing a transaction means:</a:t>
            </a:r>
          </a:p>
          <a:p>
            <a:pPr lvl="1"/>
            <a:r>
              <a:rPr sz="1500" b="1">
                <a:solidFill>
                  <a:srgbClr val="0F6E56"/>
                </a:solidFill>
              </a:rPr>
              <a:t>a) writing an undo log   b) ✅ switching the current page-table pointer to the new page table   c) flushing the buffer   d) taking a lock</a:t>
            </a:r>
          </a:p>
          <a:p>
            <a:pPr lvl="1">
              <a:spcBef>
                <a:spcPts val="600"/>
              </a:spcBef>
            </a:pPr>
            <a:r>
              <a:rPr sz="1500" i="1">
                <a:solidFill>
                  <a:srgbClr val="1A1A1A"/>
                </a:solidFill>
              </a:rPr>
              <a:t>     Why: commit is an atomic pointer switch to the new pages; abort just discards them.</a:t>
            </a:r>
          </a:p>
          <a:p>
            <a:pPr lvl="1">
              <a:spcBef>
                <a:spcPts val="600"/>
              </a:spcBef>
            </a:pPr>
            <a:r>
              <a:rPr sz="1500" i="1">
                <a:solidFill>
                  <a:srgbClr val="1A1A1A"/>
                </a:solidFill>
              </a:rPr>
              <a:t>Discussion: compare 'edit the original directly' (immediate update) vs 'edit a photocopy' (shadow paging) for a bank's nightly batch — which would you trust more and why?</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113 / 136</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S43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Immediate update writes changes during the transaction (WAL enforced) → recovery needs BOTH UNDO and REDO.</a:t>
            </a:r>
          </a:p>
          <a:p>
            <a:pPr>
              <a:spcAft>
                <a:spcPts val="800"/>
              </a:spcAft>
            </a:pPr>
            <a:r>
              <a:rPr sz="1500">
                <a:solidFill>
                  <a:srgbClr val="1A1A1A"/>
                </a:solidFill>
              </a:rPr>
              <a:t>2.  Recovery: REDO committed transactions forward; UNDO uncommitted ones in reverse, from the log's old values.</a:t>
            </a:r>
          </a:p>
          <a:p>
            <a:pPr>
              <a:spcAft>
                <a:spcPts val="800"/>
              </a:spcAft>
            </a:pPr>
            <a:r>
              <a:rPr sz="1500">
                <a:solidFill>
                  <a:srgbClr val="1A1A1A"/>
                </a:solidFill>
              </a:rPr>
              <a:t>3.  Shadow paging swaps page tables atomically at commit (no undo log), but fragments data and scales poorly under concurrency.</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The UNDO/REDO model is what production engines (PostgreSQL, MySQL/InnoDB behind Nepali apps) actually implement; shadow-paging's copy-on-write idea lives on in file-system snapshots.</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S44 — when the WHOLE disk or data-center is destroyed: backup and catastrophic recovery (closes the unit).</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114 / 136</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44 · LECTURE HOUR 8 (OF 8) — CLOSES UNIT 6</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Backup &amp; Recovery from Catastrophic Failures</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An earthquake floods a Kathmandu data-center and the whole disk array is destroyed — the transaction log is gone too. Log-based recovery (S42–S43) assumed the disk survived. Now what saves your eSewa balance?</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115 / 136</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S44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Catastrophic vs Non-Catastrophic Failure</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A non-catastrophic failure is a crash where the disk survives — handled by log-based recovery (S42–S43). A catastrophic failure destroys the storage media or whole site (disk failure, fire, flood, earthquake, ransomware), so the on-disk data AND log may be gone — only a separate backup can recover it.</a:t>
            </a:r>
          </a:p>
          <a:p>
            <a:pPr>
              <a:spcAft>
                <a:spcPts val="500"/>
              </a:spcAft>
            </a:pPr>
            <a:r>
              <a:rPr sz="1200" b="1">
                <a:solidFill>
                  <a:srgbClr val="185FA5"/>
                </a:solidFill>
              </a:rPr>
              <a:t>HOW IT WORKS</a:t>
            </a:r>
          </a:p>
          <a:p>
            <a:pPr>
              <a:spcAft>
                <a:spcPts val="600"/>
              </a:spcAft>
            </a:pPr>
            <a:r>
              <a:rPr sz="1400">
                <a:solidFill>
                  <a:srgbClr val="1A1A1A"/>
                </a:solidFill>
              </a:rPr>
              <a:t>•  Non-catastrophic: power cut, software crash → memory lost but disk (and log) intact → undo/redo from the log.</a:t>
            </a:r>
          </a:p>
          <a:p>
            <a:pPr>
              <a:spcAft>
                <a:spcPts val="600"/>
              </a:spcAft>
            </a:pPr>
            <a:r>
              <a:rPr sz="1400">
                <a:solidFill>
                  <a:srgbClr val="1A1A1A"/>
                </a:solidFill>
              </a:rPr>
              <a:t>•  Catastrophic: the disk/site itself is destroyed → the log on that disk is gone too.</a:t>
            </a:r>
          </a:p>
          <a:p>
            <a:pPr>
              <a:spcAft>
                <a:spcPts val="600"/>
              </a:spcAft>
            </a:pPr>
            <a:r>
              <a:rPr sz="1400">
                <a:solidFill>
                  <a:srgbClr val="1A1A1A"/>
                </a:solidFill>
              </a:rPr>
              <a:t>•  Catastrophic failure is why backups must live on SEPARATE, ideally off-site, storage.</a:t>
            </a:r>
          </a:p>
          <a:p>
            <a:pPr>
              <a:spcAft>
                <a:spcPts val="600"/>
              </a:spcAft>
            </a:pPr>
            <a:r>
              <a:rPr sz="1400">
                <a:solidFill>
                  <a:srgbClr val="1A1A1A"/>
                </a:solidFill>
              </a:rPr>
              <a:t>•  The two need completely different recovery strategies.</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Non-catastrophic → recover from the log; catastrophic → recover from a separate backup.</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116 / 136</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S44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Catastrophic vs Non-Catastrophic Failure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load-shedding power cut is non-catastrophic — the bank's disk survives, so recovery replays the log (S42–S43). But an earthquake, fire, flood, or ransomware attack that destroys the disk array is catastrophic: the log on that disk is gone too, so the ONLY way back is a separate backup kept elsewhere.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"The transaction log alone can recover anything." No — if the disk holding the log is physically destroyed, there is no log to replay. Catastrophic recovery depends on a SEPARATE backup, which is why log-based recovery is not enough.</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 non-catastrophic failure (e.g. power cut, software crash) leaves the disk and its log intact, so log-based UNDO/REDO recovery applies. A catastrophic failure destroys the storage media or the entire site (disk failure, fire, flood, earthquake, ransomware), taking the on-disk data and log with it; recovery then depends on a separate, ideally off-site, backup. The two failure classes require fundamentally different recovery strategies.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non-catastrophic (disk intact, log recovery) · catastrophic (media/site destroyed) · separate backup required</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117 / 136</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S44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Database Backup</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A database backup is a periodic copy of the database (and log) written to separate, stable storage — tape, a separate disk, or the cloud. A full backup copies everything; incremental/differential backups copy only what changed since the last backup, saving time and space.</a:t>
            </a:r>
          </a:p>
          <a:p>
            <a:pPr>
              <a:spcAft>
                <a:spcPts val="500"/>
              </a:spcAft>
            </a:pPr>
            <a:r>
              <a:rPr sz="1200" b="1">
                <a:solidFill>
                  <a:srgbClr val="185FA5"/>
                </a:solidFill>
              </a:rPr>
              <a:t>HOW IT WORKS</a:t>
            </a:r>
          </a:p>
          <a:p>
            <a:pPr>
              <a:spcAft>
                <a:spcPts val="600"/>
              </a:spcAft>
            </a:pPr>
            <a:r>
              <a:rPr sz="1400">
                <a:solidFill>
                  <a:srgbClr val="1A1A1A"/>
                </a:solidFill>
              </a:rPr>
              <a:t>•  Full backup: a complete copy of the database — slow and large, but self-contained.</a:t>
            </a:r>
          </a:p>
          <a:p>
            <a:pPr>
              <a:spcAft>
                <a:spcPts val="600"/>
              </a:spcAft>
            </a:pPr>
            <a:r>
              <a:rPr sz="1400">
                <a:solidFill>
                  <a:srgbClr val="1A1A1A"/>
                </a:solidFill>
              </a:rPr>
              <a:t>•  Incremental backup: only changes since the LAST backup — fast and small, but needs the chain to restore.</a:t>
            </a:r>
          </a:p>
          <a:p>
            <a:pPr>
              <a:spcAft>
                <a:spcPts val="600"/>
              </a:spcAft>
            </a:pPr>
            <a:r>
              <a:rPr sz="1400">
                <a:solidFill>
                  <a:srgbClr val="1A1A1A"/>
                </a:solidFill>
              </a:rPr>
              <a:t>•  Differential backup: all changes since the last FULL backup — a middle ground.</a:t>
            </a:r>
          </a:p>
          <a:p>
            <a:pPr>
              <a:spcAft>
                <a:spcPts val="600"/>
              </a:spcAft>
            </a:pPr>
            <a:r>
              <a:rPr sz="1400">
                <a:solidFill>
                  <a:srgbClr val="1A1A1A"/>
                </a:solidFill>
              </a:rPr>
              <a:t>•  The archived log lets you roll forward from a backup to the moment of failure.</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Full = copy everything; incremental = only what changed since last backup.</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118 / 136</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S44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Database Backup</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Nepali bank takes a FULL backup every midnight and INCREMENTAL backups through the day, all copied off-site (a second city or a cloud region), plus it archives the transaction log. If the data-center is destroyed at 3 PM, it restores the midnight full backup, applies the day's incrementals, and REDOes the archived log up to 3 PM.</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"One backup is enough / backups can live on the same disk." No — a backup on the SAME disk dies with it in a catastrophe. Backups must be on separate media and ideally off-site, and you need the archived log to roll forward to the failure point.</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 database backup is a periodic copy of the database (and its log) stored on separate, stable media (tape, a separate disk, or cloud). A full backup copies the entire database; incremental and differential backups copy only what changed (since the last backup, or since the last full backup, respectively) to save time and space. Combined with an archived log, a backup lets you restore and then REDO forward to the point of failure.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database backup · full vs incremental vs differential · separate/off-site media · archived log · roll forward</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119 / 136</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S44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Backup Strategy &amp; the 3-2-1 Rule</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A sound backup strategy follows the 3-2-1 rule: keep 3 copies of the data, on 2 different types of media, with at least 1 copy off-site. This survives the loss of any single device or even the whole site.</a:t>
            </a:r>
          </a:p>
          <a:p>
            <a:pPr>
              <a:spcAft>
                <a:spcPts val="500"/>
              </a:spcAft>
            </a:pPr>
            <a:r>
              <a:rPr sz="1200" b="1">
                <a:solidFill>
                  <a:srgbClr val="185FA5"/>
                </a:solidFill>
              </a:rPr>
              <a:t>HOW IT WORKS</a:t>
            </a:r>
          </a:p>
          <a:p>
            <a:pPr>
              <a:spcAft>
                <a:spcPts val="600"/>
              </a:spcAft>
            </a:pPr>
            <a:r>
              <a:rPr sz="1400">
                <a:solidFill>
                  <a:srgbClr val="1A1A1A"/>
                </a:solidFill>
              </a:rPr>
              <a:t>•  3 copies: the live data plus at least two backups — redundancy against corruption.</a:t>
            </a:r>
          </a:p>
          <a:p>
            <a:pPr>
              <a:spcAft>
                <a:spcPts val="600"/>
              </a:spcAft>
            </a:pPr>
            <a:r>
              <a:rPr sz="1400">
                <a:solidFill>
                  <a:srgbClr val="1A1A1A"/>
                </a:solidFill>
              </a:rPr>
              <a:t>•  2 media types: e.g. disk + cloud (or disk + tape) — no single technology failure wipes all copies.</a:t>
            </a:r>
          </a:p>
          <a:p>
            <a:pPr>
              <a:spcAft>
                <a:spcPts val="600"/>
              </a:spcAft>
            </a:pPr>
            <a:r>
              <a:rPr sz="1400">
                <a:solidFill>
                  <a:srgbClr val="1A1A1A"/>
                </a:solidFill>
              </a:rPr>
              <a:t>•  1 off-site: a copy in another city or a cloud region — survives a site-wide disaster.</a:t>
            </a:r>
          </a:p>
          <a:p>
            <a:pPr>
              <a:spcAft>
                <a:spcPts val="600"/>
              </a:spcAft>
            </a:pPr>
            <a:r>
              <a:rPr sz="1400">
                <a:solidFill>
                  <a:srgbClr val="1A1A1A"/>
                </a:solidFill>
              </a:rPr>
              <a:t>•  Test restores regularly — an untested backup is only a hope, not a guarantee.</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3-2-1: 3 copies, 2 media, 1 off-site — survives any single site's destruction.</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120 / 136</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S44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Backup Strategy &amp; the 3-2-1 Rule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Nepali fintech applies 3-2-1: the live database (copy 1), a nightly backup on a separate on-prem disk (copy 2, media A), and an encrypted copy in a cloud region in another city (copy 3, media B, off-site) — aligning with NRB IT-guideline expectations. A fire in the main office cannot destroy all three.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"Backups guarantee recovery on their own." No — an untested backup can be corrupt or incomplete; you must regularly TEST restores. And a backup kept only on-site or on one medium violates 3-2-1 and can be lost in the same disaster.</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 robust backup strategy follows the 3-2-1 rule: maintain 3 copies of the data, on 2 different media types, with at least 1 copy stored off-site. This protects against corruption of any one copy, failure of any one media technology, and destruction of the primary site. Backups should be tested by trial restores, since an unverified backup provides no real guarantee.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3-2-1 rule · 3 copies · 2 media · 1 off-site · test restores · regulatory expectation (NRB)</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121 / 136</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S44 · CONCEPT 3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A worked 3-2-1 plan for a Nepali fintech</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2286000"/>
                <a:gridCol w="3227294"/>
                <a:gridCol w="2554941"/>
                <a:gridCol w="3361764"/>
              </a:tblGrid>
              <a:tr h="630936">
                <a:tc>
                  <a:txBody>
                    <a:bodyPr wrap="square"/>
                    <a:lstStyle/>
                    <a:p>
                      <a:r>
                        <a:rPr sz="1150" b="1">
                          <a:solidFill>
                            <a:srgbClr val="FFFFFF"/>
                          </a:solidFill>
                        </a:rPr>
                        <a:t>Copy</a:t>
                      </a:r>
                    </a:p>
                  </a:txBody>
                  <a:tcPr anchor="ctr" marL="73152" marR="54864" marT="27432" marB="27432">
                    <a:solidFill>
                      <a:srgbClr val="0C2B4A"/>
                    </a:solidFill>
                  </a:tcPr>
                </a:tc>
                <a:tc>
                  <a:txBody>
                    <a:bodyPr wrap="square"/>
                    <a:lstStyle/>
                    <a:p>
                      <a:r>
                        <a:rPr sz="1150" b="1">
                          <a:solidFill>
                            <a:srgbClr val="FFFFFF"/>
                          </a:solidFill>
                        </a:rPr>
                        <a:t>Where it lives</a:t>
                      </a:r>
                    </a:p>
                  </a:txBody>
                  <a:tcPr anchor="ctr" marL="73152" marR="54864" marT="27432" marB="27432">
                    <a:solidFill>
                      <a:srgbClr val="0C2B4A"/>
                    </a:solidFill>
                  </a:tcPr>
                </a:tc>
                <a:tc>
                  <a:txBody>
                    <a:bodyPr wrap="square"/>
                    <a:lstStyle/>
                    <a:p>
                      <a:r>
                        <a:rPr sz="1150" b="1">
                          <a:solidFill>
                            <a:srgbClr val="FFFFFF"/>
                          </a:solidFill>
                        </a:rPr>
                        <a:t>Media</a:t>
                      </a:r>
                    </a:p>
                  </a:txBody>
                  <a:tcPr anchor="ctr" marL="73152" marR="54864" marT="27432" marB="27432">
                    <a:solidFill>
                      <a:srgbClr val="0C2B4A"/>
                    </a:solidFill>
                  </a:tcPr>
                </a:tc>
                <a:tc>
                  <a:txBody>
                    <a:bodyPr wrap="square"/>
                    <a:lstStyle/>
                    <a:p>
                      <a:r>
                        <a:rPr sz="1150" b="1">
                          <a:solidFill>
                            <a:srgbClr val="FFFFFF"/>
                          </a:solidFill>
                        </a:rPr>
                        <a:t>Purpose</a:t>
                      </a:r>
                    </a:p>
                  </a:txBody>
                  <a:tcPr anchor="ctr" marL="73152" marR="54864" marT="27432" marB="27432">
                    <a:solidFill>
                      <a:srgbClr val="0C2B4A"/>
                    </a:solidFill>
                  </a:tcPr>
                </a:tc>
              </a:tr>
              <a:tr h="630936">
                <a:tc>
                  <a:txBody>
                    <a:bodyPr wrap="square"/>
                    <a:lstStyle/>
                    <a:p>
                      <a:r>
                        <a:rPr sz="1100" b="1">
                          <a:solidFill>
                            <a:srgbClr val="0C2B4A"/>
                          </a:solidFill>
                        </a:rPr>
                        <a:t>Copy 1 (live)</a:t>
                      </a:r>
                    </a:p>
                  </a:txBody>
                  <a:tcPr anchor="ctr" marL="73152" marR="54864" marT="27432" marB="27432">
                    <a:solidFill>
                      <a:srgbClr val="FFFFFF"/>
                    </a:solidFill>
                  </a:tcPr>
                </a:tc>
                <a:tc>
                  <a:txBody>
                    <a:bodyPr wrap="square"/>
                    <a:lstStyle/>
                    <a:p>
                      <a:r>
                        <a:rPr sz="1100">
                          <a:solidFill>
                            <a:srgbClr val="1A1A1A"/>
                          </a:solidFill>
                        </a:rPr>
                        <a:t>Primary data-center, Kathmandu</a:t>
                      </a:r>
                    </a:p>
                  </a:txBody>
                  <a:tcPr anchor="ctr" marL="73152" marR="54864" marT="27432" marB="27432">
                    <a:solidFill>
                      <a:srgbClr val="FFFFFF"/>
                    </a:solidFill>
                  </a:tcPr>
                </a:tc>
                <a:tc>
                  <a:txBody>
                    <a:bodyPr wrap="square"/>
                    <a:lstStyle/>
                    <a:p>
                      <a:r>
                        <a:rPr sz="1100">
                          <a:solidFill>
                            <a:srgbClr val="1A1A1A"/>
                          </a:solidFill>
                        </a:rPr>
                        <a:t>Production disk/SSD</a:t>
                      </a:r>
                    </a:p>
                  </a:txBody>
                  <a:tcPr anchor="ctr" marL="73152" marR="54864" marT="27432" marB="27432">
                    <a:solidFill>
                      <a:srgbClr val="FFFFFF"/>
                    </a:solidFill>
                  </a:tcPr>
                </a:tc>
                <a:tc>
                  <a:txBody>
                    <a:bodyPr wrap="square"/>
                    <a:lstStyle/>
                    <a:p>
                      <a:r>
                        <a:rPr sz="1100">
                          <a:solidFill>
                            <a:srgbClr val="1A1A1A"/>
                          </a:solidFill>
                        </a:rPr>
                        <a:t>Serves live traffic</a:t>
                      </a:r>
                    </a:p>
                  </a:txBody>
                  <a:tcPr anchor="ctr" marL="73152" marR="54864" marT="27432" marB="27432">
                    <a:solidFill>
                      <a:srgbClr val="FFFFFF"/>
                    </a:solidFill>
                  </a:tcPr>
                </a:tc>
              </a:tr>
              <a:tr h="630936">
                <a:tc>
                  <a:txBody>
                    <a:bodyPr wrap="square"/>
                    <a:lstStyle/>
                    <a:p>
                      <a:r>
                        <a:rPr sz="1100" b="1">
                          <a:solidFill>
                            <a:srgbClr val="0C2B4A"/>
                          </a:solidFill>
                        </a:rPr>
                        <a:t>Copy 2 (backup)</a:t>
                      </a:r>
                    </a:p>
                  </a:txBody>
                  <a:tcPr anchor="ctr" marL="73152" marR="54864" marT="27432" marB="27432">
                    <a:solidFill>
                      <a:srgbClr val="EEF3F8"/>
                    </a:solidFill>
                  </a:tcPr>
                </a:tc>
                <a:tc>
                  <a:txBody>
                    <a:bodyPr wrap="square"/>
                    <a:lstStyle/>
                    <a:p>
                      <a:r>
                        <a:rPr sz="1100">
                          <a:solidFill>
                            <a:srgbClr val="1A1A1A"/>
                          </a:solidFill>
                        </a:rPr>
                        <a:t>Same site, separate server</a:t>
                      </a:r>
                    </a:p>
                  </a:txBody>
                  <a:tcPr anchor="ctr" marL="73152" marR="54864" marT="27432" marB="27432">
                    <a:solidFill>
                      <a:srgbClr val="EEF3F8"/>
                    </a:solidFill>
                  </a:tcPr>
                </a:tc>
                <a:tc>
                  <a:txBody>
                    <a:bodyPr wrap="square"/>
                    <a:lstStyle/>
                    <a:p>
                      <a:r>
                        <a:rPr sz="1100">
                          <a:solidFill>
                            <a:srgbClr val="1A1A1A"/>
                          </a:solidFill>
                        </a:rPr>
                        <a:t>Separate disk / NAS</a:t>
                      </a:r>
                    </a:p>
                  </a:txBody>
                  <a:tcPr anchor="ctr" marL="73152" marR="54864" marT="27432" marB="27432">
                    <a:solidFill>
                      <a:srgbClr val="EEF3F8"/>
                    </a:solidFill>
                  </a:tcPr>
                </a:tc>
                <a:tc>
                  <a:txBody>
                    <a:bodyPr wrap="square"/>
                    <a:lstStyle/>
                    <a:p>
                      <a:r>
                        <a:rPr sz="1100">
                          <a:solidFill>
                            <a:srgbClr val="1A1A1A"/>
                          </a:solidFill>
                        </a:rPr>
                        <a:t>Fast restore from local failure</a:t>
                      </a:r>
                    </a:p>
                  </a:txBody>
                  <a:tcPr anchor="ctr" marL="73152" marR="54864" marT="27432" marB="27432">
                    <a:solidFill>
                      <a:srgbClr val="EEF3F8"/>
                    </a:solidFill>
                  </a:tcPr>
                </a:tc>
              </a:tr>
              <a:tr h="630936">
                <a:tc>
                  <a:txBody>
                    <a:bodyPr wrap="square"/>
                    <a:lstStyle/>
                    <a:p>
                      <a:r>
                        <a:rPr sz="1100" b="1">
                          <a:solidFill>
                            <a:srgbClr val="0C2B4A"/>
                          </a:solidFill>
                        </a:rPr>
                        <a:t>Copy 3 (off-site)</a:t>
                      </a:r>
                    </a:p>
                  </a:txBody>
                  <a:tcPr anchor="ctr" marL="73152" marR="54864" marT="27432" marB="27432">
                    <a:solidFill>
                      <a:srgbClr val="FFFFFF"/>
                    </a:solidFill>
                  </a:tcPr>
                </a:tc>
                <a:tc>
                  <a:txBody>
                    <a:bodyPr wrap="square"/>
                    <a:lstStyle/>
                    <a:p>
                      <a:r>
                        <a:rPr sz="1100">
                          <a:solidFill>
                            <a:srgbClr val="1A1A1A"/>
                          </a:solidFill>
                        </a:rPr>
                        <a:t>Cloud region / second city</a:t>
                      </a:r>
                    </a:p>
                  </a:txBody>
                  <a:tcPr anchor="ctr" marL="73152" marR="54864" marT="27432" marB="27432">
                    <a:solidFill>
                      <a:srgbClr val="FFFFFF"/>
                    </a:solidFill>
                  </a:tcPr>
                </a:tc>
                <a:tc>
                  <a:txBody>
                    <a:bodyPr wrap="square"/>
                    <a:lstStyle/>
                    <a:p>
                      <a:r>
                        <a:rPr sz="1100">
                          <a:solidFill>
                            <a:srgbClr val="1A1A1A"/>
                          </a:solidFill>
                        </a:rPr>
                        <a:t>Cloud object storage</a:t>
                      </a:r>
                    </a:p>
                  </a:txBody>
                  <a:tcPr anchor="ctr" marL="73152" marR="54864" marT="27432" marB="27432">
                    <a:solidFill>
                      <a:srgbClr val="FFFFFF"/>
                    </a:solidFill>
                  </a:tcPr>
                </a:tc>
                <a:tc>
                  <a:txBody>
                    <a:bodyPr wrap="square"/>
                    <a:lstStyle/>
                    <a:p>
                      <a:r>
                        <a:rPr sz="1100">
                          <a:solidFill>
                            <a:srgbClr val="1A1A1A"/>
                          </a:solidFill>
                        </a:rPr>
                        <a:t>Survives a site-wide disaster</a:t>
                      </a:r>
                    </a:p>
                  </a:txBody>
                  <a:tcPr anchor="ctr" marL="73152" marR="54864" marT="27432" marB="27432">
                    <a:solidFill>
                      <a:srgbClr val="FFFFFF"/>
                    </a:solidFill>
                  </a:tcPr>
                </a:tc>
              </a:tr>
              <a:tr h="630936">
                <a:tc>
                  <a:txBody>
                    <a:bodyPr wrap="square"/>
                    <a:lstStyle/>
                    <a:p>
                      <a:r>
                        <a:rPr sz="1100" b="1">
                          <a:solidFill>
                            <a:srgbClr val="0C2B4A"/>
                          </a:solidFill>
                        </a:rPr>
                        <a:t>Archived log</a:t>
                      </a:r>
                    </a:p>
                  </a:txBody>
                  <a:tcPr anchor="ctr" marL="73152" marR="54864" marT="27432" marB="27432">
                    <a:solidFill>
                      <a:srgbClr val="EEF3F8"/>
                    </a:solidFill>
                  </a:tcPr>
                </a:tc>
                <a:tc>
                  <a:txBody>
                    <a:bodyPr wrap="square"/>
                    <a:lstStyle/>
                    <a:p>
                      <a:r>
                        <a:rPr sz="1100">
                          <a:solidFill>
                            <a:srgbClr val="1A1A1A"/>
                          </a:solidFill>
                        </a:rPr>
                        <a:t>Off-site with copy 3</a:t>
                      </a:r>
                    </a:p>
                  </a:txBody>
                  <a:tcPr anchor="ctr" marL="73152" marR="54864" marT="27432" marB="27432">
                    <a:solidFill>
                      <a:srgbClr val="EEF3F8"/>
                    </a:solidFill>
                  </a:tcPr>
                </a:tc>
                <a:tc>
                  <a:txBody>
                    <a:bodyPr wrap="square"/>
                    <a:lstStyle/>
                    <a:p>
                      <a:r>
                        <a:rPr sz="1100">
                          <a:solidFill>
                            <a:srgbClr val="1A1A1A"/>
                          </a:solidFill>
                        </a:rPr>
                        <a:t>Cloud / tape</a:t>
                      </a:r>
                    </a:p>
                  </a:txBody>
                  <a:tcPr anchor="ctr" marL="73152" marR="54864" marT="27432" marB="27432">
                    <a:solidFill>
                      <a:srgbClr val="EEF3F8"/>
                    </a:solidFill>
                  </a:tcPr>
                </a:tc>
                <a:tc>
                  <a:txBody>
                    <a:bodyPr wrap="square"/>
                    <a:lstStyle/>
                    <a:p>
                      <a:r>
                        <a:rPr sz="1100">
                          <a:solidFill>
                            <a:srgbClr val="1A1A1A"/>
                          </a:solidFill>
                        </a:rPr>
                        <a:t>Roll forward to the failure point</a:t>
                      </a:r>
                    </a:p>
                  </a:txBody>
                  <a:tcPr anchor="ctr" marL="73152" marR="54864" marT="27432" marB="27432">
                    <a:solidFill>
                      <a:srgbClr val="EEF3F8"/>
                    </a:solidFill>
                  </a:tcPr>
                </a:tc>
              </a:tr>
              <a:tr h="630936">
                <a:tc>
                  <a:txBody>
                    <a:bodyPr wrap="square"/>
                    <a:lstStyle/>
                    <a:p>
                      <a:r>
                        <a:rPr sz="1100" b="1">
                          <a:solidFill>
                            <a:srgbClr val="0C2B4A"/>
                          </a:solidFill>
                        </a:rPr>
                        <a:t>Full backup</a:t>
                      </a:r>
                    </a:p>
                  </a:txBody>
                  <a:tcPr anchor="ctr" marL="73152" marR="54864" marT="27432" marB="27432">
                    <a:solidFill>
                      <a:srgbClr val="FFFFFF"/>
                    </a:solidFill>
                  </a:tcPr>
                </a:tc>
                <a:tc>
                  <a:txBody>
                    <a:bodyPr wrap="square"/>
                    <a:lstStyle/>
                    <a:p>
                      <a:r>
                        <a:rPr sz="1100">
                          <a:solidFill>
                            <a:srgbClr val="1A1A1A"/>
                          </a:solidFill>
                        </a:rPr>
                        <a:t>Nightly (e.g. midnight)</a:t>
                      </a:r>
                    </a:p>
                  </a:txBody>
                  <a:tcPr anchor="ctr" marL="73152" marR="54864" marT="27432" marB="27432">
                    <a:solidFill>
                      <a:srgbClr val="FFFFFF"/>
                    </a:solidFill>
                  </a:tcPr>
                </a:tc>
                <a:tc>
                  <a:txBody>
                    <a:bodyPr wrap="square"/>
                    <a:lstStyle/>
                    <a:p>
                      <a:r>
                        <a:rPr sz="1100">
                          <a:solidFill>
                            <a:srgbClr val="1A1A1A"/>
                          </a:solidFill>
                        </a:rPr>
                        <a:t>All media</a:t>
                      </a:r>
                    </a:p>
                  </a:txBody>
                  <a:tcPr anchor="ctr" marL="73152" marR="54864" marT="27432" marB="27432">
                    <a:solidFill>
                      <a:srgbClr val="FFFFFF"/>
                    </a:solidFill>
                  </a:tcPr>
                </a:tc>
                <a:tc>
                  <a:txBody>
                    <a:bodyPr wrap="square"/>
                    <a:lstStyle/>
                    <a:p>
                      <a:r>
                        <a:rPr sz="1100">
                          <a:solidFill>
                            <a:srgbClr val="1A1A1A"/>
                          </a:solidFill>
                        </a:rPr>
                        <a:t>Self-contained restore baseline</a:t>
                      </a:r>
                    </a:p>
                  </a:txBody>
                  <a:tcPr anchor="ctr" marL="73152" marR="54864" marT="27432" marB="27432">
                    <a:solidFill>
                      <a:srgbClr val="FFFFFF"/>
                    </a:solidFill>
                  </a:tcPr>
                </a:tc>
              </a:tr>
              <a:tr h="630936">
                <a:tc>
                  <a:txBody>
                    <a:bodyPr wrap="square"/>
                    <a:lstStyle/>
                    <a:p>
                      <a:r>
                        <a:rPr sz="1100" b="1">
                          <a:solidFill>
                            <a:srgbClr val="0C2B4A"/>
                          </a:solidFill>
                        </a:rPr>
                        <a:t>Incremental backup</a:t>
                      </a:r>
                    </a:p>
                  </a:txBody>
                  <a:tcPr anchor="ctr" marL="73152" marR="54864" marT="27432" marB="27432">
                    <a:solidFill>
                      <a:srgbClr val="EEF3F8"/>
                    </a:solidFill>
                  </a:tcPr>
                </a:tc>
                <a:tc>
                  <a:txBody>
                    <a:bodyPr wrap="square"/>
                    <a:lstStyle/>
                    <a:p>
                      <a:r>
                        <a:rPr sz="1100">
                          <a:solidFill>
                            <a:srgbClr val="1A1A1A"/>
                          </a:solidFill>
                        </a:rPr>
                        <a:t>Hourly through the day</a:t>
                      </a:r>
                    </a:p>
                  </a:txBody>
                  <a:tcPr anchor="ctr" marL="73152" marR="54864" marT="27432" marB="27432">
                    <a:solidFill>
                      <a:srgbClr val="EEF3F8"/>
                    </a:solidFill>
                  </a:tcPr>
                </a:tc>
                <a:tc>
                  <a:txBody>
                    <a:bodyPr wrap="square"/>
                    <a:lstStyle/>
                    <a:p>
                      <a:r>
                        <a:rPr sz="1100">
                          <a:solidFill>
                            <a:srgbClr val="1A1A1A"/>
                          </a:solidFill>
                        </a:rPr>
                        <a:t>All media</a:t>
                      </a:r>
                    </a:p>
                  </a:txBody>
                  <a:tcPr anchor="ctr" marL="73152" marR="54864" marT="27432" marB="27432">
                    <a:solidFill>
                      <a:srgbClr val="EEF3F8"/>
                    </a:solidFill>
                  </a:tcPr>
                </a:tc>
                <a:tc>
                  <a:txBody>
                    <a:bodyPr wrap="square"/>
                    <a:lstStyle/>
                    <a:p>
                      <a:r>
                        <a:rPr sz="1100">
                          <a:solidFill>
                            <a:srgbClr val="1A1A1A"/>
                          </a:solidFill>
                        </a:rPr>
                        <a:t>Small, fast, limits data loss (low RPO)</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3 copies (live + local + off-site), 2 media (disk + cloud/tape), 1 off-site — plus the archived log to roll forward. A fire or earthquake at the primary site cannot destroy every copy.</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122 / 136</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S44 · CONCEPT 4 · [THEORY] [EXAMPLE]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Recovery from Catastrophic Failure</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To recover from a catastrophic failure: restore the most recent FULL backup, apply any INCREMENTAL backups in order, then REDO committed transactions from the archived log up to the point of failure. This reconstructs the database as close to the failure moment as the backups and log allow.</a:t>
            </a:r>
          </a:p>
          <a:p>
            <a:pPr>
              <a:spcAft>
                <a:spcPts val="500"/>
              </a:spcAft>
            </a:pPr>
            <a:r>
              <a:rPr sz="1200" b="1">
                <a:solidFill>
                  <a:srgbClr val="185FA5"/>
                </a:solidFill>
              </a:rPr>
              <a:t>HOW IT WORKS</a:t>
            </a:r>
          </a:p>
          <a:p>
            <a:pPr>
              <a:spcAft>
                <a:spcPts val="600"/>
              </a:spcAft>
            </a:pPr>
            <a:r>
              <a:rPr sz="1400">
                <a:solidFill>
                  <a:srgbClr val="1A1A1A"/>
                </a:solidFill>
              </a:rPr>
              <a:t>•  Step 1: restore the latest full backup onto new/replacement hardware.</a:t>
            </a:r>
          </a:p>
          <a:p>
            <a:pPr>
              <a:spcAft>
                <a:spcPts val="600"/>
              </a:spcAft>
            </a:pPr>
            <a:r>
              <a:rPr sz="1400">
                <a:solidFill>
                  <a:srgbClr val="1A1A1A"/>
                </a:solidFill>
              </a:rPr>
              <a:t>•  Step 2: apply incremental/differential backups in chronological order.</a:t>
            </a:r>
          </a:p>
          <a:p>
            <a:pPr>
              <a:spcAft>
                <a:spcPts val="600"/>
              </a:spcAft>
            </a:pPr>
            <a:r>
              <a:rPr sz="1400">
                <a:solidFill>
                  <a:srgbClr val="1A1A1A"/>
                </a:solidFill>
              </a:rPr>
              <a:t>•  Step 3: REDO committed transactions from the archived log to the failure point.</a:t>
            </a:r>
          </a:p>
          <a:p>
            <a:pPr>
              <a:spcAft>
                <a:spcPts val="600"/>
              </a:spcAft>
            </a:pPr>
            <a:r>
              <a:rPr sz="1400">
                <a:solidFill>
                  <a:srgbClr val="1A1A1A"/>
                </a:solidFill>
              </a:rPr>
              <a:t>•  The gap between the last backup/log and the failure is the data you actually lose (the RPO).</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Restore full backup → apply incrementals → REDO archived log to the failure point.</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123 / 136</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S44 · CONCEPT 4 · [THEORY] [EXAMPLE]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Recovery from Catastrophic Failure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bank's data-center is destroyed at 3 PM. Recovery on replacement hardware: restore the midnight FULL backup, apply the day's INCREMENTAL backups, then REDO the archived transaction log up to 3 PM. The reconstructed database matches the state just before the disaster — as long as the off-site log was current.</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"After a catastrophe you just restore the backup and you're done." No — the backup alone only gets you to the last backup time; you must also REDO the ARCHIVED LOG to roll forward to the failure point, or you lose every transaction since the last backup.</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Catastrophic recovery restores the most recent full backup, applies incremental/differential backups in order, and then REDOes committed transactions from the archived log up to the point of failure, reconstructing the database on replacement hardware. The amount of data unavoidably lost is the interval not covered by the backups and archived log — the recovery point objective (RPO).</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catastrophic recovery · restore full backup · apply incrementals · REDO archived log · roll forward to failure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124 / 136</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S44 · CONCEPT 5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Disaster Recovery — RPO, RTO &amp; High Availability</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Disaster-recovery planning is measured by two objectives: RPO (recovery point objective) — how much data you can afford to lose (how far back the last usable copy is) — and RTO (recovery time objective) — how fast you must be back up. High availability (replication/standby servers) protects UPTIME, which is different from backups protecting DATA.</a:t>
            </a:r>
          </a:p>
          <a:p>
            <a:pPr>
              <a:spcAft>
                <a:spcPts val="500"/>
              </a:spcAft>
            </a:pPr>
            <a:r>
              <a:rPr sz="1200" b="1">
                <a:solidFill>
                  <a:srgbClr val="185FA5"/>
                </a:solidFill>
              </a:rPr>
              <a:t>HOW IT WORKS</a:t>
            </a:r>
          </a:p>
          <a:p>
            <a:pPr>
              <a:spcAft>
                <a:spcPts val="600"/>
              </a:spcAft>
            </a:pPr>
            <a:r>
              <a:rPr sz="1400">
                <a:solidFill>
                  <a:srgbClr val="1A1A1A"/>
                </a:solidFill>
              </a:rPr>
              <a:t>•  RPO: the maximum acceptable data loss, set by how frequently you back up / archive the log.</a:t>
            </a:r>
          </a:p>
          <a:p>
            <a:pPr>
              <a:spcAft>
                <a:spcPts val="600"/>
              </a:spcAft>
            </a:pPr>
            <a:r>
              <a:rPr sz="1400">
                <a:solidFill>
                  <a:srgbClr val="1A1A1A"/>
                </a:solidFill>
              </a:rPr>
              <a:t>•  RTO: the maximum acceptable downtime, set by how fast you can restore and switch over.</a:t>
            </a:r>
          </a:p>
          <a:p>
            <a:pPr>
              <a:spcAft>
                <a:spcPts val="600"/>
              </a:spcAft>
            </a:pPr>
            <a:r>
              <a:rPr sz="1400">
                <a:solidFill>
                  <a:srgbClr val="1A1A1A"/>
                </a:solidFill>
              </a:rPr>
              <a:t>•  Replication/standby servers keep a live copy running so failover is near-instant (low RTO).</a:t>
            </a:r>
          </a:p>
          <a:p>
            <a:pPr>
              <a:spcAft>
                <a:spcPts val="600"/>
              </a:spcAft>
            </a:pPr>
            <a:r>
              <a:rPr sz="1400">
                <a:solidFill>
                  <a:srgbClr val="1A1A1A"/>
                </a:solidFill>
              </a:rPr>
              <a:t>•  Backups protect the DATA; high availability protects UPTIME — you usually need both.</a:t>
            </a:r>
          </a:p>
        </p:txBody>
      </p:sp>
      <p:pic>
        <p:nvPicPr>
          <p:cNvPr id="6" name="Picture 5" descr="s44_backup.png"/>
          <p:cNvPicPr>
            <a:picLocks noChangeAspect="1"/>
          </p:cNvPicPr>
          <p:nvPr/>
        </p:nvPicPr>
        <p:blipFill>
          <a:blip r:embed="rId2"/>
          <a:stretch>
            <a:fillRect/>
          </a:stretch>
        </p:blipFill>
        <p:spPr>
          <a:xfrm>
            <a:off x="6355080" y="2392193"/>
            <a:ext cx="5532120" cy="2850852"/>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RPO = data you can lose; RTO = time to be back; HA ≠ backup.</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125 / 136</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S44 · CONCEPT 5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Disaster Recovery — RPO, RTO &amp; High Availability</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wallet provider might set RPO = 5 minutes (hourly-plus log archiving, so at most a few minutes of transactions lost) and RTO = 30 minutes (a standby replica it can fail over to). The replica gives high availability (low downtime); the off-site backups give recoverability (low data loss) — two different guarantees.</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"Backups give you high availability." No — backups protect your DATA (recoverability); high availability (live replication, standby servers) protects UPTIME. A daily backup does nothing for the hours a system is down; a replica does nothing if both copies are corrupted. You need both.</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Disaster-recovery planning is quantified by the recovery point objective (RPO) — the maximum tolerable data loss, determined by backup/log-archiving frequency — and the recovery time objective (RTO) — the maximum tolerable downtime, determined by how fast you can restore and fail over. High availability (replication, standby servers) protects uptime and is distinct from backups, which protect data; a complete strategy needs both.</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RPO (data loss tolerated) · RTO (downtime tolerated) · replication/standby · high availability ≠ backup</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126 / 136</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S44 · CAPSTONE · [EXAMPLE]</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Unit 6 synthesis — one transfer, all concepts</a:t>
            </a:r>
          </a:p>
        </p:txBody>
      </p:sp>
      <p:sp>
        <p:nvSpPr>
          <p:cNvPr id="5" name="Rounded Rectangle 4"/>
          <p:cNvSpPr/>
          <p:nvPr/>
        </p:nvSpPr>
        <p:spPr>
          <a:xfrm>
            <a:off x="640080" y="1444752"/>
            <a:ext cx="10972800" cy="91440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Problem</a:t>
            </a:r>
          </a:p>
          <a:p>
            <a:pPr>
              <a:spcBef>
                <a:spcPts val="300"/>
              </a:spcBef>
            </a:pPr>
            <a:r>
              <a:rPr sz="1300">
                <a:solidFill>
                  <a:srgbClr val="1A1A1A"/>
                </a:solidFill>
              </a:rPr>
              <a:t>Trace 'Rita sends Rs. 500 to Hari' end-to-end through the WHOLE unit, then outline a disaster-recovery plan — the capstone that ties transactions, concurrency, and recovery together.</a:t>
            </a:r>
          </a:p>
        </p:txBody>
      </p:sp>
      <p:sp>
        <p:nvSpPr>
          <p:cNvPr id="6" name="TextBox 5"/>
          <p:cNvSpPr txBox="1"/>
          <p:nvPr/>
        </p:nvSpPr>
        <p:spPr>
          <a:xfrm>
            <a:off x="777240" y="2487168"/>
            <a:ext cx="10698480" cy="2697480"/>
          </a:xfrm>
          <a:prstGeom prst="rect">
            <a:avLst/>
          </a:prstGeom>
          <a:noFill/>
        </p:spPr>
        <p:txBody>
          <a:bodyPr wrap="square">
            <a:spAutoFit/>
          </a:bodyPr>
          <a:lstStyle/>
          <a:p>
            <a:pPr>
              <a:spcAft>
                <a:spcPts val="400"/>
              </a:spcAft>
            </a:pPr>
            <a:r>
              <a:rPr sz="1250" b="1">
                <a:solidFill>
                  <a:srgbClr val="854F0B"/>
                </a:solidFill>
              </a:rPr>
              <a:t>Step 1.  </a:t>
            </a:r>
            <a:r>
              <a:rPr sz="1250">
                <a:solidFill>
                  <a:srgbClr val="1A1A1A"/>
                </a:solidFill>
              </a:rPr>
              <a:t>TRANSACTION (S37): read Rita → debit 500 → credit Hari → commit; states Active → Partially Committed → Committed; logged as [start][write][write][commit].</a:t>
            </a:r>
          </a:p>
          <a:p>
            <a:pPr>
              <a:spcAft>
                <a:spcPts val="400"/>
              </a:spcAft>
            </a:pPr>
            <a:r>
              <a:rPr sz="1250" b="1">
                <a:solidFill>
                  <a:srgbClr val="854F0B"/>
                </a:solidFill>
              </a:rPr>
              <a:t>Step 2.  </a:t>
            </a:r>
            <a:r>
              <a:rPr sz="1250">
                <a:solidFill>
                  <a:srgbClr val="1A1A1A"/>
                </a:solidFill>
              </a:rPr>
              <a:t>ACID (S38): Atomicity (both or neither), Consistency (3000 total preserved), Isolation (no interference), Durability (survives crash).</a:t>
            </a:r>
          </a:p>
          <a:p>
            <a:pPr>
              <a:spcAft>
                <a:spcPts val="400"/>
              </a:spcAft>
            </a:pPr>
            <a:r>
              <a:rPr sz="1250" b="1">
                <a:solidFill>
                  <a:srgbClr val="854F0B"/>
                </a:solidFill>
              </a:rPr>
              <a:t>Step 3.  </a:t>
            </a:r>
            <a:r>
              <a:rPr sz="1250">
                <a:solidFill>
                  <a:srgbClr val="1A1A1A"/>
                </a:solidFill>
              </a:rPr>
              <a:t>SCHEDULE (S39): if concurrent with other transfers, the schedule must be conflict-serializable (acyclic precedence graph).</a:t>
            </a:r>
          </a:p>
          <a:p>
            <a:pPr>
              <a:spcAft>
                <a:spcPts val="400"/>
              </a:spcAft>
            </a:pPr>
            <a:r>
              <a:rPr sz="1250" b="1">
                <a:solidFill>
                  <a:srgbClr val="854F0B"/>
                </a:solidFill>
              </a:rPr>
              <a:t>Step 4.  </a:t>
            </a:r>
            <a:r>
              <a:rPr sz="1250">
                <a:solidFill>
                  <a:srgbClr val="1A1A1A"/>
                </a:solidFill>
              </a:rPr>
              <a:t>CONCURRENCY CONTROL (S40–S41): enforced by strict 2PL (X-lock both rows) OR timestamp ordering (serve in ticket order).</a:t>
            </a:r>
          </a:p>
          <a:p>
            <a:pPr>
              <a:spcAft>
                <a:spcPts val="400"/>
              </a:spcAft>
            </a:pPr>
            <a:r>
              <a:rPr sz="1250" b="1">
                <a:solidFill>
                  <a:srgbClr val="854F0B"/>
                </a:solidFill>
              </a:rPr>
              <a:t>Step 5.  </a:t>
            </a:r>
            <a:r>
              <a:rPr sz="1250">
                <a:solidFill>
                  <a:srgbClr val="1A1A1A"/>
                </a:solidFill>
              </a:rPr>
              <a:t>RECOVERY (S42–S43): a crash → REDO if committed, UNDO if not (immediate update) / REDO-only (deferred update).</a:t>
            </a:r>
          </a:p>
          <a:p>
            <a:pPr>
              <a:spcAft>
                <a:spcPts val="400"/>
              </a:spcAft>
            </a:pPr>
            <a:r>
              <a:rPr sz="1250" b="1">
                <a:solidFill>
                  <a:srgbClr val="854F0B"/>
                </a:solidFill>
              </a:rPr>
              <a:t>Step 6.  </a:t>
            </a:r>
            <a:r>
              <a:rPr sz="1250">
                <a:solidFill>
                  <a:srgbClr val="1A1A1A"/>
                </a:solidFill>
              </a:rPr>
              <a:t>CATASTROPHE (S44): if the data-center is destroyed, restore the off-site 3-2-1 backup + REDO the archived log to the failure point.</a:t>
            </a:r>
          </a:p>
        </p:txBody>
      </p:sp>
      <p:sp>
        <p:nvSpPr>
          <p:cNvPr id="7" name="Rounded Rectangle 6"/>
          <p:cNvSpPr/>
          <p:nvPr/>
        </p:nvSpPr>
        <p:spPr>
          <a:xfrm>
            <a:off x="640080" y="5230368"/>
            <a:ext cx="10972800" cy="137160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Worked answer</a:t>
            </a:r>
          </a:p>
          <a:p>
            <a:pPr>
              <a:spcBef>
                <a:spcPts val="300"/>
              </a:spcBef>
            </a:pPr>
            <a:r>
              <a:rPr sz="1300">
                <a:solidFill>
                  <a:srgbClr val="1A1A1A"/>
                </a:solidFill>
              </a:rPr>
              <a:t>One transfer touches every idea in Unit 6: it is a logged transaction (S37) obeying ACID (S38), run in a serializable schedule (S39) enforced by locking or timestamps (S40–S41), made durable by log-based recovery (S42–S43), and protected against disaster by a 3-2-1 backup with RPO/RTO targets (S44).</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127 / 136</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S44 — 'Design a 3-2-1 backup plan'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(3 min): design a one-paragraph backup + disaster-recovery plan for a small Nepali fintech startup using the 3-2-1 rule.</a:t>
            </a:r>
          </a:p>
          <a:p>
            <a:pPr>
              <a:spcAft>
                <a:spcPts val="700"/>
              </a:spcAft>
            </a:pPr>
            <a:r>
              <a:rPr sz="1550">
                <a:solidFill>
                  <a:srgbClr val="1A1A1A"/>
                </a:solidFill>
              </a:rPr>
              <a:t>•  Say WHERE each of the 3 copies lives, on WHICH 2 media, and which 1 is off-site.</a:t>
            </a:r>
          </a:p>
          <a:p>
            <a:pPr>
              <a:spcAft>
                <a:spcPts val="700"/>
              </a:spcAft>
            </a:pPr>
            <a:r>
              <a:rPr sz="1550">
                <a:solidFill>
                  <a:srgbClr val="1A1A1A"/>
                </a:solidFill>
              </a:rPr>
              <a:t>•  State a target RPO and RTO and justify them for a wallet.</a:t>
            </a:r>
          </a:p>
          <a:p>
            <a:pPr>
              <a:spcAft>
                <a:spcPts val="700"/>
              </a:spcAft>
            </a:pPr>
            <a:r>
              <a:rPr sz="1550">
                <a:solidFill>
                  <a:srgbClr val="1A1A1A"/>
                </a:solidFill>
              </a:rPr>
              <a:t>•  Share (2 min): check every plan survives losing the primary site entirely.</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Good plans: live DB + local backup + cloud/off-site copy; disk + cloud media; log archived off-site; RPO minutes (frequent log archiving), RTO short (a standby replica). Reward plans that survive the primary site being destroyed.</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128 / 136</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S44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Recovery from a physically destroyed disk relies primarily on:</a:t>
            </a:r>
          </a:p>
          <a:p>
            <a:pPr lvl="1"/>
            <a:r>
              <a:rPr sz="1500" b="1">
                <a:solidFill>
                  <a:srgbClr val="0F6E56"/>
                </a:solidFill>
              </a:rPr>
              <a:t>a) the buffer cache   b) the precedence graph   c) ✅ an off-site / separate backup (plus archived log)   d) shared locks</a:t>
            </a:r>
          </a:p>
          <a:p>
            <a:pPr lvl="1">
              <a:spcBef>
                <a:spcPts val="600"/>
              </a:spcBef>
            </a:pPr>
            <a:r>
              <a:rPr sz="1500" i="1">
                <a:solidFill>
                  <a:srgbClr val="1A1A1A"/>
                </a:solidFill>
              </a:rPr>
              <a:t>     Why: if the disk (and its log) is destroyed, only a separate backup can restore the data.</a:t>
            </a:r>
          </a:p>
          <a:p>
            <a:pPr>
              <a:spcBef>
                <a:spcPts val="900"/>
              </a:spcBef>
            </a:pPr>
            <a:r>
              <a:rPr sz="1700" b="1">
                <a:solidFill>
                  <a:srgbClr val="0C2B4A"/>
                </a:solidFill>
              </a:rPr>
              <a:t>Q2.  'How much data loss is acceptable' is measured by:</a:t>
            </a:r>
          </a:p>
          <a:p>
            <a:pPr lvl="1"/>
            <a:r>
              <a:rPr sz="1500" b="1">
                <a:solidFill>
                  <a:srgbClr val="0F6E56"/>
                </a:solidFill>
              </a:rPr>
              <a:t>a) RTO   b) ✅ RPO   c) throughput   d) latency</a:t>
            </a:r>
          </a:p>
          <a:p>
            <a:pPr lvl="1">
              <a:spcBef>
                <a:spcPts val="600"/>
              </a:spcBef>
            </a:pPr>
            <a:r>
              <a:rPr sz="1500" i="1">
                <a:solidFill>
                  <a:srgbClr val="1A1A1A"/>
                </a:solidFill>
              </a:rPr>
              <a:t>     Why: RPO = recovery POINT objective = the maximum tolerable data loss; RTO is downtime.</a:t>
            </a:r>
          </a:p>
          <a:p>
            <a:pPr lvl="1">
              <a:spcBef>
                <a:spcPts val="600"/>
              </a:spcBef>
            </a:pPr>
            <a:r>
              <a:rPr sz="1500" i="1">
                <a:solidFill>
                  <a:srgbClr val="1A1A1A"/>
                </a:solidFill>
              </a:rPr>
              <a:t>Discussion: design a one-paragraph backup plan for a small Nepali fintech startup using the 3-2-1 rule — where do the copies live?</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129 / 136</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S44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A catastrophic failure destroys the disk/log → only a separate, off-site backup can save you (log recovery is not enough).</a:t>
            </a:r>
          </a:p>
          <a:p>
            <a:pPr>
              <a:spcAft>
                <a:spcPts val="800"/>
              </a:spcAft>
            </a:pPr>
            <a:r>
              <a:rPr sz="1500">
                <a:solidFill>
                  <a:srgbClr val="1A1A1A"/>
                </a:solidFill>
              </a:rPr>
              <a:t>2.  Recover by restoring the last full backup, applying incrementals, and REDOing the archived log to the failure point.</a:t>
            </a:r>
          </a:p>
          <a:p>
            <a:pPr>
              <a:spcAft>
                <a:spcPts val="800"/>
              </a:spcAft>
            </a:pPr>
            <a:r>
              <a:rPr sz="1500">
                <a:solidFill>
                  <a:srgbClr val="1A1A1A"/>
                </a:solidFill>
              </a:rPr>
              <a:t>3.  Plan with 3-2-1 (3 copies, 2 media, 1 off-site), RPO (data loss) and RTO (downtime), and replication for uptime (HA ≠ backup).</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Every regulated financial institution in Nepal (banks and wallet providers under NRB) must have a documented disaster-recovery/backup plan — this is a compliance requirement and an employability essential for any DBA or backend role.</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End of Unit 6. Next unit: Advanced topics — performance tuning, security, distributed databases, warehousing, big data, and NoSQL.</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130 / 136</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UNIT 6 · CHEAT SHEET</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One-page revision reference</a:t>
            </a:r>
          </a:p>
        </p:txBody>
      </p:sp>
      <p:sp>
        <p:nvSpPr>
          <p:cNvPr id="5" name="Rounded Rectangle 4"/>
          <p:cNvSpPr/>
          <p:nvPr/>
        </p:nvSpPr>
        <p:spPr>
          <a:xfrm>
            <a:off x="640080" y="1572768"/>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Transactions &amp; log (S37)</a:t>
            </a:r>
          </a:p>
          <a:p>
            <a:pPr>
              <a:spcBef>
                <a:spcPts val="300"/>
              </a:spcBef>
            </a:pPr>
            <a:r>
              <a:rPr sz="1200">
                <a:solidFill>
                  <a:srgbClr val="1A1A1A"/>
                </a:solidFill>
              </a:rPr>
              <a:t>Transaction = all-or-nothing unit (BEGIN→ops→COMMIT/ROLLBACK). States: Active→Partially Committed→Committed; or Failed→Aborted. Log: [start][write,X,old,new][commit]; old→UNDO, new→REDO.</a:t>
            </a:r>
          </a:p>
        </p:txBody>
      </p:sp>
      <p:sp>
        <p:nvSpPr>
          <p:cNvPr id="6" name="Rounded Rectangle 5"/>
          <p:cNvSpPr/>
          <p:nvPr/>
        </p:nvSpPr>
        <p:spPr>
          <a:xfrm>
            <a:off x="6199632" y="1572768"/>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ACID (S38)</a:t>
            </a:r>
          </a:p>
          <a:p>
            <a:pPr>
              <a:spcBef>
                <a:spcPts val="300"/>
              </a:spcBef>
            </a:pPr>
            <a:r>
              <a:rPr sz="1200">
                <a:solidFill>
                  <a:srgbClr val="1A1A1A"/>
                </a:solidFill>
              </a:rPr>
              <a:t>Atomicity = all-or-nothing; Consistency = valid→valid (invariant); Isolation = no interference; Durability = survives crash. A/C/D via log; I via concurrency control.</a:t>
            </a:r>
          </a:p>
        </p:txBody>
      </p:sp>
      <p:sp>
        <p:nvSpPr>
          <p:cNvPr id="7" name="Rounded Rectangle 6"/>
          <p:cNvSpPr/>
          <p:nvPr/>
        </p:nvSpPr>
        <p:spPr>
          <a:xfrm>
            <a:off x="640080" y="3072384"/>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Serializability (S39)</a:t>
            </a:r>
          </a:p>
          <a:p>
            <a:pPr>
              <a:spcBef>
                <a:spcPts val="300"/>
              </a:spcBef>
            </a:pPr>
            <a:r>
              <a:rPr sz="1200">
                <a:solidFill>
                  <a:srgbClr val="1A1A1A"/>
                </a:solidFill>
              </a:rPr>
              <a:t>Schedule = ordering of ops. Serializable = equals some serial order. Conflict = same item, diff txn, ≥1 write. Serializable ⟺ acyclic precedence graph. Cycle ≠ deadlock.</a:t>
            </a:r>
          </a:p>
        </p:txBody>
      </p:sp>
      <p:sp>
        <p:nvSpPr>
          <p:cNvPr id="8" name="Rounded Rectangle 7"/>
          <p:cNvSpPr/>
          <p:nvPr/>
        </p:nvSpPr>
        <p:spPr>
          <a:xfrm>
            <a:off x="6199632" y="3072384"/>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2PL &amp; deadlock (S40)</a:t>
            </a:r>
          </a:p>
          <a:p>
            <a:pPr>
              <a:spcBef>
                <a:spcPts val="300"/>
              </a:spcBef>
            </a:pPr>
            <a:r>
              <a:rPr sz="1200">
                <a:solidFill>
                  <a:srgbClr val="1A1A1A"/>
                </a:solidFill>
              </a:rPr>
              <a:t>S (read, shareable) / X (write, exclusive) locks. 2PL: grow (acquire) then shrink (release), one peak → serializable. Deadlock = cycle in wait-for graph → abort a victim. Starvation → aging.</a:t>
            </a:r>
          </a:p>
        </p:txBody>
      </p:sp>
      <p:sp>
        <p:nvSpPr>
          <p:cNvPr id="9" name="Rounded Rectangle 8"/>
          <p:cNvSpPr/>
          <p:nvPr/>
        </p:nvSpPr>
        <p:spPr>
          <a:xfrm>
            <a:off x="640080" y="4572000"/>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Timestamp ordering (S41)</a:t>
            </a:r>
          </a:p>
          <a:p>
            <a:pPr>
              <a:spcBef>
                <a:spcPts val="300"/>
              </a:spcBef>
            </a:pPr>
            <a:r>
              <a:rPr sz="1200">
                <a:solidFill>
                  <a:srgbClr val="1A1A1A"/>
                </a:solidFill>
              </a:rPr>
              <a:t>TS at start (older=priority); item has read_TS, write_TS. Out-of-order op → abort &amp; restart. No waiting → no deadlock (starvation possible). Thomas's rule = ignore obsolete write.</a:t>
            </a:r>
          </a:p>
        </p:txBody>
      </p:sp>
      <p:sp>
        <p:nvSpPr>
          <p:cNvPr id="10" name="Rounded Rectangle 9"/>
          <p:cNvSpPr/>
          <p:nvPr/>
        </p:nvSpPr>
        <p:spPr>
          <a:xfrm>
            <a:off x="6199632" y="4572000"/>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Recovery &amp; backup (S42–S44)</a:t>
            </a:r>
          </a:p>
          <a:p>
            <a:pPr>
              <a:spcBef>
                <a:spcPts val="300"/>
              </a:spcBef>
            </a:pPr>
            <a:r>
              <a:rPr sz="1200">
                <a:solidFill>
                  <a:srgbClr val="1A1A1A"/>
                </a:solidFill>
              </a:rPr>
              <a:t>Deferred = write after commit → NO-UNDO/REDO. Immediate = write early → UNDO/REDO. Shadow paging = atomic pointer flip, no undo log. Catastrophe → 3-2-1 backup + REDO archived log; RPO vs RTO.</a:t>
            </a:r>
          </a:p>
        </p:txBody>
      </p:sp>
      <p:sp>
        <p:nvSpPr>
          <p:cNvPr id="11" name="TextBox 10"/>
          <p:cNvSpPr txBox="1"/>
          <p:nvPr/>
        </p:nvSpPr>
        <p:spPr>
          <a:xfrm>
            <a:off x="11292840" y="274320"/>
            <a:ext cx="822960" cy="320040"/>
          </a:xfrm>
          <a:prstGeom prst="rect">
            <a:avLst/>
          </a:prstGeom>
          <a:noFill/>
        </p:spPr>
        <p:txBody>
          <a:bodyPr wrap="none">
            <a:spAutoFit/>
          </a:bodyPr>
          <a:lstStyle/>
          <a:p>
            <a:pPr algn="r"/>
            <a:r>
              <a:rPr sz="1000">
                <a:solidFill>
                  <a:srgbClr val="55606B"/>
                </a:solidFill>
              </a:rPr>
              <a:t>131 / 136</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UNIT 6 · GLOSSARY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Key terms — quick reference</a:t>
            </a:r>
          </a:p>
        </p:txBody>
      </p:sp>
      <p:sp>
        <p:nvSpPr>
          <p:cNvPr id="5" name="TextBox 4"/>
          <p:cNvSpPr txBox="1"/>
          <p:nvPr/>
        </p:nvSpPr>
        <p:spPr>
          <a:xfrm>
            <a:off x="640080" y="1600200"/>
            <a:ext cx="5349240" cy="4846320"/>
          </a:xfrm>
          <a:prstGeom prst="rect">
            <a:avLst/>
          </a:prstGeom>
          <a:noFill/>
        </p:spPr>
        <p:txBody>
          <a:bodyPr wrap="square">
            <a:spAutoFit/>
          </a:bodyPr>
          <a:lstStyle/>
          <a:p>
            <a:pPr>
              <a:spcAft>
                <a:spcPts val="600"/>
              </a:spcAft>
            </a:pPr>
            <a:r>
              <a:rPr sz="1150" b="1">
                <a:solidFill>
                  <a:srgbClr val="0C2B4A"/>
                </a:solidFill>
              </a:rPr>
              <a:t>Transaction — </a:t>
            </a:r>
            <a:r>
              <a:rPr sz="1150">
                <a:solidFill>
                  <a:srgbClr val="1A1A1A"/>
                </a:solidFill>
              </a:rPr>
              <a:t>an all-or-nothing logical unit of database work (BEGIN → COMMIT/ROLLBACK).</a:t>
            </a:r>
          </a:p>
          <a:p>
            <a:pPr>
              <a:spcAft>
                <a:spcPts val="600"/>
              </a:spcAft>
            </a:pPr>
            <a:r>
              <a:rPr sz="1150" b="1">
                <a:solidFill>
                  <a:srgbClr val="0C2B4A"/>
                </a:solidFill>
              </a:rPr>
              <a:t>read_item / write_item — </a:t>
            </a:r>
            <a:r>
              <a:rPr sz="1150">
                <a:solidFill>
                  <a:srgbClr val="1A1A1A"/>
                </a:solidFill>
              </a:rPr>
              <a:t>the basic read and write operations on a data item.</a:t>
            </a:r>
          </a:p>
          <a:p>
            <a:pPr>
              <a:spcAft>
                <a:spcPts val="600"/>
              </a:spcAft>
            </a:pPr>
            <a:r>
              <a:rPr sz="1150" b="1">
                <a:solidFill>
                  <a:srgbClr val="0C2B4A"/>
                </a:solidFill>
              </a:rPr>
              <a:t>Transaction states — </a:t>
            </a:r>
            <a:r>
              <a:rPr sz="1150">
                <a:solidFill>
                  <a:srgbClr val="1A1A1A"/>
                </a:solidFill>
              </a:rPr>
              <a:t>Active, Partially Committed, Committed, Failed, Aborted.</a:t>
            </a:r>
          </a:p>
          <a:p>
            <a:pPr>
              <a:spcAft>
                <a:spcPts val="600"/>
              </a:spcAft>
            </a:pPr>
            <a:r>
              <a:rPr sz="1150" b="1">
                <a:solidFill>
                  <a:srgbClr val="0C2B4A"/>
                </a:solidFill>
              </a:rPr>
              <a:t>System log (journal) — </a:t>
            </a:r>
            <a:r>
              <a:rPr sz="1150">
                <a:solidFill>
                  <a:srgbClr val="1A1A1A"/>
                </a:solidFill>
              </a:rPr>
              <a:t>sequential record of writes on stable storage for UNDO/REDO.</a:t>
            </a:r>
          </a:p>
          <a:p>
            <a:pPr>
              <a:spcAft>
                <a:spcPts val="600"/>
              </a:spcAft>
            </a:pPr>
            <a:r>
              <a:rPr sz="1150" b="1">
                <a:solidFill>
                  <a:srgbClr val="0C2B4A"/>
                </a:solidFill>
              </a:rPr>
              <a:t>Atomicity — </a:t>
            </a:r>
            <a:r>
              <a:rPr sz="1150">
                <a:solidFill>
                  <a:srgbClr val="1A1A1A"/>
                </a:solidFill>
              </a:rPr>
              <a:t>all operations happen or none do (rollback on failure).</a:t>
            </a:r>
          </a:p>
          <a:p>
            <a:pPr>
              <a:spcAft>
                <a:spcPts val="600"/>
              </a:spcAft>
            </a:pPr>
            <a:r>
              <a:rPr sz="1150" b="1">
                <a:solidFill>
                  <a:srgbClr val="0C2B4A"/>
                </a:solidFill>
              </a:rPr>
              <a:t>Consistency — </a:t>
            </a:r>
            <a:r>
              <a:rPr sz="1150">
                <a:solidFill>
                  <a:srgbClr val="1A1A1A"/>
                </a:solidFill>
              </a:rPr>
              <a:t>a transaction takes the DB from one valid state to another.</a:t>
            </a:r>
          </a:p>
          <a:p>
            <a:pPr>
              <a:spcAft>
                <a:spcPts val="600"/>
              </a:spcAft>
            </a:pPr>
            <a:r>
              <a:rPr sz="1150" b="1">
                <a:solidFill>
                  <a:srgbClr val="0C2B4A"/>
                </a:solidFill>
              </a:rPr>
              <a:t>Isolation — </a:t>
            </a:r>
            <a:r>
              <a:rPr sz="1150">
                <a:solidFill>
                  <a:srgbClr val="1A1A1A"/>
                </a:solidFill>
              </a:rPr>
              <a:t>concurrent transactions don't interfere; each appears to run alone.</a:t>
            </a:r>
          </a:p>
          <a:p>
            <a:pPr>
              <a:spcAft>
                <a:spcPts val="600"/>
              </a:spcAft>
            </a:pPr>
            <a:r>
              <a:rPr sz="1150" b="1">
                <a:solidFill>
                  <a:srgbClr val="0C2B4A"/>
                </a:solidFill>
              </a:rPr>
              <a:t>Durability — </a:t>
            </a:r>
            <a:r>
              <a:rPr sz="1150">
                <a:solidFill>
                  <a:srgbClr val="1A1A1A"/>
                </a:solidFill>
              </a:rPr>
              <a:t>once committed, changes survive any later crash.</a:t>
            </a:r>
          </a:p>
          <a:p>
            <a:pPr>
              <a:spcAft>
                <a:spcPts val="600"/>
              </a:spcAft>
            </a:pPr>
            <a:r>
              <a:rPr sz="1150" b="1">
                <a:solidFill>
                  <a:srgbClr val="0C2B4A"/>
                </a:solidFill>
              </a:rPr>
              <a:t>Schedule (history) — </a:t>
            </a:r>
            <a:r>
              <a:rPr sz="1150">
                <a:solidFill>
                  <a:srgbClr val="1A1A1A"/>
                </a:solidFill>
              </a:rPr>
              <a:t>an ordering of the operations of several transactions.</a:t>
            </a:r>
          </a:p>
          <a:p>
            <a:pPr>
              <a:spcAft>
                <a:spcPts val="600"/>
              </a:spcAft>
            </a:pPr>
            <a:r>
              <a:rPr sz="1150" b="1">
                <a:solidFill>
                  <a:srgbClr val="0C2B4A"/>
                </a:solidFill>
              </a:rPr>
              <a:t>Serial / non-serial — </a:t>
            </a:r>
            <a:r>
              <a:rPr sz="1150">
                <a:solidFill>
                  <a:srgbClr val="1A1A1A"/>
                </a:solidFill>
              </a:rPr>
              <a:t>one-at-a-time vs interleaved schedule.</a:t>
            </a:r>
          </a:p>
          <a:p>
            <a:pPr>
              <a:spcAft>
                <a:spcPts val="600"/>
              </a:spcAft>
            </a:pPr>
            <a:r>
              <a:rPr sz="1150" b="1">
                <a:solidFill>
                  <a:srgbClr val="0C2B4A"/>
                </a:solidFill>
              </a:rPr>
              <a:t>Serializable — </a:t>
            </a:r>
            <a:r>
              <a:rPr sz="1150">
                <a:solidFill>
                  <a:srgbClr val="1A1A1A"/>
                </a:solidFill>
              </a:rPr>
              <a:t>equivalent in effect to some serial schedule.</a:t>
            </a:r>
          </a:p>
          <a:p>
            <a:pPr>
              <a:spcAft>
                <a:spcPts val="600"/>
              </a:spcAft>
            </a:pPr>
            <a:r>
              <a:rPr sz="1150" b="1">
                <a:solidFill>
                  <a:srgbClr val="0C2B4A"/>
                </a:solidFill>
              </a:rPr>
              <a:t>Conflict — </a:t>
            </a:r>
            <a:r>
              <a:rPr sz="1150">
                <a:solidFill>
                  <a:srgbClr val="1A1A1A"/>
                </a:solidFill>
              </a:rPr>
              <a:t>same item, different txns, at least one write (W-W/R-W/W-R).</a:t>
            </a:r>
          </a:p>
          <a:p>
            <a:pPr>
              <a:spcAft>
                <a:spcPts val="600"/>
              </a:spcAft>
            </a:pPr>
            <a:r>
              <a:rPr sz="1150" b="1">
                <a:solidFill>
                  <a:srgbClr val="0C2B4A"/>
                </a:solidFill>
              </a:rPr>
              <a:t>Precedence graph — </a:t>
            </a:r>
            <a:r>
              <a:rPr sz="1150">
                <a:solidFill>
                  <a:srgbClr val="1A1A1A"/>
                </a:solidFill>
              </a:rPr>
              <a:t>node per txn, edge on conflict; acyclic ⟺ conflict-serializable.</a:t>
            </a:r>
          </a:p>
          <a:p>
            <a:pPr>
              <a:spcAft>
                <a:spcPts val="600"/>
              </a:spcAft>
            </a:pPr>
            <a:r>
              <a:rPr sz="1150" b="1">
                <a:solidFill>
                  <a:srgbClr val="0C2B4A"/>
                </a:solidFill>
              </a:rPr>
              <a:t>Lost update — </a:t>
            </a:r>
            <a:r>
              <a:rPr sz="1150">
                <a:solidFill>
                  <a:srgbClr val="1A1A1A"/>
                </a:solidFill>
              </a:rPr>
              <a:t>two txns read then both write, so one update is overwritten.</a:t>
            </a:r>
          </a:p>
          <a:p>
            <a:pPr>
              <a:spcAft>
                <a:spcPts val="600"/>
              </a:spcAft>
            </a:pPr>
            <a:r>
              <a:rPr sz="1150" b="1">
                <a:solidFill>
                  <a:srgbClr val="0C2B4A"/>
                </a:solidFill>
              </a:rPr>
              <a:t>Lock (S / X) — </a:t>
            </a:r>
            <a:r>
              <a:rPr sz="1150">
                <a:solidFill>
                  <a:srgbClr val="1A1A1A"/>
                </a:solidFill>
              </a:rPr>
              <a:t>shared read lock (shareable) / exclusive write lock (one holder).</a:t>
            </a:r>
          </a:p>
        </p:txBody>
      </p:sp>
      <p:sp>
        <p:nvSpPr>
          <p:cNvPr id="6" name="TextBox 5"/>
          <p:cNvSpPr txBox="1"/>
          <p:nvPr/>
        </p:nvSpPr>
        <p:spPr>
          <a:xfrm>
            <a:off x="6199632" y="1600200"/>
            <a:ext cx="5349240" cy="4846320"/>
          </a:xfrm>
          <a:prstGeom prst="rect">
            <a:avLst/>
          </a:prstGeom>
          <a:noFill/>
        </p:spPr>
        <p:txBody>
          <a:bodyPr wrap="square">
            <a:spAutoFit/>
          </a:bodyPr>
          <a:lstStyle/>
          <a:p>
            <a:pPr>
              <a:spcAft>
                <a:spcPts val="600"/>
              </a:spcAft>
            </a:pPr>
            <a:r>
              <a:rPr sz="1150" b="1">
                <a:solidFill>
                  <a:srgbClr val="0C2B4A"/>
                </a:solidFill>
              </a:rPr>
              <a:t>Two-Phase Locking — </a:t>
            </a:r>
            <a:r>
              <a:rPr sz="1150">
                <a:solidFill>
                  <a:srgbClr val="1A1A1A"/>
                </a:solidFill>
              </a:rPr>
              <a:t>acquire all locks (growing) before releasing any (shrinking).</a:t>
            </a:r>
          </a:p>
          <a:p>
            <a:pPr>
              <a:spcAft>
                <a:spcPts val="600"/>
              </a:spcAft>
            </a:pPr>
            <a:r>
              <a:rPr sz="1150" b="1">
                <a:solidFill>
                  <a:srgbClr val="0C2B4A"/>
                </a:solidFill>
              </a:rPr>
              <a:t>Strict 2PL — </a:t>
            </a:r>
            <a:r>
              <a:rPr sz="1150">
                <a:solidFill>
                  <a:srgbClr val="1A1A1A"/>
                </a:solidFill>
              </a:rPr>
              <a:t>hold exclusive locks until commit → no cascading rollback.</a:t>
            </a:r>
          </a:p>
          <a:p>
            <a:pPr>
              <a:spcAft>
                <a:spcPts val="600"/>
              </a:spcAft>
            </a:pPr>
            <a:r>
              <a:rPr sz="1150" b="1">
                <a:solidFill>
                  <a:srgbClr val="0C2B4A"/>
                </a:solidFill>
              </a:rPr>
              <a:t>Deadlock — </a:t>
            </a:r>
            <a:r>
              <a:rPr sz="1150">
                <a:solidFill>
                  <a:srgbClr val="1A1A1A"/>
                </a:solidFill>
              </a:rPr>
              <a:t>circular wait for locks; a cycle in the wait-for graph.</a:t>
            </a:r>
          </a:p>
          <a:p>
            <a:pPr>
              <a:spcAft>
                <a:spcPts val="600"/>
              </a:spcAft>
            </a:pPr>
            <a:r>
              <a:rPr sz="1150" b="1">
                <a:solidFill>
                  <a:srgbClr val="0C2B4A"/>
                </a:solidFill>
              </a:rPr>
              <a:t>Starvation — </a:t>
            </a:r>
            <a:r>
              <a:rPr sz="1150">
                <a:solidFill>
                  <a:srgbClr val="1A1A1A"/>
                </a:solidFill>
              </a:rPr>
              <a:t>a transaction repeatedly delayed/aborted; fixed with aging.</a:t>
            </a:r>
          </a:p>
          <a:p>
            <a:pPr>
              <a:spcAft>
                <a:spcPts val="600"/>
              </a:spcAft>
            </a:pPr>
            <a:r>
              <a:rPr sz="1150" b="1">
                <a:solidFill>
                  <a:srgbClr val="0C2B4A"/>
                </a:solidFill>
              </a:rPr>
              <a:t>Timestamp (TS) — </a:t>
            </a:r>
            <a:r>
              <a:rPr sz="1150">
                <a:solidFill>
                  <a:srgbClr val="1A1A1A"/>
                </a:solidFill>
              </a:rPr>
              <a:t>unique increasing ID at start; older = higher priority.</a:t>
            </a:r>
          </a:p>
          <a:p>
            <a:pPr>
              <a:spcAft>
                <a:spcPts val="600"/>
              </a:spcAft>
            </a:pPr>
            <a:r>
              <a:rPr sz="1150" b="1">
                <a:solidFill>
                  <a:srgbClr val="0C2B4A"/>
                </a:solidFill>
              </a:rPr>
              <a:t>read_TS / write_TS — </a:t>
            </a:r>
            <a:r>
              <a:rPr sz="1150">
                <a:solidFill>
                  <a:srgbClr val="1A1A1A"/>
                </a:solidFill>
              </a:rPr>
              <a:t>newest reader / writer timestamp stored on a data item.</a:t>
            </a:r>
          </a:p>
          <a:p>
            <a:pPr>
              <a:spcAft>
                <a:spcPts val="600"/>
              </a:spcAft>
            </a:pPr>
            <a:r>
              <a:rPr sz="1150" b="1">
                <a:solidFill>
                  <a:srgbClr val="0C2B4A"/>
                </a:solidFill>
              </a:rPr>
              <a:t>Thomas's write rule — </a:t>
            </a:r>
            <a:r>
              <a:rPr sz="1150">
                <a:solidFill>
                  <a:srgbClr val="1A1A1A"/>
                </a:solidFill>
              </a:rPr>
              <a:t>ignore an obsolete write instead of aborting the txn.</a:t>
            </a:r>
          </a:p>
          <a:p>
            <a:pPr>
              <a:spcAft>
                <a:spcPts val="600"/>
              </a:spcAft>
            </a:pPr>
            <a:r>
              <a:rPr sz="1150" b="1">
                <a:solidFill>
                  <a:srgbClr val="0C2B4A"/>
                </a:solidFill>
              </a:rPr>
              <a:t>Write-Ahead Logging — </a:t>
            </a:r>
            <a:r>
              <a:rPr sz="1150">
                <a:solidFill>
                  <a:srgbClr val="1A1A1A"/>
                </a:solidFill>
              </a:rPr>
              <a:t>write the log record before the data page (enables recovery).</a:t>
            </a:r>
          </a:p>
          <a:p>
            <a:pPr>
              <a:spcAft>
                <a:spcPts val="600"/>
              </a:spcAft>
            </a:pPr>
            <a:r>
              <a:rPr sz="1150" b="1">
                <a:solidFill>
                  <a:srgbClr val="0C2B4A"/>
                </a:solidFill>
              </a:rPr>
              <a:t>Checkpoint — </a:t>
            </a:r>
            <a:r>
              <a:rPr sz="1150">
                <a:solidFill>
                  <a:srgbClr val="1A1A1A"/>
                </a:solidFill>
              </a:rPr>
              <a:t>flush buffers + log a mark; bounds how far recovery scans.</a:t>
            </a:r>
          </a:p>
          <a:p>
            <a:pPr>
              <a:spcAft>
                <a:spcPts val="600"/>
              </a:spcAft>
            </a:pPr>
            <a:r>
              <a:rPr sz="1150" b="1">
                <a:solidFill>
                  <a:srgbClr val="0C2B4A"/>
                </a:solidFill>
              </a:rPr>
              <a:t>Deferred update — </a:t>
            </a:r>
            <a:r>
              <a:rPr sz="1150">
                <a:solidFill>
                  <a:srgbClr val="1A1A1A"/>
                </a:solidFill>
              </a:rPr>
              <a:t>write only after commit → NO-UNDO/REDO.</a:t>
            </a:r>
          </a:p>
          <a:p>
            <a:pPr>
              <a:spcAft>
                <a:spcPts val="600"/>
              </a:spcAft>
            </a:pPr>
            <a:r>
              <a:rPr sz="1150" b="1">
                <a:solidFill>
                  <a:srgbClr val="0C2B4A"/>
                </a:solidFill>
              </a:rPr>
              <a:t>Immediate update — </a:t>
            </a:r>
            <a:r>
              <a:rPr sz="1150">
                <a:solidFill>
                  <a:srgbClr val="1A1A1A"/>
                </a:solidFill>
              </a:rPr>
              <a:t>write during the txn (WAL) → UNDO/REDO.</a:t>
            </a:r>
          </a:p>
          <a:p>
            <a:pPr>
              <a:spcAft>
                <a:spcPts val="600"/>
              </a:spcAft>
            </a:pPr>
            <a:r>
              <a:rPr sz="1150" b="1">
                <a:solidFill>
                  <a:srgbClr val="0C2B4A"/>
                </a:solidFill>
              </a:rPr>
              <a:t>Shadow paging — </a:t>
            </a:r>
            <a:r>
              <a:rPr sz="1150">
                <a:solidFill>
                  <a:srgbClr val="1A1A1A"/>
                </a:solidFill>
              </a:rPr>
              <a:t>new page copies + atomic pointer flip at commit; no undo log.</a:t>
            </a:r>
          </a:p>
          <a:p>
            <a:pPr>
              <a:spcAft>
                <a:spcPts val="600"/>
              </a:spcAft>
            </a:pPr>
            <a:r>
              <a:rPr sz="1150" b="1">
                <a:solidFill>
                  <a:srgbClr val="0C2B4A"/>
                </a:solidFill>
              </a:rPr>
              <a:t>Catastrophic failure — </a:t>
            </a:r>
            <a:r>
              <a:rPr sz="1150">
                <a:solidFill>
                  <a:srgbClr val="1A1A1A"/>
                </a:solidFill>
              </a:rPr>
              <a:t>media/site destroyed; needs a separate backup.</a:t>
            </a:r>
          </a:p>
          <a:p>
            <a:pPr>
              <a:spcAft>
                <a:spcPts val="600"/>
              </a:spcAft>
            </a:pPr>
            <a:r>
              <a:rPr sz="1150" b="1">
                <a:solidFill>
                  <a:srgbClr val="0C2B4A"/>
                </a:solidFill>
              </a:rPr>
              <a:t>3-2-1 rule — </a:t>
            </a:r>
            <a:r>
              <a:rPr sz="1150">
                <a:solidFill>
                  <a:srgbClr val="1A1A1A"/>
                </a:solidFill>
              </a:rPr>
              <a:t>3 copies, 2 media, 1 off-site.</a:t>
            </a:r>
          </a:p>
          <a:p>
            <a:pPr>
              <a:spcAft>
                <a:spcPts val="600"/>
              </a:spcAft>
            </a:pPr>
            <a:r>
              <a:rPr sz="1150" b="1">
                <a:solidFill>
                  <a:srgbClr val="0C2B4A"/>
                </a:solidFill>
              </a:rPr>
              <a:t>RPO / RTO — </a:t>
            </a:r>
            <a:r>
              <a:rPr sz="1150">
                <a:solidFill>
                  <a:srgbClr val="1A1A1A"/>
                </a:solidFill>
              </a:rPr>
              <a:t>tolerable data loss / tolerable downtime.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132 / 136</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UNIT 6 · REVISION</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Consolidated end-of-unit quiz</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Ten MCQs across the whole unit (answers shown), then short-answer and long/applied questions to work from the concept slides and Unit6_material.md.</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133 / 136</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Part A — Multiple choice (answers shown)</a:t>
            </a:r>
          </a:p>
        </p:txBody>
      </p:sp>
      <p:sp>
        <p:nvSpPr>
          <p:cNvPr id="5" name="TextBox 4"/>
          <p:cNvSpPr txBox="1"/>
          <p:nvPr/>
        </p:nvSpPr>
        <p:spPr>
          <a:xfrm>
            <a:off x="640080" y="1600200"/>
            <a:ext cx="10881360" cy="4846320"/>
          </a:xfrm>
          <a:prstGeom prst="rect">
            <a:avLst/>
          </a:prstGeom>
          <a:noFill/>
        </p:spPr>
        <p:txBody>
          <a:bodyPr wrap="square">
            <a:spAutoFit/>
          </a:bodyPr>
          <a:lstStyle/>
          <a:p>
            <a:pPr lvl="1"/>
            <a:r>
              <a:rPr sz="1250" b="1">
                <a:solidFill>
                  <a:srgbClr val="0F6E56"/>
                </a:solidFill>
              </a:rPr>
              <a:t>1.  A logical unit of DB work that is all-or-nothing is a   →  ✅ transaction</a:t>
            </a:r>
          </a:p>
          <a:p>
            <a:pPr lvl="1"/>
            <a:r>
              <a:rPr sz="1250" b="1">
                <a:solidFill>
                  <a:srgbClr val="0F6E56"/>
                </a:solidFill>
              </a:rPr>
              <a:t>2.  A transaction that finished all operations but is not yet permanent is   →  ✅ partially committed</a:t>
            </a:r>
          </a:p>
          <a:p>
            <a:pPr lvl="1"/>
            <a:r>
              <a:rPr sz="1250" b="1">
                <a:solidFill>
                  <a:srgbClr val="0F6E56"/>
                </a:solidFill>
              </a:rPr>
              <a:t>3.  'Once committed, it survives a crash' is   →  ✅ durability</a:t>
            </a:r>
          </a:p>
          <a:p>
            <a:pPr lvl="1"/>
            <a:r>
              <a:rPr sz="1250" b="1">
                <a:solidFill>
                  <a:srgbClr val="0F6E56"/>
                </a:solidFill>
              </a:rPr>
              <a:t>4.  Concurrent transactions not interfering with each other is   →  ✅ isolation</a:t>
            </a:r>
          </a:p>
          <a:p>
            <a:pPr lvl="1"/>
            <a:r>
              <a:rPr sz="1250" b="1">
                <a:solidFill>
                  <a:srgbClr val="0F6E56"/>
                </a:solidFill>
              </a:rPr>
              <a:t>5.  A concurrent schedule is conflict-serializable iff its precedence graph   →  ✅ has no cycle</a:t>
            </a:r>
          </a:p>
          <a:p>
            <a:pPr lvl="1"/>
            <a:r>
              <a:rPr sz="1250" b="1">
                <a:solidFill>
                  <a:srgbClr val="0F6E56"/>
                </a:solidFill>
              </a:rPr>
              <a:t>6.  In Two-Phase Locking, releasing the first lock begins the   →  ✅ shrinking phase</a:t>
            </a:r>
          </a:p>
          <a:p>
            <a:pPr lvl="1"/>
            <a:r>
              <a:rPr sz="1250" b="1">
                <a:solidFill>
                  <a:srgbClr val="0F6E56"/>
                </a:solidFill>
              </a:rPr>
              <a:t>7.  Deadlock is detected by a cycle in the   →  ✅ wait-for graph</a:t>
            </a:r>
          </a:p>
          <a:p>
            <a:pPr lvl="1"/>
            <a:r>
              <a:rPr sz="1250" b="1">
                <a:solidFill>
                  <a:srgbClr val="0F6E56"/>
                </a:solidFill>
              </a:rPr>
              <a:t>8.  In basic timestamp ordering, an op violating timestamp order is   →  ✅ aborted and restarted</a:t>
            </a:r>
          </a:p>
          <a:p>
            <a:pPr lvl="1"/>
            <a:r>
              <a:rPr sz="1250" b="1">
                <a:solidFill>
                  <a:srgbClr val="0F6E56"/>
                </a:solidFill>
              </a:rPr>
              <a:t>9.  Deferred-update (NO-UNDO/REDO) recovery requires   →  ✅ redo only</a:t>
            </a:r>
          </a:p>
          <a:p>
            <a:pPr lvl="1"/>
            <a:r>
              <a:rPr sz="1250" b="1">
                <a:solidFill>
                  <a:srgbClr val="0F6E56"/>
                </a:solidFill>
              </a:rPr>
              <a:t>10.  Recovery from a physically destroyed disk depends primarily on   →  ✅ an off-site backup + archived log</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134 / 136</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Parts B–C — short answer &amp; long/applied</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500"/>
              </a:spcBef>
            </a:pPr>
            <a:r>
              <a:rPr sz="1400" b="1">
                <a:solidFill>
                  <a:srgbClr val="0C2B4A"/>
                </a:solidFill>
              </a:rPr>
              <a:t>Part B — Short answer</a:t>
            </a:r>
          </a:p>
          <a:p>
            <a:pPr lvl="1">
              <a:spcBef>
                <a:spcPts val="200"/>
              </a:spcBef>
            </a:pPr>
            <a:r>
              <a:rPr sz="1250" i="1">
                <a:solidFill>
                  <a:srgbClr val="1A1A1A"/>
                </a:solidFill>
              </a:rPr>
              <a:t>11. List the four ACID properties + the one-word job of each.   12. Draw &amp; label the transaction state-transition diagram.</a:t>
            </a:r>
          </a:p>
          <a:p>
            <a:pPr lvl="1">
              <a:spcBef>
                <a:spcPts val="200"/>
              </a:spcBef>
            </a:pPr>
            <a:r>
              <a:rPr sz="1250" i="1">
                <a:solidFill>
                  <a:srgbClr val="1A1A1A"/>
                </a:solidFill>
              </a:rPr>
              <a:t>13. Show one schedule on a wallet that causes a lost update.   14. State the precedence-graph rule for conflict serializability.</a:t>
            </a:r>
          </a:p>
          <a:p>
            <a:pPr lvl="1">
              <a:spcBef>
                <a:spcPts val="200"/>
              </a:spcBef>
            </a:pPr>
            <a:r>
              <a:rPr sz="1250" i="1">
                <a:solidFill>
                  <a:srgbClr val="1A1A1A"/>
                </a:solidFill>
              </a:rPr>
              <a:t>15. Explain why immediate-update recovery needs UNDO but deferred-update does not.</a:t>
            </a:r>
          </a:p>
          <a:p>
            <a:pPr>
              <a:spcBef>
                <a:spcPts val="500"/>
              </a:spcBef>
            </a:pPr>
            <a:r>
              <a:rPr sz="1400" b="1">
                <a:solidFill>
                  <a:srgbClr val="0C2B4A"/>
                </a:solidFill>
              </a:rPr>
              <a:t>Part C — Long answer / applied</a:t>
            </a:r>
          </a:p>
          <a:p>
            <a:pPr lvl="1">
              <a:spcBef>
                <a:spcPts val="200"/>
              </a:spcBef>
            </a:pPr>
            <a:r>
              <a:rPr sz="1250" i="1">
                <a:solidFill>
                  <a:srgbClr val="1A1A1A"/>
                </a:solidFill>
              </a:rPr>
              <a:t>16. Trace 'Rita sends Rs. 500 to Hari' through atomicity, isolation, and durability, and describe what the log records at each step.</a:t>
            </a:r>
          </a:p>
          <a:p>
            <a:pPr lvl="1">
              <a:spcBef>
                <a:spcPts val="200"/>
              </a:spcBef>
            </a:pPr>
            <a:r>
              <a:rPr sz="1250" i="1">
                <a:solidFill>
                  <a:srgbClr val="1A1A1A"/>
                </a:solidFill>
              </a:rPr>
              <a:t>17. Compare 2PL and timestamp ordering: mechanism, what each guarantees, failure mode (deadlock vs starvation), and a scenario favouring each.</a:t>
            </a:r>
          </a:p>
          <a:p>
            <a:pPr lvl="1">
              <a:spcBef>
                <a:spcPts val="200"/>
              </a:spcBef>
            </a:pPr>
            <a:r>
              <a:rPr sz="1250" i="1">
                <a:solidFill>
                  <a:srgbClr val="1A1A1A"/>
                </a:solidFill>
              </a:rPr>
              <a:t>18. Compare deferred / immediate / shadow-paging recovery (mechanism, undo/redo, pros/cons), then outline a 3-2-1 backup + DR plan for a Nepali fintech.</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135 / 136</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0C2B4A"/>
        </a:solidFill>
        <a:effectLst/>
      </p:bgPr>
    </p:bg>
    <p:spTree>
      <p:nvGrpSpPr>
        <p:cNvPr id="1" name=""/>
        <p:cNvGrpSpPr/>
        <p:nvPr/>
      </p:nvGrpSpPr>
      <p:grpSpPr/>
      <p:sp>
        <p:nvSpPr>
          <p:cNvPr id="2" name="Rectangle 1"/>
          <p:cNvSpPr/>
          <p:nvPr/>
        </p:nvSpPr>
        <p:spPr>
          <a:xfrm>
            <a:off x="822960" y="2788920"/>
            <a:ext cx="1463040" cy="91440"/>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828800"/>
            <a:ext cx="10515600" cy="1005840"/>
          </a:xfrm>
          <a:prstGeom prst="rect">
            <a:avLst/>
          </a:prstGeom>
          <a:noFill/>
        </p:spPr>
        <p:txBody>
          <a:bodyPr wrap="square">
            <a:spAutoFit/>
          </a:bodyPr>
          <a:lstStyle/>
          <a:p>
            <a:r>
              <a:rPr sz="3300" b="1">
                <a:solidFill>
                  <a:srgbClr val="FFFFFF"/>
                </a:solidFill>
              </a:rPr>
              <a:t>End of Unit 6  ·  IT 220</a:t>
            </a:r>
          </a:p>
        </p:txBody>
      </p:sp>
      <p:sp>
        <p:nvSpPr>
          <p:cNvPr id="4" name="TextBox 3"/>
          <p:cNvSpPr txBox="1"/>
          <p:nvPr/>
        </p:nvSpPr>
        <p:spPr>
          <a:xfrm>
            <a:off x="822960" y="3017520"/>
            <a:ext cx="10515600" cy="1097280"/>
          </a:xfrm>
          <a:prstGeom prst="rect">
            <a:avLst/>
          </a:prstGeom>
          <a:noFill/>
        </p:spPr>
        <p:txBody>
          <a:bodyPr wrap="square">
            <a:spAutoFit/>
          </a:bodyPr>
          <a:lstStyle/>
          <a:p>
            <a:r>
              <a:rPr sz="1800">
                <a:solidFill>
                  <a:srgbClr val="CFDDEA"/>
                </a:solidFill>
              </a:rPr>
              <a:t>S37–S44 complete: transactions &amp; the log · ACID · serializable schedules &amp; precedence graphs · 2PL &amp; deadlock · timestamp ordering · deferred / immediate / shadow-paging recovery · backup &amp; catastrophic recovery</a:t>
            </a:r>
          </a:p>
        </p:txBody>
      </p:sp>
      <p:sp>
        <p:nvSpPr>
          <p:cNvPr id="5" name="TextBox 4"/>
          <p:cNvSpPr txBox="1"/>
          <p:nvPr/>
        </p:nvSpPr>
        <p:spPr>
          <a:xfrm>
            <a:off x="822960" y="5852160"/>
            <a:ext cx="10515600" cy="731520"/>
          </a:xfrm>
          <a:prstGeom prst="rect">
            <a:avLst/>
          </a:prstGeom>
          <a:noFill/>
        </p:spPr>
        <p:txBody>
          <a:bodyPr wrap="square">
            <a:spAutoFit/>
          </a:bodyPr>
          <a:lstStyle/>
          <a:p>
            <a:r>
              <a:rPr sz="1300">
                <a:solidFill>
                  <a:srgbClr val="9AB2C6"/>
                </a:solidFill>
              </a:rPr>
              <a:t>Built to COURSE_MATERIAL_STANDARD.md incl. the §7A depth rule · comparison &amp; concrete-example tables throughout · self-contained, PDF-safe · Next: Unit 7 — Advanced Topics (tuning, security, distributed DBs, warehousing, big data, NoSQL).</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136 / 136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