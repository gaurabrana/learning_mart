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Don't teach ER symbols yet — just plant 'describe WHAT before HOW'. Agenda: conceptual model → design pipeline → data vs functional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Airline example (Passenger/Flight/Booking) BEFORE naming Oracle vs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Draw the four-box pipeline and keep it up all session — later concepts hang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Split the board: STORE (left) vs DO (right). Use Khalti.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Tie straight back to S2 schema-vs-instance: type ≈ schema (design-time), set ≈ instance (a snapshot). Agenda: entity/type/set → attribute types →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Draw rectangle STUDENT (type), write 'Sita' beside it (entity), dotted circle round a roster (set).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Draw each: plain / branching / dashed / double oval. Hit the 'age' misconception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'If two students are both Ram Thapa, how does the system tell them apart?' — that's a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Densest session (4 concepts) — keep each tight, lean on the diagrams. Agenda: relationship type/set/degree → roles &amp; recursive → cardinality →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 min. Draw STUDENT ▭ — ◇ENROLLS — ▭ COURSE. Degree = rectangles the diamond touches.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 min. Draw ONE rectangle EMPLOYEE with a diamond SUPERVISES looping back; label 'supervisor' / 'supervisee'.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min. Most exam-heavy idea. One crisp example per ratio; teach the read-it-both-ways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 min. Bank: every LOAN belongs to a CUSTOMER (total); not every CUSTOMER has a loan (partial).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[~6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Pre-empt the one trap all session: 'weak' does NOT mean 'unimportant' — it means 'identity-dependent'. Agenda: weak vs strong → identifying relationship → partial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Draw a single rectangle (strong) next to a double rectangle (weak). Kill 'weak = unimportant'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Draw EMPLOYEE ══ ◈HAS_DEPENDENT ══ ▨DEPENDENT. Give LOAN—has—INSTALLMENT.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 min. 'If installment #3 exists for thousands of loans, how do we pick the right one?' Kill 'partial key alone is unique'.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 and let students attempt it in pairs before revealing the worked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model to reach for whenever you see 'owner + repeated sub-items' (orders/items, exams/answer-sheets, hotels/rooms).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Unit 2 — Data Modelling (ER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IT 220: Database Management System  ·  BIM 4th Semester  ·  Chen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Sessions S5–S8 (of S5–S12)  ·  50 min each  ·  Nepal / South Asia context  ·  Self-contained slides: every concept is complete on the slide face — no teacher or speaker-notes required to learn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 / 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OVERVIEW  ·  S5–S8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2 —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C2B4A"/>
                </a:solidFill>
              </a:rPr>
              <a:t>By the end of this batch (S5–S8), you will be able to: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Explain the conceptual (ER) model and where it sits in the database design process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Model entity types, entity sets, and all four attribute types, and choose keys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Model relationships: type/set, degree, roles, cardinality ratio, and participation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Model weak entity types with identifying relationships and partial keys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972800" cy="77724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Coming after this batch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S9–S12: higher-degree (ternary) relationships, specialization/generalization, ER→table mapping, and the consolidated end-of-unit quiz.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2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Where each session fits (S5–S12)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1605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THIS BATCH  ·  S5–S8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S5   Conceptual models &amp; the design process
S6   Entity types/sets, attributes, keys
S7   Relationships, roles, cardinality, participation
S8   Weak entities, identifying relationship, partial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349240" cy="41605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55606B"/>
                </a:solidFill>
              </a:rPr>
              <a:t>⏭️  COMING NEXT  ·  S9–S12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S9    Full ER diagrams · naming · design pitfalls
S10  Higher-degree (ternary) relationships
S11  Specialization &amp; generalization
S12  Mapping ER → relational tables
+     Consolidated end-of-unit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5 · LECTURE HOUR 5 (OF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Conceptual Data Models &amp; the Design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Before Daraz wrote a single line of code, someone drew boxes and lines — Product, Customer, Order — on a whiteboard. Why draw before you build? Because conceptual design comes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What a Conceptual Data Model Is (and Why 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high-level, implementation-independent description of WHAT data a system holds and how the pieces relate — expressed as real-world things, not tables, files, or a specific DBMS.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Entity-Relationship (ER) model is the standard notation. Chen: rectangle = entity, oval = attribute, diamond = relationship.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Technology-neutral and readable by non-technical stakeholders — a registrar or finance manager can verify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a communication + thinking tool: agree on WHAT before committing to costly HOW.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sits ABOVE tables; turning it into tables is a separate, later step (S12).</a:t>
            </a:r>
          </a:p>
        </p:txBody>
      </p:sp>
      <p:pic>
        <p:nvPicPr>
          <p:cNvPr id="6" name="Picture 5" descr="s5_what_vs_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Model the WHAT; the HOW comes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What a Conceptual Data Model Is (and Why 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Daraz's whiteboard: boxes CUSTOMER, PRODUCT, ORDER with lines between them — a conceptual model with no mention of MySQL or servers. A startup that skips it and types CREATE TABLE on day one discovers 'a customer has many addresses' too late, and must rewrite live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"Modelling = drawing the tables." No — the conceptual model is ABOVE tables; rows and foreign keys come later (S12). Concept first, tables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conceptual data model is a high-level, implementation-independent description of WHAT data a system stores and how the data relate — in terms of real-world things, not tables or storage. The ER model is the most widely used conceptual notation because it is technology-neutral and easy for non-technical stakeholders (rectangle = entity, oval = attribute, diamond = relationship).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conceptual / high-level model  ·  implementation-independent  ·  Entity-Relationship (ER) model  ·  Chen notation  ·  stakeholder-readable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Real-world things → their ER element (not tables yet)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6124"/>
                <a:gridCol w="2286000"/>
                <a:gridCol w="2571750"/>
                <a:gridCol w="3286124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Everyday thing (Nepali app)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ER element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Chen symbol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is NOT yet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 Daraz customer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rectangle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a `customer` row yet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That customer's email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attribute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a VARCHAR column yet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'places an order'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relationship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diamond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a foreign key yet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The customer's 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key attribute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underlined oval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a PRIMARY KEY clause yet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as a category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 type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rectangle (design-time)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MySQL, not a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The whole Daraz shop design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conceptual data model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full ER diagram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CREATE TABLE code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The conceptual (ER) model captures WHAT data exists using real-world things and symbols — tables, columns and foreign keys (the HOW) come later in S12. It is technology-neutral, so a registrar or finance manager can verify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Database Design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Database design is a pipeline of four stages, each producing output that feeds the next: Requirements → Conceptual → Logical → Physical (RCLP).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Requirements collection &amp; analysis — capture what data AND what operations are needed.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Conceptual design — build the DBMS-independent ER diagram (the bulk of Unit 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Logical design — MAP the ER diagram to relational tables with keys / foreign keys (this is S12).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Physical design — storage, indexes, file organization for performance (the DBA's job).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Mirrors Unit 1's levels: conceptual → logical → internal schema.</a:t>
            </a:r>
          </a:p>
        </p:txBody>
      </p:sp>
      <p:pic>
        <p:nvPicPr>
          <p:cNvPr id="6" name="Picture 5" descr="s5_desig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Requirements → Conceptual → Logical → Physical (RCLP).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Database Design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eSewa's wallet, stage by stage: finance-team requirements → ER diagram (USER makes TRANSACTION) → relational tables (User, Transaction, a foreign key) → indexes so your statement loads in a tap. Teams that skip requirements discover 'top-up source' was never captured and pay in painful live-data migrations.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Skipping requirements to 'save time' is the #1 cause of costly rework. Every stage you skip, a later stage pays for — with interest.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Database design has four phases: (1) Requirements collection &amp; analysis — what data and what operations; (2) Conceptual design — a DBMS-independent ER diagram; (3) Logical design — map the ER diagram to relational tables (keys, foreign keys); (4) Physical design — storage structures and indexes. Each phase feeds the next; ER sits at the conceptual phase, ER→tables is the logical phase.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database design process  ·  requirements collection  ·  conceptual design (ER)  ·  logical design (mapping)  ·  physical design  ·  rework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four design stages (RCLP) worked on eSewa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8295"/>
                <a:gridCol w="2597727"/>
                <a:gridCol w="3636818"/>
                <a:gridCol w="3247159"/>
              </a:tblGrid>
              <a:tr h="88331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produces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eSewa worked example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Skip it and…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88331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1. Requirements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data + operations needed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store users &amp; transactions; must send money, show statement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'top-up source' never captured → painful live migration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88331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2. Conceptual (ER)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DBMS-independent ER diagram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 —MAKES— TRANSACTION drawn as a diamond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jump to tables → rewrite when 'one user, many wallets' appears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88331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3. Logical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ER mapped to relational tables + keys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 &amp; Transaction tables + a user_id foreign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wrong keys → duplicate or orphaned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8833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4. Physical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storage, indexes, tuning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an index on transaction date so the statement loads in a tap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statement screen crawls at month-end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Each stage feeds the next; ER sits at the conceptual stage, ER→tables is the logical stage. Every stage you skip, a later stage pays for — with interest. Mirrors Unit 1's conceptual → logical → internal schema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Data vs 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Requirements come in two kinds, captured together: data requirements = WHAT to store (the nouns); functional requirements = WHAT operations to support (the verbs).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Data requirements → shape the ENTITIES and ATTRIBUTES of the ER diagram.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Functional requirements → shape the OPERATIONS the design must serve quickly and correctly.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 DB that stores the right data but can't do a needed operation is as broken as one missing data.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Capture both — the nouns AND the verbs.</a:t>
            </a:r>
          </a:p>
        </p:txBody>
      </p:sp>
      <p:pic>
        <p:nvPicPr>
          <p:cNvPr id="6" name="Picture 5" descr="s5_data_vs_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Data = the nouns to store; functional = the verbs to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Data vs Functional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Khalti's two lists — data: users (name, number, balance, KYC) and transactions (amount, date, status); functional: send money, top up, pay a bill, view statement. The 'view statement for a date range' verb is WHY history loads instantly. Capture only the data and you ship a correct but painfully slow statement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"Requirements are only about data." No — miss the operations (verbs) and you can build a perfectly-structured DB that is slow or unable to do what users actually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Data requirements specify what data must be stored — the things and their properties (nouns), e.g. Khalti users, balances, transactions. Functional requirements specify what operations the system must support (verbs), e.g. send money, view statement. Data requirements shape entities/attributes; functional requirements shape the operations the design must serve. Both must be captured.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data requirements (nouns → entities/attributes)  ·  functional requirements (verbs → transactions)  ·  requirements collection  ·  capture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Sort each Khalti requirement: data (noun) or functional (verb)?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08714"/>
                <a:gridCol w="2775857"/>
                <a:gridCol w="424542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Requirement (Khalti)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Data or functional?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shapes in the design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Store each user's name, number, KYC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(noun)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 + attributes (USER)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Record every transaction's amount, date, status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(noun)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 + attributes (TRANSACTION)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Send money to another user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functional (verb)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an operation the design must serve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Top up from a linked bank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functional (verb)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operation → needs a BANK link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View statement for a date range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functional (verb)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operation → drives an index on 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Pay an electricity bill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functional (verb)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operation → needs a BILLER entity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Data requirements (nouns) become entities &amp; attributes; functional requirements (verbs) are the operations the design must serve. Capture BOTH — store the right data yet miss the verbs and you ship a correct but painfully slow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Nouns &amp; Verbs of a Nepali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(2–3 min): pick a Nepali app — eSewa, Khalti, Daraz, Nagarik App, or Foodmandu.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Write TWO data requirements (nouns to store) and TWO functional requirements (operations to support).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Then say which pipeline stage turns your nouns into an ER diagram.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aloud (2 min); sort each answer into the STORE column or the DO column.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Daraz: data = products, customers, orders; functional = search product, place order, track delivery. The stage that turns nouns into an ER diagram is CONCEPTUAL design. Students reliably list nouns and forget verbs — push every pair to name at least one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S5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Which design phase produces the ER diagram?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physical   b) ✅ conceptual   c) implementation   d) testing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A conceptual data model is independent of…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requirements   b) ✅ the specific DBMS / storage   c) the entities   d) stakeholders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pick a Nepali app — two data requirements and two functional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S5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A conceptual data model describes WHAT data you hold, not HOW it's stored; the ER model (Chen notation) is the standard, technology-neutral, stakeholder-readable notation.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Design flows through four stages — Requirements → Conceptual (ER) → Logical (tables) → Physical (storage) — each feeding the next.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Requirements come in two kinds: data requirements (nouns to store) and functional requirements (verbs to support). Capture both.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Every data project in Nepal — fintechs, e-commerce, government IT — begins with requirements gathering and a conceptual (ER) model. Skipping to tables is the #1 cause of costly rework. "Can you draw the ER model before you code?" is a standard junior-developer expectation.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 session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S6 — the building blocks of the ER model: entities, entity types/sets, attributes, and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6 · LECTURE HOUR 6 (OF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Entity Types, Sets, Attributes &amp;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On the Nagarik App, YOU are a citizen and your friend is a citizen — same 'shape' (a citizenship number, a name, a DOB), different data. What's the shape, and what's the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Entity, Entity Type, Entity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Entity = one real-world thing. Entity TYPE = the category/template all such things share (design-time; a rectangle in Chen). Entity SET = all entities of that type existing right now (instance-time).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One entity type has many entity sets over time — the same pattern as 'one schema, many instances' (S2).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type is stable; the set changes constantly as things come and go.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Chen notation, an entity type is drawn as a rectangle.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An entity is NOT a table row — the row is only how it is represented later (S12).</a:t>
            </a:r>
          </a:p>
        </p:txBody>
      </p:sp>
      <p:pic>
        <p:nvPicPr>
          <p:cNvPr id="6" name="Picture 5" descr="s6_type_vs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Type = the cutter; entity = one biscuit; set = the tray right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Entity, Entity Type, Entity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On Daraz, CUSTOMER is an entity type (the category, defined by ID, name, email). YOU, with your ID and order history, are one entity. Everyone registered at this moment — millions — is the entity set: sign-ups enlarge it, deactivations shrink it, yet the TYPE 'CUSTOMER' is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"An entity is just a row in a table." That's later thinking — an entity is a real-world thing; the row is only its stored representation, produced when we map to tables in S12.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entity is a single real-world thing (e.g. the student Sita). An entity type is the category/template all such things share — a design-time definition (e.g. STUDENT, a rectangle in Chen); it is stable. An entity set is all entities of that type at a given moment (e.g. all students enrolled today); it changes constantly. One entity type has many entity sets — analogous to one schema having many instances.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entity  ·  entity type (rectangle, design-time)  ·  entity set (instance-time)  ·  type ≈ schema, set ≈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Entity vs entity type vs entity set across Nepali systems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6666"/>
                <a:gridCol w="2822222"/>
                <a:gridCol w="2822222"/>
                <a:gridCol w="366888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Entity type (category)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One entity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Entity set (right now)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Daraz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you — ID 4412, Sita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registered customers this moment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Nagarik App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CITIZEN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citizen, Hari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citizens enrolled today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 college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Sita, roll 21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students enrolled this semester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NIC Asia bank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ACCOUNT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your savings a/c #001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open accounts now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eSewa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TRANSACTION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txn #88921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transactions logged today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Foodmandu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RESTAURANT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Bajeko Sekuwa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listed restaurants now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The TYPE is the stable category (design-time, a rectangle); the SET changes every second as things come and go; an ENTITY is one member. One type → many sets, exactly like one schema → many instances (S2).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Attributes and Their Four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An attribute is a property that describes an entity (an oval in Chen notation). Attributes come in four types — simple, composite, derived, multivalued — and classifying them correctly now decides table design later.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Simple (atomic): one indivisible value, e.g. roll_no — a plain oval.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Composite: made of sub-parts, e.g. name = first/middle/last — the oval branches into child ovals.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Derived: computed, NOT stored, e.g. age from DOB — a dashed oval.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Multivalued: can hold several values, e.g. phone numbers — a double oval.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S12 this decides mapping: multivalued → own table; composite → flattened columns; derived → left out.</a:t>
            </a:r>
          </a:p>
        </p:txBody>
      </p:sp>
      <p:pic>
        <p:nvPicPr>
          <p:cNvPr id="6" name="Picture 5" descr="s6_attrib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73649"/>
            <a:ext cx="5532120" cy="34879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Simple = one; Composite = parts; Derived = computed; Multivalued = many.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Attributes and Their Four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Daraz's saved delivery addresses = a MULTIVALUED attribute (many per customer) that is also COMPOSITE (district/municipality/ward) — drawn as a double oval that branches, and mapped to its own table later. Daraz stores your date of birth, never your age — age is DERIVED and would rot every birthday.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"Store the age" / "cram several phone numbers into one box." Age is derived (causes update anomalies); several values must be a multivalued attribute → its own table. Store what you can't compute; derive what you 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Simple (atomic): a single indivisible value (roll_no). Composite: made of sub-parts (name = first+middle+last). Derived: computed, not stored (age from DOB — dashed oval). Multivalued: several values for one entity (phone_numbers — double oval). In Chen, attributes are ovals; composites branch, derived are dashed, multivalued are doubled. Derived and multivalued especially affect how the entity maps to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attribute (oval)  ·  simple/atomic  ·  composite (branches)  ·  derived (dashed, computed)  ·  multivalued (double)  ·  update 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four attribute types (+ key) with Chen symbol and mapping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7058"/>
                <a:gridCol w="2017058"/>
                <a:gridCol w="3899647"/>
                <a:gridCol w="3496235"/>
              </a:tblGrid>
              <a:tr h="7360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Attribute type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Chen symbol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Nepali example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How it maps to tables later (S12)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Simple (atomic)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plain oval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roll_no, citizenship_no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plain column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Composite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branching oval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full_name = first+middle+last; address = district/municipality/ward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flattened into separate columns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Derived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dashed oval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age from DOB; order total; loan balance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NOT stored — computed on demand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Multivalued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double oval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customer's phone numbers; Daraz saved addresses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breaks out into its OWN table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underlined oval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customer_id, national 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becomes the PRIMARY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Classify attributes now and table design falls out later: multivalued → own table, composite → split columns, derived → never stored, key → primary key. Storing a derived value (e.g. age) causes update anomalies — it rots every birthday.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key is a uniqueness constraint — an attribute (or set of attributes) whose value is unique for every entity, used to tell one entity from another. In Chen notation, a key attribute is underlined.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Candidate key — any minimal attribute set that could uniquely identify (an entity type may have several).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Primary key — the one candidate key the designer chooses as the main identifier (the underlined one).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Composite key — a key made of more than one attribute together (e.g. roll_no + program).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 good key is unique, stable, and minimal.</a:t>
            </a:r>
          </a:p>
        </p:txBody>
      </p:sp>
      <p:pic>
        <p:nvPicPr>
          <p:cNvPr id="6" name="Picture 5" descr="s6_k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A key = the roll number that no two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The Nagarik App keys each citizen on their citizenship / national ID, not their name — names repeat across Nepal, but that ID is designed to be unique. It is the primary key; a phone number may be another candidate key. Identify citizens by name and two 'Sita Sharma's merge their land, tax, and benefit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 name can be a key." Names repeat — two 'Ram Thapa's will collide. Test any proposed key: could two different real things ever share this value? If yes, it is not a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key is a uniqueness constraint that uniquely identifies each entity. A candidate key is any minimal attribute set that could serve as identifier (there may be several). The primary key is the chosen main identifier (underlined in Chen). A composite key combines more than one attribute (roll_no + program) when no single attribute is unique alone. Names should not be keys because they repeat.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key / uniqueness constraint  ·  candidate key  ·  primary key (underlined)  ·  composite key  ·  test: unique, stable, minimal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S6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Good keys vs bad 'keys' — and why they fail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7142"/>
                <a:gridCol w="3537857"/>
                <a:gridCol w="3537857"/>
                <a:gridCol w="2177142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Entity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Good key (why it works)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 bad 'key' (why it fails)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Type of key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CITIZEN (Nagarik)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citizenship / national ID — designed unique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full name — two 'Sita Sharma's collide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primary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(college)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roll_no — unique within college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name + DOB — may still clash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primary / candidate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 result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roll_no + program together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roll_no alone — repeats across programs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composite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customer_id — system-generated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email — changes, can be reused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primary; email = candidate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 (bank)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account_number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phone number — can change / transfer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primary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Khalti user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mobile_number — can be re-issued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primary vs candidate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Test any proposed key: could two different real things ever share this value, or could it change? Names, emails and phones fail — national IDs, roll numbers and system IDs are designed to be unique, stable and minimal.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Label the attributes of a Khalti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list the attributes of a Khalti user account.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Label each as simple / composite / derived / multivalued.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Then pick the PRIMARY key and name one other CANDIDATE key.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min); draw the winning account as a Chen fragment.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user_id (simple, primary key) · mobile_number (candidate key) · full_name (composite) · age (derived — don't store!) · linked_bank_accounts or saved_numbers (multivalued). Watch two reliable slips: storing 'age', and treating several saved numbers as one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S6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'Age' computed from date of birth is a ___ attribute: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stored   b) multivalued   c) ✅ derived   d) composite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All STUDENT entities existing at one moment form the: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entity type   b) ✅ entity set   c) attribute   d) relationship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list the attributes of a Khalti account and label each simple / composite / derived / multivalued.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S6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Entity type = the category (design-time, a rectangle, like a schema); entity set = all its members right now (instance-time); entity = one real-world thing.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Attributes come in four types — simple, composite, derived, multivalued (ovals in Chen) — and you never store what you can derive.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A key uniquely identifies an entity; the primary key is the chosen identifier (underlined); composite keys combine attributes. Names are not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Correctly classifying attributes — spotting multivalued ones (addresses, phones) and derived ones (age, totals) — decides table design and prevents duplicated, out-of-sync data. Choosing a genuinely unique key (national ID, roll number, customer ID — never a name) is a decision juniors are trusted to get right.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 session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S7 — how entities CONNECT: relationship types and sets, roles, and the structural constraints (cardinality and participation).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7 · LECTURE HOUR 7 (OF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Relationships, Roles &amp; Structural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A student ENROLLS IN a course; a customer PLACES an order. Those verbs — not the nouns — are where most real modelling decisions, and most mistakes,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Relationship Type, Set &amp; Degree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relationship is an association among entities (a diamond in Chen). Like entities, it has a TYPE (named, design-time), a SET (the current pairings), and a DEGREE (how many entity types take part).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Relationship type: a named association between entity types, e.g. ENROLLS between STUDENT &amp; COURSE.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Relationship set: the actual pairings right now — (Sita, DBMS), (Hari, Networking).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Degree: number of participating entity types — 2 = binary (most common), 3 = ternary, n = n-ary.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Type is to set as schema is to instance (again).</a:t>
            </a:r>
          </a:p>
        </p:txBody>
      </p:sp>
      <p:pic>
        <p:nvPicPr>
          <p:cNvPr id="6" name="Picture 5" descr="s7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03028"/>
            <a:ext cx="5532120" cy="24291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Type = the verb; set = today's pairings; degree = how many entities the verb joins.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Relationship Type, Set &amp; Degree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On Daraz, PLACES connects CUSTOMER and ORDER. Its set right now is the ever-changing list of who-placed-which-order this minute; its degree is 2 (binary). The relationship is NOT the customer_id column — that column is only how it's implemented after mapping. 'A customer places an order' exists first, as a diamond.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 relationship is just a foreign key." At the conceptual level it's a real-world association; a foreign key is one later implementation — and M:N relationships become a whole junction table, not a foreign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relationship type is a named association between entity types (ENROLLS between STUDENT and COURSE; a diamond in Chen). A relationship set is the actual associations at a moment ((Sita, DBMS), (Hari, Networking)). Degree is the number of participating entity types — 2 is binary (most common), 3 ternary, n n-ary. A relationship is a conceptual association, not a foreign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relationship (diamond)  ·  relationship type  ·  relationship set  ·  degree (binary / ternary / n-ary)  ·  not a foreign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Relationships across Nepali systems: type, degree, one pair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7692"/>
                <a:gridCol w="3223846"/>
                <a:gridCol w="2051538"/>
                <a:gridCol w="3516923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Relationship (verb)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Entity types joined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Degree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 pair in its set right now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PLACES (Daraz)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CUSTOMER, ORDER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(binary)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(Sita, order #88921)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ENROLLS (college)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STUDENT, COURSE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(binary)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(Hari, DBMS)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MAKES (eSewa)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USER, TRANSACTION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(binary)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(you, txn #4412)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SUPERVISES (Ntc)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EMPLOYEE, 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(recursive)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(Ram supervises Gita)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PRESCRIBES (hospital)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DOCTOR, PATIENT, DRUG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 (ternary)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(Dr Rai, patient #7, Amoxicillin)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WORKS_ON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EMPLOYEE, PROJECT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(binary)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(Sita, 'Dashain sale')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 relationship is a real-world association (a diamond), not a foreign key. Its TYPE is the named verb, its SET is today's pairings, its DEGREE is how many entity types the verb joins (2 = binary, the common case).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Roles &amp; Recursive (Self)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role name is the part an entity plays in a relationship. A recursive (self) relationship is one where the SAME entity type participates more than once — the diamond loops back to the same rectangle.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ordinary relationships between two different entity types, roles are implicit and optional.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recursive relationships, role names are MANDATORY — both ends are the same type and would otherwise be indistinguishable.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Role names carry the direction / meaning of the association.</a:t>
            </a:r>
          </a:p>
        </p:txBody>
      </p:sp>
      <p:pic>
        <p:nvPicPr>
          <p:cNvPr id="6" name="Picture 5" descr="s7_recur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Same type on both ends → you must name the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Roles &amp; Recursive (Self)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college peer-mentoring scheme: entity type STUDENT, recursive relationship MENTORS looping back to STUDENT. Label one line 'mentor', the other 'mentee' — without them the system can't tell whether Sita mentors Gita or Gita mentors Sita. (Ntc employee supervision works identically: 'supervisor' / 'supervisee'.)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Leaving roles off a recursive relationship makes it ambiguous — the direction (who supervises or mentors whom) is simply lost, because both ends are the same entity 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recursive (self) relationship is one where the same entity type participates more than once — the relationship connects an entity type to itself (EMPLOYEE SUPERVISES EMPLOYEE). A role name states the part an entity plays. Recursive relationships require role names (e.g. 'supervisor' and 'supervisee') because both ends are the same type and would otherwise be indistinguishable; the roles carry the direction of the association.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role name  ·  recursive / self relationship  ·  roles are mandatory for recursive relationships (to distinguish the identical ends)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Recursive relationships — the two roles you must name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0"/>
                <a:gridCol w="2000250"/>
                <a:gridCol w="2857500"/>
                <a:gridCol w="34290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Recursive relationship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Entity type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Role A / Role B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Lost without roles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MENTORS (college scheme)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mentor / mentee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who mentors whom (Sita ↔ Gita)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SUPERVISES (Ntc)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supervisor / supervisee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who reports to whom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MANAGES (bank branch)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manager / subordinate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direction of the reporting line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REFERS (Daraz referral)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referrer / referred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who invited whom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REPLIES_TO (Facebook)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parent / reply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comment answers which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PREREQUISITE_OF (courses)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prerequisite / dependent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course must come first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In a recursive (self) relationship the same entity type sits on both ends, so role names are MANDATORY — without them the direction (who supervises / mentors / invited whom) is simply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Cardinality Ratio (1:1, 1:N, M:N)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cardinality ratio of a binary relationship specifies the MAXIMUM number of relationship instances an entity can take part in — how many of one thing relate to how many of the other.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1:1 — each side relates to at most one, e.g. CITIZEN–PASSPORT.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1:N — one relates to many, each of those back to one, e.g. DEPARTMENT–EMPLOYEE (read the other way = N:1).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M:N — both sides relate to many, e.g. STUDENT–COURSE; very common.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Technique: read it BOTH ways — fix one side, ask 'how many of the other?', then repeat.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M:N can't be a single foreign key → it becomes a junction table in S12.</a:t>
            </a:r>
          </a:p>
        </p:txBody>
      </p:sp>
      <p:pic>
        <p:nvPicPr>
          <p:cNvPr id="6" name="Picture 5" descr="s7_cardi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Read the max on both sides; M:N means a junction table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37 / 64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Cardinality Ratio (1:1, 1:N, M:N)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Daraz ORDER–PRODUCT is M:N — one order has many products (phone, case, charger), one product is in many orders. So Daraz can't bolt a product_id onto the orders table; later this becomes an ORDER_ITEM junction table (one row per order-product pair). Contrast 1:N DEPARTMENT–EMPLOYEE, where a single department_id on the employee is enough.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"M:N can be stored directly." No — there's no single 'other side' to point to; every M:N must break out into a junction table when mapped (S12).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The cardinality ratio specifies the maximum relationship instances an entity may participate in. 1:1 — at most one each side (CITIZEN–PASSPORT). 1:N — one relates to many, each back to one (DEPARTMENT–EMPLOYEE). M:N — both sides many (STUDENT–COURSE). Determine it by checking the maximum on EACH side. An M:N relationship must become a junction table when mapped.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cardinality ratio  ·  1:1  ·  1:N / N:1  ·  M:N  ·  read-it-both-ways  ·  M:N ⇒ junction table (preview of S12)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38 / 64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1:1, 1:N, M:N — read both ways, then 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642"/>
                <a:gridCol w="3129642"/>
                <a:gridCol w="4082142"/>
                <a:gridCol w="2993571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Ratio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Nepali example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Read it both ways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Maps to (S12)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CITIZEN – PASSPORT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citizen ↔ at most one passport, and back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foreign key on either side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 – KYC_PROFILE (Khalti)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user ↔ one KYC record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foreign key (often merged)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DEPARTMENT – 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dept has many staff; each staff one dept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department_id on 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 – TRANSACTION (eSewa)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user many txns; each txn one user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user_id on TRANSACTION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M:N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–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many students ↔ many courses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junction table ENROLLMENT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M:N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 – PRODUCT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many products per order; many orders per product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junction table ORDER_ITEM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Find the ratio by checking the MAXIMUM on each side (read it both ways). 1:N becomes a foreign key on the 'many' side; every M:N must break out into a junction table when mapped — it has no single 'other side' to point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39 / 64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4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Participation (Total vs Partial)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participation constraint tells you whether an entity MUST take part at all (the minimum) — the second structural constraint. Total = mandatory (double line); partial = optional (single line).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Total participation: every entity of the type must participate — drawn as a double line.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Partial participation: an entity may or may not participate — drawn as a single line.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two sides of one relationship can differ.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Cardinality = 'how many' (max); participation = 'whether at all' (min) — they are independent.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Drives nullable vs mandatory foreign keys later.</a:t>
            </a:r>
          </a:p>
        </p:txBody>
      </p:sp>
      <p:pic>
        <p:nvPicPr>
          <p:cNvPr id="6" name="Picture 5" descr="s7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Total = double line = compulsory; partial = single line = optional.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4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Participation (Total vs Partial)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At NIC Asia, model CUSTOMER —HAS— LOAN. Every loan MUST belong to a customer (no ownerless loans) → the loan side is total (double line). But a customer may have only savings and no loan → the customer side is partial (single line). Live, the DB refuses a loan with no customer but allows customers with zero loans.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Making both sides partial by mistake allows orphaned loans belonging to nobody — a genuine data-integrity and audit disaster for a bank.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The participation constraint states whether an entity's participation is mandatory. Total participation — every entity of the type must participate (double line); e.g. every LOAN must belong to a CUSTOMER. Partial participation — an entity may or may not participate (single line); e.g. a CUSTOMER need not have any loan. The two sides can differ. Participation gives the minimum; cardinality gives the maximum.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participation constraint  ·  total (mandatory, double line)  ·  partial (optional, single line)  ·  structural constraints: cardinality = max, participation =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S7 · CONCEPT 4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Total vs partial participation — each side, each 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9999"/>
                <a:gridCol w="2051538"/>
                <a:gridCol w="1758461"/>
                <a:gridCol w="3809999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Relationship &amp; side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Total or partial?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Chen line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the DB enforces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LOAN → CUSTOMER (loan side)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double line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loan may exist without a customer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→ LOAN (customer side)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single line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customer may have zero loans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TRANSACTION → USER (txn side)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double line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every transaction belongs to a user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→ TRANSACTION (user side)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single line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brand-new user may have zero txns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 → CUSTOMER (order side)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double line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ownerless orders on Daraz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INSTALLMENT → LOAN (installment side)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double line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every installment is tied to a loan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Participation is the MINIMUM (whether at all); cardinality is the maximum (how many) — they are independent. Total = double line = must participate; partial = single line = optional. Making a mandatory side partial allows orphan records — an audit disaster.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Cardinality &amp; participation on eSewa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(3–4 min): on eSewa, model USER and TRANSACTION with a relationship.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Decide the CARDINALITY ratio by reading it both ways.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Decide the PARTICIPATION on each side, and draw the fragment with the right lines.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min); compare fragments on the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Cardinality 1:N (one user, many transactions; each transaction one user). Participation — TRANSACTION side total (every transaction belongs to a user, double line); USER side partial (a brand-new user may have zero transactions, single line). Two skills drilled: read-it-both-ways, and can-it-exist-without.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S7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'One department has many employees, each employee in one department' is: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1:1   b) ✅ 1:N   c) M:N   d) recursive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A double line from an entity to a relationship diamond means: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many-to-many   b) a weak entity   c) ✅ total participation   d) a recursive role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on eSewa, model USER–TRANSACTION — its cardinality ratio and participation on each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S7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A relationship is an association among entities (a diamond in Chen); it has a type, a set, and a degree (binary = 2 is normal).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Roles name the parts entities play and are mandatory in recursive relationships (same entity type on both ends).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Two structural constraints: cardinality ratio (1:1, 1:N, M:N — how many) and participation (total/double line vs partial/single line — whether at all).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Cardinality and participation directly drive the schema: cardinality decides foreign key (1:N) vs junction table (M:N); participation decides whether that foreign key can be empty or must always be filled. Getting them right is what separates a working database from one that quietly corrupts.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 session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S8 — entities that can't stand alone: weak entity types, their identifying relationships, and partial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8 · LECTURE HOUR 8 (OF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Weak Entity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An 'order item' on Daraz means nothing on its own — item #2 of WHICH order? Delete the order and its line items simply cease to make sense. Some entities can't exist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Weak vs Strong (Regular) Entity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strong (regular) entity type has its own key and can be identified independently (single rectangle). A weak entity type has NO key of its own and is identified only through an owner entity (double rectangle).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Defining property: identity dependence — a weak entity's own attributes are unique only WITHIN one owner, not across the whole set.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Strong examples: EMPLOYEE (employee ID), STUDENT (roll number).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Weak example: DEPENDENT — two employees can each have a child 'Ram', so 'Ram' identifies nobody alone.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This is common and important, not an edge case.</a:t>
            </a:r>
          </a:p>
        </p:txBody>
      </p:sp>
      <p:pic>
        <p:nvPicPr>
          <p:cNvPr id="6" name="Picture 5" descr="s8_weak_vs_st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Weak = can't identify itself — it borrows identity from an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Weak vs Strong (Regular) Entity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ORDER_ITEM on Daraz: 'item 2' means nothing alone — item 2 of WHICH order? It's identified only as 'line 2 of order #88921' → a weak entity (double rectangle) owned by ORDER. Delete the order and its items lose all meaning. (A bank's INSTALLMENT of a LOAN is identical.)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"Weak = unimportant / optional." Wrong — order items and loan installments are critical to the business. 'Weak' means IDENTITY-DEPENDENT (no key of its own), never 'doesn't matter'.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strong (regular) entity type has its own key and is identified independently (single rectangle; e.g. EMPLOYEE). A weak entity type has no key of its own and is identified only through an owning (identifying) entity (double rectangle; e.g. DEPENDENT, ORDER_ITEM). Its attributes are unique only within one owner. 'Weak' means identity-dependent, not unimportant.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strong entity (own key, single rectangle)  ·  weak entity (no key, double rectangle)  ·  owner / identifying entity  ·  identity dependence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Strong vs weak entities — own key or borrowed identity?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9634"/>
                <a:gridCol w="1672682"/>
                <a:gridCol w="1533292"/>
                <a:gridCol w="1951463"/>
                <a:gridCol w="3902926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Entity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Strong or weak?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 key?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 it depends 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strong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employee_id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identified on its own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STUDENT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strong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roll_no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has its own unique key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ORDER_ITEM (Daraz)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weak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ORDER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'item 2' means nothing without the order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INSTALLMENT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weak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LOAN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'installment 3' of which loan?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DEPENDENT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weak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two staff can each have a child 'Ram'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ROOM (hotel)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weak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HOTEL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room '101' exists in many hotels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COMMENT (Facebook)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weak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POST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a reply has no identity without its post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'Weak' means IDENTITY-DEPENDENT (no key of its own), never unimportant — order items, loan installments and exam answer-sheets are business-critical. A strong entity is a single rectangle; a weak entity a double rectangle.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Identifying (Owner)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identifying (owner) relationship links a weak entity to its owner, supplying the identity the weak entity lacks. In Chen it is a DOUBLE diamond, and the weak side always has total participation (double line).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double diamond distinguishes it from ordinary relationships (single diamond).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weak entity cannot exist without its owner → always total participation on the weak side.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'three doubles' signature: double rectangle + double diamond + double line — examiners look for all three.</a:t>
            </a:r>
          </a:p>
        </p:txBody>
      </p:sp>
      <p:pic>
        <p:nvPicPr>
          <p:cNvPr id="6" name="Picture 5" descr="s8_identify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03028"/>
            <a:ext cx="5532120" cy="24291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The double diamond is the owner link — no owner, no weak 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Identifying (Owner) 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car loan: LOAN (strong, own loan number) —HAS→ INSTALLMENT (weak). The identifying relationship is a double diamond; the installment side is total (double line). Live, the bank literally cannot record an installment not tied to a loan — 'installment 3' has no identity until you say WHICH loan's installment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Forgetting the owner link (or drawing a single diamond) breaks identity — a weak entity with no identifying relationship cannot be identified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identifying (owner) relationship connects a weak entity to its owner (identifying) entity, supplying the identity the weak entity lacks. In Chen notation it is drawn as a double diamond. The weak entity's participation is always total (double line) — a weak entity cannot exist without its owner. Example: LOAN —HAS→ INSTALLMENT.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identifying (owner) relationship (double diamond)  ·  owner entity  ·  total participation on the weak side  ·  the 'three doubles'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Weak entity + owner + identifying (double-diamond) link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0853"/>
                <a:gridCol w="1812073"/>
                <a:gridCol w="4181707"/>
                <a:gridCol w="3345365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Weak entity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Identifying relationship (double diamond)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Weak side is always total…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INSTALLMENT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LOAN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LOAN —HAS— INSTALLMENT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installment without a loan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ORDER_ITEM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 —CONTAINS— ITEM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order-item without an order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ROOM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HOTEL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HOTEL —HAS— ROOM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room without a hotel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DEPENDENT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 —HAS_DEPENDENT— DEPENDENT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dependent without an 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COMMENT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POST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POST —HAS— COMMENT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comment without a post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ANSWER_SHEET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EXAM —HAS— ANSWER_SHEET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answer-sheet without an exam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The identifying relationship (a DOUBLE diamond) supplies the identity a weak entity lacks, and the weak side is ALWAYS total participation (double line). Examiners look for the 'three doubles': double rectangle + double diamond + double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52 / 64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Partial Key (Discriminator)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partial key (discriminator) is an attribute that distinguishes weak entities belonging to the SAME owner. It is NOT unique on its own — only within one owner. Shown with a dashed underline in Chen.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full identifier of a weak entity = owner's primary key + the weak entity's partial key.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This is exactly the S6 composite-key idea, applied to weak entities.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dashed underline contrasts with the solid underline of a strong entity's primary key.</a:t>
            </a:r>
          </a:p>
        </p:txBody>
      </p:sp>
      <p:pic>
        <p:nvPicPr>
          <p:cNvPr id="6" name="Picture 5" descr="s8_partial_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Partial key alone repeats; owner's key + partial key = the full identity.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Partial Key (Discriminator)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Hotel room '101' exists in hundreds of hotels — the room number is a partial key, unique only WITHIN one hotel. Full identity = hotel ID + room number (Everest Hotel + 101). Key rooms by '101' alone and a Pokhara room collides with a Kathmandu one — booking the wrong guest into the wrong 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"The partial key alone is unique." No — installment 3 of loan 4521 and installment 3 of loan 6002 are different installments. Partial key + owner's key = the real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partial key (discriminator) is an attribute of a weak entity that distinguishes weak entities belonging to the same owner; it is unique only within an owner, shown with a dashed underline (e.g. installment_no). A weak entity is uniquely identified by the owner's primary key + its partial key (e.g. loan_id + installment_no) — neither part suffices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partial key / discriminator (dashed underline)  ·  unique only within one owner  ·  full identifier = owner PK + partial key  ·  links to the S6 composite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S8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Partial key + owner key = the full identifier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9347"/>
                <a:gridCol w="2484782"/>
                <a:gridCol w="1490869"/>
                <a:gridCol w="2733260"/>
                <a:gridCol w="2981739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Weak entity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Partial key (dashed underline)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Owner's PK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Full identifier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Partial key alone collides…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INSTALLMENT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installment_no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loan_id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loan_id + installment_no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inst. 3 of loan 4521 vs 6002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ROOM (hotel)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room_no (101)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hotel_id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hotel_id + room_no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Pokhara 101 vs Kathmandu 101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ORDER_ITEM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line_no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order_id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order_id + line_no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'line 2' matches thousands of orders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DEPENDENT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dependent_name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employee_id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employee_id + 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two staff's child 'Ram' merge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COMMENT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comment_seq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post_id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post_id + comment_seq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same seq exists on other posts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ANSWER_SHEET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question_no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exam_id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exam_id + question_no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Q1 exists for every exam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 partial key is unique only WITHIN one owner (dashed underline). Full identity = owner's primary key + partial key — exactly the S6 composite-key idea. The partial key alone always collides across owners.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Find the weak entity in a Nepali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find a weak entity — a comment on a Facebook post, a room in a hotel booking, an item on a Daraz order, an installment on a loan.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Name (a) its OWNER, (b) its PARTIAL KEY, and (c) the FULL identifier (owner key + partial key).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Draw the fragment: double rectangle + double diamond + double line + dashed-underlined partial key.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min); check each pair has all 'three doubles' plus the dashed underline.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e.g. COMMENT owned by POST, partial key = comment sequence/timestamp, full id = post_id + that. Verify two most-tested points: participation on the weak side is TOTAL, and the full identifier INCLUDES the owner's key (not the partial key alone).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S8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A weak entity is one that: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is unimportant   b) ✅ has no key of its own   c) has no attributes   d) is always 1:1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The full identifier of a weak entity is:</a:t>
            </a:r>
          </a:p>
          <a:p>
            <a:pPr lvl="1"/>
            <a:r>
              <a:rPr sz="1550" b="1">
                <a:solidFill>
                  <a:srgbClr val="0F6E56"/>
                </a:solidFill>
              </a:rPr>
              <a:t>a) its partial key only   b) any attribute   c) ✅ the owner's primary key + its partial key   d) a derived attribute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find a weak entity in a Nepali app and name its owner and its partial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S8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A weak entity has no key of its own (double rectangle) and depends on an owner for identity — 'weak' means identity-dependent, not unimportant.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An identifying relationship (double diamond) ties the weak entity to its owner, and the weak side always has total participation (double line).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A partial key (dashed underline) distinguishes weak entities of the same owner; full identity = owner's primary key + partial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Weak entities are everywhere — invoice line-items, loan installments, exam answer-sheets, comments, hotel rooms. Modelling them wrong (treating a partial key as unique, or forgetting the owner link) corrupts integrity exactly where a business can least afford it: billing, accounting, exams.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 session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S9 — putting it together into clean, correctly-named ER diagrams, and avoiding common design pitfalls.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CAPSTONE · S5–S8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Put it all together: model a bank loan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One scenario, every idea from this batch — entities, attributes, keys, relationships, cardinality, participation, and a weak entity. Work it step by step before you look at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59 / 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CAPSTONE ·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ER model for a bank loan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A bank stores CUSTOMERS (each with a citizenship number, name, phone numbers) and the LOANS they take. Each loan is repaid in monthly INSTALLMENTS numbered 1, 2, 3… Model this in Chen notation.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Entities: CUSTOMER and LOAN are strong (own keys); INSTALLMENT has no key of its own → WEAK (double rectangle).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Attributes/keys: CUSTOMER — citizenship_number (primary key), name (composite), phone_numbers (multivalued); LOAN — loan_id (primary key).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Relationships: CUSTOMER—HAS—LOAN (single diamond); LOAN—HAS—INSTALLMENT is the identifying relationship (double diamond).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Cardinality: CUSTOMER–LOAN is 1:N; LOAN–INSTALLMENT is 1:N.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Participation: a LOAN must have a customer → total (double line); a customer may have none → partial. Every INSTALLMENT must have a loan → total.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6.  </a:t>
            </a:r>
            <a:r>
              <a:rPr sz="1250">
                <a:solidFill>
                  <a:srgbClr val="1A1A1A"/>
                </a:solidFill>
              </a:rPr>
              <a:t>Weak identity: partial key = installment_no (dashed underline); full identifier = loan_id + installment_no.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CUSTOMER (strong) —HAS— LOAN (strong) ══HAS══ INSTALLMENT (weak). The 'three doubles' appear on the weak side: double rectangle (INSTALLMENT) + double diamond (identifying HAS) + double line (total participation). A single installment is uniquely identified only by loan_id + installment_no — neither part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S5–S8 ·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One-page revision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Design pipeline (RCLP)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Requirements → Conceptual (ER) → Logical (tables) → Physical (storage/indexes). Each stage feeds the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Attribute types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Simple (plain oval) · Composite (branches) · Derived (dashed, computed — never stored) · Multivalued (double oval).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Keys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Candidate (any minimal unique set) → Primary (chosen, underlined) → Composite (&gt;1 attribute). Names are never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Cardinality ratio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1:1 (citizen–passport) · 1:N (dept–employee) · M:N (student–course → junction table in S12). Read the max BOTH 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Participation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Total = double line = must participate. Partial = single line = optional. Cardinality = how many; participation = whether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Weak entity — 'three doubles'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Double rectangle + double diamond (identifying rel.) + double line (total). Full id = owner PK + partial key (dashed underline).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S5–S8 ·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Key terms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Conceptual data model — </a:t>
            </a:r>
            <a:r>
              <a:rPr sz="1150">
                <a:solidFill>
                  <a:srgbClr val="1A1A1A"/>
                </a:solidFill>
              </a:rPr>
              <a:t>high-level, DBMS-independent description of WHAT data is held.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ER model / Chen notation — </a:t>
            </a:r>
            <a:r>
              <a:rPr sz="1150">
                <a:solidFill>
                  <a:srgbClr val="1A1A1A"/>
                </a:solidFill>
              </a:rPr>
              <a:t>rectangle = entity, oval = attribute, diamond = relationship.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Database design process — </a:t>
            </a:r>
            <a:r>
              <a:rPr sz="1150">
                <a:solidFill>
                  <a:srgbClr val="1A1A1A"/>
                </a:solidFill>
              </a:rPr>
              <a:t>Requirements → Conceptual → Logical → Physical (RCLP).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Data requirement — </a:t>
            </a:r>
            <a:r>
              <a:rPr sz="1150">
                <a:solidFill>
                  <a:srgbClr val="1A1A1A"/>
                </a:solidFill>
              </a:rPr>
              <a:t>what to store (nouns → entities/attributes).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Functional requirement — </a:t>
            </a:r>
            <a:r>
              <a:rPr sz="1150">
                <a:solidFill>
                  <a:srgbClr val="1A1A1A"/>
                </a:solidFill>
              </a:rPr>
              <a:t>what operations to support (verbs → transactions).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Entity / type / set — </a:t>
            </a:r>
            <a:r>
              <a:rPr sz="1150">
                <a:solidFill>
                  <a:srgbClr val="1A1A1A"/>
                </a:solidFill>
              </a:rPr>
              <a:t>one thing / the category (design-time) / all members now (instance-time).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Attribute — </a:t>
            </a:r>
            <a:r>
              <a:rPr sz="1150">
                <a:solidFill>
                  <a:srgbClr val="1A1A1A"/>
                </a:solidFill>
              </a:rPr>
              <a:t>property of an entity; simple, composite, derived, or multivalued.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Key — </a:t>
            </a:r>
            <a:r>
              <a:rPr sz="1150">
                <a:solidFill>
                  <a:srgbClr val="1A1A1A"/>
                </a:solidFill>
              </a:rPr>
              <a:t>uniqueness constraint; candidate, primary (underlined), or composite.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9632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Relationship — </a:t>
            </a:r>
            <a:r>
              <a:rPr sz="1150">
                <a:solidFill>
                  <a:srgbClr val="1A1A1A"/>
                </a:solidFill>
              </a:rPr>
              <a:t>association among entities (diamond); has type, set, and degree.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Degree — </a:t>
            </a:r>
            <a:r>
              <a:rPr sz="1150">
                <a:solidFill>
                  <a:srgbClr val="1A1A1A"/>
                </a:solidFill>
              </a:rPr>
              <a:t>number of entity types in a relationship (binary = 2).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Cardinality ratio — </a:t>
            </a:r>
            <a:r>
              <a:rPr sz="1150">
                <a:solidFill>
                  <a:srgbClr val="1A1A1A"/>
                </a:solidFill>
              </a:rPr>
              <a:t>max instances an entity can join: 1:1, 1:N, M:N.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Participation — </a:t>
            </a:r>
            <a:r>
              <a:rPr sz="1150">
                <a:solidFill>
                  <a:srgbClr val="1A1A1A"/>
                </a:solidFill>
              </a:rPr>
              <a:t>total (mandatory, double line) vs partial (optional, single line).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Weak entity — </a:t>
            </a:r>
            <a:r>
              <a:rPr sz="1150">
                <a:solidFill>
                  <a:srgbClr val="1A1A1A"/>
                </a:solidFill>
              </a:rPr>
              <a:t>no key of its own; identified via an owner (double rectangle).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Identifying relationship — </a:t>
            </a:r>
            <a:r>
              <a:rPr sz="1150">
                <a:solidFill>
                  <a:srgbClr val="1A1A1A"/>
                </a:solidFill>
              </a:rPr>
              <a:t>double diamond linking a weak entity to its owner.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Partial key (discriminator) — </a:t>
            </a:r>
            <a:r>
              <a:rPr sz="1150">
                <a:solidFill>
                  <a:srgbClr val="1A1A1A"/>
                </a:solidFill>
              </a:rPr>
              <a:t>distinguishes weak entities of the SAME owner (dashed underline).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Full identifier (weak) — </a:t>
            </a:r>
            <a:r>
              <a:rPr sz="1150">
                <a:solidFill>
                  <a:srgbClr val="1A1A1A"/>
                </a:solidFill>
              </a:rPr>
              <a:t>owner's primary key + the weak entity's partial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BATCH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S9–S12 coming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This deck covers S5–S8. Next: S9 (full ER diagrams, naming &amp; design issues), S10 (ternary / degree &gt; 2), S11 (specialization &amp; generalization), S12 (ER → relational tables), plus the consolidated end-of-unit quiz.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End of S5–S8 (Unit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Next: S9–S12 — higher-degree relationships, specialization/generalization, ER→tables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Built to COURSE_MATERIAL_STANDARD.md · every concept is self-contained on the slide face · exports cleanly to PDF with no information lost · Chen-notation diagrams are labelled PNG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64 / 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