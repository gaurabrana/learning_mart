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what relational algebra is → SELECT (σ) → PROJECT (π) → composing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Stress closure — it's what lets small operations snap together like LEGO.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Hammer the σ-vs-SQL-SELECT naming trap; show the horizontal vs vertical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attempt before revealing; then flip it (π then σ) and discuss why row-filter-first is preferred.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union compatibility + UNION/INTERSECTION/DIFFERENCE → CARTESIAN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~17 min. Draw the three Venn diagrams; stress union compatibility and the order-sensitivity of 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Show the pairing grid ballooning; motivate that you almost always want it filtered.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× → JOIN (theta) → equijoin vs natural join → DIVISION.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Morph Student × Enrollment → JOIN: the meaningless pairs fall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Use the zipper image; contrast the two result schemas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Walk the division grid slowly: which sid matched every required course?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try; check they use the NATURAL join (one sid) and remember join-then-project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aggregate/grouping (ℱ) → outer joins → Tuple Relational Calculus (declarative).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Show raw rows → grouped summary; note aggregates are an added/extended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Show Ram (no enrolment) dropped by inner, kept with NULLs by left 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Pair one algebra expression with its TRC twin; introduce ∃ 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DRC → TRC vs DRC &amp; safety → Unit 3 synthesis (procedural ⇄ declarative ⇄ SQL).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Show the same query as algebra / TRC / DRC stacked; DRC names each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Show the same query both ways; give one clearly unsafe expression and why it's banned.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 min. This is the slide to photograph — the whole unit as one map into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revision/assessment after S17.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Consolidated quiz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Consolidated quiz Parts B–C. Model answers on the concept slides and in Unit3_material.md.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Unit 3 — Relational Algebra &amp; Relational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IT 220: Database Management System  ·  BIM 4th Semester  ·  Sessions S13–S17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Running schema: Student · Enrollment · Course.  Operators shown as symbol + plain English + a worked example.  Self-contained slides — every concept complete on the slide face; exports to PDF with no information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 / 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OVERVIEW  ·  S13–S17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3 —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C2B4A"/>
                </a:solidFill>
              </a:rPr>
              <a:t>By the end of this unit, you will be able to: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Explain relational algebra as the procedural foundation of SQL (S13)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Apply the unary operations SELECT (σ) and PROJECT (π) (S13)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Apply the set operations UNION (∪), INTERSECTION (∩), DIFFERENCE (−), CARTESIAN PRODUCT (×) (S14)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Apply JOIN (⋈: theta / equi / natural) and DIVISION (÷) (S15)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Use aggregates (ℱ) &amp; outer joins, and read/write Tuple (TRC) and Domain (DRC) calculus (S16–S17)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972800" cy="77724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↩️ Builds 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Unit 2 gave you the tables (ER → relational). Unit 3 is how we QUERY them formally. Unit 5 (SQL) is the practical syntax for all of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 / 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3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Where each session fits (S13–S17)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1605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THIS UNIT  ·  S13–S17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S13   What RA is · SELECT (σ) &amp; PROJECT (π)
S14   Set ops: ∪, ∩, −, and CARTESIAN PRODUCT (×)
S15   JOIN (⋈: theta/equi/natural) &amp; DIVISION (÷)
S16   Aggregates (ℱ), outer joins, Tuple calculus (TRC)
S17   Domain calculus (DRC) · safety · synthesis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349240" cy="41605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55606B"/>
                </a:solidFill>
              </a:rPr>
              <a:t>⏭️  THEN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Unit 4   Normalization
Unit 5   SQL — the practical syntax for all of this
Unit 6   Transactions &amp; concurrency
Unit 7   Advanced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13 ·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Introduction to Relational Algebra · SELECT (σ) &amp; PROJECT (π)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When you search 'students from Pokhara with grade A' on the college portal, the system silently does two tiny operations — pick the right ROWS, then keep only the COLUMNS you asked for. Today we name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S13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What Relational Algebra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Relational algebra is a formal, PROCEDURAL query language: a set of operations that each take relation(s) as input and produce a relation as output — so you specify HOW to compute the answer, step by step.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Closure property: output is always a relation → operations CHAIN into bigger queries.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Procedural (says HOW) — contrast with relational calculus (says WHAT), coming in S16–S17.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is the theoretical basis of SQL: the optimizer turns your SQL into a relational-algebra expression.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By definition it removes duplicates and has no display formatting.</a:t>
            </a:r>
          </a:p>
        </p:txBody>
      </p:sp>
      <p:pic>
        <p:nvPicPr>
          <p:cNvPr id="6" name="Picture 5" descr="s13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55737"/>
            <a:ext cx="5532120" cy="23237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Relation in → relation out →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S13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What Relational Algebra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The eSewa transaction-history screen is a chain of relational-algebra steps over a Transactions relation: filter to your account, keep the columns shown, sort. Every SQL SELECT you write is translated into relational algebra under the hood to plan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"Relational algebra is just SQL." No — SQL is a practical language; relational algebra is the underlying math: closed-form, removes duplicates by definition, no display formatting.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Relational algebra is a formal, procedural query language: a set of operations that take relation(s) as input and yield a relation as output. Its closure property (output is always a relation) lets operations be composed. It is procedural (specifies HOW) and is the theoretical foundation of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relational algebra · procedural · relation (in/out) · closure property · basis of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S13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eight relational-algebra operators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690"/>
                <a:gridCol w="824845"/>
                <a:gridCol w="3063711"/>
                <a:gridCol w="3063711"/>
                <a:gridCol w="2828041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Operator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Symbol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it does (plain English)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Example expression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Returns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SELECT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σ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keep ROWS meeting a condition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σ city='Pokhara'(Student)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Sita, Ram (Pokhara rows)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PROJECT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π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keep chosen COLUMNS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π name(Student)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just the name column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UNION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∪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rows in either 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π sid(BIM) ∪ π sid(BBA)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sids from both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DIFFERENCE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−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rows in R but not in 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AllStudent − Graduated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currently active students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PRODUCT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×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pair every row with every row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×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sid–course pairings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JOIN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⋈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product kept to matching rows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⋈ Enrollment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each student with their courses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DIVISION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÷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rows related to ALL of a set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Enrollment ÷ CoreCourse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students in every core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RENAME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ρ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rename a relation / its columns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ρ S(Student)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re-labelled 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Every operator takes relation(s) in and gives a relation out (closure) — so they chain into big queries. Sample schema: Student(sid,name,program,city), Enrollment(sid,course,grade), Course(cid,title).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S13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SELECT (σ) &amp; PROJECT (π) — the unary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two one-input operations: SELECT (σ) keeps ROWS that satisfy a condition (a horizontal cut); PROJECT (π) keeps chosen COLUMNS (a vertical cut) and removes duplicate rows.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SELECT σ_condition(R): condition uses =, ≠, &lt;, &gt;, ≤, ≥ and AND/OR/NOT; same schema, rows ≤ original.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PROJECT π_attrs(R): result schema = the listed attributes only; duplicates auto-removed (relations are sets).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Example: σ_city='Pokhara'(Student) → Pokhara students; π_name,program(Student) → those two columns.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NAMING TRAP: SQL's keyword SELECT does the COLUMN job — that is π, not σ. (σ = rows, π = columns.)</a:t>
            </a:r>
          </a:p>
        </p:txBody>
      </p:sp>
      <p:pic>
        <p:nvPicPr>
          <p:cNvPr id="6" name="Picture 5" descr="s13_select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39485"/>
            <a:ext cx="5532120" cy="29562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σ picks rows, π picks columns — and SQL SELECT is really 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S13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SELECT (σ) &amp; PROJECT (π) — the unary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Every 'search + show selected fields' feature — a college result lookup, a Khalti transaction filter — is σ then π: filter the rows you want, then keep the columns to display. These are the two most-used operations in all of querying.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"PROJECT (π) keeps duplicate rows like SQL does." Pure relational algebra removes duplicates automatically; SQL needs DISTINCT. And remember σ = rows, not columns.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SELECT σ_condition(R) filters ROWS satisfying a condition (horizontal; same schema; cardinality ≤ R). PROJECT π_attrs(R) keeps chosen COLUMNS (vertical; schema = listed attrs; duplicates removed). σ = rows, π = columns; SQL's SELECT keyword actually performs 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SELECT (σ, rows) · PROJECT (π, columns) · condition · same-schema · duplicate removal · SQL-SELECT-is-π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S13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σ (rows) vs π (columns) — worked on the sample Student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1875"/>
                <a:gridCol w="1666875"/>
                <a:gridCol w="1785937"/>
                <a:gridCol w="3095625"/>
                <a:gridCol w="1309687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Expression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Cut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Result on sample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Rows × Cols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σ city='Pokhara'(Student)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SELECT (σ)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horizontal (rows)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Sita, Ram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× 4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σ program='BIM'(Student)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SELECT (σ)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horizontal (rows)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Sita, Hari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× 4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σ sid&gt;2(Student)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SELECT (σ)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horizontal (rows)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Ram, Gita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× 4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π name(Student)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PROJECT (π)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vertical (cols)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Sita, Hari, Ram, Gita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 × 1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π program(Student)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PROJECT (π)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vertical (cols)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BIM, BBA, BScCSIT (dups dropped)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 × 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π name(σ city='Pokhara'(Student))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σ then π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both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Sita, Ram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 × 1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σ changes the row count but keeps the schema; π changes the columns and auto-removes duplicate rows. SQL's SELECT keyword actually does π's job (columns), not σ's.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S13 · SOLVED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Compose σ then π — 'names of students from Pokhara'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0972800" cy="9144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📋 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Using Student(sid, name, program, city), write a relational-algebra expression that returns just the NAMES of students whose city is Pokhara.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98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1.  </a:t>
            </a:r>
            <a:r>
              <a:rPr sz="1250">
                <a:solidFill>
                  <a:srgbClr val="1A1A1A"/>
                </a:solidFill>
              </a:rPr>
              <a:t>Identify what to filter (rows) and what to keep (columns): rows where city = 'Pokhara'; keep only name.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2.  </a:t>
            </a:r>
            <a:r>
              <a:rPr sz="1250">
                <a:solidFill>
                  <a:srgbClr val="1A1A1A"/>
                </a:solidFill>
              </a:rPr>
              <a:t>Filter the rows first with SELECT: σ_city='Pokhara'(Student) → the Pokhara students (all columns).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3.  </a:t>
            </a:r>
            <a:r>
              <a:rPr sz="1250">
                <a:solidFill>
                  <a:srgbClr val="1A1A1A"/>
                </a:solidFill>
              </a:rPr>
              <a:t>Then trim to the wanted column with PROJECT: π_name( … 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4.  </a:t>
            </a:r>
            <a:r>
              <a:rPr sz="1250">
                <a:solidFill>
                  <a:srgbClr val="1A1A1A"/>
                </a:solidFill>
              </a:rPr>
              <a:t>Compose them (inner operation first): π_name( σ_city='Pokhara'(Student) 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5.  </a:t>
            </a:r>
            <a:r>
              <a:rPr sz="1250">
                <a:solidFill>
                  <a:srgbClr val="1A1A1A"/>
                </a:solidFill>
              </a:rPr>
              <a:t>Why σ before π? Filtering rows first is the common, efficient pattern — and π drops the duplicate names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30368"/>
            <a:ext cx="10972800" cy="13716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Worked answer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π_name( σ_city='Pokhara'(Student) ).  Read it inside-out: SELECT the Pokhara rows, then PROJECT the name column. This σ-then-π pattern is the backbone of almost every simple query.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Spot the σ and the 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(2 min): open any app with a filter — Daraz price filter, eSewa date filter, a result lookup.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Identify which part is doing SELECT (σ) — choosing rows — and which is doing PROJECT (π) — choosing columns.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Write one line: 'σ = … , π = …' for your chosen screen.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(3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e.g. Daraz: σ = the price/brand filter that keeps only matching products (rows); π = the product card showing just image, name, price (columns). Every 'search + show fields' screen is σ then 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S13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Which operation reduces the number of COLUMNS?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σ (SELECT)   b) ✅ π (PROJECT)   c) ∪ (UNION)   d) ⋈ (JOIN)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σ_credit&gt;3(Course) changes which of these?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the schema   b) ✅ the number of rows   c) the column names   d) nothing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on a phone-app filter, which part is σ (rows) and which is π (columns)?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S13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Relational algebra = procedural, closed operations over relations (output is always a relation, so they chain).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SELECT (σ) filters ROWS by a condition; PROJECT (π) keeps chosen COLUMNS and drops duplicates.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Naming trap: SQL's SELECT keyword does π's job (columns), not σ's.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Every 'search then show selected fields' screen — result lookups, transaction filters — is σ then π: the two most-used operations in all of querying, and the first thing an interviewer expects you to reason about.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S14 — treating whole relations as sets: UNION, INTERSECTION, DIFFERENCE, and CARTESIAN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14 ·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Set-Theory Operations: ∪, ∩, −, ×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A college merges its morning and day-shift student lists for one notice. How do you combine two tables without listing anyone twice — and what if their columns don't match?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S14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UNION (∪), INTERSECTION (∩), DIFFERENCE (−)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These treat relations as SETS of tuples. All three need the relations to be UNION-COMPATIBLE: the same number of attributes with matching domains, column by column (names may differ, domains must align).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UNION (R ∪ S): tuples in R OR S, duplicates removed.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INTERSECTION (R ∩ S): tuples in BOTH.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DIFFERENCE (R − S): tuples in R but NOT in S — and it is NOT commutative (R − S ≠ S − 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e.g. AllStudents − GraduatedStudents = currently active students.</a:t>
            </a:r>
          </a:p>
        </p:txBody>
      </p:sp>
      <p:pic>
        <p:nvPicPr>
          <p:cNvPr id="6" name="Picture 5" descr="s14_set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28640"/>
            <a:ext cx="5532120" cy="23779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Same shape first; ∪ = either, ∩ = both, − = only-in-R.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S14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UNION (∪), INTERSECTION (∩), DIFFERENCE (−)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UNION merges two mailing lists into one deduplicated list; INTERSECTION finds customers with BOTH an eSewa AND a Khalti account; DIFFERENCE finds lapsed users = AllUsers − ActiveUsers. Everyday analytics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"Any two tables can be UNIONed" / "R − S = S − R." Both wrong — the relations must be union-compatible first, and DIFFERENCE is order-sensitive.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UNION (∪, in either), INTERSECTION (∩, in both), and DIFFERENCE (−, in R not S) all require UNION-COMPATIBLE relations (same number of attributes, matching domains). DIFFERENCE is not commutative. All use set semantics (duplicates removed).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union-compatible · UNION (∪) · INTERSECTION (∩) · DIFFERENCE (−, not commutative) · set semantics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S14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Set operations on DbmsStudents={1,2,3} and JavaStudents={1,3}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6122"/>
                <a:gridCol w="2449285"/>
                <a:gridCol w="2682551"/>
                <a:gridCol w="2449285"/>
                <a:gridCol w="1982755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Set operation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Expression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Reads as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Union-compatible?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UNION (∪)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Dbms ∪ Java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sid in DBMS OR Java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{1, 2, 3}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Yes — both are (sid)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INTERSECTION (∩)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Dbms ∩ Java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sid in BOTH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{1, 3}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DIFFERENCE (−)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Dbms − Java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 DBMS, not Java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{2}  (only Hari)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DIFFERENCE (−)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Java − Dbms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 Java, not DBMS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 }  empty — order matters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UNION (∪)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Morning ∪ Day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merge both shift lists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de-duplicated list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Yes — same (sid,name,…)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UNION (∪)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∪ Enrollment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 cols vs 3 cols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✗ ERROR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— not union-compatible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All three need union-compatible relations (same number of attributes, matching domains). DIFFERENCE is NOT commutative. Duplicates are removed (set semantics).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S14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CARTESIAN PRODUCT (×)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R × S pairs EVERY tuple of R with EVERY tuple of S. The result's degree = sum of the two degrees; its cardinality = product of the two cardinalities. It does NOT need union compatibility.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On its own it is usually meaningless and huge — 4 students × 3 courses = 12 pairings, most nonsensical.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becomes useful only when followed by a SELECT (σ) that keeps the meaningful pairs.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That combination — × then σ — is exactly a JOIN (S15).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If R has 5 rows and S has 4, R × S has 20 rows.</a:t>
            </a:r>
          </a:p>
        </p:txBody>
      </p:sp>
      <p:pic>
        <p:nvPicPr>
          <p:cNvPr id="6" name="Picture 5" descr="s14_cartes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× pairs everything; a condition makes it a JOIN.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S14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CARTESIAN PRODUCT (×)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You rarely want the raw product — you want it filtered. That is why × is the raw material for JOIN: pair everything, then keep only the rows whose keys match (S15). Alone, × just explodes the row 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"Cartesian product combines related rows." No — it blindly pairs everything; relating them meaningfully needs a following condition (a σ), which turns it into a JOIN.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R × S pairs every tuple of R with every tuple of S; degree = sum, cardinality = product; no union compatibility needed. Alone it is meaningless/large; followed by a selection it becomes a JOIN.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CARTESIAN PRODUCT (×) · degree = sum · cardinality = product · no compatibility needed · raw material for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S14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× arithmetic — degree = sum, cardinality = product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8317"/>
                <a:gridCol w="1388691"/>
                <a:gridCol w="1388691"/>
                <a:gridCol w="1495514"/>
                <a:gridCol w="1602336"/>
                <a:gridCol w="213644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Expression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R: deg × card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S: deg × card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Result degree (sum)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Result card. (product)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 ×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 × 4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 × 3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most pairings meaningless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 × Enrollment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4 × 4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 × 5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raw material for a JOIN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σ sid=sid(Student × Enrollment)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filtered → this IS the JOIN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R × S, |R|=5, |S|=4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deg 3, 5 rows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deg 2, 4 rows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cardinality = product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Course × CoreCourse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 × 3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 × 2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no union-compatibility needed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Enrollment × Course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 × 5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 × 3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huge; filter to keep sense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× pairs every tuple of R with every tuple of S; degree = sum of degrees, cardinality = product of cardinalities; no compatibility needed. Alone it is meaningless — a following σ turns it into a JOIN.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Overlap, missing, and the explosion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give one Nepali example where you'd want INTERSECTION (overlap) and one for DIFFERENCE (what's missing).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e.g. INTERSECTION = users on both eSewa and Khalti; DIFFERENCE = all users − active users = lapsed users.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Then: if R has 5 rows and S has 4 rows, how many rows in R × S?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INTERSECTION finds who is in both sets; DIFFERENCE finds who is in one but not the other (order matters). R × S = 5 × 4 = 20 rows — most meaningless until filtered into a JOIN.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S14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Which operation does NOT require union compatibility?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UNION   b) INTERSECTION   c) ✅ CARTESIAN PRODUCT   d) DIFFERENCE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If R has 5 rows and S has 4 rows, R × S has how many rows?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20  (cardinality = product)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a real Nepali example of INTERSECTION (overlap) vs DIFFERENCE (missing).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S14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UNION / INTERSECTION / DIFFERENCE need union-compatible relations; DIFFERENCE is order-sensitive.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CARTESIAN PRODUCT (×) pairs everything: degree = sum, cardinality = product; no compatibility needed.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× alone is meaningless — it is the raw material a condition turns into a JOIN.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Merging mailing lists (UNION), finding common customers across eSewa/Khalti (INTERSECTION), and finding lapsed users (DIFFERENCE) are everyday analytics — and × is where joins come from.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S15 — add a condition to × to get meaningful matches: the JOIN, plus DIVISION.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15 ·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Binary Operations: JOIN (⋈) &amp; DIVISION (÷)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Your marksheet shows the course name and your grade together — but those two facts live in two different tables. What stitches them into one row?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JOIN: from × to the Theta Join (⋈)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JOIN is a CARTESIAN PRODUCT followed by a SELECT on a matching condition: R ⋈_θ S = σ_θ(R × S). It keeps only the pairs that satisfy the join condition, discarding the meaningless pairings of ×.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 theta join (⋈_θ) joins on ANY comparison θ: =, &lt;, &gt;, ≤, ≥, ≠.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Recap: S14's Student × Course exploded to 12 rows; a condition keeps only the sensible ones.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Example: pair students with scholarship slabs where marks ≥ slab_threshold.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Joins build every report that combines tables.</a:t>
            </a:r>
          </a:p>
        </p:txBody>
      </p:sp>
      <p:pic>
        <p:nvPicPr>
          <p:cNvPr id="6" name="Picture 5" descr="s15_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1228"/>
            <a:ext cx="5532120" cy="27527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JOIN = × + condition.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JOIN: from × to the Theta Join (⋈)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bank statement is Account ⋈ Transactions; a Daraz invoice is Order ⋈ Product ⋈ Customer. Every report that stitches two or more tables together is built on joins.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 join is a separate, magic operation." It is literally × then σ — a Cartesian product filtered by a condition. Understanding that demystifies every join you'll ever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join is a Cartesian product followed by a selection on a condition: R ⋈_θ S = σ_θ(R × S). A theta join uses any comparison operator in θ (=, &lt;, &gt;, ≤, ≥, ≠); it keeps only the matching pairs.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JOIN (⋈) · theta join (⋈_θ) · join condition · × + 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 join is × + σ — theta joins on any comparison 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4700"/>
                <a:gridCol w="1485900"/>
                <a:gridCol w="2971800"/>
                <a:gridCol w="36576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Join expression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θ operator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keeps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Result on sample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R ⋈θ S  ≡  σθ(R × 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any of = &lt; &gt; ≤ ≥ ≠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product filtered by θ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(the definition of a join)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 ⋈(S.sid=E.sid) Enrollment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= (equijoin)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pairs with matching sid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 rows: Sita–DBMS, Sita–Java, Hari–DBMS, Ram–DBMS, Ram–Java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 ⋈(marks ≥ Slab.min) Slab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≥ (theta)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each student in a scholarship band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Sita→50%, Ram→25%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Emp ⋈(E.sal &gt; M.sal) Manager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&gt; (theta)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staff earning more than manager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only over-paying pairs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Course ⋈(C.credit ≤ 3) LightLoad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≤ (theta)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courses within a credit cap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the 3-credit courses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Applicant ⋈(A.score ≠ 0) Sat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≠ (theta)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applicants who actually sat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non-zero scorers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Every join is a Cartesian product (×) followed by a selection (σ) on the join condition θ. θ using only '=' is an equijoin (next concept).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Equijoin vs Natural Join (⋈)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An equijoin is a theta join whose condition uses only EQUALITY (=); the join column then appears twice. A natural join (⋈) is an equijoin on ALL same-named attributes that then automatically removes the duplicate column.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Equijoin: Student ⋈_(Student.sid = Enrollment.sid) Enrollment → keeps BOTH sid columns.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Natural join: Student ⋈ Enrollment → joins on sid automatically, yields ONE clean sid.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Then π_name,course,grade(Student ⋈ Enrollment) produces a marksheet row.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Natural join matches by identical NAME, not position — a rename can silently break it.</a:t>
            </a:r>
          </a:p>
        </p:txBody>
      </p:sp>
      <p:pic>
        <p:nvPicPr>
          <p:cNvPr id="6" name="Picture 5" descr="s15_natural_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Equijoin keeps both; natural join zips to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Equijoin vs Natural Join (⋈)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Your marksheet is π_name,course,grade(Student ⋈ Enrollment): the natural join on sid stitches the Student and Enrollment tables into one clean row per enrollment, then project keeps the three columns you see.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"Natural join matches by column position" / "equijoin removes the duplicate." Natural join matches by identical NAME (a rename breaks it into a product); only the NATURAL join drops the duplicate column — the equijoin keeps both.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An equijoin joins on an equality condition and keeps BOTH matching columns. A natural join (⋈) joins on ALL like-named attributes and REMOVES the duplicate column. Natural join = equijoin on same-named attributes + drop the duplicate.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equijoin (= only, both columns) · natural join (⋈, same-named attrs, duplicate removed) · join on name not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2 ·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Equijoin vs Natural join — same match, different result schema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3506"/>
                <a:gridCol w="4453246"/>
                <a:gridCol w="4453246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Equijoin (⋈=)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Natural join (⋈)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Condition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explicit equality, e.g. S.sid = E.sid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implicit on ALL same-named attrs (sid)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Join column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appears TWICE (both sid columns kept)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appears ONCE (duplicate dropped)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Expression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⋈(S.sid=E.sid) Enrollment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⋈ Enrollment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Result schema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sid, name, program, city, sid, course, grade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sid, name, program, city, course, grade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Matches by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written condition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identical attribute NAME (not position)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Rename risk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unaffected by renaming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ρ(sid→roll) breaks it → becomes a product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Natural join = equijoin on same-named attributes + drop the duplicate column. It matches by NAME, so a rename can silently turn it into a Cartesian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DIVISION (÷)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R ÷ S returns the tuples in R that are associated with ALL tuples in S — the 'for all' (universal) operation. It answers 'find X related to EVERY Y' queries.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Example: 'students enrolled in ALL core courses' = Enrollment(sid,course) ÷ CoreCourses(course).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On the sample data: sid 1 and 3 took both DBMS and Java → they survive; sid 2 took only DBMS → excluded.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is the hardest operation — anchor it in one strong example.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is ALL (universal), not ANY (existential).</a:t>
            </a:r>
          </a:p>
        </p:txBody>
      </p:sp>
      <p:pic>
        <p:nvPicPr>
          <p:cNvPr id="6" name="Picture 5" descr="s15_di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60767"/>
            <a:ext cx="5532120" cy="27137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Division = related to ALL of a set (for-all), not 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DIVISION (÷)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'Which delivery riders have covered EVERY district in the valley?' = Coverage(rider,district) ÷ ValleyDistricts(district). Division powers 'qualified for ALL requirements' checks: graduation eligibility, completed all KYC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"Division finds X in ANY of the set." No — it is ALL (universal), not any (existential). 'Any' is a simple σ/JOIN; 'all' is division.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R ÷ S returns the tuples of R associated with ALL tuples of S — the universal ('for all') operation. e.g. students enrolled in EVERY core course = Enrollment ÷ CoreCourses; a rider covering EVERY district = Coverage ÷ Districts.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DIVISION (÷) · universal / 'for all' · R ÷ S · all-not-any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S15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Division answers 'related to ALL of a set' (universal 'for all')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2571"/>
                <a:gridCol w="2503714"/>
                <a:gridCol w="2177142"/>
                <a:gridCol w="1850571"/>
                <a:gridCol w="22860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 ÷ S query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 (dividend)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 (divisor)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students in ALL core courses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Enrollment(sid,course)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CoreCourse = {DBMS, Java}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{1, 3}  (Sita, Ram)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took every required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...why Hari drops out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Enrollment(sid,course)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{DBMS, Java}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Hari(2) excluded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took DBMS only, not Java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riders covering EVERY district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Coverage(rider,district)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ValleyDistrict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riders in all districts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'for all' districts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suppliers who supply ALL parts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Supply(sup,part)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suppliers with every part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classic division example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students who cleared ALL sems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Result(sid,sem)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AllSem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sid passing every sem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graduation eligibility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 has one course {DBMS}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Enrollment(sid,course)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{DBMS}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{1, 2, 3}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'for all' over a 1-set ≈ 'any'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R ÷ S returns tuples of R related to EVERY tuple of S — universal ('for all'), NOT existential ('any'). 'Any' is a simple σ / JOIN; 'all' is division.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S15 · SOLVED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Build a marksheet from two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0972800" cy="9144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📋 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Using Student(sid, name, program, city) and Enrollment(sid, course, grade), write an expression that produces each student's NAME with their COURSE and GRADE on one 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98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1.  </a:t>
            </a:r>
            <a:r>
              <a:rPr sz="1250">
                <a:solidFill>
                  <a:srgbClr val="1A1A1A"/>
                </a:solidFill>
              </a:rPr>
              <a:t>The needed facts live in two tables: name is in Student, course &amp; grade in Enrollment — they share sid.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2.  </a:t>
            </a:r>
            <a:r>
              <a:rPr sz="1250">
                <a:solidFill>
                  <a:srgbClr val="1A1A1A"/>
                </a:solidFill>
              </a:rPr>
              <a:t>Stitch them on the shared attribute with a natural join: Student ⋈ Enrollment (joins on sid, one clean sid).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3.  </a:t>
            </a:r>
            <a:r>
              <a:rPr sz="1250">
                <a:solidFill>
                  <a:srgbClr val="1A1A1A"/>
                </a:solidFill>
              </a:rPr>
              <a:t>The joined relation now has sid, name, program, city, course, grade together.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4.  </a:t>
            </a:r>
            <a:r>
              <a:rPr sz="1250">
                <a:solidFill>
                  <a:srgbClr val="1A1A1A"/>
                </a:solidFill>
              </a:rPr>
              <a:t>Keep only the wanted columns with PROJECT: π_name,course,grade( … 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5.  </a:t>
            </a:r>
            <a:r>
              <a:rPr sz="1250">
                <a:solidFill>
                  <a:srgbClr val="1A1A1A"/>
                </a:solidFill>
              </a:rPr>
              <a:t>Compose: π_name,course,grade( Student ⋈ Enrollment 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30368"/>
            <a:ext cx="10972800" cy="13716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Worked answer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π_name,course,grade( Student ⋈ Enrollment ).  The natural join merges on sid (no duplicate column), then project trims to the marksheet columns. This join-then-project shape is behind almost every real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S15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Which join automatically drops the duplicate join column?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theta   b) equijoin   c) ✅ natural join   d) Cartesian product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'Students enrolled in every core course' is best expressed with: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DIVISION (÷)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describe a real 'must match ALL of them' situation — that's division.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S15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JOIN = CARTESIAN PRODUCT + a matching condition (⋈_θ = σ_θ(R × S)).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theta → equi → natural narrows down; the natural join removes the duplicate join column.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DIVISION (÷) answers 'related to ALL of a set' — universal, not existential.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Joins build every report that combines tables — bank statements, Daraz invoices; division powers 'qualified for all requirements' checks like graduation eligibility or completed KYC.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S16 — operations beyond the basics (aggregates, outer joins) and the declarative world of Tuple Relational Calculus.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37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16 ·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Aggregates (ℱ), Outer Joins &amp; Tuple Relational Calculus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Basic relational algebra can't answer 'what's the AVERAGE grade?' or keep a student who enrolled in NOTHING. We need a few extra tools — and a totally different way of asking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38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Aggregate Functions &amp; Grouping (ℱ)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aggregate operator ℱ (script F) applies COUNT, SUM, AVG, MAX, MIN — optionally GROUPED by attributes: &lt;grouping attrs&gt; ℱ &lt;functions&gt;(R). Grouping partitions rows into groups, then summarizes each group.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is NOT one of the basic operations — it is an EXTENSION (basic algebra can't count).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program ℱ COUNT(sid)(Student) → number of students per program.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course ℱ AVG(grade)(Enrollment) → average grade per course.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Grouping first partitions, then one summary value is produced per group.</a:t>
            </a:r>
          </a:p>
        </p:txBody>
      </p:sp>
      <p:pic>
        <p:nvPicPr>
          <p:cNvPr id="6" name="Picture 5" descr="s16_aggre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19127"/>
            <a:ext cx="5532120" cy="25969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ℱ = group, then summarize each group.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39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Aggregate Functions &amp; Grouping (ℱ)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Dashboards live on aggregates: merchant ℱ SUM(amount)(Transactions) = total collected per merchant on Khalti; program ℱ COUNT(sid)(Student) = students per program on a college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"Aggregate is one of the basic relational operations." It is an additional/extended operation — the basic six have no built-in counting or summarizing.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The aggregate/grouping operation &lt;grouping&gt; ℱ &lt;functions&gt;(R) partitions R by the grouping attributes and applies aggregate functions (COUNT/SUM/AVG/MAX/MIN) per group. It is an EXTENDED (not basic) operation. e.g. course ℱ AVG(grade)(Enrollment).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aggregate (ℱ) · COUNT / SUM / AVG / MAX / MIN · grouping · extended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40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Grouping (ℱ): partition rows, then summarize each group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2808"/>
                <a:gridCol w="2183258"/>
                <a:gridCol w="1541123"/>
                <a:gridCol w="385280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Aggregate expression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Groups by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Result on sample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ℱ COUNT(sid)(Student)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(none — whole table)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 students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program ℱ COUNT(sid)(Student)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program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BIM: 2, BBA: 1, BScCSIT: 1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 ℱ COUNT(sid)(Enrollment)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DBMS: 3, Java: 2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course ℱ AVG(grade)(Enrollment)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AVG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average grade per course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city ℱ COUNT(sid)(Student)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Pokhara: 2, Kathmandu: 1, Butwal: 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merchant ℱ SUM(amount)(Txn)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merchant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SUM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 collected per merchant (Khalti)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&lt;grouping attrs&gt; ℱ &lt;functions&gt;(R) partitions R by the grouping attributes, then produces one summary row per group. ℱ is an EXTENDED (not one of the basic)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41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Outer Joins (⟕ ⟖ 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An inner join (natural/theta) DROPS rows with no match. Outer joins KEEP the unmatched rows too, padding the missing side with NULL.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LEFT outer (⟕) keeps all LEFT rows; RIGHT outer (⟖) all RIGHT rows; FULL outer (⟗) keeps both.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Example: Student ⟕ Enrollment keeps a newly-admitted student who has enrolled in nothing yet.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That student's course &amp; grade columns become NULL.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Contrast: an inner join would silently hide them.</a:t>
            </a:r>
          </a:p>
        </p:txBody>
      </p:sp>
      <p:pic>
        <p:nvPicPr>
          <p:cNvPr id="6" name="Picture 5" descr="s16_outer_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24397"/>
            <a:ext cx="5532120" cy="25864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Inner join hides the unmatched; outer join keeps them with NULLs.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42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Outer Joins (⟕ ⟖ ⟗)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bank report listing EVERY account, including those with zero transactions this month, is Account ⟕ Transactions (left outer). An inner join would silently omit the inactive accounts — exactly the ones an auditor asks about.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"Inner join shows everyone." It silently drops rows with no match. To keep unmatched rows (a new student, a dormant account), you need an OUTER join, which fills the gaps with NULL.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An outer join keeps unmatched tuples (unlike an inner join, which drops them), padding missing values with NULL: LEFT (⟕) keeps all left rows, RIGHT (⟖) all right rows, FULL (⟗) both. e.g. Student ⟕ Enrollment keeps students with no enrolment.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inner vs outer join · LEFT (⟕) / RIGHT (⟖) / FULL (⟗) · NULL padding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43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Inner vs outer — Gita (sid 4) has no enrolment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368"/>
                <a:gridCol w="2646947"/>
                <a:gridCol w="2646947"/>
                <a:gridCol w="4090736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Join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Keeps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Unmatched rows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Result on Student / Enrollment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Inner (natural) ⋈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only matching sid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dropped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 rows; Gita hidden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LEFT outer ⟕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LEFT (Student) rows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kept, right side = NULL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 rows; Gita with course=NULL, grade=NULL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RIGHT outer ⟖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RIGHT (Enrollment) 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kept, left side = NULL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orphan enrolments kept (none here → 5 rows)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FULL outer ⟗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rows from BOTH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both sides padded NULL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 rows; Gita + any orphan enrolments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Account ⟕ Transaction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all accounts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zero-txn accounts kept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dormant accounts appear (NULL txns)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⋈ Enrollment (inner)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matches only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dropped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new admit with no enrolment vanishes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Outer joins keep unmatched tuples, padding the missing side with NULL: LEFT (⟕) all left rows, RIGHT (⟖) all right rows, FULL (⟗) both. An inner join silently drops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44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Tuple Relational Calculus (TRC)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TRC is a DECLARATIVE (non-procedural) language: you describe WHAT tuples you want, not HOW to get them. Form: { t | COND(t) }, where t is a tuple variable ranging over a relation.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COND uses predicates and the quantifiers ∃ (there exists) and ∀ (for all).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Same expressive power as relational algebra (relational completeness).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{ t.name | t ∈ Student ∧ t.program='BIM' } → names of BIM students (declarative π∘σ).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'Enrolled in at least one course': { t | t ∈ Student ∧ ∃ e (e ∈ Enrollment ∧ e.sid=t.sid) }.</a:t>
            </a:r>
          </a:p>
        </p:txBody>
      </p:sp>
      <p:pic>
        <p:nvPicPr>
          <p:cNvPr id="6" name="Picture 5" descr="s16_how_vs_w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50319"/>
            <a:ext cx="5532120" cy="253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Algebra = HOW; calculus = WHAT.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45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Tuple Relational Calculus (TRC)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Declarative thinking is exactly how you reason in SQL day to day: you state the result you want ('give me BIM students' names') and let the DBMS figure out the steps — that's the calculus mindset, not the algebra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"Calculus and algebra give different answers." They are equivalent in power (relational completeness) — same result set, different style: algebra says HOW, calculus says WHAT.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Tuple relational calculus is a declarative (non-procedural) language of the form { t | COND(t) }, where t is a tuple variable and COND uses predicates and quantifiers (∃, ∀). It describes WHAT to retrieve, not HOW, and is equal in power to relational algebra.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TRC · declarative / non-procedural · tuple variable · ∃ / ∀ · relational 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46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S16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Same query as algebra (HOW) and TRC (WHAT)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8965"/>
                <a:gridCol w="3941379"/>
                <a:gridCol w="4729655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Query in English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Relational algebra (HOW)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Tuple calculus — TRC (WHAT)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names of BIM students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π name(σ program='BIM'(Student))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t.name | t ∈ Student ∧ t.program='BIM'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students from Pokhara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σ city='Pokhara'(Student)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 | t ∈ Student ∧ t.city='Pokhara'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students enrolled in ≥ 1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Student ⋈ π sid(Enrollment)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 | t ∈ Student ∧ ∃e(e∈Enrollment ∧ e.sid=t.sid)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names of DBMS students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π name(Student ⋈ σ course='DBMS'(Enrollment))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t.name | t∈Student ∧ ∃e(e∈Enrollment ∧ e.sid=t.sid ∧ e.course='DBMS')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students in ALL core courses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Enrollment ÷ CoreCourse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 | t∈Student ∧ ∀c(c∈CoreCourse → ∃e(e∈Enrollment ∧ e.sid=t.sid ∧ e.course=c.course))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students NOT enrolled anywhere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π name(Student) − π name(Student ⋈ Enrollment)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t.name | t∈Student ∧ ¬∃e(e∈Enrollment ∧ e.sid=t.sid)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TRC form { t | COND(t) } uses a tuple variable t and quantifiers ∃ (exists) / ∀ (for all). Equal in power to relational algebra (relational completeness): algebra says HOW, TRC says WHAT.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47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HOW or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phrase one query about your college in plain English.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Now express it two ways: as algebra steps (σ, π, ⋈ …) and as a calculus description ({ t | … }).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Say which felt like giving directions (HOW = algebra) and which like naming a destination (WHAT = calculus).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e.g. 'names of BIM students' — algebra: π_name(σ_program='BIM'(Student)) [HOW]; TRC: { t.name | t ∈ Student ∧ t.program='BIM' } [WHAT]. Same answer, different mindset.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48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S16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Which keeps students who enrolled in NO course?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natural join   b) equijoin   c) ✅ LEFT outer join   d) division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Tuple relational calculus is best described as: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declarative / non-procedural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phrase a college query in English — did you describe HOW (algebra) or WHAT (calculus)?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49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S16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Aggregates/grouping (ℱ) add counting &amp; summarizing — an extended operation basic algebra lacks.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Outer joins (⟕ ⟖ ⟗) keep unmatched rows, padding missing values with NULL.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Tuple calculus (TRC) describes WHAT you want with a tuple variable and quantifiers (∃/∀); equal in power to algebra.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Dashboards live on aggregates (sales per merchant, students per program); outer joins build 'include everyone, even the inactive' reports; declarative thinking is exactly how you reason in SQL every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S17 — the second calculus, Domain Relational Calculus, plus expression safety and the unit synthesis.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50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17 · UNIT 3 (CLOSES THE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Domain Relational Calculus (DRC) · Safety ·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Yesterday we asked for whole tuples. Today we go one level finer — we name a variable for each column VALUE and describe the answer field by field. Same power, different feel.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51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Domain Relational Calculus (DRC)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DRC is a declarative calculus whose variables range over DOMAINS (individual attribute VALUES) rather than whole tuples. Form: { ⟨x1, …, xn⟩ | COND(x1, …, xn) }, each xi a domain variable bound to a column.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Uses the quantifiers ∃ and ∀, like TRC.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is relationally complete (= algebra = TRC).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It is the basis of the QBE (Query-By-Example) 'fill in the columns' interface.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Names of Pokhara students: { ⟨n⟩ | ∃ s,p ( ⟨s,n,p,'Pokhara'⟩ ∈ Student ) }.</a:t>
            </a:r>
          </a:p>
        </p:txBody>
      </p:sp>
      <p:pic>
        <p:nvPicPr>
          <p:cNvPr id="6" name="Picture 5" descr="s17_three_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DRC = one variable per column.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52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Domain Relational Calculus (DRC)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QBE interfaces — the visual 'fill the columns' query builders in tools like MS Access and report designers used in many Nepali offices and banks — are DRC made visual: each blank you fill is a domain variable.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"DRC and TRC are the same thing with different symbols." They differ in variable SCOPE — a domain variable is a single column value, a tuple variable is a whole row — though they have equal power.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Domain relational calculus is a declarative calculus of the form { ⟨x1,…,xn⟩ | COND } where each variable ranges over a DOMAIN (a single attribute value), using ∃/∀. It is equal in power to algebra and TRC and underlies QBE.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DRC · domain variable · ⟨…⟩ list · ∃ / ∀ · QBE · relational 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53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TRC (row variable) vs DRC (one variable per column)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6206"/>
                <a:gridCol w="4204137"/>
                <a:gridCol w="4729655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Query in English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Tuple calculus (TRC)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Domain calculus (DRC)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names of Pokhara students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t.name | t∈Student ∧ t.city='Pokhara'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⟨n⟩ | ∃s,p(⟨s,n,p,'Pokhara'⟩ ∈ Student)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names of BIM students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t.name | t∈Student ∧ t.program='BIM'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⟨n⟩ | ∃s,c(⟨s,n,'BIM',c⟩ ∈ Student)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all student sids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t.sid | t∈Student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⟨s⟩ | ∃n,p,c(⟨s,n,p,c⟩ ∈ Student)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courses taken by sid 1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e.course | e∈Enrollment ∧ e.sid=1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⟨co⟩ | ∃g(⟨1,co,g⟩ ∈ Enrollment)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names of DBMS students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t.name | t∈Student ∧ ∃e(e.sid=t.sid ∧ e.course='DBMS')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⟨n⟩ | ∃s,p,c(⟨s,n,p,c⟩∈Student ∧ ∃g(⟨s,'DBMS',g⟩∈Enrollment))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name + city pairs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⟨t.name, t.city⟩ | t∈Student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⟨n,c⟩ | ∃s,p(⟨s,n,p,c⟩ ∈ Student) }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DRC form { ⟨x1,…,xn⟩ | COND } binds one domain variable per COLUMN, positionally inside ⟨…⟩; uses ∃/∀. It underlies QBE 'fill the columns' and is equal in power to TRC and algebra.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54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TRC vs DRC · Safety of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TRC and DRC differ in variable SCOPE, not power; and both must be SAFE — producing a finite result drawn from values actually in the database.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TRC: a tuple variable ranges over whole ROWS (t.name).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DRC: a domain variable ranges over single column VALUES (one variable per attribute).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DRC names every attribute in the ⟨…⟩ list — more verbose, but maps directly onto QBE 'fill the blanks'.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Safe = finite result. { ⟨x⟩ | NOT(⟨x⟩ ∈ Student) } is UNSAFE — infinitely many values aren't students.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Tuple var = a row; domain var = a value. Safe = a finite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55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TRC vs DRC · Safety of Expressions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report tool that let you ask for 'everything NOT in this table' would try to list infinitely many values — which is why real query languages only allow safe, bounded expressions drawn from the stored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"Any condition you can write is a valid query." Unsafe expressions (like NOT ∈) would return infinite sets and are disallowed; a valid query must be safe (finite, drawn from database values).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In TRC a variable ranges over whole tuples; in DRC over individual domain values (one per column) — same power, different variable scope. A SAFE expression yields a finite result drawn from database values; unsafe expressions (e.g. NOT ∈) return infinite sets and are disallowed.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tuple vs domain variable · scope · safe / unsafe expression · finite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56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2 ·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TRC vs DRC — scope, not power; and why safety matters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9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9024"/>
                <a:gridCol w="4321097"/>
                <a:gridCol w="459987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TRC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DRC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Variable ranges over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 whole TUPLE (row)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 single DOMAIN VALUE (column)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Reference style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t.name, t.city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positional ⟨s, n, p, c⟩ — one var per column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Example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t.name | t∈Student ∧ t.city='Pokhara'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⟨n⟩ | ∃s,p(⟨s,n,p,'Pokhara'⟩∈Student) }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Underlies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declarative SQL-style thinking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QBE 'fill the columns' interfaces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Safe expression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finite result, from DB values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finite result, from DB values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C2B4A"/>
                          </a:solidFill>
                        </a:rPr>
                        <a:t>UNSAFE example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t | ¬(t∈Student) } — infinite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{ ⟨x⟩ | ¬(⟨x⟩∈Student) } — infinite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TRC and DRC differ in variable SCOPE (row vs value), not power. Only SAFE expressions — finite results drawn from stored values — are allowed; a bare NOT ∈ would return an infinite set and is disallowed.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57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3 Synthesis: Procedural ⇄ Declarative ⇄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Relational algebra (procedural) and relational calculus (declarative: TRC over tuples, DRC over domains) are all RELATIONALLY EQUIVALENT — they express the same queries; algebra says HOW, calculus says WHAT.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Algebra: σ, π, ∪, ∩, −, ×, ⋈, ÷, plus aggregates (ℱ) and outer joins.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Calculus: TRC { t | … } over tuples; DRC { ⟨x⟩ | … } over domains.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All three have the same expressive power (relational completeness).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All three underlie SQL (Unit 5) — the practical, friendly syntax for everything here.</a:t>
            </a:r>
          </a:p>
        </p:txBody>
      </p:sp>
      <p:pic>
        <p:nvPicPr>
          <p:cNvPr id="6" name="Picture 5" descr="s17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50319"/>
            <a:ext cx="5532120" cy="253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Algebra (HOW) ⇄ TRC/DRC (WHAT) → all equal → all become SQL.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58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3 Synthesis: Procedural ⇄ Declarative ⇄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Every SQL query you write in Unit 5 is, underneath, one of these formal expressions: SELECT…WHERE is σ, the column list is π, JOIN is ⋈, GROUP BY is ℱ, and the whole thing is planned as a relational-algebra tree by the optimizer.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"Algebra, TRC, and DRC are three unrelated topics." They are three equivalent faces of the same query power — and SQL is the practical language sitting on top of all of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Relational algebra (procedural) and relational calculus (TRC over tuples, DRC over domains — declarative) are all relationally equivalent (relational completeness): each expresses the same queries. All three underlie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relational equivalence · procedural vs declarative · foundation of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59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S17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One map: SQL ↔ relational algebra ↔ calculus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2000"/>
                <a:gridCol w="2794000"/>
                <a:gridCol w="2667000"/>
                <a:gridCol w="2667000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SQL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Relational algebra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Reads as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Calculus idea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WHERE clause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σ (SELECT)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filter 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COND(t) predicate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SELECT column-list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π (PROJECT)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keep columns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{ t.col | … } head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FROM a, b WHERE a.k=b.k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⋈ (JOIN) = σ(×)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match rows across tables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∃ join predicate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UNION / INTERSECT / EXCEPT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∪ / ∩ / −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combine sets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∨ / ∧ / ∧¬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GROUP BY … COUNT/SUM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ℱ (aggregate)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summarize groups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(extended operation)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LEFT / RIGHT / FULL JOIN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⟕ / ⟖ / ⟗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keep unmatched (NULL)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outer semantics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NOT EXISTS / 'for all' pattern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÷ (DIVISION)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related to ALL of a set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∀ quantifier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SELECT DISTINCT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(π already de-dups)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remove duplicate rows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set semantics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Every SQL query maps to a relational-algebra expression and an equivalent calculus formula — all relationally equivalent (relational completeness). Algebra says HOW, calculus says WHAT, SQL is the friendly syntax on 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60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Why is 'fill in the blanks' easier?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why might a non-programmer find DRC-style 'fill the columns' (QBE) easier than writing algebra?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Where have you seen fill-in-the-blank query forms (MS Access, report builders, search filters)?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Map one such form onto DRC: each blank you fill is a domain variable.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QBE lets you state WHAT you want by filling column blanks — no procedure to write — which is exactly DRC's model (a variable per column). Many office/bank report tools and advanced search forms are QBE-style.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61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S17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In domain relational calculus, variables range over: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individual attribute values / domains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An expression that would return an infinite set of values is called: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unsafe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where have you seen QBE-style 'fill in the blank' query forms?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62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S17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DRC uses one variable per COLUMN and describes the answer field-by-field; it underlies QBE.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TRC vs DRC differ in variable scope (row vs value), not power; only SAFE (finite) expressions are allowed.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Algebra, TRC, and DRC are all relationally equivalent — and all feed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QBE 'fill the columns' interfaces (MS Access, report designers used in Nepali offices/banks) are DRC made visual; understanding it demystifies those drag-and-fill report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Unit 4 — putting good STRUCTURE under all this: Database Normalization.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63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3 ·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One-page revision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SELECT (σ) &amp; PROJECT (π)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σ = rows by condition (same schema). π = chosen columns (drops duplicates). SQL's SELECT keyword = 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Set ops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∪ = either · ∩ = both · − = only-in-R (order matters) — all need union-compatible relations. × pairs all (degree=sum, card=product).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JOIN (⋈)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⋈ = × + condition. theta (any comparison) → equijoin (=, keeps both cols) → natural (same-name, drops duplicate).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DIVISION (÷)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R ÷ S = tuples related to ALL of S (universal 'for all', not 'any'). e.g. enrolled in every core course.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Extended ops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ℱ = group + aggregate (COUNT/SUM/AVG/MAX/MIN). Outer joins ⟕ ⟖ ⟗ keep unmatched rows, padding NULL.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Calculus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TRC { t | COND } over tuples; DRC { ⟨x⟩ | COND } over domains; ∃/∀; safe = finite. algebra ≡ TRC ≡ DRC ≡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64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3 ·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Key terms —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Relational algebra — </a:t>
            </a:r>
            <a:r>
              <a:rPr sz="1150">
                <a:solidFill>
                  <a:srgbClr val="1A1A1A"/>
                </a:solidFill>
              </a:rPr>
              <a:t>procedural query language; operations on relations.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Closure — </a:t>
            </a:r>
            <a:r>
              <a:rPr sz="1150">
                <a:solidFill>
                  <a:srgbClr val="1A1A1A"/>
                </a:solidFill>
              </a:rPr>
              <a:t>output is always a relation, so operations chain.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SELECT (σ) — </a:t>
            </a:r>
            <a:r>
              <a:rPr sz="1150">
                <a:solidFill>
                  <a:srgbClr val="1A1A1A"/>
                </a:solidFill>
              </a:rPr>
              <a:t>keeps ROWS satisfying a condition (horizontal).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PROJECT (π) — </a:t>
            </a:r>
            <a:r>
              <a:rPr sz="1150">
                <a:solidFill>
                  <a:srgbClr val="1A1A1A"/>
                </a:solidFill>
              </a:rPr>
              <a:t>keeps chosen COLUMNS, removes duplicates (vertical).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Union-compatible — </a:t>
            </a:r>
            <a:r>
              <a:rPr sz="1150">
                <a:solidFill>
                  <a:srgbClr val="1A1A1A"/>
                </a:solidFill>
              </a:rPr>
              <a:t>same #attributes and matching domains.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UNION / INTERSECTION — </a:t>
            </a:r>
            <a:r>
              <a:rPr sz="1150">
                <a:solidFill>
                  <a:srgbClr val="1A1A1A"/>
                </a:solidFill>
              </a:rPr>
              <a:t>in either (∪) / in both (∩).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DIFFERENCE (−) — </a:t>
            </a:r>
            <a:r>
              <a:rPr sz="1150">
                <a:solidFill>
                  <a:srgbClr val="1A1A1A"/>
                </a:solidFill>
              </a:rPr>
              <a:t>in R not S; not commutative.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CARTESIAN PRODUCT (×) — </a:t>
            </a:r>
            <a:r>
              <a:rPr sz="1150">
                <a:solidFill>
                  <a:srgbClr val="1A1A1A"/>
                </a:solidFill>
              </a:rPr>
              <a:t>pairs every row with every 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9632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JOIN (⋈) — </a:t>
            </a:r>
            <a:r>
              <a:rPr sz="1150">
                <a:solidFill>
                  <a:srgbClr val="1A1A1A"/>
                </a:solidFill>
              </a:rPr>
              <a:t>× followed by a matching condition.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Theta / equijoin — </a:t>
            </a:r>
            <a:r>
              <a:rPr sz="1150">
                <a:solidFill>
                  <a:srgbClr val="1A1A1A"/>
                </a:solidFill>
              </a:rPr>
              <a:t>join on any comparison / on equality (keeps both cols).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Natural join — </a:t>
            </a:r>
            <a:r>
              <a:rPr sz="1150">
                <a:solidFill>
                  <a:srgbClr val="1A1A1A"/>
                </a:solidFill>
              </a:rPr>
              <a:t>equijoin on same-named attrs; drops the duplicate.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DIVISION (÷) — </a:t>
            </a:r>
            <a:r>
              <a:rPr sz="1150">
                <a:solidFill>
                  <a:srgbClr val="1A1A1A"/>
                </a:solidFill>
              </a:rPr>
              <a:t>tuples related to ALL of a set ('for all').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Aggregate (ℱ) — </a:t>
            </a:r>
            <a:r>
              <a:rPr sz="1150">
                <a:solidFill>
                  <a:srgbClr val="1A1A1A"/>
                </a:solidFill>
              </a:rPr>
              <a:t>group + COUNT/SUM/AVG/MAX/MIN (extended op).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Outer join (⟕⟖⟗) — </a:t>
            </a:r>
            <a:r>
              <a:rPr sz="1150">
                <a:solidFill>
                  <a:srgbClr val="1A1A1A"/>
                </a:solidFill>
              </a:rPr>
              <a:t>keeps unmatched rows, padding NULL.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TRC / DRC — </a:t>
            </a:r>
            <a:r>
              <a:rPr sz="1150">
                <a:solidFill>
                  <a:srgbClr val="1A1A1A"/>
                </a:solidFill>
              </a:rPr>
              <a:t>calculus over tuples / over domains (declarative).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Safe expression — </a:t>
            </a:r>
            <a:r>
              <a:rPr sz="1150">
                <a:solidFill>
                  <a:srgbClr val="1A1A1A"/>
                </a:solidFill>
              </a:rPr>
              <a:t>yields a finite result from database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65 / 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UNIT 3 ·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Consolidated end-of-unit quiz (S13–S17)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Twelve MCQs across the whole unit (answers shown), then write-the-expression and discussion questions to work from the concept slides and Unit3_material.md.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66 / 69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 A — Multiple choice (answers shown)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250" b="1">
                <a:solidFill>
                  <a:srgbClr val="0F6E56"/>
                </a:solidFill>
              </a:rPr>
              <a:t>1.  Relational algebra is a ___ query language   →  ✅ procedural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2.  Selects ROWS by a condition   →  ✅ σ (SELECT)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3.  π automatically removes   →  ✅ duplicate rows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4.  Does NOT require union compatibility   →  ✅ × (Cartesian product)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5.  R has 6 rows, S has 5 → R × S has   →  ✅ 30 rows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6.  SET DIFFERENCE (R − S) is   →  ✅ not commutative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7.  A JOIN = Cartesian product followed by a   →  ✅ SELECT (σ)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8.  Removes the duplicate matching column   →  ✅ natural join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9.  'Enrolled in ALL core courses'   →  ✅ DIVISION (÷)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10.  Keep students who enrolled in NO course   →  ✅ LEFT OUTER JOIN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11.  In TRC a variable ranges over   →  ✅ whole tuples (rows)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12.  In DRC a variable ranges over   →  ✅ single attribute values (domains)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67 / 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Parts B–C — write the expression &amp; 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0C2B4A"/>
                </a:solidFill>
              </a:rPr>
              <a:t>Part B — Write the relational-algebra / calculus expression (sample relations)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13. Names of students from Kathmandu → π_name(σ_city='Kathmandu'(Student))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14. Each student's name with course and grade → π_name,course,grade(Student ⋈ Enrollment)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15. Average grade per course → course ℱ AVG(grade)(Enrollment)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16. TRC: names of BIM students → { t.name | t ∈ Student ∧ t.program='BIM' }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0C2B4A"/>
                </a:solidFill>
              </a:rPr>
              <a:t>Part C — Discussion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17. Decompose one screen of a Nepali app into σ / π / JOIN / aggregate operations.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18. Why do algebra (HOW) and calculus (WHAT) always give the same answer, and why did SQL need both ideas?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68 / 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End of Unit 3  ·  IT 220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S13–S17 complete: relational algebra (σ, π, ∪, ∩, −, ×, ⋈, ÷, ℱ, outer joins) and relational calculus (TRC, DRC) — the procedural and declarative foundations of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Built to COURSE_MATERIAL_STANDARD.md · self-contained slides · exports cleanly to PDF · Next unit (Unit 4): Database Normalization.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69 / 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