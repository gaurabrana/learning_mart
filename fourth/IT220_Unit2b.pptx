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notation legend → naming conventions → attribute-vs-entity design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min. This is the alphabet of ER — keep it visible while reading later 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Contrast REL1 vs TEACHES — which can a registrar verify?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Decision flowchart: does 'X' have its own attributes/relationships?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degree revisited / ternary → ternary ≠ 3 binaries → associative entities.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min. Draw one diamond connected to three rectangles.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Walk the supplier/part/project counter-example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Foodmandu DELIVERY linking CUSTOMER, RESTAURANT, RIDER.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specialization/generalization → the constraints (d/o × total/partial) → attribute inheritance.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min. Draw superclass, a circle, subset lines to subclasses.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~13 min. Walk the 2×2 with one example per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min. Superclass ACCOUNT with shared attrs; subclasses add local attrs.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HOOK [~5 min]. Agenda: the 7-step algorithm → 1:N (FK) → M:N (junction) → common mistakes → capstone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~11 min. Keep the 7-row table on screen for the rest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Draw the two tables; point at where dept_id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 min. Show STUDENT, COURSE, and the ENROLLS junction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 min. These three mistakes cause most 'why is the report wrong/slow'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and let students attempt each step before revealing. This is the single most exam-tested S12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[~5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REAL-LIFE APPLICATION [~3 min] + SUMMARY [~2 min].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 revision/assessment after S12.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Consolidated quiz Parts B–D. Model answers live in the concept slides and Unit2b_material.md.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Unit 2 — Data Modelling (ER Model)  ·  S9–S12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IT 220: Database Management System  ·  BIM 4th Semester  ·  Chen / EER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Sessions S9–S12 — closes Unit 2  ·  50 min each  ·  Nepal / South Asia context  ·  Self-contained slides: every concept is complete on the slide face — exports to PDF with no information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 / 62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OVERVIEW  ·  S9–S12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Unit 2 — Outcomes for this batch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C2B4A"/>
                </a:solidFill>
              </a:rPr>
              <a:t>By the end of S9–S12, you will be able to: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Draw clean, correctly-named ER diagrams and avoid common design pitfalls (S9)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Handle relationships of degree higher than two — ternary and beyond (S10)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Apply specialization/generalization with disjoint/overlap and total/partial constraints (S11)</a:t>
            </a:r>
          </a:p>
          <a:p>
            <a:pPr>
              <a:spcAft>
                <a:spcPts val="500"/>
              </a:spcAft>
            </a:pPr>
            <a:r>
              <a:rPr sz="1450">
                <a:solidFill>
                  <a:srgbClr val="1A1A1A"/>
                </a:solidFill>
              </a:rPr>
              <a:t>•  Convert (map) a complete ER diagram into relational tables using the standard algorithm (S12)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0972800" cy="77724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↩️ Builds 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This batch assumes S5–S8: conceptual models, entities/attributes/keys, relationships &amp; constraints, and weak entities.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2 —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Where each session fits (S5–S12)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49240" cy="416052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THIS BATCH  ·  S9–S12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S9    Full ER diagrams · naming · design pitfalls
S10  Higher-degree (ternary) relationships
S11  Specialization &amp; generalization
S12  Mapping ER → relational tables  (closes Unit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349240" cy="41605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556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55606B"/>
                </a:solidFill>
              </a:rPr>
              <a:t>✔️  ALREADY COVERED  ·  S5–S8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S5   Conceptual models &amp; the design process
S6   Entity types/sets, attributes, keys
S7   Relationships, roles, cardinality, participation
S8   Weak entities, identifying rel., partial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9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ER Diagrams, Naming Conventions &amp; Design Issues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Here are two ER diagrams of the same college system — one is clear, one is a spaghetti mess. What makes the difference? Conventions and good design choices, not just correct symbols.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1 · [THEORY]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ER Notation — one consolidated legend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5606B"/>
                </a:solidFill>
              </a:rPr>
              <a:t>The complete Chen/EER symbol set from S5–S8 in one place. Read any diagram by naming each shape aloud — the habit that catches most errors before they reach the tables.</a:t>
            </a:r>
          </a:p>
        </p:txBody>
      </p:sp>
      <p:pic>
        <p:nvPicPr>
          <p:cNvPr id="6" name="Picture 5" descr="s9_leg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620" y="2194560"/>
            <a:ext cx="6616454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Naming Conventions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Good names make a diagram self-explanatory: entity types are singular nouns, relationships are verbs, so a fragment reads left-to-right as a sentence.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Entity types = singular nouns (STUDENT, not STUDENTS) — a rectangle is the type, one specimen of the kind.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Relationships = verbs (ENROLLS, TEACHES): STUDENT — ENROLLS — COURSE reads as a sentence.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Use consistent case and meaningful names; never TBL1 / REL2.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Names become table/column names after mapping — bad names breed miscommunication and errors.</a:t>
            </a:r>
          </a:p>
        </p:txBody>
      </p:sp>
      <p:pic>
        <p:nvPicPr>
          <p:cNvPr id="6" name="Picture 5" descr="s9_n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Entities are singular nouns; relationships are verbs.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Naming Conventions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relationship named REL1 tells the registrar nothing; renamed TEACHES (TEACHER—TEACHES—COURSE) it reads like plain English and the registrar can confirm or correct it on the spot.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"Naming doesn't matter, it's just a diagram." Wrong — meaningless names (E1, R3) hide what each construct is, so mapping errors go unnoticed. Singular-noun entities + verb relationships make errors visible.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Entity types are singular nouns (STUDENT); relationship types are verbs (ENROLLS) so the diagram reads as a sentence; names must be consistent and meaningful (never TBL1/REL2). Good names let stakeholders verify the model and become clean table/column names after mapping.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singular-noun entity  ·  verb relationship  ·  reads-as-a-sentence  ·  meaningful / consistent naming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Poor name vs good name — and why it matters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3250"/>
                <a:gridCol w="2286000"/>
                <a:gridCol w="2143125"/>
                <a:gridCol w="3857625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Concept in the diagram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Poor name (avoid)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Good name (use)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 the good name wins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Entity of course-takers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STUDENTS / TBL1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singular noun = the type (one specimen of the kind)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Entity for shops on Daraz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E2 / tbl_m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MERCHANT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reader knows what it is; clean table name after mapping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↔ course link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REL1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ENROLLS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— ENROLLS — COURSE reads as a sentence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Teacher ↔ course link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TEACHES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verb; a registrar can confirm or correct it on the spot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↔ order link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LINK2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PLACES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— PLACES — ORDER reads left-to-right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↔ account link (bank)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OWNS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 — OWNS — ACCOUNT is plain English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Rider ↔ delivery link (Foodmandu)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REL9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DELIVERS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stakeholders verify the model by reading it aloud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Singular-noun entities + verb relationships make the diagram self-explanatory and become clean table/column names after mapping.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Design Issue: Attribute vs 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hard modelling choices are about WHAT should be WHAT. Key rule: if a concept has its own attributes or its own relationships, model it as an entity; otherwise an attribute is enough.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'Colour' of a product is just a value → attribute.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'Category' on Daraz has a name, a parent, an icon, and groups many products → its own ENTITY.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Attribute vs relationship: a connection between two things is a relationship; a plain property is an attribute.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Beware over-modelling — more entities is not 'better'; model exactly what the requirements need.</a:t>
            </a:r>
          </a:p>
        </p:txBody>
      </p:sp>
      <p:pic>
        <p:nvPicPr>
          <p:cNvPr id="6" name="Picture 5" descr="s9_attr_vs_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Own attributes/relationships → entity; plain value → attribute.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Design Issue: Attribute vs 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On Daraz, 'category' looks like a text attribute of PRODUCT — but because categories have their own data (name, parent, icon) and group many products, Daraz models CATEGORY as a separate entity. 'Colour', with no data of its own, stays an attribute.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"More entities = better design." No — over-modelling adds needless complexity. Model something as its own entity only when it genuinely carries its own attributes or relationships.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Model a concept as its own entity when it has its own attributes and/or participates in its own relationships (e.g. CATEGORY, MERCHANT); keep it as an attribute when it is a plain value with no data of its own (e.g. colour, status). Avoid over-modelling.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attribute-vs-entity decision  ·  attribute-vs-relationship  ·  over-modelling  ·  'has its own attributes/relationships'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S9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 or its own entity? — the 'own data/relationships' test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/>
                <a:gridCol w="2413000"/>
                <a:gridCol w="3429000"/>
                <a:gridCol w="317500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Attribute or Entity?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 (the test)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If modelled the wrong way…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Product colour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Attribute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plain value with no data of its own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needless, almost-empty table (over-modelling)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Category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has name, parent, icon; groups many products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nowhere to store category data if kept as text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Merchant (eSewa)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has PAN, settlement account, many transactions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merchant details and links are lost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 status (pending/paid)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Attribute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just one value per order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over-modelling — an entity adds needless complexity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Restaurant (Foodmandu)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has name, location, menu, relationships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relate its dishes or ratings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Delivery address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Entity / multivalued composite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customer has many; it has parts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store a customer's several addresses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Cuisine label (Foodmandu)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Attribute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usually just a tag on a restaurant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an extra table for no benefit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Rating value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Attribute of a review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single numeric value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over-modelling if promoted to an entity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Model a concept as its own entity ONLY when it has its own attributes and/or relationships; otherwise an attribute is enough. Don't over-model.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 or entity?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for a Foodmandu-style app, classify each of — cuisine, restaurant, delivery-address, rating.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Decide attribute vs its own entity using the 'own attributes/relationships' test.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Justify each choice in one sentence.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restaurant = entity (has name, location, menu, relationships); delivery-address = entity or multivalued composite attribute of CUSTOMER; cuisine = attribute (or a small entity if it groups data); rating = attribute of a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S9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Best name for the entity of course-takers: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ENROLLS   b) STUDENTS   c) ✅ STUDENT   d) TBL1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Model X as its own entity (not an attribute) when: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it has its own attributes / relationships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for an eSewa-like app, is 'merchant' an attribute of TRANSACTION or its own entity? Justify.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S9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One consistent notation legend is the alphabet of ER — name every shape aloud to read a diagram.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Entity types = singular nouns; relationship types = verbs (the fragment reads as a sentence).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Model a concept as an entity only when it has its own attributes/relationships; don't over-model.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Clean, well-named ER diagrams are the shared language between analysts, developers, and DBAs in every Nepali IT company; the attribute-vs-entity call decides how many tables you 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S10 — when two entities aren't enough: higher-degree (ternary) relationships.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10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Relationships of Degree Higher Than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A supplier supplies a product for a project. Three things in one fact — can a normal two-sided arrow capture that?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Degree Revisited: Binary, Ternary, n-ary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degree of a relationship is the number of entity types it connects (from S7). Binary = 2 (most common), ternary = 3, n-ary = n. A ternary captures a single fact involving three things at once.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SUPPLIES(SUPPLIER, PART, PROJECT) = 'supplier S supplied part P FOR project J' — one three-way fact.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Drawn as ONE diamond touching three rectangles.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 timetable fact TEACHES(TEACHER, COURSE, ROOM/TIMESLOT) is another natural ternary.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Most real relationships are binary; ternary is occasional, n&gt;3 is rare.</a:t>
            </a:r>
          </a:p>
        </p:txBody>
      </p:sp>
      <p:pic>
        <p:nvPicPr>
          <p:cNvPr id="6" name="Picture 5" descr="s10_ter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92193"/>
            <a:ext cx="5532120" cy="2850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Degree = how many entity types the diamond touches.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Degree Revisited: Binary, Ternary, n-ary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logistics/procurement system records 'this supplier delivered this part for this project' — a single fact about three entities at once. That is a ternary relationship; splitting it apart loses the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"Higher-degree relationships are everywhere." Actually most designs are binary; reach for ternary only when a fact genuinely ties three entity types together in one instance.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The degree of a relationship is the number of entity types participating. Binary = 2, ternary = 3, n-ary = n. A ternary (e.g. SUPPLIES(SUPPLIER, PART, PROJECT)) associates three entity types in one fact, drawn as one diamond connected to three rectangles.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degree  ·  binary (2)  ·  ternary (3)  ·  n-ary  ·  one diamond, three rectangles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Real relationships classified by degree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87096"/>
                <a:gridCol w="1720645"/>
                <a:gridCol w="3072580"/>
                <a:gridCol w="2949677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Relationship (example)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Degree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Entity types it connects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 that degree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— ENROLLS —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Binary (2)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STUDENT,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fact links exactly two types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— PLACES — ORDER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Binary (2)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CUSTOMER, ORDER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two-way fact — most designs are binary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 — MANAGES — 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Recursive (2)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 with itself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same entity type plays two roles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SUPPLIES(SUPPLIER, PART, PROJECT)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(3)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SUPPLIER, PART, PROJECT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fact ties three things together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TEACHES(TEACHER, COURSE, ROOM)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(3)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TEACHER, COURSE, 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timetable fact of three at once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PRESCRIBES(DOCTOR, PATIENT, DRUG)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(3)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DOCTOR, PATIENT, DRUG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three-way fact in one instance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DELIVERS(RIDER, ORDER, ADDRESS)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(3)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RIDER, ORDER, ADDRESS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delivery ties three entities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Degree = how many entity types the diamond touches. Binary (2) is by far the most common; ternary (3) is occasional; n &gt; 3 is rare.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Why a Ternary Is NOT Three Binaries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Replacing a ternary with three binary relationships often LOSES information, because the binaries record pairwise facts but not the combination of all three.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'S supplies P' + 'P used in J' + 'S works on J' are three true pairwise facts…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…but they still do NOT say S supplied P specifically TO J.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Only the ternary SUPPLIES(S, P, J) records the three-way truth.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So three binaries ≠ a ternary whenever the meaning lives in the combination.</a:t>
            </a:r>
          </a:p>
        </p:txBody>
      </p:sp>
      <p:pic>
        <p:nvPicPr>
          <p:cNvPr id="6" name="Picture 5" descr="s10_ternary_vs_bi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Three binaries lose the combined 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Why a Ternary Is NOT Three Binaries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In a delivery system, 'customer–restaurant', 'restaurant–rider', 'rider–customer' as three binaries can't reconstruct WHICH rider carried WHICH order from WHICH restaurant to WHICH customer on one trip — that combined fact needs one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"Any ternary can be split into three binaries without loss." False — pairwise facts can't capture that three entities were associated together in one instance. Use a ternary (or an associative entity).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Three binary relationships record only pairwise facts; they cannot capture that the three entities were associated together in one instance (S–P, P–J, S–J do not imply S supplied P to J). When the meaning is in the combination, a single ternary or an associative entity is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ternary ≠ three binaries  ·  loss of the combined fact  ·  pairwise vs three-way association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combined fact three binaries silently lose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8000"/>
                <a:gridCol w="3302000"/>
                <a:gridCol w="3810000"/>
                <a:gridCol w="2540000"/>
              </a:tblGrid>
              <a:tr h="6309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The three binaries record…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The combined fact they LOSE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Correct model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Procurement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S–P, P–J, S–J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that S supplied P specifically TO project J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SUPPLIES(S, P, J)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Foodmandu delivery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customer–restaurant, restaurant–rider, rider–customer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rider carried which order from which restaurant to which customer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/ associative DELIVERY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Pathao ride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rider–passenger, rider–route, passenger–route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passenger rode which route with which rider on one trip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RIDE 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Hospital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doctor–patient, doctor–drug, patient–drug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doctor gave which drug to which patient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PRESCRIBES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Timetable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teacher–course, course–room, teacher–room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teacher teaches which course in which room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TEACHES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Project staffing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employee–project, employee–role, project–role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which employee holds which role on which project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ternary WORKS_ON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Pairwise facts can't capture that three entities were associated together in one instance. When the meaning is in the combination, use a ternary or an associative 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Constraints &amp; the Associative 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cleaner alternative to a bare n-ary diamond is the associative (intermediate) entity: replace the diamond with a rectangle linked to each participant — especially when the relationship has its own attributes.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Use it when the relationship carries its own data (a delivery has time, fee, status).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Also clarifies higher-degree associations that get hard to read as one diamond.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n-ary relationships can carry cardinality constraints, but they're hard to read.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Rule of thumb: prefer binary; use ternary/associative entity only when needed.</a:t>
            </a:r>
          </a:p>
        </p:txBody>
      </p:sp>
      <p:pic>
        <p:nvPicPr>
          <p:cNvPr id="6" name="Picture 5" descr="s10_associ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Ternary + its own attributes → make it an associative entity.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Constraints &amp; the Associative 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Foodmandu/Pathao Food model a DELIVERY that links CUSTOMER, RESTAURANT, and RIDER and stores delivery time, fee, and status — an associative entity, cleaner than a bare ternary diamond.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Forcing a relationship-with-its-own-attributes to stay a diamond makes the model awkward and hard to map. When it has its own data, promote it to an associative 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associative (intermediate) entity replaces a relationship (often ternary/n-ary) with a rectangle linked to each participant. Use it when the relationship needs its own attributes or relationships, or to make a higher-degree association clearer — e.g. DELIVERY linking CUSTOMER, RESTAURANT, RIDER with time/fee/status.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associative / intermediate entity  ·  n-ary cardinality  ·  'prefer binary'  ·  relationship with its own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S10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When a relationship should become an associative entity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8526"/>
                <a:gridCol w="2406315"/>
                <a:gridCol w="3007894"/>
                <a:gridCol w="2767263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Relationship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Its own attributes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 it as…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DELIVERY (CUSTOMER, RESTAURANT, RIDER)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time, fee, status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entity DELIVERY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relationship carries its own data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RIDE (RIDER, PASSENGER, ROUTE) — Pathao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fare, distance, rating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entity RIDE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own attributes make a diamond awkward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— ENROLLS —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grade, semester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/ junction ENROLLS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the attribute 'grade' lives on the link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 — contains — PRODUCT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quantity, price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ORDER_ITEM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per-item data belongs on the link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SUPPLIES(SUPPLIER, PART, PROJECT)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quantity, delivery 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associative SUPPLY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clarifies the ternary and holds its data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— OWNS — ACCOUNT (bank)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none (maybe open date)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keep as a plain binary relationship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 own data → don't over-model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— ADVISES — TEACHER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plain binary relationship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simple diamond is enough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Prefer binary. Promote a relationship to an associative (intermediate) entity when it needs its own attributes/relationships, or to make a higher-degree association clearer.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Ternary or associative?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model a Pathao ride involving RIDER, PASSENGER, and ROUTE.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Decide whether a ternary is justified or an associative RIDE entity is cleaner.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List two attributes that would push you toward the entity.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If the ride has its own data — fare, distance, time, rating — an associative RIDE entity wins over a bare ternary diamond, because a relationship can't cleanly hold those attributes.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S10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 relationship among three entity types is: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binary   b) recursive   c) ✅ ternary   d) weak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Splitting a ternary into three binaries is risky because: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it can lose the combined-fact meaning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model a Pathao ride (RIDER, PASSENGER, ROUTE) — ternary or associative entity?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S10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Degree = number of participating entity types; ternary = 3, drawn as one diamond on three rectangles.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A ternary ≠ three binaries when the meaning is in the combination of all three.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Prefer binary; use a ternary or an associative entity only when needed (especially if it has its own attributes).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Logistics, delivery, and booking systems (common in Nepal's startup scene) frequently need ternary thinking; getting it wrong silently loses business facts like 'who delivered what to whom'.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S11 — modelling 'kinds of': specialization and generalization.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11 · UNIT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Specialization &amp; Generalization (EER)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On the Nagarik App a USER can be a citizen, a government employee, or a business owner — same person-record, but each kind stores extra things. How do we model 'kinds of'?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Specialization &amp;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The EER constructs for 'is-a' hierarchies. Specialization is top-down (split a superclass into subclasses); generalization is bottom-up (combine similar entities into a superclass). Same idea, opposite directions.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Specialization: EMPLOYEE → ENGINEER, SECRETARY, TECHNICIAN (subclasses add their own attributes).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Generalization: CAR and TRUCK → VEHICLE (factor out shared attributes).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Both create a superclass/subclass hierarchy with an 'is-a' relationship.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Both give subclasses attribute inheritance.</a:t>
            </a:r>
          </a:p>
        </p:txBody>
      </p:sp>
      <p:pic>
        <p:nvPicPr>
          <p:cNvPr id="6" name="Picture 5" descr="s11_speci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92193"/>
            <a:ext cx="5532120" cy="2850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Specialization = split down; generalization = combine up; both are is-a.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Specialization &amp; Generalization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bank ACCOUNT is specialized into SAVINGS and CURRENT; a platform USER into CUSTOMER and MERCHANT. Each subclass is still 'an account' / 'a user' (is-a) but stores extra fields. Two near-identical tables signal you should generalize upward into a shared superclass.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"Specialization and generalization are different tools." They're inverse directions of the SAME idea — both produce an is-a hierarchy with inheritance; only the direction of thinking differs.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Specialization is top-down: splitting a superclass into subclasses that inherit its attributes and add specific ones (EMPLOYEE → ENGINEER, SECRETARY). Generalization is bottom-up: combining similar entity types into a superclass (CAR, TRUCK → VEHICLE). Both create an is-a hierarchy with inheritance; they are inverse directions of one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superclass / subclass  ·  specialization (top-down)  ·  generalization (bottom-up)  ·  is-a  ·  inheritance  ·  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Is-a hierarchies — and the direction of thinking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6304"/>
                <a:gridCol w="2981739"/>
                <a:gridCol w="3727173"/>
                <a:gridCol w="2484782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Superclass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Subclasses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Specific attribute each adds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 (bank)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SAVINGS, CURRENT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interest_rate / overdraft_limit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specialization (top-down)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ENGINEER, SECRETARY, TECHNICIAN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licence_no / typing_speed / skill_grade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specialization (top-down)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CUSTOMER, SELLER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default_address / store_name, PAN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specialization (top-down)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(Nagarik App)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CITIZEN, GOVT_EMPLOYEE, BUSINESS_OWNER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citizenship_no / office_id / PAN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specialization (top-down)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PERSON (college)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STUDENT, STAFF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roll_no / staff_id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specialization (top-down)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VEHICLE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CAR, TRUCK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seat_count / load_capacity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generalization (bottom-up)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PAYMENT (eSewa)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WALLET_PAY, BANK_PAY, CARD_PAY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wallet_id / bank_ref / card_no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generalization (bottom-up)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Specialization splits a superclass down; generalization combines similar entities up. Both produce an is-a hierarchy with attribute inheritance — inverse directions of one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Constraints: Disjoint/Overlap × Total/Partial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Two independent constraints govern a specialization: disjointness (how many subclasses an entity can join) and completeness (whether it must join one). Together they give four combinations.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Disjoint (d): an entity is in at most ONE subclass (ACCOUNT is SAVINGS or CURRENT, not both).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Overlap (o): an entity may be in SEVERAL subclasses (a PERSON can be STUDENT and STAFF).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Total (double line): every superclass member MUST be in some subclass.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Partial: a member may be in none. → four combos: d/o × total/partial.</a:t>
            </a:r>
          </a:p>
        </p:txBody>
      </p:sp>
      <p:pic>
        <p:nvPicPr>
          <p:cNvPr id="6" name="Picture 5" descr="s11_constraints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392193"/>
            <a:ext cx="5532120" cy="28508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d/o = how many subclasses; total/partial = must you join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Constraints: Disjoint/Overlap × Total/Partial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Bank ACCOUNT → SAVINGS/CURRENT is disjoint, total (exactly one type; every account has one). College PERSON → STUDENT/STAFF is overlap, partial (a TA is both; a visitor is neither).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"Subclasses are always mutually exclusive." Not so — overlap is allowed and common (a teaching assistant is both student and staff). Choose disjoint vs overlap from the real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Two constraints. Disjointness: disjoint (d) — an entity is in at most one subclass; overlap (o) — it may be in several. Completeness: total — every superclass entity must be in some subclass (double line); partial — some need not be. They are independent → four combinations, e.g. ACCOUNT→SAVINGS/CURRENT is disjoint-total.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disjoint (d)  ·  overlap (o)  ·  total (double line)  ·  partial  ·  completeness vs disjointness  ·  four 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 example per constraint combination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/>
                <a:gridCol w="2159000"/>
                <a:gridCol w="2032000"/>
                <a:gridCol w="3429000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Specialization example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Disjoint or Overlap?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Total or Partial?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Bank ACCOUNT → SAVINGS / CURRENT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Disjoint (d)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type only; every account has one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 → PERMANENT / CONTRACT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Disjoint (d)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exactly one; every employee is one of them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VEHICLE → CAR / TRUCK / BIKE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Disjoint (d)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vehicle is exactly one kind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College PERSON → STUDENT / STAFF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Overlap (o)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TA is both; a visitor is neither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Daraz USER → CUSTOMER / SELLER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Overlap (o)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 both buy &amp; sell; a new user may be neither yet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Nagarik USER → CITIZEN / GOVT_EMP / BUSINESS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Overlap (o)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govt employee is also a citizen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Hospital PERSON → PATIENT / DOCTOR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Overlap (o)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doctor can also be a patient; a visitor neither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 → SAVINGS / CURRENT / LOAN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Disjoint (d)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Partial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type, but some accounts fit none of these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Disjoint/overlap = how many subclasses an entity may join; total/partial = whether it must join one. The two are independent → four combinations.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 Inheritance &amp; Specific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subclass inherits all attributes (and relationships) of its superclass, and then adds its own specific (local) attributes. This is why factoring shared attributes up into a superclass avoids repetition.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SAVINGS inherits ACCOUNT's acc_no, holder, balance — and adds interest_rate.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CURRENT inherits the same — and adds overdraft_limit.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Inheritance flows through relationships too: if ACCOUNT relates to CUSTOMER, every subclass does.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Shared fields live once, in the superclass.</a:t>
            </a:r>
          </a:p>
        </p:txBody>
      </p:sp>
      <p:pic>
        <p:nvPicPr>
          <p:cNvPr id="6" name="Picture 5" descr="s11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44902"/>
            <a:ext cx="5532120" cy="27454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Inherit the shared, add the specific.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Attribute Inheritance &amp; Specific Attributes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In an HR system every EMPLOYEE has id, name, salary (superclass); an ENGINEER additionally has a licence number, a SECRETARY a typing speed — specific attributes layered on top of the inherited 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Repeating the shared columns in every subclass table is the smell that you skipped generalization — factor the common attributes up into the superclass instead.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subclass automatically receives all attributes and relationships of its superclass (inheritance) and adds its own specific attributes. E.g. SAVINGS and CURRENT inherit ACCOUNT's acc_no/holder/balance; SAVINGS adds interest_rate, CURRENT adds overdraft_limit.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attribute inheritance  ·  specific / local attribute  ·  inherited relationships  ·  factoring shared attributes upward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S11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Inherit the shared, add the specific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7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666"/>
                <a:gridCol w="2257777"/>
                <a:gridCol w="3668888"/>
                <a:gridCol w="3386666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Superclass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Subclass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Inherits (shared attributes)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Adds (specific attribute)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SAVINGS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acc_no, holder, balance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interest_rate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CURRENT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acc_no, holder, balance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overdraft_limit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ENGINEER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id, name, salary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engineering licence_no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SECRETARY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id, name, salary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typing_speed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(Daraz)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user_id, name, phone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default_address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SELLER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user_id, name, phone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store_name, PAN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VEHICLE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vehicle_id, brand, price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seat_count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VEHICLE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TRUCK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vehicle_id, brand, price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load_capacity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Shared attributes (and relationships) live once in the superclass and are inherited by every subclass; each subclass adds only its own local attributes.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  ·  THINK–PAIR–SHARE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Classify the specialization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In pairs (3 min): for a platform USER → CUSTOMER and SELLER…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Decide the disjoint/overlap constraint and the total/partial constraint.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List one specific attribute for each subclass.</a:t>
            </a:r>
          </a:p>
          <a:p>
            <a:pPr>
              <a:spcAft>
                <a:spcPts val="700"/>
              </a:spcAft>
            </a:pPr>
            <a:r>
              <a:rPr sz="1550">
                <a:solidFill>
                  <a:srgbClr val="1A1A1A"/>
                </a:solidFill>
              </a:rPr>
              <a:t>•  Share (2 min).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Expected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Overlap (an account can both buy and sell) and partial (a brand-new user may be neither yet). CUSTOMER: default_address; SELLER: store_name, PAN. So it's an overlap, partial specialization.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S11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'Every employee must be permanent or contract' is a ___ constraint: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overlap   b) disjoint   c) ✅ total   d) partial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A subclass receives the superclass's attributes via: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inheritance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on Daraz, USER → CUSTOMER and SELLER — disjoint or overlap? total or partial? Justify.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S11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Specialization (down) and generalization (up) are inverses sharing 'is-a' and inheritance.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Disjoint vs overlap controls multi-subclass membership; total vs partial controls mandatory membership — four combinations.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Subclasses inherit shared attributes and add their own specific 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Banking (account types), HR (employee types), and e-commerce (user roles) all rely on specialization; choosing disjoint/total correctly prevents impossible records (an account of both types) and missing ones (a member in no subclass).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S12 — turning all of these ER constructs into real relational 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12 · UNIT 2 (CLOSES THE UNIT)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Converting ER Diagrams to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We've drawn beautiful diagrams. But MySQL doesn't understand diamonds and ovals — it understands tables. How do we translate?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1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7-Step Mapping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 mechanical algorithm converts any ER diagram into relational tables. Learn the seven cases and mapping becomes routine.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1 Strong entity → table + simple attributes; pick a primary key.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2 Weak entity → table incl. owner's PK (owner PK + partial key).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3 1:1 → FK on one side (prefer the total side).   4 1:N → FK on the N (many) side.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5 M:N → NEW junction table with both PKs.   6 Multivalued attr → separate table.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7 n-ary → table with keys of ALL participants.  Composite → flatten; derived → not stored.</a:t>
            </a:r>
          </a:p>
        </p:txBody>
      </p:sp>
      <p:pic>
        <p:nvPicPr>
          <p:cNvPr id="6" name="Picture 5" descr="s12_mapping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26359"/>
            <a:ext cx="5532120" cy="33825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FK on the N side; junction for M:N; separate table for multivalued/weak.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1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7-Step Mapping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This is exactly the step every developer does between an approved ER design and the first CREATE TABLE (Unit 5) — turning a diagram into a running schema, one construct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Mapping by intuition instead of the algorithm is where schemas go wrong. Apply the seven cases mechanically and the tables fall out correctly every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(1) strong entity → table + PK; (2) weak entity → table with owner PK + partial key; (3) 1:1 → FK on one (total) side; (4) 1:N → FK on the N side; (5) M:N → junction table with both PKs; (6) multivalued attribute → separate table; (7) n-ary → table with all participants' keys. Composite attributes flatten; derived attributes are not stored.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mapping algorithm  ·  foreign key  ·  junction table  ·  composite → flatten  ·  derived → omit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1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Each ER construct → its relational result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4625"/>
                <a:gridCol w="3714750"/>
                <a:gridCol w="5000625"/>
              </a:tblGrid>
              <a:tr h="49072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ER construct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Maps to…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Worked example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Strong entity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table + primary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→ STUDENT(roll_no PK, name)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Weak entity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table with owner PK + partial key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DEPENDENT → DEPENDENT(emp_id FK, dep_name); PK=(emp_id, dep_name)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1:1 relationship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FK on one (total) side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EMPLOYEE—HEADS—DEPARTMENT → head_id in DEPARTMENT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1:N relationship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FK on the N (many) side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DEPARTMENT 1:N EMPLOYEE → dept_id in EMPLOYEE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M:N relationship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new junction table (both PKs)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M:N COURSE → ENROLLS(roll_no, course_id)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Multivalued attribute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separate table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student phones → STUDENT_PHONE(roll_no, phone)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n-ary relationship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table with all participants' keys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SUPPLIES(supplier_id, part_id, project_id)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4907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Composite / derived attr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flatten into columns / not stored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address → street, city; age is computed, never stored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algorithm is mechanical: learn the seven cases (plus composite→flatten, derived→omit) and any ER diagram converts to tables the same way every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2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Mapping 1:N — Foreign Key on the N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For a 1:N relationship the foreign key goes on the MANY side — each 'many' row points to its one partner. Putting it on the 'one' side would need a multi-valued column.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DEPARTMENT (1) — has — EMPLOYEE (N)  →  EMPLOYEE gets a dept_id foreign key.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Tables: DEPARTMENT(dept_id PK, name) and EMPLOYEE(emp_id PK, name, dept_id FK).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FK on the '1' side would force one row to hold many ids in one column.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That breaks atomicity / first normal form (Unit 4).</a:t>
            </a:r>
          </a:p>
        </p:txBody>
      </p:sp>
      <p:pic>
        <p:nvPicPr>
          <p:cNvPr id="6" name="Picture 5" descr="s12_1n_f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550319"/>
            <a:ext cx="5532120" cy="253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1:N → FK on the many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2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Mapping 1:N — Foreign Key on the N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On Daraz, CUSTOMER (1) — places — ORDER (N): the ORDER table carries a customer_id foreign key; you never store a list of order-ids inside CUSTOMER.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"Put the FK on the 1 side." Then the one row must hold many foreign values in a single column — non-atomic, breaks 1NF, and makes queries and updates unreliable. FK always goes on the N 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In a 1:N relationship the foreign key goes on the N (many) side, because each many-side row relates to exactly one entity on the one side, so a single FK column suffices. Placing it on the one side would require a multi-valued (non-atomic) column.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1:N mapping  ·  foreign key placement  ·  N-side FK  ·  atomic column (1NF preview)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2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Where the foreign key lives in a 1:N relationship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30000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9000"/>
                <a:gridCol w="2159000"/>
                <a:gridCol w="3048000"/>
                <a:gridCol w="2794000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1:N relationship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One side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Many (N) side — gets the FK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Resulting FK column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DEPARTMENT — has — 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DEPARTMENT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EMPLOYEE.dept_id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CUSTOMER — places — ORDER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CUSTOMER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ORDER.customer_id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DEPARTMENT — offers —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DEPARTMENT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COURSE.dept_id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— makes — TRANSACTION (eSewa)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USER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TRANSACTION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TRANSACTION.user_id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CITY — has — BRANCH (bank)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CITY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BRANCH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BRANCH.city_id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RESTAURANT — has — DISH (Foodmandu)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RESTAURANT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DISH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DISH.restaurant_id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PUBLISHER — prints — BOOK (library)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PUBLISHER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BOOK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BOOK.publisher_id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The FK always goes on the N side, because each many-side row relates to exactly one partner — one FK column suffices. On the '1' side it would need a non-atomic multi-valued column (breaks 1NF).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3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Mapping M:N — the Junction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566928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An M:N relationship cannot be a single foreign key on either side. It maps to a NEW junction table whose rows are pairs of the two entities' primary keys.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The pair of keys is the junction table's composite primary key (each half is a FK).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STUDENT (M) — ENROLLS — COURSE (N)  →  ENROLLS(roll_no FK, course_id FK).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Any attributes of the relationship (date, grade) go INSIDE the junction table.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One row per (student, course) pair.</a:t>
            </a:r>
          </a:p>
        </p:txBody>
      </p:sp>
      <p:pic>
        <p:nvPicPr>
          <p:cNvPr id="6" name="Picture 5" descr="s12_ju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497611"/>
            <a:ext cx="5532120" cy="264001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M:N → a junction table of paired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3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Mapping M:N — the Junction 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Daraz ORDER (M) — contains — PRODUCT (N) becomes an ORDER_ITEM(order_id FK, product_id FK, quantity, price) junction table — one row per product in an order, with per-item data held right there.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"Store M:N as a comma-separated list of ids in a column." Then you can't query/aggregate one product cleanly and can't attach per-item data like quantity. The junction table solves both.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An M:N relationship maps to a new junction table whose composite primary key is the two participating entities' primary keys (each a foreign key); any attributes of the relationship become columns of the junction table (e.g. ENROLLS date/grade). Example: STUDENT–COURSE → ENROLLS(roll_no, course_id).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junction / relationship table  ·  composite primary key  ·  relationship attributes → junction  ·  one row per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3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Every M:N relationship becomes a junction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7159"/>
                <a:gridCol w="2078181"/>
                <a:gridCol w="2987386"/>
                <a:gridCol w="3117272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M:N relationship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Junction table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Composite PK (both FKs)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Relationship attributes inside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— ENROLLS — COURSE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ENROLLS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(roll_no, course_id)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grade, semester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ORDER — contains — PRODUCT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ORDER_ITEM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(order_id, product_id)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quantity, price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MEMBER — borrows — BOOK (library)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BORROWS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(member_id, book_id)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borrow_date, due_date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DOCTOR — treats — PATIENT (hospital)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TREATS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(doctor_id, patient_id)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visit_date, notes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STUDENT — joins — CLUB (college)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MEMBERSHIP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(roll_no, club_id)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join_date, role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USER — follows — SHOP (Daraz)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FOLLOWS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(user_id, shop_id)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followed_on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ACCOUNT — signs — SCHEME (bank)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SUBSCRIPTION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(acc_no, scheme_id)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start_date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One row per pair; the two PKs together form the composite primary key (each half a FK). Any attribute of the relationship (grade, quantity, date) lives in the junction table — never in either entity.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4 · [THEORY]  · 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Common Mapping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C2B4A"/>
                </a:solidFill>
              </a:rPr>
              <a:t>Three recurring errors turn a clean design into a buggy schema. Knowing them is half of getting mapping right.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85FA5"/>
                </a:solidFill>
              </a:rPr>
              <a:t>HOW IT WORKS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(a) Storing an M:N as a 'list of ids in a column' instead of a junction table — non-atomic, unqueryable.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(b) Putting the 1:N foreign key on the '1' side instead of the N side.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(c) Storing derived attributes (age, order total) instead of computing them — they drift out of date.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</a:rPr>
              <a:t>•  Mapping specialization: options are one-table-per-subclass or a single table with a type field (detail in Unit 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364224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</a:rPr>
              <a:t>🧠  Memory hook:  No lists in a column; FK on the N side; never store derived.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4 · [THEORY]  · 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Common Mapping Mistakes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10972800" cy="1353312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🌍  Real example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 slow, buggy reporting screen is often traced back to one of these three mapping mistakes made months earlier — a list-in-a-column M:N, a misplaced FK, or a stored derived total that no longer matches its parts.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80944"/>
            <a:ext cx="10972800" cy="1188720"/>
          </a:xfrm>
          <a:prstGeom prst="roundRect">
            <a:avLst/>
          </a:prstGeom>
          <a:solidFill>
            <a:srgbClr val="FAECE7"/>
          </a:solidFill>
          <a:ln w="1270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993C1D"/>
                </a:solidFill>
              </a:rPr>
              <a:t>⚠️  Common trap — and the fix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All three feel convenient at the keyboard and cost dearly later. Follow the algorithm: junction table for M:N, FK on the N side, and omit derived attributes.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72800" cy="1755648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🎯  Exam-ready answer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A1A"/>
                </a:solidFill>
              </a:rPr>
              <a:t>Common mistakes: (1) M:N stored as a multi-valued column instead of a junction table; (2) 1:N foreign key placed on the one side instead of the N side; (3) storing derived attributes rather than computing them. Correct: junction table for M:N, FK on the N side, omit derived attributes.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6144768"/>
            <a:ext cx="10972800" cy="54864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🔑  Key terms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A1A1A"/>
                </a:solidFill>
              </a:rPr>
              <a:t>non-atomic column  ·  FK-placement error  ·  storing-derived error  ·  subclass mapping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S12 · CONCEPT 4 ·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The recurring mistakes — and their fixes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572768"/>
          <a:ext cx="11429998" cy="4416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1739"/>
                <a:gridCol w="2733260"/>
                <a:gridCol w="2609021"/>
                <a:gridCol w="3105978"/>
              </a:tblGrid>
              <a:tr h="552069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Why it's wrong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Correct fix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Symptom months later</a:t>
                      </a:r>
                    </a:p>
                  </a:txBody>
                  <a:tcPr anchor="ctr" marL="73152" marR="54864" marT="27432" marB="27432">
                    <a:solidFill>
                      <a:srgbClr val="0C2B4A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M:N as a comma-list of ids in a column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non-atomic, breaks 1NF, unqueryable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junction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aggregate one product; slow, buggy reports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1:N foreign key on the '1' side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one row must hold many ids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FK on the N (many) side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multi-valued column; unreliable updates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Storing a derived value (age, order total)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it drifts out of date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compute it on read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totals no longer match the line items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Multivalued attr kept as one field ('phones')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non-atomic value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 separate table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search or index one phone number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Weak entity without the owner's PK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rows aren't uniquely identifiable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owner PK + partial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duplicate or orphan rows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Composite attr kept as one field ('address')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components can't be queried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flatten into street, city, …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can't filter customers by city</a:t>
                      </a:r>
                    </a:p>
                  </a:txBody>
                  <a:tcPr anchor="ctr" marL="73152" marR="54864" marT="27432" marB="27432">
                    <a:solidFill>
                      <a:srgbClr val="EEF3F8"/>
                    </a:solidFill>
                  </a:tcPr>
                </a:tc>
              </a:tr>
              <a:tr h="552069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C2B4A"/>
                          </a:solidFill>
                        </a:rPr>
                        <a:t>No primary key chosen for a table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duplicate rows allowed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always pick a primary key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</a:rPr>
                        <a:t>data integrity silently lost</a:t>
                      </a:r>
                    </a:p>
                  </a:txBody>
                  <a:tcPr anchor="ctr"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4048" y="60533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i="1">
                <a:solidFill>
                  <a:srgbClr val="55606B"/>
                </a:solidFill>
              </a:rPr>
              <a:t>ℹ️  All feel convenient at the keyboard and cost dearly later. Follow the algorithm: junction table for M:N, FK on the N side, omit derived data, separate table for multivalued/weak.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S12 · CAPSTONE SOLVED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Map a college ER diagram to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0972800" cy="914400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854F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854F0B"/>
                </a:solidFill>
              </a:rPr>
              <a:t>📋  Problem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Map a college ER: STUDENT and COURSE (M:N ENROLLS, with a grade), DEPARTMENT (1:N with STUDENT), and a student's multiple phone numbers. Write every table with its primary and foreign keys.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87168"/>
            <a:ext cx="106984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1.  </a:t>
            </a:r>
            <a:r>
              <a:rPr sz="1250">
                <a:solidFill>
                  <a:srgbClr val="1A1A1A"/>
                </a:solidFill>
              </a:rPr>
              <a:t>Strong entities → their own tables: DEPARTMENT(dept_id PK, name); COURSE(course_id PK, title, credits).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2.  </a:t>
            </a:r>
            <a:r>
              <a:rPr sz="1250">
                <a:solidFill>
                  <a:srgbClr val="1A1A1A"/>
                </a:solidFill>
              </a:rPr>
              <a:t>1:N DEPARTMENT–STUDENT → FK on the N side: STUDENT(roll_no PK, name, dept_id FK).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3.  </a:t>
            </a:r>
            <a:r>
              <a:rPr sz="1250">
                <a:solidFill>
                  <a:srgbClr val="1A1A1A"/>
                </a:solidFill>
              </a:rPr>
              <a:t>M:N STUDENT–COURSE → new junction table with both PKs: ENROLLS(roll_no FK, course_id FK).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4.  </a:t>
            </a:r>
            <a:r>
              <a:rPr sz="1250">
                <a:solidFill>
                  <a:srgbClr val="1A1A1A"/>
                </a:solidFill>
              </a:rPr>
              <a:t>Relationship attribute 'grade' lives INSIDE the junction: ENROLLS(roll_no, course_id, grade), PK = (roll_no, course_id).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854F0B"/>
                </a:solidFill>
              </a:rPr>
              <a:t>Step 5.  </a:t>
            </a:r>
            <a:r>
              <a:rPr sz="1250">
                <a:solidFill>
                  <a:srgbClr val="1A1A1A"/>
                </a:solidFill>
              </a:rPr>
              <a:t>Multivalued 'phone' → its own table: STUDENT_PHONE(roll_no FK, phone), PK = (roll_no, phone).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30368"/>
            <a:ext cx="10972800" cy="137160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✅  Worked answer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A1A"/>
                </a:solidFill>
              </a:rPr>
              <a:t>Five tables: DEPARTMENT(dept_id, name) · STUDENT(roll_no, name, dept_id→DEPARTMENT) · COURSE(course_id, title, credits) · ENROLLS(roll_no, course_id, grade) with composite PK · STUDENT_PHONE(roll_no, phone). Every M:N became a junction, every 1:N a FK on the N side, the multivalued attribute its own table — derived data stored nowhere.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S12 — Quick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Q1.  An M:N relationship maps to: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a) a FK on either side   b) ✅ a new junction table   c) nothing   d) a derived attribute</a:t>
            </a:r>
          </a:p>
          <a:p>
            <a:pPr>
              <a:spcBef>
                <a:spcPts val="900"/>
              </a:spcBef>
            </a:pPr>
            <a:r>
              <a:rPr sz="1700" b="1">
                <a:solidFill>
                  <a:srgbClr val="0C2B4A"/>
                </a:solidFill>
              </a:rPr>
              <a:t>Q2.  In a 1:N relationship the foreign key is placed on the:</a:t>
            </a:r>
          </a:p>
          <a:p>
            <a:pPr lvl="1"/>
            <a:r>
              <a:rPr sz="1500" b="1">
                <a:solidFill>
                  <a:srgbClr val="0F6E56"/>
                </a:solidFill>
              </a:rPr>
              <a:t>✅ N (many) side</a:t>
            </a:r>
          </a:p>
          <a:p>
            <a:pPr lvl="1">
              <a:spcBef>
                <a:spcPts val="600"/>
              </a:spcBef>
            </a:pPr>
            <a:r>
              <a:rPr sz="1500" i="1">
                <a:solidFill>
                  <a:srgbClr val="1A1A1A"/>
                </a:solidFill>
              </a:rPr>
              <a:t>Discussion: take the eSewa USER–TRANSACTION model (S7) and write the tables (keys + FKs) it maps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C2B4A"/>
                </a:solidFill>
              </a:rPr>
              <a:t>S12 · SUMMARY  ·  [~2 MIN]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1.  A 7-step algorithm mechanically turns any ER diagram into relational tables.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2.  FK on the N side; a junction table for M:N; a separate table for multivalued attributes and weak entities.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1A"/>
                </a:solidFill>
              </a:rPr>
              <a:t>3.  Flatten composite attributes into components; never store derived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0520"/>
            <a:ext cx="10972800" cy="1234440"/>
          </a:xfrm>
          <a:prstGeom prst="roundRect">
            <a:avLst/>
          </a:prstGeom>
          <a:solidFill>
            <a:srgbClr val="E1F5EE"/>
          </a:solidFill>
          <a:ln w="1270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0F6E56"/>
                </a:solidFill>
              </a:rPr>
              <a:t>💡  Why this matters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This mapping is the exact bridge between design and CREATE TABLE (Unit 5) — the step every developer performs to turn an approved diagram into a running database in any Nepali tech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504688"/>
            <a:ext cx="10972800" cy="105156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➡️  Next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1A1A1A"/>
                </a:solidFill>
              </a:rPr>
              <a:t>Unit 3 — querying these tables formally with relational algebra and calculus.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2 · CHEAT SHEET (S9–S12)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One-page revision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Naming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Entities = singular nouns (STUDENT). Relationships = verbs (ENROLLS). Reads L→R as a sentence.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572768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Attribute vs entity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Own attributes/relationships → its own ENTITY (CATEGORY). Plain value → attribute (colour). Don't over-model.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Ternary (degree 3)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One diamond, three entities. ≠ three binaries when the combination matters. Own attributes → associative entity.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3072384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Specialization / generalization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Top-down split / bottom-up combine. 'is-a' + attribute inheritance (shared up, specific down).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Spec. constraints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Disjoint(d)/overlap(o) × total/partial = 4 combos. d,total: ACCOUNT→SAVINGS/CURRENT.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572000"/>
            <a:ext cx="5349240" cy="1417320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91440" bIns="73152"/>
          <a:lstStyle/>
          <a:p>
            <a:pPr algn="ctr"/>
            <a:r>
              <a:rPr sz="1250" b="1">
                <a:solidFill>
                  <a:srgbClr val="185FA5"/>
                </a:solidFill>
              </a:rPr>
              <a:t>ER → tables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1A"/>
                </a:solidFill>
              </a:rPr>
              <a:t>FK on the N side · M:N → junction table (both PKs) · multivalued/weak → own table · derived → not stored.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2 · GLOSSARY (S9–S12)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Key terms — quick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Notation legend — </a:t>
            </a:r>
            <a:r>
              <a:rPr sz="1150">
                <a:solidFill>
                  <a:srgbClr val="1A1A1A"/>
                </a:solidFill>
              </a:rPr>
              <a:t>the full Chen/EER symbol set for reading any diagram.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Naming convention — </a:t>
            </a:r>
            <a:r>
              <a:rPr sz="1150">
                <a:solidFill>
                  <a:srgbClr val="1A1A1A"/>
                </a:solidFill>
              </a:rPr>
              <a:t>entities = singular nouns; relationships = verbs.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Attribute-vs-entity — </a:t>
            </a:r>
            <a:r>
              <a:rPr sz="1150">
                <a:solidFill>
                  <a:srgbClr val="1A1A1A"/>
                </a:solidFill>
              </a:rPr>
              <a:t>model as entity only if it has its own attributes/relationships.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Associative entity — </a:t>
            </a:r>
            <a:r>
              <a:rPr sz="1150">
                <a:solidFill>
                  <a:srgbClr val="1A1A1A"/>
                </a:solidFill>
              </a:rPr>
              <a:t>a relationship promoted to a rectangle (has its own attributes).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Degree — </a:t>
            </a:r>
            <a:r>
              <a:rPr sz="1150">
                <a:solidFill>
                  <a:srgbClr val="1A1A1A"/>
                </a:solidFill>
              </a:rPr>
              <a:t>number of entity types in a relationship (binary/ternary/n-ary).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Ternary — </a:t>
            </a:r>
            <a:r>
              <a:rPr sz="1150">
                <a:solidFill>
                  <a:srgbClr val="1A1A1A"/>
                </a:solidFill>
              </a:rPr>
              <a:t>a relationship among three entity types.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Specialization — </a:t>
            </a:r>
            <a:r>
              <a:rPr sz="1150">
                <a:solidFill>
                  <a:srgbClr val="1A1A1A"/>
                </a:solidFill>
              </a:rPr>
              <a:t>top-down split of a superclass into subclasses.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Generalization — </a:t>
            </a:r>
            <a:r>
              <a:rPr sz="1150">
                <a:solidFill>
                  <a:srgbClr val="1A1A1A"/>
                </a:solidFill>
              </a:rPr>
              <a:t>bottom-up combining of entities into a superclass.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9632" y="1600200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Superclass / subclass — </a:t>
            </a:r>
            <a:r>
              <a:rPr sz="1150">
                <a:solidFill>
                  <a:srgbClr val="1A1A1A"/>
                </a:solidFill>
              </a:rPr>
              <a:t>the parent type and its 'is-a' children.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Disjoint (d) / overlap (o) — </a:t>
            </a:r>
            <a:r>
              <a:rPr sz="1150">
                <a:solidFill>
                  <a:srgbClr val="1A1A1A"/>
                </a:solidFill>
              </a:rPr>
              <a:t>subclass membership: at most one / possibly several.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Total / partial — </a:t>
            </a:r>
            <a:r>
              <a:rPr sz="1150">
                <a:solidFill>
                  <a:srgbClr val="1A1A1A"/>
                </a:solidFill>
              </a:rPr>
              <a:t>completeness: every member must join a subclass / need not.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Attribute inheritance — </a:t>
            </a:r>
            <a:r>
              <a:rPr sz="1150">
                <a:solidFill>
                  <a:srgbClr val="1A1A1A"/>
                </a:solidFill>
              </a:rPr>
              <a:t>subclass gets the superclass's attributes + relationships.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Mapping algorithm — </a:t>
            </a:r>
            <a:r>
              <a:rPr sz="1150">
                <a:solidFill>
                  <a:srgbClr val="1A1A1A"/>
                </a:solidFill>
              </a:rPr>
              <a:t>7-step ER→relational conversion.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Foreign key — </a:t>
            </a:r>
            <a:r>
              <a:rPr sz="1150">
                <a:solidFill>
                  <a:srgbClr val="1A1A1A"/>
                </a:solidFill>
              </a:rPr>
              <a:t>an attribute referencing another table's primary key.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Junction table — </a:t>
            </a:r>
            <a:r>
              <a:rPr sz="1150">
                <a:solidFill>
                  <a:srgbClr val="1A1A1A"/>
                </a:solidFill>
              </a:rPr>
              <a:t>the table an M:N relationship maps to (composite PK).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C2B4A"/>
                </a:solidFill>
              </a:rPr>
              <a:t>Composite PK — </a:t>
            </a:r>
            <a:r>
              <a:rPr sz="1150">
                <a:solidFill>
                  <a:srgbClr val="1A1A1A"/>
                </a:solidFill>
              </a:rPr>
              <a:t>a primary key made of more than one column.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UNIT 2 ·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Consolidated end-of-unit quiz (S5–S12)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03320"/>
            <a:ext cx="1280160" cy="82296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86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E8F1F9"/>
                </a:solidFill>
              </a:rPr>
              <a:t>🎣  Twelve MCQs across the whole unit, then short-answer, diagramming, and discussion questions. Answers to the MCQs are shown; work the rest from the concept slides and Unit2b_material.md.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 A — Multiple choice (answers shown)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250" b="1">
                <a:solidFill>
                  <a:srgbClr val="0F6E56"/>
                </a:solidFill>
              </a:rPr>
              <a:t>1.  ER model is used mainly at which phase?   →  ✅ conceptual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2.  All students enrolled today form a/an   →  ✅ entity set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3.  'Age' from date of birth is a/an   →  ✅ derived attribute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4.  Multiple saved phone numbers is a/an   →  ✅ multivalued attribute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5.  'One department, many employees' is   →  ✅ 1:N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6.  A double line to a relationship denotes   →  ✅ total participation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7.  A weak entity is one that   →  ✅ has no key of its own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8.  Full identifier of a weak entity =   →  ✅ owner's PK + partial key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9.  A relationship among three entity types is   →  ✅ ternary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10.  'Savings or current, never both' is   →  ✅ disjoint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11.  An M:N relationship maps to   →  ✅ a junction table</a:t>
            </a:r>
          </a:p>
          <a:p>
            <a:pPr lvl="1"/>
            <a:r>
              <a:rPr sz="1250" b="1">
                <a:solidFill>
                  <a:srgbClr val="0F6E56"/>
                </a:solidFill>
              </a:rPr>
              <a:t>12.  In a 1:N the FK goes on the   →  ✅ N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0C2B4A"/>
                </a:solidFill>
              </a:rPr>
              <a:t>Parts B–D — short answer, diagramming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B — Short answer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1. Entity type vs entity set (one example each).   2. The four attribute types with a Nepali example each.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3. Cardinality ratio vs participation — how do they differ?   4. Why does a weak entity need an identifying relationship + partial key?   5. Disjoint vs overlap.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C — Diagramming / applied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1. ER for a college library (MEMBER, BOOK, BORROWS+date, COPIES weak) — mark keys, partial key, cardinality, participation.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2. Map a Daraz fragment (CUSTOMER 1:N ORDER, ORDER M:N PRODUCT, multiple ADDRESSES) to tables with PKs and FKs.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3. Model a banking USER specialization (CUSTOMER, EMPLOYEE) — justify d/o and total/partial; list specific attributes.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0C2B4A"/>
                </a:solidFill>
              </a:rPr>
              <a:t>Part D — Discussion</a:t>
            </a:r>
          </a:p>
          <a:p>
            <a:pPr lvl="1">
              <a:spcBef>
                <a:spcPts val="200"/>
              </a:spcBef>
            </a:pPr>
            <a:r>
              <a:rPr sz="1250" i="1">
                <a:solidFill>
                  <a:srgbClr val="1A1A1A"/>
                </a:solidFill>
              </a:rPr>
              <a:t>1. Food-delivery fact as three binaries — what is lost, and when is a ternary right?   2. Daraz 'category' — attribute or entity? Argue both sides.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06B"/>
                </a:solidFill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End of Unit 2  ·  IT 220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FDDEA"/>
                </a:solidFill>
              </a:rPr>
              <a:t>S5–S12 complete: conceptual models → ER building blocks → relationships → weak entities → ER diagrams → ternary → specialization → ER-to-tables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Built to COURSE_MATERIAL_STANDARD.md · self-contained slides · exports cleanly to PDF · Next unit (Unit 3): Relational Algebra &amp; Relational Calculus.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2743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8F0F7"/>
                </a:solidFill>
              </a:rPr>
              <a:t>62 /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