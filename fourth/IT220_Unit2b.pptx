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OPENING HOOK [~5 min]. Agenda: notation legend → naming conventions → attribute-vs-entity design decisions.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~10 min. This is the alphabet of ER — keep it visible while reading later diagrams.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~12 min. Contrast REL1 vs TEACHES — which can a registrar verify?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~13 min. Decision flowchart: does 'X' have its own attributes/relationships?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ACTIVITY [~5 min].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[~5 min].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REAL-LIFE APPLICATION [~3 min] + SUMMARY [~2 min].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OPENING HOOK [~5 min]. Agenda: degree revisited / ternary → ternary ≠ 3 binaries → associative entities.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~10 min. Draw one diamond connected to three rectangles.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~13 min. Walk the supplier/part/project counter-example slowly.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~12 min. Foodmandu DELIVERY linking CUSTOMER, RESTAURANT, RIDER.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ACTIVITY [~5 min].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[~5 min].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REAL-LIFE APPLICATION [~3 min] + SUMMARY [~2 min].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OPENING HOOK [~5 min]. Agenda: specialization/generalization → the constraints (d/o × total/partial) → attribute inheritance.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~12 min. Draw superclass, a circle, subset lines to subclasses.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~13 min. Walk the 2×2 with one example per cell.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~10 min. Superclass ACCOUNT with shared attrs; subclasses add local attrs.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ACTIVITY [~5 min].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[~5 min].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REAL-LIFE APPLICATION [~3 min] + SUMMARY [~2 min].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OPENING HOOK [~5 min]. Agenda: the 7-step algorithm → 1:N (FK) → M:N (junction) → common mistakes → capstone mapping.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~11 min. Keep the 7-row table on screen for the rest of the session.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~9 min. Draw the two tables; point at where dept_id lives.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~9 min. Show STUDENT, COURSE, and the ENROLLS junction 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~6 min. These three mistakes cause most 'why is the report wrong/slow' bugs.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Pause and let students attempt each step before revealing. This is the single most exam-tested S12 skill.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[~5 min].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REAL-LIFE APPLICATION [~3 min] + SUMMARY [~2 min].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 for revision/assessment after S12.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Consolidated quiz Part 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Consolidated quiz Parts B–D. Model answers live in the concept slides and Unit2b_material.md.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9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0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6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2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24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25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2B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2788920"/>
            <a:ext cx="1463040" cy="91440"/>
          </a:xfrm>
          <a:prstGeom prst="rect">
            <a:avLst/>
          </a:prstGeom>
          <a:solidFill>
            <a:srgbClr val="854F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</a:rPr>
              <a:t>Unit 2 — Data Modelling (ER Model)  ·  S9–S12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97180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CFDDEA"/>
                </a:solidFill>
              </a:rPr>
              <a:t>IT 220: Database Management System  ·  BIM 4th Semester  ·  Chen / EER notation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94360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9AB2C6"/>
                </a:solidFill>
              </a:rPr>
              <a:t>Sessions S9–S12 — closes Unit 2  ·  50 min each  ·  Nepal / South Asia context  ·  Self-contained slides: every concept is complete on the slide face — exports to PDF with no information lost.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2743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E8F0F7"/>
                </a:solidFill>
              </a:rPr>
              <a:t>1 / 50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85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85FA5"/>
                </a:solidFill>
              </a:rPr>
              <a:t>OVERVIEW  ·  S9–S12 BATCH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03504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0C2B4A"/>
                </a:solidFill>
              </a:rPr>
              <a:t>Unit 2 — Outcomes for this batch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72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0C2B4A"/>
                </a:solidFill>
              </a:rPr>
              <a:t>By the end of S9–S12, you will be able to:</a:t>
            </a:r>
          </a:p>
          <a:p>
            <a:pPr>
              <a:spcAft>
                <a:spcPts val="500"/>
              </a:spcAft>
            </a:pPr>
            <a:r>
              <a:rPr sz="1450">
                <a:solidFill>
                  <a:srgbClr val="1A1A1A"/>
                </a:solidFill>
              </a:rPr>
              <a:t>•  Draw clean, correctly-named ER diagrams and avoid common design pitfalls (S9)</a:t>
            </a:r>
          </a:p>
          <a:p>
            <a:pPr>
              <a:spcAft>
                <a:spcPts val="500"/>
              </a:spcAft>
            </a:pPr>
            <a:r>
              <a:rPr sz="1450">
                <a:solidFill>
                  <a:srgbClr val="1A1A1A"/>
                </a:solidFill>
              </a:rPr>
              <a:t>•  Handle relationships of degree higher than two — ternary and beyond (S10)</a:t>
            </a:r>
          </a:p>
          <a:p>
            <a:pPr>
              <a:spcAft>
                <a:spcPts val="500"/>
              </a:spcAft>
            </a:pPr>
            <a:r>
              <a:rPr sz="1450">
                <a:solidFill>
                  <a:srgbClr val="1A1A1A"/>
                </a:solidFill>
              </a:rPr>
              <a:t>•  Apply specialization/generalization with disjoint/overlap and total/partial constraints (S11)</a:t>
            </a:r>
          </a:p>
          <a:p>
            <a:pPr>
              <a:spcAft>
                <a:spcPts val="500"/>
              </a:spcAft>
            </a:pPr>
            <a:r>
              <a:rPr sz="1450">
                <a:solidFill>
                  <a:srgbClr val="1A1A1A"/>
                </a:solidFill>
              </a:rPr>
              <a:t>•  Convert (map) a complete ER diagram into relational tables using the standard algorithm (S12)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06440"/>
            <a:ext cx="10972800" cy="777240"/>
          </a:xfrm>
          <a:prstGeom prst="roundRect">
            <a:avLst/>
          </a:prstGeom>
          <a:solidFill>
            <a:srgbClr val="E6F1FB"/>
          </a:solidFill>
          <a:ln w="12700">
            <a:solidFill>
              <a:srgbClr val="185F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185FA5"/>
                </a:solidFill>
              </a:rPr>
              <a:t>↩️ Builds on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A1A1A"/>
                </a:solidFill>
              </a:rPr>
              <a:t>This batch assumes S5–S8: conceptual models, entities/attributes/keys, relationships &amp; constraints, and weak entities.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2743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606B"/>
                </a:solidFill>
              </a:rPr>
              <a:t>2 / 50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85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85FA5"/>
                </a:solidFill>
              </a:rPr>
              <a:t>UNIT 2 — 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03504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0C2B4A"/>
                </a:solidFill>
              </a:rPr>
              <a:t>Where each session fits (S5–S12)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45920"/>
            <a:ext cx="5349240" cy="4160520"/>
          </a:xfrm>
          <a:prstGeom prst="roundRect">
            <a:avLst/>
          </a:prstGeom>
          <a:solidFill>
            <a:srgbClr val="E1F5EE"/>
          </a:solidFill>
          <a:ln w="12700">
            <a:solidFill>
              <a:srgbClr val="0F6E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0F6E56"/>
                </a:solidFill>
              </a:rPr>
              <a:t>✅  THIS BATCH  ·  S9–S12</a:t>
            </a:r>
          </a:p>
          <a:p>
            <a:pPr>
              <a:spcBef>
                <a:spcPts val="300"/>
              </a:spcBef>
            </a:pPr>
            <a:r>
              <a:rPr sz="1400">
                <a:solidFill>
                  <a:srgbClr val="1A1A1A"/>
                </a:solidFill>
              </a:rPr>
              <a:t>S9    Full ER diagrams · naming · design pitfalls
S10  Higher-degree (ternary) relationships
S11  Specialization &amp; generalization
S12  Mapping ER → relational tables  (closes Unit 2)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99632" y="1645920"/>
            <a:ext cx="5349240" cy="4160520"/>
          </a:xfrm>
          <a:prstGeom prst="roundRect">
            <a:avLst/>
          </a:prstGeom>
          <a:solidFill>
            <a:srgbClr val="F2F5F8"/>
          </a:solidFill>
          <a:ln w="12700">
            <a:solidFill>
              <a:srgbClr val="5560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55606B"/>
                </a:solidFill>
              </a:rPr>
              <a:t>✔️  ALREADY COVERED  ·  S5–S8</a:t>
            </a:r>
          </a:p>
          <a:p>
            <a:pPr>
              <a:spcBef>
                <a:spcPts val="300"/>
              </a:spcBef>
            </a:pPr>
            <a:r>
              <a:rPr sz="1400">
                <a:solidFill>
                  <a:srgbClr val="1A1A1A"/>
                </a:solidFill>
              </a:rPr>
              <a:t>S5   Conceptual models &amp; the design process
S6   Entity types/sets, attributes, keys
S7   Relationships, roles, cardinality, participation
S8   Weak entities, identifying rel., partial key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2743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606B"/>
                </a:solidFill>
              </a:rPr>
              <a:t>3 / 50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5FA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737360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BFDCF2"/>
                </a:solidFill>
              </a:rPr>
              <a:t>SESSION 9 · UNIT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28600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100" b="1">
                <a:solidFill>
                  <a:srgbClr val="FFFFFF"/>
                </a:solidFill>
              </a:rPr>
              <a:t>ER Diagrams, Naming Conventions &amp; Design Issues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3703320"/>
            <a:ext cx="1280160" cy="82296"/>
          </a:xfrm>
          <a:prstGeom prst="rect">
            <a:avLst/>
          </a:prstGeom>
          <a:solidFill>
            <a:srgbClr val="854F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886200"/>
            <a:ext cx="105156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i="1">
                <a:solidFill>
                  <a:srgbClr val="E8F1F9"/>
                </a:solidFill>
              </a:rPr>
              <a:t>🎣  Here are two ER diagrams of the same college system — one is clear, one is a spaghetti mess. What makes the difference? Conventions and good design choices, not just correct symbols.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2743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E8F0F7"/>
                </a:solidFill>
              </a:rPr>
              <a:t>4 / 50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85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85FA5"/>
                </a:solidFill>
              </a:rPr>
              <a:t>S9 · CONCEPT 1 · [THEORY]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03504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0C2B4A"/>
                </a:solidFill>
              </a:rPr>
              <a:t>ER Notation — one consolidated legend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81328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55606B"/>
                </a:solidFill>
              </a:rPr>
              <a:t>The complete Chen/EER symbol set from S5–S8 in one place. Read any diagram by naming each shape aloud — the habit that catches most errors before they reach the tables.</a:t>
            </a:r>
          </a:p>
        </p:txBody>
      </p:sp>
      <p:pic>
        <p:nvPicPr>
          <p:cNvPr id="6" name="Picture 5" descr="s9_lege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7620" y="2194560"/>
            <a:ext cx="6616454" cy="42976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292840" y="2743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606B"/>
                </a:solidFill>
              </a:rPr>
              <a:t>5 / 50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85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85FA5"/>
                </a:solidFill>
              </a:rPr>
              <a:t>S9 · CONCEPT 2 · [THEORY]  ·  UNDERSTAND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03504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0C2B4A"/>
                </a:solidFill>
              </a:rPr>
              <a:t>Naming Conventions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5669280" cy="4617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1">
                <a:solidFill>
                  <a:srgbClr val="0C2B4A"/>
                </a:solidFill>
              </a:rPr>
              <a:t>Good names make a diagram self-explanatory: entity types are singular nouns, relationships are verbs, so a fragment reads left-to-right as a sentence.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185FA5"/>
                </a:solidFill>
              </a:rPr>
              <a:t>HOW IT WORKS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1A"/>
                </a:solidFill>
              </a:rPr>
              <a:t>•  Entity types = singular nouns (STUDENT, not STUDENTS) — a rectangle is the type, one specimen of the kind.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1A"/>
                </a:solidFill>
              </a:rPr>
              <a:t>•  Relationships = verbs (ENROLLS, TEACHES): STUDENT — ENROLLS — COURSE reads as a sentence.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1A"/>
                </a:solidFill>
              </a:rPr>
              <a:t>•  Use consistent case and meaningful names; never TBL1 / REL2.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1A"/>
                </a:solidFill>
              </a:rPr>
              <a:t>•  Names become table/column names after mapping — bad names breed miscommunication and errors.</a:t>
            </a:r>
          </a:p>
        </p:txBody>
      </p:sp>
      <p:pic>
        <p:nvPicPr>
          <p:cNvPr id="6" name="Picture 5" descr="s9_nam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97611"/>
            <a:ext cx="5532120" cy="2640017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0F6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364224"/>
            <a:ext cx="10881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50" b="1">
                <a:solidFill>
                  <a:srgbClr val="FFFFFF"/>
                </a:solidFill>
              </a:rPr>
              <a:t>🧠  Memory hook:  Entities are singular nouns; relationships are verbs.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2743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606B"/>
                </a:solidFill>
              </a:rPr>
              <a:t>6 / 50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85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85FA5"/>
                </a:solidFill>
              </a:rPr>
              <a:t>S9 · CONCEPT 2 · [THEORY]  ·  APPLY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03504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0C2B4A"/>
                </a:solidFill>
              </a:rPr>
              <a:t>Naming Conventions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17904"/>
            <a:ext cx="10972800" cy="1353312"/>
          </a:xfrm>
          <a:prstGeom prst="roundRect">
            <a:avLst/>
          </a:prstGeom>
          <a:solidFill>
            <a:srgbClr val="E6F1FB"/>
          </a:solidFill>
          <a:ln w="12700">
            <a:solidFill>
              <a:srgbClr val="185F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185FA5"/>
                </a:solidFill>
              </a:rPr>
              <a:t>🌍  Real example</a:t>
            </a:r>
          </a:p>
          <a:p>
            <a:pPr>
              <a:spcBef>
                <a:spcPts val="300"/>
              </a:spcBef>
            </a:pPr>
            <a:r>
              <a:rPr sz="1400">
                <a:solidFill>
                  <a:srgbClr val="1A1A1A"/>
                </a:solidFill>
              </a:rPr>
              <a:t>A relationship named REL1 tells the registrar nothing; renamed TEACHES (TEACHER—TEACHES—COURSE) it reads like plain English and the registrar can confirm or correct it on the spot.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80944"/>
            <a:ext cx="10972800" cy="1188720"/>
          </a:xfrm>
          <a:prstGeom prst="roundRect">
            <a:avLst/>
          </a:prstGeom>
          <a:solidFill>
            <a:srgbClr val="FAECE7"/>
          </a:solidFill>
          <a:ln w="12700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993C1D"/>
                </a:solidFill>
              </a:rPr>
              <a:t>⚠️  Common trap — and the fix</a:t>
            </a:r>
          </a:p>
          <a:p>
            <a:pPr>
              <a:spcBef>
                <a:spcPts val="300"/>
              </a:spcBef>
            </a:pPr>
            <a:r>
              <a:rPr sz="1400">
                <a:solidFill>
                  <a:srgbClr val="1A1A1A"/>
                </a:solidFill>
              </a:rPr>
              <a:t>"Naming doesn't matter, it's just a diagram." Wrong — meaningless names (E1, R3) hide what each construct is, so mapping errors go unnoticed. Singular-noun entities + verb relationships make errors visible.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4279392"/>
            <a:ext cx="10972800" cy="1755648"/>
          </a:xfrm>
          <a:prstGeom prst="roundRect">
            <a:avLst/>
          </a:prstGeom>
          <a:solidFill>
            <a:srgbClr val="E1F5EE"/>
          </a:solidFill>
          <a:ln w="12700">
            <a:solidFill>
              <a:srgbClr val="0F6E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0F6E56"/>
                </a:solidFill>
              </a:rPr>
              <a:t>🎯  Exam-ready answer</a:t>
            </a:r>
          </a:p>
          <a:p>
            <a:pPr>
              <a:spcBef>
                <a:spcPts val="300"/>
              </a:spcBef>
            </a:pPr>
            <a:r>
              <a:rPr sz="1400">
                <a:solidFill>
                  <a:srgbClr val="1A1A1A"/>
                </a:solidFill>
              </a:rPr>
              <a:t>Entity types are singular nouns (STUDENT); relationship types are verbs (ENROLLS) so the diagram reads as a sentence; names must be consistent and meaningful (never TBL1/REL2). Good names let stakeholders verify the model and become clean table/column names after mapping.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6144768"/>
            <a:ext cx="10972800" cy="548640"/>
          </a:xfrm>
          <a:prstGeom prst="roundRect">
            <a:avLst/>
          </a:prstGeom>
          <a:solidFill>
            <a:srgbClr val="FAEEDA"/>
          </a:solidFill>
          <a:ln w="12700">
            <a:solidFill>
              <a:srgbClr val="854F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854F0B"/>
                </a:solidFill>
              </a:rPr>
              <a:t>🔑  Key terms</a:t>
            </a:r>
          </a:p>
          <a:p>
            <a:pPr>
              <a:spcBef>
                <a:spcPts val="300"/>
              </a:spcBef>
            </a:pPr>
            <a:r>
              <a:rPr sz="1150">
                <a:solidFill>
                  <a:srgbClr val="1A1A1A"/>
                </a:solidFill>
              </a:rPr>
              <a:t>singular-noun entity  ·  verb relationship  ·  reads-as-a-sentence  ·  meaningful / consistent naming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2743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606B"/>
                </a:solidFill>
              </a:rPr>
              <a:t>7 / 50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85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85FA5"/>
                </a:solidFill>
              </a:rPr>
              <a:t>S9 · CONCEPT 3 · [THEORY]  ·  UNDERSTAND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03504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0C2B4A"/>
                </a:solidFill>
              </a:rPr>
              <a:t>Design Issue: Attribute vs Entity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5669280" cy="4617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1">
                <a:solidFill>
                  <a:srgbClr val="0C2B4A"/>
                </a:solidFill>
              </a:rPr>
              <a:t>The hard modelling choices are about WHAT should be WHAT. Key rule: if a concept has its own attributes or its own relationships, model it as an entity; otherwise an attribute is enough.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185FA5"/>
                </a:solidFill>
              </a:rPr>
              <a:t>HOW IT WORKS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1A"/>
                </a:solidFill>
              </a:rPr>
              <a:t>•  'Colour' of a product is just a value → attribute.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1A"/>
                </a:solidFill>
              </a:rPr>
              <a:t>•  'Category' on Daraz has a name, a parent, an icon, and groups many products → its own ENTITY.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1A"/>
                </a:solidFill>
              </a:rPr>
              <a:t>•  Attribute vs relationship: a connection between two things is a relationship; a plain property is an attribute.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1A"/>
                </a:solidFill>
              </a:rPr>
              <a:t>•  Beware over-modelling — more entities is not 'better'; model exactly what the requirements need.</a:t>
            </a:r>
          </a:p>
        </p:txBody>
      </p:sp>
      <p:pic>
        <p:nvPicPr>
          <p:cNvPr id="6" name="Picture 5" descr="s9_attr_vs_ent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44902"/>
            <a:ext cx="5532120" cy="2745435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0F6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364224"/>
            <a:ext cx="10881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50" b="1">
                <a:solidFill>
                  <a:srgbClr val="FFFFFF"/>
                </a:solidFill>
              </a:rPr>
              <a:t>🧠  Memory hook:  Own attributes/relationships → entity; plain value → attribute.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2743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606B"/>
                </a:solidFill>
              </a:rPr>
              <a:t>8 / 50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85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85FA5"/>
                </a:solidFill>
              </a:rPr>
              <a:t>S9 · CONCEPT 3 · [THEORY]  ·  APPLY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03504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0C2B4A"/>
                </a:solidFill>
              </a:rPr>
              <a:t>Design Issue: Attribute vs Entity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17904"/>
            <a:ext cx="10972800" cy="1353312"/>
          </a:xfrm>
          <a:prstGeom prst="roundRect">
            <a:avLst/>
          </a:prstGeom>
          <a:solidFill>
            <a:srgbClr val="E6F1FB"/>
          </a:solidFill>
          <a:ln w="12700">
            <a:solidFill>
              <a:srgbClr val="185F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185FA5"/>
                </a:solidFill>
              </a:rPr>
              <a:t>🌍  Real example</a:t>
            </a:r>
          </a:p>
          <a:p>
            <a:pPr>
              <a:spcBef>
                <a:spcPts val="300"/>
              </a:spcBef>
            </a:pPr>
            <a:r>
              <a:rPr sz="1400">
                <a:solidFill>
                  <a:srgbClr val="1A1A1A"/>
                </a:solidFill>
              </a:rPr>
              <a:t>On Daraz, 'category' looks like a text attribute of PRODUCT — but because categories have their own data (name, parent, icon) and group many products, Daraz models CATEGORY as a separate entity. 'Colour', with no data of its own, stays an attribute.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80944"/>
            <a:ext cx="10972800" cy="1188720"/>
          </a:xfrm>
          <a:prstGeom prst="roundRect">
            <a:avLst/>
          </a:prstGeom>
          <a:solidFill>
            <a:srgbClr val="FAECE7"/>
          </a:solidFill>
          <a:ln w="12700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993C1D"/>
                </a:solidFill>
              </a:rPr>
              <a:t>⚠️  Common trap — and the fix</a:t>
            </a:r>
          </a:p>
          <a:p>
            <a:pPr>
              <a:spcBef>
                <a:spcPts val="300"/>
              </a:spcBef>
            </a:pPr>
            <a:r>
              <a:rPr sz="1400">
                <a:solidFill>
                  <a:srgbClr val="1A1A1A"/>
                </a:solidFill>
              </a:rPr>
              <a:t>"More entities = better design." No — over-modelling adds needless complexity. Model something as its own entity only when it genuinely carries its own attributes or relationships.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4279392"/>
            <a:ext cx="10972800" cy="1755648"/>
          </a:xfrm>
          <a:prstGeom prst="roundRect">
            <a:avLst/>
          </a:prstGeom>
          <a:solidFill>
            <a:srgbClr val="E1F5EE"/>
          </a:solidFill>
          <a:ln w="12700">
            <a:solidFill>
              <a:srgbClr val="0F6E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0F6E56"/>
                </a:solidFill>
              </a:rPr>
              <a:t>🎯  Exam-ready answer</a:t>
            </a:r>
          </a:p>
          <a:p>
            <a:pPr>
              <a:spcBef>
                <a:spcPts val="300"/>
              </a:spcBef>
            </a:pPr>
            <a:r>
              <a:rPr sz="1400">
                <a:solidFill>
                  <a:srgbClr val="1A1A1A"/>
                </a:solidFill>
              </a:rPr>
              <a:t>Model a concept as its own entity when it has its own attributes and/or participates in its own relationships (e.g. CATEGORY, MERCHANT); keep it as an attribute when it is a plain value with no data of its own (e.g. colour, status). Avoid over-modelling.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6144768"/>
            <a:ext cx="10972800" cy="548640"/>
          </a:xfrm>
          <a:prstGeom prst="roundRect">
            <a:avLst/>
          </a:prstGeom>
          <a:solidFill>
            <a:srgbClr val="FAEEDA"/>
          </a:solidFill>
          <a:ln w="12700">
            <a:solidFill>
              <a:srgbClr val="854F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854F0B"/>
                </a:solidFill>
              </a:rPr>
              <a:t>🔑  Key terms</a:t>
            </a:r>
          </a:p>
          <a:p>
            <a:pPr>
              <a:spcBef>
                <a:spcPts val="300"/>
              </a:spcBef>
            </a:pPr>
            <a:r>
              <a:rPr sz="1150">
                <a:solidFill>
                  <a:srgbClr val="1A1A1A"/>
                </a:solidFill>
              </a:rPr>
              <a:t>attribute-vs-entity decision  ·  attribute-vs-relationship  ·  over-modelling  ·  'has its own attributes/relationships' test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2743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606B"/>
                </a:solidFill>
              </a:rPr>
              <a:t>9 / 50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1F5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F6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0F6E56"/>
                </a:solidFill>
              </a:rPr>
              <a:t>🛠  IN-CLASS ACTIVITY  ·  THINK–PAIR–SHARE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03504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>
                <a:solidFill>
                  <a:srgbClr val="0C2B4A"/>
                </a:solidFill>
              </a:rPr>
              <a:t>Attribute or entity?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881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550">
                <a:solidFill>
                  <a:srgbClr val="1A1A1A"/>
                </a:solidFill>
              </a:rPr>
              <a:t>•  In pairs (3 min): for a Foodmandu-style app, classify each of — cuisine, restaurant, delivery-address, rating.</a:t>
            </a:r>
          </a:p>
          <a:p>
            <a:pPr>
              <a:spcAft>
                <a:spcPts val="700"/>
              </a:spcAft>
            </a:pPr>
            <a:r>
              <a:rPr sz="1550">
                <a:solidFill>
                  <a:srgbClr val="1A1A1A"/>
                </a:solidFill>
              </a:rPr>
              <a:t>•  Decide attribute vs its own entity using the 'own attributes/relationships' test.</a:t>
            </a:r>
          </a:p>
          <a:p>
            <a:pPr>
              <a:spcAft>
                <a:spcPts val="700"/>
              </a:spcAft>
            </a:pPr>
            <a:r>
              <a:rPr sz="1550">
                <a:solidFill>
                  <a:srgbClr val="1A1A1A"/>
                </a:solidFill>
              </a:rPr>
              <a:t>•  Justify each choice in one sentence.</a:t>
            </a:r>
          </a:p>
          <a:p>
            <a:pPr>
              <a:spcAft>
                <a:spcPts val="700"/>
              </a:spcAft>
            </a:pPr>
            <a:r>
              <a:rPr sz="1550">
                <a:solidFill>
                  <a:srgbClr val="1A1A1A"/>
                </a:solidFill>
              </a:rPr>
              <a:t>•  Share (2 min).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029200"/>
            <a:ext cx="10881360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F6E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0F6E56"/>
                </a:solidFill>
              </a:rPr>
              <a:t>✅  Expected answer</a:t>
            </a:r>
          </a:p>
          <a:p>
            <a:pPr>
              <a:spcBef>
                <a:spcPts val="300"/>
              </a:spcBef>
            </a:pPr>
            <a:r>
              <a:rPr sz="1400">
                <a:solidFill>
                  <a:srgbClr val="1A1A1A"/>
                </a:solidFill>
              </a:rPr>
              <a:t>restaurant = entity (has name, location, menu, relationships); delivery-address = entity or multivalued composite attribute of CUSTOMER; cuisine = attribute (or a small entity if it groups data); rating = attribute of a review.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2743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606B"/>
                </a:solidFill>
              </a:rPr>
              <a:t>10 / 50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854F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854F0B"/>
                </a:solidFill>
              </a:rPr>
              <a:t>CHECK FOR UNDERSTANDING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03504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>
                <a:solidFill>
                  <a:srgbClr val="0C2B4A"/>
                </a:solidFill>
              </a:rPr>
              <a:t>S9 — Quick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8813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</a:pPr>
            <a:r>
              <a:rPr sz="1700" b="1">
                <a:solidFill>
                  <a:srgbClr val="0C2B4A"/>
                </a:solidFill>
              </a:rPr>
              <a:t>Q1.  Best name for the entity of course-takers:</a:t>
            </a:r>
          </a:p>
          <a:p>
            <a:pPr lvl="1"/>
            <a:r>
              <a:rPr sz="1500" b="1">
                <a:solidFill>
                  <a:srgbClr val="0F6E56"/>
                </a:solidFill>
              </a:rPr>
              <a:t>a) ENROLLS   b) STUDENTS   c) ✅ STUDENT   d) TBL1</a:t>
            </a:r>
          </a:p>
          <a:p>
            <a:pPr>
              <a:spcBef>
                <a:spcPts val="900"/>
              </a:spcBef>
            </a:pPr>
            <a:r>
              <a:rPr sz="1700" b="1">
                <a:solidFill>
                  <a:srgbClr val="0C2B4A"/>
                </a:solidFill>
              </a:rPr>
              <a:t>Q2.  Model X as its own entity (not an attribute) when:</a:t>
            </a:r>
          </a:p>
          <a:p>
            <a:pPr lvl="1"/>
            <a:r>
              <a:rPr sz="1500" b="1">
                <a:solidFill>
                  <a:srgbClr val="0F6E56"/>
                </a:solidFill>
              </a:rPr>
              <a:t>✅ it has its own attributes / relationships</a:t>
            </a:r>
          </a:p>
          <a:p>
            <a:pPr lvl="1">
              <a:spcBef>
                <a:spcPts val="600"/>
              </a:spcBef>
            </a:pPr>
            <a:r>
              <a:rPr sz="1500" i="1">
                <a:solidFill>
                  <a:srgbClr val="1A1A1A"/>
                </a:solidFill>
              </a:rPr>
              <a:t>Discussion: for an eSewa-like app, is 'merchant' an attribute of TRANSACTION or its own entity? Justify.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2743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606B"/>
                </a:solidFill>
              </a:rPr>
              <a:t>11 / 50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C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0C2B4A"/>
                </a:solidFill>
              </a:rPr>
              <a:t>S9 · SUMMARY  ·  [~2 MIN]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03504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0C2B4A"/>
                </a:solidFill>
              </a:rPr>
              <a:t>Summary &amp; Key Takeaways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1A1A1A"/>
                </a:solidFill>
              </a:rPr>
              <a:t>1.  One consistent notation legend is the alphabet of ER — name every shape aloud to read a diagram.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1A1A1A"/>
                </a:solidFill>
              </a:rPr>
              <a:t>2.  Entity types = singular nouns; relationship types = verbs (the fragment reads as a sentence).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1A1A1A"/>
                </a:solidFill>
              </a:rPr>
              <a:t>3.  Model a concept as an entity only when it has its own attributes/relationships; don't over-model.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4160520"/>
            <a:ext cx="10972800" cy="1234440"/>
          </a:xfrm>
          <a:prstGeom prst="roundRect">
            <a:avLst/>
          </a:prstGeom>
          <a:solidFill>
            <a:srgbClr val="E1F5EE"/>
          </a:solidFill>
          <a:ln w="12700">
            <a:solidFill>
              <a:srgbClr val="0F6E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0F6E56"/>
                </a:solidFill>
              </a:rPr>
              <a:t>💡  Why this matters</a:t>
            </a:r>
          </a:p>
          <a:p>
            <a:pPr>
              <a:spcBef>
                <a:spcPts val="300"/>
              </a:spcBef>
            </a:pPr>
            <a:r>
              <a:rPr sz="1350">
                <a:solidFill>
                  <a:srgbClr val="1A1A1A"/>
                </a:solidFill>
              </a:rPr>
              <a:t>Clean, well-named ER diagrams are the shared language between analysts, developers, and DBAs in every Nepali IT company; the attribute-vs-entity call decides how many tables you get.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5504688"/>
            <a:ext cx="10972800" cy="1051560"/>
          </a:xfrm>
          <a:prstGeom prst="roundRect">
            <a:avLst/>
          </a:prstGeom>
          <a:solidFill>
            <a:srgbClr val="E6F1FB"/>
          </a:solidFill>
          <a:ln w="12700">
            <a:solidFill>
              <a:srgbClr val="185F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185FA5"/>
                </a:solidFill>
              </a:rPr>
              <a:t>➡️  Next</a:t>
            </a:r>
          </a:p>
          <a:p>
            <a:pPr>
              <a:spcBef>
                <a:spcPts val="300"/>
              </a:spcBef>
            </a:pPr>
            <a:r>
              <a:rPr sz="1350">
                <a:solidFill>
                  <a:srgbClr val="1A1A1A"/>
                </a:solidFill>
              </a:rPr>
              <a:t>S10 — when two entities aren't enough: higher-degree (ternary) relationships.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2743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606B"/>
                </a:solidFill>
              </a:rPr>
              <a:t>12 / 50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5FA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737360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BFDCF2"/>
                </a:solidFill>
              </a:rPr>
              <a:t>SESSION 10 · UNIT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28600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100" b="1">
                <a:solidFill>
                  <a:srgbClr val="FFFFFF"/>
                </a:solidFill>
              </a:rPr>
              <a:t>Relationships of Degree Higher Than Two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3703320"/>
            <a:ext cx="1280160" cy="82296"/>
          </a:xfrm>
          <a:prstGeom prst="rect">
            <a:avLst/>
          </a:prstGeom>
          <a:solidFill>
            <a:srgbClr val="854F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886200"/>
            <a:ext cx="105156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i="1">
                <a:solidFill>
                  <a:srgbClr val="E8F1F9"/>
                </a:solidFill>
              </a:rPr>
              <a:t>🎣  A supplier supplies a product for a project. Three things in one fact — can a normal two-sided arrow capture that?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2743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E8F0F7"/>
                </a:solidFill>
              </a:rPr>
              <a:t>13 / 50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85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85FA5"/>
                </a:solidFill>
              </a:rPr>
              <a:t>S10 · CONCEPT 1 · [THEORY]  ·  UNDERSTAND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03504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0C2B4A"/>
                </a:solidFill>
              </a:rPr>
              <a:t>Degree Revisited: Binary, Ternary, n-ary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5669280" cy="4617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1">
                <a:solidFill>
                  <a:srgbClr val="0C2B4A"/>
                </a:solidFill>
              </a:rPr>
              <a:t>The degree of a relationship is the number of entity types it connects (from S7). Binary = 2 (most common), ternary = 3, n-ary = n. A ternary captures a single fact involving three things at once.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185FA5"/>
                </a:solidFill>
              </a:rPr>
              <a:t>HOW IT WORKS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1A"/>
                </a:solidFill>
              </a:rPr>
              <a:t>•  SUPPLIES(SUPPLIER, PART, PROJECT) = 'supplier S supplied part P FOR project J' — one three-way fact.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1A"/>
                </a:solidFill>
              </a:rPr>
              <a:t>•  Drawn as ONE diamond touching three rectangles.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1A"/>
                </a:solidFill>
              </a:rPr>
              <a:t>•  A timetable fact TEACHES(TEACHER, COURSE, ROOM/TIMESLOT) is another natural ternary.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1A"/>
                </a:solidFill>
              </a:rPr>
              <a:t>•  Most real relationships are binary; ternary is occasional, n&gt;3 is rare.</a:t>
            </a:r>
          </a:p>
        </p:txBody>
      </p:sp>
      <p:pic>
        <p:nvPicPr>
          <p:cNvPr id="6" name="Picture 5" descr="s10_tern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392193"/>
            <a:ext cx="5532120" cy="2850852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0F6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364224"/>
            <a:ext cx="10881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50" b="1">
                <a:solidFill>
                  <a:srgbClr val="FFFFFF"/>
                </a:solidFill>
              </a:rPr>
              <a:t>🧠  Memory hook:  Degree = how many entity types the diamond touches.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2743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606B"/>
                </a:solidFill>
              </a:rPr>
              <a:t>14 / 50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85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85FA5"/>
                </a:solidFill>
              </a:rPr>
              <a:t>S10 · CONCEPT 1 · [THEORY]  ·  APPLY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03504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0C2B4A"/>
                </a:solidFill>
              </a:rPr>
              <a:t>Degree Revisited: Binary, Ternary, n-ary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17904"/>
            <a:ext cx="10972800" cy="1353312"/>
          </a:xfrm>
          <a:prstGeom prst="roundRect">
            <a:avLst/>
          </a:prstGeom>
          <a:solidFill>
            <a:srgbClr val="E6F1FB"/>
          </a:solidFill>
          <a:ln w="12700">
            <a:solidFill>
              <a:srgbClr val="185F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185FA5"/>
                </a:solidFill>
              </a:rPr>
              <a:t>🌍  Real example</a:t>
            </a:r>
          </a:p>
          <a:p>
            <a:pPr>
              <a:spcBef>
                <a:spcPts val="300"/>
              </a:spcBef>
            </a:pPr>
            <a:r>
              <a:rPr sz="1400">
                <a:solidFill>
                  <a:srgbClr val="1A1A1A"/>
                </a:solidFill>
              </a:rPr>
              <a:t>A logistics/procurement system records 'this supplier delivered this part for this project' — a single fact about three entities at once. That is a ternary relationship; splitting it apart loses the point.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80944"/>
            <a:ext cx="10972800" cy="1188720"/>
          </a:xfrm>
          <a:prstGeom prst="roundRect">
            <a:avLst/>
          </a:prstGeom>
          <a:solidFill>
            <a:srgbClr val="FAECE7"/>
          </a:solidFill>
          <a:ln w="12700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993C1D"/>
                </a:solidFill>
              </a:rPr>
              <a:t>⚠️  Common trap — and the fix</a:t>
            </a:r>
          </a:p>
          <a:p>
            <a:pPr>
              <a:spcBef>
                <a:spcPts val="300"/>
              </a:spcBef>
            </a:pPr>
            <a:r>
              <a:rPr sz="1400">
                <a:solidFill>
                  <a:srgbClr val="1A1A1A"/>
                </a:solidFill>
              </a:rPr>
              <a:t>"Higher-degree relationships are everywhere." Actually most designs are binary; reach for ternary only when a fact genuinely ties three entity types together in one instance.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4279392"/>
            <a:ext cx="10972800" cy="1755648"/>
          </a:xfrm>
          <a:prstGeom prst="roundRect">
            <a:avLst/>
          </a:prstGeom>
          <a:solidFill>
            <a:srgbClr val="E1F5EE"/>
          </a:solidFill>
          <a:ln w="12700">
            <a:solidFill>
              <a:srgbClr val="0F6E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0F6E56"/>
                </a:solidFill>
              </a:rPr>
              <a:t>🎯  Exam-ready answer</a:t>
            </a:r>
          </a:p>
          <a:p>
            <a:pPr>
              <a:spcBef>
                <a:spcPts val="300"/>
              </a:spcBef>
            </a:pPr>
            <a:r>
              <a:rPr sz="1400">
                <a:solidFill>
                  <a:srgbClr val="1A1A1A"/>
                </a:solidFill>
              </a:rPr>
              <a:t>The degree of a relationship is the number of entity types participating. Binary = 2, ternary = 3, n-ary = n. A ternary (e.g. SUPPLIES(SUPPLIER, PART, PROJECT)) associates three entity types in one fact, drawn as one diamond connected to three rectangles.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6144768"/>
            <a:ext cx="10972800" cy="548640"/>
          </a:xfrm>
          <a:prstGeom prst="roundRect">
            <a:avLst/>
          </a:prstGeom>
          <a:solidFill>
            <a:srgbClr val="FAEEDA"/>
          </a:solidFill>
          <a:ln w="12700">
            <a:solidFill>
              <a:srgbClr val="854F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854F0B"/>
                </a:solidFill>
              </a:rPr>
              <a:t>🔑  Key terms</a:t>
            </a:r>
          </a:p>
          <a:p>
            <a:pPr>
              <a:spcBef>
                <a:spcPts val="300"/>
              </a:spcBef>
            </a:pPr>
            <a:r>
              <a:rPr sz="1150">
                <a:solidFill>
                  <a:srgbClr val="1A1A1A"/>
                </a:solidFill>
              </a:rPr>
              <a:t>degree  ·  binary (2)  ·  ternary (3)  ·  n-ary  ·  one diamond, three rectangles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2743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606B"/>
                </a:solidFill>
              </a:rPr>
              <a:t>15 / 50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85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85FA5"/>
                </a:solidFill>
              </a:rPr>
              <a:t>S10 · CONCEPT 2 · [THEORY]  ·  UNDERSTAND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03504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0C2B4A"/>
                </a:solidFill>
              </a:rPr>
              <a:t>Why a Ternary Is NOT Three Binaries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5669280" cy="4617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1">
                <a:solidFill>
                  <a:srgbClr val="0C2B4A"/>
                </a:solidFill>
              </a:rPr>
              <a:t>Replacing a ternary with three binary relationships often LOSES information, because the binaries record pairwise facts but not the combination of all three.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185FA5"/>
                </a:solidFill>
              </a:rPr>
              <a:t>HOW IT WORKS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1A"/>
                </a:solidFill>
              </a:rPr>
              <a:t>•  'S supplies P' + 'P used in J' + 'S works on J' are three true pairwise facts…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1A"/>
                </a:solidFill>
              </a:rPr>
              <a:t>•  …but they still do NOT say S supplied P specifically TO J.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1A"/>
                </a:solidFill>
              </a:rPr>
              <a:t>•  Only the ternary SUPPLIES(S, P, J) records the three-way truth.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1A"/>
                </a:solidFill>
              </a:rPr>
              <a:t>•  So three binaries ≠ a ternary whenever the meaning lives in the combination.</a:t>
            </a:r>
          </a:p>
        </p:txBody>
      </p:sp>
      <p:pic>
        <p:nvPicPr>
          <p:cNvPr id="6" name="Picture 5" descr="s10_ternary_vs_bin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44902"/>
            <a:ext cx="5532120" cy="2745435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0F6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364224"/>
            <a:ext cx="10881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50" b="1">
                <a:solidFill>
                  <a:srgbClr val="FFFFFF"/>
                </a:solidFill>
              </a:rPr>
              <a:t>🧠  Memory hook:  Three binaries lose the combined fact.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2743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606B"/>
                </a:solidFill>
              </a:rPr>
              <a:t>16 / 50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85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85FA5"/>
                </a:solidFill>
              </a:rPr>
              <a:t>S10 · CONCEPT 2 · [THEORY]  ·  APPLY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03504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0C2B4A"/>
                </a:solidFill>
              </a:rPr>
              <a:t>Why a Ternary Is NOT Three Binaries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17904"/>
            <a:ext cx="10972800" cy="1353312"/>
          </a:xfrm>
          <a:prstGeom prst="roundRect">
            <a:avLst/>
          </a:prstGeom>
          <a:solidFill>
            <a:srgbClr val="E6F1FB"/>
          </a:solidFill>
          <a:ln w="12700">
            <a:solidFill>
              <a:srgbClr val="185F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185FA5"/>
                </a:solidFill>
              </a:rPr>
              <a:t>🌍  Real example</a:t>
            </a:r>
          </a:p>
          <a:p>
            <a:pPr>
              <a:spcBef>
                <a:spcPts val="300"/>
              </a:spcBef>
            </a:pPr>
            <a:r>
              <a:rPr sz="1400">
                <a:solidFill>
                  <a:srgbClr val="1A1A1A"/>
                </a:solidFill>
              </a:rPr>
              <a:t>In a delivery system, 'customer–restaurant', 'restaurant–rider', 'rider–customer' as three binaries can't reconstruct WHICH rider carried WHICH order from WHICH restaurant to WHICH customer on one trip — that combined fact needs one relationship.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80944"/>
            <a:ext cx="10972800" cy="1188720"/>
          </a:xfrm>
          <a:prstGeom prst="roundRect">
            <a:avLst/>
          </a:prstGeom>
          <a:solidFill>
            <a:srgbClr val="FAECE7"/>
          </a:solidFill>
          <a:ln w="12700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993C1D"/>
                </a:solidFill>
              </a:rPr>
              <a:t>⚠️  Common trap — and the fix</a:t>
            </a:r>
          </a:p>
          <a:p>
            <a:pPr>
              <a:spcBef>
                <a:spcPts val="300"/>
              </a:spcBef>
            </a:pPr>
            <a:r>
              <a:rPr sz="1400">
                <a:solidFill>
                  <a:srgbClr val="1A1A1A"/>
                </a:solidFill>
              </a:rPr>
              <a:t>"Any ternary can be split into three binaries without loss." False — pairwise facts can't capture that three entities were associated together in one instance. Use a ternary (or an associative entity).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4279392"/>
            <a:ext cx="10972800" cy="1755648"/>
          </a:xfrm>
          <a:prstGeom prst="roundRect">
            <a:avLst/>
          </a:prstGeom>
          <a:solidFill>
            <a:srgbClr val="E1F5EE"/>
          </a:solidFill>
          <a:ln w="12700">
            <a:solidFill>
              <a:srgbClr val="0F6E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0F6E56"/>
                </a:solidFill>
              </a:rPr>
              <a:t>🎯  Exam-ready answer</a:t>
            </a:r>
          </a:p>
          <a:p>
            <a:pPr>
              <a:spcBef>
                <a:spcPts val="300"/>
              </a:spcBef>
            </a:pPr>
            <a:r>
              <a:rPr sz="1400">
                <a:solidFill>
                  <a:srgbClr val="1A1A1A"/>
                </a:solidFill>
              </a:rPr>
              <a:t>Three binary relationships record only pairwise facts; they cannot capture that the three entities were associated together in one instance (S–P, P–J, S–J do not imply S supplied P to J). When the meaning is in the combination, a single ternary or an associative entity is required.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6144768"/>
            <a:ext cx="10972800" cy="548640"/>
          </a:xfrm>
          <a:prstGeom prst="roundRect">
            <a:avLst/>
          </a:prstGeom>
          <a:solidFill>
            <a:srgbClr val="FAEEDA"/>
          </a:solidFill>
          <a:ln w="12700">
            <a:solidFill>
              <a:srgbClr val="854F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854F0B"/>
                </a:solidFill>
              </a:rPr>
              <a:t>🔑  Key terms</a:t>
            </a:r>
          </a:p>
          <a:p>
            <a:pPr>
              <a:spcBef>
                <a:spcPts val="300"/>
              </a:spcBef>
            </a:pPr>
            <a:r>
              <a:rPr sz="1150">
                <a:solidFill>
                  <a:srgbClr val="1A1A1A"/>
                </a:solidFill>
              </a:rPr>
              <a:t>ternary ≠ three binaries  ·  loss of the combined fact  ·  pairwise vs three-way association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2743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606B"/>
                </a:solidFill>
              </a:rPr>
              <a:t>17 / 50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85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85FA5"/>
                </a:solidFill>
              </a:rPr>
              <a:t>S10 · CONCEPT 3 · [THEORY]  ·  UNDERSTAND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03504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0C2B4A"/>
                </a:solidFill>
              </a:rPr>
              <a:t>Constraints &amp; the Associative Entity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5669280" cy="4617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1">
                <a:solidFill>
                  <a:srgbClr val="0C2B4A"/>
                </a:solidFill>
              </a:rPr>
              <a:t>A cleaner alternative to a bare n-ary diamond is the associative (intermediate) entity: replace the diamond with a rectangle linked to each participant — especially when the relationship has its own attributes.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185FA5"/>
                </a:solidFill>
              </a:rPr>
              <a:t>HOW IT WORKS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1A"/>
                </a:solidFill>
              </a:rPr>
              <a:t>•  Use it when the relationship carries its own data (a delivery has time, fee, status).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1A"/>
                </a:solidFill>
              </a:rPr>
              <a:t>•  Also clarifies higher-degree associations that get hard to read as one diamond.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1A"/>
                </a:solidFill>
              </a:rPr>
              <a:t>•  n-ary relationships can carry cardinality constraints, but they're hard to read.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1A"/>
                </a:solidFill>
              </a:rPr>
              <a:t>•  Rule of thumb: prefer binary; use ternary/associative entity only when needed.</a:t>
            </a:r>
          </a:p>
        </p:txBody>
      </p:sp>
      <p:pic>
        <p:nvPicPr>
          <p:cNvPr id="6" name="Picture 5" descr="s10_associat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97611"/>
            <a:ext cx="5532120" cy="2640017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0F6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364224"/>
            <a:ext cx="10881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50" b="1">
                <a:solidFill>
                  <a:srgbClr val="FFFFFF"/>
                </a:solidFill>
              </a:rPr>
              <a:t>🧠  Memory hook:  Ternary + its own attributes → make it an associative entity.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2743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606B"/>
                </a:solidFill>
              </a:rPr>
              <a:t>18 / 50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85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85FA5"/>
                </a:solidFill>
              </a:rPr>
              <a:t>S10 · CONCEPT 3 · [THEORY]  ·  APPLY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03504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0C2B4A"/>
                </a:solidFill>
              </a:rPr>
              <a:t>Constraints &amp; the Associative Entity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17904"/>
            <a:ext cx="10972800" cy="1353312"/>
          </a:xfrm>
          <a:prstGeom prst="roundRect">
            <a:avLst/>
          </a:prstGeom>
          <a:solidFill>
            <a:srgbClr val="E6F1FB"/>
          </a:solidFill>
          <a:ln w="12700">
            <a:solidFill>
              <a:srgbClr val="185F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185FA5"/>
                </a:solidFill>
              </a:rPr>
              <a:t>🌍  Real example</a:t>
            </a:r>
          </a:p>
          <a:p>
            <a:pPr>
              <a:spcBef>
                <a:spcPts val="300"/>
              </a:spcBef>
            </a:pPr>
            <a:r>
              <a:rPr sz="1400">
                <a:solidFill>
                  <a:srgbClr val="1A1A1A"/>
                </a:solidFill>
              </a:rPr>
              <a:t>Foodmandu/Pathao Food model a DELIVERY that links CUSTOMER, RESTAURANT, and RIDER and stores delivery time, fee, and status — an associative entity, cleaner than a bare ternary diamond.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80944"/>
            <a:ext cx="10972800" cy="1188720"/>
          </a:xfrm>
          <a:prstGeom prst="roundRect">
            <a:avLst/>
          </a:prstGeom>
          <a:solidFill>
            <a:srgbClr val="FAECE7"/>
          </a:solidFill>
          <a:ln w="12700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993C1D"/>
                </a:solidFill>
              </a:rPr>
              <a:t>⚠️  Common trap — and the fix</a:t>
            </a:r>
          </a:p>
          <a:p>
            <a:pPr>
              <a:spcBef>
                <a:spcPts val="300"/>
              </a:spcBef>
            </a:pPr>
            <a:r>
              <a:rPr sz="1400">
                <a:solidFill>
                  <a:srgbClr val="1A1A1A"/>
                </a:solidFill>
              </a:rPr>
              <a:t>Forcing a relationship-with-its-own-attributes to stay a diamond makes the model awkward and hard to map. When it has its own data, promote it to an associative entity.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4279392"/>
            <a:ext cx="10972800" cy="1755648"/>
          </a:xfrm>
          <a:prstGeom prst="roundRect">
            <a:avLst/>
          </a:prstGeom>
          <a:solidFill>
            <a:srgbClr val="E1F5EE"/>
          </a:solidFill>
          <a:ln w="12700">
            <a:solidFill>
              <a:srgbClr val="0F6E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0F6E56"/>
                </a:solidFill>
              </a:rPr>
              <a:t>🎯  Exam-ready answer</a:t>
            </a:r>
          </a:p>
          <a:p>
            <a:pPr>
              <a:spcBef>
                <a:spcPts val="300"/>
              </a:spcBef>
            </a:pPr>
            <a:r>
              <a:rPr sz="1400">
                <a:solidFill>
                  <a:srgbClr val="1A1A1A"/>
                </a:solidFill>
              </a:rPr>
              <a:t>An associative (intermediate) entity replaces a relationship (often ternary/n-ary) with a rectangle linked to each participant. Use it when the relationship needs its own attributes or relationships, or to make a higher-degree association clearer — e.g. DELIVERY linking CUSTOMER, RESTAURANT, RIDER with time/fee/status.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6144768"/>
            <a:ext cx="10972800" cy="548640"/>
          </a:xfrm>
          <a:prstGeom prst="roundRect">
            <a:avLst/>
          </a:prstGeom>
          <a:solidFill>
            <a:srgbClr val="FAEEDA"/>
          </a:solidFill>
          <a:ln w="12700">
            <a:solidFill>
              <a:srgbClr val="854F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854F0B"/>
                </a:solidFill>
              </a:rPr>
              <a:t>🔑  Key terms</a:t>
            </a:r>
          </a:p>
          <a:p>
            <a:pPr>
              <a:spcBef>
                <a:spcPts val="300"/>
              </a:spcBef>
            </a:pPr>
            <a:r>
              <a:rPr sz="1150">
                <a:solidFill>
                  <a:srgbClr val="1A1A1A"/>
                </a:solidFill>
              </a:rPr>
              <a:t>associative / intermediate entity  ·  n-ary cardinality  ·  'prefer binary'  ·  relationship with its own attributes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2743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606B"/>
                </a:solidFill>
              </a:rPr>
              <a:t>19 / 50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1F5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F6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0F6E56"/>
                </a:solidFill>
              </a:rPr>
              <a:t>🛠  IN-CLASS ACTIVITY  ·  THINK–PAIR–SHARE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03504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>
                <a:solidFill>
                  <a:srgbClr val="0C2B4A"/>
                </a:solidFill>
              </a:rPr>
              <a:t>Ternary or associative?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881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550">
                <a:solidFill>
                  <a:srgbClr val="1A1A1A"/>
                </a:solidFill>
              </a:rPr>
              <a:t>•  In pairs (3 min): model a Pathao ride involving RIDER, PASSENGER, and ROUTE.</a:t>
            </a:r>
          </a:p>
          <a:p>
            <a:pPr>
              <a:spcAft>
                <a:spcPts val="700"/>
              </a:spcAft>
            </a:pPr>
            <a:r>
              <a:rPr sz="1550">
                <a:solidFill>
                  <a:srgbClr val="1A1A1A"/>
                </a:solidFill>
              </a:rPr>
              <a:t>•  Decide whether a ternary is justified or an associative RIDE entity is cleaner.</a:t>
            </a:r>
          </a:p>
          <a:p>
            <a:pPr>
              <a:spcAft>
                <a:spcPts val="700"/>
              </a:spcAft>
            </a:pPr>
            <a:r>
              <a:rPr sz="1550">
                <a:solidFill>
                  <a:srgbClr val="1A1A1A"/>
                </a:solidFill>
              </a:rPr>
              <a:t>•  List two attributes that would push you toward the entity.</a:t>
            </a:r>
          </a:p>
          <a:p>
            <a:pPr>
              <a:spcAft>
                <a:spcPts val="700"/>
              </a:spcAft>
            </a:pPr>
            <a:r>
              <a:rPr sz="1550">
                <a:solidFill>
                  <a:srgbClr val="1A1A1A"/>
                </a:solidFill>
              </a:rPr>
              <a:t>•  Share (2 min).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029200"/>
            <a:ext cx="10881360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F6E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0F6E56"/>
                </a:solidFill>
              </a:rPr>
              <a:t>✅  Expected answer</a:t>
            </a:r>
          </a:p>
          <a:p>
            <a:pPr>
              <a:spcBef>
                <a:spcPts val="300"/>
              </a:spcBef>
            </a:pPr>
            <a:r>
              <a:rPr sz="1400">
                <a:solidFill>
                  <a:srgbClr val="1A1A1A"/>
                </a:solidFill>
              </a:rPr>
              <a:t>If the ride has its own data — fare, distance, time, rating — an associative RIDE entity wins over a bare ternary diamond, because a relationship can't cleanly hold those attributes.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2743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606B"/>
                </a:solidFill>
              </a:rPr>
              <a:t>20 / 50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854F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854F0B"/>
                </a:solidFill>
              </a:rPr>
              <a:t>CHECK FOR UNDERSTANDING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03504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>
                <a:solidFill>
                  <a:srgbClr val="0C2B4A"/>
                </a:solidFill>
              </a:rPr>
              <a:t>S10 — Quick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8813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</a:pPr>
            <a:r>
              <a:rPr sz="1700" b="1">
                <a:solidFill>
                  <a:srgbClr val="0C2B4A"/>
                </a:solidFill>
              </a:rPr>
              <a:t>Q1.  A relationship among three entity types is:</a:t>
            </a:r>
          </a:p>
          <a:p>
            <a:pPr lvl="1"/>
            <a:r>
              <a:rPr sz="1500" b="1">
                <a:solidFill>
                  <a:srgbClr val="0F6E56"/>
                </a:solidFill>
              </a:rPr>
              <a:t>a) binary   b) recursive   c) ✅ ternary   d) weak</a:t>
            </a:r>
          </a:p>
          <a:p>
            <a:pPr>
              <a:spcBef>
                <a:spcPts val="900"/>
              </a:spcBef>
            </a:pPr>
            <a:r>
              <a:rPr sz="1700" b="1">
                <a:solidFill>
                  <a:srgbClr val="0C2B4A"/>
                </a:solidFill>
              </a:rPr>
              <a:t>Q2.  Splitting a ternary into three binaries is risky because:</a:t>
            </a:r>
          </a:p>
          <a:p>
            <a:pPr lvl="1"/>
            <a:r>
              <a:rPr sz="1500" b="1">
                <a:solidFill>
                  <a:srgbClr val="0F6E56"/>
                </a:solidFill>
              </a:rPr>
              <a:t>✅ it can lose the combined-fact meaning</a:t>
            </a:r>
          </a:p>
          <a:p>
            <a:pPr lvl="1">
              <a:spcBef>
                <a:spcPts val="600"/>
              </a:spcBef>
            </a:pPr>
            <a:r>
              <a:rPr sz="1500" i="1">
                <a:solidFill>
                  <a:srgbClr val="1A1A1A"/>
                </a:solidFill>
              </a:rPr>
              <a:t>Discussion: model a Pathao ride (RIDER, PASSENGER, ROUTE) — ternary or associative entity?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2743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606B"/>
                </a:solidFill>
              </a:rPr>
              <a:t>21 / 50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C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0C2B4A"/>
                </a:solidFill>
              </a:rPr>
              <a:t>S10 · SUMMARY  ·  [~2 MIN]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03504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0C2B4A"/>
                </a:solidFill>
              </a:rPr>
              <a:t>Summary &amp; Key Takeaways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1A1A1A"/>
                </a:solidFill>
              </a:rPr>
              <a:t>1.  Degree = number of participating entity types; ternary = 3, drawn as one diamond on three rectangles.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1A1A1A"/>
                </a:solidFill>
              </a:rPr>
              <a:t>2.  A ternary ≠ three binaries when the meaning is in the combination of all three.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1A1A1A"/>
                </a:solidFill>
              </a:rPr>
              <a:t>3.  Prefer binary; use a ternary or an associative entity only when needed (especially if it has its own attributes).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4160520"/>
            <a:ext cx="10972800" cy="1234440"/>
          </a:xfrm>
          <a:prstGeom prst="roundRect">
            <a:avLst/>
          </a:prstGeom>
          <a:solidFill>
            <a:srgbClr val="E1F5EE"/>
          </a:solidFill>
          <a:ln w="12700">
            <a:solidFill>
              <a:srgbClr val="0F6E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0F6E56"/>
                </a:solidFill>
              </a:rPr>
              <a:t>💡  Why this matters</a:t>
            </a:r>
          </a:p>
          <a:p>
            <a:pPr>
              <a:spcBef>
                <a:spcPts val="300"/>
              </a:spcBef>
            </a:pPr>
            <a:r>
              <a:rPr sz="1350">
                <a:solidFill>
                  <a:srgbClr val="1A1A1A"/>
                </a:solidFill>
              </a:rPr>
              <a:t>Logistics, delivery, and booking systems (common in Nepal's startup scene) frequently need ternary thinking; getting it wrong silently loses business facts like 'who delivered what to whom'.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5504688"/>
            <a:ext cx="10972800" cy="1051560"/>
          </a:xfrm>
          <a:prstGeom prst="roundRect">
            <a:avLst/>
          </a:prstGeom>
          <a:solidFill>
            <a:srgbClr val="E6F1FB"/>
          </a:solidFill>
          <a:ln w="12700">
            <a:solidFill>
              <a:srgbClr val="185F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185FA5"/>
                </a:solidFill>
              </a:rPr>
              <a:t>➡️  Next</a:t>
            </a:r>
          </a:p>
          <a:p>
            <a:pPr>
              <a:spcBef>
                <a:spcPts val="300"/>
              </a:spcBef>
            </a:pPr>
            <a:r>
              <a:rPr sz="1350">
                <a:solidFill>
                  <a:srgbClr val="1A1A1A"/>
                </a:solidFill>
              </a:rPr>
              <a:t>S11 — modelling 'kinds of': specialization and generalization.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2743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606B"/>
                </a:solidFill>
              </a:rPr>
              <a:t>22 / 50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5FA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737360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BFDCF2"/>
                </a:solidFill>
              </a:rPr>
              <a:t>SESSION 11 · UNIT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28600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100" b="1">
                <a:solidFill>
                  <a:srgbClr val="FFFFFF"/>
                </a:solidFill>
              </a:rPr>
              <a:t>Specialization &amp; Generalization (EER)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3703320"/>
            <a:ext cx="1280160" cy="82296"/>
          </a:xfrm>
          <a:prstGeom prst="rect">
            <a:avLst/>
          </a:prstGeom>
          <a:solidFill>
            <a:srgbClr val="854F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886200"/>
            <a:ext cx="105156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i="1">
                <a:solidFill>
                  <a:srgbClr val="E8F1F9"/>
                </a:solidFill>
              </a:rPr>
              <a:t>🎣  On the Nagarik App a USER can be a citizen, a government employee, or a business owner — same person-record, but each kind stores extra things. How do we model 'kinds of'?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2743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E8F0F7"/>
                </a:solidFill>
              </a:rPr>
              <a:t>23 / 50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85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85FA5"/>
                </a:solidFill>
              </a:rPr>
              <a:t>S11 · CONCEPT 1 · [THEORY]  ·  UNDERSTAND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03504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0C2B4A"/>
                </a:solidFill>
              </a:rPr>
              <a:t>Specialization &amp; Generalization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5669280" cy="4617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1">
                <a:solidFill>
                  <a:srgbClr val="0C2B4A"/>
                </a:solidFill>
              </a:rPr>
              <a:t>The EER constructs for 'is-a' hierarchies. Specialization is top-down (split a superclass into subclasses); generalization is bottom-up (combine similar entities into a superclass). Same idea, opposite directions.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185FA5"/>
                </a:solidFill>
              </a:rPr>
              <a:t>HOW IT WORKS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1A"/>
                </a:solidFill>
              </a:rPr>
              <a:t>•  Specialization: EMPLOYEE → ENGINEER, SECRETARY, TECHNICIAN (subclasses add their own attributes).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1A"/>
                </a:solidFill>
              </a:rPr>
              <a:t>•  Generalization: CAR and TRUCK → VEHICLE (factor out shared attributes).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1A"/>
                </a:solidFill>
              </a:rPr>
              <a:t>•  Both create a superclass/subclass hierarchy with an 'is-a' relationship.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1A"/>
                </a:solidFill>
              </a:rPr>
              <a:t>•  Both give subclasses attribute inheritance.</a:t>
            </a:r>
          </a:p>
        </p:txBody>
      </p:sp>
      <p:pic>
        <p:nvPicPr>
          <p:cNvPr id="6" name="Picture 5" descr="s11_specializ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392193"/>
            <a:ext cx="5532120" cy="2850852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0F6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364224"/>
            <a:ext cx="10881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50" b="1">
                <a:solidFill>
                  <a:srgbClr val="FFFFFF"/>
                </a:solidFill>
              </a:rPr>
              <a:t>🧠  Memory hook:  Specialization = split down; generalization = combine up; both are is-a.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2743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606B"/>
                </a:solidFill>
              </a:rPr>
              <a:t>24 / 50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85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85FA5"/>
                </a:solidFill>
              </a:rPr>
              <a:t>S11 · CONCEPT 1 · [THEORY]  ·  APPLY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03504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0C2B4A"/>
                </a:solidFill>
              </a:rPr>
              <a:t>Specialization &amp; Generalization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17904"/>
            <a:ext cx="10972800" cy="1353312"/>
          </a:xfrm>
          <a:prstGeom prst="roundRect">
            <a:avLst/>
          </a:prstGeom>
          <a:solidFill>
            <a:srgbClr val="E6F1FB"/>
          </a:solidFill>
          <a:ln w="12700">
            <a:solidFill>
              <a:srgbClr val="185F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185FA5"/>
                </a:solidFill>
              </a:rPr>
              <a:t>🌍  Real example</a:t>
            </a:r>
          </a:p>
          <a:p>
            <a:pPr>
              <a:spcBef>
                <a:spcPts val="300"/>
              </a:spcBef>
            </a:pPr>
            <a:r>
              <a:rPr sz="1400">
                <a:solidFill>
                  <a:srgbClr val="1A1A1A"/>
                </a:solidFill>
              </a:rPr>
              <a:t>A bank ACCOUNT is specialized into SAVINGS and CURRENT; a platform USER into CUSTOMER and MERCHANT. Each subclass is still 'an account' / 'a user' (is-a) but stores extra fields. Two near-identical tables signal you should generalize upward into a shared superclass.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80944"/>
            <a:ext cx="10972800" cy="1188720"/>
          </a:xfrm>
          <a:prstGeom prst="roundRect">
            <a:avLst/>
          </a:prstGeom>
          <a:solidFill>
            <a:srgbClr val="FAECE7"/>
          </a:solidFill>
          <a:ln w="12700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993C1D"/>
                </a:solidFill>
              </a:rPr>
              <a:t>⚠️  Common trap — and the fix</a:t>
            </a:r>
          </a:p>
          <a:p>
            <a:pPr>
              <a:spcBef>
                <a:spcPts val="300"/>
              </a:spcBef>
            </a:pPr>
            <a:r>
              <a:rPr sz="1400">
                <a:solidFill>
                  <a:srgbClr val="1A1A1A"/>
                </a:solidFill>
              </a:rPr>
              <a:t>"Specialization and generalization are different tools." They're inverse directions of the SAME idea — both produce an is-a hierarchy with inheritance; only the direction of thinking differs.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4279392"/>
            <a:ext cx="10972800" cy="1755648"/>
          </a:xfrm>
          <a:prstGeom prst="roundRect">
            <a:avLst/>
          </a:prstGeom>
          <a:solidFill>
            <a:srgbClr val="E1F5EE"/>
          </a:solidFill>
          <a:ln w="12700">
            <a:solidFill>
              <a:srgbClr val="0F6E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0F6E56"/>
                </a:solidFill>
              </a:rPr>
              <a:t>🎯  Exam-ready answer</a:t>
            </a:r>
          </a:p>
          <a:p>
            <a:pPr>
              <a:spcBef>
                <a:spcPts val="300"/>
              </a:spcBef>
            </a:pPr>
            <a:r>
              <a:rPr sz="1400">
                <a:solidFill>
                  <a:srgbClr val="1A1A1A"/>
                </a:solidFill>
              </a:rPr>
              <a:t>Specialization is top-down: splitting a superclass into subclasses that inherit its attributes and add specific ones (EMPLOYEE → ENGINEER, SECRETARY). Generalization is bottom-up: combining similar entity types into a superclass (CAR, TRUCK → VEHICLE). Both create an is-a hierarchy with inheritance; they are inverse directions of one idea.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6144768"/>
            <a:ext cx="10972800" cy="548640"/>
          </a:xfrm>
          <a:prstGeom prst="roundRect">
            <a:avLst/>
          </a:prstGeom>
          <a:solidFill>
            <a:srgbClr val="FAEEDA"/>
          </a:solidFill>
          <a:ln w="12700">
            <a:solidFill>
              <a:srgbClr val="854F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854F0B"/>
                </a:solidFill>
              </a:rPr>
              <a:t>🔑  Key terms</a:t>
            </a:r>
          </a:p>
          <a:p>
            <a:pPr>
              <a:spcBef>
                <a:spcPts val="300"/>
              </a:spcBef>
            </a:pPr>
            <a:r>
              <a:rPr sz="1150">
                <a:solidFill>
                  <a:srgbClr val="1A1A1A"/>
                </a:solidFill>
              </a:rPr>
              <a:t>superclass / subclass  ·  specialization (top-down)  ·  generalization (bottom-up)  ·  is-a  ·  inheritance  ·  EER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2743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606B"/>
                </a:solidFill>
              </a:rPr>
              <a:t>25 / 50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85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85FA5"/>
                </a:solidFill>
              </a:rPr>
              <a:t>S11 · CONCEPT 2 · [THEORY]  ·  UNDERSTAND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03504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0C2B4A"/>
                </a:solidFill>
              </a:rPr>
              <a:t>Constraints: Disjoint/Overlap × Total/Partial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5669280" cy="4617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1">
                <a:solidFill>
                  <a:srgbClr val="0C2B4A"/>
                </a:solidFill>
              </a:rPr>
              <a:t>Two independent constraints govern a specialization: disjointness (how many subclasses an entity can join) and completeness (whether it must join one). Together they give four combinations.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185FA5"/>
                </a:solidFill>
              </a:rPr>
              <a:t>HOW IT WORKS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1A"/>
                </a:solidFill>
              </a:rPr>
              <a:t>•  Disjoint (d): an entity is in at most ONE subclass (ACCOUNT is SAVINGS or CURRENT, not both).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1A"/>
                </a:solidFill>
              </a:rPr>
              <a:t>•  Overlap (o): an entity may be in SEVERAL subclasses (a PERSON can be STUDENT and STAFF).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1A"/>
                </a:solidFill>
              </a:rPr>
              <a:t>•  Total (double line): every superclass member MUST be in some subclass.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1A"/>
                </a:solidFill>
              </a:rPr>
              <a:t>•  Partial: a member may be in none. → four combos: d/o × total/partial.</a:t>
            </a:r>
          </a:p>
        </p:txBody>
      </p:sp>
      <p:pic>
        <p:nvPicPr>
          <p:cNvPr id="6" name="Picture 5" descr="s11_constraints_2x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392193"/>
            <a:ext cx="5532120" cy="2850852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0F6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364224"/>
            <a:ext cx="10881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50" b="1">
                <a:solidFill>
                  <a:srgbClr val="FFFFFF"/>
                </a:solidFill>
              </a:rPr>
              <a:t>🧠  Memory hook:  d/o = how many subclasses; total/partial = must you join one.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2743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606B"/>
                </a:solidFill>
              </a:rPr>
              <a:t>26 / 50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85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85FA5"/>
                </a:solidFill>
              </a:rPr>
              <a:t>S11 · CONCEPT 2 · [THEORY]  ·  APPLY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03504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0C2B4A"/>
                </a:solidFill>
              </a:rPr>
              <a:t>Constraints: Disjoint/Overlap × Total/Partial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17904"/>
            <a:ext cx="10972800" cy="1353312"/>
          </a:xfrm>
          <a:prstGeom prst="roundRect">
            <a:avLst/>
          </a:prstGeom>
          <a:solidFill>
            <a:srgbClr val="E6F1FB"/>
          </a:solidFill>
          <a:ln w="12700">
            <a:solidFill>
              <a:srgbClr val="185F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185FA5"/>
                </a:solidFill>
              </a:rPr>
              <a:t>🌍  Real example</a:t>
            </a:r>
          </a:p>
          <a:p>
            <a:pPr>
              <a:spcBef>
                <a:spcPts val="300"/>
              </a:spcBef>
            </a:pPr>
            <a:r>
              <a:rPr sz="1400">
                <a:solidFill>
                  <a:srgbClr val="1A1A1A"/>
                </a:solidFill>
              </a:rPr>
              <a:t>Bank ACCOUNT → SAVINGS/CURRENT is disjoint, total (exactly one type; every account has one). College PERSON → STUDENT/STAFF is overlap, partial (a TA is both; a visitor is neither).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80944"/>
            <a:ext cx="10972800" cy="1188720"/>
          </a:xfrm>
          <a:prstGeom prst="roundRect">
            <a:avLst/>
          </a:prstGeom>
          <a:solidFill>
            <a:srgbClr val="FAECE7"/>
          </a:solidFill>
          <a:ln w="12700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993C1D"/>
                </a:solidFill>
              </a:rPr>
              <a:t>⚠️  Common trap — and the fix</a:t>
            </a:r>
          </a:p>
          <a:p>
            <a:pPr>
              <a:spcBef>
                <a:spcPts val="300"/>
              </a:spcBef>
            </a:pPr>
            <a:r>
              <a:rPr sz="1400">
                <a:solidFill>
                  <a:srgbClr val="1A1A1A"/>
                </a:solidFill>
              </a:rPr>
              <a:t>"Subclasses are always mutually exclusive." Not so — overlap is allowed and common (a teaching assistant is both student and staff). Choose disjoint vs overlap from the real rules.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4279392"/>
            <a:ext cx="10972800" cy="1755648"/>
          </a:xfrm>
          <a:prstGeom prst="roundRect">
            <a:avLst/>
          </a:prstGeom>
          <a:solidFill>
            <a:srgbClr val="E1F5EE"/>
          </a:solidFill>
          <a:ln w="12700">
            <a:solidFill>
              <a:srgbClr val="0F6E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0F6E56"/>
                </a:solidFill>
              </a:rPr>
              <a:t>🎯  Exam-ready answer</a:t>
            </a:r>
          </a:p>
          <a:p>
            <a:pPr>
              <a:spcBef>
                <a:spcPts val="300"/>
              </a:spcBef>
            </a:pPr>
            <a:r>
              <a:rPr sz="1400">
                <a:solidFill>
                  <a:srgbClr val="1A1A1A"/>
                </a:solidFill>
              </a:rPr>
              <a:t>Two constraints. Disjointness: disjoint (d) — an entity is in at most one subclass; overlap (o) — it may be in several. Completeness: total — every superclass entity must be in some subclass (double line); partial — some need not be. They are independent → four combinations, e.g. ACCOUNT→SAVINGS/CURRENT is disjoint-total.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6144768"/>
            <a:ext cx="10972800" cy="548640"/>
          </a:xfrm>
          <a:prstGeom prst="roundRect">
            <a:avLst/>
          </a:prstGeom>
          <a:solidFill>
            <a:srgbClr val="FAEEDA"/>
          </a:solidFill>
          <a:ln w="12700">
            <a:solidFill>
              <a:srgbClr val="854F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854F0B"/>
                </a:solidFill>
              </a:rPr>
              <a:t>🔑  Key terms</a:t>
            </a:r>
          </a:p>
          <a:p>
            <a:pPr>
              <a:spcBef>
                <a:spcPts val="300"/>
              </a:spcBef>
            </a:pPr>
            <a:r>
              <a:rPr sz="1150">
                <a:solidFill>
                  <a:srgbClr val="1A1A1A"/>
                </a:solidFill>
              </a:rPr>
              <a:t>disjoint (d)  ·  overlap (o)  ·  total (double line)  ·  partial  ·  completeness vs disjointness  ·  four combinations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2743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606B"/>
                </a:solidFill>
              </a:rPr>
              <a:t>27 / 50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85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85FA5"/>
                </a:solidFill>
              </a:rPr>
              <a:t>S11 · CONCEPT 3 · [THEORY]  ·  UNDERSTAND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03504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0C2B4A"/>
                </a:solidFill>
              </a:rPr>
              <a:t>Attribute Inheritance &amp; Specific Attributes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5669280" cy="4617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1">
                <a:solidFill>
                  <a:srgbClr val="0C2B4A"/>
                </a:solidFill>
              </a:rPr>
              <a:t>A subclass inherits all attributes (and relationships) of its superclass, and then adds its own specific (local) attributes. This is why factoring shared attributes up into a superclass avoids repetition.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185FA5"/>
                </a:solidFill>
              </a:rPr>
              <a:t>HOW IT WORKS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1A"/>
                </a:solidFill>
              </a:rPr>
              <a:t>•  SAVINGS inherits ACCOUNT's acc_no, holder, balance — and adds interest_rate.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1A"/>
                </a:solidFill>
              </a:rPr>
              <a:t>•  CURRENT inherits the same — and adds overdraft_limit.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1A"/>
                </a:solidFill>
              </a:rPr>
              <a:t>•  Inheritance flows through relationships too: if ACCOUNT relates to CUSTOMER, every subclass does.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1A"/>
                </a:solidFill>
              </a:rPr>
              <a:t>•  Shared fields live once, in the superclass.</a:t>
            </a:r>
          </a:p>
        </p:txBody>
      </p:sp>
      <p:pic>
        <p:nvPicPr>
          <p:cNvPr id="6" name="Picture 5" descr="s11_inheri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44902"/>
            <a:ext cx="5532120" cy="2745435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0F6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364224"/>
            <a:ext cx="10881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50" b="1">
                <a:solidFill>
                  <a:srgbClr val="FFFFFF"/>
                </a:solidFill>
              </a:rPr>
              <a:t>🧠  Memory hook:  Inherit the shared, add the specific.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2743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606B"/>
                </a:solidFill>
              </a:rPr>
              <a:t>28 / 50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85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85FA5"/>
                </a:solidFill>
              </a:rPr>
              <a:t>S11 · CONCEPT 3 · [THEORY]  ·  APPLY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03504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0C2B4A"/>
                </a:solidFill>
              </a:rPr>
              <a:t>Attribute Inheritance &amp; Specific Attributes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17904"/>
            <a:ext cx="10972800" cy="1353312"/>
          </a:xfrm>
          <a:prstGeom prst="roundRect">
            <a:avLst/>
          </a:prstGeom>
          <a:solidFill>
            <a:srgbClr val="E6F1FB"/>
          </a:solidFill>
          <a:ln w="12700">
            <a:solidFill>
              <a:srgbClr val="185F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185FA5"/>
                </a:solidFill>
              </a:rPr>
              <a:t>🌍  Real example</a:t>
            </a:r>
          </a:p>
          <a:p>
            <a:pPr>
              <a:spcBef>
                <a:spcPts val="300"/>
              </a:spcBef>
            </a:pPr>
            <a:r>
              <a:rPr sz="1400">
                <a:solidFill>
                  <a:srgbClr val="1A1A1A"/>
                </a:solidFill>
              </a:rPr>
              <a:t>In an HR system every EMPLOYEE has id, name, salary (superclass); an ENGINEER additionally has a licence number, a SECRETARY a typing speed — specific attributes layered on top of the inherited ones.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80944"/>
            <a:ext cx="10972800" cy="1188720"/>
          </a:xfrm>
          <a:prstGeom prst="roundRect">
            <a:avLst/>
          </a:prstGeom>
          <a:solidFill>
            <a:srgbClr val="FAECE7"/>
          </a:solidFill>
          <a:ln w="12700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993C1D"/>
                </a:solidFill>
              </a:rPr>
              <a:t>⚠️  Common trap — and the fix</a:t>
            </a:r>
          </a:p>
          <a:p>
            <a:pPr>
              <a:spcBef>
                <a:spcPts val="300"/>
              </a:spcBef>
            </a:pPr>
            <a:r>
              <a:rPr sz="1400">
                <a:solidFill>
                  <a:srgbClr val="1A1A1A"/>
                </a:solidFill>
              </a:rPr>
              <a:t>Repeating the shared columns in every subclass table is the smell that you skipped generalization — factor the common attributes up into the superclass instead.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4279392"/>
            <a:ext cx="10972800" cy="1755648"/>
          </a:xfrm>
          <a:prstGeom prst="roundRect">
            <a:avLst/>
          </a:prstGeom>
          <a:solidFill>
            <a:srgbClr val="E1F5EE"/>
          </a:solidFill>
          <a:ln w="12700">
            <a:solidFill>
              <a:srgbClr val="0F6E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0F6E56"/>
                </a:solidFill>
              </a:rPr>
              <a:t>🎯  Exam-ready answer</a:t>
            </a:r>
          </a:p>
          <a:p>
            <a:pPr>
              <a:spcBef>
                <a:spcPts val="300"/>
              </a:spcBef>
            </a:pPr>
            <a:r>
              <a:rPr sz="1400">
                <a:solidFill>
                  <a:srgbClr val="1A1A1A"/>
                </a:solidFill>
              </a:rPr>
              <a:t>A subclass automatically receives all attributes and relationships of its superclass (inheritance) and adds its own specific attributes. E.g. SAVINGS and CURRENT inherit ACCOUNT's acc_no/holder/balance; SAVINGS adds interest_rate, CURRENT adds overdraft_limit.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6144768"/>
            <a:ext cx="10972800" cy="548640"/>
          </a:xfrm>
          <a:prstGeom prst="roundRect">
            <a:avLst/>
          </a:prstGeom>
          <a:solidFill>
            <a:srgbClr val="FAEEDA"/>
          </a:solidFill>
          <a:ln w="12700">
            <a:solidFill>
              <a:srgbClr val="854F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854F0B"/>
                </a:solidFill>
              </a:rPr>
              <a:t>🔑  Key terms</a:t>
            </a:r>
          </a:p>
          <a:p>
            <a:pPr>
              <a:spcBef>
                <a:spcPts val="300"/>
              </a:spcBef>
            </a:pPr>
            <a:r>
              <a:rPr sz="1150">
                <a:solidFill>
                  <a:srgbClr val="1A1A1A"/>
                </a:solidFill>
              </a:rPr>
              <a:t>attribute inheritance  ·  specific / local attribute  ·  inherited relationships  ·  factoring shared attributes upward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2743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606B"/>
                </a:solidFill>
              </a:rPr>
              <a:t>29 / 50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1F5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F6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0F6E56"/>
                </a:solidFill>
              </a:rPr>
              <a:t>🛠  IN-CLASS ACTIVITY  ·  THINK–PAIR–SHARE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03504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>
                <a:solidFill>
                  <a:srgbClr val="0C2B4A"/>
                </a:solidFill>
              </a:rPr>
              <a:t>Classify the specialization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881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550">
                <a:solidFill>
                  <a:srgbClr val="1A1A1A"/>
                </a:solidFill>
              </a:rPr>
              <a:t>•  In pairs (3 min): for a platform USER → CUSTOMER and SELLER…</a:t>
            </a:r>
          </a:p>
          <a:p>
            <a:pPr>
              <a:spcAft>
                <a:spcPts val="700"/>
              </a:spcAft>
            </a:pPr>
            <a:r>
              <a:rPr sz="1550">
                <a:solidFill>
                  <a:srgbClr val="1A1A1A"/>
                </a:solidFill>
              </a:rPr>
              <a:t>•  Decide the disjoint/overlap constraint and the total/partial constraint.</a:t>
            </a:r>
          </a:p>
          <a:p>
            <a:pPr>
              <a:spcAft>
                <a:spcPts val="700"/>
              </a:spcAft>
            </a:pPr>
            <a:r>
              <a:rPr sz="1550">
                <a:solidFill>
                  <a:srgbClr val="1A1A1A"/>
                </a:solidFill>
              </a:rPr>
              <a:t>•  List one specific attribute for each subclass.</a:t>
            </a:r>
          </a:p>
          <a:p>
            <a:pPr>
              <a:spcAft>
                <a:spcPts val="700"/>
              </a:spcAft>
            </a:pPr>
            <a:r>
              <a:rPr sz="1550">
                <a:solidFill>
                  <a:srgbClr val="1A1A1A"/>
                </a:solidFill>
              </a:rPr>
              <a:t>•  Share (2 min).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029200"/>
            <a:ext cx="10881360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F6E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0F6E56"/>
                </a:solidFill>
              </a:rPr>
              <a:t>✅  Expected answer</a:t>
            </a:r>
          </a:p>
          <a:p>
            <a:pPr>
              <a:spcBef>
                <a:spcPts val="300"/>
              </a:spcBef>
            </a:pPr>
            <a:r>
              <a:rPr sz="1400">
                <a:solidFill>
                  <a:srgbClr val="1A1A1A"/>
                </a:solidFill>
              </a:rPr>
              <a:t>Overlap (an account can both buy and sell) and partial (a brand-new user may be neither yet). CUSTOMER: default_address; SELLER: store_name, PAN. So it's an overlap, partial specialization.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2743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606B"/>
                </a:solidFill>
              </a:rPr>
              <a:t>30 / 50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854F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854F0B"/>
                </a:solidFill>
              </a:rPr>
              <a:t>CHECK FOR UNDERSTANDING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03504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>
                <a:solidFill>
                  <a:srgbClr val="0C2B4A"/>
                </a:solidFill>
              </a:rPr>
              <a:t>S11 — Quick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8813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</a:pPr>
            <a:r>
              <a:rPr sz="1700" b="1">
                <a:solidFill>
                  <a:srgbClr val="0C2B4A"/>
                </a:solidFill>
              </a:rPr>
              <a:t>Q1.  'Every employee must be permanent or contract' is a ___ constraint:</a:t>
            </a:r>
          </a:p>
          <a:p>
            <a:pPr lvl="1"/>
            <a:r>
              <a:rPr sz="1500" b="1">
                <a:solidFill>
                  <a:srgbClr val="0F6E56"/>
                </a:solidFill>
              </a:rPr>
              <a:t>a) overlap   b) disjoint   c) ✅ total   d) partial</a:t>
            </a:r>
          </a:p>
          <a:p>
            <a:pPr>
              <a:spcBef>
                <a:spcPts val="900"/>
              </a:spcBef>
            </a:pPr>
            <a:r>
              <a:rPr sz="1700" b="1">
                <a:solidFill>
                  <a:srgbClr val="0C2B4A"/>
                </a:solidFill>
              </a:rPr>
              <a:t>Q2.  A subclass receives the superclass's attributes via:</a:t>
            </a:r>
          </a:p>
          <a:p>
            <a:pPr lvl="1"/>
            <a:r>
              <a:rPr sz="1500" b="1">
                <a:solidFill>
                  <a:srgbClr val="0F6E56"/>
                </a:solidFill>
              </a:rPr>
              <a:t>✅ inheritance</a:t>
            </a:r>
          </a:p>
          <a:p>
            <a:pPr lvl="1">
              <a:spcBef>
                <a:spcPts val="600"/>
              </a:spcBef>
            </a:pPr>
            <a:r>
              <a:rPr sz="1500" i="1">
                <a:solidFill>
                  <a:srgbClr val="1A1A1A"/>
                </a:solidFill>
              </a:rPr>
              <a:t>Discussion: on Daraz, USER → CUSTOMER and SELLER — disjoint or overlap? total or partial? Justify.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2743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606B"/>
                </a:solidFill>
              </a:rPr>
              <a:t>31 / 50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C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0C2B4A"/>
                </a:solidFill>
              </a:rPr>
              <a:t>S11 · SUMMARY  ·  [~2 MIN]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03504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0C2B4A"/>
                </a:solidFill>
              </a:rPr>
              <a:t>Summary &amp; Key Takeaways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1A1A1A"/>
                </a:solidFill>
              </a:rPr>
              <a:t>1.  Specialization (down) and generalization (up) are inverses sharing 'is-a' and inheritance.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1A1A1A"/>
                </a:solidFill>
              </a:rPr>
              <a:t>2.  Disjoint vs overlap controls multi-subclass membership; total vs partial controls mandatory membership — four combinations.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1A1A1A"/>
                </a:solidFill>
              </a:rPr>
              <a:t>3.  Subclasses inherit shared attributes and add their own specific ones.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4160520"/>
            <a:ext cx="10972800" cy="1234440"/>
          </a:xfrm>
          <a:prstGeom prst="roundRect">
            <a:avLst/>
          </a:prstGeom>
          <a:solidFill>
            <a:srgbClr val="E1F5EE"/>
          </a:solidFill>
          <a:ln w="12700">
            <a:solidFill>
              <a:srgbClr val="0F6E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0F6E56"/>
                </a:solidFill>
              </a:rPr>
              <a:t>💡  Why this matters</a:t>
            </a:r>
          </a:p>
          <a:p>
            <a:pPr>
              <a:spcBef>
                <a:spcPts val="300"/>
              </a:spcBef>
            </a:pPr>
            <a:r>
              <a:rPr sz="1350">
                <a:solidFill>
                  <a:srgbClr val="1A1A1A"/>
                </a:solidFill>
              </a:rPr>
              <a:t>Banking (account types), HR (employee types), and e-commerce (user roles) all rely on specialization; choosing disjoint/total correctly prevents impossible records (an account of both types) and missing ones (a member in no subclass).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5504688"/>
            <a:ext cx="10972800" cy="1051560"/>
          </a:xfrm>
          <a:prstGeom prst="roundRect">
            <a:avLst/>
          </a:prstGeom>
          <a:solidFill>
            <a:srgbClr val="E6F1FB"/>
          </a:solidFill>
          <a:ln w="12700">
            <a:solidFill>
              <a:srgbClr val="185F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185FA5"/>
                </a:solidFill>
              </a:rPr>
              <a:t>➡️  Next</a:t>
            </a:r>
          </a:p>
          <a:p>
            <a:pPr>
              <a:spcBef>
                <a:spcPts val="300"/>
              </a:spcBef>
            </a:pPr>
            <a:r>
              <a:rPr sz="1350">
                <a:solidFill>
                  <a:srgbClr val="1A1A1A"/>
                </a:solidFill>
              </a:rPr>
              <a:t>S12 — turning all of these ER constructs into real relational tables.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2743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606B"/>
                </a:solidFill>
              </a:rPr>
              <a:t>32 / 50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5FA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737360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BFDCF2"/>
                </a:solidFill>
              </a:rPr>
              <a:t>SESSION 12 · UNIT 2 (CLOSES THE UNIT)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28600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100" b="1">
                <a:solidFill>
                  <a:srgbClr val="FFFFFF"/>
                </a:solidFill>
              </a:rPr>
              <a:t>Converting ER Diagrams to Tables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3703320"/>
            <a:ext cx="1280160" cy="82296"/>
          </a:xfrm>
          <a:prstGeom prst="rect">
            <a:avLst/>
          </a:prstGeom>
          <a:solidFill>
            <a:srgbClr val="854F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886200"/>
            <a:ext cx="105156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i="1">
                <a:solidFill>
                  <a:srgbClr val="E8F1F9"/>
                </a:solidFill>
              </a:rPr>
              <a:t>🎣  We've drawn beautiful diagrams. But MySQL doesn't understand diamonds and ovals — it understands tables. How do we translate?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2743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E8F0F7"/>
                </a:solidFill>
              </a:rPr>
              <a:t>33 / 50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85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85FA5"/>
                </a:solidFill>
              </a:rPr>
              <a:t>S12 · CONCEPT 1 · [THEORY]  ·  UNDERSTAND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03504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0C2B4A"/>
                </a:solidFill>
              </a:rPr>
              <a:t>The 7-Step Mapping Algorithm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5669280" cy="4617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1">
                <a:solidFill>
                  <a:srgbClr val="0C2B4A"/>
                </a:solidFill>
              </a:rPr>
              <a:t>A mechanical algorithm converts any ER diagram into relational tables. Learn the seven cases and mapping becomes routine.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185FA5"/>
                </a:solidFill>
              </a:rPr>
              <a:t>HOW IT WORKS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1A"/>
                </a:solidFill>
              </a:rPr>
              <a:t>•  1 Strong entity → table + simple attributes; pick a primary key.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1A"/>
                </a:solidFill>
              </a:rPr>
              <a:t>•  2 Weak entity → table incl. owner's PK (owner PK + partial key).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1A"/>
                </a:solidFill>
              </a:rPr>
              <a:t>•  3 1:1 → FK on one side (prefer the total side).   4 1:N → FK on the N (many) side.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1A"/>
                </a:solidFill>
              </a:rPr>
              <a:t>•  5 M:N → NEW junction table with both PKs.   6 Multivalued attr → separate table.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1A"/>
                </a:solidFill>
              </a:rPr>
              <a:t>•  7 n-ary → table with keys of ALL participants.  Composite → flatten; derived → not stored.</a:t>
            </a:r>
          </a:p>
        </p:txBody>
      </p:sp>
      <p:pic>
        <p:nvPicPr>
          <p:cNvPr id="6" name="Picture 5" descr="s12_mapping_t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126359"/>
            <a:ext cx="5532120" cy="3382522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0F6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364224"/>
            <a:ext cx="10881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50" b="1">
                <a:solidFill>
                  <a:srgbClr val="FFFFFF"/>
                </a:solidFill>
              </a:rPr>
              <a:t>🧠  Memory hook:  FK on the N side; junction for M:N; separate table for multivalued/weak.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2743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606B"/>
                </a:solidFill>
              </a:rPr>
              <a:t>34 / 50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85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85FA5"/>
                </a:solidFill>
              </a:rPr>
              <a:t>S12 · CONCEPT 1 · [THEORY]  ·  APPLY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03504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0C2B4A"/>
                </a:solidFill>
              </a:rPr>
              <a:t>The 7-Step Mapping Algorithm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17904"/>
            <a:ext cx="10972800" cy="1353312"/>
          </a:xfrm>
          <a:prstGeom prst="roundRect">
            <a:avLst/>
          </a:prstGeom>
          <a:solidFill>
            <a:srgbClr val="E6F1FB"/>
          </a:solidFill>
          <a:ln w="12700">
            <a:solidFill>
              <a:srgbClr val="185F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185FA5"/>
                </a:solidFill>
              </a:rPr>
              <a:t>🌍  Real example</a:t>
            </a:r>
          </a:p>
          <a:p>
            <a:pPr>
              <a:spcBef>
                <a:spcPts val="300"/>
              </a:spcBef>
            </a:pPr>
            <a:r>
              <a:rPr sz="1400">
                <a:solidFill>
                  <a:srgbClr val="1A1A1A"/>
                </a:solidFill>
              </a:rPr>
              <a:t>This is exactly the step every developer does between an approved ER design and the first CREATE TABLE (Unit 5) — turning a diagram into a running schema, one construct at a time.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80944"/>
            <a:ext cx="10972800" cy="1188720"/>
          </a:xfrm>
          <a:prstGeom prst="roundRect">
            <a:avLst/>
          </a:prstGeom>
          <a:solidFill>
            <a:srgbClr val="FAECE7"/>
          </a:solidFill>
          <a:ln w="12700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993C1D"/>
                </a:solidFill>
              </a:rPr>
              <a:t>⚠️  Common trap — and the fix</a:t>
            </a:r>
          </a:p>
          <a:p>
            <a:pPr>
              <a:spcBef>
                <a:spcPts val="300"/>
              </a:spcBef>
            </a:pPr>
            <a:r>
              <a:rPr sz="1400">
                <a:solidFill>
                  <a:srgbClr val="1A1A1A"/>
                </a:solidFill>
              </a:rPr>
              <a:t>Mapping by intuition instead of the algorithm is where schemas go wrong. Apply the seven cases mechanically and the tables fall out correctly every time.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4279392"/>
            <a:ext cx="10972800" cy="1755648"/>
          </a:xfrm>
          <a:prstGeom prst="roundRect">
            <a:avLst/>
          </a:prstGeom>
          <a:solidFill>
            <a:srgbClr val="E1F5EE"/>
          </a:solidFill>
          <a:ln w="12700">
            <a:solidFill>
              <a:srgbClr val="0F6E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0F6E56"/>
                </a:solidFill>
              </a:rPr>
              <a:t>🎯  Exam-ready answer</a:t>
            </a:r>
          </a:p>
          <a:p>
            <a:pPr>
              <a:spcBef>
                <a:spcPts val="300"/>
              </a:spcBef>
            </a:pPr>
            <a:r>
              <a:rPr sz="1400">
                <a:solidFill>
                  <a:srgbClr val="1A1A1A"/>
                </a:solidFill>
              </a:rPr>
              <a:t>(1) strong entity → table + PK; (2) weak entity → table with owner PK + partial key; (3) 1:1 → FK on one (total) side; (4) 1:N → FK on the N side; (5) M:N → junction table with both PKs; (6) multivalued attribute → separate table; (7) n-ary → table with all participants' keys. Composite attributes flatten; derived attributes are not stored.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6144768"/>
            <a:ext cx="10972800" cy="548640"/>
          </a:xfrm>
          <a:prstGeom prst="roundRect">
            <a:avLst/>
          </a:prstGeom>
          <a:solidFill>
            <a:srgbClr val="FAEEDA"/>
          </a:solidFill>
          <a:ln w="12700">
            <a:solidFill>
              <a:srgbClr val="854F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854F0B"/>
                </a:solidFill>
              </a:rPr>
              <a:t>🔑  Key terms</a:t>
            </a:r>
          </a:p>
          <a:p>
            <a:pPr>
              <a:spcBef>
                <a:spcPts val="300"/>
              </a:spcBef>
            </a:pPr>
            <a:r>
              <a:rPr sz="1150">
                <a:solidFill>
                  <a:srgbClr val="1A1A1A"/>
                </a:solidFill>
              </a:rPr>
              <a:t>mapping algorithm  ·  foreign key  ·  junction table  ·  composite → flatten  ·  derived → omit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2743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606B"/>
                </a:solidFill>
              </a:rPr>
              <a:t>35 / 50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85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85FA5"/>
                </a:solidFill>
              </a:rPr>
              <a:t>S12 · CONCEPT 2 · [THEORY]  ·  UNDERSTAND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03504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0C2B4A"/>
                </a:solidFill>
              </a:rPr>
              <a:t>Mapping 1:N — Foreign Key on the N Side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5669280" cy="4617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1">
                <a:solidFill>
                  <a:srgbClr val="0C2B4A"/>
                </a:solidFill>
              </a:rPr>
              <a:t>For a 1:N relationship the foreign key goes on the MANY side — each 'many' row points to its one partner. Putting it on the 'one' side would need a multi-valued column.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185FA5"/>
                </a:solidFill>
              </a:rPr>
              <a:t>HOW IT WORKS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1A"/>
                </a:solidFill>
              </a:rPr>
              <a:t>•  DEPARTMENT (1) — has — EMPLOYEE (N)  →  EMPLOYEE gets a dept_id foreign key.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1A"/>
                </a:solidFill>
              </a:rPr>
              <a:t>•  Tables: DEPARTMENT(dept_id PK, name) and EMPLOYEE(emp_id PK, name, dept_id FK).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1A"/>
                </a:solidFill>
              </a:rPr>
              <a:t>•  FK on the '1' side would force one row to hold many ids in one column.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1A"/>
                </a:solidFill>
              </a:rPr>
              <a:t>•  That breaks atomicity / first normal form (Unit 4).</a:t>
            </a:r>
          </a:p>
        </p:txBody>
      </p:sp>
      <p:pic>
        <p:nvPicPr>
          <p:cNvPr id="6" name="Picture 5" descr="s12_1n_f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550319"/>
            <a:ext cx="5532120" cy="25346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0F6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364224"/>
            <a:ext cx="10881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50" b="1">
                <a:solidFill>
                  <a:srgbClr val="FFFFFF"/>
                </a:solidFill>
              </a:rPr>
              <a:t>🧠  Memory hook:  1:N → FK on the many side.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2743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606B"/>
                </a:solidFill>
              </a:rPr>
              <a:t>36 / 50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85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85FA5"/>
                </a:solidFill>
              </a:rPr>
              <a:t>S12 · CONCEPT 2 · [THEORY]  ·  APPLY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03504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0C2B4A"/>
                </a:solidFill>
              </a:rPr>
              <a:t>Mapping 1:N — Foreign Key on the N Side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17904"/>
            <a:ext cx="10972800" cy="1353312"/>
          </a:xfrm>
          <a:prstGeom prst="roundRect">
            <a:avLst/>
          </a:prstGeom>
          <a:solidFill>
            <a:srgbClr val="E6F1FB"/>
          </a:solidFill>
          <a:ln w="12700">
            <a:solidFill>
              <a:srgbClr val="185F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185FA5"/>
                </a:solidFill>
              </a:rPr>
              <a:t>🌍  Real example</a:t>
            </a:r>
          </a:p>
          <a:p>
            <a:pPr>
              <a:spcBef>
                <a:spcPts val="300"/>
              </a:spcBef>
            </a:pPr>
            <a:r>
              <a:rPr sz="1400">
                <a:solidFill>
                  <a:srgbClr val="1A1A1A"/>
                </a:solidFill>
              </a:rPr>
              <a:t>On Daraz, CUSTOMER (1) — places — ORDER (N): the ORDER table carries a customer_id foreign key; you never store a list of order-ids inside CUSTOMER.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80944"/>
            <a:ext cx="10972800" cy="1188720"/>
          </a:xfrm>
          <a:prstGeom prst="roundRect">
            <a:avLst/>
          </a:prstGeom>
          <a:solidFill>
            <a:srgbClr val="FAECE7"/>
          </a:solidFill>
          <a:ln w="12700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993C1D"/>
                </a:solidFill>
              </a:rPr>
              <a:t>⚠️  Common trap — and the fix</a:t>
            </a:r>
          </a:p>
          <a:p>
            <a:pPr>
              <a:spcBef>
                <a:spcPts val="300"/>
              </a:spcBef>
            </a:pPr>
            <a:r>
              <a:rPr sz="1400">
                <a:solidFill>
                  <a:srgbClr val="1A1A1A"/>
                </a:solidFill>
              </a:rPr>
              <a:t>"Put the FK on the 1 side." Then the one row must hold many foreign values in a single column — non-atomic, breaks 1NF, and makes queries and updates unreliable. FK always goes on the N side.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4279392"/>
            <a:ext cx="10972800" cy="1755648"/>
          </a:xfrm>
          <a:prstGeom prst="roundRect">
            <a:avLst/>
          </a:prstGeom>
          <a:solidFill>
            <a:srgbClr val="E1F5EE"/>
          </a:solidFill>
          <a:ln w="12700">
            <a:solidFill>
              <a:srgbClr val="0F6E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0F6E56"/>
                </a:solidFill>
              </a:rPr>
              <a:t>🎯  Exam-ready answer</a:t>
            </a:r>
          </a:p>
          <a:p>
            <a:pPr>
              <a:spcBef>
                <a:spcPts val="300"/>
              </a:spcBef>
            </a:pPr>
            <a:r>
              <a:rPr sz="1400">
                <a:solidFill>
                  <a:srgbClr val="1A1A1A"/>
                </a:solidFill>
              </a:rPr>
              <a:t>In a 1:N relationship the foreign key goes on the N (many) side, because each many-side row relates to exactly one entity on the one side, so a single FK column suffices. Placing it on the one side would require a multi-valued (non-atomic) column.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6144768"/>
            <a:ext cx="10972800" cy="548640"/>
          </a:xfrm>
          <a:prstGeom prst="roundRect">
            <a:avLst/>
          </a:prstGeom>
          <a:solidFill>
            <a:srgbClr val="FAEEDA"/>
          </a:solidFill>
          <a:ln w="12700">
            <a:solidFill>
              <a:srgbClr val="854F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854F0B"/>
                </a:solidFill>
              </a:rPr>
              <a:t>🔑  Key terms</a:t>
            </a:r>
          </a:p>
          <a:p>
            <a:pPr>
              <a:spcBef>
                <a:spcPts val="300"/>
              </a:spcBef>
            </a:pPr>
            <a:r>
              <a:rPr sz="1150">
                <a:solidFill>
                  <a:srgbClr val="1A1A1A"/>
                </a:solidFill>
              </a:rPr>
              <a:t>1:N mapping  ·  foreign key placement  ·  N-side FK  ·  atomic column (1NF preview)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2743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606B"/>
                </a:solidFill>
              </a:rPr>
              <a:t>37 / 50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85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85FA5"/>
                </a:solidFill>
              </a:rPr>
              <a:t>S12 · CONCEPT 3 · [THEORY]  ·  UNDERSTAND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03504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0C2B4A"/>
                </a:solidFill>
              </a:rPr>
              <a:t>Mapping M:N — the Junction Table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5669280" cy="4617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1">
                <a:solidFill>
                  <a:srgbClr val="0C2B4A"/>
                </a:solidFill>
              </a:rPr>
              <a:t>An M:N relationship cannot be a single foreign key on either side. It maps to a NEW junction table whose rows are pairs of the two entities' primary keys.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185FA5"/>
                </a:solidFill>
              </a:rPr>
              <a:t>HOW IT WORKS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1A"/>
                </a:solidFill>
              </a:rPr>
              <a:t>•  The pair of keys is the junction table's composite primary key (each half is a FK).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1A"/>
                </a:solidFill>
              </a:rPr>
              <a:t>•  STUDENT (M) — ENROLLS — COURSE (N)  →  ENROLLS(roll_no FK, course_id FK).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1A"/>
                </a:solidFill>
              </a:rPr>
              <a:t>•  Any attributes of the relationship (date, grade) go INSIDE the junction table.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1A"/>
                </a:solidFill>
              </a:rPr>
              <a:t>•  One row per (student, course) pair.</a:t>
            </a:r>
          </a:p>
        </p:txBody>
      </p:sp>
      <p:pic>
        <p:nvPicPr>
          <p:cNvPr id="6" name="Picture 5" descr="s12_jun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97611"/>
            <a:ext cx="5532120" cy="2640017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0F6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364224"/>
            <a:ext cx="10881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50" b="1">
                <a:solidFill>
                  <a:srgbClr val="FFFFFF"/>
                </a:solidFill>
              </a:rPr>
              <a:t>🧠  Memory hook:  M:N → a junction table of paired keys.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2743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606B"/>
                </a:solidFill>
              </a:rPr>
              <a:t>38 / 50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85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85FA5"/>
                </a:solidFill>
              </a:rPr>
              <a:t>S12 · CONCEPT 3 · [THEORY]  ·  APPLY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03504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0C2B4A"/>
                </a:solidFill>
              </a:rPr>
              <a:t>Mapping M:N — the Junction Table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17904"/>
            <a:ext cx="10972800" cy="1353312"/>
          </a:xfrm>
          <a:prstGeom prst="roundRect">
            <a:avLst/>
          </a:prstGeom>
          <a:solidFill>
            <a:srgbClr val="E6F1FB"/>
          </a:solidFill>
          <a:ln w="12700">
            <a:solidFill>
              <a:srgbClr val="185F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185FA5"/>
                </a:solidFill>
              </a:rPr>
              <a:t>🌍  Real example</a:t>
            </a:r>
          </a:p>
          <a:p>
            <a:pPr>
              <a:spcBef>
                <a:spcPts val="300"/>
              </a:spcBef>
            </a:pPr>
            <a:r>
              <a:rPr sz="1400">
                <a:solidFill>
                  <a:srgbClr val="1A1A1A"/>
                </a:solidFill>
              </a:rPr>
              <a:t>Daraz ORDER (M) — contains — PRODUCT (N) becomes an ORDER_ITEM(order_id FK, product_id FK, quantity, price) junction table — one row per product in an order, with per-item data held right there.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80944"/>
            <a:ext cx="10972800" cy="1188720"/>
          </a:xfrm>
          <a:prstGeom prst="roundRect">
            <a:avLst/>
          </a:prstGeom>
          <a:solidFill>
            <a:srgbClr val="FAECE7"/>
          </a:solidFill>
          <a:ln w="12700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993C1D"/>
                </a:solidFill>
              </a:rPr>
              <a:t>⚠️  Common trap — and the fix</a:t>
            </a:r>
          </a:p>
          <a:p>
            <a:pPr>
              <a:spcBef>
                <a:spcPts val="300"/>
              </a:spcBef>
            </a:pPr>
            <a:r>
              <a:rPr sz="1400">
                <a:solidFill>
                  <a:srgbClr val="1A1A1A"/>
                </a:solidFill>
              </a:rPr>
              <a:t>"Store M:N as a comma-separated list of ids in a column." Then you can't query/aggregate one product cleanly and can't attach per-item data like quantity. The junction table solves both.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4279392"/>
            <a:ext cx="10972800" cy="1755648"/>
          </a:xfrm>
          <a:prstGeom prst="roundRect">
            <a:avLst/>
          </a:prstGeom>
          <a:solidFill>
            <a:srgbClr val="E1F5EE"/>
          </a:solidFill>
          <a:ln w="12700">
            <a:solidFill>
              <a:srgbClr val="0F6E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0F6E56"/>
                </a:solidFill>
              </a:rPr>
              <a:t>🎯  Exam-ready answer</a:t>
            </a:r>
          </a:p>
          <a:p>
            <a:pPr>
              <a:spcBef>
                <a:spcPts val="300"/>
              </a:spcBef>
            </a:pPr>
            <a:r>
              <a:rPr sz="1400">
                <a:solidFill>
                  <a:srgbClr val="1A1A1A"/>
                </a:solidFill>
              </a:rPr>
              <a:t>An M:N relationship maps to a new junction table whose composite primary key is the two participating entities' primary keys (each a foreign key); any attributes of the relationship become columns of the junction table (e.g. ENROLLS date/grade). Example: STUDENT–COURSE → ENROLLS(roll_no, course_id).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6144768"/>
            <a:ext cx="10972800" cy="548640"/>
          </a:xfrm>
          <a:prstGeom prst="roundRect">
            <a:avLst/>
          </a:prstGeom>
          <a:solidFill>
            <a:srgbClr val="FAEEDA"/>
          </a:solidFill>
          <a:ln w="12700">
            <a:solidFill>
              <a:srgbClr val="854F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854F0B"/>
                </a:solidFill>
              </a:rPr>
              <a:t>🔑  Key terms</a:t>
            </a:r>
          </a:p>
          <a:p>
            <a:pPr>
              <a:spcBef>
                <a:spcPts val="300"/>
              </a:spcBef>
            </a:pPr>
            <a:r>
              <a:rPr sz="1150">
                <a:solidFill>
                  <a:srgbClr val="1A1A1A"/>
                </a:solidFill>
              </a:rPr>
              <a:t>junction / relationship table  ·  composite primary key  ·  relationship attributes → junction  ·  one row per pair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2743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606B"/>
                </a:solidFill>
              </a:rPr>
              <a:t>39 / 50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85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85FA5"/>
                </a:solidFill>
              </a:rPr>
              <a:t>S12 · CONCEPT 4 · [THEORY]  ·  UNDERSTAND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03504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0C2B4A"/>
                </a:solidFill>
              </a:rPr>
              <a:t>Common Mapping Mistakes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10881360" cy="4617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1">
                <a:solidFill>
                  <a:srgbClr val="0C2B4A"/>
                </a:solidFill>
              </a:rPr>
              <a:t>Three recurring errors turn a clean design into a buggy schema. Knowing them is half of getting mapping right.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185FA5"/>
                </a:solidFill>
              </a:rPr>
              <a:t>HOW IT WORKS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1A"/>
                </a:solidFill>
              </a:rPr>
              <a:t>•  (a) Storing an M:N as a 'list of ids in a column' instead of a junction table — non-atomic, unqueryable.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1A"/>
                </a:solidFill>
              </a:rPr>
              <a:t>•  (b) Putting the 1:N foreign key on the '1' side instead of the N side.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1A"/>
                </a:solidFill>
              </a:rPr>
              <a:t>•  (c) Storing derived attributes (age, order total) instead of computing them — they drift out of date.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A1A1A"/>
                </a:solidFill>
              </a:rPr>
              <a:t>•  Mapping specialization: options are one-table-per-subclass or a single table with a type field (detail in Unit 4).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0F6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364224"/>
            <a:ext cx="10881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50" b="1">
                <a:solidFill>
                  <a:srgbClr val="FFFFFF"/>
                </a:solidFill>
              </a:rPr>
              <a:t>🧠  Memory hook:  No lists in a column; FK on the N side; never store derived.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2743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606B"/>
                </a:solidFill>
              </a:rPr>
              <a:t>40 / 50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85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85FA5"/>
                </a:solidFill>
              </a:rPr>
              <a:t>S12 · CONCEPT 4 · [THEORY]  ·  APPLY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03504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0C2B4A"/>
                </a:solidFill>
              </a:rPr>
              <a:t>Common Mapping Mistakes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17904"/>
            <a:ext cx="10972800" cy="1353312"/>
          </a:xfrm>
          <a:prstGeom prst="roundRect">
            <a:avLst/>
          </a:prstGeom>
          <a:solidFill>
            <a:srgbClr val="E6F1FB"/>
          </a:solidFill>
          <a:ln w="12700">
            <a:solidFill>
              <a:srgbClr val="185F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185FA5"/>
                </a:solidFill>
              </a:rPr>
              <a:t>🌍  Real example</a:t>
            </a:r>
          </a:p>
          <a:p>
            <a:pPr>
              <a:spcBef>
                <a:spcPts val="300"/>
              </a:spcBef>
            </a:pPr>
            <a:r>
              <a:rPr sz="1400">
                <a:solidFill>
                  <a:srgbClr val="1A1A1A"/>
                </a:solidFill>
              </a:rPr>
              <a:t>A slow, buggy reporting screen is often traced back to one of these three mapping mistakes made months earlier — a list-in-a-column M:N, a misplaced FK, or a stored derived total that no longer matches its parts.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80944"/>
            <a:ext cx="10972800" cy="1188720"/>
          </a:xfrm>
          <a:prstGeom prst="roundRect">
            <a:avLst/>
          </a:prstGeom>
          <a:solidFill>
            <a:srgbClr val="FAECE7"/>
          </a:solidFill>
          <a:ln w="12700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993C1D"/>
                </a:solidFill>
              </a:rPr>
              <a:t>⚠️  Common trap — and the fix</a:t>
            </a:r>
          </a:p>
          <a:p>
            <a:pPr>
              <a:spcBef>
                <a:spcPts val="300"/>
              </a:spcBef>
            </a:pPr>
            <a:r>
              <a:rPr sz="1400">
                <a:solidFill>
                  <a:srgbClr val="1A1A1A"/>
                </a:solidFill>
              </a:rPr>
              <a:t>All three feel convenient at the keyboard and cost dearly later. Follow the algorithm: junction table for M:N, FK on the N side, and omit derived attributes.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4279392"/>
            <a:ext cx="10972800" cy="1755648"/>
          </a:xfrm>
          <a:prstGeom prst="roundRect">
            <a:avLst/>
          </a:prstGeom>
          <a:solidFill>
            <a:srgbClr val="E1F5EE"/>
          </a:solidFill>
          <a:ln w="12700">
            <a:solidFill>
              <a:srgbClr val="0F6E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0F6E56"/>
                </a:solidFill>
              </a:rPr>
              <a:t>🎯  Exam-ready answer</a:t>
            </a:r>
          </a:p>
          <a:p>
            <a:pPr>
              <a:spcBef>
                <a:spcPts val="300"/>
              </a:spcBef>
            </a:pPr>
            <a:r>
              <a:rPr sz="1400">
                <a:solidFill>
                  <a:srgbClr val="1A1A1A"/>
                </a:solidFill>
              </a:rPr>
              <a:t>Common mistakes: (1) M:N stored as a multi-valued column instead of a junction table; (2) 1:N foreign key placed on the one side instead of the N side; (3) storing derived attributes rather than computing them. Correct: junction table for M:N, FK on the N side, omit derived attributes.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6144768"/>
            <a:ext cx="10972800" cy="548640"/>
          </a:xfrm>
          <a:prstGeom prst="roundRect">
            <a:avLst/>
          </a:prstGeom>
          <a:solidFill>
            <a:srgbClr val="FAEEDA"/>
          </a:solidFill>
          <a:ln w="12700">
            <a:solidFill>
              <a:srgbClr val="854F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854F0B"/>
                </a:solidFill>
              </a:rPr>
              <a:t>🔑  Key terms</a:t>
            </a:r>
          </a:p>
          <a:p>
            <a:pPr>
              <a:spcBef>
                <a:spcPts val="300"/>
              </a:spcBef>
            </a:pPr>
            <a:r>
              <a:rPr sz="1150">
                <a:solidFill>
                  <a:srgbClr val="1A1A1A"/>
                </a:solidFill>
              </a:rPr>
              <a:t>non-atomic column  ·  FK-placement error  ·  storing-derived error  ·  subclass mapping options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2743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606B"/>
                </a:solidFill>
              </a:rPr>
              <a:t>41 / 50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854F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854F0B"/>
                </a:solidFill>
              </a:rPr>
              <a:t>S12 · CAPSTONE SOLVED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03504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0C2B4A"/>
                </a:solidFill>
              </a:rPr>
              <a:t>Map a college ER diagram to tables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444752"/>
            <a:ext cx="10972800" cy="914400"/>
          </a:xfrm>
          <a:prstGeom prst="roundRect">
            <a:avLst/>
          </a:prstGeom>
          <a:solidFill>
            <a:srgbClr val="FAEEDA"/>
          </a:solidFill>
          <a:ln w="12700">
            <a:solidFill>
              <a:srgbClr val="854F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854F0B"/>
                </a:solidFill>
              </a:rPr>
              <a:t>📋  Problem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A1A1A"/>
                </a:solidFill>
              </a:rPr>
              <a:t>Map a college ER: STUDENT and COURSE (M:N ENROLLS, with a grade), DEPARTMENT (1:N with STUDENT), and a student's multiple phone numbers. Write every table with its primary and foreign keys.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487168"/>
            <a:ext cx="1069848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50" b="1">
                <a:solidFill>
                  <a:srgbClr val="854F0B"/>
                </a:solidFill>
              </a:rPr>
              <a:t>Step 1.  </a:t>
            </a:r>
            <a:r>
              <a:rPr sz="1250">
                <a:solidFill>
                  <a:srgbClr val="1A1A1A"/>
                </a:solidFill>
              </a:rPr>
              <a:t>Strong entities → their own tables: DEPARTMENT(dept_id PK, name); COURSE(course_id PK, title, credits).</a:t>
            </a:r>
          </a:p>
          <a:p>
            <a:pPr>
              <a:spcAft>
                <a:spcPts val="400"/>
              </a:spcAft>
            </a:pPr>
            <a:r>
              <a:rPr sz="1250" b="1">
                <a:solidFill>
                  <a:srgbClr val="854F0B"/>
                </a:solidFill>
              </a:rPr>
              <a:t>Step 2.  </a:t>
            </a:r>
            <a:r>
              <a:rPr sz="1250">
                <a:solidFill>
                  <a:srgbClr val="1A1A1A"/>
                </a:solidFill>
              </a:rPr>
              <a:t>1:N DEPARTMENT–STUDENT → FK on the N side: STUDENT(roll_no PK, name, dept_id FK).</a:t>
            </a:r>
          </a:p>
          <a:p>
            <a:pPr>
              <a:spcAft>
                <a:spcPts val="400"/>
              </a:spcAft>
            </a:pPr>
            <a:r>
              <a:rPr sz="1250" b="1">
                <a:solidFill>
                  <a:srgbClr val="854F0B"/>
                </a:solidFill>
              </a:rPr>
              <a:t>Step 3.  </a:t>
            </a:r>
            <a:r>
              <a:rPr sz="1250">
                <a:solidFill>
                  <a:srgbClr val="1A1A1A"/>
                </a:solidFill>
              </a:rPr>
              <a:t>M:N STUDENT–COURSE → new junction table with both PKs: ENROLLS(roll_no FK, course_id FK).</a:t>
            </a:r>
          </a:p>
          <a:p>
            <a:pPr>
              <a:spcAft>
                <a:spcPts val="400"/>
              </a:spcAft>
            </a:pPr>
            <a:r>
              <a:rPr sz="1250" b="1">
                <a:solidFill>
                  <a:srgbClr val="854F0B"/>
                </a:solidFill>
              </a:rPr>
              <a:t>Step 4.  </a:t>
            </a:r>
            <a:r>
              <a:rPr sz="1250">
                <a:solidFill>
                  <a:srgbClr val="1A1A1A"/>
                </a:solidFill>
              </a:rPr>
              <a:t>Relationship attribute 'grade' lives INSIDE the junction: ENROLLS(roll_no, course_id, grade), PK = (roll_no, course_id).</a:t>
            </a:r>
          </a:p>
          <a:p>
            <a:pPr>
              <a:spcAft>
                <a:spcPts val="400"/>
              </a:spcAft>
            </a:pPr>
            <a:r>
              <a:rPr sz="1250" b="1">
                <a:solidFill>
                  <a:srgbClr val="854F0B"/>
                </a:solidFill>
              </a:rPr>
              <a:t>Step 5.  </a:t>
            </a:r>
            <a:r>
              <a:rPr sz="1250">
                <a:solidFill>
                  <a:srgbClr val="1A1A1A"/>
                </a:solidFill>
              </a:rPr>
              <a:t>Multivalued 'phone' → its own table: STUDENT_PHONE(roll_no FK, phone), PK = (roll_no, phone).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5230368"/>
            <a:ext cx="10972800" cy="1371600"/>
          </a:xfrm>
          <a:prstGeom prst="roundRect">
            <a:avLst/>
          </a:prstGeom>
          <a:solidFill>
            <a:srgbClr val="E1F5EE"/>
          </a:solidFill>
          <a:ln w="12700">
            <a:solidFill>
              <a:srgbClr val="0F6E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0F6E56"/>
                </a:solidFill>
              </a:rPr>
              <a:t>✅  Worked answer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A1A1A"/>
                </a:solidFill>
              </a:rPr>
              <a:t>Five tables: DEPARTMENT(dept_id, name) · STUDENT(roll_no, name, dept_id→DEPARTMENT) · COURSE(course_id, title, credits) · ENROLLS(roll_no, course_id, grade) with composite PK · STUDENT_PHONE(roll_no, phone). Every M:N became a junction, every 1:N a FK on the N side, the multivalued attribute its own table — derived data stored nowhere.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2743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606B"/>
                </a:solidFill>
              </a:rPr>
              <a:t>42 / 50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854F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854F0B"/>
                </a:solidFill>
              </a:rPr>
              <a:t>CHECK FOR UNDERSTANDING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03504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>
                <a:solidFill>
                  <a:srgbClr val="0C2B4A"/>
                </a:solidFill>
              </a:rPr>
              <a:t>S12 — Quick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8813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</a:pPr>
            <a:r>
              <a:rPr sz="1700" b="1">
                <a:solidFill>
                  <a:srgbClr val="0C2B4A"/>
                </a:solidFill>
              </a:rPr>
              <a:t>Q1.  An M:N relationship maps to:</a:t>
            </a:r>
          </a:p>
          <a:p>
            <a:pPr lvl="1"/>
            <a:r>
              <a:rPr sz="1500" b="1">
                <a:solidFill>
                  <a:srgbClr val="0F6E56"/>
                </a:solidFill>
              </a:rPr>
              <a:t>a) a FK on either side   b) ✅ a new junction table   c) nothing   d) a derived attribute</a:t>
            </a:r>
          </a:p>
          <a:p>
            <a:pPr>
              <a:spcBef>
                <a:spcPts val="900"/>
              </a:spcBef>
            </a:pPr>
            <a:r>
              <a:rPr sz="1700" b="1">
                <a:solidFill>
                  <a:srgbClr val="0C2B4A"/>
                </a:solidFill>
              </a:rPr>
              <a:t>Q2.  In a 1:N relationship the foreign key is placed on the:</a:t>
            </a:r>
          </a:p>
          <a:p>
            <a:pPr lvl="1"/>
            <a:r>
              <a:rPr sz="1500" b="1">
                <a:solidFill>
                  <a:srgbClr val="0F6E56"/>
                </a:solidFill>
              </a:rPr>
              <a:t>✅ N (many) side</a:t>
            </a:r>
          </a:p>
          <a:p>
            <a:pPr lvl="1">
              <a:spcBef>
                <a:spcPts val="600"/>
              </a:spcBef>
            </a:pPr>
            <a:r>
              <a:rPr sz="1500" i="1">
                <a:solidFill>
                  <a:srgbClr val="1A1A1A"/>
                </a:solidFill>
              </a:rPr>
              <a:t>Discussion: take the eSewa USER–TRANSACTION model (S7) and write the tables (keys + FKs) it maps 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2743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606B"/>
                </a:solidFill>
              </a:rPr>
              <a:t>43 / 50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C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0C2B4A"/>
                </a:solidFill>
              </a:rPr>
              <a:t>S12 · SUMMARY  ·  [~2 MIN]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03504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0C2B4A"/>
                </a:solidFill>
              </a:rPr>
              <a:t>Summary &amp; Key Takeaways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1A1A1A"/>
                </a:solidFill>
              </a:rPr>
              <a:t>1.  A 7-step algorithm mechanically turns any ER diagram into relational tables.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1A1A1A"/>
                </a:solidFill>
              </a:rPr>
              <a:t>2.  FK on the N side; a junction table for M:N; a separate table for multivalued attributes and weak entities.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1A1A1A"/>
                </a:solidFill>
              </a:rPr>
              <a:t>3.  Flatten composite attributes into components; never store derived data.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4160520"/>
            <a:ext cx="10972800" cy="1234440"/>
          </a:xfrm>
          <a:prstGeom prst="roundRect">
            <a:avLst/>
          </a:prstGeom>
          <a:solidFill>
            <a:srgbClr val="E1F5EE"/>
          </a:solidFill>
          <a:ln w="12700">
            <a:solidFill>
              <a:srgbClr val="0F6E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0F6E56"/>
                </a:solidFill>
              </a:rPr>
              <a:t>💡  Why this matters</a:t>
            </a:r>
          </a:p>
          <a:p>
            <a:pPr>
              <a:spcBef>
                <a:spcPts val="300"/>
              </a:spcBef>
            </a:pPr>
            <a:r>
              <a:rPr sz="1350">
                <a:solidFill>
                  <a:srgbClr val="1A1A1A"/>
                </a:solidFill>
              </a:rPr>
              <a:t>This mapping is the exact bridge between design and CREATE TABLE (Unit 5) — the step every developer performs to turn an approved diagram into a running database in any Nepali tech job.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5504688"/>
            <a:ext cx="10972800" cy="1051560"/>
          </a:xfrm>
          <a:prstGeom prst="roundRect">
            <a:avLst/>
          </a:prstGeom>
          <a:solidFill>
            <a:srgbClr val="E6F1FB"/>
          </a:solidFill>
          <a:ln w="12700">
            <a:solidFill>
              <a:srgbClr val="185F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185FA5"/>
                </a:solidFill>
              </a:rPr>
              <a:t>➡️  Next</a:t>
            </a:r>
          </a:p>
          <a:p>
            <a:pPr>
              <a:spcBef>
                <a:spcPts val="300"/>
              </a:spcBef>
            </a:pPr>
            <a:r>
              <a:rPr sz="1350">
                <a:solidFill>
                  <a:srgbClr val="1A1A1A"/>
                </a:solidFill>
              </a:rPr>
              <a:t>Unit 3 — querying these tables formally with relational algebra and calculus.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2743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606B"/>
                </a:solidFill>
              </a:rPr>
              <a:t>44 / 50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85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85FA5"/>
                </a:solidFill>
              </a:rPr>
              <a:t>UNIT 2 · CHEAT SHEET (S9–S12)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03504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0C2B4A"/>
                </a:solidFill>
              </a:rPr>
              <a:t>One-page revision reference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72768"/>
            <a:ext cx="5349240" cy="1417320"/>
          </a:xfrm>
          <a:prstGeom prst="roundRect">
            <a:avLst/>
          </a:prstGeom>
          <a:solidFill>
            <a:srgbClr val="E6F1FB"/>
          </a:solidFill>
          <a:ln w="12700">
            <a:solidFill>
              <a:srgbClr val="185F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185FA5"/>
                </a:solidFill>
              </a:rPr>
              <a:t>Naming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A1A1A"/>
                </a:solidFill>
              </a:rPr>
              <a:t>Entities = singular nouns (STUDENT). Relationships = verbs (ENROLLS). Reads L→R as a sentence.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99632" y="1572768"/>
            <a:ext cx="5349240" cy="1417320"/>
          </a:xfrm>
          <a:prstGeom prst="roundRect">
            <a:avLst/>
          </a:prstGeom>
          <a:solidFill>
            <a:srgbClr val="E6F1FB"/>
          </a:solidFill>
          <a:ln w="12700">
            <a:solidFill>
              <a:srgbClr val="185F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185FA5"/>
                </a:solidFill>
              </a:rPr>
              <a:t>Attribute vs entity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A1A1A"/>
                </a:solidFill>
              </a:rPr>
              <a:t>Own attributes/relationships → its own ENTITY (CATEGORY). Plain value → attribute (colour). Don't over-model.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072384"/>
            <a:ext cx="5349240" cy="1417320"/>
          </a:xfrm>
          <a:prstGeom prst="roundRect">
            <a:avLst/>
          </a:prstGeom>
          <a:solidFill>
            <a:srgbClr val="E6F1FB"/>
          </a:solidFill>
          <a:ln w="12700">
            <a:solidFill>
              <a:srgbClr val="185F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185FA5"/>
                </a:solidFill>
              </a:rPr>
              <a:t>Ternary (degree 3)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A1A1A"/>
                </a:solidFill>
              </a:rPr>
              <a:t>One diamond, three entities. ≠ three binaries when the combination matters. Own attributes → associative entity.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9632" y="3072384"/>
            <a:ext cx="5349240" cy="1417320"/>
          </a:xfrm>
          <a:prstGeom prst="roundRect">
            <a:avLst/>
          </a:prstGeom>
          <a:solidFill>
            <a:srgbClr val="E6F1FB"/>
          </a:solidFill>
          <a:ln w="12700">
            <a:solidFill>
              <a:srgbClr val="185F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185FA5"/>
                </a:solidFill>
              </a:rPr>
              <a:t>Specialization / generalization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A1A1A"/>
                </a:solidFill>
              </a:rPr>
              <a:t>Top-down split / bottom-up combine. 'is-a' + attribute inheritance (shared up, specific down).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4572000"/>
            <a:ext cx="5349240" cy="1417320"/>
          </a:xfrm>
          <a:prstGeom prst="roundRect">
            <a:avLst/>
          </a:prstGeom>
          <a:solidFill>
            <a:srgbClr val="E6F1FB"/>
          </a:solidFill>
          <a:ln w="12700">
            <a:solidFill>
              <a:srgbClr val="185F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185FA5"/>
                </a:solidFill>
              </a:rPr>
              <a:t>Spec. constraints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A1A1A"/>
                </a:solidFill>
              </a:rPr>
              <a:t>Disjoint(d)/overlap(o) × total/partial = 4 combos. d,total: ACCOUNT→SAVINGS/CURRENT.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9632" y="4572000"/>
            <a:ext cx="5349240" cy="1417320"/>
          </a:xfrm>
          <a:prstGeom prst="roundRect">
            <a:avLst/>
          </a:prstGeom>
          <a:solidFill>
            <a:srgbClr val="E6F1FB"/>
          </a:solidFill>
          <a:ln w="12700">
            <a:solidFill>
              <a:srgbClr val="185F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82880" tIns="91440" bIns="73152"/>
          <a:lstStyle/>
          <a:p>
            <a:pPr algn="ctr"/>
            <a:r>
              <a:rPr sz="1250" b="1">
                <a:solidFill>
                  <a:srgbClr val="185FA5"/>
                </a:solidFill>
              </a:rPr>
              <a:t>ER → tables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A1A1A"/>
                </a:solidFill>
              </a:rPr>
              <a:t>FK on the N side · M:N → junction table (both PKs) · multivalued/weak → own table · derived → not stored.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2743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606B"/>
                </a:solidFill>
              </a:rPr>
              <a:t>45 / 50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85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85FA5"/>
                </a:solidFill>
              </a:rPr>
              <a:t>UNIT 2 · GLOSSARY (S9–S12)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03504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0C2B4A"/>
                </a:solidFill>
              </a:rPr>
              <a:t>Key terms — quick reference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53492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50" b="1">
                <a:solidFill>
                  <a:srgbClr val="0C2B4A"/>
                </a:solidFill>
              </a:rPr>
              <a:t>Notation legend — </a:t>
            </a:r>
            <a:r>
              <a:rPr sz="1150">
                <a:solidFill>
                  <a:srgbClr val="1A1A1A"/>
                </a:solidFill>
              </a:rPr>
              <a:t>the full Chen/EER symbol set for reading any diagram.</a:t>
            </a:r>
          </a:p>
          <a:p>
            <a:pPr>
              <a:spcAft>
                <a:spcPts val="600"/>
              </a:spcAft>
            </a:pPr>
            <a:r>
              <a:rPr sz="1150" b="1">
                <a:solidFill>
                  <a:srgbClr val="0C2B4A"/>
                </a:solidFill>
              </a:rPr>
              <a:t>Naming convention — </a:t>
            </a:r>
            <a:r>
              <a:rPr sz="1150">
                <a:solidFill>
                  <a:srgbClr val="1A1A1A"/>
                </a:solidFill>
              </a:rPr>
              <a:t>entities = singular nouns; relationships = verbs.</a:t>
            </a:r>
          </a:p>
          <a:p>
            <a:pPr>
              <a:spcAft>
                <a:spcPts val="600"/>
              </a:spcAft>
            </a:pPr>
            <a:r>
              <a:rPr sz="1150" b="1">
                <a:solidFill>
                  <a:srgbClr val="0C2B4A"/>
                </a:solidFill>
              </a:rPr>
              <a:t>Attribute-vs-entity — </a:t>
            </a:r>
            <a:r>
              <a:rPr sz="1150">
                <a:solidFill>
                  <a:srgbClr val="1A1A1A"/>
                </a:solidFill>
              </a:rPr>
              <a:t>model as entity only if it has its own attributes/relationships.</a:t>
            </a:r>
          </a:p>
          <a:p>
            <a:pPr>
              <a:spcAft>
                <a:spcPts val="600"/>
              </a:spcAft>
            </a:pPr>
            <a:r>
              <a:rPr sz="1150" b="1">
                <a:solidFill>
                  <a:srgbClr val="0C2B4A"/>
                </a:solidFill>
              </a:rPr>
              <a:t>Associative entity — </a:t>
            </a:r>
            <a:r>
              <a:rPr sz="1150">
                <a:solidFill>
                  <a:srgbClr val="1A1A1A"/>
                </a:solidFill>
              </a:rPr>
              <a:t>a relationship promoted to a rectangle (has its own attributes).</a:t>
            </a:r>
          </a:p>
          <a:p>
            <a:pPr>
              <a:spcAft>
                <a:spcPts val="600"/>
              </a:spcAft>
            </a:pPr>
            <a:r>
              <a:rPr sz="1150" b="1">
                <a:solidFill>
                  <a:srgbClr val="0C2B4A"/>
                </a:solidFill>
              </a:rPr>
              <a:t>Degree — </a:t>
            </a:r>
            <a:r>
              <a:rPr sz="1150">
                <a:solidFill>
                  <a:srgbClr val="1A1A1A"/>
                </a:solidFill>
              </a:rPr>
              <a:t>number of entity types in a relationship (binary/ternary/n-ary).</a:t>
            </a:r>
          </a:p>
          <a:p>
            <a:pPr>
              <a:spcAft>
                <a:spcPts val="600"/>
              </a:spcAft>
            </a:pPr>
            <a:r>
              <a:rPr sz="1150" b="1">
                <a:solidFill>
                  <a:srgbClr val="0C2B4A"/>
                </a:solidFill>
              </a:rPr>
              <a:t>Ternary — </a:t>
            </a:r>
            <a:r>
              <a:rPr sz="1150">
                <a:solidFill>
                  <a:srgbClr val="1A1A1A"/>
                </a:solidFill>
              </a:rPr>
              <a:t>a relationship among three entity types.</a:t>
            </a:r>
          </a:p>
          <a:p>
            <a:pPr>
              <a:spcAft>
                <a:spcPts val="600"/>
              </a:spcAft>
            </a:pPr>
            <a:r>
              <a:rPr sz="1150" b="1">
                <a:solidFill>
                  <a:srgbClr val="0C2B4A"/>
                </a:solidFill>
              </a:rPr>
              <a:t>Specialization — </a:t>
            </a:r>
            <a:r>
              <a:rPr sz="1150">
                <a:solidFill>
                  <a:srgbClr val="1A1A1A"/>
                </a:solidFill>
              </a:rPr>
              <a:t>top-down split of a superclass into subclasses.</a:t>
            </a:r>
          </a:p>
          <a:p>
            <a:pPr>
              <a:spcAft>
                <a:spcPts val="600"/>
              </a:spcAft>
            </a:pPr>
            <a:r>
              <a:rPr sz="1150" b="1">
                <a:solidFill>
                  <a:srgbClr val="0C2B4A"/>
                </a:solidFill>
              </a:rPr>
              <a:t>Generalization — </a:t>
            </a:r>
            <a:r>
              <a:rPr sz="1150">
                <a:solidFill>
                  <a:srgbClr val="1A1A1A"/>
                </a:solidFill>
              </a:rPr>
              <a:t>bottom-up combining of entities into a superclass.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99632" y="1600200"/>
            <a:ext cx="53492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50" b="1">
                <a:solidFill>
                  <a:srgbClr val="0C2B4A"/>
                </a:solidFill>
              </a:rPr>
              <a:t>Superclass / subclass — </a:t>
            </a:r>
            <a:r>
              <a:rPr sz="1150">
                <a:solidFill>
                  <a:srgbClr val="1A1A1A"/>
                </a:solidFill>
              </a:rPr>
              <a:t>the parent type and its 'is-a' children.</a:t>
            </a:r>
          </a:p>
          <a:p>
            <a:pPr>
              <a:spcAft>
                <a:spcPts val="600"/>
              </a:spcAft>
            </a:pPr>
            <a:r>
              <a:rPr sz="1150" b="1">
                <a:solidFill>
                  <a:srgbClr val="0C2B4A"/>
                </a:solidFill>
              </a:rPr>
              <a:t>Disjoint (d) / overlap (o) — </a:t>
            </a:r>
            <a:r>
              <a:rPr sz="1150">
                <a:solidFill>
                  <a:srgbClr val="1A1A1A"/>
                </a:solidFill>
              </a:rPr>
              <a:t>subclass membership: at most one / possibly several.</a:t>
            </a:r>
          </a:p>
          <a:p>
            <a:pPr>
              <a:spcAft>
                <a:spcPts val="600"/>
              </a:spcAft>
            </a:pPr>
            <a:r>
              <a:rPr sz="1150" b="1">
                <a:solidFill>
                  <a:srgbClr val="0C2B4A"/>
                </a:solidFill>
              </a:rPr>
              <a:t>Total / partial — </a:t>
            </a:r>
            <a:r>
              <a:rPr sz="1150">
                <a:solidFill>
                  <a:srgbClr val="1A1A1A"/>
                </a:solidFill>
              </a:rPr>
              <a:t>completeness: every member must join a subclass / need not.</a:t>
            </a:r>
          </a:p>
          <a:p>
            <a:pPr>
              <a:spcAft>
                <a:spcPts val="600"/>
              </a:spcAft>
            </a:pPr>
            <a:r>
              <a:rPr sz="1150" b="1">
                <a:solidFill>
                  <a:srgbClr val="0C2B4A"/>
                </a:solidFill>
              </a:rPr>
              <a:t>Attribute inheritance — </a:t>
            </a:r>
            <a:r>
              <a:rPr sz="1150">
                <a:solidFill>
                  <a:srgbClr val="1A1A1A"/>
                </a:solidFill>
              </a:rPr>
              <a:t>subclass gets the superclass's attributes + relationships.</a:t>
            </a:r>
          </a:p>
          <a:p>
            <a:pPr>
              <a:spcAft>
                <a:spcPts val="600"/>
              </a:spcAft>
            </a:pPr>
            <a:r>
              <a:rPr sz="1150" b="1">
                <a:solidFill>
                  <a:srgbClr val="0C2B4A"/>
                </a:solidFill>
              </a:rPr>
              <a:t>Mapping algorithm — </a:t>
            </a:r>
            <a:r>
              <a:rPr sz="1150">
                <a:solidFill>
                  <a:srgbClr val="1A1A1A"/>
                </a:solidFill>
              </a:rPr>
              <a:t>7-step ER→relational conversion.</a:t>
            </a:r>
          </a:p>
          <a:p>
            <a:pPr>
              <a:spcAft>
                <a:spcPts val="600"/>
              </a:spcAft>
            </a:pPr>
            <a:r>
              <a:rPr sz="1150" b="1">
                <a:solidFill>
                  <a:srgbClr val="0C2B4A"/>
                </a:solidFill>
              </a:rPr>
              <a:t>Foreign key — </a:t>
            </a:r>
            <a:r>
              <a:rPr sz="1150">
                <a:solidFill>
                  <a:srgbClr val="1A1A1A"/>
                </a:solidFill>
              </a:rPr>
              <a:t>an attribute referencing another table's primary key.</a:t>
            </a:r>
          </a:p>
          <a:p>
            <a:pPr>
              <a:spcAft>
                <a:spcPts val="600"/>
              </a:spcAft>
            </a:pPr>
            <a:r>
              <a:rPr sz="1150" b="1">
                <a:solidFill>
                  <a:srgbClr val="0C2B4A"/>
                </a:solidFill>
              </a:rPr>
              <a:t>Junction table — </a:t>
            </a:r>
            <a:r>
              <a:rPr sz="1150">
                <a:solidFill>
                  <a:srgbClr val="1A1A1A"/>
                </a:solidFill>
              </a:rPr>
              <a:t>the table an M:N relationship maps to (composite PK).</a:t>
            </a:r>
          </a:p>
          <a:p>
            <a:pPr>
              <a:spcAft>
                <a:spcPts val="600"/>
              </a:spcAft>
            </a:pPr>
            <a:r>
              <a:rPr sz="1150" b="1">
                <a:solidFill>
                  <a:srgbClr val="0C2B4A"/>
                </a:solidFill>
              </a:rPr>
              <a:t>Composite PK — </a:t>
            </a:r>
            <a:r>
              <a:rPr sz="1150">
                <a:solidFill>
                  <a:srgbClr val="1A1A1A"/>
                </a:solidFill>
              </a:rPr>
              <a:t>a primary key made of more than one column.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2743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606B"/>
                </a:solidFill>
              </a:rPr>
              <a:t>46 / 50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5FA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737360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BFDCF2"/>
                </a:solidFill>
              </a:rPr>
              <a:t>UNIT 2 · REVISION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28600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100" b="1">
                <a:solidFill>
                  <a:srgbClr val="FFFFFF"/>
                </a:solidFill>
              </a:rPr>
              <a:t>Consolidated end-of-unit quiz (S5–S12)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3703320"/>
            <a:ext cx="1280160" cy="82296"/>
          </a:xfrm>
          <a:prstGeom prst="rect">
            <a:avLst/>
          </a:prstGeom>
          <a:solidFill>
            <a:srgbClr val="854F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886200"/>
            <a:ext cx="105156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i="1">
                <a:solidFill>
                  <a:srgbClr val="E8F1F9"/>
                </a:solidFill>
              </a:rPr>
              <a:t>🎣  Twelve MCQs across the whole unit, then short-answer, diagramming, and discussion questions. Answers to the MCQs are shown; work the rest from the concept slides and Unit2b_material.md.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2743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E8F0F7"/>
                </a:solidFill>
              </a:rPr>
              <a:t>47 / 50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854F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854F0B"/>
                </a:solidFill>
              </a:rPr>
              <a:t>CHECK FOR UNDERSTANDING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03504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>
                <a:solidFill>
                  <a:srgbClr val="0C2B4A"/>
                </a:solidFill>
              </a:rPr>
              <a:t>Part A — Multiple choice (answers shown)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8813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sz="1250" b="1">
                <a:solidFill>
                  <a:srgbClr val="0F6E56"/>
                </a:solidFill>
              </a:rPr>
              <a:t>1.  ER model is used mainly at which phase?   →  ✅ conceptual</a:t>
            </a:r>
          </a:p>
          <a:p>
            <a:pPr lvl="1"/>
            <a:r>
              <a:rPr sz="1250" b="1">
                <a:solidFill>
                  <a:srgbClr val="0F6E56"/>
                </a:solidFill>
              </a:rPr>
              <a:t>2.  All students enrolled today form a/an   →  ✅ entity set</a:t>
            </a:r>
          </a:p>
          <a:p>
            <a:pPr lvl="1"/>
            <a:r>
              <a:rPr sz="1250" b="1">
                <a:solidFill>
                  <a:srgbClr val="0F6E56"/>
                </a:solidFill>
              </a:rPr>
              <a:t>3.  'Age' from date of birth is a/an   →  ✅ derived attribute</a:t>
            </a:r>
          </a:p>
          <a:p>
            <a:pPr lvl="1"/>
            <a:r>
              <a:rPr sz="1250" b="1">
                <a:solidFill>
                  <a:srgbClr val="0F6E56"/>
                </a:solidFill>
              </a:rPr>
              <a:t>4.  Multiple saved phone numbers is a/an   →  ✅ multivalued attribute</a:t>
            </a:r>
          </a:p>
          <a:p>
            <a:pPr lvl="1"/>
            <a:r>
              <a:rPr sz="1250" b="1">
                <a:solidFill>
                  <a:srgbClr val="0F6E56"/>
                </a:solidFill>
              </a:rPr>
              <a:t>5.  'One department, many employees' is   →  ✅ 1:N</a:t>
            </a:r>
          </a:p>
          <a:p>
            <a:pPr lvl="1"/>
            <a:r>
              <a:rPr sz="1250" b="1">
                <a:solidFill>
                  <a:srgbClr val="0F6E56"/>
                </a:solidFill>
              </a:rPr>
              <a:t>6.  A double line to a relationship denotes   →  ✅ total participation</a:t>
            </a:r>
          </a:p>
          <a:p>
            <a:pPr lvl="1"/>
            <a:r>
              <a:rPr sz="1250" b="1">
                <a:solidFill>
                  <a:srgbClr val="0F6E56"/>
                </a:solidFill>
              </a:rPr>
              <a:t>7.  A weak entity is one that   →  ✅ has no key of its own</a:t>
            </a:r>
          </a:p>
          <a:p>
            <a:pPr lvl="1"/>
            <a:r>
              <a:rPr sz="1250" b="1">
                <a:solidFill>
                  <a:srgbClr val="0F6E56"/>
                </a:solidFill>
              </a:rPr>
              <a:t>8.  Full identifier of a weak entity =   →  ✅ owner's PK + partial key</a:t>
            </a:r>
          </a:p>
          <a:p>
            <a:pPr lvl="1"/>
            <a:r>
              <a:rPr sz="1250" b="1">
                <a:solidFill>
                  <a:srgbClr val="0F6E56"/>
                </a:solidFill>
              </a:rPr>
              <a:t>9.  A relationship among three entity types is   →  ✅ ternary</a:t>
            </a:r>
          </a:p>
          <a:p>
            <a:pPr lvl="1"/>
            <a:r>
              <a:rPr sz="1250" b="1">
                <a:solidFill>
                  <a:srgbClr val="0F6E56"/>
                </a:solidFill>
              </a:rPr>
              <a:t>10.  'Savings or current, never both' is   →  ✅ disjoint</a:t>
            </a:r>
          </a:p>
          <a:p>
            <a:pPr lvl="1"/>
            <a:r>
              <a:rPr sz="1250" b="1">
                <a:solidFill>
                  <a:srgbClr val="0F6E56"/>
                </a:solidFill>
              </a:rPr>
              <a:t>11.  An M:N relationship maps to   →  ✅ a junction table</a:t>
            </a:r>
          </a:p>
          <a:p>
            <a:pPr lvl="1"/>
            <a:r>
              <a:rPr sz="1250" b="1">
                <a:solidFill>
                  <a:srgbClr val="0F6E56"/>
                </a:solidFill>
              </a:rPr>
              <a:t>12.  In a 1:N the FK goes on the   →  ✅ N side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2743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606B"/>
                </a:solidFill>
              </a:rPr>
              <a:t>48 / 50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854F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854F0B"/>
                </a:solidFill>
              </a:rPr>
              <a:t>CHECK FOR UNDERSTANDING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03504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>
                <a:solidFill>
                  <a:srgbClr val="0C2B4A"/>
                </a:solidFill>
              </a:rPr>
              <a:t>Parts B–D — short answer, diagramming &amp; discussion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8813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400" b="1">
                <a:solidFill>
                  <a:srgbClr val="0C2B4A"/>
                </a:solidFill>
              </a:rPr>
              <a:t>Part B — Short answer</a:t>
            </a:r>
          </a:p>
          <a:p>
            <a:pPr lvl="1">
              <a:spcBef>
                <a:spcPts val="200"/>
              </a:spcBef>
            </a:pPr>
            <a:r>
              <a:rPr sz="1250" i="1">
                <a:solidFill>
                  <a:srgbClr val="1A1A1A"/>
                </a:solidFill>
              </a:rPr>
              <a:t>1. Entity type vs entity set (one example each).   2. The four attribute types with a Nepali example each.</a:t>
            </a:r>
          </a:p>
          <a:p>
            <a:pPr lvl="1">
              <a:spcBef>
                <a:spcPts val="200"/>
              </a:spcBef>
            </a:pPr>
            <a:r>
              <a:rPr sz="1250" i="1">
                <a:solidFill>
                  <a:srgbClr val="1A1A1A"/>
                </a:solidFill>
              </a:rPr>
              <a:t>3. Cardinality ratio vs participation — how do they differ?   4. Why does a weak entity need an identifying relationship + partial key?   5. Disjoint vs overlap.</a:t>
            </a:r>
          </a:p>
          <a:p>
            <a:pPr>
              <a:spcBef>
                <a:spcPts val="500"/>
              </a:spcBef>
            </a:pPr>
            <a:r>
              <a:rPr sz="1400" b="1">
                <a:solidFill>
                  <a:srgbClr val="0C2B4A"/>
                </a:solidFill>
              </a:rPr>
              <a:t>Part C — Diagramming / applied</a:t>
            </a:r>
          </a:p>
          <a:p>
            <a:pPr lvl="1">
              <a:spcBef>
                <a:spcPts val="200"/>
              </a:spcBef>
            </a:pPr>
            <a:r>
              <a:rPr sz="1250" i="1">
                <a:solidFill>
                  <a:srgbClr val="1A1A1A"/>
                </a:solidFill>
              </a:rPr>
              <a:t>1. ER for a college library (MEMBER, BOOK, BORROWS+date, COPIES weak) — mark keys, partial key, cardinality, participation.</a:t>
            </a:r>
          </a:p>
          <a:p>
            <a:pPr lvl="1">
              <a:spcBef>
                <a:spcPts val="200"/>
              </a:spcBef>
            </a:pPr>
            <a:r>
              <a:rPr sz="1250" i="1">
                <a:solidFill>
                  <a:srgbClr val="1A1A1A"/>
                </a:solidFill>
              </a:rPr>
              <a:t>2. Map a Daraz fragment (CUSTOMER 1:N ORDER, ORDER M:N PRODUCT, multiple ADDRESSES) to tables with PKs and FKs.</a:t>
            </a:r>
          </a:p>
          <a:p>
            <a:pPr lvl="1">
              <a:spcBef>
                <a:spcPts val="200"/>
              </a:spcBef>
            </a:pPr>
            <a:r>
              <a:rPr sz="1250" i="1">
                <a:solidFill>
                  <a:srgbClr val="1A1A1A"/>
                </a:solidFill>
              </a:rPr>
              <a:t>3. Model a banking USER specialization (CUSTOMER, EMPLOYEE) — justify d/o and total/partial; list specific attributes.</a:t>
            </a:r>
          </a:p>
          <a:p>
            <a:pPr>
              <a:spcBef>
                <a:spcPts val="500"/>
              </a:spcBef>
            </a:pPr>
            <a:r>
              <a:rPr sz="1400" b="1">
                <a:solidFill>
                  <a:srgbClr val="0C2B4A"/>
                </a:solidFill>
              </a:rPr>
              <a:t>Part D — Discussion</a:t>
            </a:r>
          </a:p>
          <a:p>
            <a:pPr lvl="1">
              <a:spcBef>
                <a:spcPts val="200"/>
              </a:spcBef>
            </a:pPr>
            <a:r>
              <a:rPr sz="1250" i="1">
                <a:solidFill>
                  <a:srgbClr val="1A1A1A"/>
                </a:solidFill>
              </a:rPr>
              <a:t>1. Food-delivery fact as three binaries — what is lost, and when is a ternary right?   2. Daraz 'category' — attribute or entity? Argue both sides.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2743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606B"/>
                </a:solidFill>
              </a:rPr>
              <a:t>49 / 50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2B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2788920"/>
            <a:ext cx="1463040" cy="91440"/>
          </a:xfrm>
          <a:prstGeom prst="rect">
            <a:avLst/>
          </a:prstGeom>
          <a:solidFill>
            <a:srgbClr val="854F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</a:rPr>
              <a:t>End of Unit 2  ·  IT 220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97180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CFDDEA"/>
                </a:solidFill>
              </a:rPr>
              <a:t>S5–S12 complete: conceptual models → ER building blocks → relationships → weak entities → ER diagrams → ternary → specialization → ER-to-tables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94360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9AB2C6"/>
                </a:solidFill>
              </a:rPr>
              <a:t>Built to COURSE_MATERIAL_STANDARD.md · self-contained slides · exports cleanly to PDF · Next unit (Unit 3): Relational Algebra &amp; Relational Calculus.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2743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E8F0F7"/>
                </a:solidFill>
              </a:rPr>
              <a:t>50 / 50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