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what makes a schema good → the three anomalies → functional dependencies &amp;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min. Contrast the all-in-one ENROLL sheet with a clean split; motivates the whole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Point each anomaly callout at specific rows; highlight the repeated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Draw the FD arrows; contrast NationalID→person (works) with Name→person (fails).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the normalization ladder → 1NF → fixing the running table to 1NF.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Preview the ladder; each session climbs one or two rungs of the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Show the fat multivalued cell splitting into atomic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find the two violations before revealing; stress 1NF fixes CELLS, not yet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partial dependency → 2NF → transitive dependency → 3NF → the final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Colour the partial FDs red; split into three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Colour the transitive chain orange; split off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 min. Re-show the S18 anomalies checklist, now all ticked.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exam-tested skill in Unit 4 — let students drive each split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BCNF → MVD &amp; 4NF → lossless join &amp; dependency preservation →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Walk the Instructor→Room counterexample and its two-table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Show the courses×hobbies explosion grid, then the clean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Show a lossy split inventing spurious tuples vs a lossless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 min. This is the slide to photograph — the whole unit as one ladder into a safe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consolidated end-of-unit applied task; pause and let students drive every 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revision/assessment after S21.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Parts B–C. Full worked answer = the S21 capstone; details in Unit4_material.md.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Unit 4 — Database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IT 220: Database Management System  ·  BIM 4th Semester  ·  Sessions S18–S21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Running example: one bad ENROLL table, decomposed 1NF → 2NF → 3NF → BCNF → 4NF.  Self-contained slides — every concept complete on the slide face; exports to PDF with no information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 / 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OVERVIEW  ·  S18–S21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4 —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C2B4A"/>
                </a:solidFill>
              </a:rPr>
              <a:t>By the end of this unit, you will be able to: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Identify insertion, deletion, and update anomalies in a bad design (S18)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Define and detect functional dependencies (FDs) and the keys they imply (S18)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Apply 1NF, 2NF, 3NF to decompose a table step by step, with justification (S19–S20)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Define BCNF vs 3NF, and apply 4NF to multivalued dependencies (S21)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Check a decomposition is lossless and dependency-preserving (S21)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972800" cy="77724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↩️ Builds 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Unit 2 designed the tables (ER→relational); Unit 3 queried them (algebra/calculus). Unit 4 makes the tables GOOD, so Unit 5's SQL runs on a clean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4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Where each session fits (S18–S21)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THIS UNIT  ·  S18–S21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S18   Design guidelines · anomalies · functional dependencies
S19   Normalization ladder · First Normal Form (1NF)
S20   Second (2NF) &amp; Third (3NF) Normal Forms
S21   BCNF · MVD &amp; 4NF · lossless join &amp; dependency preservation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349240" cy="41605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55606B"/>
                </a:solidFill>
              </a:rPr>
              <a:t>⏭️  THEN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Unit 5   SQL — build &amp; query these clean tables
Unit 6   Transactions &amp; concurrency
Unit 7   Advanced topics
(Unit 4 threads ONE ENROLL table through every rung.)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18 ·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Design Guidelines &amp; Functional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A college tracks enrollments in one giant spreadsheet. A student changes their phone — and we edit it in 11 rows. Miss one, and the database now believes two different numbers. What went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Makes a Schema 'Good'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Informal design guidelines: each relation should represent ONE clear thing; minimise redundancy (never store the same fact twice); avoid excessive nulls; and avoid designs that produce spurious tuples when tables are re-joined.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Don't cram student, course, and instructor facts into one table — that's three things in 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Storing a fact once (a single source of truth) is the core goal.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all-in-one ENROLL sheet breaks the first two guidelines badly.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Good design trades a few more tables for far less redundancy.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One table = one 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Makes a Schema 'Good'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Every time a Nepali fintech or e-commerce team designs a new feature table, splitting entities cleanly up front — users vs orders vs merchants — is what prevents data corruption later. The cost of a bad first design compounds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"Fewer tables = simpler = better." No — fewer tables usually means MORE redundancy and MORE anomalies. The right number of tables is 'one per real thing'.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Good relational design: each relation models one entity with clear semantics; minimise redundant storage; minimise nulls; and avoid designs that generate spurious tuples on join. It trades a few more tables for far less redundancy and fewer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design guidelines · one-relation-one-entity · redundancy · nulls · spurious tuples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 bad all-in-one table → the entities it should be split into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3429000"/>
                <a:gridCol w="2400300"/>
                <a:gridCol w="36576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System · bad 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Facts crammed together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Guideline broken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Clean split (one-thing-per-table)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College ENROLL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+ course + instructor + grade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relation ≠ one 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· COURSE · INSTRUCTOR · ENROLL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Daraz orders sheet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+ product + order + seller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excessive redundancy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· PRODUCT · ORDER · SELLER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eSewa txn log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+ merchant + transaction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same fact stored many times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 · MERCHANT · TRANSACTION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Hospital record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patient + doctor + appointment + ward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relation ≠ one entity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PATIENT · DOCTOR · APPOINTMENT · WARD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Bank sheet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+ savings + loan fields in one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excessive nulls (loan cols empty)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· ACCOUNT · LOAN · BRANCH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Library register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member + book + loan + author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redundancy + spurious joins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MEMBER · BOOK · LOAN · AUTHOR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One relation per real thing. Each split stores every fact once and removes stray nulls — the whole reason this unit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Redundancy &amp; the Three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An anomaly is an update problem caused by REDUNDANT storage. Redundancy in the ENROLL table produces three kinds of anomaly.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Insertion anomaly: can't add a new course (code, title) until some student enrolls in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Deletion anomaly: if the last student drops a course, the course &amp; instructor facts vanish.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Update anomaly: an instructor's department changes → must fix every row; a partial fix = inconsistent data.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All three come from the same root cause: the same fact stored many times.</a:t>
            </a:r>
          </a:p>
        </p:txBody>
      </p:sp>
      <p:pic>
        <p:nvPicPr>
          <p:cNvPr id="6" name="Picture 5" descr="s18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34067"/>
            <a:ext cx="5532120" cy="31671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Redundancy → insert / delete / update anomalies.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Redundancy &amp; the Three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eSewa storing a merchant's commission rate copied into every transaction row: when the rate changes, some rows are updated and some aren't — now the database holds two 'truths' for one merchant. That's an update anomaly,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"Anomalies are rare edge cases." They're the everyday cost of redundancy — every duplicated fact is a future insert/delete/update anomaly waiting to corrupt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anomaly is an update problem caused by redundancy. Insertion: can't add a course until a student enrolls. Deletion: dropping the last student loses the course/instructor facts. Update: changing an instructor's department needs many-row edits, risking inconsistency. All stem from storing a fact more than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anomaly · insertion / deletion / update anomaly · redundancy · inconsistency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Each anomaly, worked on an unnormalized Nepali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4705"/>
                <a:gridCol w="4594411"/>
                <a:gridCol w="2913529"/>
                <a:gridCol w="2577352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Anomaly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Worked example (unnormalized table)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 it happens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The 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Insertion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record new course IT250 until a student enrolls in 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course fact needs an unrelated student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give COURSE its own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Insertion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add a new Daraz seller until they list a product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seller fact trapped behind a product row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separate SELLER table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Deletion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Last student drops IT246 → the course + its instructor vanish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delete erases unrelated facts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move course facts to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Deletion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Cancel Dr. Sharma's only booking → the doctor's phone is lost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patient row was holding the doctor fact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separate DOCTOR table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Update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 moves dept → edit 11 rows, miss one = two 'truths'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dept is copied into every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store dept once in INSTRUCTOR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Update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eSewa merchant commission changes → some txn rows go stale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rate duplicated per transaction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rate once in MERCHANT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All three anomalies share one root cause — the same fact stored more than once. Store each fact in exactly one place and they disappear.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Functional Dependencies (FDs)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functional dependency X → Y means 'if you know X, you know exactly one Y' — X DETERMINES Y. A key is an attribute set that functionally determines EVERY attribute; a candidate key is a minimal such set.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FDs come from real-world rules, not from today's data, and are ONE-directional.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ENROLL: StudentRoll → StudentName; CourseCode → CourseTitle; InstructorID → InstructorName, InstructorDept.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{StudentRoll, CourseCode} → Grade — the whole key determines the grade.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key here is {StudentRoll, CourseCode}. These FDs are the raw material for every normal form.</a:t>
            </a:r>
          </a:p>
        </p:txBody>
      </p:sp>
      <p:pic>
        <p:nvPicPr>
          <p:cNvPr id="6" name="Picture 5" descr="s18_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07841"/>
            <a:ext cx="5532120" cy="26195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X → Y = knowing X pins down one 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Functional Dependencies (FDs) &amp;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NationalID → citizen: the ID pins down exactly one person, so it can be a key. A NAME cannot — there are two people named 'Anish'. That's why real systems key on IDs, not names, and why FDs reveal the right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"X → Y means Y → X too." FDs are one-directional: Roll → Name, but Name does not determine Roll (duplicate names). Reversing an FD is the classic beginner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functional dependency X → Y holds if each X value is associated with exactly one Y value (X determines Y); FDs are one-directional and come from business rules. A key is a minimal attribute set that functionally determines all attributes; here the key is {StudentRoll, CourseCode}.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functional dependency (X → Y) · one-directional · candidate key · determines-all-attributes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S18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Which X → Y actually holds — and which reversals fail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/>
                <a:gridCol w="3175000"/>
                <a:gridCol w="1270000"/>
                <a:gridCol w="4190999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Determinant 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→ determines 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Holds?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Reason (real-world rule)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StudentName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roll = exactly one 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CourseCode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CourseTitle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code names one 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InstructorID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InstructorName, Dept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ID pins down one instructor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{StudentRoll, CourseCode}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whole key fixes one 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CitizenshipNo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PersonName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national ID is unique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StudentRoll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two students named 'Anish'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Phone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family can share one number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StudentRoll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many students score 'A'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FDs are one-directional and come from business rules, not today's sample rows — reversing an FD (Roll→Name so Name→Roll) is the classic beginner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Find an FD in your marksheet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look at your own college marksheet or result slip.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Find one functional dependency that holds (X → Y: one X gives exactly one Y).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Find one pair of columns where NEITHER determines the other.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e.g. FD: SubjectCode → SubjectName (one code, one name). Non-FD: StudentName and Grade — a name doesn't determine a grade, and a grade doesn't determine a name. FDs come from the real-world rule, not the sample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S18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Being unable to add a new course because no student has enrolled yet is which anomaly?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update   b) ✅ insertion   c) deletion   d) join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CourseCode → CourseTitle means: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titles determine codes   b) ✅ each code maps to exactly one title   c) codes are unique rows   d) nothing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an FD that holds in your marksheet, and a column pair where neither determines the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S18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Good schemas minimise redundancy — one relation per real thing.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Redundancy causes insertion, deletion, and update anomalies.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Functional dependencies (X → Y) formalise the rules and reveal the key ({StudentRoll, CourseCode}).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Spotting FDs and anomalies FIRST — before writing a line of code — is what prevents data corruption when a Nepali fintech or e-commerce team ships a new feature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S19 — turning these FDs into formal normal forms, starting with First Normal Form (1NF).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19 ·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Normal Forms &amp; First Normal Form (1NF)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One cell in our enrollment sheet says StudentPhone = '9801, 9842, 9818'. Is that one value or three? Can you query 'who has 9842'? This single fat cell is why 1NF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Normalization: 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Normalization is a STEP-BY-STEP process of refining tables to reduce redundancy and anomalies, judged against the FDs and keys. The normal forms form a ladder — 1NF ⊂ 2NF ⊂ 3NF ⊂ BCNF ⊂ 4NF.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Each rung fixes a SPECIFIC class of anomaly.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You climb one rung at a time — you don't fix everything in one action.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ladder is based on the FDs and the key you found in S18.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Higher rungs are stricter: satisfying 3NF means you already satisfy 1NF and 2NF.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Normalize one rung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Normalization: the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schema review on any product team is exactly this: 'is this table in 3NF? which dependency is still wrong?' — done incrementally, table by table, not as one giant rewrite.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"Normalization is one big action." It's incremental — you climb one normal form at a time, checking the specific anomaly each rung removes before moving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Normalization is a stepwise process of decomposing relations to reduce redundancy and anomalies, guided by FDs and keys, through a ladder of normal forms (1NF → 2NF → 3NF → BCNF → 4NF); each rung removes a specific class of anomaly and each is stricter than the last.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normalization · normal form · ladder (1NF→2NF→3NF→BCNF→4NF) · incremental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Each rung — the anomaly it removes and the fix on ENROLL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9090"/>
                <a:gridCol w="3001818"/>
                <a:gridCol w="3809999"/>
                <a:gridCol w="3579090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Rung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Anomaly it removes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Example violation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Decomposition 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lists / repeating groups in a cell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StudentPhone = '9801, 9842, 9818'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phones into their own rows/table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2NF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 dependency on a composite key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 → Name (half of {Roll, Course})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move Name into STUDENT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3NF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transitive dependency (non-key → non-key)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 → InstrID → Dept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move instructor facts into INSTRUCTOR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BCNF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non-superkey determinant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 → Room in SECTION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ROOM_OF(Instructor, Room)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4NF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independent multivalued facts crossed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 ↠ Phone AND Roll ↠ Hobby in one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separate PHONE and HOBBY tables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Higher rungs are stricter and include the lower ones — satisfying 3NF means you already satisfy 1NF and 2NF. Climb one rung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First Normal Form (1NF)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relation is in 1NF if every attribute holds a single, ATOMIC value — no repeating groups, no multivalued cells, no nested tables. Each cell = one value.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Violations in ENROLL: StudentPhone = '9801,9842,9818' and repeating Course1, Course2, Course3 columns.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 the phone: pull it into STUDENT_PHONE(StudentRoll, Phone) — one row per phone.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 the courses: flatten into one row per (StudentRoll, CourseCode).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Result: ENROLL_1NF with key {StudentRoll, CourseCode} — but redundancy still remains (sets up S20).</a:t>
            </a:r>
          </a:p>
        </p:txBody>
      </p:sp>
      <p:pic>
        <p:nvPicPr>
          <p:cNvPr id="6" name="Picture 5" descr="s19_1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30399"/>
            <a:ext cx="5532120" cy="23744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1NF = one atomic value per cell.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First Normal Form (1NF)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REST API or CSV export breaks the moment a field secretly holds a list. 1NF discipline is what keeps Daraz product attributes individually queryable and filterable — you can search 'phone = 9842' only if each phone is its own atomic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"1NF just means no duplicate rows." No — 1NF is about atomic, single-valued cells and no repeating groups; row uniqueness is a different idea (the key).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 is in 1NF if every attribute value is atomic (single-valued) with no repeating groups or nested relations. Multivalued/list cells are split into separate rows or a separate table — e.g. StudentPhone becomes STUDENT_PHONE(StudentRoll, Phone).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1NF · atomic value · repeating group · multivalued cell · one-value-per-cell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S19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Spot the 1NF violation → make each cell atomic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743200"/>
                <a:gridCol w="2514600"/>
                <a:gridCol w="38862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Column (as stored)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Bad value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1NF violation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1NF fix (atomic)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StudentPhone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'9801, 9842, 9818'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list inside one cell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STUDENT_PHONE(Roll, Phone), one per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Course1 / Course2 / Course3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three parallel columns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repeating group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row per (Roll, CourseCode)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Address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'Kathmandu-10, Baneshwor'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non-atomic composite value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into City, Ward, Tole columns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Daraz Product.Sizes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'S, M, L, XL'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multivalued cell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PRODUCT_SIZE(ProductID, Size)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Employee.Skills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'Python; SQL; Java'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list inside one cell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EMP_SKILL(EmpID, Skill)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Order.Items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'Rice x2, Dal x1'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repeating group in a cell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ORDER_ITEM(OrderID, Item, Qty)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1NF fixes CELLS (atomicity, no repeating groups) — it does NOT yet remove the row-level redundancy that 2NF and 3NF attack.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S19 ·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Bring ENROLL to 1NF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Given ENROLL with StudentPhone = '9801, 9842, 9818' and repeating Course1/Course2/Course3 columns, rewrite it so it satisfies First Normal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Spot the 1NF violations: a list in the StudentPhone cell, and repeating course columns (a repeating group).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Multivalued phone → its own table, one atomic value per row: STUDENT_PHONE(StudentRoll, Phone).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Repeating course columns → flatten to one row per (StudentRoll, CourseCode).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The main table becomes ENROLL_1NF(StudentRoll, StudentName, CourseCode, CourseTitle, InstructorID, InstructorName, InstructorDept, Grade).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Key = {StudentRoll, CourseCode}. Every cell is now atomic — but the row still repeats student/course/instructor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STUDENT_PHONE(StudentRoll, Phone) + ENROLL_1NF(StudentRoll, StudentName, CourseCode, CourseTitle, InstructorID, InstructorName, InstructorDept, Grade), key {StudentRoll, CourseCode}. 1NF removed the fat cells; the leftover redundancy is what 2NF and 3NF attack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S19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 column storing '9801, 9842, 9818' violates which normal form?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1NF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1NF primarily requires: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no redundancy   b) ✅ atomic, single-valued attributes   c) one table only   d) a foreign key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find a field on an online form that would be a 1NF violation if dumped into one column.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S19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Normalization is a step-by-step ladder (1NF → 2NF → 3NF → BCNF → 4NF).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1NF demands atomic, single-valued cells — no lists, no repeating groups.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We split ENROLL into 1NF, but student/course/instructor facts still repeat.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1NF discipline keeps fields queryable and filterable — every API, CSV export, and search filter depends on values being atomic, not secret 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S20 — 2NF and 3NF, attacking the redundancy 1NF left behind (partial and transitive dependencies).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20 ·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Second (2NF) &amp; Third (3NF) Normal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Our 1NF table has key {StudentRoll, CourseCode}. But StudentName depends only on StudentRoll — half the key. And InstructorDept depends on InstructorID, not the key at all. These two 'wrong dependencies' are exactly what 2NF and 3NF kill.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Partial Dependency &amp; 2NF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relation is in 2NF if it is in 1NF AND no non-key attribute depends on only PART of a composite key — no partial dependency. This only matters when the key is composite.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ENROLL_1NF (key {StudentRoll, CourseCode}): StudentRoll → StudentName and CourseCode → CourseTitle are partial.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 by moving each partially-dependent attribute to a table keyed on the part it depends 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→ STUDENT(StudentRoll, StudentName), COURSE(CourseCode, CourseTitle, InstructorID, InstructorName, InstructorDept), ENROLL(StudentRoll, CourseCode, Grade).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table with a single-attribute key is automatically in 2NF.</a:t>
            </a:r>
          </a:p>
        </p:txBody>
      </p:sp>
      <p:pic>
        <p:nvPicPr>
          <p:cNvPr id="6" name="Picture 5" descr="s20_2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92193"/>
            <a:ext cx="5532120" cy="2850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2NF: depend on the WHOLE key, not half.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Partial Dependency &amp; 2NF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shared grocery bill where some items belong to only one roommate: you split those out so nobody pays for what isn't theirs. 2NF does the same — StudentName belongs with the student, CourseTitle with the course, not on the enrollment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"Every table must be forced to 2NF separately." A table whose key is a single attribute is already in 2NF — partial dependency is only possible against a COMPOSITE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 is in 2NF if it is in 1NF and has no partial dependency — no non-key attribute depends on only part of a composite key. Fix by moving each partially-dependent attribute into a table keyed on the part it depends on (StudentRoll→StudentName gives a STUDENT table).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2NF · partial dependency · composite key · non-key 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Does the non-key depend on the WHOLE composite key?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7578"/>
                <a:gridCol w="2286000"/>
                <a:gridCol w="2286000"/>
                <a:gridCol w="1443789"/>
                <a:gridCol w="2526631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Table (composite key)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Non-key attribute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Actually depends 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Partial?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2NF 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ENROLL{Roll, Course}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StudentName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 only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partial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→ STUDENT(Roll, Name)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ENROLL{Roll, Course}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CourseTitle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 only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→ COURSE(Course, Title)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ENROLL{Roll, Course}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{Roll, Course}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❌ full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stays in ENROLL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ORDER_ITEM{Order, Product}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ProductName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Product only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→ PRODUCT(Product, Name)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ORDER_ITEM{Order, Product}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 only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✅ partial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→ ORDER(Order, Date)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ORDER_ITEM{Order, Product}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Quantity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{Order, Product}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❌ full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stays in ORDER_ITEM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Partial dependency is only possible against a COMPOSITE key. A table whose key is a single attribute is automatically in 2NF.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Transitive Dependency &amp; 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relation is in 3NF if it is in 2NF AND no non-key attribute depends on ANOTHER non-key attribute — no transitive dependency (a key → non-key → non-key chain).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 the COURSE table: CourseCode → InstructorID → InstructorName, InstructorDept is transitive.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instructor's facts repeat for every course they teach — redundancy again.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Fix: split into COURSE(CourseCode, CourseTitle, InstructorID) and INSTRUCTOR(InstructorID, InstructorName, InstructorDept).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Now each fact is determined directly by a key, not through a middle non-key attribute.</a:t>
            </a:r>
          </a:p>
        </p:txBody>
      </p:sp>
      <p:pic>
        <p:nvPicPr>
          <p:cNvPr id="6" name="Picture 5" descr="s20_3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3NF: no non-key → non-key chains.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Transitive Dependency &amp; 3NF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Khalti Transaction table with MerchantID → MerchantCity → CityRegion: the region repeats in every transaction row until you break the chain into its own table. 3NF is the everyday fix that keeps lookup facts in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"3NF means absolutely no redundancy ever." 3NF removes the common transitive redundancy, but a few odd cases survive — which is exactly why BCNF (S21)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 is in 3NF if it is in 2NF and has no transitive dependency — no non-key attribute determines another non-key attribute. Fix by moving the dependent non-key attributes into a table keyed on their determinant (InstructorID → its instructor facts).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3NF · transitive dependency · non-key determinant · key→non-key→non-key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Break the key → non-key → non-key chain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4114800"/>
                <a:gridCol w="2743200"/>
                <a:gridCol w="29718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Transitive chain (key → non-key → non-key)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Redundant fact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3NF 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 → InstrID → InstrName, Dept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 repeats per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INSTRUCTOR(InstrID, Name, Dept)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Khalti TXN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TxnID → MerchantID → MerchantCity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city repeats per transaction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MERCHANT(MerchantID, City)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EmpID → DeptID → DeptName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dept name repeats per 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DEPT(DeptID, DeptName)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 → ProgramID → ProgramName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program name repeats per student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PROGRAM(ProgramID, Name)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OrderID → CustID → CustCity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city repeats per order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CUSTOMER(CustID, City)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BOOK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ISBN → PublisherID → PublisherAddr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publisher address repeats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PUBLISHER(PubID, Addr)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 non-key attribute must depend on the key DIRECTLY, never through another non-key. Move the tail of the chain into its own keyed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Fully Decomposed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running ENROLL table is now five clean tables in 3NF — and every S18 anomaly is gone.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STUDENT(StudentRoll, StudentName) · STUDENT_PHONE(StudentRoll, Phone).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COURSE(CourseCode, CourseTitle, InstructorID) · INSTRUCTOR(InstructorID, InstructorName, InstructorDept).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ENROLL(StudentRoll, CourseCode, Grade).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Add a course with no students ✓; drop the last student, keep the course ✓; change an instructor's dept in ONE place ✓.</a:t>
            </a:r>
          </a:p>
        </p:txBody>
      </p:sp>
      <p:pic>
        <p:nvPicPr>
          <p:cNvPr id="6" name="Picture 5" descr="s20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Each fact in exactly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Fully Decomposed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This exact 1NF→2NF→3NF split is the everyday schema review on any Nepali product team — it's what keeps a user's profile, their orders, and merchant data from corrupting each other as the product grows.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"More tables makes it slower/harder." The five tables re-join losslessly on their shared keys; correctness comes first, and indexes/joins handle performance. A corrupt single-table design is far costlier.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After decomposition the design is STUDENT, STUDENT_PHONE, COURSE, INSTRUCTOR, ENROLL — each fact stored once. Course facts live in COURSE (no insert/delete anomaly), instructor facts in INSTRUCTOR (a dept change is one row), and the tables re-join losslessly.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decomposed design · one-fact-one-place · anomalies eliminated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S20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five 3NF tables → each fact once → anomaly gone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9387"/>
                <a:gridCol w="1982755"/>
                <a:gridCol w="3265714"/>
                <a:gridCol w="4082142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Final 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Primary key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Fact stored once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Anomaly it removes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name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update a name in ONE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STUDENT_PHONE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{Roll, Phone}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each phone, atomically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add/remove a phone freely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title + who teaches 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add a course with NO students (insertion ✓)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INSTRUCTOR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instructor name + dept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dept change = one row (update ✓)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{Roll, Course}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grade only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drop last student, keep course (deletion ✓)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five tables re-join losslessly on their shared keys (Roll, Course, InstrID) — every fact now lives in exactly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S20 ·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Decompose ENROLL_1NF → 2NF → 3NF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Starting from ENROLL_1NF (key {StudentRoll, CourseCode}), decompose it to 3NF, justifying each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List the offending FDs: StudentRoll → StudentName (partial); CourseCode → CourseTitle (partial); InstructorID → InstructorName, InstructorDept.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2NF — remove partial deps: pull StudentRoll→StudentName into STUDENT; pull CourseCode→(CourseTitle, instructor facts) into COURSE; leave ENROLL(StudentRoll, CourseCode, Grade).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Now inspect COURSE: CourseCode → InstructorID → InstructorName, InstructorDept is transitive.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3NF — remove the transitive dep: split COURSE into COURSE(CourseCode, CourseTitle, InstructorID) and INSTRUCTOR(InstructorID, InstructorName, InstructorDept).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Re-check: every non-key attribute now depends on the whole key and only the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Five 3NF tables: STUDENT(Roll, Name) · STUDENT_PHONE(Roll, Phone) · COURSE(Course, Title, InstrID) · INSTRUCTOR(InstrID, Name, Dept) · ENROLL(Roll, Course, Grade). Partial deps removed at 2NF, the transitive dep removed at 3NF — all three anomalies gone.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S20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 non-key attribute depending on only part of a composite key is a: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transitive dependency   b) ✅ partial dependency   c) multivalued dependency   d) trivial FD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CourseCode → InstructorID → InstructorDept is a ___ dependency, fixed by 3NF: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transitive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on the 5-table design, re-run 'instructor changes department' — how many rows change now, and why is that better?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S20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2NF removes partial dependencies on a composite key (StudentRoll→StudentName).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3NF removes transitive dependencies through non-key attributes (CourseCode→InstructorID→Dept).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The running table is now anomaly-free across five clean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The 1NF→2NF→3NF split is the everyday schema review on a product team — it keeps a user's profile, orders, and merchant data from corrupting each 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S21 — the stricter BCNF, multivalued dependencies/4NF, and how to know a decomposition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21 · UNIT 4 (CLOSES THE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BCNF · MVD &amp; 4NF · Properties of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Our 3NF design looks clean — but here's a course where every instructor uses one fixed room, and we still get a weird repeating glitch. 3NF says it's fine; reality says it isn't. Welcome to BCNF — and to knowing when a split is actually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Boyce–Codd Normal Form (BCNF)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relation is in BCNF if, for every non-trivial FD X → Y, X is a SUPERKEY. This is stricter than 3NF, which tolerates a non-superkey determinant in some prime-attribute cases.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SECTION(CourseCode, Instructor, Room) where Instructor → Room, but Instructor is NOT a superkey.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That is 3NF-OK yet BCNF-violating (a non-superkey determines something).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Fix: split into ROOM_OF(Instructor, Room) and TEACHES(CourseCode, Instructor).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3NF and BCNF coincide most of the time; they differ with overlapping candidate keys / a non-superkey determinant.</a:t>
            </a:r>
          </a:p>
        </p:txBody>
      </p:sp>
      <p:pic>
        <p:nvPicPr>
          <p:cNvPr id="6" name="Picture 5" descr="s21_bc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BCNF: every determinant is a superkey.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Boyce–Codd Normal Form (BCNF)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BCNF is the strict inspector who flags the one corner the 'good-enough' 3NF building code lets slide. In the SECTION example, 3NF passes it but the room fact still repeats for every course an instructor teaches — BCNF removes that last redundancy.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"3NF and BCNF are the same." They're equal most of the time, but differ when a non-superkey determines another attribute (often with overlapping candidate keys) — that case is 3NF-OK but not BCNF.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 is in BCNF if, for every non-trivial FD X → Y, X is a superkey. It is stricter than 3NF (which permits a non-superkey determinant of a prime attribute). They coincide unless a non-superkey determines something; then decompose so every determinant is a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BCNF · superkey · determinant · stricter-than-3NF · overlapping candidate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3NF-OK-but-BCNF-violating trap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1368"/>
                <a:gridCol w="1564105"/>
                <a:gridCol w="1082842"/>
                <a:gridCol w="1082842"/>
                <a:gridCol w="3368842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Table · FD to test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X a superkey?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3NF?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BCNF?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SECTION(Course, Instr, Room) · Instr → 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ROOM_OF(Instr, Room) + TEACHES(Course, Instr)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ADVISOR(Student, Subject, Teacher) · Teacher → Subject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split off TEACHES(Teacher, Subject)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BANK(Acct, Branch, Manager) · Manager → Branch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split off MANAGES(Manager, Branch)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ENROLL(Roll, Course, Grade) · {Roll,Course} → 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already BCNF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COURSE(Course, Title, InstrID) · Course → all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already BCNF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3NF and BCNF coincide unless a NON-superkey determines an attribute (often with overlapping candidate keys) — then decompose so every determinant is a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Multivalued Dependency (MVD) &amp; 4NF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multivalued dependency X ↠ Y means: for each X there is a SET of independent Y values, independent of the other attributes. A relation is in 4NF if it is in BCNF and has no non-trivial MVD (unless X is a superkey).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MVDs cause a multiplying 'cartesian product' redundancy even when there is no FD problem.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STUDENT_ACTIVITY(StudentRoll, Course, Hobby) — courses and hobbies are independent.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So every course pairs with every hobby (2 courses × 2 hobbies = 4 rows) — a row explosion.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Fix: split into (StudentRoll, Course) and (StudentRoll, Hobby).</a:t>
            </a:r>
          </a:p>
        </p:txBody>
      </p:sp>
      <p:pic>
        <p:nvPicPr>
          <p:cNvPr id="6" name="Picture 5" descr="s21_m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83586"/>
            <a:ext cx="5532120" cy="26680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4NF: don't cross-multiply independent multivalued 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Multivalued Dependency (MVD) &amp; 4NF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Storing a person's multiple PHONES and multiple EMAILS in one table is the classic 4NF violation — every phone gets paired with every email, so 2 phones × 3 emails = 6 meaningless rows. Split the two independent facts into separate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"4NF is the same as 1NF — both are about multiple values." 1NF bans lists INSIDE a cell; 4NF bans two INDEPENDENT multivalued facts combined in one table (the cross-multiply).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multivalued dependency X ↠ Y holds when X determines a set of Y values independent of the rest of the tuple. A relation is in 4NF if it is in BCNF and has no non-trivial MVD (unless the determinant is a superkey). Fix by splitting the independent multivalued attributes into separate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multivalued dependency (X ↠ Y) · 4NF · independent multivalued facts · row explosion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Two independent multivalued facts → row explosion → 4NF split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3886200"/>
                <a:gridCol w="2743200"/>
                <a:gridCol w="2857500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Two independent multivalued facts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Cross-multiply explosion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4NF split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STUDENT_ACTIVITY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 ↠ Course  and  Roll ↠ Hobby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courses × 2 hobbies = 4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(Roll, Course) + (Roll, Hobby)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CONTACT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Person ↠ Phone  and  Person ↠ Email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phones × 3 emails = 6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(Person, Phone) + (Person, Email)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EMP_SKILL_LANG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 ↠ Skill  and  Emp ↠ Language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 skills × 2 languages = 6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(Emp, Skill) + (Emp, Language)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DOCTOR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Doctor ↠ Clinic  and  Doctor ↠ Language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clinics × 2 languages = 4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(Doctor, Clinic) + (Doctor, Language)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DARAZ_SELLER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Seller ↠ Category  and  Seller ↠ PickupCity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categories × 3 cities = 6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(Seller, Category) + (Seller, City)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1NF bans lists INSIDE a cell; 4NF bans two INDEPENDENT multivalued facts crossed in ONE table. The rows carry no real information — pure cross-product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Lossless Join &amp; Dependency Preservation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decomposition must be CORRECT, judged by two properties: it must be lossless, and ideally dependency-preserving.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Lossless (non-additive) join: re-joining the pieces gives back EXACTLY the original — no missing, no spurious rows.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Rule: a binary split is lossless if the shared attribute is a SUPERKEY of at least one resulting table.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Dependency preservation: every original FD can still be enforced WITHOUT re-joining tables.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split can be lossless but NOT dependency-preserving — sometimes you keep 3NF (not BCNF) to preserve a dependency.</a:t>
            </a:r>
          </a:p>
        </p:txBody>
      </p:sp>
      <p:pic>
        <p:nvPicPr>
          <p:cNvPr id="6" name="Picture 5" descr="s21_loss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Lossless = rebuild exactly; preserve = check FDs without re-joining.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Lossless Join &amp; Dependency Preservation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Before a bank or telecom database migration, the litmus test is exactly this: are tables in (at least) 3NF/BCNF, and was every historical split lossless — so no records were silently duplicated or lost in the move?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"Any split into smaller tables is safe." A careless split is LOSSY — re-joining invents spurious tuples. Losslessness must be verified (shared attribute is a superkey of one piece), never assumed.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Two properties of a good decomposition: lossless (non-additive) join — the natural join of the pieces reproduces the original exactly (guaranteed if the common attribute is a superkey of one piece); and dependency preservation — all original FDs remain checkable without joining. A split must be lossless; dependency preservation is desirable and can conflict with BCNF.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lossless (non-additive) join · spurious tuples · shared attribute = superkey · dependency preservation · BCNF-vs-3NF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Is this split safe? Check lossless first, then dependency-preserving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8775"/>
                <a:gridCol w="1282959"/>
                <a:gridCol w="2216020"/>
                <a:gridCol w="1282959"/>
                <a:gridCol w="2449285"/>
              </a:tblGrid>
              <a:tr h="7360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Split into two tables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Shared attr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Superkey of a piece?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Lossless?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Dep-preserving?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STUDENT(Roll,Name) · ENROLL(Roll,Course,Grade)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Roll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key of 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COURSE(Course,Title,InstrID) · INSTRUCTOR(InstrID,Name,Dept)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InstrID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key of INSTRUCTOR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Careless R(A,B,C) → (A,B) · (A,C), A not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LOSSY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— (spurious tuples on re-join)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SECTION → ROOM_OF(Instr,Room) · TEACHES(Course,Instr)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Instr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key of ROOM_OF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❌ no (loses Course,Instr→Room)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7360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2B4A"/>
                          </a:solidFill>
                        </a:rPr>
                        <a:t>Bank(Acct,Branch) · (Branch,City) on Branch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Branch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key of Branch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</a:rPr>
                        <a:t>✅ 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 split MUST be lossless (shared attribute is a superkey of one piece, else re-join invents spurious tuples). Dependency preservation is desirable and can conflict with BCNF — sometimes you stop at 3NF.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4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4 Synthesis — the whole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complete toolkit: anomalies → FDs → 1NF → 2NF → 3NF → BCNF → 4NF, with the running ENROLL example at each rung, and a final gate: is the decomposition lossless and dependency-preserving?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1NF atomic values → 2NF no partial dep → 3NF no transitive dep.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BCNF every determinant a superkey → 4NF no independent MVD.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Each rung removes a specific class of anomaly; higher rungs are stricter.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Final gate on every split: lossless join (mandatory) + dependency preservation (desirable).</a:t>
            </a:r>
          </a:p>
        </p:txBody>
      </p:sp>
      <p:pic>
        <p:nvPicPr>
          <p:cNvPr id="6" name="Picture 5" descr="s21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63971"/>
            <a:ext cx="5532120" cy="27072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Anomalies → FDs → climb the ladder → check it's lossless.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4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4 Synthesis — the whole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Given any messy table in an exam or a real design review, the procedure is always the same: write the FDs and key, climb 1NF→2NF→3NF→BCNF→4NF removing one anomaly class per rung, and verify each split is lossless. That's a complete, repeatable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"Normalize as far as possible, always to the top." Not always — you sometimes stop at 3NF to keep a decomposition dependency-preserving. The goal is a correct, maintainable design, not the highest rung for its own sake.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Normalization procedure: detect anomalies → write FDs and the key → 1NF (atomic) → 2NF (no partial dep) → 3NF (no transitive dep) → BCNF (every determinant a superkey) → 4NF (no independent MVD), checking each decomposition is lossless and ideally dependency-preserving.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normal-form ladder · lossless &amp; dependency-preserving gate · anomaly-driven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S21 · CONCEPT 4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Which normal form is this table in? Diagnose by the worst violation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2971800"/>
                <a:gridCol w="2171700"/>
                <a:gridCol w="28575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Sample 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Problem present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Highest NF satisfied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To climb higher…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ENROLL(Roll, Phone='9801,9842', …)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list inside a cell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below 1NF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atomize the phone values → 1NF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ENROLL_1NF{Roll,Course}, Roll → 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 dependency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remove partial dep → 2NF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COURSE(Course, Title, InstrID, Dept)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transitive Course → InstrID → Dept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off INSTRUCTOR → 3NF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SECTION(Course, Instr, Room), Instr → Room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non-superkey determinant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so every determinant is a key → BCNF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STUDENT_ACTIVITY(Roll, Course, Hobby)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two independent MVDs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BCNF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split independent facts → 4NF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INSTRUCTOR(InstrID, Name, Dept)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4NF (fully normalized)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already done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Diagnose by the WORST violation present: non-atomic cell → below 1NF; partial dep → 1NF; transitive dep → 2NF; non-superkey determinant → 3NF; independent MVD → BCNF; none → 4NF.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S21 · CAPSTONE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Decompose ENROLL all the way to BCNF/4NF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Take the original ENROLL (with multivalued StudentPhone) and normalize it fully, checking correctness.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FDs &amp; key: Roll→Name; Course→Title; InstrID→InstrName,InstrDept; {Roll,Course}→Grade; MVD Roll ↠ Phone. Key = {Roll, Course}.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1NF: pull multivalued Phone → STUDENT_PHONE(Roll, Phone); flatten repeating courses.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2NF: remove partial deps → STUDENT(Roll, Name), COURSE(Course, Title, InstrID, InstrName, InstrDept), ENROLL(Roll, Course, Grade).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3NF: remove transitive dep in COURSE → COURSE(Course, Title, InstrID) + INSTRUCTOR(InstrID, InstrName, InstrDept).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BCNF check: every determinant (Roll, Course, InstrID) is now a key of its table → already BCNF. 4NF: Phone is isolated in its own table → no independent-MVD explosion.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6.  </a:t>
            </a:r>
            <a:r>
              <a:rPr sz="1250">
                <a:solidFill>
                  <a:srgbClr val="1A1A1A"/>
                </a:solidFill>
              </a:rPr>
              <a:t>Correctness: each split shares a superkey (Roll, Course, InstrID) → LOSSLESS; all FDs are checkable in one table each → dependency-preserving.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Final design (BCNF &amp; 4NF): STUDENT(Roll, Name) · STUDENT_PHONE(Roll, Phone) · COURSE(Course, Title, InstrID) · INSTRUCTOR(InstrID, Name, Dept) · ENROLL(Roll, Course, Grade). Lossless (shared superkeys) and dependency-preserving — the exam Part-C answer in full.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S21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 table is in 3NF but a non-superkey determines another attribute. It violates: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1NF   b) 2NF   c) ✅ BCNF   d) nothing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Re-joining decomposed tables produces extra, incorrect rows. The decomposition is: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lossless   b) ✅ lossy / has spurious tuples   c) dependency-preserving   d) in 4NF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a real 'independent multivalued facts' case (phones and skills) and how you'd 4NF-split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S21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BCNF tightens 3NF so every determinant is a superkey.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4NF removes independent multivalued redundancy (don't cross-multiply independent multivalued facts).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A good decomposition must be lossless and ideally dependency-preserving.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When a bank or telecom audits its database before a migration, the test is exactly this — are tables in 3NF/BCNF, and was every historical split lossless so no records were silently duplicated or lost?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Unit 5 — SQL: building and querying these clean, normalized tables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4 ·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One-page revision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The 3 anomalies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From redundancy: INSERTION (can't add w/o a related row) · DELETION (lose facts) · UPDATE (fix many rows).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FD &amp; key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X → Y = X determines exactly one Y (one-directional). Key = minimal set that determines all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1NF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Atomic, single-valued cells; no repeating groups or lists in a cell.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2NF / 3NF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2NF = 1NF + no PARTIAL dep on a composite key. 3NF = 2NF + no TRANSITIVE dep (non-key→non-key).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BCNF / 4NF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BCNF = every determinant is a superkey (stricter 3NF). 4NF = BCNF + no independent MVD (X ↠ 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Safe decomposition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LOSSLESS: shared attribute is a superkey of one piece (else spurious tuples). Plus DEPENDENCY-PRESERVING.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4 ·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 terms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Anomaly — </a:t>
            </a:r>
            <a:r>
              <a:rPr sz="1150">
                <a:solidFill>
                  <a:srgbClr val="1A1A1A"/>
                </a:solidFill>
              </a:rPr>
              <a:t>update problem caused by redundant storage.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Insertion / deletion / update — </a:t>
            </a:r>
            <a:r>
              <a:rPr sz="1150">
                <a:solidFill>
                  <a:srgbClr val="1A1A1A"/>
                </a:solidFill>
              </a:rPr>
              <a:t>can't add / lose facts / must fix many rows.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Functional dependency — </a:t>
            </a:r>
            <a:r>
              <a:rPr sz="1150">
                <a:solidFill>
                  <a:srgbClr val="1A1A1A"/>
                </a:solidFill>
              </a:rPr>
              <a:t>X → Y: X determines exactly one 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Candidate key — </a:t>
            </a:r>
            <a:r>
              <a:rPr sz="1150">
                <a:solidFill>
                  <a:srgbClr val="1A1A1A"/>
                </a:solidFill>
              </a:rPr>
              <a:t>minimal attribute set determining all attributes.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Superkey — </a:t>
            </a:r>
            <a:r>
              <a:rPr sz="1150">
                <a:solidFill>
                  <a:srgbClr val="1A1A1A"/>
                </a:solidFill>
              </a:rPr>
              <a:t>any attribute set that determines all attributes.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Partial dependency — </a:t>
            </a:r>
            <a:r>
              <a:rPr sz="1150">
                <a:solidFill>
                  <a:srgbClr val="1A1A1A"/>
                </a:solidFill>
              </a:rPr>
              <a:t>non-key depends on part of a composite key.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Transitive dependency — </a:t>
            </a:r>
            <a:r>
              <a:rPr sz="1150">
                <a:solidFill>
                  <a:srgbClr val="1A1A1A"/>
                </a:solidFill>
              </a:rPr>
              <a:t>non-key depends on another non-key.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1NF — </a:t>
            </a:r>
            <a:r>
              <a:rPr sz="1150">
                <a:solidFill>
                  <a:srgbClr val="1A1A1A"/>
                </a:solidFill>
              </a:rPr>
              <a:t>atomic values; no repeating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2NF — </a:t>
            </a:r>
            <a:r>
              <a:rPr sz="1150">
                <a:solidFill>
                  <a:srgbClr val="1A1A1A"/>
                </a:solidFill>
              </a:rPr>
              <a:t>1NF + no partial dependency.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3NF — </a:t>
            </a:r>
            <a:r>
              <a:rPr sz="1150">
                <a:solidFill>
                  <a:srgbClr val="1A1A1A"/>
                </a:solidFill>
              </a:rPr>
              <a:t>2NF + no transitive dependency.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BCNF — </a:t>
            </a:r>
            <a:r>
              <a:rPr sz="1150">
                <a:solidFill>
                  <a:srgbClr val="1A1A1A"/>
                </a:solidFill>
              </a:rPr>
              <a:t>every determinant is a superkey.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Multivalued dependency (↠) — </a:t>
            </a:r>
            <a:r>
              <a:rPr sz="1150">
                <a:solidFill>
                  <a:srgbClr val="1A1A1A"/>
                </a:solidFill>
              </a:rPr>
              <a:t>X gives a set of independent Y values.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4NF — </a:t>
            </a:r>
            <a:r>
              <a:rPr sz="1150">
                <a:solidFill>
                  <a:srgbClr val="1A1A1A"/>
                </a:solidFill>
              </a:rPr>
              <a:t>BCNF + no non-trivial MVD.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Lossless join — </a:t>
            </a:r>
            <a:r>
              <a:rPr sz="1150">
                <a:solidFill>
                  <a:srgbClr val="1A1A1A"/>
                </a:solidFill>
              </a:rPr>
              <a:t>re-join reproduces the original exactly.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Spurious tuples — </a:t>
            </a:r>
            <a:r>
              <a:rPr sz="1150">
                <a:solidFill>
                  <a:srgbClr val="1A1A1A"/>
                </a:solidFill>
              </a:rPr>
              <a:t>extra wrong rows from a lossy split.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Dependency preservation — </a:t>
            </a:r>
            <a:r>
              <a:rPr sz="1150">
                <a:solidFill>
                  <a:srgbClr val="1A1A1A"/>
                </a:solidFill>
              </a:rPr>
              <a:t>every FD checkable without re-joining.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UNIT 4 ·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Consolidated end-of-unit quiz (S18–S21)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Ten MCQs across the whole unit (answers shown), then short-answer and a full applied decomposition task to work from the concept slides and Unit4_material.md.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 A — Multiple choice (answers shown)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250" b="1">
                <a:solidFill>
                  <a:srgbClr val="0F6E56"/>
                </a:solidFill>
              </a:rPr>
              <a:t>1.  Can't record a new course until a student enrolls   →  ✅ insertion anomaly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2.  InstructorID → InstructorName is a   →  ✅ functional dependency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3.  A candidate key is a minimal set that   →  ✅ functionally determines all attributes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4.  A cell storing '9801,9842,9818' violates   →  ✅ 1NF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5.  2NF is only at risk with a   →  ✅ composite / multi-attribute key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6.  CourseCode → InstructorID → InstructorDept is a   →  ✅ transitive dependency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7.  BCNF requires every non-trivial determinant X to be a   →  ✅ superkey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8.  Independent courses &amp; hobbies crammed in one table violate   →  ✅ 4NF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9.  A decomposition producing spurious tuples on re-join is   →  ✅ lossy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10.  Property letting every FD be checked without re-joining   →  ✅ dependency preservation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Parts B–C — short answer &amp; applied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B — Short answer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1. List the three anomalies with a one-line example of each.   2. Partial vs transitive dependency, and the NF that removes each.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3. Why can a decomposition be lossless but NOT dependency-preserving? State the BCNF-vs-3NF trade-off.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C — Applied decomposition (the running ENROLL table)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1. Write the FDs and any MVD.   2. Identify the primary key.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3. Decompose step by step to BCNF/4NF, showing the table set at each stage (1NF→2NF→3NF→BCNF/4NF).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4. Confirm the final decomposition is lossless, and state whether it is dependency-preserving.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End of Unit 4  ·  IT 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S18–S21 complete: anomalies &amp; functional dependencies → 1NF → 2NF → 3NF → BCNF → 4NF, plus lossless join &amp; dependency preservation — one ENROLL table threaded through every 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Built to COURSE_MATERIAL_STANDARD.md · self-contained slides · exports cleanly to PDF · Next unit (Unit 5): SQL — building and querying these clean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