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HOOK [~5 min]. Agenda: what makes a schema good → the three anomalies → functional dependencies &amp; keys.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~10 min. Contrast the all-in-one ENROLL sheet with a clean split; motivates the whole unit.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~13 min. Point each anomaly callout at specific rows; highlight the repeated cells.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~12 min. Draw the FD arrows; contrast NationalID→person (works) with Name→person (fails).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ACTIVITY [~5 min].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[~5 min].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REAL-LIFE APPLICATION [~3 min] + SUMMARY [~2 min].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HOOK [~5 min]. Agenda: the normalization ladder → 1NF → fixing the running table to 1NF.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~13 min. Preview the ladder; each session climbs one or two rungs of the running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~12 min. Show the fat multivalued cell splitting into atomic rows.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Let students find the two violations before revealing; stress 1NF fixes CELLS, not yet redundancy.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[~5 min].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REAL-LIFE APPLICATION [~3 min] + SUMMARY [~2 min].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HOOK [~5 min]. Agenda: partial dependency → 2NF → transitive dependency → 3NF → the final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~12 min. Colour the partial FDs red; split into three tables.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~12 min. Colour the transitive chain orange; split off INSTRUCTOR.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~6 min. Re-show the S18 anomalies checklist, now all ticked.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single most exam-tested skill in Unit 4 — let students drive each split before revealing.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[~5 min].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REAL-LIFE APPLICATION [~3 min] + SUMMARY [~2 min].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HOOK [~5 min]. Agenda: BCNF → MVD &amp; 4NF → lossless join &amp; dependency preservation → synthesis.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~11 min. Walk the Instructor→Room counterexample and its two-table fix.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~12 min. Show the courses×hobbies explosion grid, then the clean split.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~12 min. Show a lossy split inventing spurious tuples vs a lossless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~7 min. This is the slide to photograph — the whole unit as one ladder into a safe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exactly the consolidated end-of-unit applied task; pause and let students drive every rung.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[~5 min].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REAL-LIFE APPLICATION [~3 min] + SUMMARY [~2 min].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for revision/assessment after S21.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Consolidated quiz Part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Consolidated quiz Parts B–C. Full worked answer = the S21 capstone; details in Unit4_material.md.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4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2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2B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788920"/>
            <a:ext cx="1463040" cy="91440"/>
          </a:xfrm>
          <a:prstGeom prst="rect">
            <a:avLst/>
          </a:prstGeom>
          <a:solidFill>
            <a:srgbClr val="854F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</a:rPr>
              <a:t>Unit 4 — Database Normalization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718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CFDDEA"/>
                </a:solidFill>
              </a:rPr>
              <a:t>IT 220: Database Management System  ·  BIM 4th Semester  ·  Sessions S18–S21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9436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9AB2C6"/>
                </a:solidFill>
              </a:rPr>
              <a:t>Running example: one bad ENROLL table, decomposed 1NF → 2NF → 3NF → BCNF → 4NF.  Self-contained slides — every concept complete on the slide face; exports to PDF with no information lost.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E8F0F7"/>
                </a:solidFill>
              </a:rPr>
              <a:t>1 / 49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OVERVIEW  ·  S18–S21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Unit 4 — Learning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0C2B4A"/>
                </a:solidFill>
              </a:rPr>
              <a:t>By the end of this unit, you will be able to:</a:t>
            </a:r>
          </a:p>
          <a:p>
            <a:pPr>
              <a:spcAft>
                <a:spcPts val="500"/>
              </a:spcAft>
            </a:pPr>
            <a:r>
              <a:rPr sz="1450">
                <a:solidFill>
                  <a:srgbClr val="1A1A1A"/>
                </a:solidFill>
              </a:rPr>
              <a:t>•  Identify insertion, deletion, and update anomalies in a bad design (S18)</a:t>
            </a:r>
          </a:p>
          <a:p>
            <a:pPr>
              <a:spcAft>
                <a:spcPts val="500"/>
              </a:spcAft>
            </a:pPr>
            <a:r>
              <a:rPr sz="1450">
                <a:solidFill>
                  <a:srgbClr val="1A1A1A"/>
                </a:solidFill>
              </a:rPr>
              <a:t>•  Define and detect functional dependencies (FDs) and the keys they imply (S18)</a:t>
            </a:r>
          </a:p>
          <a:p>
            <a:pPr>
              <a:spcAft>
                <a:spcPts val="500"/>
              </a:spcAft>
            </a:pPr>
            <a:r>
              <a:rPr sz="1450">
                <a:solidFill>
                  <a:srgbClr val="1A1A1A"/>
                </a:solidFill>
              </a:rPr>
              <a:t>•  Apply 1NF, 2NF, 3NF to decompose a table step by step, with justification (S19–S20)</a:t>
            </a:r>
          </a:p>
          <a:p>
            <a:pPr>
              <a:spcAft>
                <a:spcPts val="500"/>
              </a:spcAft>
            </a:pPr>
            <a:r>
              <a:rPr sz="1450">
                <a:solidFill>
                  <a:srgbClr val="1A1A1A"/>
                </a:solidFill>
              </a:rPr>
              <a:t>•  Define BCNF vs 3NF, and apply 4NF to multivalued dependencies (S21)</a:t>
            </a:r>
          </a:p>
          <a:p>
            <a:pPr>
              <a:spcAft>
                <a:spcPts val="500"/>
              </a:spcAft>
            </a:pPr>
            <a:r>
              <a:rPr sz="1450">
                <a:solidFill>
                  <a:srgbClr val="1A1A1A"/>
                </a:solidFill>
              </a:rPr>
              <a:t>•  Check a decomposition is lossless and dependency-preserving (S21)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06440"/>
            <a:ext cx="10972800" cy="777240"/>
          </a:xfrm>
          <a:prstGeom prst="roundRect">
            <a:avLst/>
          </a:prstGeom>
          <a:solidFill>
            <a:srgbClr val="E6F1FB"/>
          </a:solidFill>
          <a:ln w="12700">
            <a:solidFill>
              <a:srgbClr val="185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185FA5"/>
                </a:solidFill>
              </a:rPr>
              <a:t>↩️ Builds on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A1A1A"/>
                </a:solidFill>
              </a:rPr>
              <a:t>Unit 2 designed the tables (ER→relational); Unit 3 queried them (algebra/calculus). Unit 4 makes the tables GOOD, so Unit 5's SQL runs on a clean schema.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2 / 49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UNIT 4 —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Where each session fits (S18–S21)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5349240" cy="4160520"/>
          </a:xfrm>
          <a:prstGeom prst="roundRect">
            <a:avLst/>
          </a:prstGeom>
          <a:solidFill>
            <a:srgbClr val="E1F5EE"/>
          </a:solidFill>
          <a:ln w="12700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0F6E56"/>
                </a:solidFill>
              </a:rPr>
              <a:t>✅  THIS UNIT  ·  S18–S21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S18   Design guidelines · anomalies · functional dependencies
S19   Normalization ladder · First Normal Form (1NF)
S20   Second (2NF) &amp; Third (3NF) Normal Forms
S21   BCNF · MVD &amp; 4NF · lossless join &amp; dependency preservation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1645920"/>
            <a:ext cx="5349240" cy="4160520"/>
          </a:xfrm>
          <a:prstGeom prst="roundRect">
            <a:avLst/>
          </a:prstGeom>
          <a:solidFill>
            <a:srgbClr val="F2F5F8"/>
          </a:solidFill>
          <a:ln w="12700">
            <a:solidFill>
              <a:srgbClr val="5560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55606B"/>
                </a:solidFill>
              </a:rPr>
              <a:t>⏭️  THEN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Unit 5   SQL — build &amp; query these clean tables
Unit 6   Transactions &amp; concurrency
Unit 7   Advanced topics
(Unit 4 threads ONE ENROLL table through every rung.)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3 / 49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5F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BFDCF2"/>
                </a:solidFill>
              </a:rPr>
              <a:t>SESSION 18 · UNIT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100" b="1">
                <a:solidFill>
                  <a:srgbClr val="FFFFFF"/>
                </a:solidFill>
              </a:rPr>
              <a:t>Design Guidelines &amp; Functional Dependencies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703320"/>
            <a:ext cx="1280160" cy="82296"/>
          </a:xfrm>
          <a:prstGeom prst="rect">
            <a:avLst/>
          </a:prstGeom>
          <a:solidFill>
            <a:srgbClr val="854F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886200"/>
            <a:ext cx="10515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i="1">
                <a:solidFill>
                  <a:srgbClr val="E8F1F9"/>
                </a:solidFill>
              </a:rPr>
              <a:t>🎣  A college tracks enrollments in one giant spreadsheet. A student changes their phone — and we edit it in 11 rows. Miss one, and the database now believes two different numbers. What went wrong?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E8F0F7"/>
                </a:solidFill>
              </a:rPr>
              <a:t>4 / 49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S18 · CONCEPT 1 · [THEORY]  ·  UNDERSTAND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What Makes a Schema 'Good'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1088136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0C2B4A"/>
                </a:solidFill>
              </a:rPr>
              <a:t>Informal design guidelines: each relation should represent ONE clear thing; minimise redundancy (never store the same fact twice); avoid excessive nulls; and avoid designs that produce spurious tuples when tables are re-joined.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185FA5"/>
                </a:solidFill>
              </a:rPr>
              <a:t>HOW IT WORKS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Don't cram student, course, and instructor facts into one table — that's three things in one.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Storing a fact once (a single source of truth) is the core goal.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The all-in-one ENROLL sheet breaks the first two guidelines badly.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Good design trades a few more tables for far less redundancy.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364224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</a:rPr>
              <a:t>🧠  Memory hook:  One table = one thing.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5 / 49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S18 · CONCEPT 1 · [THEORY]  ·  APPLY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What Makes a Schema 'Good'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17904"/>
            <a:ext cx="10972800" cy="1353312"/>
          </a:xfrm>
          <a:prstGeom prst="roundRect">
            <a:avLst/>
          </a:prstGeom>
          <a:solidFill>
            <a:srgbClr val="E6F1FB"/>
          </a:solidFill>
          <a:ln w="12700">
            <a:solidFill>
              <a:srgbClr val="185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185FA5"/>
                </a:solidFill>
              </a:rPr>
              <a:t>🌍  Real example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Every time a Nepali fintech or e-commerce team designs a new feature table, splitting entities cleanly up front — users vs orders vs merchants — is what prevents data corruption later. The cost of a bad first design compounds for years.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80944"/>
            <a:ext cx="10972800" cy="1188720"/>
          </a:xfrm>
          <a:prstGeom prst="roundRect">
            <a:avLst/>
          </a:prstGeom>
          <a:solidFill>
            <a:srgbClr val="FAECE7"/>
          </a:solidFill>
          <a:ln w="12700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993C1D"/>
                </a:solidFill>
              </a:rPr>
              <a:t>⚠️  Common trap — and the fix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"Fewer tables = simpler = better." No — fewer tables usually means MORE redundancy and MORE anomalies. The right number of tables is 'one per real thing'.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279392"/>
            <a:ext cx="10972800" cy="1755648"/>
          </a:xfrm>
          <a:prstGeom prst="roundRect">
            <a:avLst/>
          </a:prstGeom>
          <a:solidFill>
            <a:srgbClr val="E1F5EE"/>
          </a:solidFill>
          <a:ln w="12700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0F6E56"/>
                </a:solidFill>
              </a:rPr>
              <a:t>🎯  Exam-ready answer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Good relational design: each relation models one entity with clear semantics; minimise redundant storage; minimise nulls; and avoid designs that generate spurious tuples on join. It trades a few more tables for far less redundancy and fewer anomalies.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6144768"/>
            <a:ext cx="10972800" cy="548640"/>
          </a:xfrm>
          <a:prstGeom prst="roundRect">
            <a:avLst/>
          </a:prstGeom>
          <a:solidFill>
            <a:srgbClr val="FAEEDA"/>
          </a:solidFill>
          <a:ln w="12700">
            <a:solidFill>
              <a:srgbClr val="854F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854F0B"/>
                </a:solidFill>
              </a:rPr>
              <a:t>🔑  Key terms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A1A1A"/>
                </a:solidFill>
              </a:rPr>
              <a:t>design guidelines · one-relation-one-entity · redundancy · nulls · spurious tuples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6 / 49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S18 · CONCEPT 2 · [THEORY]  ·  UNDERSTAND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Redundancy &amp; the Three Anomalies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566928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0C2B4A"/>
                </a:solidFill>
              </a:rPr>
              <a:t>An anomaly is an update problem caused by REDUNDANT storage. Redundancy in the ENROLL table produces three kinds of anomaly.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185FA5"/>
                </a:solidFill>
              </a:rPr>
              <a:t>HOW IT WORKS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Insertion anomaly: can't add a new course (code, title) until some student enrolls in it.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Deletion anomaly: if the last student drops a course, the course &amp; instructor facts vanish.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Update anomaly: an instructor's department changes → must fix every row; a partial fix = inconsistent data.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All three come from the same root cause: the same fact stored many times.</a:t>
            </a:r>
          </a:p>
        </p:txBody>
      </p:sp>
      <p:pic>
        <p:nvPicPr>
          <p:cNvPr id="6" name="Picture 5" descr="s18_anomal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234067"/>
            <a:ext cx="5532120" cy="3167104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364224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</a:rPr>
              <a:t>🧠  Memory hook:  Redundancy → insert / delete / update anomalies.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7 / 49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S18 · CONCEPT 2 · [THEORY]  ·  APPLY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Redundancy &amp; the Three Anomalies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17904"/>
            <a:ext cx="10972800" cy="1353312"/>
          </a:xfrm>
          <a:prstGeom prst="roundRect">
            <a:avLst/>
          </a:prstGeom>
          <a:solidFill>
            <a:srgbClr val="E6F1FB"/>
          </a:solidFill>
          <a:ln w="12700">
            <a:solidFill>
              <a:srgbClr val="185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185FA5"/>
                </a:solidFill>
              </a:rPr>
              <a:t>🌍  Real example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eSewa storing a merchant's commission rate copied into every transaction row: when the rate changes, some rows are updated and some aren't — now the database holds two 'truths' for one merchant. That's an update anomaly, live.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80944"/>
            <a:ext cx="10972800" cy="1188720"/>
          </a:xfrm>
          <a:prstGeom prst="roundRect">
            <a:avLst/>
          </a:prstGeom>
          <a:solidFill>
            <a:srgbClr val="FAECE7"/>
          </a:solidFill>
          <a:ln w="12700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993C1D"/>
                </a:solidFill>
              </a:rPr>
              <a:t>⚠️  Common trap — and the fix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"Anomalies are rare edge cases." They're the everyday cost of redundancy — every duplicated fact is a future insert/delete/update anomaly waiting to corrupt data.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279392"/>
            <a:ext cx="10972800" cy="1755648"/>
          </a:xfrm>
          <a:prstGeom prst="roundRect">
            <a:avLst/>
          </a:prstGeom>
          <a:solidFill>
            <a:srgbClr val="E1F5EE"/>
          </a:solidFill>
          <a:ln w="12700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0F6E56"/>
                </a:solidFill>
              </a:rPr>
              <a:t>🎯  Exam-ready answer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An anomaly is an update problem caused by redundancy. Insertion: can't add a course until a student enrolls. Deletion: dropping the last student loses the course/instructor facts. Update: changing an instructor's department needs many-row edits, risking inconsistency. All stem from storing a fact more than once.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6144768"/>
            <a:ext cx="10972800" cy="548640"/>
          </a:xfrm>
          <a:prstGeom prst="roundRect">
            <a:avLst/>
          </a:prstGeom>
          <a:solidFill>
            <a:srgbClr val="FAEEDA"/>
          </a:solidFill>
          <a:ln w="12700">
            <a:solidFill>
              <a:srgbClr val="854F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854F0B"/>
                </a:solidFill>
              </a:rPr>
              <a:t>🔑  Key terms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A1A1A"/>
                </a:solidFill>
              </a:rPr>
              <a:t>anomaly · insertion / deletion / update anomaly · redundancy · inconsistency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8 / 49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S18 · CONCEPT 3 · [THEORY]  ·  UNDERSTAND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Functional Dependencies (FDs) &amp; Keys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566928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0C2B4A"/>
                </a:solidFill>
              </a:rPr>
              <a:t>A functional dependency X → Y means 'if you know X, you know exactly one Y' — X DETERMINES Y. A key is an attribute set that functionally determines EVERY attribute; a candidate key is a minimal such set.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185FA5"/>
                </a:solidFill>
              </a:rPr>
              <a:t>HOW IT WORKS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FDs come from real-world rules, not from today's data, and are ONE-directional.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In ENROLL: StudentRoll → StudentName; CourseCode → CourseTitle; InstructorID → InstructorName, InstructorDept.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{StudentRoll, CourseCode} → Grade — the whole key determines the grade.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The key here is {StudentRoll, CourseCode}. These FDs are the raw material for every normal form.</a:t>
            </a:r>
          </a:p>
        </p:txBody>
      </p:sp>
      <p:pic>
        <p:nvPicPr>
          <p:cNvPr id="6" name="Picture 5" descr="s18_f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507841"/>
            <a:ext cx="5532120" cy="261955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364224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</a:rPr>
              <a:t>🧠  Memory hook:  X → Y = knowing X pins down one 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9 / 49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S18 · CONCEPT 3 · [THEORY]  ·  APPLY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Functional Dependencies (FDs) &amp; Keys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17904"/>
            <a:ext cx="10972800" cy="1353312"/>
          </a:xfrm>
          <a:prstGeom prst="roundRect">
            <a:avLst/>
          </a:prstGeom>
          <a:solidFill>
            <a:srgbClr val="E6F1FB"/>
          </a:solidFill>
          <a:ln w="12700">
            <a:solidFill>
              <a:srgbClr val="185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185FA5"/>
                </a:solidFill>
              </a:rPr>
              <a:t>🌍  Real example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NationalID → citizen: the ID pins down exactly one person, so it can be a key. A NAME cannot — there are two people named 'Anish'. That's why real systems key on IDs, not names, and why FDs reveal the right key.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80944"/>
            <a:ext cx="10972800" cy="1188720"/>
          </a:xfrm>
          <a:prstGeom prst="roundRect">
            <a:avLst/>
          </a:prstGeom>
          <a:solidFill>
            <a:srgbClr val="FAECE7"/>
          </a:solidFill>
          <a:ln w="12700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993C1D"/>
                </a:solidFill>
              </a:rPr>
              <a:t>⚠️  Common trap — and the fix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"X → Y means Y → X too." FDs are one-directional: Roll → Name, but Name does not determine Roll (duplicate names). Reversing an FD is the classic beginner error.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279392"/>
            <a:ext cx="10972800" cy="1755648"/>
          </a:xfrm>
          <a:prstGeom prst="roundRect">
            <a:avLst/>
          </a:prstGeom>
          <a:solidFill>
            <a:srgbClr val="E1F5EE"/>
          </a:solidFill>
          <a:ln w="12700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0F6E56"/>
                </a:solidFill>
              </a:rPr>
              <a:t>🎯  Exam-ready answer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A functional dependency X → Y holds if each X value is associated with exactly one Y value (X determines Y); FDs are one-directional and come from business rules. A key is a minimal attribute set that functionally determines all attributes; here the key is {StudentRoll, CourseCode}.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6144768"/>
            <a:ext cx="10972800" cy="548640"/>
          </a:xfrm>
          <a:prstGeom prst="roundRect">
            <a:avLst/>
          </a:prstGeom>
          <a:solidFill>
            <a:srgbClr val="FAEEDA"/>
          </a:solidFill>
          <a:ln w="12700">
            <a:solidFill>
              <a:srgbClr val="854F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854F0B"/>
                </a:solidFill>
              </a:rPr>
              <a:t>🔑  Key terms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A1A1A"/>
                </a:solidFill>
              </a:rPr>
              <a:t>functional dependency (X → Y) · one-directional · candidate key · determines-all-attributes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10 / 49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1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F6E56"/>
                </a:solidFill>
              </a:rPr>
              <a:t>🛠  IN-CLASS ACTIVITY  ·  THINK–PAIR–SHARE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Find an FD in your marksheet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50">
                <a:solidFill>
                  <a:srgbClr val="1A1A1A"/>
                </a:solidFill>
              </a:rPr>
              <a:t>•  In pairs (3 min): look at your own college marksheet or result slip.</a:t>
            </a:r>
          </a:p>
          <a:p>
            <a:pPr>
              <a:spcAft>
                <a:spcPts val="700"/>
              </a:spcAft>
            </a:pPr>
            <a:r>
              <a:rPr sz="1550">
                <a:solidFill>
                  <a:srgbClr val="1A1A1A"/>
                </a:solidFill>
              </a:rPr>
              <a:t>•  Find one functional dependency that holds (X → Y: one X gives exactly one Y).</a:t>
            </a:r>
          </a:p>
          <a:p>
            <a:pPr>
              <a:spcAft>
                <a:spcPts val="700"/>
              </a:spcAft>
            </a:pPr>
            <a:r>
              <a:rPr sz="1550">
                <a:solidFill>
                  <a:srgbClr val="1A1A1A"/>
                </a:solidFill>
              </a:rPr>
              <a:t>•  Find one pair of columns where NEITHER determines the other.</a:t>
            </a:r>
          </a:p>
          <a:p>
            <a:pPr>
              <a:spcAft>
                <a:spcPts val="700"/>
              </a:spcAft>
            </a:pPr>
            <a:r>
              <a:rPr sz="1550">
                <a:solidFill>
                  <a:srgbClr val="1A1A1A"/>
                </a:solidFill>
              </a:rPr>
              <a:t>•  Share (2 min).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029200"/>
            <a:ext cx="1088136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0F6E56"/>
                </a:solidFill>
              </a:rPr>
              <a:t>✅  Expected answer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e.g. FD: SubjectCode → SubjectName (one code, one name). Non-FD: StudentName and Grade — a name doesn't determine a grade, and a grade doesn't determine a name. FDs come from the real-world rule, not the sample rows.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11 / 49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54F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854F0B"/>
                </a:solidFill>
              </a:rPr>
              <a:t>CHECK FOR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S18 — Quick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881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</a:pPr>
            <a:r>
              <a:rPr sz="1700" b="1">
                <a:solidFill>
                  <a:srgbClr val="0C2B4A"/>
                </a:solidFill>
              </a:rPr>
              <a:t>Q1.  Being unable to add a new course because no student has enrolled yet is which anomaly?</a:t>
            </a:r>
          </a:p>
          <a:p>
            <a:pPr lvl="1"/>
            <a:r>
              <a:rPr sz="1500" b="1">
                <a:solidFill>
                  <a:srgbClr val="0F6E56"/>
                </a:solidFill>
              </a:rPr>
              <a:t>a) update   b) ✅ insertion   c) deletion   d) join</a:t>
            </a:r>
          </a:p>
          <a:p>
            <a:pPr>
              <a:spcBef>
                <a:spcPts val="900"/>
              </a:spcBef>
            </a:pPr>
            <a:r>
              <a:rPr sz="1700" b="1">
                <a:solidFill>
                  <a:srgbClr val="0C2B4A"/>
                </a:solidFill>
              </a:rPr>
              <a:t>Q2.  CourseCode → CourseTitle means:</a:t>
            </a:r>
          </a:p>
          <a:p>
            <a:pPr lvl="1"/>
            <a:r>
              <a:rPr sz="1500" b="1">
                <a:solidFill>
                  <a:srgbClr val="0F6E56"/>
                </a:solidFill>
              </a:rPr>
              <a:t>a) titles determine codes   b) ✅ each code maps to exactly one title   c) codes are unique rows   d) nothing</a:t>
            </a:r>
          </a:p>
          <a:p>
            <a:pPr lvl="1">
              <a:spcBef>
                <a:spcPts val="600"/>
              </a:spcBef>
            </a:pPr>
            <a:r>
              <a:rPr sz="1500" i="1">
                <a:solidFill>
                  <a:srgbClr val="1A1A1A"/>
                </a:solidFill>
              </a:rPr>
              <a:t>Discussion: an FD that holds in your marksheet, and a column pair where neither determines the other.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12 / 49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C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C2B4A"/>
                </a:solidFill>
              </a:rPr>
              <a:t>S18 · SUMMARY  ·  [~2 MIN]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Summary &amp; Key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1A1A1A"/>
                </a:solidFill>
              </a:rPr>
              <a:t>1.  Good schemas minimise redundancy — one relation per real thing.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A1A1A"/>
                </a:solidFill>
              </a:rPr>
              <a:t>2.  Redundancy causes insertion, deletion, and update anomalies.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A1A1A"/>
                </a:solidFill>
              </a:rPr>
              <a:t>3.  Functional dependencies (X → Y) formalise the rules and reveal the key ({StudentRoll, CourseCode}).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4160520"/>
            <a:ext cx="10972800" cy="1234440"/>
          </a:xfrm>
          <a:prstGeom prst="roundRect">
            <a:avLst/>
          </a:prstGeom>
          <a:solidFill>
            <a:srgbClr val="E1F5EE"/>
          </a:solidFill>
          <a:ln w="12700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0F6E56"/>
                </a:solidFill>
              </a:rPr>
              <a:t>💡  Why this matters</a:t>
            </a:r>
          </a:p>
          <a:p>
            <a:pPr>
              <a:spcBef>
                <a:spcPts val="300"/>
              </a:spcBef>
            </a:pPr>
            <a:r>
              <a:rPr sz="1350">
                <a:solidFill>
                  <a:srgbClr val="1A1A1A"/>
                </a:solidFill>
              </a:rPr>
              <a:t>Spotting FDs and anomalies FIRST — before writing a line of code — is what prevents data corruption when a Nepali fintech or e-commerce team ships a new feature table.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5504688"/>
            <a:ext cx="10972800" cy="1051560"/>
          </a:xfrm>
          <a:prstGeom prst="roundRect">
            <a:avLst/>
          </a:prstGeom>
          <a:solidFill>
            <a:srgbClr val="E6F1FB"/>
          </a:solidFill>
          <a:ln w="12700">
            <a:solidFill>
              <a:srgbClr val="185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185FA5"/>
                </a:solidFill>
              </a:rPr>
              <a:t>➡️  Next</a:t>
            </a:r>
          </a:p>
          <a:p>
            <a:pPr>
              <a:spcBef>
                <a:spcPts val="300"/>
              </a:spcBef>
            </a:pPr>
            <a:r>
              <a:rPr sz="1350">
                <a:solidFill>
                  <a:srgbClr val="1A1A1A"/>
                </a:solidFill>
              </a:rPr>
              <a:t>S19 — turning these FDs into formal normal forms, starting with First Normal Form (1NF).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13 / 49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5F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BFDCF2"/>
                </a:solidFill>
              </a:rPr>
              <a:t>SESSION 19 · UNIT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100" b="1">
                <a:solidFill>
                  <a:srgbClr val="FFFFFF"/>
                </a:solidFill>
              </a:rPr>
              <a:t>Normal Forms &amp; First Normal Form (1NF)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703320"/>
            <a:ext cx="1280160" cy="82296"/>
          </a:xfrm>
          <a:prstGeom prst="rect">
            <a:avLst/>
          </a:prstGeom>
          <a:solidFill>
            <a:srgbClr val="854F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886200"/>
            <a:ext cx="10515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i="1">
                <a:solidFill>
                  <a:srgbClr val="E8F1F9"/>
                </a:solidFill>
              </a:rPr>
              <a:t>🎣  One cell in our enrollment sheet says StudentPhone = '9801, 9842, 9818'. Is that one value or three? Can you query 'who has 9842'? This single fat cell is why 1NF exists.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E8F0F7"/>
                </a:solidFill>
              </a:rPr>
              <a:t>14 / 49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S19 · CONCEPT 1 · [THEORY]  ·  UNDERSTAND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Normalization: the Ladder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1088136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0C2B4A"/>
                </a:solidFill>
              </a:rPr>
              <a:t>Normalization is a STEP-BY-STEP process of refining tables to reduce redundancy and anomalies, judged against the FDs and keys. The normal forms form a ladder — 1NF ⊂ 2NF ⊂ 3NF ⊂ BCNF ⊂ 4NF.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185FA5"/>
                </a:solidFill>
              </a:rPr>
              <a:t>HOW IT WORKS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Each rung fixes a SPECIFIC class of anomaly.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You climb one rung at a time — you don't fix everything in one action.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The ladder is based on the FDs and the key you found in S18.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Higher rungs are stricter: satisfying 3NF means you already satisfy 1NF and 2NF.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364224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</a:rPr>
              <a:t>🧠  Memory hook:  Normalize one rung at a time.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15 / 49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S19 · CONCEPT 1 · [THEORY]  ·  APPLY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Normalization: the Ladder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17904"/>
            <a:ext cx="10972800" cy="1353312"/>
          </a:xfrm>
          <a:prstGeom prst="roundRect">
            <a:avLst/>
          </a:prstGeom>
          <a:solidFill>
            <a:srgbClr val="E6F1FB"/>
          </a:solidFill>
          <a:ln w="12700">
            <a:solidFill>
              <a:srgbClr val="185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185FA5"/>
                </a:solidFill>
              </a:rPr>
              <a:t>🌍  Real example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A schema review on any product team is exactly this: 'is this table in 3NF? which dependency is still wrong?' — done incrementally, table by table, not as one giant rewrite.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80944"/>
            <a:ext cx="10972800" cy="1188720"/>
          </a:xfrm>
          <a:prstGeom prst="roundRect">
            <a:avLst/>
          </a:prstGeom>
          <a:solidFill>
            <a:srgbClr val="FAECE7"/>
          </a:solidFill>
          <a:ln w="12700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993C1D"/>
                </a:solidFill>
              </a:rPr>
              <a:t>⚠️  Common trap — and the fix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"Normalization is one big action." It's incremental — you climb one normal form at a time, checking the specific anomaly each rung removes before moving up.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279392"/>
            <a:ext cx="10972800" cy="1755648"/>
          </a:xfrm>
          <a:prstGeom prst="roundRect">
            <a:avLst/>
          </a:prstGeom>
          <a:solidFill>
            <a:srgbClr val="E1F5EE"/>
          </a:solidFill>
          <a:ln w="12700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0F6E56"/>
                </a:solidFill>
              </a:rPr>
              <a:t>🎯  Exam-ready answer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Normalization is a stepwise process of decomposing relations to reduce redundancy and anomalies, guided by FDs and keys, through a ladder of normal forms (1NF → 2NF → 3NF → BCNF → 4NF); each rung removes a specific class of anomaly and each is stricter than the last.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6144768"/>
            <a:ext cx="10972800" cy="548640"/>
          </a:xfrm>
          <a:prstGeom prst="roundRect">
            <a:avLst/>
          </a:prstGeom>
          <a:solidFill>
            <a:srgbClr val="FAEEDA"/>
          </a:solidFill>
          <a:ln w="12700">
            <a:solidFill>
              <a:srgbClr val="854F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854F0B"/>
                </a:solidFill>
              </a:rPr>
              <a:t>🔑  Key terms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A1A1A"/>
                </a:solidFill>
              </a:rPr>
              <a:t>normalization · normal form · ladder (1NF→2NF→3NF→BCNF→4NF) · incremental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16 / 49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S19 · CONCEPT 2 · [THEORY]  ·  UNDERSTAND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First Normal Form (1NF)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566928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0C2B4A"/>
                </a:solidFill>
              </a:rPr>
              <a:t>A relation is in 1NF if every attribute holds a single, ATOMIC value — no repeating groups, no multivalued cells, no nested tables. Each cell = one value.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185FA5"/>
                </a:solidFill>
              </a:rPr>
              <a:t>HOW IT WORKS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Violations in ENROLL: StudentPhone = '9801,9842,9818' and repeating Course1, Course2, Course3 columns.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Fix the phone: pull it into STUDENT_PHONE(StudentRoll, Phone) — one row per phone.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Fix the courses: flatten into one row per (StudentRoll, CourseCode).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Result: ENROLL_1NF with key {StudentRoll, CourseCode} — but redundancy still remains (sets up S20).</a:t>
            </a:r>
          </a:p>
        </p:txBody>
      </p:sp>
      <p:pic>
        <p:nvPicPr>
          <p:cNvPr id="6" name="Picture 5" descr="s19_1n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630399"/>
            <a:ext cx="5532120" cy="237444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364224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</a:rPr>
              <a:t>🧠  Memory hook:  1NF = one atomic value per cell.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17 / 49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S19 · CONCEPT 2 · [THEORY]  ·  APPLY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First Normal Form (1NF)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17904"/>
            <a:ext cx="10972800" cy="1353312"/>
          </a:xfrm>
          <a:prstGeom prst="roundRect">
            <a:avLst/>
          </a:prstGeom>
          <a:solidFill>
            <a:srgbClr val="E6F1FB"/>
          </a:solidFill>
          <a:ln w="12700">
            <a:solidFill>
              <a:srgbClr val="185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185FA5"/>
                </a:solidFill>
              </a:rPr>
              <a:t>🌍  Real example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A REST API or CSV export breaks the moment a field secretly holds a list. 1NF discipline is what keeps Daraz product attributes individually queryable and filterable — you can search 'phone = 9842' only if each phone is its own atomic value.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80944"/>
            <a:ext cx="10972800" cy="1188720"/>
          </a:xfrm>
          <a:prstGeom prst="roundRect">
            <a:avLst/>
          </a:prstGeom>
          <a:solidFill>
            <a:srgbClr val="FAECE7"/>
          </a:solidFill>
          <a:ln w="12700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993C1D"/>
                </a:solidFill>
              </a:rPr>
              <a:t>⚠️  Common trap — and the fix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"1NF just means no duplicate rows." No — 1NF is about atomic, single-valued cells and no repeating groups; row uniqueness is a different idea (the key).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279392"/>
            <a:ext cx="10972800" cy="1755648"/>
          </a:xfrm>
          <a:prstGeom prst="roundRect">
            <a:avLst/>
          </a:prstGeom>
          <a:solidFill>
            <a:srgbClr val="E1F5EE"/>
          </a:solidFill>
          <a:ln w="12700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0F6E56"/>
                </a:solidFill>
              </a:rPr>
              <a:t>🎯  Exam-ready answer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A relation is in 1NF if every attribute value is atomic (single-valued) with no repeating groups or nested relations. Multivalued/list cells are split into separate rows or a separate table — e.g. StudentPhone becomes STUDENT_PHONE(StudentRoll, Phone).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6144768"/>
            <a:ext cx="10972800" cy="548640"/>
          </a:xfrm>
          <a:prstGeom prst="roundRect">
            <a:avLst/>
          </a:prstGeom>
          <a:solidFill>
            <a:srgbClr val="FAEEDA"/>
          </a:solidFill>
          <a:ln w="12700">
            <a:solidFill>
              <a:srgbClr val="854F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854F0B"/>
                </a:solidFill>
              </a:rPr>
              <a:t>🔑  Key terms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A1A1A"/>
                </a:solidFill>
              </a:rPr>
              <a:t>1NF · atomic value · repeating group · multivalued cell · one-value-per-cell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18 / 49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54F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854F0B"/>
                </a:solidFill>
              </a:rPr>
              <a:t>S19 · SOLVED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Bring ENROLL to 1NF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44752"/>
            <a:ext cx="10972800" cy="914400"/>
          </a:xfrm>
          <a:prstGeom prst="roundRect">
            <a:avLst/>
          </a:prstGeom>
          <a:solidFill>
            <a:srgbClr val="FAEEDA"/>
          </a:solidFill>
          <a:ln w="12700">
            <a:solidFill>
              <a:srgbClr val="854F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854F0B"/>
                </a:solidFill>
              </a:rPr>
              <a:t>📋  Problem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A1A1A"/>
                </a:solidFill>
              </a:rPr>
              <a:t>Given ENROLL with StudentPhone = '9801, 9842, 9818' and repeating Course1/Course2/Course3 columns, rewrite it so it satisfies First Normal Form.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87168"/>
            <a:ext cx="1069848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50" b="1">
                <a:solidFill>
                  <a:srgbClr val="854F0B"/>
                </a:solidFill>
              </a:rPr>
              <a:t>Step 1.  </a:t>
            </a:r>
            <a:r>
              <a:rPr sz="1250">
                <a:solidFill>
                  <a:srgbClr val="1A1A1A"/>
                </a:solidFill>
              </a:rPr>
              <a:t>Spot the 1NF violations: a list in the StudentPhone cell, and repeating course columns (a repeating group).</a:t>
            </a:r>
          </a:p>
          <a:p>
            <a:pPr>
              <a:spcAft>
                <a:spcPts val="400"/>
              </a:spcAft>
            </a:pPr>
            <a:r>
              <a:rPr sz="1250" b="1">
                <a:solidFill>
                  <a:srgbClr val="854F0B"/>
                </a:solidFill>
              </a:rPr>
              <a:t>Step 2.  </a:t>
            </a:r>
            <a:r>
              <a:rPr sz="1250">
                <a:solidFill>
                  <a:srgbClr val="1A1A1A"/>
                </a:solidFill>
              </a:rPr>
              <a:t>Multivalued phone → its own table, one atomic value per row: STUDENT_PHONE(StudentRoll, Phone).</a:t>
            </a:r>
          </a:p>
          <a:p>
            <a:pPr>
              <a:spcAft>
                <a:spcPts val="400"/>
              </a:spcAft>
            </a:pPr>
            <a:r>
              <a:rPr sz="1250" b="1">
                <a:solidFill>
                  <a:srgbClr val="854F0B"/>
                </a:solidFill>
              </a:rPr>
              <a:t>Step 3.  </a:t>
            </a:r>
            <a:r>
              <a:rPr sz="1250">
                <a:solidFill>
                  <a:srgbClr val="1A1A1A"/>
                </a:solidFill>
              </a:rPr>
              <a:t>Repeating course columns → flatten to one row per (StudentRoll, CourseCode).</a:t>
            </a:r>
          </a:p>
          <a:p>
            <a:pPr>
              <a:spcAft>
                <a:spcPts val="400"/>
              </a:spcAft>
            </a:pPr>
            <a:r>
              <a:rPr sz="1250" b="1">
                <a:solidFill>
                  <a:srgbClr val="854F0B"/>
                </a:solidFill>
              </a:rPr>
              <a:t>Step 4.  </a:t>
            </a:r>
            <a:r>
              <a:rPr sz="1250">
                <a:solidFill>
                  <a:srgbClr val="1A1A1A"/>
                </a:solidFill>
              </a:rPr>
              <a:t>The main table becomes ENROLL_1NF(StudentRoll, StudentName, CourseCode, CourseTitle, InstructorID, InstructorName, InstructorDept, Grade).</a:t>
            </a:r>
          </a:p>
          <a:p>
            <a:pPr>
              <a:spcAft>
                <a:spcPts val="400"/>
              </a:spcAft>
            </a:pPr>
            <a:r>
              <a:rPr sz="1250" b="1">
                <a:solidFill>
                  <a:srgbClr val="854F0B"/>
                </a:solidFill>
              </a:rPr>
              <a:t>Step 5.  </a:t>
            </a:r>
            <a:r>
              <a:rPr sz="1250">
                <a:solidFill>
                  <a:srgbClr val="1A1A1A"/>
                </a:solidFill>
              </a:rPr>
              <a:t>Key = {StudentRoll, CourseCode}. Every cell is now atomic — but the row still repeats student/course/instructor facts.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5230368"/>
            <a:ext cx="10972800" cy="1371600"/>
          </a:xfrm>
          <a:prstGeom prst="roundRect">
            <a:avLst/>
          </a:prstGeom>
          <a:solidFill>
            <a:srgbClr val="E1F5EE"/>
          </a:solidFill>
          <a:ln w="12700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0F6E56"/>
                </a:solidFill>
              </a:rPr>
              <a:t>✅  Worked answer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A1A1A"/>
                </a:solidFill>
              </a:rPr>
              <a:t>STUDENT_PHONE(StudentRoll, Phone) + ENROLL_1NF(StudentRoll, StudentName, CourseCode, CourseTitle, InstructorID, InstructorName, InstructorDept, Grade), key {StudentRoll, CourseCode}. 1NF removed the fat cells; the leftover redundancy is what 2NF and 3NF attack next.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19 / 49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54F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854F0B"/>
                </a:solidFill>
              </a:rPr>
              <a:t>CHECK FOR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S19 — Quick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881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</a:pPr>
            <a:r>
              <a:rPr sz="1700" b="1">
                <a:solidFill>
                  <a:srgbClr val="0C2B4A"/>
                </a:solidFill>
              </a:rPr>
              <a:t>Q1.  A column storing '9801, 9842, 9818' violates which normal form?</a:t>
            </a:r>
          </a:p>
          <a:p>
            <a:pPr lvl="1"/>
            <a:r>
              <a:rPr sz="1500" b="1">
                <a:solidFill>
                  <a:srgbClr val="0F6E56"/>
                </a:solidFill>
              </a:rPr>
              <a:t>✅ 1NF</a:t>
            </a:r>
          </a:p>
          <a:p>
            <a:pPr>
              <a:spcBef>
                <a:spcPts val="900"/>
              </a:spcBef>
            </a:pPr>
            <a:r>
              <a:rPr sz="1700" b="1">
                <a:solidFill>
                  <a:srgbClr val="0C2B4A"/>
                </a:solidFill>
              </a:rPr>
              <a:t>Q2.  1NF primarily requires:</a:t>
            </a:r>
          </a:p>
          <a:p>
            <a:pPr lvl="1"/>
            <a:r>
              <a:rPr sz="1500" b="1">
                <a:solidFill>
                  <a:srgbClr val="0F6E56"/>
                </a:solidFill>
              </a:rPr>
              <a:t>a) no redundancy   b) ✅ atomic, single-valued attributes   c) one table only   d) a foreign key</a:t>
            </a:r>
          </a:p>
          <a:p>
            <a:pPr lvl="1">
              <a:spcBef>
                <a:spcPts val="600"/>
              </a:spcBef>
            </a:pPr>
            <a:r>
              <a:rPr sz="1500" i="1">
                <a:solidFill>
                  <a:srgbClr val="1A1A1A"/>
                </a:solidFill>
              </a:rPr>
              <a:t>Discussion: find a field on an online form that would be a 1NF violation if dumped into one column.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20 / 49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C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C2B4A"/>
                </a:solidFill>
              </a:rPr>
              <a:t>S19 · SUMMARY  ·  [~2 MIN]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Summary &amp; Key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1A1A1A"/>
                </a:solidFill>
              </a:rPr>
              <a:t>1.  Normalization is a step-by-step ladder (1NF → 2NF → 3NF → BCNF → 4NF).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A1A1A"/>
                </a:solidFill>
              </a:rPr>
              <a:t>2.  1NF demands atomic, single-valued cells — no lists, no repeating groups.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A1A1A"/>
                </a:solidFill>
              </a:rPr>
              <a:t>3.  We split ENROLL into 1NF, but student/course/instructor facts still repeat.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4160520"/>
            <a:ext cx="10972800" cy="1234440"/>
          </a:xfrm>
          <a:prstGeom prst="roundRect">
            <a:avLst/>
          </a:prstGeom>
          <a:solidFill>
            <a:srgbClr val="E1F5EE"/>
          </a:solidFill>
          <a:ln w="12700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0F6E56"/>
                </a:solidFill>
              </a:rPr>
              <a:t>💡  Why this matters</a:t>
            </a:r>
          </a:p>
          <a:p>
            <a:pPr>
              <a:spcBef>
                <a:spcPts val="300"/>
              </a:spcBef>
            </a:pPr>
            <a:r>
              <a:rPr sz="1350">
                <a:solidFill>
                  <a:srgbClr val="1A1A1A"/>
                </a:solidFill>
              </a:rPr>
              <a:t>1NF discipline keeps fields queryable and filterable — every API, CSV export, and search filter depends on values being atomic, not secret lists.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5504688"/>
            <a:ext cx="10972800" cy="1051560"/>
          </a:xfrm>
          <a:prstGeom prst="roundRect">
            <a:avLst/>
          </a:prstGeom>
          <a:solidFill>
            <a:srgbClr val="E6F1FB"/>
          </a:solidFill>
          <a:ln w="12700">
            <a:solidFill>
              <a:srgbClr val="185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185FA5"/>
                </a:solidFill>
              </a:rPr>
              <a:t>➡️  Next</a:t>
            </a:r>
          </a:p>
          <a:p>
            <a:pPr>
              <a:spcBef>
                <a:spcPts val="300"/>
              </a:spcBef>
            </a:pPr>
            <a:r>
              <a:rPr sz="1350">
                <a:solidFill>
                  <a:srgbClr val="1A1A1A"/>
                </a:solidFill>
              </a:rPr>
              <a:t>S20 — 2NF and 3NF, attacking the redundancy 1NF left behind (partial and transitive dependencies).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21 / 49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5F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BFDCF2"/>
                </a:solidFill>
              </a:rPr>
              <a:t>SESSION 20 · UNIT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100" b="1">
                <a:solidFill>
                  <a:srgbClr val="FFFFFF"/>
                </a:solidFill>
              </a:rPr>
              <a:t>Second (2NF) &amp; Third (3NF) Normal Forms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703320"/>
            <a:ext cx="1280160" cy="82296"/>
          </a:xfrm>
          <a:prstGeom prst="rect">
            <a:avLst/>
          </a:prstGeom>
          <a:solidFill>
            <a:srgbClr val="854F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886200"/>
            <a:ext cx="10515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i="1">
                <a:solidFill>
                  <a:srgbClr val="E8F1F9"/>
                </a:solidFill>
              </a:rPr>
              <a:t>🎣  Our 1NF table has key {StudentRoll, CourseCode}. But StudentName depends only on StudentRoll — half the key. And InstructorDept depends on InstructorID, not the key at all. These two 'wrong dependencies' are exactly what 2NF and 3NF kill.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E8F0F7"/>
                </a:solidFill>
              </a:rPr>
              <a:t>22 / 49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S20 · CONCEPT 1 · [THEORY]  ·  UNDERSTAND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Partial Dependency &amp; 2NF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566928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0C2B4A"/>
                </a:solidFill>
              </a:rPr>
              <a:t>A relation is in 2NF if it is in 1NF AND no non-key attribute depends on only PART of a composite key — no partial dependency. This only matters when the key is composite.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185FA5"/>
                </a:solidFill>
              </a:rPr>
              <a:t>HOW IT WORKS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In ENROLL_1NF (key {StudentRoll, CourseCode}): StudentRoll → StudentName and CourseCode → CourseTitle are partial.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Fix by moving each partially-dependent attribute to a table keyed on the part it depends on.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→ STUDENT(StudentRoll, StudentName), COURSE(CourseCode, CourseTitle, InstructorID, InstructorName, InstructorDept), ENROLL(StudentRoll, CourseCode, Grade).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A table with a single-attribute key is automatically in 2NF.</a:t>
            </a:r>
          </a:p>
        </p:txBody>
      </p:sp>
      <p:pic>
        <p:nvPicPr>
          <p:cNvPr id="6" name="Picture 5" descr="s20_2n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392193"/>
            <a:ext cx="5532120" cy="285085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364224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</a:rPr>
              <a:t>🧠  Memory hook:  2NF: depend on the WHOLE key, not half.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23 / 49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S20 · CONCEPT 1 · [THEORY]  ·  APPLY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Partial Dependency &amp; 2NF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17904"/>
            <a:ext cx="10972800" cy="1353312"/>
          </a:xfrm>
          <a:prstGeom prst="roundRect">
            <a:avLst/>
          </a:prstGeom>
          <a:solidFill>
            <a:srgbClr val="E6F1FB"/>
          </a:solidFill>
          <a:ln w="12700">
            <a:solidFill>
              <a:srgbClr val="185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185FA5"/>
                </a:solidFill>
              </a:rPr>
              <a:t>🌍  Real example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A shared grocery bill where some items belong to only one roommate: you split those out so nobody pays for what isn't theirs. 2NF does the same — StudentName belongs with the student, CourseTitle with the course, not on the enrollment row.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80944"/>
            <a:ext cx="10972800" cy="1188720"/>
          </a:xfrm>
          <a:prstGeom prst="roundRect">
            <a:avLst/>
          </a:prstGeom>
          <a:solidFill>
            <a:srgbClr val="FAECE7"/>
          </a:solidFill>
          <a:ln w="12700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993C1D"/>
                </a:solidFill>
              </a:rPr>
              <a:t>⚠️  Common trap — and the fix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"Every table must be forced to 2NF separately." A table whose key is a single attribute is already in 2NF — partial dependency is only possible against a COMPOSITE key.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279392"/>
            <a:ext cx="10972800" cy="1755648"/>
          </a:xfrm>
          <a:prstGeom prst="roundRect">
            <a:avLst/>
          </a:prstGeom>
          <a:solidFill>
            <a:srgbClr val="E1F5EE"/>
          </a:solidFill>
          <a:ln w="12700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0F6E56"/>
                </a:solidFill>
              </a:rPr>
              <a:t>🎯  Exam-ready answer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A relation is in 2NF if it is in 1NF and has no partial dependency — no non-key attribute depends on only part of a composite key. Fix by moving each partially-dependent attribute into a table keyed on the part it depends on (StudentRoll→StudentName gives a STUDENT table).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6144768"/>
            <a:ext cx="10972800" cy="548640"/>
          </a:xfrm>
          <a:prstGeom prst="roundRect">
            <a:avLst/>
          </a:prstGeom>
          <a:solidFill>
            <a:srgbClr val="FAEEDA"/>
          </a:solidFill>
          <a:ln w="12700">
            <a:solidFill>
              <a:srgbClr val="854F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854F0B"/>
                </a:solidFill>
              </a:rPr>
              <a:t>🔑  Key terms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A1A1A"/>
                </a:solidFill>
              </a:rPr>
              <a:t>2NF · partial dependency · composite key · non-key attribute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24 / 49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S20 · CONCEPT 2 · [THEORY]  ·  UNDERSTAND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Transitive Dependency &amp; 3NF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566928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0C2B4A"/>
                </a:solidFill>
              </a:rPr>
              <a:t>A relation is in 3NF if it is in 2NF AND no non-key attribute depends on ANOTHER non-key attribute — no transitive dependency (a key → non-key → non-key chain).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185FA5"/>
                </a:solidFill>
              </a:rPr>
              <a:t>HOW IT WORKS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In the COURSE table: CourseCode → InstructorID → InstructorName, InstructorDept is transitive.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The instructor's facts repeat for every course they teach — redundancy again.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Fix: split into COURSE(CourseCode, CourseTitle, InstructorID) and INSTRUCTOR(InstructorID, InstructorName, InstructorDept).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Now each fact is determined directly by a key, not through a middle non-key attribute.</a:t>
            </a:r>
          </a:p>
        </p:txBody>
      </p:sp>
      <p:pic>
        <p:nvPicPr>
          <p:cNvPr id="6" name="Picture 5" descr="s20_3n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44902"/>
            <a:ext cx="5532120" cy="274543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364224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</a:rPr>
              <a:t>🧠  Memory hook:  3NF: no non-key → non-key chains.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25 / 49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S20 · CONCEPT 2 · [THEORY]  ·  APPLY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Transitive Dependency &amp; 3NF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17904"/>
            <a:ext cx="10972800" cy="1353312"/>
          </a:xfrm>
          <a:prstGeom prst="roundRect">
            <a:avLst/>
          </a:prstGeom>
          <a:solidFill>
            <a:srgbClr val="E6F1FB"/>
          </a:solidFill>
          <a:ln w="12700">
            <a:solidFill>
              <a:srgbClr val="185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185FA5"/>
                </a:solidFill>
              </a:rPr>
              <a:t>🌍  Real example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A Khalti Transaction table with MerchantID → MerchantCity → CityRegion: the region repeats in every transaction row until you break the chain into its own table. 3NF is the everyday fix that keeps lookup facts in one place.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80944"/>
            <a:ext cx="10972800" cy="1188720"/>
          </a:xfrm>
          <a:prstGeom prst="roundRect">
            <a:avLst/>
          </a:prstGeom>
          <a:solidFill>
            <a:srgbClr val="FAECE7"/>
          </a:solidFill>
          <a:ln w="12700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993C1D"/>
                </a:solidFill>
              </a:rPr>
              <a:t>⚠️  Common trap — and the fix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"3NF means absolutely no redundancy ever." 3NF removes the common transitive redundancy, but a few odd cases survive — which is exactly why BCNF (S21) exists.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279392"/>
            <a:ext cx="10972800" cy="1755648"/>
          </a:xfrm>
          <a:prstGeom prst="roundRect">
            <a:avLst/>
          </a:prstGeom>
          <a:solidFill>
            <a:srgbClr val="E1F5EE"/>
          </a:solidFill>
          <a:ln w="12700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0F6E56"/>
                </a:solidFill>
              </a:rPr>
              <a:t>🎯  Exam-ready answer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A relation is in 3NF if it is in 2NF and has no transitive dependency — no non-key attribute determines another non-key attribute. Fix by moving the dependent non-key attributes into a table keyed on their determinant (InstructorID → its instructor facts).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6144768"/>
            <a:ext cx="10972800" cy="548640"/>
          </a:xfrm>
          <a:prstGeom prst="roundRect">
            <a:avLst/>
          </a:prstGeom>
          <a:solidFill>
            <a:srgbClr val="FAEEDA"/>
          </a:solidFill>
          <a:ln w="12700">
            <a:solidFill>
              <a:srgbClr val="854F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854F0B"/>
                </a:solidFill>
              </a:rPr>
              <a:t>🔑  Key terms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A1A1A"/>
                </a:solidFill>
              </a:rPr>
              <a:t>3NF · transitive dependency · non-key determinant · key→non-key→non-key chain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26 / 49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S20 · CONCEPT 3 · [THEORY]  ·  UNDERSTAND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The Fully Decomposed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566928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0C2B4A"/>
                </a:solidFill>
              </a:rPr>
              <a:t>The running ENROLL table is now five clean tables in 3NF — and every S18 anomaly is gone.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185FA5"/>
                </a:solidFill>
              </a:rPr>
              <a:t>HOW IT WORKS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STUDENT(StudentRoll, StudentName) · STUDENT_PHONE(StudentRoll, Phone).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COURSE(CourseCode, CourseTitle, InstructorID) · INSTRUCTOR(InstructorID, InstructorName, InstructorDept).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ENROLL(StudentRoll, CourseCode, Grade).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Add a course with no students ✓; drop the last student, keep the course ✓; change an instructor's dept in ONE place ✓.</a:t>
            </a:r>
          </a:p>
        </p:txBody>
      </p:sp>
      <p:pic>
        <p:nvPicPr>
          <p:cNvPr id="6" name="Picture 5" descr="s20_f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550319"/>
            <a:ext cx="5532120" cy="25346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364224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</a:rPr>
              <a:t>🧠  Memory hook:  Each fact in exactly one place.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27 / 49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S20 · CONCEPT 3 · [THEORY]  ·  APPLY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The Fully Decomposed Design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17904"/>
            <a:ext cx="10972800" cy="1353312"/>
          </a:xfrm>
          <a:prstGeom prst="roundRect">
            <a:avLst/>
          </a:prstGeom>
          <a:solidFill>
            <a:srgbClr val="E6F1FB"/>
          </a:solidFill>
          <a:ln w="12700">
            <a:solidFill>
              <a:srgbClr val="185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185FA5"/>
                </a:solidFill>
              </a:rPr>
              <a:t>🌍  Real example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This exact 1NF→2NF→3NF split is the everyday schema review on any Nepali product team — it's what keeps a user's profile, their orders, and merchant data from corrupting each other as the product grows.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80944"/>
            <a:ext cx="10972800" cy="1188720"/>
          </a:xfrm>
          <a:prstGeom prst="roundRect">
            <a:avLst/>
          </a:prstGeom>
          <a:solidFill>
            <a:srgbClr val="FAECE7"/>
          </a:solidFill>
          <a:ln w="12700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993C1D"/>
                </a:solidFill>
              </a:rPr>
              <a:t>⚠️  Common trap — and the fix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"More tables makes it slower/harder." The five tables re-join losslessly on their shared keys; correctness comes first, and indexes/joins handle performance. A corrupt single-table design is far costlier.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279392"/>
            <a:ext cx="10972800" cy="1755648"/>
          </a:xfrm>
          <a:prstGeom prst="roundRect">
            <a:avLst/>
          </a:prstGeom>
          <a:solidFill>
            <a:srgbClr val="E1F5EE"/>
          </a:solidFill>
          <a:ln w="12700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0F6E56"/>
                </a:solidFill>
              </a:rPr>
              <a:t>🎯  Exam-ready answer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After decomposition the design is STUDENT, STUDENT_PHONE, COURSE, INSTRUCTOR, ENROLL — each fact stored once. Course facts live in COURSE (no insert/delete anomaly), instructor facts in INSTRUCTOR (a dept change is one row), and the tables re-join losslessly.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6144768"/>
            <a:ext cx="10972800" cy="548640"/>
          </a:xfrm>
          <a:prstGeom prst="roundRect">
            <a:avLst/>
          </a:prstGeom>
          <a:solidFill>
            <a:srgbClr val="FAEEDA"/>
          </a:solidFill>
          <a:ln w="12700">
            <a:solidFill>
              <a:srgbClr val="854F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854F0B"/>
                </a:solidFill>
              </a:rPr>
              <a:t>🔑  Key terms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A1A1A"/>
                </a:solidFill>
              </a:rPr>
              <a:t>decomposed design · one-fact-one-place · anomalies eliminated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28 / 49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54F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854F0B"/>
                </a:solidFill>
              </a:rPr>
              <a:t>S20 · SOLVED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Decompose ENROLL_1NF → 2NF → 3NF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44752"/>
            <a:ext cx="10972800" cy="914400"/>
          </a:xfrm>
          <a:prstGeom prst="roundRect">
            <a:avLst/>
          </a:prstGeom>
          <a:solidFill>
            <a:srgbClr val="FAEEDA"/>
          </a:solidFill>
          <a:ln w="12700">
            <a:solidFill>
              <a:srgbClr val="854F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854F0B"/>
                </a:solidFill>
              </a:rPr>
              <a:t>📋  Problem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A1A1A"/>
                </a:solidFill>
              </a:rPr>
              <a:t>Starting from ENROLL_1NF (key {StudentRoll, CourseCode}), decompose it to 3NF, justifying each step.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87168"/>
            <a:ext cx="1069848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50" b="1">
                <a:solidFill>
                  <a:srgbClr val="854F0B"/>
                </a:solidFill>
              </a:rPr>
              <a:t>Step 1.  </a:t>
            </a:r>
            <a:r>
              <a:rPr sz="1250">
                <a:solidFill>
                  <a:srgbClr val="1A1A1A"/>
                </a:solidFill>
              </a:rPr>
              <a:t>List the offending FDs: StudentRoll → StudentName (partial); CourseCode → CourseTitle (partial); InstructorID → InstructorName, InstructorDept.</a:t>
            </a:r>
          </a:p>
          <a:p>
            <a:pPr>
              <a:spcAft>
                <a:spcPts val="400"/>
              </a:spcAft>
            </a:pPr>
            <a:r>
              <a:rPr sz="1250" b="1">
                <a:solidFill>
                  <a:srgbClr val="854F0B"/>
                </a:solidFill>
              </a:rPr>
              <a:t>Step 2.  </a:t>
            </a:r>
            <a:r>
              <a:rPr sz="1250">
                <a:solidFill>
                  <a:srgbClr val="1A1A1A"/>
                </a:solidFill>
              </a:rPr>
              <a:t>2NF — remove partial deps: pull StudentRoll→StudentName into STUDENT; pull CourseCode→(CourseTitle, instructor facts) into COURSE; leave ENROLL(StudentRoll, CourseCode, Grade).</a:t>
            </a:r>
          </a:p>
          <a:p>
            <a:pPr>
              <a:spcAft>
                <a:spcPts val="400"/>
              </a:spcAft>
            </a:pPr>
            <a:r>
              <a:rPr sz="1250" b="1">
                <a:solidFill>
                  <a:srgbClr val="854F0B"/>
                </a:solidFill>
              </a:rPr>
              <a:t>Step 3.  </a:t>
            </a:r>
            <a:r>
              <a:rPr sz="1250">
                <a:solidFill>
                  <a:srgbClr val="1A1A1A"/>
                </a:solidFill>
              </a:rPr>
              <a:t>Now inspect COURSE: CourseCode → InstructorID → InstructorName, InstructorDept is transitive.</a:t>
            </a:r>
          </a:p>
          <a:p>
            <a:pPr>
              <a:spcAft>
                <a:spcPts val="400"/>
              </a:spcAft>
            </a:pPr>
            <a:r>
              <a:rPr sz="1250" b="1">
                <a:solidFill>
                  <a:srgbClr val="854F0B"/>
                </a:solidFill>
              </a:rPr>
              <a:t>Step 4.  </a:t>
            </a:r>
            <a:r>
              <a:rPr sz="1250">
                <a:solidFill>
                  <a:srgbClr val="1A1A1A"/>
                </a:solidFill>
              </a:rPr>
              <a:t>3NF — remove the transitive dep: split COURSE into COURSE(CourseCode, CourseTitle, InstructorID) and INSTRUCTOR(InstructorID, InstructorName, InstructorDept).</a:t>
            </a:r>
          </a:p>
          <a:p>
            <a:pPr>
              <a:spcAft>
                <a:spcPts val="400"/>
              </a:spcAft>
            </a:pPr>
            <a:r>
              <a:rPr sz="1250" b="1">
                <a:solidFill>
                  <a:srgbClr val="854F0B"/>
                </a:solidFill>
              </a:rPr>
              <a:t>Step 5.  </a:t>
            </a:r>
            <a:r>
              <a:rPr sz="1250">
                <a:solidFill>
                  <a:srgbClr val="1A1A1A"/>
                </a:solidFill>
              </a:rPr>
              <a:t>Re-check: every non-key attribute now depends on the whole key and only the key.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5230368"/>
            <a:ext cx="10972800" cy="1371600"/>
          </a:xfrm>
          <a:prstGeom prst="roundRect">
            <a:avLst/>
          </a:prstGeom>
          <a:solidFill>
            <a:srgbClr val="E1F5EE"/>
          </a:solidFill>
          <a:ln w="12700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0F6E56"/>
                </a:solidFill>
              </a:rPr>
              <a:t>✅  Worked answer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A1A1A"/>
                </a:solidFill>
              </a:rPr>
              <a:t>Five 3NF tables: STUDENT(Roll, Name) · STUDENT_PHONE(Roll, Phone) · COURSE(Course, Title, InstrID) · INSTRUCTOR(InstrID, Name, Dept) · ENROLL(Roll, Course, Grade). Partial deps removed at 2NF, the transitive dep removed at 3NF — all three anomalies gone.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29 / 49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54F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854F0B"/>
                </a:solidFill>
              </a:rPr>
              <a:t>CHECK FOR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S20 — Quick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881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</a:pPr>
            <a:r>
              <a:rPr sz="1700" b="1">
                <a:solidFill>
                  <a:srgbClr val="0C2B4A"/>
                </a:solidFill>
              </a:rPr>
              <a:t>Q1.  A non-key attribute depending on only part of a composite key is a:</a:t>
            </a:r>
          </a:p>
          <a:p>
            <a:pPr lvl="1"/>
            <a:r>
              <a:rPr sz="1500" b="1">
                <a:solidFill>
                  <a:srgbClr val="0F6E56"/>
                </a:solidFill>
              </a:rPr>
              <a:t>a) transitive dependency   b) ✅ partial dependency   c) multivalued dependency   d) trivial FD</a:t>
            </a:r>
          </a:p>
          <a:p>
            <a:pPr>
              <a:spcBef>
                <a:spcPts val="900"/>
              </a:spcBef>
            </a:pPr>
            <a:r>
              <a:rPr sz="1700" b="1">
                <a:solidFill>
                  <a:srgbClr val="0C2B4A"/>
                </a:solidFill>
              </a:rPr>
              <a:t>Q2.  CourseCode → InstructorID → InstructorDept is a ___ dependency, fixed by 3NF:</a:t>
            </a:r>
          </a:p>
          <a:p>
            <a:pPr lvl="1"/>
            <a:r>
              <a:rPr sz="1500" b="1">
                <a:solidFill>
                  <a:srgbClr val="0F6E56"/>
                </a:solidFill>
              </a:rPr>
              <a:t>✅ transitive</a:t>
            </a:r>
          </a:p>
          <a:p>
            <a:pPr lvl="1">
              <a:spcBef>
                <a:spcPts val="600"/>
              </a:spcBef>
            </a:pPr>
            <a:r>
              <a:rPr sz="1500" i="1">
                <a:solidFill>
                  <a:srgbClr val="1A1A1A"/>
                </a:solidFill>
              </a:rPr>
              <a:t>Discussion: on the 5-table design, re-run 'instructor changes department' — how many rows change now, and why is that better?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30 / 49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C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C2B4A"/>
                </a:solidFill>
              </a:rPr>
              <a:t>S20 · SUMMARY  ·  [~2 MIN]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Summary &amp; Key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1A1A1A"/>
                </a:solidFill>
              </a:rPr>
              <a:t>1.  2NF removes partial dependencies on a composite key (StudentRoll→StudentName).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A1A1A"/>
                </a:solidFill>
              </a:rPr>
              <a:t>2.  3NF removes transitive dependencies through non-key attributes (CourseCode→InstructorID→Dept).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A1A1A"/>
                </a:solidFill>
              </a:rPr>
              <a:t>3.  The running table is now anomaly-free across five clean tables.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4160520"/>
            <a:ext cx="10972800" cy="1234440"/>
          </a:xfrm>
          <a:prstGeom prst="roundRect">
            <a:avLst/>
          </a:prstGeom>
          <a:solidFill>
            <a:srgbClr val="E1F5EE"/>
          </a:solidFill>
          <a:ln w="12700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0F6E56"/>
                </a:solidFill>
              </a:rPr>
              <a:t>💡  Why this matters</a:t>
            </a:r>
          </a:p>
          <a:p>
            <a:pPr>
              <a:spcBef>
                <a:spcPts val="300"/>
              </a:spcBef>
            </a:pPr>
            <a:r>
              <a:rPr sz="1350">
                <a:solidFill>
                  <a:srgbClr val="1A1A1A"/>
                </a:solidFill>
              </a:rPr>
              <a:t>The 1NF→2NF→3NF split is the everyday schema review on a product team — it keeps a user's profile, orders, and merchant data from corrupting each other.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5504688"/>
            <a:ext cx="10972800" cy="1051560"/>
          </a:xfrm>
          <a:prstGeom prst="roundRect">
            <a:avLst/>
          </a:prstGeom>
          <a:solidFill>
            <a:srgbClr val="E6F1FB"/>
          </a:solidFill>
          <a:ln w="12700">
            <a:solidFill>
              <a:srgbClr val="185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185FA5"/>
                </a:solidFill>
              </a:rPr>
              <a:t>➡️  Next</a:t>
            </a:r>
          </a:p>
          <a:p>
            <a:pPr>
              <a:spcBef>
                <a:spcPts val="300"/>
              </a:spcBef>
            </a:pPr>
            <a:r>
              <a:rPr sz="1350">
                <a:solidFill>
                  <a:srgbClr val="1A1A1A"/>
                </a:solidFill>
              </a:rPr>
              <a:t>S21 — the stricter BCNF, multivalued dependencies/4NF, and how to know a decomposition is SAFE.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31 / 49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5F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BFDCF2"/>
                </a:solidFill>
              </a:rPr>
              <a:t>SESSION 21 · UNIT 4 (CLOSES THE UNIT)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100" b="1">
                <a:solidFill>
                  <a:srgbClr val="FFFFFF"/>
                </a:solidFill>
              </a:rPr>
              <a:t>BCNF · MVD &amp; 4NF · Properties of Decomposition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703320"/>
            <a:ext cx="1280160" cy="82296"/>
          </a:xfrm>
          <a:prstGeom prst="rect">
            <a:avLst/>
          </a:prstGeom>
          <a:solidFill>
            <a:srgbClr val="854F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886200"/>
            <a:ext cx="10515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i="1">
                <a:solidFill>
                  <a:srgbClr val="E8F1F9"/>
                </a:solidFill>
              </a:rPr>
              <a:t>🎣  Our 3NF design looks clean — but here's a course where every instructor uses one fixed room, and we still get a weird repeating glitch. 3NF says it's fine; reality says it isn't. Welcome to BCNF — and to knowing when a split is actually safe.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E8F0F7"/>
                </a:solidFill>
              </a:rPr>
              <a:t>32 / 49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S21 · CONCEPT 1 · [THEORY]  ·  UNDERSTAND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Boyce–Codd Normal Form (BCNF)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566928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0C2B4A"/>
                </a:solidFill>
              </a:rPr>
              <a:t>A relation is in BCNF if, for every non-trivial FD X → Y, X is a SUPERKEY. This is stricter than 3NF, which tolerates a non-superkey determinant in some prime-attribute cases.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185FA5"/>
                </a:solidFill>
              </a:rPr>
              <a:t>HOW IT WORKS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Example: SECTION(CourseCode, Instructor, Room) where Instructor → Room, but Instructor is NOT a superkey.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That is 3NF-OK yet BCNF-violating (a non-superkey determines something).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Fix: split into ROOM_OF(Instructor, Room) and TEACHES(CourseCode, Instructor).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3NF and BCNF coincide most of the time; they differ with overlapping candidate keys / a non-superkey determinant.</a:t>
            </a:r>
          </a:p>
        </p:txBody>
      </p:sp>
      <p:pic>
        <p:nvPicPr>
          <p:cNvPr id="6" name="Picture 5" descr="s21_bcn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44902"/>
            <a:ext cx="5532120" cy="274543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364224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</a:rPr>
              <a:t>🧠  Memory hook:  BCNF: every determinant is a superkey.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33 / 49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S21 · CONCEPT 1 · [THEORY]  ·  APPLY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Boyce–Codd Normal Form (BCNF)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17904"/>
            <a:ext cx="10972800" cy="1353312"/>
          </a:xfrm>
          <a:prstGeom prst="roundRect">
            <a:avLst/>
          </a:prstGeom>
          <a:solidFill>
            <a:srgbClr val="E6F1FB"/>
          </a:solidFill>
          <a:ln w="12700">
            <a:solidFill>
              <a:srgbClr val="185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185FA5"/>
                </a:solidFill>
              </a:rPr>
              <a:t>🌍  Real example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BCNF is the strict inspector who flags the one corner the 'good-enough' 3NF building code lets slide. In the SECTION example, 3NF passes it but the room fact still repeats for every course an instructor teaches — BCNF removes that last redundancy.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80944"/>
            <a:ext cx="10972800" cy="1188720"/>
          </a:xfrm>
          <a:prstGeom prst="roundRect">
            <a:avLst/>
          </a:prstGeom>
          <a:solidFill>
            <a:srgbClr val="FAECE7"/>
          </a:solidFill>
          <a:ln w="12700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993C1D"/>
                </a:solidFill>
              </a:rPr>
              <a:t>⚠️  Common trap — and the fix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"3NF and BCNF are the same." They're equal most of the time, but differ when a non-superkey determines another attribute (often with overlapping candidate keys) — that case is 3NF-OK but not BCNF.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279392"/>
            <a:ext cx="10972800" cy="1755648"/>
          </a:xfrm>
          <a:prstGeom prst="roundRect">
            <a:avLst/>
          </a:prstGeom>
          <a:solidFill>
            <a:srgbClr val="E1F5EE"/>
          </a:solidFill>
          <a:ln w="12700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0F6E56"/>
                </a:solidFill>
              </a:rPr>
              <a:t>🎯  Exam-ready answer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A relation is in BCNF if, for every non-trivial FD X → Y, X is a superkey. It is stricter than 3NF (which permits a non-superkey determinant of a prime attribute). They coincide unless a non-superkey determines something; then decompose so every determinant is a key.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6144768"/>
            <a:ext cx="10972800" cy="548640"/>
          </a:xfrm>
          <a:prstGeom prst="roundRect">
            <a:avLst/>
          </a:prstGeom>
          <a:solidFill>
            <a:srgbClr val="FAEEDA"/>
          </a:solidFill>
          <a:ln w="12700">
            <a:solidFill>
              <a:srgbClr val="854F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854F0B"/>
                </a:solidFill>
              </a:rPr>
              <a:t>🔑  Key terms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A1A1A"/>
                </a:solidFill>
              </a:rPr>
              <a:t>BCNF · superkey · determinant · stricter-than-3NF · overlapping candidate keys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34 / 49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S21 · CONCEPT 2 · [THEORY]  ·  UNDERSTAND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Multivalued Dependency (MVD) &amp; 4NF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566928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0C2B4A"/>
                </a:solidFill>
              </a:rPr>
              <a:t>A multivalued dependency X ↠ Y means: for each X there is a SET of independent Y values, independent of the other attributes. A relation is in 4NF if it is in BCNF and has no non-trivial MVD (unless X is a superkey).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185FA5"/>
                </a:solidFill>
              </a:rPr>
              <a:t>HOW IT WORKS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MVDs cause a multiplying 'cartesian product' redundancy even when there is no FD problem.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Example: STUDENT_ACTIVITY(StudentRoll, Course, Hobby) — courses and hobbies are independent.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So every course pairs with every hobby (2 courses × 2 hobbies = 4 rows) — a row explosion.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Fix: split into (StudentRoll, Course) and (StudentRoll, Hobby).</a:t>
            </a:r>
          </a:p>
        </p:txBody>
      </p:sp>
      <p:pic>
        <p:nvPicPr>
          <p:cNvPr id="6" name="Picture 5" descr="s21_mv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83586"/>
            <a:ext cx="5532120" cy="266806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364224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</a:rPr>
              <a:t>🧠  Memory hook:  4NF: don't cross-multiply independent multivalued facts.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35 / 49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S21 · CONCEPT 2 · [THEORY]  ·  APPLY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Multivalued Dependency (MVD) &amp; 4NF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17904"/>
            <a:ext cx="10972800" cy="1353312"/>
          </a:xfrm>
          <a:prstGeom prst="roundRect">
            <a:avLst/>
          </a:prstGeom>
          <a:solidFill>
            <a:srgbClr val="E6F1FB"/>
          </a:solidFill>
          <a:ln w="12700">
            <a:solidFill>
              <a:srgbClr val="185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185FA5"/>
                </a:solidFill>
              </a:rPr>
              <a:t>🌍  Real example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Storing a person's multiple PHONES and multiple EMAILS in one table is the classic 4NF violation — every phone gets paired with every email, so 2 phones × 3 emails = 6 meaningless rows. Split the two independent facts into separate tables.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80944"/>
            <a:ext cx="10972800" cy="1188720"/>
          </a:xfrm>
          <a:prstGeom prst="roundRect">
            <a:avLst/>
          </a:prstGeom>
          <a:solidFill>
            <a:srgbClr val="FAECE7"/>
          </a:solidFill>
          <a:ln w="12700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993C1D"/>
                </a:solidFill>
              </a:rPr>
              <a:t>⚠️  Common trap — and the fix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"4NF is the same as 1NF — both are about multiple values." 1NF bans lists INSIDE a cell; 4NF bans two INDEPENDENT multivalued facts combined in one table (the cross-multiply).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279392"/>
            <a:ext cx="10972800" cy="1755648"/>
          </a:xfrm>
          <a:prstGeom prst="roundRect">
            <a:avLst/>
          </a:prstGeom>
          <a:solidFill>
            <a:srgbClr val="E1F5EE"/>
          </a:solidFill>
          <a:ln w="12700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0F6E56"/>
                </a:solidFill>
              </a:rPr>
              <a:t>🎯  Exam-ready answer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A multivalued dependency X ↠ Y holds when X determines a set of Y values independent of the rest of the tuple. A relation is in 4NF if it is in BCNF and has no non-trivial MVD (unless the determinant is a superkey). Fix by splitting the independent multivalued attributes into separate tables.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6144768"/>
            <a:ext cx="10972800" cy="548640"/>
          </a:xfrm>
          <a:prstGeom prst="roundRect">
            <a:avLst/>
          </a:prstGeom>
          <a:solidFill>
            <a:srgbClr val="FAEEDA"/>
          </a:solidFill>
          <a:ln w="12700">
            <a:solidFill>
              <a:srgbClr val="854F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854F0B"/>
                </a:solidFill>
              </a:rPr>
              <a:t>🔑  Key terms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A1A1A"/>
                </a:solidFill>
              </a:rPr>
              <a:t>multivalued dependency (X ↠ Y) · 4NF · independent multivalued facts · row explosion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36 / 49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S21 · CONCEPT 3 · [THEORY]  ·  UNDERSTAND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Lossless Join &amp; Dependency Preservation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566928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0C2B4A"/>
                </a:solidFill>
              </a:rPr>
              <a:t>A decomposition must be CORRECT, judged by two properties: it must be lossless, and ideally dependency-preserving.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185FA5"/>
                </a:solidFill>
              </a:rPr>
              <a:t>HOW IT WORKS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Lossless (non-additive) join: re-joining the pieces gives back EXACTLY the original — no missing, no spurious rows.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Rule: a binary split is lossless if the shared attribute is a SUPERKEY of at least one resulting table.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Dependency preservation: every original FD can still be enforced WITHOUT re-joining tables.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A split can be lossless but NOT dependency-preserving — sometimes you keep 3NF (not BCNF) to preserve a dependency.</a:t>
            </a:r>
          </a:p>
        </p:txBody>
      </p:sp>
      <p:pic>
        <p:nvPicPr>
          <p:cNvPr id="6" name="Picture 5" descr="s21_lossl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44902"/>
            <a:ext cx="5532120" cy="274543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364224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</a:rPr>
              <a:t>🧠  Memory hook:  Lossless = rebuild exactly; preserve = check FDs without re-joining.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37 / 49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S21 · CONCEPT 3 · [THEORY]  ·  APPLY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Lossless Join &amp; Dependency Preservation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17904"/>
            <a:ext cx="10972800" cy="1353312"/>
          </a:xfrm>
          <a:prstGeom prst="roundRect">
            <a:avLst/>
          </a:prstGeom>
          <a:solidFill>
            <a:srgbClr val="E6F1FB"/>
          </a:solidFill>
          <a:ln w="12700">
            <a:solidFill>
              <a:srgbClr val="185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185FA5"/>
                </a:solidFill>
              </a:rPr>
              <a:t>🌍  Real example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Before a bank or telecom database migration, the litmus test is exactly this: are tables in (at least) 3NF/BCNF, and was every historical split lossless — so no records were silently duplicated or lost in the move?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80944"/>
            <a:ext cx="10972800" cy="1188720"/>
          </a:xfrm>
          <a:prstGeom prst="roundRect">
            <a:avLst/>
          </a:prstGeom>
          <a:solidFill>
            <a:srgbClr val="FAECE7"/>
          </a:solidFill>
          <a:ln w="12700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993C1D"/>
                </a:solidFill>
              </a:rPr>
              <a:t>⚠️  Common trap — and the fix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"Any split into smaller tables is safe." A careless split is LOSSY — re-joining invents spurious tuples. Losslessness must be verified (shared attribute is a superkey of one piece), never assumed.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279392"/>
            <a:ext cx="10972800" cy="1755648"/>
          </a:xfrm>
          <a:prstGeom prst="roundRect">
            <a:avLst/>
          </a:prstGeom>
          <a:solidFill>
            <a:srgbClr val="E1F5EE"/>
          </a:solidFill>
          <a:ln w="12700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0F6E56"/>
                </a:solidFill>
              </a:rPr>
              <a:t>🎯  Exam-ready answer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Two properties of a good decomposition: lossless (non-additive) join — the natural join of the pieces reproduces the original exactly (guaranteed if the common attribute is a superkey of one piece); and dependency preservation — all original FDs remain checkable without joining. A split must be lossless; dependency preservation is desirable and can conflict with BCNF.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6144768"/>
            <a:ext cx="10972800" cy="548640"/>
          </a:xfrm>
          <a:prstGeom prst="roundRect">
            <a:avLst/>
          </a:prstGeom>
          <a:solidFill>
            <a:srgbClr val="FAEEDA"/>
          </a:solidFill>
          <a:ln w="12700">
            <a:solidFill>
              <a:srgbClr val="854F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854F0B"/>
                </a:solidFill>
              </a:rPr>
              <a:t>🔑  Key terms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A1A1A"/>
                </a:solidFill>
              </a:rPr>
              <a:t>lossless (non-additive) join · spurious tuples · shared attribute = superkey · dependency preservation · BCNF-vs-3NF trade-off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38 / 49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S21 · CONCEPT 4 · [THEORY]  ·  UNDERSTAND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Unit 4 Synthesis — the whole ladder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566928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0C2B4A"/>
                </a:solidFill>
              </a:rPr>
              <a:t>The complete toolkit: anomalies → FDs → 1NF → 2NF → 3NF → BCNF → 4NF, with the running ENROLL example at each rung, and a final gate: is the decomposition lossless and dependency-preserving?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185FA5"/>
                </a:solidFill>
              </a:rPr>
              <a:t>HOW IT WORKS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1NF atomic values → 2NF no partial dep → 3NF no transitive dep.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BCNF every determinant a superkey → 4NF no independent MVD.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Each rung removes a specific class of anomaly; higher rungs are stricter.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Final gate on every split: lossless join (mandatory) + dependency preservation (desirable).</a:t>
            </a:r>
          </a:p>
        </p:txBody>
      </p:sp>
      <p:pic>
        <p:nvPicPr>
          <p:cNvPr id="6" name="Picture 5" descr="s21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63971"/>
            <a:ext cx="5532120" cy="270729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364224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</a:rPr>
              <a:t>🧠  Memory hook:  Anomalies → FDs → climb the ladder → check it's lossless.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39 / 49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S21 · CONCEPT 4 · [THEORY]  ·  APPLY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Unit 4 Synthesis — the whole ladder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17904"/>
            <a:ext cx="10972800" cy="1353312"/>
          </a:xfrm>
          <a:prstGeom prst="roundRect">
            <a:avLst/>
          </a:prstGeom>
          <a:solidFill>
            <a:srgbClr val="E6F1FB"/>
          </a:solidFill>
          <a:ln w="12700">
            <a:solidFill>
              <a:srgbClr val="185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185FA5"/>
                </a:solidFill>
              </a:rPr>
              <a:t>🌍  Real example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Given any messy table in an exam or a real design review, the procedure is always the same: write the FDs and key, climb 1NF→2NF→3NF→BCNF→4NF removing one anomaly class per rung, and verify each split is lossless. That's a complete, repeatable method.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80944"/>
            <a:ext cx="10972800" cy="1188720"/>
          </a:xfrm>
          <a:prstGeom prst="roundRect">
            <a:avLst/>
          </a:prstGeom>
          <a:solidFill>
            <a:srgbClr val="FAECE7"/>
          </a:solidFill>
          <a:ln w="12700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993C1D"/>
                </a:solidFill>
              </a:rPr>
              <a:t>⚠️  Common trap — and the fix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"Normalize as far as possible, always to the top." Not always — you sometimes stop at 3NF to keep a decomposition dependency-preserving. The goal is a correct, maintainable design, not the highest rung for its own sake.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279392"/>
            <a:ext cx="10972800" cy="1755648"/>
          </a:xfrm>
          <a:prstGeom prst="roundRect">
            <a:avLst/>
          </a:prstGeom>
          <a:solidFill>
            <a:srgbClr val="E1F5EE"/>
          </a:solidFill>
          <a:ln w="12700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0F6E56"/>
                </a:solidFill>
              </a:rPr>
              <a:t>🎯  Exam-ready answer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Normalization procedure: detect anomalies → write FDs and the key → 1NF (atomic) → 2NF (no partial dep) → 3NF (no transitive dep) → BCNF (every determinant a superkey) → 4NF (no independent MVD), checking each decomposition is lossless and ideally dependency-preserving.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6144768"/>
            <a:ext cx="10972800" cy="548640"/>
          </a:xfrm>
          <a:prstGeom prst="roundRect">
            <a:avLst/>
          </a:prstGeom>
          <a:solidFill>
            <a:srgbClr val="FAEEDA"/>
          </a:solidFill>
          <a:ln w="12700">
            <a:solidFill>
              <a:srgbClr val="854F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854F0B"/>
                </a:solidFill>
              </a:rPr>
              <a:t>🔑  Key terms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A1A1A"/>
                </a:solidFill>
              </a:rPr>
              <a:t>normal-form ladder · lossless &amp; dependency-preserving gate · anomaly-driven design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40 / 49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54F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854F0B"/>
                </a:solidFill>
              </a:rPr>
              <a:t>S21 · CAPSTONE SOLVED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Decompose ENROLL all the way to BCNF/4NF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44752"/>
            <a:ext cx="10972800" cy="914400"/>
          </a:xfrm>
          <a:prstGeom prst="roundRect">
            <a:avLst/>
          </a:prstGeom>
          <a:solidFill>
            <a:srgbClr val="FAEEDA"/>
          </a:solidFill>
          <a:ln w="12700">
            <a:solidFill>
              <a:srgbClr val="854F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854F0B"/>
                </a:solidFill>
              </a:rPr>
              <a:t>📋  Problem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A1A1A"/>
                </a:solidFill>
              </a:rPr>
              <a:t>Take the original ENROLL (with multivalued StudentPhone) and normalize it fully, checking correctness.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87168"/>
            <a:ext cx="1069848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50" b="1">
                <a:solidFill>
                  <a:srgbClr val="854F0B"/>
                </a:solidFill>
              </a:rPr>
              <a:t>Step 1.  </a:t>
            </a:r>
            <a:r>
              <a:rPr sz="1250">
                <a:solidFill>
                  <a:srgbClr val="1A1A1A"/>
                </a:solidFill>
              </a:rPr>
              <a:t>FDs &amp; key: Roll→Name; Course→Title; InstrID→InstrName,InstrDept; {Roll,Course}→Grade; MVD Roll ↠ Phone. Key = {Roll, Course}.</a:t>
            </a:r>
          </a:p>
          <a:p>
            <a:pPr>
              <a:spcAft>
                <a:spcPts val="400"/>
              </a:spcAft>
            </a:pPr>
            <a:r>
              <a:rPr sz="1250" b="1">
                <a:solidFill>
                  <a:srgbClr val="854F0B"/>
                </a:solidFill>
              </a:rPr>
              <a:t>Step 2.  </a:t>
            </a:r>
            <a:r>
              <a:rPr sz="1250">
                <a:solidFill>
                  <a:srgbClr val="1A1A1A"/>
                </a:solidFill>
              </a:rPr>
              <a:t>1NF: pull multivalued Phone → STUDENT_PHONE(Roll, Phone); flatten repeating courses.</a:t>
            </a:r>
          </a:p>
          <a:p>
            <a:pPr>
              <a:spcAft>
                <a:spcPts val="400"/>
              </a:spcAft>
            </a:pPr>
            <a:r>
              <a:rPr sz="1250" b="1">
                <a:solidFill>
                  <a:srgbClr val="854F0B"/>
                </a:solidFill>
              </a:rPr>
              <a:t>Step 3.  </a:t>
            </a:r>
            <a:r>
              <a:rPr sz="1250">
                <a:solidFill>
                  <a:srgbClr val="1A1A1A"/>
                </a:solidFill>
              </a:rPr>
              <a:t>2NF: remove partial deps → STUDENT(Roll, Name), COURSE(Course, Title, InstrID, InstrName, InstrDept), ENROLL(Roll, Course, Grade).</a:t>
            </a:r>
          </a:p>
          <a:p>
            <a:pPr>
              <a:spcAft>
                <a:spcPts val="400"/>
              </a:spcAft>
            </a:pPr>
            <a:r>
              <a:rPr sz="1250" b="1">
                <a:solidFill>
                  <a:srgbClr val="854F0B"/>
                </a:solidFill>
              </a:rPr>
              <a:t>Step 4.  </a:t>
            </a:r>
            <a:r>
              <a:rPr sz="1250">
                <a:solidFill>
                  <a:srgbClr val="1A1A1A"/>
                </a:solidFill>
              </a:rPr>
              <a:t>3NF: remove transitive dep in COURSE → COURSE(Course, Title, InstrID) + INSTRUCTOR(InstrID, InstrName, InstrDept).</a:t>
            </a:r>
          </a:p>
          <a:p>
            <a:pPr>
              <a:spcAft>
                <a:spcPts val="400"/>
              </a:spcAft>
            </a:pPr>
            <a:r>
              <a:rPr sz="1250" b="1">
                <a:solidFill>
                  <a:srgbClr val="854F0B"/>
                </a:solidFill>
              </a:rPr>
              <a:t>Step 5.  </a:t>
            </a:r>
            <a:r>
              <a:rPr sz="1250">
                <a:solidFill>
                  <a:srgbClr val="1A1A1A"/>
                </a:solidFill>
              </a:rPr>
              <a:t>BCNF check: every determinant (Roll, Course, InstrID) is now a key of its table → already BCNF. 4NF: Phone is isolated in its own table → no independent-MVD explosion.</a:t>
            </a:r>
          </a:p>
          <a:p>
            <a:pPr>
              <a:spcAft>
                <a:spcPts val="400"/>
              </a:spcAft>
            </a:pPr>
            <a:r>
              <a:rPr sz="1250" b="1">
                <a:solidFill>
                  <a:srgbClr val="854F0B"/>
                </a:solidFill>
              </a:rPr>
              <a:t>Step 6.  </a:t>
            </a:r>
            <a:r>
              <a:rPr sz="1250">
                <a:solidFill>
                  <a:srgbClr val="1A1A1A"/>
                </a:solidFill>
              </a:rPr>
              <a:t>Correctness: each split shares a superkey (Roll, Course, InstrID) → LOSSLESS; all FDs are checkable in one table each → dependency-preserving.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5230368"/>
            <a:ext cx="10972800" cy="1371600"/>
          </a:xfrm>
          <a:prstGeom prst="roundRect">
            <a:avLst/>
          </a:prstGeom>
          <a:solidFill>
            <a:srgbClr val="E1F5EE"/>
          </a:solidFill>
          <a:ln w="12700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0F6E56"/>
                </a:solidFill>
              </a:rPr>
              <a:t>✅  Worked answer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A1A1A"/>
                </a:solidFill>
              </a:rPr>
              <a:t>Final design (BCNF &amp; 4NF): STUDENT(Roll, Name) · STUDENT_PHONE(Roll, Phone) · COURSE(Course, Title, InstrID) · INSTRUCTOR(InstrID, Name, Dept) · ENROLL(Roll, Course, Grade). Lossless (shared superkeys) and dependency-preserving — the exam Part-C answer in full.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41 / 49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54F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854F0B"/>
                </a:solidFill>
              </a:rPr>
              <a:t>CHECK FOR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S21 — Quick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881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</a:pPr>
            <a:r>
              <a:rPr sz="1700" b="1">
                <a:solidFill>
                  <a:srgbClr val="0C2B4A"/>
                </a:solidFill>
              </a:rPr>
              <a:t>Q1.  A table is in 3NF but a non-superkey determines another attribute. It violates:</a:t>
            </a:r>
          </a:p>
          <a:p>
            <a:pPr lvl="1"/>
            <a:r>
              <a:rPr sz="1500" b="1">
                <a:solidFill>
                  <a:srgbClr val="0F6E56"/>
                </a:solidFill>
              </a:rPr>
              <a:t>a) 1NF   b) 2NF   c) ✅ BCNF   d) nothing</a:t>
            </a:r>
          </a:p>
          <a:p>
            <a:pPr>
              <a:spcBef>
                <a:spcPts val="900"/>
              </a:spcBef>
            </a:pPr>
            <a:r>
              <a:rPr sz="1700" b="1">
                <a:solidFill>
                  <a:srgbClr val="0C2B4A"/>
                </a:solidFill>
              </a:rPr>
              <a:t>Q2.  Re-joining decomposed tables produces extra, incorrect rows. The decomposition is:</a:t>
            </a:r>
          </a:p>
          <a:p>
            <a:pPr lvl="1"/>
            <a:r>
              <a:rPr sz="1500" b="1">
                <a:solidFill>
                  <a:srgbClr val="0F6E56"/>
                </a:solidFill>
              </a:rPr>
              <a:t>a) lossless   b) ✅ lossy / has spurious tuples   c) dependency-preserving   d) in 4NF</a:t>
            </a:r>
          </a:p>
          <a:p>
            <a:pPr lvl="1">
              <a:spcBef>
                <a:spcPts val="600"/>
              </a:spcBef>
            </a:pPr>
            <a:r>
              <a:rPr sz="1500" i="1">
                <a:solidFill>
                  <a:srgbClr val="1A1A1A"/>
                </a:solidFill>
              </a:rPr>
              <a:t>Discussion: a real 'independent multivalued facts' case (phones and skills) and how you'd 4NF-split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42 / 49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C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C2B4A"/>
                </a:solidFill>
              </a:rPr>
              <a:t>S21 · SUMMARY  ·  [~2 MIN]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Summary &amp; Key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1A1A1A"/>
                </a:solidFill>
              </a:rPr>
              <a:t>1.  BCNF tightens 3NF so every determinant is a superkey.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A1A1A"/>
                </a:solidFill>
              </a:rPr>
              <a:t>2.  4NF removes independent multivalued redundancy (don't cross-multiply independent multivalued facts).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A1A1A"/>
                </a:solidFill>
              </a:rPr>
              <a:t>3.  A good decomposition must be lossless and ideally dependency-preserving.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4160520"/>
            <a:ext cx="10972800" cy="1234440"/>
          </a:xfrm>
          <a:prstGeom prst="roundRect">
            <a:avLst/>
          </a:prstGeom>
          <a:solidFill>
            <a:srgbClr val="E1F5EE"/>
          </a:solidFill>
          <a:ln w="12700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0F6E56"/>
                </a:solidFill>
              </a:rPr>
              <a:t>💡  Why this matters</a:t>
            </a:r>
          </a:p>
          <a:p>
            <a:pPr>
              <a:spcBef>
                <a:spcPts val="300"/>
              </a:spcBef>
            </a:pPr>
            <a:r>
              <a:rPr sz="1350">
                <a:solidFill>
                  <a:srgbClr val="1A1A1A"/>
                </a:solidFill>
              </a:rPr>
              <a:t>When a bank or telecom audits its database before a migration, the test is exactly this — are tables in 3NF/BCNF, and was every historical split lossless so no records were silently duplicated or lost?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5504688"/>
            <a:ext cx="10972800" cy="1051560"/>
          </a:xfrm>
          <a:prstGeom prst="roundRect">
            <a:avLst/>
          </a:prstGeom>
          <a:solidFill>
            <a:srgbClr val="E6F1FB"/>
          </a:solidFill>
          <a:ln w="12700">
            <a:solidFill>
              <a:srgbClr val="185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185FA5"/>
                </a:solidFill>
              </a:rPr>
              <a:t>➡️  Next</a:t>
            </a:r>
          </a:p>
          <a:p>
            <a:pPr>
              <a:spcBef>
                <a:spcPts val="300"/>
              </a:spcBef>
            </a:pPr>
            <a:r>
              <a:rPr sz="1350">
                <a:solidFill>
                  <a:srgbClr val="1A1A1A"/>
                </a:solidFill>
              </a:rPr>
              <a:t>Unit 5 — SQL: building and querying these clean, normalized tables in practice.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43 / 49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UNIT 4 · CHEAT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One-page revision reference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72768"/>
            <a:ext cx="5349240" cy="1417320"/>
          </a:xfrm>
          <a:prstGeom prst="roundRect">
            <a:avLst/>
          </a:prstGeom>
          <a:solidFill>
            <a:srgbClr val="E6F1FB"/>
          </a:solidFill>
          <a:ln w="12700">
            <a:solidFill>
              <a:srgbClr val="185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185FA5"/>
                </a:solidFill>
              </a:rPr>
              <a:t>The 3 anomalies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A1A1A"/>
                </a:solidFill>
              </a:rPr>
              <a:t>From redundancy: INSERTION (can't add w/o a related row) · DELETION (lose facts) · UPDATE (fix many rows).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1572768"/>
            <a:ext cx="5349240" cy="1417320"/>
          </a:xfrm>
          <a:prstGeom prst="roundRect">
            <a:avLst/>
          </a:prstGeom>
          <a:solidFill>
            <a:srgbClr val="E6F1FB"/>
          </a:solidFill>
          <a:ln w="12700">
            <a:solidFill>
              <a:srgbClr val="185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185FA5"/>
                </a:solidFill>
              </a:rPr>
              <a:t>FD &amp; key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A1A1A"/>
                </a:solidFill>
              </a:rPr>
              <a:t>X → Y = X determines exactly one Y (one-directional). Key = minimal set that determines all attributes.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072384"/>
            <a:ext cx="5349240" cy="1417320"/>
          </a:xfrm>
          <a:prstGeom prst="roundRect">
            <a:avLst/>
          </a:prstGeom>
          <a:solidFill>
            <a:srgbClr val="E6F1FB"/>
          </a:solidFill>
          <a:ln w="12700">
            <a:solidFill>
              <a:srgbClr val="185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185FA5"/>
                </a:solidFill>
              </a:rPr>
              <a:t>1NF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A1A1A"/>
                </a:solidFill>
              </a:rPr>
              <a:t>Atomic, single-valued cells; no repeating groups or lists in a cell.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3072384"/>
            <a:ext cx="5349240" cy="1417320"/>
          </a:xfrm>
          <a:prstGeom prst="roundRect">
            <a:avLst/>
          </a:prstGeom>
          <a:solidFill>
            <a:srgbClr val="E6F1FB"/>
          </a:solidFill>
          <a:ln w="12700">
            <a:solidFill>
              <a:srgbClr val="185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185FA5"/>
                </a:solidFill>
              </a:rPr>
              <a:t>2NF / 3NF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A1A1A"/>
                </a:solidFill>
              </a:rPr>
              <a:t>2NF = 1NF + no PARTIAL dep on a composite key. 3NF = 2NF + no TRANSITIVE dep (non-key→non-key).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572000"/>
            <a:ext cx="5349240" cy="1417320"/>
          </a:xfrm>
          <a:prstGeom prst="roundRect">
            <a:avLst/>
          </a:prstGeom>
          <a:solidFill>
            <a:srgbClr val="E6F1FB"/>
          </a:solidFill>
          <a:ln w="12700">
            <a:solidFill>
              <a:srgbClr val="185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185FA5"/>
                </a:solidFill>
              </a:rPr>
              <a:t>BCNF / 4NF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A1A1A"/>
                </a:solidFill>
              </a:rPr>
              <a:t>BCNF = every determinant is a superkey (stricter 3NF). 4NF = BCNF + no independent MVD (X ↠ Y).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4572000"/>
            <a:ext cx="5349240" cy="1417320"/>
          </a:xfrm>
          <a:prstGeom prst="roundRect">
            <a:avLst/>
          </a:prstGeom>
          <a:solidFill>
            <a:srgbClr val="E6F1FB"/>
          </a:solidFill>
          <a:ln w="12700">
            <a:solidFill>
              <a:srgbClr val="185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185FA5"/>
                </a:solidFill>
              </a:rPr>
              <a:t>Safe decomposition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A1A1A"/>
                </a:solidFill>
              </a:rPr>
              <a:t>LOSSLESS: shared attribute is a superkey of one piece (else spurious tuples). Plus DEPENDENCY-PRESERVING.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44 / 49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UNIT 4 · 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Key terms — quick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5349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50" b="1">
                <a:solidFill>
                  <a:srgbClr val="0C2B4A"/>
                </a:solidFill>
              </a:rPr>
              <a:t>Anomaly — </a:t>
            </a:r>
            <a:r>
              <a:rPr sz="1150">
                <a:solidFill>
                  <a:srgbClr val="1A1A1A"/>
                </a:solidFill>
              </a:rPr>
              <a:t>update problem caused by redundant storage.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0C2B4A"/>
                </a:solidFill>
              </a:rPr>
              <a:t>Insertion / deletion / update — </a:t>
            </a:r>
            <a:r>
              <a:rPr sz="1150">
                <a:solidFill>
                  <a:srgbClr val="1A1A1A"/>
                </a:solidFill>
              </a:rPr>
              <a:t>can't add / lose facts / must fix many rows.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0C2B4A"/>
                </a:solidFill>
              </a:rPr>
              <a:t>Functional dependency — </a:t>
            </a:r>
            <a:r>
              <a:rPr sz="1150">
                <a:solidFill>
                  <a:srgbClr val="1A1A1A"/>
                </a:solidFill>
              </a:rPr>
              <a:t>X → Y: X determines exactly one Y.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0C2B4A"/>
                </a:solidFill>
              </a:rPr>
              <a:t>Candidate key — </a:t>
            </a:r>
            <a:r>
              <a:rPr sz="1150">
                <a:solidFill>
                  <a:srgbClr val="1A1A1A"/>
                </a:solidFill>
              </a:rPr>
              <a:t>minimal attribute set determining all attributes.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0C2B4A"/>
                </a:solidFill>
              </a:rPr>
              <a:t>Superkey — </a:t>
            </a:r>
            <a:r>
              <a:rPr sz="1150">
                <a:solidFill>
                  <a:srgbClr val="1A1A1A"/>
                </a:solidFill>
              </a:rPr>
              <a:t>any attribute set that determines all attributes.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0C2B4A"/>
                </a:solidFill>
              </a:rPr>
              <a:t>Partial dependency — </a:t>
            </a:r>
            <a:r>
              <a:rPr sz="1150">
                <a:solidFill>
                  <a:srgbClr val="1A1A1A"/>
                </a:solidFill>
              </a:rPr>
              <a:t>non-key depends on part of a composite key.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0C2B4A"/>
                </a:solidFill>
              </a:rPr>
              <a:t>Transitive dependency — </a:t>
            </a:r>
            <a:r>
              <a:rPr sz="1150">
                <a:solidFill>
                  <a:srgbClr val="1A1A1A"/>
                </a:solidFill>
              </a:rPr>
              <a:t>non-key depends on another non-key.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0C2B4A"/>
                </a:solidFill>
              </a:rPr>
              <a:t>1NF — </a:t>
            </a:r>
            <a:r>
              <a:rPr sz="1150">
                <a:solidFill>
                  <a:srgbClr val="1A1A1A"/>
                </a:solidFill>
              </a:rPr>
              <a:t>atomic values; no repeating groups.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99632" y="1600200"/>
            <a:ext cx="5349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50" b="1">
                <a:solidFill>
                  <a:srgbClr val="0C2B4A"/>
                </a:solidFill>
              </a:rPr>
              <a:t>2NF — </a:t>
            </a:r>
            <a:r>
              <a:rPr sz="1150">
                <a:solidFill>
                  <a:srgbClr val="1A1A1A"/>
                </a:solidFill>
              </a:rPr>
              <a:t>1NF + no partial dependency.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0C2B4A"/>
                </a:solidFill>
              </a:rPr>
              <a:t>3NF — </a:t>
            </a:r>
            <a:r>
              <a:rPr sz="1150">
                <a:solidFill>
                  <a:srgbClr val="1A1A1A"/>
                </a:solidFill>
              </a:rPr>
              <a:t>2NF + no transitive dependency.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0C2B4A"/>
                </a:solidFill>
              </a:rPr>
              <a:t>BCNF — </a:t>
            </a:r>
            <a:r>
              <a:rPr sz="1150">
                <a:solidFill>
                  <a:srgbClr val="1A1A1A"/>
                </a:solidFill>
              </a:rPr>
              <a:t>every determinant is a superkey.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0C2B4A"/>
                </a:solidFill>
              </a:rPr>
              <a:t>Multivalued dependency (↠) — </a:t>
            </a:r>
            <a:r>
              <a:rPr sz="1150">
                <a:solidFill>
                  <a:srgbClr val="1A1A1A"/>
                </a:solidFill>
              </a:rPr>
              <a:t>X gives a set of independent Y values.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0C2B4A"/>
                </a:solidFill>
              </a:rPr>
              <a:t>4NF — </a:t>
            </a:r>
            <a:r>
              <a:rPr sz="1150">
                <a:solidFill>
                  <a:srgbClr val="1A1A1A"/>
                </a:solidFill>
              </a:rPr>
              <a:t>BCNF + no non-trivial MVD.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0C2B4A"/>
                </a:solidFill>
              </a:rPr>
              <a:t>Lossless join — </a:t>
            </a:r>
            <a:r>
              <a:rPr sz="1150">
                <a:solidFill>
                  <a:srgbClr val="1A1A1A"/>
                </a:solidFill>
              </a:rPr>
              <a:t>re-join reproduces the original exactly.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0C2B4A"/>
                </a:solidFill>
              </a:rPr>
              <a:t>Spurious tuples — </a:t>
            </a:r>
            <a:r>
              <a:rPr sz="1150">
                <a:solidFill>
                  <a:srgbClr val="1A1A1A"/>
                </a:solidFill>
              </a:rPr>
              <a:t>extra wrong rows from a lossy split.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0C2B4A"/>
                </a:solidFill>
              </a:rPr>
              <a:t>Dependency preservation — </a:t>
            </a:r>
            <a:r>
              <a:rPr sz="1150">
                <a:solidFill>
                  <a:srgbClr val="1A1A1A"/>
                </a:solidFill>
              </a:rPr>
              <a:t>every FD checkable without re-joining.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45 / 49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5F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BFDCF2"/>
                </a:solidFill>
              </a:rPr>
              <a:t>UNIT 4 · REVISION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100" b="1">
                <a:solidFill>
                  <a:srgbClr val="FFFFFF"/>
                </a:solidFill>
              </a:rPr>
              <a:t>Consolidated end-of-unit quiz (S18–S21)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703320"/>
            <a:ext cx="1280160" cy="82296"/>
          </a:xfrm>
          <a:prstGeom prst="rect">
            <a:avLst/>
          </a:prstGeom>
          <a:solidFill>
            <a:srgbClr val="854F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886200"/>
            <a:ext cx="10515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i="1">
                <a:solidFill>
                  <a:srgbClr val="E8F1F9"/>
                </a:solidFill>
              </a:rPr>
              <a:t>🎣  Ten MCQs across the whole unit (answers shown), then short-answer and a full applied decomposition task to work from the concept slides and Unit4_material.md.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E8F0F7"/>
                </a:solidFill>
              </a:rPr>
              <a:t>46 / 49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54F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854F0B"/>
                </a:solidFill>
              </a:rPr>
              <a:t>CHECK FOR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Part A — Multiple choice (answers shown)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881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sz="1250" b="1">
                <a:solidFill>
                  <a:srgbClr val="0F6E56"/>
                </a:solidFill>
              </a:rPr>
              <a:t>1.  Can't record a new course until a student enrolls   →  ✅ insertion anomaly</a:t>
            </a:r>
          </a:p>
          <a:p>
            <a:pPr lvl="1"/>
            <a:r>
              <a:rPr sz="1250" b="1">
                <a:solidFill>
                  <a:srgbClr val="0F6E56"/>
                </a:solidFill>
              </a:rPr>
              <a:t>2.  InstructorID → InstructorName is a   →  ✅ functional dependency</a:t>
            </a:r>
          </a:p>
          <a:p>
            <a:pPr lvl="1"/>
            <a:r>
              <a:rPr sz="1250" b="1">
                <a:solidFill>
                  <a:srgbClr val="0F6E56"/>
                </a:solidFill>
              </a:rPr>
              <a:t>3.  A candidate key is a minimal set that   →  ✅ functionally determines all attributes</a:t>
            </a:r>
          </a:p>
          <a:p>
            <a:pPr lvl="1"/>
            <a:r>
              <a:rPr sz="1250" b="1">
                <a:solidFill>
                  <a:srgbClr val="0F6E56"/>
                </a:solidFill>
              </a:rPr>
              <a:t>4.  A cell storing '9801,9842,9818' violates   →  ✅ 1NF</a:t>
            </a:r>
          </a:p>
          <a:p>
            <a:pPr lvl="1"/>
            <a:r>
              <a:rPr sz="1250" b="1">
                <a:solidFill>
                  <a:srgbClr val="0F6E56"/>
                </a:solidFill>
              </a:rPr>
              <a:t>5.  2NF is only at risk with a   →  ✅ composite / multi-attribute key</a:t>
            </a:r>
          </a:p>
          <a:p>
            <a:pPr lvl="1"/>
            <a:r>
              <a:rPr sz="1250" b="1">
                <a:solidFill>
                  <a:srgbClr val="0F6E56"/>
                </a:solidFill>
              </a:rPr>
              <a:t>6.  CourseCode → InstructorID → InstructorDept is a   →  ✅ transitive dependency</a:t>
            </a:r>
          </a:p>
          <a:p>
            <a:pPr lvl="1"/>
            <a:r>
              <a:rPr sz="1250" b="1">
                <a:solidFill>
                  <a:srgbClr val="0F6E56"/>
                </a:solidFill>
              </a:rPr>
              <a:t>7.  BCNF requires every non-trivial determinant X to be a   →  ✅ superkey</a:t>
            </a:r>
          </a:p>
          <a:p>
            <a:pPr lvl="1"/>
            <a:r>
              <a:rPr sz="1250" b="1">
                <a:solidFill>
                  <a:srgbClr val="0F6E56"/>
                </a:solidFill>
              </a:rPr>
              <a:t>8.  Independent courses &amp; hobbies crammed in one table violate   →  ✅ 4NF</a:t>
            </a:r>
          </a:p>
          <a:p>
            <a:pPr lvl="1"/>
            <a:r>
              <a:rPr sz="1250" b="1">
                <a:solidFill>
                  <a:srgbClr val="0F6E56"/>
                </a:solidFill>
              </a:rPr>
              <a:t>9.  A decomposition producing spurious tuples on re-join is   →  ✅ lossy</a:t>
            </a:r>
          </a:p>
          <a:p>
            <a:pPr lvl="1"/>
            <a:r>
              <a:rPr sz="1250" b="1">
                <a:solidFill>
                  <a:srgbClr val="0F6E56"/>
                </a:solidFill>
              </a:rPr>
              <a:t>10.  Property letting every FD be checked without re-joining   →  ✅ dependency preservation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47 / 49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54F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854F0B"/>
                </a:solidFill>
              </a:rPr>
              <a:t>CHECK FOR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Parts B–C — short answer &amp; applied decomposition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881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400" b="1">
                <a:solidFill>
                  <a:srgbClr val="0C2B4A"/>
                </a:solidFill>
              </a:rPr>
              <a:t>Part B — Short answer</a:t>
            </a:r>
          </a:p>
          <a:p>
            <a:pPr lvl="1">
              <a:spcBef>
                <a:spcPts val="200"/>
              </a:spcBef>
            </a:pPr>
            <a:r>
              <a:rPr sz="1250" i="1">
                <a:solidFill>
                  <a:srgbClr val="1A1A1A"/>
                </a:solidFill>
              </a:rPr>
              <a:t>1. List the three anomalies with a one-line example of each.   2. Partial vs transitive dependency, and the NF that removes each.</a:t>
            </a:r>
          </a:p>
          <a:p>
            <a:pPr lvl="1">
              <a:spcBef>
                <a:spcPts val="200"/>
              </a:spcBef>
            </a:pPr>
            <a:r>
              <a:rPr sz="1250" i="1">
                <a:solidFill>
                  <a:srgbClr val="1A1A1A"/>
                </a:solidFill>
              </a:rPr>
              <a:t>3. Why can a decomposition be lossless but NOT dependency-preserving? State the BCNF-vs-3NF trade-off.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0C2B4A"/>
                </a:solidFill>
              </a:rPr>
              <a:t>Part C — Applied decomposition (the running ENROLL table)</a:t>
            </a:r>
          </a:p>
          <a:p>
            <a:pPr lvl="1">
              <a:spcBef>
                <a:spcPts val="200"/>
              </a:spcBef>
            </a:pPr>
            <a:r>
              <a:rPr sz="1250" i="1">
                <a:solidFill>
                  <a:srgbClr val="1A1A1A"/>
                </a:solidFill>
              </a:rPr>
              <a:t>1. Write the FDs and any MVD.   2. Identify the primary key.</a:t>
            </a:r>
          </a:p>
          <a:p>
            <a:pPr lvl="1">
              <a:spcBef>
                <a:spcPts val="200"/>
              </a:spcBef>
            </a:pPr>
            <a:r>
              <a:rPr sz="1250" i="1">
                <a:solidFill>
                  <a:srgbClr val="1A1A1A"/>
                </a:solidFill>
              </a:rPr>
              <a:t>3. Decompose step by step to BCNF/4NF, showing the table set at each stage (1NF→2NF→3NF→BCNF/4NF).</a:t>
            </a:r>
          </a:p>
          <a:p>
            <a:pPr lvl="1">
              <a:spcBef>
                <a:spcPts val="200"/>
              </a:spcBef>
            </a:pPr>
            <a:r>
              <a:rPr sz="1250" i="1">
                <a:solidFill>
                  <a:srgbClr val="1A1A1A"/>
                </a:solidFill>
              </a:rPr>
              <a:t>4. Confirm the final decomposition is lossless, and state whether it is dependency-preserving.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48 / 49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2B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788920"/>
            <a:ext cx="1463040" cy="91440"/>
          </a:xfrm>
          <a:prstGeom prst="rect">
            <a:avLst/>
          </a:prstGeom>
          <a:solidFill>
            <a:srgbClr val="854F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</a:rPr>
              <a:t>End of Unit 4  ·  IT 220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718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CFDDEA"/>
                </a:solidFill>
              </a:rPr>
              <a:t>S18–S21 complete: anomalies &amp; functional dependencies → 1NF → 2NF → 3NF → BCNF → 4NF, plus lossless join &amp; dependency preservation — one ENROLL table threaded through every rung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9436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9AB2C6"/>
                </a:solidFill>
              </a:rPr>
              <a:t>Built to COURSE_MATERIAL_STANDARD.md · self-contained slides · exports cleanly to PDF · Next unit (Unit 5): SQL — building and querying these clean tables.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E8F0F7"/>
                </a:solidFill>
              </a:rPr>
              <a:t>49 / 49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