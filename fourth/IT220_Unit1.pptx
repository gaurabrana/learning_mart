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HOOK [~5 min]. Build curiosity; don't define 'database' formally yet. Agenda: data vs database → DBMS → users → DBA → why databases beat files.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Ask 'is 78 a mark, age, temperature, or house number?' — you can't tell; that's raw data.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'MySQL is the DBMS — the engine. The college database is the data it manages.' Say it twice.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Use ONE bank to populate all four roles; make the DBA feel high-stakes.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 min. Walk the address-in-5-files example: update 4, forget 1 → inconsistent, can't tell which is right.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[~6 min].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[~5 min].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REAL-LIFE APPLICATION [~3 min] + SUMMARY [~2 min].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HOOK [~5 min]. Hold the question until data independence (Concept 4). Agenda: data models → schema vs instance → three-schema → data independence.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Light touch — models are detailed in Unit 2; the point is describing data at different abstraction levels.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Write Student(roll, name, program) then 3 fake rows beside it — same schema, many instances.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 min. The centrepiece — walk the college exam DB through all three levels; the mappings give data independence.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 min. Resolve the hook: SSD migration + new index overnight, every app works next morning = physical independence.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[~5 min].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[~5 min].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REAL-LIFE APPLICATION [~3 min] + SUMMARY [~2 min].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HOOK [~5 min]. Full SQL syntax is Unit 5. Agenda: languages → interfaces → components → data dictionary.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One college example: register a course = DDL; enrol a student = DML; grant a TA access = DCL; commit = TCL.</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A teller and a developer touch the SAME database through different interfaces matched to their skill.</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Restaurant analogy: waiter (query processor), kitchen (storage), manager (transactions), receipt book (catalog).</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 min. When you ask 'what columns does Student have?', the answer comes FROM the catalog.</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[~6 min].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[~5 min].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REAL-LIFE APPLICATION [~3 min] + SUMMARY [~2 min].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HOOK [~5 min]. Agenda: centralized → client/server (2-tier/3-tier) → classification → Unit 1 synthesis.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Emphasise the single point of failure — the weakness that motivates everything that follows.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 min. Three-tier is the modern standard; 'why your phone doesn't hold the full ledger' lands the server-side idea.</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Relational still DOMINATES business systems; NoSQL is an additional tool for specific needs.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 min. Walk the mind-map; ask which session each branch came from. This is the slide to photograph for revision.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[~5 min].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[~5 min].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REAL-LIFE APPLICATION [~3 min] + SUMMARY [~2 min].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and let students justify each axis before revealing. This ties S1–S4 into one exam-style answer.</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as a 15–20 min in-class quiz or take-home review.</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Consolidated quiz Section A.</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Consolidated quiz Sections B–D. Model answers live in the concept slides and Unit1_material.md.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2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2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2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2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28.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29.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C2B4A"/>
        </a:solidFill>
        <a:effectLst/>
      </p:bgPr>
    </p:bg>
    <p:spTree>
      <p:nvGrpSpPr>
        <p:cNvPr id="1" name=""/>
        <p:cNvGrpSpPr/>
        <p:nvPr/>
      </p:nvGrpSpPr>
      <p:grpSpPr/>
      <p:sp>
        <p:nvSpPr>
          <p:cNvPr id="2" name="Rectangle 1"/>
          <p:cNvSpPr/>
          <p:nvPr/>
        </p:nvSpPr>
        <p:spPr>
          <a:xfrm>
            <a:off x="822960" y="2788920"/>
            <a:ext cx="1463040" cy="91440"/>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828800"/>
            <a:ext cx="10515600" cy="914400"/>
          </a:xfrm>
          <a:prstGeom prst="rect">
            <a:avLst/>
          </a:prstGeom>
          <a:noFill/>
        </p:spPr>
        <p:txBody>
          <a:bodyPr wrap="square">
            <a:spAutoFit/>
          </a:bodyPr>
          <a:lstStyle/>
          <a:p>
            <a:r>
              <a:rPr sz="3400" b="1">
                <a:solidFill>
                  <a:srgbClr val="FFFFFF"/>
                </a:solidFill>
              </a:rPr>
              <a:t>Unit 1 — Database Concepts &amp; Architecture</a:t>
            </a:r>
          </a:p>
        </p:txBody>
      </p:sp>
      <p:sp>
        <p:nvSpPr>
          <p:cNvPr id="4" name="TextBox 3"/>
          <p:cNvSpPr txBox="1"/>
          <p:nvPr/>
        </p:nvSpPr>
        <p:spPr>
          <a:xfrm>
            <a:off x="822960" y="2971800"/>
            <a:ext cx="10515600" cy="1097280"/>
          </a:xfrm>
          <a:prstGeom prst="rect">
            <a:avLst/>
          </a:prstGeom>
          <a:noFill/>
        </p:spPr>
        <p:txBody>
          <a:bodyPr wrap="square">
            <a:spAutoFit/>
          </a:bodyPr>
          <a:lstStyle/>
          <a:p>
            <a:r>
              <a:rPr sz="1800">
                <a:solidFill>
                  <a:srgbClr val="CFDDEA"/>
                </a:solidFill>
              </a:rPr>
              <a:t>IT 220: Database Management System  ·  BIM 4th Semester</a:t>
            </a:r>
          </a:p>
        </p:txBody>
      </p:sp>
      <p:sp>
        <p:nvSpPr>
          <p:cNvPr id="5" name="TextBox 4"/>
          <p:cNvSpPr txBox="1"/>
          <p:nvPr/>
        </p:nvSpPr>
        <p:spPr>
          <a:xfrm>
            <a:off x="822960" y="5943600"/>
            <a:ext cx="10515600" cy="640080"/>
          </a:xfrm>
          <a:prstGeom prst="rect">
            <a:avLst/>
          </a:prstGeom>
          <a:noFill/>
        </p:spPr>
        <p:txBody>
          <a:bodyPr wrap="square">
            <a:spAutoFit/>
          </a:bodyPr>
          <a:lstStyle/>
          <a:p>
            <a:r>
              <a:rPr sz="1300">
                <a:solidFill>
                  <a:srgbClr val="9AB2C6"/>
                </a:solidFill>
              </a:rPr>
              <a:t>Sessions S1–S4  ·  50 min each  ·  Nepal / South Asia context  ·  Self-contained slides: every concept is complete on the slide face — exports to PDF with no information lost.</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1 / 74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OVERVIEW  ·  S1–S4</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Unit 1 — Learning Outcomes</a:t>
            </a:r>
          </a:p>
        </p:txBody>
      </p:sp>
      <p:sp>
        <p:nvSpPr>
          <p:cNvPr id="5" name="TextBox 4"/>
          <p:cNvSpPr txBox="1"/>
          <p:nvPr/>
        </p:nvSpPr>
        <p:spPr>
          <a:xfrm>
            <a:off x="640080" y="1600200"/>
            <a:ext cx="10972800" cy="4206240"/>
          </a:xfrm>
          <a:prstGeom prst="rect">
            <a:avLst/>
          </a:prstGeom>
          <a:noFill/>
        </p:spPr>
        <p:txBody>
          <a:bodyPr wrap="square">
            <a:spAutoFit/>
          </a:bodyPr>
          <a:lstStyle/>
          <a:p>
            <a:pPr>
              <a:spcAft>
                <a:spcPts val="800"/>
              </a:spcAft>
            </a:pPr>
            <a:r>
              <a:rPr sz="1600" b="1">
                <a:solidFill>
                  <a:srgbClr val="0C2B4A"/>
                </a:solidFill>
              </a:rPr>
              <a:t>By the end of this unit, you will be able to:</a:t>
            </a:r>
          </a:p>
          <a:p>
            <a:pPr>
              <a:spcAft>
                <a:spcPts val="500"/>
              </a:spcAft>
            </a:pPr>
            <a:r>
              <a:rPr sz="1450">
                <a:solidFill>
                  <a:srgbClr val="1A1A1A"/>
                </a:solidFill>
              </a:rPr>
              <a:t>•  Define database, DBMS, and the roles around them, and say why a DBMS beats flat files (S1)</a:t>
            </a:r>
          </a:p>
          <a:p>
            <a:pPr>
              <a:spcAft>
                <a:spcPts val="500"/>
              </a:spcAft>
            </a:pPr>
            <a:r>
              <a:rPr sz="1450">
                <a:solidFill>
                  <a:srgbClr val="1A1A1A"/>
                </a:solidFill>
              </a:rPr>
              <a:t>•  Distinguish data models, schemas, and instances (S2)</a:t>
            </a:r>
          </a:p>
          <a:p>
            <a:pPr>
              <a:spcAft>
                <a:spcPts val="500"/>
              </a:spcAft>
            </a:pPr>
            <a:r>
              <a:rPr sz="1450">
                <a:solidFill>
                  <a:srgbClr val="1A1A1A"/>
                </a:solidFill>
              </a:rPr>
              <a:t>•  Explain the three-schema architecture and the two kinds of data independence (S2)</a:t>
            </a:r>
          </a:p>
          <a:p>
            <a:pPr>
              <a:spcAft>
                <a:spcPts val="500"/>
              </a:spcAft>
            </a:pPr>
            <a:r>
              <a:rPr sz="1450">
                <a:solidFill>
                  <a:srgbClr val="1A1A1A"/>
                </a:solidFill>
              </a:rPr>
              <a:t>•  Identify database languages/interfaces and the components of the DBMS environment (S3)</a:t>
            </a:r>
          </a:p>
          <a:p>
            <a:pPr>
              <a:spcAft>
                <a:spcPts val="500"/>
              </a:spcAft>
            </a:pPr>
            <a:r>
              <a:rPr sz="1450">
                <a:solidFill>
                  <a:srgbClr val="1A1A1A"/>
                </a:solidFill>
              </a:rPr>
              <a:t>•  Compare centralized vs client/server architectures and classify DBMSs (S4)</a:t>
            </a:r>
          </a:p>
        </p:txBody>
      </p:sp>
      <p:sp>
        <p:nvSpPr>
          <p:cNvPr id="6" name="Rounded Rectangle 5"/>
          <p:cNvSpPr/>
          <p:nvPr/>
        </p:nvSpPr>
        <p:spPr>
          <a:xfrm>
            <a:off x="640080" y="5806440"/>
            <a:ext cx="10972800" cy="77724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Next unit</a:t>
            </a:r>
          </a:p>
          <a:p>
            <a:pPr>
              <a:spcBef>
                <a:spcPts val="300"/>
              </a:spcBef>
            </a:pPr>
            <a:r>
              <a:rPr sz="1300">
                <a:solidFill>
                  <a:srgbClr val="1A1A1A"/>
                </a:solidFill>
              </a:rPr>
              <a:t>Unit 2 starts DESIGNING databases — the Entity-Relationship (ER) model and converting it to tables.</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2 / 74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UNIT 1 — ROADMAP</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Where each session fits (S1–S4)</a:t>
            </a:r>
          </a:p>
        </p:txBody>
      </p:sp>
      <p:sp>
        <p:nvSpPr>
          <p:cNvPr id="5" name="Rounded Rectangle 4"/>
          <p:cNvSpPr/>
          <p:nvPr/>
        </p:nvSpPr>
        <p:spPr>
          <a:xfrm>
            <a:off x="640080" y="1645920"/>
            <a:ext cx="5349240" cy="416052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THIS UNIT  ·  S1–S4</a:t>
            </a:r>
          </a:p>
          <a:p>
            <a:pPr>
              <a:spcBef>
                <a:spcPts val="300"/>
              </a:spcBef>
            </a:pPr>
            <a:r>
              <a:rPr sz="1400">
                <a:solidFill>
                  <a:srgbClr val="1A1A1A"/>
                </a:solidFill>
              </a:rPr>
              <a:t>S1   Database, DBMS, users, DBA, files vs DBMS
S2   Data models · schema/instance · three-schema · data independence
S3   Languages (DDL/DML/DCL/TCL) · interfaces · components · catalog
S4   Centralized vs client/server · classification · synthesis</a:t>
            </a:r>
          </a:p>
        </p:txBody>
      </p:sp>
      <p:sp>
        <p:nvSpPr>
          <p:cNvPr id="6" name="Rounded Rectangle 5"/>
          <p:cNvSpPr/>
          <p:nvPr/>
        </p:nvSpPr>
        <p:spPr>
          <a:xfrm>
            <a:off x="6199632" y="1645920"/>
            <a:ext cx="5349240" cy="4160520"/>
          </a:xfrm>
          <a:prstGeom prst="roundRect">
            <a:avLst/>
          </a:prstGeom>
          <a:solidFill>
            <a:srgbClr val="F2F5F8"/>
          </a:solidFill>
          <a:ln w="12700">
            <a:solidFill>
              <a:srgbClr val="55606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55606B"/>
                </a:solidFill>
              </a:rPr>
              <a:t>⏭️  COMING NEXT  ·  Unit 2+</a:t>
            </a:r>
          </a:p>
          <a:p>
            <a:pPr>
              <a:spcBef>
                <a:spcPts val="300"/>
              </a:spcBef>
            </a:pPr>
            <a:r>
              <a:rPr sz="1400">
                <a:solidFill>
                  <a:srgbClr val="1A1A1A"/>
                </a:solidFill>
              </a:rPr>
              <a:t>Unit 2   ER modelling &amp; mapping to tables
Unit 3   Relational algebra &amp; calculus
Unit 4   Normalization
Unit 5  SQL  ·  Unit 6  Transactions  ·  Unit 7  Advanced</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3 / 74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SESSION 1 · LECTURE HOUR 1 (OF 4)</a:t>
            </a:r>
          </a:p>
        </p:txBody>
      </p:sp>
      <p:sp>
        <p:nvSpPr>
          <p:cNvPr id="3" name="TextBox 2"/>
          <p:cNvSpPr txBox="1"/>
          <p:nvPr/>
        </p:nvSpPr>
        <p:spPr>
          <a:xfrm>
            <a:off x="822960" y="2286000"/>
            <a:ext cx="10515600" cy="1280160"/>
          </a:xfrm>
          <a:prstGeom prst="rect">
            <a:avLst/>
          </a:prstGeom>
          <a:noFill/>
        </p:spPr>
        <p:txBody>
          <a:bodyPr wrap="square">
            <a:spAutoFit/>
          </a:bodyPr>
          <a:lstStyle/>
          <a:p>
            <a:r>
              <a:rPr sz="3100" b="1">
                <a:solidFill>
                  <a:srgbClr val="FFFFFF"/>
                </a:solidFill>
              </a:rPr>
              <a:t>Database &amp; DBMS · Users, DBA &amp; Advantages</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Your eSewa balance survives when your phone dies; your exam results are still there after the holidays. None of that lives in the app — it lives in a database. Where does your data actually live?</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4 / 74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 · CONCEPT 1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Data vs Information vs Database</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Data = raw facts with no context. Information = data placed in context so it answers a question. A database = an organized, related collection of data stored so it can be accessed, managed, and updated.</a:t>
            </a:r>
          </a:p>
          <a:p>
            <a:pPr>
              <a:spcAft>
                <a:spcPts val="500"/>
              </a:spcAft>
            </a:pPr>
            <a:r>
              <a:rPr sz="1200" b="1">
                <a:solidFill>
                  <a:srgbClr val="185FA5"/>
                </a:solidFill>
              </a:rPr>
              <a:t>HOW IT WORKS</a:t>
            </a:r>
          </a:p>
          <a:p>
            <a:pPr>
              <a:spcAft>
                <a:spcPts val="600"/>
              </a:spcAft>
            </a:pPr>
            <a:r>
              <a:rPr sz="1400">
                <a:solidFill>
                  <a:srgbClr val="1A1A1A"/>
                </a:solidFill>
              </a:rPr>
              <a:t>•  '78' alone is data (a mark? an age? a temperature?); 'Sita scored 78 in DBMS' is information.</a:t>
            </a:r>
          </a:p>
          <a:p>
            <a:pPr>
              <a:spcAft>
                <a:spcPts val="600"/>
              </a:spcAft>
            </a:pPr>
            <a:r>
              <a:rPr sz="1400">
                <a:solidFill>
                  <a:srgbClr val="1A1A1A"/>
                </a:solidFill>
              </a:rPr>
              <a:t>•  A database is organized and related — records link to each other, not a random heap.</a:t>
            </a:r>
          </a:p>
          <a:p>
            <a:pPr>
              <a:spcAft>
                <a:spcPts val="600"/>
              </a:spcAft>
            </a:pPr>
            <a:r>
              <a:rPr sz="1400">
                <a:solidFill>
                  <a:srgbClr val="1A1A1A"/>
                </a:solidFill>
              </a:rPr>
              <a:t>•  Three defining properties: persistent (survives the program), shared (many users/apps at once), structured.</a:t>
            </a:r>
          </a:p>
          <a:p>
            <a:pPr>
              <a:spcAft>
                <a:spcPts val="600"/>
              </a:spcAft>
            </a:pPr>
            <a:r>
              <a:rPr sz="1400">
                <a:solidFill>
                  <a:srgbClr val="1A1A1A"/>
                </a:solidFill>
              </a:rPr>
              <a:t>•  A kirana notebook is a fragile 'database': one reader, destroyed by a spill, no fast querying.</a:t>
            </a:r>
          </a:p>
        </p:txBody>
      </p:sp>
      <p:pic>
        <p:nvPicPr>
          <p:cNvPr id="6" name="Picture 5" descr="s1_data_ladder.png"/>
          <p:cNvPicPr>
            <a:picLocks noChangeAspect="1"/>
          </p:cNvPicPr>
          <p:nvPr/>
        </p:nvPicPr>
        <p:blipFill>
          <a:blip r:embed="rId2"/>
          <a:stretch>
            <a:fillRect/>
          </a:stretch>
        </p:blipFill>
        <p:spPr>
          <a:xfrm>
            <a:off x="6355080" y="2497611"/>
            <a:ext cx="5532120" cy="2640017"/>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Facts → meaning → organized store.</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5 / 74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 · CONCEPT 1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Data vs Information vs Database</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a:t>
            </a:r>
          </a:p>
          <a:p>
            <a:pPr>
              <a:spcBef>
                <a:spcPts val="300"/>
              </a:spcBef>
            </a:pPr>
            <a:r>
              <a:rPr sz="1400">
                <a:solidFill>
                  <a:srgbClr val="1A1A1A"/>
                </a:solidFill>
              </a:rPr>
              <a:t>One eSewa line — 'Rs 500 to Hari · 2081-02-15 · success' — the bare fields are data; shown so you understand 'you paid Hari Rs 500 and it worked' is information; millions of such records, linked to the right accounts and stored so your full history loads in one tap, are the database.</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"Any stored file is a database." Only if it's persistent, shared, and structured. A kirana notebook barely qualifies — one reader at a time, fragile, no efficient querying.</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Data are raw facts with no context (500, 'Hari'). Information is data given meaning by context ('You sent Rs 500 to Hari'). A database is an organized, persistent, shared collection of related data (eSewa's store of all transactions). Data becomes information through context; many related pieces stored systematically become a database.</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data · information · database · persistent · shared · structured</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6 / 74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 · CONCEPT 1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Raw data → information → where the database fits</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2185147"/>
                <a:gridCol w="4538382"/>
                <a:gridCol w="4706470"/>
              </a:tblGrid>
              <a:tr h="630936">
                <a:tc>
                  <a:txBody>
                    <a:bodyPr wrap="square"/>
                    <a:lstStyle/>
                    <a:p>
                      <a:r>
                        <a:rPr sz="1150" b="1">
                          <a:solidFill>
                            <a:srgbClr val="FFFFFF"/>
                          </a:solidFill>
                        </a:rPr>
                        <a:t>Raw data (no context)</a:t>
                      </a:r>
                    </a:p>
                  </a:txBody>
                  <a:tcPr anchor="ctr" marL="73152" marR="54864" marT="27432" marB="27432">
                    <a:solidFill>
                      <a:srgbClr val="0C2B4A"/>
                    </a:solidFill>
                  </a:tcPr>
                </a:tc>
                <a:tc>
                  <a:txBody>
                    <a:bodyPr wrap="square"/>
                    <a:lstStyle/>
                    <a:p>
                      <a:r>
                        <a:rPr sz="1150" b="1">
                          <a:solidFill>
                            <a:srgbClr val="FFFFFF"/>
                          </a:solidFill>
                        </a:rPr>
                        <a:t>Becomes information when…</a:t>
                      </a:r>
                    </a:p>
                  </a:txBody>
                  <a:tcPr anchor="ctr" marL="73152" marR="54864" marT="27432" marB="27432">
                    <a:solidFill>
                      <a:srgbClr val="0C2B4A"/>
                    </a:solidFill>
                  </a:tcPr>
                </a:tc>
                <a:tc>
                  <a:txBody>
                    <a:bodyPr wrap="square"/>
                    <a:lstStyle/>
                    <a:p>
                      <a:r>
                        <a:rPr sz="1150" b="1">
                          <a:solidFill>
                            <a:srgbClr val="FFFFFF"/>
                          </a:solidFill>
                        </a:rPr>
                        <a:t>In the database it lives as…</a:t>
                      </a:r>
                    </a:p>
                  </a:txBody>
                  <a:tcPr anchor="ctr" marL="73152" marR="54864" marT="27432" marB="27432">
                    <a:solidFill>
                      <a:srgbClr val="0C2B4A"/>
                    </a:solidFill>
                  </a:tcPr>
                </a:tc>
              </a:tr>
              <a:tr h="630936">
                <a:tc>
                  <a:txBody>
                    <a:bodyPr wrap="square"/>
                    <a:lstStyle/>
                    <a:p>
                      <a:r>
                        <a:rPr sz="1100" b="1">
                          <a:solidFill>
                            <a:srgbClr val="0C2B4A"/>
                          </a:solidFill>
                        </a:rPr>
                        <a:t>78</a:t>
                      </a:r>
                    </a:p>
                  </a:txBody>
                  <a:tcPr anchor="ctr" marL="73152" marR="54864" marT="27432" marB="27432">
                    <a:solidFill>
                      <a:srgbClr val="FFFFFF"/>
                    </a:solidFill>
                  </a:tcPr>
                </a:tc>
                <a:tc>
                  <a:txBody>
                    <a:bodyPr wrap="square"/>
                    <a:lstStyle/>
                    <a:p>
                      <a:r>
                        <a:rPr sz="1100">
                          <a:solidFill>
                            <a:srgbClr val="1A1A1A"/>
                          </a:solidFill>
                        </a:rPr>
                        <a:t>'Sita scored 78 in DBMS'</a:t>
                      </a:r>
                    </a:p>
                  </a:txBody>
                  <a:tcPr anchor="ctr" marL="73152" marR="54864" marT="27432" marB="27432">
                    <a:solidFill>
                      <a:srgbClr val="FFFFFF"/>
                    </a:solidFill>
                  </a:tcPr>
                </a:tc>
                <a:tc>
                  <a:txBody>
                    <a:bodyPr wrap="square"/>
                    <a:lstStyle/>
                    <a:p>
                      <a:r>
                        <a:rPr sz="1100">
                          <a:solidFill>
                            <a:srgbClr val="1A1A1A"/>
                          </a:solidFill>
                        </a:rPr>
                        <a:t>a row in Marks(roll, subject, score)</a:t>
                      </a:r>
                    </a:p>
                  </a:txBody>
                  <a:tcPr anchor="ctr" marL="73152" marR="54864" marT="27432" marB="27432">
                    <a:solidFill>
                      <a:srgbClr val="FFFFFF"/>
                    </a:solidFill>
                  </a:tcPr>
                </a:tc>
              </a:tr>
              <a:tr h="630936">
                <a:tc>
                  <a:txBody>
                    <a:bodyPr wrap="square"/>
                    <a:lstStyle/>
                    <a:p>
                      <a:r>
                        <a:rPr sz="1100" b="1">
                          <a:solidFill>
                            <a:srgbClr val="0C2B4A"/>
                          </a:solidFill>
                        </a:rPr>
                        <a:t>500</a:t>
                      </a:r>
                    </a:p>
                  </a:txBody>
                  <a:tcPr anchor="ctr" marL="73152" marR="54864" marT="27432" marB="27432">
                    <a:solidFill>
                      <a:srgbClr val="EEF3F8"/>
                    </a:solidFill>
                  </a:tcPr>
                </a:tc>
                <a:tc>
                  <a:txBody>
                    <a:bodyPr wrap="square"/>
                    <a:lstStyle/>
                    <a:p>
                      <a:r>
                        <a:rPr sz="1100">
                          <a:solidFill>
                            <a:srgbClr val="1A1A1A"/>
                          </a:solidFill>
                        </a:rPr>
                        <a:t>'You sent Rs 500 to Hari'</a:t>
                      </a:r>
                    </a:p>
                  </a:txBody>
                  <a:tcPr anchor="ctr" marL="73152" marR="54864" marT="27432" marB="27432">
                    <a:solidFill>
                      <a:srgbClr val="EEF3F8"/>
                    </a:solidFill>
                  </a:tcPr>
                </a:tc>
                <a:tc>
                  <a:txBody>
                    <a:bodyPr wrap="square"/>
                    <a:lstStyle/>
                    <a:p>
                      <a:r>
                        <a:rPr sz="1100">
                          <a:solidFill>
                            <a:srgbClr val="1A1A1A"/>
                          </a:solidFill>
                        </a:rPr>
                        <a:t>a row in Transaction(id, payer, payee, amount)</a:t>
                      </a:r>
                    </a:p>
                  </a:txBody>
                  <a:tcPr anchor="ctr" marL="73152" marR="54864" marT="27432" marB="27432">
                    <a:solidFill>
                      <a:srgbClr val="EEF3F8"/>
                    </a:solidFill>
                  </a:tcPr>
                </a:tc>
              </a:tr>
              <a:tr h="630936">
                <a:tc>
                  <a:txBody>
                    <a:bodyPr wrap="square"/>
                    <a:lstStyle/>
                    <a:p>
                      <a:r>
                        <a:rPr sz="1100" b="1">
                          <a:solidFill>
                            <a:srgbClr val="0C2B4A"/>
                          </a:solidFill>
                        </a:rPr>
                        <a:t>'Hari'</a:t>
                      </a:r>
                    </a:p>
                  </a:txBody>
                  <a:tcPr anchor="ctr" marL="73152" marR="54864" marT="27432" marB="27432">
                    <a:solidFill>
                      <a:srgbClr val="FFFFFF"/>
                    </a:solidFill>
                  </a:tcPr>
                </a:tc>
                <a:tc>
                  <a:txBody>
                    <a:bodyPr wrap="square"/>
                    <a:lstStyle/>
                    <a:p>
                      <a:r>
                        <a:rPr sz="1100">
                          <a:solidFill>
                            <a:srgbClr val="1A1A1A"/>
                          </a:solidFill>
                        </a:rPr>
                        <a:t>'Hari is the payee of txn #4412'</a:t>
                      </a:r>
                    </a:p>
                  </a:txBody>
                  <a:tcPr anchor="ctr" marL="73152" marR="54864" marT="27432" marB="27432">
                    <a:solidFill>
                      <a:srgbClr val="FFFFFF"/>
                    </a:solidFill>
                  </a:tcPr>
                </a:tc>
                <a:tc>
                  <a:txBody>
                    <a:bodyPr wrap="square"/>
                    <a:lstStyle/>
                    <a:p>
                      <a:r>
                        <a:rPr sz="1100">
                          <a:solidFill>
                            <a:srgbClr val="1A1A1A"/>
                          </a:solidFill>
                        </a:rPr>
                        <a:t>a linked Account record</a:t>
                      </a:r>
                    </a:p>
                  </a:txBody>
                  <a:tcPr anchor="ctr" marL="73152" marR="54864" marT="27432" marB="27432">
                    <a:solidFill>
                      <a:srgbClr val="FFFFFF"/>
                    </a:solidFill>
                  </a:tcPr>
                </a:tc>
              </a:tr>
              <a:tr h="630936">
                <a:tc>
                  <a:txBody>
                    <a:bodyPr wrap="square"/>
                    <a:lstStyle/>
                    <a:p>
                      <a:r>
                        <a:rPr sz="1100" b="1">
                          <a:solidFill>
                            <a:srgbClr val="0C2B4A"/>
                          </a:solidFill>
                        </a:rPr>
                        <a:t>2081-02-15</a:t>
                      </a:r>
                    </a:p>
                  </a:txBody>
                  <a:tcPr anchor="ctr" marL="73152" marR="54864" marT="27432" marB="27432">
                    <a:solidFill>
                      <a:srgbClr val="EEF3F8"/>
                    </a:solidFill>
                  </a:tcPr>
                </a:tc>
                <a:tc>
                  <a:txBody>
                    <a:bodyPr wrap="square"/>
                    <a:lstStyle/>
                    <a:p>
                      <a:r>
                        <a:rPr sz="1100">
                          <a:solidFill>
                            <a:srgbClr val="1A1A1A"/>
                          </a:solidFill>
                        </a:rPr>
                        <a:t>'the date you paid'</a:t>
                      </a:r>
                    </a:p>
                  </a:txBody>
                  <a:tcPr anchor="ctr" marL="73152" marR="54864" marT="27432" marB="27432">
                    <a:solidFill>
                      <a:srgbClr val="EEF3F8"/>
                    </a:solidFill>
                  </a:tcPr>
                </a:tc>
                <a:tc>
                  <a:txBody>
                    <a:bodyPr wrap="square"/>
                    <a:lstStyle/>
                    <a:p>
                      <a:r>
                        <a:rPr sz="1100">
                          <a:solidFill>
                            <a:srgbClr val="1A1A1A"/>
                          </a:solidFill>
                        </a:rPr>
                        <a:t>a DATE column on the transaction</a:t>
                      </a:r>
                    </a:p>
                  </a:txBody>
                  <a:tcPr anchor="ctr" marL="73152" marR="54864" marT="27432" marB="27432">
                    <a:solidFill>
                      <a:srgbClr val="EEF3F8"/>
                    </a:solidFill>
                  </a:tcPr>
                </a:tc>
              </a:tr>
              <a:tr h="630936">
                <a:tc>
                  <a:txBody>
                    <a:bodyPr wrap="square"/>
                    <a:lstStyle/>
                    <a:p>
                      <a:r>
                        <a:rPr sz="1100" b="1">
                          <a:solidFill>
                            <a:srgbClr val="0C2B4A"/>
                          </a:solidFill>
                        </a:rPr>
                        <a:t>9843…</a:t>
                      </a:r>
                    </a:p>
                  </a:txBody>
                  <a:tcPr anchor="ctr" marL="73152" marR="54864" marT="27432" marB="27432">
                    <a:solidFill>
                      <a:srgbClr val="FFFFFF"/>
                    </a:solidFill>
                  </a:tcPr>
                </a:tc>
                <a:tc>
                  <a:txBody>
                    <a:bodyPr wrap="square"/>
                    <a:lstStyle/>
                    <a:p>
                      <a:r>
                        <a:rPr sz="1100">
                          <a:solidFill>
                            <a:srgbClr val="1A1A1A"/>
                          </a:solidFill>
                        </a:rPr>
                        <a:t>'a customer's mobile number'</a:t>
                      </a:r>
                    </a:p>
                  </a:txBody>
                  <a:tcPr anchor="ctr" marL="73152" marR="54864" marT="27432" marB="27432">
                    <a:solidFill>
                      <a:srgbClr val="FFFFFF"/>
                    </a:solidFill>
                  </a:tcPr>
                </a:tc>
                <a:tc>
                  <a:txBody>
                    <a:bodyPr wrap="square"/>
                    <a:lstStyle/>
                    <a:p>
                      <a:r>
                        <a:rPr sz="1100">
                          <a:solidFill>
                            <a:srgbClr val="1A1A1A"/>
                          </a:solidFill>
                        </a:rPr>
                        <a:t>a field in Customer(id, name, phone)</a:t>
                      </a:r>
                    </a:p>
                  </a:txBody>
                  <a:tcPr anchor="ctr" marL="73152" marR="54864" marT="27432" marB="27432">
                    <a:solidFill>
                      <a:srgbClr val="FFFFFF"/>
                    </a:solidFill>
                  </a:tcPr>
                </a:tc>
              </a:tr>
              <a:tr h="630936">
                <a:tc>
                  <a:txBody>
                    <a:bodyPr wrap="square"/>
                    <a:lstStyle/>
                    <a:p>
                      <a:r>
                        <a:rPr sz="1100" b="1">
                          <a:solidFill>
                            <a:srgbClr val="0C2B4A"/>
                          </a:solidFill>
                        </a:rPr>
                        <a:t>'success'</a:t>
                      </a:r>
                    </a:p>
                  </a:txBody>
                  <a:tcPr anchor="ctr" marL="73152" marR="54864" marT="27432" marB="27432">
                    <a:solidFill>
                      <a:srgbClr val="EEF3F8"/>
                    </a:solidFill>
                  </a:tcPr>
                </a:tc>
                <a:tc>
                  <a:txBody>
                    <a:bodyPr wrap="square"/>
                    <a:lstStyle/>
                    <a:p>
                      <a:r>
                        <a:rPr sz="1100">
                          <a:solidFill>
                            <a:srgbClr val="1A1A1A"/>
                          </a:solidFill>
                        </a:rPr>
                        <a:t>'the payment went through'</a:t>
                      </a:r>
                    </a:p>
                  </a:txBody>
                  <a:tcPr anchor="ctr" marL="73152" marR="54864" marT="27432" marB="27432">
                    <a:solidFill>
                      <a:srgbClr val="EEF3F8"/>
                    </a:solidFill>
                  </a:tcPr>
                </a:tc>
                <a:tc>
                  <a:txBody>
                    <a:bodyPr wrap="square"/>
                    <a:lstStyle/>
                    <a:p>
                      <a:r>
                        <a:rPr sz="1100">
                          <a:solidFill>
                            <a:srgbClr val="1A1A1A"/>
                          </a:solidFill>
                        </a:rPr>
                        <a:t>a status column, queryable across millions of rows</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Data alone answers nothing; context turns it into information; storing millions of related, queryable records is the database.</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7 / 74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 · CONCEPT 2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DBMS: the software that manages the data</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A DBMS (Database Management System) is the software that lets people and applications define, create, query, update, and administer databases. The database is the data; the DBMS is the program that manages it.</a:t>
            </a:r>
          </a:p>
          <a:p>
            <a:pPr>
              <a:spcAft>
                <a:spcPts val="500"/>
              </a:spcAft>
            </a:pPr>
            <a:r>
              <a:rPr sz="1200" b="1">
                <a:solidFill>
                  <a:srgbClr val="185FA5"/>
                </a:solidFill>
              </a:rPr>
              <a:t>HOW IT WORKS</a:t>
            </a:r>
          </a:p>
          <a:p>
            <a:pPr>
              <a:spcAft>
                <a:spcPts val="600"/>
              </a:spcAft>
            </a:pPr>
            <a:r>
              <a:rPr sz="1400">
                <a:solidFill>
                  <a:srgbClr val="1A1A1A"/>
                </a:solidFill>
              </a:rPr>
              <a:t>•  Database + DBMS + apps/users together = a database system.</a:t>
            </a:r>
          </a:p>
          <a:p>
            <a:pPr>
              <a:spcAft>
                <a:spcPts val="600"/>
              </a:spcAft>
            </a:pPr>
            <a:r>
              <a:rPr sz="1400">
                <a:solidFill>
                  <a:srgbClr val="1A1A1A"/>
                </a:solidFill>
              </a:rPr>
              <a:t>•  DBMS engines: MySQL, MariaDB, PostgreSQL, Oracle, SQL Server. One engine manages many databases.</a:t>
            </a:r>
          </a:p>
          <a:p>
            <a:pPr>
              <a:spcAft>
                <a:spcPts val="600"/>
              </a:spcAft>
            </a:pPr>
            <a:r>
              <a:rPr sz="1400">
                <a:solidFill>
                  <a:srgbClr val="1A1A1A"/>
                </a:solidFill>
              </a:rPr>
              <a:t>•  A DBMS provides concurrency control, data integrity, a query language, and security.</a:t>
            </a:r>
          </a:p>
          <a:p>
            <a:pPr>
              <a:spcAft>
                <a:spcPts val="600"/>
              </a:spcAft>
            </a:pPr>
            <a:r>
              <a:rPr sz="1400">
                <a:solidFill>
                  <a:srgbClr val="1A1A1A"/>
                </a:solidFill>
              </a:rPr>
              <a:t>•  'Back up the database' (copy the data) ≠ 'upgrade the DBMS' (install a newer engine).</a:t>
            </a:r>
          </a:p>
        </p:txBody>
      </p:sp>
      <p:pic>
        <p:nvPicPr>
          <p:cNvPr id="6" name="Picture 5" descr="s1_users_dbms.png"/>
          <p:cNvPicPr>
            <a:picLocks noChangeAspect="1"/>
          </p:cNvPicPr>
          <p:nvPr/>
        </p:nvPicPr>
        <p:blipFill>
          <a:blip r:embed="rId2"/>
          <a:stretch>
            <a:fillRect/>
          </a:stretch>
        </p:blipFill>
        <p:spPr>
          <a:xfrm>
            <a:off x="6355080" y="2286776"/>
            <a:ext cx="5532120" cy="3061687"/>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Data is the books; the DBMS is the librarian.</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8 / 74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 · CONCEPT 2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DBMS: the software that manages the data</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a:t>
            </a:r>
          </a:p>
          <a:p>
            <a:pPr>
              <a:spcBef>
                <a:spcPts val="300"/>
              </a:spcBef>
            </a:pPr>
            <a:r>
              <a:rPr sz="1400">
                <a:solidFill>
                  <a:srgbClr val="1A1A1A"/>
                </a:solidFill>
              </a:rPr>
              <a:t>Your result portal doesn't contain your marks — it asks a DBMS (often MySQL) that manages the marks database. On results night thousands log in at once and the DBMS serves everyone the right marks without records clashing; a shared Excel file, by contrast, lets two clerks silently overwrite each other.</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"Excel is a database." No — it lacks real concurrency control, enforced integrity, a query language for millions of rows, and proper security. Fine for 200 rows on a laptop; it breaks exactly at multi-user scale.</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A DBMS is software used to define, create, query, update, and administer databases (MySQL, Oracle, PostgreSQL). The database is the actual stored data; the DBMS is the program that manages it — providing concurrency control, integrity, querying, and security. Together (database + DBMS + applications) they form a database system.</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DBMS · database system · concurrency control · data integrity · query language · security</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9 / 74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 · CONCEPT 2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When a file/Excel breaks but a DBMS copes</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3193676"/>
                <a:gridCol w="4034117"/>
                <a:gridCol w="4202205"/>
              </a:tblGrid>
              <a:tr h="630936">
                <a:tc>
                  <a:txBody>
                    <a:bodyPr wrap="square"/>
                    <a:lstStyle/>
                    <a:p>
                      <a:r>
                        <a:rPr sz="1150" b="1">
                          <a:solidFill>
                            <a:srgbClr val="FFFFFF"/>
                          </a:solidFill>
                        </a:rPr>
                        <a:t>Situation</a:t>
                      </a:r>
                    </a:p>
                  </a:txBody>
                  <a:tcPr anchor="ctr" marL="73152" marR="54864" marT="27432" marB="27432">
                    <a:solidFill>
                      <a:srgbClr val="0C2B4A"/>
                    </a:solidFill>
                  </a:tcPr>
                </a:tc>
                <a:tc>
                  <a:txBody>
                    <a:bodyPr wrap="square"/>
                    <a:lstStyle/>
                    <a:p>
                      <a:r>
                        <a:rPr sz="1150" b="1">
                          <a:solidFill>
                            <a:srgbClr val="FFFFFF"/>
                          </a:solidFill>
                        </a:rPr>
                        <a:t>Excel / flat file</a:t>
                      </a:r>
                    </a:p>
                  </a:txBody>
                  <a:tcPr anchor="ctr" marL="73152" marR="54864" marT="27432" marB="27432">
                    <a:solidFill>
                      <a:srgbClr val="0C2B4A"/>
                    </a:solidFill>
                  </a:tcPr>
                </a:tc>
                <a:tc>
                  <a:txBody>
                    <a:bodyPr wrap="square"/>
                    <a:lstStyle/>
                    <a:p>
                      <a:r>
                        <a:rPr sz="1150" b="1">
                          <a:solidFill>
                            <a:srgbClr val="FFFFFF"/>
                          </a:solidFill>
                        </a:rPr>
                        <a:t>A DBMS handles it by…</a:t>
                      </a:r>
                    </a:p>
                  </a:txBody>
                  <a:tcPr anchor="ctr" marL="73152" marR="54864" marT="27432" marB="27432">
                    <a:solidFill>
                      <a:srgbClr val="0C2B4A"/>
                    </a:solidFill>
                  </a:tcPr>
                </a:tc>
              </a:tr>
              <a:tr h="630936">
                <a:tc>
                  <a:txBody>
                    <a:bodyPr wrap="square"/>
                    <a:lstStyle/>
                    <a:p>
                      <a:r>
                        <a:rPr sz="1100" b="1">
                          <a:solidFill>
                            <a:srgbClr val="0C2B4A"/>
                          </a:solidFill>
                        </a:rPr>
                        <a:t>5,000 students check results at once</a:t>
                      </a:r>
                    </a:p>
                  </a:txBody>
                  <a:tcPr anchor="ctr" marL="73152" marR="54864" marT="27432" marB="27432">
                    <a:solidFill>
                      <a:srgbClr val="FFFFFF"/>
                    </a:solidFill>
                  </a:tcPr>
                </a:tc>
                <a:tc>
                  <a:txBody>
                    <a:bodyPr wrap="square"/>
                    <a:lstStyle/>
                    <a:p>
                      <a:r>
                        <a:rPr sz="1100">
                          <a:solidFill>
                            <a:srgbClr val="1A1A1A"/>
                          </a:solidFill>
                        </a:rPr>
                        <a:t>two clerks silently overwrite each other</a:t>
                      </a:r>
                    </a:p>
                  </a:txBody>
                  <a:tcPr anchor="ctr" marL="73152" marR="54864" marT="27432" marB="27432">
                    <a:solidFill>
                      <a:srgbClr val="FFFFFF"/>
                    </a:solidFill>
                  </a:tcPr>
                </a:tc>
                <a:tc>
                  <a:txBody>
                    <a:bodyPr wrap="square"/>
                    <a:lstStyle/>
                    <a:p>
                      <a:r>
                        <a:rPr sz="1100">
                          <a:solidFill>
                            <a:srgbClr val="1A1A1A"/>
                          </a:solidFill>
                        </a:rPr>
                        <a:t>concurrency control (locking)</a:t>
                      </a:r>
                    </a:p>
                  </a:txBody>
                  <a:tcPr anchor="ctr" marL="73152" marR="54864" marT="27432" marB="27432">
                    <a:solidFill>
                      <a:srgbClr val="FFFFFF"/>
                    </a:solidFill>
                  </a:tcPr>
                </a:tc>
              </a:tr>
              <a:tr h="630936">
                <a:tc>
                  <a:txBody>
                    <a:bodyPr wrap="square"/>
                    <a:lstStyle/>
                    <a:p>
                      <a:r>
                        <a:rPr sz="1100" b="1">
                          <a:solidFill>
                            <a:srgbClr val="0C2B4A"/>
                          </a:solidFill>
                        </a:rPr>
                        <a:t>A mark must be 0–100</a:t>
                      </a:r>
                    </a:p>
                  </a:txBody>
                  <a:tcPr anchor="ctr" marL="73152" marR="54864" marT="27432" marB="27432">
                    <a:solidFill>
                      <a:srgbClr val="EEF3F8"/>
                    </a:solidFill>
                  </a:tcPr>
                </a:tc>
                <a:tc>
                  <a:txBody>
                    <a:bodyPr wrap="square"/>
                    <a:lstStyle/>
                    <a:p>
                      <a:r>
                        <a:rPr sz="1100">
                          <a:solidFill>
                            <a:srgbClr val="1A1A1A"/>
                          </a:solidFill>
                        </a:rPr>
                        <a:t>nothing stops '780' being typed</a:t>
                      </a:r>
                    </a:p>
                  </a:txBody>
                  <a:tcPr anchor="ctr" marL="73152" marR="54864" marT="27432" marB="27432">
                    <a:solidFill>
                      <a:srgbClr val="EEF3F8"/>
                    </a:solidFill>
                  </a:tcPr>
                </a:tc>
                <a:tc>
                  <a:txBody>
                    <a:bodyPr wrap="square"/>
                    <a:lstStyle/>
                    <a:p>
                      <a:r>
                        <a:rPr sz="1100">
                          <a:solidFill>
                            <a:srgbClr val="1A1A1A"/>
                          </a:solidFill>
                        </a:rPr>
                        <a:t>integrity constraints reject bad data</a:t>
                      </a:r>
                    </a:p>
                  </a:txBody>
                  <a:tcPr anchor="ctr" marL="73152" marR="54864" marT="27432" marB="27432">
                    <a:solidFill>
                      <a:srgbClr val="EEF3F8"/>
                    </a:solidFill>
                  </a:tcPr>
                </a:tc>
              </a:tr>
              <a:tr h="630936">
                <a:tc>
                  <a:txBody>
                    <a:bodyPr wrap="square"/>
                    <a:lstStyle/>
                    <a:p>
                      <a:r>
                        <a:rPr sz="1100" b="1">
                          <a:solidFill>
                            <a:srgbClr val="0C2B4A"/>
                          </a:solidFill>
                        </a:rPr>
                        <a:t>Find every student who failed</a:t>
                      </a:r>
                    </a:p>
                  </a:txBody>
                  <a:tcPr anchor="ctr" marL="73152" marR="54864" marT="27432" marB="27432">
                    <a:solidFill>
                      <a:srgbClr val="FFFFFF"/>
                    </a:solidFill>
                  </a:tcPr>
                </a:tc>
                <a:tc>
                  <a:txBody>
                    <a:bodyPr wrap="square"/>
                    <a:lstStyle/>
                    <a:p>
                      <a:r>
                        <a:rPr sz="1100">
                          <a:solidFill>
                            <a:srgbClr val="1A1A1A"/>
                          </a:solidFill>
                        </a:rPr>
                        <a:t>manual scroll and filter, slow</a:t>
                      </a:r>
                    </a:p>
                  </a:txBody>
                  <a:tcPr anchor="ctr" marL="73152" marR="54864" marT="27432" marB="27432">
                    <a:solidFill>
                      <a:srgbClr val="FFFFFF"/>
                    </a:solidFill>
                  </a:tcPr>
                </a:tc>
                <a:tc>
                  <a:txBody>
                    <a:bodyPr wrap="square"/>
                    <a:lstStyle/>
                    <a:p>
                      <a:r>
                        <a:rPr sz="1100">
                          <a:solidFill>
                            <a:srgbClr val="1A1A1A"/>
                          </a:solidFill>
                        </a:rPr>
                        <a:t>a SELECT query in milliseconds</a:t>
                      </a:r>
                    </a:p>
                  </a:txBody>
                  <a:tcPr anchor="ctr" marL="73152" marR="54864" marT="27432" marB="27432">
                    <a:solidFill>
                      <a:srgbClr val="FFFFFF"/>
                    </a:solidFill>
                  </a:tcPr>
                </a:tc>
              </a:tr>
              <a:tr h="630936">
                <a:tc>
                  <a:txBody>
                    <a:bodyPr wrap="square"/>
                    <a:lstStyle/>
                    <a:p>
                      <a:r>
                        <a:rPr sz="1100" b="1">
                          <a:solidFill>
                            <a:srgbClr val="0C2B4A"/>
                          </a:solidFill>
                        </a:rPr>
                        <a:t>Only exam staff may edit marks</a:t>
                      </a:r>
                    </a:p>
                  </a:txBody>
                  <a:tcPr anchor="ctr" marL="73152" marR="54864" marT="27432" marB="27432">
                    <a:solidFill>
                      <a:srgbClr val="EEF3F8"/>
                    </a:solidFill>
                  </a:tcPr>
                </a:tc>
                <a:tc>
                  <a:txBody>
                    <a:bodyPr wrap="square"/>
                    <a:lstStyle/>
                    <a:p>
                      <a:r>
                        <a:rPr sz="1100">
                          <a:solidFill>
                            <a:srgbClr val="1A1A1A"/>
                          </a:solidFill>
                        </a:rPr>
                        <a:t>the file is open to anyone with access</a:t>
                      </a:r>
                    </a:p>
                  </a:txBody>
                  <a:tcPr anchor="ctr" marL="73152" marR="54864" marT="27432" marB="27432">
                    <a:solidFill>
                      <a:srgbClr val="EEF3F8"/>
                    </a:solidFill>
                  </a:tcPr>
                </a:tc>
                <a:tc>
                  <a:txBody>
                    <a:bodyPr wrap="square"/>
                    <a:lstStyle/>
                    <a:p>
                      <a:r>
                        <a:rPr sz="1100">
                          <a:solidFill>
                            <a:srgbClr val="1A1A1A"/>
                          </a:solidFill>
                        </a:rPr>
                        <a:t>GRANT/REVOKE permissions (security)</a:t>
                      </a:r>
                    </a:p>
                  </a:txBody>
                  <a:tcPr anchor="ctr" marL="73152" marR="54864" marT="27432" marB="27432">
                    <a:solidFill>
                      <a:srgbClr val="EEF3F8"/>
                    </a:solidFill>
                  </a:tcPr>
                </a:tc>
              </a:tr>
              <a:tr h="630936">
                <a:tc>
                  <a:txBody>
                    <a:bodyPr wrap="square"/>
                    <a:lstStyle/>
                    <a:p>
                      <a:r>
                        <a:rPr sz="1100" b="1">
                          <a:solidFill>
                            <a:srgbClr val="0C2B4A"/>
                          </a:solidFill>
                        </a:rPr>
                        <a:t>Power cut mid-update</a:t>
                      </a:r>
                    </a:p>
                  </a:txBody>
                  <a:tcPr anchor="ctr" marL="73152" marR="54864" marT="27432" marB="27432">
                    <a:solidFill>
                      <a:srgbClr val="FFFFFF"/>
                    </a:solidFill>
                  </a:tcPr>
                </a:tc>
                <a:tc>
                  <a:txBody>
                    <a:bodyPr wrap="square"/>
                    <a:lstStyle/>
                    <a:p>
                      <a:r>
                        <a:rPr sz="1100">
                          <a:solidFill>
                            <a:srgbClr val="1A1A1A"/>
                          </a:solidFill>
                        </a:rPr>
                        <a:t>the file corrupts, data is lost</a:t>
                      </a:r>
                    </a:p>
                  </a:txBody>
                  <a:tcPr anchor="ctr" marL="73152" marR="54864" marT="27432" marB="27432">
                    <a:solidFill>
                      <a:srgbClr val="FFFFFF"/>
                    </a:solidFill>
                  </a:tcPr>
                </a:tc>
                <a:tc>
                  <a:txBody>
                    <a:bodyPr wrap="square"/>
                    <a:lstStyle/>
                    <a:p>
                      <a:r>
                        <a:rPr sz="1100">
                          <a:solidFill>
                            <a:srgbClr val="1A1A1A"/>
                          </a:solidFill>
                        </a:rPr>
                        <a:t>transactions + backup &amp; recovery</a:t>
                      </a:r>
                    </a:p>
                  </a:txBody>
                  <a:tcPr anchor="ctr" marL="73152" marR="54864" marT="27432" marB="27432">
                    <a:solidFill>
                      <a:srgbClr val="FFFFFF"/>
                    </a:solidFill>
                  </a:tcPr>
                </a:tc>
              </a:tr>
              <a:tr h="630936">
                <a:tc>
                  <a:txBody>
                    <a:bodyPr wrap="square"/>
                    <a:lstStyle/>
                    <a:p>
                      <a:r>
                        <a:rPr sz="1100" b="1">
                          <a:solidFill>
                            <a:srgbClr val="0C2B4A"/>
                          </a:solidFill>
                        </a:rPr>
                        <a:t>Millions of rows</a:t>
                      </a:r>
                    </a:p>
                  </a:txBody>
                  <a:tcPr anchor="ctr" marL="73152" marR="54864" marT="27432" marB="27432">
                    <a:solidFill>
                      <a:srgbClr val="EEF3F8"/>
                    </a:solidFill>
                  </a:tcPr>
                </a:tc>
                <a:tc>
                  <a:txBody>
                    <a:bodyPr wrap="square"/>
                    <a:lstStyle/>
                    <a:p>
                      <a:r>
                        <a:rPr sz="1100">
                          <a:solidFill>
                            <a:srgbClr val="1A1A1A"/>
                          </a:solidFill>
                        </a:rPr>
                        <a:t>Excel slows down or crashes</a:t>
                      </a:r>
                    </a:p>
                  </a:txBody>
                  <a:tcPr anchor="ctr" marL="73152" marR="54864" marT="27432" marB="27432">
                    <a:solidFill>
                      <a:srgbClr val="EEF3F8"/>
                    </a:solidFill>
                  </a:tcPr>
                </a:tc>
                <a:tc>
                  <a:txBody>
                    <a:bodyPr wrap="square"/>
                    <a:lstStyle/>
                    <a:p>
                      <a:r>
                        <a:rPr sz="1100">
                          <a:solidFill>
                            <a:srgbClr val="1A1A1A"/>
                          </a:solidFill>
                        </a:rPr>
                        <a:t>indexes + a storage engine built for scale</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Excel is fine for ~200 rows on one laptop; it breaks exactly at multi-user, high-integrity, large-scale work — which is what a DBMS is for.</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10 / 74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 · CONCEPT 3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Database Users &amp; the DBA</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Different people use a database at different depths: naive/end users, application programmers, sophisticated users, and the Database Administrator (DBA) who administers the database itself.</a:t>
            </a:r>
          </a:p>
          <a:p>
            <a:pPr>
              <a:spcAft>
                <a:spcPts val="500"/>
              </a:spcAft>
            </a:pPr>
            <a:r>
              <a:rPr sz="1200" b="1">
                <a:solidFill>
                  <a:srgbClr val="185FA5"/>
                </a:solidFill>
              </a:rPr>
              <a:t>HOW IT WORKS</a:t>
            </a:r>
          </a:p>
          <a:p>
            <a:pPr>
              <a:spcAft>
                <a:spcPts val="600"/>
              </a:spcAft>
            </a:pPr>
            <a:r>
              <a:rPr sz="1400">
                <a:solidFill>
                  <a:srgbClr val="1A1A1A"/>
                </a:solidFill>
              </a:rPr>
              <a:t>•  Naive/end users — use ready-made screens (a bank teller entering a deposit).</a:t>
            </a:r>
          </a:p>
          <a:p>
            <a:pPr>
              <a:spcAft>
                <a:spcPts val="600"/>
              </a:spcAft>
            </a:pPr>
            <a:r>
              <a:rPr sz="1400">
                <a:solidFill>
                  <a:srgbClr val="1A1A1A"/>
                </a:solidFill>
              </a:rPr>
              <a:t>•  Application programmers — build the apps that talk to the database.</a:t>
            </a:r>
          </a:p>
          <a:p>
            <a:pPr>
              <a:spcAft>
                <a:spcPts val="600"/>
              </a:spcAft>
            </a:pPr>
            <a:r>
              <a:rPr sz="1400">
                <a:solidFill>
                  <a:srgbClr val="1A1A1A"/>
                </a:solidFill>
              </a:rPr>
              <a:t>•  Sophisticated users — write their own queries/analyses (an MIS analyst).</a:t>
            </a:r>
          </a:p>
          <a:p>
            <a:pPr>
              <a:spcAft>
                <a:spcPts val="600"/>
              </a:spcAft>
            </a:pPr>
            <a:r>
              <a:rPr sz="1400">
                <a:solidFill>
                  <a:srgbClr val="1A1A1A"/>
                </a:solidFill>
              </a:rPr>
              <a:t>•  DBA — designs/maintains the schema, controls security &amp; permissions, backup &amp; recovery, performance tuning.</a:t>
            </a:r>
          </a:p>
        </p:txBody>
      </p:sp>
      <p:pic>
        <p:nvPicPr>
          <p:cNvPr id="6" name="Picture 5" descr="s1_db_users.png"/>
          <p:cNvPicPr>
            <a:picLocks noChangeAspect="1"/>
          </p:cNvPicPr>
          <p:nvPr/>
        </p:nvPicPr>
        <p:blipFill>
          <a:blip r:embed="rId2"/>
          <a:stretch>
            <a:fillRect/>
          </a:stretch>
        </p:blipFill>
        <p:spPr>
          <a:xfrm>
            <a:off x="6355080" y="2444902"/>
            <a:ext cx="5532120" cy="2745435"/>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The DBA is air-traffic control for data.</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11 / 74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 · CONCEPT 3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Database Users &amp; the DBA</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a:t>
            </a:r>
          </a:p>
          <a:p>
            <a:pPr>
              <a:spcBef>
                <a:spcPts val="300"/>
              </a:spcBef>
            </a:pPr>
            <a:r>
              <a:rPr sz="1400">
                <a:solidFill>
                  <a:srgbClr val="1A1A1A"/>
                </a:solidFill>
              </a:rPr>
              <a:t>One day in a Nepali bank: the teller (naive user) enters your deposit via a guided form; the team that built the screen are application programmers; the MIS officer pulling a custom loan report is a sophisticated user; the DBA keeps the core-banking database backed up, secured, and fast — and gets paged when it crawls at month-end.</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"The DBA just installs the database." The DBA is accountable for the whole data layer — schema, security, backups, and performance. Much of this course (normalization, indexing, transactions, recovery) is the DBA's toolkit.</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Users: naive/end users (use ready-made screens), application programmers (build the apps), and sophisticated users (write their own queries). The DBA administers the database itself: designing/maintaining the schema, controlling security and permissions, backup &amp; recovery, and performance tuning — the person accountable for the database.</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naive/end user · application programmer · sophisticated user · DBA · schema · security · backup &amp; recovery · tuning</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12 / 74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 · CONCEPT 3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database users in one Nepali bank</a:t>
            </a:r>
          </a:p>
        </p:txBody>
      </p:sp>
      <p:graphicFrame>
        <p:nvGraphicFramePr>
          <p:cNvPr id="5" name="Table 4"/>
          <p:cNvGraphicFramePr>
            <a:graphicFrameLocks noGrp="1"/>
          </p:cNvGraphicFramePr>
          <p:nvPr/>
        </p:nvGraphicFramePr>
        <p:xfrm>
          <a:off x="384048" y="1572768"/>
          <a:ext cx="11430000" cy="4416552"/>
        </p:xfrm>
        <a:graphic>
          <a:graphicData uri="http://schemas.openxmlformats.org/drawingml/2006/table">
            <a:tbl>
              <a:tblPr>
                <a:tableStyleId>{5C22544A-7EE6-4342-B048-85BDC9FD1C3A}</a:tableStyleId>
              </a:tblPr>
              <a:tblGrid>
                <a:gridCol w="2143125"/>
                <a:gridCol w="2428875"/>
                <a:gridCol w="3429000"/>
                <a:gridCol w="3429000"/>
              </a:tblGrid>
              <a:tr h="630936">
                <a:tc>
                  <a:txBody>
                    <a:bodyPr wrap="square"/>
                    <a:lstStyle/>
                    <a:p>
                      <a:r>
                        <a:rPr sz="1150" b="1">
                          <a:solidFill>
                            <a:srgbClr val="FFFFFF"/>
                          </a:solidFill>
                        </a:rPr>
                        <a:t>User type</a:t>
                      </a:r>
                    </a:p>
                  </a:txBody>
                  <a:tcPr anchor="ctr" marL="73152" marR="54864" marT="27432" marB="27432">
                    <a:solidFill>
                      <a:srgbClr val="0C2B4A"/>
                    </a:solidFill>
                  </a:tcPr>
                </a:tc>
                <a:tc>
                  <a:txBody>
                    <a:bodyPr wrap="square"/>
                    <a:lstStyle/>
                    <a:p>
                      <a:r>
                        <a:rPr sz="1150" b="1">
                          <a:solidFill>
                            <a:srgbClr val="FFFFFF"/>
                          </a:solidFill>
                        </a:rPr>
                        <a:t>Who / example</a:t>
                      </a:r>
                    </a:p>
                  </a:txBody>
                  <a:tcPr anchor="ctr" marL="73152" marR="54864" marT="27432" marB="27432">
                    <a:solidFill>
                      <a:srgbClr val="0C2B4A"/>
                    </a:solidFill>
                  </a:tcPr>
                </a:tc>
                <a:tc>
                  <a:txBody>
                    <a:bodyPr wrap="square"/>
                    <a:lstStyle/>
                    <a:p>
                      <a:r>
                        <a:rPr sz="1150" b="1">
                          <a:solidFill>
                            <a:srgbClr val="FFFFFF"/>
                          </a:solidFill>
                        </a:rPr>
                        <a:t>What they do</a:t>
                      </a:r>
                    </a:p>
                  </a:txBody>
                  <a:tcPr anchor="ctr" marL="73152" marR="54864" marT="27432" marB="27432">
                    <a:solidFill>
                      <a:srgbClr val="0C2B4A"/>
                    </a:solidFill>
                  </a:tcPr>
                </a:tc>
                <a:tc>
                  <a:txBody>
                    <a:bodyPr wrap="square"/>
                    <a:lstStyle/>
                    <a:p>
                      <a:r>
                        <a:rPr sz="1150" b="1">
                          <a:solidFill>
                            <a:srgbClr val="FFFFFF"/>
                          </a:solidFill>
                        </a:rPr>
                        <a:t>What they can't do</a:t>
                      </a:r>
                    </a:p>
                  </a:txBody>
                  <a:tcPr anchor="ctr" marL="73152" marR="54864" marT="27432" marB="27432">
                    <a:solidFill>
                      <a:srgbClr val="0C2B4A"/>
                    </a:solidFill>
                  </a:tcPr>
                </a:tc>
              </a:tr>
              <a:tr h="630936">
                <a:tc>
                  <a:txBody>
                    <a:bodyPr wrap="square"/>
                    <a:lstStyle/>
                    <a:p>
                      <a:r>
                        <a:rPr sz="1100" b="1">
                          <a:solidFill>
                            <a:srgbClr val="0C2B4A"/>
                          </a:solidFill>
                        </a:rPr>
                        <a:t>Naive / end user</a:t>
                      </a:r>
                    </a:p>
                  </a:txBody>
                  <a:tcPr anchor="ctr" marL="73152" marR="54864" marT="27432" marB="27432">
                    <a:solidFill>
                      <a:srgbClr val="FFFFFF"/>
                    </a:solidFill>
                  </a:tcPr>
                </a:tc>
                <a:tc>
                  <a:txBody>
                    <a:bodyPr wrap="square"/>
                    <a:lstStyle/>
                    <a:p>
                      <a:r>
                        <a:rPr sz="1100">
                          <a:solidFill>
                            <a:srgbClr val="1A1A1A"/>
                          </a:solidFill>
                        </a:rPr>
                        <a:t>Front-desk teller</a:t>
                      </a:r>
                    </a:p>
                  </a:txBody>
                  <a:tcPr anchor="ctr" marL="73152" marR="54864" marT="27432" marB="27432">
                    <a:solidFill>
                      <a:srgbClr val="FFFFFF"/>
                    </a:solidFill>
                  </a:tcPr>
                </a:tc>
                <a:tc>
                  <a:txBody>
                    <a:bodyPr wrap="square"/>
                    <a:lstStyle/>
                    <a:p>
                      <a:r>
                        <a:rPr sz="1100">
                          <a:solidFill>
                            <a:srgbClr val="1A1A1A"/>
                          </a:solidFill>
                        </a:rPr>
                        <a:t>Enters deposits via a guided screen</a:t>
                      </a:r>
                    </a:p>
                  </a:txBody>
                  <a:tcPr anchor="ctr" marL="73152" marR="54864" marT="27432" marB="27432">
                    <a:solidFill>
                      <a:srgbClr val="FFFFFF"/>
                    </a:solidFill>
                  </a:tcPr>
                </a:tc>
                <a:tc>
                  <a:txBody>
                    <a:bodyPr wrap="square"/>
                    <a:lstStyle/>
                    <a:p>
                      <a:r>
                        <a:rPr sz="1100">
                          <a:solidFill>
                            <a:srgbClr val="1A1A1A"/>
                          </a:solidFill>
                        </a:rPr>
                        <a:t>Change the schema or run raw SQL</a:t>
                      </a:r>
                    </a:p>
                  </a:txBody>
                  <a:tcPr anchor="ctr" marL="73152" marR="54864" marT="27432" marB="27432">
                    <a:solidFill>
                      <a:srgbClr val="FFFFFF"/>
                    </a:solidFill>
                  </a:tcPr>
                </a:tc>
              </a:tr>
              <a:tr h="630936">
                <a:tc>
                  <a:txBody>
                    <a:bodyPr wrap="square"/>
                    <a:lstStyle/>
                    <a:p>
                      <a:r>
                        <a:rPr sz="1100" b="1">
                          <a:solidFill>
                            <a:srgbClr val="0C2B4A"/>
                          </a:solidFill>
                        </a:rPr>
                        <a:t>Naive / end user</a:t>
                      </a:r>
                    </a:p>
                  </a:txBody>
                  <a:tcPr anchor="ctr" marL="73152" marR="54864" marT="27432" marB="27432">
                    <a:solidFill>
                      <a:srgbClr val="EEF3F8"/>
                    </a:solidFill>
                  </a:tcPr>
                </a:tc>
                <a:tc>
                  <a:txBody>
                    <a:bodyPr wrap="square"/>
                    <a:lstStyle/>
                    <a:p>
                      <a:r>
                        <a:rPr sz="1100">
                          <a:solidFill>
                            <a:srgbClr val="1A1A1A"/>
                          </a:solidFill>
                        </a:rPr>
                        <a:t>You, on the bank app</a:t>
                      </a:r>
                    </a:p>
                  </a:txBody>
                  <a:tcPr anchor="ctr" marL="73152" marR="54864" marT="27432" marB="27432">
                    <a:solidFill>
                      <a:srgbClr val="EEF3F8"/>
                    </a:solidFill>
                  </a:tcPr>
                </a:tc>
                <a:tc>
                  <a:txBody>
                    <a:bodyPr wrap="square"/>
                    <a:lstStyle/>
                    <a:p>
                      <a:r>
                        <a:rPr sz="1100">
                          <a:solidFill>
                            <a:srgbClr val="1A1A1A"/>
                          </a:solidFill>
                        </a:rPr>
                        <a:t>Check balance, transfer funds</a:t>
                      </a:r>
                    </a:p>
                  </a:txBody>
                  <a:tcPr anchor="ctr" marL="73152" marR="54864" marT="27432" marB="27432">
                    <a:solidFill>
                      <a:srgbClr val="EEF3F8"/>
                    </a:solidFill>
                  </a:tcPr>
                </a:tc>
                <a:tc>
                  <a:txBody>
                    <a:bodyPr wrap="square"/>
                    <a:lstStyle/>
                    <a:p>
                      <a:r>
                        <a:rPr sz="1100">
                          <a:solidFill>
                            <a:srgbClr val="1A1A1A"/>
                          </a:solidFill>
                        </a:rPr>
                        <a:t>See other customers' data</a:t>
                      </a:r>
                    </a:p>
                  </a:txBody>
                  <a:tcPr anchor="ctr" marL="73152" marR="54864" marT="27432" marB="27432">
                    <a:solidFill>
                      <a:srgbClr val="EEF3F8"/>
                    </a:solidFill>
                  </a:tcPr>
                </a:tc>
              </a:tr>
              <a:tr h="630936">
                <a:tc>
                  <a:txBody>
                    <a:bodyPr wrap="square"/>
                    <a:lstStyle/>
                    <a:p>
                      <a:r>
                        <a:rPr sz="1100" b="1">
                          <a:solidFill>
                            <a:srgbClr val="0C2B4A"/>
                          </a:solidFill>
                        </a:rPr>
                        <a:t>Application programmer</a:t>
                      </a:r>
                    </a:p>
                  </a:txBody>
                  <a:tcPr anchor="ctr" marL="73152" marR="54864" marT="27432" marB="27432">
                    <a:solidFill>
                      <a:srgbClr val="FFFFFF"/>
                    </a:solidFill>
                  </a:tcPr>
                </a:tc>
                <a:tc>
                  <a:txBody>
                    <a:bodyPr wrap="square"/>
                    <a:lstStyle/>
                    <a:p>
                      <a:r>
                        <a:rPr sz="1100">
                          <a:solidFill>
                            <a:srgbClr val="1A1A1A"/>
                          </a:solidFill>
                        </a:rPr>
                        <a:t>The app-dev team</a:t>
                      </a:r>
                    </a:p>
                  </a:txBody>
                  <a:tcPr anchor="ctr" marL="73152" marR="54864" marT="27432" marB="27432">
                    <a:solidFill>
                      <a:srgbClr val="FFFFFF"/>
                    </a:solidFill>
                  </a:tcPr>
                </a:tc>
                <a:tc>
                  <a:txBody>
                    <a:bodyPr wrap="square"/>
                    <a:lstStyle/>
                    <a:p>
                      <a:r>
                        <a:rPr sz="1100">
                          <a:solidFill>
                            <a:srgbClr val="1A1A1A"/>
                          </a:solidFill>
                        </a:rPr>
                        <a:t>Build the screens &amp; APIs</a:t>
                      </a:r>
                    </a:p>
                  </a:txBody>
                  <a:tcPr anchor="ctr" marL="73152" marR="54864" marT="27432" marB="27432">
                    <a:solidFill>
                      <a:srgbClr val="FFFFFF"/>
                    </a:solidFill>
                  </a:tcPr>
                </a:tc>
                <a:tc>
                  <a:txBody>
                    <a:bodyPr wrap="square"/>
                    <a:lstStyle/>
                    <a:p>
                      <a:r>
                        <a:rPr sz="1100">
                          <a:solidFill>
                            <a:srgbClr val="1A1A1A"/>
                          </a:solidFill>
                        </a:rPr>
                        <a:t>Run the live database day-to-day</a:t>
                      </a:r>
                    </a:p>
                  </a:txBody>
                  <a:tcPr anchor="ctr" marL="73152" marR="54864" marT="27432" marB="27432">
                    <a:solidFill>
                      <a:srgbClr val="FFFFFF"/>
                    </a:solidFill>
                  </a:tcPr>
                </a:tc>
              </a:tr>
              <a:tr h="630936">
                <a:tc>
                  <a:txBody>
                    <a:bodyPr wrap="square"/>
                    <a:lstStyle/>
                    <a:p>
                      <a:r>
                        <a:rPr sz="1100" b="1">
                          <a:solidFill>
                            <a:srgbClr val="0C2B4A"/>
                          </a:solidFill>
                        </a:rPr>
                        <a:t>Sophisticated user</a:t>
                      </a:r>
                    </a:p>
                  </a:txBody>
                  <a:tcPr anchor="ctr" marL="73152" marR="54864" marT="27432" marB="27432">
                    <a:solidFill>
                      <a:srgbClr val="EEF3F8"/>
                    </a:solidFill>
                  </a:tcPr>
                </a:tc>
                <a:tc>
                  <a:txBody>
                    <a:bodyPr wrap="square"/>
                    <a:lstStyle/>
                    <a:p>
                      <a:r>
                        <a:rPr sz="1100">
                          <a:solidFill>
                            <a:srgbClr val="1A1A1A"/>
                          </a:solidFill>
                        </a:rPr>
                        <a:t>MIS / risk analyst</a:t>
                      </a:r>
                    </a:p>
                  </a:txBody>
                  <a:tcPr anchor="ctr" marL="73152" marR="54864" marT="27432" marB="27432">
                    <a:solidFill>
                      <a:srgbClr val="EEF3F8"/>
                    </a:solidFill>
                  </a:tcPr>
                </a:tc>
                <a:tc>
                  <a:txBody>
                    <a:bodyPr wrap="square"/>
                    <a:lstStyle/>
                    <a:p>
                      <a:r>
                        <a:rPr sz="1100">
                          <a:solidFill>
                            <a:srgbClr val="1A1A1A"/>
                          </a:solidFill>
                        </a:rPr>
                        <a:t>Write their own ad-hoc SQL reports</a:t>
                      </a:r>
                    </a:p>
                  </a:txBody>
                  <a:tcPr anchor="ctr" marL="73152" marR="54864" marT="27432" marB="27432">
                    <a:solidFill>
                      <a:srgbClr val="EEF3F8"/>
                    </a:solidFill>
                  </a:tcPr>
                </a:tc>
                <a:tc>
                  <a:txBody>
                    <a:bodyPr wrap="square"/>
                    <a:lstStyle/>
                    <a:p>
                      <a:r>
                        <a:rPr sz="1100">
                          <a:solidFill>
                            <a:srgbClr val="1A1A1A"/>
                          </a:solidFill>
                        </a:rPr>
                        <a:t>Manage security or backups</a:t>
                      </a:r>
                    </a:p>
                  </a:txBody>
                  <a:tcPr anchor="ctr" marL="73152" marR="54864" marT="27432" marB="27432">
                    <a:solidFill>
                      <a:srgbClr val="EEF3F8"/>
                    </a:solidFill>
                  </a:tcPr>
                </a:tc>
              </a:tr>
              <a:tr h="630936">
                <a:tc>
                  <a:txBody>
                    <a:bodyPr wrap="square"/>
                    <a:lstStyle/>
                    <a:p>
                      <a:r>
                        <a:rPr sz="1100" b="1">
                          <a:solidFill>
                            <a:srgbClr val="0C2B4A"/>
                          </a:solidFill>
                        </a:rPr>
                        <a:t>DBA</a:t>
                      </a:r>
                    </a:p>
                  </a:txBody>
                  <a:tcPr anchor="ctr" marL="73152" marR="54864" marT="27432" marB="27432">
                    <a:solidFill>
                      <a:srgbClr val="FFFFFF"/>
                    </a:solidFill>
                  </a:tcPr>
                </a:tc>
                <a:tc>
                  <a:txBody>
                    <a:bodyPr wrap="square"/>
                    <a:lstStyle/>
                    <a:p>
                      <a:r>
                        <a:rPr sz="1100">
                          <a:solidFill>
                            <a:srgbClr val="1A1A1A"/>
                          </a:solidFill>
                        </a:rPr>
                        <a:t>Database administrator</a:t>
                      </a:r>
                    </a:p>
                  </a:txBody>
                  <a:tcPr anchor="ctr" marL="73152" marR="54864" marT="27432" marB="27432">
                    <a:solidFill>
                      <a:srgbClr val="FFFFFF"/>
                    </a:solidFill>
                  </a:tcPr>
                </a:tc>
                <a:tc>
                  <a:txBody>
                    <a:bodyPr wrap="square"/>
                    <a:lstStyle/>
                    <a:p>
                      <a:r>
                        <a:rPr sz="1100">
                          <a:solidFill>
                            <a:srgbClr val="1A1A1A"/>
                          </a:solidFill>
                        </a:rPr>
                        <a:t>Schema, permissions, backup, tuning</a:t>
                      </a:r>
                    </a:p>
                  </a:txBody>
                  <a:tcPr anchor="ctr" marL="73152" marR="54864" marT="27432" marB="27432">
                    <a:solidFill>
                      <a:srgbClr val="FFFFFF"/>
                    </a:solidFill>
                  </a:tcPr>
                </a:tc>
                <a:tc>
                  <a:txBody>
                    <a:bodyPr wrap="square"/>
                    <a:lstStyle/>
                    <a:p>
                      <a:r>
                        <a:rPr sz="1100">
                          <a:solidFill>
                            <a:srgbClr val="1A1A1A"/>
                          </a:solidFill>
                        </a:rPr>
                        <a:t>(is accountable for all of it)</a:t>
                      </a:r>
                    </a:p>
                  </a:txBody>
                  <a:tcPr anchor="ctr" marL="73152" marR="54864" marT="27432" marB="27432">
                    <a:solidFill>
                      <a:srgbClr val="FFFFFF"/>
                    </a:solidFill>
                  </a:tcPr>
                </a:tc>
              </a:tr>
              <a:tr h="630936">
                <a:tc>
                  <a:txBody>
                    <a:bodyPr wrap="square"/>
                    <a:lstStyle/>
                    <a:p>
                      <a:r>
                        <a:rPr sz="1100" b="1">
                          <a:solidFill>
                            <a:srgbClr val="0C2B4A"/>
                          </a:solidFill>
                        </a:rPr>
                        <a:t>Auditor (special)</a:t>
                      </a:r>
                    </a:p>
                  </a:txBody>
                  <a:tcPr anchor="ctr" marL="73152" marR="54864" marT="27432" marB="27432">
                    <a:solidFill>
                      <a:srgbClr val="EEF3F8"/>
                    </a:solidFill>
                  </a:tcPr>
                </a:tc>
                <a:tc>
                  <a:txBody>
                    <a:bodyPr wrap="square"/>
                    <a:lstStyle/>
                    <a:p>
                      <a:r>
                        <a:rPr sz="1100">
                          <a:solidFill>
                            <a:srgbClr val="1A1A1A"/>
                          </a:solidFill>
                        </a:rPr>
                        <a:t>NRB / compliance audit</a:t>
                      </a:r>
                    </a:p>
                  </a:txBody>
                  <a:tcPr anchor="ctr" marL="73152" marR="54864" marT="27432" marB="27432">
                    <a:solidFill>
                      <a:srgbClr val="EEF3F8"/>
                    </a:solidFill>
                  </a:tcPr>
                </a:tc>
                <a:tc>
                  <a:txBody>
                    <a:bodyPr wrap="square"/>
                    <a:lstStyle/>
                    <a:p>
                      <a:r>
                        <a:rPr sz="1100">
                          <a:solidFill>
                            <a:srgbClr val="1A1A1A"/>
                          </a:solidFill>
                        </a:rPr>
                        <a:t>Read-only, to verify records</a:t>
                      </a:r>
                    </a:p>
                  </a:txBody>
                  <a:tcPr anchor="ctr" marL="73152" marR="54864" marT="27432" marB="27432">
                    <a:solidFill>
                      <a:srgbClr val="EEF3F8"/>
                    </a:solidFill>
                  </a:tcPr>
                </a:tc>
                <a:tc>
                  <a:txBody>
                    <a:bodyPr wrap="square"/>
                    <a:lstStyle/>
                    <a:p>
                      <a:r>
                        <a:rPr sz="1100">
                          <a:solidFill>
                            <a:srgbClr val="1A1A1A"/>
                          </a:solidFill>
                        </a:rPr>
                        <a:t>Modify any data</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Same database, four depths of access. Only the DBA is accountable for the data layer itself — and gets paged when it's slow at month-end.</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13 / 74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 · CONCEPT 4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Why a Database beats a File System</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Before databases, data lived in separate files owned by different programs — causing redundancy, inconsistency, poor sharing, weak security, and data loss. A DBMS was invented to fix each problem.</a:t>
            </a:r>
          </a:p>
          <a:p>
            <a:pPr>
              <a:spcAft>
                <a:spcPts val="500"/>
              </a:spcAft>
            </a:pPr>
            <a:r>
              <a:rPr sz="1200" b="1">
                <a:solidFill>
                  <a:srgbClr val="185FA5"/>
                </a:solidFill>
              </a:rPr>
              <a:t>HOW IT WORKS</a:t>
            </a:r>
          </a:p>
          <a:p>
            <a:pPr>
              <a:spcAft>
                <a:spcPts val="600"/>
              </a:spcAft>
            </a:pPr>
            <a:r>
              <a:rPr sz="1400">
                <a:solidFill>
                  <a:srgbClr val="1A1A1A"/>
                </a:solidFill>
              </a:rPr>
              <a:t>•  Uncontrolled redundancy (same fact in many files) → controlled redundancy (store once).</a:t>
            </a:r>
          </a:p>
          <a:p>
            <a:pPr>
              <a:spcAft>
                <a:spcPts val="600"/>
              </a:spcAft>
            </a:pPr>
            <a:r>
              <a:rPr sz="1400">
                <a:solidFill>
                  <a:srgbClr val="1A1A1A"/>
                </a:solidFill>
              </a:rPr>
              <a:t>•  Inconsistency (copies drift apart) → integrity constraints keep data valid.</a:t>
            </a:r>
          </a:p>
          <a:p>
            <a:pPr>
              <a:spcAft>
                <a:spcPts val="600"/>
              </a:spcAft>
            </a:pPr>
            <a:r>
              <a:rPr sz="1400">
                <a:solidFill>
                  <a:srgbClr val="1A1A1A"/>
                </a:solidFill>
              </a:rPr>
              <a:t>•  Hard to share safely → concurrent multi-user access.</a:t>
            </a:r>
          </a:p>
          <a:p>
            <a:pPr>
              <a:spcAft>
                <a:spcPts val="600"/>
              </a:spcAft>
            </a:pPr>
            <a:r>
              <a:rPr sz="1400">
                <a:solidFill>
                  <a:srgbClr val="1A1A1A"/>
                </a:solidFill>
              </a:rPr>
              <a:t>•  Anyone can read/change a file → security &amp; access control. A crash loses data → backup &amp; recovery.</a:t>
            </a:r>
          </a:p>
        </p:txBody>
      </p:sp>
      <p:pic>
        <p:nvPicPr>
          <p:cNvPr id="6" name="Picture 5" descr="s1_file_vs_dbms.png"/>
          <p:cNvPicPr>
            <a:picLocks noChangeAspect="1"/>
          </p:cNvPicPr>
          <p:nvPr/>
        </p:nvPicPr>
        <p:blipFill>
          <a:blip r:embed="rId2"/>
          <a:stretch>
            <a:fillRect/>
          </a:stretch>
        </p:blipFill>
        <p:spPr>
          <a:xfrm>
            <a:off x="6355080" y="2234067"/>
            <a:ext cx="5532120" cy="3167104"/>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One source of truth beats many drifting copies.</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14 / 74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 · CONCEPT 4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Why a Database beats a File System</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a:t>
            </a:r>
          </a:p>
          <a:p>
            <a:pPr>
              <a:spcBef>
                <a:spcPts val="300"/>
              </a:spcBef>
            </a:pPr>
            <a:r>
              <a:rPr sz="1400">
                <a:solidFill>
                  <a:srgbClr val="1A1A1A"/>
                </a:solidFill>
              </a:rPr>
              <a:t>An address stored in five department files; the student moves, a clerk updates four and forgets the fifth — now four files disagree and nobody knows which is right (uncontrolled redundancy → inconsistency). A DBMS stores the address once, so an update in one place is instantly correct everywhere.</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"More copies = safer." Uncontrolled duplication is dangerous — each copy can drift and contradict. A DBMS keeps controlled, deliberate backups, not scattered loose copies.</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Advantages of a DBMS over a file-based system: (1) controlled redundancy — each fact stored once; (2) consistency &amp; integrity — rules keep data valid; (3) concurrent multi-user access — many users safely at once; (4) security/access control — permissions decide who sees what (also backup &amp; recovery). Each directly fixes a file-system weakness.</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file-based system · controlled vs uncontrolled redundancy · inconsistency · integrity constraints · concurrent access · access control · backup &amp; recovery</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15 / 74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 · CONCEPT 4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Each file-system problem → the DBMS fix → the payoff</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2625810"/>
                <a:gridCol w="2934729"/>
                <a:gridCol w="3089189"/>
                <a:gridCol w="2780270"/>
              </a:tblGrid>
              <a:tr h="630936">
                <a:tc>
                  <a:txBody>
                    <a:bodyPr wrap="square"/>
                    <a:lstStyle/>
                    <a:p>
                      <a:r>
                        <a:rPr sz="1150" b="1">
                          <a:solidFill>
                            <a:srgbClr val="FFFFFF"/>
                          </a:solidFill>
                        </a:rPr>
                        <a:t>File-system problem</a:t>
                      </a:r>
                    </a:p>
                  </a:txBody>
                  <a:tcPr anchor="ctr" marL="73152" marR="54864" marT="27432" marB="27432">
                    <a:solidFill>
                      <a:srgbClr val="0C2B4A"/>
                    </a:solidFill>
                  </a:tcPr>
                </a:tc>
                <a:tc>
                  <a:txBody>
                    <a:bodyPr wrap="square"/>
                    <a:lstStyle/>
                    <a:p>
                      <a:r>
                        <a:rPr sz="1150" b="1">
                          <a:solidFill>
                            <a:srgbClr val="FFFFFF"/>
                          </a:solidFill>
                        </a:rPr>
                        <a:t>What goes wrong</a:t>
                      </a:r>
                    </a:p>
                  </a:txBody>
                  <a:tcPr anchor="ctr" marL="73152" marR="54864" marT="27432" marB="27432">
                    <a:solidFill>
                      <a:srgbClr val="0C2B4A"/>
                    </a:solidFill>
                  </a:tcPr>
                </a:tc>
                <a:tc>
                  <a:txBody>
                    <a:bodyPr wrap="square"/>
                    <a:lstStyle/>
                    <a:p>
                      <a:r>
                        <a:rPr sz="1150" b="1">
                          <a:solidFill>
                            <a:srgbClr val="FFFFFF"/>
                          </a:solidFill>
                        </a:rPr>
                        <a:t>DBMS mechanism</a:t>
                      </a:r>
                    </a:p>
                  </a:txBody>
                  <a:tcPr anchor="ctr" marL="73152" marR="54864" marT="27432" marB="27432">
                    <a:solidFill>
                      <a:srgbClr val="0C2B4A"/>
                    </a:solidFill>
                  </a:tcPr>
                </a:tc>
                <a:tc>
                  <a:txBody>
                    <a:bodyPr wrap="square"/>
                    <a:lstStyle/>
                    <a:p>
                      <a:r>
                        <a:rPr sz="1150" b="1">
                          <a:solidFill>
                            <a:srgbClr val="FFFFFF"/>
                          </a:solidFill>
                        </a:rPr>
                        <a:t>Benefit</a:t>
                      </a:r>
                    </a:p>
                  </a:txBody>
                  <a:tcPr anchor="ctr" marL="73152" marR="54864" marT="27432" marB="27432">
                    <a:solidFill>
                      <a:srgbClr val="0C2B4A"/>
                    </a:solidFill>
                  </a:tcPr>
                </a:tc>
              </a:tr>
              <a:tr h="630936">
                <a:tc>
                  <a:txBody>
                    <a:bodyPr wrap="square"/>
                    <a:lstStyle/>
                    <a:p>
                      <a:r>
                        <a:rPr sz="1100" b="1">
                          <a:solidFill>
                            <a:srgbClr val="0C2B4A"/>
                          </a:solidFill>
                        </a:rPr>
                        <a:t>Uncontrolled redundancy</a:t>
                      </a:r>
                    </a:p>
                  </a:txBody>
                  <a:tcPr anchor="ctr" marL="73152" marR="54864" marT="27432" marB="27432">
                    <a:solidFill>
                      <a:srgbClr val="FFFFFF"/>
                    </a:solidFill>
                  </a:tcPr>
                </a:tc>
                <a:tc>
                  <a:txBody>
                    <a:bodyPr wrap="square"/>
                    <a:lstStyle/>
                    <a:p>
                      <a:r>
                        <a:rPr sz="1100">
                          <a:solidFill>
                            <a:srgbClr val="1A1A1A"/>
                          </a:solidFill>
                        </a:rPr>
                        <a:t>the address kept in 5 files</a:t>
                      </a:r>
                    </a:p>
                  </a:txBody>
                  <a:tcPr anchor="ctr" marL="73152" marR="54864" marT="27432" marB="27432">
                    <a:solidFill>
                      <a:srgbClr val="FFFFFF"/>
                    </a:solidFill>
                  </a:tcPr>
                </a:tc>
                <a:tc>
                  <a:txBody>
                    <a:bodyPr wrap="square"/>
                    <a:lstStyle/>
                    <a:p>
                      <a:r>
                        <a:rPr sz="1100">
                          <a:solidFill>
                            <a:srgbClr val="1A1A1A"/>
                          </a:solidFill>
                        </a:rPr>
                        <a:t>store the fact once</a:t>
                      </a:r>
                    </a:p>
                  </a:txBody>
                  <a:tcPr anchor="ctr" marL="73152" marR="54864" marT="27432" marB="27432">
                    <a:solidFill>
                      <a:srgbClr val="FFFFFF"/>
                    </a:solidFill>
                  </a:tcPr>
                </a:tc>
                <a:tc>
                  <a:txBody>
                    <a:bodyPr wrap="square"/>
                    <a:lstStyle/>
                    <a:p>
                      <a:r>
                        <a:rPr sz="1100">
                          <a:solidFill>
                            <a:srgbClr val="1A1A1A"/>
                          </a:solidFill>
                        </a:rPr>
                        <a:t>no duplicate copies to drift</a:t>
                      </a:r>
                    </a:p>
                  </a:txBody>
                  <a:tcPr anchor="ctr" marL="73152" marR="54864" marT="27432" marB="27432">
                    <a:solidFill>
                      <a:srgbClr val="FFFFFF"/>
                    </a:solidFill>
                  </a:tcPr>
                </a:tc>
              </a:tr>
              <a:tr h="630936">
                <a:tc>
                  <a:txBody>
                    <a:bodyPr wrap="square"/>
                    <a:lstStyle/>
                    <a:p>
                      <a:r>
                        <a:rPr sz="1100" b="1">
                          <a:solidFill>
                            <a:srgbClr val="0C2B4A"/>
                          </a:solidFill>
                        </a:rPr>
                        <a:t>Inconsistency</a:t>
                      </a:r>
                    </a:p>
                  </a:txBody>
                  <a:tcPr anchor="ctr" marL="73152" marR="54864" marT="27432" marB="27432">
                    <a:solidFill>
                      <a:srgbClr val="EEF3F8"/>
                    </a:solidFill>
                  </a:tcPr>
                </a:tc>
                <a:tc>
                  <a:txBody>
                    <a:bodyPr wrap="square"/>
                    <a:lstStyle/>
                    <a:p>
                      <a:r>
                        <a:rPr sz="1100">
                          <a:solidFill>
                            <a:srgbClr val="1A1A1A"/>
                          </a:solidFill>
                        </a:rPr>
                        <a:t>4 files updated, 1 forgotten</a:t>
                      </a:r>
                    </a:p>
                  </a:txBody>
                  <a:tcPr anchor="ctr" marL="73152" marR="54864" marT="27432" marB="27432">
                    <a:solidFill>
                      <a:srgbClr val="EEF3F8"/>
                    </a:solidFill>
                  </a:tcPr>
                </a:tc>
                <a:tc>
                  <a:txBody>
                    <a:bodyPr wrap="square"/>
                    <a:lstStyle/>
                    <a:p>
                      <a:r>
                        <a:rPr sz="1100">
                          <a:solidFill>
                            <a:srgbClr val="1A1A1A"/>
                          </a:solidFill>
                        </a:rPr>
                        <a:t>integrity + a single copy</a:t>
                      </a:r>
                    </a:p>
                  </a:txBody>
                  <a:tcPr anchor="ctr" marL="73152" marR="54864" marT="27432" marB="27432">
                    <a:solidFill>
                      <a:srgbClr val="EEF3F8"/>
                    </a:solidFill>
                  </a:tcPr>
                </a:tc>
                <a:tc>
                  <a:txBody>
                    <a:bodyPr wrap="square"/>
                    <a:lstStyle/>
                    <a:p>
                      <a:r>
                        <a:rPr sz="1100">
                          <a:solidFill>
                            <a:srgbClr val="1A1A1A"/>
                          </a:solidFill>
                        </a:rPr>
                        <a:t>data always agrees</a:t>
                      </a:r>
                    </a:p>
                  </a:txBody>
                  <a:tcPr anchor="ctr" marL="73152" marR="54864" marT="27432" marB="27432">
                    <a:solidFill>
                      <a:srgbClr val="EEF3F8"/>
                    </a:solidFill>
                  </a:tcPr>
                </a:tc>
              </a:tr>
              <a:tr h="630936">
                <a:tc>
                  <a:txBody>
                    <a:bodyPr wrap="square"/>
                    <a:lstStyle/>
                    <a:p>
                      <a:r>
                        <a:rPr sz="1100" b="1">
                          <a:solidFill>
                            <a:srgbClr val="0C2B4A"/>
                          </a:solidFill>
                        </a:rPr>
                        <a:t>Poor sharing</a:t>
                      </a:r>
                    </a:p>
                  </a:txBody>
                  <a:tcPr anchor="ctr" marL="73152" marR="54864" marT="27432" marB="27432">
                    <a:solidFill>
                      <a:srgbClr val="FFFFFF"/>
                    </a:solidFill>
                  </a:tcPr>
                </a:tc>
                <a:tc>
                  <a:txBody>
                    <a:bodyPr wrap="square"/>
                    <a:lstStyle/>
                    <a:p>
                      <a:r>
                        <a:rPr sz="1100">
                          <a:solidFill>
                            <a:srgbClr val="1A1A1A"/>
                          </a:solidFill>
                        </a:rPr>
                        <a:t>one clerk locks the whole file</a:t>
                      </a:r>
                    </a:p>
                  </a:txBody>
                  <a:tcPr anchor="ctr" marL="73152" marR="54864" marT="27432" marB="27432">
                    <a:solidFill>
                      <a:srgbClr val="FFFFFF"/>
                    </a:solidFill>
                  </a:tcPr>
                </a:tc>
                <a:tc>
                  <a:txBody>
                    <a:bodyPr wrap="square"/>
                    <a:lstStyle/>
                    <a:p>
                      <a:r>
                        <a:rPr sz="1100">
                          <a:solidFill>
                            <a:srgbClr val="1A1A1A"/>
                          </a:solidFill>
                        </a:rPr>
                        <a:t>concurrent multi-user access</a:t>
                      </a:r>
                    </a:p>
                  </a:txBody>
                  <a:tcPr anchor="ctr" marL="73152" marR="54864" marT="27432" marB="27432">
                    <a:solidFill>
                      <a:srgbClr val="FFFFFF"/>
                    </a:solidFill>
                  </a:tcPr>
                </a:tc>
                <a:tc>
                  <a:txBody>
                    <a:bodyPr wrap="square"/>
                    <a:lstStyle/>
                    <a:p>
                      <a:r>
                        <a:rPr sz="1100">
                          <a:solidFill>
                            <a:srgbClr val="1A1A1A"/>
                          </a:solidFill>
                        </a:rPr>
                        <a:t>thousands work at once, safely</a:t>
                      </a:r>
                    </a:p>
                  </a:txBody>
                  <a:tcPr anchor="ctr" marL="73152" marR="54864" marT="27432" marB="27432">
                    <a:solidFill>
                      <a:srgbClr val="FFFFFF"/>
                    </a:solidFill>
                  </a:tcPr>
                </a:tc>
              </a:tr>
              <a:tr h="630936">
                <a:tc>
                  <a:txBody>
                    <a:bodyPr wrap="square"/>
                    <a:lstStyle/>
                    <a:p>
                      <a:r>
                        <a:rPr sz="1100" b="1">
                          <a:solidFill>
                            <a:srgbClr val="0C2B4A"/>
                          </a:solidFill>
                        </a:rPr>
                        <a:t>Weak security</a:t>
                      </a:r>
                    </a:p>
                  </a:txBody>
                  <a:tcPr anchor="ctr" marL="73152" marR="54864" marT="27432" marB="27432">
                    <a:solidFill>
                      <a:srgbClr val="EEF3F8"/>
                    </a:solidFill>
                  </a:tcPr>
                </a:tc>
                <a:tc>
                  <a:txBody>
                    <a:bodyPr wrap="square"/>
                    <a:lstStyle/>
                    <a:p>
                      <a:r>
                        <a:rPr sz="1100">
                          <a:solidFill>
                            <a:srgbClr val="1A1A1A"/>
                          </a:solidFill>
                        </a:rPr>
                        <a:t>anyone can open the file</a:t>
                      </a:r>
                    </a:p>
                  </a:txBody>
                  <a:tcPr anchor="ctr" marL="73152" marR="54864" marT="27432" marB="27432">
                    <a:solidFill>
                      <a:srgbClr val="EEF3F8"/>
                    </a:solidFill>
                  </a:tcPr>
                </a:tc>
                <a:tc>
                  <a:txBody>
                    <a:bodyPr wrap="square"/>
                    <a:lstStyle/>
                    <a:p>
                      <a:r>
                        <a:rPr sz="1100">
                          <a:solidFill>
                            <a:srgbClr val="1A1A1A"/>
                          </a:solidFill>
                        </a:rPr>
                        <a:t>GRANT/REVOKE access control</a:t>
                      </a:r>
                    </a:p>
                  </a:txBody>
                  <a:tcPr anchor="ctr" marL="73152" marR="54864" marT="27432" marB="27432">
                    <a:solidFill>
                      <a:srgbClr val="EEF3F8"/>
                    </a:solidFill>
                  </a:tcPr>
                </a:tc>
                <a:tc>
                  <a:txBody>
                    <a:bodyPr wrap="square"/>
                    <a:lstStyle/>
                    <a:p>
                      <a:r>
                        <a:rPr sz="1100">
                          <a:solidFill>
                            <a:srgbClr val="1A1A1A"/>
                          </a:solidFill>
                        </a:rPr>
                        <a:t>only the right people see data</a:t>
                      </a:r>
                    </a:p>
                  </a:txBody>
                  <a:tcPr anchor="ctr" marL="73152" marR="54864" marT="27432" marB="27432">
                    <a:solidFill>
                      <a:srgbClr val="EEF3F8"/>
                    </a:solidFill>
                  </a:tcPr>
                </a:tc>
              </a:tr>
              <a:tr h="630936">
                <a:tc>
                  <a:txBody>
                    <a:bodyPr wrap="square"/>
                    <a:lstStyle/>
                    <a:p>
                      <a:r>
                        <a:rPr sz="1100" b="1">
                          <a:solidFill>
                            <a:srgbClr val="0C2B4A"/>
                          </a:solidFill>
                        </a:rPr>
                        <a:t>Data loss on crash</a:t>
                      </a:r>
                    </a:p>
                  </a:txBody>
                  <a:tcPr anchor="ctr" marL="73152" marR="54864" marT="27432" marB="27432">
                    <a:solidFill>
                      <a:srgbClr val="FFFFFF"/>
                    </a:solidFill>
                  </a:tcPr>
                </a:tc>
                <a:tc>
                  <a:txBody>
                    <a:bodyPr wrap="square"/>
                    <a:lstStyle/>
                    <a:p>
                      <a:r>
                        <a:rPr sz="1100">
                          <a:solidFill>
                            <a:srgbClr val="1A1A1A"/>
                          </a:solidFill>
                        </a:rPr>
                        <a:t>file corrupts, no copy</a:t>
                      </a:r>
                    </a:p>
                  </a:txBody>
                  <a:tcPr anchor="ctr" marL="73152" marR="54864" marT="27432" marB="27432">
                    <a:solidFill>
                      <a:srgbClr val="FFFFFF"/>
                    </a:solidFill>
                  </a:tcPr>
                </a:tc>
                <a:tc>
                  <a:txBody>
                    <a:bodyPr wrap="square"/>
                    <a:lstStyle/>
                    <a:p>
                      <a:r>
                        <a:rPr sz="1100">
                          <a:solidFill>
                            <a:srgbClr val="1A1A1A"/>
                          </a:solidFill>
                        </a:rPr>
                        <a:t>backup &amp; recovery + transactions</a:t>
                      </a:r>
                    </a:p>
                  </a:txBody>
                  <a:tcPr anchor="ctr" marL="73152" marR="54864" marT="27432" marB="27432">
                    <a:solidFill>
                      <a:srgbClr val="FFFFFF"/>
                    </a:solidFill>
                  </a:tcPr>
                </a:tc>
                <a:tc>
                  <a:txBody>
                    <a:bodyPr wrap="square"/>
                    <a:lstStyle/>
                    <a:p>
                      <a:r>
                        <a:rPr sz="1100">
                          <a:solidFill>
                            <a:srgbClr val="1A1A1A"/>
                          </a:solidFill>
                        </a:rPr>
                        <a:t>data survives failures</a:t>
                      </a:r>
                    </a:p>
                  </a:txBody>
                  <a:tcPr anchor="ctr" marL="73152" marR="54864" marT="27432" marB="27432">
                    <a:solidFill>
                      <a:srgbClr val="FFFFFF"/>
                    </a:solidFill>
                  </a:tcPr>
                </a:tc>
              </a:tr>
              <a:tr h="630936">
                <a:tc>
                  <a:txBody>
                    <a:bodyPr wrap="square"/>
                    <a:lstStyle/>
                    <a:p>
                      <a:r>
                        <a:rPr sz="1100" b="1">
                          <a:solidFill>
                            <a:srgbClr val="0C2B4A"/>
                          </a:solidFill>
                        </a:rPr>
                        <a:t>No easy querying</a:t>
                      </a:r>
                    </a:p>
                  </a:txBody>
                  <a:tcPr anchor="ctr" marL="73152" marR="54864" marT="27432" marB="27432">
                    <a:solidFill>
                      <a:srgbClr val="EEF3F8"/>
                    </a:solidFill>
                  </a:tcPr>
                </a:tc>
                <a:tc>
                  <a:txBody>
                    <a:bodyPr wrap="square"/>
                    <a:lstStyle/>
                    <a:p>
                      <a:r>
                        <a:rPr sz="1100">
                          <a:solidFill>
                            <a:srgbClr val="1A1A1A"/>
                          </a:solidFill>
                        </a:rPr>
                        <a:t>manual search through files</a:t>
                      </a:r>
                    </a:p>
                  </a:txBody>
                  <a:tcPr anchor="ctr" marL="73152" marR="54864" marT="27432" marB="27432">
                    <a:solidFill>
                      <a:srgbClr val="EEF3F8"/>
                    </a:solidFill>
                  </a:tcPr>
                </a:tc>
                <a:tc>
                  <a:txBody>
                    <a:bodyPr wrap="square"/>
                    <a:lstStyle/>
                    <a:p>
                      <a:r>
                        <a:rPr sz="1100">
                          <a:solidFill>
                            <a:srgbClr val="1A1A1A"/>
                          </a:solidFill>
                        </a:rPr>
                        <a:t>the SQL query language</a:t>
                      </a:r>
                    </a:p>
                  </a:txBody>
                  <a:tcPr anchor="ctr" marL="73152" marR="54864" marT="27432" marB="27432">
                    <a:solidFill>
                      <a:srgbClr val="EEF3F8"/>
                    </a:solidFill>
                  </a:tcPr>
                </a:tc>
                <a:tc>
                  <a:txBody>
                    <a:bodyPr wrap="square"/>
                    <a:lstStyle/>
                    <a:p>
                      <a:r>
                        <a:rPr sz="1100">
                          <a:solidFill>
                            <a:srgbClr val="1A1A1A"/>
                          </a:solidFill>
                        </a:rPr>
                        <a:t>answers in milliseconds</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Each DBMS advantage exists to cure a specific, painful file-system disease — this is WHY the DBMS was invented.</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16 / 74</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E1F5EE"/>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F6E56"/>
                </a:solidFill>
              </a:rPr>
              <a:t>🛠  IN-CLASS ACTIVITY  ·  THINK–PAIR–SHARE</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File or DBMS?</a:t>
            </a:r>
          </a:p>
        </p:txBody>
      </p:sp>
      <p:sp>
        <p:nvSpPr>
          <p:cNvPr id="5" name="TextBox 4"/>
          <p:cNvSpPr txBox="1"/>
          <p:nvPr/>
        </p:nvSpPr>
        <p:spPr>
          <a:xfrm>
            <a:off x="640080" y="1600200"/>
            <a:ext cx="10881360" cy="3291840"/>
          </a:xfrm>
          <a:prstGeom prst="rect">
            <a:avLst/>
          </a:prstGeom>
          <a:noFill/>
        </p:spPr>
        <p:txBody>
          <a:bodyPr wrap="square">
            <a:spAutoFit/>
          </a:bodyPr>
          <a:lstStyle/>
          <a:p>
            <a:pPr>
              <a:spcAft>
                <a:spcPts val="700"/>
              </a:spcAft>
            </a:pPr>
            <a:r>
              <a:rPr sz="1550">
                <a:solidFill>
                  <a:srgbClr val="1A1A1A"/>
                </a:solidFill>
              </a:rPr>
              <a:t>•  In pairs (2 min): decide file/spreadsheet or DBMS for — a wedding guest list; a bank's accounts; a one-person diary; Daraz's orders.</a:t>
            </a:r>
          </a:p>
          <a:p>
            <a:pPr>
              <a:spcAft>
                <a:spcPts val="700"/>
              </a:spcAft>
            </a:pPr>
            <a:r>
              <a:rPr sz="1550">
                <a:solidFill>
                  <a:srgbClr val="1A1A1A"/>
                </a:solidFill>
              </a:rPr>
              <a:t>•  For each, name WHICH property decides it — concurrency, integrity, scale, or security.</a:t>
            </a:r>
          </a:p>
          <a:p>
            <a:pPr>
              <a:spcAft>
                <a:spcPts val="700"/>
              </a:spcAft>
            </a:pPr>
            <a:r>
              <a:rPr sz="1550">
                <a:solidFill>
                  <a:srgbClr val="1A1A1A"/>
                </a:solidFill>
              </a:rPr>
              <a:t>•  Share aloud (4 min); build the file-vs-DBMS table from the class's answers.</a:t>
            </a:r>
          </a:p>
        </p:txBody>
      </p:sp>
      <p:sp>
        <p:nvSpPr>
          <p:cNvPr id="6" name="Rounded Rectangle 5"/>
          <p:cNvSpPr/>
          <p:nvPr/>
        </p:nvSpPr>
        <p:spPr>
          <a:xfrm>
            <a:off x="640080" y="5029200"/>
            <a:ext cx="10881360" cy="1554480"/>
          </a:xfrm>
          <a:prstGeom prst="roundRect">
            <a:avLst/>
          </a:prstGeom>
          <a:solidFill>
            <a:srgbClr val="FFFFFF"/>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Expected answer</a:t>
            </a:r>
          </a:p>
          <a:p>
            <a:pPr>
              <a:spcBef>
                <a:spcPts val="300"/>
              </a:spcBef>
            </a:pPr>
            <a:r>
              <a:rPr sz="1400">
                <a:solidFill>
                  <a:srgbClr val="1A1A1A"/>
                </a:solidFill>
              </a:rPr>
              <a:t>Bank accounts and Daraz orders clearly need a DBMS (many users, strict integrity, huge scale, security); the diary and short guest list don't. That contrast is the lesson — a DBMS is justified by concurrency, integrity, scale, and security needs.</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17 / 74</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S1 — Quick Check</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900"/>
              </a:spcBef>
            </a:pPr>
            <a:r>
              <a:rPr sz="1700" b="1">
                <a:solidFill>
                  <a:srgbClr val="0C2B4A"/>
                </a:solidFill>
              </a:rPr>
              <a:t>Q1.  Which is NOT a function of a DBMS?</a:t>
            </a:r>
          </a:p>
          <a:p>
            <a:pPr lvl="1"/>
            <a:r>
              <a:rPr sz="1500" b="1">
                <a:solidFill>
                  <a:srgbClr val="0F6E56"/>
                </a:solidFill>
              </a:rPr>
              <a:t>a) define data   b) ✅ print formatted documents   c) query data   d) control access</a:t>
            </a:r>
          </a:p>
          <a:p>
            <a:pPr>
              <a:spcBef>
                <a:spcPts val="900"/>
              </a:spcBef>
            </a:pPr>
            <a:r>
              <a:rPr sz="1700" b="1">
                <a:solidFill>
                  <a:srgbClr val="0C2B4A"/>
                </a:solidFill>
              </a:rPr>
              <a:t>Q2.  Who is responsible for granting and revoking user permissions?</a:t>
            </a:r>
          </a:p>
          <a:p>
            <a:pPr lvl="1"/>
            <a:r>
              <a:rPr sz="1500" b="1">
                <a:solidFill>
                  <a:srgbClr val="0F6E56"/>
                </a:solidFill>
              </a:rPr>
              <a:t>a) naive user   b) app programmer   c) ✅ DBA   d) end user</a:t>
            </a:r>
          </a:p>
          <a:p>
            <a:pPr lvl="1">
              <a:spcBef>
                <a:spcPts val="600"/>
              </a:spcBef>
            </a:pPr>
            <a:r>
              <a:rPr sz="1500" i="1">
                <a:solidFill>
                  <a:srgbClr val="1A1A1A"/>
                </a:solidFill>
              </a:rPr>
              <a:t>Discussion: name a phone app you use and guess what its database stores about you.</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18 / 74</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C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C2B4A"/>
                </a:solidFill>
              </a:rPr>
              <a:t>S1 · SUMMARY  ·  [~2 MIN]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Summary &amp; Key Takeaways</a:t>
            </a:r>
          </a:p>
        </p:txBody>
      </p:sp>
      <p:sp>
        <p:nvSpPr>
          <p:cNvPr id="5" name="TextBox 4"/>
          <p:cNvSpPr txBox="1"/>
          <p:nvPr/>
        </p:nvSpPr>
        <p:spPr>
          <a:xfrm>
            <a:off x="640080" y="1554480"/>
            <a:ext cx="10972800" cy="2468880"/>
          </a:xfrm>
          <a:prstGeom prst="rect">
            <a:avLst/>
          </a:prstGeom>
          <a:noFill/>
        </p:spPr>
        <p:txBody>
          <a:bodyPr wrap="square">
            <a:spAutoFit/>
          </a:bodyPr>
          <a:lstStyle/>
          <a:p>
            <a:pPr>
              <a:spcAft>
                <a:spcPts val="800"/>
              </a:spcAft>
            </a:pPr>
            <a:r>
              <a:rPr sz="1500">
                <a:solidFill>
                  <a:srgbClr val="1A1A1A"/>
                </a:solidFill>
              </a:rPr>
              <a:t>1.  A database is organized, persistent, shared data; a DBMS is the software that manages it.</a:t>
            </a:r>
          </a:p>
          <a:p>
            <a:pPr>
              <a:spcAft>
                <a:spcPts val="800"/>
              </a:spcAft>
            </a:pPr>
            <a:r>
              <a:rPr sz="1500">
                <a:solidFill>
                  <a:srgbClr val="1A1A1A"/>
                </a:solidFill>
              </a:rPr>
              <a:t>2.  Four user types interact at different depths; the DBA is accountable for the data layer.</a:t>
            </a:r>
          </a:p>
          <a:p>
            <a:pPr>
              <a:spcAft>
                <a:spcPts val="800"/>
              </a:spcAft>
            </a:pPr>
            <a:r>
              <a:rPr sz="1500">
                <a:solidFill>
                  <a:srgbClr val="1A1A1A"/>
                </a:solidFill>
              </a:rPr>
              <a:t>3.  A DBMS beats files through controlled redundancy, integrity, sharing, security, and recovery.</a:t>
            </a:r>
          </a:p>
        </p:txBody>
      </p:sp>
      <p:sp>
        <p:nvSpPr>
          <p:cNvPr id="6" name="Rounded Rectangle 5"/>
          <p:cNvSpPr/>
          <p:nvPr/>
        </p:nvSpPr>
        <p:spPr>
          <a:xfrm>
            <a:off x="640080" y="4160520"/>
            <a:ext cx="10972800" cy="123444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Why this matters</a:t>
            </a:r>
          </a:p>
          <a:p>
            <a:pPr>
              <a:spcBef>
                <a:spcPts val="300"/>
              </a:spcBef>
            </a:pPr>
            <a:r>
              <a:rPr sz="1350">
                <a:solidFill>
                  <a:srgbClr val="1A1A1A"/>
                </a:solidFill>
              </a:rPr>
              <a:t>Every fintech and e-commerce employer in Nepal — eSewa, Khalti, Daraz, IME Pay — runs on a DBMS. 'Understands databases' is a baseline requirement on almost every software, data, or QA job, and this vocabulary is what a first-round interviewer expects you to use correctly.</a:t>
            </a:r>
          </a:p>
        </p:txBody>
      </p:sp>
      <p:sp>
        <p:nvSpPr>
          <p:cNvPr id="7" name="Rounded Rectangle 6"/>
          <p:cNvSpPr/>
          <p:nvPr/>
        </p:nvSpPr>
        <p:spPr>
          <a:xfrm>
            <a:off x="640080" y="5504688"/>
            <a:ext cx="10972800" cy="105156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Next</a:t>
            </a:r>
          </a:p>
          <a:p>
            <a:pPr>
              <a:spcBef>
                <a:spcPts val="300"/>
              </a:spcBef>
            </a:pPr>
            <a:r>
              <a:rPr sz="1350">
                <a:solidFill>
                  <a:srgbClr val="1A1A1A"/>
                </a:solidFill>
              </a:rPr>
              <a:t>S2 — how we DESCRIBE data: data models, schemas, instances, and data independence.</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19 / 74</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SESSION 2 · LECTURE HOUR 2 (OF 4)</a:t>
            </a:r>
          </a:p>
        </p:txBody>
      </p:sp>
      <p:sp>
        <p:nvSpPr>
          <p:cNvPr id="3" name="TextBox 2"/>
          <p:cNvSpPr txBox="1"/>
          <p:nvPr/>
        </p:nvSpPr>
        <p:spPr>
          <a:xfrm>
            <a:off x="822960" y="2286000"/>
            <a:ext cx="10515600" cy="1280160"/>
          </a:xfrm>
          <a:prstGeom prst="rect">
            <a:avLst/>
          </a:prstGeom>
          <a:noFill/>
        </p:spPr>
        <p:txBody>
          <a:bodyPr wrap="square">
            <a:spAutoFit/>
          </a:bodyPr>
          <a:lstStyle/>
          <a:p>
            <a:r>
              <a:rPr sz="3100" b="1">
                <a:solidFill>
                  <a:srgbClr val="FFFFFF"/>
                </a:solidFill>
              </a:rPr>
              <a:t>Data Models, Schemas &amp; the Three-Schema Architecture</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Last year your college stored results one way; this year IT moved everything to a faster server with a different internal layout. You — checking marks online — noticed nothing. Why didn't the change break the portal?</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20 / 74</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 · CONCEPT 1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Data Models</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A data model is a set of concepts describing the structure, constraints, and operations of a database — the 'language' for describing what data looks like and how it behaves. Models exist at levels of abstraction.</a:t>
            </a:r>
          </a:p>
          <a:p>
            <a:pPr>
              <a:spcAft>
                <a:spcPts val="500"/>
              </a:spcAft>
            </a:pPr>
            <a:r>
              <a:rPr sz="1200" b="1">
                <a:solidFill>
                  <a:srgbClr val="185FA5"/>
                </a:solidFill>
              </a:rPr>
              <a:t>HOW IT WORKS</a:t>
            </a:r>
          </a:p>
          <a:p>
            <a:pPr>
              <a:spcAft>
                <a:spcPts val="600"/>
              </a:spcAft>
            </a:pPr>
            <a:r>
              <a:rPr sz="1400">
                <a:solidFill>
                  <a:srgbClr val="1A1A1A"/>
                </a:solidFill>
              </a:rPr>
              <a:t>•  High-level / conceptual — real-world things &amp; relationships (the ER model, Unit 2).</a:t>
            </a:r>
          </a:p>
          <a:p>
            <a:pPr>
              <a:spcAft>
                <a:spcPts val="600"/>
              </a:spcAft>
            </a:pPr>
            <a:r>
              <a:rPr sz="1400">
                <a:solidFill>
                  <a:srgbClr val="1A1A1A"/>
                </a:solidFill>
              </a:rPr>
              <a:t>•  Representational / implementation — the relational model (tables of rows &amp; columns); what most business DBMSs use.</a:t>
            </a:r>
          </a:p>
          <a:p>
            <a:pPr>
              <a:spcAft>
                <a:spcPts val="600"/>
              </a:spcAft>
            </a:pPr>
            <a:r>
              <a:rPr sz="1400">
                <a:solidFill>
                  <a:srgbClr val="1A1A1A"/>
                </a:solidFill>
              </a:rPr>
              <a:t>•  Low-level / physical — how data is actually stored on disk (files, pages, indexes).</a:t>
            </a:r>
          </a:p>
          <a:p>
            <a:pPr>
              <a:spcAft>
                <a:spcPts val="600"/>
              </a:spcAft>
            </a:pPr>
            <a:r>
              <a:rPr sz="1400">
                <a:solidFill>
                  <a:srgbClr val="1A1A1A"/>
                </a:solidFill>
              </a:rPr>
              <a:t>•  The same system, described at several levels of detail.</a:t>
            </a:r>
          </a:p>
        </p:txBody>
      </p:sp>
      <p:pic>
        <p:nvPicPr>
          <p:cNvPr id="6" name="Picture 5" descr="s2_data_models.png"/>
          <p:cNvPicPr>
            <a:picLocks noChangeAspect="1"/>
          </p:cNvPicPr>
          <p:nvPr/>
        </p:nvPicPr>
        <p:blipFill>
          <a:blip r:embed="rId2"/>
          <a:stretch>
            <a:fillRect/>
          </a:stretch>
        </p:blipFill>
        <p:spPr>
          <a:xfrm>
            <a:off x="6355080" y="2392193"/>
            <a:ext cx="5532120" cy="2850852"/>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Idea → tables → disk.</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21 / 74</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 · CONCEPT 1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Data Models</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a:t>
            </a:r>
          </a:p>
          <a:p>
            <a:pPr>
              <a:spcBef>
                <a:spcPts val="300"/>
              </a:spcBef>
            </a:pPr>
            <a:r>
              <a:rPr sz="1400">
                <a:solidFill>
                  <a:srgbClr val="1A1A1A"/>
                </a:solidFill>
              </a:rPr>
              <a:t>Before Daraz was built, someone sketched 'a Customer places Orders; each Order contains Products' — a conceptual (ER) model. Engineers turned it into relational tables, and the ops team decided how to store and index those tables on disk. Same shop, described at three levels.</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"A data model is just the tables." Tables are the representational level; above them is the conceptual model (real-world things), below is the physical storage layout.</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A data model is a set of concepts describing the structure, constraints, and operations of a database. By abstraction: high-level/conceptual (the ER model), representational/implementation (the relational/table model), and low-level/physical (storage details) — ranging from human-oriented to machine-oriented.</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data model · conceptual (high-level) · representational/relational · physical (low-level) · structure, constraints, operations</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22 / 74</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 · CONCEPT 1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One system described at three model levels</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1632857"/>
                <a:gridCol w="3537857"/>
                <a:gridCol w="3265714"/>
                <a:gridCol w="2993571"/>
              </a:tblGrid>
              <a:tr h="883310">
                <a:tc>
                  <a:txBody>
                    <a:bodyPr wrap="square"/>
                    <a:lstStyle/>
                    <a:p>
                      <a:r>
                        <a:rPr sz="1150" b="1">
                          <a:solidFill>
                            <a:srgbClr val="FFFFFF"/>
                          </a:solidFill>
                        </a:rPr>
                        <a:t>System</a:t>
                      </a:r>
                    </a:p>
                  </a:txBody>
                  <a:tcPr anchor="ctr" marL="73152" marR="54864" marT="27432" marB="27432">
                    <a:solidFill>
                      <a:srgbClr val="0C2B4A"/>
                    </a:solidFill>
                  </a:tcPr>
                </a:tc>
                <a:tc>
                  <a:txBody>
                    <a:bodyPr wrap="square"/>
                    <a:lstStyle/>
                    <a:p>
                      <a:r>
                        <a:rPr sz="1150" b="1">
                          <a:solidFill>
                            <a:srgbClr val="FFFFFF"/>
                          </a:solidFill>
                        </a:rPr>
                        <a:t>Conceptual (ER — real world)</a:t>
                      </a:r>
                    </a:p>
                  </a:txBody>
                  <a:tcPr anchor="ctr" marL="73152" marR="54864" marT="27432" marB="27432">
                    <a:solidFill>
                      <a:srgbClr val="0C2B4A"/>
                    </a:solidFill>
                  </a:tcPr>
                </a:tc>
                <a:tc>
                  <a:txBody>
                    <a:bodyPr wrap="square"/>
                    <a:lstStyle/>
                    <a:p>
                      <a:r>
                        <a:rPr sz="1150" b="1">
                          <a:solidFill>
                            <a:srgbClr val="FFFFFF"/>
                          </a:solidFill>
                        </a:rPr>
                        <a:t>Representational (tables)</a:t>
                      </a:r>
                    </a:p>
                  </a:txBody>
                  <a:tcPr anchor="ctr" marL="73152" marR="54864" marT="27432" marB="27432">
                    <a:solidFill>
                      <a:srgbClr val="0C2B4A"/>
                    </a:solidFill>
                  </a:tcPr>
                </a:tc>
                <a:tc>
                  <a:txBody>
                    <a:bodyPr wrap="square"/>
                    <a:lstStyle/>
                    <a:p>
                      <a:r>
                        <a:rPr sz="1150" b="1">
                          <a:solidFill>
                            <a:srgbClr val="FFFFFF"/>
                          </a:solidFill>
                        </a:rPr>
                        <a:t>Physical (on disk)</a:t>
                      </a:r>
                    </a:p>
                  </a:txBody>
                  <a:tcPr anchor="ctr" marL="73152" marR="54864" marT="27432" marB="27432">
                    <a:solidFill>
                      <a:srgbClr val="0C2B4A"/>
                    </a:solidFill>
                  </a:tcPr>
                </a:tc>
              </a:tr>
              <a:tr h="883310">
                <a:tc>
                  <a:txBody>
                    <a:bodyPr wrap="square"/>
                    <a:lstStyle/>
                    <a:p>
                      <a:r>
                        <a:rPr sz="1100" b="1">
                          <a:solidFill>
                            <a:srgbClr val="0C2B4A"/>
                          </a:solidFill>
                        </a:rPr>
                        <a:t>Daraz shop</a:t>
                      </a:r>
                    </a:p>
                  </a:txBody>
                  <a:tcPr anchor="ctr" marL="73152" marR="54864" marT="27432" marB="27432">
                    <a:solidFill>
                      <a:srgbClr val="FFFFFF"/>
                    </a:solidFill>
                  </a:tcPr>
                </a:tc>
                <a:tc>
                  <a:txBody>
                    <a:bodyPr wrap="square"/>
                    <a:lstStyle/>
                    <a:p>
                      <a:r>
                        <a:rPr sz="1100">
                          <a:solidFill>
                            <a:srgbClr val="1A1A1A"/>
                          </a:solidFill>
                        </a:rPr>
                        <a:t>Customer places Order; Order has Products</a:t>
                      </a:r>
                    </a:p>
                  </a:txBody>
                  <a:tcPr anchor="ctr" marL="73152" marR="54864" marT="27432" marB="27432">
                    <a:solidFill>
                      <a:srgbClr val="FFFFFF"/>
                    </a:solidFill>
                  </a:tcPr>
                </a:tc>
                <a:tc>
                  <a:txBody>
                    <a:bodyPr wrap="square"/>
                    <a:lstStyle/>
                    <a:p>
                      <a:r>
                        <a:rPr sz="1100">
                          <a:solidFill>
                            <a:srgbClr val="1A1A1A"/>
                          </a:solidFill>
                        </a:rPr>
                        <a:t>Customer, Order, Product, OrderItem</a:t>
                      </a:r>
                    </a:p>
                  </a:txBody>
                  <a:tcPr anchor="ctr" marL="73152" marR="54864" marT="27432" marB="27432">
                    <a:solidFill>
                      <a:srgbClr val="FFFFFF"/>
                    </a:solidFill>
                  </a:tcPr>
                </a:tc>
                <a:tc>
                  <a:txBody>
                    <a:bodyPr wrap="square"/>
                    <a:lstStyle/>
                    <a:p>
                      <a:r>
                        <a:rPr sz="1100">
                          <a:solidFill>
                            <a:srgbClr val="1A1A1A"/>
                          </a:solidFill>
                        </a:rPr>
                        <a:t>indexed files + B-tree on order date</a:t>
                      </a:r>
                    </a:p>
                  </a:txBody>
                  <a:tcPr anchor="ctr" marL="73152" marR="54864" marT="27432" marB="27432">
                    <a:solidFill>
                      <a:srgbClr val="FFFFFF"/>
                    </a:solidFill>
                  </a:tcPr>
                </a:tc>
              </a:tr>
              <a:tr h="883310">
                <a:tc>
                  <a:txBody>
                    <a:bodyPr wrap="square"/>
                    <a:lstStyle/>
                    <a:p>
                      <a:r>
                        <a:rPr sz="1100" b="1">
                          <a:solidFill>
                            <a:srgbClr val="0C2B4A"/>
                          </a:solidFill>
                        </a:rPr>
                        <a:t>College exams</a:t>
                      </a:r>
                    </a:p>
                  </a:txBody>
                  <a:tcPr anchor="ctr" marL="73152" marR="54864" marT="27432" marB="27432">
                    <a:solidFill>
                      <a:srgbClr val="EEF3F8"/>
                    </a:solidFill>
                  </a:tcPr>
                </a:tc>
                <a:tc>
                  <a:txBody>
                    <a:bodyPr wrap="square"/>
                    <a:lstStyle/>
                    <a:p>
                      <a:r>
                        <a:rPr sz="1100">
                          <a:solidFill>
                            <a:srgbClr val="1A1A1A"/>
                          </a:solidFill>
                        </a:rPr>
                        <a:t>Student enrols in Course; Course has Marks</a:t>
                      </a:r>
                    </a:p>
                  </a:txBody>
                  <a:tcPr anchor="ctr" marL="73152" marR="54864" marT="27432" marB="27432">
                    <a:solidFill>
                      <a:srgbClr val="EEF3F8"/>
                    </a:solidFill>
                  </a:tcPr>
                </a:tc>
                <a:tc>
                  <a:txBody>
                    <a:bodyPr wrap="square"/>
                    <a:lstStyle/>
                    <a:p>
                      <a:r>
                        <a:rPr sz="1100">
                          <a:solidFill>
                            <a:srgbClr val="1A1A1A"/>
                          </a:solidFill>
                        </a:rPr>
                        <a:t>Student, Course, Enrolment, Marks</a:t>
                      </a:r>
                    </a:p>
                  </a:txBody>
                  <a:tcPr anchor="ctr" marL="73152" marR="54864" marT="27432" marB="27432">
                    <a:solidFill>
                      <a:srgbClr val="EEF3F8"/>
                    </a:solidFill>
                  </a:tcPr>
                </a:tc>
                <a:tc>
                  <a:txBody>
                    <a:bodyPr wrap="square"/>
                    <a:lstStyle/>
                    <a:p>
                      <a:r>
                        <a:rPr sz="1100">
                          <a:solidFill>
                            <a:srgbClr val="1A1A1A"/>
                          </a:solidFill>
                        </a:rPr>
                        <a:t>pages on SSD, index on roll number</a:t>
                      </a:r>
                    </a:p>
                  </a:txBody>
                  <a:tcPr anchor="ctr" marL="73152" marR="54864" marT="27432" marB="27432">
                    <a:solidFill>
                      <a:srgbClr val="EEF3F8"/>
                    </a:solidFill>
                  </a:tcPr>
                </a:tc>
              </a:tr>
              <a:tr h="883310">
                <a:tc>
                  <a:txBody>
                    <a:bodyPr wrap="square"/>
                    <a:lstStyle/>
                    <a:p>
                      <a:r>
                        <a:rPr sz="1100" b="1">
                          <a:solidFill>
                            <a:srgbClr val="0C2B4A"/>
                          </a:solidFill>
                        </a:rPr>
                        <a:t>eSewa</a:t>
                      </a:r>
                    </a:p>
                  </a:txBody>
                  <a:tcPr anchor="ctr" marL="73152" marR="54864" marT="27432" marB="27432">
                    <a:solidFill>
                      <a:srgbClr val="FFFFFF"/>
                    </a:solidFill>
                  </a:tcPr>
                </a:tc>
                <a:tc>
                  <a:txBody>
                    <a:bodyPr wrap="square"/>
                    <a:lstStyle/>
                    <a:p>
                      <a:r>
                        <a:rPr sz="1100">
                          <a:solidFill>
                            <a:srgbClr val="1A1A1A"/>
                          </a:solidFill>
                        </a:rPr>
                        <a:t>User makes a Transaction to another User</a:t>
                      </a:r>
                    </a:p>
                  </a:txBody>
                  <a:tcPr anchor="ctr" marL="73152" marR="54864" marT="27432" marB="27432">
                    <a:solidFill>
                      <a:srgbClr val="FFFFFF"/>
                    </a:solidFill>
                  </a:tcPr>
                </a:tc>
                <a:tc>
                  <a:txBody>
                    <a:bodyPr wrap="square"/>
                    <a:lstStyle/>
                    <a:p>
                      <a:r>
                        <a:rPr sz="1100">
                          <a:solidFill>
                            <a:srgbClr val="1A1A1A"/>
                          </a:solidFill>
                        </a:rPr>
                        <a:t>User, Account, Transaction</a:t>
                      </a:r>
                    </a:p>
                  </a:txBody>
                  <a:tcPr anchor="ctr" marL="73152" marR="54864" marT="27432" marB="27432">
                    <a:solidFill>
                      <a:srgbClr val="FFFFFF"/>
                    </a:solidFill>
                  </a:tcPr>
                </a:tc>
                <a:tc>
                  <a:txBody>
                    <a:bodyPr wrap="square"/>
                    <a:lstStyle/>
                    <a:p>
                      <a:r>
                        <a:rPr sz="1100">
                          <a:solidFill>
                            <a:srgbClr val="1A1A1A"/>
                          </a:solidFill>
                        </a:rPr>
                        <a:t>files replicated across servers</a:t>
                      </a:r>
                    </a:p>
                  </a:txBody>
                  <a:tcPr anchor="ctr" marL="73152" marR="54864" marT="27432" marB="27432">
                    <a:solidFill>
                      <a:srgbClr val="FFFFFF"/>
                    </a:solidFill>
                  </a:tcPr>
                </a:tc>
              </a:tr>
              <a:tr h="883312">
                <a:tc>
                  <a:txBody>
                    <a:bodyPr wrap="square"/>
                    <a:lstStyle/>
                    <a:p>
                      <a:r>
                        <a:rPr sz="1100" b="1">
                          <a:solidFill>
                            <a:srgbClr val="0C2B4A"/>
                          </a:solidFill>
                        </a:rPr>
                        <a:t>Library</a:t>
                      </a:r>
                    </a:p>
                  </a:txBody>
                  <a:tcPr anchor="ctr" marL="73152" marR="54864" marT="27432" marB="27432">
                    <a:solidFill>
                      <a:srgbClr val="EEF3F8"/>
                    </a:solidFill>
                  </a:tcPr>
                </a:tc>
                <a:tc>
                  <a:txBody>
                    <a:bodyPr wrap="square"/>
                    <a:lstStyle/>
                    <a:p>
                      <a:r>
                        <a:rPr sz="1100">
                          <a:solidFill>
                            <a:srgbClr val="1A1A1A"/>
                          </a:solidFill>
                        </a:rPr>
                        <a:t>Member borrows a Book</a:t>
                      </a:r>
                    </a:p>
                  </a:txBody>
                  <a:tcPr anchor="ctr" marL="73152" marR="54864" marT="27432" marB="27432">
                    <a:solidFill>
                      <a:srgbClr val="EEF3F8"/>
                    </a:solidFill>
                  </a:tcPr>
                </a:tc>
                <a:tc>
                  <a:txBody>
                    <a:bodyPr wrap="square"/>
                    <a:lstStyle/>
                    <a:p>
                      <a:r>
                        <a:rPr sz="1100">
                          <a:solidFill>
                            <a:srgbClr val="1A1A1A"/>
                          </a:solidFill>
                        </a:rPr>
                        <a:t>Member, Book, Loan</a:t>
                      </a:r>
                    </a:p>
                  </a:txBody>
                  <a:tcPr anchor="ctr" marL="73152" marR="54864" marT="27432" marB="27432">
                    <a:solidFill>
                      <a:srgbClr val="EEF3F8"/>
                    </a:solidFill>
                  </a:tcPr>
                </a:tc>
                <a:tc>
                  <a:txBody>
                    <a:bodyPr wrap="square"/>
                    <a:lstStyle/>
                    <a:p>
                      <a:r>
                        <a:rPr sz="1100">
                          <a:solidFill>
                            <a:srgbClr val="1A1A1A"/>
                          </a:solidFill>
                        </a:rPr>
                        <a:t>heap file + index on ISBN</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The same reality is described human-first (conceptual), then as tables (representational), then as bytes on disk (physical). Unit 2 lives at the conceptual level.</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23 / 74</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 · CONCEPT 2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Schema vs Instance</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A schema is the design/structure of the database (tables, columns, rules) — decided at design time, changes rarely. An instance (database state) is the actual data stored at a given moment — it changes constantly.</a:t>
            </a:r>
          </a:p>
          <a:p>
            <a:pPr>
              <a:spcAft>
                <a:spcPts val="500"/>
              </a:spcAft>
            </a:pPr>
            <a:r>
              <a:rPr sz="1200" b="1">
                <a:solidFill>
                  <a:srgbClr val="185FA5"/>
                </a:solidFill>
              </a:rPr>
              <a:t>HOW IT WORKS</a:t>
            </a:r>
          </a:p>
          <a:p>
            <a:pPr>
              <a:spcAft>
                <a:spcPts val="600"/>
              </a:spcAft>
            </a:pPr>
            <a:r>
              <a:rPr sz="1400">
                <a:solidFill>
                  <a:srgbClr val="1A1A1A"/>
                </a:solidFill>
              </a:rPr>
              <a:t>•  Schema Student(roll, name, program) says what every row must have.</a:t>
            </a:r>
          </a:p>
          <a:p>
            <a:pPr>
              <a:spcAft>
                <a:spcPts val="600"/>
              </a:spcAft>
            </a:pPr>
            <a:r>
              <a:rPr sz="1400">
                <a:solidFill>
                  <a:srgbClr val="1A1A1A"/>
                </a:solidFill>
              </a:rPr>
              <a:t>•  The instance is the actual rows right now — 60 today, 59 after a student drops out tomorrow.</a:t>
            </a:r>
          </a:p>
          <a:p>
            <a:pPr>
              <a:spcAft>
                <a:spcPts val="600"/>
              </a:spcAft>
            </a:pPr>
            <a:r>
              <a:rPr sz="1400">
                <a:solidFill>
                  <a:srgbClr val="1A1A1A"/>
                </a:solidFill>
              </a:rPr>
              <a:t>•  One schema, an endless succession of instances over time.</a:t>
            </a:r>
          </a:p>
          <a:p>
            <a:pPr>
              <a:spcAft>
                <a:spcPts val="600"/>
              </a:spcAft>
            </a:pPr>
            <a:r>
              <a:rPr sz="1400">
                <a:solidFill>
                  <a:srgbClr val="1A1A1A"/>
                </a:solidFill>
              </a:rPr>
              <a:t>•  Adding a phone column changes the SCHEMA (rare, big); adding a row changes the INSTANCE (constant).</a:t>
            </a:r>
          </a:p>
        </p:txBody>
      </p:sp>
      <p:pic>
        <p:nvPicPr>
          <p:cNvPr id="6" name="Picture 5" descr="s2_schema_instance.png"/>
          <p:cNvPicPr>
            <a:picLocks noChangeAspect="1"/>
          </p:cNvPicPr>
          <p:nvPr/>
        </p:nvPicPr>
        <p:blipFill>
          <a:blip r:embed="rId2"/>
          <a:stretch>
            <a:fillRect/>
          </a:stretch>
        </p:blipFill>
        <p:spPr>
          <a:xfrm>
            <a:off x="6355080" y="2444902"/>
            <a:ext cx="5532120" cy="2745435"/>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Schema = the mould; instance = what's in it now.</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24 / 74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 · CONCEPT 2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Schema vs Instance</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a:t>
            </a:r>
          </a:p>
          <a:p>
            <a:pPr>
              <a:spcBef>
                <a:spcPts val="300"/>
              </a:spcBef>
            </a:pPr>
            <a:r>
              <a:rPr sz="1400">
                <a:solidFill>
                  <a:srgbClr val="1A1A1A"/>
                </a:solidFill>
              </a:rPr>
              <a:t>Your class WhatsApp group: its structure (name, members, admins) is the schema and barely changes; the actual messages and current member list right now are the instance and change every minute. Two members leave tomorrow — same group (schema), new membership (instance).</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"Schema and instance are the same thing." The schema is the stable design; the instance is the volatile data. One schema has many instances over time.</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A schema is the design/structure of a database — the table definitions and constraints; it is stable and changes rarely. An instance (database state) is the actual data stored at a given moment; it changes constantly. One schema has many instances over time. Example: schema Student(roll, name, program); an instance = today's actual rows.</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schema (structure, stable) · instance / database state (current data, volatile) · one schema → many instances</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25 / 74</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 · CONCEPT 2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Is it a schema change or an instance change?</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3962399"/>
                <a:gridCol w="2286000"/>
                <a:gridCol w="1981199"/>
                <a:gridCol w="3200400"/>
              </a:tblGrid>
              <a:tr h="630936">
                <a:tc>
                  <a:txBody>
                    <a:bodyPr wrap="square"/>
                    <a:lstStyle/>
                    <a:p>
                      <a:r>
                        <a:rPr sz="1150" b="1">
                          <a:solidFill>
                            <a:srgbClr val="FFFFFF"/>
                          </a:solidFill>
                        </a:rPr>
                        <a:t>Action</a:t>
                      </a:r>
                    </a:p>
                  </a:txBody>
                  <a:tcPr anchor="ctr" marL="73152" marR="54864" marT="27432" marB="27432">
                    <a:solidFill>
                      <a:srgbClr val="0C2B4A"/>
                    </a:solidFill>
                  </a:tcPr>
                </a:tc>
                <a:tc>
                  <a:txBody>
                    <a:bodyPr wrap="square"/>
                    <a:lstStyle/>
                    <a:p>
                      <a:r>
                        <a:rPr sz="1150" b="1">
                          <a:solidFill>
                            <a:srgbClr val="FFFFFF"/>
                          </a:solidFill>
                        </a:rPr>
                        <a:t>Schema or instance?</a:t>
                      </a:r>
                    </a:p>
                  </a:txBody>
                  <a:tcPr anchor="ctr" marL="73152" marR="54864" marT="27432" marB="27432">
                    <a:solidFill>
                      <a:srgbClr val="0C2B4A"/>
                    </a:solidFill>
                  </a:tcPr>
                </a:tc>
                <a:tc>
                  <a:txBody>
                    <a:bodyPr wrap="square"/>
                    <a:lstStyle/>
                    <a:p>
                      <a:r>
                        <a:rPr sz="1150" b="1">
                          <a:solidFill>
                            <a:srgbClr val="FFFFFF"/>
                          </a:solidFill>
                        </a:rPr>
                        <a:t>How often</a:t>
                      </a:r>
                    </a:p>
                  </a:txBody>
                  <a:tcPr anchor="ctr" marL="73152" marR="54864" marT="27432" marB="27432">
                    <a:solidFill>
                      <a:srgbClr val="0C2B4A"/>
                    </a:solidFill>
                  </a:tcPr>
                </a:tc>
                <a:tc>
                  <a:txBody>
                    <a:bodyPr wrap="square"/>
                    <a:lstStyle/>
                    <a:p>
                      <a:r>
                        <a:rPr sz="1150" b="1">
                          <a:solidFill>
                            <a:srgbClr val="FFFFFF"/>
                          </a:solidFill>
                        </a:rPr>
                        <a:t>Impact</a:t>
                      </a:r>
                    </a:p>
                  </a:txBody>
                  <a:tcPr anchor="ctr" marL="73152" marR="54864" marT="27432" marB="27432">
                    <a:solidFill>
                      <a:srgbClr val="0C2B4A"/>
                    </a:solidFill>
                  </a:tcPr>
                </a:tc>
              </a:tr>
              <a:tr h="630936">
                <a:tc>
                  <a:txBody>
                    <a:bodyPr wrap="square"/>
                    <a:lstStyle/>
                    <a:p>
                      <a:r>
                        <a:rPr sz="1100" b="1">
                          <a:solidFill>
                            <a:srgbClr val="0C2B4A"/>
                          </a:solidFill>
                        </a:rPr>
                        <a:t>Enrol a new student (add a row)</a:t>
                      </a:r>
                    </a:p>
                  </a:txBody>
                  <a:tcPr anchor="ctr" marL="73152" marR="54864" marT="27432" marB="27432">
                    <a:solidFill>
                      <a:srgbClr val="FFFFFF"/>
                    </a:solidFill>
                  </a:tcPr>
                </a:tc>
                <a:tc>
                  <a:txBody>
                    <a:bodyPr wrap="square"/>
                    <a:lstStyle/>
                    <a:p>
                      <a:r>
                        <a:rPr sz="1100">
                          <a:solidFill>
                            <a:srgbClr val="1A1A1A"/>
                          </a:solidFill>
                        </a:rPr>
                        <a:t>Instance</a:t>
                      </a:r>
                    </a:p>
                  </a:txBody>
                  <a:tcPr anchor="ctr" marL="73152" marR="54864" marT="27432" marB="27432">
                    <a:solidFill>
                      <a:srgbClr val="FFFFFF"/>
                    </a:solidFill>
                  </a:tcPr>
                </a:tc>
                <a:tc>
                  <a:txBody>
                    <a:bodyPr wrap="square"/>
                    <a:lstStyle/>
                    <a:p>
                      <a:r>
                        <a:rPr sz="1100">
                          <a:solidFill>
                            <a:srgbClr val="1A1A1A"/>
                          </a:solidFill>
                        </a:rPr>
                        <a:t>constantly</a:t>
                      </a:r>
                    </a:p>
                  </a:txBody>
                  <a:tcPr anchor="ctr" marL="73152" marR="54864" marT="27432" marB="27432">
                    <a:solidFill>
                      <a:srgbClr val="FFFFFF"/>
                    </a:solidFill>
                  </a:tcPr>
                </a:tc>
                <a:tc>
                  <a:txBody>
                    <a:bodyPr wrap="square"/>
                    <a:lstStyle/>
                    <a:p>
                      <a:r>
                        <a:rPr sz="1100">
                          <a:solidFill>
                            <a:srgbClr val="1A1A1A"/>
                          </a:solidFill>
                        </a:rPr>
                        <a:t>tiny — just more data</a:t>
                      </a:r>
                    </a:p>
                  </a:txBody>
                  <a:tcPr anchor="ctr" marL="73152" marR="54864" marT="27432" marB="27432">
                    <a:solidFill>
                      <a:srgbClr val="FFFFFF"/>
                    </a:solidFill>
                  </a:tcPr>
                </a:tc>
              </a:tr>
              <a:tr h="630936">
                <a:tc>
                  <a:txBody>
                    <a:bodyPr wrap="square"/>
                    <a:lstStyle/>
                    <a:p>
                      <a:r>
                        <a:rPr sz="1100" b="1">
                          <a:solidFill>
                            <a:srgbClr val="0C2B4A"/>
                          </a:solidFill>
                        </a:rPr>
                        <a:t>A student drops out (delete a row)</a:t>
                      </a:r>
                    </a:p>
                  </a:txBody>
                  <a:tcPr anchor="ctr" marL="73152" marR="54864" marT="27432" marB="27432">
                    <a:solidFill>
                      <a:srgbClr val="EEF3F8"/>
                    </a:solidFill>
                  </a:tcPr>
                </a:tc>
                <a:tc>
                  <a:txBody>
                    <a:bodyPr wrap="square"/>
                    <a:lstStyle/>
                    <a:p>
                      <a:r>
                        <a:rPr sz="1100">
                          <a:solidFill>
                            <a:srgbClr val="1A1A1A"/>
                          </a:solidFill>
                        </a:rPr>
                        <a:t>Instance</a:t>
                      </a:r>
                    </a:p>
                  </a:txBody>
                  <a:tcPr anchor="ctr" marL="73152" marR="54864" marT="27432" marB="27432">
                    <a:solidFill>
                      <a:srgbClr val="EEF3F8"/>
                    </a:solidFill>
                  </a:tcPr>
                </a:tc>
                <a:tc>
                  <a:txBody>
                    <a:bodyPr wrap="square"/>
                    <a:lstStyle/>
                    <a:p>
                      <a:r>
                        <a:rPr sz="1100">
                          <a:solidFill>
                            <a:srgbClr val="1A1A1A"/>
                          </a:solidFill>
                        </a:rPr>
                        <a:t>daily</a:t>
                      </a:r>
                    </a:p>
                  </a:txBody>
                  <a:tcPr anchor="ctr" marL="73152" marR="54864" marT="27432" marB="27432">
                    <a:solidFill>
                      <a:srgbClr val="EEF3F8"/>
                    </a:solidFill>
                  </a:tcPr>
                </a:tc>
                <a:tc>
                  <a:txBody>
                    <a:bodyPr wrap="square"/>
                    <a:lstStyle/>
                    <a:p>
                      <a:r>
                        <a:rPr sz="1100">
                          <a:solidFill>
                            <a:srgbClr val="1A1A1A"/>
                          </a:solidFill>
                        </a:rPr>
                        <a:t>tiny</a:t>
                      </a:r>
                    </a:p>
                  </a:txBody>
                  <a:tcPr anchor="ctr" marL="73152" marR="54864" marT="27432" marB="27432">
                    <a:solidFill>
                      <a:srgbClr val="EEF3F8"/>
                    </a:solidFill>
                  </a:tcPr>
                </a:tc>
              </a:tr>
              <a:tr h="630936">
                <a:tc>
                  <a:txBody>
                    <a:bodyPr wrap="square"/>
                    <a:lstStyle/>
                    <a:p>
                      <a:r>
                        <a:rPr sz="1100" b="1">
                          <a:solidFill>
                            <a:srgbClr val="0C2B4A"/>
                          </a:solidFill>
                        </a:rPr>
                        <a:t>Update a student's marks</a:t>
                      </a:r>
                    </a:p>
                  </a:txBody>
                  <a:tcPr anchor="ctr" marL="73152" marR="54864" marT="27432" marB="27432">
                    <a:solidFill>
                      <a:srgbClr val="FFFFFF"/>
                    </a:solidFill>
                  </a:tcPr>
                </a:tc>
                <a:tc>
                  <a:txBody>
                    <a:bodyPr wrap="square"/>
                    <a:lstStyle/>
                    <a:p>
                      <a:r>
                        <a:rPr sz="1100">
                          <a:solidFill>
                            <a:srgbClr val="1A1A1A"/>
                          </a:solidFill>
                        </a:rPr>
                        <a:t>Instance</a:t>
                      </a:r>
                    </a:p>
                  </a:txBody>
                  <a:tcPr anchor="ctr" marL="73152" marR="54864" marT="27432" marB="27432">
                    <a:solidFill>
                      <a:srgbClr val="FFFFFF"/>
                    </a:solidFill>
                  </a:tcPr>
                </a:tc>
                <a:tc>
                  <a:txBody>
                    <a:bodyPr wrap="square"/>
                    <a:lstStyle/>
                    <a:p>
                      <a:r>
                        <a:rPr sz="1100">
                          <a:solidFill>
                            <a:srgbClr val="1A1A1A"/>
                          </a:solidFill>
                        </a:rPr>
                        <a:t>constantly</a:t>
                      </a:r>
                    </a:p>
                  </a:txBody>
                  <a:tcPr anchor="ctr" marL="73152" marR="54864" marT="27432" marB="27432">
                    <a:solidFill>
                      <a:srgbClr val="FFFFFF"/>
                    </a:solidFill>
                  </a:tcPr>
                </a:tc>
                <a:tc>
                  <a:txBody>
                    <a:bodyPr wrap="square"/>
                    <a:lstStyle/>
                    <a:p>
                      <a:r>
                        <a:rPr sz="1100">
                          <a:solidFill>
                            <a:srgbClr val="1A1A1A"/>
                          </a:solidFill>
                        </a:rPr>
                        <a:t>tiny</a:t>
                      </a:r>
                    </a:p>
                  </a:txBody>
                  <a:tcPr anchor="ctr" marL="73152" marR="54864" marT="27432" marB="27432">
                    <a:solidFill>
                      <a:srgbClr val="FFFFFF"/>
                    </a:solidFill>
                  </a:tcPr>
                </a:tc>
              </a:tr>
              <a:tr h="630936">
                <a:tc>
                  <a:txBody>
                    <a:bodyPr wrap="square"/>
                    <a:lstStyle/>
                    <a:p>
                      <a:r>
                        <a:rPr sz="1100" b="1">
                          <a:solidFill>
                            <a:srgbClr val="0C2B4A"/>
                          </a:solidFill>
                        </a:rPr>
                        <a:t>Add a 'phone' column to Student</a:t>
                      </a:r>
                    </a:p>
                  </a:txBody>
                  <a:tcPr anchor="ctr" marL="73152" marR="54864" marT="27432" marB="27432">
                    <a:solidFill>
                      <a:srgbClr val="EEF3F8"/>
                    </a:solidFill>
                  </a:tcPr>
                </a:tc>
                <a:tc>
                  <a:txBody>
                    <a:bodyPr wrap="square"/>
                    <a:lstStyle/>
                    <a:p>
                      <a:r>
                        <a:rPr sz="1100">
                          <a:solidFill>
                            <a:srgbClr val="1A1A1A"/>
                          </a:solidFill>
                        </a:rPr>
                        <a:t>Schema</a:t>
                      </a:r>
                    </a:p>
                  </a:txBody>
                  <a:tcPr anchor="ctr" marL="73152" marR="54864" marT="27432" marB="27432">
                    <a:solidFill>
                      <a:srgbClr val="EEF3F8"/>
                    </a:solidFill>
                  </a:tcPr>
                </a:tc>
                <a:tc>
                  <a:txBody>
                    <a:bodyPr wrap="square"/>
                    <a:lstStyle/>
                    <a:p>
                      <a:r>
                        <a:rPr sz="1100">
                          <a:solidFill>
                            <a:srgbClr val="1A1A1A"/>
                          </a:solidFill>
                        </a:rPr>
                        <a:t>rarely</a:t>
                      </a:r>
                    </a:p>
                  </a:txBody>
                  <a:tcPr anchor="ctr" marL="73152" marR="54864" marT="27432" marB="27432">
                    <a:solidFill>
                      <a:srgbClr val="EEF3F8"/>
                    </a:solidFill>
                  </a:tcPr>
                </a:tc>
                <a:tc>
                  <a:txBody>
                    <a:bodyPr wrap="square"/>
                    <a:lstStyle/>
                    <a:p>
                      <a:r>
                        <a:rPr sz="1100">
                          <a:solidFill>
                            <a:srgbClr val="1A1A1A"/>
                          </a:solidFill>
                        </a:rPr>
                        <a:t>big — design change, apps may need updating</a:t>
                      </a:r>
                    </a:p>
                  </a:txBody>
                  <a:tcPr anchor="ctr" marL="73152" marR="54864" marT="27432" marB="27432">
                    <a:solidFill>
                      <a:srgbClr val="EEF3F8"/>
                    </a:solidFill>
                  </a:tcPr>
                </a:tc>
              </a:tr>
              <a:tr h="630936">
                <a:tc>
                  <a:txBody>
                    <a:bodyPr wrap="square"/>
                    <a:lstStyle/>
                    <a:p>
                      <a:r>
                        <a:rPr sz="1100" b="1">
                          <a:solidFill>
                            <a:srgbClr val="0C2B4A"/>
                          </a:solidFill>
                        </a:rPr>
                        <a:t>Create a new Scholarship table</a:t>
                      </a:r>
                    </a:p>
                  </a:txBody>
                  <a:tcPr anchor="ctr" marL="73152" marR="54864" marT="27432" marB="27432">
                    <a:solidFill>
                      <a:srgbClr val="FFFFFF"/>
                    </a:solidFill>
                  </a:tcPr>
                </a:tc>
                <a:tc>
                  <a:txBody>
                    <a:bodyPr wrap="square"/>
                    <a:lstStyle/>
                    <a:p>
                      <a:r>
                        <a:rPr sz="1100">
                          <a:solidFill>
                            <a:srgbClr val="1A1A1A"/>
                          </a:solidFill>
                        </a:rPr>
                        <a:t>Schema</a:t>
                      </a:r>
                    </a:p>
                  </a:txBody>
                  <a:tcPr anchor="ctr" marL="73152" marR="54864" marT="27432" marB="27432">
                    <a:solidFill>
                      <a:srgbClr val="FFFFFF"/>
                    </a:solidFill>
                  </a:tcPr>
                </a:tc>
                <a:tc>
                  <a:txBody>
                    <a:bodyPr wrap="square"/>
                    <a:lstStyle/>
                    <a:p>
                      <a:r>
                        <a:rPr sz="1100">
                          <a:solidFill>
                            <a:srgbClr val="1A1A1A"/>
                          </a:solidFill>
                        </a:rPr>
                        <a:t>rarely</a:t>
                      </a:r>
                    </a:p>
                  </a:txBody>
                  <a:tcPr anchor="ctr" marL="73152" marR="54864" marT="27432" marB="27432">
                    <a:solidFill>
                      <a:srgbClr val="FFFFFF"/>
                    </a:solidFill>
                  </a:tcPr>
                </a:tc>
                <a:tc>
                  <a:txBody>
                    <a:bodyPr wrap="square"/>
                    <a:lstStyle/>
                    <a:p>
                      <a:r>
                        <a:rPr sz="1100">
                          <a:solidFill>
                            <a:srgbClr val="1A1A1A"/>
                          </a:solidFill>
                        </a:rPr>
                        <a:t>big — new structure</a:t>
                      </a:r>
                    </a:p>
                  </a:txBody>
                  <a:tcPr anchor="ctr" marL="73152" marR="54864" marT="27432" marB="27432">
                    <a:solidFill>
                      <a:srgbClr val="FFFFFF"/>
                    </a:solidFill>
                  </a:tcPr>
                </a:tc>
              </a:tr>
              <a:tr h="630936">
                <a:tc>
                  <a:txBody>
                    <a:bodyPr wrap="square"/>
                    <a:lstStyle/>
                    <a:p>
                      <a:r>
                        <a:rPr sz="1100" b="1">
                          <a:solidFill>
                            <a:srgbClr val="0C2B4A"/>
                          </a:solidFill>
                        </a:rPr>
                        <a:t>Widen the roll-number type</a:t>
                      </a:r>
                    </a:p>
                  </a:txBody>
                  <a:tcPr anchor="ctr" marL="73152" marR="54864" marT="27432" marB="27432">
                    <a:solidFill>
                      <a:srgbClr val="EEF3F8"/>
                    </a:solidFill>
                  </a:tcPr>
                </a:tc>
                <a:tc>
                  <a:txBody>
                    <a:bodyPr wrap="square"/>
                    <a:lstStyle/>
                    <a:p>
                      <a:r>
                        <a:rPr sz="1100">
                          <a:solidFill>
                            <a:srgbClr val="1A1A1A"/>
                          </a:solidFill>
                        </a:rPr>
                        <a:t>Schema</a:t>
                      </a:r>
                    </a:p>
                  </a:txBody>
                  <a:tcPr anchor="ctr" marL="73152" marR="54864" marT="27432" marB="27432">
                    <a:solidFill>
                      <a:srgbClr val="EEF3F8"/>
                    </a:solidFill>
                  </a:tcPr>
                </a:tc>
                <a:tc>
                  <a:txBody>
                    <a:bodyPr wrap="square"/>
                    <a:lstStyle/>
                    <a:p>
                      <a:r>
                        <a:rPr sz="1100">
                          <a:solidFill>
                            <a:srgbClr val="1A1A1A"/>
                          </a:solidFill>
                        </a:rPr>
                        <a:t>very rarely</a:t>
                      </a:r>
                    </a:p>
                  </a:txBody>
                  <a:tcPr anchor="ctr" marL="73152" marR="54864" marT="27432" marB="27432">
                    <a:solidFill>
                      <a:srgbClr val="EEF3F8"/>
                    </a:solidFill>
                  </a:tcPr>
                </a:tc>
                <a:tc>
                  <a:txBody>
                    <a:bodyPr wrap="square"/>
                    <a:lstStyle/>
                    <a:p>
                      <a:r>
                        <a:rPr sz="1100">
                          <a:solidFill>
                            <a:srgbClr val="1A1A1A"/>
                          </a:solidFill>
                        </a:rPr>
                        <a:t>big — a migration</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One stable schema (the design) carries an endless succession of instances (the data). Row changes = instance; structure changes = schema.</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26 / 74</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 · CONCEPT 3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Three-Schema Architecture</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The three-schema architecture describes the same database at three levels: external (per-user views), conceptual (the whole logical structure), and internal (physical storage). Mappings between the levels hide detail.</a:t>
            </a:r>
          </a:p>
          <a:p>
            <a:pPr>
              <a:spcAft>
                <a:spcPts val="500"/>
              </a:spcAft>
            </a:pPr>
            <a:r>
              <a:rPr sz="1200" b="1">
                <a:solidFill>
                  <a:srgbClr val="185FA5"/>
                </a:solidFill>
              </a:rPr>
              <a:t>HOW IT WORKS</a:t>
            </a:r>
          </a:p>
          <a:p>
            <a:pPr>
              <a:spcAft>
                <a:spcPts val="600"/>
              </a:spcAft>
            </a:pPr>
            <a:r>
              <a:rPr sz="1400">
                <a:solidFill>
                  <a:srgbClr val="1A1A1A"/>
                </a:solidFill>
              </a:rPr>
              <a:t>•  External level — per-user views (a student sees only their own marks); a database has many views.</a:t>
            </a:r>
          </a:p>
          <a:p>
            <a:pPr>
              <a:spcAft>
                <a:spcPts val="600"/>
              </a:spcAft>
            </a:pPr>
            <a:r>
              <a:rPr sz="1400">
                <a:solidFill>
                  <a:srgbClr val="1A1A1A"/>
                </a:solidFill>
              </a:rPr>
              <a:t>•  Conceptual level — one complete logical schema: all entities, relationships, constraints, no storage detail.</a:t>
            </a:r>
          </a:p>
          <a:p>
            <a:pPr>
              <a:spcAft>
                <a:spcPts val="600"/>
              </a:spcAft>
            </a:pPr>
            <a:r>
              <a:rPr sz="1400">
                <a:solidFill>
                  <a:srgbClr val="1A1A1A"/>
                </a:solidFill>
              </a:rPr>
              <a:t>•  Internal level — physical storage: files, pages, indexes.</a:t>
            </a:r>
          </a:p>
          <a:p>
            <a:pPr>
              <a:spcAft>
                <a:spcPts val="600"/>
              </a:spcAft>
            </a:pPr>
            <a:r>
              <a:rPr sz="1400">
                <a:solidFill>
                  <a:srgbClr val="1A1A1A"/>
                </a:solidFill>
              </a:rPr>
              <a:t>•  Mappings (external/conceptual, conceptual/internal) hide each level from the one above → enable data independence.</a:t>
            </a:r>
          </a:p>
        </p:txBody>
      </p:sp>
      <p:pic>
        <p:nvPicPr>
          <p:cNvPr id="6" name="Picture 5" descr="s2_three_schema.png"/>
          <p:cNvPicPr>
            <a:picLocks noChangeAspect="1"/>
          </p:cNvPicPr>
          <p:nvPr/>
        </p:nvPicPr>
        <p:blipFill>
          <a:blip r:embed="rId2"/>
          <a:stretch>
            <a:fillRect/>
          </a:stretch>
        </p:blipFill>
        <p:spPr>
          <a:xfrm>
            <a:off x="6355080" y="2126359"/>
            <a:ext cx="5532120" cy="3382522"/>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View → whole → storage.</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27 / 74</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 · CONCEPT 3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Three-Schema Architecture</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a:t>
            </a:r>
          </a:p>
          <a:p>
            <a:pPr>
              <a:spcBef>
                <a:spcPts val="300"/>
              </a:spcBef>
            </a:pPr>
            <a:r>
              <a:rPr sz="1400">
                <a:solidFill>
                  <a:srgbClr val="1A1A1A"/>
                </a:solidFill>
              </a:rPr>
              <a:t>The college result system through three pairs of eyes: a student sees only their own marksheet (external view); the exam section's system holds every student, subject, and mark with their relationships (conceptual); the IT team knows it's indexed files on a server (internal). Each level is shielded from the others.</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"There are many conceptual schemas." No — many external views, exactly ONE conceptual schema, one internal schema. The single conceptual schema is the shared source of truth.</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The three-schema architecture separates a database into: external level (per-user views, e.g. a student sees only their own marks), conceptual level (the whole logical database — entities, relationships, constraints), and internal level (physical storage — files and indexes). Mappings between levels hide lower-level detail and enable data independence.</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external schema/view · conceptual schema · internal schema · external/conceptual &amp; conceptual/internal mappings · separation of concerns</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28 / 74</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 · CONCEPT 3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college result system at all three levels</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2770909"/>
                <a:gridCol w="3463636"/>
                <a:gridCol w="5195454"/>
              </a:tblGrid>
              <a:tr h="736092">
                <a:tc>
                  <a:txBody>
                    <a:bodyPr wrap="square"/>
                    <a:lstStyle/>
                    <a:p>
                      <a:r>
                        <a:rPr sz="1150" b="1">
                          <a:solidFill>
                            <a:srgbClr val="FFFFFF"/>
                          </a:solidFill>
                        </a:rPr>
                        <a:t>Level</a:t>
                      </a:r>
                    </a:p>
                  </a:txBody>
                  <a:tcPr anchor="ctr" marL="73152" marR="54864" marT="27432" marB="27432">
                    <a:solidFill>
                      <a:srgbClr val="0C2B4A"/>
                    </a:solidFill>
                  </a:tcPr>
                </a:tc>
                <a:tc>
                  <a:txBody>
                    <a:bodyPr wrap="square"/>
                    <a:lstStyle/>
                    <a:p>
                      <a:r>
                        <a:rPr sz="1150" b="1">
                          <a:solidFill>
                            <a:srgbClr val="FFFFFF"/>
                          </a:solidFill>
                        </a:rPr>
                        <a:t>Who / what</a:t>
                      </a:r>
                    </a:p>
                  </a:txBody>
                  <a:tcPr anchor="ctr" marL="73152" marR="54864" marT="27432" marB="27432">
                    <a:solidFill>
                      <a:srgbClr val="0C2B4A"/>
                    </a:solidFill>
                  </a:tcPr>
                </a:tc>
                <a:tc>
                  <a:txBody>
                    <a:bodyPr wrap="square"/>
                    <a:lstStyle/>
                    <a:p>
                      <a:r>
                        <a:rPr sz="1150" b="1">
                          <a:solidFill>
                            <a:srgbClr val="FFFFFF"/>
                          </a:solidFill>
                        </a:rPr>
                        <a:t>What they see</a:t>
                      </a:r>
                    </a:p>
                  </a:txBody>
                  <a:tcPr anchor="ctr" marL="73152" marR="54864" marT="27432" marB="27432">
                    <a:solidFill>
                      <a:srgbClr val="0C2B4A"/>
                    </a:solidFill>
                  </a:tcPr>
                </a:tc>
              </a:tr>
              <a:tr h="736092">
                <a:tc>
                  <a:txBody>
                    <a:bodyPr wrap="square"/>
                    <a:lstStyle/>
                    <a:p>
                      <a:r>
                        <a:rPr sz="1100" b="1">
                          <a:solidFill>
                            <a:srgbClr val="0C2B4A"/>
                          </a:solidFill>
                        </a:rPr>
                        <a:t>External (view)</a:t>
                      </a:r>
                    </a:p>
                  </a:txBody>
                  <a:tcPr anchor="ctr" marL="73152" marR="54864" marT="27432" marB="27432">
                    <a:solidFill>
                      <a:srgbClr val="FFFFFF"/>
                    </a:solidFill>
                  </a:tcPr>
                </a:tc>
                <a:tc>
                  <a:txBody>
                    <a:bodyPr wrap="square"/>
                    <a:lstStyle/>
                    <a:p>
                      <a:r>
                        <a:rPr sz="1100">
                          <a:solidFill>
                            <a:srgbClr val="1A1A1A"/>
                          </a:solidFill>
                        </a:rPr>
                        <a:t>A student</a:t>
                      </a:r>
                    </a:p>
                  </a:txBody>
                  <a:tcPr anchor="ctr" marL="73152" marR="54864" marT="27432" marB="27432">
                    <a:solidFill>
                      <a:srgbClr val="FFFFFF"/>
                    </a:solidFill>
                  </a:tcPr>
                </a:tc>
                <a:tc>
                  <a:txBody>
                    <a:bodyPr wrap="square"/>
                    <a:lstStyle/>
                    <a:p>
                      <a:r>
                        <a:rPr sz="1100">
                          <a:solidFill>
                            <a:srgbClr val="1A1A1A"/>
                          </a:solidFill>
                        </a:rPr>
                        <a:t>only their own marksheet</a:t>
                      </a:r>
                    </a:p>
                  </a:txBody>
                  <a:tcPr anchor="ctr" marL="73152" marR="54864" marT="27432" marB="27432">
                    <a:solidFill>
                      <a:srgbClr val="FFFFFF"/>
                    </a:solidFill>
                  </a:tcPr>
                </a:tc>
              </a:tr>
              <a:tr h="736092">
                <a:tc>
                  <a:txBody>
                    <a:bodyPr wrap="square"/>
                    <a:lstStyle/>
                    <a:p>
                      <a:r>
                        <a:rPr sz="1100" b="1">
                          <a:solidFill>
                            <a:srgbClr val="0C2B4A"/>
                          </a:solidFill>
                        </a:rPr>
                        <a:t>External (view)</a:t>
                      </a:r>
                    </a:p>
                  </a:txBody>
                  <a:tcPr anchor="ctr" marL="73152" marR="54864" marT="27432" marB="27432">
                    <a:solidFill>
                      <a:srgbClr val="EEF3F8"/>
                    </a:solidFill>
                  </a:tcPr>
                </a:tc>
                <a:tc>
                  <a:txBody>
                    <a:bodyPr wrap="square"/>
                    <a:lstStyle/>
                    <a:p>
                      <a:r>
                        <a:rPr sz="1100">
                          <a:solidFill>
                            <a:srgbClr val="1A1A1A"/>
                          </a:solidFill>
                        </a:rPr>
                        <a:t>A teacher</a:t>
                      </a:r>
                    </a:p>
                  </a:txBody>
                  <a:tcPr anchor="ctr" marL="73152" marR="54864" marT="27432" marB="27432">
                    <a:solidFill>
                      <a:srgbClr val="EEF3F8"/>
                    </a:solidFill>
                  </a:tcPr>
                </a:tc>
                <a:tc>
                  <a:txBody>
                    <a:bodyPr wrap="square"/>
                    <a:lstStyle/>
                    <a:p>
                      <a:r>
                        <a:rPr sz="1100">
                          <a:solidFill>
                            <a:srgbClr val="1A1A1A"/>
                          </a:solidFill>
                        </a:rPr>
                        <a:t>only their class's marks</a:t>
                      </a:r>
                    </a:p>
                  </a:txBody>
                  <a:tcPr anchor="ctr" marL="73152" marR="54864" marT="27432" marB="27432">
                    <a:solidFill>
                      <a:srgbClr val="EEF3F8"/>
                    </a:solidFill>
                  </a:tcPr>
                </a:tc>
              </a:tr>
              <a:tr h="736092">
                <a:tc>
                  <a:txBody>
                    <a:bodyPr wrap="square"/>
                    <a:lstStyle/>
                    <a:p>
                      <a:r>
                        <a:rPr sz="1100" b="1">
                          <a:solidFill>
                            <a:srgbClr val="0C2B4A"/>
                          </a:solidFill>
                        </a:rPr>
                        <a:t>External (view)</a:t>
                      </a:r>
                    </a:p>
                  </a:txBody>
                  <a:tcPr anchor="ctr" marL="73152" marR="54864" marT="27432" marB="27432">
                    <a:solidFill>
                      <a:srgbClr val="FFFFFF"/>
                    </a:solidFill>
                  </a:tcPr>
                </a:tc>
                <a:tc>
                  <a:txBody>
                    <a:bodyPr wrap="square"/>
                    <a:lstStyle/>
                    <a:p>
                      <a:r>
                        <a:rPr sz="1100">
                          <a:solidFill>
                            <a:srgbClr val="1A1A1A"/>
                          </a:solidFill>
                        </a:rPr>
                        <a:t>The public portal</a:t>
                      </a:r>
                    </a:p>
                  </a:txBody>
                  <a:tcPr anchor="ctr" marL="73152" marR="54864" marT="27432" marB="27432">
                    <a:solidFill>
                      <a:srgbClr val="FFFFFF"/>
                    </a:solidFill>
                  </a:tcPr>
                </a:tc>
                <a:tc>
                  <a:txBody>
                    <a:bodyPr wrap="square"/>
                    <a:lstStyle/>
                    <a:p>
                      <a:r>
                        <a:rPr sz="1100">
                          <a:solidFill>
                            <a:srgbClr val="1A1A1A"/>
                          </a:solidFill>
                        </a:rPr>
                        <a:t>results by symbol number</a:t>
                      </a:r>
                    </a:p>
                  </a:txBody>
                  <a:tcPr anchor="ctr" marL="73152" marR="54864" marT="27432" marB="27432">
                    <a:solidFill>
                      <a:srgbClr val="FFFFFF"/>
                    </a:solidFill>
                  </a:tcPr>
                </a:tc>
              </a:tr>
              <a:tr h="736092">
                <a:tc>
                  <a:txBody>
                    <a:bodyPr wrap="square"/>
                    <a:lstStyle/>
                    <a:p>
                      <a:r>
                        <a:rPr sz="1100" b="1">
                          <a:solidFill>
                            <a:srgbClr val="0C2B4A"/>
                          </a:solidFill>
                        </a:rPr>
                        <a:t>Conceptual</a:t>
                      </a:r>
                    </a:p>
                  </a:txBody>
                  <a:tcPr anchor="ctr" marL="73152" marR="54864" marT="27432" marB="27432">
                    <a:solidFill>
                      <a:srgbClr val="EEF3F8"/>
                    </a:solidFill>
                  </a:tcPr>
                </a:tc>
                <a:tc>
                  <a:txBody>
                    <a:bodyPr wrap="square"/>
                    <a:lstStyle/>
                    <a:p>
                      <a:r>
                        <a:rPr sz="1100">
                          <a:solidFill>
                            <a:srgbClr val="1A1A1A"/>
                          </a:solidFill>
                        </a:rPr>
                        <a:t>The exam-section system</a:t>
                      </a:r>
                    </a:p>
                  </a:txBody>
                  <a:tcPr anchor="ctr" marL="73152" marR="54864" marT="27432" marB="27432">
                    <a:solidFill>
                      <a:srgbClr val="EEF3F8"/>
                    </a:solidFill>
                  </a:tcPr>
                </a:tc>
                <a:tc>
                  <a:txBody>
                    <a:bodyPr wrap="square"/>
                    <a:lstStyle/>
                    <a:p>
                      <a:r>
                        <a:rPr sz="1100">
                          <a:solidFill>
                            <a:srgbClr val="1A1A1A"/>
                          </a:solidFill>
                        </a:rPr>
                        <a:t>every student, subject, mark + relationships</a:t>
                      </a:r>
                    </a:p>
                  </a:txBody>
                  <a:tcPr anchor="ctr" marL="73152" marR="54864" marT="27432" marB="27432">
                    <a:solidFill>
                      <a:srgbClr val="EEF3F8"/>
                    </a:solidFill>
                  </a:tcPr>
                </a:tc>
              </a:tr>
              <a:tr h="736092">
                <a:tc>
                  <a:txBody>
                    <a:bodyPr wrap="square"/>
                    <a:lstStyle/>
                    <a:p>
                      <a:r>
                        <a:rPr sz="1100" b="1">
                          <a:solidFill>
                            <a:srgbClr val="0C2B4A"/>
                          </a:solidFill>
                        </a:rPr>
                        <a:t>Internal</a:t>
                      </a:r>
                    </a:p>
                  </a:txBody>
                  <a:tcPr anchor="ctr" marL="73152" marR="54864" marT="27432" marB="27432">
                    <a:solidFill>
                      <a:srgbClr val="FFFFFF"/>
                    </a:solidFill>
                  </a:tcPr>
                </a:tc>
                <a:tc>
                  <a:txBody>
                    <a:bodyPr wrap="square"/>
                    <a:lstStyle/>
                    <a:p>
                      <a:r>
                        <a:rPr sz="1100">
                          <a:solidFill>
                            <a:srgbClr val="1A1A1A"/>
                          </a:solidFill>
                        </a:rPr>
                        <a:t>The IT team</a:t>
                      </a:r>
                    </a:p>
                  </a:txBody>
                  <a:tcPr anchor="ctr" marL="73152" marR="54864" marT="27432" marB="27432">
                    <a:solidFill>
                      <a:srgbClr val="FFFFFF"/>
                    </a:solidFill>
                  </a:tcPr>
                </a:tc>
                <a:tc>
                  <a:txBody>
                    <a:bodyPr wrap="square"/>
                    <a:lstStyle/>
                    <a:p>
                      <a:r>
                        <a:rPr sz="1100">
                          <a:solidFill>
                            <a:srgbClr val="1A1A1A"/>
                          </a:solidFill>
                        </a:rPr>
                        <a:t>indexed files &amp; pages on a server</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Many external views, exactly ONE conceptual schema (the shared source of truth), one internal schema. The mappings between levels give data independence.</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29 / 74</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 · CONCEPT 4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Data Independence</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Data independence is the ability to change the database at one level without changing the levels above. Logical = change the conceptual schema without breaking external views; physical = change storage without changing the conceptual schema.</a:t>
            </a:r>
          </a:p>
          <a:p>
            <a:pPr>
              <a:spcAft>
                <a:spcPts val="500"/>
              </a:spcAft>
            </a:pPr>
            <a:r>
              <a:rPr sz="1200" b="1">
                <a:solidFill>
                  <a:srgbClr val="185FA5"/>
                </a:solidFill>
              </a:rPr>
              <a:t>HOW IT WORKS</a:t>
            </a:r>
          </a:p>
          <a:p>
            <a:pPr>
              <a:spcAft>
                <a:spcPts val="600"/>
              </a:spcAft>
            </a:pPr>
            <a:r>
              <a:rPr sz="1400">
                <a:solidFill>
                  <a:srgbClr val="1A1A1A"/>
                </a:solidFill>
              </a:rPr>
              <a:t>•  Logical independence — add a column/table without breaking views that don't use it; harder to achieve.</a:t>
            </a:r>
          </a:p>
          <a:p>
            <a:pPr>
              <a:spcAft>
                <a:spcPts val="600"/>
              </a:spcAft>
            </a:pPr>
            <a:r>
              <a:rPr sz="1400">
                <a:solidFill>
                  <a:srgbClr val="1A1A1A"/>
                </a:solidFill>
              </a:rPr>
              <a:t>•  Physical independence — move to SSDs, add an index, reorganize files without changing the logical schema; easier.</a:t>
            </a:r>
          </a:p>
          <a:p>
            <a:pPr>
              <a:spcAft>
                <a:spcPts val="600"/>
              </a:spcAft>
            </a:pPr>
            <a:r>
              <a:rPr sz="1400">
                <a:solidFill>
                  <a:srgbClr val="1A1A1A"/>
                </a:solidFill>
              </a:rPr>
              <a:t>•  It is the payoff of the three-schema architecture and its mappings.</a:t>
            </a:r>
          </a:p>
          <a:p>
            <a:pPr>
              <a:spcAft>
                <a:spcPts val="600"/>
              </a:spcAft>
            </a:pPr>
            <a:r>
              <a:rPr sz="1400">
                <a:solidFill>
                  <a:srgbClr val="1A1A1A"/>
                </a:solidFill>
              </a:rPr>
              <a:t>•  Lets banks, telecoms, and portals upgrade infrastructure without rewriting every app.</a:t>
            </a:r>
          </a:p>
        </p:txBody>
      </p:sp>
      <p:pic>
        <p:nvPicPr>
          <p:cNvPr id="6" name="Picture 5" descr="s2_data_independence.png"/>
          <p:cNvPicPr>
            <a:picLocks noChangeAspect="1"/>
          </p:cNvPicPr>
          <p:nvPr/>
        </p:nvPicPr>
        <p:blipFill>
          <a:blip r:embed="rId2"/>
          <a:stretch>
            <a:fillRect/>
          </a:stretch>
        </p:blipFill>
        <p:spPr>
          <a:xfrm>
            <a:off x="6355080" y="2444902"/>
            <a:ext cx="5532120" cy="2745435"/>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Logical = change the design safely; physical = change the storage safely.</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30 / 74</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 · CONCEPT 4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Data Independence</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a:t>
            </a:r>
          </a:p>
          <a:p>
            <a:pPr>
              <a:spcBef>
                <a:spcPts val="300"/>
              </a:spcBef>
            </a:pPr>
            <a:r>
              <a:rPr sz="1400">
                <a:solidFill>
                  <a:srgbClr val="1A1A1A"/>
                </a:solidFill>
              </a:rPr>
              <a:t>One night the admin migrates the exam database to faster SSDs and adds an index; the next morning every app and user works exactly as before — nobody noticed. That invisible change is physical data independence, and it's why the college could move servers without breaking the student portal.</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"Any change to the database breaks the apps." With data independence, storage changes (physical) and even design additions (logical) leave dependent views and apps working untouched.</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Logical data independence is the ability to change the conceptual schema (e.g. add a column or table) without changing external views or the applications using them. Physical data independence is the ability to change physical storage (e.g. add an index, move to SSDs) without changing the conceptual schema. The three-schema architecture provides both; logical independence is harder to achieve.</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data independence · logical (change the design safely) · physical (change the storage safely)</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31 / 74</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 · CONCEPT 4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A change → which independence → who notices</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4572000"/>
                <a:gridCol w="2637692"/>
                <a:gridCol w="4220307"/>
              </a:tblGrid>
              <a:tr h="630936">
                <a:tc>
                  <a:txBody>
                    <a:bodyPr wrap="square"/>
                    <a:lstStyle/>
                    <a:p>
                      <a:r>
                        <a:rPr sz="1150" b="1">
                          <a:solidFill>
                            <a:srgbClr val="FFFFFF"/>
                          </a:solidFill>
                        </a:rPr>
                        <a:t>Change made</a:t>
                      </a:r>
                    </a:p>
                  </a:txBody>
                  <a:tcPr anchor="ctr" marL="73152" marR="54864" marT="27432" marB="27432">
                    <a:solidFill>
                      <a:srgbClr val="0C2B4A"/>
                    </a:solidFill>
                  </a:tcPr>
                </a:tc>
                <a:tc>
                  <a:txBody>
                    <a:bodyPr wrap="square"/>
                    <a:lstStyle/>
                    <a:p>
                      <a:r>
                        <a:rPr sz="1150" b="1">
                          <a:solidFill>
                            <a:srgbClr val="FFFFFF"/>
                          </a:solidFill>
                        </a:rPr>
                        <a:t>Type</a:t>
                      </a:r>
                    </a:p>
                  </a:txBody>
                  <a:tcPr anchor="ctr" marL="73152" marR="54864" marT="27432" marB="27432">
                    <a:solidFill>
                      <a:srgbClr val="0C2B4A"/>
                    </a:solidFill>
                  </a:tcPr>
                </a:tc>
                <a:tc>
                  <a:txBody>
                    <a:bodyPr wrap="square"/>
                    <a:lstStyle/>
                    <a:p>
                      <a:r>
                        <a:rPr sz="1150" b="1">
                          <a:solidFill>
                            <a:srgbClr val="FFFFFF"/>
                          </a:solidFill>
                        </a:rPr>
                        <a:t>Do apps / views break?</a:t>
                      </a:r>
                    </a:p>
                  </a:txBody>
                  <a:tcPr anchor="ctr" marL="73152" marR="54864" marT="27432" marB="27432">
                    <a:solidFill>
                      <a:srgbClr val="0C2B4A"/>
                    </a:solidFill>
                  </a:tcPr>
                </a:tc>
              </a:tr>
              <a:tr h="630936">
                <a:tc>
                  <a:txBody>
                    <a:bodyPr wrap="square"/>
                    <a:lstStyle/>
                    <a:p>
                      <a:r>
                        <a:rPr sz="1100" b="1">
                          <a:solidFill>
                            <a:srgbClr val="0C2B4A"/>
                          </a:solidFill>
                        </a:rPr>
                        <a:t>Move the database to faster SSDs</a:t>
                      </a:r>
                    </a:p>
                  </a:txBody>
                  <a:tcPr anchor="ctr" marL="73152" marR="54864" marT="27432" marB="27432">
                    <a:solidFill>
                      <a:srgbClr val="FFFFFF"/>
                    </a:solidFill>
                  </a:tcPr>
                </a:tc>
                <a:tc>
                  <a:txBody>
                    <a:bodyPr wrap="square"/>
                    <a:lstStyle/>
                    <a:p>
                      <a:r>
                        <a:rPr sz="1100">
                          <a:solidFill>
                            <a:srgbClr val="1A1A1A"/>
                          </a:solidFill>
                        </a:rPr>
                        <a:t>Physical</a:t>
                      </a:r>
                    </a:p>
                  </a:txBody>
                  <a:tcPr anchor="ctr" marL="73152" marR="54864" marT="27432" marB="27432">
                    <a:solidFill>
                      <a:srgbClr val="FFFFFF"/>
                    </a:solidFill>
                  </a:tcPr>
                </a:tc>
                <a:tc>
                  <a:txBody>
                    <a:bodyPr wrap="square"/>
                    <a:lstStyle/>
                    <a:p>
                      <a:r>
                        <a:rPr sz="1100">
                          <a:solidFill>
                            <a:srgbClr val="1A1A1A"/>
                          </a:solidFill>
                        </a:rPr>
                        <a:t>No — nobody notices</a:t>
                      </a:r>
                    </a:p>
                  </a:txBody>
                  <a:tcPr anchor="ctr" marL="73152" marR="54864" marT="27432" marB="27432">
                    <a:solidFill>
                      <a:srgbClr val="FFFFFF"/>
                    </a:solidFill>
                  </a:tcPr>
                </a:tc>
              </a:tr>
              <a:tr h="630936">
                <a:tc>
                  <a:txBody>
                    <a:bodyPr wrap="square"/>
                    <a:lstStyle/>
                    <a:p>
                      <a:r>
                        <a:rPr sz="1100" b="1">
                          <a:solidFill>
                            <a:srgbClr val="0C2B4A"/>
                          </a:solidFill>
                        </a:rPr>
                        <a:t>Add an index to speed a query</a:t>
                      </a:r>
                    </a:p>
                  </a:txBody>
                  <a:tcPr anchor="ctr" marL="73152" marR="54864" marT="27432" marB="27432">
                    <a:solidFill>
                      <a:srgbClr val="EEF3F8"/>
                    </a:solidFill>
                  </a:tcPr>
                </a:tc>
                <a:tc>
                  <a:txBody>
                    <a:bodyPr wrap="square"/>
                    <a:lstStyle/>
                    <a:p>
                      <a:r>
                        <a:rPr sz="1100">
                          <a:solidFill>
                            <a:srgbClr val="1A1A1A"/>
                          </a:solidFill>
                        </a:rPr>
                        <a:t>Physical</a:t>
                      </a:r>
                    </a:p>
                  </a:txBody>
                  <a:tcPr anchor="ctr" marL="73152" marR="54864" marT="27432" marB="27432">
                    <a:solidFill>
                      <a:srgbClr val="EEF3F8"/>
                    </a:solidFill>
                  </a:tcPr>
                </a:tc>
                <a:tc>
                  <a:txBody>
                    <a:bodyPr wrap="square"/>
                    <a:lstStyle/>
                    <a:p>
                      <a:r>
                        <a:rPr sz="1100">
                          <a:solidFill>
                            <a:srgbClr val="1A1A1A"/>
                          </a:solidFill>
                        </a:rPr>
                        <a:t>No</a:t>
                      </a:r>
                    </a:p>
                  </a:txBody>
                  <a:tcPr anchor="ctr" marL="73152" marR="54864" marT="27432" marB="27432">
                    <a:solidFill>
                      <a:srgbClr val="EEF3F8"/>
                    </a:solidFill>
                  </a:tcPr>
                </a:tc>
              </a:tr>
              <a:tr h="630936">
                <a:tc>
                  <a:txBody>
                    <a:bodyPr wrap="square"/>
                    <a:lstStyle/>
                    <a:p>
                      <a:r>
                        <a:rPr sz="1100" b="1">
                          <a:solidFill>
                            <a:srgbClr val="0C2B4A"/>
                          </a:solidFill>
                        </a:rPr>
                        <a:t>Reorganize or compress old data files</a:t>
                      </a:r>
                    </a:p>
                  </a:txBody>
                  <a:tcPr anchor="ctr" marL="73152" marR="54864" marT="27432" marB="27432">
                    <a:solidFill>
                      <a:srgbClr val="FFFFFF"/>
                    </a:solidFill>
                  </a:tcPr>
                </a:tc>
                <a:tc>
                  <a:txBody>
                    <a:bodyPr wrap="square"/>
                    <a:lstStyle/>
                    <a:p>
                      <a:r>
                        <a:rPr sz="1100">
                          <a:solidFill>
                            <a:srgbClr val="1A1A1A"/>
                          </a:solidFill>
                        </a:rPr>
                        <a:t>Physical</a:t>
                      </a:r>
                    </a:p>
                  </a:txBody>
                  <a:tcPr anchor="ctr" marL="73152" marR="54864" marT="27432" marB="27432">
                    <a:solidFill>
                      <a:srgbClr val="FFFFFF"/>
                    </a:solidFill>
                  </a:tcPr>
                </a:tc>
                <a:tc>
                  <a:txBody>
                    <a:bodyPr wrap="square"/>
                    <a:lstStyle/>
                    <a:p>
                      <a:r>
                        <a:rPr sz="1100">
                          <a:solidFill>
                            <a:srgbClr val="1A1A1A"/>
                          </a:solidFill>
                        </a:rPr>
                        <a:t>No</a:t>
                      </a:r>
                    </a:p>
                  </a:txBody>
                  <a:tcPr anchor="ctr" marL="73152" marR="54864" marT="27432" marB="27432">
                    <a:solidFill>
                      <a:srgbClr val="FFFFFF"/>
                    </a:solidFill>
                  </a:tcPr>
                </a:tc>
              </a:tr>
              <a:tr h="630936">
                <a:tc>
                  <a:txBody>
                    <a:bodyPr wrap="square"/>
                    <a:lstStyle/>
                    <a:p>
                      <a:r>
                        <a:rPr sz="1100" b="1">
                          <a:solidFill>
                            <a:srgbClr val="0C2B4A"/>
                          </a:solidFill>
                        </a:rPr>
                        <a:t>Add a 'phone' column to Student</a:t>
                      </a:r>
                    </a:p>
                  </a:txBody>
                  <a:tcPr anchor="ctr" marL="73152" marR="54864" marT="27432" marB="27432">
                    <a:solidFill>
                      <a:srgbClr val="EEF3F8"/>
                    </a:solidFill>
                  </a:tcPr>
                </a:tc>
                <a:tc>
                  <a:txBody>
                    <a:bodyPr wrap="square"/>
                    <a:lstStyle/>
                    <a:p>
                      <a:r>
                        <a:rPr sz="1100">
                          <a:solidFill>
                            <a:srgbClr val="1A1A1A"/>
                          </a:solidFill>
                        </a:rPr>
                        <a:t>Logical</a:t>
                      </a:r>
                    </a:p>
                  </a:txBody>
                  <a:tcPr anchor="ctr" marL="73152" marR="54864" marT="27432" marB="27432">
                    <a:solidFill>
                      <a:srgbClr val="EEF3F8"/>
                    </a:solidFill>
                  </a:tcPr>
                </a:tc>
                <a:tc>
                  <a:txBody>
                    <a:bodyPr wrap="square"/>
                    <a:lstStyle/>
                    <a:p>
                      <a:r>
                        <a:rPr sz="1100">
                          <a:solidFill>
                            <a:srgbClr val="1A1A1A"/>
                          </a:solidFill>
                        </a:rPr>
                        <a:t>No — views not using it keep working</a:t>
                      </a:r>
                    </a:p>
                  </a:txBody>
                  <a:tcPr anchor="ctr" marL="73152" marR="54864" marT="27432" marB="27432">
                    <a:solidFill>
                      <a:srgbClr val="EEF3F8"/>
                    </a:solidFill>
                  </a:tcPr>
                </a:tc>
              </a:tr>
              <a:tr h="630936">
                <a:tc>
                  <a:txBody>
                    <a:bodyPr wrap="square"/>
                    <a:lstStyle/>
                    <a:p>
                      <a:r>
                        <a:rPr sz="1100" b="1">
                          <a:solidFill>
                            <a:srgbClr val="0C2B4A"/>
                          </a:solidFill>
                        </a:rPr>
                        <a:t>Add a new Scholarship table</a:t>
                      </a:r>
                    </a:p>
                  </a:txBody>
                  <a:tcPr anchor="ctr" marL="73152" marR="54864" marT="27432" marB="27432">
                    <a:solidFill>
                      <a:srgbClr val="FFFFFF"/>
                    </a:solidFill>
                  </a:tcPr>
                </a:tc>
                <a:tc>
                  <a:txBody>
                    <a:bodyPr wrap="square"/>
                    <a:lstStyle/>
                    <a:p>
                      <a:r>
                        <a:rPr sz="1100">
                          <a:solidFill>
                            <a:srgbClr val="1A1A1A"/>
                          </a:solidFill>
                        </a:rPr>
                        <a:t>Logical</a:t>
                      </a:r>
                    </a:p>
                  </a:txBody>
                  <a:tcPr anchor="ctr" marL="73152" marR="54864" marT="27432" marB="27432">
                    <a:solidFill>
                      <a:srgbClr val="FFFFFF"/>
                    </a:solidFill>
                  </a:tcPr>
                </a:tc>
                <a:tc>
                  <a:txBody>
                    <a:bodyPr wrap="square"/>
                    <a:lstStyle/>
                    <a:p>
                      <a:r>
                        <a:rPr sz="1100">
                          <a:solidFill>
                            <a:srgbClr val="1A1A1A"/>
                          </a:solidFill>
                        </a:rPr>
                        <a:t>No — existing views unaffected</a:t>
                      </a:r>
                    </a:p>
                  </a:txBody>
                  <a:tcPr anchor="ctr" marL="73152" marR="54864" marT="27432" marB="27432">
                    <a:solidFill>
                      <a:srgbClr val="FFFFFF"/>
                    </a:solidFill>
                  </a:tcPr>
                </a:tc>
              </a:tr>
              <a:tr h="630936">
                <a:tc>
                  <a:txBody>
                    <a:bodyPr wrap="square"/>
                    <a:lstStyle/>
                    <a:p>
                      <a:r>
                        <a:rPr sz="1100" b="1">
                          <a:solidFill>
                            <a:srgbClr val="0C2B4A"/>
                          </a:solidFill>
                        </a:rPr>
                        <a:t>Remove a column a view depends on</a:t>
                      </a:r>
                    </a:p>
                  </a:txBody>
                  <a:tcPr anchor="ctr" marL="73152" marR="54864" marT="27432" marB="27432">
                    <a:solidFill>
                      <a:srgbClr val="EEF3F8"/>
                    </a:solidFill>
                  </a:tcPr>
                </a:tc>
                <a:tc>
                  <a:txBody>
                    <a:bodyPr wrap="square"/>
                    <a:lstStyle/>
                    <a:p>
                      <a:r>
                        <a:rPr sz="1100">
                          <a:solidFill>
                            <a:srgbClr val="1A1A1A"/>
                          </a:solidFill>
                        </a:rPr>
                        <a:t>(breaks independence)</a:t>
                      </a:r>
                    </a:p>
                  </a:txBody>
                  <a:tcPr anchor="ctr" marL="73152" marR="54864" marT="27432" marB="27432">
                    <a:solidFill>
                      <a:srgbClr val="EEF3F8"/>
                    </a:solidFill>
                  </a:tcPr>
                </a:tc>
                <a:tc>
                  <a:txBody>
                    <a:bodyPr wrap="square"/>
                    <a:lstStyle/>
                    <a:p>
                      <a:r>
                        <a:rPr sz="1100">
                          <a:solidFill>
                            <a:srgbClr val="1A1A1A"/>
                          </a:solidFill>
                        </a:rPr>
                        <a:t>Yes — that view must change</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Physical independence (storage) is easy; logical independence (design additions) is harder. Removing something a view depends on is exactly where independence ends.</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32 / 74</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E1F5EE"/>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F6E56"/>
                </a:solidFill>
              </a:rPr>
              <a:t>🛠  IN-CLASS ACTIVITY  ·  THINK–PAIR–SHARE</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Draw your college's three schemas</a:t>
            </a:r>
          </a:p>
        </p:txBody>
      </p:sp>
      <p:sp>
        <p:nvSpPr>
          <p:cNvPr id="5" name="TextBox 4"/>
          <p:cNvSpPr txBox="1"/>
          <p:nvPr/>
        </p:nvSpPr>
        <p:spPr>
          <a:xfrm>
            <a:off x="640080" y="1600200"/>
            <a:ext cx="10881360" cy="3291840"/>
          </a:xfrm>
          <a:prstGeom prst="rect">
            <a:avLst/>
          </a:prstGeom>
          <a:noFill/>
        </p:spPr>
        <p:txBody>
          <a:bodyPr wrap="square">
            <a:spAutoFit/>
          </a:bodyPr>
          <a:lstStyle/>
          <a:p>
            <a:pPr>
              <a:spcAft>
                <a:spcPts val="700"/>
              </a:spcAft>
            </a:pPr>
            <a:r>
              <a:rPr sz="1550">
                <a:solidFill>
                  <a:srgbClr val="1A1A1A"/>
                </a:solidFill>
              </a:rPr>
              <a:t>•  In pairs (3 min): for the college result system, write what lives at EACH level.</a:t>
            </a:r>
          </a:p>
          <a:p>
            <a:pPr>
              <a:spcAft>
                <a:spcPts val="700"/>
              </a:spcAft>
            </a:pPr>
            <a:r>
              <a:rPr sz="1550">
                <a:solidFill>
                  <a:srgbClr val="1A1A1A"/>
                </a:solidFill>
              </a:rPr>
              <a:t>•  External — what does a student / teacher / admin each see?   Conceptual — the whole database.   Internal — how it's stored.</a:t>
            </a:r>
          </a:p>
          <a:p>
            <a:pPr>
              <a:spcAft>
                <a:spcPts val="700"/>
              </a:spcAft>
            </a:pPr>
            <a:r>
              <a:rPr sz="1550">
                <a:solidFill>
                  <a:srgbClr val="1A1A1A"/>
                </a:solidFill>
              </a:rPr>
              <a:t>•  Then name ONE change at the internal level that students would NOT notice — that's physical data independence.</a:t>
            </a:r>
          </a:p>
          <a:p>
            <a:pPr>
              <a:spcAft>
                <a:spcPts val="700"/>
              </a:spcAft>
            </a:pPr>
            <a:r>
              <a:rPr sz="1550">
                <a:solidFill>
                  <a:srgbClr val="1A1A1A"/>
                </a:solidFill>
              </a:rPr>
              <a:t>•  Share (2 min).</a:t>
            </a:r>
          </a:p>
        </p:txBody>
      </p:sp>
      <p:sp>
        <p:nvSpPr>
          <p:cNvPr id="6" name="Rounded Rectangle 5"/>
          <p:cNvSpPr/>
          <p:nvPr/>
        </p:nvSpPr>
        <p:spPr>
          <a:xfrm>
            <a:off x="640080" y="5029200"/>
            <a:ext cx="10881360" cy="1554480"/>
          </a:xfrm>
          <a:prstGeom prst="roundRect">
            <a:avLst/>
          </a:prstGeom>
          <a:solidFill>
            <a:srgbClr val="FFFFFF"/>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Expected answer</a:t>
            </a:r>
          </a:p>
          <a:p>
            <a:pPr>
              <a:spcBef>
                <a:spcPts val="300"/>
              </a:spcBef>
            </a:pPr>
            <a:r>
              <a:rPr sz="1400">
                <a:solidFill>
                  <a:srgbClr val="1A1A1A"/>
                </a:solidFill>
              </a:rPr>
              <a:t>External: a student sees only their marks, a teacher their class, admin everything. Conceptual: one logical database of all students/subjects/marks. Internal: indexed files on a server. A change students wouldn't notice: switching to SSDs, adding an index, or compressing old data.</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33 / 74</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S2 — Quick Check</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900"/>
              </a:spcBef>
            </a:pPr>
            <a:r>
              <a:rPr sz="1700" b="1">
                <a:solidFill>
                  <a:srgbClr val="0C2B4A"/>
                </a:solidFill>
              </a:rPr>
              <a:t>Q1.  Adding a column without breaking existing user views demonstrates:</a:t>
            </a:r>
          </a:p>
          <a:p>
            <a:pPr lvl="1"/>
            <a:r>
              <a:rPr sz="1500" b="1">
                <a:solidFill>
                  <a:srgbClr val="0F6E56"/>
                </a:solidFill>
              </a:rPr>
              <a:t>a) ✅ logical data independence   b) physical data independence   c) redundancy   d) an instance change</a:t>
            </a:r>
          </a:p>
          <a:p>
            <a:pPr>
              <a:spcBef>
                <a:spcPts val="900"/>
              </a:spcBef>
            </a:pPr>
            <a:r>
              <a:rPr sz="1700" b="1">
                <a:solidFill>
                  <a:srgbClr val="0C2B4A"/>
                </a:solidFill>
              </a:rPr>
              <a:t>Q2.  Which level is closest to physical storage?</a:t>
            </a:r>
          </a:p>
          <a:p>
            <a:pPr lvl="1"/>
            <a:r>
              <a:rPr sz="1500" b="1">
                <a:solidFill>
                  <a:srgbClr val="0F6E56"/>
                </a:solidFill>
              </a:rPr>
              <a:t>a) external   b) conceptual   c) ✅ internal   d) view</a:t>
            </a:r>
          </a:p>
          <a:p>
            <a:pPr lvl="1">
              <a:spcBef>
                <a:spcPts val="600"/>
              </a:spcBef>
            </a:pPr>
            <a:r>
              <a:rPr sz="1500" i="1">
                <a:solidFill>
                  <a:srgbClr val="1A1A1A"/>
                </a:solidFill>
              </a:rPr>
              <a:t>Discussion: give an everyday example of 'changing the inside without changing the outside.'</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34 / 74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C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C2B4A"/>
                </a:solidFill>
              </a:rPr>
              <a:t>S2 · SUMMARY  ·  [~2 MIN]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Summary &amp; Key Takeaways</a:t>
            </a:r>
          </a:p>
        </p:txBody>
      </p:sp>
      <p:sp>
        <p:nvSpPr>
          <p:cNvPr id="5" name="TextBox 4"/>
          <p:cNvSpPr txBox="1"/>
          <p:nvPr/>
        </p:nvSpPr>
        <p:spPr>
          <a:xfrm>
            <a:off x="640080" y="1554480"/>
            <a:ext cx="10972800" cy="2468880"/>
          </a:xfrm>
          <a:prstGeom prst="rect">
            <a:avLst/>
          </a:prstGeom>
          <a:noFill/>
        </p:spPr>
        <p:txBody>
          <a:bodyPr wrap="square">
            <a:spAutoFit/>
          </a:bodyPr>
          <a:lstStyle/>
          <a:p>
            <a:pPr>
              <a:spcAft>
                <a:spcPts val="800"/>
              </a:spcAft>
            </a:pPr>
            <a:r>
              <a:rPr sz="1500">
                <a:solidFill>
                  <a:srgbClr val="1A1A1A"/>
                </a:solidFill>
              </a:rPr>
              <a:t>1.  Data models describe data at three abstraction levels (conceptual → representational → physical).</a:t>
            </a:r>
          </a:p>
          <a:p>
            <a:pPr>
              <a:spcAft>
                <a:spcPts val="800"/>
              </a:spcAft>
            </a:pPr>
            <a:r>
              <a:rPr sz="1500">
                <a:solidFill>
                  <a:srgbClr val="1A1A1A"/>
                </a:solidFill>
              </a:rPr>
              <a:t>2.  Schema = structure (stable); instance = the current data (always changing).</a:t>
            </a:r>
          </a:p>
          <a:p>
            <a:pPr>
              <a:spcAft>
                <a:spcPts val="800"/>
              </a:spcAft>
            </a:pPr>
            <a:r>
              <a:rPr sz="1500">
                <a:solidFill>
                  <a:srgbClr val="1A1A1A"/>
                </a:solidFill>
              </a:rPr>
              <a:t>3.  The three-schema architecture (external / conceptual / internal) gives logical and physical data independence.</a:t>
            </a:r>
          </a:p>
        </p:txBody>
      </p:sp>
      <p:sp>
        <p:nvSpPr>
          <p:cNvPr id="6" name="Rounded Rectangle 5"/>
          <p:cNvSpPr/>
          <p:nvPr/>
        </p:nvSpPr>
        <p:spPr>
          <a:xfrm>
            <a:off x="640080" y="4160520"/>
            <a:ext cx="10972800" cy="123444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Why this matters</a:t>
            </a:r>
          </a:p>
          <a:p>
            <a:pPr>
              <a:spcBef>
                <a:spcPts val="300"/>
              </a:spcBef>
            </a:pPr>
            <a:r>
              <a:rPr sz="1350">
                <a:solidFill>
                  <a:srgbClr val="1A1A1A"/>
                </a:solidFill>
              </a:rPr>
              <a:t>Data independence is why banks, telecoms (Ntc/Ncell), and government portals can upgrade storage and infrastructure without rewriting every application. Systems built without it become unmaintainable — a real, expensive business risk.</a:t>
            </a:r>
          </a:p>
        </p:txBody>
      </p:sp>
      <p:sp>
        <p:nvSpPr>
          <p:cNvPr id="7" name="Rounded Rectangle 6"/>
          <p:cNvSpPr/>
          <p:nvPr/>
        </p:nvSpPr>
        <p:spPr>
          <a:xfrm>
            <a:off x="640080" y="5504688"/>
            <a:ext cx="10972800" cy="105156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Next</a:t>
            </a:r>
          </a:p>
          <a:p>
            <a:pPr>
              <a:spcBef>
                <a:spcPts val="300"/>
              </a:spcBef>
            </a:pPr>
            <a:r>
              <a:rPr sz="1350">
                <a:solidFill>
                  <a:srgbClr val="1A1A1A"/>
                </a:solidFill>
              </a:rPr>
              <a:t>S3 — the languages and interfaces we use to talk to a DBMS, and what's inside the DBMS box.</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35 / 74</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SESSION 3 · LECTURE HOUR 3 (OF 4)</a:t>
            </a:r>
          </a:p>
        </p:txBody>
      </p:sp>
      <p:sp>
        <p:nvSpPr>
          <p:cNvPr id="3" name="TextBox 2"/>
          <p:cNvSpPr txBox="1"/>
          <p:nvPr/>
        </p:nvSpPr>
        <p:spPr>
          <a:xfrm>
            <a:off x="822960" y="2286000"/>
            <a:ext cx="10515600" cy="1280160"/>
          </a:xfrm>
          <a:prstGeom prst="rect">
            <a:avLst/>
          </a:prstGeom>
          <a:noFill/>
        </p:spPr>
        <p:txBody>
          <a:bodyPr wrap="square">
            <a:spAutoFit/>
          </a:bodyPr>
          <a:lstStyle/>
          <a:p>
            <a:r>
              <a:rPr sz="3100" b="1">
                <a:solidFill>
                  <a:srgbClr val="FFFFFF"/>
                </a:solidFill>
              </a:rPr>
              <a:t>Database Languages, Interfaces &amp; the DBMS Environment</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SQL is several languages wearing one name: one to BUILD a database, another to USE it daily, another to PROTECT it. Which SQL keywords have you already seen?</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36 / 74</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 · CONCEPT 1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Database Languages (DDL / DML / DCL / TCL)</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SQL is a family of sub-languages, each with a job: DDL defines structure, DML queries/modifies data, DCL controls permissions, TCL controls transactions.</a:t>
            </a:r>
          </a:p>
          <a:p>
            <a:pPr>
              <a:spcAft>
                <a:spcPts val="500"/>
              </a:spcAft>
            </a:pPr>
            <a:r>
              <a:rPr sz="1200" b="1">
                <a:solidFill>
                  <a:srgbClr val="185FA5"/>
                </a:solidFill>
              </a:rPr>
              <a:t>HOW IT WORKS</a:t>
            </a:r>
          </a:p>
          <a:p>
            <a:pPr>
              <a:spcAft>
                <a:spcPts val="600"/>
              </a:spcAft>
            </a:pPr>
            <a:r>
              <a:rPr sz="1400">
                <a:solidFill>
                  <a:srgbClr val="1A1A1A"/>
                </a:solidFill>
              </a:rPr>
              <a:t>•  DDL — CREATE, ALTER, DROP (define / change structure).</a:t>
            </a:r>
          </a:p>
          <a:p>
            <a:pPr>
              <a:spcAft>
                <a:spcPts val="600"/>
              </a:spcAft>
            </a:pPr>
            <a:r>
              <a:rPr sz="1400">
                <a:solidFill>
                  <a:srgbClr val="1A1A1A"/>
                </a:solidFill>
              </a:rPr>
              <a:t>•  DML — SELECT, INSERT, UPDATE, DELETE (query / modify data).</a:t>
            </a:r>
          </a:p>
          <a:p>
            <a:pPr>
              <a:spcAft>
                <a:spcPts val="600"/>
              </a:spcAft>
            </a:pPr>
            <a:r>
              <a:rPr sz="1400">
                <a:solidFill>
                  <a:srgbClr val="1A1A1A"/>
                </a:solidFill>
              </a:rPr>
              <a:t>•  DCL — GRANT, REVOKE (permissions).</a:t>
            </a:r>
          </a:p>
          <a:p>
            <a:pPr>
              <a:spcAft>
                <a:spcPts val="600"/>
              </a:spcAft>
            </a:pPr>
            <a:r>
              <a:rPr sz="1400">
                <a:solidFill>
                  <a:srgbClr val="1A1A1A"/>
                </a:solidFill>
              </a:rPr>
              <a:t>•  TCL — COMMIT, ROLLBACK (confirm or undo a group of changes as a unit).</a:t>
            </a:r>
          </a:p>
        </p:txBody>
      </p:sp>
      <p:pic>
        <p:nvPicPr>
          <p:cNvPr id="6" name="Picture 5" descr="s3_languages.png"/>
          <p:cNvPicPr>
            <a:picLocks noChangeAspect="1"/>
          </p:cNvPicPr>
          <p:nvPr/>
        </p:nvPicPr>
        <p:blipFill>
          <a:blip r:embed="rId2"/>
          <a:stretch>
            <a:fillRect/>
          </a:stretch>
        </p:blipFill>
        <p:spPr>
          <a:xfrm>
            <a:off x="6355080" y="2444902"/>
            <a:ext cx="5532120" cy="2745435"/>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Define, Manipulate, Control, Transact.</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37 / 74</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 · CONCEPT 1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Database Languages (DDL / DML / DCL / TCL)</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a:t>
            </a:r>
          </a:p>
          <a:p>
            <a:pPr>
              <a:spcBef>
                <a:spcPts val="300"/>
              </a:spcBef>
            </a:pPr>
            <a:r>
              <a:rPr sz="1400">
                <a:solidFill>
                  <a:srgbClr val="1A1A1A"/>
                </a:solidFill>
              </a:rPr>
              <a:t>Building the result portal: the developer CREATEs the Student and Marks tables (DDL); staff INSERT/UPDATE marks (DML); the admin GRANTs the clerk access then REVOKEs it once published (DCL); each batch is COMMITted, or ROLLBACKed if a mistake is caught (TCL). One workflow, all four, all 'SQL'.</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"SQL is one single language." SQL bundles four sub-languages — CREATE is DDL, SELECT is DML, GRANT is DCL, COMMIT is TCL — all 'SQL' but doing very different jobs.</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DDL (CREATE/ALTER/DROP) defines structure; DML (SELECT/INSERT/UPDATE/DELETE) queries and modifies data; DCL (GRANT/REVOKE) controls permissions; TCL (COMMIT/ROLLBACK) controls transactions. SQL bundles all four sub-languages into one language.</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SQL · DDL (define) · DML (query/modify) · DCL (permissions) · TCL (transactions) · example verbs</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38 / 74</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 · CONCEPT 1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Every SQL command sorted into its sub-language</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2981739"/>
                <a:gridCol w="1822173"/>
                <a:gridCol w="3147391"/>
                <a:gridCol w="3478695"/>
              </a:tblGrid>
              <a:tr h="552069">
                <a:tc>
                  <a:txBody>
                    <a:bodyPr wrap="square"/>
                    <a:lstStyle/>
                    <a:p>
                      <a:r>
                        <a:rPr sz="1150" b="1">
                          <a:solidFill>
                            <a:srgbClr val="FFFFFF"/>
                          </a:solidFill>
                        </a:rPr>
                        <a:t>Command</a:t>
                      </a:r>
                    </a:p>
                  </a:txBody>
                  <a:tcPr anchor="ctr" marL="73152" marR="54864" marT="27432" marB="27432">
                    <a:solidFill>
                      <a:srgbClr val="0C2B4A"/>
                    </a:solidFill>
                  </a:tcPr>
                </a:tc>
                <a:tc>
                  <a:txBody>
                    <a:bodyPr wrap="square"/>
                    <a:lstStyle/>
                    <a:p>
                      <a:r>
                        <a:rPr sz="1150" b="1">
                          <a:solidFill>
                            <a:srgbClr val="FFFFFF"/>
                          </a:solidFill>
                        </a:rPr>
                        <a:t>Sub-language</a:t>
                      </a:r>
                    </a:p>
                  </a:txBody>
                  <a:tcPr anchor="ctr" marL="73152" marR="54864" marT="27432" marB="27432">
                    <a:solidFill>
                      <a:srgbClr val="0C2B4A"/>
                    </a:solidFill>
                  </a:tcPr>
                </a:tc>
                <a:tc>
                  <a:txBody>
                    <a:bodyPr wrap="square"/>
                    <a:lstStyle/>
                    <a:p>
                      <a:r>
                        <a:rPr sz="1150" b="1">
                          <a:solidFill>
                            <a:srgbClr val="FFFFFF"/>
                          </a:solidFill>
                        </a:rPr>
                        <a:t>What it does</a:t>
                      </a:r>
                    </a:p>
                  </a:txBody>
                  <a:tcPr anchor="ctr" marL="73152" marR="54864" marT="27432" marB="27432">
                    <a:solidFill>
                      <a:srgbClr val="0C2B4A"/>
                    </a:solidFill>
                  </a:tcPr>
                </a:tc>
                <a:tc>
                  <a:txBody>
                    <a:bodyPr wrap="square"/>
                    <a:lstStyle/>
                    <a:p>
                      <a:r>
                        <a:rPr sz="1150" b="1">
                          <a:solidFill>
                            <a:srgbClr val="FFFFFF"/>
                          </a:solidFill>
                        </a:rPr>
                        <a:t>College example</a:t>
                      </a:r>
                    </a:p>
                  </a:txBody>
                  <a:tcPr anchor="ctr" marL="73152" marR="54864" marT="27432" marB="27432">
                    <a:solidFill>
                      <a:srgbClr val="0C2B4A"/>
                    </a:solidFill>
                  </a:tcPr>
                </a:tc>
              </a:tr>
              <a:tr h="552069">
                <a:tc>
                  <a:txBody>
                    <a:bodyPr wrap="square"/>
                    <a:lstStyle/>
                    <a:p>
                      <a:r>
                        <a:rPr sz="1100" b="1">
                          <a:solidFill>
                            <a:srgbClr val="0C2B4A"/>
                          </a:solidFill>
                        </a:rPr>
                        <a:t>CREATE TABLE</a:t>
                      </a:r>
                    </a:p>
                  </a:txBody>
                  <a:tcPr anchor="ctr" marL="73152" marR="54864" marT="27432" marB="27432">
                    <a:solidFill>
                      <a:srgbClr val="FFFFFF"/>
                    </a:solidFill>
                  </a:tcPr>
                </a:tc>
                <a:tc>
                  <a:txBody>
                    <a:bodyPr wrap="square"/>
                    <a:lstStyle/>
                    <a:p>
                      <a:r>
                        <a:rPr sz="1100">
                          <a:solidFill>
                            <a:srgbClr val="1A1A1A"/>
                          </a:solidFill>
                        </a:rPr>
                        <a:t>DDL</a:t>
                      </a:r>
                    </a:p>
                  </a:txBody>
                  <a:tcPr anchor="ctr" marL="73152" marR="54864" marT="27432" marB="27432">
                    <a:solidFill>
                      <a:srgbClr val="FFFFFF"/>
                    </a:solidFill>
                  </a:tcPr>
                </a:tc>
                <a:tc>
                  <a:txBody>
                    <a:bodyPr wrap="square"/>
                    <a:lstStyle/>
                    <a:p>
                      <a:r>
                        <a:rPr sz="1100">
                          <a:solidFill>
                            <a:srgbClr val="1A1A1A"/>
                          </a:solidFill>
                        </a:rPr>
                        <a:t>define a new structure</a:t>
                      </a:r>
                    </a:p>
                  </a:txBody>
                  <a:tcPr anchor="ctr" marL="73152" marR="54864" marT="27432" marB="27432">
                    <a:solidFill>
                      <a:srgbClr val="FFFFFF"/>
                    </a:solidFill>
                  </a:tcPr>
                </a:tc>
                <a:tc>
                  <a:txBody>
                    <a:bodyPr wrap="square"/>
                    <a:lstStyle/>
                    <a:p>
                      <a:r>
                        <a:rPr sz="1100">
                          <a:solidFill>
                            <a:srgbClr val="1A1A1A"/>
                          </a:solidFill>
                        </a:rPr>
                        <a:t>create the Marks table</a:t>
                      </a:r>
                    </a:p>
                  </a:txBody>
                  <a:tcPr anchor="ctr" marL="73152" marR="54864" marT="27432" marB="27432">
                    <a:solidFill>
                      <a:srgbClr val="FFFFFF"/>
                    </a:solidFill>
                  </a:tcPr>
                </a:tc>
              </a:tr>
              <a:tr h="552069">
                <a:tc>
                  <a:txBody>
                    <a:bodyPr wrap="square"/>
                    <a:lstStyle/>
                    <a:p>
                      <a:r>
                        <a:rPr sz="1100" b="1">
                          <a:solidFill>
                            <a:srgbClr val="0C2B4A"/>
                          </a:solidFill>
                        </a:rPr>
                        <a:t>ALTER TABLE</a:t>
                      </a:r>
                    </a:p>
                  </a:txBody>
                  <a:tcPr anchor="ctr" marL="73152" marR="54864" marT="27432" marB="27432">
                    <a:solidFill>
                      <a:srgbClr val="EEF3F8"/>
                    </a:solidFill>
                  </a:tcPr>
                </a:tc>
                <a:tc>
                  <a:txBody>
                    <a:bodyPr wrap="square"/>
                    <a:lstStyle/>
                    <a:p>
                      <a:r>
                        <a:rPr sz="1100">
                          <a:solidFill>
                            <a:srgbClr val="1A1A1A"/>
                          </a:solidFill>
                        </a:rPr>
                        <a:t>DDL</a:t>
                      </a:r>
                    </a:p>
                  </a:txBody>
                  <a:tcPr anchor="ctr" marL="73152" marR="54864" marT="27432" marB="27432">
                    <a:solidFill>
                      <a:srgbClr val="EEF3F8"/>
                    </a:solidFill>
                  </a:tcPr>
                </a:tc>
                <a:tc>
                  <a:txBody>
                    <a:bodyPr wrap="square"/>
                    <a:lstStyle/>
                    <a:p>
                      <a:r>
                        <a:rPr sz="1100">
                          <a:solidFill>
                            <a:srgbClr val="1A1A1A"/>
                          </a:solidFill>
                        </a:rPr>
                        <a:t>change a structure</a:t>
                      </a:r>
                    </a:p>
                  </a:txBody>
                  <a:tcPr anchor="ctr" marL="73152" marR="54864" marT="27432" marB="27432">
                    <a:solidFill>
                      <a:srgbClr val="EEF3F8"/>
                    </a:solidFill>
                  </a:tcPr>
                </a:tc>
                <a:tc>
                  <a:txBody>
                    <a:bodyPr wrap="square"/>
                    <a:lstStyle/>
                    <a:p>
                      <a:r>
                        <a:rPr sz="1100">
                          <a:solidFill>
                            <a:srgbClr val="1A1A1A"/>
                          </a:solidFill>
                        </a:rPr>
                        <a:t>add a 'grade' column</a:t>
                      </a:r>
                    </a:p>
                  </a:txBody>
                  <a:tcPr anchor="ctr" marL="73152" marR="54864" marT="27432" marB="27432">
                    <a:solidFill>
                      <a:srgbClr val="EEF3F8"/>
                    </a:solidFill>
                  </a:tcPr>
                </a:tc>
              </a:tr>
              <a:tr h="552069">
                <a:tc>
                  <a:txBody>
                    <a:bodyPr wrap="square"/>
                    <a:lstStyle/>
                    <a:p>
                      <a:r>
                        <a:rPr sz="1100" b="1">
                          <a:solidFill>
                            <a:srgbClr val="0C2B4A"/>
                          </a:solidFill>
                        </a:rPr>
                        <a:t>DROP TABLE</a:t>
                      </a:r>
                    </a:p>
                  </a:txBody>
                  <a:tcPr anchor="ctr" marL="73152" marR="54864" marT="27432" marB="27432">
                    <a:solidFill>
                      <a:srgbClr val="FFFFFF"/>
                    </a:solidFill>
                  </a:tcPr>
                </a:tc>
                <a:tc>
                  <a:txBody>
                    <a:bodyPr wrap="square"/>
                    <a:lstStyle/>
                    <a:p>
                      <a:r>
                        <a:rPr sz="1100">
                          <a:solidFill>
                            <a:srgbClr val="1A1A1A"/>
                          </a:solidFill>
                        </a:rPr>
                        <a:t>DDL</a:t>
                      </a:r>
                    </a:p>
                  </a:txBody>
                  <a:tcPr anchor="ctr" marL="73152" marR="54864" marT="27432" marB="27432">
                    <a:solidFill>
                      <a:srgbClr val="FFFFFF"/>
                    </a:solidFill>
                  </a:tcPr>
                </a:tc>
                <a:tc>
                  <a:txBody>
                    <a:bodyPr wrap="square"/>
                    <a:lstStyle/>
                    <a:p>
                      <a:r>
                        <a:rPr sz="1100">
                          <a:solidFill>
                            <a:srgbClr val="1A1A1A"/>
                          </a:solidFill>
                        </a:rPr>
                        <a:t>delete a structure</a:t>
                      </a:r>
                    </a:p>
                  </a:txBody>
                  <a:tcPr anchor="ctr" marL="73152" marR="54864" marT="27432" marB="27432">
                    <a:solidFill>
                      <a:srgbClr val="FFFFFF"/>
                    </a:solidFill>
                  </a:tcPr>
                </a:tc>
                <a:tc>
                  <a:txBody>
                    <a:bodyPr wrap="square"/>
                    <a:lstStyle/>
                    <a:p>
                      <a:r>
                        <a:rPr sz="1100">
                          <a:solidFill>
                            <a:srgbClr val="1A1A1A"/>
                          </a:solidFill>
                        </a:rPr>
                        <a:t>remove an old table</a:t>
                      </a:r>
                    </a:p>
                  </a:txBody>
                  <a:tcPr anchor="ctr" marL="73152" marR="54864" marT="27432" marB="27432">
                    <a:solidFill>
                      <a:srgbClr val="FFFFFF"/>
                    </a:solidFill>
                  </a:tcPr>
                </a:tc>
              </a:tr>
              <a:tr h="552069">
                <a:tc>
                  <a:txBody>
                    <a:bodyPr wrap="square"/>
                    <a:lstStyle/>
                    <a:p>
                      <a:r>
                        <a:rPr sz="1100" b="1">
                          <a:solidFill>
                            <a:srgbClr val="0C2B4A"/>
                          </a:solidFill>
                        </a:rPr>
                        <a:t>SELECT</a:t>
                      </a:r>
                    </a:p>
                  </a:txBody>
                  <a:tcPr anchor="ctr" marL="73152" marR="54864" marT="27432" marB="27432">
                    <a:solidFill>
                      <a:srgbClr val="EEF3F8"/>
                    </a:solidFill>
                  </a:tcPr>
                </a:tc>
                <a:tc>
                  <a:txBody>
                    <a:bodyPr wrap="square"/>
                    <a:lstStyle/>
                    <a:p>
                      <a:r>
                        <a:rPr sz="1100">
                          <a:solidFill>
                            <a:srgbClr val="1A1A1A"/>
                          </a:solidFill>
                        </a:rPr>
                        <a:t>DML</a:t>
                      </a:r>
                    </a:p>
                  </a:txBody>
                  <a:tcPr anchor="ctr" marL="73152" marR="54864" marT="27432" marB="27432">
                    <a:solidFill>
                      <a:srgbClr val="EEF3F8"/>
                    </a:solidFill>
                  </a:tcPr>
                </a:tc>
                <a:tc>
                  <a:txBody>
                    <a:bodyPr wrap="square"/>
                    <a:lstStyle/>
                    <a:p>
                      <a:r>
                        <a:rPr sz="1100">
                          <a:solidFill>
                            <a:srgbClr val="1A1A1A"/>
                          </a:solidFill>
                        </a:rPr>
                        <a:t>query data</a:t>
                      </a:r>
                    </a:p>
                  </a:txBody>
                  <a:tcPr anchor="ctr" marL="73152" marR="54864" marT="27432" marB="27432">
                    <a:solidFill>
                      <a:srgbClr val="EEF3F8"/>
                    </a:solidFill>
                  </a:tcPr>
                </a:tc>
                <a:tc>
                  <a:txBody>
                    <a:bodyPr wrap="square"/>
                    <a:lstStyle/>
                    <a:p>
                      <a:r>
                        <a:rPr sz="1100">
                          <a:solidFill>
                            <a:srgbClr val="1A1A1A"/>
                          </a:solidFill>
                        </a:rPr>
                        <a:t>fetch a student's marks</a:t>
                      </a:r>
                    </a:p>
                  </a:txBody>
                  <a:tcPr anchor="ctr" marL="73152" marR="54864" marT="27432" marB="27432">
                    <a:solidFill>
                      <a:srgbClr val="EEF3F8"/>
                    </a:solidFill>
                  </a:tcPr>
                </a:tc>
              </a:tr>
              <a:tr h="552069">
                <a:tc>
                  <a:txBody>
                    <a:bodyPr wrap="square"/>
                    <a:lstStyle/>
                    <a:p>
                      <a:r>
                        <a:rPr sz="1100" b="1">
                          <a:solidFill>
                            <a:srgbClr val="0C2B4A"/>
                          </a:solidFill>
                        </a:rPr>
                        <a:t>INSERT / UPDATE / DELETE</a:t>
                      </a:r>
                    </a:p>
                  </a:txBody>
                  <a:tcPr anchor="ctr" marL="73152" marR="54864" marT="27432" marB="27432">
                    <a:solidFill>
                      <a:srgbClr val="FFFFFF"/>
                    </a:solidFill>
                  </a:tcPr>
                </a:tc>
                <a:tc>
                  <a:txBody>
                    <a:bodyPr wrap="square"/>
                    <a:lstStyle/>
                    <a:p>
                      <a:r>
                        <a:rPr sz="1100">
                          <a:solidFill>
                            <a:srgbClr val="1A1A1A"/>
                          </a:solidFill>
                        </a:rPr>
                        <a:t>DML</a:t>
                      </a:r>
                    </a:p>
                  </a:txBody>
                  <a:tcPr anchor="ctr" marL="73152" marR="54864" marT="27432" marB="27432">
                    <a:solidFill>
                      <a:srgbClr val="FFFFFF"/>
                    </a:solidFill>
                  </a:tcPr>
                </a:tc>
                <a:tc>
                  <a:txBody>
                    <a:bodyPr wrap="square"/>
                    <a:lstStyle/>
                    <a:p>
                      <a:r>
                        <a:rPr sz="1100">
                          <a:solidFill>
                            <a:srgbClr val="1A1A1A"/>
                          </a:solidFill>
                        </a:rPr>
                        <a:t>modify data</a:t>
                      </a:r>
                    </a:p>
                  </a:txBody>
                  <a:tcPr anchor="ctr" marL="73152" marR="54864" marT="27432" marB="27432">
                    <a:solidFill>
                      <a:srgbClr val="FFFFFF"/>
                    </a:solidFill>
                  </a:tcPr>
                </a:tc>
                <a:tc>
                  <a:txBody>
                    <a:bodyPr wrap="square"/>
                    <a:lstStyle/>
                    <a:p>
                      <a:r>
                        <a:rPr sz="1100">
                          <a:solidFill>
                            <a:srgbClr val="1A1A1A"/>
                          </a:solidFill>
                        </a:rPr>
                        <a:t>enter or fix a mark</a:t>
                      </a:r>
                    </a:p>
                  </a:txBody>
                  <a:tcPr anchor="ctr" marL="73152" marR="54864" marT="27432" marB="27432">
                    <a:solidFill>
                      <a:srgbClr val="FFFFFF"/>
                    </a:solidFill>
                  </a:tcPr>
                </a:tc>
              </a:tr>
              <a:tr h="552069">
                <a:tc>
                  <a:txBody>
                    <a:bodyPr wrap="square"/>
                    <a:lstStyle/>
                    <a:p>
                      <a:r>
                        <a:rPr sz="1100" b="1">
                          <a:solidFill>
                            <a:srgbClr val="0C2B4A"/>
                          </a:solidFill>
                        </a:rPr>
                        <a:t>GRANT / REVOKE</a:t>
                      </a:r>
                    </a:p>
                  </a:txBody>
                  <a:tcPr anchor="ctr" marL="73152" marR="54864" marT="27432" marB="27432">
                    <a:solidFill>
                      <a:srgbClr val="EEF3F8"/>
                    </a:solidFill>
                  </a:tcPr>
                </a:tc>
                <a:tc>
                  <a:txBody>
                    <a:bodyPr wrap="square"/>
                    <a:lstStyle/>
                    <a:p>
                      <a:r>
                        <a:rPr sz="1100">
                          <a:solidFill>
                            <a:srgbClr val="1A1A1A"/>
                          </a:solidFill>
                        </a:rPr>
                        <a:t>DCL</a:t>
                      </a:r>
                    </a:p>
                  </a:txBody>
                  <a:tcPr anchor="ctr" marL="73152" marR="54864" marT="27432" marB="27432">
                    <a:solidFill>
                      <a:srgbClr val="EEF3F8"/>
                    </a:solidFill>
                  </a:tcPr>
                </a:tc>
                <a:tc>
                  <a:txBody>
                    <a:bodyPr wrap="square"/>
                    <a:lstStyle/>
                    <a:p>
                      <a:r>
                        <a:rPr sz="1100">
                          <a:solidFill>
                            <a:srgbClr val="1A1A1A"/>
                          </a:solidFill>
                        </a:rPr>
                        <a:t>control permissions</a:t>
                      </a:r>
                    </a:p>
                  </a:txBody>
                  <a:tcPr anchor="ctr" marL="73152" marR="54864" marT="27432" marB="27432">
                    <a:solidFill>
                      <a:srgbClr val="EEF3F8"/>
                    </a:solidFill>
                  </a:tcPr>
                </a:tc>
                <a:tc>
                  <a:txBody>
                    <a:bodyPr wrap="square"/>
                    <a:lstStyle/>
                    <a:p>
                      <a:r>
                        <a:rPr sz="1100">
                          <a:solidFill>
                            <a:srgbClr val="1A1A1A"/>
                          </a:solidFill>
                        </a:rPr>
                        <a:t>give a clerk edit access, then remove it</a:t>
                      </a:r>
                    </a:p>
                  </a:txBody>
                  <a:tcPr anchor="ctr" marL="73152" marR="54864" marT="27432" marB="27432">
                    <a:solidFill>
                      <a:srgbClr val="EEF3F8"/>
                    </a:solidFill>
                  </a:tcPr>
                </a:tc>
              </a:tr>
              <a:tr h="552069">
                <a:tc>
                  <a:txBody>
                    <a:bodyPr wrap="square"/>
                    <a:lstStyle/>
                    <a:p>
                      <a:r>
                        <a:rPr sz="1100" b="1">
                          <a:solidFill>
                            <a:srgbClr val="0C2B4A"/>
                          </a:solidFill>
                        </a:rPr>
                        <a:t>COMMIT / ROLLBACK</a:t>
                      </a:r>
                    </a:p>
                  </a:txBody>
                  <a:tcPr anchor="ctr" marL="73152" marR="54864" marT="27432" marB="27432">
                    <a:solidFill>
                      <a:srgbClr val="FFFFFF"/>
                    </a:solidFill>
                  </a:tcPr>
                </a:tc>
                <a:tc>
                  <a:txBody>
                    <a:bodyPr wrap="square"/>
                    <a:lstStyle/>
                    <a:p>
                      <a:r>
                        <a:rPr sz="1100">
                          <a:solidFill>
                            <a:srgbClr val="1A1A1A"/>
                          </a:solidFill>
                        </a:rPr>
                        <a:t>TCL</a:t>
                      </a:r>
                    </a:p>
                  </a:txBody>
                  <a:tcPr anchor="ctr" marL="73152" marR="54864" marT="27432" marB="27432">
                    <a:solidFill>
                      <a:srgbClr val="FFFFFF"/>
                    </a:solidFill>
                  </a:tcPr>
                </a:tc>
                <a:tc>
                  <a:txBody>
                    <a:bodyPr wrap="square"/>
                    <a:lstStyle/>
                    <a:p>
                      <a:r>
                        <a:rPr sz="1100">
                          <a:solidFill>
                            <a:srgbClr val="1A1A1A"/>
                          </a:solidFill>
                        </a:rPr>
                        <a:t>confirm or undo a transaction</a:t>
                      </a:r>
                    </a:p>
                  </a:txBody>
                  <a:tcPr anchor="ctr" marL="73152" marR="54864" marT="27432" marB="27432">
                    <a:solidFill>
                      <a:srgbClr val="FFFFFF"/>
                    </a:solidFill>
                  </a:tcPr>
                </a:tc>
                <a:tc>
                  <a:txBody>
                    <a:bodyPr wrap="square"/>
                    <a:lstStyle/>
                    <a:p>
                      <a:r>
                        <a:rPr sz="1100">
                          <a:solidFill>
                            <a:srgbClr val="1A1A1A"/>
                          </a:solidFill>
                        </a:rPr>
                        <a:t>save a batch of marks, or undo a mistake</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All of these are 'SQL', yet they do four different jobs. Publishing results is one task that touches DDL → DML → DCL → TCL in order.</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39 / 74</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 · CONCEPT 2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Interfaces to a DBMS</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A DBMS can be reached through several interfaces, each suited to a different user: menu-based, form-based, graphical (GUI), natural-language, and application-program (API) / embedded SQL. The principle: match the interface to the user.</a:t>
            </a:r>
          </a:p>
          <a:p>
            <a:pPr>
              <a:spcAft>
                <a:spcPts val="500"/>
              </a:spcAft>
            </a:pPr>
            <a:r>
              <a:rPr sz="1200" b="1">
                <a:solidFill>
                  <a:srgbClr val="185FA5"/>
                </a:solidFill>
              </a:rPr>
              <a:t>HOW IT WORKS</a:t>
            </a:r>
          </a:p>
          <a:p>
            <a:pPr>
              <a:spcAft>
                <a:spcPts val="600"/>
              </a:spcAft>
            </a:pPr>
            <a:r>
              <a:rPr sz="1400">
                <a:solidFill>
                  <a:srgbClr val="1A1A1A"/>
                </a:solidFill>
              </a:rPr>
              <a:t>•  Form-based / GUI — guided, safe, ideal for non-technical staff.</a:t>
            </a:r>
          </a:p>
          <a:p>
            <a:pPr>
              <a:spcAft>
                <a:spcPts val="600"/>
              </a:spcAft>
            </a:pPr>
            <a:r>
              <a:rPr sz="1400">
                <a:solidFill>
                  <a:srgbClr val="1A1A1A"/>
                </a:solidFill>
              </a:rPr>
              <a:t>•  Menu-based — pick from lists (kiosks, older systems).</a:t>
            </a:r>
          </a:p>
          <a:p>
            <a:pPr>
              <a:spcAft>
                <a:spcPts val="600"/>
              </a:spcAft>
            </a:pPr>
            <a:r>
              <a:rPr sz="1400">
                <a:solidFill>
                  <a:srgbClr val="1A1A1A"/>
                </a:solidFill>
              </a:rPr>
              <a:t>•  Natural-language — type a request in ordinary words.</a:t>
            </a:r>
          </a:p>
          <a:p>
            <a:pPr>
              <a:spcAft>
                <a:spcPts val="600"/>
              </a:spcAft>
            </a:pPr>
            <a:r>
              <a:rPr sz="1400">
                <a:solidFill>
                  <a:srgbClr val="1A1A1A"/>
                </a:solidFill>
              </a:rPr>
              <a:t>•  API / embedded SQL — programs talk to the database directly in code (developers).</a:t>
            </a:r>
          </a:p>
        </p:txBody>
      </p:sp>
      <p:pic>
        <p:nvPicPr>
          <p:cNvPr id="6" name="Picture 5" descr="s3_interfaces.png"/>
          <p:cNvPicPr>
            <a:picLocks noChangeAspect="1"/>
          </p:cNvPicPr>
          <p:nvPr/>
        </p:nvPicPr>
        <p:blipFill>
          <a:blip r:embed="rId2"/>
          <a:stretch>
            <a:fillRect/>
          </a:stretch>
        </p:blipFill>
        <p:spPr>
          <a:xfrm>
            <a:off x="6355080" y="2497611"/>
            <a:ext cx="5532120" cy="2640017"/>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Same data, many doors.</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40 / 74</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 · CONCEPT 2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Interfaces to a DBMS</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a:t>
            </a:r>
          </a:p>
          <a:p>
            <a:pPr>
              <a:spcBef>
                <a:spcPts val="300"/>
              </a:spcBef>
            </a:pPr>
            <a:r>
              <a:rPr sz="1400">
                <a:solidFill>
                  <a:srgbClr val="1A1A1A"/>
                </a:solidFill>
              </a:rPr>
              <a:t>eSewa's front doors: your grandmother uses big tap-buttons (a form/GUI); a shopkeeper takes payment via QR; eSewa's developers reach the very same database through APIs and SQL. Force the grandmother to type SQL and she'd never pay a bill; force a developer to tap buttons and the app would never get built.</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"Everyone should use the same interface." No — match the interface to the user's skill and task; the same database is reached through whichever door fits.</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DBMS interfaces include menu-based, form-based, graphical (GUI), natural-language, and application-program (API) / embedded-SQL interfaces. Each suits a different kind of user; the guiding principle is to match the interface to the user's skill and task — the same database is reached through whichever door fits.</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interface · menu-based · form-based · GUI · natural-language · API / embedded SQL · match interface to user</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41 / 74</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 · CONCEPT 2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Match the interface to the user</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3753134"/>
                <a:gridCol w="3411940"/>
                <a:gridCol w="4264925"/>
              </a:tblGrid>
              <a:tr h="630936">
                <a:tc>
                  <a:txBody>
                    <a:bodyPr wrap="square"/>
                    <a:lstStyle/>
                    <a:p>
                      <a:r>
                        <a:rPr sz="1150" b="1">
                          <a:solidFill>
                            <a:srgbClr val="FFFFFF"/>
                          </a:solidFill>
                        </a:rPr>
                        <a:t>User</a:t>
                      </a:r>
                    </a:p>
                  </a:txBody>
                  <a:tcPr anchor="ctr" marL="73152" marR="54864" marT="27432" marB="27432">
                    <a:solidFill>
                      <a:srgbClr val="0C2B4A"/>
                    </a:solidFill>
                  </a:tcPr>
                </a:tc>
                <a:tc>
                  <a:txBody>
                    <a:bodyPr wrap="square"/>
                    <a:lstStyle/>
                    <a:p>
                      <a:r>
                        <a:rPr sz="1150" b="1">
                          <a:solidFill>
                            <a:srgbClr val="FFFFFF"/>
                          </a:solidFill>
                        </a:rPr>
                        <a:t>Best interface</a:t>
                      </a:r>
                    </a:p>
                  </a:txBody>
                  <a:tcPr anchor="ctr" marL="73152" marR="54864" marT="27432" marB="27432">
                    <a:solidFill>
                      <a:srgbClr val="0C2B4A"/>
                    </a:solidFill>
                  </a:tcPr>
                </a:tc>
                <a:tc>
                  <a:txBody>
                    <a:bodyPr wrap="square"/>
                    <a:lstStyle/>
                    <a:p>
                      <a:r>
                        <a:rPr sz="1150" b="1">
                          <a:solidFill>
                            <a:srgbClr val="FFFFFF"/>
                          </a:solidFill>
                        </a:rPr>
                        <a:t>Why</a:t>
                      </a:r>
                    </a:p>
                  </a:txBody>
                  <a:tcPr anchor="ctr" marL="73152" marR="54864" marT="27432" marB="27432">
                    <a:solidFill>
                      <a:srgbClr val="0C2B4A"/>
                    </a:solidFill>
                  </a:tcPr>
                </a:tc>
              </a:tr>
              <a:tr h="630936">
                <a:tc>
                  <a:txBody>
                    <a:bodyPr wrap="square"/>
                    <a:lstStyle/>
                    <a:p>
                      <a:r>
                        <a:rPr sz="1100" b="1">
                          <a:solidFill>
                            <a:srgbClr val="0C2B4A"/>
                          </a:solidFill>
                        </a:rPr>
                        <a:t>Grandmother paying a bill</a:t>
                      </a:r>
                    </a:p>
                  </a:txBody>
                  <a:tcPr anchor="ctr" marL="73152" marR="54864" marT="27432" marB="27432">
                    <a:solidFill>
                      <a:srgbClr val="FFFFFF"/>
                    </a:solidFill>
                  </a:tcPr>
                </a:tc>
                <a:tc>
                  <a:txBody>
                    <a:bodyPr wrap="square"/>
                    <a:lstStyle/>
                    <a:p>
                      <a:r>
                        <a:rPr sz="1100">
                          <a:solidFill>
                            <a:srgbClr val="1A1A1A"/>
                          </a:solidFill>
                        </a:rPr>
                        <a:t>form / big-button GUI</a:t>
                      </a:r>
                    </a:p>
                  </a:txBody>
                  <a:tcPr anchor="ctr" marL="73152" marR="54864" marT="27432" marB="27432">
                    <a:solidFill>
                      <a:srgbClr val="FFFFFF"/>
                    </a:solidFill>
                  </a:tcPr>
                </a:tc>
                <a:tc>
                  <a:txBody>
                    <a:bodyPr wrap="square"/>
                    <a:lstStyle/>
                    <a:p>
                      <a:r>
                        <a:rPr sz="1100">
                          <a:solidFill>
                            <a:srgbClr val="1A1A1A"/>
                          </a:solidFill>
                        </a:rPr>
                        <a:t>guided and safe; no commands to type</a:t>
                      </a:r>
                    </a:p>
                  </a:txBody>
                  <a:tcPr anchor="ctr" marL="73152" marR="54864" marT="27432" marB="27432">
                    <a:solidFill>
                      <a:srgbClr val="FFFFFF"/>
                    </a:solidFill>
                  </a:tcPr>
                </a:tc>
              </a:tr>
              <a:tr h="630936">
                <a:tc>
                  <a:txBody>
                    <a:bodyPr wrap="square"/>
                    <a:lstStyle/>
                    <a:p>
                      <a:r>
                        <a:rPr sz="1100" b="1">
                          <a:solidFill>
                            <a:srgbClr val="0C2B4A"/>
                          </a:solidFill>
                        </a:rPr>
                        <a:t>Bank teller</a:t>
                      </a:r>
                    </a:p>
                  </a:txBody>
                  <a:tcPr anchor="ctr" marL="73152" marR="54864" marT="27432" marB="27432">
                    <a:solidFill>
                      <a:srgbClr val="EEF3F8"/>
                    </a:solidFill>
                  </a:tcPr>
                </a:tc>
                <a:tc>
                  <a:txBody>
                    <a:bodyPr wrap="square"/>
                    <a:lstStyle/>
                    <a:p>
                      <a:r>
                        <a:rPr sz="1100">
                          <a:solidFill>
                            <a:srgbClr val="1A1A1A"/>
                          </a:solidFill>
                        </a:rPr>
                        <a:t>form-based screen</a:t>
                      </a:r>
                    </a:p>
                  </a:txBody>
                  <a:tcPr anchor="ctr" marL="73152" marR="54864" marT="27432" marB="27432">
                    <a:solidFill>
                      <a:srgbClr val="EEF3F8"/>
                    </a:solidFill>
                  </a:tcPr>
                </a:tc>
                <a:tc>
                  <a:txBody>
                    <a:bodyPr wrap="square"/>
                    <a:lstStyle/>
                    <a:p>
                      <a:r>
                        <a:rPr sz="1100">
                          <a:solidFill>
                            <a:srgbClr val="1A1A1A"/>
                          </a:solidFill>
                        </a:rPr>
                        <a:t>fast, constrained, hard to mis-enter</a:t>
                      </a:r>
                    </a:p>
                  </a:txBody>
                  <a:tcPr anchor="ctr" marL="73152" marR="54864" marT="27432" marB="27432">
                    <a:solidFill>
                      <a:srgbClr val="EEF3F8"/>
                    </a:solidFill>
                  </a:tcPr>
                </a:tc>
              </a:tr>
              <a:tr h="630936">
                <a:tc>
                  <a:txBody>
                    <a:bodyPr wrap="square"/>
                    <a:lstStyle/>
                    <a:p>
                      <a:r>
                        <a:rPr sz="1100" b="1">
                          <a:solidFill>
                            <a:srgbClr val="0C2B4A"/>
                          </a:solidFill>
                        </a:rPr>
                        <a:t>Shopkeeper taking payment</a:t>
                      </a:r>
                    </a:p>
                  </a:txBody>
                  <a:tcPr anchor="ctr" marL="73152" marR="54864" marT="27432" marB="27432">
                    <a:solidFill>
                      <a:srgbClr val="FFFFFF"/>
                    </a:solidFill>
                  </a:tcPr>
                </a:tc>
                <a:tc>
                  <a:txBody>
                    <a:bodyPr wrap="square"/>
                    <a:lstStyle/>
                    <a:p>
                      <a:r>
                        <a:rPr sz="1100">
                          <a:solidFill>
                            <a:srgbClr val="1A1A1A"/>
                          </a:solidFill>
                        </a:rPr>
                        <a:t>QR / menu-based</a:t>
                      </a:r>
                    </a:p>
                  </a:txBody>
                  <a:tcPr anchor="ctr" marL="73152" marR="54864" marT="27432" marB="27432">
                    <a:solidFill>
                      <a:srgbClr val="FFFFFF"/>
                    </a:solidFill>
                  </a:tcPr>
                </a:tc>
                <a:tc>
                  <a:txBody>
                    <a:bodyPr wrap="square"/>
                    <a:lstStyle/>
                    <a:p>
                      <a:r>
                        <a:rPr sz="1100">
                          <a:solidFill>
                            <a:srgbClr val="1A1A1A"/>
                          </a:solidFill>
                        </a:rPr>
                        <a:t>one tap, task-specific</a:t>
                      </a:r>
                    </a:p>
                  </a:txBody>
                  <a:tcPr anchor="ctr" marL="73152" marR="54864" marT="27432" marB="27432">
                    <a:solidFill>
                      <a:srgbClr val="FFFFFF"/>
                    </a:solidFill>
                  </a:tcPr>
                </a:tc>
              </a:tr>
              <a:tr h="630936">
                <a:tc>
                  <a:txBody>
                    <a:bodyPr wrap="square"/>
                    <a:lstStyle/>
                    <a:p>
                      <a:r>
                        <a:rPr sz="1100" b="1">
                          <a:solidFill>
                            <a:srgbClr val="0C2B4A"/>
                          </a:solidFill>
                        </a:rPr>
                        <a:t>MIS analyst</a:t>
                      </a:r>
                    </a:p>
                  </a:txBody>
                  <a:tcPr anchor="ctr" marL="73152" marR="54864" marT="27432" marB="27432">
                    <a:solidFill>
                      <a:srgbClr val="EEF3F8"/>
                    </a:solidFill>
                  </a:tcPr>
                </a:tc>
                <a:tc>
                  <a:txBody>
                    <a:bodyPr wrap="square"/>
                    <a:lstStyle/>
                    <a:p>
                      <a:r>
                        <a:rPr sz="1100">
                          <a:solidFill>
                            <a:srgbClr val="1A1A1A"/>
                          </a:solidFill>
                        </a:rPr>
                        <a:t>SQL console</a:t>
                      </a:r>
                    </a:p>
                  </a:txBody>
                  <a:tcPr anchor="ctr" marL="73152" marR="54864" marT="27432" marB="27432">
                    <a:solidFill>
                      <a:srgbClr val="EEF3F8"/>
                    </a:solidFill>
                  </a:tcPr>
                </a:tc>
                <a:tc>
                  <a:txBody>
                    <a:bodyPr wrap="square"/>
                    <a:lstStyle/>
                    <a:p>
                      <a:r>
                        <a:rPr sz="1100">
                          <a:solidFill>
                            <a:srgbClr val="1A1A1A"/>
                          </a:solidFill>
                        </a:rPr>
                        <a:t>full power for ad-hoc queries</a:t>
                      </a:r>
                    </a:p>
                  </a:txBody>
                  <a:tcPr anchor="ctr" marL="73152" marR="54864" marT="27432" marB="27432">
                    <a:solidFill>
                      <a:srgbClr val="EEF3F8"/>
                    </a:solidFill>
                  </a:tcPr>
                </a:tc>
              </a:tr>
              <a:tr h="630936">
                <a:tc>
                  <a:txBody>
                    <a:bodyPr wrap="square"/>
                    <a:lstStyle/>
                    <a:p>
                      <a:r>
                        <a:rPr sz="1100" b="1">
                          <a:solidFill>
                            <a:srgbClr val="0C2B4A"/>
                          </a:solidFill>
                        </a:rPr>
                        <a:t>App developer</a:t>
                      </a:r>
                    </a:p>
                  </a:txBody>
                  <a:tcPr anchor="ctr" marL="73152" marR="54864" marT="27432" marB="27432">
                    <a:solidFill>
                      <a:srgbClr val="FFFFFF"/>
                    </a:solidFill>
                  </a:tcPr>
                </a:tc>
                <a:tc>
                  <a:txBody>
                    <a:bodyPr wrap="square"/>
                    <a:lstStyle/>
                    <a:p>
                      <a:r>
                        <a:rPr sz="1100">
                          <a:solidFill>
                            <a:srgbClr val="1A1A1A"/>
                          </a:solidFill>
                        </a:rPr>
                        <a:t>API / embedded SQL</a:t>
                      </a:r>
                    </a:p>
                  </a:txBody>
                  <a:tcPr anchor="ctr" marL="73152" marR="54864" marT="27432" marB="27432">
                    <a:solidFill>
                      <a:srgbClr val="FFFFFF"/>
                    </a:solidFill>
                  </a:tcPr>
                </a:tc>
                <a:tc>
                  <a:txBody>
                    <a:bodyPr wrap="square"/>
                    <a:lstStyle/>
                    <a:p>
                      <a:r>
                        <a:rPr sz="1100">
                          <a:solidFill>
                            <a:srgbClr val="1A1A1A"/>
                          </a:solidFill>
                        </a:rPr>
                        <a:t>programs talk to the DB in code</a:t>
                      </a:r>
                    </a:p>
                  </a:txBody>
                  <a:tcPr anchor="ctr" marL="73152" marR="54864" marT="27432" marB="27432">
                    <a:solidFill>
                      <a:srgbClr val="FFFFFF"/>
                    </a:solidFill>
                  </a:tcPr>
                </a:tc>
              </a:tr>
              <a:tr h="630936">
                <a:tc>
                  <a:txBody>
                    <a:bodyPr wrap="square"/>
                    <a:lstStyle/>
                    <a:p>
                      <a:r>
                        <a:rPr sz="1100" b="1">
                          <a:solidFill>
                            <a:srgbClr val="0C2B4A"/>
                          </a:solidFill>
                        </a:rPr>
                        <a:t>Kiosk user</a:t>
                      </a:r>
                    </a:p>
                  </a:txBody>
                  <a:tcPr anchor="ctr" marL="73152" marR="54864" marT="27432" marB="27432">
                    <a:solidFill>
                      <a:srgbClr val="EEF3F8"/>
                    </a:solidFill>
                  </a:tcPr>
                </a:tc>
                <a:tc>
                  <a:txBody>
                    <a:bodyPr wrap="square"/>
                    <a:lstStyle/>
                    <a:p>
                      <a:r>
                        <a:rPr sz="1100">
                          <a:solidFill>
                            <a:srgbClr val="1A1A1A"/>
                          </a:solidFill>
                        </a:rPr>
                        <a:t>menu-based</a:t>
                      </a:r>
                    </a:p>
                  </a:txBody>
                  <a:tcPr anchor="ctr" marL="73152" marR="54864" marT="27432" marB="27432">
                    <a:solidFill>
                      <a:srgbClr val="EEF3F8"/>
                    </a:solidFill>
                  </a:tcPr>
                </a:tc>
                <a:tc>
                  <a:txBody>
                    <a:bodyPr wrap="square"/>
                    <a:lstStyle/>
                    <a:p>
                      <a:r>
                        <a:rPr sz="1100">
                          <a:solidFill>
                            <a:srgbClr val="1A1A1A"/>
                          </a:solidFill>
                        </a:rPr>
                        <a:t>pick from a fixed list of options</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The same database is reached through whichever door fits the user's skill and task — force the wrong door and the grandmother can't pay or the developer can't build.</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42 / 74</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 · CONCEPT 3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Inside the DBMS — the System Environment</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A DBMS is not one monolithic program — it is several cooperating components: query processor/optimizer, storage manager, buffer manager, transaction manager, and the catalog.</a:t>
            </a:r>
          </a:p>
          <a:p>
            <a:pPr>
              <a:spcAft>
                <a:spcPts val="500"/>
              </a:spcAft>
            </a:pPr>
            <a:r>
              <a:rPr sz="1200" b="1">
                <a:solidFill>
                  <a:srgbClr val="185FA5"/>
                </a:solidFill>
              </a:rPr>
              <a:t>HOW IT WORKS</a:t>
            </a:r>
          </a:p>
          <a:p>
            <a:pPr>
              <a:spcAft>
                <a:spcPts val="600"/>
              </a:spcAft>
            </a:pPr>
            <a:r>
              <a:rPr sz="1400">
                <a:solidFill>
                  <a:srgbClr val="1A1A1A"/>
                </a:solidFill>
              </a:rPr>
              <a:t>•  Query processor / optimizer — plans the cheapest, fastest way to run a query.</a:t>
            </a:r>
          </a:p>
          <a:p>
            <a:pPr>
              <a:spcAft>
                <a:spcPts val="600"/>
              </a:spcAft>
            </a:pPr>
            <a:r>
              <a:rPr sz="1400">
                <a:solidFill>
                  <a:srgbClr val="1A1A1A"/>
                </a:solidFill>
              </a:rPr>
              <a:t>•  Storage manager — reads/writes data to disk.   Buffer manager — caches hot data in memory.</a:t>
            </a:r>
          </a:p>
          <a:p>
            <a:pPr>
              <a:spcAft>
                <a:spcPts val="600"/>
              </a:spcAft>
            </a:pPr>
            <a:r>
              <a:rPr sz="1400">
                <a:solidFill>
                  <a:srgbClr val="1A1A1A"/>
                </a:solidFill>
              </a:rPr>
              <a:t>•  Transaction manager — keeps transactions safe and reliable (ACID, Unit 6).</a:t>
            </a:r>
          </a:p>
          <a:p>
            <a:pPr>
              <a:spcAft>
                <a:spcPts val="600"/>
              </a:spcAft>
            </a:pPr>
            <a:r>
              <a:rPr sz="1400">
                <a:solidFill>
                  <a:srgbClr val="1A1A1A"/>
                </a:solidFill>
              </a:rPr>
              <a:t>•  Catalog / metadata — stores information about the database itself (next concept).</a:t>
            </a:r>
          </a:p>
        </p:txBody>
      </p:sp>
      <p:pic>
        <p:nvPicPr>
          <p:cNvPr id="6" name="Picture 5" descr="s3_dbms_components.png"/>
          <p:cNvPicPr>
            <a:picLocks noChangeAspect="1"/>
          </p:cNvPicPr>
          <p:nvPr/>
        </p:nvPicPr>
        <p:blipFill>
          <a:blip r:embed="rId2"/>
          <a:stretch>
            <a:fillRect/>
          </a:stretch>
        </p:blipFill>
        <p:spPr>
          <a:xfrm>
            <a:off x="6355080" y="2234067"/>
            <a:ext cx="5532120" cy="3167104"/>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A DBMS is a kitchen of cooperating roles.</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43 / 74</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 · CONCEPT 3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Inside the DBMS — the System Environment</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a:t>
            </a:r>
          </a:p>
          <a:p>
            <a:pPr>
              <a:spcBef>
                <a:spcPts val="300"/>
              </a:spcBef>
            </a:pPr>
            <a:r>
              <a:rPr sz="1400">
                <a:solidFill>
                  <a:srgbClr val="1A1A1A"/>
                </a:solidFill>
              </a:rPr>
              <a:t>Tap 'View Result': the query processor finds the fastest way to fetch your marks; the buffer manager checks whether they're already in memory; if not, the storage manager reads disk; the transaction manager ensures you never see half-updated marks; the catalog confirms the Marks table exists — five components cooperate in under a second.</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"The DBMS is one black box." It's cooperating components — so 'it's slow' becomes a diagnosable checklist: bad execution plan? starved cache? failing disk? waiting on a lock?</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Main DBMS components: query processor/optimizer (plans the most efficient execution), storage manager (reads/writes data to disk), buffer manager (caches frequently used data in memory), transaction manager (ensures safe, reliable transactions — ACID), and the catalog/data dictionary (stores metadata). They cooperate to answer queries quickly and safely.</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query processor/optimizer · storage manager · buffer manager · transaction manager · catalog/metadata</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44 / 74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 · CONCEPT 3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What each DBMS component does on one 'View Result' tap</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2784230"/>
                <a:gridCol w="2784230"/>
                <a:gridCol w="3223846"/>
                <a:gridCol w="2637692"/>
              </a:tblGrid>
              <a:tr h="736092">
                <a:tc>
                  <a:txBody>
                    <a:bodyPr wrap="square"/>
                    <a:lstStyle/>
                    <a:p>
                      <a:r>
                        <a:rPr sz="1150" b="1">
                          <a:solidFill>
                            <a:srgbClr val="FFFFFF"/>
                          </a:solidFill>
                        </a:rPr>
                        <a:t>Component</a:t>
                      </a:r>
                    </a:p>
                  </a:txBody>
                  <a:tcPr anchor="ctr" marL="73152" marR="54864" marT="27432" marB="27432">
                    <a:solidFill>
                      <a:srgbClr val="0C2B4A"/>
                    </a:solidFill>
                  </a:tcPr>
                </a:tc>
                <a:tc>
                  <a:txBody>
                    <a:bodyPr wrap="square"/>
                    <a:lstStyle/>
                    <a:p>
                      <a:r>
                        <a:rPr sz="1150" b="1">
                          <a:solidFill>
                            <a:srgbClr val="FFFFFF"/>
                          </a:solidFill>
                        </a:rPr>
                        <a:t>Its job</a:t>
                      </a:r>
                    </a:p>
                  </a:txBody>
                  <a:tcPr anchor="ctr" marL="73152" marR="54864" marT="27432" marB="27432">
                    <a:solidFill>
                      <a:srgbClr val="0C2B4A"/>
                    </a:solidFill>
                  </a:tcPr>
                </a:tc>
                <a:tc>
                  <a:txBody>
                    <a:bodyPr wrap="square"/>
                    <a:lstStyle/>
                    <a:p>
                      <a:r>
                        <a:rPr sz="1150" b="1">
                          <a:solidFill>
                            <a:srgbClr val="FFFFFF"/>
                          </a:solidFill>
                        </a:rPr>
                        <a:t>On 'View Result'</a:t>
                      </a:r>
                    </a:p>
                  </a:txBody>
                  <a:tcPr anchor="ctr" marL="73152" marR="54864" marT="27432" marB="27432">
                    <a:solidFill>
                      <a:srgbClr val="0C2B4A"/>
                    </a:solidFill>
                  </a:tcPr>
                </a:tc>
                <a:tc>
                  <a:txBody>
                    <a:bodyPr wrap="square"/>
                    <a:lstStyle/>
                    <a:p>
                      <a:r>
                        <a:rPr sz="1150" b="1">
                          <a:solidFill>
                            <a:srgbClr val="FFFFFF"/>
                          </a:solidFill>
                        </a:rPr>
                        <a:t>Restaurant analogy</a:t>
                      </a:r>
                    </a:p>
                  </a:txBody>
                  <a:tcPr anchor="ctr" marL="73152" marR="54864" marT="27432" marB="27432">
                    <a:solidFill>
                      <a:srgbClr val="0C2B4A"/>
                    </a:solidFill>
                  </a:tcPr>
                </a:tc>
              </a:tr>
              <a:tr h="736092">
                <a:tc>
                  <a:txBody>
                    <a:bodyPr wrap="square"/>
                    <a:lstStyle/>
                    <a:p>
                      <a:r>
                        <a:rPr sz="1100" b="1">
                          <a:solidFill>
                            <a:srgbClr val="0C2B4A"/>
                          </a:solidFill>
                        </a:rPr>
                        <a:t>Query processor / optimizer</a:t>
                      </a:r>
                    </a:p>
                  </a:txBody>
                  <a:tcPr anchor="ctr" marL="73152" marR="54864" marT="27432" marB="27432">
                    <a:solidFill>
                      <a:srgbClr val="FFFFFF"/>
                    </a:solidFill>
                  </a:tcPr>
                </a:tc>
                <a:tc>
                  <a:txBody>
                    <a:bodyPr wrap="square"/>
                    <a:lstStyle/>
                    <a:p>
                      <a:r>
                        <a:rPr sz="1100">
                          <a:solidFill>
                            <a:srgbClr val="1A1A1A"/>
                          </a:solidFill>
                        </a:rPr>
                        <a:t>plan the fastest execution</a:t>
                      </a:r>
                    </a:p>
                  </a:txBody>
                  <a:tcPr anchor="ctr" marL="73152" marR="54864" marT="27432" marB="27432">
                    <a:solidFill>
                      <a:srgbClr val="FFFFFF"/>
                    </a:solidFill>
                  </a:tcPr>
                </a:tc>
                <a:tc>
                  <a:txBody>
                    <a:bodyPr wrap="square"/>
                    <a:lstStyle/>
                    <a:p>
                      <a:r>
                        <a:rPr sz="1100">
                          <a:solidFill>
                            <a:srgbClr val="1A1A1A"/>
                          </a:solidFill>
                        </a:rPr>
                        <a:t>find the quickest way to fetch your marks</a:t>
                      </a:r>
                    </a:p>
                  </a:txBody>
                  <a:tcPr anchor="ctr" marL="73152" marR="54864" marT="27432" marB="27432">
                    <a:solidFill>
                      <a:srgbClr val="FFFFFF"/>
                    </a:solidFill>
                  </a:tcPr>
                </a:tc>
                <a:tc>
                  <a:txBody>
                    <a:bodyPr wrap="square"/>
                    <a:lstStyle/>
                    <a:p>
                      <a:r>
                        <a:rPr sz="1100">
                          <a:solidFill>
                            <a:srgbClr val="1A1A1A"/>
                          </a:solidFill>
                        </a:rPr>
                        <a:t>the waiter routing the order</a:t>
                      </a:r>
                    </a:p>
                  </a:txBody>
                  <a:tcPr anchor="ctr" marL="73152" marR="54864" marT="27432" marB="27432">
                    <a:solidFill>
                      <a:srgbClr val="FFFFFF"/>
                    </a:solidFill>
                  </a:tcPr>
                </a:tc>
              </a:tr>
              <a:tr h="736092">
                <a:tc>
                  <a:txBody>
                    <a:bodyPr wrap="square"/>
                    <a:lstStyle/>
                    <a:p>
                      <a:r>
                        <a:rPr sz="1100" b="1">
                          <a:solidFill>
                            <a:srgbClr val="0C2B4A"/>
                          </a:solidFill>
                        </a:rPr>
                        <a:t>Buffer manager</a:t>
                      </a:r>
                    </a:p>
                  </a:txBody>
                  <a:tcPr anchor="ctr" marL="73152" marR="54864" marT="27432" marB="27432">
                    <a:solidFill>
                      <a:srgbClr val="EEF3F8"/>
                    </a:solidFill>
                  </a:tcPr>
                </a:tc>
                <a:tc>
                  <a:txBody>
                    <a:bodyPr wrap="square"/>
                    <a:lstStyle/>
                    <a:p>
                      <a:r>
                        <a:rPr sz="1100">
                          <a:solidFill>
                            <a:srgbClr val="1A1A1A"/>
                          </a:solidFill>
                        </a:rPr>
                        <a:t>cache hot data in memory</a:t>
                      </a:r>
                    </a:p>
                  </a:txBody>
                  <a:tcPr anchor="ctr" marL="73152" marR="54864" marT="27432" marB="27432">
                    <a:solidFill>
                      <a:srgbClr val="EEF3F8"/>
                    </a:solidFill>
                  </a:tcPr>
                </a:tc>
                <a:tc>
                  <a:txBody>
                    <a:bodyPr wrap="square"/>
                    <a:lstStyle/>
                    <a:p>
                      <a:r>
                        <a:rPr sz="1100">
                          <a:solidFill>
                            <a:srgbClr val="1A1A1A"/>
                          </a:solidFill>
                        </a:rPr>
                        <a:t>check if your marks are already in RAM</a:t>
                      </a:r>
                    </a:p>
                  </a:txBody>
                  <a:tcPr anchor="ctr" marL="73152" marR="54864" marT="27432" marB="27432">
                    <a:solidFill>
                      <a:srgbClr val="EEF3F8"/>
                    </a:solidFill>
                  </a:tcPr>
                </a:tc>
                <a:tc>
                  <a:txBody>
                    <a:bodyPr wrap="square"/>
                    <a:lstStyle/>
                    <a:p>
                      <a:r>
                        <a:rPr sz="1100">
                          <a:solidFill>
                            <a:srgbClr val="1A1A1A"/>
                          </a:solidFill>
                        </a:rPr>
                        <a:t>the counter of ready dishes</a:t>
                      </a:r>
                    </a:p>
                  </a:txBody>
                  <a:tcPr anchor="ctr" marL="73152" marR="54864" marT="27432" marB="27432">
                    <a:solidFill>
                      <a:srgbClr val="EEF3F8"/>
                    </a:solidFill>
                  </a:tcPr>
                </a:tc>
              </a:tr>
              <a:tr h="736092">
                <a:tc>
                  <a:txBody>
                    <a:bodyPr wrap="square"/>
                    <a:lstStyle/>
                    <a:p>
                      <a:r>
                        <a:rPr sz="1100" b="1">
                          <a:solidFill>
                            <a:srgbClr val="0C2B4A"/>
                          </a:solidFill>
                        </a:rPr>
                        <a:t>Storage manager</a:t>
                      </a:r>
                    </a:p>
                  </a:txBody>
                  <a:tcPr anchor="ctr" marL="73152" marR="54864" marT="27432" marB="27432">
                    <a:solidFill>
                      <a:srgbClr val="FFFFFF"/>
                    </a:solidFill>
                  </a:tcPr>
                </a:tc>
                <a:tc>
                  <a:txBody>
                    <a:bodyPr wrap="square"/>
                    <a:lstStyle/>
                    <a:p>
                      <a:r>
                        <a:rPr sz="1100">
                          <a:solidFill>
                            <a:srgbClr val="1A1A1A"/>
                          </a:solidFill>
                        </a:rPr>
                        <a:t>read / write disk</a:t>
                      </a:r>
                    </a:p>
                  </a:txBody>
                  <a:tcPr anchor="ctr" marL="73152" marR="54864" marT="27432" marB="27432">
                    <a:solidFill>
                      <a:srgbClr val="FFFFFF"/>
                    </a:solidFill>
                  </a:tcPr>
                </a:tc>
                <a:tc>
                  <a:txBody>
                    <a:bodyPr wrap="square"/>
                    <a:lstStyle/>
                    <a:p>
                      <a:r>
                        <a:rPr sz="1100">
                          <a:solidFill>
                            <a:srgbClr val="1A1A1A"/>
                          </a:solidFill>
                        </a:rPr>
                        <a:t>read the marks from disk if not cached</a:t>
                      </a:r>
                    </a:p>
                  </a:txBody>
                  <a:tcPr anchor="ctr" marL="73152" marR="54864" marT="27432" marB="27432">
                    <a:solidFill>
                      <a:srgbClr val="FFFFFF"/>
                    </a:solidFill>
                  </a:tcPr>
                </a:tc>
                <a:tc>
                  <a:txBody>
                    <a:bodyPr wrap="square"/>
                    <a:lstStyle/>
                    <a:p>
                      <a:r>
                        <a:rPr sz="1100">
                          <a:solidFill>
                            <a:srgbClr val="1A1A1A"/>
                          </a:solidFill>
                        </a:rPr>
                        <a:t>the kitchen cooking from stock</a:t>
                      </a:r>
                    </a:p>
                  </a:txBody>
                  <a:tcPr anchor="ctr" marL="73152" marR="54864" marT="27432" marB="27432">
                    <a:solidFill>
                      <a:srgbClr val="FFFFFF"/>
                    </a:solidFill>
                  </a:tcPr>
                </a:tc>
              </a:tr>
              <a:tr h="736092">
                <a:tc>
                  <a:txBody>
                    <a:bodyPr wrap="square"/>
                    <a:lstStyle/>
                    <a:p>
                      <a:r>
                        <a:rPr sz="1100" b="1">
                          <a:solidFill>
                            <a:srgbClr val="0C2B4A"/>
                          </a:solidFill>
                        </a:rPr>
                        <a:t>Transaction manager</a:t>
                      </a:r>
                    </a:p>
                  </a:txBody>
                  <a:tcPr anchor="ctr" marL="73152" marR="54864" marT="27432" marB="27432">
                    <a:solidFill>
                      <a:srgbClr val="EEF3F8"/>
                    </a:solidFill>
                  </a:tcPr>
                </a:tc>
                <a:tc>
                  <a:txBody>
                    <a:bodyPr wrap="square"/>
                    <a:lstStyle/>
                    <a:p>
                      <a:r>
                        <a:rPr sz="1100">
                          <a:solidFill>
                            <a:srgbClr val="1A1A1A"/>
                          </a:solidFill>
                        </a:rPr>
                        <a:t>keep transactions safe (ACID)</a:t>
                      </a:r>
                    </a:p>
                  </a:txBody>
                  <a:tcPr anchor="ctr" marL="73152" marR="54864" marT="27432" marB="27432">
                    <a:solidFill>
                      <a:srgbClr val="EEF3F8"/>
                    </a:solidFill>
                  </a:tcPr>
                </a:tc>
                <a:tc>
                  <a:txBody>
                    <a:bodyPr wrap="square"/>
                    <a:lstStyle/>
                    <a:p>
                      <a:r>
                        <a:rPr sz="1100">
                          <a:solidFill>
                            <a:srgbClr val="1A1A1A"/>
                          </a:solidFill>
                        </a:rPr>
                        <a:t>ensure you never see half-updated marks</a:t>
                      </a:r>
                    </a:p>
                  </a:txBody>
                  <a:tcPr anchor="ctr" marL="73152" marR="54864" marT="27432" marB="27432">
                    <a:solidFill>
                      <a:srgbClr val="EEF3F8"/>
                    </a:solidFill>
                  </a:tcPr>
                </a:tc>
                <a:tc>
                  <a:txBody>
                    <a:bodyPr wrap="square"/>
                    <a:lstStyle/>
                    <a:p>
                      <a:r>
                        <a:rPr sz="1100">
                          <a:solidFill>
                            <a:srgbClr val="1A1A1A"/>
                          </a:solidFill>
                        </a:rPr>
                        <a:t>the manager checking the order is complete</a:t>
                      </a:r>
                    </a:p>
                  </a:txBody>
                  <a:tcPr anchor="ctr" marL="73152" marR="54864" marT="27432" marB="27432">
                    <a:solidFill>
                      <a:srgbClr val="EEF3F8"/>
                    </a:solidFill>
                  </a:tcPr>
                </a:tc>
              </a:tr>
              <a:tr h="736092">
                <a:tc>
                  <a:txBody>
                    <a:bodyPr wrap="square"/>
                    <a:lstStyle/>
                    <a:p>
                      <a:r>
                        <a:rPr sz="1100" b="1">
                          <a:solidFill>
                            <a:srgbClr val="0C2B4A"/>
                          </a:solidFill>
                        </a:rPr>
                        <a:t>Catalog</a:t>
                      </a:r>
                    </a:p>
                  </a:txBody>
                  <a:tcPr anchor="ctr" marL="73152" marR="54864" marT="27432" marB="27432">
                    <a:solidFill>
                      <a:srgbClr val="FFFFFF"/>
                    </a:solidFill>
                  </a:tcPr>
                </a:tc>
                <a:tc>
                  <a:txBody>
                    <a:bodyPr wrap="square"/>
                    <a:lstStyle/>
                    <a:p>
                      <a:r>
                        <a:rPr sz="1100">
                          <a:solidFill>
                            <a:srgbClr val="1A1A1A"/>
                          </a:solidFill>
                        </a:rPr>
                        <a:t>store metadata</a:t>
                      </a:r>
                    </a:p>
                  </a:txBody>
                  <a:tcPr anchor="ctr" marL="73152" marR="54864" marT="27432" marB="27432">
                    <a:solidFill>
                      <a:srgbClr val="FFFFFF"/>
                    </a:solidFill>
                  </a:tcPr>
                </a:tc>
                <a:tc>
                  <a:txBody>
                    <a:bodyPr wrap="square"/>
                    <a:lstStyle/>
                    <a:p>
                      <a:r>
                        <a:rPr sz="1100">
                          <a:solidFill>
                            <a:srgbClr val="1A1A1A"/>
                          </a:solidFill>
                        </a:rPr>
                        <a:t>confirm the Marks table &amp; columns exist</a:t>
                      </a:r>
                    </a:p>
                  </a:txBody>
                  <a:tcPr anchor="ctr" marL="73152" marR="54864" marT="27432" marB="27432">
                    <a:solidFill>
                      <a:srgbClr val="FFFFFF"/>
                    </a:solidFill>
                  </a:tcPr>
                </a:tc>
                <a:tc>
                  <a:txBody>
                    <a:bodyPr wrap="square"/>
                    <a:lstStyle/>
                    <a:p>
                      <a:r>
                        <a:rPr sz="1100">
                          <a:solidFill>
                            <a:srgbClr val="1A1A1A"/>
                          </a:solidFill>
                        </a:rPr>
                        <a:t>the recipe / receipt book</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A DBMS is cooperating parts, not a black box — so 'it's slow' becomes a checklist: bad plan? cold cache? slow disk? lock wait?</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45 / 74</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 · CONCEPT 4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Data Dictionary / Catalog</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The data dictionary (system catalog) stores metadata — data about the data: table names, columns and their types, constraints, users and permissions, and indexes. It makes the DBMS self-describing.</a:t>
            </a:r>
          </a:p>
          <a:p>
            <a:pPr>
              <a:spcAft>
                <a:spcPts val="500"/>
              </a:spcAft>
            </a:pPr>
            <a:r>
              <a:rPr sz="1200" b="1">
                <a:solidFill>
                  <a:srgbClr val="185FA5"/>
                </a:solidFill>
              </a:rPr>
              <a:t>HOW IT WORKS</a:t>
            </a:r>
          </a:p>
          <a:p>
            <a:pPr>
              <a:spcAft>
                <a:spcPts val="600"/>
              </a:spcAft>
            </a:pPr>
            <a:r>
              <a:rPr sz="1400">
                <a:solidFill>
                  <a:srgbClr val="1A1A1A"/>
                </a:solidFill>
              </a:rPr>
              <a:t>•  When the DBMS checks 'does Student exist and what columns?', it reads the catalog.</a:t>
            </a:r>
          </a:p>
          <a:p>
            <a:pPr>
              <a:spcAft>
                <a:spcPts val="600"/>
              </a:spcAft>
            </a:pPr>
            <a:r>
              <a:rPr sz="1400">
                <a:solidFill>
                  <a:srgbClr val="1A1A1A"/>
                </a:solidFill>
              </a:rPr>
              <a:t>•  Metadata = data that describes other data (a phone book's 'sorted by surname' note).</a:t>
            </a:r>
          </a:p>
          <a:p>
            <a:pPr>
              <a:spcAft>
                <a:spcPts val="600"/>
              </a:spcAft>
            </a:pPr>
            <a:r>
              <a:rPr sz="1400">
                <a:solidFill>
                  <a:srgbClr val="1A1A1A"/>
                </a:solidFill>
              </a:rPr>
              <a:t>•  Tools like MySQL Workbench / phpMyAdmin list your tables by reading the catalog.</a:t>
            </a:r>
          </a:p>
          <a:p>
            <a:pPr>
              <a:spcAft>
                <a:spcPts val="600"/>
              </a:spcAft>
            </a:pPr>
            <a:r>
              <a:rPr sz="1400">
                <a:solidFill>
                  <a:srgbClr val="1A1A1A"/>
                </a:solidFill>
              </a:rPr>
              <a:t>•  Self-describing → the DBMS can validate a query (does this column exist?) before running it.</a:t>
            </a:r>
          </a:p>
        </p:txBody>
      </p:sp>
      <p:pic>
        <p:nvPicPr>
          <p:cNvPr id="6" name="Picture 5" descr="s3_data_dictionary.png"/>
          <p:cNvPicPr>
            <a:picLocks noChangeAspect="1"/>
          </p:cNvPicPr>
          <p:nvPr/>
        </p:nvPicPr>
        <p:blipFill>
          <a:blip r:embed="rId2"/>
          <a:stretch>
            <a:fillRect/>
          </a:stretch>
        </p:blipFill>
        <p:spPr>
          <a:xfrm>
            <a:off x="6355080" y="2550319"/>
            <a:ext cx="5532120" cy="2534600"/>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Metadata = data about data.</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46 / 74</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 · CONCEPT 4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Data Dictionary / Catalog</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a:t>
            </a:r>
          </a:p>
          <a:p>
            <a:pPr>
              <a:spcBef>
                <a:spcPts val="300"/>
              </a:spcBef>
            </a:pPr>
            <a:r>
              <a:rPr sz="1400">
                <a:solidFill>
                  <a:srgbClr val="1A1A1A"/>
                </a:solidFill>
              </a:rPr>
              <a:t>Open the college database in MySQL Workbench or phpMyAdmin and it instantly lists every table and each table's columns — read straight from the system catalog, the database's own metadata. Delete a column and the catalog updates; every tool then reflects the change automatically.</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"The catalog holds the actual data." No — it holds metadata (structure, types, constraints, permissions, indexes): data ABOUT the data, not the rows themselves.</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The data dictionary / system catalog is the part of the DBMS that stores metadata — data about the database: table names, column names and types, constraints, registered users and permissions, and indexes. The DBMS uses it to validate and process queries, making the database self-describing.</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data dictionary / system catalog · metadata · table names, column types, constraints, users, indexes · self-describing</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47 / 74</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 · CONCEPT 4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What the catalog stores (metadata) — and what it doesn't</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3753134"/>
                <a:gridCol w="3753134"/>
                <a:gridCol w="3923731"/>
              </a:tblGrid>
              <a:tr h="630936">
                <a:tc>
                  <a:txBody>
                    <a:bodyPr wrap="square"/>
                    <a:lstStyle/>
                    <a:p>
                      <a:r>
                        <a:rPr sz="1150" b="1">
                          <a:solidFill>
                            <a:srgbClr val="FFFFFF"/>
                          </a:solidFill>
                        </a:rPr>
                        <a:t>Catalog stores (metadata)</a:t>
                      </a:r>
                    </a:p>
                  </a:txBody>
                  <a:tcPr anchor="ctr" marL="73152" marR="54864" marT="27432" marB="27432">
                    <a:solidFill>
                      <a:srgbClr val="0C2B4A"/>
                    </a:solidFill>
                  </a:tcPr>
                </a:tc>
                <a:tc>
                  <a:txBody>
                    <a:bodyPr wrap="square"/>
                    <a:lstStyle/>
                    <a:p>
                      <a:r>
                        <a:rPr sz="1150" b="1">
                          <a:solidFill>
                            <a:srgbClr val="FFFFFF"/>
                          </a:solidFill>
                        </a:rPr>
                        <a:t>Example</a:t>
                      </a:r>
                    </a:p>
                  </a:txBody>
                  <a:tcPr anchor="ctr" marL="73152" marR="54864" marT="27432" marB="27432">
                    <a:solidFill>
                      <a:srgbClr val="0C2B4A"/>
                    </a:solidFill>
                  </a:tcPr>
                </a:tc>
                <a:tc>
                  <a:txBody>
                    <a:bodyPr wrap="square"/>
                    <a:lstStyle/>
                    <a:p>
                      <a:r>
                        <a:rPr sz="1150" b="1">
                          <a:solidFill>
                            <a:srgbClr val="FFFFFF"/>
                          </a:solidFill>
                        </a:rPr>
                        <a:t>NOT in the catalog</a:t>
                      </a:r>
                    </a:p>
                  </a:txBody>
                  <a:tcPr anchor="ctr" marL="73152" marR="54864" marT="27432" marB="27432">
                    <a:solidFill>
                      <a:srgbClr val="0C2B4A"/>
                    </a:solidFill>
                  </a:tcPr>
                </a:tc>
              </a:tr>
              <a:tr h="630936">
                <a:tc>
                  <a:txBody>
                    <a:bodyPr wrap="square"/>
                    <a:lstStyle/>
                    <a:p>
                      <a:r>
                        <a:rPr sz="1100" b="1">
                          <a:solidFill>
                            <a:srgbClr val="0C2B4A"/>
                          </a:solidFill>
                        </a:rPr>
                        <a:t>Table names</a:t>
                      </a:r>
                    </a:p>
                  </a:txBody>
                  <a:tcPr anchor="ctr" marL="73152" marR="54864" marT="27432" marB="27432">
                    <a:solidFill>
                      <a:srgbClr val="FFFFFF"/>
                    </a:solidFill>
                  </a:tcPr>
                </a:tc>
                <a:tc>
                  <a:txBody>
                    <a:bodyPr wrap="square"/>
                    <a:lstStyle/>
                    <a:p>
                      <a:r>
                        <a:rPr sz="1100">
                          <a:solidFill>
                            <a:srgbClr val="1A1A1A"/>
                          </a:solidFill>
                        </a:rPr>
                        <a:t>'Student', 'Marks'</a:t>
                      </a:r>
                    </a:p>
                  </a:txBody>
                  <a:tcPr anchor="ctr" marL="73152" marR="54864" marT="27432" marB="27432">
                    <a:solidFill>
                      <a:srgbClr val="FFFFFF"/>
                    </a:solidFill>
                  </a:tcPr>
                </a:tc>
                <a:tc>
                  <a:txBody>
                    <a:bodyPr wrap="square"/>
                    <a:lstStyle/>
                    <a:p>
                      <a:r>
                        <a:rPr sz="1100">
                          <a:solidFill>
                            <a:srgbClr val="1A1A1A"/>
                          </a:solidFill>
                        </a:rPr>
                        <a:t>the actual rows of data</a:t>
                      </a:r>
                    </a:p>
                  </a:txBody>
                  <a:tcPr anchor="ctr" marL="73152" marR="54864" marT="27432" marB="27432">
                    <a:solidFill>
                      <a:srgbClr val="FFFFFF"/>
                    </a:solidFill>
                  </a:tcPr>
                </a:tc>
              </a:tr>
              <a:tr h="630936">
                <a:tc>
                  <a:txBody>
                    <a:bodyPr wrap="square"/>
                    <a:lstStyle/>
                    <a:p>
                      <a:r>
                        <a:rPr sz="1100" b="1">
                          <a:solidFill>
                            <a:srgbClr val="0C2B4A"/>
                          </a:solidFill>
                        </a:rPr>
                        <a:t>Column names &amp; types</a:t>
                      </a:r>
                    </a:p>
                  </a:txBody>
                  <a:tcPr anchor="ctr" marL="73152" marR="54864" marT="27432" marB="27432">
                    <a:solidFill>
                      <a:srgbClr val="EEF3F8"/>
                    </a:solidFill>
                  </a:tcPr>
                </a:tc>
                <a:tc>
                  <a:txBody>
                    <a:bodyPr wrap="square"/>
                    <a:lstStyle/>
                    <a:p>
                      <a:r>
                        <a:rPr sz="1100">
                          <a:solidFill>
                            <a:srgbClr val="1A1A1A"/>
                          </a:solidFill>
                        </a:rPr>
                        <a:t>roll INT, name VARCHAR(50)</a:t>
                      </a:r>
                    </a:p>
                  </a:txBody>
                  <a:tcPr anchor="ctr" marL="73152" marR="54864" marT="27432" marB="27432">
                    <a:solidFill>
                      <a:srgbClr val="EEF3F8"/>
                    </a:solidFill>
                  </a:tcPr>
                </a:tc>
                <a:tc>
                  <a:txBody>
                    <a:bodyPr wrap="square"/>
                    <a:lstStyle/>
                    <a:p>
                      <a:r>
                        <a:rPr sz="1100">
                          <a:solidFill>
                            <a:srgbClr val="1A1A1A"/>
                          </a:solidFill>
                        </a:rPr>
                        <a:t>Sita's actual name</a:t>
                      </a:r>
                    </a:p>
                  </a:txBody>
                  <a:tcPr anchor="ctr" marL="73152" marR="54864" marT="27432" marB="27432">
                    <a:solidFill>
                      <a:srgbClr val="EEF3F8"/>
                    </a:solidFill>
                  </a:tcPr>
                </a:tc>
              </a:tr>
              <a:tr h="630936">
                <a:tc>
                  <a:txBody>
                    <a:bodyPr wrap="square"/>
                    <a:lstStyle/>
                    <a:p>
                      <a:r>
                        <a:rPr sz="1100" b="1">
                          <a:solidFill>
                            <a:srgbClr val="0C2B4A"/>
                          </a:solidFill>
                        </a:rPr>
                        <a:t>Constraints</a:t>
                      </a:r>
                    </a:p>
                  </a:txBody>
                  <a:tcPr anchor="ctr" marL="73152" marR="54864" marT="27432" marB="27432">
                    <a:solidFill>
                      <a:srgbClr val="FFFFFF"/>
                    </a:solidFill>
                  </a:tcPr>
                </a:tc>
                <a:tc>
                  <a:txBody>
                    <a:bodyPr wrap="square"/>
                    <a:lstStyle/>
                    <a:p>
                      <a:r>
                        <a:rPr sz="1100">
                          <a:solidFill>
                            <a:srgbClr val="1A1A1A"/>
                          </a:solidFill>
                        </a:rPr>
                        <a:t>score must be 0–100</a:t>
                      </a:r>
                    </a:p>
                  </a:txBody>
                  <a:tcPr anchor="ctr" marL="73152" marR="54864" marT="27432" marB="27432">
                    <a:solidFill>
                      <a:srgbClr val="FFFFFF"/>
                    </a:solidFill>
                  </a:tcPr>
                </a:tc>
                <a:tc>
                  <a:txBody>
                    <a:bodyPr wrap="square"/>
                    <a:lstStyle/>
                    <a:p>
                      <a:r>
                        <a:rPr sz="1100">
                          <a:solidFill>
                            <a:srgbClr val="1A1A1A"/>
                          </a:solidFill>
                        </a:rPr>
                        <a:t>the actual score 78</a:t>
                      </a:r>
                    </a:p>
                  </a:txBody>
                  <a:tcPr anchor="ctr" marL="73152" marR="54864" marT="27432" marB="27432">
                    <a:solidFill>
                      <a:srgbClr val="FFFFFF"/>
                    </a:solidFill>
                  </a:tcPr>
                </a:tc>
              </a:tr>
              <a:tr h="630936">
                <a:tc>
                  <a:txBody>
                    <a:bodyPr wrap="square"/>
                    <a:lstStyle/>
                    <a:p>
                      <a:r>
                        <a:rPr sz="1100" b="1">
                          <a:solidFill>
                            <a:srgbClr val="0C2B4A"/>
                          </a:solidFill>
                        </a:rPr>
                        <a:t>Users &amp; permissions</a:t>
                      </a:r>
                    </a:p>
                  </a:txBody>
                  <a:tcPr anchor="ctr" marL="73152" marR="54864" marT="27432" marB="27432">
                    <a:solidFill>
                      <a:srgbClr val="EEF3F8"/>
                    </a:solidFill>
                  </a:tcPr>
                </a:tc>
                <a:tc>
                  <a:txBody>
                    <a:bodyPr wrap="square"/>
                    <a:lstStyle/>
                    <a:p>
                      <a:r>
                        <a:rPr sz="1100">
                          <a:solidFill>
                            <a:srgbClr val="1A1A1A"/>
                          </a:solidFill>
                        </a:rPr>
                        <a:t>clerk may edit Marks</a:t>
                      </a:r>
                    </a:p>
                  </a:txBody>
                  <a:tcPr anchor="ctr" marL="73152" marR="54864" marT="27432" marB="27432">
                    <a:solidFill>
                      <a:srgbClr val="EEF3F8"/>
                    </a:solidFill>
                  </a:tcPr>
                </a:tc>
                <a:tc>
                  <a:txBody>
                    <a:bodyPr wrap="square"/>
                    <a:lstStyle/>
                    <a:p>
                      <a:r>
                        <a:rPr sz="1100">
                          <a:solidFill>
                            <a:srgbClr val="1A1A1A"/>
                          </a:solidFill>
                        </a:rPr>
                        <a:t>the marks themselves</a:t>
                      </a:r>
                    </a:p>
                  </a:txBody>
                  <a:tcPr anchor="ctr" marL="73152" marR="54864" marT="27432" marB="27432">
                    <a:solidFill>
                      <a:srgbClr val="EEF3F8"/>
                    </a:solidFill>
                  </a:tcPr>
                </a:tc>
              </a:tr>
              <a:tr h="630936">
                <a:tc>
                  <a:txBody>
                    <a:bodyPr wrap="square"/>
                    <a:lstStyle/>
                    <a:p>
                      <a:r>
                        <a:rPr sz="1100" b="1">
                          <a:solidFill>
                            <a:srgbClr val="0C2B4A"/>
                          </a:solidFill>
                        </a:rPr>
                        <a:t>Indexes</a:t>
                      </a:r>
                    </a:p>
                  </a:txBody>
                  <a:tcPr anchor="ctr" marL="73152" marR="54864" marT="27432" marB="27432">
                    <a:solidFill>
                      <a:srgbClr val="FFFFFF"/>
                    </a:solidFill>
                  </a:tcPr>
                </a:tc>
                <a:tc>
                  <a:txBody>
                    <a:bodyPr wrap="square"/>
                    <a:lstStyle/>
                    <a:p>
                      <a:r>
                        <a:rPr sz="1100">
                          <a:solidFill>
                            <a:srgbClr val="1A1A1A"/>
                          </a:solidFill>
                        </a:rPr>
                        <a:t>index on roll number</a:t>
                      </a:r>
                    </a:p>
                  </a:txBody>
                  <a:tcPr anchor="ctr" marL="73152" marR="54864" marT="27432" marB="27432">
                    <a:solidFill>
                      <a:srgbClr val="FFFFFF"/>
                    </a:solidFill>
                  </a:tcPr>
                </a:tc>
                <a:tc>
                  <a:txBody>
                    <a:bodyPr wrap="square"/>
                    <a:lstStyle/>
                    <a:p>
                      <a:r>
                        <a:rPr sz="1100">
                          <a:solidFill>
                            <a:srgbClr val="1A1A1A"/>
                          </a:solidFill>
                        </a:rPr>
                        <a:t>the indexed values</a:t>
                      </a:r>
                    </a:p>
                  </a:txBody>
                  <a:tcPr anchor="ctr" marL="73152" marR="54864" marT="27432" marB="27432">
                    <a:solidFill>
                      <a:srgbClr val="FFFFFF"/>
                    </a:solidFill>
                  </a:tcPr>
                </a:tc>
              </a:tr>
              <a:tr h="630936">
                <a:tc>
                  <a:txBody>
                    <a:bodyPr wrap="square"/>
                    <a:lstStyle/>
                    <a:p>
                      <a:r>
                        <a:rPr sz="1100" b="1">
                          <a:solidFill>
                            <a:srgbClr val="0C2B4A"/>
                          </a:solidFill>
                        </a:rPr>
                        <a:t>Keys / relationships</a:t>
                      </a:r>
                    </a:p>
                  </a:txBody>
                  <a:tcPr anchor="ctr" marL="73152" marR="54864" marT="27432" marB="27432">
                    <a:solidFill>
                      <a:srgbClr val="EEF3F8"/>
                    </a:solidFill>
                  </a:tcPr>
                </a:tc>
                <a:tc>
                  <a:txBody>
                    <a:bodyPr wrap="square"/>
                    <a:lstStyle/>
                    <a:p>
                      <a:r>
                        <a:rPr sz="1100">
                          <a:solidFill>
                            <a:srgbClr val="1A1A1A"/>
                          </a:solidFill>
                        </a:rPr>
                        <a:t>Marks.roll → Student.roll</a:t>
                      </a:r>
                    </a:p>
                  </a:txBody>
                  <a:tcPr anchor="ctr" marL="73152" marR="54864" marT="27432" marB="27432">
                    <a:solidFill>
                      <a:srgbClr val="EEF3F8"/>
                    </a:solidFill>
                  </a:tcPr>
                </a:tc>
                <a:tc>
                  <a:txBody>
                    <a:bodyPr wrap="square"/>
                    <a:lstStyle/>
                    <a:p>
                      <a:r>
                        <a:rPr sz="1100">
                          <a:solidFill>
                            <a:srgbClr val="1A1A1A"/>
                          </a:solidFill>
                        </a:rPr>
                        <a:t>the linked rows</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Metadata = data ABOUT the data. Tools like phpMyAdmin / MySQL Workbench list your tables by reading the catalog — which makes the DBMS self-describing.</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48 / 74</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E1F5EE"/>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F6E56"/>
                </a:solidFill>
              </a:rPr>
              <a:t>🛠  IN-CLASS ACTIVITY  ·  THINK–PAIR–SHARE</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Sort the command</a:t>
            </a:r>
          </a:p>
        </p:txBody>
      </p:sp>
      <p:sp>
        <p:nvSpPr>
          <p:cNvPr id="5" name="TextBox 4"/>
          <p:cNvSpPr txBox="1"/>
          <p:nvPr/>
        </p:nvSpPr>
        <p:spPr>
          <a:xfrm>
            <a:off x="640080" y="1600200"/>
            <a:ext cx="10881360" cy="3291840"/>
          </a:xfrm>
          <a:prstGeom prst="rect">
            <a:avLst/>
          </a:prstGeom>
          <a:noFill/>
        </p:spPr>
        <p:txBody>
          <a:bodyPr wrap="square">
            <a:spAutoFit/>
          </a:bodyPr>
          <a:lstStyle/>
          <a:p>
            <a:pPr>
              <a:spcAft>
                <a:spcPts val="700"/>
              </a:spcAft>
            </a:pPr>
            <a:r>
              <a:rPr sz="1550">
                <a:solidFill>
                  <a:srgbClr val="1A1A1A"/>
                </a:solidFill>
              </a:rPr>
              <a:t>•  Rapid-fire (class or pairs): classify each as DDL / DML / DCL / TCL —</a:t>
            </a:r>
          </a:p>
          <a:p>
            <a:pPr>
              <a:spcAft>
                <a:spcPts val="700"/>
              </a:spcAft>
            </a:pPr>
            <a:r>
              <a:rPr sz="1550">
                <a:solidFill>
                  <a:srgbClr val="1A1A1A"/>
                </a:solidFill>
              </a:rPr>
              <a:t>•  CREATE TABLE · SELECT · GRANT · DROP · UPDATE · COMMIT · REVOKE · INSERT.</a:t>
            </a:r>
          </a:p>
          <a:p>
            <a:pPr>
              <a:spcAft>
                <a:spcPts val="700"/>
              </a:spcAft>
            </a:pPr>
            <a:r>
              <a:rPr sz="1550">
                <a:solidFill>
                  <a:srgbClr val="1A1A1A"/>
                </a:solidFill>
              </a:rPr>
              <a:t>•  Then: 'enrol a student in a brand-new course and make it permanent' — which sub-languages, in order?</a:t>
            </a:r>
          </a:p>
          <a:p>
            <a:pPr>
              <a:spcAft>
                <a:spcPts val="700"/>
              </a:spcAft>
            </a:pPr>
            <a:r>
              <a:rPr sz="1550">
                <a:solidFill>
                  <a:srgbClr val="1A1A1A"/>
                </a:solidFill>
              </a:rPr>
              <a:t>•  Discuss any disagreements.</a:t>
            </a:r>
          </a:p>
        </p:txBody>
      </p:sp>
      <p:sp>
        <p:nvSpPr>
          <p:cNvPr id="6" name="Rounded Rectangle 5"/>
          <p:cNvSpPr/>
          <p:nvPr/>
        </p:nvSpPr>
        <p:spPr>
          <a:xfrm>
            <a:off x="640080" y="5029200"/>
            <a:ext cx="10881360" cy="1554480"/>
          </a:xfrm>
          <a:prstGeom prst="roundRect">
            <a:avLst/>
          </a:prstGeom>
          <a:solidFill>
            <a:srgbClr val="FFFFFF"/>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Expected answer</a:t>
            </a:r>
          </a:p>
          <a:p>
            <a:pPr>
              <a:spcBef>
                <a:spcPts val="300"/>
              </a:spcBef>
            </a:pPr>
            <a:r>
              <a:rPr sz="1400">
                <a:solidFill>
                  <a:srgbClr val="1A1A1A"/>
                </a:solidFill>
              </a:rPr>
              <a:t>DDL: CREATE TABLE, DROP. DML: SELECT, UPDATE, INSERT. DCL: GRANT, REVOKE. TCL: COMMIT. The chained task = DDL (create the course) → DML (enrol) → TCL (commit) — one real task touches several sub-languages.</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49 / 74</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S3 — Quick Check</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900"/>
              </a:spcBef>
            </a:pPr>
            <a:r>
              <a:rPr sz="1700" b="1">
                <a:solidFill>
                  <a:srgbClr val="0C2B4A"/>
                </a:solidFill>
              </a:rPr>
              <a:t>Q1.  CREATE TABLE belongs to which sub-language?</a:t>
            </a:r>
          </a:p>
          <a:p>
            <a:pPr lvl="1"/>
            <a:r>
              <a:rPr sz="1500" b="1">
                <a:solidFill>
                  <a:srgbClr val="0F6E56"/>
                </a:solidFill>
              </a:rPr>
              <a:t>a) ✅ DDL   b) DML   c) DCL   d) TCL</a:t>
            </a:r>
          </a:p>
          <a:p>
            <a:pPr>
              <a:spcBef>
                <a:spcPts val="900"/>
              </a:spcBef>
            </a:pPr>
            <a:r>
              <a:rPr sz="1700" b="1">
                <a:solidFill>
                  <a:srgbClr val="0C2B4A"/>
                </a:solidFill>
              </a:rPr>
              <a:t>Q2.  Which component decides the cheapest way to execute a query?</a:t>
            </a:r>
          </a:p>
          <a:p>
            <a:pPr lvl="1"/>
            <a:r>
              <a:rPr sz="1500" b="1">
                <a:solidFill>
                  <a:srgbClr val="0F6E56"/>
                </a:solidFill>
              </a:rPr>
              <a:t>a) storage manager   b) buffer manager   c) ✅ query processor / optimizer   d) catalog</a:t>
            </a:r>
          </a:p>
          <a:p>
            <a:pPr lvl="1">
              <a:spcBef>
                <a:spcPts val="600"/>
              </a:spcBef>
            </a:pPr>
            <a:r>
              <a:rPr sz="1500" i="1">
                <a:solidFill>
                  <a:srgbClr val="1A1A1A"/>
                </a:solidFill>
              </a:rPr>
              <a:t>Discussion: which DBMS interface would you build for a non-technical shopkeeper, and why?</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50 / 74</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C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C2B4A"/>
                </a:solidFill>
              </a:rPr>
              <a:t>S3 · SUMMARY  ·  [~2 MIN]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Summary &amp; Key Takeaways</a:t>
            </a:r>
          </a:p>
        </p:txBody>
      </p:sp>
      <p:sp>
        <p:nvSpPr>
          <p:cNvPr id="5" name="TextBox 4"/>
          <p:cNvSpPr txBox="1"/>
          <p:nvPr/>
        </p:nvSpPr>
        <p:spPr>
          <a:xfrm>
            <a:off x="640080" y="1554480"/>
            <a:ext cx="10972800" cy="2468880"/>
          </a:xfrm>
          <a:prstGeom prst="rect">
            <a:avLst/>
          </a:prstGeom>
          <a:noFill/>
        </p:spPr>
        <p:txBody>
          <a:bodyPr wrap="square">
            <a:spAutoFit/>
          </a:bodyPr>
          <a:lstStyle/>
          <a:p>
            <a:pPr>
              <a:spcAft>
                <a:spcPts val="800"/>
              </a:spcAft>
            </a:pPr>
            <a:r>
              <a:rPr sz="1500">
                <a:solidFill>
                  <a:srgbClr val="1A1A1A"/>
                </a:solidFill>
              </a:rPr>
              <a:t>1.  DDL / DML / DCL / TCL each have a distinct job; SQL bundles all four.</a:t>
            </a:r>
          </a:p>
          <a:p>
            <a:pPr>
              <a:spcAft>
                <a:spcPts val="800"/>
              </a:spcAft>
            </a:pPr>
            <a:r>
              <a:rPr sz="1500">
                <a:solidFill>
                  <a:srgbClr val="1A1A1A"/>
                </a:solidFill>
              </a:rPr>
              <a:t>2.  A DBMS offers many interface styles for many kinds of users — match the interface to the user.</a:t>
            </a:r>
          </a:p>
          <a:p>
            <a:pPr>
              <a:spcAft>
                <a:spcPts val="800"/>
              </a:spcAft>
            </a:pPr>
            <a:r>
              <a:rPr sz="1500">
                <a:solidFill>
                  <a:srgbClr val="1A1A1A"/>
                </a:solidFill>
              </a:rPr>
              <a:t>3.  A DBMS is several cooperating components (query processor, storage/buffer/transaction managers) plus a catalog of metadata.</a:t>
            </a:r>
          </a:p>
        </p:txBody>
      </p:sp>
      <p:sp>
        <p:nvSpPr>
          <p:cNvPr id="6" name="Rounded Rectangle 5"/>
          <p:cNvSpPr/>
          <p:nvPr/>
        </p:nvSpPr>
        <p:spPr>
          <a:xfrm>
            <a:off x="640080" y="4160520"/>
            <a:ext cx="10972800" cy="123444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Why this matters</a:t>
            </a:r>
          </a:p>
          <a:p>
            <a:pPr>
              <a:spcBef>
                <a:spcPts val="300"/>
              </a:spcBef>
            </a:pPr>
            <a:r>
              <a:rPr sz="1350">
                <a:solidFill>
                  <a:srgbClr val="1A1A1A"/>
                </a:solidFill>
              </a:rPr>
              <a:t>Knowing DDL / DML / DCL is the literal day-one skill in any backend, data, or QA role. When a job ad says 'SQL required', it is asking for exactly these sub-languages — and saying which command does which job marks you as someone who understands databases, not just syntax.</a:t>
            </a:r>
          </a:p>
        </p:txBody>
      </p:sp>
      <p:sp>
        <p:nvSpPr>
          <p:cNvPr id="7" name="Rounded Rectangle 6"/>
          <p:cNvSpPr/>
          <p:nvPr/>
        </p:nvSpPr>
        <p:spPr>
          <a:xfrm>
            <a:off x="640080" y="5504688"/>
            <a:ext cx="10972800" cy="105156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Next</a:t>
            </a:r>
          </a:p>
          <a:p>
            <a:pPr>
              <a:spcBef>
                <a:spcPts val="300"/>
              </a:spcBef>
            </a:pPr>
            <a:r>
              <a:rPr sz="1350">
                <a:solidFill>
                  <a:srgbClr val="1A1A1A"/>
                </a:solidFill>
              </a:rPr>
              <a:t>S4 — WHERE the database runs: centralized vs client/server, and how we classify DBMSs.</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51 / 74</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SESSION 4 · LECTURE HOUR 4 (OF 4) · CLOSES UNIT 1</a:t>
            </a:r>
          </a:p>
        </p:txBody>
      </p:sp>
      <p:sp>
        <p:nvSpPr>
          <p:cNvPr id="3" name="TextBox 2"/>
          <p:cNvSpPr txBox="1"/>
          <p:nvPr/>
        </p:nvSpPr>
        <p:spPr>
          <a:xfrm>
            <a:off x="822960" y="2286000"/>
            <a:ext cx="10515600" cy="1280160"/>
          </a:xfrm>
          <a:prstGeom prst="rect">
            <a:avLst/>
          </a:prstGeom>
          <a:noFill/>
        </p:spPr>
        <p:txBody>
          <a:bodyPr wrap="square">
            <a:spAutoFit/>
          </a:bodyPr>
          <a:lstStyle/>
          <a:p>
            <a:r>
              <a:rPr sz="3100" b="1">
                <a:solidFill>
                  <a:srgbClr val="FFFFFF"/>
                </a:solidFill>
              </a:rPr>
              <a:t>Centralized vs Client/Server · Classifying DBMSs</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Results are out; 5,000 students hit refresh in the same minute. What stops the system collapsing? Architecture — WHERE the database and apps actually run.</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52 / 74</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 · CONCEPT 1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Centralized Architecture</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In a centralized architecture the data, the DBMS, and the application all run on one central machine; users connect through simple terminals that mostly just display results.</a:t>
            </a:r>
          </a:p>
          <a:p>
            <a:pPr>
              <a:spcAft>
                <a:spcPts val="500"/>
              </a:spcAft>
            </a:pPr>
            <a:r>
              <a:rPr sz="1200" b="1">
                <a:solidFill>
                  <a:srgbClr val="185FA5"/>
                </a:solidFill>
              </a:rPr>
              <a:t>HOW IT WORKS</a:t>
            </a:r>
          </a:p>
          <a:p>
            <a:pPr>
              <a:spcAft>
                <a:spcPts val="600"/>
              </a:spcAft>
            </a:pPr>
            <a:r>
              <a:rPr sz="1400">
                <a:solidFill>
                  <a:srgbClr val="1A1A1A"/>
                </a:solidFill>
              </a:rPr>
              <a:t>•  All the real work happens in one place.</a:t>
            </a:r>
          </a:p>
          <a:p>
            <a:pPr>
              <a:spcAft>
                <a:spcPts val="600"/>
              </a:spcAft>
            </a:pPr>
            <a:r>
              <a:rPr sz="1400">
                <a:solidFill>
                  <a:srgbClr val="1A1A1A"/>
                </a:solidFill>
              </a:rPr>
              <a:t>•  Advantage: simple to set up, manage, and secure — only one machine to look after.</a:t>
            </a:r>
          </a:p>
          <a:p>
            <a:pPr>
              <a:spcAft>
                <a:spcPts val="600"/>
              </a:spcAft>
            </a:pPr>
            <a:r>
              <a:rPr sz="1400">
                <a:solidFill>
                  <a:srgbClr val="1A1A1A"/>
                </a:solidFill>
              </a:rPr>
              <a:t>•  Disadvantage: a single point of failure — if it goes down, everything stops.</a:t>
            </a:r>
          </a:p>
          <a:p>
            <a:pPr>
              <a:spcAft>
                <a:spcPts val="600"/>
              </a:spcAft>
            </a:pPr>
            <a:r>
              <a:rPr sz="1400">
                <a:solidFill>
                  <a:srgbClr val="1A1A1A"/>
                </a:solidFill>
              </a:rPr>
              <a:t>•  It also struggles to scale to large numbers of simultaneous users.</a:t>
            </a:r>
          </a:p>
        </p:txBody>
      </p:sp>
      <p:pic>
        <p:nvPicPr>
          <p:cNvPr id="6" name="Picture 5" descr="s4_centralized.png"/>
          <p:cNvPicPr>
            <a:picLocks noChangeAspect="1"/>
          </p:cNvPicPr>
          <p:nvPr/>
        </p:nvPicPr>
        <p:blipFill>
          <a:blip r:embed="rId2"/>
          <a:stretch>
            <a:fillRect/>
          </a:stretch>
        </p:blipFill>
        <p:spPr>
          <a:xfrm>
            <a:off x="6355080" y="2497611"/>
            <a:ext cx="5532120" cy="2640017"/>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One machine = one point of failure.</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53 / 74</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 · CONCEPT 1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Centralized Architecture</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a:t>
            </a:r>
          </a:p>
          <a:p>
            <a:pPr>
              <a:spcBef>
                <a:spcPts val="300"/>
              </a:spcBef>
            </a:pPr>
            <a:r>
              <a:rPr sz="1400">
                <a:solidFill>
                  <a:srgbClr val="1A1A1A"/>
                </a:solidFill>
              </a:rPr>
              <a:t>A Kathmandu trading firm ran its entire inventory and billing on one back-office PC; during the Dashain rush its disk failed with no backup, and the whole business stopped for two days. That is the defining weakness of a centralized architecture: everything on one machine, so that machine is a single point of failure.</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"Centralized is safest because it's all in one place." That one place is a single point of failure and can't scale — its simplicity is exactly its fragility.</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In a centralized architecture, the data, DBMS, and application all run on one central machine, with terminals only displaying results. It is simple to set up and manage, but its main drawback is being a single point of failure (if the central machine fails, everything stops) together with poor scalability.</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centralized architecture · single point of failure · scalability · terminal</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54 / 74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 · CONCEPT 1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Centralized setups — and the single point of failure</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5102678"/>
                <a:gridCol w="6327321"/>
              </a:tblGrid>
              <a:tr h="883310">
                <a:tc>
                  <a:txBody>
                    <a:bodyPr wrap="square"/>
                    <a:lstStyle/>
                    <a:p>
                      <a:r>
                        <a:rPr sz="1150" b="1">
                          <a:solidFill>
                            <a:srgbClr val="FFFFFF"/>
                          </a:solidFill>
                        </a:rPr>
                        <a:t>Centralized setup</a:t>
                      </a:r>
                    </a:p>
                  </a:txBody>
                  <a:tcPr anchor="ctr" marL="73152" marR="54864" marT="27432" marB="27432">
                    <a:solidFill>
                      <a:srgbClr val="0C2B4A"/>
                    </a:solidFill>
                  </a:tcPr>
                </a:tc>
                <a:tc>
                  <a:txBody>
                    <a:bodyPr wrap="square"/>
                    <a:lstStyle/>
                    <a:p>
                      <a:r>
                        <a:rPr sz="1150" b="1">
                          <a:solidFill>
                            <a:srgbClr val="FFFFFF"/>
                          </a:solidFill>
                        </a:rPr>
                        <a:t>If the one machine fails…</a:t>
                      </a:r>
                    </a:p>
                  </a:txBody>
                  <a:tcPr anchor="ctr" marL="73152" marR="54864" marT="27432" marB="27432">
                    <a:solidFill>
                      <a:srgbClr val="0C2B4A"/>
                    </a:solidFill>
                  </a:tcPr>
                </a:tc>
              </a:tr>
              <a:tr h="883310">
                <a:tc>
                  <a:txBody>
                    <a:bodyPr wrap="square"/>
                    <a:lstStyle/>
                    <a:p>
                      <a:r>
                        <a:rPr sz="1100" b="1">
                          <a:solidFill>
                            <a:srgbClr val="0C2B4A"/>
                          </a:solidFill>
                        </a:rPr>
                        <a:t>A shop's billing on one back-office PC</a:t>
                      </a:r>
                    </a:p>
                  </a:txBody>
                  <a:tcPr anchor="ctr" marL="73152" marR="54864" marT="27432" marB="27432">
                    <a:solidFill>
                      <a:srgbClr val="FFFFFF"/>
                    </a:solidFill>
                  </a:tcPr>
                </a:tc>
                <a:tc>
                  <a:txBody>
                    <a:bodyPr wrap="square"/>
                    <a:lstStyle/>
                    <a:p>
                      <a:r>
                        <a:rPr sz="1100">
                          <a:solidFill>
                            <a:srgbClr val="1A1A1A"/>
                          </a:solidFill>
                        </a:rPr>
                        <a:t>the whole business stops (a Dashain disk crash, 2 days down)</a:t>
                      </a:r>
                    </a:p>
                  </a:txBody>
                  <a:tcPr anchor="ctr" marL="73152" marR="54864" marT="27432" marB="27432">
                    <a:solidFill>
                      <a:srgbClr val="FFFFFF"/>
                    </a:solidFill>
                  </a:tcPr>
                </a:tc>
              </a:tr>
              <a:tr h="883310">
                <a:tc>
                  <a:txBody>
                    <a:bodyPr wrap="square"/>
                    <a:lstStyle/>
                    <a:p>
                      <a:r>
                        <a:rPr sz="1100" b="1">
                          <a:solidFill>
                            <a:srgbClr val="0C2B4A"/>
                          </a:solidFill>
                        </a:rPr>
                        <a:t>A clinic's records on a single computer</a:t>
                      </a:r>
                    </a:p>
                  </a:txBody>
                  <a:tcPr anchor="ctr" marL="73152" marR="54864" marT="27432" marB="27432">
                    <a:solidFill>
                      <a:srgbClr val="EEF3F8"/>
                    </a:solidFill>
                  </a:tcPr>
                </a:tc>
                <a:tc>
                  <a:txBody>
                    <a:bodyPr wrap="square"/>
                    <a:lstStyle/>
                    <a:p>
                      <a:r>
                        <a:rPr sz="1100">
                          <a:solidFill>
                            <a:srgbClr val="1A1A1A"/>
                          </a:solidFill>
                        </a:rPr>
                        <a:t>no patient records until it's fixed</a:t>
                      </a:r>
                    </a:p>
                  </a:txBody>
                  <a:tcPr anchor="ctr" marL="73152" marR="54864" marT="27432" marB="27432">
                    <a:solidFill>
                      <a:srgbClr val="EEF3F8"/>
                    </a:solidFill>
                  </a:tcPr>
                </a:tc>
              </a:tr>
              <a:tr h="883310">
                <a:tc>
                  <a:txBody>
                    <a:bodyPr wrap="square"/>
                    <a:lstStyle/>
                    <a:p>
                      <a:r>
                        <a:rPr sz="1100" b="1">
                          <a:solidFill>
                            <a:srgbClr val="0C2B4A"/>
                          </a:solidFill>
                        </a:rPr>
                        <a:t>A school's results on one server, no backup</a:t>
                      </a:r>
                    </a:p>
                  </a:txBody>
                  <a:tcPr anchor="ctr" marL="73152" marR="54864" marT="27432" marB="27432">
                    <a:solidFill>
                      <a:srgbClr val="FFFFFF"/>
                    </a:solidFill>
                  </a:tcPr>
                </a:tc>
                <a:tc>
                  <a:txBody>
                    <a:bodyPr wrap="square"/>
                    <a:lstStyle/>
                    <a:p>
                      <a:r>
                        <a:rPr sz="1100">
                          <a:solidFill>
                            <a:srgbClr val="1A1A1A"/>
                          </a:solidFill>
                        </a:rPr>
                        <a:t>results inaccessible; possible permanent loss</a:t>
                      </a:r>
                    </a:p>
                  </a:txBody>
                  <a:tcPr anchor="ctr" marL="73152" marR="54864" marT="27432" marB="27432">
                    <a:solidFill>
                      <a:srgbClr val="FFFFFF"/>
                    </a:solidFill>
                  </a:tcPr>
                </a:tc>
              </a:tr>
              <a:tr h="883312">
                <a:tc>
                  <a:txBody>
                    <a:bodyPr wrap="square"/>
                    <a:lstStyle/>
                    <a:p>
                      <a:r>
                        <a:rPr sz="1100" b="1">
                          <a:solidFill>
                            <a:srgbClr val="0C2B4A"/>
                          </a:solidFill>
                        </a:rPr>
                        <a:t>A cyber café's accounts on one till</a:t>
                      </a:r>
                    </a:p>
                  </a:txBody>
                  <a:tcPr anchor="ctr" marL="73152" marR="54864" marT="27432" marB="27432">
                    <a:solidFill>
                      <a:srgbClr val="EEF3F8"/>
                    </a:solidFill>
                  </a:tcPr>
                </a:tc>
                <a:tc>
                  <a:txBody>
                    <a:bodyPr wrap="square"/>
                    <a:lstStyle/>
                    <a:p>
                      <a:r>
                        <a:rPr sz="1100">
                          <a:solidFill>
                            <a:srgbClr val="1A1A1A"/>
                          </a:solidFill>
                        </a:rPr>
                        <a:t>no billing while it's down</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Centralized is simple to set up and secure (one machine) — but that one machine is a single point of failure and can't scale to many simultaneous users.</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55 / 74</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 · CONCEPT 2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Client/Server Architecture</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In a client/server architecture the work is split across machines over a network. Two-tier: client ↔ database server. Three-tier: client (UI) ↔ application server (business logic) ↔ database server.</a:t>
            </a:r>
          </a:p>
          <a:p>
            <a:pPr>
              <a:spcAft>
                <a:spcPts val="500"/>
              </a:spcAft>
            </a:pPr>
            <a:r>
              <a:rPr sz="1200" b="1">
                <a:solidFill>
                  <a:srgbClr val="185FA5"/>
                </a:solidFill>
              </a:rPr>
              <a:t>HOW IT WORKS</a:t>
            </a:r>
          </a:p>
          <a:p>
            <a:pPr>
              <a:spcAft>
                <a:spcPts val="600"/>
              </a:spcAft>
            </a:pPr>
            <a:r>
              <a:rPr sz="1400">
                <a:solidFill>
                  <a:srgbClr val="1A1A1A"/>
                </a:solidFill>
              </a:rPr>
              <a:t>•  Two-tier: the client (UI + application logic) talks directly to a database server.</a:t>
            </a:r>
          </a:p>
          <a:p>
            <a:pPr>
              <a:spcAft>
                <a:spcPts val="600"/>
              </a:spcAft>
            </a:pPr>
            <a:r>
              <a:rPr sz="1400">
                <a:solidFill>
                  <a:srgbClr val="1A1A1A"/>
                </a:solidFill>
              </a:rPr>
              <a:t>•  Three-tier: an application server (rules, processing, security) sits in the middle — the modern web/mobile standard.</a:t>
            </a:r>
          </a:p>
          <a:p>
            <a:pPr>
              <a:spcAft>
                <a:spcPts val="600"/>
              </a:spcAft>
            </a:pPr>
            <a:r>
              <a:rPr sz="1400">
                <a:solidFill>
                  <a:srgbClr val="1A1A1A"/>
                </a:solidFill>
              </a:rPr>
              <a:t>•  Each tier can be scaled, secured, and updated independently.</a:t>
            </a:r>
          </a:p>
          <a:p>
            <a:pPr>
              <a:spcAft>
                <a:spcPts val="600"/>
              </a:spcAft>
            </a:pPr>
            <a:r>
              <a:rPr sz="1400">
                <a:solidFill>
                  <a:srgbClr val="1A1A1A"/>
                </a:solidFill>
              </a:rPr>
              <a:t>•  Real data lives server-side: for security, one authoritative copy, and access from any device.</a:t>
            </a:r>
          </a:p>
        </p:txBody>
      </p:sp>
      <p:pic>
        <p:nvPicPr>
          <p:cNvPr id="6" name="Picture 5" descr="s4_client_server.png"/>
          <p:cNvPicPr>
            <a:picLocks noChangeAspect="1"/>
          </p:cNvPicPr>
          <p:nvPr/>
        </p:nvPicPr>
        <p:blipFill>
          <a:blip r:embed="rId2"/>
          <a:stretch>
            <a:fillRect/>
          </a:stretch>
        </p:blipFill>
        <p:spPr>
          <a:xfrm>
            <a:off x="6355080" y="2392193"/>
            <a:ext cx="5532120" cy="2850852"/>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Three tiers: face, logic, data.</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56 / 74</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 · CONCEPT 2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Client/Server Architecture</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a:t>
            </a:r>
          </a:p>
          <a:p>
            <a:pPr>
              <a:spcBef>
                <a:spcPts val="300"/>
              </a:spcBef>
            </a:pPr>
            <a:r>
              <a:rPr sz="1400">
                <a:solidFill>
                  <a:srgbClr val="1A1A1A"/>
                </a:solidFill>
              </a:rPr>
              <a:t>On Daraz your phone runs the client (screens); application servers handle logins, cart, and orders; database servers store products, orders, and accounts. During a Dashain sale Daraz adds more application servers without touching the database design — three tiers scaling independently.</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"Your phone stores your full bank ledger." No — the real data lives server-side (security if the phone is lost, one authoritative copy, access from any new device); the phone is just a client showing a view.</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Two-tier: the client (UI + application logic) communicates directly with a database server. Three-tier: an application server holding the business logic sits between the client (UI only) and the database server. Three-tier scales better, is easier to secure, and is the standard for modern web and mobile applications.</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client/server · two-tier · three-tier · application server / business logic · server-side</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57 / 74</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 · CONCEPT 2 · COMPARISON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Centralized vs two-tier vs three-tier</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2523506"/>
                <a:gridCol w="2523506"/>
                <a:gridCol w="2671948"/>
                <a:gridCol w="3711038"/>
              </a:tblGrid>
              <a:tr h="736092">
                <a:tc>
                  <a:txBody>
                    <a:bodyPr wrap="square"/>
                    <a:lstStyle/>
                    <a:p>
                      <a:r>
                        <a:rPr sz="1150" b="1">
                          <a:solidFill>
                            <a:srgbClr val="FFFFFF"/>
                          </a:solidFill>
                        </a:rPr>
                        <a:t>Dimension</a:t>
                      </a:r>
                    </a:p>
                  </a:txBody>
                  <a:tcPr anchor="ctr" marL="73152" marR="54864" marT="27432" marB="27432">
                    <a:solidFill>
                      <a:srgbClr val="0C2B4A"/>
                    </a:solidFill>
                  </a:tcPr>
                </a:tc>
                <a:tc>
                  <a:txBody>
                    <a:bodyPr wrap="square"/>
                    <a:lstStyle/>
                    <a:p>
                      <a:r>
                        <a:rPr sz="1150" b="1">
                          <a:solidFill>
                            <a:srgbClr val="FFFFFF"/>
                          </a:solidFill>
                        </a:rPr>
                        <a:t>Centralized</a:t>
                      </a:r>
                    </a:p>
                  </a:txBody>
                  <a:tcPr anchor="ctr" marL="73152" marR="54864" marT="27432" marB="27432">
                    <a:solidFill>
                      <a:srgbClr val="0C2B4A"/>
                    </a:solidFill>
                  </a:tcPr>
                </a:tc>
                <a:tc>
                  <a:txBody>
                    <a:bodyPr wrap="square"/>
                    <a:lstStyle/>
                    <a:p>
                      <a:r>
                        <a:rPr sz="1150" b="1">
                          <a:solidFill>
                            <a:srgbClr val="FFFFFF"/>
                          </a:solidFill>
                        </a:rPr>
                        <a:t>Two-tier</a:t>
                      </a:r>
                    </a:p>
                  </a:txBody>
                  <a:tcPr anchor="ctr" marL="73152" marR="54864" marT="27432" marB="27432">
                    <a:solidFill>
                      <a:srgbClr val="0C2B4A"/>
                    </a:solidFill>
                  </a:tcPr>
                </a:tc>
                <a:tc>
                  <a:txBody>
                    <a:bodyPr wrap="square"/>
                    <a:lstStyle/>
                    <a:p>
                      <a:r>
                        <a:rPr sz="1150" b="1">
                          <a:solidFill>
                            <a:srgbClr val="FFFFFF"/>
                          </a:solidFill>
                        </a:rPr>
                        <a:t>Three-tier</a:t>
                      </a:r>
                    </a:p>
                  </a:txBody>
                  <a:tcPr anchor="ctr" marL="73152" marR="54864" marT="27432" marB="27432">
                    <a:solidFill>
                      <a:srgbClr val="0C2B4A"/>
                    </a:solidFill>
                  </a:tcPr>
                </a:tc>
              </a:tr>
              <a:tr h="736092">
                <a:tc>
                  <a:txBody>
                    <a:bodyPr wrap="square"/>
                    <a:lstStyle/>
                    <a:p>
                      <a:r>
                        <a:rPr sz="1100" b="1">
                          <a:solidFill>
                            <a:srgbClr val="0C2B4A"/>
                          </a:solidFill>
                        </a:rPr>
                        <a:t>Where logic runs</a:t>
                      </a:r>
                    </a:p>
                  </a:txBody>
                  <a:tcPr anchor="ctr" marL="73152" marR="54864" marT="27432" marB="27432">
                    <a:solidFill>
                      <a:srgbClr val="FFFFFF"/>
                    </a:solidFill>
                  </a:tcPr>
                </a:tc>
                <a:tc>
                  <a:txBody>
                    <a:bodyPr wrap="square"/>
                    <a:lstStyle/>
                    <a:p>
                      <a:r>
                        <a:rPr sz="1100">
                          <a:solidFill>
                            <a:srgbClr val="1A1A1A"/>
                          </a:solidFill>
                        </a:rPr>
                        <a:t>one machine</a:t>
                      </a:r>
                    </a:p>
                  </a:txBody>
                  <a:tcPr anchor="ctr" marL="73152" marR="54864" marT="27432" marB="27432">
                    <a:solidFill>
                      <a:srgbClr val="FFFFFF"/>
                    </a:solidFill>
                  </a:tcPr>
                </a:tc>
                <a:tc>
                  <a:txBody>
                    <a:bodyPr wrap="square"/>
                    <a:lstStyle/>
                    <a:p>
                      <a:r>
                        <a:rPr sz="1100">
                          <a:solidFill>
                            <a:srgbClr val="1A1A1A"/>
                          </a:solidFill>
                        </a:rPr>
                        <a:t>client + DB server</a:t>
                      </a:r>
                    </a:p>
                  </a:txBody>
                  <a:tcPr anchor="ctr" marL="73152" marR="54864" marT="27432" marB="27432">
                    <a:solidFill>
                      <a:srgbClr val="FFFFFF"/>
                    </a:solidFill>
                  </a:tcPr>
                </a:tc>
                <a:tc>
                  <a:txBody>
                    <a:bodyPr wrap="square"/>
                    <a:lstStyle/>
                    <a:p>
                      <a:r>
                        <a:rPr sz="1100">
                          <a:solidFill>
                            <a:srgbClr val="1A1A1A"/>
                          </a:solidFill>
                        </a:rPr>
                        <a:t>client · app server · DB server</a:t>
                      </a:r>
                    </a:p>
                  </a:txBody>
                  <a:tcPr anchor="ctr" marL="73152" marR="54864" marT="27432" marB="27432">
                    <a:solidFill>
                      <a:srgbClr val="FFFFFF"/>
                    </a:solidFill>
                  </a:tcPr>
                </a:tc>
              </a:tr>
              <a:tr h="736092">
                <a:tc>
                  <a:txBody>
                    <a:bodyPr wrap="square"/>
                    <a:lstStyle/>
                    <a:p>
                      <a:r>
                        <a:rPr sz="1100" b="1">
                          <a:solidFill>
                            <a:srgbClr val="0C2B4A"/>
                          </a:solidFill>
                        </a:rPr>
                        <a:t>Scalability</a:t>
                      </a:r>
                    </a:p>
                  </a:txBody>
                  <a:tcPr anchor="ctr" marL="73152" marR="54864" marT="27432" marB="27432">
                    <a:solidFill>
                      <a:srgbClr val="EEF3F8"/>
                    </a:solidFill>
                  </a:tcPr>
                </a:tc>
                <a:tc>
                  <a:txBody>
                    <a:bodyPr wrap="square"/>
                    <a:lstStyle/>
                    <a:p>
                      <a:r>
                        <a:rPr sz="1100">
                          <a:solidFill>
                            <a:srgbClr val="1A1A1A"/>
                          </a:solidFill>
                        </a:rPr>
                        <a:t>poor</a:t>
                      </a:r>
                    </a:p>
                  </a:txBody>
                  <a:tcPr anchor="ctr" marL="73152" marR="54864" marT="27432" marB="27432">
                    <a:solidFill>
                      <a:srgbClr val="EEF3F8"/>
                    </a:solidFill>
                  </a:tcPr>
                </a:tc>
                <a:tc>
                  <a:txBody>
                    <a:bodyPr wrap="square"/>
                    <a:lstStyle/>
                    <a:p>
                      <a:r>
                        <a:rPr sz="1100">
                          <a:solidFill>
                            <a:srgbClr val="1A1A1A"/>
                          </a:solidFill>
                        </a:rPr>
                        <a:t>limited</a:t>
                      </a:r>
                    </a:p>
                  </a:txBody>
                  <a:tcPr anchor="ctr" marL="73152" marR="54864" marT="27432" marB="27432">
                    <a:solidFill>
                      <a:srgbClr val="EEF3F8"/>
                    </a:solidFill>
                  </a:tcPr>
                </a:tc>
                <a:tc>
                  <a:txBody>
                    <a:bodyPr wrap="square"/>
                    <a:lstStyle/>
                    <a:p>
                      <a:r>
                        <a:rPr sz="1100">
                          <a:solidFill>
                            <a:srgbClr val="1A1A1A"/>
                          </a:solidFill>
                        </a:rPr>
                        <a:t>high (scale each tier)</a:t>
                      </a:r>
                    </a:p>
                  </a:txBody>
                  <a:tcPr anchor="ctr" marL="73152" marR="54864" marT="27432" marB="27432">
                    <a:solidFill>
                      <a:srgbClr val="EEF3F8"/>
                    </a:solidFill>
                  </a:tcPr>
                </a:tc>
              </a:tr>
              <a:tr h="736092">
                <a:tc>
                  <a:txBody>
                    <a:bodyPr wrap="square"/>
                    <a:lstStyle/>
                    <a:p>
                      <a:r>
                        <a:rPr sz="1100" b="1">
                          <a:solidFill>
                            <a:srgbClr val="0C2B4A"/>
                          </a:solidFill>
                        </a:rPr>
                        <a:t>Single point of failure</a:t>
                      </a:r>
                    </a:p>
                  </a:txBody>
                  <a:tcPr anchor="ctr" marL="73152" marR="54864" marT="27432" marB="27432">
                    <a:solidFill>
                      <a:srgbClr val="FFFFFF"/>
                    </a:solidFill>
                  </a:tcPr>
                </a:tc>
                <a:tc>
                  <a:txBody>
                    <a:bodyPr wrap="square"/>
                    <a:lstStyle/>
                    <a:p>
                      <a:r>
                        <a:rPr sz="1100">
                          <a:solidFill>
                            <a:srgbClr val="1A1A1A"/>
                          </a:solidFill>
                        </a:rPr>
                        <a:t>yes</a:t>
                      </a:r>
                    </a:p>
                  </a:txBody>
                  <a:tcPr anchor="ctr" marL="73152" marR="54864" marT="27432" marB="27432">
                    <a:solidFill>
                      <a:srgbClr val="FFFFFF"/>
                    </a:solidFill>
                  </a:tcPr>
                </a:tc>
                <a:tc>
                  <a:txBody>
                    <a:bodyPr wrap="square"/>
                    <a:lstStyle/>
                    <a:p>
                      <a:r>
                        <a:rPr sz="1100">
                          <a:solidFill>
                            <a:srgbClr val="1A1A1A"/>
                          </a:solidFill>
                        </a:rPr>
                        <a:t>partly</a:t>
                      </a:r>
                    </a:p>
                  </a:txBody>
                  <a:tcPr anchor="ctr" marL="73152" marR="54864" marT="27432" marB="27432">
                    <a:solidFill>
                      <a:srgbClr val="FFFFFF"/>
                    </a:solidFill>
                  </a:tcPr>
                </a:tc>
                <a:tc>
                  <a:txBody>
                    <a:bodyPr wrap="square"/>
                    <a:lstStyle/>
                    <a:p>
                      <a:r>
                        <a:rPr sz="1100">
                          <a:solidFill>
                            <a:srgbClr val="1A1A1A"/>
                          </a:solidFill>
                        </a:rPr>
                        <a:t>reduced (redundancy per tier)</a:t>
                      </a:r>
                    </a:p>
                  </a:txBody>
                  <a:tcPr anchor="ctr" marL="73152" marR="54864" marT="27432" marB="27432">
                    <a:solidFill>
                      <a:srgbClr val="FFFFFF"/>
                    </a:solidFill>
                  </a:tcPr>
                </a:tc>
              </a:tr>
              <a:tr h="736092">
                <a:tc>
                  <a:txBody>
                    <a:bodyPr wrap="square"/>
                    <a:lstStyle/>
                    <a:p>
                      <a:r>
                        <a:rPr sz="1100" b="1">
                          <a:solidFill>
                            <a:srgbClr val="0C2B4A"/>
                          </a:solidFill>
                        </a:rPr>
                        <a:t>Security</a:t>
                      </a:r>
                    </a:p>
                  </a:txBody>
                  <a:tcPr anchor="ctr" marL="73152" marR="54864" marT="27432" marB="27432">
                    <a:solidFill>
                      <a:srgbClr val="EEF3F8"/>
                    </a:solidFill>
                  </a:tcPr>
                </a:tc>
                <a:tc>
                  <a:txBody>
                    <a:bodyPr wrap="square"/>
                    <a:lstStyle/>
                    <a:p>
                      <a:r>
                        <a:rPr sz="1100">
                          <a:solidFill>
                            <a:srgbClr val="1A1A1A"/>
                          </a:solidFill>
                        </a:rPr>
                        <a:t>simple but exposed</a:t>
                      </a:r>
                    </a:p>
                  </a:txBody>
                  <a:tcPr anchor="ctr" marL="73152" marR="54864" marT="27432" marB="27432">
                    <a:solidFill>
                      <a:srgbClr val="EEF3F8"/>
                    </a:solidFill>
                  </a:tcPr>
                </a:tc>
                <a:tc>
                  <a:txBody>
                    <a:bodyPr wrap="square"/>
                    <a:lstStyle/>
                    <a:p>
                      <a:r>
                        <a:rPr sz="1100">
                          <a:solidFill>
                            <a:srgbClr val="1A1A1A"/>
                          </a:solidFill>
                        </a:rPr>
                        <a:t>DB reachable by clients</a:t>
                      </a:r>
                    </a:p>
                  </a:txBody>
                  <a:tcPr anchor="ctr" marL="73152" marR="54864" marT="27432" marB="27432">
                    <a:solidFill>
                      <a:srgbClr val="EEF3F8"/>
                    </a:solidFill>
                  </a:tcPr>
                </a:tc>
                <a:tc>
                  <a:txBody>
                    <a:bodyPr wrap="square"/>
                    <a:lstStyle/>
                    <a:p>
                      <a:r>
                        <a:rPr sz="1100">
                          <a:solidFill>
                            <a:srgbClr val="1A1A1A"/>
                          </a:solidFill>
                        </a:rPr>
                        <a:t>app server shields the DB</a:t>
                      </a:r>
                    </a:p>
                  </a:txBody>
                  <a:tcPr anchor="ctr" marL="73152" marR="54864" marT="27432" marB="27432">
                    <a:solidFill>
                      <a:srgbClr val="EEF3F8"/>
                    </a:solidFill>
                  </a:tcPr>
                </a:tc>
              </a:tr>
              <a:tr h="736092">
                <a:tc>
                  <a:txBody>
                    <a:bodyPr wrap="square"/>
                    <a:lstStyle/>
                    <a:p>
                      <a:r>
                        <a:rPr sz="1100" b="1">
                          <a:solidFill>
                            <a:srgbClr val="0C2B4A"/>
                          </a:solidFill>
                        </a:rPr>
                        <a:t>Typical use</a:t>
                      </a:r>
                    </a:p>
                  </a:txBody>
                  <a:tcPr anchor="ctr" marL="73152" marR="54864" marT="27432" marB="27432">
                    <a:solidFill>
                      <a:srgbClr val="FFFFFF"/>
                    </a:solidFill>
                  </a:tcPr>
                </a:tc>
                <a:tc>
                  <a:txBody>
                    <a:bodyPr wrap="square"/>
                    <a:lstStyle/>
                    <a:p>
                      <a:r>
                        <a:rPr sz="1100">
                          <a:solidFill>
                            <a:srgbClr val="1A1A1A"/>
                          </a:solidFill>
                        </a:rPr>
                        <a:t>legacy / one office</a:t>
                      </a:r>
                    </a:p>
                  </a:txBody>
                  <a:tcPr anchor="ctr" marL="73152" marR="54864" marT="27432" marB="27432">
                    <a:solidFill>
                      <a:srgbClr val="FFFFFF"/>
                    </a:solidFill>
                  </a:tcPr>
                </a:tc>
                <a:tc>
                  <a:txBody>
                    <a:bodyPr wrap="square"/>
                    <a:lstStyle/>
                    <a:p>
                      <a:r>
                        <a:rPr sz="1100">
                          <a:solidFill>
                            <a:srgbClr val="1A1A1A"/>
                          </a:solidFill>
                        </a:rPr>
                        <a:t>small LAN apps</a:t>
                      </a:r>
                    </a:p>
                  </a:txBody>
                  <a:tcPr anchor="ctr" marL="73152" marR="54864" marT="27432" marB="27432">
                    <a:solidFill>
                      <a:srgbClr val="FFFFFF"/>
                    </a:solidFill>
                  </a:tcPr>
                </a:tc>
                <a:tc>
                  <a:txBody>
                    <a:bodyPr wrap="square"/>
                    <a:lstStyle/>
                    <a:p>
                      <a:r>
                        <a:rPr sz="1100">
                          <a:solidFill>
                            <a:srgbClr val="1A1A1A"/>
                          </a:solidFill>
                        </a:rPr>
                        <a:t>modern web/mobile (Daraz, banks)</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Three-tier (client → application server → database server) is the modern standard because each tier scales, secures, and updates independently.</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58 / 74</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 · CONCEPT 3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Classification of DBMSs</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A DBMS can be classified along several independent axes: by data model, by number of users, by number of sites/distribution, and by purpose.</a:t>
            </a:r>
          </a:p>
          <a:p>
            <a:pPr>
              <a:spcAft>
                <a:spcPts val="500"/>
              </a:spcAft>
            </a:pPr>
            <a:r>
              <a:rPr sz="1200" b="1">
                <a:solidFill>
                  <a:srgbClr val="185FA5"/>
                </a:solidFill>
              </a:rPr>
              <a:t>HOW IT WORKS</a:t>
            </a:r>
          </a:p>
          <a:p>
            <a:pPr>
              <a:spcAft>
                <a:spcPts val="600"/>
              </a:spcAft>
            </a:pPr>
            <a:r>
              <a:rPr sz="1400">
                <a:solidFill>
                  <a:srgbClr val="1A1A1A"/>
                </a:solidFill>
              </a:rPr>
              <a:t>•  Data model: relational (dominant), object-oriented, object-relational, legacy hierarchical/network, NoSQL.</a:t>
            </a:r>
          </a:p>
          <a:p>
            <a:pPr>
              <a:spcAft>
                <a:spcPts val="600"/>
              </a:spcAft>
            </a:pPr>
            <a:r>
              <a:rPr sz="1400">
                <a:solidFill>
                  <a:srgbClr val="1A1A1A"/>
                </a:solidFill>
              </a:rPr>
              <a:t>•  Number of users: single-user vs multi-user (almost all business systems).</a:t>
            </a:r>
          </a:p>
          <a:p>
            <a:pPr>
              <a:spcAft>
                <a:spcPts val="600"/>
              </a:spcAft>
            </a:pPr>
            <a:r>
              <a:rPr sz="1400">
                <a:solidFill>
                  <a:srgbClr val="1A1A1A"/>
                </a:solidFill>
              </a:rPr>
              <a:t>•  Distribution: centralized (one site) vs distributed (data across many sites).</a:t>
            </a:r>
          </a:p>
          <a:p>
            <a:pPr>
              <a:spcAft>
                <a:spcPts val="600"/>
              </a:spcAft>
            </a:pPr>
            <a:r>
              <a:rPr sz="1400">
                <a:solidFill>
                  <a:srgbClr val="1A1A1A"/>
                </a:solidFill>
              </a:rPr>
              <a:t>•  Purpose: general-purpose vs special-purpose.</a:t>
            </a:r>
          </a:p>
        </p:txBody>
      </p:sp>
      <p:pic>
        <p:nvPicPr>
          <p:cNvPr id="6" name="Picture 5" descr="s4_classification.png"/>
          <p:cNvPicPr>
            <a:picLocks noChangeAspect="1"/>
          </p:cNvPicPr>
          <p:nvPr/>
        </p:nvPicPr>
        <p:blipFill>
          <a:blip r:embed="rId2"/>
          <a:stretch>
            <a:fillRect/>
          </a:stretch>
        </p:blipFill>
        <p:spPr>
          <a:xfrm>
            <a:off x="6355080" y="2444902"/>
            <a:ext cx="5532120" cy="2745435"/>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Model · users · distribution.</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59 / 74</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 · CONCEPT 3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Classification of DBMSs</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a:t>
            </a:r>
          </a:p>
          <a:p>
            <a:pPr>
              <a:spcBef>
                <a:spcPts val="300"/>
              </a:spcBef>
            </a:pPr>
            <a:r>
              <a:rPr sz="1400">
                <a:solidFill>
                  <a:srgbClr val="1A1A1A"/>
                </a:solidFill>
              </a:rPr>
              <a:t>Classify the apps in your pocket: a bank app's DBMS is relational, multi-user, and distributed; a small offline note app is relational, single-user, centralized; Facebook mixes relational + NoSQL, is massively multi-user, and heavily distributed. The same three axes describe any system.</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"NoSQL means SQL is dead." It means 'not only SQL.' Relational databases still dominate business systems; NoSQL is an additional family for huge scale or flexible, changing data — it complements relational, not replaces it.</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DBMSs are classified by data model (relational, object, object-relational, NoSQL, legacy hierarchical/network), by number of users (single-user vs multi-user), by number of sites/distribution (centralized vs distributed), and by purpose (general- vs special-purpose). Note: 'NoSQL' means 'not only SQL', not 'no SQL'.</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classification axes · data model · number of users · distribution · purpose · relational · NoSQL ('not only SQL')</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60 / 74</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 · CONCEPT 3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Classify real apps on the three axes</a:t>
            </a:r>
          </a:p>
        </p:txBody>
      </p:sp>
      <p:graphicFrame>
        <p:nvGraphicFramePr>
          <p:cNvPr id="5" name="Table 4"/>
          <p:cNvGraphicFramePr>
            <a:graphicFrameLocks noGrp="1"/>
          </p:cNvGraphicFramePr>
          <p:nvPr/>
        </p:nvGraphicFramePr>
        <p:xfrm>
          <a:off x="384048" y="1572768"/>
          <a:ext cx="11430000" cy="4416552"/>
        </p:xfrm>
        <a:graphic>
          <a:graphicData uri="http://schemas.openxmlformats.org/drawingml/2006/table">
            <a:tbl>
              <a:tblPr>
                <a:tableStyleId>{5C22544A-7EE6-4342-B048-85BDC9FD1C3A}</a:tableStyleId>
              </a:tblPr>
              <a:tblGrid>
                <a:gridCol w="2895600"/>
                <a:gridCol w="2895600"/>
                <a:gridCol w="2743200"/>
                <a:gridCol w="2895600"/>
              </a:tblGrid>
              <a:tr h="630936">
                <a:tc>
                  <a:txBody>
                    <a:bodyPr wrap="square"/>
                    <a:lstStyle/>
                    <a:p>
                      <a:r>
                        <a:rPr sz="1150" b="1">
                          <a:solidFill>
                            <a:srgbClr val="FFFFFF"/>
                          </a:solidFill>
                        </a:rPr>
                        <a:t>App</a:t>
                      </a:r>
                    </a:p>
                  </a:txBody>
                  <a:tcPr anchor="ctr" marL="73152" marR="54864" marT="27432" marB="27432">
                    <a:solidFill>
                      <a:srgbClr val="0C2B4A"/>
                    </a:solidFill>
                  </a:tcPr>
                </a:tc>
                <a:tc>
                  <a:txBody>
                    <a:bodyPr wrap="square"/>
                    <a:lstStyle/>
                    <a:p>
                      <a:r>
                        <a:rPr sz="1150" b="1">
                          <a:solidFill>
                            <a:srgbClr val="FFFFFF"/>
                          </a:solidFill>
                        </a:rPr>
                        <a:t>Data model</a:t>
                      </a:r>
                    </a:p>
                  </a:txBody>
                  <a:tcPr anchor="ctr" marL="73152" marR="54864" marT="27432" marB="27432">
                    <a:solidFill>
                      <a:srgbClr val="0C2B4A"/>
                    </a:solidFill>
                  </a:tcPr>
                </a:tc>
                <a:tc>
                  <a:txBody>
                    <a:bodyPr wrap="square"/>
                    <a:lstStyle/>
                    <a:p>
                      <a:r>
                        <a:rPr sz="1150" b="1">
                          <a:solidFill>
                            <a:srgbClr val="FFFFFF"/>
                          </a:solidFill>
                        </a:rPr>
                        <a:t>Number of users</a:t>
                      </a:r>
                    </a:p>
                  </a:txBody>
                  <a:tcPr anchor="ctr" marL="73152" marR="54864" marT="27432" marB="27432">
                    <a:solidFill>
                      <a:srgbClr val="0C2B4A"/>
                    </a:solidFill>
                  </a:tcPr>
                </a:tc>
                <a:tc>
                  <a:txBody>
                    <a:bodyPr wrap="square"/>
                    <a:lstStyle/>
                    <a:p>
                      <a:r>
                        <a:rPr sz="1150" b="1">
                          <a:solidFill>
                            <a:srgbClr val="FFFFFF"/>
                          </a:solidFill>
                        </a:rPr>
                        <a:t>Distribution</a:t>
                      </a:r>
                    </a:p>
                  </a:txBody>
                  <a:tcPr anchor="ctr" marL="73152" marR="54864" marT="27432" marB="27432">
                    <a:solidFill>
                      <a:srgbClr val="0C2B4A"/>
                    </a:solidFill>
                  </a:tcPr>
                </a:tc>
              </a:tr>
              <a:tr h="630936">
                <a:tc>
                  <a:txBody>
                    <a:bodyPr wrap="square"/>
                    <a:lstStyle/>
                    <a:p>
                      <a:r>
                        <a:rPr sz="1100" b="1">
                          <a:solidFill>
                            <a:srgbClr val="0C2B4A"/>
                          </a:solidFill>
                        </a:rPr>
                        <a:t>A bank's core system</a:t>
                      </a:r>
                    </a:p>
                  </a:txBody>
                  <a:tcPr anchor="ctr" marL="73152" marR="54864" marT="27432" marB="27432">
                    <a:solidFill>
                      <a:srgbClr val="FFFFFF"/>
                    </a:solidFill>
                  </a:tcPr>
                </a:tc>
                <a:tc>
                  <a:txBody>
                    <a:bodyPr wrap="square"/>
                    <a:lstStyle/>
                    <a:p>
                      <a:r>
                        <a:rPr sz="1100">
                          <a:solidFill>
                            <a:srgbClr val="1A1A1A"/>
                          </a:solidFill>
                        </a:rPr>
                        <a:t>relational</a:t>
                      </a:r>
                    </a:p>
                  </a:txBody>
                  <a:tcPr anchor="ctr" marL="73152" marR="54864" marT="27432" marB="27432">
                    <a:solidFill>
                      <a:srgbClr val="FFFFFF"/>
                    </a:solidFill>
                  </a:tcPr>
                </a:tc>
                <a:tc>
                  <a:txBody>
                    <a:bodyPr wrap="square"/>
                    <a:lstStyle/>
                    <a:p>
                      <a:r>
                        <a:rPr sz="1100">
                          <a:solidFill>
                            <a:srgbClr val="1A1A1A"/>
                          </a:solidFill>
                        </a:rPr>
                        <a:t>multi-user</a:t>
                      </a:r>
                    </a:p>
                  </a:txBody>
                  <a:tcPr anchor="ctr" marL="73152" marR="54864" marT="27432" marB="27432">
                    <a:solidFill>
                      <a:srgbClr val="FFFFFF"/>
                    </a:solidFill>
                  </a:tcPr>
                </a:tc>
                <a:tc>
                  <a:txBody>
                    <a:bodyPr wrap="square"/>
                    <a:lstStyle/>
                    <a:p>
                      <a:r>
                        <a:rPr sz="1100">
                          <a:solidFill>
                            <a:srgbClr val="1A1A1A"/>
                          </a:solidFill>
                        </a:rPr>
                        <a:t>distributed (data centres)</a:t>
                      </a:r>
                    </a:p>
                  </a:txBody>
                  <a:tcPr anchor="ctr" marL="73152" marR="54864" marT="27432" marB="27432">
                    <a:solidFill>
                      <a:srgbClr val="FFFFFF"/>
                    </a:solidFill>
                  </a:tcPr>
                </a:tc>
              </a:tr>
              <a:tr h="630936">
                <a:tc>
                  <a:txBody>
                    <a:bodyPr wrap="square"/>
                    <a:lstStyle/>
                    <a:p>
                      <a:r>
                        <a:rPr sz="1100" b="1">
                          <a:solidFill>
                            <a:srgbClr val="0C2B4A"/>
                          </a:solidFill>
                        </a:rPr>
                        <a:t>eSewa / Khalti</a:t>
                      </a:r>
                    </a:p>
                  </a:txBody>
                  <a:tcPr anchor="ctr" marL="73152" marR="54864" marT="27432" marB="27432">
                    <a:solidFill>
                      <a:srgbClr val="EEF3F8"/>
                    </a:solidFill>
                  </a:tcPr>
                </a:tc>
                <a:tc>
                  <a:txBody>
                    <a:bodyPr wrap="square"/>
                    <a:lstStyle/>
                    <a:p>
                      <a:r>
                        <a:rPr sz="1100">
                          <a:solidFill>
                            <a:srgbClr val="1A1A1A"/>
                          </a:solidFill>
                        </a:rPr>
                        <a:t>relational (+ some NoSQL)</a:t>
                      </a:r>
                    </a:p>
                  </a:txBody>
                  <a:tcPr anchor="ctr" marL="73152" marR="54864" marT="27432" marB="27432">
                    <a:solidFill>
                      <a:srgbClr val="EEF3F8"/>
                    </a:solidFill>
                  </a:tcPr>
                </a:tc>
                <a:tc>
                  <a:txBody>
                    <a:bodyPr wrap="square"/>
                    <a:lstStyle/>
                    <a:p>
                      <a:r>
                        <a:rPr sz="1100">
                          <a:solidFill>
                            <a:srgbClr val="1A1A1A"/>
                          </a:solidFill>
                        </a:rPr>
                        <a:t>massively multi-user</a:t>
                      </a:r>
                    </a:p>
                  </a:txBody>
                  <a:tcPr anchor="ctr" marL="73152" marR="54864" marT="27432" marB="27432">
                    <a:solidFill>
                      <a:srgbClr val="EEF3F8"/>
                    </a:solidFill>
                  </a:tcPr>
                </a:tc>
                <a:tc>
                  <a:txBody>
                    <a:bodyPr wrap="square"/>
                    <a:lstStyle/>
                    <a:p>
                      <a:r>
                        <a:rPr sz="1100">
                          <a:solidFill>
                            <a:srgbClr val="1A1A1A"/>
                          </a:solidFill>
                        </a:rPr>
                        <a:t>distributed</a:t>
                      </a:r>
                    </a:p>
                  </a:txBody>
                  <a:tcPr anchor="ctr" marL="73152" marR="54864" marT="27432" marB="27432">
                    <a:solidFill>
                      <a:srgbClr val="EEF3F8"/>
                    </a:solidFill>
                  </a:tcPr>
                </a:tc>
              </a:tr>
              <a:tr h="630936">
                <a:tc>
                  <a:txBody>
                    <a:bodyPr wrap="square"/>
                    <a:lstStyle/>
                    <a:p>
                      <a:r>
                        <a:rPr sz="1100" b="1">
                          <a:solidFill>
                            <a:srgbClr val="0C2B4A"/>
                          </a:solidFill>
                        </a:rPr>
                        <a:t>Daraz</a:t>
                      </a:r>
                    </a:p>
                  </a:txBody>
                  <a:tcPr anchor="ctr" marL="73152" marR="54864" marT="27432" marB="27432">
                    <a:solidFill>
                      <a:srgbClr val="FFFFFF"/>
                    </a:solidFill>
                  </a:tcPr>
                </a:tc>
                <a:tc>
                  <a:txBody>
                    <a:bodyPr wrap="square"/>
                    <a:lstStyle/>
                    <a:p>
                      <a:r>
                        <a:rPr sz="1100">
                          <a:solidFill>
                            <a:srgbClr val="1A1A1A"/>
                          </a:solidFill>
                        </a:rPr>
                        <a:t>relational + NoSQL</a:t>
                      </a:r>
                    </a:p>
                  </a:txBody>
                  <a:tcPr anchor="ctr" marL="73152" marR="54864" marT="27432" marB="27432">
                    <a:solidFill>
                      <a:srgbClr val="FFFFFF"/>
                    </a:solidFill>
                  </a:tcPr>
                </a:tc>
                <a:tc>
                  <a:txBody>
                    <a:bodyPr wrap="square"/>
                    <a:lstStyle/>
                    <a:p>
                      <a:r>
                        <a:rPr sz="1100">
                          <a:solidFill>
                            <a:srgbClr val="1A1A1A"/>
                          </a:solidFill>
                        </a:rPr>
                        <a:t>multi-user</a:t>
                      </a:r>
                    </a:p>
                  </a:txBody>
                  <a:tcPr anchor="ctr" marL="73152" marR="54864" marT="27432" marB="27432">
                    <a:solidFill>
                      <a:srgbClr val="FFFFFF"/>
                    </a:solidFill>
                  </a:tcPr>
                </a:tc>
                <a:tc>
                  <a:txBody>
                    <a:bodyPr wrap="square"/>
                    <a:lstStyle/>
                    <a:p>
                      <a:r>
                        <a:rPr sz="1100">
                          <a:solidFill>
                            <a:srgbClr val="1A1A1A"/>
                          </a:solidFill>
                        </a:rPr>
                        <a:t>distributed</a:t>
                      </a:r>
                    </a:p>
                  </a:txBody>
                  <a:tcPr anchor="ctr" marL="73152" marR="54864" marT="27432" marB="27432">
                    <a:solidFill>
                      <a:srgbClr val="FFFFFF"/>
                    </a:solidFill>
                  </a:tcPr>
                </a:tc>
              </a:tr>
              <a:tr h="630936">
                <a:tc>
                  <a:txBody>
                    <a:bodyPr wrap="square"/>
                    <a:lstStyle/>
                    <a:p>
                      <a:r>
                        <a:rPr sz="1100" b="1">
                          <a:solidFill>
                            <a:srgbClr val="0C2B4A"/>
                          </a:solidFill>
                        </a:rPr>
                        <a:t>An offline note app</a:t>
                      </a:r>
                    </a:p>
                  </a:txBody>
                  <a:tcPr anchor="ctr" marL="73152" marR="54864" marT="27432" marB="27432">
                    <a:solidFill>
                      <a:srgbClr val="EEF3F8"/>
                    </a:solidFill>
                  </a:tcPr>
                </a:tc>
                <a:tc>
                  <a:txBody>
                    <a:bodyPr wrap="square"/>
                    <a:lstStyle/>
                    <a:p>
                      <a:r>
                        <a:rPr sz="1100">
                          <a:solidFill>
                            <a:srgbClr val="1A1A1A"/>
                          </a:solidFill>
                        </a:rPr>
                        <a:t>relational (SQLite)</a:t>
                      </a:r>
                    </a:p>
                  </a:txBody>
                  <a:tcPr anchor="ctr" marL="73152" marR="54864" marT="27432" marB="27432">
                    <a:solidFill>
                      <a:srgbClr val="EEF3F8"/>
                    </a:solidFill>
                  </a:tcPr>
                </a:tc>
                <a:tc>
                  <a:txBody>
                    <a:bodyPr wrap="square"/>
                    <a:lstStyle/>
                    <a:p>
                      <a:r>
                        <a:rPr sz="1100">
                          <a:solidFill>
                            <a:srgbClr val="1A1A1A"/>
                          </a:solidFill>
                        </a:rPr>
                        <a:t>single-user</a:t>
                      </a:r>
                    </a:p>
                  </a:txBody>
                  <a:tcPr anchor="ctr" marL="73152" marR="54864" marT="27432" marB="27432">
                    <a:solidFill>
                      <a:srgbClr val="EEF3F8"/>
                    </a:solidFill>
                  </a:tcPr>
                </a:tc>
                <a:tc>
                  <a:txBody>
                    <a:bodyPr wrap="square"/>
                    <a:lstStyle/>
                    <a:p>
                      <a:r>
                        <a:rPr sz="1100">
                          <a:solidFill>
                            <a:srgbClr val="1A1A1A"/>
                          </a:solidFill>
                        </a:rPr>
                        <a:t>centralized (on device)</a:t>
                      </a:r>
                    </a:p>
                  </a:txBody>
                  <a:tcPr anchor="ctr" marL="73152" marR="54864" marT="27432" marB="27432">
                    <a:solidFill>
                      <a:srgbClr val="EEF3F8"/>
                    </a:solidFill>
                  </a:tcPr>
                </a:tc>
              </a:tr>
              <a:tr h="630936">
                <a:tc>
                  <a:txBody>
                    <a:bodyPr wrap="square"/>
                    <a:lstStyle/>
                    <a:p>
                      <a:r>
                        <a:rPr sz="1100" b="1">
                          <a:solidFill>
                            <a:srgbClr val="0C2B4A"/>
                          </a:solidFill>
                        </a:rPr>
                        <a:t>Nagarik App backend</a:t>
                      </a:r>
                    </a:p>
                  </a:txBody>
                  <a:tcPr anchor="ctr" marL="73152" marR="54864" marT="27432" marB="27432">
                    <a:solidFill>
                      <a:srgbClr val="FFFFFF"/>
                    </a:solidFill>
                  </a:tcPr>
                </a:tc>
                <a:tc>
                  <a:txBody>
                    <a:bodyPr wrap="square"/>
                    <a:lstStyle/>
                    <a:p>
                      <a:r>
                        <a:rPr sz="1100">
                          <a:solidFill>
                            <a:srgbClr val="1A1A1A"/>
                          </a:solidFill>
                        </a:rPr>
                        <a:t>relational</a:t>
                      </a:r>
                    </a:p>
                  </a:txBody>
                  <a:tcPr anchor="ctr" marL="73152" marR="54864" marT="27432" marB="27432">
                    <a:solidFill>
                      <a:srgbClr val="FFFFFF"/>
                    </a:solidFill>
                  </a:tcPr>
                </a:tc>
                <a:tc>
                  <a:txBody>
                    <a:bodyPr wrap="square"/>
                    <a:lstStyle/>
                    <a:p>
                      <a:r>
                        <a:rPr sz="1100">
                          <a:solidFill>
                            <a:srgbClr val="1A1A1A"/>
                          </a:solidFill>
                        </a:rPr>
                        <a:t>multi-user</a:t>
                      </a:r>
                    </a:p>
                  </a:txBody>
                  <a:tcPr anchor="ctr" marL="73152" marR="54864" marT="27432" marB="27432">
                    <a:solidFill>
                      <a:srgbClr val="FFFFFF"/>
                    </a:solidFill>
                  </a:tcPr>
                </a:tc>
                <a:tc>
                  <a:txBody>
                    <a:bodyPr wrap="square"/>
                    <a:lstStyle/>
                    <a:p>
                      <a:r>
                        <a:rPr sz="1100">
                          <a:solidFill>
                            <a:srgbClr val="1A1A1A"/>
                          </a:solidFill>
                        </a:rPr>
                        <a:t>distributed</a:t>
                      </a:r>
                    </a:p>
                  </a:txBody>
                  <a:tcPr anchor="ctr" marL="73152" marR="54864" marT="27432" marB="27432">
                    <a:solidFill>
                      <a:srgbClr val="FFFFFF"/>
                    </a:solidFill>
                  </a:tcPr>
                </a:tc>
              </a:tr>
              <a:tr h="630936">
                <a:tc>
                  <a:txBody>
                    <a:bodyPr wrap="square"/>
                    <a:lstStyle/>
                    <a:p>
                      <a:r>
                        <a:rPr sz="1100" b="1">
                          <a:solidFill>
                            <a:srgbClr val="0C2B4A"/>
                          </a:solidFill>
                        </a:rPr>
                        <a:t>Facebook</a:t>
                      </a:r>
                    </a:p>
                  </a:txBody>
                  <a:tcPr anchor="ctr" marL="73152" marR="54864" marT="27432" marB="27432">
                    <a:solidFill>
                      <a:srgbClr val="EEF3F8"/>
                    </a:solidFill>
                  </a:tcPr>
                </a:tc>
                <a:tc>
                  <a:txBody>
                    <a:bodyPr wrap="square"/>
                    <a:lstStyle/>
                    <a:p>
                      <a:r>
                        <a:rPr sz="1100">
                          <a:solidFill>
                            <a:srgbClr val="1A1A1A"/>
                          </a:solidFill>
                        </a:rPr>
                        <a:t>relational + NoSQL</a:t>
                      </a:r>
                    </a:p>
                  </a:txBody>
                  <a:tcPr anchor="ctr" marL="73152" marR="54864" marT="27432" marB="27432">
                    <a:solidFill>
                      <a:srgbClr val="EEF3F8"/>
                    </a:solidFill>
                  </a:tcPr>
                </a:tc>
                <a:tc>
                  <a:txBody>
                    <a:bodyPr wrap="square"/>
                    <a:lstStyle/>
                    <a:p>
                      <a:r>
                        <a:rPr sz="1100">
                          <a:solidFill>
                            <a:srgbClr val="1A1A1A"/>
                          </a:solidFill>
                        </a:rPr>
                        <a:t>massively multi-user</a:t>
                      </a:r>
                    </a:p>
                  </a:txBody>
                  <a:tcPr anchor="ctr" marL="73152" marR="54864" marT="27432" marB="27432">
                    <a:solidFill>
                      <a:srgbClr val="EEF3F8"/>
                    </a:solidFill>
                  </a:tcPr>
                </a:tc>
                <a:tc>
                  <a:txBody>
                    <a:bodyPr wrap="square"/>
                    <a:lstStyle/>
                    <a:p>
                      <a:r>
                        <a:rPr sz="1100">
                          <a:solidFill>
                            <a:srgbClr val="1A1A1A"/>
                          </a:solidFill>
                        </a:rPr>
                        <a:t>heavily distributed</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The three axes (model · users · distribution) describe ANY system. 'NoSQL' means 'not only SQL' — relational still dominates business data.</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61 / 74</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 · CONCEPT 4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Unit 1 Synthesis — the whole unit in one picture</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Users reach a DBMS through interfaces &amp; languages; the DBMS (cooperating components + catalog) manages a database described by a schema at three levels (giving data independence), running on a centralized or client/server architecture.</a:t>
            </a:r>
          </a:p>
          <a:p>
            <a:pPr>
              <a:spcAft>
                <a:spcPts val="500"/>
              </a:spcAft>
            </a:pPr>
            <a:r>
              <a:rPr sz="1200" b="1">
                <a:solidFill>
                  <a:srgbClr val="185FA5"/>
                </a:solidFill>
              </a:rPr>
              <a:t>HOW IT WORKS</a:t>
            </a:r>
          </a:p>
          <a:p>
            <a:pPr>
              <a:spcAft>
                <a:spcPts val="600"/>
              </a:spcAft>
            </a:pPr>
            <a:r>
              <a:rPr sz="1400">
                <a:solidFill>
                  <a:srgbClr val="1A1A1A"/>
                </a:solidFill>
              </a:rPr>
              <a:t>•  Users (naive, programmers, sophisticated, DBA) + interfaces/languages (DDL/DML/DCL/TCL; forms, GUIs, APIs).</a:t>
            </a:r>
          </a:p>
          <a:p>
            <a:pPr>
              <a:spcAft>
                <a:spcPts val="600"/>
              </a:spcAft>
            </a:pPr>
            <a:r>
              <a:rPr sz="1400">
                <a:solidFill>
                  <a:srgbClr val="1A1A1A"/>
                </a:solidFill>
              </a:rPr>
              <a:t>•  DBMS components: query processor, storage &amp; buffer managers, transaction manager, catalog.</a:t>
            </a:r>
          </a:p>
          <a:p>
            <a:pPr>
              <a:spcAft>
                <a:spcPts val="600"/>
              </a:spcAft>
            </a:pPr>
            <a:r>
              <a:rPr sz="1400">
                <a:solidFill>
                  <a:srgbClr val="1A1A1A"/>
                </a:solidFill>
              </a:rPr>
              <a:t>•  Database structure = the three-schema architecture → data independence.</a:t>
            </a:r>
          </a:p>
          <a:p>
            <a:pPr>
              <a:spcAft>
                <a:spcPts val="600"/>
              </a:spcAft>
            </a:pPr>
            <a:r>
              <a:rPr sz="1400">
                <a:solidFill>
                  <a:srgbClr val="1A1A1A"/>
                </a:solidFill>
              </a:rPr>
              <a:t>•  Deployment = centralized or (usually) client/server; classify by model, users, distribution.</a:t>
            </a:r>
          </a:p>
        </p:txBody>
      </p:sp>
      <p:pic>
        <p:nvPicPr>
          <p:cNvPr id="6" name="Picture 5" descr="s4_synthesis.png"/>
          <p:cNvPicPr>
            <a:picLocks noChangeAspect="1"/>
          </p:cNvPicPr>
          <p:nvPr/>
        </p:nvPicPr>
        <p:blipFill>
          <a:blip r:embed="rId2"/>
          <a:stretch>
            <a:fillRect/>
          </a:stretch>
        </p:blipFill>
        <p:spPr>
          <a:xfrm>
            <a:off x="6355080" y="2234067"/>
            <a:ext cx="5532120" cy="3167104"/>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User → interface → DBMS → schema → architecture.</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62 / 74</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 · CONCEPT 4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Unit 1 Synthesis — the whole unit in one picture</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a:t>
            </a:r>
          </a:p>
          <a:p>
            <a:pPr>
              <a:spcBef>
                <a:spcPts val="300"/>
              </a:spcBef>
            </a:pPr>
            <a:r>
              <a:rPr sz="1400">
                <a:solidFill>
                  <a:srgbClr val="1A1A1A"/>
                </a:solidFill>
              </a:rPr>
              <a:t>One eSewa tap: you (a user) tap a button (an interface) that sends a query (DML) to eSewa's DBMS (its components + catalog); it reads your balance from a database whose design is a schema at three levels — which is why eSewa can upgrade storage without breaking your app (data independence) — all on a three-tier client/server, relational, multi-user, distributed DBMS. One tap exercises the whole unit.</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"These are five unrelated topics." They're one system: users → interface → DBMS → schema/architecture → classification. Each session is one branch of the same picture.</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Users reach a DBMS through interfaces and languages; the DBMS (built of cooperating components plus a catalog) manages a database described by a schema at three levels (giving data independence) and runs on a centralized or client/server architecture; any such system can be classified by its data model, number of users, and distribution.</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database · DBMS · users · DBA · schema · instance · three-schema · data independence · DDL/DML/DCL/TCL · components · catalog · centralized vs client/server · classification</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63 / 74</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 · CONCEPT 4 · RECALL</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One eSewa tap → every Unit 1 concept it exercises</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4643437"/>
                <a:gridCol w="4286250"/>
                <a:gridCol w="2500312"/>
              </a:tblGrid>
              <a:tr h="630936">
                <a:tc>
                  <a:txBody>
                    <a:bodyPr wrap="square"/>
                    <a:lstStyle/>
                    <a:p>
                      <a:r>
                        <a:rPr sz="1150" b="1">
                          <a:solidFill>
                            <a:srgbClr val="FFFFFF"/>
                          </a:solidFill>
                        </a:rPr>
                        <a:t>Step in one eSewa tap</a:t>
                      </a:r>
                    </a:p>
                  </a:txBody>
                  <a:tcPr anchor="ctr" marL="73152" marR="54864" marT="27432" marB="27432">
                    <a:solidFill>
                      <a:srgbClr val="0C2B4A"/>
                    </a:solidFill>
                  </a:tcPr>
                </a:tc>
                <a:tc>
                  <a:txBody>
                    <a:bodyPr wrap="square"/>
                    <a:lstStyle/>
                    <a:p>
                      <a:r>
                        <a:rPr sz="1150" b="1">
                          <a:solidFill>
                            <a:srgbClr val="FFFFFF"/>
                          </a:solidFill>
                        </a:rPr>
                        <a:t>Unit 1 concept</a:t>
                      </a:r>
                    </a:p>
                  </a:txBody>
                  <a:tcPr anchor="ctr" marL="73152" marR="54864" marT="27432" marB="27432">
                    <a:solidFill>
                      <a:srgbClr val="0C2B4A"/>
                    </a:solidFill>
                  </a:tcPr>
                </a:tc>
                <a:tc>
                  <a:txBody>
                    <a:bodyPr wrap="square"/>
                    <a:lstStyle/>
                    <a:p>
                      <a:r>
                        <a:rPr sz="1150" b="1">
                          <a:solidFill>
                            <a:srgbClr val="FFFFFF"/>
                          </a:solidFill>
                        </a:rPr>
                        <a:t>From</a:t>
                      </a:r>
                    </a:p>
                  </a:txBody>
                  <a:tcPr anchor="ctr" marL="73152" marR="54864" marT="27432" marB="27432">
                    <a:solidFill>
                      <a:srgbClr val="0C2B4A"/>
                    </a:solidFill>
                  </a:tcPr>
                </a:tc>
              </a:tr>
              <a:tr h="630936">
                <a:tc>
                  <a:txBody>
                    <a:bodyPr wrap="square"/>
                    <a:lstStyle/>
                    <a:p>
                      <a:r>
                        <a:rPr sz="1100" b="1">
                          <a:solidFill>
                            <a:srgbClr val="0C2B4A"/>
                          </a:solidFill>
                        </a:rPr>
                        <a:t>You tap a button</a:t>
                      </a:r>
                    </a:p>
                  </a:txBody>
                  <a:tcPr anchor="ctr" marL="73152" marR="54864" marT="27432" marB="27432">
                    <a:solidFill>
                      <a:srgbClr val="FFFFFF"/>
                    </a:solidFill>
                  </a:tcPr>
                </a:tc>
                <a:tc>
                  <a:txBody>
                    <a:bodyPr wrap="square"/>
                    <a:lstStyle/>
                    <a:p>
                      <a:r>
                        <a:rPr sz="1100">
                          <a:solidFill>
                            <a:srgbClr val="1A1A1A"/>
                          </a:solidFill>
                        </a:rPr>
                        <a:t>user + interface (form / GUI)</a:t>
                      </a:r>
                    </a:p>
                  </a:txBody>
                  <a:tcPr anchor="ctr" marL="73152" marR="54864" marT="27432" marB="27432">
                    <a:solidFill>
                      <a:srgbClr val="FFFFFF"/>
                    </a:solidFill>
                  </a:tcPr>
                </a:tc>
                <a:tc>
                  <a:txBody>
                    <a:bodyPr wrap="square"/>
                    <a:lstStyle/>
                    <a:p>
                      <a:r>
                        <a:rPr sz="1100">
                          <a:solidFill>
                            <a:srgbClr val="1A1A1A"/>
                          </a:solidFill>
                        </a:rPr>
                        <a:t>S1, S3</a:t>
                      </a:r>
                    </a:p>
                  </a:txBody>
                  <a:tcPr anchor="ctr" marL="73152" marR="54864" marT="27432" marB="27432">
                    <a:solidFill>
                      <a:srgbClr val="FFFFFF"/>
                    </a:solidFill>
                  </a:tcPr>
                </a:tc>
              </a:tr>
              <a:tr h="630936">
                <a:tc>
                  <a:txBody>
                    <a:bodyPr wrap="square"/>
                    <a:lstStyle/>
                    <a:p>
                      <a:r>
                        <a:rPr sz="1100" b="1">
                          <a:solidFill>
                            <a:srgbClr val="0C2B4A"/>
                          </a:solidFill>
                        </a:rPr>
                        <a:t>It sends a query</a:t>
                      </a:r>
                    </a:p>
                  </a:txBody>
                  <a:tcPr anchor="ctr" marL="73152" marR="54864" marT="27432" marB="27432">
                    <a:solidFill>
                      <a:srgbClr val="EEF3F8"/>
                    </a:solidFill>
                  </a:tcPr>
                </a:tc>
                <a:tc>
                  <a:txBody>
                    <a:bodyPr wrap="square"/>
                    <a:lstStyle/>
                    <a:p>
                      <a:r>
                        <a:rPr sz="1100">
                          <a:solidFill>
                            <a:srgbClr val="1A1A1A"/>
                          </a:solidFill>
                        </a:rPr>
                        <a:t>language (DML: SELECT/UPDATE)</a:t>
                      </a:r>
                    </a:p>
                  </a:txBody>
                  <a:tcPr anchor="ctr" marL="73152" marR="54864" marT="27432" marB="27432">
                    <a:solidFill>
                      <a:srgbClr val="EEF3F8"/>
                    </a:solidFill>
                  </a:tcPr>
                </a:tc>
                <a:tc>
                  <a:txBody>
                    <a:bodyPr wrap="square"/>
                    <a:lstStyle/>
                    <a:p>
                      <a:r>
                        <a:rPr sz="1100">
                          <a:solidFill>
                            <a:srgbClr val="1A1A1A"/>
                          </a:solidFill>
                        </a:rPr>
                        <a:t>S3</a:t>
                      </a:r>
                    </a:p>
                  </a:txBody>
                  <a:tcPr anchor="ctr" marL="73152" marR="54864" marT="27432" marB="27432">
                    <a:solidFill>
                      <a:srgbClr val="EEF3F8"/>
                    </a:solidFill>
                  </a:tcPr>
                </a:tc>
              </a:tr>
              <a:tr h="630936">
                <a:tc>
                  <a:txBody>
                    <a:bodyPr wrap="square"/>
                    <a:lstStyle/>
                    <a:p>
                      <a:r>
                        <a:rPr sz="1100" b="1">
                          <a:solidFill>
                            <a:srgbClr val="0C2B4A"/>
                          </a:solidFill>
                        </a:rPr>
                        <a:t>eSewa's engine handles it</a:t>
                      </a:r>
                    </a:p>
                  </a:txBody>
                  <a:tcPr anchor="ctr" marL="73152" marR="54864" marT="27432" marB="27432">
                    <a:solidFill>
                      <a:srgbClr val="FFFFFF"/>
                    </a:solidFill>
                  </a:tcPr>
                </a:tc>
                <a:tc>
                  <a:txBody>
                    <a:bodyPr wrap="square"/>
                    <a:lstStyle/>
                    <a:p>
                      <a:r>
                        <a:rPr sz="1100">
                          <a:solidFill>
                            <a:srgbClr val="1A1A1A"/>
                          </a:solidFill>
                        </a:rPr>
                        <a:t>DBMS + components + catalog</a:t>
                      </a:r>
                    </a:p>
                  </a:txBody>
                  <a:tcPr anchor="ctr" marL="73152" marR="54864" marT="27432" marB="27432">
                    <a:solidFill>
                      <a:srgbClr val="FFFFFF"/>
                    </a:solidFill>
                  </a:tcPr>
                </a:tc>
                <a:tc>
                  <a:txBody>
                    <a:bodyPr wrap="square"/>
                    <a:lstStyle/>
                    <a:p>
                      <a:r>
                        <a:rPr sz="1100">
                          <a:solidFill>
                            <a:srgbClr val="1A1A1A"/>
                          </a:solidFill>
                        </a:rPr>
                        <a:t>S1, S3</a:t>
                      </a:r>
                    </a:p>
                  </a:txBody>
                  <a:tcPr anchor="ctr" marL="73152" marR="54864" marT="27432" marB="27432">
                    <a:solidFill>
                      <a:srgbClr val="FFFFFF"/>
                    </a:solidFill>
                  </a:tcPr>
                </a:tc>
              </a:tr>
              <a:tr h="630936">
                <a:tc>
                  <a:txBody>
                    <a:bodyPr wrap="square"/>
                    <a:lstStyle/>
                    <a:p>
                      <a:r>
                        <a:rPr sz="1100" b="1">
                          <a:solidFill>
                            <a:srgbClr val="0C2B4A"/>
                          </a:solidFill>
                        </a:rPr>
                        <a:t>It reads your balance</a:t>
                      </a:r>
                    </a:p>
                  </a:txBody>
                  <a:tcPr anchor="ctr" marL="73152" marR="54864" marT="27432" marB="27432">
                    <a:solidFill>
                      <a:srgbClr val="EEF3F8"/>
                    </a:solidFill>
                  </a:tcPr>
                </a:tc>
                <a:tc>
                  <a:txBody>
                    <a:bodyPr wrap="square"/>
                    <a:lstStyle/>
                    <a:p>
                      <a:r>
                        <a:rPr sz="1100">
                          <a:solidFill>
                            <a:srgbClr val="1A1A1A"/>
                          </a:solidFill>
                        </a:rPr>
                        <a:t>database (organized, persistent, shared)</a:t>
                      </a:r>
                    </a:p>
                  </a:txBody>
                  <a:tcPr anchor="ctr" marL="73152" marR="54864" marT="27432" marB="27432">
                    <a:solidFill>
                      <a:srgbClr val="EEF3F8"/>
                    </a:solidFill>
                  </a:tcPr>
                </a:tc>
                <a:tc>
                  <a:txBody>
                    <a:bodyPr wrap="square"/>
                    <a:lstStyle/>
                    <a:p>
                      <a:r>
                        <a:rPr sz="1100">
                          <a:solidFill>
                            <a:srgbClr val="1A1A1A"/>
                          </a:solidFill>
                        </a:rPr>
                        <a:t>S1</a:t>
                      </a:r>
                    </a:p>
                  </a:txBody>
                  <a:tcPr anchor="ctr" marL="73152" marR="54864" marT="27432" marB="27432">
                    <a:solidFill>
                      <a:srgbClr val="EEF3F8"/>
                    </a:solidFill>
                  </a:tcPr>
                </a:tc>
              </a:tr>
              <a:tr h="630936">
                <a:tc>
                  <a:txBody>
                    <a:bodyPr wrap="square"/>
                    <a:lstStyle/>
                    <a:p>
                      <a:r>
                        <a:rPr sz="1100" b="1">
                          <a:solidFill>
                            <a:srgbClr val="0C2B4A"/>
                          </a:solidFill>
                        </a:rPr>
                        <a:t>The design is layered</a:t>
                      </a:r>
                    </a:p>
                  </a:txBody>
                  <a:tcPr anchor="ctr" marL="73152" marR="54864" marT="27432" marB="27432">
                    <a:solidFill>
                      <a:srgbClr val="FFFFFF"/>
                    </a:solidFill>
                  </a:tcPr>
                </a:tc>
                <a:tc>
                  <a:txBody>
                    <a:bodyPr wrap="square"/>
                    <a:lstStyle/>
                    <a:p>
                      <a:r>
                        <a:rPr sz="1100">
                          <a:solidFill>
                            <a:srgbClr val="1A1A1A"/>
                          </a:solidFill>
                        </a:rPr>
                        <a:t>three-schema → data independence</a:t>
                      </a:r>
                    </a:p>
                  </a:txBody>
                  <a:tcPr anchor="ctr" marL="73152" marR="54864" marT="27432" marB="27432">
                    <a:solidFill>
                      <a:srgbClr val="FFFFFF"/>
                    </a:solidFill>
                  </a:tcPr>
                </a:tc>
                <a:tc>
                  <a:txBody>
                    <a:bodyPr wrap="square"/>
                    <a:lstStyle/>
                    <a:p>
                      <a:r>
                        <a:rPr sz="1100">
                          <a:solidFill>
                            <a:srgbClr val="1A1A1A"/>
                          </a:solidFill>
                        </a:rPr>
                        <a:t>S2</a:t>
                      </a:r>
                    </a:p>
                  </a:txBody>
                  <a:tcPr anchor="ctr" marL="73152" marR="54864" marT="27432" marB="27432">
                    <a:solidFill>
                      <a:srgbClr val="FFFFFF"/>
                    </a:solidFill>
                  </a:tcPr>
                </a:tc>
              </a:tr>
              <a:tr h="630936">
                <a:tc>
                  <a:txBody>
                    <a:bodyPr wrap="square"/>
                    <a:lstStyle/>
                    <a:p>
                      <a:r>
                        <a:rPr sz="1100" b="1">
                          <a:solidFill>
                            <a:srgbClr val="0C2B4A"/>
                          </a:solidFill>
                        </a:rPr>
                        <a:t>It runs across servers</a:t>
                      </a:r>
                    </a:p>
                  </a:txBody>
                  <a:tcPr anchor="ctr" marL="73152" marR="54864" marT="27432" marB="27432">
                    <a:solidFill>
                      <a:srgbClr val="EEF3F8"/>
                    </a:solidFill>
                  </a:tcPr>
                </a:tc>
                <a:tc>
                  <a:txBody>
                    <a:bodyPr wrap="square"/>
                    <a:lstStyle/>
                    <a:p>
                      <a:r>
                        <a:rPr sz="1100">
                          <a:solidFill>
                            <a:srgbClr val="1A1A1A"/>
                          </a:solidFill>
                        </a:rPr>
                        <a:t>three-tier client/server, distributed</a:t>
                      </a:r>
                    </a:p>
                  </a:txBody>
                  <a:tcPr anchor="ctr" marL="73152" marR="54864" marT="27432" marB="27432">
                    <a:solidFill>
                      <a:srgbClr val="EEF3F8"/>
                    </a:solidFill>
                  </a:tcPr>
                </a:tc>
                <a:tc>
                  <a:txBody>
                    <a:bodyPr wrap="square"/>
                    <a:lstStyle/>
                    <a:p>
                      <a:r>
                        <a:rPr sz="1100">
                          <a:solidFill>
                            <a:srgbClr val="1A1A1A"/>
                          </a:solidFill>
                        </a:rPr>
                        <a:t>S4</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Five 'unrelated' topics are one system: user → interface → DBMS → schema/architecture → classification. This table is the whole unit on one slide.</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64 / 74</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E1F5EE"/>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F6E56"/>
                </a:solidFill>
              </a:rPr>
              <a:t>🛠  IN-CLASS ACTIVITY  ·  THINK–PAIR–SHARE</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Classify a Nepali app</a:t>
            </a:r>
          </a:p>
        </p:txBody>
      </p:sp>
      <p:sp>
        <p:nvSpPr>
          <p:cNvPr id="5" name="TextBox 4"/>
          <p:cNvSpPr txBox="1"/>
          <p:nvPr/>
        </p:nvSpPr>
        <p:spPr>
          <a:xfrm>
            <a:off x="640080" y="1600200"/>
            <a:ext cx="10881360" cy="3291840"/>
          </a:xfrm>
          <a:prstGeom prst="rect">
            <a:avLst/>
          </a:prstGeom>
          <a:noFill/>
        </p:spPr>
        <p:txBody>
          <a:bodyPr wrap="square">
            <a:spAutoFit/>
          </a:bodyPr>
          <a:lstStyle/>
          <a:p>
            <a:pPr>
              <a:spcAft>
                <a:spcPts val="700"/>
              </a:spcAft>
            </a:pPr>
            <a:r>
              <a:rPr sz="1550">
                <a:solidFill>
                  <a:srgbClr val="1A1A1A"/>
                </a:solidFill>
              </a:rPr>
              <a:t>•  In pairs (3 min): pick a Nepali app — eSewa, Daraz, Nagarik App, a bank app.</a:t>
            </a:r>
          </a:p>
          <a:p>
            <a:pPr>
              <a:spcAft>
                <a:spcPts val="700"/>
              </a:spcAft>
            </a:pPr>
            <a:r>
              <a:rPr sz="1550">
                <a:solidFill>
                  <a:srgbClr val="1A1A1A"/>
                </a:solidFill>
              </a:rPr>
              <a:t>•  Sketch whether it's two-tier or three-tier, and label what lives in each tier.</a:t>
            </a:r>
          </a:p>
          <a:p>
            <a:pPr>
              <a:spcAft>
                <a:spcPts val="700"/>
              </a:spcAft>
            </a:pPr>
            <a:r>
              <a:rPr sz="1550">
                <a:solidFill>
                  <a:srgbClr val="1A1A1A"/>
                </a:solidFill>
              </a:rPr>
              <a:t>•  Classify its likely DBMS on the three axes (data model, number of users, distribution) with a one-line reason each.</a:t>
            </a:r>
          </a:p>
          <a:p>
            <a:pPr>
              <a:spcAft>
                <a:spcPts val="700"/>
              </a:spcAft>
            </a:pPr>
            <a:r>
              <a:rPr sz="1550">
                <a:solidFill>
                  <a:srgbClr val="1A1A1A"/>
                </a:solidFill>
              </a:rPr>
              <a:t>•  Share (2 min).</a:t>
            </a:r>
          </a:p>
        </p:txBody>
      </p:sp>
      <p:sp>
        <p:nvSpPr>
          <p:cNvPr id="6" name="Rounded Rectangle 5"/>
          <p:cNvSpPr/>
          <p:nvPr/>
        </p:nvSpPr>
        <p:spPr>
          <a:xfrm>
            <a:off x="640080" y="5029200"/>
            <a:ext cx="10881360" cy="1554480"/>
          </a:xfrm>
          <a:prstGeom prst="roundRect">
            <a:avLst/>
          </a:prstGeom>
          <a:solidFill>
            <a:srgbClr val="FFFFFF"/>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Expected answer</a:t>
            </a:r>
          </a:p>
          <a:p>
            <a:pPr>
              <a:spcBef>
                <a:spcPts val="300"/>
              </a:spcBef>
            </a:pPr>
            <a:r>
              <a:rPr sz="1400">
                <a:solidFill>
                  <a:srgbClr val="1A1A1A"/>
                </a:solidFill>
              </a:rPr>
              <a:t>Most modern Nepali apps are three-tier (client app · application servers · database servers), multi-user, and relational (sometimes with some NoSQL), and larger ones are distributed. The reasoning matters more than being 'right'.</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65 / 74</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S4 — Quick Check</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900"/>
              </a:spcBef>
            </a:pPr>
            <a:r>
              <a:rPr sz="1700" b="1">
                <a:solidFill>
                  <a:srgbClr val="0C2B4A"/>
                </a:solidFill>
              </a:rPr>
              <a:t>Q1.  The main weakness of a purely centralized architecture is:</a:t>
            </a:r>
          </a:p>
          <a:p>
            <a:pPr lvl="1"/>
            <a:r>
              <a:rPr sz="1500" b="1">
                <a:solidFill>
                  <a:srgbClr val="0F6E56"/>
                </a:solidFill>
              </a:rPr>
              <a:t>a) too many servers   b) ✅ single point of failure   c) too secure   d) no data storage</a:t>
            </a:r>
          </a:p>
          <a:p>
            <a:pPr>
              <a:spcBef>
                <a:spcPts val="900"/>
              </a:spcBef>
            </a:pPr>
            <a:r>
              <a:rPr sz="1700" b="1">
                <a:solidFill>
                  <a:srgbClr val="0C2B4A"/>
                </a:solidFill>
              </a:rPr>
              <a:t>Q2.  A three-tier architecture adds which layer between the client and the database?</a:t>
            </a:r>
          </a:p>
          <a:p>
            <a:pPr lvl="1"/>
            <a:r>
              <a:rPr sz="1500" b="1">
                <a:solidFill>
                  <a:srgbClr val="0F6E56"/>
                </a:solidFill>
              </a:rPr>
              <a:t>a) a second client   b) a backup disk   c) ✅ an application / business-logic server   d) a second database</a:t>
            </a:r>
          </a:p>
          <a:p>
            <a:pPr lvl="1">
              <a:spcBef>
                <a:spcPts val="600"/>
              </a:spcBef>
            </a:pPr>
            <a:r>
              <a:rPr sz="1500" i="1">
                <a:solidFill>
                  <a:srgbClr val="1A1A1A"/>
                </a:solidFill>
              </a:rPr>
              <a:t>Discussion: pick a Nepali app and sketch whether it's two-tier or three-tier, and why.</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66 / 74</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C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C2B4A"/>
                </a:solidFill>
              </a:rPr>
              <a:t>S4 · SUMMARY  ·  [~2 MIN]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Summary &amp; Key Takeaways</a:t>
            </a:r>
          </a:p>
        </p:txBody>
      </p:sp>
      <p:sp>
        <p:nvSpPr>
          <p:cNvPr id="5" name="TextBox 4"/>
          <p:cNvSpPr txBox="1"/>
          <p:nvPr/>
        </p:nvSpPr>
        <p:spPr>
          <a:xfrm>
            <a:off x="640080" y="1554480"/>
            <a:ext cx="10972800" cy="2468880"/>
          </a:xfrm>
          <a:prstGeom prst="rect">
            <a:avLst/>
          </a:prstGeom>
          <a:noFill/>
        </p:spPr>
        <p:txBody>
          <a:bodyPr wrap="square">
            <a:spAutoFit/>
          </a:bodyPr>
          <a:lstStyle/>
          <a:p>
            <a:pPr>
              <a:spcAft>
                <a:spcPts val="800"/>
              </a:spcAft>
            </a:pPr>
            <a:r>
              <a:rPr sz="1500">
                <a:solidFill>
                  <a:srgbClr val="1A1A1A"/>
                </a:solidFill>
              </a:rPr>
              <a:t>1.  Centralized = simple but fragile (a single point of failure).</a:t>
            </a:r>
          </a:p>
          <a:p>
            <a:pPr>
              <a:spcAft>
                <a:spcPts val="800"/>
              </a:spcAft>
            </a:pPr>
            <a:r>
              <a:rPr sz="1500">
                <a:solidFill>
                  <a:srgbClr val="1A1A1A"/>
                </a:solidFill>
              </a:rPr>
              <a:t>2.  Client/server (especially three-tier) is the scalable modern standard: client · application server · database server.</a:t>
            </a:r>
          </a:p>
          <a:p>
            <a:pPr>
              <a:spcAft>
                <a:spcPts val="800"/>
              </a:spcAft>
            </a:pPr>
            <a:r>
              <a:rPr sz="1500">
                <a:solidFill>
                  <a:srgbClr val="1A1A1A"/>
                </a:solidFill>
              </a:rPr>
              <a:t>3.  DBMSs are classified by data model, number of users, and distribution.</a:t>
            </a:r>
          </a:p>
        </p:txBody>
      </p:sp>
      <p:sp>
        <p:nvSpPr>
          <p:cNvPr id="6" name="Rounded Rectangle 5"/>
          <p:cNvSpPr/>
          <p:nvPr/>
        </p:nvSpPr>
        <p:spPr>
          <a:xfrm>
            <a:off x="640080" y="4160520"/>
            <a:ext cx="10972800" cy="123444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Why this matters</a:t>
            </a:r>
          </a:p>
          <a:p>
            <a:pPr>
              <a:spcBef>
                <a:spcPts val="300"/>
              </a:spcBef>
            </a:pPr>
            <a:r>
              <a:rPr sz="1350">
                <a:solidFill>
                  <a:srgbClr val="1A1A1A"/>
                </a:solidFill>
              </a:rPr>
              <a:t>Every scalable product you use — e-commerce, fintech, the Nagarik App, government portals — is built client/server, usually three-tier. Architecture is the map; the rest of IT 220 (ER modelling, normalization, SQL) fills in how the database layer is designed and queried.</a:t>
            </a:r>
          </a:p>
        </p:txBody>
      </p:sp>
      <p:sp>
        <p:nvSpPr>
          <p:cNvPr id="7" name="Rounded Rectangle 6"/>
          <p:cNvSpPr/>
          <p:nvPr/>
        </p:nvSpPr>
        <p:spPr>
          <a:xfrm>
            <a:off x="640080" y="5504688"/>
            <a:ext cx="10972800" cy="105156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Next</a:t>
            </a:r>
          </a:p>
          <a:p>
            <a:pPr>
              <a:spcBef>
                <a:spcPts val="300"/>
              </a:spcBef>
            </a:pPr>
            <a:r>
              <a:rPr sz="1350">
                <a:solidFill>
                  <a:srgbClr val="1A1A1A"/>
                </a:solidFill>
              </a:rPr>
              <a:t>Unit 2 — DESIGNING databases: the Entity-Relationship (ER) model and converting it to tables.</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67 / 74</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UNIT 1 · CAPSTONE SOLVED PROBLEM</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Classify &amp; architect a nationwide banking system</a:t>
            </a:r>
          </a:p>
        </p:txBody>
      </p:sp>
      <p:sp>
        <p:nvSpPr>
          <p:cNvPr id="5" name="Rounded Rectangle 4"/>
          <p:cNvSpPr/>
          <p:nvPr/>
        </p:nvSpPr>
        <p:spPr>
          <a:xfrm>
            <a:off x="640080" y="1444752"/>
            <a:ext cx="10972800" cy="91440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Problem</a:t>
            </a:r>
          </a:p>
          <a:p>
            <a:pPr>
              <a:spcBef>
                <a:spcPts val="300"/>
              </a:spcBef>
            </a:pPr>
            <a:r>
              <a:rPr sz="1300">
                <a:solidFill>
                  <a:srgbClr val="1A1A1A"/>
                </a:solidFill>
              </a:rPr>
              <a:t>A nationwide bank asks you to describe its database system: classify its DBMS on the standard axes and choose a deployment architecture, justifying each decision from Unit 1's concepts.</a:t>
            </a:r>
          </a:p>
        </p:txBody>
      </p:sp>
      <p:sp>
        <p:nvSpPr>
          <p:cNvPr id="6" name="TextBox 5"/>
          <p:cNvSpPr txBox="1"/>
          <p:nvPr/>
        </p:nvSpPr>
        <p:spPr>
          <a:xfrm>
            <a:off x="777240" y="2487168"/>
            <a:ext cx="10698480" cy="2697480"/>
          </a:xfrm>
          <a:prstGeom prst="rect">
            <a:avLst/>
          </a:prstGeom>
          <a:noFill/>
        </p:spPr>
        <p:txBody>
          <a:bodyPr wrap="square">
            <a:spAutoFit/>
          </a:bodyPr>
          <a:lstStyle/>
          <a:p>
            <a:pPr>
              <a:spcAft>
                <a:spcPts val="400"/>
              </a:spcAft>
            </a:pPr>
            <a:r>
              <a:rPr sz="1250" b="1">
                <a:solidFill>
                  <a:srgbClr val="854F0B"/>
                </a:solidFill>
              </a:rPr>
              <a:t>Step 1.  </a:t>
            </a:r>
            <a:r>
              <a:rPr sz="1250">
                <a:solidFill>
                  <a:srgbClr val="1A1A1A"/>
                </a:solidFill>
              </a:rPr>
              <a:t>Data model → relational: banking needs strict integrity and safe transactions (ACID), which the relational model + SQL provide.</a:t>
            </a:r>
          </a:p>
          <a:p>
            <a:pPr>
              <a:spcAft>
                <a:spcPts val="400"/>
              </a:spcAft>
            </a:pPr>
            <a:r>
              <a:rPr sz="1250" b="1">
                <a:solidFill>
                  <a:srgbClr val="854F0B"/>
                </a:solidFill>
              </a:rPr>
              <a:t>Step 2.  </a:t>
            </a:r>
            <a:r>
              <a:rPr sz="1250">
                <a:solidFill>
                  <a:srgbClr val="1A1A1A"/>
                </a:solidFill>
              </a:rPr>
              <a:t>Number of users → multi-user: thousands of tellers, apps, and customers access it at the same time.</a:t>
            </a:r>
          </a:p>
          <a:p>
            <a:pPr>
              <a:spcAft>
                <a:spcPts val="400"/>
              </a:spcAft>
            </a:pPr>
            <a:r>
              <a:rPr sz="1250" b="1">
                <a:solidFill>
                  <a:srgbClr val="854F0B"/>
                </a:solidFill>
              </a:rPr>
              <a:t>Step 3.  </a:t>
            </a:r>
            <a:r>
              <a:rPr sz="1250">
                <a:solidFill>
                  <a:srgbClr val="1A1A1A"/>
                </a:solidFill>
              </a:rPr>
              <a:t>Distribution → distributed: data replicated across data centres for scale and disaster recovery.</a:t>
            </a:r>
          </a:p>
          <a:p>
            <a:pPr>
              <a:spcAft>
                <a:spcPts val="400"/>
              </a:spcAft>
            </a:pPr>
            <a:r>
              <a:rPr sz="1250" b="1">
                <a:solidFill>
                  <a:srgbClr val="854F0B"/>
                </a:solidFill>
              </a:rPr>
              <a:t>Step 4.  </a:t>
            </a:r>
            <a:r>
              <a:rPr sz="1250">
                <a:solidFill>
                  <a:srgbClr val="1A1A1A"/>
                </a:solidFill>
              </a:rPr>
              <a:t>Architecture → three-tier client/server: client (teller/app screen) · application server (business logic, security) · database server (the data).</a:t>
            </a:r>
          </a:p>
          <a:p>
            <a:pPr>
              <a:spcAft>
                <a:spcPts val="400"/>
              </a:spcAft>
            </a:pPr>
            <a:r>
              <a:rPr sz="1250" b="1">
                <a:solidFill>
                  <a:srgbClr val="854F0B"/>
                </a:solidFill>
              </a:rPr>
              <a:t>Step 5.  </a:t>
            </a:r>
            <a:r>
              <a:rPr sz="1250">
                <a:solidFill>
                  <a:srgbClr val="1A1A1A"/>
                </a:solidFill>
              </a:rPr>
              <a:t>Reject centralized: one machine would be a single point of failure and couldn't scale to the load.</a:t>
            </a:r>
          </a:p>
          <a:p>
            <a:pPr>
              <a:spcAft>
                <a:spcPts val="400"/>
              </a:spcAft>
            </a:pPr>
            <a:r>
              <a:rPr sz="1250" b="1">
                <a:solidFill>
                  <a:srgbClr val="854F0B"/>
                </a:solidFill>
              </a:rPr>
              <a:t>Step 6.  </a:t>
            </a:r>
            <a:r>
              <a:rPr sz="1250">
                <a:solidFill>
                  <a:srgbClr val="1A1A1A"/>
                </a:solidFill>
              </a:rPr>
              <a:t>Data independence → storage can be upgraded (SSDs, indexes) without rewriting apps (physical independence).</a:t>
            </a:r>
          </a:p>
        </p:txBody>
      </p:sp>
      <p:sp>
        <p:nvSpPr>
          <p:cNvPr id="7" name="Rounded Rectangle 6"/>
          <p:cNvSpPr/>
          <p:nvPr/>
        </p:nvSpPr>
        <p:spPr>
          <a:xfrm>
            <a:off x="640080" y="5230368"/>
            <a:ext cx="10972800" cy="137160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Worked answer</a:t>
            </a:r>
          </a:p>
          <a:p>
            <a:pPr>
              <a:spcBef>
                <a:spcPts val="300"/>
              </a:spcBef>
            </a:pPr>
            <a:r>
              <a:rPr sz="1300">
                <a:solidFill>
                  <a:srgbClr val="1A1A1A"/>
                </a:solidFill>
              </a:rPr>
              <a:t>The system is relational, multi-user, and distributed, deployed as a three-tier client/server; centralized is rejected because of the single-point-of-failure risk. There is one authoritative server-side copy of the data, and data independence keeps future storage upgrades cheap — no application rewrites.</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68 / 74</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UNIT 1 · CHEAT SHEET</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One-page revision reference</a:t>
            </a:r>
          </a:p>
        </p:txBody>
      </p:sp>
      <p:sp>
        <p:nvSpPr>
          <p:cNvPr id="5" name="Rounded Rectangle 4"/>
          <p:cNvSpPr/>
          <p:nvPr/>
        </p:nvSpPr>
        <p:spPr>
          <a:xfrm>
            <a:off x="640080" y="1572768"/>
            <a:ext cx="5349240" cy="141732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Data · Information · Database</a:t>
            </a:r>
          </a:p>
          <a:p>
            <a:pPr>
              <a:spcBef>
                <a:spcPts val="300"/>
              </a:spcBef>
            </a:pPr>
            <a:r>
              <a:rPr sz="1200">
                <a:solidFill>
                  <a:srgbClr val="1A1A1A"/>
                </a:solidFill>
              </a:rPr>
              <a:t>Raw facts → +context → an organized, persistent, shared, structured collection of related data.</a:t>
            </a:r>
          </a:p>
        </p:txBody>
      </p:sp>
      <p:sp>
        <p:nvSpPr>
          <p:cNvPr id="6" name="Rounded Rectangle 5"/>
          <p:cNvSpPr/>
          <p:nvPr/>
        </p:nvSpPr>
        <p:spPr>
          <a:xfrm>
            <a:off x="6199632" y="1572768"/>
            <a:ext cx="5349240" cy="141732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DBMS vs database</a:t>
            </a:r>
          </a:p>
          <a:p>
            <a:pPr>
              <a:spcBef>
                <a:spcPts val="300"/>
              </a:spcBef>
            </a:pPr>
            <a:r>
              <a:rPr sz="1200">
                <a:solidFill>
                  <a:srgbClr val="1A1A1A"/>
                </a:solidFill>
              </a:rPr>
              <a:t>DBMS = the software (MySQL). Database = the data. A DBMS adds concurrency, integrity, querying, security.</a:t>
            </a:r>
          </a:p>
        </p:txBody>
      </p:sp>
      <p:sp>
        <p:nvSpPr>
          <p:cNvPr id="7" name="Rounded Rectangle 6"/>
          <p:cNvSpPr/>
          <p:nvPr/>
        </p:nvSpPr>
        <p:spPr>
          <a:xfrm>
            <a:off x="640080" y="3072384"/>
            <a:ext cx="5349240" cy="141732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Users &amp; DBA</a:t>
            </a:r>
          </a:p>
          <a:p>
            <a:pPr>
              <a:spcBef>
                <a:spcPts val="300"/>
              </a:spcBef>
            </a:pPr>
            <a:r>
              <a:rPr sz="1200">
                <a:solidFill>
                  <a:srgbClr val="1A1A1A"/>
                </a:solidFill>
              </a:rPr>
              <a:t>Naive user · application programmer · sophisticated user. DBA = schema, security, backup &amp; recovery, tuning.</a:t>
            </a:r>
          </a:p>
        </p:txBody>
      </p:sp>
      <p:sp>
        <p:nvSpPr>
          <p:cNvPr id="8" name="Rounded Rectangle 7"/>
          <p:cNvSpPr/>
          <p:nvPr/>
        </p:nvSpPr>
        <p:spPr>
          <a:xfrm>
            <a:off x="6199632" y="3072384"/>
            <a:ext cx="5349240" cy="141732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Schema / instance / three-schema</a:t>
            </a:r>
          </a:p>
          <a:p>
            <a:pPr>
              <a:spcBef>
                <a:spcPts val="300"/>
              </a:spcBef>
            </a:pPr>
            <a:r>
              <a:rPr sz="1200">
                <a:solidFill>
                  <a:srgbClr val="1A1A1A"/>
                </a:solidFill>
              </a:rPr>
              <a:t>Schema = design (stable); instance = data (volatile). External · conceptual · internal → data independence.</a:t>
            </a:r>
          </a:p>
        </p:txBody>
      </p:sp>
      <p:sp>
        <p:nvSpPr>
          <p:cNvPr id="9" name="Rounded Rectangle 8"/>
          <p:cNvSpPr/>
          <p:nvPr/>
        </p:nvSpPr>
        <p:spPr>
          <a:xfrm>
            <a:off x="640080" y="4572000"/>
            <a:ext cx="5349240" cy="141732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SQL sub-languages</a:t>
            </a:r>
          </a:p>
          <a:p>
            <a:pPr>
              <a:spcBef>
                <a:spcPts val="300"/>
              </a:spcBef>
            </a:pPr>
            <a:r>
              <a:rPr sz="1200">
                <a:solidFill>
                  <a:srgbClr val="1A1A1A"/>
                </a:solidFill>
              </a:rPr>
              <a:t>DDL (define) · DML (query/modify) · DCL (permissions) · TCL (transactions). SQL bundles all four.</a:t>
            </a:r>
          </a:p>
        </p:txBody>
      </p:sp>
      <p:sp>
        <p:nvSpPr>
          <p:cNvPr id="10" name="Rounded Rectangle 9"/>
          <p:cNvSpPr/>
          <p:nvPr/>
        </p:nvSpPr>
        <p:spPr>
          <a:xfrm>
            <a:off x="6199632" y="4572000"/>
            <a:ext cx="5349240" cy="141732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Architecture &amp; classification</a:t>
            </a:r>
          </a:p>
          <a:p>
            <a:pPr>
              <a:spcBef>
                <a:spcPts val="300"/>
              </a:spcBef>
            </a:pPr>
            <a:r>
              <a:rPr sz="1200">
                <a:solidFill>
                  <a:srgbClr val="1A1A1A"/>
                </a:solidFill>
              </a:rPr>
              <a:t>Centralized (single point of failure) vs client/server (2- / 3-tier). Classify by model · users · distribution.</a:t>
            </a:r>
          </a:p>
        </p:txBody>
      </p:sp>
      <p:sp>
        <p:nvSpPr>
          <p:cNvPr id="11" name="TextBox 10"/>
          <p:cNvSpPr txBox="1"/>
          <p:nvPr/>
        </p:nvSpPr>
        <p:spPr>
          <a:xfrm>
            <a:off x="11292840" y="274320"/>
            <a:ext cx="822960" cy="320040"/>
          </a:xfrm>
          <a:prstGeom prst="rect">
            <a:avLst/>
          </a:prstGeom>
          <a:noFill/>
        </p:spPr>
        <p:txBody>
          <a:bodyPr wrap="none">
            <a:spAutoFit/>
          </a:bodyPr>
          <a:lstStyle/>
          <a:p>
            <a:pPr algn="r"/>
            <a:r>
              <a:rPr sz="1000">
                <a:solidFill>
                  <a:srgbClr val="55606B"/>
                </a:solidFill>
              </a:rPr>
              <a:t>69 / 74</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UNIT 1 · GLOSSARY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Key terms — quick reference</a:t>
            </a:r>
          </a:p>
        </p:txBody>
      </p:sp>
      <p:sp>
        <p:nvSpPr>
          <p:cNvPr id="5" name="TextBox 4"/>
          <p:cNvSpPr txBox="1"/>
          <p:nvPr/>
        </p:nvSpPr>
        <p:spPr>
          <a:xfrm>
            <a:off x="640080" y="1600200"/>
            <a:ext cx="5349240" cy="4846320"/>
          </a:xfrm>
          <a:prstGeom prst="rect">
            <a:avLst/>
          </a:prstGeom>
          <a:noFill/>
        </p:spPr>
        <p:txBody>
          <a:bodyPr wrap="square">
            <a:spAutoFit/>
          </a:bodyPr>
          <a:lstStyle/>
          <a:p>
            <a:pPr>
              <a:spcAft>
                <a:spcPts val="600"/>
              </a:spcAft>
            </a:pPr>
            <a:r>
              <a:rPr sz="1150" b="1">
                <a:solidFill>
                  <a:srgbClr val="0C2B4A"/>
                </a:solidFill>
              </a:rPr>
              <a:t>Data / information — </a:t>
            </a:r>
            <a:r>
              <a:rPr sz="1150">
                <a:solidFill>
                  <a:srgbClr val="1A1A1A"/>
                </a:solidFill>
              </a:rPr>
              <a:t>raw facts / data given meaning by context.</a:t>
            </a:r>
          </a:p>
          <a:p>
            <a:pPr>
              <a:spcAft>
                <a:spcPts val="600"/>
              </a:spcAft>
            </a:pPr>
            <a:r>
              <a:rPr sz="1150" b="1">
                <a:solidFill>
                  <a:srgbClr val="0C2B4A"/>
                </a:solidFill>
              </a:rPr>
              <a:t>Database — </a:t>
            </a:r>
            <a:r>
              <a:rPr sz="1150">
                <a:solidFill>
                  <a:srgbClr val="1A1A1A"/>
                </a:solidFill>
              </a:rPr>
              <a:t>organized, persistent, shared collection of related data.</a:t>
            </a:r>
          </a:p>
          <a:p>
            <a:pPr>
              <a:spcAft>
                <a:spcPts val="600"/>
              </a:spcAft>
            </a:pPr>
            <a:r>
              <a:rPr sz="1150" b="1">
                <a:solidFill>
                  <a:srgbClr val="0C2B4A"/>
                </a:solidFill>
              </a:rPr>
              <a:t>DBMS — </a:t>
            </a:r>
            <a:r>
              <a:rPr sz="1150">
                <a:solidFill>
                  <a:srgbClr val="1A1A1A"/>
                </a:solidFill>
              </a:rPr>
              <a:t>software that defines, creates, queries, and administers databases.</a:t>
            </a:r>
          </a:p>
          <a:p>
            <a:pPr>
              <a:spcAft>
                <a:spcPts val="600"/>
              </a:spcAft>
            </a:pPr>
            <a:r>
              <a:rPr sz="1150" b="1">
                <a:solidFill>
                  <a:srgbClr val="0C2B4A"/>
                </a:solidFill>
              </a:rPr>
              <a:t>Database system — </a:t>
            </a:r>
            <a:r>
              <a:rPr sz="1150">
                <a:solidFill>
                  <a:srgbClr val="1A1A1A"/>
                </a:solidFill>
              </a:rPr>
              <a:t>database + DBMS + applications and users.</a:t>
            </a:r>
          </a:p>
          <a:p>
            <a:pPr>
              <a:spcAft>
                <a:spcPts val="600"/>
              </a:spcAft>
            </a:pPr>
            <a:r>
              <a:rPr sz="1150" b="1">
                <a:solidFill>
                  <a:srgbClr val="0C2B4A"/>
                </a:solidFill>
              </a:rPr>
              <a:t>DBA — </a:t>
            </a:r>
            <a:r>
              <a:rPr sz="1150">
                <a:solidFill>
                  <a:srgbClr val="1A1A1A"/>
                </a:solidFill>
              </a:rPr>
              <a:t>administers the database: schema, security, backup, tuning.</a:t>
            </a:r>
          </a:p>
          <a:p>
            <a:pPr>
              <a:spcAft>
                <a:spcPts val="600"/>
              </a:spcAft>
            </a:pPr>
            <a:r>
              <a:rPr sz="1150" b="1">
                <a:solidFill>
                  <a:srgbClr val="0C2B4A"/>
                </a:solidFill>
              </a:rPr>
              <a:t>Data model — </a:t>
            </a:r>
            <a:r>
              <a:rPr sz="1150">
                <a:solidFill>
                  <a:srgbClr val="1A1A1A"/>
                </a:solidFill>
              </a:rPr>
              <a:t>concepts describing structure, constraints, operations.</a:t>
            </a:r>
          </a:p>
          <a:p>
            <a:pPr>
              <a:spcAft>
                <a:spcPts val="600"/>
              </a:spcAft>
            </a:pPr>
            <a:r>
              <a:rPr sz="1150" b="1">
                <a:solidFill>
                  <a:srgbClr val="0C2B4A"/>
                </a:solidFill>
              </a:rPr>
              <a:t>Schema / instance — </a:t>
            </a:r>
            <a:r>
              <a:rPr sz="1150">
                <a:solidFill>
                  <a:srgbClr val="1A1A1A"/>
                </a:solidFill>
              </a:rPr>
              <a:t>the design (stable) / the current data (volatile).</a:t>
            </a:r>
          </a:p>
          <a:p>
            <a:pPr>
              <a:spcAft>
                <a:spcPts val="600"/>
              </a:spcAft>
            </a:pPr>
            <a:r>
              <a:rPr sz="1150" b="1">
                <a:solidFill>
                  <a:srgbClr val="0C2B4A"/>
                </a:solidFill>
              </a:rPr>
              <a:t>Three-schema architecture — </a:t>
            </a:r>
            <a:r>
              <a:rPr sz="1150">
                <a:solidFill>
                  <a:srgbClr val="1A1A1A"/>
                </a:solidFill>
              </a:rPr>
              <a:t>external (views) · conceptual · internal (storage).</a:t>
            </a:r>
          </a:p>
        </p:txBody>
      </p:sp>
      <p:sp>
        <p:nvSpPr>
          <p:cNvPr id="6" name="TextBox 5"/>
          <p:cNvSpPr txBox="1"/>
          <p:nvPr/>
        </p:nvSpPr>
        <p:spPr>
          <a:xfrm>
            <a:off x="6199632" y="1600200"/>
            <a:ext cx="5349240" cy="4846320"/>
          </a:xfrm>
          <a:prstGeom prst="rect">
            <a:avLst/>
          </a:prstGeom>
          <a:noFill/>
        </p:spPr>
        <p:txBody>
          <a:bodyPr wrap="square">
            <a:spAutoFit/>
          </a:bodyPr>
          <a:lstStyle/>
          <a:p>
            <a:pPr>
              <a:spcAft>
                <a:spcPts val="600"/>
              </a:spcAft>
            </a:pPr>
            <a:r>
              <a:rPr sz="1150" b="1">
                <a:solidFill>
                  <a:srgbClr val="0C2B4A"/>
                </a:solidFill>
              </a:rPr>
              <a:t>Data independence — </a:t>
            </a:r>
            <a:r>
              <a:rPr sz="1150">
                <a:solidFill>
                  <a:srgbClr val="1A1A1A"/>
                </a:solidFill>
              </a:rPr>
              <a:t>change one level without changing the level above.</a:t>
            </a:r>
          </a:p>
          <a:p>
            <a:pPr>
              <a:spcAft>
                <a:spcPts val="600"/>
              </a:spcAft>
            </a:pPr>
            <a:r>
              <a:rPr sz="1150" b="1">
                <a:solidFill>
                  <a:srgbClr val="0C2B4A"/>
                </a:solidFill>
              </a:rPr>
              <a:t>DDL / DML — </a:t>
            </a:r>
            <a:r>
              <a:rPr sz="1150">
                <a:solidFill>
                  <a:srgbClr val="1A1A1A"/>
                </a:solidFill>
              </a:rPr>
              <a:t>define structure / query &amp; modify data.</a:t>
            </a:r>
          </a:p>
          <a:p>
            <a:pPr>
              <a:spcAft>
                <a:spcPts val="600"/>
              </a:spcAft>
            </a:pPr>
            <a:r>
              <a:rPr sz="1150" b="1">
                <a:solidFill>
                  <a:srgbClr val="0C2B4A"/>
                </a:solidFill>
              </a:rPr>
              <a:t>DCL / TCL — </a:t>
            </a:r>
            <a:r>
              <a:rPr sz="1150">
                <a:solidFill>
                  <a:srgbClr val="1A1A1A"/>
                </a:solidFill>
              </a:rPr>
              <a:t>control permissions / control transactions.</a:t>
            </a:r>
          </a:p>
          <a:p>
            <a:pPr>
              <a:spcAft>
                <a:spcPts val="600"/>
              </a:spcAft>
            </a:pPr>
            <a:r>
              <a:rPr sz="1150" b="1">
                <a:solidFill>
                  <a:srgbClr val="0C2B4A"/>
                </a:solidFill>
              </a:rPr>
              <a:t>Interface — </a:t>
            </a:r>
            <a:r>
              <a:rPr sz="1150">
                <a:solidFill>
                  <a:srgbClr val="1A1A1A"/>
                </a:solidFill>
              </a:rPr>
              <a:t>menu, form, GUI, natural-language, API — matched to the user.</a:t>
            </a:r>
          </a:p>
          <a:p>
            <a:pPr>
              <a:spcAft>
                <a:spcPts val="600"/>
              </a:spcAft>
            </a:pPr>
            <a:r>
              <a:rPr sz="1150" b="1">
                <a:solidFill>
                  <a:srgbClr val="0C2B4A"/>
                </a:solidFill>
              </a:rPr>
              <a:t>Query processor — </a:t>
            </a:r>
            <a:r>
              <a:rPr sz="1150">
                <a:solidFill>
                  <a:srgbClr val="1A1A1A"/>
                </a:solidFill>
              </a:rPr>
              <a:t>plans the cheapest way to run a query.</a:t>
            </a:r>
          </a:p>
          <a:p>
            <a:pPr>
              <a:spcAft>
                <a:spcPts val="600"/>
              </a:spcAft>
            </a:pPr>
            <a:r>
              <a:rPr sz="1150" b="1">
                <a:solidFill>
                  <a:srgbClr val="0C2B4A"/>
                </a:solidFill>
              </a:rPr>
              <a:t>Buffer / storage manager — </a:t>
            </a:r>
            <a:r>
              <a:rPr sz="1150">
                <a:solidFill>
                  <a:srgbClr val="1A1A1A"/>
                </a:solidFill>
              </a:rPr>
              <a:t>cache hot data in memory / read &amp; write disk.</a:t>
            </a:r>
          </a:p>
          <a:p>
            <a:pPr>
              <a:spcAft>
                <a:spcPts val="600"/>
              </a:spcAft>
            </a:pPr>
            <a:r>
              <a:rPr sz="1150" b="1">
                <a:solidFill>
                  <a:srgbClr val="0C2B4A"/>
                </a:solidFill>
              </a:rPr>
              <a:t>Catalog / metadata — </a:t>
            </a:r>
            <a:r>
              <a:rPr sz="1150">
                <a:solidFill>
                  <a:srgbClr val="1A1A1A"/>
                </a:solidFill>
              </a:rPr>
              <a:t>data about the data; makes the DBMS self-describing.</a:t>
            </a:r>
          </a:p>
          <a:p>
            <a:pPr>
              <a:spcAft>
                <a:spcPts val="600"/>
              </a:spcAft>
            </a:pPr>
            <a:r>
              <a:rPr sz="1150" b="1">
                <a:solidFill>
                  <a:srgbClr val="0C2B4A"/>
                </a:solidFill>
              </a:rPr>
              <a:t>Centralized / client-server — </a:t>
            </a:r>
            <a:r>
              <a:rPr sz="1150">
                <a:solidFill>
                  <a:srgbClr val="1A1A1A"/>
                </a:solidFill>
              </a:rPr>
              <a:t>one machine (SPOF) / work split across tiers.</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70 / 74</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UNIT 1 · REVISION</a:t>
            </a:r>
          </a:p>
        </p:txBody>
      </p:sp>
      <p:sp>
        <p:nvSpPr>
          <p:cNvPr id="3" name="TextBox 2"/>
          <p:cNvSpPr txBox="1"/>
          <p:nvPr/>
        </p:nvSpPr>
        <p:spPr>
          <a:xfrm>
            <a:off x="822960" y="2286000"/>
            <a:ext cx="10515600" cy="1280160"/>
          </a:xfrm>
          <a:prstGeom prst="rect">
            <a:avLst/>
          </a:prstGeom>
          <a:noFill/>
        </p:spPr>
        <p:txBody>
          <a:bodyPr wrap="square">
            <a:spAutoFit/>
          </a:bodyPr>
          <a:lstStyle/>
          <a:p>
            <a:r>
              <a:rPr sz="3100" b="1">
                <a:solidFill>
                  <a:srgbClr val="FFFFFF"/>
                </a:solidFill>
              </a:rPr>
              <a:t>End-of-unit quiz (S1–S4)</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Twelve MCQs across the whole unit (answers shown), then short-answer, applied, and discussion questions to work from the concept slides.</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71 / 74</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Section A — Multiple choice (answers shown)</a:t>
            </a:r>
          </a:p>
        </p:txBody>
      </p:sp>
      <p:sp>
        <p:nvSpPr>
          <p:cNvPr id="5" name="TextBox 4"/>
          <p:cNvSpPr txBox="1"/>
          <p:nvPr/>
        </p:nvSpPr>
        <p:spPr>
          <a:xfrm>
            <a:off x="640080" y="1600200"/>
            <a:ext cx="10881360" cy="4846320"/>
          </a:xfrm>
          <a:prstGeom prst="rect">
            <a:avLst/>
          </a:prstGeom>
          <a:noFill/>
        </p:spPr>
        <p:txBody>
          <a:bodyPr wrap="square">
            <a:spAutoFit/>
          </a:bodyPr>
          <a:lstStyle/>
          <a:p>
            <a:pPr lvl="1"/>
            <a:r>
              <a:rPr sz="1250" b="1">
                <a:solidFill>
                  <a:srgbClr val="0F6E56"/>
                </a:solidFill>
              </a:rPr>
              <a:t>1.  A database is best described as   →  ✅ an organized, persistent, shared collection of related data</a:t>
            </a:r>
          </a:p>
          <a:p>
            <a:pPr lvl="1"/>
            <a:r>
              <a:rPr sz="1250" b="1">
                <a:solidFill>
                  <a:srgbClr val="0F6E56"/>
                </a:solidFill>
              </a:rPr>
              <a:t>2.  The software that manages a database is the   →  ✅ DBMS</a:t>
            </a:r>
          </a:p>
          <a:p>
            <a:pPr lvl="1"/>
            <a:r>
              <a:rPr sz="1250" b="1">
                <a:solidFill>
                  <a:srgbClr val="0F6E56"/>
                </a:solidFill>
              </a:rPr>
              <a:t>3.  A file-system problem a DBMS solves   →  ✅ uncontrolled redundancy / inconsistency</a:t>
            </a:r>
          </a:p>
          <a:p>
            <a:pPr lvl="1"/>
            <a:r>
              <a:rPr sz="1250" b="1">
                <a:solidFill>
                  <a:srgbClr val="0F6E56"/>
                </a:solidFill>
              </a:rPr>
              <a:t>4.  Granting permissions is the responsibility of the   →  ✅ DBA</a:t>
            </a:r>
          </a:p>
          <a:p>
            <a:pPr lvl="1"/>
            <a:r>
              <a:rPr sz="1250" b="1">
                <a:solidFill>
                  <a:srgbClr val="0F6E56"/>
                </a:solidFill>
              </a:rPr>
              <a:t>5.  The actual data at a given moment is the   →  ✅ instance</a:t>
            </a:r>
          </a:p>
          <a:p>
            <a:pPr lvl="1"/>
            <a:r>
              <a:rPr sz="1250" b="1">
                <a:solidFill>
                  <a:srgbClr val="0F6E56"/>
                </a:solidFill>
              </a:rPr>
              <a:t>6.  Changing storage without affecting the conceptual schema is   →  ✅ physical data independence</a:t>
            </a:r>
          </a:p>
          <a:p>
            <a:pPr lvl="1"/>
            <a:r>
              <a:rPr sz="1250" b="1">
                <a:solidFill>
                  <a:srgbClr val="0F6E56"/>
                </a:solidFill>
              </a:rPr>
              <a:t>7.  The external level refers to   →  ✅ per-user views</a:t>
            </a:r>
          </a:p>
          <a:p>
            <a:pPr lvl="1"/>
            <a:r>
              <a:rPr sz="1250" b="1">
                <a:solidFill>
                  <a:srgbClr val="0F6E56"/>
                </a:solidFill>
              </a:rPr>
              <a:t>8.  CREATE TABLE is part of   →  ✅ DDL</a:t>
            </a:r>
          </a:p>
          <a:p>
            <a:pPr lvl="1"/>
            <a:r>
              <a:rPr sz="1250" b="1">
                <a:solidFill>
                  <a:srgbClr val="0F6E56"/>
                </a:solidFill>
              </a:rPr>
              <a:t>9.  Finds the most efficient way to run a query   →  ✅ query processor / optimizer</a:t>
            </a:r>
          </a:p>
          <a:p>
            <a:pPr lvl="1"/>
            <a:r>
              <a:rPr sz="1250" b="1">
                <a:solidFill>
                  <a:srgbClr val="0F6E56"/>
                </a:solidFill>
              </a:rPr>
              <a:t>10.  Main weakness of centralized architecture   →  ✅ single point of failure</a:t>
            </a:r>
          </a:p>
          <a:p>
            <a:pPr lvl="1"/>
            <a:r>
              <a:rPr sz="1250" b="1">
                <a:solidFill>
                  <a:srgbClr val="0F6E56"/>
                </a:solidFill>
              </a:rPr>
              <a:t>11.  The middle tier in three-tier is the   →  ✅ application / business-logic server</a:t>
            </a:r>
          </a:p>
          <a:p>
            <a:pPr lvl="1"/>
            <a:r>
              <a:rPr sz="1250" b="1">
                <a:solidFill>
                  <a:srgbClr val="0F6E56"/>
                </a:solidFill>
              </a:rPr>
              <a:t>12.  'NoSQL' most accurately means   →  ✅ not only SQL</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72 / 74</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Sections B–D — short answer, applied &amp; discussion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500"/>
              </a:spcBef>
            </a:pPr>
            <a:r>
              <a:rPr sz="1400" b="1">
                <a:solidFill>
                  <a:srgbClr val="0C2B4A"/>
                </a:solidFill>
              </a:rPr>
              <a:t>Section B — Short answer</a:t>
            </a:r>
          </a:p>
          <a:p>
            <a:pPr lvl="1">
              <a:spcBef>
                <a:spcPts val="200"/>
              </a:spcBef>
            </a:pPr>
            <a:r>
              <a:rPr sz="1250" i="1">
                <a:solidFill>
                  <a:srgbClr val="1A1A1A"/>
                </a:solidFill>
              </a:rPr>
              <a:t>13. Define schema &amp; instance (example each for Student).   14. Four advantages of a DBMS over files.</a:t>
            </a:r>
          </a:p>
          <a:p>
            <a:pPr lvl="1">
              <a:spcBef>
                <a:spcPts val="200"/>
              </a:spcBef>
            </a:pPr>
            <a:r>
              <a:rPr sz="1250" i="1">
                <a:solidFill>
                  <a:srgbClr val="1A1A1A"/>
                </a:solidFill>
              </a:rPr>
              <a:t>15. Logical vs physical data independence (one sentence each).   16. Name DDL/DML/DCL/TCL + one command each.   17. What is metadata, and where is it stored?</a:t>
            </a:r>
          </a:p>
          <a:p>
            <a:pPr>
              <a:spcBef>
                <a:spcPts val="500"/>
              </a:spcBef>
            </a:pPr>
            <a:r>
              <a:rPr sz="1400" b="1">
                <a:solidFill>
                  <a:srgbClr val="0C2B4A"/>
                </a:solidFill>
              </a:rPr>
              <a:t>Section C — Applied / diagramming</a:t>
            </a:r>
          </a:p>
          <a:p>
            <a:pPr lvl="1">
              <a:spcBef>
                <a:spcPts val="200"/>
              </a:spcBef>
            </a:pPr>
            <a:r>
              <a:rPr sz="1250" i="1">
                <a:solidFill>
                  <a:srgbClr val="1A1A1A"/>
                </a:solidFill>
              </a:rPr>
              <a:t>18. Draw &amp; label the three-schema architecture; say what each level hides from the one above.</a:t>
            </a:r>
          </a:p>
          <a:p>
            <a:pPr lvl="1">
              <a:spcBef>
                <a:spcPts val="200"/>
              </a:spcBef>
            </a:pPr>
            <a:r>
              <a:rPr sz="1250" i="1">
                <a:solidFill>
                  <a:srgbClr val="1A1A1A"/>
                </a:solidFill>
              </a:rPr>
              <a:t>19. Sketch a three-tier architecture for Daraz; label each tier.   20. Classify an online banking system on three axes with a one-line reason each.</a:t>
            </a:r>
          </a:p>
          <a:p>
            <a:pPr>
              <a:spcBef>
                <a:spcPts val="500"/>
              </a:spcBef>
            </a:pPr>
            <a:r>
              <a:rPr sz="1400" b="1">
                <a:solidFill>
                  <a:srgbClr val="0C2B4A"/>
                </a:solidFill>
              </a:rPr>
              <a:t>Section D — Discussion</a:t>
            </a:r>
          </a:p>
          <a:p>
            <a:pPr lvl="1">
              <a:spcBef>
                <a:spcPts val="200"/>
              </a:spcBef>
            </a:pPr>
            <a:r>
              <a:rPr sz="1250" i="1">
                <a:solidFill>
                  <a:srgbClr val="1A1A1A"/>
                </a:solidFill>
              </a:rPr>
              <a:t>21. 'A kirana shop's paper notebook is technically a database.' Argue for and against, then say what a DBMS would add.</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73 / 74</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0C2B4A"/>
        </a:solidFill>
        <a:effectLst/>
      </p:bgPr>
    </p:bg>
    <p:spTree>
      <p:nvGrpSpPr>
        <p:cNvPr id="1" name=""/>
        <p:cNvGrpSpPr/>
        <p:nvPr/>
      </p:nvGrpSpPr>
      <p:grpSpPr/>
      <p:sp>
        <p:nvSpPr>
          <p:cNvPr id="2" name="Rectangle 1"/>
          <p:cNvSpPr/>
          <p:nvPr/>
        </p:nvSpPr>
        <p:spPr>
          <a:xfrm>
            <a:off x="822960" y="2788920"/>
            <a:ext cx="1463040" cy="91440"/>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828800"/>
            <a:ext cx="10515600" cy="914400"/>
          </a:xfrm>
          <a:prstGeom prst="rect">
            <a:avLst/>
          </a:prstGeom>
          <a:noFill/>
        </p:spPr>
        <p:txBody>
          <a:bodyPr wrap="square">
            <a:spAutoFit/>
          </a:bodyPr>
          <a:lstStyle/>
          <a:p>
            <a:r>
              <a:rPr sz="3400" b="1">
                <a:solidFill>
                  <a:srgbClr val="FFFFFF"/>
                </a:solidFill>
              </a:rPr>
              <a:t>End of Unit 1  ·  IT 220</a:t>
            </a:r>
          </a:p>
        </p:txBody>
      </p:sp>
      <p:sp>
        <p:nvSpPr>
          <p:cNvPr id="4" name="TextBox 3"/>
          <p:cNvSpPr txBox="1"/>
          <p:nvPr/>
        </p:nvSpPr>
        <p:spPr>
          <a:xfrm>
            <a:off x="822960" y="2971800"/>
            <a:ext cx="10515600" cy="1097280"/>
          </a:xfrm>
          <a:prstGeom prst="rect">
            <a:avLst/>
          </a:prstGeom>
          <a:noFill/>
        </p:spPr>
        <p:txBody>
          <a:bodyPr wrap="square">
            <a:spAutoFit/>
          </a:bodyPr>
          <a:lstStyle/>
          <a:p>
            <a:r>
              <a:rPr sz="1800">
                <a:solidFill>
                  <a:srgbClr val="CFDDEA"/>
                </a:solidFill>
              </a:rPr>
              <a:t>S1–S4 complete: database &amp; DBMS · users &amp; DBA · data models, schema/instance, three-schema &amp; data independence · languages, interfaces &amp; components · architectures &amp; classification</a:t>
            </a:r>
          </a:p>
        </p:txBody>
      </p:sp>
      <p:sp>
        <p:nvSpPr>
          <p:cNvPr id="5" name="TextBox 4"/>
          <p:cNvSpPr txBox="1"/>
          <p:nvPr/>
        </p:nvSpPr>
        <p:spPr>
          <a:xfrm>
            <a:off x="822960" y="5943600"/>
            <a:ext cx="10515600" cy="640080"/>
          </a:xfrm>
          <a:prstGeom prst="rect">
            <a:avLst/>
          </a:prstGeom>
          <a:noFill/>
        </p:spPr>
        <p:txBody>
          <a:bodyPr wrap="square">
            <a:spAutoFit/>
          </a:bodyPr>
          <a:lstStyle/>
          <a:p>
            <a:r>
              <a:rPr sz="1300">
                <a:solidFill>
                  <a:srgbClr val="9AB2C6"/>
                </a:solidFill>
              </a:rPr>
              <a:t>Built to COURSE_MATERIAL_STANDARD.md · self-contained slides · exports cleanly to PDF · Next unit (Unit 2): the Entity-Relationship (ER) model.</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74 / 74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