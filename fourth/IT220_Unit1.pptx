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4 sessions, one outcome cluster each. This unit is the foundation for the whole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3 everyday facts — eSewa balance survives a dead phone; exam results survive the holidays; FB feed reloads where you left it. Land: none of it lives 'in the app' — it lives in a DATABASE. Show of hands: 'who checked eSewa/bank balance this week?' That number came out in under a second while thousands read theirs — nobody got the wrong balance. Cold-call: 'reinstall an app — why are you still logged in?' Agenda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DATA·INFORMATION·DATABASE on the board. Ask 'is 78 a mark, age, or house number?' to show data is raw. Three properties = persistent (survives shutdown), shared (many users/apps), structured. Mini case (~90s): a kirana shop's paper notebook IS a database — organized, persistent — but fragile (one reader, fire/tea risk, manual search). 'Hold that notebook — it's the problem the DBMS solves.'</a:t>
            </a:r>
          </a:p>
          <a:p/>
          <a:p>
            <a:r>
              <a:t>🎯 Likely exam Q: Differentiate data, information &amp; database with examples.</a:t>
            </a:r>
          </a:p>
          <a:p>
            <a:r>
              <a:t>   Model answer: Data = raw facts; information = data + context; database = organized, persistent, shared collection. eSewa: raw fields → 'you paid Hari Rs 500' → all transactions stored.</a:t>
            </a:r>
          </a:p>
          <a:p/>
          <a:p>
            <a:r>
              <a:t>🔮 Hypothetical (pose to class): Given a file holding just '84,91,77,88' — is it data, info, or a database? Add context + structure to climb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the two ideas students confuse ALL semester. Deliver the librarian analogy: the librarian doesn't OWN the books, they MANAGE them — exactly the DBMS-vs-database relationship. Repeat the MySQL line twice. Excel is fine for 200 rows; it breaks at the point a DBMS begins.</a:t>
            </a:r>
          </a:p>
          <a:p/>
          <a:p>
            <a:r>
              <a:t>🎯 Likely exam Q: What is a DBMS, and how does it differ from a database?</a:t>
            </a:r>
          </a:p>
          <a:p>
            <a:r>
              <a:t>   Model answer: DBMS = software that manages databases (MySQL, Oracle). Database = the actual data. The DBMS adds concurrency, integrity, querying, security. DB + DBMS + apps = a database system.</a:t>
            </a:r>
          </a:p>
          <a:p/>
          <a:p>
            <a:r>
              <a:t>🔮 Hypothetical (pose to class): If the college dropped its DBMS for per-department Excel, predict 3 failures within a month — each is a job the DBMS was doing.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ONE Nepali bank to populate all four roles (teller → naive; app team → programmers; risk/MIS → sophisticated; DBA). The DBA is accountable when the data layer misbehaves — make the role feel real and high-stakes.</a:t>
            </a:r>
          </a:p>
          <a:p/>
          <a:p>
            <a:r>
              <a:t>🎯 Likely exam Q: List the database users and the role of the DBA.</a:t>
            </a:r>
          </a:p>
          <a:p>
            <a:r>
              <a:t>   Model answer: Naive/end users, application programmers, sophisticated users, and the DBA. DBA duties: schema design, security/permissions, backup &amp; recovery, performance tuning.</a:t>
            </a:r>
          </a:p>
          <a:p/>
          <a:p>
            <a:r>
              <a:t>🔮 Hypothetical (pose to class): A startup with no DBA loses a table to a stray query — who notices, who restores it, and who should have set permissions?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address-in-5-files example: store a student's address in 5 files, update 4, forget 1 — now the data is inconsistent and you can't tell which is right. This single example motivates 'controlled redundancy'.</a:t>
            </a:r>
          </a:p>
          <a:p/>
          <a:p>
            <a:r>
              <a:t>🎯 Likely exam Q: State four advantages of a DBMS over a file-based system.</a:t>
            </a:r>
          </a:p>
          <a:p>
            <a:r>
              <a:t>   Model answer: Controlled redundancy, consistency/integrity, concurrent multi-user sharing, security/access control, backup &amp; recovery (any four, one line each).</a:t>
            </a:r>
          </a:p>
          <a:p/>
          <a:p>
            <a:r>
              <a:t>🔮 Hypothetical (pose to class): A hospital keeps blood group in 3 files; only 1 is corrected before a transfusion — what's the risk, and which feature prevents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Anchors the abstract advantages in concrete choices. The bank accounts + Daraz orders clearly need a DBMS (concurrency, integrity, scale); the diary/guest list don't — that contrast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every fintech/e-commerce employer in Nepal (eSewa, Khalti, Daraz, IME Pay) runs on a DBMS — 'understands databases' is on almost every software/data/QA job ad. SUMMARY [~2 min]: database = organized shared persistent data; DBMS manages it; beats files on redundancy/integrity/sharing/security/recovery. Next: how we DESCRIBE data — models, schemas, instances.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last year the college stored results one way; this year IT moved everything to a faster server with a different internal layout. You — checking marks online — noticed NOTHING. That invisibility has a name: data independence. Ask 'why didn't the change break the student portal?' and hold it. Agenda: models → schema vs instance → three-schema → independence.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light — models are previewed here, detailed in Unit 2. The takeaway is the IDEA of describing data at different abstraction levels; that sets up the three-schema architecture.</a:t>
            </a:r>
          </a:p>
          <a:p/>
          <a:p>
            <a:r>
              <a:t>🎯 Likely exam Q: What is a data model? Name its categories.</a:t>
            </a:r>
          </a:p>
          <a:p>
            <a:r>
              <a:t>   Model answer: A set of concepts describing structure + constraints + operations. Categories: conceptual (ER) → representational (relational/tables) → physical (storage).</a:t>
            </a:r>
          </a:p>
          <a:p/>
          <a:p>
            <a:r>
              <a:t>🔮 Hypothetical (pose to class): Three teams describe one library (boxes / CREATE TABLE / disk files) — which abstraction level is each?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Hammer the mould/poured-in metaphor. Write Student(roll,name,program) on the board, then list 3 fake rows beside it — 'same schema, infinitely many instances over time.' The schema barely changes; the instance changes every enrolment.</a:t>
            </a:r>
          </a:p>
          <a:p/>
          <a:p>
            <a:r>
              <a:t>🎯 Likely exam Q: Differentiate schema and instance with an example.</a:t>
            </a:r>
          </a:p>
          <a:p>
            <a:r>
              <a:t>   Model answer: Schema = stable design (e.g. Student(roll,name,program)); instance = the actual current rows, volatile. One schema has many instances over time.</a:t>
            </a:r>
          </a:p>
          <a:p/>
          <a:p>
            <a:r>
              <a:t>🔮 Hypothetical (pose to class): Photograph the attendance register daily; on day 15 you add a column — did the schema or the instance change?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centrepiece. Walk the college exam DB through all three: external = student sees own marks; conceptual = the complete exam DB; internal = how it's stored/indexed on disk. The mappings between levels are exactly what give data independence (next concept).</a:t>
            </a:r>
          </a:p>
          <a:p/>
          <a:p>
            <a:r>
              <a:t>🎯 Likely exam Q: Explain the three-schema architecture.</a:t>
            </a:r>
          </a:p>
          <a:p>
            <a:r>
              <a:t>   Model answer: External (per-user views), conceptual (whole logical DB), internal (physical storage). Mappings between levels hide detail and give data independence.</a:t>
            </a:r>
          </a:p>
          <a:p/>
          <a:p>
            <a:r>
              <a:t>🔮 Hypothetical (pose to class): Hospital: patient / doctor / billing / DBA views — sort each onto external / conceptual / internal.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 the hook here. Mini case: the admin moves the DB to SSDs + adds an index overnight; next morning every app and user works unchanged = PHYSICAL independence. Logical independence (changing the design without breaking views) is the harder one to achieve.</a:t>
            </a:r>
          </a:p>
          <a:p/>
          <a:p>
            <a:r>
              <a:t>🎯 Likely exam Q: Define logical and physical data independence.</a:t>
            </a:r>
          </a:p>
          <a:p>
            <a:r>
              <a:t>   Model answer: Logical = change the conceptual schema without changing views/apps. Physical = change storage (indexes/disks) without changing the conceptual schema.</a:t>
            </a:r>
          </a:p>
          <a:p/>
          <a:p>
            <a:r>
              <a:t>🔮 Hypothetical (pose to class): Add a biometric_id column — does the old portal break (logical)? Move data to SSD — which independence (physical)?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Cements the architecture by making students place real examples at each level. The 'change students wouldn't notice' prompt directly rehearses physical data independence.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data independence is WHY banks, Ntc/Ncell, and gov portals upgrade storage/infrastructure without rewriting every app — systems lacking it become unmaintainable. SUMMARY [~2 min]: models describe data at 3 levels; schema = structure, instance = current data; three-schema architecture gives logical + physical independence. Next: the languages &amp; interfaces to talk to a DBMS.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there's one language to BUILD a database, another to USE it day-to-day, another to PROTECT it. You've heard of SQL — but SQL is actually several languages wearing one name. Ask 'which SQL keywords have you already seen?' Agenda: languages → interfaces → DBMS components → data dictionary.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SQL syntax is Unit 5 — today just the four categories. Mini case (one college): register a new course = DDL; enrol a student = DML; grant a TA view access = DCL; commit the enrolment = TCL. CREATE/SELECT/GRANT/COMMIT — all 'SQL', different jobs.</a:t>
            </a:r>
          </a:p>
          <a:p/>
          <a:p>
            <a:r>
              <a:t>🎯 Likely exam Q: Name the SQL sub-languages with one command each.</a:t>
            </a:r>
          </a:p>
          <a:p>
            <a:r>
              <a:t>   Model answer: DDL (CREATE), DML (SELECT/INSERT), DCL (GRANT), TCL (COMMIT). SQL bundles all four.</a:t>
            </a:r>
          </a:p>
          <a:p/>
          <a:p>
            <a:r>
              <a:t>🔮 Hypothetical (pose to class): Four statements with keywords hidden (create / fetch / grant access / make permanent) — label each DDL/DML/DCL/TCL.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data, many doors. The teller and the developer touch the SAME database through totally different interfaces matched to their skill/role. Sets up the shopkeeper-interface discussion in the quiz.</a:t>
            </a:r>
          </a:p>
          <a:p/>
          <a:p>
            <a:r>
              <a:t>🎯 Likely exam Q: List the types of DBMS interfaces.</a:t>
            </a:r>
          </a:p>
          <a:p>
            <a:r>
              <a:t>   Model answer: Menu-based, form-based, GUI, natural-language, and API/embedded-SQL. Principle: match the interface to the user.</a:t>
            </a:r>
          </a:p>
          <a:p/>
          <a:p>
            <a:r>
              <a:t>🔮 Hypothetical (pose to class): One library, three users (elderly member / busy librarian / developer) — design a fitting interface for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Restaurant analogy: waiter (query processor decides how to fulfil the order), kitchen (storage manager), manager (transaction manager ensures no half-done order), receipt book (catalog).</a:t>
            </a:r>
          </a:p>
          <a:p/>
          <a:p>
            <a:r>
              <a:t>🎯 Likely exam Q: Name the main components of a DBMS and their roles.</a:t>
            </a:r>
          </a:p>
          <a:p>
            <a:r>
              <a:t>   Model answer: Query processor/optimizer, storage manager, buffer manager, transaction manager (ACID), and the catalog/data dictionary.</a:t>
            </a:r>
          </a:p>
          <a:p/>
          <a:p>
            <a:r>
              <a:t>🔮 Hypothetical (pose to class): A 0.1s query suddenly takes 30s — which component (optimizer / buffer / storage / transaction) do you suspect,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crisp. When you ask 'what columns does Student have?', the answer comes FROM the catalog. Then run the activity.</a:t>
            </a:r>
          </a:p>
          <a:p/>
          <a:p>
            <a:r>
              <a:t>🎯 Likely exam Q: What is a data dictionary / system catalog?</a:t>
            </a:r>
          </a:p>
          <a:p>
            <a:r>
              <a:t>   Model answer: The system catalog stores metadata: table names, column types, constraints, users, indexes. It makes the database self-describing.</a:t>
            </a:r>
          </a:p>
          <a:p/>
          <a:p>
            <a:r>
              <a:t>🔮 Hypothetical (pose to class): Unknown database, no docs — list every table WITHOUT reading the data. (Query the catalog — it's self-describing.)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Fast, high-energy retrieval practice. The last prompt chains DDL (if creating)→DML (enrol)→TCL (commit), reinforcing that one task touches multiple sub-languages.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knowing DDL/DML/DCL is the literal day-one skill in any backend/data/QA role — 'SQL required' job ads mean exactly these. SUMMARY [~2 min]: DDL/DML/DCL/TCL each have a job (SQL bundles them); many interfaces for many users; a DBMS = cooperating components + a catalog. Next: WHERE the database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results are out, 5,000 students hit refresh in the same 60 seconds. What stops the system collapsing? Architecture — WHERE the database and apps actually run. Agenda: centralized → client/server (2-tier/3-tier) → classification → Unit 1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contrast with client/server. Emphasise the single point of failure — it's the weakness that motivates everything that follows.</a:t>
            </a:r>
          </a:p>
          <a:p/>
          <a:p>
            <a:r>
              <a:t>🎯 Likely exam Q: What is centralized architecture and its main drawback?</a:t>
            </a:r>
          </a:p>
          <a:p>
            <a:r>
              <a:t>   Model answer: Data + DBMS + app on one central machine; terminals only display. Simple, but a single point of failure with poor scalability.</a:t>
            </a:r>
          </a:p>
          <a:p/>
          <a:p>
            <a:r>
              <a:t>🔮 Hypothetical (pose to class): Whole college on one server; the room loses power at result time — what's the blast radius? Now imagine 3 replicated servers.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Three-tier is the modern web/mobile standard. The 'why your phone doesn't hold the full ledger' case lands the server-side idea: security, consistency, access from any device.</a:t>
            </a:r>
          </a:p>
          <a:p/>
          <a:p>
            <a:r>
              <a:t>🎯 Likely exam Q: Differentiate two-tier and three-tier architecture.</a:t>
            </a:r>
          </a:p>
          <a:p>
            <a:r>
              <a:t>   Model answer: Two-tier: client (UI+logic) ↔ DB server. Three-tier: client (UI) ↔ application server (business logic) ↔ DB server. Three-tier scales better.</a:t>
            </a:r>
          </a:p>
          <a:p/>
          <a:p>
            <a:r>
              <a:t>🔮 Hypothetical (pose to class): 50,000 hit the portal in 5 min — which buckles, two-tier or three-tier, and where do you add machines in each?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NoSQL and distributed are previews of Unit 7. Stress that relational still DOMINATES business systems; NoSQL is an additional tool for specific needs (huge scale, flexible schemas).</a:t>
            </a:r>
          </a:p>
          <a:p/>
          <a:p>
            <a:r>
              <a:t>🎯 Likely exam Q: On what bases are DBMSs classified?</a:t>
            </a:r>
          </a:p>
          <a:p>
            <a:r>
              <a:t>   Model answer: By data model (relational/NoSQL/...), number of users (single vs multi), distribution (centralized vs distributed), and purpose.</a:t>
            </a:r>
          </a:p>
          <a:p/>
          <a:p>
            <a:r>
              <a:t>🔮 Hypothetical (pose to class): Classify a laptop billing app, a bank core, and a social network on model / users /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mind-map slowly; ask students which session each branch came from. This is the integration moment and the slide to photograph for revision.</a:t>
            </a:r>
          </a:p>
          <a:p/>
          <a:p>
            <a:r>
              <a:t>🎯 Likely exam Q: How do the concepts of Unit 1 connect?</a:t>
            </a:r>
          </a:p>
          <a:p>
            <a:r>
              <a:t>   Model answer: Users reach a DBMS (components + catalog) via interfaces/languages; it manages a database described by a schema at 3 levels (data independence), on a centralized/client-server architecture; classified by model, users, distribution.</a:t>
            </a:r>
          </a:p>
          <a:p/>
          <a:p>
            <a:r>
              <a:t>🔮 Hypothetical (pose to class): eSewa's DB servers go down but app servers stay up — what still works, what breaks,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Synthesises the whole session AND the unit. Most modern Nepali apps are three-tier, multi-user, relational (often with some NoSQL) — let pairs justify their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every scalable product (e-commerce, fintech, Nagarik App, gov portals) is client/server, usually three-tier — this frames the rest of the course. SUMMARY [~2 min]: centralized = simple but fragile; client/server (esp. 3-tier) = scalable standard; DBMSs classify by model/users/distribution. Next unit: modelling data with the 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MCQ + 5 short answer + 3 applied/diagramming + 1 discussion. Full questions and answer key are in Unit1_material.md.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lines map to the most common exam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Unit 1 — Database Concepts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CFDDEA"/>
                </a:solidFill>
              </a:rPr>
              <a:t>IT 220: Database Management System  ·  BIM 4th Semester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4 lecture hours (S1–S4)  ·  50 min each  ·  Nepal / South Asia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Unit 1 —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1A1A1A"/>
                </a:solidFill>
              </a:rPr>
              <a:t>By the end of this unit, you will be able to: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55606B"/>
                </a:solidFill>
              </a:rPr>
              <a:t>Define database, DBMS, and the roles around them; explain why a DBMS beats flat files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55606B"/>
                </a:solidFill>
              </a:rPr>
              <a:t>Distinguish data models, schemas, and instances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55606B"/>
                </a:solidFill>
              </a:rPr>
              <a:t>Explain the three-schema architecture and the two kinds of data independence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55606B"/>
                </a:solidFill>
              </a:rPr>
              <a:t>Identify database languages/interfaces and DBMS components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55606B"/>
                </a:solidFill>
              </a:rPr>
              <a:t>Compare centralized vs client/server architectures and classify DBMSs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 · LECTURE HOUR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What is a Database &amp; DBMS?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 · CONCEPT 1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Data → Information →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Data = raw facts with no context yet:  9818000000,  'Sita',  78  (is 78 a mark? age? temp?)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Information = data placed in context: 'Sita scored 78 in DBMS' — now 78 means something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Database = an organized, RELATED collection of data, stored to be accessed/managed/updated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The test — three properties must hold: persistent · shared · structured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Global: a bank's account ledger  |  Nepal: TU/PU college exam database</a:t>
            </a:r>
          </a:p>
        </p:txBody>
      </p:sp>
      <p:pic>
        <p:nvPicPr>
          <p:cNvPr id="6" name="Picture 5" descr="s1_data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77100"/>
            <a:ext cx="5486400" cy="261819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Facts → meaning → organized store.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 · CONCEPT 2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DBMS —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DBMS = the SOFTWARE that lets you define, create, query, update &amp; administer databases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Database = the DATA itself.  DBMS = the program that manages it.  Together = a database system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'MySQL' is the DBMS (engine); the 'college' database is the data it manages — one engine, many DBs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Examples: MySQL, MariaDB, PostgreSQL, Oracle, SQL Server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Misconception: 'Excel is a database' — no real concurrency, integrity, querying at scale, or security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Analogy: DBMS = librarian, data = books; no librarian = a pile on the floor</a:t>
            </a:r>
          </a:p>
        </p:txBody>
      </p:sp>
      <p:pic>
        <p:nvPicPr>
          <p:cNvPr id="6" name="Picture 5" descr="s1_users_db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68008"/>
            <a:ext cx="5486400" cy="30363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Data is the books; the DBMS is the librarian.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 · CONCEPTS 3–4  [EXAMPLE]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Database Users &amp; the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Naive / end users — use ready-made screens (a bank teller)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Application programmers — build the apps that talk to the DB (core-banking dev)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Sophisticated users — write their own complex queries (data/MIS analyst)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DBA — schema design, security/permissions, backups, performance tuning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Case: exam-result server crawls the night before results — who do you call? The DBA.</a:t>
            </a:r>
          </a:p>
        </p:txBody>
      </p:sp>
      <p:pic>
        <p:nvPicPr>
          <p:cNvPr id="6" name="Picture 5" descr="s1_db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24827"/>
            <a:ext cx="5486400" cy="27227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The DBA is air-traffic control for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 · CONCEPT 5  [THEORY]  ·  ~6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Why a Database beats a File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Redundant copies → inconsistency  ⇒  controlled redundancy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Files out of sync  ⇒  consistency &amp; integrity constraints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Hard to share safely  ⇒  concurrent multi-user access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Anyone can open a file  ⇒  security / access control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A crash loses data  ⇒  backup &amp; recovery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Misconception: 'more copies = safer.' Uncontrolled redundancy breaks consistency.</a:t>
            </a:r>
          </a:p>
        </p:txBody>
      </p:sp>
      <p:pic>
        <p:nvPicPr>
          <p:cNvPr id="6" name="Picture 5" descr="s1_file_vs_db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15734"/>
            <a:ext cx="5486400" cy="31409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One source of truth beats many drifting copies.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S1 — 'File or DBMS?'  ·  ~6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Think–Pair–Share (2 min pairs, 4 min sharing)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Give pairs 4 scenarios: a wedding guest list in Excel; a bank's accounts; a one-person diary; Daraz orders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For each: file/spreadsheet or a DBMS — and WHICH property (concurrency, integrity, scale, security) decides it?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Share aloud; build the file-vs-DBMS table from their answers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S1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Which is NOT a function of a DBMS?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a) define data   b) print documents   c) query   d) control access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Print formatted documents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Who grants/revokes user permissions?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Database Administrator (DBA)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name a phone app and guess what its database stores about you.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2 · LECTURE HOUR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Models, Schemas &amp; the Three-Schema Architecture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 · CONCEPT 1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Data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Data model = concepts to describe STRUCTURE + CONSTRAINTS + OPERATIONS of a database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High-level / conceptual — close to how humans think (the ER model, Unit 2)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Representational — the relational model (tables)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Low-level / physical — how data sits on disk (files, indexes)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Analogy: conceptual = the architect's blueprint; physical = the built house (bricks, wiring)</a:t>
            </a:r>
          </a:p>
        </p:txBody>
      </p:sp>
      <p:pic>
        <p:nvPicPr>
          <p:cNvPr id="6" name="Picture 5" descr="s2_data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72554"/>
            <a:ext cx="5486400" cy="282729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Idea → tables → disk.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 · CONCEPT 2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Schema vs Instance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Schema = the DESIGN / structure of the database. Defined once, changes RARELY.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Instance (state) = the actual DATA at a moment. Changes CONSTANTLY.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Schema:  Student(roll, name, program)  —  the definition / the mould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Instance: today's actual 60 students with real roll numbers; tomorrow one drops out → new instance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Misconception: 'schema and data are the same.' Schema = the mould; instance = what's poured in.</a:t>
            </a:r>
          </a:p>
        </p:txBody>
      </p:sp>
      <p:pic>
        <p:nvPicPr>
          <p:cNvPr id="6" name="Picture 5" descr="s2_schema_in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24827"/>
            <a:ext cx="5486400" cy="27227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Schema = the mould; instance = what's in it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 · CONCEPT 3  [THEORY]  ·  ~9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Three-Schema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External level — per-user VIEWS (a student sees only their own marks)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Conceptual level — the WHOLE logical database (all students, subjects, marks)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Internal level — how data is PHYSICALLY stored &amp; indexed on disk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Mappings connect the levels, so each level HIDES detail from the one above</a:t>
            </a:r>
          </a:p>
        </p:txBody>
      </p:sp>
      <p:pic>
        <p:nvPicPr>
          <p:cNvPr id="6" name="Picture 5" descr="s2_three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208916"/>
            <a:ext cx="5486400" cy="33545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View → whole → storage.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 · CONCEPT 4  [THEORY]  ·  ~6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Data Independence — 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Logical data independence: change the CONCEPTUAL schema (add a column/table)…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   …without changing external views or the apps that use them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Physical data independence: change STORAGE (move to SSDs, add an index)…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   …without changing the conceptual schema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Memory hook: Logical = change the DESIGN safely · Physical = change STORAGE safely</a:t>
            </a:r>
          </a:p>
        </p:txBody>
      </p:sp>
      <p:pic>
        <p:nvPicPr>
          <p:cNvPr id="6" name="Picture 5" descr="s2_data_indepen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24827"/>
            <a:ext cx="5486400" cy="27227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Logical = change the design safely; physical = change the storage safely.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S2 — 'Draw your college's three schemas'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In pairs (3 min), then 2 pairs share (2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For the college result system, write what lives at EACH level: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External (what does a student see? a teacher? admin?) · Conceptual (the whole DB) · Internal (storage)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Then: name one change at the internal level that students would NOT notice (data independence)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S2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Adding a column without breaking user views is…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a) Logical data independence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Which level is closest to physical storage?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Internal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an everyday 'change the inside without changing the outside' example.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3 · LECTURE HOUR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Languages, Interfaces &amp; the DBMS Environment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S3 · CONCEPT 1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Database Languages — four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DDL (Data Definition) — define/alter STRUCTURE (CREATE a Course table)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DML (Data Manipulation) — query &amp; modify DATA (enrol a student, fetch marks)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DCL (Data Control) — PERMISSIONS (give a TA read access)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TCL (Transaction Control) — COMMIT / ROLLBACK transactions (confirm or undo a transfer)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Misconception: 'SQL is one language.' SQL BUNDLES DDL+DML+DCL+TCL.</a:t>
            </a:r>
          </a:p>
        </p:txBody>
      </p:sp>
      <p:pic>
        <p:nvPicPr>
          <p:cNvPr id="6" name="Picture 5" descr="s3_langu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24827"/>
            <a:ext cx="5486400" cy="27227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Define, Manipulate, Control, Transact.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S3 · CONCEPT 2  [EXAMPLE]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Interfaces to a DBMS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Menu-based · form-based · GUI · natural language · API / embedded SQL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Bank teller → form-based screen (guided, safe, no SQL needed)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Developer → talks to the same DB directly via SQL / an API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Principle: match the interface to the user</a:t>
            </a:r>
          </a:p>
        </p:txBody>
      </p:sp>
      <p:pic>
        <p:nvPicPr>
          <p:cNvPr id="6" name="Picture 5" descr="s3_inte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77100"/>
            <a:ext cx="5486400" cy="261819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Same data, many doors.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S3 · CONCEPT 3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Inside the DBMS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Query processor / optimizer — finds the CHEAPEST way to run a query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Storage manager — reads/writes data to disk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Buffer manager — keeps hot data in memory for speed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Transaction manager — keeps transactions safe (ACID, Unit 6)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Catalog / metadata — info about the database itself</a:t>
            </a:r>
          </a:p>
        </p:txBody>
      </p:sp>
      <p:pic>
        <p:nvPicPr>
          <p:cNvPr id="6" name="Picture 5" descr="s3_dbms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15734"/>
            <a:ext cx="5486400" cy="31409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A DBMS is a kitchen of cooperating roles.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S3 · CONCEPT 4  [THEORY]  ·  ~6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Data Dictionary /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Stores metadata: table names, columns, types, constraints, users, indexes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'A database about the database'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Nepal: the system table that knows every table in the college DB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Line: metadata = data about data (phone book = data; 'sorted by surname' = metadata)</a:t>
            </a:r>
          </a:p>
        </p:txBody>
      </p:sp>
      <p:pic>
        <p:nvPicPr>
          <p:cNvPr id="6" name="Picture 5" descr="s3_data_dictio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629373"/>
            <a:ext cx="5486400" cy="251365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Metadata = data about data.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S3 — 'Sort the command'  ·  ~6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Rapid-fire as a class (or in pairs), ~6 min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Show commands one at a time: CREATE TABLE · SELECT · GRANT · DROP · UPDATE · COMMIT · REVOKE · INSERT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Class calls out DDL / DML / DCL / TCL for each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Then: 'enrol a student in a new course and make it permanent' — which languages, in order?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S3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CREATE TABLE belongs to which sub-language?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a) DDL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Which component decides the cheapest way to run a query?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Query processor / optimizer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which interface would you build for a non-technical shopkeeper, and why?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4 · LECTURE HOUR 4 — CLOSES UNIT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Architectures &amp; Classifying DBMSs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S4 · CONCEPT 1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Centralized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Data + DBMS + app all on ONE central machine; terminals just display results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Pro: simple to set up and manage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Con: SINGLE POINT OF FAILURE — if that machine dies, everything stops; doesn't scale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Nepal: an old standalone office system — one PC in the corner holds everything</a:t>
            </a:r>
          </a:p>
        </p:txBody>
      </p:sp>
      <p:pic>
        <p:nvPicPr>
          <p:cNvPr id="6" name="Picture 5" descr="s4_centr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77100"/>
            <a:ext cx="5486400" cy="261819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One machine = one point of failure.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S4 · CONCEPT 2  [EXAMPLE]  ·  ~9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Client/Server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Two-tier: client (UI + logic) ↔ database server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Three-tier: client (UI) ↔ application server (business logic) ↔ database server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55606B"/>
                </a:solidFill>
              </a:rPr>
              <a:t>Daraz app (client) → app servers (logic/cart/login) → DB servers (products/orders)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Case: a banking app doesn't store your full ledger on the phone — data lives SERVER-SIDE</a:t>
            </a:r>
          </a:p>
        </p:txBody>
      </p:sp>
      <p:pic>
        <p:nvPicPr>
          <p:cNvPr id="6" name="Picture 5" descr="s4_client_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72554"/>
            <a:ext cx="5486400" cy="282729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Three tiers: face, logic, 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S4 · CONCEPT 3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Classification of DBMSs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By data model: relational, object, object-relational, legacy hierarchical/network, NoSQL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By number of users: single-user vs multi-user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By number of sites: centralized vs distributed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Misconception: 'NoSQL = no SQL / SQL is dead.' It means 'NOT ONLY SQL.'</a:t>
            </a:r>
          </a:p>
        </p:txBody>
      </p:sp>
      <p:pic>
        <p:nvPicPr>
          <p:cNvPr id="6" name="Picture 5" descr="s4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24827"/>
            <a:ext cx="5486400" cy="27227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Model · users · distribution.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S4 · SYNTHESIS  [THEORY]  ·  ~6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Unit 1 — The whole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Users → Languages/Interfaces → DBMS (components + catalog) →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…a database described by a schema at 3 levels (data independence) →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…running on an architecture (centralized / client-server) →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</a:rPr>
              <a:t>…classified by model, users, and distribution</a:t>
            </a:r>
          </a:p>
          <a:p>
            <a:pPr lvl="1">
              <a:spcAft>
                <a:spcPts val="500"/>
              </a:spcAft>
            </a:pPr>
            <a:r>
              <a:rPr sz="1400" i="1">
                <a:solidFill>
                  <a:srgbClr val="0F6E56"/>
                </a:solidFill>
              </a:rPr>
              <a:t>Every branch is one session of this unit — photograph this for revision</a:t>
            </a:r>
          </a:p>
        </p:txBody>
      </p:sp>
      <p:pic>
        <p:nvPicPr>
          <p:cNvPr id="6" name="Picture 5" descr="s4_syn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15734"/>
            <a:ext cx="5486400" cy="31409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91656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💡  Memory hook:  User → interface → DBMS → schema → architecture.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S4 — 'Classify a Nepali app'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In pairs (3 min), then 2 pairs share (2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Pick a Nepali app (eSewa, Daraz, Nagarik App, a bank app)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Sketch whether it's two-tier or three-tier and label what lives in each tier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Then classify its likely DBMS on the 3 axes (model, users, distribution) with a one-line reason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S4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Main weakness of a purely centralized system?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Single point of failure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Three-tier adds which layer between client and DB?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An application / business-logic server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pick a Nepali app — is it two-tier or three-tier, and why?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Unit 1 — End-of-Unit Quiz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1 ·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C2B4A"/>
                </a:solidFill>
              </a:rPr>
              <a:t>Exam pointers — what to master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1A1A1A"/>
                </a:solidFill>
              </a:rPr>
              <a:t>Database vs DBMS vs database system — never confuse them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1A1A1A"/>
                </a:solidFill>
              </a:rPr>
              <a:t>Schema vs instance; the three-schema architecture (be able to draw it)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1A1A1A"/>
                </a:solidFill>
              </a:rPr>
              <a:t>Logical vs physical data independence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1A1A1A"/>
                </a:solidFill>
              </a:rPr>
              <a:t>DDL / DML / DCL / TCL with one example command each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1A1A1A"/>
                </a:solidFill>
              </a:rPr>
              <a:t>Centralized vs two-tier vs three-tier; the three classification axes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End of Unit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CFDDEA"/>
                </a:solidFill>
              </a:rPr>
              <a:t>Next: Unit 2 — Data Modelling with the Entity-Relationship (ER)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Generated for IT 220 · diagrams are native shapes (editable) · speaker notes in each slide's Notes pane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