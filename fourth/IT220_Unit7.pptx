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Split the room's attention into the two themes — speed (tuning) and safety (security). Agenda: tuning (why → indexing → query tuning) → security (auth → SQL injection → encryption).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Anchor on the results-portal hook: same hardware, correct answers, just faster. Bust 'just buy a bigger server' early.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Lean on the book analogy on the slide face. Recap from Unit 5: this is why we index primary/foreign keys.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Walk the before/after on the diagram: Seq Scan 4 s → Index Scan 0.2 s. The fix was the query + index, not hardware.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keycard analogy on the face. Contrast a login (auth) with a support agent who can view but not refund (authz).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Show the ' OR '1'='1 login bypass on the next solved-problem slide, then the parameterized fix. Bust 'hide the errors' as a non-fix.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Type the malicious string live if you can; the 'always true' insight is the whole lesson. Then contrast with the ? placeholder.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Tie the whole session together: the security table lists the threats and the matching control — encryption is the answer to 'stolen data', not to every threat.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index avoids the scan; parameterized queries beat injection; hiding errors is not a control.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Motivate distribution with the single-point-of-failure risk. Agenda: parallel vs distributed → why distribute → fragmentation → replication →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Kill the 'they're the same' myth with the kitchen-vs-branches analogy on the face.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Tie each motivation to a concrete Nepali national service in the next table.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split-table diagram. Horizontal-by-province is the most common exam case.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consistency trade-off is the key nuance: copies are great for reads, a headache for writes.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Spaced callback to Unit 1 data independence — make the link explicit on the face.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horizontal = rows, and that transparency = the app sees one logical DB.</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running the business (OLTP) with analyzing it (OLAP). Agenda: OLTP vs OLAP → warehousing → ETL → data mining → BigData → NoSQL.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The diagram shows OLTP sources feeding, via ETL, the warehouse that OLAP reads. Keep them mentally separate.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star schema diagram: fact in the middle, dimensions around it — the shape you slice reports by.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Emphasise TRANSFORM: reconciling date and phone formats across systems is the expensive, essential step.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mining-vs-querying distinction is the key exam point: mining surfaces the unknown pattern.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monsoon-river analogy on the face. Ground each V in a Nepali data flood in the next table.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Walk the four-quadrant diagram. Bust 'NoSQL is killing SQL' — it complements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OLTP = one transaction; Variety = formats; and 'pick the store for the data shape'.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Set the tone: this is a capstone, a celebration, and a prep session. Agenda: A course recap → B how units connect → C exam prep → D project-demo structure → E open Q&amp;A.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Walk the staircase diagram unit by unit. The message: these connect into one story, not seven islands.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This is Part B: connect the units. Walk the wallet from ER to warehouse; emphasise each unit is a stage, not an island.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PREP [~10 min]. This demo IS the rehearsal for a real internship/job technical interview in Nepal's IT sector.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Q&amp;A [~5 min] + COURSE CLOSE. Collect doubts; point to Elmasri/Navathe &amp; Silberschatz for further depth.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after S47, or as an S48 self-test. 15–20 min in-class or take-home.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 Answer key: 1-b, 2-c, 3-b, 4-b, 5-b, 6-b, 7-c, 8-b, 9-c, 10-b.</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B–C. Model answers are on the concept slides and in Unit7_material.md.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7 — Advanced Topics</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220: Database Management System  ·  BIM 4th Semester  ·  Sessions S45–S48</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Performance tuning · security · parallel &amp; distributed databases · data warehousing, mining, BigData &amp; NoSQL — then the FINAL session: a whole-course review + exam &amp; project-demo prep. Self-contained, PDF-safe, with §7A depth tables (Nepal / IT localised).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82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ADVANCED TOPICS  ·  S45–S48</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7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Explain how indexing and query tuning speed up a database, and apply basic tuning reasoning (S45)</a:t>
            </a:r>
          </a:p>
          <a:p>
            <a:pPr>
              <a:spcAft>
                <a:spcPts val="500"/>
              </a:spcAft>
            </a:pPr>
            <a:r>
              <a:rPr sz="1450">
                <a:solidFill>
                  <a:srgbClr val="1A1A1A"/>
                </a:solidFill>
              </a:rPr>
              <a:t>•  Identify core security threats and controls — authentication, authorization, SQL injection, encryption (S45)</a:t>
            </a:r>
          </a:p>
          <a:p>
            <a:pPr>
              <a:spcAft>
                <a:spcPts val="500"/>
              </a:spcAft>
            </a:pPr>
            <a:r>
              <a:rPr sz="1450">
                <a:solidFill>
                  <a:srgbClr val="1A1A1A"/>
                </a:solidFill>
              </a:rPr>
              <a:t>•  Describe parallel vs distributed DBs: fragmentation, replication, and distribution transparency (S46)</a:t>
            </a:r>
          </a:p>
          <a:p>
            <a:pPr>
              <a:spcAft>
                <a:spcPts val="500"/>
              </a:spcAft>
            </a:pPr>
            <a:r>
              <a:rPr sz="1450">
                <a:solidFill>
                  <a:srgbClr val="1A1A1A"/>
                </a:solidFill>
              </a:rPr>
              <a:t>•  Distinguish OLTP from OLAP; explain data warehousing, ETL, and the goal of data mining (S47)</a:t>
            </a:r>
          </a:p>
          <a:p>
            <a:pPr>
              <a:spcAft>
                <a:spcPts val="500"/>
              </a:spcAft>
            </a:pPr>
            <a:r>
              <a:rPr sz="1450">
                <a:solidFill>
                  <a:srgbClr val="1A1A1A"/>
                </a:solidFill>
              </a:rPr>
              <a:t>•  Define BigData (the 3Vs) and classify the main NoSQL families and when to use each (S47)</a:t>
            </a:r>
          </a:p>
          <a:p>
            <a:pPr>
              <a:spcAft>
                <a:spcPts val="500"/>
              </a:spcAft>
            </a:pPr>
            <a:r>
              <a:rPr sz="1450">
                <a:solidFill>
                  <a:srgbClr val="1A1A1A"/>
                </a:solidFill>
              </a:rPr>
              <a:t>•  Synthesize all seven units into one picture and prepare for the final exam + project demo (S48)</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7 — the LAST unit of IT 220. It takes the database you learned to design (U2), reason about (U3), normalize (U4), build (U5), and protect (U6), and asks the final questions: make it FAST, keep it SAFE, and SCALE 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82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7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(S45–S48)</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S45  Performance tuning &amp; database security
S46  Parallel &amp; distributed databases
S47  Data warehousing, mining, BigData &amp; NoSQL
S48  FINAL session — course review + exam &amp; project-demo prep</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Units 1–6   Concepts → design → algebra → normalize → SQL → transactions
(all revised together in S48 — the course capstone)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82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45 · LECTURE HOUR 1 (OF 4)</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Database Performance Tuning · Database Security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On exam-results day, lakhs of students hit the result portal in one hour — some pages load instantly, some time out. Two questions decide everything today: WHY is it slow, and WHO is allowed in?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82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Performance Tuning — Why It Matters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Performance tuning = making the database return CORRECT answers FASTER using the same hardware. You tune at three levels — the query, the schema/indexes, and the hardware/config — and you always MEASURE before you change anything.</a:t>
            </a:r>
          </a:p>
          <a:p>
            <a:pPr>
              <a:spcAft>
                <a:spcPts val="500"/>
              </a:spcAft>
            </a:pPr>
            <a:r>
              <a:rPr sz="1200" b="1">
                <a:solidFill>
                  <a:srgbClr val="185FA5"/>
                </a:solidFill>
              </a:rPr>
              <a:t>HOW IT WORKS</a:t>
            </a:r>
          </a:p>
          <a:p>
            <a:pPr>
              <a:spcAft>
                <a:spcPts val="600"/>
              </a:spcAft>
            </a:pPr>
            <a:r>
              <a:rPr sz="1400">
                <a:solidFill>
                  <a:srgbClr val="1A1A1A"/>
                </a:solidFill>
              </a:rPr>
              <a:t>•  Three levels: query (rewrite it), schema/index (add the right index), hardware/config (last resort).</a:t>
            </a:r>
          </a:p>
          <a:p>
            <a:pPr>
              <a:spcAft>
                <a:spcPts val="600"/>
              </a:spcAft>
            </a:pPr>
            <a:r>
              <a:rPr sz="1400">
                <a:solidFill>
                  <a:srgbClr val="1A1A1A"/>
                </a:solidFill>
              </a:rPr>
              <a:t>•  Measure first: profile the slow query with EXPLAIN before touching anything — don't guess.</a:t>
            </a:r>
          </a:p>
          <a:p>
            <a:pPr>
              <a:spcAft>
                <a:spcPts val="600"/>
              </a:spcAft>
            </a:pPr>
            <a:r>
              <a:rPr sz="1400">
                <a:solidFill>
                  <a:srgbClr val="1A1A1A"/>
                </a:solidFill>
              </a:rPr>
              <a:t>•  Most wins are cheap: a missing index often beats an expensive server upgrade.</a:t>
            </a:r>
          </a:p>
          <a:p>
            <a:pPr>
              <a:spcAft>
                <a:spcPts val="600"/>
              </a:spcAft>
            </a:pPr>
            <a:r>
              <a:rPr sz="1400">
                <a:solidFill>
                  <a:srgbClr val="1A1A1A"/>
                </a:solidFill>
              </a:rPr>
              <a:t>•  Tuning changes speed only — it must never change the answer the query returns.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Tune query → index → hardware, in that order — and measure before you change.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 / 82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 levels of tuning — and measure first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041071"/>
                <a:gridCol w="3265714"/>
                <a:gridCol w="3537857"/>
                <a:gridCol w="2585357"/>
              </a:tblGrid>
              <a:tr h="736092">
                <a:tc>
                  <a:txBody>
                    <a:bodyPr wrap="square"/>
                    <a:lstStyle/>
                    <a:p>
                      <a:r>
                        <a:rPr sz="1150" b="1">
                          <a:solidFill>
                            <a:srgbClr val="FFFFFF"/>
                          </a:solidFill>
                        </a:rPr>
                        <a:t>Level</a:t>
                      </a:r>
                    </a:p>
                  </a:txBody>
                  <a:tcPr anchor="ctr" marL="73152" marR="54864" marT="27432" marB="27432">
                    <a:solidFill>
                      <a:srgbClr val="0C2B4A"/>
                    </a:solidFill>
                  </a:tcPr>
                </a:tc>
                <a:tc>
                  <a:txBody>
                    <a:bodyPr wrap="square"/>
                    <a:lstStyle/>
                    <a:p>
                      <a:r>
                        <a:rPr sz="1150" b="1">
                          <a:solidFill>
                            <a:srgbClr val="FFFFFF"/>
                          </a:solidFill>
                        </a:rPr>
                        <a:t>What you change</a:t>
                      </a:r>
                    </a:p>
                  </a:txBody>
                  <a:tcPr anchor="ctr" marL="73152" marR="54864" marT="27432" marB="27432">
                    <a:solidFill>
                      <a:srgbClr val="0C2B4A"/>
                    </a:solidFill>
                  </a:tcPr>
                </a:tc>
                <a:tc>
                  <a:txBody>
                    <a:bodyPr wrap="square"/>
                    <a:lstStyle/>
                    <a:p>
                      <a:r>
                        <a:rPr sz="1150" b="1">
                          <a:solidFill>
                            <a:srgbClr val="FFFFFF"/>
                          </a:solidFill>
                        </a:rPr>
                        <a:t>Example fix</a:t>
                      </a:r>
                    </a:p>
                  </a:txBody>
                  <a:tcPr anchor="ctr" marL="73152" marR="54864" marT="27432" marB="27432">
                    <a:solidFill>
                      <a:srgbClr val="0C2B4A"/>
                    </a:solidFill>
                  </a:tcPr>
                </a:tc>
                <a:tc>
                  <a:txBody>
                    <a:bodyPr wrap="square"/>
                    <a:lstStyle/>
                    <a:p>
                      <a:r>
                        <a:rPr sz="1150" b="1">
                          <a:solidFill>
                            <a:srgbClr val="FFFFFF"/>
                          </a:solidFill>
                        </a:rPr>
                        <a:t>Cost / when</a:t>
                      </a:r>
                    </a:p>
                  </a:txBody>
                  <a:tcPr anchor="ctr" marL="73152" marR="54864" marT="27432" marB="27432">
                    <a:solidFill>
                      <a:srgbClr val="0C2B4A"/>
                    </a:solidFill>
                  </a:tcPr>
                </a:tc>
              </a:tr>
              <a:tr h="736092">
                <a:tc>
                  <a:txBody>
                    <a:bodyPr wrap="square"/>
                    <a:lstStyle/>
                    <a:p>
                      <a:r>
                        <a:rPr sz="1100" b="1">
                          <a:solidFill>
                            <a:srgbClr val="0C2B4A"/>
                          </a:solidFill>
                        </a:rPr>
                        <a:t>Query</a:t>
                      </a:r>
                    </a:p>
                  </a:txBody>
                  <a:tcPr anchor="ctr" marL="73152" marR="54864" marT="27432" marB="27432">
                    <a:solidFill>
                      <a:srgbClr val="FFFFFF"/>
                    </a:solidFill>
                  </a:tcPr>
                </a:tc>
                <a:tc>
                  <a:txBody>
                    <a:bodyPr wrap="square"/>
                    <a:lstStyle/>
                    <a:p>
                      <a:r>
                        <a:rPr sz="1100">
                          <a:solidFill>
                            <a:srgbClr val="1A1A1A"/>
                          </a:solidFill>
                        </a:rPr>
                        <a:t>Rewrite the SQL itself</a:t>
                      </a:r>
                    </a:p>
                  </a:txBody>
                  <a:tcPr anchor="ctr" marL="73152" marR="54864" marT="27432" marB="27432">
                    <a:solidFill>
                      <a:srgbClr val="FFFFFF"/>
                    </a:solidFill>
                  </a:tcPr>
                </a:tc>
                <a:tc>
                  <a:txBody>
                    <a:bodyPr wrap="square"/>
                    <a:lstStyle/>
                    <a:p>
                      <a:r>
                        <a:rPr sz="1100">
                          <a:solidFill>
                            <a:srgbClr val="1A1A1A"/>
                          </a:solidFill>
                        </a:rPr>
                        <a:t>Add a WHERE filter; drop SELECT *</a:t>
                      </a:r>
                    </a:p>
                  </a:txBody>
                  <a:tcPr anchor="ctr" marL="73152" marR="54864" marT="27432" marB="27432">
                    <a:solidFill>
                      <a:srgbClr val="FFFFFF"/>
                    </a:solidFill>
                  </a:tcPr>
                </a:tc>
                <a:tc>
                  <a:txBody>
                    <a:bodyPr wrap="square"/>
                    <a:lstStyle/>
                    <a:p>
                      <a:r>
                        <a:rPr sz="1100">
                          <a:solidFill>
                            <a:srgbClr val="1A1A1A"/>
                          </a:solidFill>
                        </a:rPr>
                        <a:t>Cheapest — try first</a:t>
                      </a:r>
                    </a:p>
                  </a:txBody>
                  <a:tcPr anchor="ctr" marL="73152" marR="54864" marT="27432" marB="27432">
                    <a:solidFill>
                      <a:srgbClr val="FFFFFF"/>
                    </a:solidFill>
                  </a:tcPr>
                </a:tc>
              </a:tr>
              <a:tr h="736092">
                <a:tc>
                  <a:txBody>
                    <a:bodyPr wrap="square"/>
                    <a:lstStyle/>
                    <a:p>
                      <a:r>
                        <a:rPr sz="1100" b="1">
                          <a:solidFill>
                            <a:srgbClr val="0C2B4A"/>
                          </a:solidFill>
                        </a:rPr>
                        <a:t>Index / schema</a:t>
                      </a:r>
                    </a:p>
                  </a:txBody>
                  <a:tcPr anchor="ctr" marL="73152" marR="54864" marT="27432" marB="27432">
                    <a:solidFill>
                      <a:srgbClr val="EEF3F8"/>
                    </a:solidFill>
                  </a:tcPr>
                </a:tc>
                <a:tc>
                  <a:txBody>
                    <a:bodyPr wrap="square"/>
                    <a:lstStyle/>
                    <a:p>
                      <a:r>
                        <a:rPr sz="1100">
                          <a:solidFill>
                            <a:srgbClr val="1A1A1A"/>
                          </a:solidFill>
                        </a:rPr>
                        <a:t>Add or fix an index; adjust design</a:t>
                      </a:r>
                    </a:p>
                  </a:txBody>
                  <a:tcPr anchor="ctr" marL="73152" marR="54864" marT="27432" marB="27432">
                    <a:solidFill>
                      <a:srgbClr val="EEF3F8"/>
                    </a:solidFill>
                  </a:tcPr>
                </a:tc>
                <a:tc>
                  <a:txBody>
                    <a:bodyPr wrap="square"/>
                    <a:lstStyle/>
                    <a:p>
                      <a:r>
                        <a:rPr sz="1100">
                          <a:solidFill>
                            <a:srgbClr val="1A1A1A"/>
                          </a:solidFill>
                        </a:rPr>
                        <a:t>Index the citizenship_no column</a:t>
                      </a:r>
                    </a:p>
                  </a:txBody>
                  <a:tcPr anchor="ctr" marL="73152" marR="54864" marT="27432" marB="27432">
                    <a:solidFill>
                      <a:srgbClr val="EEF3F8"/>
                    </a:solidFill>
                  </a:tcPr>
                </a:tc>
                <a:tc>
                  <a:txBody>
                    <a:bodyPr wrap="square"/>
                    <a:lstStyle/>
                    <a:p>
                      <a:r>
                        <a:rPr sz="1100">
                          <a:solidFill>
                            <a:srgbClr val="1A1A1A"/>
                          </a:solidFill>
                        </a:rPr>
                        <a:t>Cheap — big wins</a:t>
                      </a:r>
                    </a:p>
                  </a:txBody>
                  <a:tcPr anchor="ctr" marL="73152" marR="54864" marT="27432" marB="27432">
                    <a:solidFill>
                      <a:srgbClr val="EEF3F8"/>
                    </a:solidFill>
                  </a:tcPr>
                </a:tc>
              </a:tr>
              <a:tr h="736092">
                <a:tc>
                  <a:txBody>
                    <a:bodyPr wrap="square"/>
                    <a:lstStyle/>
                    <a:p>
                      <a:r>
                        <a:rPr sz="1100" b="1">
                          <a:solidFill>
                            <a:srgbClr val="0C2B4A"/>
                          </a:solidFill>
                        </a:rPr>
                        <a:t>Config</a:t>
                      </a:r>
                    </a:p>
                  </a:txBody>
                  <a:tcPr anchor="ctr" marL="73152" marR="54864" marT="27432" marB="27432">
                    <a:solidFill>
                      <a:srgbClr val="FFFFFF"/>
                    </a:solidFill>
                  </a:tcPr>
                </a:tc>
                <a:tc>
                  <a:txBody>
                    <a:bodyPr wrap="square"/>
                    <a:lstStyle/>
                    <a:p>
                      <a:r>
                        <a:rPr sz="1100">
                          <a:solidFill>
                            <a:srgbClr val="1A1A1A"/>
                          </a:solidFill>
                        </a:rPr>
                        <a:t>DBMS memory / cache settings</a:t>
                      </a:r>
                    </a:p>
                  </a:txBody>
                  <a:tcPr anchor="ctr" marL="73152" marR="54864" marT="27432" marB="27432">
                    <a:solidFill>
                      <a:srgbClr val="FFFFFF"/>
                    </a:solidFill>
                  </a:tcPr>
                </a:tc>
                <a:tc>
                  <a:txBody>
                    <a:bodyPr wrap="square"/>
                    <a:lstStyle/>
                    <a:p>
                      <a:r>
                        <a:rPr sz="1100">
                          <a:solidFill>
                            <a:srgbClr val="1A1A1A"/>
                          </a:solidFill>
                        </a:rPr>
                        <a:t>Bigger buffer pool / cache</a:t>
                      </a:r>
                    </a:p>
                  </a:txBody>
                  <a:tcPr anchor="ctr" marL="73152" marR="54864" marT="27432" marB="27432">
                    <a:solidFill>
                      <a:srgbClr val="FFFFFF"/>
                    </a:solidFill>
                  </a:tcPr>
                </a:tc>
                <a:tc>
                  <a:txBody>
                    <a:bodyPr wrap="square"/>
                    <a:lstStyle/>
                    <a:p>
                      <a:r>
                        <a:rPr sz="1100">
                          <a:solidFill>
                            <a:srgbClr val="1A1A1A"/>
                          </a:solidFill>
                        </a:rPr>
                        <a:t>Medium — needs care</a:t>
                      </a:r>
                    </a:p>
                  </a:txBody>
                  <a:tcPr anchor="ctr" marL="73152" marR="54864" marT="27432" marB="27432">
                    <a:solidFill>
                      <a:srgbClr val="FFFFFF"/>
                    </a:solidFill>
                  </a:tcPr>
                </a:tc>
              </a:tr>
              <a:tr h="736092">
                <a:tc>
                  <a:txBody>
                    <a:bodyPr wrap="square"/>
                    <a:lstStyle/>
                    <a:p>
                      <a:r>
                        <a:rPr sz="1100" b="1">
                          <a:solidFill>
                            <a:srgbClr val="0C2B4A"/>
                          </a:solidFill>
                        </a:rPr>
                        <a:t>Hardware</a:t>
                      </a:r>
                    </a:p>
                  </a:txBody>
                  <a:tcPr anchor="ctr" marL="73152" marR="54864" marT="27432" marB="27432">
                    <a:solidFill>
                      <a:srgbClr val="EEF3F8"/>
                    </a:solidFill>
                  </a:tcPr>
                </a:tc>
                <a:tc>
                  <a:txBody>
                    <a:bodyPr wrap="square"/>
                    <a:lstStyle/>
                    <a:p>
                      <a:r>
                        <a:rPr sz="1100">
                          <a:solidFill>
                            <a:srgbClr val="1A1A1A"/>
                          </a:solidFill>
                        </a:rPr>
                        <a:t>More RAM / CPU / faster disk</a:t>
                      </a:r>
                    </a:p>
                  </a:txBody>
                  <a:tcPr anchor="ctr" marL="73152" marR="54864" marT="27432" marB="27432">
                    <a:solidFill>
                      <a:srgbClr val="EEF3F8"/>
                    </a:solidFill>
                  </a:tcPr>
                </a:tc>
                <a:tc>
                  <a:txBody>
                    <a:bodyPr wrap="square"/>
                    <a:lstStyle/>
                    <a:p>
                      <a:r>
                        <a:rPr sz="1100">
                          <a:solidFill>
                            <a:srgbClr val="1A1A1A"/>
                          </a:solidFill>
                        </a:rPr>
                        <a:t>Upgrade the server / add SSD</a:t>
                      </a:r>
                    </a:p>
                  </a:txBody>
                  <a:tcPr anchor="ctr" marL="73152" marR="54864" marT="27432" marB="27432">
                    <a:solidFill>
                      <a:srgbClr val="EEF3F8"/>
                    </a:solidFill>
                  </a:tcPr>
                </a:tc>
                <a:tc>
                  <a:txBody>
                    <a:bodyPr wrap="square"/>
                    <a:lstStyle/>
                    <a:p>
                      <a:r>
                        <a:rPr sz="1100">
                          <a:solidFill>
                            <a:srgbClr val="1A1A1A"/>
                          </a:solidFill>
                        </a:rPr>
                        <a:t>Expensive — last resort</a:t>
                      </a:r>
                    </a:p>
                  </a:txBody>
                  <a:tcPr anchor="ctr" marL="73152" marR="54864" marT="27432" marB="27432">
                    <a:solidFill>
                      <a:srgbClr val="EEF3F8"/>
                    </a:solidFill>
                  </a:tcPr>
                </a:tc>
              </a:tr>
              <a:tr h="736092">
                <a:tc>
                  <a:txBody>
                    <a:bodyPr wrap="square"/>
                    <a:lstStyle/>
                    <a:p>
                      <a:r>
                        <a:rPr sz="1100" b="1">
                          <a:solidFill>
                            <a:srgbClr val="0C2B4A"/>
                          </a:solidFill>
                        </a:rPr>
                        <a:t>Measure (always)</a:t>
                      </a:r>
                    </a:p>
                  </a:txBody>
                  <a:tcPr anchor="ctr" marL="73152" marR="54864" marT="27432" marB="27432">
                    <a:solidFill>
                      <a:srgbClr val="FFFFFF"/>
                    </a:solidFill>
                  </a:tcPr>
                </a:tc>
                <a:tc>
                  <a:txBody>
                    <a:bodyPr wrap="square"/>
                    <a:lstStyle/>
                    <a:p>
                      <a:r>
                        <a:rPr sz="1100">
                          <a:solidFill>
                            <a:srgbClr val="1A1A1A"/>
                          </a:solidFill>
                        </a:rPr>
                        <a:t>Nothing yet — you PROFILE</a:t>
                      </a:r>
                    </a:p>
                  </a:txBody>
                  <a:tcPr anchor="ctr" marL="73152" marR="54864" marT="27432" marB="27432">
                    <a:solidFill>
                      <a:srgbClr val="FFFFFF"/>
                    </a:solidFill>
                  </a:tcPr>
                </a:tc>
                <a:tc>
                  <a:txBody>
                    <a:bodyPr wrap="square"/>
                    <a:lstStyle/>
                    <a:p>
                      <a:r>
                        <a:rPr sz="1100">
                          <a:solidFill>
                            <a:srgbClr val="1A1A1A"/>
                          </a:solidFill>
                        </a:rPr>
                        <a:t>Run EXPLAIN on the slow query</a:t>
                      </a:r>
                    </a:p>
                  </a:txBody>
                  <a:tcPr anchor="ctr" marL="73152" marR="54864" marT="27432" marB="27432">
                    <a:solidFill>
                      <a:srgbClr val="FFFFFF"/>
                    </a:solidFill>
                  </a:tcPr>
                </a:tc>
                <a:tc>
                  <a:txBody>
                    <a:bodyPr wrap="square"/>
                    <a:lstStyle/>
                    <a:p>
                      <a:r>
                        <a:rPr sz="1100">
                          <a:solidFill>
                            <a:srgbClr val="1A1A1A"/>
                          </a:solidFill>
                        </a:rPr>
                        <a:t>Before every change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Work top-down: a query rewrite or a missing index usually beats a costly hardware upgrade. And measure with EXPLAIN before AND after — 'guess and buy' is the expensive plan.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82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Performance Tuning — Why It Matters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Daraz's 'search products' during the Dashain sale rush: the same catalogue that answered in 200 ms suddenly takes 4 s under peak traffic. The fix that works is rarely a bigger server — it is a better query plan and the right index on the searched columns, measured with EXPLAIN before and after.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"It's slow — just buy a bigger server." A missing index or a bad query often costs 10×–100× more than the hardware ever could; a bigger server hides the problem for a while and then it returns. Measure first, tune the query and index, and only then consider hardware.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Performance tuning makes the database return correct answers faster on the same hardware, applied at three levels — query, schema/index, and hardware/config — always measuring (e.g. with EXPLAIN) before changing. Because a missing index or a poor query usually dominates the cost, tuning the query and index typically beats an expensive hardware upgrade.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performance tuning · query/index/hardware levels · measure first · EXPLAIN · index beats hardware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82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2 · [THEORY]  (RECAP UNIT 5)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Indexing</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An index is an auxiliary structure (usually a B-tree) that lets the DBMS FIND rows without scanning the whole table. It is the single biggest read-speed lever — but it is not free.</a:t>
            </a:r>
          </a:p>
          <a:p>
            <a:pPr>
              <a:spcAft>
                <a:spcPts val="500"/>
              </a:spcAft>
            </a:pPr>
            <a:r>
              <a:rPr sz="1200" b="1">
                <a:solidFill>
                  <a:srgbClr val="185FA5"/>
                </a:solidFill>
              </a:rPr>
              <a:t>HOW IT WORKS</a:t>
            </a:r>
          </a:p>
          <a:p>
            <a:pPr>
              <a:spcAft>
                <a:spcPts val="600"/>
              </a:spcAft>
            </a:pPr>
            <a:r>
              <a:rPr sz="1400">
                <a:solidFill>
                  <a:srgbClr val="1A1A1A"/>
                </a:solidFill>
              </a:rPr>
              <a:t>•  Index the columns used in WHERE, JOIN, and ORDER BY — those are the lookups that hurt.</a:t>
            </a:r>
          </a:p>
          <a:p>
            <a:pPr>
              <a:spcAft>
                <a:spcPts val="600"/>
              </a:spcAft>
            </a:pPr>
            <a:r>
              <a:rPr sz="1400">
                <a:solidFill>
                  <a:srgbClr val="1A1A1A"/>
                </a:solidFill>
              </a:rPr>
              <a:t>•  It speeds up reads/lookups, but slows down INSERT/UPDATE/DELETE (the index must be maintained).</a:t>
            </a:r>
          </a:p>
          <a:p>
            <a:pPr>
              <a:spcAft>
                <a:spcPts val="600"/>
              </a:spcAft>
            </a:pPr>
            <a:r>
              <a:rPr sz="1400">
                <a:solidFill>
                  <a:srgbClr val="1A1A1A"/>
                </a:solidFill>
              </a:rPr>
              <a:t>•  Without an index the DBMS does a full table scan — it reads every row to find a few.</a:t>
            </a:r>
          </a:p>
          <a:p>
            <a:pPr>
              <a:spcAft>
                <a:spcPts val="600"/>
              </a:spcAft>
            </a:pPr>
            <a:r>
              <a:rPr sz="1400">
                <a:solidFill>
                  <a:srgbClr val="1A1A1A"/>
                </a:solidFill>
              </a:rPr>
              <a:t>•  An index also costs storage space, so index deliberately, not everything.</a:t>
            </a:r>
          </a:p>
        </p:txBody>
      </p:sp>
      <p:pic>
        <p:nvPicPr>
          <p:cNvPr id="6" name="Picture 5" descr="s45_index.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An index is a book's back-of-book index — without it you read every page.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 / 82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When an index HELPS — and when it HURTS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5042647"/>
                <a:gridCol w="2017058"/>
                <a:gridCol w="4370294"/>
              </a:tblGrid>
              <a:tr h="630936">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Index it?</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WHERE citizenship_no = ? (KYC lookup)</a:t>
                      </a:r>
                    </a:p>
                  </a:txBody>
                  <a:tcPr anchor="ctr" marL="73152" marR="54864" marT="27432" marB="27432">
                    <a:solidFill>
                      <a:srgbClr val="FFFFFF"/>
                    </a:solidFill>
                  </a:tcPr>
                </a:tc>
                <a:tc>
                  <a:txBody>
                    <a:bodyPr wrap="square"/>
                    <a:lstStyle/>
                    <a:p>
                      <a:r>
                        <a:rPr sz="1100">
                          <a:solidFill>
                            <a:srgbClr val="1A1A1A"/>
                          </a:solidFill>
                        </a:rPr>
                        <a:t>✅ Yes</a:t>
                      </a:r>
                    </a:p>
                  </a:txBody>
                  <a:tcPr anchor="ctr" marL="73152" marR="54864" marT="27432" marB="27432">
                    <a:solidFill>
                      <a:srgbClr val="FFFFFF"/>
                    </a:solidFill>
                  </a:tcPr>
                </a:tc>
                <a:tc>
                  <a:txBody>
                    <a:bodyPr wrap="square"/>
                    <a:lstStyle/>
                    <a:p>
                      <a:r>
                        <a:rPr sz="1100">
                          <a:solidFill>
                            <a:srgbClr val="1A1A1A"/>
                          </a:solidFill>
                        </a:rPr>
                        <a:t>Turns a full scan into an instant jump</a:t>
                      </a:r>
                    </a:p>
                  </a:txBody>
                  <a:tcPr anchor="ctr" marL="73152" marR="54864" marT="27432" marB="27432">
                    <a:solidFill>
                      <a:srgbClr val="FFFFFF"/>
                    </a:solidFill>
                  </a:tcPr>
                </a:tc>
              </a:tr>
              <a:tr h="630936">
                <a:tc>
                  <a:txBody>
                    <a:bodyPr wrap="square"/>
                    <a:lstStyle/>
                    <a:p>
                      <a:r>
                        <a:rPr sz="1100" b="1">
                          <a:solidFill>
                            <a:srgbClr val="0C2B4A"/>
                          </a:solidFill>
                        </a:rPr>
                        <a:t>JOIN customer ON account.cust_id</a:t>
                      </a:r>
                    </a:p>
                  </a:txBody>
                  <a:tcPr anchor="ctr" marL="73152" marR="54864" marT="27432" marB="27432">
                    <a:solidFill>
                      <a:srgbClr val="EEF3F8"/>
                    </a:solidFill>
                  </a:tcPr>
                </a:tc>
                <a:tc>
                  <a:txBody>
                    <a:bodyPr wrap="square"/>
                    <a:lstStyle/>
                    <a:p>
                      <a:r>
                        <a:rPr sz="1100">
                          <a:solidFill>
                            <a:srgbClr val="1A1A1A"/>
                          </a:solidFill>
                        </a:rPr>
                        <a:t>✅ Yes</a:t>
                      </a:r>
                    </a:p>
                  </a:txBody>
                  <a:tcPr anchor="ctr" marL="73152" marR="54864" marT="27432" marB="27432">
                    <a:solidFill>
                      <a:srgbClr val="EEF3F8"/>
                    </a:solidFill>
                  </a:tcPr>
                </a:tc>
                <a:tc>
                  <a:txBody>
                    <a:bodyPr wrap="square"/>
                    <a:lstStyle/>
                    <a:p>
                      <a:r>
                        <a:rPr sz="1100">
                          <a:solidFill>
                            <a:srgbClr val="1A1A1A"/>
                          </a:solidFill>
                        </a:rPr>
                        <a:t>Foreign-key joins get far faster</a:t>
                      </a:r>
                    </a:p>
                  </a:txBody>
                  <a:tcPr anchor="ctr" marL="73152" marR="54864" marT="27432" marB="27432">
                    <a:solidFill>
                      <a:srgbClr val="EEF3F8"/>
                    </a:solidFill>
                  </a:tcPr>
                </a:tc>
              </a:tr>
              <a:tr h="630936">
                <a:tc>
                  <a:txBody>
                    <a:bodyPr wrap="square"/>
                    <a:lstStyle/>
                    <a:p>
                      <a:r>
                        <a:rPr sz="1100" b="1">
                          <a:solidFill>
                            <a:srgbClr val="0C2B4A"/>
                          </a:solidFill>
                        </a:rPr>
                        <a:t>ORDER BY txn_date on a report</a:t>
                      </a:r>
                    </a:p>
                  </a:txBody>
                  <a:tcPr anchor="ctr" marL="73152" marR="54864" marT="27432" marB="27432">
                    <a:solidFill>
                      <a:srgbClr val="FFFFFF"/>
                    </a:solidFill>
                  </a:tcPr>
                </a:tc>
                <a:tc>
                  <a:txBody>
                    <a:bodyPr wrap="square"/>
                    <a:lstStyle/>
                    <a:p>
                      <a:r>
                        <a:rPr sz="1100">
                          <a:solidFill>
                            <a:srgbClr val="1A1A1A"/>
                          </a:solidFill>
                        </a:rPr>
                        <a:t>✅ Yes</a:t>
                      </a:r>
                    </a:p>
                  </a:txBody>
                  <a:tcPr anchor="ctr" marL="73152" marR="54864" marT="27432" marB="27432">
                    <a:solidFill>
                      <a:srgbClr val="FFFFFF"/>
                    </a:solidFill>
                  </a:tcPr>
                </a:tc>
                <a:tc>
                  <a:txBody>
                    <a:bodyPr wrap="square"/>
                    <a:lstStyle/>
                    <a:p>
                      <a:r>
                        <a:rPr sz="1100">
                          <a:solidFill>
                            <a:srgbClr val="1A1A1A"/>
                          </a:solidFill>
                        </a:rPr>
                        <a:t>Avoids sorting the whole table</a:t>
                      </a:r>
                    </a:p>
                  </a:txBody>
                  <a:tcPr anchor="ctr" marL="73152" marR="54864" marT="27432" marB="27432">
                    <a:solidFill>
                      <a:srgbClr val="FFFFFF"/>
                    </a:solidFill>
                  </a:tcPr>
                </a:tc>
              </a:tr>
              <a:tr h="630936">
                <a:tc>
                  <a:txBody>
                    <a:bodyPr wrap="square"/>
                    <a:lstStyle/>
                    <a:p>
                      <a:r>
                        <a:rPr sz="1100" b="1">
                          <a:solidFill>
                            <a:srgbClr val="0C2B4A"/>
                          </a:solidFill>
                        </a:rPr>
                        <a:t>A tiny 50-row lookup table</a:t>
                      </a:r>
                    </a:p>
                  </a:txBody>
                  <a:tcPr anchor="ctr" marL="73152" marR="54864" marT="27432" marB="27432">
                    <a:solidFill>
                      <a:srgbClr val="EEF3F8"/>
                    </a:solidFill>
                  </a:tcPr>
                </a:tc>
                <a:tc>
                  <a:txBody>
                    <a:bodyPr wrap="square"/>
                    <a:lstStyle/>
                    <a:p>
                      <a:r>
                        <a:rPr sz="1100">
                          <a:solidFill>
                            <a:srgbClr val="1A1A1A"/>
                          </a:solidFill>
                        </a:rPr>
                        <a:t>❌ No</a:t>
                      </a:r>
                    </a:p>
                  </a:txBody>
                  <a:tcPr anchor="ctr" marL="73152" marR="54864" marT="27432" marB="27432">
                    <a:solidFill>
                      <a:srgbClr val="EEF3F8"/>
                    </a:solidFill>
                  </a:tcPr>
                </a:tc>
                <a:tc>
                  <a:txBody>
                    <a:bodyPr wrap="square"/>
                    <a:lstStyle/>
                    <a:p>
                      <a:r>
                        <a:rPr sz="1100">
                          <a:solidFill>
                            <a:srgbClr val="1A1A1A"/>
                          </a:solidFill>
                        </a:rPr>
                        <a:t>A scan is already instant; index is overhead</a:t>
                      </a:r>
                    </a:p>
                  </a:txBody>
                  <a:tcPr anchor="ctr" marL="73152" marR="54864" marT="27432" marB="27432">
                    <a:solidFill>
                      <a:srgbClr val="EEF3F8"/>
                    </a:solidFill>
                  </a:tcPr>
                </a:tc>
              </a:tr>
              <a:tr h="630936">
                <a:tc>
                  <a:txBody>
                    <a:bodyPr wrap="square"/>
                    <a:lstStyle/>
                    <a:p>
                      <a:r>
                        <a:rPr sz="1100" b="1">
                          <a:solidFill>
                            <a:srgbClr val="0C2B4A"/>
                          </a:solidFill>
                        </a:rPr>
                        <a:t>A column that is written constantly</a:t>
                      </a:r>
                    </a:p>
                  </a:txBody>
                  <a:tcPr anchor="ctr" marL="73152" marR="54864" marT="27432" marB="27432">
                    <a:solidFill>
                      <a:srgbClr val="FFFFFF"/>
                    </a:solidFill>
                  </a:tcPr>
                </a:tc>
                <a:tc>
                  <a:txBody>
                    <a:bodyPr wrap="square"/>
                    <a:lstStyle/>
                    <a:p>
                      <a:r>
                        <a:rPr sz="1100">
                          <a:solidFill>
                            <a:srgbClr val="1A1A1A"/>
                          </a:solidFill>
                        </a:rPr>
                        <a:t>⚠️ Careful</a:t>
                      </a:r>
                    </a:p>
                  </a:txBody>
                  <a:tcPr anchor="ctr" marL="73152" marR="54864" marT="27432" marB="27432">
                    <a:solidFill>
                      <a:srgbClr val="FFFFFF"/>
                    </a:solidFill>
                  </a:tcPr>
                </a:tc>
                <a:tc>
                  <a:txBody>
                    <a:bodyPr wrap="square"/>
                    <a:lstStyle/>
                    <a:p>
                      <a:r>
                        <a:rPr sz="1100">
                          <a:solidFill>
                            <a:srgbClr val="1A1A1A"/>
                          </a:solidFill>
                        </a:rPr>
                        <a:t>Every write must update the index too</a:t>
                      </a:r>
                    </a:p>
                  </a:txBody>
                  <a:tcPr anchor="ctr" marL="73152" marR="54864" marT="27432" marB="27432">
                    <a:solidFill>
                      <a:srgbClr val="FFFFFF"/>
                    </a:solidFill>
                  </a:tcPr>
                </a:tc>
              </a:tr>
              <a:tr h="630936">
                <a:tc>
                  <a:txBody>
                    <a:bodyPr wrap="square"/>
                    <a:lstStyle/>
                    <a:p>
                      <a:r>
                        <a:rPr sz="1100" b="1">
                          <a:solidFill>
                            <a:srgbClr val="0C2B4A"/>
                          </a:solidFill>
                        </a:rPr>
                        <a:t>Indexing every column 'to be safe'</a:t>
                      </a:r>
                    </a:p>
                  </a:txBody>
                  <a:tcPr anchor="ctr" marL="73152" marR="54864" marT="27432" marB="27432">
                    <a:solidFill>
                      <a:srgbClr val="EEF3F8"/>
                    </a:solidFill>
                  </a:tcPr>
                </a:tc>
                <a:tc>
                  <a:txBody>
                    <a:bodyPr wrap="square"/>
                    <a:lstStyle/>
                    <a:p>
                      <a:r>
                        <a:rPr sz="1100">
                          <a:solidFill>
                            <a:srgbClr val="1A1A1A"/>
                          </a:solidFill>
                        </a:rPr>
                        <a:t>❌ No</a:t>
                      </a:r>
                    </a:p>
                  </a:txBody>
                  <a:tcPr anchor="ctr" marL="73152" marR="54864" marT="27432" marB="27432">
                    <a:solidFill>
                      <a:srgbClr val="EEF3F8"/>
                    </a:solidFill>
                  </a:tcPr>
                </a:tc>
                <a:tc>
                  <a:txBody>
                    <a:bodyPr wrap="square"/>
                    <a:lstStyle/>
                    <a:p>
                      <a:r>
                        <a:rPr sz="1100">
                          <a:solidFill>
                            <a:srgbClr val="1A1A1A"/>
                          </a:solidFill>
                        </a:rPr>
                        <a:t>Slows all writes; wastes space; rarely used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Index the columns you FILTER, JOIN, and SORT on — not everything. Each extra index is a tax on every insert/update, so more indexes is not automatically faster.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 / 82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Indexing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bank puts an index on the citizenship_no column of its customer table so a KYC lookup — 'find this citizen' — is instant instead of scanning millions of rows. The same is true for eSewa indexing user_id on its transactions table so a user's history opens immediately.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"More indexes always = faster." Every index must be updated on every insert/update/delete, so too many indexes slow down writes, bloat storage, and can even confuse the optimizer. Index the columns you actually filter, join, and sort on — not every column.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An index is an auxiliary (usually B-tree) structure that finds rows without a full table scan, dramatically speeding up reads on the indexed columns (those in WHERE / JOIN / ORDER BY). The trade-off is that indexes slow down writes and consume storage, so they must be chosen deliberately rather than added to every column.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index · B-tree · full table scan · WHERE/JOIN/ORDER BY · reads faster, writes slower · index deliberately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82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Query Tuning</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Query tuning is rewriting a query so the optimizer can answer it with less work — usually by reading fewer rows. You read the EXECUTION PLAN (EXPLAIN) to see WHY it is slow, then fix the query, not the server.</a:t>
            </a:r>
          </a:p>
          <a:p>
            <a:pPr>
              <a:spcAft>
                <a:spcPts val="500"/>
              </a:spcAft>
            </a:pPr>
            <a:r>
              <a:rPr sz="1200" b="1">
                <a:solidFill>
                  <a:srgbClr val="185FA5"/>
                </a:solidFill>
              </a:rPr>
              <a:t>HOW IT WORKS</a:t>
            </a:r>
          </a:p>
          <a:p>
            <a:pPr>
              <a:spcAft>
                <a:spcPts val="600"/>
              </a:spcAft>
            </a:pPr>
            <a:r>
              <a:rPr sz="1400">
                <a:solidFill>
                  <a:srgbClr val="1A1A1A"/>
                </a:solidFill>
              </a:rPr>
              <a:t>•  Avoid SELECT * — fetch only the columns you need.</a:t>
            </a:r>
          </a:p>
          <a:p>
            <a:pPr>
              <a:spcAft>
                <a:spcPts val="600"/>
              </a:spcAft>
            </a:pPr>
            <a:r>
              <a:rPr sz="1400">
                <a:solidFill>
                  <a:srgbClr val="1A1A1A"/>
                </a:solidFill>
              </a:rPr>
              <a:t>•  Filter early and on an indexed column (e.g. user_id + a date range) so the DB reads few rows.</a:t>
            </a:r>
          </a:p>
          <a:p>
            <a:pPr>
              <a:spcAft>
                <a:spcPts val="600"/>
              </a:spcAft>
            </a:pPr>
            <a:r>
              <a:rPr sz="1400">
                <a:solidFill>
                  <a:srgbClr val="1A1A1A"/>
                </a:solidFill>
              </a:rPr>
              <a:t>•  Read the plan with EXPLAIN: a 'Seq Scan' on a huge table is the red flag.</a:t>
            </a:r>
          </a:p>
          <a:p>
            <a:pPr>
              <a:spcAft>
                <a:spcPts val="600"/>
              </a:spcAft>
            </a:pPr>
            <a:r>
              <a:rPr sz="1400">
                <a:solidFill>
                  <a:srgbClr val="1A1A1A"/>
                </a:solidFill>
              </a:rPr>
              <a:t>•  Avoid unnecessary nested subqueries; prefer joins the optimizer can drive with an index.</a:t>
            </a:r>
          </a:p>
        </p:txBody>
      </p:sp>
      <p:pic>
        <p:nvPicPr>
          <p:cNvPr id="6" name="Picture 5" descr="s45_queryplan.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Read the plan (EXPLAIN), filter on an indexed column, stop scanning everything.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82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3 · §7A DEPTH</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Query-tuning techniques → when to use each</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2703870"/>
                <a:gridCol w="2826774"/>
                <a:gridCol w="2703870"/>
                <a:gridCol w="3195483"/>
              </a:tblGrid>
              <a:tr h="552069">
                <a:tc>
                  <a:txBody>
                    <a:bodyPr wrap="square"/>
                    <a:lstStyle/>
                    <a:p>
                      <a:r>
                        <a:rPr sz="1100" b="1">
                          <a:solidFill>
                            <a:srgbClr val="FFFFFF"/>
                          </a:solidFill>
                        </a:rPr>
                        <a:t>Technique</a:t>
                      </a:r>
                    </a:p>
                  </a:txBody>
                  <a:tcPr anchor="ctr" marL="73152" marR="54864" marT="27432" marB="27432">
                    <a:solidFill>
                      <a:srgbClr val="0C2B4A"/>
                    </a:solidFill>
                  </a:tcPr>
                </a:tc>
                <a:tc>
                  <a:txBody>
                    <a:bodyPr wrap="square"/>
                    <a:lstStyle/>
                    <a:p>
                      <a:r>
                        <a:rPr sz="1100" b="1">
                          <a:solidFill>
                            <a:srgbClr val="FFFFFF"/>
                          </a:solidFill>
                        </a:rPr>
                        <a:t>Problem it fixes</a:t>
                      </a:r>
                    </a:p>
                  </a:txBody>
                  <a:tcPr anchor="ctr" marL="73152" marR="54864" marT="27432" marB="27432">
                    <a:solidFill>
                      <a:srgbClr val="0C2B4A"/>
                    </a:solidFill>
                  </a:tcPr>
                </a:tc>
                <a:tc>
                  <a:txBody>
                    <a:bodyPr wrap="square"/>
                    <a:lstStyle/>
                    <a:p>
                      <a:r>
                        <a:rPr sz="1100" b="1">
                          <a:solidFill>
                            <a:srgbClr val="FFFFFF"/>
                          </a:solidFill>
                        </a:rPr>
                        <a:t>When to use</a:t>
                      </a:r>
                    </a:p>
                  </a:txBody>
                  <a:tcPr anchor="ctr" marL="73152" marR="54864" marT="27432" marB="27432">
                    <a:solidFill>
                      <a:srgbClr val="0C2B4A"/>
                    </a:solidFill>
                  </a:tcPr>
                </a:tc>
                <a:tc>
                  <a:txBody>
                    <a:bodyPr wrap="square"/>
                    <a:lstStyle/>
                    <a:p>
                      <a:r>
                        <a:rPr sz="1100" b="1">
                          <a:solidFill>
                            <a:srgbClr val="FFFFFF"/>
                          </a:solidFill>
                        </a:rPr>
                        <a:t>Nepal / IT example</a:t>
                      </a:r>
                    </a:p>
                  </a:txBody>
                  <a:tcPr anchor="ctr" marL="73152" marR="54864" marT="27432" marB="27432">
                    <a:solidFill>
                      <a:srgbClr val="0C2B4A"/>
                    </a:solidFill>
                  </a:tcPr>
                </a:tc>
              </a:tr>
              <a:tr h="552069">
                <a:tc>
                  <a:txBody>
                    <a:bodyPr wrap="square"/>
                    <a:lstStyle/>
                    <a:p>
                      <a:r>
                        <a:rPr sz="1050" b="1">
                          <a:solidFill>
                            <a:srgbClr val="0C2B4A"/>
                          </a:solidFill>
                        </a:rPr>
                        <a:t>Add / use an index</a:t>
                      </a:r>
                    </a:p>
                  </a:txBody>
                  <a:tcPr anchor="ctr" marL="73152" marR="54864" marT="27432" marB="27432">
                    <a:solidFill>
                      <a:srgbClr val="FFFFFF"/>
                    </a:solidFill>
                  </a:tcPr>
                </a:tc>
                <a:tc>
                  <a:txBody>
                    <a:bodyPr wrap="square"/>
                    <a:lstStyle/>
                    <a:p>
                      <a:r>
                        <a:rPr sz="1050">
                          <a:solidFill>
                            <a:srgbClr val="1A1A1A"/>
                          </a:solidFill>
                        </a:rPr>
                        <a:t>Full table scan on a filter</a:t>
                      </a:r>
                    </a:p>
                  </a:txBody>
                  <a:tcPr anchor="ctr" marL="73152" marR="54864" marT="27432" marB="27432">
                    <a:solidFill>
                      <a:srgbClr val="FFFFFF"/>
                    </a:solidFill>
                  </a:tcPr>
                </a:tc>
                <a:tc>
                  <a:txBody>
                    <a:bodyPr wrap="square"/>
                    <a:lstStyle/>
                    <a:p>
                      <a:r>
                        <a:rPr sz="1050">
                          <a:solidFill>
                            <a:srgbClr val="1A1A1A"/>
                          </a:solidFill>
                        </a:rPr>
                        <a:t>WHERE / JOIN on a big table</a:t>
                      </a:r>
                    </a:p>
                  </a:txBody>
                  <a:tcPr anchor="ctr" marL="73152" marR="54864" marT="27432" marB="27432">
                    <a:solidFill>
                      <a:srgbClr val="FFFFFF"/>
                    </a:solidFill>
                  </a:tcPr>
                </a:tc>
                <a:tc>
                  <a:txBody>
                    <a:bodyPr wrap="square"/>
                    <a:lstStyle/>
                    <a:p>
                      <a:r>
                        <a:rPr sz="1050">
                          <a:solidFill>
                            <a:srgbClr val="1A1A1A"/>
                          </a:solidFill>
                        </a:rPr>
                        <a:t>Index user_id on eSewa txns</a:t>
                      </a:r>
                    </a:p>
                  </a:txBody>
                  <a:tcPr anchor="ctr" marL="73152" marR="54864" marT="27432" marB="27432">
                    <a:solidFill>
                      <a:srgbClr val="FFFFFF"/>
                    </a:solidFill>
                  </a:tcPr>
                </a:tc>
              </a:tr>
              <a:tr h="552069">
                <a:tc>
                  <a:txBody>
                    <a:bodyPr wrap="square"/>
                    <a:lstStyle/>
                    <a:p>
                      <a:r>
                        <a:rPr sz="1050" b="1">
                          <a:solidFill>
                            <a:srgbClr val="0C2B4A"/>
                          </a:solidFill>
                        </a:rPr>
                        <a:t>Filter early (good WHERE)</a:t>
                      </a:r>
                    </a:p>
                  </a:txBody>
                  <a:tcPr anchor="ctr" marL="73152" marR="54864" marT="27432" marB="27432">
                    <a:solidFill>
                      <a:srgbClr val="EEF3F8"/>
                    </a:solidFill>
                  </a:tcPr>
                </a:tc>
                <a:tc>
                  <a:txBody>
                    <a:bodyPr wrap="square"/>
                    <a:lstStyle/>
                    <a:p>
                      <a:r>
                        <a:rPr sz="1050">
                          <a:solidFill>
                            <a:srgbClr val="1A1A1A"/>
                          </a:solidFill>
                        </a:rPr>
                        <a:t>Reading rows you'll discard</a:t>
                      </a:r>
                    </a:p>
                  </a:txBody>
                  <a:tcPr anchor="ctr" marL="73152" marR="54864" marT="27432" marB="27432">
                    <a:solidFill>
                      <a:srgbClr val="EEF3F8"/>
                    </a:solidFill>
                  </a:tcPr>
                </a:tc>
                <a:tc>
                  <a:txBody>
                    <a:bodyPr wrap="square"/>
                    <a:lstStyle/>
                    <a:p>
                      <a:r>
                        <a:rPr sz="1050">
                          <a:solidFill>
                            <a:srgbClr val="1A1A1A"/>
                          </a:solidFill>
                        </a:rPr>
                        <a:t>Query touches a huge table</a:t>
                      </a:r>
                    </a:p>
                  </a:txBody>
                  <a:tcPr anchor="ctr" marL="73152" marR="54864" marT="27432" marB="27432">
                    <a:solidFill>
                      <a:srgbClr val="EEF3F8"/>
                    </a:solidFill>
                  </a:tcPr>
                </a:tc>
                <a:tc>
                  <a:txBody>
                    <a:bodyPr wrap="square"/>
                    <a:lstStyle/>
                    <a:p>
                      <a:r>
                        <a:rPr sz="1050">
                          <a:solidFill>
                            <a:srgbClr val="1A1A1A"/>
                          </a:solidFill>
                        </a:rPr>
                        <a:t>user_id + date range on history</a:t>
                      </a:r>
                    </a:p>
                  </a:txBody>
                  <a:tcPr anchor="ctr" marL="73152" marR="54864" marT="27432" marB="27432">
                    <a:solidFill>
                      <a:srgbClr val="EEF3F8"/>
                    </a:solidFill>
                  </a:tcPr>
                </a:tc>
              </a:tr>
              <a:tr h="552069">
                <a:tc>
                  <a:txBody>
                    <a:bodyPr wrap="square"/>
                    <a:lstStyle/>
                    <a:p>
                      <a:r>
                        <a:rPr sz="1050" b="1">
                          <a:solidFill>
                            <a:srgbClr val="0C2B4A"/>
                          </a:solidFill>
                        </a:rPr>
                        <a:t>Select only needed columns</a:t>
                      </a:r>
                    </a:p>
                  </a:txBody>
                  <a:tcPr anchor="ctr" marL="73152" marR="54864" marT="27432" marB="27432">
                    <a:solidFill>
                      <a:srgbClr val="FFFFFF"/>
                    </a:solidFill>
                  </a:tcPr>
                </a:tc>
                <a:tc>
                  <a:txBody>
                    <a:bodyPr wrap="square"/>
                    <a:lstStyle/>
                    <a:p>
                      <a:r>
                        <a:rPr sz="1050">
                          <a:solidFill>
                            <a:srgbClr val="1A1A1A"/>
                          </a:solidFill>
                        </a:rPr>
                        <a:t>Hauling unused data</a:t>
                      </a:r>
                    </a:p>
                  </a:txBody>
                  <a:tcPr anchor="ctr" marL="73152" marR="54864" marT="27432" marB="27432">
                    <a:solidFill>
                      <a:srgbClr val="FFFFFF"/>
                    </a:solidFill>
                  </a:tcPr>
                </a:tc>
                <a:tc>
                  <a:txBody>
                    <a:bodyPr wrap="square"/>
                    <a:lstStyle/>
                    <a:p>
                      <a:r>
                        <a:rPr sz="1050">
                          <a:solidFill>
                            <a:srgbClr val="1A1A1A"/>
                          </a:solidFill>
                        </a:rPr>
                        <a:t>SELECT * on a wide table</a:t>
                      </a:r>
                    </a:p>
                  </a:txBody>
                  <a:tcPr anchor="ctr" marL="73152" marR="54864" marT="27432" marB="27432">
                    <a:solidFill>
                      <a:srgbClr val="FFFFFF"/>
                    </a:solidFill>
                  </a:tcPr>
                </a:tc>
                <a:tc>
                  <a:txBody>
                    <a:bodyPr wrap="square"/>
                    <a:lstStyle/>
                    <a:p>
                      <a:r>
                        <a:rPr sz="1050">
                          <a:solidFill>
                            <a:srgbClr val="1A1A1A"/>
                          </a:solidFill>
                        </a:rPr>
                        <a:t>Fetch amount, date — not *</a:t>
                      </a:r>
                    </a:p>
                  </a:txBody>
                  <a:tcPr anchor="ctr" marL="73152" marR="54864" marT="27432" marB="27432">
                    <a:solidFill>
                      <a:srgbClr val="FFFFFF"/>
                    </a:solidFill>
                  </a:tcPr>
                </a:tc>
              </a:tr>
              <a:tr h="552069">
                <a:tc>
                  <a:txBody>
                    <a:bodyPr wrap="square"/>
                    <a:lstStyle/>
                    <a:p>
                      <a:r>
                        <a:rPr sz="1050" b="1">
                          <a:solidFill>
                            <a:srgbClr val="0C2B4A"/>
                          </a:solidFill>
                        </a:rPr>
                        <a:t>Rewrite nested subquery as JOIN</a:t>
                      </a:r>
                    </a:p>
                  </a:txBody>
                  <a:tcPr anchor="ctr" marL="73152" marR="54864" marT="27432" marB="27432">
                    <a:solidFill>
                      <a:srgbClr val="EEF3F8"/>
                    </a:solidFill>
                  </a:tcPr>
                </a:tc>
                <a:tc>
                  <a:txBody>
                    <a:bodyPr wrap="square"/>
                    <a:lstStyle/>
                    <a:p>
                      <a:r>
                        <a:rPr sz="1050">
                          <a:solidFill>
                            <a:srgbClr val="1A1A1A"/>
                          </a:solidFill>
                        </a:rPr>
                        <a:t>Optimizer can't use an index</a:t>
                      </a:r>
                    </a:p>
                  </a:txBody>
                  <a:tcPr anchor="ctr" marL="73152" marR="54864" marT="27432" marB="27432">
                    <a:solidFill>
                      <a:srgbClr val="EEF3F8"/>
                    </a:solidFill>
                  </a:tcPr>
                </a:tc>
                <a:tc>
                  <a:txBody>
                    <a:bodyPr wrap="square"/>
                    <a:lstStyle/>
                    <a:p>
                      <a:r>
                        <a:rPr sz="1050">
                          <a:solidFill>
                            <a:srgbClr val="1A1A1A"/>
                          </a:solidFill>
                        </a:rPr>
                        <a:t>Correlated subquery is slow</a:t>
                      </a:r>
                    </a:p>
                  </a:txBody>
                  <a:tcPr anchor="ctr" marL="73152" marR="54864" marT="27432" marB="27432">
                    <a:solidFill>
                      <a:srgbClr val="EEF3F8"/>
                    </a:solidFill>
                  </a:tcPr>
                </a:tc>
                <a:tc>
                  <a:txBody>
                    <a:bodyPr wrap="square"/>
                    <a:lstStyle/>
                    <a:p>
                      <a:r>
                        <a:rPr sz="1050">
                          <a:solidFill>
                            <a:srgbClr val="1A1A1A"/>
                          </a:solidFill>
                        </a:rPr>
                        <a:t>Merchant report joins, not sub-selects</a:t>
                      </a:r>
                    </a:p>
                  </a:txBody>
                  <a:tcPr anchor="ctr" marL="73152" marR="54864" marT="27432" marB="27432">
                    <a:solidFill>
                      <a:srgbClr val="EEF3F8"/>
                    </a:solidFill>
                  </a:tcPr>
                </a:tc>
              </a:tr>
              <a:tr h="552069">
                <a:tc>
                  <a:txBody>
                    <a:bodyPr wrap="square"/>
                    <a:lstStyle/>
                    <a:p>
                      <a:r>
                        <a:rPr sz="1050" b="1">
                          <a:solidFill>
                            <a:srgbClr val="0C2B4A"/>
                          </a:solidFill>
                        </a:rPr>
                        <a:t>Read the EXPLAIN plan</a:t>
                      </a:r>
                    </a:p>
                  </a:txBody>
                  <a:tcPr anchor="ctr" marL="73152" marR="54864" marT="27432" marB="27432">
                    <a:solidFill>
                      <a:srgbClr val="FFFFFF"/>
                    </a:solidFill>
                  </a:tcPr>
                </a:tc>
                <a:tc>
                  <a:txBody>
                    <a:bodyPr wrap="square"/>
                    <a:lstStyle/>
                    <a:p>
                      <a:r>
                        <a:rPr sz="1050">
                          <a:solidFill>
                            <a:srgbClr val="1A1A1A"/>
                          </a:solidFill>
                        </a:rPr>
                        <a:t>You're guessing at the cause</a:t>
                      </a:r>
                    </a:p>
                  </a:txBody>
                  <a:tcPr anchor="ctr" marL="73152" marR="54864" marT="27432" marB="27432">
                    <a:solidFill>
                      <a:srgbClr val="FFFFFF"/>
                    </a:solidFill>
                  </a:tcPr>
                </a:tc>
                <a:tc>
                  <a:txBody>
                    <a:bodyPr wrap="square"/>
                    <a:lstStyle/>
                    <a:p>
                      <a:r>
                        <a:rPr sz="1050">
                          <a:solidFill>
                            <a:srgbClr val="1A1A1A"/>
                          </a:solidFill>
                        </a:rPr>
                        <a:t>Any slow query, before tuning</a:t>
                      </a:r>
                    </a:p>
                  </a:txBody>
                  <a:tcPr anchor="ctr" marL="73152" marR="54864" marT="27432" marB="27432">
                    <a:solidFill>
                      <a:srgbClr val="FFFFFF"/>
                    </a:solidFill>
                  </a:tcPr>
                </a:tc>
                <a:tc>
                  <a:txBody>
                    <a:bodyPr wrap="square"/>
                    <a:lstStyle/>
                    <a:p>
                      <a:r>
                        <a:rPr sz="1050">
                          <a:solidFill>
                            <a:srgbClr val="1A1A1A"/>
                          </a:solidFill>
                        </a:rPr>
                        <a:t>Spot a Seq Scan on 2M rows</a:t>
                      </a:r>
                    </a:p>
                  </a:txBody>
                  <a:tcPr anchor="ctr" marL="73152" marR="54864" marT="27432" marB="27432">
                    <a:solidFill>
                      <a:srgbClr val="FFFFFF"/>
                    </a:solidFill>
                  </a:tcPr>
                </a:tc>
              </a:tr>
              <a:tr h="552069">
                <a:tc>
                  <a:txBody>
                    <a:bodyPr wrap="square"/>
                    <a:lstStyle/>
                    <a:p>
                      <a:r>
                        <a:rPr sz="1050" b="1">
                          <a:solidFill>
                            <a:srgbClr val="0C2B4A"/>
                          </a:solidFill>
                        </a:rPr>
                        <a:t>Paginate / LIMIT results</a:t>
                      </a:r>
                    </a:p>
                  </a:txBody>
                  <a:tcPr anchor="ctr" marL="73152" marR="54864" marT="27432" marB="27432">
                    <a:solidFill>
                      <a:srgbClr val="EEF3F8"/>
                    </a:solidFill>
                  </a:tcPr>
                </a:tc>
                <a:tc>
                  <a:txBody>
                    <a:bodyPr wrap="square"/>
                    <a:lstStyle/>
                    <a:p>
                      <a:r>
                        <a:rPr sz="1050">
                          <a:solidFill>
                            <a:srgbClr val="1A1A1A"/>
                          </a:solidFill>
                        </a:rPr>
                        <a:t>Returning millions of rows</a:t>
                      </a:r>
                    </a:p>
                  </a:txBody>
                  <a:tcPr anchor="ctr" marL="73152" marR="54864" marT="27432" marB="27432">
                    <a:solidFill>
                      <a:srgbClr val="EEF3F8"/>
                    </a:solidFill>
                  </a:tcPr>
                </a:tc>
                <a:tc>
                  <a:txBody>
                    <a:bodyPr wrap="square"/>
                    <a:lstStyle/>
                    <a:p>
                      <a:r>
                        <a:rPr sz="1050">
                          <a:solidFill>
                            <a:srgbClr val="1A1A1A"/>
                          </a:solidFill>
                        </a:rPr>
                        <a:t>List/report screens</a:t>
                      </a:r>
                    </a:p>
                  </a:txBody>
                  <a:tcPr anchor="ctr" marL="73152" marR="54864" marT="27432" marB="27432">
                    <a:solidFill>
                      <a:srgbClr val="EEF3F8"/>
                    </a:solidFill>
                  </a:tcPr>
                </a:tc>
                <a:tc>
                  <a:txBody>
                    <a:bodyPr wrap="square"/>
                    <a:lstStyle/>
                    <a:p>
                      <a:r>
                        <a:rPr sz="1050">
                          <a:solidFill>
                            <a:srgbClr val="1A1A1A"/>
                          </a:solidFill>
                        </a:rPr>
                        <a:t>Show 20 transactions per page</a:t>
                      </a:r>
                    </a:p>
                  </a:txBody>
                  <a:tcPr anchor="ctr" marL="73152" marR="54864" marT="27432" marB="27432">
                    <a:solidFill>
                      <a:srgbClr val="EEF3F8"/>
                    </a:solidFill>
                  </a:tcPr>
                </a:tc>
              </a:tr>
              <a:tr h="552069">
                <a:tc>
                  <a:txBody>
                    <a:bodyPr wrap="square"/>
                    <a:lstStyle/>
                    <a:p>
                      <a:r>
                        <a:rPr sz="1050" b="1">
                          <a:solidFill>
                            <a:srgbClr val="0C2B4A"/>
                          </a:solidFill>
                        </a:rPr>
                        <a:t>Cache a hot result</a:t>
                      </a:r>
                    </a:p>
                  </a:txBody>
                  <a:tcPr anchor="ctr" marL="73152" marR="54864" marT="27432" marB="27432">
                    <a:solidFill>
                      <a:srgbClr val="FFFFFF"/>
                    </a:solidFill>
                  </a:tcPr>
                </a:tc>
                <a:tc>
                  <a:txBody>
                    <a:bodyPr wrap="square"/>
                    <a:lstStyle/>
                    <a:p>
                      <a:r>
                        <a:rPr sz="1050">
                          <a:solidFill>
                            <a:srgbClr val="1A1A1A"/>
                          </a:solidFill>
                        </a:rPr>
                        <a:t>Same heavy query repeated</a:t>
                      </a:r>
                    </a:p>
                  </a:txBody>
                  <a:tcPr anchor="ctr" marL="73152" marR="54864" marT="27432" marB="27432">
                    <a:solidFill>
                      <a:srgbClr val="FFFFFF"/>
                    </a:solidFill>
                  </a:tcPr>
                </a:tc>
                <a:tc>
                  <a:txBody>
                    <a:bodyPr wrap="square"/>
                    <a:lstStyle/>
                    <a:p>
                      <a:r>
                        <a:rPr sz="1050">
                          <a:solidFill>
                            <a:srgbClr val="1A1A1A"/>
                          </a:solidFill>
                        </a:rPr>
                        <a:t>Read-mostly, rarely changes</a:t>
                      </a:r>
                    </a:p>
                  </a:txBody>
                  <a:tcPr anchor="ctr" marL="73152" marR="54864" marT="27432" marB="27432">
                    <a:solidFill>
                      <a:srgbClr val="FFFFFF"/>
                    </a:solidFill>
                  </a:tcPr>
                </a:tc>
                <a:tc>
                  <a:txBody>
                    <a:bodyPr wrap="square"/>
                    <a:lstStyle/>
                    <a:p>
                      <a:r>
                        <a:rPr sz="1050">
                          <a:solidFill>
                            <a:srgbClr val="1A1A1A"/>
                          </a:solidFill>
                        </a:rPr>
                        <a:t>Cache the product catalogue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Match the technique to the symptom you see in the EXPLAIN plan. Almost every real win is 'read fewer rows' — via an index, a tighter filter, or fewer columns — not a bigger machine.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82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Query Tuning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eSewa's transaction-history page is slow because the query scans ALL transactions and then filters. The fix: filter first on an indexed user_id plus a date range, select only the needed columns, and paginate — the EXPLAIN plan flips from a full Seq Scan (seconds) to an Index Scan (milliseconds), on the same hardware.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"More indexes / a bigger server will fix any slow query." Often the query itself is the problem — SELECT * with no useful filter forces a full scan no matter the hardware. Reading the EXPLAIN plan and rewriting the query (filter early, fewer columns, indexable joins) is usually the real fix.</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Query tuning rewrites a query so the optimizer reads fewer rows: avoid SELECT *, filter early on indexed columns, read the EXPLAIN execution plan to find the bottleneck (e.g. a full Seq Scan), avoid needless nested subqueries, and prefer index-drivable joins. It targets the query — not the hardware — and is verified by measuring the plan before and after.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query tuning · EXPLAIN / execution plan · avoid SELECT * · filter early · Seq Scan vs Index Scan · joins over subqueries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82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Database Security — Authentication vs Authorization</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Two different gates protect a database. AUTHENTICATION answers 'WHO are you?' (login, password, OTP). AUTHORIZATION answers 'WHAT are you allowed to do?' (GRANT/REVOKE privileges, roles). You pass authentication first, then authorization decides your access.</a:t>
            </a:r>
          </a:p>
          <a:p>
            <a:pPr>
              <a:spcAft>
                <a:spcPts val="500"/>
              </a:spcAft>
            </a:pPr>
            <a:r>
              <a:rPr sz="1200" b="1">
                <a:solidFill>
                  <a:srgbClr val="185FA5"/>
                </a:solidFill>
              </a:rPr>
              <a:t>HOW IT WORKS</a:t>
            </a:r>
          </a:p>
          <a:p>
            <a:pPr>
              <a:spcAft>
                <a:spcPts val="600"/>
              </a:spcAft>
            </a:pPr>
            <a:r>
              <a:rPr sz="1400">
                <a:solidFill>
                  <a:srgbClr val="1A1A1A"/>
                </a:solidFill>
              </a:rPr>
              <a:t>•  Authentication verifies identity: username + password, OTP, biometrics.</a:t>
            </a:r>
          </a:p>
          <a:p>
            <a:pPr>
              <a:spcAft>
                <a:spcPts val="600"/>
              </a:spcAft>
            </a:pPr>
            <a:r>
              <a:rPr sz="1400">
                <a:solidFill>
                  <a:srgbClr val="1A1A1A"/>
                </a:solidFill>
              </a:rPr>
              <a:t>•  Authorization controls privileges: GRANT SELECT / REVOKE, and roles that bundle privileges.</a:t>
            </a:r>
          </a:p>
          <a:p>
            <a:pPr>
              <a:spcAft>
                <a:spcPts val="600"/>
              </a:spcAft>
            </a:pPr>
            <a:r>
              <a:rPr sz="1400">
                <a:solidFill>
                  <a:srgbClr val="1A1A1A"/>
                </a:solidFill>
              </a:rPr>
              <a:t>•  Order matters: authenticate first (who), then authorize (what) — one without the other is unsafe.</a:t>
            </a:r>
          </a:p>
          <a:p>
            <a:pPr>
              <a:spcAft>
                <a:spcPts val="600"/>
              </a:spcAft>
            </a:pPr>
            <a:r>
              <a:rPr sz="1400">
                <a:solidFill>
                  <a:srgbClr val="1A1A1A"/>
                </a:solidFill>
              </a:rPr>
              <a:t>•  Least privilege: give each user only the access their job needs, nothing more.</a:t>
            </a:r>
          </a:p>
        </p:txBody>
      </p:sp>
      <p:pic>
        <p:nvPicPr>
          <p:cNvPr id="6" name="Picture 5" descr="s45_security.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Authentication = ID at the gate; authorization = which rooms your keycard opens.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82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4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Authentication vs Authorization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9142"/>
                <a:gridCol w="4245428"/>
                <a:gridCol w="4245428"/>
              </a:tblGrid>
              <a:tr h="630936">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Authentication</a:t>
                      </a:r>
                    </a:p>
                  </a:txBody>
                  <a:tcPr anchor="ctr" marL="73152" marR="54864" marT="27432" marB="27432">
                    <a:solidFill>
                      <a:srgbClr val="0C2B4A"/>
                    </a:solidFill>
                  </a:tcPr>
                </a:tc>
                <a:tc>
                  <a:txBody>
                    <a:bodyPr wrap="square"/>
                    <a:lstStyle/>
                    <a:p>
                      <a:r>
                        <a:rPr sz="1150" b="1">
                          <a:solidFill>
                            <a:srgbClr val="FFFFFF"/>
                          </a:solidFill>
                        </a:rPr>
                        <a:t>Authorization</a:t>
                      </a:r>
                    </a:p>
                  </a:txBody>
                  <a:tcPr anchor="ctr" marL="73152" marR="54864" marT="27432" marB="27432">
                    <a:solidFill>
                      <a:srgbClr val="0C2B4A"/>
                    </a:solidFill>
                  </a:tcPr>
                </a:tc>
              </a:tr>
              <a:tr h="630936">
                <a:tc>
                  <a:txBody>
                    <a:bodyPr wrap="square"/>
                    <a:lstStyle/>
                    <a:p>
                      <a:r>
                        <a:rPr sz="1100" b="1">
                          <a:solidFill>
                            <a:srgbClr val="0C2B4A"/>
                          </a:solidFill>
                        </a:rPr>
                        <a:t>Question it answers</a:t>
                      </a:r>
                    </a:p>
                  </a:txBody>
                  <a:tcPr anchor="ctr" marL="73152" marR="54864" marT="27432" marB="27432">
                    <a:solidFill>
                      <a:srgbClr val="FFFFFF"/>
                    </a:solidFill>
                  </a:tcPr>
                </a:tc>
                <a:tc>
                  <a:txBody>
                    <a:bodyPr wrap="square"/>
                    <a:lstStyle/>
                    <a:p>
                      <a:r>
                        <a:rPr sz="1100">
                          <a:solidFill>
                            <a:srgbClr val="1A1A1A"/>
                          </a:solidFill>
                        </a:rPr>
                        <a:t>Who are you?</a:t>
                      </a:r>
                    </a:p>
                  </a:txBody>
                  <a:tcPr anchor="ctr" marL="73152" marR="54864" marT="27432" marB="27432">
                    <a:solidFill>
                      <a:srgbClr val="FFFFFF"/>
                    </a:solidFill>
                  </a:tcPr>
                </a:tc>
                <a:tc>
                  <a:txBody>
                    <a:bodyPr wrap="square"/>
                    <a:lstStyle/>
                    <a:p>
                      <a:r>
                        <a:rPr sz="1100">
                          <a:solidFill>
                            <a:srgbClr val="1A1A1A"/>
                          </a:solidFill>
                        </a:rPr>
                        <a:t>What are you allowed to do?</a:t>
                      </a:r>
                    </a:p>
                  </a:txBody>
                  <a:tcPr anchor="ctr" marL="73152" marR="54864" marT="27432" marB="27432">
                    <a:solidFill>
                      <a:srgbClr val="FFFFFF"/>
                    </a:solidFill>
                  </a:tcPr>
                </a:tc>
              </a:tr>
              <a:tr h="630936">
                <a:tc>
                  <a:txBody>
                    <a:bodyPr wrap="square"/>
                    <a:lstStyle/>
                    <a:p>
                      <a:r>
                        <a:rPr sz="1100" b="1">
                          <a:solidFill>
                            <a:srgbClr val="0C2B4A"/>
                          </a:solidFill>
                        </a:rPr>
                        <a:t>Comes</a:t>
                      </a:r>
                    </a:p>
                  </a:txBody>
                  <a:tcPr anchor="ctr" marL="73152" marR="54864" marT="27432" marB="27432">
                    <a:solidFill>
                      <a:srgbClr val="EEF3F8"/>
                    </a:solidFill>
                  </a:tcPr>
                </a:tc>
                <a:tc>
                  <a:txBody>
                    <a:bodyPr wrap="square"/>
                    <a:lstStyle/>
                    <a:p>
                      <a:r>
                        <a:rPr sz="1100">
                          <a:solidFill>
                            <a:srgbClr val="1A1A1A"/>
                          </a:solidFill>
                        </a:rPr>
                        <a:t>First</a:t>
                      </a:r>
                    </a:p>
                  </a:txBody>
                  <a:tcPr anchor="ctr" marL="73152" marR="54864" marT="27432" marB="27432">
                    <a:solidFill>
                      <a:srgbClr val="EEF3F8"/>
                    </a:solidFill>
                  </a:tcPr>
                </a:tc>
                <a:tc>
                  <a:txBody>
                    <a:bodyPr wrap="square"/>
                    <a:lstStyle/>
                    <a:p>
                      <a:r>
                        <a:rPr sz="1100">
                          <a:solidFill>
                            <a:srgbClr val="1A1A1A"/>
                          </a:solidFill>
                        </a:rPr>
                        <a:t>After authentication</a:t>
                      </a:r>
                    </a:p>
                  </a:txBody>
                  <a:tcPr anchor="ctr" marL="73152" marR="54864" marT="27432" marB="27432">
                    <a:solidFill>
                      <a:srgbClr val="EEF3F8"/>
                    </a:solidFill>
                  </a:tcPr>
                </a:tc>
              </a:tr>
              <a:tr h="630936">
                <a:tc>
                  <a:txBody>
                    <a:bodyPr wrap="square"/>
                    <a:lstStyle/>
                    <a:p>
                      <a:r>
                        <a:rPr sz="1100" b="1">
                          <a:solidFill>
                            <a:srgbClr val="0C2B4A"/>
                          </a:solidFill>
                        </a:rPr>
                        <a:t>Mechanism</a:t>
                      </a:r>
                    </a:p>
                  </a:txBody>
                  <a:tcPr anchor="ctr" marL="73152" marR="54864" marT="27432" marB="27432">
                    <a:solidFill>
                      <a:srgbClr val="FFFFFF"/>
                    </a:solidFill>
                  </a:tcPr>
                </a:tc>
                <a:tc>
                  <a:txBody>
                    <a:bodyPr wrap="square"/>
                    <a:lstStyle/>
                    <a:p>
                      <a:r>
                        <a:rPr sz="1100">
                          <a:solidFill>
                            <a:srgbClr val="1A1A1A"/>
                          </a:solidFill>
                        </a:rPr>
                        <a:t>Login, password, OTP, biometrics</a:t>
                      </a:r>
                    </a:p>
                  </a:txBody>
                  <a:tcPr anchor="ctr" marL="73152" marR="54864" marT="27432" marB="27432">
                    <a:solidFill>
                      <a:srgbClr val="FFFFFF"/>
                    </a:solidFill>
                  </a:tcPr>
                </a:tc>
                <a:tc>
                  <a:txBody>
                    <a:bodyPr wrap="square"/>
                    <a:lstStyle/>
                    <a:p>
                      <a:r>
                        <a:rPr sz="1100">
                          <a:solidFill>
                            <a:srgbClr val="1A1A1A"/>
                          </a:solidFill>
                        </a:rPr>
                        <a:t>GRANT / REVOKE, roles, privileges</a:t>
                      </a:r>
                    </a:p>
                  </a:txBody>
                  <a:tcPr anchor="ctr" marL="73152" marR="54864" marT="27432" marB="27432">
                    <a:solidFill>
                      <a:srgbClr val="FFFFFF"/>
                    </a:solidFill>
                  </a:tcPr>
                </a:tc>
              </a:tr>
              <a:tr h="630936">
                <a:tc>
                  <a:txBody>
                    <a:bodyPr wrap="square"/>
                    <a:lstStyle/>
                    <a:p>
                      <a:r>
                        <a:rPr sz="1100" b="1">
                          <a:solidFill>
                            <a:srgbClr val="0C2B4A"/>
                          </a:solidFill>
                        </a:rPr>
                        <a:t>Nepal example</a:t>
                      </a:r>
                    </a:p>
                  </a:txBody>
                  <a:tcPr anchor="ctr" marL="73152" marR="54864" marT="27432" marB="27432">
                    <a:solidFill>
                      <a:srgbClr val="EEF3F8"/>
                    </a:solidFill>
                  </a:tcPr>
                </a:tc>
                <a:tc>
                  <a:txBody>
                    <a:bodyPr wrap="square"/>
                    <a:lstStyle/>
                    <a:p>
                      <a:r>
                        <a:rPr sz="1100">
                          <a:solidFill>
                            <a:srgbClr val="1A1A1A"/>
                          </a:solidFill>
                        </a:rPr>
                        <a:t>Khalti OTP login</a:t>
                      </a:r>
                    </a:p>
                  </a:txBody>
                  <a:tcPr anchor="ctr" marL="73152" marR="54864" marT="27432" marB="27432">
                    <a:solidFill>
                      <a:srgbClr val="EEF3F8"/>
                    </a:solidFill>
                  </a:tcPr>
                </a:tc>
                <a:tc>
                  <a:txBody>
                    <a:bodyPr wrap="square"/>
                    <a:lstStyle/>
                    <a:p>
                      <a:r>
                        <a:rPr sz="1100">
                          <a:solidFill>
                            <a:srgbClr val="1A1A1A"/>
                          </a:solidFill>
                        </a:rPr>
                        <a:t>Agent can view but not refund</a:t>
                      </a:r>
                    </a:p>
                  </a:txBody>
                  <a:tcPr anchor="ctr" marL="73152" marR="54864" marT="27432" marB="27432">
                    <a:solidFill>
                      <a:srgbClr val="EEF3F8"/>
                    </a:solidFill>
                  </a:tcPr>
                </a:tc>
              </a:tr>
              <a:tr h="630936">
                <a:tc>
                  <a:txBody>
                    <a:bodyPr wrap="square"/>
                    <a:lstStyle/>
                    <a:p>
                      <a:r>
                        <a:rPr sz="1100" b="1">
                          <a:solidFill>
                            <a:srgbClr val="0C2B4A"/>
                          </a:solidFill>
                        </a:rPr>
                        <a:t>If missing</a:t>
                      </a:r>
                    </a:p>
                  </a:txBody>
                  <a:tcPr anchor="ctr" marL="73152" marR="54864" marT="27432" marB="27432">
                    <a:solidFill>
                      <a:srgbClr val="FFFFFF"/>
                    </a:solidFill>
                  </a:tcPr>
                </a:tc>
                <a:tc>
                  <a:txBody>
                    <a:bodyPr wrap="square"/>
                    <a:lstStyle/>
                    <a:p>
                      <a:r>
                        <a:rPr sz="1100">
                          <a:solidFill>
                            <a:srgbClr val="1A1A1A"/>
                          </a:solidFill>
                        </a:rPr>
                        <a:t>Anyone can log in as anyone</a:t>
                      </a:r>
                    </a:p>
                  </a:txBody>
                  <a:tcPr anchor="ctr" marL="73152" marR="54864" marT="27432" marB="27432">
                    <a:solidFill>
                      <a:srgbClr val="FFFFFF"/>
                    </a:solidFill>
                  </a:tcPr>
                </a:tc>
                <a:tc>
                  <a:txBody>
                    <a:bodyPr wrap="square"/>
                    <a:lstStyle/>
                    <a:p>
                      <a:r>
                        <a:rPr sz="1100">
                          <a:solidFill>
                            <a:srgbClr val="1A1A1A"/>
                          </a:solidFill>
                        </a:rPr>
                        <a:t>A logged-in user can do anything</a:t>
                      </a:r>
                    </a:p>
                  </a:txBody>
                  <a:tcPr anchor="ctr" marL="73152" marR="54864" marT="27432" marB="27432">
                    <a:solidFill>
                      <a:srgbClr val="FFFFFF"/>
                    </a:solidFill>
                  </a:tcPr>
                </a:tc>
              </a:tr>
              <a:tr h="630936">
                <a:tc>
                  <a:txBody>
                    <a:bodyPr wrap="square"/>
                    <a:lstStyle/>
                    <a:p>
                      <a:r>
                        <a:rPr sz="1100" b="1">
                          <a:solidFill>
                            <a:srgbClr val="0C2B4A"/>
                          </a:solidFill>
                        </a:rPr>
                        <a:t>Analogy</a:t>
                      </a:r>
                    </a:p>
                  </a:txBody>
                  <a:tcPr anchor="ctr" marL="73152" marR="54864" marT="27432" marB="27432">
                    <a:solidFill>
                      <a:srgbClr val="EEF3F8"/>
                    </a:solidFill>
                  </a:tcPr>
                </a:tc>
                <a:tc>
                  <a:txBody>
                    <a:bodyPr wrap="square"/>
                    <a:lstStyle/>
                    <a:p>
                      <a:r>
                        <a:rPr sz="1100">
                          <a:solidFill>
                            <a:srgbClr val="1A1A1A"/>
                          </a:solidFill>
                        </a:rPr>
                        <a:t>Showing ID at the gate</a:t>
                      </a:r>
                    </a:p>
                  </a:txBody>
                  <a:tcPr anchor="ctr" marL="73152" marR="54864" marT="27432" marB="27432">
                    <a:solidFill>
                      <a:srgbClr val="EEF3F8"/>
                    </a:solidFill>
                  </a:tcPr>
                </a:tc>
                <a:tc>
                  <a:txBody>
                    <a:bodyPr wrap="square"/>
                    <a:lstStyle/>
                    <a:p>
                      <a:r>
                        <a:rPr sz="1100">
                          <a:solidFill>
                            <a:srgbClr val="1A1A1A"/>
                          </a:solidFill>
                        </a:rPr>
                        <a:t>Which rooms your keycard opens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They are two SEPARATE gates, not synonyms. A system can authenticate you correctly and still (wrongly) authorize you to do things you shouldn't — the classic 'logged-in user can delete anything' bug.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82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Authentication vs Authorization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Khalti logs you in with an OTP — that is authentication (proving who you are). Once inside, a support agent can VIEW a transaction but cannot issue a refund, while a manager can — that is authorization (what each role may do). Both gates run on every request: identity first, then privilege.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"Once you're logged in, you can do anything." Logging in is only authentication; a separate authorization layer must still restrict each user to their allowed actions (least privilege). Skipping it is how a normal user ends up able to read or delete other people's data.</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Authentication verifies WHO a user is (login, password, OTP, biometrics); authorization decides WHAT that authenticated user may do (GRANT/REVOKE, roles, privileges). Authentication always comes first, then authorization applies least privilege. Both are required: identity without privilege control, or vice-versa, leaves the database exposed.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authentication (who) · authorization (what) · GRANT / REVOKE · roles · least privilege · two separate gates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82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5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SQL Injection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SQL injection is an attack where a user types malicious SQL into an input field and the application runs it as part of a real query — letting the attacker read, bypass, or alter the database. Its root cause is building queries by CONCATENATING user input.</a:t>
            </a:r>
          </a:p>
          <a:p>
            <a:pPr>
              <a:spcAft>
                <a:spcPts val="500"/>
              </a:spcAft>
            </a:pPr>
            <a:r>
              <a:rPr sz="1200" b="1">
                <a:solidFill>
                  <a:srgbClr val="185FA5"/>
                </a:solidFill>
              </a:rPr>
              <a:t>HOW IT WORKS</a:t>
            </a:r>
          </a:p>
          <a:p>
            <a:pPr>
              <a:spcAft>
                <a:spcPts val="600"/>
              </a:spcAft>
            </a:pPr>
            <a:r>
              <a:rPr sz="1400">
                <a:solidFill>
                  <a:srgbClr val="1A1A1A"/>
                </a:solidFill>
              </a:rPr>
              <a:t>•  Cause: user text is glued straight into the SQL string, so input becomes code.</a:t>
            </a:r>
          </a:p>
          <a:p>
            <a:pPr>
              <a:spcAft>
                <a:spcPts val="600"/>
              </a:spcAft>
            </a:pPr>
            <a:r>
              <a:rPr sz="1400">
                <a:solidFill>
                  <a:srgbClr val="1A1A1A"/>
                </a:solidFill>
              </a:rPr>
              <a:t>•  Effect: attacker can log in as admin, dump data, or delete tables.</a:t>
            </a:r>
          </a:p>
          <a:p>
            <a:pPr>
              <a:spcAft>
                <a:spcPts val="600"/>
              </a:spcAft>
            </a:pPr>
            <a:r>
              <a:rPr sz="1400">
                <a:solidFill>
                  <a:srgbClr val="1A1A1A"/>
                </a:solidFill>
              </a:rPr>
              <a:t>•  Fix: parameterized queries / prepared statements — input is data, never code.</a:t>
            </a:r>
          </a:p>
          <a:p>
            <a:pPr>
              <a:spcAft>
                <a:spcPts val="600"/>
              </a:spcAft>
            </a:pPr>
            <a:r>
              <a:rPr sz="1400">
                <a:solidFill>
                  <a:srgbClr val="1A1A1A"/>
                </a:solidFill>
              </a:rPr>
              <a:t>•  Defence in depth: also validate input and grant least privilege (Concept 4).</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If user input can become SQL code, you've built a door with no lock.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17 / 82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S45 · CONCEPT 5 · WORKED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 OR '1'='1 logs an attacker in — and the fix</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A login form builds its query by pasting the typed username and password straight into the SQL string. An attacker types  ' OR '1'='1  as the password. What happens, and how do we stop it?</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The app builds:  SELECT * FROM users WHERE user='admin' AND pass='' OR '1'='1'</a:t>
            </a:r>
          </a:p>
          <a:p>
            <a:pPr>
              <a:spcAft>
                <a:spcPts val="400"/>
              </a:spcAft>
            </a:pPr>
            <a:r>
              <a:rPr sz="1250" b="1">
                <a:solidFill>
                  <a:srgbClr val="854F0B"/>
                </a:solidFill>
              </a:rPr>
              <a:t>Step 2.  </a:t>
            </a:r>
            <a:r>
              <a:rPr sz="1250">
                <a:solidFill>
                  <a:srgbClr val="1A1A1A"/>
                </a:solidFill>
              </a:rPr>
              <a:t>Because '1'='1' is ALWAYS true, the WHERE clause is true for every row — the check is bypassed.</a:t>
            </a:r>
          </a:p>
          <a:p>
            <a:pPr>
              <a:spcAft>
                <a:spcPts val="400"/>
              </a:spcAft>
            </a:pPr>
            <a:r>
              <a:rPr sz="1250" b="1">
                <a:solidFill>
                  <a:srgbClr val="854F0B"/>
                </a:solidFill>
              </a:rPr>
              <a:t>Step 3.  </a:t>
            </a:r>
            <a:r>
              <a:rPr sz="1250">
                <a:solidFill>
                  <a:srgbClr val="1A1A1A"/>
                </a:solidFill>
              </a:rPr>
              <a:t>The attacker is logged in (often as the first/admin user) without knowing any password.</a:t>
            </a:r>
          </a:p>
          <a:p>
            <a:pPr>
              <a:spcAft>
                <a:spcPts val="400"/>
              </a:spcAft>
            </a:pPr>
            <a:r>
              <a:rPr sz="1250" b="1">
                <a:solidFill>
                  <a:srgbClr val="854F0B"/>
                </a:solidFill>
              </a:rPr>
              <a:t>Step 4.  </a:t>
            </a:r>
            <a:r>
              <a:rPr sz="1250">
                <a:solidFill>
                  <a:srgbClr val="1A1A1A"/>
                </a:solidFill>
              </a:rPr>
              <a:t>Root cause: user input was CONCATENATED into the query, so it became executable code.</a:t>
            </a:r>
          </a:p>
          <a:p>
            <a:pPr>
              <a:spcAft>
                <a:spcPts val="400"/>
              </a:spcAft>
            </a:pPr>
            <a:r>
              <a:rPr sz="1250" b="1">
                <a:solidFill>
                  <a:srgbClr val="854F0B"/>
                </a:solidFill>
              </a:rPr>
              <a:t>Step 5.  </a:t>
            </a:r>
            <a:r>
              <a:rPr sz="1250">
                <a:solidFill>
                  <a:srgbClr val="1A1A1A"/>
                </a:solidFill>
              </a:rPr>
              <a:t>Fix — use a parameterized / prepared statement:  WHERE user=? AND pass=?  with values bound separately.</a:t>
            </a:r>
          </a:p>
          <a:p>
            <a:pPr>
              <a:spcAft>
                <a:spcPts val="400"/>
              </a:spcAft>
            </a:pPr>
            <a:r>
              <a:rPr sz="1250" b="1">
                <a:solidFill>
                  <a:srgbClr val="854F0B"/>
                </a:solidFill>
              </a:rPr>
              <a:t>Step 6.  </a:t>
            </a:r>
            <a:r>
              <a:rPr sz="1250">
                <a:solidFill>
                  <a:srgbClr val="1A1A1A"/>
                </a:solidFill>
              </a:rPr>
              <a:t>Now the input ' OR '1'='1 is treated as a literal password string, not SQL — the login simply fails.</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Never concatenate user input into SQL. Use parameterized queries / prepared statements so input is always DATA, never code — plus input validation and least privilege as backup layers.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82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5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Vulnerable vs safe — the same query two ways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68831"/>
                <a:gridCol w="3414155"/>
                <a:gridCol w="1484415"/>
                <a:gridCol w="3562597"/>
              </a:tblGrid>
              <a:tr h="630936">
                <a:tc>
                  <a:txBody>
                    <a:bodyPr wrap="square"/>
                    <a:lstStyle/>
                    <a:p>
                      <a:r>
                        <a:rPr sz="1100" b="1">
                          <a:solidFill>
                            <a:srgbClr val="FFFFFF"/>
                          </a:solidFill>
                        </a:rPr>
                        <a:t>Pattern</a:t>
                      </a:r>
                    </a:p>
                  </a:txBody>
                  <a:tcPr anchor="ctr" marL="73152" marR="54864" marT="27432" marB="27432">
                    <a:solidFill>
                      <a:srgbClr val="0C2B4A"/>
                    </a:solidFill>
                  </a:tcPr>
                </a:tc>
                <a:tc>
                  <a:txBody>
                    <a:bodyPr wrap="square"/>
                    <a:lstStyle/>
                    <a:p>
                      <a:r>
                        <a:rPr sz="1100" b="1">
                          <a:solidFill>
                            <a:srgbClr val="FFFFFF"/>
                          </a:solidFill>
                        </a:rPr>
                        <a:t>What the code does</a:t>
                      </a:r>
                    </a:p>
                  </a:txBody>
                  <a:tcPr anchor="ctr" marL="73152" marR="54864" marT="27432" marB="27432">
                    <a:solidFill>
                      <a:srgbClr val="0C2B4A"/>
                    </a:solidFill>
                  </a:tcPr>
                </a:tc>
                <a:tc>
                  <a:txBody>
                    <a:bodyPr wrap="square"/>
                    <a:lstStyle/>
                    <a:p>
                      <a:r>
                        <a:rPr sz="1100" b="1">
                          <a:solidFill>
                            <a:srgbClr val="FFFFFF"/>
                          </a:solidFill>
                        </a:rPr>
                        <a:t>Safe?</a:t>
                      </a:r>
                    </a:p>
                  </a:txBody>
                  <a:tcPr anchor="ctr" marL="73152" marR="54864" marT="27432" marB="27432">
                    <a:solidFill>
                      <a:srgbClr val="0C2B4A"/>
                    </a:solidFill>
                  </a:tcPr>
                </a:tc>
                <a:tc>
                  <a:txBody>
                    <a:bodyPr wrap="square"/>
                    <a:lstStyle/>
                    <a:p>
                      <a:r>
                        <a:rPr sz="1100" b="1">
                          <a:solidFill>
                            <a:srgbClr val="FFFFFF"/>
                          </a:solidFill>
                        </a:rPr>
                        <a:t>Why</a:t>
                      </a:r>
                    </a:p>
                  </a:txBody>
                  <a:tcPr anchor="ctr" marL="73152" marR="54864" marT="27432" marB="27432">
                    <a:solidFill>
                      <a:srgbClr val="0C2B4A"/>
                    </a:solidFill>
                  </a:tcPr>
                </a:tc>
              </a:tr>
              <a:tr h="630936">
                <a:tc>
                  <a:txBody>
                    <a:bodyPr wrap="square"/>
                    <a:lstStyle/>
                    <a:p>
                      <a:r>
                        <a:rPr sz="1050" b="1">
                          <a:solidFill>
                            <a:srgbClr val="0C2B4A"/>
                          </a:solidFill>
                        </a:rPr>
                        <a:t>String concatenation</a:t>
                      </a:r>
                    </a:p>
                  </a:txBody>
                  <a:tcPr anchor="ctr" marL="73152" marR="54864" marT="27432" marB="27432">
                    <a:solidFill>
                      <a:srgbClr val="FFFFFF"/>
                    </a:solidFill>
                  </a:tcPr>
                </a:tc>
                <a:tc>
                  <a:txBody>
                    <a:bodyPr wrap="square"/>
                    <a:lstStyle/>
                    <a:p>
                      <a:r>
                        <a:rPr sz="1050">
                          <a:solidFill>
                            <a:srgbClr val="1A1A1A"/>
                          </a:solidFill>
                        </a:rPr>
                        <a:t>"...user='"+u+"'"</a:t>
                      </a:r>
                    </a:p>
                  </a:txBody>
                  <a:tcPr anchor="ctr" marL="73152" marR="54864" marT="27432" marB="27432">
                    <a:solidFill>
                      <a:srgbClr val="FFFFFF"/>
                    </a:solidFill>
                  </a:tcPr>
                </a:tc>
                <a:tc>
                  <a:txBody>
                    <a:bodyPr wrap="square"/>
                    <a:lstStyle/>
                    <a:p>
                      <a:r>
                        <a:rPr sz="1050">
                          <a:solidFill>
                            <a:srgbClr val="1A1A1A"/>
                          </a:solidFill>
                        </a:rPr>
                        <a:t>❌ No</a:t>
                      </a:r>
                    </a:p>
                  </a:txBody>
                  <a:tcPr anchor="ctr" marL="73152" marR="54864" marT="27432" marB="27432">
                    <a:solidFill>
                      <a:srgbClr val="FFFFFF"/>
                    </a:solidFill>
                  </a:tcPr>
                </a:tc>
                <a:tc>
                  <a:txBody>
                    <a:bodyPr wrap="square"/>
                    <a:lstStyle/>
                    <a:p>
                      <a:r>
                        <a:rPr sz="1050">
                          <a:solidFill>
                            <a:srgbClr val="1A1A1A"/>
                          </a:solidFill>
                        </a:rPr>
                        <a:t>User input becomes executable SQL</a:t>
                      </a:r>
                    </a:p>
                  </a:txBody>
                  <a:tcPr anchor="ctr" marL="73152" marR="54864" marT="27432" marB="27432">
                    <a:solidFill>
                      <a:srgbClr val="FFFFFF"/>
                    </a:solidFill>
                  </a:tcPr>
                </a:tc>
              </a:tr>
              <a:tr h="630936">
                <a:tc>
                  <a:txBody>
                    <a:bodyPr wrap="square"/>
                    <a:lstStyle/>
                    <a:p>
                      <a:r>
                        <a:rPr sz="1050" b="1">
                          <a:solidFill>
                            <a:srgbClr val="0C2B4A"/>
                          </a:solidFill>
                        </a:rPr>
                        <a:t>Parameterized query</a:t>
                      </a:r>
                    </a:p>
                  </a:txBody>
                  <a:tcPr anchor="ctr" marL="73152" marR="54864" marT="27432" marB="27432">
                    <a:solidFill>
                      <a:srgbClr val="EEF3F8"/>
                    </a:solidFill>
                  </a:tcPr>
                </a:tc>
                <a:tc>
                  <a:txBody>
                    <a:bodyPr wrap="square"/>
                    <a:lstStyle/>
                    <a:p>
                      <a:r>
                        <a:rPr sz="1050">
                          <a:solidFill>
                            <a:srgbClr val="1A1A1A"/>
                          </a:solidFill>
                        </a:rPr>
                        <a:t>WHERE user=? bind(u)</a:t>
                      </a:r>
                    </a:p>
                  </a:txBody>
                  <a:tcPr anchor="ctr" marL="73152" marR="54864" marT="27432" marB="27432">
                    <a:solidFill>
                      <a:srgbClr val="EEF3F8"/>
                    </a:solidFill>
                  </a:tcPr>
                </a:tc>
                <a:tc>
                  <a:txBody>
                    <a:bodyPr wrap="square"/>
                    <a:lstStyle/>
                    <a:p>
                      <a:r>
                        <a:rPr sz="1050">
                          <a:solidFill>
                            <a:srgbClr val="1A1A1A"/>
                          </a:solidFill>
                        </a:rPr>
                        <a:t>✅ Yes</a:t>
                      </a:r>
                    </a:p>
                  </a:txBody>
                  <a:tcPr anchor="ctr" marL="73152" marR="54864" marT="27432" marB="27432">
                    <a:solidFill>
                      <a:srgbClr val="EEF3F8"/>
                    </a:solidFill>
                  </a:tcPr>
                </a:tc>
                <a:tc>
                  <a:txBody>
                    <a:bodyPr wrap="square"/>
                    <a:lstStyle/>
                    <a:p>
                      <a:r>
                        <a:rPr sz="1050">
                          <a:solidFill>
                            <a:srgbClr val="1A1A1A"/>
                          </a:solidFill>
                        </a:rPr>
                        <a:t>Input is treated as data, never code</a:t>
                      </a:r>
                    </a:p>
                  </a:txBody>
                  <a:tcPr anchor="ctr" marL="73152" marR="54864" marT="27432" marB="27432">
                    <a:solidFill>
                      <a:srgbClr val="EEF3F8"/>
                    </a:solidFill>
                  </a:tcPr>
                </a:tc>
              </a:tr>
              <a:tr h="630936">
                <a:tc>
                  <a:txBody>
                    <a:bodyPr wrap="square"/>
                    <a:lstStyle/>
                    <a:p>
                      <a:r>
                        <a:rPr sz="1050" b="1">
                          <a:solidFill>
                            <a:srgbClr val="0C2B4A"/>
                          </a:solidFill>
                        </a:rPr>
                        <a:t>Hiding error messages</a:t>
                      </a:r>
                    </a:p>
                  </a:txBody>
                  <a:tcPr anchor="ctr" marL="73152" marR="54864" marT="27432" marB="27432">
                    <a:solidFill>
                      <a:srgbClr val="FFFFFF"/>
                    </a:solidFill>
                  </a:tcPr>
                </a:tc>
                <a:tc>
                  <a:txBody>
                    <a:bodyPr wrap="square"/>
                    <a:lstStyle/>
                    <a:p>
                      <a:r>
                        <a:rPr sz="1050">
                          <a:solidFill>
                            <a:srgbClr val="1A1A1A"/>
                          </a:solidFill>
                        </a:rPr>
                        <a:t>Suppress DB errors only</a:t>
                      </a:r>
                    </a:p>
                  </a:txBody>
                  <a:tcPr anchor="ctr" marL="73152" marR="54864" marT="27432" marB="27432">
                    <a:solidFill>
                      <a:srgbClr val="FFFFFF"/>
                    </a:solidFill>
                  </a:tcPr>
                </a:tc>
                <a:tc>
                  <a:txBody>
                    <a:bodyPr wrap="square"/>
                    <a:lstStyle/>
                    <a:p>
                      <a:r>
                        <a:rPr sz="1050">
                          <a:solidFill>
                            <a:srgbClr val="1A1A1A"/>
                          </a:solidFill>
                        </a:rPr>
                        <a:t>❌ No</a:t>
                      </a:r>
                    </a:p>
                  </a:txBody>
                  <a:tcPr anchor="ctr" marL="73152" marR="54864" marT="27432" marB="27432">
                    <a:solidFill>
                      <a:srgbClr val="FFFFFF"/>
                    </a:solidFill>
                  </a:tcPr>
                </a:tc>
                <a:tc>
                  <a:txBody>
                    <a:bodyPr wrap="square"/>
                    <a:lstStyle/>
                    <a:p>
                      <a:r>
                        <a:rPr sz="1050">
                          <a:solidFill>
                            <a:srgbClr val="1A1A1A"/>
                          </a:solidFill>
                        </a:rPr>
                        <a:t>Obscurity isn't a control; still injectable</a:t>
                      </a:r>
                    </a:p>
                  </a:txBody>
                  <a:tcPr anchor="ctr" marL="73152" marR="54864" marT="27432" marB="27432">
                    <a:solidFill>
                      <a:srgbClr val="FFFFFF"/>
                    </a:solidFill>
                  </a:tcPr>
                </a:tc>
              </a:tr>
              <a:tr h="630936">
                <a:tc>
                  <a:txBody>
                    <a:bodyPr wrap="square"/>
                    <a:lstStyle/>
                    <a:p>
                      <a:r>
                        <a:rPr sz="1050" b="1">
                          <a:solidFill>
                            <a:srgbClr val="0C2B4A"/>
                          </a:solidFill>
                        </a:rPr>
                        <a:t>Input validation</a:t>
                      </a:r>
                    </a:p>
                  </a:txBody>
                  <a:tcPr anchor="ctr" marL="73152" marR="54864" marT="27432" marB="27432">
                    <a:solidFill>
                      <a:srgbClr val="EEF3F8"/>
                    </a:solidFill>
                  </a:tcPr>
                </a:tc>
                <a:tc>
                  <a:txBody>
                    <a:bodyPr wrap="square"/>
                    <a:lstStyle/>
                    <a:p>
                      <a:r>
                        <a:rPr sz="1050">
                          <a:solidFill>
                            <a:srgbClr val="1A1A1A"/>
                          </a:solidFill>
                        </a:rPr>
                        <a:t>Reject odd characters</a:t>
                      </a:r>
                    </a:p>
                  </a:txBody>
                  <a:tcPr anchor="ctr" marL="73152" marR="54864" marT="27432" marB="27432">
                    <a:solidFill>
                      <a:srgbClr val="EEF3F8"/>
                    </a:solidFill>
                  </a:tcPr>
                </a:tc>
                <a:tc>
                  <a:txBody>
                    <a:bodyPr wrap="square"/>
                    <a:lstStyle/>
                    <a:p>
                      <a:r>
                        <a:rPr sz="1050">
                          <a:solidFill>
                            <a:srgbClr val="1A1A1A"/>
                          </a:solidFill>
                        </a:rPr>
                        <a:t>⚠️ Helps</a:t>
                      </a:r>
                    </a:p>
                  </a:txBody>
                  <a:tcPr anchor="ctr" marL="73152" marR="54864" marT="27432" marB="27432">
                    <a:solidFill>
                      <a:srgbClr val="EEF3F8"/>
                    </a:solidFill>
                  </a:tcPr>
                </a:tc>
                <a:tc>
                  <a:txBody>
                    <a:bodyPr wrap="square"/>
                    <a:lstStyle/>
                    <a:p>
                      <a:r>
                        <a:rPr sz="1050">
                          <a:solidFill>
                            <a:srgbClr val="1A1A1A"/>
                          </a:solidFill>
                        </a:rPr>
                        <a:t>A useful extra layer, not a full fix alone</a:t>
                      </a:r>
                    </a:p>
                  </a:txBody>
                  <a:tcPr anchor="ctr" marL="73152" marR="54864" marT="27432" marB="27432">
                    <a:solidFill>
                      <a:srgbClr val="EEF3F8"/>
                    </a:solidFill>
                  </a:tcPr>
                </a:tc>
              </a:tr>
              <a:tr h="630936">
                <a:tc>
                  <a:txBody>
                    <a:bodyPr wrap="square"/>
                    <a:lstStyle/>
                    <a:p>
                      <a:r>
                        <a:rPr sz="1050" b="1">
                          <a:solidFill>
                            <a:srgbClr val="0C2B4A"/>
                          </a:solidFill>
                        </a:rPr>
                        <a:t>Least privilege DB user</a:t>
                      </a:r>
                    </a:p>
                  </a:txBody>
                  <a:tcPr anchor="ctr" marL="73152" marR="54864" marT="27432" marB="27432">
                    <a:solidFill>
                      <a:srgbClr val="FFFFFF"/>
                    </a:solidFill>
                  </a:tcPr>
                </a:tc>
                <a:tc>
                  <a:txBody>
                    <a:bodyPr wrap="square"/>
                    <a:lstStyle/>
                    <a:p>
                      <a:r>
                        <a:rPr sz="1050">
                          <a:solidFill>
                            <a:srgbClr val="1A1A1A"/>
                          </a:solidFill>
                        </a:rPr>
                        <a:t>App can't DROP tables</a:t>
                      </a:r>
                    </a:p>
                  </a:txBody>
                  <a:tcPr anchor="ctr" marL="73152" marR="54864" marT="27432" marB="27432">
                    <a:solidFill>
                      <a:srgbClr val="FFFFFF"/>
                    </a:solidFill>
                  </a:tcPr>
                </a:tc>
                <a:tc>
                  <a:txBody>
                    <a:bodyPr wrap="square"/>
                    <a:lstStyle/>
                    <a:p>
                      <a:r>
                        <a:rPr sz="1050">
                          <a:solidFill>
                            <a:srgbClr val="1A1A1A"/>
                          </a:solidFill>
                        </a:rPr>
                        <a:t>⚠️ Helps</a:t>
                      </a:r>
                    </a:p>
                  </a:txBody>
                  <a:tcPr anchor="ctr" marL="73152" marR="54864" marT="27432" marB="27432">
                    <a:solidFill>
                      <a:srgbClr val="FFFFFF"/>
                    </a:solidFill>
                  </a:tcPr>
                </a:tc>
                <a:tc>
                  <a:txBody>
                    <a:bodyPr wrap="square"/>
                    <a:lstStyle/>
                    <a:p>
                      <a:r>
                        <a:rPr sz="1050">
                          <a:solidFill>
                            <a:srgbClr val="1A1A1A"/>
                          </a:solidFill>
                        </a:rPr>
                        <a:t>Limits the blast radius if injected</a:t>
                      </a:r>
                    </a:p>
                  </a:txBody>
                  <a:tcPr anchor="ctr" marL="73152" marR="54864" marT="27432" marB="27432">
                    <a:solidFill>
                      <a:srgbClr val="FFFFFF"/>
                    </a:solidFill>
                  </a:tcPr>
                </a:tc>
              </a:tr>
              <a:tr h="630936">
                <a:tc>
                  <a:txBody>
                    <a:bodyPr wrap="square"/>
                    <a:lstStyle/>
                    <a:p>
                      <a:r>
                        <a:rPr sz="1050" b="1">
                          <a:solidFill>
                            <a:srgbClr val="0C2B4A"/>
                          </a:solidFill>
                        </a:rPr>
                        <a:t>Stored procedure (parametrized)</a:t>
                      </a:r>
                    </a:p>
                  </a:txBody>
                  <a:tcPr anchor="ctr" marL="73152" marR="54864" marT="27432" marB="27432">
                    <a:solidFill>
                      <a:srgbClr val="EEF3F8"/>
                    </a:solidFill>
                  </a:tcPr>
                </a:tc>
                <a:tc>
                  <a:txBody>
                    <a:bodyPr wrap="square"/>
                    <a:lstStyle/>
                    <a:p>
                      <a:r>
                        <a:rPr sz="1050">
                          <a:solidFill>
                            <a:srgbClr val="1A1A1A"/>
                          </a:solidFill>
                        </a:rPr>
                        <a:t>Call proc with bound args</a:t>
                      </a:r>
                    </a:p>
                  </a:txBody>
                  <a:tcPr anchor="ctr" marL="73152" marR="54864" marT="27432" marB="27432">
                    <a:solidFill>
                      <a:srgbClr val="EEF3F8"/>
                    </a:solidFill>
                  </a:tcPr>
                </a:tc>
                <a:tc>
                  <a:txBody>
                    <a:bodyPr wrap="square"/>
                    <a:lstStyle/>
                    <a:p>
                      <a:r>
                        <a:rPr sz="1050">
                          <a:solidFill>
                            <a:srgbClr val="1A1A1A"/>
                          </a:solidFill>
                        </a:rPr>
                        <a:t>✅ Yes</a:t>
                      </a:r>
                    </a:p>
                  </a:txBody>
                  <a:tcPr anchor="ctr" marL="73152" marR="54864" marT="27432" marB="27432">
                    <a:solidFill>
                      <a:srgbClr val="EEF3F8"/>
                    </a:solidFill>
                  </a:tcPr>
                </a:tc>
                <a:tc>
                  <a:txBody>
                    <a:bodyPr wrap="square"/>
                    <a:lstStyle/>
                    <a:p>
                      <a:r>
                        <a:rPr sz="1050">
                          <a:solidFill>
                            <a:srgbClr val="1A1A1A"/>
                          </a:solidFill>
                        </a:rPr>
                        <a:t>Same principle — data kept out of code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one real fix is keeping user input OUT of the SQL code (parameterized queries / prepared statements). Validation and least privilege reduce risk but never replace it; hiding errors does nothing.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82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5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SQL Injection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web app's login form pastes the typed password into its SQL. An attacker enters  ' OR '1'='1  and is logged in as admin — no password needed — because the injected condition is always true. The same flaw lets attackers dump a KYC table through a search box built the same careless way.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"Hiding the SQL and the error messages makes it secure." Obscurity is not a control — the attacker doesn't need to see your errors to inject. The only real fix is parameterized queries / prepared statements (input treated as data), backed by input validation and least privilege.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SQL injection is an attack that inserts malicious SQL through an input field, exploiting queries built by concatenating user input, to bypass logins or read/alter data (e.g. ' OR '1'='1 making a WHERE clause always true). The fix is parameterized queries / prepared statements so input is data not code, reinforced by input validation and least privilege — not hiding error messages.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SQL injection · concatenation is the cause · ' OR '1'='1 · parameterized / prepared statements · input validation · obscurity ≠ security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82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6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Encryption &amp; the Security Threat Landscape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Encryption encodes data so only parties with the key can read it. Two flavours: AT REST (stored data on disk/backups) and IN TRANSIT (data moving over the network, via TLS/HTTPS). Even a stolen database dump is useless without the keys.</a:t>
            </a:r>
          </a:p>
          <a:p>
            <a:pPr>
              <a:spcAft>
                <a:spcPts val="500"/>
              </a:spcAft>
            </a:pPr>
            <a:r>
              <a:rPr sz="1200" b="1">
                <a:solidFill>
                  <a:srgbClr val="185FA5"/>
                </a:solidFill>
              </a:rPr>
              <a:t>HOW IT WORKS</a:t>
            </a:r>
          </a:p>
          <a:p>
            <a:pPr>
              <a:spcAft>
                <a:spcPts val="600"/>
              </a:spcAft>
            </a:pPr>
            <a:r>
              <a:rPr sz="1400">
                <a:solidFill>
                  <a:srgbClr val="1A1A1A"/>
                </a:solidFill>
              </a:rPr>
              <a:t>•  At rest: encrypt stored account data and backups, so a stolen dump is unreadable.</a:t>
            </a:r>
          </a:p>
          <a:p>
            <a:pPr>
              <a:spcAft>
                <a:spcPts val="600"/>
              </a:spcAft>
            </a:pPr>
            <a:r>
              <a:rPr sz="1400">
                <a:solidFill>
                  <a:srgbClr val="1A1A1A"/>
                </a:solidFill>
              </a:rPr>
              <a:t>•  In transit: TLS/HTTPS protects data travelling between the app and the server.</a:t>
            </a:r>
          </a:p>
          <a:p>
            <a:pPr>
              <a:spcAft>
                <a:spcPts val="600"/>
              </a:spcAft>
            </a:pPr>
            <a:r>
              <a:rPr sz="1400">
                <a:solidFill>
                  <a:srgbClr val="1A1A1A"/>
                </a:solidFill>
              </a:rPr>
              <a:t>•  Encryption is one control among several — pair it with authentication, authorization, and safe queries.</a:t>
            </a:r>
          </a:p>
          <a:p>
            <a:pPr>
              <a:spcAft>
                <a:spcPts val="600"/>
              </a:spcAft>
            </a:pPr>
            <a:r>
              <a:rPr sz="1400">
                <a:solidFill>
                  <a:srgbClr val="1A1A1A"/>
                </a:solidFill>
              </a:rPr>
              <a:t>•  Keys are the crown jewels: lose control of the key and encryption gives you nothing.</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Encryption = a locked safe; even if the thief takes the safe, they can't open it without the key.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82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6 · §7A DEPTH</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Database security threats → the control that stops it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467840"/>
                <a:gridCol w="2857500"/>
                <a:gridCol w="2987386"/>
                <a:gridCol w="3117272"/>
              </a:tblGrid>
              <a:tr h="552069">
                <a:tc>
                  <a:txBody>
                    <a:bodyPr wrap="square"/>
                    <a:lstStyle/>
                    <a:p>
                      <a:r>
                        <a:rPr sz="1100" b="1">
                          <a:solidFill>
                            <a:srgbClr val="FFFFFF"/>
                          </a:solidFill>
                        </a:rPr>
                        <a:t>Threat</a:t>
                      </a:r>
                    </a:p>
                  </a:txBody>
                  <a:tcPr anchor="ctr" marL="73152" marR="54864" marT="27432" marB="27432">
                    <a:solidFill>
                      <a:srgbClr val="0C2B4A"/>
                    </a:solidFill>
                  </a:tcPr>
                </a:tc>
                <a:tc>
                  <a:txBody>
                    <a:bodyPr wrap="square"/>
                    <a:lstStyle/>
                    <a:p>
                      <a:r>
                        <a:rPr sz="1100" b="1">
                          <a:solidFill>
                            <a:srgbClr val="FFFFFF"/>
                          </a:solidFill>
                        </a:rPr>
                        <a:t>What the attacker does</a:t>
                      </a:r>
                    </a:p>
                  </a:txBody>
                  <a:tcPr anchor="ctr" marL="73152" marR="54864" marT="27432" marB="27432">
                    <a:solidFill>
                      <a:srgbClr val="0C2B4A"/>
                    </a:solidFill>
                  </a:tcPr>
                </a:tc>
                <a:tc>
                  <a:txBody>
                    <a:bodyPr wrap="square"/>
                    <a:lstStyle/>
                    <a:p>
                      <a:r>
                        <a:rPr sz="1100" b="1">
                          <a:solidFill>
                            <a:srgbClr val="FFFFFF"/>
                          </a:solidFill>
                        </a:rPr>
                        <a:t>Control that stops it</a:t>
                      </a:r>
                    </a:p>
                  </a:txBody>
                  <a:tcPr anchor="ctr" marL="73152" marR="54864" marT="27432" marB="27432">
                    <a:solidFill>
                      <a:srgbClr val="0C2B4A"/>
                    </a:solidFill>
                  </a:tcPr>
                </a:tc>
                <a:tc>
                  <a:txBody>
                    <a:bodyPr wrap="square"/>
                    <a:lstStyle/>
                    <a:p>
                      <a:r>
                        <a:rPr sz="1100" b="1">
                          <a:solidFill>
                            <a:srgbClr val="FFFFFF"/>
                          </a:solidFill>
                        </a:rPr>
                        <a:t>Nepal / IT example</a:t>
                      </a:r>
                    </a:p>
                  </a:txBody>
                  <a:tcPr anchor="ctr" marL="73152" marR="54864" marT="27432" marB="27432">
                    <a:solidFill>
                      <a:srgbClr val="0C2B4A"/>
                    </a:solidFill>
                  </a:tcPr>
                </a:tc>
              </a:tr>
              <a:tr h="552069">
                <a:tc>
                  <a:txBody>
                    <a:bodyPr wrap="square"/>
                    <a:lstStyle/>
                    <a:p>
                      <a:r>
                        <a:rPr sz="1050" b="1">
                          <a:solidFill>
                            <a:srgbClr val="0C2B4A"/>
                          </a:solidFill>
                        </a:rPr>
                        <a:t>Unknown user gets in</a:t>
                      </a:r>
                    </a:p>
                  </a:txBody>
                  <a:tcPr anchor="ctr" marL="73152" marR="54864" marT="27432" marB="27432">
                    <a:solidFill>
                      <a:srgbClr val="FFFFFF"/>
                    </a:solidFill>
                  </a:tcPr>
                </a:tc>
                <a:tc>
                  <a:txBody>
                    <a:bodyPr wrap="square"/>
                    <a:lstStyle/>
                    <a:p>
                      <a:r>
                        <a:rPr sz="1050">
                          <a:solidFill>
                            <a:srgbClr val="1A1A1A"/>
                          </a:solidFill>
                        </a:rPr>
                        <a:t>Logs in without valid identity</a:t>
                      </a:r>
                    </a:p>
                  </a:txBody>
                  <a:tcPr anchor="ctr" marL="73152" marR="54864" marT="27432" marB="27432">
                    <a:solidFill>
                      <a:srgbClr val="FFFFFF"/>
                    </a:solidFill>
                  </a:tcPr>
                </a:tc>
                <a:tc>
                  <a:txBody>
                    <a:bodyPr wrap="square"/>
                    <a:lstStyle/>
                    <a:p>
                      <a:r>
                        <a:rPr sz="1050">
                          <a:solidFill>
                            <a:srgbClr val="1A1A1A"/>
                          </a:solidFill>
                        </a:rPr>
                        <a:t>Authentication (password/OTP)</a:t>
                      </a:r>
                    </a:p>
                  </a:txBody>
                  <a:tcPr anchor="ctr" marL="73152" marR="54864" marT="27432" marB="27432">
                    <a:solidFill>
                      <a:srgbClr val="FFFFFF"/>
                    </a:solidFill>
                  </a:tcPr>
                </a:tc>
                <a:tc>
                  <a:txBody>
                    <a:bodyPr wrap="square"/>
                    <a:lstStyle/>
                    <a:p>
                      <a:r>
                        <a:rPr sz="1050">
                          <a:solidFill>
                            <a:srgbClr val="1A1A1A"/>
                          </a:solidFill>
                        </a:rPr>
                        <a:t>Khalti OTP at login</a:t>
                      </a:r>
                    </a:p>
                  </a:txBody>
                  <a:tcPr anchor="ctr" marL="73152" marR="54864" marT="27432" marB="27432">
                    <a:solidFill>
                      <a:srgbClr val="FFFFFF"/>
                    </a:solidFill>
                  </a:tcPr>
                </a:tc>
              </a:tr>
              <a:tr h="552069">
                <a:tc>
                  <a:txBody>
                    <a:bodyPr wrap="square"/>
                    <a:lstStyle/>
                    <a:p>
                      <a:r>
                        <a:rPr sz="1050" b="1">
                          <a:solidFill>
                            <a:srgbClr val="0C2B4A"/>
                          </a:solidFill>
                        </a:rPr>
                        <a:t>User does too much</a:t>
                      </a:r>
                    </a:p>
                  </a:txBody>
                  <a:tcPr anchor="ctr" marL="73152" marR="54864" marT="27432" marB="27432">
                    <a:solidFill>
                      <a:srgbClr val="EEF3F8"/>
                    </a:solidFill>
                  </a:tcPr>
                </a:tc>
                <a:tc>
                  <a:txBody>
                    <a:bodyPr wrap="square"/>
                    <a:lstStyle/>
                    <a:p>
                      <a:r>
                        <a:rPr sz="1050">
                          <a:solidFill>
                            <a:srgbClr val="1A1A1A"/>
                          </a:solidFill>
                        </a:rPr>
                        <a:t>Acts beyond their role</a:t>
                      </a:r>
                    </a:p>
                  </a:txBody>
                  <a:tcPr anchor="ctr" marL="73152" marR="54864" marT="27432" marB="27432">
                    <a:solidFill>
                      <a:srgbClr val="EEF3F8"/>
                    </a:solidFill>
                  </a:tcPr>
                </a:tc>
                <a:tc>
                  <a:txBody>
                    <a:bodyPr wrap="square"/>
                    <a:lstStyle/>
                    <a:p>
                      <a:r>
                        <a:rPr sz="1050">
                          <a:solidFill>
                            <a:srgbClr val="1A1A1A"/>
                          </a:solidFill>
                        </a:rPr>
                        <a:t>Authorization / least privilege</a:t>
                      </a:r>
                    </a:p>
                  </a:txBody>
                  <a:tcPr anchor="ctr" marL="73152" marR="54864" marT="27432" marB="27432">
                    <a:solidFill>
                      <a:srgbClr val="EEF3F8"/>
                    </a:solidFill>
                  </a:tcPr>
                </a:tc>
                <a:tc>
                  <a:txBody>
                    <a:bodyPr wrap="square"/>
                    <a:lstStyle/>
                    <a:p>
                      <a:r>
                        <a:rPr sz="1050">
                          <a:solidFill>
                            <a:srgbClr val="1A1A1A"/>
                          </a:solidFill>
                        </a:rPr>
                        <a:t>Agent can view, not refund</a:t>
                      </a:r>
                    </a:p>
                  </a:txBody>
                  <a:tcPr anchor="ctr" marL="73152" marR="54864" marT="27432" marB="27432">
                    <a:solidFill>
                      <a:srgbClr val="EEF3F8"/>
                    </a:solidFill>
                  </a:tcPr>
                </a:tc>
              </a:tr>
              <a:tr h="552069">
                <a:tc>
                  <a:txBody>
                    <a:bodyPr wrap="square"/>
                    <a:lstStyle/>
                    <a:p>
                      <a:r>
                        <a:rPr sz="1050" b="1">
                          <a:solidFill>
                            <a:srgbClr val="0C2B4A"/>
                          </a:solidFill>
                        </a:rPr>
                        <a:t>SQL injection</a:t>
                      </a:r>
                    </a:p>
                  </a:txBody>
                  <a:tcPr anchor="ctr" marL="73152" marR="54864" marT="27432" marB="27432">
                    <a:solidFill>
                      <a:srgbClr val="FFFFFF"/>
                    </a:solidFill>
                  </a:tcPr>
                </a:tc>
                <a:tc>
                  <a:txBody>
                    <a:bodyPr wrap="square"/>
                    <a:lstStyle/>
                    <a:p>
                      <a:r>
                        <a:rPr sz="1050">
                          <a:solidFill>
                            <a:srgbClr val="1A1A1A"/>
                          </a:solidFill>
                        </a:rPr>
                        <a:t>Injects SQL via an input box</a:t>
                      </a:r>
                    </a:p>
                  </a:txBody>
                  <a:tcPr anchor="ctr" marL="73152" marR="54864" marT="27432" marB="27432">
                    <a:solidFill>
                      <a:srgbClr val="FFFFFF"/>
                    </a:solidFill>
                  </a:tcPr>
                </a:tc>
                <a:tc>
                  <a:txBody>
                    <a:bodyPr wrap="square"/>
                    <a:lstStyle/>
                    <a:p>
                      <a:r>
                        <a:rPr sz="1050">
                          <a:solidFill>
                            <a:srgbClr val="1A1A1A"/>
                          </a:solidFill>
                        </a:rPr>
                        <a:t>Parameterized queries + validation</a:t>
                      </a:r>
                    </a:p>
                  </a:txBody>
                  <a:tcPr anchor="ctr" marL="73152" marR="54864" marT="27432" marB="27432">
                    <a:solidFill>
                      <a:srgbClr val="FFFFFF"/>
                    </a:solidFill>
                  </a:tcPr>
                </a:tc>
                <a:tc>
                  <a:txBody>
                    <a:bodyPr wrap="square"/>
                    <a:lstStyle/>
                    <a:p>
                      <a:r>
                        <a:rPr sz="1050">
                          <a:solidFill>
                            <a:srgbClr val="1A1A1A"/>
                          </a:solidFill>
                        </a:rPr>
                        <a:t>Fix the login form's query</a:t>
                      </a:r>
                    </a:p>
                  </a:txBody>
                  <a:tcPr anchor="ctr" marL="73152" marR="54864" marT="27432" marB="27432">
                    <a:solidFill>
                      <a:srgbClr val="FFFFFF"/>
                    </a:solidFill>
                  </a:tcPr>
                </a:tc>
              </a:tr>
              <a:tr h="552069">
                <a:tc>
                  <a:txBody>
                    <a:bodyPr wrap="square"/>
                    <a:lstStyle/>
                    <a:p>
                      <a:r>
                        <a:rPr sz="1050" b="1">
                          <a:solidFill>
                            <a:srgbClr val="0C2B4A"/>
                          </a:solidFill>
                        </a:rPr>
                        <a:t>Stolen database dump</a:t>
                      </a:r>
                    </a:p>
                  </a:txBody>
                  <a:tcPr anchor="ctr" marL="73152" marR="54864" marT="27432" marB="27432">
                    <a:solidFill>
                      <a:srgbClr val="EEF3F8"/>
                    </a:solidFill>
                  </a:tcPr>
                </a:tc>
                <a:tc>
                  <a:txBody>
                    <a:bodyPr wrap="square"/>
                    <a:lstStyle/>
                    <a:p>
                      <a:r>
                        <a:rPr sz="1050">
                          <a:solidFill>
                            <a:srgbClr val="1A1A1A"/>
                          </a:solidFill>
                        </a:rPr>
                        <a:t>Reads a copied data file</a:t>
                      </a:r>
                    </a:p>
                  </a:txBody>
                  <a:tcPr anchor="ctr" marL="73152" marR="54864" marT="27432" marB="27432">
                    <a:solidFill>
                      <a:srgbClr val="EEF3F8"/>
                    </a:solidFill>
                  </a:tcPr>
                </a:tc>
                <a:tc>
                  <a:txBody>
                    <a:bodyPr wrap="square"/>
                    <a:lstStyle/>
                    <a:p>
                      <a:r>
                        <a:rPr sz="1050">
                          <a:solidFill>
                            <a:srgbClr val="1A1A1A"/>
                          </a:solidFill>
                        </a:rPr>
                        <a:t>Encryption at rest</a:t>
                      </a:r>
                    </a:p>
                  </a:txBody>
                  <a:tcPr anchor="ctr" marL="73152" marR="54864" marT="27432" marB="27432">
                    <a:solidFill>
                      <a:srgbClr val="EEF3F8"/>
                    </a:solidFill>
                  </a:tcPr>
                </a:tc>
                <a:tc>
                  <a:txBody>
                    <a:bodyPr wrap="square"/>
                    <a:lstStyle/>
                    <a:p>
                      <a:r>
                        <a:rPr sz="1050">
                          <a:solidFill>
                            <a:srgbClr val="1A1A1A"/>
                          </a:solidFill>
                        </a:rPr>
                        <a:t>Bank encrypts stored accounts</a:t>
                      </a:r>
                    </a:p>
                  </a:txBody>
                  <a:tcPr anchor="ctr" marL="73152" marR="54864" marT="27432" marB="27432">
                    <a:solidFill>
                      <a:srgbClr val="EEF3F8"/>
                    </a:solidFill>
                  </a:tcPr>
                </a:tc>
              </a:tr>
              <a:tr h="552069">
                <a:tc>
                  <a:txBody>
                    <a:bodyPr wrap="square"/>
                    <a:lstStyle/>
                    <a:p>
                      <a:r>
                        <a:rPr sz="1050" b="1">
                          <a:solidFill>
                            <a:srgbClr val="0C2B4A"/>
                          </a:solidFill>
                        </a:rPr>
                        <a:t>Network eavesdropping</a:t>
                      </a:r>
                    </a:p>
                  </a:txBody>
                  <a:tcPr anchor="ctr" marL="73152" marR="54864" marT="27432" marB="27432">
                    <a:solidFill>
                      <a:srgbClr val="FFFFFF"/>
                    </a:solidFill>
                  </a:tcPr>
                </a:tc>
                <a:tc>
                  <a:txBody>
                    <a:bodyPr wrap="square"/>
                    <a:lstStyle/>
                    <a:p>
                      <a:r>
                        <a:rPr sz="1050">
                          <a:solidFill>
                            <a:srgbClr val="1A1A1A"/>
                          </a:solidFill>
                        </a:rPr>
                        <a:t>Sniffs data in transit</a:t>
                      </a:r>
                    </a:p>
                  </a:txBody>
                  <a:tcPr anchor="ctr" marL="73152" marR="54864" marT="27432" marB="27432">
                    <a:solidFill>
                      <a:srgbClr val="FFFFFF"/>
                    </a:solidFill>
                  </a:tcPr>
                </a:tc>
                <a:tc>
                  <a:txBody>
                    <a:bodyPr wrap="square"/>
                    <a:lstStyle/>
                    <a:p>
                      <a:r>
                        <a:rPr sz="1050">
                          <a:solidFill>
                            <a:srgbClr val="1A1A1A"/>
                          </a:solidFill>
                        </a:rPr>
                        <a:t>Encryption in transit (TLS/HTTPS)</a:t>
                      </a:r>
                    </a:p>
                  </a:txBody>
                  <a:tcPr anchor="ctr" marL="73152" marR="54864" marT="27432" marB="27432">
                    <a:solidFill>
                      <a:srgbClr val="FFFFFF"/>
                    </a:solidFill>
                  </a:tcPr>
                </a:tc>
                <a:tc>
                  <a:txBody>
                    <a:bodyPr wrap="square"/>
                    <a:lstStyle/>
                    <a:p>
                      <a:r>
                        <a:rPr sz="1050">
                          <a:solidFill>
                            <a:srgbClr val="1A1A1A"/>
                          </a:solidFill>
                        </a:rPr>
                        <a:t>HTTPS on mobile banking</a:t>
                      </a:r>
                    </a:p>
                  </a:txBody>
                  <a:tcPr anchor="ctr" marL="73152" marR="54864" marT="27432" marB="27432">
                    <a:solidFill>
                      <a:srgbClr val="FFFFFF"/>
                    </a:solidFill>
                  </a:tcPr>
                </a:tc>
              </a:tr>
              <a:tr h="552069">
                <a:tc>
                  <a:txBody>
                    <a:bodyPr wrap="square"/>
                    <a:lstStyle/>
                    <a:p>
                      <a:r>
                        <a:rPr sz="1050" b="1">
                          <a:solidFill>
                            <a:srgbClr val="0C2B4A"/>
                          </a:solidFill>
                        </a:rPr>
                        <a:t>Data loss / disaster</a:t>
                      </a:r>
                    </a:p>
                  </a:txBody>
                  <a:tcPr anchor="ctr" marL="73152" marR="54864" marT="27432" marB="27432">
                    <a:solidFill>
                      <a:srgbClr val="EEF3F8"/>
                    </a:solidFill>
                  </a:tcPr>
                </a:tc>
                <a:tc>
                  <a:txBody>
                    <a:bodyPr wrap="square"/>
                    <a:lstStyle/>
                    <a:p>
                      <a:r>
                        <a:rPr sz="1050">
                          <a:solidFill>
                            <a:srgbClr val="1A1A1A"/>
                          </a:solidFill>
                        </a:rPr>
                        <a:t>DB is destroyed or corrupted</a:t>
                      </a:r>
                    </a:p>
                  </a:txBody>
                  <a:tcPr anchor="ctr" marL="73152" marR="54864" marT="27432" marB="27432">
                    <a:solidFill>
                      <a:srgbClr val="EEF3F8"/>
                    </a:solidFill>
                  </a:tcPr>
                </a:tc>
                <a:tc>
                  <a:txBody>
                    <a:bodyPr wrap="square"/>
                    <a:lstStyle/>
                    <a:p>
                      <a:r>
                        <a:rPr sz="1050">
                          <a:solidFill>
                            <a:srgbClr val="1A1A1A"/>
                          </a:solidFill>
                        </a:rPr>
                        <a:t>Backups + recovery (Unit 6)</a:t>
                      </a:r>
                    </a:p>
                  </a:txBody>
                  <a:tcPr anchor="ctr" marL="73152" marR="54864" marT="27432" marB="27432">
                    <a:solidFill>
                      <a:srgbClr val="EEF3F8"/>
                    </a:solidFill>
                  </a:tcPr>
                </a:tc>
                <a:tc>
                  <a:txBody>
                    <a:bodyPr wrap="square"/>
                    <a:lstStyle/>
                    <a:p>
                      <a:r>
                        <a:rPr sz="1050">
                          <a:solidFill>
                            <a:srgbClr val="1A1A1A"/>
                          </a:solidFill>
                        </a:rPr>
                        <a:t>Nightly encrypted backups</a:t>
                      </a:r>
                    </a:p>
                  </a:txBody>
                  <a:tcPr anchor="ctr" marL="73152" marR="54864" marT="27432" marB="27432">
                    <a:solidFill>
                      <a:srgbClr val="EEF3F8"/>
                    </a:solidFill>
                  </a:tcPr>
                </a:tc>
              </a:tr>
              <a:tr h="552069">
                <a:tc>
                  <a:txBody>
                    <a:bodyPr wrap="square"/>
                    <a:lstStyle/>
                    <a:p>
                      <a:r>
                        <a:rPr sz="1050" b="1">
                          <a:solidFill>
                            <a:srgbClr val="0C2B4A"/>
                          </a:solidFill>
                        </a:rPr>
                        <a:t>Weak / shared passwords</a:t>
                      </a:r>
                    </a:p>
                  </a:txBody>
                  <a:tcPr anchor="ctr" marL="73152" marR="54864" marT="27432" marB="27432">
                    <a:solidFill>
                      <a:srgbClr val="FFFFFF"/>
                    </a:solidFill>
                  </a:tcPr>
                </a:tc>
                <a:tc>
                  <a:txBody>
                    <a:bodyPr wrap="square"/>
                    <a:lstStyle/>
                    <a:p>
                      <a:r>
                        <a:rPr sz="1050">
                          <a:solidFill>
                            <a:srgbClr val="1A1A1A"/>
                          </a:solidFill>
                        </a:rPr>
                        <a:t>Guesses or reuses credentials</a:t>
                      </a:r>
                    </a:p>
                  </a:txBody>
                  <a:tcPr anchor="ctr" marL="73152" marR="54864" marT="27432" marB="27432">
                    <a:solidFill>
                      <a:srgbClr val="FFFFFF"/>
                    </a:solidFill>
                  </a:tcPr>
                </a:tc>
                <a:tc>
                  <a:txBody>
                    <a:bodyPr wrap="square"/>
                    <a:lstStyle/>
                    <a:p>
                      <a:r>
                        <a:rPr sz="1050">
                          <a:solidFill>
                            <a:srgbClr val="1A1A1A"/>
                          </a:solidFill>
                        </a:rPr>
                        <a:t>Strong-password policy + MFA</a:t>
                      </a:r>
                    </a:p>
                  </a:txBody>
                  <a:tcPr anchor="ctr" marL="73152" marR="54864" marT="27432" marB="27432">
                    <a:solidFill>
                      <a:srgbClr val="FFFFFF"/>
                    </a:solidFill>
                  </a:tcPr>
                </a:tc>
                <a:tc>
                  <a:txBody>
                    <a:bodyPr wrap="square"/>
                    <a:lstStyle/>
                    <a:p>
                      <a:r>
                        <a:rPr sz="1050">
                          <a:solidFill>
                            <a:srgbClr val="1A1A1A"/>
                          </a:solidFill>
                        </a:rPr>
                        <a:t>OTP as a second factor</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Security is layered — each threat has its own matching control, and you need them together. Encryption answers 'stolen/sniffed data'; it does NOT stop SQL injection or over-broad privileges — those need their own controls.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82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6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Encryption &amp; the Threat Landscape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bank encrypts stored account data AT REST and runs HTTPS (TLS) on its mobile-banking app so data IN TRANSIT is protected. If a laptop or backup is stolen, the dump is unreadable without the keys; if traffic is sniffed on public Wi-Fi, it's just ciphertext. Encryption pairs with auth, authorization, and safe queries.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"Encryption alone makes the database secure." Encryption only protects data at rest and in transit — it does nothing against SQL injection, weak passwords, or an over-privileged account. Real security is layered: each threat needs its matching control, and keys must be guarded.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Encryption encodes data so only key-holders can read it, applied at rest (stored data and backups) and in transit (TLS/HTTPS), making a stolen dump or sniffed traffic useless without the keys. It is one layer of a defence-in-depth strategy alongside authentication, authorization/least privilege, and parameterized queries — each threat mapped to its own control.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encryption · at rest vs in transit · TLS/HTTPS · keys · defence in depth · one control among many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82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S45 — 'Authenticate what, authorize what?'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a Nepali app you use (eSewa, Khalti, Daraz, Nagarik App).</a:t>
            </a:r>
          </a:p>
          <a:p>
            <a:pPr>
              <a:spcAft>
                <a:spcPts val="700"/>
              </a:spcAft>
            </a:pPr>
            <a:r>
              <a:rPr sz="1550">
                <a:solidFill>
                  <a:srgbClr val="1A1A1A"/>
                </a:solidFill>
              </a:rPr>
              <a:t>•  Name ONE thing it must AUTHENTICATE (verify who you are) and ONE thing it must AUTHORIZE (what you may do).</a:t>
            </a:r>
          </a:p>
          <a:p>
            <a:pPr>
              <a:spcAft>
                <a:spcPts val="700"/>
              </a:spcAft>
            </a:pPr>
            <a:r>
              <a:rPr sz="1550">
                <a:solidFill>
                  <a:srgbClr val="1A1A1A"/>
                </a:solidFill>
              </a:rPr>
              <a:t>•  Then name one thing it should ENCRYPT (at rest or in transit).</a:t>
            </a:r>
          </a:p>
          <a:p>
            <a:pPr>
              <a:spcAft>
                <a:spcPts val="700"/>
              </a:spcAft>
            </a:pPr>
            <a:r>
              <a:rPr sz="1550">
                <a:solidFill>
                  <a:srgbClr val="1A1A1A"/>
                </a:solidFill>
              </a:rPr>
              <a:t>•  Take 3–4 answers aloud (3 min); classify each as authentication / authorization / encryption.</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authenticate = OTP login; authorize = only the account owner can transfer, support can view but not refund; encrypt = stored KYC data (at rest) + all traffic (HTTPS, in transit). Reward answers that keep the three ideas distinct.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82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query that filters by an INDEXED column avoids a:</a:t>
            </a:r>
          </a:p>
          <a:p>
            <a:pPr lvl="1"/>
            <a:r>
              <a:rPr sz="1500" b="1">
                <a:solidFill>
                  <a:srgbClr val="0F6E56"/>
                </a:solidFill>
              </a:rPr>
              <a:t>a) ✅ full table scan   b) commit   c) deadlock   d) rollback</a:t>
            </a:r>
          </a:p>
          <a:p>
            <a:pPr lvl="1">
              <a:spcBef>
                <a:spcPts val="600"/>
              </a:spcBef>
            </a:pPr>
            <a:r>
              <a:rPr sz="1500" i="1">
                <a:solidFill>
                  <a:srgbClr val="1A1A1A"/>
                </a:solidFill>
              </a:rPr>
              <a:t>     Why: an index lets the DB jump to matching rows instead of reading every row (a full scan).</a:t>
            </a:r>
          </a:p>
          <a:p>
            <a:pPr>
              <a:spcBef>
                <a:spcPts val="900"/>
              </a:spcBef>
            </a:pPr>
            <a:r>
              <a:rPr sz="1700" b="1">
                <a:solidFill>
                  <a:srgbClr val="0C2B4A"/>
                </a:solidFill>
              </a:rPr>
              <a:t>Q2.  The best defence against SQL injection is:</a:t>
            </a:r>
          </a:p>
          <a:p>
            <a:pPr lvl="1"/>
            <a:r>
              <a:rPr sz="1500" b="1">
                <a:solidFill>
                  <a:srgbClr val="0F6E56"/>
                </a:solidFill>
              </a:rPr>
              <a:t>a) hide error messages   b) more indexes   c) ✅ parameterized / prepared statements   d) a bigger server</a:t>
            </a:r>
          </a:p>
          <a:p>
            <a:pPr lvl="1">
              <a:spcBef>
                <a:spcPts val="600"/>
              </a:spcBef>
            </a:pPr>
            <a:r>
              <a:rPr sz="1500" i="1">
                <a:solidFill>
                  <a:srgbClr val="1A1A1A"/>
                </a:solidFill>
              </a:rPr>
              <a:t>     Why: parameterized queries treat input as DATA, never code — so ' OR '1'='1 can't become SQL.</a:t>
            </a:r>
          </a:p>
          <a:p>
            <a:pPr lvl="1">
              <a:spcBef>
                <a:spcPts val="600"/>
              </a:spcBef>
            </a:pPr>
            <a:r>
              <a:rPr sz="1500" i="1">
                <a:solidFill>
                  <a:srgbClr val="1A1A1A"/>
                </a:solidFill>
              </a:rPr>
              <a:t>Discussion: pick a Nepali app — name one thing it should authenticate and one it should authorize.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82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Tune in order — query → index → hardware — and MEASURE first (EXPLAIN); a missing index usually beats a bigger server.</a:t>
            </a:r>
          </a:p>
          <a:p>
            <a:pPr>
              <a:spcAft>
                <a:spcPts val="800"/>
              </a:spcAft>
            </a:pPr>
            <a:r>
              <a:rPr sz="1500">
                <a:solidFill>
                  <a:srgbClr val="1A1A1A"/>
                </a:solidFill>
              </a:rPr>
              <a:t>2.  Authentication = WHO you are; authorization = WHAT you may do (least privilege) — two separate gates.</a:t>
            </a:r>
          </a:p>
          <a:p>
            <a:pPr>
              <a:spcAft>
                <a:spcPts val="800"/>
              </a:spcAft>
            </a:pPr>
            <a:r>
              <a:rPr sz="1500">
                <a:solidFill>
                  <a:srgbClr val="1A1A1A"/>
                </a:solidFill>
              </a:rPr>
              <a:t>3.  SQL injection is fixed by parameterized queries; encryption (at rest + in transit) protects data — layer the controls.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Tuning and security are the two most common DB/backend interview topics in Nepali fintech (eSewa, Khalti, IME Pay) and banking core systems — knowing them makes you employable, not just examinable.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S46 — what happens when one database is too big or too critical for a single machine: parallel &amp; distributed databases.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82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46 · LECTURE HOUR 2 (OF 4)</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Parallel &amp; Distributed Databases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Ncell has subscribers in Mechi and in Mahakali. Should ALL their call records sit on one server in Kathmandu? What happens the day that one server burns down — or the whole country queries it at once?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27 / 82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Parallel vs Distributed Databases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PARALLEL database uses many processors/disks in ONE location working together to speed up one system. A DISTRIBUTED database stores data across MULTIPLE sites/locations that appear to the user as one logical database. One is about power in one place; the other is about spreading across places.</a:t>
            </a:r>
          </a:p>
          <a:p>
            <a:pPr>
              <a:spcAft>
                <a:spcPts val="500"/>
              </a:spcAft>
            </a:pPr>
            <a:r>
              <a:rPr sz="1200" b="1">
                <a:solidFill>
                  <a:srgbClr val="185FA5"/>
                </a:solidFill>
              </a:rPr>
              <a:t>HOW IT WORKS</a:t>
            </a:r>
          </a:p>
          <a:p>
            <a:pPr>
              <a:spcAft>
                <a:spcPts val="600"/>
              </a:spcAft>
            </a:pPr>
            <a:r>
              <a:rPr sz="1400">
                <a:solidFill>
                  <a:srgbClr val="1A1A1A"/>
                </a:solidFill>
              </a:rPr>
              <a:t>•  Parallel = one site, more horsepower (many CPUs/disks sharing the work).</a:t>
            </a:r>
          </a:p>
          <a:p>
            <a:pPr>
              <a:spcAft>
                <a:spcPts val="600"/>
              </a:spcAft>
            </a:pPr>
            <a:r>
              <a:rPr sz="1400">
                <a:solidFill>
                  <a:srgbClr val="1A1A1A"/>
                </a:solidFill>
              </a:rPr>
              <a:t>•  Distributed = many sites, one logical view (data physically spread across locations).</a:t>
            </a:r>
          </a:p>
          <a:p>
            <a:pPr>
              <a:spcAft>
                <a:spcPts val="600"/>
              </a:spcAft>
            </a:pPr>
            <a:r>
              <a:rPr sz="1400">
                <a:solidFill>
                  <a:srgbClr val="1A1A1A"/>
                </a:solidFill>
              </a:rPr>
              <a:t>•  They solve different problems: parallel scales UP performance; distributed adds locality &amp; reliability.</a:t>
            </a:r>
          </a:p>
          <a:p>
            <a:pPr>
              <a:spcAft>
                <a:spcPts val="600"/>
              </a:spcAft>
            </a:pPr>
            <a:r>
              <a:rPr sz="1400">
                <a:solidFill>
                  <a:srgbClr val="1A1A1A"/>
                </a:solidFill>
              </a:rPr>
              <a:t>•  A system can be both: distributed across cities, and parallel within each site.</a:t>
            </a:r>
          </a:p>
        </p:txBody>
      </p:sp>
      <p:pic>
        <p:nvPicPr>
          <p:cNvPr id="6" name="Picture 5" descr="parallel_vs_distributed.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Parallel = many cooks in one kitchen; distributed = branches of one restaurant in many cities.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82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1 · §7A DEPTH</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Parallel vs Distributed databases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9142"/>
                <a:gridCol w="4245428"/>
                <a:gridCol w="4245428"/>
              </a:tblGrid>
              <a:tr h="552069">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Parallel database</a:t>
                      </a:r>
                    </a:p>
                  </a:txBody>
                  <a:tcPr anchor="ctr" marL="73152" marR="54864" marT="27432" marB="27432">
                    <a:solidFill>
                      <a:srgbClr val="0C2B4A"/>
                    </a:solidFill>
                  </a:tcPr>
                </a:tc>
                <a:tc>
                  <a:txBody>
                    <a:bodyPr wrap="square"/>
                    <a:lstStyle/>
                    <a:p>
                      <a:r>
                        <a:rPr sz="1100" b="1">
                          <a:solidFill>
                            <a:srgbClr val="FFFFFF"/>
                          </a:solidFill>
                        </a:rPr>
                        <a:t>Distributed database</a:t>
                      </a:r>
                    </a:p>
                  </a:txBody>
                  <a:tcPr anchor="ctr" marL="73152" marR="54864" marT="27432" marB="27432">
                    <a:solidFill>
                      <a:srgbClr val="0C2B4A"/>
                    </a:solidFill>
                  </a:tcPr>
                </a:tc>
              </a:tr>
              <a:tr h="552069">
                <a:tc>
                  <a:txBody>
                    <a:bodyPr wrap="square"/>
                    <a:lstStyle/>
                    <a:p>
                      <a:r>
                        <a:rPr sz="1050" b="1">
                          <a:solidFill>
                            <a:srgbClr val="0C2B4A"/>
                          </a:solidFill>
                        </a:rPr>
                        <a:t>Location</a:t>
                      </a:r>
                    </a:p>
                  </a:txBody>
                  <a:tcPr anchor="ctr" marL="73152" marR="54864" marT="27432" marB="27432">
                    <a:solidFill>
                      <a:srgbClr val="FFFFFF"/>
                    </a:solidFill>
                  </a:tcPr>
                </a:tc>
                <a:tc>
                  <a:txBody>
                    <a:bodyPr wrap="square"/>
                    <a:lstStyle/>
                    <a:p>
                      <a:r>
                        <a:rPr sz="1050">
                          <a:solidFill>
                            <a:srgbClr val="1A1A1A"/>
                          </a:solidFill>
                        </a:rPr>
                        <a:t>One site</a:t>
                      </a:r>
                    </a:p>
                  </a:txBody>
                  <a:tcPr anchor="ctr" marL="73152" marR="54864" marT="27432" marB="27432">
                    <a:solidFill>
                      <a:srgbClr val="FFFFFF"/>
                    </a:solidFill>
                  </a:tcPr>
                </a:tc>
                <a:tc>
                  <a:txBody>
                    <a:bodyPr wrap="square"/>
                    <a:lstStyle/>
                    <a:p>
                      <a:r>
                        <a:rPr sz="1050">
                          <a:solidFill>
                            <a:srgbClr val="1A1A1A"/>
                          </a:solidFill>
                        </a:rPr>
                        <a:t>Many sites / locations</a:t>
                      </a:r>
                    </a:p>
                  </a:txBody>
                  <a:tcPr anchor="ctr" marL="73152" marR="54864" marT="27432" marB="27432">
                    <a:solidFill>
                      <a:srgbClr val="FFFFFF"/>
                    </a:solidFill>
                  </a:tcPr>
                </a:tc>
              </a:tr>
              <a:tr h="552069">
                <a:tc>
                  <a:txBody>
                    <a:bodyPr wrap="square"/>
                    <a:lstStyle/>
                    <a:p>
                      <a:r>
                        <a:rPr sz="1050" b="1">
                          <a:solidFill>
                            <a:srgbClr val="0C2B4A"/>
                          </a:solidFill>
                        </a:rPr>
                        <a:t>Main goal</a:t>
                      </a:r>
                    </a:p>
                  </a:txBody>
                  <a:tcPr anchor="ctr" marL="73152" marR="54864" marT="27432" marB="27432">
                    <a:solidFill>
                      <a:srgbClr val="EEF3F8"/>
                    </a:solidFill>
                  </a:tcPr>
                </a:tc>
                <a:tc>
                  <a:txBody>
                    <a:bodyPr wrap="square"/>
                    <a:lstStyle/>
                    <a:p>
                      <a:r>
                        <a:rPr sz="1050">
                          <a:solidFill>
                            <a:srgbClr val="1A1A1A"/>
                          </a:solidFill>
                        </a:rPr>
                        <a:t>Speed — more processing power</a:t>
                      </a:r>
                    </a:p>
                  </a:txBody>
                  <a:tcPr anchor="ctr" marL="73152" marR="54864" marT="27432" marB="27432">
                    <a:solidFill>
                      <a:srgbClr val="EEF3F8"/>
                    </a:solidFill>
                  </a:tcPr>
                </a:tc>
                <a:tc>
                  <a:txBody>
                    <a:bodyPr wrap="square"/>
                    <a:lstStyle/>
                    <a:p>
                      <a:r>
                        <a:rPr sz="1050">
                          <a:solidFill>
                            <a:srgbClr val="1A1A1A"/>
                          </a:solidFill>
                        </a:rPr>
                        <a:t>Locality + reliability + scale</a:t>
                      </a:r>
                    </a:p>
                  </a:txBody>
                  <a:tcPr anchor="ctr" marL="73152" marR="54864" marT="27432" marB="27432">
                    <a:solidFill>
                      <a:srgbClr val="EEF3F8"/>
                    </a:solidFill>
                  </a:tcPr>
                </a:tc>
              </a:tr>
              <a:tr h="552069">
                <a:tc>
                  <a:txBody>
                    <a:bodyPr wrap="square"/>
                    <a:lstStyle/>
                    <a:p>
                      <a:r>
                        <a:rPr sz="1050" b="1">
                          <a:solidFill>
                            <a:srgbClr val="0C2B4A"/>
                          </a:solidFill>
                        </a:rPr>
                        <a:t>Data placement</a:t>
                      </a:r>
                    </a:p>
                  </a:txBody>
                  <a:tcPr anchor="ctr" marL="73152" marR="54864" marT="27432" marB="27432">
                    <a:solidFill>
                      <a:srgbClr val="FFFFFF"/>
                    </a:solidFill>
                  </a:tcPr>
                </a:tc>
                <a:tc>
                  <a:txBody>
                    <a:bodyPr wrap="square"/>
                    <a:lstStyle/>
                    <a:p>
                      <a:r>
                        <a:rPr sz="1050">
                          <a:solidFill>
                            <a:srgbClr val="1A1A1A"/>
                          </a:solidFill>
                        </a:rPr>
                        <a:t>Shared within one machine/cluster</a:t>
                      </a:r>
                    </a:p>
                  </a:txBody>
                  <a:tcPr anchor="ctr" marL="73152" marR="54864" marT="27432" marB="27432">
                    <a:solidFill>
                      <a:srgbClr val="FFFFFF"/>
                    </a:solidFill>
                  </a:tcPr>
                </a:tc>
                <a:tc>
                  <a:txBody>
                    <a:bodyPr wrap="square"/>
                    <a:lstStyle/>
                    <a:p>
                      <a:r>
                        <a:rPr sz="1050">
                          <a:solidFill>
                            <a:srgbClr val="1A1A1A"/>
                          </a:solidFill>
                        </a:rPr>
                        <a:t>Fragmented / replicated across sites</a:t>
                      </a:r>
                    </a:p>
                  </a:txBody>
                  <a:tcPr anchor="ctr" marL="73152" marR="54864" marT="27432" marB="27432">
                    <a:solidFill>
                      <a:srgbClr val="FFFFFF"/>
                    </a:solidFill>
                  </a:tcPr>
                </a:tc>
              </a:tr>
              <a:tr h="552069">
                <a:tc>
                  <a:txBody>
                    <a:bodyPr wrap="square"/>
                    <a:lstStyle/>
                    <a:p>
                      <a:r>
                        <a:rPr sz="1050" b="1">
                          <a:solidFill>
                            <a:srgbClr val="0C2B4A"/>
                          </a:solidFill>
                        </a:rPr>
                        <a:t>Failure of one node</a:t>
                      </a:r>
                    </a:p>
                  </a:txBody>
                  <a:tcPr anchor="ctr" marL="73152" marR="54864" marT="27432" marB="27432">
                    <a:solidFill>
                      <a:srgbClr val="EEF3F8"/>
                    </a:solidFill>
                  </a:tcPr>
                </a:tc>
                <a:tc>
                  <a:txBody>
                    <a:bodyPr wrap="square"/>
                    <a:lstStyle/>
                    <a:p>
                      <a:r>
                        <a:rPr sz="1050">
                          <a:solidFill>
                            <a:srgbClr val="1A1A1A"/>
                          </a:solidFill>
                        </a:rPr>
                        <a:t>Degrades the single system</a:t>
                      </a:r>
                    </a:p>
                  </a:txBody>
                  <a:tcPr anchor="ctr" marL="73152" marR="54864" marT="27432" marB="27432">
                    <a:solidFill>
                      <a:srgbClr val="EEF3F8"/>
                    </a:solidFill>
                  </a:tcPr>
                </a:tc>
                <a:tc>
                  <a:txBody>
                    <a:bodyPr wrap="square"/>
                    <a:lstStyle/>
                    <a:p>
                      <a:r>
                        <a:rPr sz="1050">
                          <a:solidFill>
                            <a:srgbClr val="1A1A1A"/>
                          </a:solidFill>
                        </a:rPr>
                        <a:t>Other sites keep serving</a:t>
                      </a:r>
                    </a:p>
                  </a:txBody>
                  <a:tcPr anchor="ctr" marL="73152" marR="54864" marT="27432" marB="27432">
                    <a:solidFill>
                      <a:srgbClr val="EEF3F8"/>
                    </a:solidFill>
                  </a:tcPr>
                </a:tc>
              </a:tr>
              <a:tr h="552069">
                <a:tc>
                  <a:txBody>
                    <a:bodyPr wrap="square"/>
                    <a:lstStyle/>
                    <a:p>
                      <a:r>
                        <a:rPr sz="1050" b="1">
                          <a:solidFill>
                            <a:srgbClr val="0C2B4A"/>
                          </a:solidFill>
                        </a:rPr>
                        <a:t>User's view</a:t>
                      </a:r>
                    </a:p>
                  </a:txBody>
                  <a:tcPr anchor="ctr" marL="73152" marR="54864" marT="27432" marB="27432">
                    <a:solidFill>
                      <a:srgbClr val="FFFFFF"/>
                    </a:solidFill>
                  </a:tcPr>
                </a:tc>
                <a:tc>
                  <a:txBody>
                    <a:bodyPr wrap="square"/>
                    <a:lstStyle/>
                    <a:p>
                      <a:r>
                        <a:rPr sz="1050">
                          <a:solidFill>
                            <a:srgbClr val="1A1A1A"/>
                          </a:solidFill>
                        </a:rPr>
                        <a:t>One system</a:t>
                      </a:r>
                    </a:p>
                  </a:txBody>
                  <a:tcPr anchor="ctr" marL="73152" marR="54864" marT="27432" marB="27432">
                    <a:solidFill>
                      <a:srgbClr val="FFFFFF"/>
                    </a:solidFill>
                  </a:tcPr>
                </a:tc>
                <a:tc>
                  <a:txBody>
                    <a:bodyPr wrap="square"/>
                    <a:lstStyle/>
                    <a:p>
                      <a:r>
                        <a:rPr sz="1050">
                          <a:solidFill>
                            <a:srgbClr val="1A1A1A"/>
                          </a:solidFill>
                        </a:rPr>
                        <a:t>One LOGICAL database (sites hidden)</a:t>
                      </a:r>
                    </a:p>
                  </a:txBody>
                  <a:tcPr anchor="ctr" marL="73152" marR="54864" marT="27432" marB="27432">
                    <a:solidFill>
                      <a:srgbClr val="FFFFFF"/>
                    </a:solidFill>
                  </a:tcPr>
                </a:tc>
              </a:tr>
              <a:tr h="552069">
                <a:tc>
                  <a:txBody>
                    <a:bodyPr wrap="square"/>
                    <a:lstStyle/>
                    <a:p>
                      <a:r>
                        <a:rPr sz="1050" b="1">
                          <a:solidFill>
                            <a:srgbClr val="0C2B4A"/>
                          </a:solidFill>
                        </a:rPr>
                        <a:t>Analogy</a:t>
                      </a:r>
                    </a:p>
                  </a:txBody>
                  <a:tcPr anchor="ctr" marL="73152" marR="54864" marT="27432" marB="27432">
                    <a:solidFill>
                      <a:srgbClr val="EEF3F8"/>
                    </a:solidFill>
                  </a:tcPr>
                </a:tc>
                <a:tc>
                  <a:txBody>
                    <a:bodyPr wrap="square"/>
                    <a:lstStyle/>
                    <a:p>
                      <a:r>
                        <a:rPr sz="1050">
                          <a:solidFill>
                            <a:srgbClr val="1A1A1A"/>
                          </a:solidFill>
                        </a:rPr>
                        <a:t>Many cooks, one kitchen</a:t>
                      </a:r>
                    </a:p>
                  </a:txBody>
                  <a:tcPr anchor="ctr" marL="73152" marR="54864" marT="27432" marB="27432">
                    <a:solidFill>
                      <a:srgbClr val="EEF3F8"/>
                    </a:solidFill>
                  </a:tcPr>
                </a:tc>
                <a:tc>
                  <a:txBody>
                    <a:bodyPr wrap="square"/>
                    <a:lstStyle/>
                    <a:p>
                      <a:r>
                        <a:rPr sz="1050">
                          <a:solidFill>
                            <a:srgbClr val="1A1A1A"/>
                          </a:solidFill>
                        </a:rPr>
                        <a:t>Branches of one restaurant, many cities</a:t>
                      </a:r>
                    </a:p>
                  </a:txBody>
                  <a:tcPr anchor="ctr" marL="73152" marR="54864" marT="27432" marB="27432">
                    <a:solidFill>
                      <a:srgbClr val="EEF3F8"/>
                    </a:solidFill>
                  </a:tcPr>
                </a:tc>
              </a:tr>
              <a:tr h="552069">
                <a:tc>
                  <a:txBody>
                    <a:bodyPr wrap="square"/>
                    <a:lstStyle/>
                    <a:p>
                      <a:r>
                        <a:rPr sz="1050" b="1">
                          <a:solidFill>
                            <a:srgbClr val="0C2B4A"/>
                          </a:solidFill>
                        </a:rPr>
                        <a:t>Nepal example</a:t>
                      </a:r>
                    </a:p>
                  </a:txBody>
                  <a:tcPr anchor="ctr" marL="73152" marR="54864" marT="27432" marB="27432">
                    <a:solidFill>
                      <a:srgbClr val="FFFFFF"/>
                    </a:solidFill>
                  </a:tcPr>
                </a:tc>
                <a:tc>
                  <a:txBody>
                    <a:bodyPr wrap="square"/>
                    <a:lstStyle/>
                    <a:p>
                      <a:r>
                        <a:rPr sz="1050">
                          <a:solidFill>
                            <a:srgbClr val="1A1A1A"/>
                          </a:solidFill>
                        </a:rPr>
                        <a:t>A powerful bank server cluster in KTM</a:t>
                      </a:r>
                    </a:p>
                  </a:txBody>
                  <a:tcPr anchor="ctr" marL="73152" marR="54864" marT="27432" marB="27432">
                    <a:solidFill>
                      <a:srgbClr val="FFFFFF"/>
                    </a:solidFill>
                  </a:tcPr>
                </a:tc>
                <a:tc>
                  <a:txBody>
                    <a:bodyPr wrap="square"/>
                    <a:lstStyle/>
                    <a:p>
                      <a:r>
                        <a:rPr sz="1050">
                          <a:solidFill>
                            <a:srgbClr val="1A1A1A"/>
                          </a:solidFill>
                        </a:rPr>
                        <a:t>Ncell records held in regional data centres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key distinction: parallel is about POWER in one place; distributed is about SPREADING across places for locality and no single point of failure. Real large systems combine both.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82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Parallel vs Distributed Databases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Ncell keeping all call records on one Kathmandu server is a single point of failure — and slow for far-off users. A distributed design places records in regional data centres (many sites, one logical DB) for locality and resilience; within each site, a parallel setup (many CPUs/disks) handles the local load fast.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"Parallel and distributed are the same thing." No — parallel means one place with more power; distributed means many places presented as one logical database. Confusing them hides the real benefits: distribution gives locality and fault-tolerance that raw power in one box cannot.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parallel database uses many processors/disks at ONE site to speed up a single system, while a distributed database stores data across MULTIPLE sites that appear as one logical database, gaining locality, reliability, and scalability. Parallel scales performance up in one place; distribution spreads data across places — and large systems often do both.</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parallel (one site, more power) · distributed (many sites, one logical DB) · locality · fault tolerance · often combined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82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Distribute? (Motivation)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Distribution is worth its complexity for three payoffs: LOCALITY (data near the users who need it), RELIABILITY (no single point of failure), and SCALABILITY (add sites as the system grows). These are the reasons a national-scale system doesn't live on one box.</a:t>
            </a:r>
          </a:p>
          <a:p>
            <a:pPr>
              <a:spcAft>
                <a:spcPts val="500"/>
              </a:spcAft>
            </a:pPr>
            <a:r>
              <a:rPr sz="1200" b="1">
                <a:solidFill>
                  <a:srgbClr val="185FA5"/>
                </a:solidFill>
              </a:rPr>
              <a:t>HOW IT WORKS</a:t>
            </a:r>
          </a:p>
          <a:p>
            <a:pPr>
              <a:spcAft>
                <a:spcPts val="600"/>
              </a:spcAft>
            </a:pPr>
            <a:r>
              <a:rPr sz="1400">
                <a:solidFill>
                  <a:srgbClr val="1A1A1A"/>
                </a:solidFill>
              </a:rPr>
              <a:t>•  Locality: regional data near regional users means faster access and less network cost.</a:t>
            </a:r>
          </a:p>
          <a:p>
            <a:pPr>
              <a:spcAft>
                <a:spcPts val="600"/>
              </a:spcAft>
            </a:pPr>
            <a:r>
              <a:rPr sz="1400">
                <a:solidFill>
                  <a:srgbClr val="1A1A1A"/>
                </a:solidFill>
              </a:rPr>
              <a:t>•  Reliability: if one site fails, others keep serving — the system stays up.</a:t>
            </a:r>
          </a:p>
          <a:p>
            <a:pPr>
              <a:spcAft>
                <a:spcPts val="600"/>
              </a:spcAft>
            </a:pPr>
            <a:r>
              <a:rPr sz="1400">
                <a:solidFill>
                  <a:srgbClr val="1A1A1A"/>
                </a:solidFill>
              </a:rPr>
              <a:t>•  Scalability: grow by adding sites/nodes rather than replacing one giant server.</a:t>
            </a:r>
          </a:p>
          <a:p>
            <a:pPr>
              <a:spcAft>
                <a:spcPts val="600"/>
              </a:spcAft>
            </a:pPr>
            <a:r>
              <a:rPr sz="1400">
                <a:solidFill>
                  <a:srgbClr val="1A1A1A"/>
                </a:solidFill>
              </a:rPr>
              <a:t>•  The cost: complexity — keeping distributed data consistent and coordinated is harder.</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Distribute for locality, reliability, and scale — and pay for it in coordination complexity.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82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2 · PAYOFF</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distribute — the driver, the payoff, and the risk if you don't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017058"/>
                <a:gridCol w="2823882"/>
                <a:gridCol w="3496235"/>
                <a:gridCol w="3092823"/>
              </a:tblGrid>
              <a:tr h="883310">
                <a:tc>
                  <a:txBody>
                    <a:bodyPr wrap="square"/>
                    <a:lstStyle/>
                    <a:p>
                      <a:r>
                        <a:rPr sz="1150" b="1">
                          <a:solidFill>
                            <a:srgbClr val="FFFFFF"/>
                          </a:solidFill>
                        </a:rPr>
                        <a:t>Driver</a:t>
                      </a:r>
                    </a:p>
                  </a:txBody>
                  <a:tcPr anchor="ctr" marL="73152" marR="54864" marT="27432" marB="27432">
                    <a:solidFill>
                      <a:srgbClr val="0C2B4A"/>
                    </a:solidFill>
                  </a:tcPr>
                </a:tc>
                <a:tc>
                  <a:txBody>
                    <a:bodyPr wrap="square"/>
                    <a:lstStyle/>
                    <a:p>
                      <a:r>
                        <a:rPr sz="1150" b="1">
                          <a:solidFill>
                            <a:srgbClr val="FFFFFF"/>
                          </a:solidFill>
                        </a:rPr>
                        <a:t>What you gain</a:t>
                      </a:r>
                    </a:p>
                  </a:txBody>
                  <a:tcPr anchor="ctr" marL="73152" marR="54864" marT="27432" marB="27432">
                    <a:solidFill>
                      <a:srgbClr val="0C2B4A"/>
                    </a:solidFill>
                  </a:tcPr>
                </a:tc>
                <a:tc>
                  <a:txBody>
                    <a:bodyPr wrap="square"/>
                    <a:lstStyle/>
                    <a:p>
                      <a:r>
                        <a:rPr sz="1150" b="1">
                          <a:solidFill>
                            <a:srgbClr val="FFFFFF"/>
                          </a:solidFill>
                        </a:rPr>
                        <a:t>Nepal / IT example</a:t>
                      </a:r>
                    </a:p>
                  </a:txBody>
                  <a:tcPr anchor="ctr" marL="73152" marR="54864" marT="27432" marB="27432">
                    <a:solidFill>
                      <a:srgbClr val="0C2B4A"/>
                    </a:solidFill>
                  </a:tcPr>
                </a:tc>
                <a:tc>
                  <a:txBody>
                    <a:bodyPr wrap="square"/>
                    <a:lstStyle/>
                    <a:p>
                      <a:r>
                        <a:rPr sz="1150" b="1">
                          <a:solidFill>
                            <a:srgbClr val="FFFFFF"/>
                          </a:solidFill>
                        </a:rPr>
                        <a:t>If centralized instead</a:t>
                      </a:r>
                    </a:p>
                  </a:txBody>
                  <a:tcPr anchor="ctr" marL="73152" marR="54864" marT="27432" marB="27432">
                    <a:solidFill>
                      <a:srgbClr val="0C2B4A"/>
                    </a:solidFill>
                  </a:tcPr>
                </a:tc>
              </a:tr>
              <a:tr h="883310">
                <a:tc>
                  <a:txBody>
                    <a:bodyPr wrap="square"/>
                    <a:lstStyle/>
                    <a:p>
                      <a:r>
                        <a:rPr sz="1100" b="1">
                          <a:solidFill>
                            <a:srgbClr val="0C2B4A"/>
                          </a:solidFill>
                        </a:rPr>
                        <a:t>Locality</a:t>
                      </a:r>
                    </a:p>
                  </a:txBody>
                  <a:tcPr anchor="ctr" marL="73152" marR="54864" marT="27432" marB="27432">
                    <a:solidFill>
                      <a:srgbClr val="FFFFFF"/>
                    </a:solidFill>
                  </a:tcPr>
                </a:tc>
                <a:tc>
                  <a:txBody>
                    <a:bodyPr wrap="square"/>
                    <a:lstStyle/>
                    <a:p>
                      <a:r>
                        <a:rPr sz="1100">
                          <a:solidFill>
                            <a:srgbClr val="1A1A1A"/>
                          </a:solidFill>
                        </a:rPr>
                        <a:t>Data near users → faster</a:t>
                      </a:r>
                    </a:p>
                  </a:txBody>
                  <a:tcPr anchor="ctr" marL="73152" marR="54864" marT="27432" marB="27432">
                    <a:solidFill>
                      <a:srgbClr val="FFFFFF"/>
                    </a:solidFill>
                  </a:tcPr>
                </a:tc>
                <a:tc>
                  <a:txBody>
                    <a:bodyPr wrap="square"/>
                    <a:lstStyle/>
                    <a:p>
                      <a:r>
                        <a:rPr sz="1100">
                          <a:solidFill>
                            <a:srgbClr val="1A1A1A"/>
                          </a:solidFill>
                        </a:rPr>
                        <a:t>Regional telecom data centres</a:t>
                      </a:r>
                    </a:p>
                  </a:txBody>
                  <a:tcPr anchor="ctr" marL="73152" marR="54864" marT="27432" marB="27432">
                    <a:solidFill>
                      <a:srgbClr val="FFFFFF"/>
                    </a:solidFill>
                  </a:tcPr>
                </a:tc>
                <a:tc>
                  <a:txBody>
                    <a:bodyPr wrap="square"/>
                    <a:lstStyle/>
                    <a:p>
                      <a:r>
                        <a:rPr sz="1100">
                          <a:solidFill>
                            <a:srgbClr val="1A1A1A"/>
                          </a:solidFill>
                        </a:rPr>
                        <a:t>Far users see lag</a:t>
                      </a:r>
                    </a:p>
                  </a:txBody>
                  <a:tcPr anchor="ctr" marL="73152" marR="54864" marT="27432" marB="27432">
                    <a:solidFill>
                      <a:srgbClr val="FFFFFF"/>
                    </a:solidFill>
                  </a:tcPr>
                </a:tc>
              </a:tr>
              <a:tr h="883310">
                <a:tc>
                  <a:txBody>
                    <a:bodyPr wrap="square"/>
                    <a:lstStyle/>
                    <a:p>
                      <a:r>
                        <a:rPr sz="1100" b="1">
                          <a:solidFill>
                            <a:srgbClr val="0C2B4A"/>
                          </a:solidFill>
                        </a:rPr>
                        <a:t>Reliability</a:t>
                      </a:r>
                    </a:p>
                  </a:txBody>
                  <a:tcPr anchor="ctr" marL="73152" marR="54864" marT="27432" marB="27432">
                    <a:solidFill>
                      <a:srgbClr val="EEF3F8"/>
                    </a:solidFill>
                  </a:tcPr>
                </a:tc>
                <a:tc>
                  <a:txBody>
                    <a:bodyPr wrap="square"/>
                    <a:lstStyle/>
                    <a:p>
                      <a:r>
                        <a:rPr sz="1100">
                          <a:solidFill>
                            <a:srgbClr val="1A1A1A"/>
                          </a:solidFill>
                        </a:rPr>
                        <a:t>No single point of failure</a:t>
                      </a:r>
                    </a:p>
                  </a:txBody>
                  <a:tcPr anchor="ctr" marL="73152" marR="54864" marT="27432" marB="27432">
                    <a:solidFill>
                      <a:srgbClr val="EEF3F8"/>
                    </a:solidFill>
                  </a:tcPr>
                </a:tc>
                <a:tc>
                  <a:txBody>
                    <a:bodyPr wrap="square"/>
                    <a:lstStyle/>
                    <a:p>
                      <a:r>
                        <a:rPr sz="1100">
                          <a:solidFill>
                            <a:srgbClr val="1A1A1A"/>
                          </a:solidFill>
                        </a:rPr>
                        <a:t>Nagarik App backend across sites</a:t>
                      </a:r>
                    </a:p>
                  </a:txBody>
                  <a:tcPr anchor="ctr" marL="73152" marR="54864" marT="27432" marB="27432">
                    <a:solidFill>
                      <a:srgbClr val="EEF3F8"/>
                    </a:solidFill>
                  </a:tcPr>
                </a:tc>
                <a:tc>
                  <a:txBody>
                    <a:bodyPr wrap="square"/>
                    <a:lstStyle/>
                    <a:p>
                      <a:r>
                        <a:rPr sz="1100">
                          <a:solidFill>
                            <a:srgbClr val="1A1A1A"/>
                          </a:solidFill>
                        </a:rPr>
                        <a:t>One outage = whole country down</a:t>
                      </a:r>
                    </a:p>
                  </a:txBody>
                  <a:tcPr anchor="ctr" marL="73152" marR="54864" marT="27432" marB="27432">
                    <a:solidFill>
                      <a:srgbClr val="EEF3F8"/>
                    </a:solidFill>
                  </a:tcPr>
                </a:tc>
              </a:tr>
              <a:tr h="883310">
                <a:tc>
                  <a:txBody>
                    <a:bodyPr wrap="square"/>
                    <a:lstStyle/>
                    <a:p>
                      <a:r>
                        <a:rPr sz="1100" b="1">
                          <a:solidFill>
                            <a:srgbClr val="0C2B4A"/>
                          </a:solidFill>
                        </a:rPr>
                        <a:t>Scalability</a:t>
                      </a:r>
                    </a:p>
                  </a:txBody>
                  <a:tcPr anchor="ctr" marL="73152" marR="54864" marT="27432" marB="27432">
                    <a:solidFill>
                      <a:srgbClr val="FFFFFF"/>
                    </a:solidFill>
                  </a:tcPr>
                </a:tc>
                <a:tc>
                  <a:txBody>
                    <a:bodyPr wrap="square"/>
                    <a:lstStyle/>
                    <a:p>
                      <a:r>
                        <a:rPr sz="1100">
                          <a:solidFill>
                            <a:srgbClr val="1A1A1A"/>
                          </a:solidFill>
                        </a:rPr>
                        <a:t>Grow by adding sites</a:t>
                      </a:r>
                    </a:p>
                  </a:txBody>
                  <a:tcPr anchor="ctr" marL="73152" marR="54864" marT="27432" marB="27432">
                    <a:solidFill>
                      <a:srgbClr val="FFFFFF"/>
                    </a:solidFill>
                  </a:tcPr>
                </a:tc>
                <a:tc>
                  <a:txBody>
                    <a:bodyPr wrap="square"/>
                    <a:lstStyle/>
                    <a:p>
                      <a:r>
                        <a:rPr sz="1100">
                          <a:solidFill>
                            <a:srgbClr val="1A1A1A"/>
                          </a:solidFill>
                        </a:rPr>
                        <a:t>National e-commerce expanding</a:t>
                      </a:r>
                    </a:p>
                  </a:txBody>
                  <a:tcPr anchor="ctr" marL="73152" marR="54864" marT="27432" marB="27432">
                    <a:solidFill>
                      <a:srgbClr val="FFFFFF"/>
                    </a:solidFill>
                  </a:tcPr>
                </a:tc>
                <a:tc>
                  <a:txBody>
                    <a:bodyPr wrap="square"/>
                    <a:lstStyle/>
                    <a:p>
                      <a:r>
                        <a:rPr sz="1100">
                          <a:solidFill>
                            <a:srgbClr val="1A1A1A"/>
                          </a:solidFill>
                        </a:rPr>
                        <a:t>One server hits a hard ceiling</a:t>
                      </a:r>
                    </a:p>
                  </a:txBody>
                  <a:tcPr anchor="ctr" marL="73152" marR="54864" marT="27432" marB="27432">
                    <a:solidFill>
                      <a:srgbClr val="FFFFFF"/>
                    </a:solidFill>
                  </a:tcPr>
                </a:tc>
              </a:tr>
              <a:tr h="883312">
                <a:tc>
                  <a:txBody>
                    <a:bodyPr wrap="square"/>
                    <a:lstStyle/>
                    <a:p>
                      <a:r>
                        <a:rPr sz="1100" b="1">
                          <a:solidFill>
                            <a:srgbClr val="0C2B4A"/>
                          </a:solidFill>
                        </a:rPr>
                        <a:t>Load spreading</a:t>
                      </a:r>
                    </a:p>
                  </a:txBody>
                  <a:tcPr anchor="ctr" marL="73152" marR="54864" marT="27432" marB="27432">
                    <a:solidFill>
                      <a:srgbClr val="EEF3F8"/>
                    </a:solidFill>
                  </a:tcPr>
                </a:tc>
                <a:tc>
                  <a:txBody>
                    <a:bodyPr wrap="square"/>
                    <a:lstStyle/>
                    <a:p>
                      <a:r>
                        <a:rPr sz="1100">
                          <a:solidFill>
                            <a:srgbClr val="1A1A1A"/>
                          </a:solidFill>
                        </a:rPr>
                        <a:t>No single hotspot</a:t>
                      </a:r>
                    </a:p>
                  </a:txBody>
                  <a:tcPr anchor="ctr" marL="73152" marR="54864" marT="27432" marB="27432">
                    <a:solidFill>
                      <a:srgbClr val="EEF3F8"/>
                    </a:solidFill>
                  </a:tcPr>
                </a:tc>
                <a:tc>
                  <a:txBody>
                    <a:bodyPr wrap="square"/>
                    <a:lstStyle/>
                    <a:p>
                      <a:r>
                        <a:rPr sz="1100">
                          <a:solidFill>
                            <a:srgbClr val="1A1A1A"/>
                          </a:solidFill>
                        </a:rPr>
                        <a:t>Election/exam-result portals</a:t>
                      </a:r>
                    </a:p>
                  </a:txBody>
                  <a:tcPr anchor="ctr" marL="73152" marR="54864" marT="27432" marB="27432">
                    <a:solidFill>
                      <a:srgbClr val="EEF3F8"/>
                    </a:solidFill>
                  </a:tcPr>
                </a:tc>
                <a:tc>
                  <a:txBody>
                    <a:bodyPr wrap="square"/>
                    <a:lstStyle/>
                    <a:p>
                      <a:r>
                        <a:rPr sz="1100">
                          <a:solidFill>
                            <a:srgbClr val="1A1A1A"/>
                          </a:solidFill>
                        </a:rPr>
                        <a:t>One box melts under peak load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driver is really 'don't bet the whole country on one machine'. The price you pay is coordination complexity — the next three concepts (fragmentation, replication, transparency) are how distributed systems manage 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82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Distribute?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national telecom (Ntc/Ncell) keeps regional call and billing records in regional data centres: subscribers in the east are served from a nearby site (locality), one data-centre outage doesn't take the whole network down (reliability), and new regions are added as new sites (scalability). One Kathmandu box could do none of these safely.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"Distribution is just for handling more data." Volume is only one reason — locality (speed for distant users) and reliability (surviving a site failure) are just as important. A national service distributes primarily so that no single failure or bottleneck can take the whole country offline.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Systems distribute for locality (data near users → faster, cheaper access), reliability (no single point of failure — other sites keep serving), and scalability (grow by adding sites, not replacing one server). The trade-off is coordination complexity. This is why national-scale Nepali services (telecoms, government backends, big e-commerce) run distributed rather than on a single machine.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distribution motivation · locality · reliability · scalability · no single point of failure · complexity is the cost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82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Fragmentation</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Fragmentation splits one logical table across sites. HORIZONTAL fragmentation splits ROWS (e.g. by province); VERTICAL fragmentation splits COLUMNS (e.g. public vs sensitive fields); MIXED does both. The full table can always be reconstructed by re-combining the fragments.</a:t>
            </a:r>
          </a:p>
          <a:p>
            <a:pPr>
              <a:spcAft>
                <a:spcPts val="500"/>
              </a:spcAft>
            </a:pPr>
            <a:r>
              <a:rPr sz="1200" b="1">
                <a:solidFill>
                  <a:srgbClr val="185FA5"/>
                </a:solidFill>
              </a:rPr>
              <a:t>HOW IT WORKS</a:t>
            </a:r>
          </a:p>
          <a:p>
            <a:pPr>
              <a:spcAft>
                <a:spcPts val="600"/>
              </a:spcAft>
            </a:pPr>
            <a:r>
              <a:rPr sz="1400">
                <a:solidFill>
                  <a:srgbClr val="1A1A1A"/>
                </a:solidFill>
              </a:rPr>
              <a:t>•  Horizontal: each site keeps its own subset of ROWS (Bagmati rows in KTM, Gandaki rows in Pokhara).</a:t>
            </a:r>
          </a:p>
          <a:p>
            <a:pPr>
              <a:spcAft>
                <a:spcPts val="600"/>
              </a:spcAft>
            </a:pPr>
            <a:r>
              <a:rPr sz="1400">
                <a:solidFill>
                  <a:srgbClr val="1A1A1A"/>
                </a:solidFill>
              </a:rPr>
              <a:t>•  Vertical: split COLUMNS across sites; repeat the key so the pieces can be re-joined.</a:t>
            </a:r>
          </a:p>
          <a:p>
            <a:pPr>
              <a:spcAft>
                <a:spcPts val="600"/>
              </a:spcAft>
            </a:pPr>
            <a:r>
              <a:rPr sz="1400">
                <a:solidFill>
                  <a:srgbClr val="1A1A1A"/>
                </a:solidFill>
              </a:rPr>
              <a:t>•  Mixed: apply both — e.g. split by province, then split sensitive columns off.</a:t>
            </a:r>
          </a:p>
          <a:p>
            <a:pPr>
              <a:spcAft>
                <a:spcPts val="600"/>
              </a:spcAft>
            </a:pPr>
            <a:r>
              <a:rPr sz="1400">
                <a:solidFill>
                  <a:srgbClr val="1A1A1A"/>
                </a:solidFill>
              </a:rPr>
              <a:t>•  Reconstruction: UNION the horizontal fragments, JOIN the vertical ones — no data is lost.</a:t>
            </a:r>
          </a:p>
        </p:txBody>
      </p:sp>
      <p:pic>
        <p:nvPicPr>
          <p:cNvPr id="6" name="Picture 5" descr="s46_fragmentation.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Horizontal = split the ROWS; vertical = split the COLUMNS; mixed = both.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82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Fragmentation types compared</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102068"/>
                <a:gridCol w="2890344"/>
                <a:gridCol w="3810000"/>
                <a:gridCol w="2627586"/>
              </a:tblGrid>
              <a:tr h="883310">
                <a:tc>
                  <a:txBody>
                    <a:bodyPr wrap="square"/>
                    <a:lstStyle/>
                    <a:p>
                      <a:r>
                        <a:rPr sz="1150" b="1">
                          <a:solidFill>
                            <a:srgbClr val="FFFFFF"/>
                          </a:solidFill>
                        </a:rPr>
                        <a:t>Type</a:t>
                      </a:r>
                    </a:p>
                  </a:txBody>
                  <a:tcPr anchor="ctr" marL="73152" marR="54864" marT="27432" marB="27432">
                    <a:solidFill>
                      <a:srgbClr val="0C2B4A"/>
                    </a:solidFill>
                  </a:tcPr>
                </a:tc>
                <a:tc>
                  <a:txBody>
                    <a:bodyPr wrap="square"/>
                    <a:lstStyle/>
                    <a:p>
                      <a:r>
                        <a:rPr sz="1150" b="1">
                          <a:solidFill>
                            <a:srgbClr val="FFFFFF"/>
                          </a:solidFill>
                        </a:rPr>
                        <a:t>What it splits</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c>
                  <a:txBody>
                    <a:bodyPr wrap="square"/>
                    <a:lstStyle/>
                    <a:p>
                      <a:r>
                        <a:rPr sz="1150" b="1">
                          <a:solidFill>
                            <a:srgbClr val="FFFFFF"/>
                          </a:solidFill>
                        </a:rPr>
                        <a:t>Re-assemble by</a:t>
                      </a:r>
                    </a:p>
                  </a:txBody>
                  <a:tcPr anchor="ctr" marL="73152" marR="54864" marT="27432" marB="27432">
                    <a:solidFill>
                      <a:srgbClr val="0C2B4A"/>
                    </a:solidFill>
                  </a:tcPr>
                </a:tc>
              </a:tr>
              <a:tr h="883310">
                <a:tc>
                  <a:txBody>
                    <a:bodyPr wrap="square"/>
                    <a:lstStyle/>
                    <a:p>
                      <a:r>
                        <a:rPr sz="1100" b="1">
                          <a:solidFill>
                            <a:srgbClr val="0C2B4A"/>
                          </a:solidFill>
                        </a:rPr>
                        <a:t>Horizontal</a:t>
                      </a:r>
                    </a:p>
                  </a:txBody>
                  <a:tcPr anchor="ctr" marL="73152" marR="54864" marT="27432" marB="27432">
                    <a:solidFill>
                      <a:srgbClr val="FFFFFF"/>
                    </a:solidFill>
                  </a:tcPr>
                </a:tc>
                <a:tc>
                  <a:txBody>
                    <a:bodyPr wrap="square"/>
                    <a:lstStyle/>
                    <a:p>
                      <a:r>
                        <a:rPr sz="1100">
                          <a:solidFill>
                            <a:srgbClr val="1A1A1A"/>
                          </a:solidFill>
                        </a:rPr>
                        <a:t>Rows (a subset per site)</a:t>
                      </a:r>
                    </a:p>
                  </a:txBody>
                  <a:tcPr anchor="ctr" marL="73152" marR="54864" marT="27432" marB="27432">
                    <a:solidFill>
                      <a:srgbClr val="FFFFFF"/>
                    </a:solidFill>
                  </a:tcPr>
                </a:tc>
                <a:tc>
                  <a:txBody>
                    <a:bodyPr wrap="square"/>
                    <a:lstStyle/>
                    <a:p>
                      <a:r>
                        <a:rPr sz="1100">
                          <a:solidFill>
                            <a:srgbClr val="1A1A1A"/>
                          </a:solidFill>
                        </a:rPr>
                        <a:t>Bagmati rows → KTM; Gandaki → Pokhara</a:t>
                      </a:r>
                    </a:p>
                  </a:txBody>
                  <a:tcPr anchor="ctr" marL="73152" marR="54864" marT="27432" marB="27432">
                    <a:solidFill>
                      <a:srgbClr val="FFFFFF"/>
                    </a:solidFill>
                  </a:tcPr>
                </a:tc>
                <a:tc>
                  <a:txBody>
                    <a:bodyPr wrap="square"/>
                    <a:lstStyle/>
                    <a:p>
                      <a:r>
                        <a:rPr sz="1100">
                          <a:solidFill>
                            <a:srgbClr val="1A1A1A"/>
                          </a:solidFill>
                        </a:rPr>
                        <a:t>UNION the fragments</a:t>
                      </a:r>
                    </a:p>
                  </a:txBody>
                  <a:tcPr anchor="ctr" marL="73152" marR="54864" marT="27432" marB="27432">
                    <a:solidFill>
                      <a:srgbClr val="FFFFFF"/>
                    </a:solidFill>
                  </a:tcPr>
                </a:tc>
              </a:tr>
              <a:tr h="883310">
                <a:tc>
                  <a:txBody>
                    <a:bodyPr wrap="square"/>
                    <a:lstStyle/>
                    <a:p>
                      <a:r>
                        <a:rPr sz="1100" b="1">
                          <a:solidFill>
                            <a:srgbClr val="0C2B4A"/>
                          </a:solidFill>
                        </a:rPr>
                        <a:t>Vertical</a:t>
                      </a:r>
                    </a:p>
                  </a:txBody>
                  <a:tcPr anchor="ctr" marL="73152" marR="54864" marT="27432" marB="27432">
                    <a:solidFill>
                      <a:srgbClr val="EEF3F8"/>
                    </a:solidFill>
                  </a:tcPr>
                </a:tc>
                <a:tc>
                  <a:txBody>
                    <a:bodyPr wrap="square"/>
                    <a:lstStyle/>
                    <a:p>
                      <a:r>
                        <a:rPr sz="1100">
                          <a:solidFill>
                            <a:srgbClr val="1A1A1A"/>
                          </a:solidFill>
                        </a:rPr>
                        <a:t>Columns (a subset per site)</a:t>
                      </a:r>
                    </a:p>
                  </a:txBody>
                  <a:tcPr anchor="ctr" marL="73152" marR="54864" marT="27432" marB="27432">
                    <a:solidFill>
                      <a:srgbClr val="EEF3F8"/>
                    </a:solidFill>
                  </a:tcPr>
                </a:tc>
                <a:tc>
                  <a:txBody>
                    <a:bodyPr wrap="square"/>
                    <a:lstStyle/>
                    <a:p>
                      <a:r>
                        <a:rPr sz="1100">
                          <a:solidFill>
                            <a:srgbClr val="1A1A1A"/>
                          </a:solidFill>
                        </a:rPr>
                        <a:t>Public cols one site, KYC cols another</a:t>
                      </a:r>
                    </a:p>
                  </a:txBody>
                  <a:tcPr anchor="ctr" marL="73152" marR="54864" marT="27432" marB="27432">
                    <a:solidFill>
                      <a:srgbClr val="EEF3F8"/>
                    </a:solidFill>
                  </a:tcPr>
                </a:tc>
                <a:tc>
                  <a:txBody>
                    <a:bodyPr wrap="square"/>
                    <a:lstStyle/>
                    <a:p>
                      <a:r>
                        <a:rPr sz="1100">
                          <a:solidFill>
                            <a:srgbClr val="1A1A1A"/>
                          </a:solidFill>
                        </a:rPr>
                        <a:t>JOIN on the repeated key</a:t>
                      </a:r>
                    </a:p>
                  </a:txBody>
                  <a:tcPr anchor="ctr" marL="73152" marR="54864" marT="27432" marB="27432">
                    <a:solidFill>
                      <a:srgbClr val="EEF3F8"/>
                    </a:solidFill>
                  </a:tcPr>
                </a:tc>
              </a:tr>
              <a:tr h="883310">
                <a:tc>
                  <a:txBody>
                    <a:bodyPr wrap="square"/>
                    <a:lstStyle/>
                    <a:p>
                      <a:r>
                        <a:rPr sz="1100" b="1">
                          <a:solidFill>
                            <a:srgbClr val="0C2B4A"/>
                          </a:solidFill>
                        </a:rPr>
                        <a:t>Mixed / hybrid</a:t>
                      </a:r>
                    </a:p>
                  </a:txBody>
                  <a:tcPr anchor="ctr" marL="73152" marR="54864" marT="27432" marB="27432">
                    <a:solidFill>
                      <a:srgbClr val="FFFFFF"/>
                    </a:solidFill>
                  </a:tcPr>
                </a:tc>
                <a:tc>
                  <a:txBody>
                    <a:bodyPr wrap="square"/>
                    <a:lstStyle/>
                    <a:p>
                      <a:r>
                        <a:rPr sz="1100">
                          <a:solidFill>
                            <a:srgbClr val="1A1A1A"/>
                          </a:solidFill>
                        </a:rPr>
                        <a:t>Both rows and columns</a:t>
                      </a:r>
                    </a:p>
                  </a:txBody>
                  <a:tcPr anchor="ctr" marL="73152" marR="54864" marT="27432" marB="27432">
                    <a:solidFill>
                      <a:srgbClr val="FFFFFF"/>
                    </a:solidFill>
                  </a:tcPr>
                </a:tc>
                <a:tc>
                  <a:txBody>
                    <a:bodyPr wrap="square"/>
                    <a:lstStyle/>
                    <a:p>
                      <a:r>
                        <a:rPr sz="1100">
                          <a:solidFill>
                            <a:srgbClr val="1A1A1A"/>
                          </a:solidFill>
                        </a:rPr>
                        <a:t>Province split, then sensitive cols split</a:t>
                      </a:r>
                    </a:p>
                  </a:txBody>
                  <a:tcPr anchor="ctr" marL="73152" marR="54864" marT="27432" marB="27432">
                    <a:solidFill>
                      <a:srgbClr val="FFFFFF"/>
                    </a:solidFill>
                  </a:tcPr>
                </a:tc>
                <a:tc>
                  <a:txBody>
                    <a:bodyPr wrap="square"/>
                    <a:lstStyle/>
                    <a:p>
                      <a:r>
                        <a:rPr sz="1100">
                          <a:solidFill>
                            <a:srgbClr val="1A1A1A"/>
                          </a:solidFill>
                        </a:rPr>
                        <a:t>UNION then JOIN</a:t>
                      </a:r>
                    </a:p>
                  </a:txBody>
                  <a:tcPr anchor="ctr" marL="73152" marR="54864" marT="27432" marB="27432">
                    <a:solidFill>
                      <a:srgbClr val="FFFFFF"/>
                    </a:solidFill>
                  </a:tcPr>
                </a:tc>
              </a:tr>
              <a:tr h="883312">
                <a:tc>
                  <a:txBody>
                    <a:bodyPr wrap="square"/>
                    <a:lstStyle/>
                    <a:p>
                      <a:r>
                        <a:rPr sz="1100" b="1">
                          <a:solidFill>
                            <a:srgbClr val="0C2B4A"/>
                          </a:solidFill>
                        </a:rPr>
                        <a:t>(No fragmentation)</a:t>
                      </a:r>
                    </a:p>
                  </a:txBody>
                  <a:tcPr anchor="ctr" marL="73152" marR="54864" marT="27432" marB="27432">
                    <a:solidFill>
                      <a:srgbClr val="EEF3F8"/>
                    </a:solidFill>
                  </a:tcPr>
                </a:tc>
                <a:tc>
                  <a:txBody>
                    <a:bodyPr wrap="square"/>
                    <a:lstStyle/>
                    <a:p>
                      <a:r>
                        <a:rPr sz="1100">
                          <a:solidFill>
                            <a:srgbClr val="1A1A1A"/>
                          </a:solidFill>
                        </a:rPr>
                        <a:t>Nothing — one whole table</a:t>
                      </a:r>
                    </a:p>
                  </a:txBody>
                  <a:tcPr anchor="ctr" marL="73152" marR="54864" marT="27432" marB="27432">
                    <a:solidFill>
                      <a:srgbClr val="EEF3F8"/>
                    </a:solidFill>
                  </a:tcPr>
                </a:tc>
                <a:tc>
                  <a:txBody>
                    <a:bodyPr wrap="square"/>
                    <a:lstStyle/>
                    <a:p>
                      <a:r>
                        <a:rPr sz="1100">
                          <a:solidFill>
                            <a:srgbClr val="1A1A1A"/>
                          </a:solidFill>
                        </a:rPr>
                        <a:t>Everything on one KTM server</a:t>
                      </a:r>
                    </a:p>
                  </a:txBody>
                  <a:tcPr anchor="ctr" marL="73152" marR="54864" marT="27432" marB="27432">
                    <a:solidFill>
                      <a:srgbClr val="EEF3F8"/>
                    </a:solidFill>
                  </a:tcPr>
                </a:tc>
                <a:tc>
                  <a:txBody>
                    <a:bodyPr wrap="square"/>
                    <a:lstStyle/>
                    <a:p>
                      <a:r>
                        <a:rPr sz="1100">
                          <a:solidFill>
                            <a:srgbClr val="1A1A1A"/>
                          </a:solidFill>
                        </a:rPr>
                        <a:t>N/A — single copy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Splitting rows by province (horizontal) is the classic case — each region's data lives where its users are, yet a nationwide query still sees one logical table by UNION-ing the fragments.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82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Fragmentation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bank stores each branch's accounts at that branch's site (horizontal fragmentation by branch/province) — fast local access and local ownership — yet head office can still run a nationwide report by UNION-ing the fragments into one logical view. Sensitive columns could additionally be split off (vertical) for tighter control.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"Fragmenting the table means the data is chopped up and lost / can't be queried as a whole." No — fragments are a placement strategy; the full logical table is always reconstructable (UNION for horizontal, JOIN for vertical). Users still query one logical table; only the physical storage is split.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Fragmentation splits one logical table across sites: horizontal splits rows (e.g. by province), vertical splits columns (repeating the key to re-join), and mixed does both. Fragments are recombined losslessly — UNION for horizontal, JOIN for vertical — so the data stays queryable as one logical table while living physically closer to its users.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fragmentation · horizontal (rows) · vertical (columns) · mixed · reconstruct by UNION / JOIN · placement not loss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82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Replication</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Replication keeps COPIES of the same data at multiple sites. It boosts read speed (read from a nearby copy) and availability (if one site fails, another copy answers). The trade-off is keeping every copy CONSISTENT when data is written/updated.</a:t>
            </a:r>
          </a:p>
          <a:p>
            <a:pPr>
              <a:spcAft>
                <a:spcPts val="500"/>
              </a:spcAft>
            </a:pPr>
            <a:r>
              <a:rPr sz="1200" b="1">
                <a:solidFill>
                  <a:srgbClr val="185FA5"/>
                </a:solidFill>
              </a:rPr>
              <a:t>HOW IT WORKS</a:t>
            </a:r>
          </a:p>
          <a:p>
            <a:pPr>
              <a:spcAft>
                <a:spcPts val="600"/>
              </a:spcAft>
            </a:pPr>
            <a:r>
              <a:rPr sz="1400">
                <a:solidFill>
                  <a:srgbClr val="1A1A1A"/>
                </a:solidFill>
              </a:rPr>
              <a:t>•  Improves reads: users read from the closest copy — faster and load-spread.</a:t>
            </a:r>
          </a:p>
          <a:p>
            <a:pPr>
              <a:spcAft>
                <a:spcPts val="600"/>
              </a:spcAft>
            </a:pPr>
            <a:r>
              <a:rPr sz="1400">
                <a:solidFill>
                  <a:srgbClr val="1A1A1A"/>
                </a:solidFill>
              </a:rPr>
              <a:t>•  Improves availability: lose one site, the others still hold the data.</a:t>
            </a:r>
          </a:p>
          <a:p>
            <a:pPr>
              <a:spcAft>
                <a:spcPts val="600"/>
              </a:spcAft>
            </a:pPr>
            <a:r>
              <a:rPr sz="1400">
                <a:solidFill>
                  <a:srgbClr val="1A1A1A"/>
                </a:solidFill>
              </a:rPr>
              <a:t>•  The cost: a write must propagate to every copy, or copies drift out of sync.</a:t>
            </a:r>
          </a:p>
          <a:p>
            <a:pPr>
              <a:spcAft>
                <a:spcPts val="600"/>
              </a:spcAft>
            </a:pPr>
            <a:r>
              <a:rPr sz="1400">
                <a:solidFill>
                  <a:srgbClr val="1A1A1A"/>
                </a:solidFill>
              </a:rPr>
              <a:t>•  Fragmentation and replication are used TOGETHER, not either/or — you fragment, then replicate the fragments.</a:t>
            </a:r>
          </a:p>
        </p:txBody>
      </p:sp>
      <p:pic>
        <p:nvPicPr>
          <p:cNvPr id="6" name="Picture 5" descr="s46_replication.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Replication = photocopying the same notice for every branch's noticeboard.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82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4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Fragmentation vs Replication — split vs copy</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147391"/>
                <a:gridCol w="4141304"/>
                <a:gridCol w="4141304"/>
              </a:tblGrid>
              <a:tr h="630936">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Fragmentation</a:t>
                      </a:r>
                    </a:p>
                  </a:txBody>
                  <a:tcPr anchor="ctr" marL="73152" marR="54864" marT="27432" marB="27432">
                    <a:solidFill>
                      <a:srgbClr val="0C2B4A"/>
                    </a:solidFill>
                  </a:tcPr>
                </a:tc>
                <a:tc>
                  <a:txBody>
                    <a:bodyPr wrap="square"/>
                    <a:lstStyle/>
                    <a:p>
                      <a:r>
                        <a:rPr sz="1150" b="1">
                          <a:solidFill>
                            <a:srgbClr val="FFFFFF"/>
                          </a:solidFill>
                        </a:rPr>
                        <a:t>Replication</a:t>
                      </a:r>
                    </a:p>
                  </a:txBody>
                  <a:tcPr anchor="ctr" marL="73152" marR="54864" marT="27432" marB="27432">
                    <a:solidFill>
                      <a:srgbClr val="0C2B4A"/>
                    </a:solidFill>
                  </a:tcPr>
                </a:tc>
              </a:tr>
              <a:tr h="630936">
                <a:tc>
                  <a:txBody>
                    <a:bodyPr wrap="square"/>
                    <a:lstStyle/>
                    <a:p>
                      <a:r>
                        <a:rPr sz="1100" b="1">
                          <a:solidFill>
                            <a:srgbClr val="0C2B4A"/>
                          </a:solidFill>
                        </a:rPr>
                        <a:t>Does what?</a:t>
                      </a:r>
                    </a:p>
                  </a:txBody>
                  <a:tcPr anchor="ctr" marL="73152" marR="54864" marT="27432" marB="27432">
                    <a:solidFill>
                      <a:srgbClr val="FFFFFF"/>
                    </a:solidFill>
                  </a:tcPr>
                </a:tc>
                <a:tc>
                  <a:txBody>
                    <a:bodyPr wrap="square"/>
                    <a:lstStyle/>
                    <a:p>
                      <a:r>
                        <a:rPr sz="1100">
                          <a:solidFill>
                            <a:srgbClr val="1A1A1A"/>
                          </a:solidFill>
                        </a:rPr>
                        <a:t>SPLITS data across sites</a:t>
                      </a:r>
                    </a:p>
                  </a:txBody>
                  <a:tcPr anchor="ctr" marL="73152" marR="54864" marT="27432" marB="27432">
                    <a:solidFill>
                      <a:srgbClr val="FFFFFF"/>
                    </a:solidFill>
                  </a:tcPr>
                </a:tc>
                <a:tc>
                  <a:txBody>
                    <a:bodyPr wrap="square"/>
                    <a:lstStyle/>
                    <a:p>
                      <a:r>
                        <a:rPr sz="1100">
                          <a:solidFill>
                            <a:srgbClr val="1A1A1A"/>
                          </a:solidFill>
                        </a:rPr>
                        <a:t>COPIES data to many sites</a:t>
                      </a:r>
                    </a:p>
                  </a:txBody>
                  <a:tcPr anchor="ctr" marL="73152" marR="54864" marT="27432" marB="27432">
                    <a:solidFill>
                      <a:srgbClr val="FFFFFF"/>
                    </a:solidFill>
                  </a:tcPr>
                </a:tc>
              </a:tr>
              <a:tr h="630936">
                <a:tc>
                  <a:txBody>
                    <a:bodyPr wrap="square"/>
                    <a:lstStyle/>
                    <a:p>
                      <a:r>
                        <a:rPr sz="1100" b="1">
                          <a:solidFill>
                            <a:srgbClr val="0C2B4A"/>
                          </a:solidFill>
                        </a:rPr>
                        <a:t>Each site holds</a:t>
                      </a:r>
                    </a:p>
                  </a:txBody>
                  <a:tcPr anchor="ctr" marL="73152" marR="54864" marT="27432" marB="27432">
                    <a:solidFill>
                      <a:srgbClr val="EEF3F8"/>
                    </a:solidFill>
                  </a:tcPr>
                </a:tc>
                <a:tc>
                  <a:txBody>
                    <a:bodyPr wrap="square"/>
                    <a:lstStyle/>
                    <a:p>
                      <a:r>
                        <a:rPr sz="1100">
                          <a:solidFill>
                            <a:srgbClr val="1A1A1A"/>
                          </a:solidFill>
                        </a:rPr>
                        <a:t>A different piece</a:t>
                      </a:r>
                    </a:p>
                  </a:txBody>
                  <a:tcPr anchor="ctr" marL="73152" marR="54864" marT="27432" marB="27432">
                    <a:solidFill>
                      <a:srgbClr val="EEF3F8"/>
                    </a:solidFill>
                  </a:tcPr>
                </a:tc>
                <a:tc>
                  <a:txBody>
                    <a:bodyPr wrap="square"/>
                    <a:lstStyle/>
                    <a:p>
                      <a:r>
                        <a:rPr sz="1100">
                          <a:solidFill>
                            <a:srgbClr val="1A1A1A"/>
                          </a:solidFill>
                        </a:rPr>
                        <a:t>The same data</a:t>
                      </a:r>
                    </a:p>
                  </a:txBody>
                  <a:tcPr anchor="ctr" marL="73152" marR="54864" marT="27432" marB="27432">
                    <a:solidFill>
                      <a:srgbClr val="EEF3F8"/>
                    </a:solidFill>
                  </a:tcPr>
                </a:tc>
              </a:tr>
              <a:tr h="630936">
                <a:tc>
                  <a:txBody>
                    <a:bodyPr wrap="square"/>
                    <a:lstStyle/>
                    <a:p>
                      <a:r>
                        <a:rPr sz="1100" b="1">
                          <a:solidFill>
                            <a:srgbClr val="0C2B4A"/>
                          </a:solidFill>
                        </a:rPr>
                        <a:t>Main benefit</a:t>
                      </a:r>
                    </a:p>
                  </a:txBody>
                  <a:tcPr anchor="ctr" marL="73152" marR="54864" marT="27432" marB="27432">
                    <a:solidFill>
                      <a:srgbClr val="FFFFFF"/>
                    </a:solidFill>
                  </a:tcPr>
                </a:tc>
                <a:tc>
                  <a:txBody>
                    <a:bodyPr wrap="square"/>
                    <a:lstStyle/>
                    <a:p>
                      <a:r>
                        <a:rPr sz="1100">
                          <a:solidFill>
                            <a:srgbClr val="1A1A1A"/>
                          </a:solidFill>
                        </a:rPr>
                        <a:t>Locality + spread the storage</a:t>
                      </a:r>
                    </a:p>
                  </a:txBody>
                  <a:tcPr anchor="ctr" marL="73152" marR="54864" marT="27432" marB="27432">
                    <a:solidFill>
                      <a:srgbClr val="FFFFFF"/>
                    </a:solidFill>
                  </a:tcPr>
                </a:tc>
                <a:tc>
                  <a:txBody>
                    <a:bodyPr wrap="square"/>
                    <a:lstStyle/>
                    <a:p>
                      <a:r>
                        <a:rPr sz="1100">
                          <a:solidFill>
                            <a:srgbClr val="1A1A1A"/>
                          </a:solidFill>
                        </a:rPr>
                        <a:t>Faster reads + availability</a:t>
                      </a:r>
                    </a:p>
                  </a:txBody>
                  <a:tcPr anchor="ctr" marL="73152" marR="54864" marT="27432" marB="27432">
                    <a:solidFill>
                      <a:srgbClr val="FFFFFF"/>
                    </a:solidFill>
                  </a:tcPr>
                </a:tc>
              </a:tr>
              <a:tr h="630936">
                <a:tc>
                  <a:txBody>
                    <a:bodyPr wrap="square"/>
                    <a:lstStyle/>
                    <a:p>
                      <a:r>
                        <a:rPr sz="1100" b="1">
                          <a:solidFill>
                            <a:srgbClr val="0C2B4A"/>
                          </a:solidFill>
                        </a:rPr>
                        <a:t>Main cost</a:t>
                      </a:r>
                    </a:p>
                  </a:txBody>
                  <a:tcPr anchor="ctr" marL="73152" marR="54864" marT="27432" marB="27432">
                    <a:solidFill>
                      <a:srgbClr val="EEF3F8"/>
                    </a:solidFill>
                  </a:tcPr>
                </a:tc>
                <a:tc>
                  <a:txBody>
                    <a:bodyPr wrap="square"/>
                    <a:lstStyle/>
                    <a:p>
                      <a:r>
                        <a:rPr sz="1100">
                          <a:solidFill>
                            <a:srgbClr val="1A1A1A"/>
                          </a:solidFill>
                        </a:rPr>
                        <a:t>Reassembly on cross-site queries</a:t>
                      </a:r>
                    </a:p>
                  </a:txBody>
                  <a:tcPr anchor="ctr" marL="73152" marR="54864" marT="27432" marB="27432">
                    <a:solidFill>
                      <a:srgbClr val="EEF3F8"/>
                    </a:solidFill>
                  </a:tcPr>
                </a:tc>
                <a:tc>
                  <a:txBody>
                    <a:bodyPr wrap="square"/>
                    <a:lstStyle/>
                    <a:p>
                      <a:r>
                        <a:rPr sz="1100">
                          <a:solidFill>
                            <a:srgbClr val="1A1A1A"/>
                          </a:solidFill>
                        </a:rPr>
                        <a:t>Keeping copies consistent on writes</a:t>
                      </a:r>
                    </a:p>
                  </a:txBody>
                  <a:tcPr anchor="ctr" marL="73152" marR="54864" marT="27432" marB="27432">
                    <a:solidFill>
                      <a:srgbClr val="EEF3F8"/>
                    </a:solidFill>
                  </a:tcPr>
                </a:tc>
              </a:tr>
              <a:tr h="630936">
                <a:tc>
                  <a:txBody>
                    <a:bodyPr wrap="square"/>
                    <a:lstStyle/>
                    <a:p>
                      <a:r>
                        <a:rPr sz="1100" b="1">
                          <a:solidFill>
                            <a:srgbClr val="0C2B4A"/>
                          </a:solidFill>
                        </a:rPr>
                        <a:t>Used together?</a:t>
                      </a:r>
                    </a:p>
                  </a:txBody>
                  <a:tcPr anchor="ctr" marL="73152" marR="54864" marT="27432" marB="27432">
                    <a:solidFill>
                      <a:srgbClr val="FFFFFF"/>
                    </a:solidFill>
                  </a:tcPr>
                </a:tc>
                <a:tc>
                  <a:txBody>
                    <a:bodyPr wrap="square"/>
                    <a:lstStyle/>
                    <a:p>
                      <a:r>
                        <a:rPr sz="1100">
                          <a:solidFill>
                            <a:srgbClr val="1A1A1A"/>
                          </a:solidFill>
                        </a:rPr>
                        <a:t>Yes — usually with replication</a:t>
                      </a:r>
                    </a:p>
                  </a:txBody>
                  <a:tcPr anchor="ctr" marL="73152" marR="54864" marT="27432" marB="27432">
                    <a:solidFill>
                      <a:srgbClr val="FFFFFF"/>
                    </a:solidFill>
                  </a:tcPr>
                </a:tc>
                <a:tc>
                  <a:txBody>
                    <a:bodyPr wrap="square"/>
                    <a:lstStyle/>
                    <a:p>
                      <a:r>
                        <a:rPr sz="1100">
                          <a:solidFill>
                            <a:srgbClr val="1A1A1A"/>
                          </a:solidFill>
                        </a:rPr>
                        <a:t>Yes — replicate the fragments</a:t>
                      </a:r>
                    </a:p>
                  </a:txBody>
                  <a:tcPr anchor="ctr" marL="73152" marR="54864" marT="27432" marB="27432">
                    <a:solidFill>
                      <a:srgbClr val="FFFFFF"/>
                    </a:solidFill>
                  </a:tcPr>
                </a:tc>
              </a:tr>
              <a:tr h="630936">
                <a:tc>
                  <a:txBody>
                    <a:bodyPr wrap="square"/>
                    <a:lstStyle/>
                    <a:p>
                      <a:r>
                        <a:rPr sz="1100" b="1">
                          <a:solidFill>
                            <a:srgbClr val="0C2B4A"/>
                          </a:solidFill>
                        </a:rPr>
                        <a:t>Analogy</a:t>
                      </a:r>
                    </a:p>
                  </a:txBody>
                  <a:tcPr anchor="ctr" marL="73152" marR="54864" marT="27432" marB="27432">
                    <a:solidFill>
                      <a:srgbClr val="EEF3F8"/>
                    </a:solidFill>
                  </a:tcPr>
                </a:tc>
                <a:tc>
                  <a:txBody>
                    <a:bodyPr wrap="square"/>
                    <a:lstStyle/>
                    <a:p>
                      <a:r>
                        <a:rPr sz="1100">
                          <a:solidFill>
                            <a:srgbClr val="1A1A1A"/>
                          </a:solidFill>
                        </a:rPr>
                        <a:t>Tear the notice into regional parts</a:t>
                      </a:r>
                    </a:p>
                  </a:txBody>
                  <a:tcPr anchor="ctr" marL="73152" marR="54864" marT="27432" marB="27432">
                    <a:solidFill>
                      <a:srgbClr val="EEF3F8"/>
                    </a:solidFill>
                  </a:tcPr>
                </a:tc>
                <a:tc>
                  <a:txBody>
                    <a:bodyPr wrap="square"/>
                    <a:lstStyle/>
                    <a:p>
                      <a:r>
                        <a:rPr sz="1100">
                          <a:solidFill>
                            <a:srgbClr val="1A1A1A"/>
                          </a:solidFill>
                        </a:rPr>
                        <a:t>Photocopy the whole notice per branch</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They are NOT opposites you must choose between. Real systems fragment (place data near users) AND replicate (copy key data for speed and resilience) at the same time.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82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Replication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national e-commerce site replicates its product catalogue to every regional site: shoppers everywhere read a nearby copy instantly, and if one data centre fails, others still serve the catalogue. Because the catalogue is read far more than it's updated, the consistency cost of propagating occasional price changes is well worth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"Replication and fragmentation are opposites — you must choose one." They're complementary: you fragment data by region for locality AND replicate hot, read-mostly data (like a catalogue) for speed and availability. The real design decision is WHICH data to replicate, given the write-consistency cost.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Replication keeps copies of the same data at multiple sites, improving read speed (read a nearby copy) and availability (survive a site failure); its cost is keeping copies consistent when data is written. It is combined with fragmentation — not opposed to it — so systems fragment data by locality and replicate read-mostly data (e.g. a product catalogue) for performance and resilience.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replication · copies at many sites · faster reads + availability · consistency cost on writes · combined with fragmentation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82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5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Distribution Transparency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Distribution transparency means the user/application does NOT need to know where data lives, or that it is fragmented or replicated. Three kinds: LOCATION (don't know which site), FRAGMENTATION (don't know it's split), REPLICATION (don't know there are copies). The system hides the distribution behind one simple logical view.</a:t>
            </a:r>
          </a:p>
          <a:p>
            <a:pPr>
              <a:spcAft>
                <a:spcPts val="500"/>
              </a:spcAft>
            </a:pPr>
            <a:r>
              <a:rPr sz="1200" b="1">
                <a:solidFill>
                  <a:srgbClr val="185FA5"/>
                </a:solidFill>
              </a:rPr>
              <a:t>HOW IT WORKS</a:t>
            </a:r>
          </a:p>
          <a:p>
            <a:pPr>
              <a:spcAft>
                <a:spcPts val="600"/>
              </a:spcAft>
            </a:pPr>
            <a:r>
              <a:rPr sz="1400">
                <a:solidFill>
                  <a:srgbClr val="1A1A1A"/>
                </a:solidFill>
              </a:rPr>
              <a:t>•  Location transparency: query without naming a site — the system finds the data.</a:t>
            </a:r>
          </a:p>
          <a:p>
            <a:pPr>
              <a:spcAft>
                <a:spcPts val="600"/>
              </a:spcAft>
            </a:pPr>
            <a:r>
              <a:rPr sz="1400">
                <a:solidFill>
                  <a:srgbClr val="1A1A1A"/>
                </a:solidFill>
              </a:rPr>
              <a:t>•  Fragmentation transparency: query the whole table; the system gathers the fragments.</a:t>
            </a:r>
          </a:p>
          <a:p>
            <a:pPr>
              <a:spcAft>
                <a:spcPts val="600"/>
              </a:spcAft>
            </a:pPr>
            <a:r>
              <a:rPr sz="1400">
                <a:solidFill>
                  <a:srgbClr val="1A1A1A"/>
                </a:solidFill>
              </a:rPr>
              <a:t>•  Replication transparency: the system picks a copy and keeps copies in sync for you.</a:t>
            </a:r>
          </a:p>
          <a:p>
            <a:pPr>
              <a:spcAft>
                <a:spcPts val="600"/>
              </a:spcAft>
            </a:pPr>
            <a:r>
              <a:rPr sz="1400">
                <a:solidFill>
                  <a:srgbClr val="1A1A1A"/>
                </a:solidFill>
              </a:rPr>
              <a:t>•  This is Unit 1's data independence, at the distribution level: hide the inside, keep the outside simple.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Transparency = 'hide the inside, keep the outside simple' — the Unit 1 idea, for distribution.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82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5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Three kinds of distribution transparency</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126511"/>
                <a:gridCol w="3056860"/>
                <a:gridCol w="3056860"/>
                <a:gridCol w="3189767"/>
              </a:tblGrid>
              <a:tr h="1104138">
                <a:tc>
                  <a:txBody>
                    <a:bodyPr wrap="square"/>
                    <a:lstStyle/>
                    <a:p>
                      <a:r>
                        <a:rPr sz="1150" b="1">
                          <a:solidFill>
                            <a:srgbClr val="FFFFFF"/>
                          </a:solidFill>
                        </a:rPr>
                        <a:t>Transparency</a:t>
                      </a:r>
                    </a:p>
                  </a:txBody>
                  <a:tcPr anchor="ctr" marL="73152" marR="54864" marT="27432" marB="27432">
                    <a:solidFill>
                      <a:srgbClr val="0C2B4A"/>
                    </a:solidFill>
                  </a:tcPr>
                </a:tc>
                <a:tc>
                  <a:txBody>
                    <a:bodyPr wrap="square"/>
                    <a:lstStyle/>
                    <a:p>
                      <a:r>
                        <a:rPr sz="1150" b="1">
                          <a:solidFill>
                            <a:srgbClr val="FFFFFF"/>
                          </a:solidFill>
                        </a:rPr>
                        <a:t>What it hides</a:t>
                      </a:r>
                    </a:p>
                  </a:txBody>
                  <a:tcPr anchor="ctr" marL="73152" marR="54864" marT="27432" marB="27432">
                    <a:solidFill>
                      <a:srgbClr val="0C2B4A"/>
                    </a:solidFill>
                  </a:tcPr>
                </a:tc>
                <a:tc>
                  <a:txBody>
                    <a:bodyPr wrap="square"/>
                    <a:lstStyle/>
                    <a:p>
                      <a:r>
                        <a:rPr sz="1150" b="1">
                          <a:solidFill>
                            <a:srgbClr val="FFFFFF"/>
                          </a:solidFill>
                        </a:rPr>
                        <a:t>What the user sees</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1104138">
                <a:tc>
                  <a:txBody>
                    <a:bodyPr wrap="square"/>
                    <a:lstStyle/>
                    <a:p>
                      <a:r>
                        <a:rPr sz="1100" b="1">
                          <a:solidFill>
                            <a:srgbClr val="0C2B4A"/>
                          </a:solidFill>
                        </a:rPr>
                        <a:t>Location</a:t>
                      </a:r>
                    </a:p>
                  </a:txBody>
                  <a:tcPr anchor="ctr" marL="73152" marR="54864" marT="27432" marB="27432">
                    <a:solidFill>
                      <a:srgbClr val="FFFFFF"/>
                    </a:solidFill>
                  </a:tcPr>
                </a:tc>
                <a:tc>
                  <a:txBody>
                    <a:bodyPr wrap="square"/>
                    <a:lstStyle/>
                    <a:p>
                      <a:r>
                        <a:rPr sz="1100">
                          <a:solidFill>
                            <a:srgbClr val="1A1A1A"/>
                          </a:solidFill>
                        </a:rPr>
                        <a:t>Which site stores the data</a:t>
                      </a:r>
                    </a:p>
                  </a:txBody>
                  <a:tcPr anchor="ctr" marL="73152" marR="54864" marT="27432" marB="27432">
                    <a:solidFill>
                      <a:srgbClr val="FFFFFF"/>
                    </a:solidFill>
                  </a:tcPr>
                </a:tc>
                <a:tc>
                  <a:txBody>
                    <a:bodyPr wrap="square"/>
                    <a:lstStyle/>
                    <a:p>
                      <a:r>
                        <a:rPr sz="1100">
                          <a:solidFill>
                            <a:srgbClr val="1A1A1A"/>
                          </a:solidFill>
                        </a:rPr>
                        <a:t>Just query — no site named</a:t>
                      </a:r>
                    </a:p>
                  </a:txBody>
                  <a:tcPr anchor="ctr" marL="73152" marR="54864" marT="27432" marB="27432">
                    <a:solidFill>
                      <a:srgbClr val="FFFFFF"/>
                    </a:solidFill>
                  </a:tcPr>
                </a:tc>
                <a:tc>
                  <a:txBody>
                    <a:bodyPr wrap="square"/>
                    <a:lstStyle/>
                    <a:p>
                      <a:r>
                        <a:rPr sz="1100">
                          <a:solidFill>
                            <a:srgbClr val="1A1A1A"/>
                          </a:solidFill>
                        </a:rPr>
                        <a:t>Daraz search 'just works'</a:t>
                      </a:r>
                    </a:p>
                  </a:txBody>
                  <a:tcPr anchor="ctr" marL="73152" marR="54864" marT="27432" marB="27432">
                    <a:solidFill>
                      <a:srgbClr val="FFFFFF"/>
                    </a:solidFill>
                  </a:tcPr>
                </a:tc>
              </a:tr>
              <a:tr h="1104138">
                <a:tc>
                  <a:txBody>
                    <a:bodyPr wrap="square"/>
                    <a:lstStyle/>
                    <a:p>
                      <a:r>
                        <a:rPr sz="1100" b="1">
                          <a:solidFill>
                            <a:srgbClr val="0C2B4A"/>
                          </a:solidFill>
                        </a:rPr>
                        <a:t>Fragmentation</a:t>
                      </a:r>
                    </a:p>
                  </a:txBody>
                  <a:tcPr anchor="ctr" marL="73152" marR="54864" marT="27432" marB="27432">
                    <a:solidFill>
                      <a:srgbClr val="EEF3F8"/>
                    </a:solidFill>
                  </a:tcPr>
                </a:tc>
                <a:tc>
                  <a:txBody>
                    <a:bodyPr wrap="square"/>
                    <a:lstStyle/>
                    <a:p>
                      <a:r>
                        <a:rPr sz="1100">
                          <a:solidFill>
                            <a:srgbClr val="1A1A1A"/>
                          </a:solidFill>
                        </a:rPr>
                        <a:t>That the table is split</a:t>
                      </a:r>
                    </a:p>
                  </a:txBody>
                  <a:tcPr anchor="ctr" marL="73152" marR="54864" marT="27432" marB="27432">
                    <a:solidFill>
                      <a:srgbClr val="EEF3F8"/>
                    </a:solidFill>
                  </a:tcPr>
                </a:tc>
                <a:tc>
                  <a:txBody>
                    <a:bodyPr wrap="square"/>
                    <a:lstStyle/>
                    <a:p>
                      <a:r>
                        <a:rPr sz="1100">
                          <a:solidFill>
                            <a:srgbClr val="1A1A1A"/>
                          </a:solidFill>
                        </a:rPr>
                        <a:t>One logical whole table</a:t>
                      </a:r>
                    </a:p>
                  </a:txBody>
                  <a:tcPr anchor="ctr" marL="73152" marR="54864" marT="27432" marB="27432">
                    <a:solidFill>
                      <a:srgbClr val="EEF3F8"/>
                    </a:solidFill>
                  </a:tcPr>
                </a:tc>
                <a:tc>
                  <a:txBody>
                    <a:bodyPr wrap="square"/>
                    <a:lstStyle/>
                    <a:p>
                      <a:r>
                        <a:rPr sz="1100">
                          <a:solidFill>
                            <a:srgbClr val="1A1A1A"/>
                          </a:solidFill>
                        </a:rPr>
                        <a:t>Nationwide report over provinces</a:t>
                      </a:r>
                    </a:p>
                  </a:txBody>
                  <a:tcPr anchor="ctr" marL="73152" marR="54864" marT="27432" marB="27432">
                    <a:solidFill>
                      <a:srgbClr val="EEF3F8"/>
                    </a:solidFill>
                  </a:tcPr>
                </a:tc>
              </a:tr>
              <a:tr h="1104138">
                <a:tc>
                  <a:txBody>
                    <a:bodyPr wrap="square"/>
                    <a:lstStyle/>
                    <a:p>
                      <a:r>
                        <a:rPr sz="1100" b="1">
                          <a:solidFill>
                            <a:srgbClr val="0C2B4A"/>
                          </a:solidFill>
                        </a:rPr>
                        <a:t>Replication</a:t>
                      </a:r>
                    </a:p>
                  </a:txBody>
                  <a:tcPr anchor="ctr" marL="73152" marR="54864" marT="27432" marB="27432">
                    <a:solidFill>
                      <a:srgbClr val="FFFFFF"/>
                    </a:solidFill>
                  </a:tcPr>
                </a:tc>
                <a:tc>
                  <a:txBody>
                    <a:bodyPr wrap="square"/>
                    <a:lstStyle/>
                    <a:p>
                      <a:r>
                        <a:rPr sz="1100">
                          <a:solidFill>
                            <a:srgbClr val="1A1A1A"/>
                          </a:solidFill>
                        </a:rPr>
                        <a:t>That copies exist</a:t>
                      </a:r>
                    </a:p>
                  </a:txBody>
                  <a:tcPr anchor="ctr" marL="73152" marR="54864" marT="27432" marB="27432">
                    <a:solidFill>
                      <a:srgbClr val="FFFFFF"/>
                    </a:solidFill>
                  </a:tcPr>
                </a:tc>
                <a:tc>
                  <a:txBody>
                    <a:bodyPr wrap="square"/>
                    <a:lstStyle/>
                    <a:p>
                      <a:r>
                        <a:rPr sz="1100">
                          <a:solidFill>
                            <a:srgbClr val="1A1A1A"/>
                          </a:solidFill>
                        </a:rPr>
                        <a:t>One consistent value</a:t>
                      </a:r>
                    </a:p>
                  </a:txBody>
                  <a:tcPr anchor="ctr" marL="73152" marR="54864" marT="27432" marB="27432">
                    <a:solidFill>
                      <a:srgbClr val="FFFFFF"/>
                    </a:solidFill>
                  </a:tcPr>
                </a:tc>
                <a:tc>
                  <a:txBody>
                    <a:bodyPr wrap="square"/>
                    <a:lstStyle/>
                    <a:p>
                      <a:r>
                        <a:rPr sz="1100">
                          <a:solidFill>
                            <a:srgbClr val="1A1A1A"/>
                          </a:solidFill>
                        </a:rPr>
                        <a:t>Catalogue reads from any copy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All three add up to one promise: the user works with a single simple logical database and the DBMS quietly handles WHERE the data is, whether it's SPLIT, and whether it's COPIED — the distributed echo of Unit 1's data independence.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82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5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Distribution Transparency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Daraz shopper in Biratnagar searches once and gets results — never knowing which data centre answered, whether the catalogue was fragmented by region, or that they read a replicated copy. That is distribution transparency: the messy distributed reality is hidden behind one simple 'search' — exactly Unit 1's data independence at the distribution level.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"In a distributed database, the app must track which site holds each piece of data." No — transparency means the DBMS hides location, fragmentation, and replication; the app queries one logical database. Making the app aware of sites would be brittle and defeat the whole point.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Distribution transparency lets users and applications query a distributed database without knowing where data resides (location), that it is split (fragmentation), or that copies exist (replication) — the DBMS hides all of it behind one logical view. It is the distributed-level form of Unit 1's data independence: hide the internal structure, keep the external interface simple.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distribution transparency · location · fragmentation · replication · one logical view · = data independence (Unit 1)</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82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S46 — 'Fragment, replicate, or both?'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design data placement for a national e-commerce site in Nepal.</a:t>
            </a:r>
          </a:p>
          <a:p>
            <a:pPr>
              <a:spcAft>
                <a:spcPts val="700"/>
              </a:spcAft>
            </a:pPr>
            <a:r>
              <a:rPr sz="1550">
                <a:solidFill>
                  <a:srgbClr val="1A1A1A"/>
                </a:solidFill>
              </a:rPr>
              <a:t>•  Decide: fragment the customer/order data by province? Replicate the product catalogue? Both?</a:t>
            </a:r>
          </a:p>
          <a:p>
            <a:pPr>
              <a:spcAft>
                <a:spcPts val="700"/>
              </a:spcAft>
            </a:pPr>
            <a:r>
              <a:rPr sz="1550">
                <a:solidFill>
                  <a:srgbClr val="1A1A1A"/>
                </a:solidFill>
              </a:rPr>
              <a:t>•  Justify each choice with locality, reliability, or read/write cost.</a:t>
            </a:r>
          </a:p>
          <a:p>
            <a:pPr>
              <a:spcAft>
                <a:spcPts val="700"/>
              </a:spcAft>
            </a:pPr>
            <a:r>
              <a:rPr sz="1550">
                <a:solidFill>
                  <a:srgbClr val="1A1A1A"/>
                </a:solidFill>
              </a:rPr>
              <a:t>•  Take 3–4 answers aloud (3 min); check that they keep 'fragment = split' and 'replicate = copy' distinct.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Strong answer: fragment orders/customers by province (locality, local ownership) AND replicate the read-mostly product catalogue everywhere (fast reads, availability). The point: real systems do BOTH, matched to how each dataset is read vs written.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82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Splitting a customer table so each province's ROWS live at that province's site is:</a:t>
            </a:r>
          </a:p>
          <a:p>
            <a:pPr lvl="1"/>
            <a:r>
              <a:rPr sz="1500" b="1">
                <a:solidFill>
                  <a:srgbClr val="0F6E56"/>
                </a:solidFill>
              </a:rPr>
              <a:t>a) vertical fragmentation   b) ✅ horizontal fragmentation   c) replication   d) indexing</a:t>
            </a:r>
          </a:p>
          <a:p>
            <a:pPr lvl="1">
              <a:spcBef>
                <a:spcPts val="600"/>
              </a:spcBef>
            </a:pPr>
            <a:r>
              <a:rPr sz="1500" i="1">
                <a:solidFill>
                  <a:srgbClr val="1A1A1A"/>
                </a:solidFill>
              </a:rPr>
              <a:t>     Why: horizontal fragmentation splits ROWS (a subset per site); vertical splits columns.</a:t>
            </a:r>
          </a:p>
          <a:p>
            <a:pPr>
              <a:spcBef>
                <a:spcPts val="900"/>
              </a:spcBef>
            </a:pPr>
            <a:r>
              <a:rPr sz="1700" b="1">
                <a:solidFill>
                  <a:srgbClr val="0C2B4A"/>
                </a:solidFill>
              </a:rPr>
              <a:t>Q2.  A user querying a distributed DB WITHOUT knowing data locations is enabled by:</a:t>
            </a:r>
          </a:p>
          <a:p>
            <a:pPr lvl="1"/>
            <a:r>
              <a:rPr sz="1500" b="1">
                <a:solidFill>
                  <a:srgbClr val="0F6E56"/>
                </a:solidFill>
              </a:rPr>
              <a:t>a) ✅ distribution / location transparency   b) indexing   c) encryption   d) normalization</a:t>
            </a:r>
          </a:p>
          <a:p>
            <a:pPr lvl="1">
              <a:spcBef>
                <a:spcPts val="600"/>
              </a:spcBef>
            </a:pPr>
            <a:r>
              <a:rPr sz="1500" i="1">
                <a:solidFill>
                  <a:srgbClr val="1A1A1A"/>
                </a:solidFill>
              </a:rPr>
              <a:t>     Why: transparency hides where data lives, whether it's split, and whether it's copied.</a:t>
            </a:r>
          </a:p>
          <a:p>
            <a:pPr lvl="1">
              <a:spcBef>
                <a:spcPts val="600"/>
              </a:spcBef>
            </a:pPr>
            <a:r>
              <a:rPr sz="1500" i="1">
                <a:solidFill>
                  <a:srgbClr val="1A1A1A"/>
                </a:solidFill>
              </a:rPr>
              <a:t>Discussion: for a national e-commerce site, fragment by province, replicate the catalogue, or both —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82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Parallel = one site, more power; distributed = many sites, one logical DB (locality, reliability, scalability).</a:t>
            </a:r>
          </a:p>
          <a:p>
            <a:pPr>
              <a:spcAft>
                <a:spcPts val="800"/>
              </a:spcAft>
            </a:pPr>
            <a:r>
              <a:rPr sz="1500">
                <a:solidFill>
                  <a:srgbClr val="1A1A1A"/>
                </a:solidFill>
              </a:rPr>
              <a:t>2.  Fragmentation SPLITS data (horizontal = rows, vertical = columns); replication COPIES it — real systems use both.</a:t>
            </a:r>
          </a:p>
          <a:p>
            <a:pPr>
              <a:spcAft>
                <a:spcPts val="800"/>
              </a:spcAft>
            </a:pPr>
            <a:r>
              <a:rPr sz="1500">
                <a:solidFill>
                  <a:srgbClr val="1A1A1A"/>
                </a:solidFill>
              </a:rPr>
              <a:t>3.  Distribution transparency hides location, fragmentation, and replication — the app just sees one logical database.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large Nepali/regional service — telecoms, the Nagarik App backend, big e-commerce — is distributed for reliability and locality. This is how systems stay up when one site fails.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S47 — turning operational data into INSIGHT: data warehousing, data mining, BigData, and NoSQL.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82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47 · LECTURE HOUR 3 (OF 4)</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Data Warehousing &amp; Mining · BigData · NoSQL</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eSewa runs your wallet RIGHT NOW — fast, tiny transactions. But how does eSewa figure out 'which districts spend most during Tihar'? Different job, different kind of database.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46 / 82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OLTP vs OLAP</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OLTP (Online Transaction Processing) handles MANY small, fast read/write transactions — the RUNNING of the business. OLAP (Online Analytical Processing) handles FEW large, complex read queries over history — the ANALYSIS of the business. They have opposite workloads, so they run on separate systems.</a:t>
            </a:r>
          </a:p>
          <a:p>
            <a:pPr>
              <a:spcAft>
                <a:spcPts val="500"/>
              </a:spcAft>
            </a:pPr>
            <a:r>
              <a:rPr sz="1200" b="1">
                <a:solidFill>
                  <a:srgbClr val="185FA5"/>
                </a:solidFill>
              </a:rPr>
              <a:t>HOW IT WORKS</a:t>
            </a:r>
          </a:p>
          <a:p>
            <a:pPr>
              <a:spcAft>
                <a:spcPts val="600"/>
              </a:spcAft>
            </a:pPr>
            <a:r>
              <a:rPr sz="1400">
                <a:solidFill>
                  <a:srgbClr val="1A1A1A"/>
                </a:solidFill>
              </a:rPr>
              <a:t>•  OLTP: tiny, frequent operations (a payment, a booking) — optimized for fast writes.</a:t>
            </a:r>
          </a:p>
          <a:p>
            <a:pPr>
              <a:spcAft>
                <a:spcPts val="600"/>
              </a:spcAft>
            </a:pPr>
            <a:r>
              <a:rPr sz="1400">
                <a:solidFill>
                  <a:srgbClr val="1A1A1A"/>
                </a:solidFill>
              </a:rPr>
              <a:t>•  OLAP: big historical aggregations (spend by district by month) — optimized for complex reads.</a:t>
            </a:r>
          </a:p>
          <a:p>
            <a:pPr>
              <a:spcAft>
                <a:spcPts val="600"/>
              </a:spcAft>
            </a:pPr>
            <a:r>
              <a:rPr sz="1400">
                <a:solidFill>
                  <a:srgbClr val="1A1A1A"/>
                </a:solidFill>
              </a:rPr>
              <a:t>•  Mixing heavy analytics onto the live OLTP database slows down real customers.</a:t>
            </a:r>
          </a:p>
          <a:p>
            <a:pPr>
              <a:spcAft>
                <a:spcPts val="600"/>
              </a:spcAft>
            </a:pPr>
            <a:r>
              <a:rPr sz="1400">
                <a:solidFill>
                  <a:srgbClr val="1A1A1A"/>
                </a:solidFill>
              </a:rPr>
              <a:t>•  So: OLTP runs the business; OLAP (in a warehouse) analyzes it — kept separate on purpose.</a:t>
            </a:r>
          </a:p>
        </p:txBody>
      </p:sp>
      <p:pic>
        <p:nvPicPr>
          <p:cNvPr id="6" name="Picture 5" descr="s47_etl_warehouse.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OLTP = run the business (tiny writes); OLAP = analyze it (big historical reads).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82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1 · §7A DEPTH</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OLTP vs OLAP</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775857"/>
                <a:gridCol w="4245428"/>
                <a:gridCol w="4408714"/>
              </a:tblGrid>
              <a:tr h="630936">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OLTP (run the business)</a:t>
                      </a:r>
                    </a:p>
                  </a:txBody>
                  <a:tcPr anchor="ctr" marL="73152" marR="54864" marT="27432" marB="27432">
                    <a:solidFill>
                      <a:srgbClr val="0C2B4A"/>
                    </a:solidFill>
                  </a:tcPr>
                </a:tc>
                <a:tc>
                  <a:txBody>
                    <a:bodyPr wrap="square"/>
                    <a:lstStyle/>
                    <a:p>
                      <a:r>
                        <a:rPr sz="1150" b="1">
                          <a:solidFill>
                            <a:srgbClr val="FFFFFF"/>
                          </a:solidFill>
                        </a:rPr>
                        <a:t>OLAP (analyze the business)</a:t>
                      </a:r>
                    </a:p>
                  </a:txBody>
                  <a:tcPr anchor="ctr" marL="73152" marR="54864" marT="27432" marB="27432">
                    <a:solidFill>
                      <a:srgbClr val="0C2B4A"/>
                    </a:solidFill>
                  </a:tcPr>
                </a:tc>
              </a:tr>
              <a:tr h="630936">
                <a:tc>
                  <a:txBody>
                    <a:bodyPr wrap="square"/>
                    <a:lstStyle/>
                    <a:p>
                      <a:r>
                        <a:rPr sz="1100" b="1">
                          <a:solidFill>
                            <a:srgbClr val="0C2B4A"/>
                          </a:solidFill>
                        </a:rPr>
                        <a:t>Workload</a:t>
                      </a:r>
                    </a:p>
                  </a:txBody>
                  <a:tcPr anchor="ctr" marL="73152" marR="54864" marT="27432" marB="27432">
                    <a:solidFill>
                      <a:srgbClr val="FFFFFF"/>
                    </a:solidFill>
                  </a:tcPr>
                </a:tc>
                <a:tc>
                  <a:txBody>
                    <a:bodyPr wrap="square"/>
                    <a:lstStyle/>
                    <a:p>
                      <a:r>
                        <a:rPr sz="1100">
                          <a:solidFill>
                            <a:srgbClr val="1A1A1A"/>
                          </a:solidFill>
                        </a:rPr>
                        <a:t>Many small read/write txns</a:t>
                      </a:r>
                    </a:p>
                  </a:txBody>
                  <a:tcPr anchor="ctr" marL="73152" marR="54864" marT="27432" marB="27432">
                    <a:solidFill>
                      <a:srgbClr val="FFFFFF"/>
                    </a:solidFill>
                  </a:tcPr>
                </a:tc>
                <a:tc>
                  <a:txBody>
                    <a:bodyPr wrap="square"/>
                    <a:lstStyle/>
                    <a:p>
                      <a:r>
                        <a:rPr sz="1100">
                          <a:solidFill>
                            <a:srgbClr val="1A1A1A"/>
                          </a:solidFill>
                        </a:rPr>
                        <a:t>Few large, complex read queries</a:t>
                      </a:r>
                    </a:p>
                  </a:txBody>
                  <a:tcPr anchor="ctr" marL="73152" marR="54864" marT="27432" marB="27432">
                    <a:solidFill>
                      <a:srgbClr val="FFFFFF"/>
                    </a:solidFill>
                  </a:tcPr>
                </a:tc>
              </a:tr>
              <a:tr h="630936">
                <a:tc>
                  <a:txBody>
                    <a:bodyPr wrap="square"/>
                    <a:lstStyle/>
                    <a:p>
                      <a:r>
                        <a:rPr sz="1100" b="1">
                          <a:solidFill>
                            <a:srgbClr val="0C2B4A"/>
                          </a:solidFill>
                        </a:rPr>
                        <a:t>Data</a:t>
                      </a:r>
                    </a:p>
                  </a:txBody>
                  <a:tcPr anchor="ctr" marL="73152" marR="54864" marT="27432" marB="27432">
                    <a:solidFill>
                      <a:srgbClr val="EEF3F8"/>
                    </a:solidFill>
                  </a:tcPr>
                </a:tc>
                <a:tc>
                  <a:txBody>
                    <a:bodyPr wrap="square"/>
                    <a:lstStyle/>
                    <a:p>
                      <a:r>
                        <a:rPr sz="1100">
                          <a:solidFill>
                            <a:srgbClr val="1A1A1A"/>
                          </a:solidFill>
                        </a:rPr>
                        <a:t>Current, operational</a:t>
                      </a:r>
                    </a:p>
                  </a:txBody>
                  <a:tcPr anchor="ctr" marL="73152" marR="54864" marT="27432" marB="27432">
                    <a:solidFill>
                      <a:srgbClr val="EEF3F8"/>
                    </a:solidFill>
                  </a:tcPr>
                </a:tc>
                <a:tc>
                  <a:txBody>
                    <a:bodyPr wrap="square"/>
                    <a:lstStyle/>
                    <a:p>
                      <a:r>
                        <a:rPr sz="1100">
                          <a:solidFill>
                            <a:srgbClr val="1A1A1A"/>
                          </a:solidFill>
                        </a:rPr>
                        <a:t>Historical, aggregated</a:t>
                      </a:r>
                    </a:p>
                  </a:txBody>
                  <a:tcPr anchor="ctr" marL="73152" marR="54864" marT="27432" marB="27432">
                    <a:solidFill>
                      <a:srgbClr val="EEF3F8"/>
                    </a:solidFill>
                  </a:tcPr>
                </a:tc>
              </a:tr>
              <a:tr h="630936">
                <a:tc>
                  <a:txBody>
                    <a:bodyPr wrap="square"/>
                    <a:lstStyle/>
                    <a:p>
                      <a:r>
                        <a:rPr sz="1100" b="1">
                          <a:solidFill>
                            <a:srgbClr val="0C2B4A"/>
                          </a:solidFill>
                        </a:rPr>
                        <a:t>Optimized for</a:t>
                      </a:r>
                    </a:p>
                  </a:txBody>
                  <a:tcPr anchor="ctr" marL="73152" marR="54864" marT="27432" marB="27432">
                    <a:solidFill>
                      <a:srgbClr val="FFFFFF"/>
                    </a:solidFill>
                  </a:tcPr>
                </a:tc>
                <a:tc>
                  <a:txBody>
                    <a:bodyPr wrap="square"/>
                    <a:lstStyle/>
                    <a:p>
                      <a:r>
                        <a:rPr sz="1100">
                          <a:solidFill>
                            <a:srgbClr val="1A1A1A"/>
                          </a:solidFill>
                        </a:rPr>
                        <a:t>Fast writes &amp; lookups</a:t>
                      </a:r>
                    </a:p>
                  </a:txBody>
                  <a:tcPr anchor="ctr" marL="73152" marR="54864" marT="27432" marB="27432">
                    <a:solidFill>
                      <a:srgbClr val="FFFFFF"/>
                    </a:solidFill>
                  </a:tcPr>
                </a:tc>
                <a:tc>
                  <a:txBody>
                    <a:bodyPr wrap="square"/>
                    <a:lstStyle/>
                    <a:p>
                      <a:r>
                        <a:rPr sz="1100">
                          <a:solidFill>
                            <a:srgbClr val="1A1A1A"/>
                          </a:solidFill>
                        </a:rPr>
                        <a:t>Complex reads &amp; aggregation</a:t>
                      </a:r>
                    </a:p>
                  </a:txBody>
                  <a:tcPr anchor="ctr" marL="73152" marR="54864" marT="27432" marB="27432">
                    <a:solidFill>
                      <a:srgbClr val="FFFFFF"/>
                    </a:solidFill>
                  </a:tcPr>
                </a:tc>
              </a:tr>
              <a:tr h="630936">
                <a:tc>
                  <a:txBody>
                    <a:bodyPr wrap="square"/>
                    <a:lstStyle/>
                    <a:p>
                      <a:r>
                        <a:rPr sz="1100" b="1">
                          <a:solidFill>
                            <a:srgbClr val="0C2B4A"/>
                          </a:solidFill>
                        </a:rPr>
                        <a:t>Typical query</a:t>
                      </a:r>
                    </a:p>
                  </a:txBody>
                  <a:tcPr anchor="ctr" marL="73152" marR="54864" marT="27432" marB="27432">
                    <a:solidFill>
                      <a:srgbClr val="EEF3F8"/>
                    </a:solidFill>
                  </a:tcPr>
                </a:tc>
                <a:tc>
                  <a:txBody>
                    <a:bodyPr wrap="square"/>
                    <a:lstStyle/>
                    <a:p>
                      <a:r>
                        <a:rPr sz="1100">
                          <a:solidFill>
                            <a:srgbClr val="1A1A1A"/>
                          </a:solidFill>
                        </a:rPr>
                        <a:t>'Record this Khalti payment'</a:t>
                      </a:r>
                    </a:p>
                  </a:txBody>
                  <a:tcPr anchor="ctr" marL="73152" marR="54864" marT="27432" marB="27432">
                    <a:solidFill>
                      <a:srgbClr val="EEF3F8"/>
                    </a:solidFill>
                  </a:tcPr>
                </a:tc>
                <a:tc>
                  <a:txBody>
                    <a:bodyPr wrap="square"/>
                    <a:lstStyle/>
                    <a:p>
                      <a:r>
                        <a:rPr sz="1100">
                          <a:solidFill>
                            <a:srgbClr val="1A1A1A"/>
                          </a:solidFill>
                        </a:rPr>
                        <a:t>'Spend by district this Tihar'</a:t>
                      </a:r>
                    </a:p>
                  </a:txBody>
                  <a:tcPr anchor="ctr" marL="73152" marR="54864" marT="27432" marB="27432">
                    <a:solidFill>
                      <a:srgbClr val="EEF3F8"/>
                    </a:solidFill>
                  </a:tcPr>
                </a:tc>
              </a:tr>
              <a:tr h="630936">
                <a:tc>
                  <a:txBody>
                    <a:bodyPr wrap="square"/>
                    <a:lstStyle/>
                    <a:p>
                      <a:r>
                        <a:rPr sz="1100" b="1">
                          <a:solidFill>
                            <a:srgbClr val="0C2B4A"/>
                          </a:solidFill>
                        </a:rPr>
                        <a:t>Users</a:t>
                      </a:r>
                    </a:p>
                  </a:txBody>
                  <a:tcPr anchor="ctr" marL="73152" marR="54864" marT="27432" marB="27432">
                    <a:solidFill>
                      <a:srgbClr val="FFFFFF"/>
                    </a:solidFill>
                  </a:tcPr>
                </a:tc>
                <a:tc>
                  <a:txBody>
                    <a:bodyPr wrap="square"/>
                    <a:lstStyle/>
                    <a:p>
                      <a:r>
                        <a:rPr sz="1100">
                          <a:solidFill>
                            <a:srgbClr val="1A1A1A"/>
                          </a:solidFill>
                        </a:rPr>
                        <a:t>Customers, front-line apps</a:t>
                      </a:r>
                    </a:p>
                  </a:txBody>
                  <a:tcPr anchor="ctr" marL="73152" marR="54864" marT="27432" marB="27432">
                    <a:solidFill>
                      <a:srgbClr val="FFFFFF"/>
                    </a:solidFill>
                  </a:tcPr>
                </a:tc>
                <a:tc>
                  <a:txBody>
                    <a:bodyPr wrap="square"/>
                    <a:lstStyle/>
                    <a:p>
                      <a:r>
                        <a:rPr sz="1100">
                          <a:solidFill>
                            <a:srgbClr val="1A1A1A"/>
                          </a:solidFill>
                        </a:rPr>
                        <a:t>Analysts, management dashboards</a:t>
                      </a:r>
                    </a:p>
                  </a:txBody>
                  <a:tcPr anchor="ctr" marL="73152" marR="54864" marT="27432" marB="27432">
                    <a:solidFill>
                      <a:srgbClr val="FFFFFF"/>
                    </a:solidFill>
                  </a:tcPr>
                </a:tc>
              </a:tr>
              <a:tr h="630936">
                <a:tc>
                  <a:txBody>
                    <a:bodyPr wrap="square"/>
                    <a:lstStyle/>
                    <a:p>
                      <a:r>
                        <a:rPr sz="1100" b="1">
                          <a:solidFill>
                            <a:srgbClr val="0C2B4A"/>
                          </a:solidFill>
                        </a:rPr>
                        <a:t>Lives in</a:t>
                      </a:r>
                    </a:p>
                  </a:txBody>
                  <a:tcPr anchor="ctr" marL="73152" marR="54864" marT="27432" marB="27432">
                    <a:solidFill>
                      <a:srgbClr val="EEF3F8"/>
                    </a:solidFill>
                  </a:tcPr>
                </a:tc>
                <a:tc>
                  <a:txBody>
                    <a:bodyPr wrap="square"/>
                    <a:lstStyle/>
                    <a:p>
                      <a:r>
                        <a:rPr sz="1100">
                          <a:solidFill>
                            <a:srgbClr val="1A1A1A"/>
                          </a:solidFill>
                        </a:rPr>
                        <a:t>The operational database</a:t>
                      </a:r>
                    </a:p>
                  </a:txBody>
                  <a:tcPr anchor="ctr" marL="73152" marR="54864" marT="27432" marB="27432">
                    <a:solidFill>
                      <a:srgbClr val="EEF3F8"/>
                    </a:solidFill>
                  </a:tcPr>
                </a:tc>
                <a:tc>
                  <a:txBody>
                    <a:bodyPr wrap="square"/>
                    <a:lstStyle/>
                    <a:p>
                      <a:r>
                        <a:rPr sz="1100">
                          <a:solidFill>
                            <a:srgbClr val="1A1A1A"/>
                          </a:solidFill>
                        </a:rPr>
                        <a:t>A data warehouse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Opposite workloads → separate systems. Running OLAP reports on the live OLTP database is the classic mistake: the heavy analytics query slows down paying customers.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82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OLTP vs OLAP</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single Khalti payment being recorded is OLTP — tiny, instant, happening thousands of times a minute. 'Monthly spending trend by city' is OLAP — one big query over months of history, run by analysts. Khalti keeps them apart: the wallet stays fast because the heavy report runs on a separate warehouse, not the live DB.</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"One database should do both transactions AND analytics well." Their workloads are opposite, so mixing heavy OLAP queries onto the live OLTP system slows down customers. The standard fix is to separate them — copy data into a warehouse (via ETL) for analysis.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OLTP handles many small, fast read/write transactions (running the business — e.g. recording a payment), while OLAP handles few large, complex read queries over historical data (analyzing the business — e.g. spend-by-city trends). Their workloads are opposite, so they run on separate systems: the operational OLTP database and a separate OLAP data warehouse.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OLTP (run, tiny writes) · OLAP (analyze, big reads) · current vs historical · separate systems · don't mix workloads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82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Warehousing</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data warehouse is a separate, subject-oriented, integrated store of HISTORICAL data built for analysis (OLAP). It is read-mostly, organized for reporting, and fed from many operational systems. Its typical layout is the STAR SCHEMA — one central fact table surrounded by dimension tables.</a:t>
            </a:r>
          </a:p>
          <a:p>
            <a:pPr>
              <a:spcAft>
                <a:spcPts val="500"/>
              </a:spcAft>
            </a:pPr>
            <a:r>
              <a:rPr sz="1200" b="1">
                <a:solidFill>
                  <a:srgbClr val="185FA5"/>
                </a:solidFill>
              </a:rPr>
              <a:t>HOW IT WORKS</a:t>
            </a:r>
          </a:p>
          <a:p>
            <a:pPr>
              <a:spcAft>
                <a:spcPts val="600"/>
              </a:spcAft>
            </a:pPr>
            <a:r>
              <a:rPr sz="1400">
                <a:solidFill>
                  <a:srgbClr val="1A1A1A"/>
                </a:solidFill>
              </a:rPr>
              <a:t>•  Subject-oriented &amp; integrated: pooled from many sources into a consistent whole.</a:t>
            </a:r>
          </a:p>
          <a:p>
            <a:pPr>
              <a:spcAft>
                <a:spcPts val="600"/>
              </a:spcAft>
            </a:pPr>
            <a:r>
              <a:rPr sz="1400">
                <a:solidFill>
                  <a:srgbClr val="1A1A1A"/>
                </a:solidFill>
              </a:rPr>
              <a:t>•  Historical &amp; read-mostly: you add to it and read it; you don't run live transactions on it.</a:t>
            </a:r>
          </a:p>
          <a:p>
            <a:pPr>
              <a:spcAft>
                <a:spcPts val="600"/>
              </a:spcAft>
            </a:pPr>
            <a:r>
              <a:rPr sz="1400">
                <a:solidFill>
                  <a:srgbClr val="1A1A1A"/>
                </a:solidFill>
              </a:rPr>
              <a:t>•  Star schema: a central FACT table (the measured events) linked to DIMENSION tables (date, product, place).</a:t>
            </a:r>
          </a:p>
          <a:p>
            <a:pPr>
              <a:spcAft>
                <a:spcPts val="600"/>
              </a:spcAft>
            </a:pPr>
            <a:r>
              <a:rPr sz="1400">
                <a:solidFill>
                  <a:srgbClr val="1A1A1A"/>
                </a:solidFill>
              </a:rPr>
              <a:t>•  Purpose: fast, flexible reporting and dashboards for decision-makers.</a:t>
            </a:r>
          </a:p>
        </p:txBody>
      </p:sp>
      <p:pic>
        <p:nvPicPr>
          <p:cNvPr id="6" name="Picture 5" descr="s47_star_schema.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Operational DBs = the daily cash drawer; the warehouse = the audited archive room.</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82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Operational database vs Data warehouse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50434"/>
                <a:gridCol w="4306956"/>
                <a:gridCol w="4472608"/>
              </a:tblGrid>
              <a:tr h="630936">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Operational DB (OLTP)</a:t>
                      </a:r>
                    </a:p>
                  </a:txBody>
                  <a:tcPr anchor="ctr" marL="73152" marR="54864" marT="27432" marB="27432">
                    <a:solidFill>
                      <a:srgbClr val="0C2B4A"/>
                    </a:solidFill>
                  </a:tcPr>
                </a:tc>
                <a:tc>
                  <a:txBody>
                    <a:bodyPr wrap="square"/>
                    <a:lstStyle/>
                    <a:p>
                      <a:r>
                        <a:rPr sz="1150" b="1">
                          <a:solidFill>
                            <a:srgbClr val="FFFFFF"/>
                          </a:solidFill>
                        </a:rPr>
                        <a:t>Data warehouse (OLAP)</a:t>
                      </a:r>
                    </a:p>
                  </a:txBody>
                  <a:tcPr anchor="ctr" marL="73152" marR="54864" marT="27432" marB="27432">
                    <a:solidFill>
                      <a:srgbClr val="0C2B4A"/>
                    </a:solidFill>
                  </a:tcPr>
                </a:tc>
              </a:tr>
              <a:tr h="630936">
                <a:tc>
                  <a:txBody>
                    <a:bodyPr wrap="square"/>
                    <a:lstStyle/>
                    <a:p>
                      <a:r>
                        <a:rPr sz="1100" b="1">
                          <a:solidFill>
                            <a:srgbClr val="0C2B4A"/>
                          </a:solidFill>
                        </a:rPr>
                        <a:t>Data age</a:t>
                      </a:r>
                    </a:p>
                  </a:txBody>
                  <a:tcPr anchor="ctr" marL="73152" marR="54864" marT="27432" marB="27432">
                    <a:solidFill>
                      <a:srgbClr val="FFFFFF"/>
                    </a:solidFill>
                  </a:tcPr>
                </a:tc>
                <a:tc>
                  <a:txBody>
                    <a:bodyPr wrap="square"/>
                    <a:lstStyle/>
                    <a:p>
                      <a:r>
                        <a:rPr sz="1100">
                          <a:solidFill>
                            <a:srgbClr val="1A1A1A"/>
                          </a:solidFill>
                        </a:rPr>
                        <a:t>Current</a:t>
                      </a:r>
                    </a:p>
                  </a:txBody>
                  <a:tcPr anchor="ctr" marL="73152" marR="54864" marT="27432" marB="27432">
                    <a:solidFill>
                      <a:srgbClr val="FFFFFF"/>
                    </a:solidFill>
                  </a:tcPr>
                </a:tc>
                <a:tc>
                  <a:txBody>
                    <a:bodyPr wrap="square"/>
                    <a:lstStyle/>
                    <a:p>
                      <a:r>
                        <a:rPr sz="1100">
                          <a:solidFill>
                            <a:srgbClr val="1A1A1A"/>
                          </a:solidFill>
                        </a:rPr>
                        <a:t>Historical (months/years)</a:t>
                      </a:r>
                    </a:p>
                  </a:txBody>
                  <a:tcPr anchor="ctr" marL="73152" marR="54864" marT="27432" marB="27432">
                    <a:solidFill>
                      <a:srgbClr val="FFFFFF"/>
                    </a:solidFill>
                  </a:tcPr>
                </a:tc>
              </a:tr>
              <a:tr h="630936">
                <a:tc>
                  <a:txBody>
                    <a:bodyPr wrap="square"/>
                    <a:lstStyle/>
                    <a:p>
                      <a:r>
                        <a:rPr sz="1100" b="1">
                          <a:solidFill>
                            <a:srgbClr val="0C2B4A"/>
                          </a:solidFill>
                        </a:rPr>
                        <a:t>Main operation</a:t>
                      </a:r>
                    </a:p>
                  </a:txBody>
                  <a:tcPr anchor="ctr" marL="73152" marR="54864" marT="27432" marB="27432">
                    <a:solidFill>
                      <a:srgbClr val="EEF3F8"/>
                    </a:solidFill>
                  </a:tcPr>
                </a:tc>
                <a:tc>
                  <a:txBody>
                    <a:bodyPr wrap="square"/>
                    <a:lstStyle/>
                    <a:p>
                      <a:r>
                        <a:rPr sz="1100">
                          <a:solidFill>
                            <a:srgbClr val="1A1A1A"/>
                          </a:solidFill>
                        </a:rPr>
                        <a:t>Read + write (transactions)</a:t>
                      </a:r>
                    </a:p>
                  </a:txBody>
                  <a:tcPr anchor="ctr" marL="73152" marR="54864" marT="27432" marB="27432">
                    <a:solidFill>
                      <a:srgbClr val="EEF3F8"/>
                    </a:solidFill>
                  </a:tcPr>
                </a:tc>
                <a:tc>
                  <a:txBody>
                    <a:bodyPr wrap="square"/>
                    <a:lstStyle/>
                    <a:p>
                      <a:r>
                        <a:rPr sz="1100">
                          <a:solidFill>
                            <a:srgbClr val="1A1A1A"/>
                          </a:solidFill>
                        </a:rPr>
                        <a:t>Read-mostly (analysis)</a:t>
                      </a:r>
                    </a:p>
                  </a:txBody>
                  <a:tcPr anchor="ctr" marL="73152" marR="54864" marT="27432" marB="27432">
                    <a:solidFill>
                      <a:srgbClr val="EEF3F8"/>
                    </a:solidFill>
                  </a:tcPr>
                </a:tc>
              </a:tr>
              <a:tr h="630936">
                <a:tc>
                  <a:txBody>
                    <a:bodyPr wrap="square"/>
                    <a:lstStyle/>
                    <a:p>
                      <a:r>
                        <a:rPr sz="1100" b="1">
                          <a:solidFill>
                            <a:srgbClr val="0C2B4A"/>
                          </a:solidFill>
                        </a:rPr>
                        <a:t>Organized for</a:t>
                      </a:r>
                    </a:p>
                  </a:txBody>
                  <a:tcPr anchor="ctr" marL="73152" marR="54864" marT="27432" marB="27432">
                    <a:solidFill>
                      <a:srgbClr val="FFFFFF"/>
                    </a:solidFill>
                  </a:tcPr>
                </a:tc>
                <a:tc>
                  <a:txBody>
                    <a:bodyPr wrap="square"/>
                    <a:lstStyle/>
                    <a:p>
                      <a:r>
                        <a:rPr sz="1100">
                          <a:solidFill>
                            <a:srgbClr val="1A1A1A"/>
                          </a:solidFill>
                        </a:rPr>
                        <a:t>Fast transactions</a:t>
                      </a:r>
                    </a:p>
                  </a:txBody>
                  <a:tcPr anchor="ctr" marL="73152" marR="54864" marT="27432" marB="27432">
                    <a:solidFill>
                      <a:srgbClr val="FFFFFF"/>
                    </a:solidFill>
                  </a:tcPr>
                </a:tc>
                <a:tc>
                  <a:txBody>
                    <a:bodyPr wrap="square"/>
                    <a:lstStyle/>
                    <a:p>
                      <a:r>
                        <a:rPr sz="1100">
                          <a:solidFill>
                            <a:srgbClr val="1A1A1A"/>
                          </a:solidFill>
                        </a:rPr>
                        <a:t>Fast reporting / aggregation</a:t>
                      </a:r>
                    </a:p>
                  </a:txBody>
                  <a:tcPr anchor="ctr" marL="73152" marR="54864" marT="27432" marB="27432">
                    <a:solidFill>
                      <a:srgbClr val="FFFFFF"/>
                    </a:solidFill>
                  </a:tcPr>
                </a:tc>
              </a:tr>
              <a:tr h="630936">
                <a:tc>
                  <a:txBody>
                    <a:bodyPr wrap="square"/>
                    <a:lstStyle/>
                    <a:p>
                      <a:r>
                        <a:rPr sz="1100" b="1">
                          <a:solidFill>
                            <a:srgbClr val="0C2B4A"/>
                          </a:solidFill>
                        </a:rPr>
                        <a:t>Sources</a:t>
                      </a:r>
                    </a:p>
                  </a:txBody>
                  <a:tcPr anchor="ctr" marL="73152" marR="54864" marT="27432" marB="27432">
                    <a:solidFill>
                      <a:srgbClr val="EEF3F8"/>
                    </a:solidFill>
                  </a:tcPr>
                </a:tc>
                <a:tc>
                  <a:txBody>
                    <a:bodyPr wrap="square"/>
                    <a:lstStyle/>
                    <a:p>
                      <a:r>
                        <a:rPr sz="1100">
                          <a:solidFill>
                            <a:srgbClr val="1A1A1A"/>
                          </a:solidFill>
                        </a:rPr>
                        <a:t>One running application</a:t>
                      </a:r>
                    </a:p>
                  </a:txBody>
                  <a:tcPr anchor="ctr" marL="73152" marR="54864" marT="27432" marB="27432">
                    <a:solidFill>
                      <a:srgbClr val="EEF3F8"/>
                    </a:solidFill>
                  </a:tcPr>
                </a:tc>
                <a:tc>
                  <a:txBody>
                    <a:bodyPr wrap="square"/>
                    <a:lstStyle/>
                    <a:p>
                      <a:r>
                        <a:rPr sz="1100">
                          <a:solidFill>
                            <a:srgbClr val="1A1A1A"/>
                          </a:solidFill>
                        </a:rPr>
                        <a:t>Many systems integrated</a:t>
                      </a:r>
                    </a:p>
                  </a:txBody>
                  <a:tcPr anchor="ctr" marL="73152" marR="54864" marT="27432" marB="27432">
                    <a:solidFill>
                      <a:srgbClr val="EEF3F8"/>
                    </a:solidFill>
                  </a:tcPr>
                </a:tc>
              </a:tr>
              <a:tr h="630936">
                <a:tc>
                  <a:txBody>
                    <a:bodyPr wrap="square"/>
                    <a:lstStyle/>
                    <a:p>
                      <a:r>
                        <a:rPr sz="1100" b="1">
                          <a:solidFill>
                            <a:srgbClr val="0C2B4A"/>
                          </a:solidFill>
                        </a:rPr>
                        <a:t>Schema style</a:t>
                      </a:r>
                    </a:p>
                  </a:txBody>
                  <a:tcPr anchor="ctr" marL="73152" marR="54864" marT="27432" marB="27432">
                    <a:solidFill>
                      <a:srgbClr val="FFFFFF"/>
                    </a:solidFill>
                  </a:tcPr>
                </a:tc>
                <a:tc>
                  <a:txBody>
                    <a:bodyPr wrap="square"/>
                    <a:lstStyle/>
                    <a:p>
                      <a:r>
                        <a:rPr sz="1100">
                          <a:solidFill>
                            <a:srgbClr val="1A1A1A"/>
                          </a:solidFill>
                        </a:rPr>
                        <a:t>Normalized tables</a:t>
                      </a:r>
                    </a:p>
                  </a:txBody>
                  <a:tcPr anchor="ctr" marL="73152" marR="54864" marT="27432" marB="27432">
                    <a:solidFill>
                      <a:srgbClr val="FFFFFF"/>
                    </a:solidFill>
                  </a:tcPr>
                </a:tc>
                <a:tc>
                  <a:txBody>
                    <a:bodyPr wrap="square"/>
                    <a:lstStyle/>
                    <a:p>
                      <a:r>
                        <a:rPr sz="1100">
                          <a:solidFill>
                            <a:srgbClr val="1A1A1A"/>
                          </a:solidFill>
                        </a:rPr>
                        <a:t>Star schema (fact + dimensions)</a:t>
                      </a:r>
                    </a:p>
                  </a:txBody>
                  <a:tcPr anchor="ctr" marL="73152" marR="54864" marT="27432" marB="27432">
                    <a:solidFill>
                      <a:srgbClr val="FFFFFF"/>
                    </a:solidFill>
                  </a:tcPr>
                </a:tc>
              </a:tr>
              <a:tr h="630936">
                <a:tc>
                  <a:txBody>
                    <a:bodyPr wrap="square"/>
                    <a:lstStyle/>
                    <a:p>
                      <a:r>
                        <a:rPr sz="1100" b="1">
                          <a:solidFill>
                            <a:srgbClr val="0C2B4A"/>
                          </a:solidFill>
                        </a:rPr>
                        <a:t>Nepal example</a:t>
                      </a:r>
                    </a:p>
                  </a:txBody>
                  <a:tcPr anchor="ctr" marL="73152" marR="54864" marT="27432" marB="27432">
                    <a:solidFill>
                      <a:srgbClr val="EEF3F8"/>
                    </a:solidFill>
                  </a:tcPr>
                </a:tc>
                <a:tc>
                  <a:txBody>
                    <a:bodyPr wrap="square"/>
                    <a:lstStyle/>
                    <a:p>
                      <a:r>
                        <a:rPr sz="1100">
                          <a:solidFill>
                            <a:srgbClr val="1A1A1A"/>
                          </a:solidFill>
                        </a:rPr>
                        <a:t>A branch's live accounts</a:t>
                      </a:r>
                    </a:p>
                  </a:txBody>
                  <a:tcPr anchor="ctr" marL="73152" marR="54864" marT="27432" marB="27432">
                    <a:solidFill>
                      <a:srgbClr val="EEF3F8"/>
                    </a:solidFill>
                  </a:tcPr>
                </a:tc>
                <a:tc>
                  <a:txBody>
                    <a:bodyPr wrap="square"/>
                    <a:lstStyle/>
                    <a:p>
                      <a:r>
                        <a:rPr sz="1100">
                          <a:solidFill>
                            <a:srgbClr val="1A1A1A"/>
                          </a:solidFill>
                        </a:rPr>
                        <a:t>Bank-wide dashboard warehouse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warehouse is a purpose-built ANALYSIS store, not just a backup of the live DB — it integrates many sources, keeps history, and is shaped (star schema) for slicing reports quickly.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82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Warehousing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bank pools data from its branches, card system, and loan system into one data warehouse for management dashboards — 'loans by district over five years', 'card spend by month'. The live branch databases stay lean and fast; the warehouse holds the integrated history, laid out as a star schema so analysts can slice by date, product, and region.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warehouse is just a copy/backup of the operational database." It is a separate, integrated, historical store organized for ANALYSIS (star schema), pooled from many systems — not a mirror of one live DB. Its whole purpose is reporting without touching the transaction systems.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data warehouse is a separate, subject-oriented, integrated, historical, read-mostly store built for analysis (OLAP), fed from many operational systems and typically laid out as a star schema (a central fact table linked to dimension tables). It lets decision-makers run large reports quickly without slowing the live OLTP systems.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data warehouse · subject-oriented · integrated · historical · read-mostly · star schema (fact + dimensions)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82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ETL — Extract, Transform, Load</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ETL is the pipeline that moves data from operational systems INTO the warehouse. EXTRACT pulls data from the sources; TRANSFORM cleans and standardizes it (the hard part); LOAD writes it into the warehouse. Without ETL, the warehouse would be a pile of inconsistent, unusable data.</a:t>
            </a:r>
          </a:p>
          <a:p>
            <a:pPr>
              <a:spcAft>
                <a:spcPts val="500"/>
              </a:spcAft>
            </a:pPr>
            <a:r>
              <a:rPr sz="1200" b="1">
                <a:solidFill>
                  <a:srgbClr val="185FA5"/>
                </a:solidFill>
              </a:rPr>
              <a:t>HOW IT WORKS</a:t>
            </a:r>
          </a:p>
          <a:p>
            <a:pPr>
              <a:spcAft>
                <a:spcPts val="600"/>
              </a:spcAft>
            </a:pPr>
            <a:r>
              <a:rPr sz="1400">
                <a:solidFill>
                  <a:srgbClr val="1A1A1A"/>
                </a:solidFill>
              </a:rPr>
              <a:t>•  Extract: read data out of many source systems (each with its own format).</a:t>
            </a:r>
          </a:p>
          <a:p>
            <a:pPr>
              <a:spcAft>
                <a:spcPts val="600"/>
              </a:spcAft>
            </a:pPr>
            <a:r>
              <a:rPr sz="1400">
                <a:solidFill>
                  <a:srgbClr val="1A1A1A"/>
                </a:solidFill>
              </a:rPr>
              <a:t>•  Transform: clean, standardize, de-duplicate, and reconcile formats — this is where the real work is.</a:t>
            </a:r>
          </a:p>
          <a:p>
            <a:pPr>
              <a:spcAft>
                <a:spcPts val="600"/>
              </a:spcAft>
            </a:pPr>
            <a:r>
              <a:rPr sz="1400">
                <a:solidFill>
                  <a:srgbClr val="1A1A1A"/>
                </a:solidFill>
              </a:rPr>
              <a:t>•  Load: write the cleaned, integrated data into the warehouse.</a:t>
            </a:r>
          </a:p>
          <a:p>
            <a:pPr>
              <a:spcAft>
                <a:spcPts val="600"/>
              </a:spcAft>
            </a:pPr>
            <a:r>
              <a:rPr sz="1400">
                <a:solidFill>
                  <a:srgbClr val="1A1A1A"/>
                </a:solidFill>
              </a:rPr>
              <a:t>•  It runs on a schedule (e.g. nightly) so the warehouse stays reasonably up to date.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ETL is the kitchen that turns messy raw ingredients (sources) into a clean dish (the warehouse).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82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ETL — the three steps (and why Transform is the hard one)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727790"/>
                <a:gridCol w="3189767"/>
                <a:gridCol w="3455581"/>
                <a:gridCol w="3056860"/>
              </a:tblGrid>
              <a:tr h="1104138">
                <a:tc>
                  <a:txBody>
                    <a:bodyPr wrap="square"/>
                    <a:lstStyle/>
                    <a:p>
                      <a:r>
                        <a:rPr sz="1150" b="1">
                          <a:solidFill>
                            <a:srgbClr val="FFFFFF"/>
                          </a:solidFill>
                        </a:rPr>
                        <a:t>Step</a:t>
                      </a:r>
                    </a:p>
                  </a:txBody>
                  <a:tcPr anchor="ctr" marL="73152" marR="54864" marT="27432" marB="27432">
                    <a:solidFill>
                      <a:srgbClr val="0C2B4A"/>
                    </a:solidFill>
                  </a:tcPr>
                </a:tc>
                <a:tc>
                  <a:txBody>
                    <a:bodyPr wrap="square"/>
                    <a:lstStyle/>
                    <a:p>
                      <a:r>
                        <a:rPr sz="1150" b="1">
                          <a:solidFill>
                            <a:srgbClr val="FFFFFF"/>
                          </a:solidFill>
                        </a:rPr>
                        <a:t>What it does</a:t>
                      </a:r>
                    </a:p>
                  </a:txBody>
                  <a:tcPr anchor="ctr" marL="73152" marR="54864" marT="27432" marB="27432">
                    <a:solidFill>
                      <a:srgbClr val="0C2B4A"/>
                    </a:solidFill>
                  </a:tcPr>
                </a:tc>
                <a:tc>
                  <a:txBody>
                    <a:bodyPr wrap="square"/>
                    <a:lstStyle/>
                    <a:p>
                      <a:r>
                        <a:rPr sz="1150" b="1">
                          <a:solidFill>
                            <a:srgbClr val="FFFFFF"/>
                          </a:solidFill>
                        </a:rPr>
                        <a:t>Example</a:t>
                      </a:r>
                    </a:p>
                  </a:txBody>
                  <a:tcPr anchor="ctr" marL="73152" marR="54864" marT="27432" marB="27432">
                    <a:solidFill>
                      <a:srgbClr val="0C2B4A"/>
                    </a:solidFill>
                  </a:tcPr>
                </a:tc>
                <a:tc>
                  <a:txBody>
                    <a:bodyPr wrap="square"/>
                    <a:lstStyle/>
                    <a:p>
                      <a:r>
                        <a:rPr sz="1150" b="1">
                          <a:solidFill>
                            <a:srgbClr val="FFFFFF"/>
                          </a:solidFill>
                        </a:rPr>
                        <a:t>Why it matters</a:t>
                      </a:r>
                    </a:p>
                  </a:txBody>
                  <a:tcPr anchor="ctr" marL="73152" marR="54864" marT="27432" marB="27432">
                    <a:solidFill>
                      <a:srgbClr val="0C2B4A"/>
                    </a:solidFill>
                  </a:tcPr>
                </a:tc>
              </a:tr>
              <a:tr h="1104138">
                <a:tc>
                  <a:txBody>
                    <a:bodyPr wrap="square"/>
                    <a:lstStyle/>
                    <a:p>
                      <a:r>
                        <a:rPr sz="1100" b="1">
                          <a:solidFill>
                            <a:srgbClr val="0C2B4A"/>
                          </a:solidFill>
                        </a:rPr>
                        <a:t>Extract</a:t>
                      </a:r>
                    </a:p>
                  </a:txBody>
                  <a:tcPr anchor="ctr" marL="73152" marR="54864" marT="27432" marB="27432">
                    <a:solidFill>
                      <a:srgbClr val="FFFFFF"/>
                    </a:solidFill>
                  </a:tcPr>
                </a:tc>
                <a:tc>
                  <a:txBody>
                    <a:bodyPr wrap="square"/>
                    <a:lstStyle/>
                    <a:p>
                      <a:r>
                        <a:rPr sz="1100">
                          <a:solidFill>
                            <a:srgbClr val="1A1A1A"/>
                          </a:solidFill>
                        </a:rPr>
                        <a:t>Pull data from source systems</a:t>
                      </a:r>
                    </a:p>
                  </a:txBody>
                  <a:tcPr anchor="ctr" marL="73152" marR="54864" marT="27432" marB="27432">
                    <a:solidFill>
                      <a:srgbClr val="FFFFFF"/>
                    </a:solidFill>
                  </a:tcPr>
                </a:tc>
                <a:tc>
                  <a:txBody>
                    <a:bodyPr wrap="square"/>
                    <a:lstStyle/>
                    <a:p>
                      <a:r>
                        <a:rPr sz="1100">
                          <a:solidFill>
                            <a:srgbClr val="1A1A1A"/>
                          </a:solidFill>
                        </a:rPr>
                        <a:t>Read eSewa, bank, telecom feeds</a:t>
                      </a:r>
                    </a:p>
                  </a:txBody>
                  <a:tcPr anchor="ctr" marL="73152" marR="54864" marT="27432" marB="27432">
                    <a:solidFill>
                      <a:srgbClr val="FFFFFF"/>
                    </a:solidFill>
                  </a:tcPr>
                </a:tc>
                <a:tc>
                  <a:txBody>
                    <a:bodyPr wrap="square"/>
                    <a:lstStyle/>
                    <a:p>
                      <a:r>
                        <a:rPr sz="1100">
                          <a:solidFill>
                            <a:srgbClr val="1A1A1A"/>
                          </a:solidFill>
                        </a:rPr>
                        <a:t>Gets raw data out of silos</a:t>
                      </a:r>
                    </a:p>
                  </a:txBody>
                  <a:tcPr anchor="ctr" marL="73152" marR="54864" marT="27432" marB="27432">
                    <a:solidFill>
                      <a:srgbClr val="FFFFFF"/>
                    </a:solidFill>
                  </a:tcPr>
                </a:tc>
              </a:tr>
              <a:tr h="1104138">
                <a:tc>
                  <a:txBody>
                    <a:bodyPr wrap="square"/>
                    <a:lstStyle/>
                    <a:p>
                      <a:r>
                        <a:rPr sz="1100" b="1">
                          <a:solidFill>
                            <a:srgbClr val="0C2B4A"/>
                          </a:solidFill>
                        </a:rPr>
                        <a:t>Transform</a:t>
                      </a:r>
                    </a:p>
                  </a:txBody>
                  <a:tcPr anchor="ctr" marL="73152" marR="54864" marT="27432" marB="27432">
                    <a:solidFill>
                      <a:srgbClr val="EEF3F8"/>
                    </a:solidFill>
                  </a:tcPr>
                </a:tc>
                <a:tc>
                  <a:txBody>
                    <a:bodyPr wrap="square"/>
                    <a:lstStyle/>
                    <a:p>
                      <a:r>
                        <a:rPr sz="1100">
                          <a:solidFill>
                            <a:srgbClr val="1A1A1A"/>
                          </a:solidFill>
                        </a:rPr>
                        <a:t>Clean &amp; standardize formats</a:t>
                      </a:r>
                    </a:p>
                  </a:txBody>
                  <a:tcPr anchor="ctr" marL="73152" marR="54864" marT="27432" marB="27432">
                    <a:solidFill>
                      <a:srgbClr val="EEF3F8"/>
                    </a:solidFill>
                  </a:tcPr>
                </a:tc>
                <a:tc>
                  <a:txBody>
                    <a:bodyPr wrap="square"/>
                    <a:lstStyle/>
                    <a:p>
                      <a:r>
                        <a:rPr sz="1100">
                          <a:solidFill>
                            <a:srgbClr val="1A1A1A"/>
                          </a:solidFill>
                        </a:rPr>
                        <a:t>Unify dates (BS/AD), phone formats</a:t>
                      </a:r>
                    </a:p>
                  </a:txBody>
                  <a:tcPr anchor="ctr" marL="73152" marR="54864" marT="27432" marB="27432">
                    <a:solidFill>
                      <a:srgbClr val="EEF3F8"/>
                    </a:solidFill>
                  </a:tcPr>
                </a:tc>
                <a:tc>
                  <a:txBody>
                    <a:bodyPr wrap="square"/>
                    <a:lstStyle/>
                    <a:p>
                      <a:r>
                        <a:rPr sz="1100">
                          <a:solidFill>
                            <a:srgbClr val="1A1A1A"/>
                          </a:solidFill>
                        </a:rPr>
                        <a:t>The hard, essential step</a:t>
                      </a:r>
                    </a:p>
                  </a:txBody>
                  <a:tcPr anchor="ctr" marL="73152" marR="54864" marT="27432" marB="27432">
                    <a:solidFill>
                      <a:srgbClr val="EEF3F8"/>
                    </a:solidFill>
                  </a:tcPr>
                </a:tc>
              </a:tr>
              <a:tr h="1104138">
                <a:tc>
                  <a:txBody>
                    <a:bodyPr wrap="square"/>
                    <a:lstStyle/>
                    <a:p>
                      <a:r>
                        <a:rPr sz="1100" b="1">
                          <a:solidFill>
                            <a:srgbClr val="0C2B4A"/>
                          </a:solidFill>
                        </a:rPr>
                        <a:t>Load</a:t>
                      </a:r>
                    </a:p>
                  </a:txBody>
                  <a:tcPr anchor="ctr" marL="73152" marR="54864" marT="27432" marB="27432">
                    <a:solidFill>
                      <a:srgbClr val="FFFFFF"/>
                    </a:solidFill>
                  </a:tcPr>
                </a:tc>
                <a:tc>
                  <a:txBody>
                    <a:bodyPr wrap="square"/>
                    <a:lstStyle/>
                    <a:p>
                      <a:r>
                        <a:rPr sz="1100">
                          <a:solidFill>
                            <a:srgbClr val="1A1A1A"/>
                          </a:solidFill>
                        </a:rPr>
                        <a:t>Write into the warehouse</a:t>
                      </a:r>
                    </a:p>
                  </a:txBody>
                  <a:tcPr anchor="ctr" marL="73152" marR="54864" marT="27432" marB="27432">
                    <a:solidFill>
                      <a:srgbClr val="FFFFFF"/>
                    </a:solidFill>
                  </a:tcPr>
                </a:tc>
                <a:tc>
                  <a:txBody>
                    <a:bodyPr wrap="square"/>
                    <a:lstStyle/>
                    <a:p>
                      <a:r>
                        <a:rPr sz="1100">
                          <a:solidFill>
                            <a:srgbClr val="1A1A1A"/>
                          </a:solidFill>
                        </a:rPr>
                        <a:t>Insert cleaned rows into the star schema</a:t>
                      </a:r>
                    </a:p>
                  </a:txBody>
                  <a:tcPr anchor="ctr" marL="73152" marR="54864" marT="27432" marB="27432">
                    <a:solidFill>
                      <a:srgbClr val="FFFFFF"/>
                    </a:solidFill>
                  </a:tcPr>
                </a:tc>
                <a:tc>
                  <a:txBody>
                    <a:bodyPr wrap="square"/>
                    <a:lstStyle/>
                    <a:p>
                      <a:r>
                        <a:rPr sz="1100">
                          <a:solidFill>
                            <a:srgbClr val="1A1A1A"/>
                          </a:solidFill>
                        </a:rPr>
                        <a:t>Makes data query-ready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Transform is where 90% of the effort goes: source systems disagree on dates, phone formats, and codes. Skipping it gives you a warehouse full of inconsistent data that no report can trust.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82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ETL — Extract, Transform, Load</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Combining eSewa, bank, and telecom-recharge data where dates are in different calendars/formats and phone numbers are written inconsistently: the TRANSFORM step reconciles them — one date format, one phone format, matched customer IDs — before LOADing into the warehouse. Only then can a report join spend across all three sources correctly.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"ETL just copies the data over." The Transform step — cleaning, standardizing, de-duplicating, reconciling formats across systems — is the hard, essential part. A raw copy would leave the warehouse full of mismatched dates, phone formats, and duplicate customers that break every report.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ETL is the pipeline that feeds a data warehouse: Extract pulls data from many operational sources, Transform cleans and standardizes it (reconciling dates, formats, duplicates — the hard part), and Load writes the integrated result into the warehouse. It usually runs on a schedule, and the Transform step is what makes cross-source analysis trustworthy.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ETL · Extract → Transform → Load · Transform = clean &amp; standardize (the hard part) · integrates many sources · not just a copy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82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Mining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Data mining is discovering previously UNKNOWN patterns and relationships in large data sets. Its main tasks are classification (predict a category), clustering (group similar items), and association rules (things that occur together). It answers questions you did not explicitly ask.</a:t>
            </a:r>
          </a:p>
          <a:p>
            <a:pPr>
              <a:spcAft>
                <a:spcPts val="500"/>
              </a:spcAft>
            </a:pPr>
            <a:r>
              <a:rPr sz="1200" b="1">
                <a:solidFill>
                  <a:srgbClr val="185FA5"/>
                </a:solidFill>
              </a:rPr>
              <a:t>HOW IT WORKS</a:t>
            </a:r>
          </a:p>
          <a:p>
            <a:pPr>
              <a:spcAft>
                <a:spcPts val="600"/>
              </a:spcAft>
            </a:pPr>
            <a:r>
              <a:rPr sz="1400">
                <a:solidFill>
                  <a:srgbClr val="1A1A1A"/>
                </a:solidFill>
              </a:rPr>
              <a:t>•  Classification: predict a label — e.g. 'will this customer churn?' (yes/no).</a:t>
            </a:r>
          </a:p>
          <a:p>
            <a:pPr>
              <a:spcAft>
                <a:spcPts val="600"/>
              </a:spcAft>
            </a:pPr>
            <a:r>
              <a:rPr sz="1400">
                <a:solidFill>
                  <a:srgbClr val="1A1A1A"/>
                </a:solidFill>
              </a:rPr>
              <a:t>•  Clustering: group similar records with no labels — e.g. customer segments.</a:t>
            </a:r>
          </a:p>
          <a:p>
            <a:pPr>
              <a:spcAft>
                <a:spcPts val="600"/>
              </a:spcAft>
            </a:pPr>
            <a:r>
              <a:rPr sz="1400">
                <a:solidFill>
                  <a:srgbClr val="1A1A1A"/>
                </a:solidFill>
              </a:rPr>
              <a:t>•  Association rules: 'people who bought X also bought Y' (market-basket analysis).</a:t>
            </a:r>
          </a:p>
          <a:p>
            <a:pPr>
              <a:spcAft>
                <a:spcPts val="600"/>
              </a:spcAft>
            </a:pPr>
            <a:r>
              <a:rPr sz="1400">
                <a:solidFill>
                  <a:srgbClr val="1A1A1A"/>
                </a:solidFill>
              </a:rPr>
              <a:t>•  It finds hidden patterns — unlike a report/query, which answers a question you already framed.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report answers a question you asked; mining finds an answer you didn't know to ask for.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82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4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Data-mining tasks — what each finds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974931"/>
                <a:gridCol w="3757808"/>
                <a:gridCol w="4697260"/>
              </a:tblGrid>
              <a:tr h="736092">
                <a:tc>
                  <a:txBody>
                    <a:bodyPr wrap="square"/>
                    <a:lstStyle/>
                    <a:p>
                      <a:r>
                        <a:rPr sz="1150" b="1">
                          <a:solidFill>
                            <a:srgbClr val="FFFFFF"/>
                          </a:solidFill>
                        </a:rPr>
                        <a:t>Task</a:t>
                      </a:r>
                    </a:p>
                  </a:txBody>
                  <a:tcPr anchor="ctr" marL="73152" marR="54864" marT="27432" marB="27432">
                    <a:solidFill>
                      <a:srgbClr val="0C2B4A"/>
                    </a:solidFill>
                  </a:tcPr>
                </a:tc>
                <a:tc>
                  <a:txBody>
                    <a:bodyPr wrap="square"/>
                    <a:lstStyle/>
                    <a:p>
                      <a:r>
                        <a:rPr sz="1150" b="1">
                          <a:solidFill>
                            <a:srgbClr val="FFFFFF"/>
                          </a:solidFill>
                        </a:rPr>
                        <a:t>What it finds</a:t>
                      </a:r>
                    </a:p>
                  </a:txBody>
                  <a:tcPr anchor="ctr" marL="73152" marR="54864" marT="27432" marB="27432">
                    <a:solidFill>
                      <a:srgbClr val="0C2B4A"/>
                    </a:solidFill>
                  </a:tcPr>
                </a:tc>
                <a:tc>
                  <a:txBody>
                    <a:bodyPr wrap="square"/>
                    <a:lstStyle/>
                    <a:p>
                      <a:r>
                        <a:rPr sz="1150" b="1">
                          <a:solidFill>
                            <a:srgbClr val="FFFFFF"/>
                          </a:solidFill>
                        </a:rPr>
                        <a:t>Nepal / IT example</a:t>
                      </a:r>
                    </a:p>
                  </a:txBody>
                  <a:tcPr anchor="ctr" marL="73152" marR="54864" marT="27432" marB="27432">
                    <a:solidFill>
                      <a:srgbClr val="0C2B4A"/>
                    </a:solidFill>
                  </a:tcPr>
                </a:tc>
              </a:tr>
              <a:tr h="736092">
                <a:tc>
                  <a:txBody>
                    <a:bodyPr wrap="square"/>
                    <a:lstStyle/>
                    <a:p>
                      <a:r>
                        <a:rPr sz="1100" b="1">
                          <a:solidFill>
                            <a:srgbClr val="0C2B4A"/>
                          </a:solidFill>
                        </a:rPr>
                        <a:t>Classification</a:t>
                      </a:r>
                    </a:p>
                  </a:txBody>
                  <a:tcPr anchor="ctr" marL="73152" marR="54864" marT="27432" marB="27432">
                    <a:solidFill>
                      <a:srgbClr val="FFFFFF"/>
                    </a:solidFill>
                  </a:tcPr>
                </a:tc>
                <a:tc>
                  <a:txBody>
                    <a:bodyPr wrap="square"/>
                    <a:lstStyle/>
                    <a:p>
                      <a:r>
                        <a:rPr sz="1100">
                          <a:solidFill>
                            <a:srgbClr val="1A1A1A"/>
                          </a:solidFill>
                        </a:rPr>
                        <a:t>Predicts a category/label</a:t>
                      </a:r>
                    </a:p>
                  </a:txBody>
                  <a:tcPr anchor="ctr" marL="73152" marR="54864" marT="27432" marB="27432">
                    <a:solidFill>
                      <a:srgbClr val="FFFFFF"/>
                    </a:solidFill>
                  </a:tcPr>
                </a:tc>
                <a:tc>
                  <a:txBody>
                    <a:bodyPr wrap="square"/>
                    <a:lstStyle/>
                    <a:p>
                      <a:r>
                        <a:rPr sz="1100">
                          <a:solidFill>
                            <a:srgbClr val="1A1A1A"/>
                          </a:solidFill>
                        </a:rPr>
                        <a:t>Telecom predicts which customers will churn</a:t>
                      </a:r>
                    </a:p>
                  </a:txBody>
                  <a:tcPr anchor="ctr" marL="73152" marR="54864" marT="27432" marB="27432">
                    <a:solidFill>
                      <a:srgbClr val="FFFFFF"/>
                    </a:solidFill>
                  </a:tcPr>
                </a:tc>
              </a:tr>
              <a:tr h="736092">
                <a:tc>
                  <a:txBody>
                    <a:bodyPr wrap="square"/>
                    <a:lstStyle/>
                    <a:p>
                      <a:r>
                        <a:rPr sz="1100" b="1">
                          <a:solidFill>
                            <a:srgbClr val="0C2B4A"/>
                          </a:solidFill>
                        </a:rPr>
                        <a:t>Clustering</a:t>
                      </a:r>
                    </a:p>
                  </a:txBody>
                  <a:tcPr anchor="ctr" marL="73152" marR="54864" marT="27432" marB="27432">
                    <a:solidFill>
                      <a:srgbClr val="EEF3F8"/>
                    </a:solidFill>
                  </a:tcPr>
                </a:tc>
                <a:tc>
                  <a:txBody>
                    <a:bodyPr wrap="square"/>
                    <a:lstStyle/>
                    <a:p>
                      <a:r>
                        <a:rPr sz="1100">
                          <a:solidFill>
                            <a:srgbClr val="1A1A1A"/>
                          </a:solidFill>
                        </a:rPr>
                        <a:t>Groups similar records (no labels)</a:t>
                      </a:r>
                    </a:p>
                  </a:txBody>
                  <a:tcPr anchor="ctr" marL="73152" marR="54864" marT="27432" marB="27432">
                    <a:solidFill>
                      <a:srgbClr val="EEF3F8"/>
                    </a:solidFill>
                  </a:tcPr>
                </a:tc>
                <a:tc>
                  <a:txBody>
                    <a:bodyPr wrap="square"/>
                    <a:lstStyle/>
                    <a:p>
                      <a:r>
                        <a:rPr sz="1100">
                          <a:solidFill>
                            <a:srgbClr val="1A1A1A"/>
                          </a:solidFill>
                        </a:rPr>
                        <a:t>Segment Daraz shoppers by behaviour</a:t>
                      </a:r>
                    </a:p>
                  </a:txBody>
                  <a:tcPr anchor="ctr" marL="73152" marR="54864" marT="27432" marB="27432">
                    <a:solidFill>
                      <a:srgbClr val="EEF3F8"/>
                    </a:solidFill>
                  </a:tcPr>
                </a:tc>
              </a:tr>
              <a:tr h="736092">
                <a:tc>
                  <a:txBody>
                    <a:bodyPr wrap="square"/>
                    <a:lstStyle/>
                    <a:p>
                      <a:r>
                        <a:rPr sz="1100" b="1">
                          <a:solidFill>
                            <a:srgbClr val="0C2B4A"/>
                          </a:solidFill>
                        </a:rPr>
                        <a:t>Association rules</a:t>
                      </a:r>
                    </a:p>
                  </a:txBody>
                  <a:tcPr anchor="ctr" marL="73152" marR="54864" marT="27432" marB="27432">
                    <a:solidFill>
                      <a:srgbClr val="FFFFFF"/>
                    </a:solidFill>
                  </a:tcPr>
                </a:tc>
                <a:tc>
                  <a:txBody>
                    <a:bodyPr wrap="square"/>
                    <a:lstStyle/>
                    <a:p>
                      <a:r>
                        <a:rPr sz="1100">
                          <a:solidFill>
                            <a:srgbClr val="1A1A1A"/>
                          </a:solidFill>
                        </a:rPr>
                        <a:t>Items that occur together</a:t>
                      </a:r>
                    </a:p>
                  </a:txBody>
                  <a:tcPr anchor="ctr" marL="73152" marR="54864" marT="27432" marB="27432">
                    <a:solidFill>
                      <a:srgbClr val="FFFFFF"/>
                    </a:solidFill>
                  </a:tcPr>
                </a:tc>
                <a:tc>
                  <a:txBody>
                    <a:bodyPr wrap="square"/>
                    <a:lstStyle/>
                    <a:p>
                      <a:r>
                        <a:rPr sz="1100">
                          <a:solidFill>
                            <a:srgbClr val="1A1A1A"/>
                          </a:solidFill>
                        </a:rPr>
                        <a:t>'Bought X also bought Y' recommendations</a:t>
                      </a:r>
                    </a:p>
                  </a:txBody>
                  <a:tcPr anchor="ctr" marL="73152" marR="54864" marT="27432" marB="27432">
                    <a:solidFill>
                      <a:srgbClr val="FFFFFF"/>
                    </a:solidFill>
                  </a:tcPr>
                </a:tc>
              </a:tr>
              <a:tr h="736092">
                <a:tc>
                  <a:txBody>
                    <a:bodyPr wrap="square"/>
                    <a:lstStyle/>
                    <a:p>
                      <a:r>
                        <a:rPr sz="1100" b="1">
                          <a:solidFill>
                            <a:srgbClr val="0C2B4A"/>
                          </a:solidFill>
                        </a:rPr>
                        <a:t>Anomaly detection</a:t>
                      </a:r>
                    </a:p>
                  </a:txBody>
                  <a:tcPr anchor="ctr" marL="73152" marR="54864" marT="27432" marB="27432">
                    <a:solidFill>
                      <a:srgbClr val="EEF3F8"/>
                    </a:solidFill>
                  </a:tcPr>
                </a:tc>
                <a:tc>
                  <a:txBody>
                    <a:bodyPr wrap="square"/>
                    <a:lstStyle/>
                    <a:p>
                      <a:r>
                        <a:rPr sz="1100">
                          <a:solidFill>
                            <a:srgbClr val="1A1A1A"/>
                          </a:solidFill>
                        </a:rPr>
                        <a:t>Rare / suspicious cases</a:t>
                      </a:r>
                    </a:p>
                  </a:txBody>
                  <a:tcPr anchor="ctr" marL="73152" marR="54864" marT="27432" marB="27432">
                    <a:solidFill>
                      <a:srgbClr val="EEF3F8"/>
                    </a:solidFill>
                  </a:tcPr>
                </a:tc>
                <a:tc>
                  <a:txBody>
                    <a:bodyPr wrap="square"/>
                    <a:lstStyle/>
                    <a:p>
                      <a:r>
                        <a:rPr sz="1100">
                          <a:solidFill>
                            <a:srgbClr val="1A1A1A"/>
                          </a:solidFill>
                        </a:rPr>
                        <a:t>Flag a fraudulent eSewa transaction</a:t>
                      </a:r>
                    </a:p>
                  </a:txBody>
                  <a:tcPr anchor="ctr" marL="73152" marR="54864" marT="27432" marB="27432">
                    <a:solidFill>
                      <a:srgbClr val="EEF3F8"/>
                    </a:solidFill>
                  </a:tcPr>
                </a:tc>
              </a:tr>
              <a:tr h="736092">
                <a:tc>
                  <a:txBody>
                    <a:bodyPr wrap="square"/>
                    <a:lstStyle/>
                    <a:p>
                      <a:r>
                        <a:rPr sz="1100" b="1">
                          <a:solidFill>
                            <a:srgbClr val="0C2B4A"/>
                          </a:solidFill>
                        </a:rPr>
                        <a:t>Regression / forecasting</a:t>
                      </a:r>
                    </a:p>
                  </a:txBody>
                  <a:tcPr anchor="ctr" marL="73152" marR="54864" marT="27432" marB="27432">
                    <a:solidFill>
                      <a:srgbClr val="FFFFFF"/>
                    </a:solidFill>
                  </a:tcPr>
                </a:tc>
                <a:tc>
                  <a:txBody>
                    <a:bodyPr wrap="square"/>
                    <a:lstStyle/>
                    <a:p>
                      <a:r>
                        <a:rPr sz="1100">
                          <a:solidFill>
                            <a:srgbClr val="1A1A1A"/>
                          </a:solidFill>
                        </a:rPr>
                        <a:t>Predicts a number/trend</a:t>
                      </a:r>
                    </a:p>
                  </a:txBody>
                  <a:tcPr anchor="ctr" marL="73152" marR="54864" marT="27432" marB="27432">
                    <a:solidFill>
                      <a:srgbClr val="FFFFFF"/>
                    </a:solidFill>
                  </a:tcPr>
                </a:tc>
                <a:tc>
                  <a:txBody>
                    <a:bodyPr wrap="square"/>
                    <a:lstStyle/>
                    <a:p>
                      <a:r>
                        <a:rPr sz="1100">
                          <a:solidFill>
                            <a:srgbClr val="1A1A1A"/>
                          </a:solidFill>
                        </a:rPr>
                        <a:t>Forecast next month's recharge demand</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All of these surface patterns you didn't explicitly ask for — the defining difference from a normal report or SQL query, which only answers a question you already framed.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82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Mining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Daraz's 'customers who bought X also bought Y' is association-rule mining; a telecom predicting which subscribers will churn next month is classification. Both surface patterns nobody explicitly queried for — the system discovered them from the data — and drive real actions like recommendations and retention offers.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"Data mining is just running queries / making reports." A report answers a question you already framed ('total sales in Tihar'); mining discovers previously UNKNOWN patterns ('these customers are about to churn', 'these items sell together'). It finds the question, not just the answer.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Data mining discovers previously unknown patterns and relationships in large data sets, using tasks such as classification (predict a category), clustering (group similar records), and association rules (items that co-occur). Unlike a report or SQL query — which answers a pre-framed question — mining surfaces hidden patterns, driving actions like recommendations, churn prediction, and fraud detection.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data mining · classification · clustering · association rules · finds UNKNOWN patterns · not just reports/queries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82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5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BigData &amp; the 3 Vs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BigData is data too large, too fast, or too varied for a traditional DBMS to handle well. It is characterized by the 3 Vs: VOLUME (huge size), VELOCITY (arriving fast/real-time), and VARIETY (many formats — text, images, logs, GPS). Extended Vs add Veracity (trustworthiness) and Value.</a:t>
            </a:r>
          </a:p>
          <a:p>
            <a:pPr>
              <a:spcAft>
                <a:spcPts val="500"/>
              </a:spcAft>
            </a:pPr>
            <a:r>
              <a:rPr sz="1200" b="1">
                <a:solidFill>
                  <a:srgbClr val="185FA5"/>
                </a:solidFill>
              </a:rPr>
              <a:t>HOW IT WORKS</a:t>
            </a:r>
          </a:p>
          <a:p>
            <a:pPr>
              <a:spcAft>
                <a:spcPts val="600"/>
              </a:spcAft>
            </a:pPr>
            <a:r>
              <a:rPr sz="1400">
                <a:solidFill>
                  <a:srgbClr val="1A1A1A"/>
                </a:solidFill>
              </a:rPr>
              <a:t>•  Volume: sizes that overwhelm a single traditional database (terabytes → petabytes).</a:t>
            </a:r>
          </a:p>
          <a:p>
            <a:pPr>
              <a:spcAft>
                <a:spcPts val="600"/>
              </a:spcAft>
            </a:pPr>
            <a:r>
              <a:rPr sz="1400">
                <a:solidFill>
                  <a:srgbClr val="1A1A1A"/>
                </a:solidFill>
              </a:rPr>
              <a:t>•  Velocity: data streaming in continuously and fast (real-time), not in neat batches.</a:t>
            </a:r>
          </a:p>
          <a:p>
            <a:pPr>
              <a:spcAft>
                <a:spcPts val="600"/>
              </a:spcAft>
            </a:pPr>
            <a:r>
              <a:rPr sz="1400">
                <a:solidFill>
                  <a:srgbClr val="1A1A1A"/>
                </a:solidFill>
              </a:rPr>
              <a:t>•  Variety: structured + unstructured — text, images, sensor logs, GPS traces.</a:t>
            </a:r>
          </a:p>
          <a:p>
            <a:pPr>
              <a:spcAft>
                <a:spcPts val="600"/>
              </a:spcAft>
            </a:pPr>
            <a:r>
              <a:rPr sz="1400">
                <a:solidFill>
                  <a:srgbClr val="1A1A1A"/>
                </a:solidFill>
              </a:rPr>
              <a:t>•  Bonus Vs: Veracity (is it accurate/trustworthy?) and Value (is it worth analyzing?).</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regular DB is a bucket; BigData is a monsoon river — you need different tools.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82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5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3 Vs (+2) of BigData</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353235"/>
                <a:gridCol w="4034117"/>
                <a:gridCol w="5042647"/>
              </a:tblGrid>
              <a:tr h="736092">
                <a:tc>
                  <a:txBody>
                    <a:bodyPr wrap="square"/>
                    <a:lstStyle/>
                    <a:p>
                      <a:r>
                        <a:rPr sz="1150" b="1">
                          <a:solidFill>
                            <a:srgbClr val="FFFFFF"/>
                          </a:solidFill>
                        </a:rPr>
                        <a:t>V</a:t>
                      </a:r>
                    </a:p>
                  </a:txBody>
                  <a:tcPr anchor="ctr" marL="73152" marR="54864" marT="27432" marB="27432">
                    <a:solidFill>
                      <a:srgbClr val="0C2B4A"/>
                    </a:solidFill>
                  </a:tcPr>
                </a:tc>
                <a:tc>
                  <a:txBody>
                    <a:bodyPr wrap="square"/>
                    <a:lstStyle/>
                    <a:p>
                      <a:r>
                        <a:rPr sz="1150" b="1">
                          <a:solidFill>
                            <a:srgbClr val="FFFFFF"/>
                          </a:solidFill>
                        </a:rPr>
                        <a:t>What it means</a:t>
                      </a:r>
                    </a:p>
                  </a:txBody>
                  <a:tcPr anchor="ctr" marL="73152" marR="54864" marT="27432" marB="27432">
                    <a:solidFill>
                      <a:srgbClr val="0C2B4A"/>
                    </a:solidFill>
                  </a:tcPr>
                </a:tc>
                <a:tc>
                  <a:txBody>
                    <a:bodyPr wrap="square"/>
                    <a:lstStyle/>
                    <a:p>
                      <a:r>
                        <a:rPr sz="1150" b="1">
                          <a:solidFill>
                            <a:srgbClr val="FFFFFF"/>
                          </a:solidFill>
                        </a:rPr>
                        <a:t>Nepal / IT example</a:t>
                      </a:r>
                    </a:p>
                  </a:txBody>
                  <a:tcPr anchor="ctr" marL="73152" marR="54864" marT="27432" marB="27432">
                    <a:solidFill>
                      <a:srgbClr val="0C2B4A"/>
                    </a:solidFill>
                  </a:tcPr>
                </a:tc>
              </a:tr>
              <a:tr h="736092">
                <a:tc>
                  <a:txBody>
                    <a:bodyPr wrap="square"/>
                    <a:lstStyle/>
                    <a:p>
                      <a:r>
                        <a:rPr sz="1100" b="1">
                          <a:solidFill>
                            <a:srgbClr val="0C2B4A"/>
                          </a:solidFill>
                        </a:rPr>
                        <a:t>Volume</a:t>
                      </a:r>
                    </a:p>
                  </a:txBody>
                  <a:tcPr anchor="ctr" marL="73152" marR="54864" marT="27432" marB="27432">
                    <a:solidFill>
                      <a:srgbClr val="FFFFFF"/>
                    </a:solidFill>
                  </a:tcPr>
                </a:tc>
                <a:tc>
                  <a:txBody>
                    <a:bodyPr wrap="square"/>
                    <a:lstStyle/>
                    <a:p>
                      <a:r>
                        <a:rPr sz="1100">
                          <a:solidFill>
                            <a:srgbClr val="1A1A1A"/>
                          </a:solidFill>
                        </a:rPr>
                        <a:t>Huge size (TB → PB)</a:t>
                      </a:r>
                    </a:p>
                  </a:txBody>
                  <a:tcPr anchor="ctr" marL="73152" marR="54864" marT="27432" marB="27432">
                    <a:solidFill>
                      <a:srgbClr val="FFFFFF"/>
                    </a:solidFill>
                  </a:tcPr>
                </a:tc>
                <a:tc>
                  <a:txBody>
                    <a:bodyPr wrap="square"/>
                    <a:lstStyle/>
                    <a:p>
                      <a:r>
                        <a:rPr sz="1100">
                          <a:solidFill>
                            <a:srgbClr val="1A1A1A"/>
                          </a:solidFill>
                        </a:rPr>
                        <a:t>Years of telecom call-detail records</a:t>
                      </a:r>
                    </a:p>
                  </a:txBody>
                  <a:tcPr anchor="ctr" marL="73152" marR="54864" marT="27432" marB="27432">
                    <a:solidFill>
                      <a:srgbClr val="FFFFFF"/>
                    </a:solidFill>
                  </a:tcPr>
                </a:tc>
              </a:tr>
              <a:tr h="736092">
                <a:tc>
                  <a:txBody>
                    <a:bodyPr wrap="square"/>
                    <a:lstStyle/>
                    <a:p>
                      <a:r>
                        <a:rPr sz="1100" b="1">
                          <a:solidFill>
                            <a:srgbClr val="0C2B4A"/>
                          </a:solidFill>
                        </a:rPr>
                        <a:t>Velocity</a:t>
                      </a:r>
                    </a:p>
                  </a:txBody>
                  <a:tcPr anchor="ctr" marL="73152" marR="54864" marT="27432" marB="27432">
                    <a:solidFill>
                      <a:srgbClr val="EEF3F8"/>
                    </a:solidFill>
                  </a:tcPr>
                </a:tc>
                <a:tc>
                  <a:txBody>
                    <a:bodyPr wrap="square"/>
                    <a:lstStyle/>
                    <a:p>
                      <a:r>
                        <a:rPr sz="1100">
                          <a:solidFill>
                            <a:srgbClr val="1A1A1A"/>
                          </a:solidFill>
                        </a:rPr>
                        <a:t>Arrives fast / real-time</a:t>
                      </a:r>
                    </a:p>
                  </a:txBody>
                  <a:tcPr anchor="ctr" marL="73152" marR="54864" marT="27432" marB="27432">
                    <a:solidFill>
                      <a:srgbClr val="EEF3F8"/>
                    </a:solidFill>
                  </a:tcPr>
                </a:tc>
                <a:tc>
                  <a:txBody>
                    <a:bodyPr wrap="square"/>
                    <a:lstStyle/>
                    <a:p>
                      <a:r>
                        <a:rPr sz="1100">
                          <a:solidFill>
                            <a:srgbClr val="1A1A1A"/>
                          </a:solidFill>
                        </a:rPr>
                        <a:t>Pathao / inDrive live GPS streams</a:t>
                      </a:r>
                    </a:p>
                  </a:txBody>
                  <a:tcPr anchor="ctr" marL="73152" marR="54864" marT="27432" marB="27432">
                    <a:solidFill>
                      <a:srgbClr val="EEF3F8"/>
                    </a:solidFill>
                  </a:tcPr>
                </a:tc>
              </a:tr>
              <a:tr h="736092">
                <a:tc>
                  <a:txBody>
                    <a:bodyPr wrap="square"/>
                    <a:lstStyle/>
                    <a:p>
                      <a:r>
                        <a:rPr sz="1100" b="1">
                          <a:solidFill>
                            <a:srgbClr val="0C2B4A"/>
                          </a:solidFill>
                        </a:rPr>
                        <a:t>Variety</a:t>
                      </a:r>
                    </a:p>
                  </a:txBody>
                  <a:tcPr anchor="ctr" marL="73152" marR="54864" marT="27432" marB="27432">
                    <a:solidFill>
                      <a:srgbClr val="FFFFFF"/>
                    </a:solidFill>
                  </a:tcPr>
                </a:tc>
                <a:tc>
                  <a:txBody>
                    <a:bodyPr wrap="square"/>
                    <a:lstStyle/>
                    <a:p>
                      <a:r>
                        <a:rPr sz="1100">
                          <a:solidFill>
                            <a:srgbClr val="1A1A1A"/>
                          </a:solidFill>
                        </a:rPr>
                        <a:t>Many formats &amp; types</a:t>
                      </a:r>
                    </a:p>
                  </a:txBody>
                  <a:tcPr anchor="ctr" marL="73152" marR="54864" marT="27432" marB="27432">
                    <a:solidFill>
                      <a:srgbClr val="FFFFFF"/>
                    </a:solidFill>
                  </a:tcPr>
                </a:tc>
                <a:tc>
                  <a:txBody>
                    <a:bodyPr wrap="square"/>
                    <a:lstStyle/>
                    <a:p>
                      <a:r>
                        <a:rPr sz="1100">
                          <a:solidFill>
                            <a:srgbClr val="1A1A1A"/>
                          </a:solidFill>
                        </a:rPr>
                        <a:t>Text, images, logs, GPS together</a:t>
                      </a:r>
                    </a:p>
                  </a:txBody>
                  <a:tcPr anchor="ctr" marL="73152" marR="54864" marT="27432" marB="27432">
                    <a:solidFill>
                      <a:srgbClr val="FFFFFF"/>
                    </a:solidFill>
                  </a:tcPr>
                </a:tc>
              </a:tr>
              <a:tr h="736092">
                <a:tc>
                  <a:txBody>
                    <a:bodyPr wrap="square"/>
                    <a:lstStyle/>
                    <a:p>
                      <a:r>
                        <a:rPr sz="1100" b="1">
                          <a:solidFill>
                            <a:srgbClr val="0C2B4A"/>
                          </a:solidFill>
                        </a:rPr>
                        <a:t>Veracity (bonus)</a:t>
                      </a:r>
                    </a:p>
                  </a:txBody>
                  <a:tcPr anchor="ctr" marL="73152" marR="54864" marT="27432" marB="27432">
                    <a:solidFill>
                      <a:srgbClr val="EEF3F8"/>
                    </a:solidFill>
                  </a:tcPr>
                </a:tc>
                <a:tc>
                  <a:txBody>
                    <a:bodyPr wrap="square"/>
                    <a:lstStyle/>
                    <a:p>
                      <a:r>
                        <a:rPr sz="1100">
                          <a:solidFill>
                            <a:srgbClr val="1A1A1A"/>
                          </a:solidFill>
                        </a:rPr>
                        <a:t>How trustworthy/accurate</a:t>
                      </a:r>
                    </a:p>
                  </a:txBody>
                  <a:tcPr anchor="ctr" marL="73152" marR="54864" marT="27432" marB="27432">
                    <a:solidFill>
                      <a:srgbClr val="EEF3F8"/>
                    </a:solidFill>
                  </a:tcPr>
                </a:tc>
                <a:tc>
                  <a:txBody>
                    <a:bodyPr wrap="square"/>
                    <a:lstStyle/>
                    <a:p>
                      <a:r>
                        <a:rPr sz="1100">
                          <a:solidFill>
                            <a:srgbClr val="1A1A1A"/>
                          </a:solidFill>
                        </a:rPr>
                        <a:t>Noisy sensor or crowd-sourced data</a:t>
                      </a:r>
                    </a:p>
                  </a:txBody>
                  <a:tcPr anchor="ctr" marL="73152" marR="54864" marT="27432" marB="27432">
                    <a:solidFill>
                      <a:srgbClr val="EEF3F8"/>
                    </a:solidFill>
                  </a:tcPr>
                </a:tc>
              </a:tr>
              <a:tr h="736092">
                <a:tc>
                  <a:txBody>
                    <a:bodyPr wrap="square"/>
                    <a:lstStyle/>
                    <a:p>
                      <a:r>
                        <a:rPr sz="1100" b="1">
                          <a:solidFill>
                            <a:srgbClr val="0C2B4A"/>
                          </a:solidFill>
                        </a:rPr>
                        <a:t>Value (bonus)</a:t>
                      </a:r>
                    </a:p>
                  </a:txBody>
                  <a:tcPr anchor="ctr" marL="73152" marR="54864" marT="27432" marB="27432">
                    <a:solidFill>
                      <a:srgbClr val="FFFFFF"/>
                    </a:solidFill>
                  </a:tcPr>
                </a:tc>
                <a:tc>
                  <a:txBody>
                    <a:bodyPr wrap="square"/>
                    <a:lstStyle/>
                    <a:p>
                      <a:r>
                        <a:rPr sz="1100">
                          <a:solidFill>
                            <a:srgbClr val="1A1A1A"/>
                          </a:solidFill>
                        </a:rPr>
                        <a:t>Is it worth analyzing?</a:t>
                      </a:r>
                    </a:p>
                  </a:txBody>
                  <a:tcPr anchor="ctr" marL="73152" marR="54864" marT="27432" marB="27432">
                    <a:solidFill>
                      <a:srgbClr val="FFFFFF"/>
                    </a:solidFill>
                  </a:tcPr>
                </a:tc>
                <a:tc>
                  <a:txBody>
                    <a:bodyPr wrap="square"/>
                    <a:lstStyle/>
                    <a:p>
                      <a:r>
                        <a:rPr sz="1100">
                          <a:solidFill>
                            <a:srgbClr val="1A1A1A"/>
                          </a:solidFill>
                        </a:rPr>
                        <a:t>Only mine what drives a decision</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core three are Volume, Velocity, Variety — memorise these for the exam. Veracity and Value are common bonus Vs. When data breaks all three, traditional single-server DBMS techniques stop coping — hence BigData tools and NoSQL.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82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5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BigData &amp; the 3 Vs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ride/delivery app like Pathao or inDrive streams live GPS from thousands of riders (Velocity), across text, images, and location logs (Variety), piling up to enormous size over time (Volume). A telecom's call-detail-record flood is the same story. A traditional single-server DBMS simply can't keep up — this is BigData territory.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"BigData just means 'a lot of data' (Volume only)." Size is only one V — Velocity (real-time arrival) and Variety (mixed formats) matter just as much, and often it's the combination that breaks traditional tools. Veracity and Value remind us that big isn't automatically trustworthy or useful.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BigData is data too large, fast, or varied for a traditional DBMS, characterized by the 3 Vs: Volume (huge size), Velocity (fast/real-time arrival), and Variety (many formats — text, images, logs, GPS), with extended Vs Veracity (trustworthiness) and Value. When data exhibits all three, single-server relational techniques stop coping, motivating BigData platforms and NoSQL stores.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BigData · Volume · Velocity · Variety · (+ Veracity, Value) · beyond a traditional DBMS · motivates NoSQL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82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6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NoSQL Databases &amp; Their Types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NoSQL ('Not Only SQL') means non-relational data stores built for scale, flexible schemas, and the 3 Vs. Four main families: KEY-VALUE, DOCUMENT, COLUMN-FAMILY, and GRAPH. The trade-off teaser: they gain flexibility and scale, often by relaxing strict ACID consistency.</a:t>
            </a:r>
          </a:p>
          <a:p>
            <a:pPr>
              <a:spcAft>
                <a:spcPts val="500"/>
              </a:spcAft>
            </a:pPr>
            <a:r>
              <a:rPr sz="1200" b="1">
                <a:solidFill>
                  <a:srgbClr val="185FA5"/>
                </a:solidFill>
              </a:rPr>
              <a:t>HOW IT WORKS</a:t>
            </a:r>
          </a:p>
          <a:p>
            <a:pPr>
              <a:spcAft>
                <a:spcPts val="600"/>
              </a:spcAft>
            </a:pPr>
            <a:r>
              <a:rPr sz="1400">
                <a:solidFill>
                  <a:srgbClr val="1A1A1A"/>
                </a:solidFill>
              </a:rPr>
              <a:t>•  Key-Value (Redis): a giant dictionary — fast lookups by key (sessions, carts).</a:t>
            </a:r>
          </a:p>
          <a:p>
            <a:pPr>
              <a:spcAft>
                <a:spcPts val="600"/>
              </a:spcAft>
            </a:pPr>
            <a:r>
              <a:rPr sz="1400">
                <a:solidFill>
                  <a:srgbClr val="1A1A1A"/>
                </a:solidFill>
              </a:rPr>
              <a:t>•  Document (MongoDB): stores flexible JSON-like documents (product catalogues).</a:t>
            </a:r>
          </a:p>
          <a:p>
            <a:pPr>
              <a:spcAft>
                <a:spcPts val="600"/>
              </a:spcAft>
            </a:pPr>
            <a:r>
              <a:rPr sz="1400">
                <a:solidFill>
                  <a:srgbClr val="1A1A1A"/>
                </a:solidFill>
              </a:rPr>
              <a:t>•  Column-family (Cassandra): huge, write-heavy tables at scale (telecom CDRs).</a:t>
            </a:r>
          </a:p>
          <a:p>
            <a:pPr>
              <a:spcAft>
                <a:spcPts val="600"/>
              </a:spcAft>
            </a:pPr>
            <a:r>
              <a:rPr sz="1400">
                <a:solidFill>
                  <a:srgbClr val="1A1A1A"/>
                </a:solidFill>
              </a:rPr>
              <a:t>•  Graph (Neo4j): nodes + relationships (social networks, fraud rings). Trade-off: scale/flexibility vs strict ACID.</a:t>
            </a:r>
          </a:p>
        </p:txBody>
      </p:sp>
      <p:pic>
        <p:nvPicPr>
          <p:cNvPr id="6" name="Picture 5" descr="s47_nosql_landscape.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NoSQL complements SQL — pick the tool for the job; most apps still keep a relational core.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82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6 · §7A DEPTH</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SQL &amp; NoSQL families — datastore, data shape &amp; use-case</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1697524"/>
                <a:gridCol w="2150198"/>
                <a:gridCol w="2376534"/>
                <a:gridCol w="2489702"/>
                <a:gridCol w="2716039"/>
              </a:tblGrid>
              <a:tr h="630936">
                <a:tc>
                  <a:txBody>
                    <a:bodyPr wrap="square"/>
                    <a:lstStyle/>
                    <a:p>
                      <a:r>
                        <a:rPr sz="1050" b="1">
                          <a:solidFill>
                            <a:srgbClr val="FFFFFF"/>
                          </a:solidFill>
                        </a:rPr>
                        <a:t>Family</a:t>
                      </a:r>
                    </a:p>
                  </a:txBody>
                  <a:tcPr anchor="ctr" marL="73152" marR="54864" marT="27432" marB="27432">
                    <a:solidFill>
                      <a:srgbClr val="0C2B4A"/>
                    </a:solidFill>
                  </a:tcPr>
                </a:tc>
                <a:tc>
                  <a:txBody>
                    <a:bodyPr wrap="square"/>
                    <a:lstStyle/>
                    <a:p>
                      <a:r>
                        <a:rPr sz="1050" b="1">
                          <a:solidFill>
                            <a:srgbClr val="FFFFFF"/>
                          </a:solidFill>
                        </a:rPr>
                        <a:t>Example datastore</a:t>
                      </a:r>
                    </a:p>
                  </a:txBody>
                  <a:tcPr anchor="ctr" marL="73152" marR="54864" marT="27432" marB="27432">
                    <a:solidFill>
                      <a:srgbClr val="0C2B4A"/>
                    </a:solidFill>
                  </a:tcPr>
                </a:tc>
                <a:tc>
                  <a:txBody>
                    <a:bodyPr wrap="square"/>
                    <a:lstStyle/>
                    <a:p>
                      <a:r>
                        <a:rPr sz="1050" b="1">
                          <a:solidFill>
                            <a:srgbClr val="FFFFFF"/>
                          </a:solidFill>
                        </a:rPr>
                        <a:t>Data shape</a:t>
                      </a:r>
                    </a:p>
                  </a:txBody>
                  <a:tcPr anchor="ctr" marL="73152" marR="54864" marT="27432" marB="27432">
                    <a:solidFill>
                      <a:srgbClr val="0C2B4A"/>
                    </a:solidFill>
                  </a:tcPr>
                </a:tc>
                <a:tc>
                  <a:txBody>
                    <a:bodyPr wrap="square"/>
                    <a:lstStyle/>
                    <a:p>
                      <a:r>
                        <a:rPr sz="1050" b="1">
                          <a:solidFill>
                            <a:srgbClr val="FFFFFF"/>
                          </a:solidFill>
                        </a:rPr>
                        <a:t>Best for</a:t>
                      </a:r>
                    </a:p>
                  </a:txBody>
                  <a:tcPr anchor="ctr" marL="73152" marR="54864" marT="27432" marB="27432">
                    <a:solidFill>
                      <a:srgbClr val="0C2B4A"/>
                    </a:solidFill>
                  </a:tcPr>
                </a:tc>
                <a:tc>
                  <a:txBody>
                    <a:bodyPr wrap="square"/>
                    <a:lstStyle/>
                    <a:p>
                      <a:r>
                        <a:rPr sz="1050" b="1">
                          <a:solidFill>
                            <a:srgbClr val="FFFFFF"/>
                          </a:solidFill>
                        </a:rPr>
                        <a:t>Nepal / IT example</a:t>
                      </a:r>
                    </a:p>
                  </a:txBody>
                  <a:tcPr anchor="ctr" marL="73152" marR="54864" marT="27432" marB="27432">
                    <a:solidFill>
                      <a:srgbClr val="0C2B4A"/>
                    </a:solidFill>
                  </a:tcPr>
                </a:tc>
              </a:tr>
              <a:tr h="630936">
                <a:tc>
                  <a:txBody>
                    <a:bodyPr wrap="square"/>
                    <a:lstStyle/>
                    <a:p>
                      <a:r>
                        <a:rPr sz="1000" b="1">
                          <a:solidFill>
                            <a:srgbClr val="0C2B4A"/>
                          </a:solidFill>
                        </a:rPr>
                        <a:t>Relational (SQL)</a:t>
                      </a:r>
                    </a:p>
                  </a:txBody>
                  <a:tcPr anchor="ctr" marL="73152" marR="54864" marT="27432" marB="27432">
                    <a:solidFill>
                      <a:srgbClr val="FFFFFF"/>
                    </a:solidFill>
                  </a:tcPr>
                </a:tc>
                <a:tc>
                  <a:txBody>
                    <a:bodyPr wrap="square"/>
                    <a:lstStyle/>
                    <a:p>
                      <a:r>
                        <a:rPr sz="1000">
                          <a:solidFill>
                            <a:srgbClr val="1A1A1A"/>
                          </a:solidFill>
                        </a:rPr>
                        <a:t>MySQL / PostgreSQL</a:t>
                      </a:r>
                    </a:p>
                  </a:txBody>
                  <a:tcPr anchor="ctr" marL="73152" marR="54864" marT="27432" marB="27432">
                    <a:solidFill>
                      <a:srgbClr val="FFFFFF"/>
                    </a:solidFill>
                  </a:tcPr>
                </a:tc>
                <a:tc>
                  <a:txBody>
                    <a:bodyPr wrap="square"/>
                    <a:lstStyle/>
                    <a:p>
                      <a:r>
                        <a:rPr sz="1000">
                          <a:solidFill>
                            <a:srgbClr val="1A1A1A"/>
                          </a:solidFill>
                        </a:rPr>
                        <a:t>Tables + relationships (ACID)</a:t>
                      </a:r>
                    </a:p>
                  </a:txBody>
                  <a:tcPr anchor="ctr" marL="73152" marR="54864" marT="27432" marB="27432">
                    <a:solidFill>
                      <a:srgbClr val="FFFFFF"/>
                    </a:solidFill>
                  </a:tcPr>
                </a:tc>
                <a:tc>
                  <a:txBody>
                    <a:bodyPr wrap="square"/>
                    <a:lstStyle/>
                    <a:p>
                      <a:r>
                        <a:rPr sz="1000">
                          <a:solidFill>
                            <a:srgbClr val="1A1A1A"/>
                          </a:solidFill>
                        </a:rPr>
                        <a:t>Structured data needing consistency</a:t>
                      </a:r>
                    </a:p>
                  </a:txBody>
                  <a:tcPr anchor="ctr" marL="73152" marR="54864" marT="27432" marB="27432">
                    <a:solidFill>
                      <a:srgbClr val="FFFFFF"/>
                    </a:solidFill>
                  </a:tcPr>
                </a:tc>
                <a:tc>
                  <a:txBody>
                    <a:bodyPr wrap="square"/>
                    <a:lstStyle/>
                    <a:p>
                      <a:r>
                        <a:rPr sz="1000">
                          <a:solidFill>
                            <a:srgbClr val="1A1A1A"/>
                          </a:solidFill>
                        </a:rPr>
                        <a:t>Bank accounts, eSewa ledger</a:t>
                      </a:r>
                    </a:p>
                  </a:txBody>
                  <a:tcPr anchor="ctr" marL="73152" marR="54864" marT="27432" marB="27432">
                    <a:solidFill>
                      <a:srgbClr val="FFFFFF"/>
                    </a:solidFill>
                  </a:tcPr>
                </a:tc>
              </a:tr>
              <a:tr h="630936">
                <a:tc>
                  <a:txBody>
                    <a:bodyPr wrap="square"/>
                    <a:lstStyle/>
                    <a:p>
                      <a:r>
                        <a:rPr sz="1000" b="1">
                          <a:solidFill>
                            <a:srgbClr val="0C2B4A"/>
                          </a:solidFill>
                        </a:rPr>
                        <a:t>Key-Value</a:t>
                      </a:r>
                    </a:p>
                  </a:txBody>
                  <a:tcPr anchor="ctr" marL="73152" marR="54864" marT="27432" marB="27432">
                    <a:solidFill>
                      <a:srgbClr val="EEF3F8"/>
                    </a:solidFill>
                  </a:tcPr>
                </a:tc>
                <a:tc>
                  <a:txBody>
                    <a:bodyPr wrap="square"/>
                    <a:lstStyle/>
                    <a:p>
                      <a:r>
                        <a:rPr sz="1000">
                          <a:solidFill>
                            <a:srgbClr val="1A1A1A"/>
                          </a:solidFill>
                        </a:rPr>
                        <a:t>Redis</a:t>
                      </a:r>
                    </a:p>
                  </a:txBody>
                  <a:tcPr anchor="ctr" marL="73152" marR="54864" marT="27432" marB="27432">
                    <a:solidFill>
                      <a:srgbClr val="EEF3F8"/>
                    </a:solidFill>
                  </a:tcPr>
                </a:tc>
                <a:tc>
                  <a:txBody>
                    <a:bodyPr wrap="square"/>
                    <a:lstStyle/>
                    <a:p>
                      <a:r>
                        <a:rPr sz="1000">
                          <a:solidFill>
                            <a:srgbClr val="1A1A1A"/>
                          </a:solidFill>
                        </a:rPr>
                        <a:t>key → value (a dictionary)</a:t>
                      </a:r>
                    </a:p>
                  </a:txBody>
                  <a:tcPr anchor="ctr" marL="73152" marR="54864" marT="27432" marB="27432">
                    <a:solidFill>
                      <a:srgbClr val="EEF3F8"/>
                    </a:solidFill>
                  </a:tcPr>
                </a:tc>
                <a:tc>
                  <a:txBody>
                    <a:bodyPr wrap="square"/>
                    <a:lstStyle/>
                    <a:p>
                      <a:r>
                        <a:rPr sz="1000">
                          <a:solidFill>
                            <a:srgbClr val="1A1A1A"/>
                          </a:solidFill>
                        </a:rPr>
                        <a:t>Fast lookups, caching</a:t>
                      </a:r>
                    </a:p>
                  </a:txBody>
                  <a:tcPr anchor="ctr" marL="73152" marR="54864" marT="27432" marB="27432">
                    <a:solidFill>
                      <a:srgbClr val="EEF3F8"/>
                    </a:solidFill>
                  </a:tcPr>
                </a:tc>
                <a:tc>
                  <a:txBody>
                    <a:bodyPr wrap="square"/>
                    <a:lstStyle/>
                    <a:p>
                      <a:r>
                        <a:rPr sz="1000">
                          <a:solidFill>
                            <a:srgbClr val="1A1A1A"/>
                          </a:solidFill>
                        </a:rPr>
                        <a:t>Login sessions, shopping cart</a:t>
                      </a:r>
                    </a:p>
                  </a:txBody>
                  <a:tcPr anchor="ctr" marL="73152" marR="54864" marT="27432" marB="27432">
                    <a:solidFill>
                      <a:srgbClr val="EEF3F8"/>
                    </a:solidFill>
                  </a:tcPr>
                </a:tc>
              </a:tr>
              <a:tr h="630936">
                <a:tc>
                  <a:txBody>
                    <a:bodyPr wrap="square"/>
                    <a:lstStyle/>
                    <a:p>
                      <a:r>
                        <a:rPr sz="1000" b="1">
                          <a:solidFill>
                            <a:srgbClr val="0C2B4A"/>
                          </a:solidFill>
                        </a:rPr>
                        <a:t>Document</a:t>
                      </a:r>
                    </a:p>
                  </a:txBody>
                  <a:tcPr anchor="ctr" marL="73152" marR="54864" marT="27432" marB="27432">
                    <a:solidFill>
                      <a:srgbClr val="FFFFFF"/>
                    </a:solidFill>
                  </a:tcPr>
                </a:tc>
                <a:tc>
                  <a:txBody>
                    <a:bodyPr wrap="square"/>
                    <a:lstStyle/>
                    <a:p>
                      <a:r>
                        <a:rPr sz="1000">
                          <a:solidFill>
                            <a:srgbClr val="1A1A1A"/>
                          </a:solidFill>
                        </a:rPr>
                        <a:t>MongoDB</a:t>
                      </a:r>
                    </a:p>
                  </a:txBody>
                  <a:tcPr anchor="ctr" marL="73152" marR="54864" marT="27432" marB="27432">
                    <a:solidFill>
                      <a:srgbClr val="FFFFFF"/>
                    </a:solidFill>
                  </a:tcPr>
                </a:tc>
                <a:tc>
                  <a:txBody>
                    <a:bodyPr wrap="square"/>
                    <a:lstStyle/>
                    <a:p>
                      <a:r>
                        <a:rPr sz="1000">
                          <a:solidFill>
                            <a:srgbClr val="1A1A1A"/>
                          </a:solidFill>
                        </a:rPr>
                        <a:t>JSON-like documents</a:t>
                      </a:r>
                    </a:p>
                  </a:txBody>
                  <a:tcPr anchor="ctr" marL="73152" marR="54864" marT="27432" marB="27432">
                    <a:solidFill>
                      <a:srgbClr val="FFFFFF"/>
                    </a:solidFill>
                  </a:tcPr>
                </a:tc>
                <a:tc>
                  <a:txBody>
                    <a:bodyPr wrap="square"/>
                    <a:lstStyle/>
                    <a:p>
                      <a:r>
                        <a:rPr sz="1000">
                          <a:solidFill>
                            <a:srgbClr val="1A1A1A"/>
                          </a:solidFill>
                        </a:rPr>
                        <a:t>Flexible, changing schema</a:t>
                      </a:r>
                    </a:p>
                  </a:txBody>
                  <a:tcPr anchor="ctr" marL="73152" marR="54864" marT="27432" marB="27432">
                    <a:solidFill>
                      <a:srgbClr val="FFFFFF"/>
                    </a:solidFill>
                  </a:tcPr>
                </a:tc>
                <a:tc>
                  <a:txBody>
                    <a:bodyPr wrap="square"/>
                    <a:lstStyle/>
                    <a:p>
                      <a:r>
                        <a:rPr sz="1000">
                          <a:solidFill>
                            <a:srgbClr val="1A1A1A"/>
                          </a:solidFill>
                        </a:rPr>
                        <a:t>Daraz product catalogue</a:t>
                      </a:r>
                    </a:p>
                  </a:txBody>
                  <a:tcPr anchor="ctr" marL="73152" marR="54864" marT="27432" marB="27432">
                    <a:solidFill>
                      <a:srgbClr val="FFFFFF"/>
                    </a:solidFill>
                  </a:tcPr>
                </a:tc>
              </a:tr>
              <a:tr h="630936">
                <a:tc>
                  <a:txBody>
                    <a:bodyPr wrap="square"/>
                    <a:lstStyle/>
                    <a:p>
                      <a:r>
                        <a:rPr sz="1000" b="1">
                          <a:solidFill>
                            <a:srgbClr val="0C2B4A"/>
                          </a:solidFill>
                        </a:rPr>
                        <a:t>Column-family</a:t>
                      </a:r>
                    </a:p>
                  </a:txBody>
                  <a:tcPr anchor="ctr" marL="73152" marR="54864" marT="27432" marB="27432">
                    <a:solidFill>
                      <a:srgbClr val="EEF3F8"/>
                    </a:solidFill>
                  </a:tcPr>
                </a:tc>
                <a:tc>
                  <a:txBody>
                    <a:bodyPr wrap="square"/>
                    <a:lstStyle/>
                    <a:p>
                      <a:r>
                        <a:rPr sz="1000">
                          <a:solidFill>
                            <a:srgbClr val="1A1A1A"/>
                          </a:solidFill>
                        </a:rPr>
                        <a:t>Cassandra</a:t>
                      </a:r>
                    </a:p>
                  </a:txBody>
                  <a:tcPr anchor="ctr" marL="73152" marR="54864" marT="27432" marB="27432">
                    <a:solidFill>
                      <a:srgbClr val="EEF3F8"/>
                    </a:solidFill>
                  </a:tcPr>
                </a:tc>
                <a:tc>
                  <a:txBody>
                    <a:bodyPr wrap="square"/>
                    <a:lstStyle/>
                    <a:p>
                      <a:r>
                        <a:rPr sz="1000">
                          <a:solidFill>
                            <a:srgbClr val="1A1A1A"/>
                          </a:solidFill>
                        </a:rPr>
                        <a:t>Wide rows, columns at scale</a:t>
                      </a:r>
                    </a:p>
                  </a:txBody>
                  <a:tcPr anchor="ctr" marL="73152" marR="54864" marT="27432" marB="27432">
                    <a:solidFill>
                      <a:srgbClr val="EEF3F8"/>
                    </a:solidFill>
                  </a:tcPr>
                </a:tc>
                <a:tc>
                  <a:txBody>
                    <a:bodyPr wrap="square"/>
                    <a:lstStyle/>
                    <a:p>
                      <a:r>
                        <a:rPr sz="1000">
                          <a:solidFill>
                            <a:srgbClr val="1A1A1A"/>
                          </a:solidFill>
                        </a:rPr>
                        <a:t>Massive write-heavy data</a:t>
                      </a:r>
                    </a:p>
                  </a:txBody>
                  <a:tcPr anchor="ctr" marL="73152" marR="54864" marT="27432" marB="27432">
                    <a:solidFill>
                      <a:srgbClr val="EEF3F8"/>
                    </a:solidFill>
                  </a:tcPr>
                </a:tc>
                <a:tc>
                  <a:txBody>
                    <a:bodyPr wrap="square"/>
                    <a:lstStyle/>
                    <a:p>
                      <a:r>
                        <a:rPr sz="1000">
                          <a:solidFill>
                            <a:srgbClr val="1A1A1A"/>
                          </a:solidFill>
                        </a:rPr>
                        <a:t>Telecom call-detail records</a:t>
                      </a:r>
                    </a:p>
                  </a:txBody>
                  <a:tcPr anchor="ctr" marL="73152" marR="54864" marT="27432" marB="27432">
                    <a:solidFill>
                      <a:srgbClr val="EEF3F8"/>
                    </a:solidFill>
                  </a:tcPr>
                </a:tc>
              </a:tr>
              <a:tr h="630936">
                <a:tc>
                  <a:txBody>
                    <a:bodyPr wrap="square"/>
                    <a:lstStyle/>
                    <a:p>
                      <a:r>
                        <a:rPr sz="1000" b="1">
                          <a:solidFill>
                            <a:srgbClr val="0C2B4A"/>
                          </a:solidFill>
                        </a:rPr>
                        <a:t>Graph</a:t>
                      </a:r>
                    </a:p>
                  </a:txBody>
                  <a:tcPr anchor="ctr" marL="73152" marR="54864" marT="27432" marB="27432">
                    <a:solidFill>
                      <a:srgbClr val="FFFFFF"/>
                    </a:solidFill>
                  </a:tcPr>
                </a:tc>
                <a:tc>
                  <a:txBody>
                    <a:bodyPr wrap="square"/>
                    <a:lstStyle/>
                    <a:p>
                      <a:r>
                        <a:rPr sz="1000">
                          <a:solidFill>
                            <a:srgbClr val="1A1A1A"/>
                          </a:solidFill>
                        </a:rPr>
                        <a:t>Neo4j</a:t>
                      </a:r>
                    </a:p>
                  </a:txBody>
                  <a:tcPr anchor="ctr" marL="73152" marR="54864" marT="27432" marB="27432">
                    <a:solidFill>
                      <a:srgbClr val="FFFFFF"/>
                    </a:solidFill>
                  </a:tcPr>
                </a:tc>
                <a:tc>
                  <a:txBody>
                    <a:bodyPr wrap="square"/>
                    <a:lstStyle/>
                    <a:p>
                      <a:r>
                        <a:rPr sz="1000">
                          <a:solidFill>
                            <a:srgbClr val="1A1A1A"/>
                          </a:solidFill>
                        </a:rPr>
                        <a:t>Nodes + relationships</a:t>
                      </a:r>
                    </a:p>
                  </a:txBody>
                  <a:tcPr anchor="ctr" marL="73152" marR="54864" marT="27432" marB="27432">
                    <a:solidFill>
                      <a:srgbClr val="FFFFFF"/>
                    </a:solidFill>
                  </a:tcPr>
                </a:tc>
                <a:tc>
                  <a:txBody>
                    <a:bodyPr wrap="square"/>
                    <a:lstStyle/>
                    <a:p>
                      <a:r>
                        <a:rPr sz="1000">
                          <a:solidFill>
                            <a:srgbClr val="1A1A1A"/>
                          </a:solidFill>
                        </a:rPr>
                        <a:t>Highly connected data</a:t>
                      </a:r>
                    </a:p>
                  </a:txBody>
                  <a:tcPr anchor="ctr" marL="73152" marR="54864" marT="27432" marB="27432">
                    <a:solidFill>
                      <a:srgbClr val="FFFFFF"/>
                    </a:solidFill>
                  </a:tcPr>
                </a:tc>
                <a:tc>
                  <a:txBody>
                    <a:bodyPr wrap="square"/>
                    <a:lstStyle/>
                    <a:p>
                      <a:r>
                        <a:rPr sz="1000">
                          <a:solidFill>
                            <a:srgbClr val="1A1A1A"/>
                          </a:solidFill>
                        </a:rPr>
                        <a:t>Social / fraud networks</a:t>
                      </a:r>
                    </a:p>
                  </a:txBody>
                  <a:tcPr anchor="ctr" marL="73152" marR="54864" marT="27432" marB="27432">
                    <a:solidFill>
                      <a:srgbClr val="FFFFFF"/>
                    </a:solidFill>
                  </a:tcPr>
                </a:tc>
              </a:tr>
              <a:tr h="630936">
                <a:tc>
                  <a:txBody>
                    <a:bodyPr wrap="square"/>
                    <a:lstStyle/>
                    <a:p>
                      <a:r>
                        <a:rPr sz="1000" b="1">
                          <a:solidFill>
                            <a:srgbClr val="0C2B4A"/>
                          </a:solidFill>
                        </a:rPr>
                        <a:t>Search</a:t>
                      </a:r>
                    </a:p>
                  </a:txBody>
                  <a:tcPr anchor="ctr" marL="73152" marR="54864" marT="27432" marB="27432">
                    <a:solidFill>
                      <a:srgbClr val="EEF3F8"/>
                    </a:solidFill>
                  </a:tcPr>
                </a:tc>
                <a:tc>
                  <a:txBody>
                    <a:bodyPr wrap="square"/>
                    <a:lstStyle/>
                    <a:p>
                      <a:r>
                        <a:rPr sz="1000">
                          <a:solidFill>
                            <a:srgbClr val="1A1A1A"/>
                          </a:solidFill>
                        </a:rPr>
                        <a:t>Elasticsearch</a:t>
                      </a:r>
                    </a:p>
                  </a:txBody>
                  <a:tcPr anchor="ctr" marL="73152" marR="54864" marT="27432" marB="27432">
                    <a:solidFill>
                      <a:srgbClr val="EEF3F8"/>
                    </a:solidFill>
                  </a:tcPr>
                </a:tc>
                <a:tc>
                  <a:txBody>
                    <a:bodyPr wrap="square"/>
                    <a:lstStyle/>
                    <a:p>
                      <a:r>
                        <a:rPr sz="1000">
                          <a:solidFill>
                            <a:srgbClr val="1A1A1A"/>
                          </a:solidFill>
                        </a:rPr>
                        <a:t>Inverted index of documents</a:t>
                      </a:r>
                    </a:p>
                  </a:txBody>
                  <a:tcPr anchor="ctr" marL="73152" marR="54864" marT="27432" marB="27432">
                    <a:solidFill>
                      <a:srgbClr val="EEF3F8"/>
                    </a:solidFill>
                  </a:tcPr>
                </a:tc>
                <a:tc>
                  <a:txBody>
                    <a:bodyPr wrap="square"/>
                    <a:lstStyle/>
                    <a:p>
                      <a:r>
                        <a:rPr sz="1000">
                          <a:solidFill>
                            <a:srgbClr val="1A1A1A"/>
                          </a:solidFill>
                        </a:rPr>
                        <a:t>Full-text search</a:t>
                      </a:r>
                    </a:p>
                  </a:txBody>
                  <a:tcPr anchor="ctr" marL="73152" marR="54864" marT="27432" marB="27432">
                    <a:solidFill>
                      <a:srgbClr val="EEF3F8"/>
                    </a:solidFill>
                  </a:tcPr>
                </a:tc>
                <a:tc>
                  <a:txBody>
                    <a:bodyPr wrap="square"/>
                    <a:lstStyle/>
                    <a:p>
                      <a:r>
                        <a:rPr sz="1000">
                          <a:solidFill>
                            <a:srgbClr val="1A1A1A"/>
                          </a:solidFill>
                        </a:rPr>
                        <a:t>Product / help-desk search</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Pick the family by the data SHAPE and access pattern — not fashion. A relational core still anchors most systems (money, accounts); NoSQL families complement it where flexibility, scale, or connectedness matters.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82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6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NoSQL Databases &amp; Their Types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For a flexible, ever-changing product catalogue where each item has different attributes, a document store (MongoDB) fits better than rigid relational tables — you store each product as a JSON document and evolve the schema freely. Meanwhile eSewa's money ledger stays in a relational (SQL) DB for strict ACID consistency. Different jobs, different stores.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"NoSQL is replacing / killing SQL." It complements relational DBs — you pick the tool for the job, and most real systems still need a relational core (especially for money and accounts). NoSQL families trade some strict ACID consistency for flexibility and scale, which is right for some data and wrong for other data.</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NoSQL ('Not Only SQL') databases are non-relational stores built for scale, flexible schemas, and the 3 Vs, in four main families: key-value (Redis), document (MongoDB), column-family (Cassandra), and graph (Neo4j). They complement relational databases rather than replace them, often trading strict ACID consistency for flexibility and scale — so you pick the store by the data's shape.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NoSQL · key-value / document / column-family / graph · Redis/MongoDB/Cassandra/Neo4j · complements SQL · flexibility &amp; scale vs strict ACID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82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S47 — 'Relational or document?'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you must store a flexible, ever-changing product catalogue for a Nepali e-shop.</a:t>
            </a:r>
          </a:p>
          <a:p>
            <a:pPr>
              <a:spcAft>
                <a:spcPts val="700"/>
              </a:spcAft>
            </a:pPr>
            <a:r>
              <a:rPr sz="1550">
                <a:solidFill>
                  <a:srgbClr val="1A1A1A"/>
                </a:solidFill>
              </a:rPr>
              <a:t>•  Choose a relational DB or a document NoSQL DB, and justify it (schema flexibility, consistency needs).</a:t>
            </a:r>
          </a:p>
          <a:p>
            <a:pPr>
              <a:spcAft>
                <a:spcPts val="700"/>
              </a:spcAft>
            </a:pPr>
            <a:r>
              <a:rPr sz="1550">
                <a:solidFill>
                  <a:srgbClr val="1A1A1A"/>
                </a:solidFill>
              </a:rPr>
              <a:t>•  Then decide where the MONEY/orders should live, and why.</a:t>
            </a:r>
          </a:p>
          <a:p>
            <a:pPr>
              <a:spcAft>
                <a:spcPts val="700"/>
              </a:spcAft>
            </a:pPr>
            <a:r>
              <a:rPr sz="1550">
                <a:solidFill>
                  <a:srgbClr val="1A1A1A"/>
                </a:solidFill>
              </a:rPr>
              <a:t>•  Take 3–4 answers aloud (3 min); draw out 'pick the tool for the job', not one-size-fits-all.</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Strong answer: document (MongoDB) for the flexible catalogue (varying attributes, evolving schema); relational (SQL) for orders/payments (ACID, money must be consistent). The lesson: most systems mix stores — NoSQL complements SQL.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82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single Khalti payment being recorded is an example of:</a:t>
            </a:r>
          </a:p>
          <a:p>
            <a:pPr lvl="1"/>
            <a:r>
              <a:rPr sz="1500" b="1">
                <a:solidFill>
                  <a:srgbClr val="0F6E56"/>
                </a:solidFill>
              </a:rPr>
              <a:t>a) ✅ OLTP   b) OLAP   c) ETL   d) data mining</a:t>
            </a:r>
          </a:p>
          <a:p>
            <a:pPr lvl="1">
              <a:spcBef>
                <a:spcPts val="600"/>
              </a:spcBef>
            </a:pPr>
            <a:r>
              <a:rPr sz="1500" i="1">
                <a:solidFill>
                  <a:srgbClr val="1A1A1A"/>
                </a:solidFill>
              </a:rPr>
              <a:t>     Why: OLTP = many small, fast transactions — the running of the business.</a:t>
            </a:r>
          </a:p>
          <a:p>
            <a:pPr>
              <a:spcBef>
                <a:spcPts val="900"/>
              </a:spcBef>
            </a:pPr>
            <a:r>
              <a:rPr sz="1700" b="1">
                <a:solidFill>
                  <a:srgbClr val="0C2B4A"/>
                </a:solidFill>
              </a:rPr>
              <a:t>Q2.  'Variety' in BigData's 3 Vs refers to:</a:t>
            </a:r>
          </a:p>
          <a:p>
            <a:pPr lvl="1"/>
            <a:r>
              <a:rPr sz="1500" b="1">
                <a:solidFill>
                  <a:srgbClr val="0F6E56"/>
                </a:solidFill>
              </a:rPr>
              <a:t>a) speed   b) size   c) ✅ many different data formats / types   d) accuracy</a:t>
            </a:r>
          </a:p>
          <a:p>
            <a:pPr lvl="1">
              <a:spcBef>
                <a:spcPts val="600"/>
              </a:spcBef>
            </a:pPr>
            <a:r>
              <a:rPr sz="1500" i="1">
                <a:solidFill>
                  <a:srgbClr val="1A1A1A"/>
                </a:solidFill>
              </a:rPr>
              <a:t>     Why: Variety = mixed formats (text, images, logs, GPS); speed is Velocity, size is Volume.</a:t>
            </a:r>
          </a:p>
          <a:p>
            <a:pPr lvl="1">
              <a:spcBef>
                <a:spcPts val="600"/>
              </a:spcBef>
            </a:pPr>
            <a:r>
              <a:rPr sz="1500" i="1">
                <a:solidFill>
                  <a:srgbClr val="1A1A1A"/>
                </a:solidFill>
              </a:rPr>
              <a:t>Discussion: for a flexible, ever-changing product catalogue — relational or document NoSQL,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82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OLTP runs the business (tiny fast transactions); OLAP analyzes it (big historical queries) — separate systems.</a:t>
            </a:r>
          </a:p>
          <a:p>
            <a:pPr>
              <a:spcAft>
                <a:spcPts val="800"/>
              </a:spcAft>
            </a:pPr>
            <a:r>
              <a:rPr sz="1500">
                <a:solidFill>
                  <a:srgbClr val="1A1A1A"/>
                </a:solidFill>
              </a:rPr>
              <a:t>2.  Warehouses store integrated historical data fed by ETL (Transform is the hard part); data mining finds hidden patterns.</a:t>
            </a:r>
          </a:p>
          <a:p>
            <a:pPr>
              <a:spcAft>
                <a:spcPts val="800"/>
              </a:spcAft>
            </a:pPr>
            <a:r>
              <a:rPr sz="1500">
                <a:solidFill>
                  <a:srgbClr val="1A1A1A"/>
                </a:solidFill>
              </a:rPr>
              <a:t>3.  BigData = Volume, Velocity, Variety; NoSQL (key-value / document / column / graph) complements SQL — pick the tool.</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Analytics + BigData + NoSQL are the fastest-growing data jobs in Nepal/South Asia — fintech analytics, telecom churn, e-commerce recommendations. This session points you toward that career path.</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S48 — the FINAL session: we tie all seven units together and get you ready for the exam + project demo.</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82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48 · LECTURE HOUR 4 (OF 4) — FINAL SESSION OF THE COURSE</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Course Review · Project Prep · Final Q&amp;A</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Eight semesters of life run on databases — and in 4 months you went from 'what is a database?' to designing, querying, securing, and scaling one. Today we connect every dot and get you exam- and demo-ready. No new theory — just synthesis.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68 / 82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PART A · REVIEW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Whole Course as One Lifecycle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IT 220 is not seven separate topics — it is ONE lifecycle for building a real database system, all resting on the Unit 1 concepts foundation. Read the map left-to-right: you learned to design it, reason about it, refine it, build it, protect it, and scale it.</a:t>
            </a:r>
          </a:p>
          <a:p>
            <a:pPr>
              <a:spcAft>
                <a:spcPts val="500"/>
              </a:spcAft>
            </a:pPr>
            <a:r>
              <a:rPr sz="1200" b="1">
                <a:solidFill>
                  <a:srgbClr val="185FA5"/>
                </a:solidFill>
              </a:rPr>
              <a:t>HOW IT WORKS</a:t>
            </a:r>
          </a:p>
          <a:p>
            <a:pPr>
              <a:spcAft>
                <a:spcPts val="600"/>
              </a:spcAft>
            </a:pPr>
            <a:r>
              <a:rPr sz="1400">
                <a:solidFill>
                  <a:srgbClr val="1A1A1A"/>
                </a:solidFill>
              </a:rPr>
              <a:t>•  U1 Concepts &amp; Architecture — the foundation (DB/DBMS, users/DBA, 3-schema, client/server).</a:t>
            </a:r>
          </a:p>
          <a:p>
            <a:pPr>
              <a:spcAft>
                <a:spcPts val="600"/>
              </a:spcAft>
            </a:pPr>
            <a:r>
              <a:rPr sz="1400">
                <a:solidFill>
                  <a:srgbClr val="1A1A1A"/>
                </a:solidFill>
              </a:rPr>
              <a:t>•  U2 Design (ER → tables) → U3 Theory (relational algebra) → U4 Normalize (1NF → BCNF).</a:t>
            </a:r>
          </a:p>
          <a:p>
            <a:pPr>
              <a:spcAft>
                <a:spcPts val="600"/>
              </a:spcAft>
            </a:pPr>
            <a:r>
              <a:rPr sz="1400">
                <a:solidFill>
                  <a:srgbClr val="1A1A1A"/>
                </a:solidFill>
              </a:rPr>
              <a:t>•  U5 Build/Query (SQL: DDL/DML, joins, views, procedures, indexing) — the practical core.</a:t>
            </a:r>
          </a:p>
          <a:p>
            <a:pPr>
              <a:spcAft>
                <a:spcPts val="600"/>
              </a:spcAft>
            </a:pPr>
            <a:r>
              <a:rPr sz="1400">
                <a:solidFill>
                  <a:srgbClr val="1A1A1A"/>
                </a:solidFill>
              </a:rPr>
              <a:t>•  U6 Protect/Run (ACID, concurrency, recovery) → U7 Scale/Advanced (tune, secure, distribute, analyze).</a:t>
            </a:r>
          </a:p>
        </p:txBody>
      </p:sp>
      <p:pic>
        <p:nvPicPr>
          <p:cNvPr id="6" name="Picture 5" descr="s48_course_map.png"/>
          <p:cNvPicPr>
            <a:picLocks noChangeAspect="1"/>
          </p:cNvPicPr>
          <p:nvPr/>
        </p:nvPicPr>
        <p:blipFill>
          <a:blip r:embed="rId2"/>
          <a:stretch>
            <a:fillRect/>
          </a:stretch>
        </p:blipFill>
        <p:spPr>
          <a:xfrm>
            <a:off x="6355080" y="2286776"/>
            <a:ext cx="5532120" cy="306168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Concepts → Design → Theory → Normalize → Build → Protect → Scale : one system, one lifecycle.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69 / 82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PART A · RECAP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whole of IT 220 in one table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386483"/>
                <a:gridCol w="3265714"/>
                <a:gridCol w="3014505"/>
                <a:gridCol w="2763296"/>
              </a:tblGrid>
              <a:tr h="552069">
                <a:tc>
                  <a:txBody>
                    <a:bodyPr wrap="square"/>
                    <a:lstStyle/>
                    <a:p>
                      <a:r>
                        <a:rPr sz="1000" b="1">
                          <a:solidFill>
                            <a:srgbClr val="FFFFFF"/>
                          </a:solidFill>
                        </a:rPr>
                        <a:t>Unit</a:t>
                      </a:r>
                    </a:p>
                  </a:txBody>
                  <a:tcPr anchor="ctr" marL="73152" marR="54864" marT="27432" marB="27432">
                    <a:solidFill>
                      <a:srgbClr val="0C2B4A"/>
                    </a:solidFill>
                  </a:tcPr>
                </a:tc>
                <a:tc>
                  <a:txBody>
                    <a:bodyPr wrap="square"/>
                    <a:lstStyle/>
                    <a:p>
                      <a:r>
                        <a:rPr sz="1000" b="1">
                          <a:solidFill>
                            <a:srgbClr val="FFFFFF"/>
                          </a:solidFill>
                        </a:rPr>
                        <a:t>What it covered</a:t>
                      </a:r>
                    </a:p>
                  </a:txBody>
                  <a:tcPr anchor="ctr" marL="73152" marR="54864" marT="27432" marB="27432">
                    <a:solidFill>
                      <a:srgbClr val="0C2B4A"/>
                    </a:solidFill>
                  </a:tcPr>
                </a:tc>
                <a:tc>
                  <a:txBody>
                    <a:bodyPr wrap="square"/>
                    <a:lstStyle/>
                    <a:p>
                      <a:r>
                        <a:rPr sz="1000" b="1">
                          <a:solidFill>
                            <a:srgbClr val="FFFFFF"/>
                          </a:solidFill>
                        </a:rPr>
                        <a:t>Key skill you gained</a:t>
                      </a:r>
                    </a:p>
                  </a:txBody>
                  <a:tcPr anchor="ctr" marL="73152" marR="54864" marT="27432" marB="27432">
                    <a:solidFill>
                      <a:srgbClr val="0C2B4A"/>
                    </a:solidFill>
                  </a:tcPr>
                </a:tc>
                <a:tc>
                  <a:txBody>
                    <a:bodyPr wrap="square"/>
                    <a:lstStyle/>
                    <a:p>
                      <a:r>
                        <a:rPr sz="1000" b="1">
                          <a:solidFill>
                            <a:srgbClr val="FFFFFF"/>
                          </a:solidFill>
                        </a:rPr>
                        <a:t>Likely exam focus</a:t>
                      </a:r>
                    </a:p>
                  </a:txBody>
                  <a:tcPr anchor="ctr" marL="73152" marR="54864" marT="27432" marB="27432">
                    <a:solidFill>
                      <a:srgbClr val="0C2B4A"/>
                    </a:solidFill>
                  </a:tcPr>
                </a:tc>
              </a:tr>
              <a:tr h="552069">
                <a:tc>
                  <a:txBody>
                    <a:bodyPr wrap="square"/>
                    <a:lstStyle/>
                    <a:p>
                      <a:r>
                        <a:rPr sz="950" b="1">
                          <a:solidFill>
                            <a:srgbClr val="0C2B4A"/>
                          </a:solidFill>
                        </a:rPr>
                        <a:t>U1 Concepts &amp; Architecture</a:t>
                      </a:r>
                    </a:p>
                  </a:txBody>
                  <a:tcPr anchor="ctr" marL="73152" marR="54864" marT="27432" marB="27432">
                    <a:solidFill>
                      <a:srgbClr val="FFFFFF"/>
                    </a:solidFill>
                  </a:tcPr>
                </a:tc>
                <a:tc>
                  <a:txBody>
                    <a:bodyPr wrap="square"/>
                    <a:lstStyle/>
                    <a:p>
                      <a:r>
                        <a:rPr sz="950">
                          <a:solidFill>
                            <a:srgbClr val="1A1A1A"/>
                          </a:solidFill>
                        </a:rPr>
                        <a:t>DB/DBMS, users/DBA, schemas, 3-schema, client/server</a:t>
                      </a:r>
                    </a:p>
                  </a:txBody>
                  <a:tcPr anchor="ctr" marL="73152" marR="54864" marT="27432" marB="27432">
                    <a:solidFill>
                      <a:srgbClr val="FFFFFF"/>
                    </a:solidFill>
                  </a:tcPr>
                </a:tc>
                <a:tc>
                  <a:txBody>
                    <a:bodyPr wrap="square"/>
                    <a:lstStyle/>
                    <a:p>
                      <a:r>
                        <a:rPr sz="950">
                          <a:solidFill>
                            <a:srgbClr val="1A1A1A"/>
                          </a:solidFill>
                        </a:rPr>
                        <a:t>Talk about DB systems precisely</a:t>
                      </a:r>
                    </a:p>
                  </a:txBody>
                  <a:tcPr anchor="ctr" marL="73152" marR="54864" marT="27432" marB="27432">
                    <a:solidFill>
                      <a:srgbClr val="FFFFFF"/>
                    </a:solidFill>
                  </a:tcPr>
                </a:tc>
                <a:tc>
                  <a:txBody>
                    <a:bodyPr wrap="square"/>
                    <a:lstStyle/>
                    <a:p>
                      <a:r>
                        <a:rPr sz="950">
                          <a:solidFill>
                            <a:srgbClr val="1A1A1A"/>
                          </a:solidFill>
                        </a:rPr>
                        <a:t>Definitions; 3-schema architecture</a:t>
                      </a:r>
                    </a:p>
                  </a:txBody>
                  <a:tcPr anchor="ctr" marL="73152" marR="54864" marT="27432" marB="27432">
                    <a:solidFill>
                      <a:srgbClr val="FFFFFF"/>
                    </a:solidFill>
                  </a:tcPr>
                </a:tc>
              </a:tr>
              <a:tr h="552069">
                <a:tc>
                  <a:txBody>
                    <a:bodyPr wrap="square"/>
                    <a:lstStyle/>
                    <a:p>
                      <a:r>
                        <a:rPr sz="950" b="1">
                          <a:solidFill>
                            <a:srgbClr val="0C2B4A"/>
                          </a:solidFill>
                        </a:rPr>
                        <a:t>U2 ER &amp; Relational Model</a:t>
                      </a:r>
                    </a:p>
                  </a:txBody>
                  <a:tcPr anchor="ctr" marL="73152" marR="54864" marT="27432" marB="27432">
                    <a:solidFill>
                      <a:srgbClr val="EEF3F8"/>
                    </a:solidFill>
                  </a:tcPr>
                </a:tc>
                <a:tc>
                  <a:txBody>
                    <a:bodyPr wrap="square"/>
                    <a:lstStyle/>
                    <a:p>
                      <a:r>
                        <a:rPr sz="950">
                          <a:solidFill>
                            <a:srgbClr val="1A1A1A"/>
                          </a:solidFill>
                        </a:rPr>
                        <a:t>Entities, attributes, keys, relationships, ER→table</a:t>
                      </a:r>
                    </a:p>
                  </a:txBody>
                  <a:tcPr anchor="ctr" marL="73152" marR="54864" marT="27432" marB="27432">
                    <a:solidFill>
                      <a:srgbClr val="EEF3F8"/>
                    </a:solidFill>
                  </a:tcPr>
                </a:tc>
                <a:tc>
                  <a:txBody>
                    <a:bodyPr wrap="square"/>
                    <a:lstStyle/>
                    <a:p>
                      <a:r>
                        <a:rPr sz="950">
                          <a:solidFill>
                            <a:srgbClr val="1A1A1A"/>
                          </a:solidFill>
                        </a:rPr>
                        <a:t>Design a schema from requirements</a:t>
                      </a:r>
                    </a:p>
                  </a:txBody>
                  <a:tcPr anchor="ctr" marL="73152" marR="54864" marT="27432" marB="27432">
                    <a:solidFill>
                      <a:srgbClr val="EEF3F8"/>
                    </a:solidFill>
                  </a:tcPr>
                </a:tc>
                <a:tc>
                  <a:txBody>
                    <a:bodyPr wrap="square"/>
                    <a:lstStyle/>
                    <a:p>
                      <a:r>
                        <a:rPr sz="950">
                          <a:solidFill>
                            <a:srgbClr val="1A1A1A"/>
                          </a:solidFill>
                        </a:rPr>
                        <a:t>ER→table conversion</a:t>
                      </a:r>
                    </a:p>
                  </a:txBody>
                  <a:tcPr anchor="ctr" marL="73152" marR="54864" marT="27432" marB="27432">
                    <a:solidFill>
                      <a:srgbClr val="EEF3F8"/>
                    </a:solidFill>
                  </a:tcPr>
                </a:tc>
              </a:tr>
              <a:tr h="552069">
                <a:tc>
                  <a:txBody>
                    <a:bodyPr wrap="square"/>
                    <a:lstStyle/>
                    <a:p>
                      <a:r>
                        <a:rPr sz="950" b="1">
                          <a:solidFill>
                            <a:srgbClr val="0C2B4A"/>
                          </a:solidFill>
                        </a:rPr>
                        <a:t>U3 Relational Algebra &amp; Calculus</a:t>
                      </a:r>
                    </a:p>
                  </a:txBody>
                  <a:tcPr anchor="ctr" marL="73152" marR="54864" marT="27432" marB="27432">
                    <a:solidFill>
                      <a:srgbClr val="FFFFFF"/>
                    </a:solidFill>
                  </a:tcPr>
                </a:tc>
                <a:tc>
                  <a:txBody>
                    <a:bodyPr wrap="square"/>
                    <a:lstStyle/>
                    <a:p>
                      <a:r>
                        <a:rPr sz="950">
                          <a:solidFill>
                            <a:srgbClr val="1A1A1A"/>
                          </a:solidFill>
                        </a:rPr>
                        <a:t>SELECT, PROJECT, JOIN — the formal basis of SQL</a:t>
                      </a:r>
                    </a:p>
                  </a:txBody>
                  <a:tcPr anchor="ctr" marL="73152" marR="54864" marT="27432" marB="27432">
                    <a:solidFill>
                      <a:srgbClr val="FFFFFF"/>
                    </a:solidFill>
                  </a:tcPr>
                </a:tc>
                <a:tc>
                  <a:txBody>
                    <a:bodyPr wrap="square"/>
                    <a:lstStyle/>
                    <a:p>
                      <a:r>
                        <a:rPr sz="950">
                          <a:solidFill>
                            <a:srgbClr val="1A1A1A"/>
                          </a:solidFill>
                        </a:rPr>
                        <a:t>Reason about queries formally</a:t>
                      </a:r>
                    </a:p>
                  </a:txBody>
                  <a:tcPr anchor="ctr" marL="73152" marR="54864" marT="27432" marB="27432">
                    <a:solidFill>
                      <a:srgbClr val="FFFFFF"/>
                    </a:solidFill>
                  </a:tcPr>
                </a:tc>
                <a:tc>
                  <a:txBody>
                    <a:bodyPr wrap="square"/>
                    <a:lstStyle/>
                    <a:p>
                      <a:r>
                        <a:rPr sz="950">
                          <a:solidFill>
                            <a:srgbClr val="1A1A1A"/>
                          </a:solidFill>
                        </a:rPr>
                        <a:t>Write/read algebra expressions</a:t>
                      </a:r>
                    </a:p>
                  </a:txBody>
                  <a:tcPr anchor="ctr" marL="73152" marR="54864" marT="27432" marB="27432">
                    <a:solidFill>
                      <a:srgbClr val="FFFFFF"/>
                    </a:solidFill>
                  </a:tcPr>
                </a:tc>
              </a:tr>
              <a:tr h="552069">
                <a:tc>
                  <a:txBody>
                    <a:bodyPr wrap="square"/>
                    <a:lstStyle/>
                    <a:p>
                      <a:r>
                        <a:rPr sz="950" b="1">
                          <a:solidFill>
                            <a:srgbClr val="0C2B4A"/>
                          </a:solidFill>
                        </a:rPr>
                        <a:t>U4 Normalization</a:t>
                      </a:r>
                    </a:p>
                  </a:txBody>
                  <a:tcPr anchor="ctr" marL="73152" marR="54864" marT="27432" marB="27432">
                    <a:solidFill>
                      <a:srgbClr val="EEF3F8"/>
                    </a:solidFill>
                  </a:tcPr>
                </a:tc>
                <a:tc>
                  <a:txBody>
                    <a:bodyPr wrap="square"/>
                    <a:lstStyle/>
                    <a:p>
                      <a:r>
                        <a:rPr sz="950">
                          <a:solidFill>
                            <a:srgbClr val="1A1A1A"/>
                          </a:solidFill>
                        </a:rPr>
                        <a:t>FDs, anomalies, 1NF→BCNF, 4NF</a:t>
                      </a:r>
                    </a:p>
                  </a:txBody>
                  <a:tcPr anchor="ctr" marL="73152" marR="54864" marT="27432" marB="27432">
                    <a:solidFill>
                      <a:srgbClr val="EEF3F8"/>
                    </a:solidFill>
                  </a:tcPr>
                </a:tc>
                <a:tc>
                  <a:txBody>
                    <a:bodyPr wrap="square"/>
                    <a:lstStyle/>
                    <a:p>
                      <a:r>
                        <a:rPr sz="950">
                          <a:solidFill>
                            <a:srgbClr val="1A1A1A"/>
                          </a:solidFill>
                        </a:rPr>
                        <a:t>Remove redundancy &amp; anomalies</a:t>
                      </a:r>
                    </a:p>
                  </a:txBody>
                  <a:tcPr anchor="ctr" marL="73152" marR="54864" marT="27432" marB="27432">
                    <a:solidFill>
                      <a:srgbClr val="EEF3F8"/>
                    </a:solidFill>
                  </a:tcPr>
                </a:tc>
                <a:tc>
                  <a:txBody>
                    <a:bodyPr wrap="square"/>
                    <a:lstStyle/>
                    <a:p>
                      <a:r>
                        <a:rPr sz="950">
                          <a:solidFill>
                            <a:srgbClr val="1A1A1A"/>
                          </a:solidFill>
                        </a:rPr>
                        <a:t>Normalize to 3NF/BCNF (show work)</a:t>
                      </a:r>
                    </a:p>
                  </a:txBody>
                  <a:tcPr anchor="ctr" marL="73152" marR="54864" marT="27432" marB="27432">
                    <a:solidFill>
                      <a:srgbClr val="EEF3F8"/>
                    </a:solidFill>
                  </a:tcPr>
                </a:tc>
              </a:tr>
              <a:tr h="552069">
                <a:tc>
                  <a:txBody>
                    <a:bodyPr wrap="square"/>
                    <a:lstStyle/>
                    <a:p>
                      <a:r>
                        <a:rPr sz="950" b="1">
                          <a:solidFill>
                            <a:srgbClr val="0C2B4A"/>
                          </a:solidFill>
                        </a:rPr>
                        <a:t>U5 SQL</a:t>
                      </a:r>
                    </a:p>
                  </a:txBody>
                  <a:tcPr anchor="ctr" marL="73152" marR="54864" marT="27432" marB="27432">
                    <a:solidFill>
                      <a:srgbClr val="FFFFFF"/>
                    </a:solidFill>
                  </a:tcPr>
                </a:tc>
                <a:tc>
                  <a:txBody>
                    <a:bodyPr wrap="square"/>
                    <a:lstStyle/>
                    <a:p>
                      <a:r>
                        <a:rPr sz="950">
                          <a:solidFill>
                            <a:srgbClr val="1A1A1A"/>
                          </a:solidFill>
                        </a:rPr>
                        <a:t>DDL/DML, joins, subqueries, views, procedures, indexing</a:t>
                      </a:r>
                    </a:p>
                  </a:txBody>
                  <a:tcPr anchor="ctr" marL="73152" marR="54864" marT="27432" marB="27432">
                    <a:solidFill>
                      <a:srgbClr val="FFFFFF"/>
                    </a:solidFill>
                  </a:tcPr>
                </a:tc>
                <a:tc>
                  <a:txBody>
                    <a:bodyPr wrap="square"/>
                    <a:lstStyle/>
                    <a:p>
                      <a:r>
                        <a:rPr sz="950">
                          <a:solidFill>
                            <a:srgbClr val="1A1A1A"/>
                          </a:solidFill>
                        </a:rPr>
                        <a:t>Build &amp; query a real database</a:t>
                      </a:r>
                    </a:p>
                  </a:txBody>
                  <a:tcPr anchor="ctr" marL="73152" marR="54864" marT="27432" marB="27432">
                    <a:solidFill>
                      <a:srgbClr val="FFFFFF"/>
                    </a:solidFill>
                  </a:tcPr>
                </a:tc>
                <a:tc>
                  <a:txBody>
                    <a:bodyPr wrap="square"/>
                    <a:lstStyle/>
                    <a:p>
                      <a:r>
                        <a:rPr sz="950">
                          <a:solidFill>
                            <a:srgbClr val="1A1A1A"/>
                          </a:solidFill>
                        </a:rPr>
                        <a:t>Write joins/subqueries/aggregates</a:t>
                      </a:r>
                    </a:p>
                  </a:txBody>
                  <a:tcPr anchor="ctr" marL="73152" marR="54864" marT="27432" marB="27432">
                    <a:solidFill>
                      <a:srgbClr val="FFFFFF"/>
                    </a:solidFill>
                  </a:tcPr>
                </a:tc>
              </a:tr>
              <a:tr h="552069">
                <a:tc>
                  <a:txBody>
                    <a:bodyPr wrap="square"/>
                    <a:lstStyle/>
                    <a:p>
                      <a:r>
                        <a:rPr sz="950" b="1">
                          <a:solidFill>
                            <a:srgbClr val="0C2B4A"/>
                          </a:solidFill>
                        </a:rPr>
                        <a:t>U6 Transactions &amp; Recovery</a:t>
                      </a:r>
                    </a:p>
                  </a:txBody>
                  <a:tcPr anchor="ctr" marL="73152" marR="54864" marT="27432" marB="27432">
                    <a:solidFill>
                      <a:srgbClr val="EEF3F8"/>
                    </a:solidFill>
                  </a:tcPr>
                </a:tc>
                <a:tc>
                  <a:txBody>
                    <a:bodyPr wrap="square"/>
                    <a:lstStyle/>
                    <a:p>
                      <a:r>
                        <a:rPr sz="950">
                          <a:solidFill>
                            <a:srgbClr val="1A1A1A"/>
                          </a:solidFill>
                        </a:rPr>
                        <a:t>ACID, serializability, 2PL/timestamp, backup/recovery</a:t>
                      </a:r>
                    </a:p>
                  </a:txBody>
                  <a:tcPr anchor="ctr" marL="73152" marR="54864" marT="27432" marB="27432">
                    <a:solidFill>
                      <a:srgbClr val="EEF3F8"/>
                    </a:solidFill>
                  </a:tcPr>
                </a:tc>
                <a:tc>
                  <a:txBody>
                    <a:bodyPr wrap="square"/>
                    <a:lstStyle/>
                    <a:p>
                      <a:r>
                        <a:rPr sz="950">
                          <a:solidFill>
                            <a:srgbClr val="1A1A1A"/>
                          </a:solidFill>
                        </a:rPr>
                        <a:t>Keep data correct under concurrency</a:t>
                      </a:r>
                    </a:p>
                  </a:txBody>
                  <a:tcPr anchor="ctr" marL="73152" marR="54864" marT="27432" marB="27432">
                    <a:solidFill>
                      <a:srgbClr val="EEF3F8"/>
                    </a:solidFill>
                  </a:tcPr>
                </a:tc>
                <a:tc>
                  <a:txBody>
                    <a:bodyPr wrap="square"/>
                    <a:lstStyle/>
                    <a:p>
                      <a:r>
                        <a:rPr sz="950">
                          <a:solidFill>
                            <a:srgbClr val="1A1A1A"/>
                          </a:solidFill>
                        </a:rPr>
                        <a:t>ACID + 2PL; recovery</a:t>
                      </a:r>
                    </a:p>
                  </a:txBody>
                  <a:tcPr anchor="ctr" marL="73152" marR="54864" marT="27432" marB="27432">
                    <a:solidFill>
                      <a:srgbClr val="EEF3F8"/>
                    </a:solidFill>
                  </a:tcPr>
                </a:tc>
              </a:tr>
              <a:tr h="552069">
                <a:tc>
                  <a:txBody>
                    <a:bodyPr wrap="square"/>
                    <a:lstStyle/>
                    <a:p>
                      <a:r>
                        <a:rPr sz="950" b="1">
                          <a:solidFill>
                            <a:srgbClr val="0C2B4A"/>
                          </a:solidFill>
                        </a:rPr>
                        <a:t>U7 Advanced Topics</a:t>
                      </a:r>
                    </a:p>
                  </a:txBody>
                  <a:tcPr anchor="ctr" marL="73152" marR="54864" marT="27432" marB="27432">
                    <a:solidFill>
                      <a:srgbClr val="FFFFFF"/>
                    </a:solidFill>
                  </a:tcPr>
                </a:tc>
                <a:tc>
                  <a:txBody>
                    <a:bodyPr wrap="square"/>
                    <a:lstStyle/>
                    <a:p>
                      <a:r>
                        <a:rPr sz="950">
                          <a:solidFill>
                            <a:srgbClr val="1A1A1A"/>
                          </a:solidFill>
                        </a:rPr>
                        <a:t>Tuning, security, distributed DBs, warehousing/BigData/NoSQL</a:t>
                      </a:r>
                    </a:p>
                  </a:txBody>
                  <a:tcPr anchor="ctr" marL="73152" marR="54864" marT="27432" marB="27432">
                    <a:solidFill>
                      <a:srgbClr val="FFFFFF"/>
                    </a:solidFill>
                  </a:tcPr>
                </a:tc>
                <a:tc>
                  <a:txBody>
                    <a:bodyPr wrap="square"/>
                    <a:lstStyle/>
                    <a:p>
                      <a:r>
                        <a:rPr sz="950">
                          <a:solidFill>
                            <a:srgbClr val="1A1A1A"/>
                          </a:solidFill>
                        </a:rPr>
                        <a:t>Make it fast, safe, and scalable</a:t>
                      </a:r>
                    </a:p>
                  </a:txBody>
                  <a:tcPr anchor="ctr" marL="73152" marR="54864" marT="27432" marB="27432">
                    <a:solidFill>
                      <a:srgbClr val="FFFFFF"/>
                    </a:solidFill>
                  </a:tcPr>
                </a:tc>
                <a:tc>
                  <a:txBody>
                    <a:bodyPr wrap="square"/>
                    <a:lstStyle/>
                    <a:p>
                      <a:r>
                        <a:rPr sz="950">
                          <a:solidFill>
                            <a:srgbClr val="1A1A1A"/>
                          </a:solidFill>
                        </a:rPr>
                        <a:t>Definitions; tuning &amp; security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One row per unit — the whole course at a glance. Notice the arc: concepts → design → theory → refine → build → protect → scale. This single table is a fast revision map for the final exam.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82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S48 · PART B · SYNTHESIS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 system through all seven units — an eSewa-style wallet</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Trace a single real system — a mobile wallet — through the whole course. Show how each unit contributes ONE stage of building it. (This retires the misconception that the units are separate topics.)</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U1 — decide it's a multi-user DBMS with a 3-schema design (users, DBA, client/server).</a:t>
            </a:r>
          </a:p>
          <a:p>
            <a:pPr>
              <a:spcAft>
                <a:spcPts val="400"/>
              </a:spcAft>
            </a:pPr>
            <a:r>
              <a:rPr sz="1250" b="1">
                <a:solidFill>
                  <a:srgbClr val="854F0B"/>
                </a:solidFill>
              </a:rPr>
              <a:t>Step 2.  </a:t>
            </a:r>
            <a:r>
              <a:rPr sz="1250">
                <a:solidFill>
                  <a:srgbClr val="1A1A1A"/>
                </a:solidFill>
              </a:rPr>
              <a:t>U2 — draw the ER diagram (User, Merchant, Transaction) and convert it to tables with keys.</a:t>
            </a:r>
          </a:p>
          <a:p>
            <a:pPr>
              <a:spcAft>
                <a:spcPts val="400"/>
              </a:spcAft>
            </a:pPr>
            <a:r>
              <a:rPr sz="1250" b="1">
                <a:solidFill>
                  <a:srgbClr val="854F0B"/>
                </a:solidFill>
              </a:rPr>
              <a:t>Step 3.  </a:t>
            </a:r>
            <a:r>
              <a:rPr sz="1250">
                <a:solidFill>
                  <a:srgbClr val="1A1A1A"/>
                </a:solidFill>
              </a:rPr>
              <a:t>U3/U4 — reason about the queries formally, then normalize to remove redundancy/anomalies.</a:t>
            </a:r>
          </a:p>
          <a:p>
            <a:pPr>
              <a:spcAft>
                <a:spcPts val="400"/>
              </a:spcAft>
            </a:pPr>
            <a:r>
              <a:rPr sz="1250" b="1">
                <a:solidFill>
                  <a:srgbClr val="854F0B"/>
                </a:solidFill>
              </a:rPr>
              <a:t>Step 4.  </a:t>
            </a:r>
            <a:r>
              <a:rPr sz="1250">
                <a:solidFill>
                  <a:srgbClr val="1A1A1A"/>
                </a:solidFill>
              </a:rPr>
              <a:t>U5 — build it in SQL: CREATE tables, INSERT, and write JOIN/aggregate queries + a view for statements.</a:t>
            </a:r>
          </a:p>
          <a:p>
            <a:pPr>
              <a:spcAft>
                <a:spcPts val="400"/>
              </a:spcAft>
            </a:pPr>
            <a:r>
              <a:rPr sz="1250" b="1">
                <a:solidFill>
                  <a:srgbClr val="854F0B"/>
                </a:solidFill>
              </a:rPr>
              <a:t>Step 5.  </a:t>
            </a:r>
            <a:r>
              <a:rPr sz="1250">
                <a:solidFill>
                  <a:srgbClr val="1A1A1A"/>
                </a:solidFill>
              </a:rPr>
              <a:t>U6 — a money transfer is a TRANSACTION: ACID + 2PL keep it correct when two users act at once; backups enable recovery.</a:t>
            </a:r>
          </a:p>
          <a:p>
            <a:pPr>
              <a:spcAft>
                <a:spcPts val="400"/>
              </a:spcAft>
            </a:pPr>
            <a:r>
              <a:rPr sz="1250" b="1">
                <a:solidFill>
                  <a:srgbClr val="854F0B"/>
                </a:solidFill>
              </a:rPr>
              <a:t>Step 6.  </a:t>
            </a:r>
            <a:r>
              <a:rPr sz="1250">
                <a:solidFill>
                  <a:srgbClr val="1A1A1A"/>
                </a:solidFill>
              </a:rPr>
              <a:t>U7 — index and secure it (auth, authorization, encryption), then scale via distribution and analyze spend via a warehouse.</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The seven units are ONE lifecycle of building a real system — design → normalize → SQL → transactions → protect/secure → scale/analyze. Any real Nepali fintech app is this exact journey end to end.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82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PART C · EXAM PREP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to prepare for the final exam</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High-weight areas</a:t>
            </a:r>
          </a:p>
          <a:p>
            <a:pPr>
              <a:spcBef>
                <a:spcPts val="300"/>
              </a:spcBef>
            </a:pPr>
            <a:r>
              <a:rPr sz="1200">
                <a:solidFill>
                  <a:srgbClr val="1A1A1A"/>
                </a:solidFill>
              </a:rPr>
              <a:t>ER→table conversion · normalization to 3NF/BCNF · SQL writing (joins/subqueries/aggregates) · ACID + 2PL · definitions across Unit 1 &amp; 7.</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How to answer</a:t>
            </a:r>
          </a:p>
          <a:p>
            <a:pPr>
              <a:spcBef>
                <a:spcPts val="300"/>
              </a:spcBef>
            </a:pPr>
            <a:r>
              <a:rPr sz="1200">
                <a:solidFill>
                  <a:srgbClr val="1A1A1A"/>
                </a:solidFill>
              </a:rPr>
              <a:t>Define → give an example → draw the diagram where asked. In normalization/SQL, SHOW your working — partial marks live in the steps.</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Diagrams win marks</a:t>
            </a:r>
          </a:p>
          <a:p>
            <a:pPr>
              <a:spcBef>
                <a:spcPts val="300"/>
              </a:spcBef>
            </a:pPr>
            <a:r>
              <a:rPr sz="1200">
                <a:solidFill>
                  <a:srgbClr val="1A1A1A"/>
                </a:solidFill>
              </a:rPr>
              <a:t>ER diagrams, 3-schema, star schema, query plans — a clear labelled diagram often earns more, faster, than a paragraph.</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Time management</a:t>
            </a:r>
          </a:p>
          <a:p>
            <a:pPr>
              <a:spcBef>
                <a:spcPts val="300"/>
              </a:spcBef>
            </a:pPr>
            <a:r>
              <a:rPr sz="1200">
                <a:solidFill>
                  <a:srgbClr val="1A1A1A"/>
                </a:solidFill>
              </a:rPr>
              <a:t>Scan all questions first; bank the definitions/MCQs quickly; leave time for the long normalization/SQL working.</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Self-test</a:t>
            </a:r>
          </a:p>
          <a:p>
            <a:pPr>
              <a:spcBef>
                <a:spcPts val="300"/>
              </a:spcBef>
            </a:pPr>
            <a:r>
              <a:rPr sz="1200">
                <a:solidFill>
                  <a:srgbClr val="1A1A1A"/>
                </a:solidFill>
              </a:rPr>
              <a:t>Redo every unit's per-session MCQs and the end-of-unit quizzes (incl. Unit 7's below). Active recall beats re-reading.</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Go deeper</a:t>
            </a:r>
          </a:p>
          <a:p>
            <a:pPr>
              <a:spcBef>
                <a:spcPts val="300"/>
              </a:spcBef>
            </a:pPr>
            <a:r>
              <a:rPr sz="1200">
                <a:solidFill>
                  <a:srgbClr val="1A1A1A"/>
                </a:solidFill>
              </a:rPr>
              <a:t>For depth: Elmasri &amp; Navathe, and Silberschatz et al. — the standard database texts referenced through the course.</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82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PART C · EXAM PREP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Likely high-weight topics → how to answer them</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200400"/>
                <a:gridCol w="3657600"/>
                <a:gridCol w="4572000"/>
              </a:tblGrid>
              <a:tr h="736092">
                <a:tc>
                  <a:txBody>
                    <a:bodyPr wrap="square"/>
                    <a:lstStyle/>
                    <a:p>
                      <a:r>
                        <a:rPr sz="1100" b="1">
                          <a:solidFill>
                            <a:srgbClr val="FFFFFF"/>
                          </a:solidFill>
                        </a:rPr>
                        <a:t>Topic</a:t>
                      </a:r>
                    </a:p>
                  </a:txBody>
                  <a:tcPr anchor="ctr" marL="73152" marR="54864" marT="27432" marB="27432">
                    <a:solidFill>
                      <a:srgbClr val="0C2B4A"/>
                    </a:solidFill>
                  </a:tcPr>
                </a:tc>
                <a:tc>
                  <a:txBody>
                    <a:bodyPr wrap="square"/>
                    <a:lstStyle/>
                    <a:p>
                      <a:r>
                        <a:rPr sz="1100" b="1">
                          <a:solidFill>
                            <a:srgbClr val="FFFFFF"/>
                          </a:solidFill>
                        </a:rPr>
                        <a:t>Why it's high-weight</a:t>
                      </a:r>
                    </a:p>
                  </a:txBody>
                  <a:tcPr anchor="ctr" marL="73152" marR="54864" marT="27432" marB="27432">
                    <a:solidFill>
                      <a:srgbClr val="0C2B4A"/>
                    </a:solidFill>
                  </a:tcPr>
                </a:tc>
                <a:tc>
                  <a:txBody>
                    <a:bodyPr wrap="square"/>
                    <a:lstStyle/>
                    <a:p>
                      <a:r>
                        <a:rPr sz="1100" b="1">
                          <a:solidFill>
                            <a:srgbClr val="FFFFFF"/>
                          </a:solidFill>
                        </a:rPr>
                        <a:t>How to answer well</a:t>
                      </a:r>
                    </a:p>
                  </a:txBody>
                  <a:tcPr anchor="ctr" marL="73152" marR="54864" marT="27432" marB="27432">
                    <a:solidFill>
                      <a:srgbClr val="0C2B4A"/>
                    </a:solidFill>
                  </a:tcPr>
                </a:tc>
              </a:tr>
              <a:tr h="736092">
                <a:tc>
                  <a:txBody>
                    <a:bodyPr wrap="square"/>
                    <a:lstStyle/>
                    <a:p>
                      <a:r>
                        <a:rPr sz="1050" b="1">
                          <a:solidFill>
                            <a:srgbClr val="0C2B4A"/>
                          </a:solidFill>
                        </a:rPr>
                        <a:t>ER → table conversion</a:t>
                      </a:r>
                    </a:p>
                  </a:txBody>
                  <a:tcPr anchor="ctr" marL="73152" marR="54864" marT="27432" marB="27432">
                    <a:solidFill>
                      <a:srgbClr val="FFFFFF"/>
                    </a:solidFill>
                  </a:tcPr>
                </a:tc>
                <a:tc>
                  <a:txBody>
                    <a:bodyPr wrap="square"/>
                    <a:lstStyle/>
                    <a:p>
                      <a:r>
                        <a:rPr sz="1050">
                          <a:solidFill>
                            <a:srgbClr val="1A1A1A"/>
                          </a:solidFill>
                        </a:rPr>
                        <a:t>Core design skill (U2)</a:t>
                      </a:r>
                    </a:p>
                  </a:txBody>
                  <a:tcPr anchor="ctr" marL="73152" marR="54864" marT="27432" marB="27432">
                    <a:solidFill>
                      <a:srgbClr val="FFFFFF"/>
                    </a:solidFill>
                  </a:tcPr>
                </a:tc>
                <a:tc>
                  <a:txBody>
                    <a:bodyPr wrap="square"/>
                    <a:lstStyle/>
                    <a:p>
                      <a:r>
                        <a:rPr sz="1050">
                          <a:solidFill>
                            <a:srgbClr val="1A1A1A"/>
                          </a:solidFill>
                        </a:rPr>
                        <a:t>Draw ER, then map entities/relationships to tables with keys</a:t>
                      </a:r>
                    </a:p>
                  </a:txBody>
                  <a:tcPr anchor="ctr" marL="73152" marR="54864" marT="27432" marB="27432">
                    <a:solidFill>
                      <a:srgbClr val="FFFFFF"/>
                    </a:solidFill>
                  </a:tcPr>
                </a:tc>
              </a:tr>
              <a:tr h="736092">
                <a:tc>
                  <a:txBody>
                    <a:bodyPr wrap="square"/>
                    <a:lstStyle/>
                    <a:p>
                      <a:r>
                        <a:rPr sz="1050" b="1">
                          <a:solidFill>
                            <a:srgbClr val="0C2B4A"/>
                          </a:solidFill>
                        </a:rPr>
                        <a:t>Normalization to 3NF/BCNF</a:t>
                      </a:r>
                    </a:p>
                  </a:txBody>
                  <a:tcPr anchor="ctr" marL="73152" marR="54864" marT="27432" marB="27432">
                    <a:solidFill>
                      <a:srgbClr val="EEF3F8"/>
                    </a:solidFill>
                  </a:tcPr>
                </a:tc>
                <a:tc>
                  <a:txBody>
                    <a:bodyPr wrap="square"/>
                    <a:lstStyle/>
                    <a:p>
                      <a:r>
                        <a:rPr sz="1050">
                          <a:solidFill>
                            <a:srgbClr val="1A1A1A"/>
                          </a:solidFill>
                        </a:rPr>
                        <a:t>Classic long question (U4)</a:t>
                      </a:r>
                    </a:p>
                  </a:txBody>
                  <a:tcPr anchor="ctr" marL="73152" marR="54864" marT="27432" marB="27432">
                    <a:solidFill>
                      <a:srgbClr val="EEF3F8"/>
                    </a:solidFill>
                  </a:tcPr>
                </a:tc>
                <a:tc>
                  <a:txBody>
                    <a:bodyPr wrap="square"/>
                    <a:lstStyle/>
                    <a:p>
                      <a:r>
                        <a:rPr sz="1050">
                          <a:solidFill>
                            <a:srgbClr val="1A1A1A"/>
                          </a:solidFill>
                        </a:rPr>
                        <a:t>State FDs; decompose step by step; justify each normal form</a:t>
                      </a:r>
                    </a:p>
                  </a:txBody>
                  <a:tcPr anchor="ctr" marL="73152" marR="54864" marT="27432" marB="27432">
                    <a:solidFill>
                      <a:srgbClr val="EEF3F8"/>
                    </a:solidFill>
                  </a:tcPr>
                </a:tc>
              </a:tr>
              <a:tr h="736092">
                <a:tc>
                  <a:txBody>
                    <a:bodyPr wrap="square"/>
                    <a:lstStyle/>
                    <a:p>
                      <a:r>
                        <a:rPr sz="1050" b="1">
                          <a:solidFill>
                            <a:srgbClr val="0C2B4A"/>
                          </a:solidFill>
                        </a:rPr>
                        <a:t>SQL writing</a:t>
                      </a:r>
                    </a:p>
                  </a:txBody>
                  <a:tcPr anchor="ctr" marL="73152" marR="54864" marT="27432" marB="27432">
                    <a:solidFill>
                      <a:srgbClr val="FFFFFF"/>
                    </a:solidFill>
                  </a:tcPr>
                </a:tc>
                <a:tc>
                  <a:txBody>
                    <a:bodyPr wrap="square"/>
                    <a:lstStyle/>
                    <a:p>
                      <a:r>
                        <a:rPr sz="1050">
                          <a:solidFill>
                            <a:srgbClr val="1A1A1A"/>
                          </a:solidFill>
                        </a:rPr>
                        <a:t>Practical core (U5)</a:t>
                      </a:r>
                    </a:p>
                  </a:txBody>
                  <a:tcPr anchor="ctr" marL="73152" marR="54864" marT="27432" marB="27432">
                    <a:solidFill>
                      <a:srgbClr val="FFFFFF"/>
                    </a:solidFill>
                  </a:tcPr>
                </a:tc>
                <a:tc>
                  <a:txBody>
                    <a:bodyPr wrap="square"/>
                    <a:lstStyle/>
                    <a:p>
                      <a:r>
                        <a:rPr sz="1050">
                          <a:solidFill>
                            <a:srgbClr val="1A1A1A"/>
                          </a:solidFill>
                        </a:rPr>
                        <a:t>Write correct joins/subqueries/aggregates; mind the GROUP BY</a:t>
                      </a:r>
                    </a:p>
                  </a:txBody>
                  <a:tcPr anchor="ctr" marL="73152" marR="54864" marT="27432" marB="27432">
                    <a:solidFill>
                      <a:srgbClr val="FFFFFF"/>
                    </a:solidFill>
                  </a:tcPr>
                </a:tc>
              </a:tr>
              <a:tr h="736092">
                <a:tc>
                  <a:txBody>
                    <a:bodyPr wrap="square"/>
                    <a:lstStyle/>
                    <a:p>
                      <a:r>
                        <a:rPr sz="1050" b="1">
                          <a:solidFill>
                            <a:srgbClr val="0C2B4A"/>
                          </a:solidFill>
                        </a:rPr>
                        <a:t>ACID + concurrency</a:t>
                      </a:r>
                    </a:p>
                  </a:txBody>
                  <a:tcPr anchor="ctr" marL="73152" marR="54864" marT="27432" marB="27432">
                    <a:solidFill>
                      <a:srgbClr val="EEF3F8"/>
                    </a:solidFill>
                  </a:tcPr>
                </a:tc>
                <a:tc>
                  <a:txBody>
                    <a:bodyPr wrap="square"/>
                    <a:lstStyle/>
                    <a:p>
                      <a:r>
                        <a:rPr sz="1050">
                          <a:solidFill>
                            <a:srgbClr val="1A1A1A"/>
                          </a:solidFill>
                        </a:rPr>
                        <a:t>Correctness under load (U6)</a:t>
                      </a:r>
                    </a:p>
                  </a:txBody>
                  <a:tcPr anchor="ctr" marL="73152" marR="54864" marT="27432" marB="27432">
                    <a:solidFill>
                      <a:srgbClr val="EEF3F8"/>
                    </a:solidFill>
                  </a:tcPr>
                </a:tc>
                <a:tc>
                  <a:txBody>
                    <a:bodyPr wrap="square"/>
                    <a:lstStyle/>
                    <a:p>
                      <a:r>
                        <a:rPr sz="1050">
                          <a:solidFill>
                            <a:srgbClr val="1A1A1A"/>
                          </a:solidFill>
                        </a:rPr>
                        <a:t>Define each ACID letter; show a 2PL/serializability example</a:t>
                      </a:r>
                    </a:p>
                  </a:txBody>
                  <a:tcPr anchor="ctr" marL="73152" marR="54864" marT="27432" marB="27432">
                    <a:solidFill>
                      <a:srgbClr val="EEF3F8"/>
                    </a:solidFill>
                  </a:tcPr>
                </a:tc>
              </a:tr>
              <a:tr h="736092">
                <a:tc>
                  <a:txBody>
                    <a:bodyPr wrap="square"/>
                    <a:lstStyle/>
                    <a:p>
                      <a:r>
                        <a:rPr sz="1050" b="1">
                          <a:solidFill>
                            <a:srgbClr val="0C2B4A"/>
                          </a:solidFill>
                        </a:rPr>
                        <a:t>Definitions (U1 &amp; U7)</a:t>
                      </a:r>
                    </a:p>
                  </a:txBody>
                  <a:tcPr anchor="ctr" marL="73152" marR="54864" marT="27432" marB="27432">
                    <a:solidFill>
                      <a:srgbClr val="FFFFFF"/>
                    </a:solidFill>
                  </a:tcPr>
                </a:tc>
                <a:tc>
                  <a:txBody>
                    <a:bodyPr wrap="square"/>
                    <a:lstStyle/>
                    <a:p>
                      <a:r>
                        <a:rPr sz="1050">
                          <a:solidFill>
                            <a:srgbClr val="1A1A1A"/>
                          </a:solidFill>
                        </a:rPr>
                        <a:t>Quick, high-yield marks</a:t>
                      </a:r>
                    </a:p>
                  </a:txBody>
                  <a:tcPr anchor="ctr" marL="73152" marR="54864" marT="27432" marB="27432">
                    <a:solidFill>
                      <a:srgbClr val="FFFFFF"/>
                    </a:solidFill>
                  </a:tcPr>
                </a:tc>
                <a:tc>
                  <a:txBody>
                    <a:bodyPr wrap="square"/>
                    <a:lstStyle/>
                    <a:p>
                      <a:r>
                        <a:rPr sz="1050">
                          <a:solidFill>
                            <a:srgbClr val="1A1A1A"/>
                          </a:solidFill>
                        </a:rPr>
                        <a:t>One tight sentence + one example each; use the glossary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Spend revision time in proportion to weight: the long design/normalization/SQL questions carry the most marks and reward shown working. Definitions and MCQs are fast points — don't lose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82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S48 · Part D — Project demo structure  ·  ~10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Aim for an 8–10 minute demo (groups of max 4): 1) Problem &amp; scope — a real Nepali use-case (clinic, shop, campus).</a:t>
            </a:r>
          </a:p>
          <a:p>
            <a:pPr>
              <a:spcAft>
                <a:spcPts val="700"/>
              </a:spcAft>
            </a:pPr>
            <a:r>
              <a:rPr sz="1550">
                <a:solidFill>
                  <a:srgbClr val="1A1A1A"/>
                </a:solidFill>
              </a:rPr>
              <a:t>•  2) ER diagram → schema (show your design decisions). 3) Normalization evidence (which NF, and why).</a:t>
            </a:r>
          </a:p>
          <a:p>
            <a:pPr>
              <a:spcAft>
                <a:spcPts val="700"/>
              </a:spcAft>
            </a:pPr>
            <a:r>
              <a:rPr sz="1550">
                <a:solidFill>
                  <a:srgbClr val="1A1A1A"/>
                </a:solidFill>
              </a:rPr>
              <a:t>•  4) Live SQL: create, insert, 3–4 meaningful SELECT/JOIN queries, and one view.</a:t>
            </a:r>
          </a:p>
          <a:p>
            <a:pPr>
              <a:spcAft>
                <a:spcPts val="700"/>
              </a:spcAft>
            </a:pPr>
            <a:r>
              <a:rPr sz="1550">
                <a:solidFill>
                  <a:srgbClr val="1A1A1A"/>
                </a:solidFill>
              </a:rPr>
              <a:t>•  5) One 'advanced' touch from Unit 7 (an index, a transaction, or a security note). 6) Be Q&amp;A-ready.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Evaluation reminder: clarity of DESIGN reasoning beats number of features. Expect questions like 'why this key?', 'is this normalized?', 'what if two users update at once?'. A clean, well-justified small system scores higher than a large messy one.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82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PART D · DEMO PREP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Demo flow → what to show → the question to expect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4729"/>
                <a:gridCol w="4170405"/>
                <a:gridCol w="4324864"/>
              </a:tblGrid>
              <a:tr h="630936">
                <a:tc>
                  <a:txBody>
                    <a:bodyPr wrap="square"/>
                    <a:lstStyle/>
                    <a:p>
                      <a:r>
                        <a:rPr sz="1100" b="1">
                          <a:solidFill>
                            <a:srgbClr val="FFFFFF"/>
                          </a:solidFill>
                        </a:rPr>
                        <a:t>Demo step</a:t>
                      </a:r>
                    </a:p>
                  </a:txBody>
                  <a:tcPr anchor="ctr" marL="73152" marR="54864" marT="27432" marB="27432">
                    <a:solidFill>
                      <a:srgbClr val="0C2B4A"/>
                    </a:solidFill>
                  </a:tcPr>
                </a:tc>
                <a:tc>
                  <a:txBody>
                    <a:bodyPr wrap="square"/>
                    <a:lstStyle/>
                    <a:p>
                      <a:r>
                        <a:rPr sz="1100" b="1">
                          <a:solidFill>
                            <a:srgbClr val="FFFFFF"/>
                          </a:solidFill>
                        </a:rPr>
                        <a:t>What to show</a:t>
                      </a:r>
                    </a:p>
                  </a:txBody>
                  <a:tcPr anchor="ctr" marL="73152" marR="54864" marT="27432" marB="27432">
                    <a:solidFill>
                      <a:srgbClr val="0C2B4A"/>
                    </a:solidFill>
                  </a:tcPr>
                </a:tc>
                <a:tc>
                  <a:txBody>
                    <a:bodyPr wrap="square"/>
                    <a:lstStyle/>
                    <a:p>
                      <a:r>
                        <a:rPr sz="1100" b="1">
                          <a:solidFill>
                            <a:srgbClr val="FFFFFF"/>
                          </a:solidFill>
                        </a:rPr>
                        <a:t>Question to be ready for</a:t>
                      </a:r>
                    </a:p>
                  </a:txBody>
                  <a:tcPr anchor="ctr" marL="73152" marR="54864" marT="27432" marB="27432">
                    <a:solidFill>
                      <a:srgbClr val="0C2B4A"/>
                    </a:solidFill>
                  </a:tcPr>
                </a:tc>
              </a:tr>
              <a:tr h="630936">
                <a:tc>
                  <a:txBody>
                    <a:bodyPr wrap="square"/>
                    <a:lstStyle/>
                    <a:p>
                      <a:r>
                        <a:rPr sz="1050" b="1">
                          <a:solidFill>
                            <a:srgbClr val="0C2B4A"/>
                          </a:solidFill>
                        </a:rPr>
                        <a:t>Problem &amp; scope</a:t>
                      </a:r>
                    </a:p>
                  </a:txBody>
                  <a:tcPr anchor="ctr" marL="73152" marR="54864" marT="27432" marB="27432">
                    <a:solidFill>
                      <a:srgbClr val="FFFFFF"/>
                    </a:solidFill>
                  </a:tcPr>
                </a:tc>
                <a:tc>
                  <a:txBody>
                    <a:bodyPr wrap="square"/>
                    <a:lstStyle/>
                    <a:p>
                      <a:r>
                        <a:rPr sz="1050">
                          <a:solidFill>
                            <a:srgbClr val="1A1A1A"/>
                          </a:solidFill>
                        </a:rPr>
                        <a:t>A real Nepali use-case, clearly bounded</a:t>
                      </a:r>
                    </a:p>
                  </a:txBody>
                  <a:tcPr anchor="ctr" marL="73152" marR="54864" marT="27432" marB="27432">
                    <a:solidFill>
                      <a:srgbClr val="FFFFFF"/>
                    </a:solidFill>
                  </a:tcPr>
                </a:tc>
                <a:tc>
                  <a:txBody>
                    <a:bodyPr wrap="square"/>
                    <a:lstStyle/>
                    <a:p>
                      <a:r>
                        <a:rPr sz="1050">
                          <a:solidFill>
                            <a:srgbClr val="1A1A1A"/>
                          </a:solidFill>
                        </a:rPr>
                        <a:t>'Why a database for this?'</a:t>
                      </a:r>
                    </a:p>
                  </a:txBody>
                  <a:tcPr anchor="ctr" marL="73152" marR="54864" marT="27432" marB="27432">
                    <a:solidFill>
                      <a:srgbClr val="FFFFFF"/>
                    </a:solidFill>
                  </a:tcPr>
                </a:tc>
              </a:tr>
              <a:tr h="630936">
                <a:tc>
                  <a:txBody>
                    <a:bodyPr wrap="square"/>
                    <a:lstStyle/>
                    <a:p>
                      <a:r>
                        <a:rPr sz="1050" b="1">
                          <a:solidFill>
                            <a:srgbClr val="0C2B4A"/>
                          </a:solidFill>
                        </a:rPr>
                        <a:t>ER → schema</a:t>
                      </a:r>
                    </a:p>
                  </a:txBody>
                  <a:tcPr anchor="ctr" marL="73152" marR="54864" marT="27432" marB="27432">
                    <a:solidFill>
                      <a:srgbClr val="EEF3F8"/>
                    </a:solidFill>
                  </a:tcPr>
                </a:tc>
                <a:tc>
                  <a:txBody>
                    <a:bodyPr wrap="square"/>
                    <a:lstStyle/>
                    <a:p>
                      <a:r>
                        <a:rPr sz="1050">
                          <a:solidFill>
                            <a:srgbClr val="1A1A1A"/>
                          </a:solidFill>
                        </a:rPr>
                        <a:t>ER diagram and the tables + keys</a:t>
                      </a:r>
                    </a:p>
                  </a:txBody>
                  <a:tcPr anchor="ctr" marL="73152" marR="54864" marT="27432" marB="27432">
                    <a:solidFill>
                      <a:srgbClr val="EEF3F8"/>
                    </a:solidFill>
                  </a:tcPr>
                </a:tc>
                <a:tc>
                  <a:txBody>
                    <a:bodyPr wrap="square"/>
                    <a:lstStyle/>
                    <a:p>
                      <a:r>
                        <a:rPr sz="1050">
                          <a:solidFill>
                            <a:srgbClr val="1A1A1A"/>
                          </a:solidFill>
                        </a:rPr>
                        <a:t>'Why did you choose this key?'</a:t>
                      </a:r>
                    </a:p>
                  </a:txBody>
                  <a:tcPr anchor="ctr" marL="73152" marR="54864" marT="27432" marB="27432">
                    <a:solidFill>
                      <a:srgbClr val="EEF3F8"/>
                    </a:solidFill>
                  </a:tcPr>
                </a:tc>
              </a:tr>
              <a:tr h="630936">
                <a:tc>
                  <a:txBody>
                    <a:bodyPr wrap="square"/>
                    <a:lstStyle/>
                    <a:p>
                      <a:r>
                        <a:rPr sz="1050" b="1">
                          <a:solidFill>
                            <a:srgbClr val="0C2B4A"/>
                          </a:solidFill>
                        </a:rPr>
                        <a:t>Normalization</a:t>
                      </a:r>
                    </a:p>
                  </a:txBody>
                  <a:tcPr anchor="ctr" marL="73152" marR="54864" marT="27432" marB="27432">
                    <a:solidFill>
                      <a:srgbClr val="FFFFFF"/>
                    </a:solidFill>
                  </a:tcPr>
                </a:tc>
                <a:tc>
                  <a:txBody>
                    <a:bodyPr wrap="square"/>
                    <a:lstStyle/>
                    <a:p>
                      <a:r>
                        <a:rPr sz="1050">
                          <a:solidFill>
                            <a:srgbClr val="1A1A1A"/>
                          </a:solidFill>
                        </a:rPr>
                        <a:t>Which NF you reached, and why</a:t>
                      </a:r>
                    </a:p>
                  </a:txBody>
                  <a:tcPr anchor="ctr" marL="73152" marR="54864" marT="27432" marB="27432">
                    <a:solidFill>
                      <a:srgbClr val="FFFFFF"/>
                    </a:solidFill>
                  </a:tcPr>
                </a:tc>
                <a:tc>
                  <a:txBody>
                    <a:bodyPr wrap="square"/>
                    <a:lstStyle/>
                    <a:p>
                      <a:r>
                        <a:rPr sz="1050">
                          <a:solidFill>
                            <a:srgbClr val="1A1A1A"/>
                          </a:solidFill>
                        </a:rPr>
                        <a:t>'Is this fully normalized? Prove it.'</a:t>
                      </a:r>
                    </a:p>
                  </a:txBody>
                  <a:tcPr anchor="ctr" marL="73152" marR="54864" marT="27432" marB="27432">
                    <a:solidFill>
                      <a:srgbClr val="FFFFFF"/>
                    </a:solidFill>
                  </a:tcPr>
                </a:tc>
              </a:tr>
              <a:tr h="630936">
                <a:tc>
                  <a:txBody>
                    <a:bodyPr wrap="square"/>
                    <a:lstStyle/>
                    <a:p>
                      <a:r>
                        <a:rPr sz="1050" b="1">
                          <a:solidFill>
                            <a:srgbClr val="0C2B4A"/>
                          </a:solidFill>
                        </a:rPr>
                        <a:t>Live SQL</a:t>
                      </a:r>
                    </a:p>
                  </a:txBody>
                  <a:tcPr anchor="ctr" marL="73152" marR="54864" marT="27432" marB="27432">
                    <a:solidFill>
                      <a:srgbClr val="EEF3F8"/>
                    </a:solidFill>
                  </a:tcPr>
                </a:tc>
                <a:tc>
                  <a:txBody>
                    <a:bodyPr wrap="square"/>
                    <a:lstStyle/>
                    <a:p>
                      <a:r>
                        <a:rPr sz="1050">
                          <a:solidFill>
                            <a:srgbClr val="1A1A1A"/>
                          </a:solidFill>
                        </a:rPr>
                        <a:t>Create/insert + 3–4 JOIN queries + a view</a:t>
                      </a:r>
                    </a:p>
                  </a:txBody>
                  <a:tcPr anchor="ctr" marL="73152" marR="54864" marT="27432" marB="27432">
                    <a:solidFill>
                      <a:srgbClr val="EEF3F8"/>
                    </a:solidFill>
                  </a:tcPr>
                </a:tc>
                <a:tc>
                  <a:txBody>
                    <a:bodyPr wrap="square"/>
                    <a:lstStyle/>
                    <a:p>
                      <a:r>
                        <a:rPr sz="1050">
                          <a:solidFill>
                            <a:srgbClr val="1A1A1A"/>
                          </a:solidFill>
                        </a:rPr>
                        <a:t>'Write a query that…' (be ready to type)</a:t>
                      </a:r>
                    </a:p>
                  </a:txBody>
                  <a:tcPr anchor="ctr" marL="73152" marR="54864" marT="27432" marB="27432">
                    <a:solidFill>
                      <a:srgbClr val="EEF3F8"/>
                    </a:solidFill>
                  </a:tcPr>
                </a:tc>
              </a:tr>
              <a:tr h="630936">
                <a:tc>
                  <a:txBody>
                    <a:bodyPr wrap="square"/>
                    <a:lstStyle/>
                    <a:p>
                      <a:r>
                        <a:rPr sz="1050" b="1">
                          <a:solidFill>
                            <a:srgbClr val="0C2B4A"/>
                          </a:solidFill>
                        </a:rPr>
                        <a:t>Advanced touch (U7)</a:t>
                      </a:r>
                    </a:p>
                  </a:txBody>
                  <a:tcPr anchor="ctr" marL="73152" marR="54864" marT="27432" marB="27432">
                    <a:solidFill>
                      <a:srgbClr val="FFFFFF"/>
                    </a:solidFill>
                  </a:tcPr>
                </a:tc>
                <a:tc>
                  <a:txBody>
                    <a:bodyPr wrap="square"/>
                    <a:lstStyle/>
                    <a:p>
                      <a:r>
                        <a:rPr sz="1050">
                          <a:solidFill>
                            <a:srgbClr val="1A1A1A"/>
                          </a:solidFill>
                        </a:rPr>
                        <a:t>An index, a transaction, or a security note</a:t>
                      </a:r>
                    </a:p>
                  </a:txBody>
                  <a:tcPr anchor="ctr" marL="73152" marR="54864" marT="27432" marB="27432">
                    <a:solidFill>
                      <a:srgbClr val="FFFFFF"/>
                    </a:solidFill>
                  </a:tcPr>
                </a:tc>
                <a:tc>
                  <a:txBody>
                    <a:bodyPr wrap="square"/>
                    <a:lstStyle/>
                    <a:p>
                      <a:r>
                        <a:rPr sz="1050">
                          <a:solidFill>
                            <a:srgbClr val="1A1A1A"/>
                          </a:solidFill>
                        </a:rPr>
                        <a:t>'What if two users update at once?'</a:t>
                      </a:r>
                    </a:p>
                  </a:txBody>
                  <a:tcPr anchor="ctr" marL="73152" marR="54864" marT="27432" marB="27432">
                    <a:solidFill>
                      <a:srgbClr val="FFFFFF"/>
                    </a:solidFill>
                  </a:tcPr>
                </a:tc>
              </a:tr>
              <a:tr h="630936">
                <a:tc>
                  <a:txBody>
                    <a:bodyPr wrap="square"/>
                    <a:lstStyle/>
                    <a:p>
                      <a:r>
                        <a:rPr sz="1050" b="1">
                          <a:solidFill>
                            <a:srgbClr val="0C2B4A"/>
                          </a:solidFill>
                        </a:rPr>
                        <a:t>Q&amp;A readiness</a:t>
                      </a:r>
                    </a:p>
                  </a:txBody>
                  <a:tcPr anchor="ctr" marL="73152" marR="54864" marT="27432" marB="27432">
                    <a:solidFill>
                      <a:srgbClr val="EEF3F8"/>
                    </a:solidFill>
                  </a:tcPr>
                </a:tc>
                <a:tc>
                  <a:txBody>
                    <a:bodyPr wrap="square"/>
                    <a:lstStyle/>
                    <a:p>
                      <a:r>
                        <a:rPr sz="1050">
                          <a:solidFill>
                            <a:srgbClr val="1A1A1A"/>
                          </a:solidFill>
                        </a:rPr>
                        <a:t>Calm, design-first answers</a:t>
                      </a:r>
                    </a:p>
                  </a:txBody>
                  <a:tcPr anchor="ctr" marL="73152" marR="54864" marT="27432" marB="27432">
                    <a:solidFill>
                      <a:srgbClr val="EEF3F8"/>
                    </a:solidFill>
                  </a:tcPr>
                </a:tc>
                <a:tc>
                  <a:txBody>
                    <a:bodyPr wrap="square"/>
                    <a:lstStyle/>
                    <a:p>
                      <a:r>
                        <a:rPr sz="1050">
                          <a:solidFill>
                            <a:srgbClr val="1A1A1A"/>
                          </a:solidFill>
                        </a:rPr>
                        <a:t>'What would you improve with more time?'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Rehearse the live SQL — typing a query under questioning is the moment that separates a strong demo from a shaky one. Lead every answer with the DESIGN reasoning, not the feature list.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82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S48 · COURSE SUMMARY  ·  THE FINISH LINE</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The seven units are ONE lifecycle: concepts → design → theory → normalize → SQL → transactions/recovery → advanced/scale.</a:t>
            </a:r>
          </a:p>
          <a:p>
            <a:pPr>
              <a:spcAft>
                <a:spcPts val="800"/>
              </a:spcAft>
            </a:pPr>
            <a:r>
              <a:rPr sz="1500">
                <a:solidFill>
                  <a:srgbClr val="1A1A1A"/>
                </a:solidFill>
              </a:rPr>
              <a:t>2.  The exam favours ER→table, normalization, SQL, and ACID — define, exemplify, diagram, and SHOW your working.</a:t>
            </a:r>
          </a:p>
          <a:p>
            <a:pPr>
              <a:spcAft>
                <a:spcPts val="800"/>
              </a:spcAft>
            </a:pPr>
            <a:r>
              <a:rPr sz="1500">
                <a:solidFill>
                  <a:srgbClr val="1A1A1A"/>
                </a:solidFill>
              </a:rPr>
              <a:t>3.  A strong project demo shows DESIGN reasoning, not just a running app — clarity beats feature count.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is the finish line of IT 220: you can now design, build, query, protect, and scale a real database. The project demo is your rehearsal for a real technical interview in Nepal's IT sector — you're ready.</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Part E — Final Q&amp;A: open floor for lingering doubts; then the consolidated Unit 7 quiz + revision aids follow. Well done!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82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7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Performance tuning (S45)</a:t>
            </a:r>
          </a:p>
          <a:p>
            <a:pPr>
              <a:spcBef>
                <a:spcPts val="300"/>
              </a:spcBef>
            </a:pPr>
            <a:r>
              <a:rPr sz="1200">
                <a:solidFill>
                  <a:srgbClr val="1A1A1A"/>
                </a:solidFill>
              </a:rPr>
              <a:t>Tune query → index → hardware; MEASURE first (EXPLAIN). Index columns in WHERE/JOIN/ORDER BY: reads faster, writes slower. Avoid SELECT *; filter early.</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Security (S45)</a:t>
            </a:r>
          </a:p>
          <a:p>
            <a:pPr>
              <a:spcBef>
                <a:spcPts val="300"/>
              </a:spcBef>
            </a:pPr>
            <a:r>
              <a:rPr sz="1200">
                <a:solidFill>
                  <a:srgbClr val="1A1A1A"/>
                </a:solidFill>
              </a:rPr>
              <a:t>Authentication = WHO; authorization = WHAT (least privilege). SQL injection → parameterized/prepared statements. Encryption at rest + in transit (TLS).</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Parallel vs distributed (S46)</a:t>
            </a:r>
          </a:p>
          <a:p>
            <a:pPr>
              <a:spcBef>
                <a:spcPts val="300"/>
              </a:spcBef>
            </a:pPr>
            <a:r>
              <a:rPr sz="1200">
                <a:solidFill>
                  <a:srgbClr val="1A1A1A"/>
                </a:solidFill>
              </a:rPr>
              <a:t>Parallel = one site, more power. Distributed = many sites, one logical DB (locality, reliability, scale).</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Fragmentation &amp; replication (S46)</a:t>
            </a:r>
          </a:p>
          <a:p>
            <a:pPr>
              <a:spcBef>
                <a:spcPts val="300"/>
              </a:spcBef>
            </a:pPr>
            <a:r>
              <a:rPr sz="1200">
                <a:solidFill>
                  <a:srgbClr val="1A1A1A"/>
                </a:solidFill>
              </a:rPr>
              <a:t>Fragmentation SPLITS (horizontal = rows, vertical = columns); replication COPIES. Transparency hides location/fragmentation/replication. Use both together.</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Warehousing (S47)</a:t>
            </a:r>
          </a:p>
          <a:p>
            <a:pPr>
              <a:spcBef>
                <a:spcPts val="300"/>
              </a:spcBef>
            </a:pPr>
            <a:r>
              <a:rPr sz="1200">
                <a:solidFill>
                  <a:srgbClr val="1A1A1A"/>
                </a:solidFill>
              </a:rPr>
              <a:t>OLTP runs the business; OLAP analyzes it. Warehouse = integrated historical store (star schema), fed by ETL (Transform = the hard part). Mining finds unknown patterns.</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BigData &amp; NoSQL (S47)</a:t>
            </a:r>
          </a:p>
          <a:p>
            <a:pPr>
              <a:spcBef>
                <a:spcPts val="300"/>
              </a:spcBef>
            </a:pPr>
            <a:r>
              <a:rPr sz="1200">
                <a:solidFill>
                  <a:srgbClr val="1A1A1A"/>
                </a:solidFill>
              </a:rPr>
              <a:t>3 Vs: Volume, Velocity, Variety. NoSQL: key-value (Redis) · document (MongoDB) · column (Cassandra) · graph (Neo4j) — complements SQL; pick per data shape.</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82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7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Performance tuning — </a:t>
            </a:r>
            <a:r>
              <a:rPr sz="1150">
                <a:solidFill>
                  <a:srgbClr val="1A1A1A"/>
                </a:solidFill>
              </a:rPr>
              <a:t>making the DB return correct answers faster on the same hardware.</a:t>
            </a:r>
          </a:p>
          <a:p>
            <a:pPr>
              <a:spcAft>
                <a:spcPts val="600"/>
              </a:spcAft>
            </a:pPr>
            <a:r>
              <a:rPr sz="1150" b="1">
                <a:solidFill>
                  <a:srgbClr val="0C2B4A"/>
                </a:solidFill>
              </a:rPr>
              <a:t>Execution plan (EXPLAIN) — </a:t>
            </a:r>
            <a:r>
              <a:rPr sz="1150">
                <a:solidFill>
                  <a:srgbClr val="1A1A1A"/>
                </a:solidFill>
              </a:rPr>
              <a:t>how the DBMS will run a query; used to find bottlenecks.</a:t>
            </a:r>
          </a:p>
          <a:p>
            <a:pPr>
              <a:spcAft>
                <a:spcPts val="600"/>
              </a:spcAft>
            </a:pPr>
            <a:r>
              <a:rPr sz="1150" b="1">
                <a:solidFill>
                  <a:srgbClr val="0C2B4A"/>
                </a:solidFill>
              </a:rPr>
              <a:t>Index — </a:t>
            </a:r>
            <a:r>
              <a:rPr sz="1150">
                <a:solidFill>
                  <a:srgbClr val="1A1A1A"/>
                </a:solidFill>
              </a:rPr>
              <a:t>auxiliary (B-tree) structure that finds rows without a full table scan.</a:t>
            </a:r>
          </a:p>
          <a:p>
            <a:pPr>
              <a:spcAft>
                <a:spcPts val="600"/>
              </a:spcAft>
            </a:pPr>
            <a:r>
              <a:rPr sz="1150" b="1">
                <a:solidFill>
                  <a:srgbClr val="0C2B4A"/>
                </a:solidFill>
              </a:rPr>
              <a:t>Full table scan — </a:t>
            </a:r>
            <a:r>
              <a:rPr sz="1150">
                <a:solidFill>
                  <a:srgbClr val="1A1A1A"/>
                </a:solidFill>
              </a:rPr>
              <a:t>reading every row because no useful index exists.</a:t>
            </a:r>
          </a:p>
          <a:p>
            <a:pPr>
              <a:spcAft>
                <a:spcPts val="600"/>
              </a:spcAft>
            </a:pPr>
            <a:r>
              <a:rPr sz="1150" b="1">
                <a:solidFill>
                  <a:srgbClr val="0C2B4A"/>
                </a:solidFill>
              </a:rPr>
              <a:t>Query tuning — </a:t>
            </a:r>
            <a:r>
              <a:rPr sz="1150">
                <a:solidFill>
                  <a:srgbClr val="1A1A1A"/>
                </a:solidFill>
              </a:rPr>
              <a:t>rewriting a query so the optimizer reads fewer rows.</a:t>
            </a:r>
          </a:p>
          <a:p>
            <a:pPr>
              <a:spcAft>
                <a:spcPts val="600"/>
              </a:spcAft>
            </a:pPr>
            <a:r>
              <a:rPr sz="1150" b="1">
                <a:solidFill>
                  <a:srgbClr val="0C2B4A"/>
                </a:solidFill>
              </a:rPr>
              <a:t>Authentication — </a:t>
            </a:r>
            <a:r>
              <a:rPr sz="1150">
                <a:solidFill>
                  <a:srgbClr val="1A1A1A"/>
                </a:solidFill>
              </a:rPr>
              <a:t>verifying WHO a user is (login, password, OTP).</a:t>
            </a:r>
          </a:p>
          <a:p>
            <a:pPr>
              <a:spcAft>
                <a:spcPts val="600"/>
              </a:spcAft>
            </a:pPr>
            <a:r>
              <a:rPr sz="1150" b="1">
                <a:solidFill>
                  <a:srgbClr val="0C2B4A"/>
                </a:solidFill>
              </a:rPr>
              <a:t>Authorization — </a:t>
            </a:r>
            <a:r>
              <a:rPr sz="1150">
                <a:solidFill>
                  <a:srgbClr val="1A1A1A"/>
                </a:solidFill>
              </a:rPr>
              <a:t>deciding WHAT a user may do (GRANT/REVOKE, roles, least privilege).</a:t>
            </a:r>
          </a:p>
          <a:p>
            <a:pPr>
              <a:spcAft>
                <a:spcPts val="600"/>
              </a:spcAft>
            </a:pPr>
            <a:r>
              <a:rPr sz="1150" b="1">
                <a:solidFill>
                  <a:srgbClr val="0C2B4A"/>
                </a:solidFill>
              </a:rPr>
              <a:t>SQL injection — </a:t>
            </a:r>
            <a:r>
              <a:rPr sz="1150">
                <a:solidFill>
                  <a:srgbClr val="1A1A1A"/>
                </a:solidFill>
              </a:rPr>
              <a:t>injecting malicious SQL via input; fixed by parameterized queries.</a:t>
            </a:r>
          </a:p>
          <a:p>
            <a:pPr>
              <a:spcAft>
                <a:spcPts val="600"/>
              </a:spcAft>
            </a:pPr>
            <a:r>
              <a:rPr sz="1150" b="1">
                <a:solidFill>
                  <a:srgbClr val="0C2B4A"/>
                </a:solidFill>
              </a:rPr>
              <a:t>Encryption at rest / in transit — </a:t>
            </a:r>
            <a:r>
              <a:rPr sz="1150">
                <a:solidFill>
                  <a:srgbClr val="1A1A1A"/>
                </a:solidFill>
              </a:rPr>
              <a:t>protecting stored data / data moving over the network (TLS).</a:t>
            </a:r>
          </a:p>
          <a:p>
            <a:pPr>
              <a:spcAft>
                <a:spcPts val="600"/>
              </a:spcAft>
            </a:pPr>
            <a:r>
              <a:rPr sz="1150" b="1">
                <a:solidFill>
                  <a:srgbClr val="0C2B4A"/>
                </a:solidFill>
              </a:rPr>
              <a:t>Parallel database — </a:t>
            </a:r>
            <a:r>
              <a:rPr sz="1150">
                <a:solidFill>
                  <a:srgbClr val="1A1A1A"/>
                </a:solidFill>
              </a:rPr>
              <a:t>many processors/disks at ONE site working together.</a:t>
            </a:r>
          </a:p>
          <a:p>
            <a:pPr>
              <a:spcAft>
                <a:spcPts val="600"/>
              </a:spcAft>
            </a:pPr>
            <a:r>
              <a:rPr sz="1150" b="1">
                <a:solidFill>
                  <a:srgbClr val="0C2B4A"/>
                </a:solidFill>
              </a:rPr>
              <a:t>Distributed database — </a:t>
            </a:r>
            <a:r>
              <a:rPr sz="1150">
                <a:solidFill>
                  <a:srgbClr val="1A1A1A"/>
                </a:solidFill>
              </a:rPr>
              <a:t>data across MULTIPLE sites appearing as one logical DB.</a:t>
            </a:r>
          </a:p>
          <a:p>
            <a:pPr>
              <a:spcAft>
                <a:spcPts val="600"/>
              </a:spcAft>
            </a:pPr>
            <a:r>
              <a:rPr sz="1150" b="1">
                <a:solidFill>
                  <a:srgbClr val="0C2B4A"/>
                </a:solidFill>
              </a:rPr>
              <a:t>Fragmentation — </a:t>
            </a:r>
            <a:r>
              <a:rPr sz="1150">
                <a:solidFill>
                  <a:srgbClr val="1A1A1A"/>
                </a:solidFill>
              </a:rPr>
              <a:t>splitting a table across sites (horizontal = rows, vertical = columns).</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Replication — </a:t>
            </a:r>
            <a:r>
              <a:rPr sz="1150">
                <a:solidFill>
                  <a:srgbClr val="1A1A1A"/>
                </a:solidFill>
              </a:rPr>
              <a:t>keeping copies of the same data at multiple sites.</a:t>
            </a:r>
          </a:p>
          <a:p>
            <a:pPr>
              <a:spcAft>
                <a:spcPts val="600"/>
              </a:spcAft>
            </a:pPr>
            <a:r>
              <a:rPr sz="1150" b="1">
                <a:solidFill>
                  <a:srgbClr val="0C2B4A"/>
                </a:solidFill>
              </a:rPr>
              <a:t>Distribution transparency — </a:t>
            </a:r>
            <a:r>
              <a:rPr sz="1150">
                <a:solidFill>
                  <a:srgbClr val="1A1A1A"/>
                </a:solidFill>
              </a:rPr>
              <a:t>hiding location/fragmentation/replication from the user.</a:t>
            </a:r>
          </a:p>
          <a:p>
            <a:pPr>
              <a:spcAft>
                <a:spcPts val="600"/>
              </a:spcAft>
            </a:pPr>
            <a:r>
              <a:rPr sz="1150" b="1">
                <a:solidFill>
                  <a:srgbClr val="0C2B4A"/>
                </a:solidFill>
              </a:rPr>
              <a:t>OLTP — </a:t>
            </a:r>
            <a:r>
              <a:rPr sz="1150">
                <a:solidFill>
                  <a:srgbClr val="1A1A1A"/>
                </a:solidFill>
              </a:rPr>
              <a:t>many small fast transactions — running the business.</a:t>
            </a:r>
          </a:p>
          <a:p>
            <a:pPr>
              <a:spcAft>
                <a:spcPts val="600"/>
              </a:spcAft>
            </a:pPr>
            <a:r>
              <a:rPr sz="1150" b="1">
                <a:solidFill>
                  <a:srgbClr val="0C2B4A"/>
                </a:solidFill>
              </a:rPr>
              <a:t>OLAP — </a:t>
            </a:r>
            <a:r>
              <a:rPr sz="1150">
                <a:solidFill>
                  <a:srgbClr val="1A1A1A"/>
                </a:solidFill>
              </a:rPr>
              <a:t>few large complex read queries over history — analysis.</a:t>
            </a:r>
          </a:p>
          <a:p>
            <a:pPr>
              <a:spcAft>
                <a:spcPts val="600"/>
              </a:spcAft>
            </a:pPr>
            <a:r>
              <a:rPr sz="1150" b="1">
                <a:solidFill>
                  <a:srgbClr val="0C2B4A"/>
                </a:solidFill>
              </a:rPr>
              <a:t>Data warehouse — </a:t>
            </a:r>
            <a:r>
              <a:rPr sz="1150">
                <a:solidFill>
                  <a:srgbClr val="1A1A1A"/>
                </a:solidFill>
              </a:rPr>
              <a:t>integrated, historical, read-mostly store for analysis (star schema).</a:t>
            </a:r>
          </a:p>
          <a:p>
            <a:pPr>
              <a:spcAft>
                <a:spcPts val="600"/>
              </a:spcAft>
            </a:pPr>
            <a:r>
              <a:rPr sz="1150" b="1">
                <a:solidFill>
                  <a:srgbClr val="0C2B4A"/>
                </a:solidFill>
              </a:rPr>
              <a:t>ETL — </a:t>
            </a:r>
            <a:r>
              <a:rPr sz="1150">
                <a:solidFill>
                  <a:srgbClr val="1A1A1A"/>
                </a:solidFill>
              </a:rPr>
              <a:t>Extract → Transform (clean/standardize) → Load into the warehouse.</a:t>
            </a:r>
          </a:p>
          <a:p>
            <a:pPr>
              <a:spcAft>
                <a:spcPts val="600"/>
              </a:spcAft>
            </a:pPr>
            <a:r>
              <a:rPr sz="1150" b="1">
                <a:solidFill>
                  <a:srgbClr val="0C2B4A"/>
                </a:solidFill>
              </a:rPr>
              <a:t>Star schema — </a:t>
            </a:r>
            <a:r>
              <a:rPr sz="1150">
                <a:solidFill>
                  <a:srgbClr val="1A1A1A"/>
                </a:solidFill>
              </a:rPr>
              <a:t>a central fact table linked to dimension tables.</a:t>
            </a:r>
          </a:p>
          <a:p>
            <a:pPr>
              <a:spcAft>
                <a:spcPts val="600"/>
              </a:spcAft>
            </a:pPr>
            <a:r>
              <a:rPr sz="1150" b="1">
                <a:solidFill>
                  <a:srgbClr val="0C2B4A"/>
                </a:solidFill>
              </a:rPr>
              <a:t>Data mining — </a:t>
            </a:r>
            <a:r>
              <a:rPr sz="1150">
                <a:solidFill>
                  <a:srgbClr val="1A1A1A"/>
                </a:solidFill>
              </a:rPr>
              <a:t>discovering previously UNKNOWN patterns in large data.</a:t>
            </a:r>
          </a:p>
          <a:p>
            <a:pPr>
              <a:spcAft>
                <a:spcPts val="600"/>
              </a:spcAft>
            </a:pPr>
            <a:r>
              <a:rPr sz="1150" b="1">
                <a:solidFill>
                  <a:srgbClr val="0C2B4A"/>
                </a:solidFill>
              </a:rPr>
              <a:t>BigData / 3 Vs — </a:t>
            </a:r>
            <a:r>
              <a:rPr sz="1150">
                <a:solidFill>
                  <a:srgbClr val="1A1A1A"/>
                </a:solidFill>
              </a:rPr>
              <a:t>data beyond a traditional DBMS: Volume, Velocity, Variety.</a:t>
            </a:r>
          </a:p>
          <a:p>
            <a:pPr>
              <a:spcAft>
                <a:spcPts val="600"/>
              </a:spcAft>
            </a:pPr>
            <a:r>
              <a:rPr sz="1150" b="1">
                <a:solidFill>
                  <a:srgbClr val="0C2B4A"/>
                </a:solidFill>
              </a:rPr>
              <a:t>NoSQL — </a:t>
            </a:r>
            <a:r>
              <a:rPr sz="1150">
                <a:solidFill>
                  <a:srgbClr val="1A1A1A"/>
                </a:solidFill>
              </a:rPr>
              <a:t>non-relational stores: key-value, document, column-family, graph.</a:t>
            </a:r>
          </a:p>
          <a:p>
            <a:pPr>
              <a:spcAft>
                <a:spcPts val="600"/>
              </a:spcAft>
            </a:pPr>
            <a:r>
              <a:rPr sz="1150" b="1">
                <a:solidFill>
                  <a:srgbClr val="0C2B4A"/>
                </a:solidFill>
              </a:rPr>
              <a:t>Least privilege — </a:t>
            </a:r>
            <a:r>
              <a:rPr sz="1150">
                <a:solidFill>
                  <a:srgbClr val="1A1A1A"/>
                </a:solidFill>
              </a:rPr>
              <a:t>give each user only the access their job needs.</a:t>
            </a:r>
          </a:p>
          <a:p>
            <a:pPr>
              <a:spcAft>
                <a:spcPts val="600"/>
              </a:spcAft>
            </a:pPr>
            <a:r>
              <a:rPr sz="1150" b="1">
                <a:solidFill>
                  <a:srgbClr val="0C2B4A"/>
                </a:solidFill>
              </a:rPr>
              <a:t>Single point of failure — </a:t>
            </a:r>
            <a:r>
              <a:rPr sz="1150">
                <a:solidFill>
                  <a:srgbClr val="1A1A1A"/>
                </a:solidFill>
              </a:rPr>
              <a:t>one component whose failure stops the whole system.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82</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7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Ten MCQs (answers shown), then four short-answer and two scenario questions — work them from the concept slides and Unit7_material.md.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79 / 82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Adding an index primarily speeds up   →  ✅ reads / lookups</a:t>
            </a:r>
          </a:p>
          <a:p>
            <a:pPr lvl="1"/>
            <a:r>
              <a:rPr sz="1250" b="1">
                <a:solidFill>
                  <a:srgbClr val="0F6E56"/>
                </a:solidFill>
              </a:rPr>
              <a:t>2.  The recommended fix for SQL injection is   →  ✅ parameterized / prepared statements</a:t>
            </a:r>
          </a:p>
          <a:p>
            <a:pPr lvl="1"/>
            <a:r>
              <a:rPr sz="1250" b="1">
                <a:solidFill>
                  <a:srgbClr val="0F6E56"/>
                </a:solidFill>
              </a:rPr>
              <a:t>3.  'Who are you' is decided by   →  ✅ authentication</a:t>
            </a:r>
          </a:p>
          <a:p>
            <a:pPr lvl="1"/>
            <a:r>
              <a:rPr sz="1250" b="1">
                <a:solidFill>
                  <a:srgbClr val="0F6E56"/>
                </a:solidFill>
              </a:rPr>
              <a:t>4.  Protecting a stolen database dump from being read uses   →  ✅ encryption at rest</a:t>
            </a:r>
          </a:p>
          <a:p>
            <a:pPr lvl="1"/>
            <a:r>
              <a:rPr sz="1250" b="1">
                <a:solidFill>
                  <a:srgbClr val="0F6E56"/>
                </a:solidFill>
              </a:rPr>
              <a:t>5.  Splitting table ROWS by province across sites is   →  ✅ horizontal fragmentation</a:t>
            </a:r>
          </a:p>
          <a:p>
            <a:pPr lvl="1"/>
            <a:r>
              <a:rPr sz="1250" b="1">
                <a:solidFill>
                  <a:srgbClr val="0F6E56"/>
                </a:solidFill>
              </a:rPr>
              <a:t>6.  Keeping copies of the same data at multiple sites is   →  ✅ replication</a:t>
            </a:r>
          </a:p>
          <a:p>
            <a:pPr lvl="1"/>
            <a:r>
              <a:rPr sz="1250" b="1">
                <a:solidFill>
                  <a:srgbClr val="0F6E56"/>
                </a:solidFill>
              </a:rPr>
              <a:t>7.  A single ATM withdrawal being recorded is   →  ✅ OLTP</a:t>
            </a:r>
          </a:p>
          <a:p>
            <a:pPr lvl="1"/>
            <a:r>
              <a:rPr sz="1250" b="1">
                <a:solidFill>
                  <a:srgbClr val="0F6E56"/>
                </a:solidFill>
              </a:rPr>
              <a:t>8.  The 'T' in ETL stands for   →  ✅ Transform</a:t>
            </a:r>
          </a:p>
          <a:p>
            <a:pPr lvl="1"/>
            <a:r>
              <a:rPr sz="1250" b="1">
                <a:solidFill>
                  <a:srgbClr val="0F6E56"/>
                </a:solidFill>
              </a:rPr>
              <a:t>9.  'Velocity' in BigData's 3 Vs refers to   →  ✅ speed of incoming data</a:t>
            </a:r>
          </a:p>
          <a:p>
            <a:pPr lvl="1"/>
            <a:r>
              <a:rPr sz="1250" b="1">
                <a:solidFill>
                  <a:srgbClr val="0F6E56"/>
                </a:solidFill>
              </a:rPr>
              <a:t>10.  MongoDB is an example of a   →  ✅ document NoSQL database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82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B–C — short answer &amp; scenario</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11. Differentiate authentication from authorization with one example each.</a:t>
            </a:r>
          </a:p>
          <a:p>
            <a:pPr lvl="1">
              <a:spcBef>
                <a:spcPts val="200"/>
              </a:spcBef>
            </a:pPr>
            <a:r>
              <a:rPr sz="1250" i="1">
                <a:solidFill>
                  <a:srgbClr val="1A1A1A"/>
                </a:solidFill>
              </a:rPr>
              <a:t>12. Define fragmentation and replication, and state why systems often use both.</a:t>
            </a:r>
          </a:p>
          <a:p>
            <a:pPr lvl="1">
              <a:spcBef>
                <a:spcPts val="200"/>
              </a:spcBef>
            </a:pPr>
            <a:r>
              <a:rPr sz="1250" i="1">
                <a:solidFill>
                  <a:srgbClr val="1A1A1A"/>
                </a:solidFill>
              </a:rPr>
              <a:t>13. Differentiate OLTP from OLAP in two points each.</a:t>
            </a:r>
          </a:p>
          <a:p>
            <a:pPr lvl="1">
              <a:spcBef>
                <a:spcPts val="200"/>
              </a:spcBef>
            </a:pPr>
            <a:r>
              <a:rPr sz="1250" i="1">
                <a:solidFill>
                  <a:srgbClr val="1A1A1A"/>
                </a:solidFill>
              </a:rPr>
              <a:t>14. List the 3 Vs of BigData and give a one-line example of each.</a:t>
            </a:r>
          </a:p>
          <a:p>
            <a:pPr>
              <a:spcBef>
                <a:spcPts val="500"/>
              </a:spcBef>
            </a:pPr>
            <a:r>
              <a:rPr sz="1400" b="1">
                <a:solidFill>
                  <a:srgbClr val="0C2B4A"/>
                </a:solidFill>
              </a:rPr>
              <a:t>Section C — Scenario</a:t>
            </a:r>
          </a:p>
          <a:p>
            <a:pPr lvl="1">
              <a:spcBef>
                <a:spcPts val="200"/>
              </a:spcBef>
            </a:pPr>
            <a:r>
              <a:rPr sz="1250" i="1">
                <a:solidFill>
                  <a:srgbClr val="1A1A1A"/>
                </a:solidFill>
              </a:rPr>
              <a:t>15. eSewa's transaction-history page is slow. List three things you'd check/do (query · index · OLTP-vs-OLAP separation) and justify each.</a:t>
            </a:r>
          </a:p>
          <a:p>
            <a:pPr lvl="1">
              <a:spcBef>
                <a:spcPts val="200"/>
              </a:spcBef>
            </a:pPr>
            <a:r>
              <a:rPr sz="1250" i="1">
                <a:solidFill>
                  <a:srgbClr val="1A1A1A"/>
                </a:solidFill>
              </a:rPr>
              <a:t>16. A national telecom wants regional data near users but no data loss if one data centre fails. Explain how fragmentation, replication, and distribution transparency together solve this.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82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Congratulations — you've completed IT 220!</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S45–S48 done: tuning &amp; security · parallel &amp; distributed DBs · warehousing, mining, BigData &amp; NoSQL — and a full course review. You can now design, build, query, protect, and scale a real database.</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Thank you for a great semester. Go and build things Nepal needs — clinics, shops, campuses, and the next fintech — on solid database foundations. Best of luck in the final exam and your project demo. — End of IT 220: Database Management System.</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82 / 82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