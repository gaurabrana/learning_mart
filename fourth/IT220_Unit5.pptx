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DDL &amp; CREATE TABLE → data types → constraints → ALTER/DROP. Mark slides [THEORY]/[SNIPPET]/[HANDS-ON]. Pin the schema card.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Build the Student table live for a Pokhara University BIM intake. Stress: no rows yet.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Phone numbers are VARCHAR, not INT (leading 0 in 98XXXXXXXX, and '+977'). Money is DECIMAL, not FLOAT.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A student can't enroll in a course that doesn't exist → FK on Enrollment.course_id. Colour-code each constraint on the CREATE snippet.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College adds an email column mid-semester without losing existing rows → ALTER, not re-create. Warn: DROP is irreversible without a backup.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Point out the composite PK and that grade stays nullable — it becomes the NULL example in S27.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PK = UNIQUE + NOT NULL and money = DECIMAL.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SELECT…FROM → WHERE → multi-table FROM (cross-product warning) → expressions teaser.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Contrast SELECT name (one column) vs SELECT * (all). Stress projection ≠ row selection.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SELECT * FROM Instructor WHERE dept='IT' AND salary &gt; 60000; Daraz 'items between Rs 500 and Rs 1500' → BETWEEN.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Show the 5×8=40-row explosion, then fix it with WHERE roll=roll → the sensible 8 rows. This motivates S33 joins.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SELECT=columns, WHERE=rows, and the cross-product trap.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AS (rename) → tuple variables (aliases &amp; self-joins) → string ops (LIKE, wildcards, CONCAT).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 marksheet export should read 'Student Name', not 'name'. AS is the header-labelling tool.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Self-join 'students in the same program as Sita' with Student s1, Student s2. Make the two-copies idea visual.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Ncell numbers → phone LIKE '98%'; Gmail users → email LIKE '%@gmail.com'. Note MySQL uses CONCAT, not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Nail % vs _ and the mandatory self-join aliases.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ORDER BY (sorting) → DISTINCT (de-duplication) → UNION/INTERSECT/EXCEPT (combining result sets).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Merit list = ORDER BY marks DESC, name ASC. Top 3 = ...ORDER BY marks DESC LIMIT 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List distinct districts from a Nagarik App users table; distinct programs from Student.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 DBMS students INTERSECT Economics students; eSewa users EXCEPT Khalti users. Flag the MySQL support caveat.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Show the INTERSECT result, then show the IN-based fallback for older MySQL.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ASC default, UNION de-dups, INTERSECT = overlap.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the five aggregates → GROUP BY (per-group) → HAVING (filter groups).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eSewa daily volume = SUM(amount). Preview the COUNT(col) vs COUNT(*) NULL subtlety for S27.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Average marks per program. Stress the 'non-aggregated column must be in GROUP BY' rule (MySQL's ONLY_FULL_GROUP_BY).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'Courses with more than 30 students' = HAVING COUNT(*)&gt;30. Show why the aggregate can't go in WHERE.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Point at each clause and name its job — this query touches WHERE, GROUP BY, HAVING, and ORDER BY together.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Nail WHERE-vs-HAVING and COUNT(*) vs COUNT(col).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what NULL means → three-valued logic (IS NULL) → NULL in aggregates &amp; arithmetic.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Contrast balance = 0 (real, broke) vs balance = NULL (unknown / account not created).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Walk the AND/OR truth tables with UNKNOWN. Show WHERE grade=NULL returns nothing; IS NULL fixes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Is a 'not yet graded' student a 0 in the average, or excluded? AVG drops them silently — COALESCE makes them count.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Drill IS NULL, NULL-poisoning of arithmetic, and COUNT(*) vs COUNT(col).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subqueries &amp; IN/NOT IN → SOME/ANY → ALL.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'Khalti users who also have eSewa' → IN (SELECT user_id FROM esewa_users). Warn about NOT IN + NULL.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&gt; SOME salary in IT = earns more than the lowest-paid IT instructor. Note = SOME ≡ 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Highest-paid instructor = salary &gt;= ALL (all salaries). Daraz 'priced higher than ALL Electronics'.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Note both return Sharma (80000). Mention the IS NOT NULL guard so a NULL salary doesn't break &gt;= ALL.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Drill &gt; ALL = &gt; MAX, = SOME = IN, and the NOT IN + NULL trap.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EXISTS/NOT EXISTS → NOT EXISTS for 'for all' → UNIQUE predicate.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Students with at least one enrollment (EXISTS); students enrolled in nothing (NOT EXISTS).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Flag as advanced. Also: customers with no failed transactions = single NOT EXISTS (status='failed').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Contrast the two UNIQUEs sharply. Note MySQL lacks the predicate — teach the HAVING COUNT(*)=1 equivalent.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EXISTS = 'any row?', NOT EXISTS = 'none', SELECT 1 idiom.</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derived relations (subquery in FROM) → CREATE VIEW → the 3 reasons for views.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Show how it lets you filter on AVG(salary) — a computed column WHERE can't touch directly.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Collapse the 6-line join into SELECT * FROM MeritList. Contrast with materialized views (stored copy) briefly.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Bank-teller view hides sensitive columns → security. Nagarik App shows a citizen only their own records via a per-user view.</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Emphasise the collapse from a 5-line join to SELECT * FROM MeritList, and that it stays current.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'view stores the query', the 'faster disk' distractor, and derived-relation aliasing.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INSERT → UPDATE (the WHERE danger) → DELETE (vs DROP).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Registering a new student; topping up a Khalti wallet row. Show INSERT … SELECT for bulk.</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Salary revision: SET salary=salary*1.10 WHERE dept='IT'. Show the horror of the missing WHERE.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Dropping a course → FK ON DELETE CASCADE vs RESTRICT. Contrast DELETE (DML) vs DROP (DDL).</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Hammer the SELECT-first habit and the missing-WHERE catastrophe. Mention transactions bridge to Unit 6.</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Drill missing-WHERE danger and DELETE (rows) vs DROP (table).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modifying through a view → updatability rules → non-updatable views → WITH CHECK OPTION.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Show UPDATE BIMStudents actually changing Student. Set up the 'sometimes it's blocked' tension.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BIMStudents (a simple filter of Student) is updatable. Walk the checklist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DeptAvgSalary is non-updatable. Then WITH CHECK OPTION blocks inserting a BCA row via BIMStudents.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Drill the updatability checklist and WITH CHECK OPTION.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INNER JOIN → OUTER joins (LEFT/RIGHT/FULL) → conditions (ON/USING/NATURAL).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List each student with the courses they're enrolled in — INNER drops the unenrolled.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'All students, even those enrolled in nothing' = LEFT JOIN (course_id NULL). Note MySQL lacks FULL — show the UNION trick.</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NATURAL JOIN vs USING(roll) vs ON. Warn: NATURAL breaks silently if tables share an unexpected column (e.g. sem).</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Swap LEFT→INNER live to show the unenrolled students vanish — the visible difference between the join types.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Drill LEFT keeps-unmatched, NATURAL's all-common-names risk, INNER = both-sides.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what a stored procedure is → parameters &amp; control flow → why use them.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Show the CREATE PROCEDURE shape and CALL. Contrast sharply with a view (data vs logic).</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Sketch a transfer(from,to,amount) for an eSewa-style wallet move. Keep it conceptual.</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Bank fund-transfer as one procedure so debit+credit always run together. Forward-link to Unit 6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CALL, procedure≠view, and IN/OUT.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DML triggers → OLD/NEW &amp; use cases → indexing → when indexes help/hurt. Pin the schema.</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Auto-write to a GradeAudit table whenever a marks row changes → exam-integrity trail.</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A trigger blocking marks &gt; 100 as defence-in-depth alongside the S22 CHECK. Note OLD/NEW availability per event.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CREATE INDEX on Student(program). Show table-scan vs index-lookup speed. HANDS-ON: EXPLAIN a query.</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Which Enrollment column to index (roll? course_id?) and why. Bust 'index every column'.</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Show the EXPLAIN before/after if a live DB is available; otherwise describe scan→lookup. Reinforce selective indexing.</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Drill triggers-fire-automatically, index read/write trade-off, OLD vs NEW.</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the SQL map → graded lab problems (easy→hard) → common-mistakes review → bridge to the lab project. Fully hands-on.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Walk the pipeline; map each session onto it (WHERE=S23, GROUP BY/HAVING=S26, joins=S33…).</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Warm-up: reinforce WHERE with AND and LIKE 'A%'.</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These three cover HAVING, the LEFT-JOIN/NULL trick, and ORDER BY+LIMIT.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capstone: subquery MAX, a view, and the double-NOT-EXISTS 'for all'.</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Consolidate clause order, IS NULL, and the 'for all' pattern.</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20–25 min in-class quiz or take-home review. Answers marked ✅.</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Part A (1–11).</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Part A (12–22).</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Parts B–C. Model answers on the concept slides, solved-problem slides, and in Unit5_material.md.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0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0.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5 — SQL</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220: Database Management System  ·  BIM 4th Semester  ·  Sessions S22–S36 (15 lecture hours)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The largest, most hands-on unit — most sessions end at a live SQL editor. Dialect: MySQL / MariaDB. Self-contained slides with §7A depth tables (worked queries, Nepal / IT localised) —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219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SQL  ·  S22–S36</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5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a schema with correct data types and all constraints (PK/FK/CHECK/NOT NULL/UNIQUE), and alter/drop it (S22)</a:t>
            </a:r>
          </a:p>
          <a:p>
            <a:pPr>
              <a:spcAft>
                <a:spcPts val="500"/>
              </a:spcAft>
            </a:pPr>
            <a:r>
              <a:rPr sz="1450">
                <a:solidFill>
                  <a:srgbClr val="1A1A1A"/>
                </a:solidFill>
              </a:rPr>
              <a:t>•  Write SELECT queries with FROM/WHERE, renaming, tuple variables, and string/pattern operations (S23–S24)</a:t>
            </a:r>
          </a:p>
          <a:p>
            <a:pPr>
              <a:spcAft>
                <a:spcPts val="500"/>
              </a:spcAft>
            </a:pPr>
            <a:r>
              <a:rPr sz="1450">
                <a:solidFill>
                  <a:srgbClr val="1A1A1A"/>
                </a:solidFill>
              </a:rPr>
              <a:t>•  Sort, de-duplicate, and combine result sets with ORDER BY, DISTINCT, UNION/INTERSECT/EXCEPT (S25)</a:t>
            </a:r>
          </a:p>
          <a:p>
            <a:pPr>
              <a:spcAft>
                <a:spcPts val="500"/>
              </a:spcAft>
            </a:pPr>
            <a:r>
              <a:rPr sz="1450">
                <a:solidFill>
                  <a:srgbClr val="1A1A1A"/>
                </a:solidFill>
              </a:rPr>
              <a:t>•  Summarize data with aggregates, GROUP BY / HAVING, and reason correctly about NULLs &amp; three-valued logic (S26–S27)</a:t>
            </a:r>
          </a:p>
          <a:p>
            <a:pPr>
              <a:spcAft>
                <a:spcPts val="500"/>
              </a:spcAft>
            </a:pPr>
            <a:r>
              <a:rPr sz="1450">
                <a:solidFill>
                  <a:srgbClr val="1A1A1A"/>
                </a:solidFill>
              </a:rPr>
              <a:t>•  Write nested subqueries with IN, SOME/ALL, EXISTS/NOT EXISTS, UNIQUE (S28–S29)</a:t>
            </a:r>
          </a:p>
          <a:p>
            <a:pPr>
              <a:spcAft>
                <a:spcPts val="500"/>
              </a:spcAft>
            </a:pPr>
            <a:r>
              <a:rPr sz="1450">
                <a:solidFill>
                  <a:srgbClr val="1A1A1A"/>
                </a:solidFill>
              </a:rPr>
              <a:t>•  Create and use views &amp; derived relations and explain which views are updatable (S30, S32)</a:t>
            </a:r>
          </a:p>
          <a:p>
            <a:pPr>
              <a:spcAft>
                <a:spcPts val="500"/>
              </a:spcAft>
            </a:pPr>
            <a:r>
              <a:rPr sz="1450">
                <a:solidFill>
                  <a:srgbClr val="1A1A1A"/>
                </a:solidFill>
              </a:rPr>
              <a:t>•  Modify data (INSERT/UPDATE/DELETE) and join tables with every join type (S31, S33)</a:t>
            </a:r>
          </a:p>
          <a:p>
            <a:pPr>
              <a:spcAft>
                <a:spcPts val="500"/>
              </a:spcAft>
            </a:pPr>
            <a:r>
              <a:rPr sz="1450">
                <a:solidFill>
                  <a:srgbClr val="1A1A1A"/>
                </a:solidFill>
              </a:rPr>
              <a:t>•  Explain stored procedures, DML triggers, and indexes — and when each helps (S34–S35)</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5 of IT 220. It turns the design theory of Units 1–4 into the working language of every database job: SQL. Next: Unit 6 — transactions, concurrency &amp; recovery.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219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(S22–S36)</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S22  DDL · data types · constraints · schema definition
S23  SELECT · FROM · WHERE
S24  rename · tuple variables · string ops
S25  ORDER BY · DISTINCT · set operations
S26  aggregates · GROUP BY · HAVING
S27  NULL values · three-valued logic
S28  subqueries: IN · SOME/ALL
S29  subqueries: EXISTS · UNIQUE
S30  derived relations · views
S31  INSERT · UPDATE · DELETE</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S32  update of a view (updatable?)
S33  joins (INNER/OUTER/NATURAL/ON/USING)
S34  stored procedures
S35  DML triggers · indexing
S36  recap + lab problem-set walkthrough
Unit 6   Transactions &amp; concurrency
Unit 7   Advanced topics
Dialect throughout: MySQL / MariaDB</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219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REFERENCE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running sample schema — a tiny college database (used in every session)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035479"/>
                <a:gridCol w="4697260"/>
                <a:gridCol w="4697260"/>
              </a:tblGrid>
              <a:tr h="736092">
                <a:tc>
                  <a:txBody>
                    <a:bodyPr wrap="square"/>
                    <a:lstStyle/>
                    <a:p>
                      <a:r>
                        <a:rPr sz="1150" b="1">
                          <a:solidFill>
                            <a:srgbClr val="FFFFFF"/>
                          </a:solidFill>
                        </a:rPr>
                        <a:t>Table</a:t>
                      </a:r>
                    </a:p>
                  </a:txBody>
                  <a:tcPr anchor="ctr" marL="73152" marR="54864" marT="27432" marB="27432">
                    <a:solidFill>
                      <a:srgbClr val="0C2B4A"/>
                    </a:solidFill>
                  </a:tcPr>
                </a:tc>
                <a:tc>
                  <a:txBody>
                    <a:bodyPr wrap="square"/>
                    <a:lstStyle/>
                    <a:p>
                      <a:r>
                        <a:rPr sz="1150" b="1">
                          <a:solidFill>
                            <a:srgbClr val="FFFFFF"/>
                          </a:solidFill>
                        </a:rPr>
                        <a:t>Columns (PK in bold, FK →)</a:t>
                      </a:r>
                    </a:p>
                  </a:txBody>
                  <a:tcPr anchor="ctr" marL="73152" marR="54864" marT="27432" marB="27432">
                    <a:solidFill>
                      <a:srgbClr val="0C2B4A"/>
                    </a:solidFill>
                  </a:tcPr>
                </a:tc>
                <a:tc>
                  <a:txBody>
                    <a:bodyPr wrap="square"/>
                    <a:lstStyle/>
                    <a:p>
                      <a:r>
                        <a:rPr sz="1150" b="1">
                          <a:solidFill>
                            <a:srgbClr val="FFFFFF"/>
                          </a:solidFill>
                        </a:rPr>
                        <a:t>One seed row (example data)</a:t>
                      </a:r>
                    </a:p>
                  </a:txBody>
                  <a:tcPr anchor="ctr" marL="73152" marR="54864" marT="27432" marB="27432">
                    <a:solidFill>
                      <a:srgbClr val="0C2B4A"/>
                    </a:solidFill>
                  </a:tcPr>
                </a:tc>
              </a:tr>
              <a:tr h="736092">
                <a:tc>
                  <a:txBody>
                    <a:bodyPr wrap="square"/>
                    <a:lstStyle/>
                    <a:p>
                      <a:r>
                        <a:rPr sz="1100" b="1">
                          <a:solidFill>
                            <a:srgbClr val="0C2B4A"/>
                          </a:solidFill>
                        </a:rPr>
                        <a:t>Student</a:t>
                      </a:r>
                    </a:p>
                  </a:txBody>
                  <a:tcPr anchor="ctr" marL="73152" marR="54864" marT="27432" marB="27432">
                    <a:solidFill>
                      <a:srgbClr val="FFFFFF"/>
                    </a:solidFill>
                  </a:tcPr>
                </a:tc>
                <a:tc>
                  <a:txBody>
                    <a:bodyPr wrap="square"/>
                    <a:lstStyle/>
                    <a:p>
                      <a:r>
                        <a:rPr sz="1100">
                          <a:solidFill>
                            <a:srgbClr val="1A1A1A"/>
                          </a:solidFill>
                        </a:rPr>
                        <a:t>roll · name · program · semester · dob · email</a:t>
                      </a:r>
                    </a:p>
                  </a:txBody>
                  <a:tcPr anchor="ctr" marL="73152" marR="54864" marT="27432" marB="27432">
                    <a:solidFill>
                      <a:srgbClr val="FFFFFF"/>
                    </a:solidFill>
                  </a:tcPr>
                </a:tc>
                <a:tc>
                  <a:txBody>
                    <a:bodyPr wrap="square"/>
                    <a:lstStyle/>
                    <a:p>
                      <a:r>
                        <a:rPr sz="1100">
                          <a:solidFill>
                            <a:srgbClr val="1A1A1A"/>
                          </a:solidFill>
                        </a:rPr>
                        <a:t>101 · Sita · BIM · 4 · 2004-05-12 · sita@pu.edu.np</a:t>
                      </a:r>
                    </a:p>
                  </a:txBody>
                  <a:tcPr anchor="ctr" marL="73152" marR="54864" marT="27432" marB="27432">
                    <a:solidFill>
                      <a:srgbClr val="FFFFFF"/>
                    </a:solidFill>
                  </a:tcPr>
                </a:tc>
              </a:tr>
              <a:tr h="736092">
                <a:tc>
                  <a:txBody>
                    <a:bodyPr wrap="square"/>
                    <a:lstStyle/>
                    <a:p>
                      <a:r>
                        <a:rPr sz="1100" b="1">
                          <a:solidFill>
                            <a:srgbClr val="0C2B4A"/>
                          </a:solidFill>
                        </a:rPr>
                        <a:t>Course</a:t>
                      </a:r>
                    </a:p>
                  </a:txBody>
                  <a:tcPr anchor="ctr" marL="73152" marR="54864" marT="27432" marB="27432">
                    <a:solidFill>
                      <a:srgbClr val="EEF3F8"/>
                    </a:solidFill>
                  </a:tcPr>
                </a:tc>
                <a:tc>
                  <a:txBody>
                    <a:bodyPr wrap="square"/>
                    <a:lstStyle/>
                    <a:p>
                      <a:r>
                        <a:rPr sz="1100">
                          <a:solidFill>
                            <a:srgbClr val="1A1A1A"/>
                          </a:solidFill>
                        </a:rPr>
                        <a:t>course_id · title · credits · dept</a:t>
                      </a:r>
                    </a:p>
                  </a:txBody>
                  <a:tcPr anchor="ctr" marL="73152" marR="54864" marT="27432" marB="27432">
                    <a:solidFill>
                      <a:srgbClr val="EEF3F8"/>
                    </a:solidFill>
                  </a:tcPr>
                </a:tc>
                <a:tc>
                  <a:txBody>
                    <a:bodyPr wrap="square"/>
                    <a:lstStyle/>
                    <a:p>
                      <a:r>
                        <a:rPr sz="1100">
                          <a:solidFill>
                            <a:srgbClr val="1A1A1A"/>
                          </a:solidFill>
                        </a:rPr>
                        <a:t>IT220 · DBMS · 3 · IT</a:t>
                      </a:r>
                    </a:p>
                  </a:txBody>
                  <a:tcPr anchor="ctr" marL="73152" marR="54864" marT="27432" marB="27432">
                    <a:solidFill>
                      <a:srgbClr val="EEF3F8"/>
                    </a:solidFill>
                  </a:tcPr>
                </a:tc>
              </a:tr>
              <a:tr h="736092">
                <a:tc>
                  <a:txBody>
                    <a:bodyPr wrap="square"/>
                    <a:lstStyle/>
                    <a:p>
                      <a:r>
                        <a:rPr sz="1100" b="1">
                          <a:solidFill>
                            <a:srgbClr val="0C2B4A"/>
                          </a:solidFill>
                        </a:rPr>
                        <a:t>Instructor</a:t>
                      </a:r>
                    </a:p>
                  </a:txBody>
                  <a:tcPr anchor="ctr" marL="73152" marR="54864" marT="27432" marB="27432">
                    <a:solidFill>
                      <a:srgbClr val="FFFFFF"/>
                    </a:solidFill>
                  </a:tcPr>
                </a:tc>
                <a:tc>
                  <a:txBody>
                    <a:bodyPr wrap="square"/>
                    <a:lstStyle/>
                    <a:p>
                      <a:r>
                        <a:rPr sz="1100">
                          <a:solidFill>
                            <a:srgbClr val="1A1A1A"/>
                          </a:solidFill>
                        </a:rPr>
                        <a:t>inst_id · name · dept · salary</a:t>
                      </a:r>
                    </a:p>
                  </a:txBody>
                  <a:tcPr anchor="ctr" marL="73152" marR="54864" marT="27432" marB="27432">
                    <a:solidFill>
                      <a:srgbClr val="FFFFFF"/>
                    </a:solidFill>
                  </a:tcPr>
                </a:tc>
                <a:tc>
                  <a:txBody>
                    <a:bodyPr wrap="square"/>
                    <a:lstStyle/>
                    <a:p>
                      <a:r>
                        <a:rPr sz="1100">
                          <a:solidFill>
                            <a:srgbClr val="1A1A1A"/>
                          </a:solidFill>
                        </a:rPr>
                        <a:t>11 · Sharma · IT · 80000</a:t>
                      </a:r>
                    </a:p>
                  </a:txBody>
                  <a:tcPr anchor="ctr" marL="73152" marR="54864" marT="27432" marB="27432">
                    <a:solidFill>
                      <a:srgbClr val="FFFFFF"/>
                    </a:solidFill>
                  </a:tcPr>
                </a:tc>
              </a:tr>
              <a:tr h="736092">
                <a:tc>
                  <a:txBody>
                    <a:bodyPr wrap="square"/>
                    <a:lstStyle/>
                    <a:p>
                      <a:r>
                        <a:rPr sz="1100" b="1">
                          <a:solidFill>
                            <a:srgbClr val="0C2B4A"/>
                          </a:solidFill>
                        </a:rPr>
                        <a:t>Enrollment</a:t>
                      </a:r>
                    </a:p>
                  </a:txBody>
                  <a:tcPr anchor="ctr" marL="73152" marR="54864" marT="27432" marB="27432">
                    <a:solidFill>
                      <a:srgbClr val="EEF3F8"/>
                    </a:solidFill>
                  </a:tcPr>
                </a:tc>
                <a:tc>
                  <a:txBody>
                    <a:bodyPr wrap="square"/>
                    <a:lstStyle/>
                    <a:p>
                      <a:r>
                        <a:rPr sz="1100">
                          <a:solidFill>
                            <a:srgbClr val="1A1A1A"/>
                          </a:solidFill>
                        </a:rPr>
                        <a:t>roll → · course_id → · sem · grade · marks</a:t>
                      </a:r>
                    </a:p>
                  </a:txBody>
                  <a:tcPr anchor="ctr" marL="73152" marR="54864" marT="27432" marB="27432">
                    <a:solidFill>
                      <a:srgbClr val="EEF3F8"/>
                    </a:solidFill>
                  </a:tcPr>
                </a:tc>
                <a:tc>
                  <a:txBody>
                    <a:bodyPr wrap="square"/>
                    <a:lstStyle/>
                    <a:p>
                      <a:r>
                        <a:rPr sz="1100">
                          <a:solidFill>
                            <a:srgbClr val="1A1A1A"/>
                          </a:solidFill>
                        </a:rPr>
                        <a:t>101 · IT220 · 2026S · A · 88</a:t>
                      </a:r>
                    </a:p>
                  </a:txBody>
                  <a:tcPr anchor="ctr" marL="73152" marR="54864" marT="27432" marB="27432">
                    <a:solidFill>
                      <a:srgbClr val="EEF3F8"/>
                    </a:solidFill>
                  </a:tcPr>
                </a:tc>
              </a:tr>
              <a:tr h="736092">
                <a:tc>
                  <a:txBody>
                    <a:bodyPr wrap="square"/>
                    <a:lstStyle/>
                    <a:p>
                      <a:r>
                        <a:rPr sz="1100" b="1">
                          <a:solidFill>
                            <a:srgbClr val="0C2B4A"/>
                          </a:solidFill>
                        </a:rPr>
                        <a:t>Teaches</a:t>
                      </a:r>
                    </a:p>
                  </a:txBody>
                  <a:tcPr anchor="ctr" marL="73152" marR="54864" marT="27432" marB="27432">
                    <a:solidFill>
                      <a:srgbClr val="FFFFFF"/>
                    </a:solidFill>
                  </a:tcPr>
                </a:tc>
                <a:tc>
                  <a:txBody>
                    <a:bodyPr wrap="square"/>
                    <a:lstStyle/>
                    <a:p>
                      <a:r>
                        <a:rPr sz="1100">
                          <a:solidFill>
                            <a:srgbClr val="1A1A1A"/>
                          </a:solidFill>
                        </a:rPr>
                        <a:t>inst_id → · course_id → · sem</a:t>
                      </a:r>
                    </a:p>
                  </a:txBody>
                  <a:tcPr anchor="ctr" marL="73152" marR="54864" marT="27432" marB="27432">
                    <a:solidFill>
                      <a:srgbClr val="FFFFFF"/>
                    </a:solidFill>
                  </a:tcPr>
                </a:tc>
                <a:tc>
                  <a:txBody>
                    <a:bodyPr wrap="square"/>
                    <a:lstStyle/>
                    <a:p>
                      <a:r>
                        <a:rPr sz="1100">
                          <a:solidFill>
                            <a:srgbClr val="1A1A1A"/>
                          </a:solidFill>
                        </a:rPr>
                        <a:t>11 · IT220 · 2026S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Pin this schema on every session. Seed data: ~5 students (Sita, Hari, Bishal, Anjali, Gita), 4 courses, 4 instructors. Same rows every session → predictable query results.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 / 219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22 · LECTURE HOUR 1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DDL · Data Types · Constraints · Schema Definition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Before you can ask the database anything, you have to tell it what a student even IS. Today we build the boxes; from tomorrow we fill and query them.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 / 219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DDL &amp; CREATE TABLE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DDL (Data Definition Language) is the SQL sub-language that DEFINES structure — CREATE, ALTER, DROP. CREATE TABLE makes an empty table: you name it, list its columns, and give each column a data type.</a:t>
            </a:r>
          </a:p>
          <a:p>
            <a:pPr>
              <a:spcAft>
                <a:spcPts val="500"/>
              </a:spcAft>
            </a:pPr>
            <a:r>
              <a:rPr sz="1200" b="1">
                <a:solidFill>
                  <a:srgbClr val="185FA5"/>
                </a:solidFill>
              </a:rPr>
              <a:t>HOW IT WORKS</a:t>
            </a:r>
          </a:p>
          <a:p>
            <a:pPr>
              <a:spcAft>
                <a:spcPts val="600"/>
              </a:spcAft>
            </a:pPr>
            <a:r>
              <a:rPr sz="1400">
                <a:solidFill>
                  <a:srgbClr val="1A1A1A"/>
                </a:solidFill>
              </a:rPr>
              <a:t>•  Syntax: CREATE TABLE Student(roll INT PRIMARY KEY, name VARCHAR(50), program VARCHAR(20));</a:t>
            </a:r>
          </a:p>
          <a:p>
            <a:pPr>
              <a:spcAft>
                <a:spcPts val="600"/>
              </a:spcAft>
            </a:pPr>
            <a:r>
              <a:rPr sz="1400">
                <a:solidFill>
                  <a:srgbClr val="1A1A1A"/>
                </a:solidFill>
              </a:rPr>
              <a:t>•  It creates the STRUCTURE only — an empty shell with zero rows.</a:t>
            </a:r>
          </a:p>
          <a:p>
            <a:pPr>
              <a:spcAft>
                <a:spcPts val="600"/>
              </a:spcAft>
            </a:pPr>
            <a:r>
              <a:rPr sz="1400">
                <a:solidFill>
                  <a:srgbClr val="1A1A1A"/>
                </a:solidFill>
              </a:rPr>
              <a:t>•  Column order in the definition is the table's natural column order.</a:t>
            </a:r>
          </a:p>
          <a:p>
            <a:pPr>
              <a:spcAft>
                <a:spcPts val="600"/>
              </a:spcAft>
            </a:pPr>
            <a:r>
              <a:rPr sz="1400">
                <a:solidFill>
                  <a:srgbClr val="1A1A1A"/>
                </a:solidFill>
              </a:rPr>
              <a:t>•  DDL changes the schema (rare, big); DML (Unit S23+) changes the data (constant).</a:t>
            </a:r>
          </a:p>
        </p:txBody>
      </p:sp>
      <p:pic>
        <p:nvPicPr>
          <p:cNvPr id="6" name="Picture 5" descr="s22_schema.png"/>
          <p:cNvPicPr>
            <a:picLocks noChangeAspect="1"/>
          </p:cNvPicPr>
          <p:nvPr/>
        </p:nvPicPr>
        <p:blipFill>
          <a:blip r:embed="rId2"/>
          <a:stretch>
            <a:fillRect/>
          </a:stretch>
        </p:blipFill>
        <p:spPr>
          <a:xfrm>
            <a:off x="6355080" y="2181359"/>
            <a:ext cx="5532120" cy="327252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CREATE TABLE builds an empty box — it does not put anything in 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 / 219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DDL commands — define, change, remove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49285"/>
                <a:gridCol w="3755571"/>
                <a:gridCol w="5225142"/>
              </a:tblGrid>
              <a:tr h="630936">
                <a:tc>
                  <a:txBody>
                    <a:bodyPr wrap="square"/>
                    <a:lstStyle/>
                    <a:p>
                      <a:r>
                        <a:rPr sz="1100" b="1">
                          <a:solidFill>
                            <a:srgbClr val="FFFFFF"/>
                          </a:solidFill>
                        </a:rPr>
                        <a:t>DDL command</a:t>
                      </a:r>
                    </a:p>
                  </a:txBody>
                  <a:tcPr anchor="ctr" marL="73152" marR="54864" marT="27432" marB="27432">
                    <a:solidFill>
                      <a:srgbClr val="0C2B4A"/>
                    </a:solidFill>
                  </a:tcPr>
                </a:tc>
                <a:tc>
                  <a:txBody>
                    <a:bodyPr wrap="square"/>
                    <a:lstStyle/>
                    <a:p>
                      <a:r>
                        <a:rPr sz="1100" b="1">
                          <a:solidFill>
                            <a:srgbClr val="FFFFFF"/>
                          </a:solidFill>
                        </a:rPr>
                        <a:t>What it does</a:t>
                      </a:r>
                    </a:p>
                  </a:txBody>
                  <a:tcPr anchor="ctr" marL="73152" marR="54864" marT="27432" marB="27432">
                    <a:solidFill>
                      <a:srgbClr val="0C2B4A"/>
                    </a:solidFill>
                  </a:tcPr>
                </a:tc>
                <a:tc>
                  <a:txBody>
                    <a:bodyPr wrap="square"/>
                    <a:lstStyle/>
                    <a:p>
                      <a:r>
                        <a:rPr sz="1100" b="1">
                          <a:solidFill>
                            <a:srgbClr val="FFFFFF"/>
                          </a:solidFill>
                        </a:rPr>
                        <a:t>College example (MySQL)</a:t>
                      </a:r>
                    </a:p>
                  </a:txBody>
                  <a:tcPr anchor="ctr" marL="73152" marR="54864" marT="27432" marB="27432">
                    <a:solidFill>
                      <a:srgbClr val="0C2B4A"/>
                    </a:solidFill>
                  </a:tcPr>
                </a:tc>
              </a:tr>
              <a:tr h="630936">
                <a:tc>
                  <a:txBody>
                    <a:bodyPr wrap="square"/>
                    <a:lstStyle/>
                    <a:p>
                      <a:r>
                        <a:rPr sz="1050" b="1">
                          <a:solidFill>
                            <a:srgbClr val="0C2B4A"/>
                          </a:solidFill>
                        </a:rPr>
                        <a:t>CREATE TABLE</a:t>
                      </a:r>
                    </a:p>
                  </a:txBody>
                  <a:tcPr anchor="ctr" marL="73152" marR="54864" marT="27432" marB="27432">
                    <a:solidFill>
                      <a:srgbClr val="FFFFFF"/>
                    </a:solidFill>
                  </a:tcPr>
                </a:tc>
                <a:tc>
                  <a:txBody>
                    <a:bodyPr wrap="square"/>
                    <a:lstStyle/>
                    <a:p>
                      <a:r>
                        <a:rPr sz="1050">
                          <a:solidFill>
                            <a:srgbClr val="1A1A1A"/>
                          </a:solidFill>
                        </a:rPr>
                        <a:t>Make a new empty table</a:t>
                      </a:r>
                    </a:p>
                  </a:txBody>
                  <a:tcPr anchor="ctr" marL="73152" marR="54864" marT="27432" marB="27432">
                    <a:solidFill>
                      <a:srgbClr val="FFFFFF"/>
                    </a:solidFill>
                  </a:tcPr>
                </a:tc>
                <a:tc>
                  <a:txBody>
                    <a:bodyPr wrap="square"/>
                    <a:lstStyle/>
                    <a:p>
                      <a:r>
                        <a:rPr sz="1050">
                          <a:solidFill>
                            <a:srgbClr val="1A1A1A"/>
                          </a:solidFill>
                        </a:rPr>
                        <a:t>CREATE TABLE Course(course_id VARCHAR(6) PRIMARY KEY, title VARCHAR(40));</a:t>
                      </a:r>
                    </a:p>
                  </a:txBody>
                  <a:tcPr anchor="ctr" marL="73152" marR="54864" marT="27432" marB="27432">
                    <a:solidFill>
                      <a:srgbClr val="FFFFFF"/>
                    </a:solidFill>
                  </a:tcPr>
                </a:tc>
              </a:tr>
              <a:tr h="630936">
                <a:tc>
                  <a:txBody>
                    <a:bodyPr wrap="square"/>
                    <a:lstStyle/>
                    <a:p>
                      <a:r>
                        <a:rPr sz="1050" b="1">
                          <a:solidFill>
                            <a:srgbClr val="0C2B4A"/>
                          </a:solidFill>
                        </a:rPr>
                        <a:t>ALTER TABLE</a:t>
                      </a:r>
                    </a:p>
                  </a:txBody>
                  <a:tcPr anchor="ctr" marL="73152" marR="54864" marT="27432" marB="27432">
                    <a:solidFill>
                      <a:srgbClr val="EEF3F8"/>
                    </a:solidFill>
                  </a:tcPr>
                </a:tc>
                <a:tc>
                  <a:txBody>
                    <a:bodyPr wrap="square"/>
                    <a:lstStyle/>
                    <a:p>
                      <a:r>
                        <a:rPr sz="1050">
                          <a:solidFill>
                            <a:srgbClr val="1A1A1A"/>
                          </a:solidFill>
                        </a:rPr>
                        <a:t>Change an existing table's structure</a:t>
                      </a:r>
                    </a:p>
                  </a:txBody>
                  <a:tcPr anchor="ctr" marL="73152" marR="54864" marT="27432" marB="27432">
                    <a:solidFill>
                      <a:srgbClr val="EEF3F8"/>
                    </a:solidFill>
                  </a:tcPr>
                </a:tc>
                <a:tc>
                  <a:txBody>
                    <a:bodyPr wrap="square"/>
                    <a:lstStyle/>
                    <a:p>
                      <a:r>
                        <a:rPr sz="1050">
                          <a:solidFill>
                            <a:srgbClr val="1A1A1A"/>
                          </a:solidFill>
                        </a:rPr>
                        <a:t>ALTER TABLE Student ADD email VARCHAR(60);</a:t>
                      </a:r>
                    </a:p>
                  </a:txBody>
                  <a:tcPr anchor="ctr" marL="73152" marR="54864" marT="27432" marB="27432">
                    <a:solidFill>
                      <a:srgbClr val="EEF3F8"/>
                    </a:solidFill>
                  </a:tcPr>
                </a:tc>
              </a:tr>
              <a:tr h="630936">
                <a:tc>
                  <a:txBody>
                    <a:bodyPr wrap="square"/>
                    <a:lstStyle/>
                    <a:p>
                      <a:r>
                        <a:rPr sz="1050" b="1">
                          <a:solidFill>
                            <a:srgbClr val="0C2B4A"/>
                          </a:solidFill>
                        </a:rPr>
                        <a:t>DROP TABLE</a:t>
                      </a:r>
                    </a:p>
                  </a:txBody>
                  <a:tcPr anchor="ctr" marL="73152" marR="54864" marT="27432" marB="27432">
                    <a:solidFill>
                      <a:srgbClr val="FFFFFF"/>
                    </a:solidFill>
                  </a:tcPr>
                </a:tc>
                <a:tc>
                  <a:txBody>
                    <a:bodyPr wrap="square"/>
                    <a:lstStyle/>
                    <a:p>
                      <a:r>
                        <a:rPr sz="1050">
                          <a:solidFill>
                            <a:srgbClr val="1A1A1A"/>
                          </a:solidFill>
                        </a:rPr>
                        <a:t>Delete a whole table + its data</a:t>
                      </a:r>
                    </a:p>
                  </a:txBody>
                  <a:tcPr anchor="ctr" marL="73152" marR="54864" marT="27432" marB="27432">
                    <a:solidFill>
                      <a:srgbClr val="FFFFFF"/>
                    </a:solidFill>
                  </a:tcPr>
                </a:tc>
                <a:tc>
                  <a:txBody>
                    <a:bodyPr wrap="square"/>
                    <a:lstStyle/>
                    <a:p>
                      <a:r>
                        <a:rPr sz="1050">
                          <a:solidFill>
                            <a:srgbClr val="1A1A1A"/>
                          </a:solidFill>
                        </a:rPr>
                        <a:t>DROP TABLE Teaches;</a:t>
                      </a:r>
                    </a:p>
                  </a:txBody>
                  <a:tcPr anchor="ctr" marL="73152" marR="54864" marT="27432" marB="27432">
                    <a:solidFill>
                      <a:srgbClr val="FFFFFF"/>
                    </a:solidFill>
                  </a:tcPr>
                </a:tc>
              </a:tr>
              <a:tr h="630936">
                <a:tc>
                  <a:txBody>
                    <a:bodyPr wrap="square"/>
                    <a:lstStyle/>
                    <a:p>
                      <a:r>
                        <a:rPr sz="1050" b="1">
                          <a:solidFill>
                            <a:srgbClr val="0C2B4A"/>
                          </a:solidFill>
                        </a:rPr>
                        <a:t>TRUNCATE TABLE</a:t>
                      </a:r>
                    </a:p>
                  </a:txBody>
                  <a:tcPr anchor="ctr" marL="73152" marR="54864" marT="27432" marB="27432">
                    <a:solidFill>
                      <a:srgbClr val="EEF3F8"/>
                    </a:solidFill>
                  </a:tcPr>
                </a:tc>
                <a:tc>
                  <a:txBody>
                    <a:bodyPr wrap="square"/>
                    <a:lstStyle/>
                    <a:p>
                      <a:r>
                        <a:rPr sz="1050">
                          <a:solidFill>
                            <a:srgbClr val="1A1A1A"/>
                          </a:solidFill>
                        </a:rPr>
                        <a:t>Empty a table but keep its structure</a:t>
                      </a:r>
                    </a:p>
                  </a:txBody>
                  <a:tcPr anchor="ctr" marL="73152" marR="54864" marT="27432" marB="27432">
                    <a:solidFill>
                      <a:srgbClr val="EEF3F8"/>
                    </a:solidFill>
                  </a:tcPr>
                </a:tc>
                <a:tc>
                  <a:txBody>
                    <a:bodyPr wrap="square"/>
                    <a:lstStyle/>
                    <a:p>
                      <a:r>
                        <a:rPr sz="1050">
                          <a:solidFill>
                            <a:srgbClr val="1A1A1A"/>
                          </a:solidFill>
                        </a:rPr>
                        <a:t>TRUNCATE TABLE Enrollment;</a:t>
                      </a:r>
                    </a:p>
                  </a:txBody>
                  <a:tcPr anchor="ctr" marL="73152" marR="54864" marT="27432" marB="27432">
                    <a:solidFill>
                      <a:srgbClr val="EEF3F8"/>
                    </a:solidFill>
                  </a:tcPr>
                </a:tc>
              </a:tr>
              <a:tr h="630936">
                <a:tc>
                  <a:txBody>
                    <a:bodyPr wrap="square"/>
                    <a:lstStyle/>
                    <a:p>
                      <a:r>
                        <a:rPr sz="1050" b="1">
                          <a:solidFill>
                            <a:srgbClr val="0C2B4A"/>
                          </a:solidFill>
                        </a:rPr>
                        <a:t>CREATE DATABASE</a:t>
                      </a:r>
                    </a:p>
                  </a:txBody>
                  <a:tcPr anchor="ctr" marL="73152" marR="54864" marT="27432" marB="27432">
                    <a:solidFill>
                      <a:srgbClr val="FFFFFF"/>
                    </a:solidFill>
                  </a:tcPr>
                </a:tc>
                <a:tc>
                  <a:txBody>
                    <a:bodyPr wrap="square"/>
                    <a:lstStyle/>
                    <a:p>
                      <a:r>
                        <a:rPr sz="1050">
                          <a:solidFill>
                            <a:srgbClr val="1A1A1A"/>
                          </a:solidFill>
                        </a:rPr>
                        <a:t>Make a new database to hold tables</a:t>
                      </a:r>
                    </a:p>
                  </a:txBody>
                  <a:tcPr anchor="ctr" marL="73152" marR="54864" marT="27432" marB="27432">
                    <a:solidFill>
                      <a:srgbClr val="FFFFFF"/>
                    </a:solidFill>
                  </a:tcPr>
                </a:tc>
                <a:tc>
                  <a:txBody>
                    <a:bodyPr wrap="square"/>
                    <a:lstStyle/>
                    <a:p>
                      <a:r>
                        <a:rPr sz="1050">
                          <a:solidFill>
                            <a:srgbClr val="1A1A1A"/>
                          </a:solidFill>
                        </a:rPr>
                        <a:t>CREATE DATABASE college;</a:t>
                      </a:r>
                    </a:p>
                  </a:txBody>
                  <a:tcPr anchor="ctr" marL="73152" marR="54864" marT="27432" marB="27432">
                    <a:solidFill>
                      <a:srgbClr val="FFFFFF"/>
                    </a:solidFill>
                  </a:tcPr>
                </a:tc>
              </a:tr>
              <a:tr h="630936">
                <a:tc>
                  <a:txBody>
                    <a:bodyPr wrap="square"/>
                    <a:lstStyle/>
                    <a:p>
                      <a:r>
                        <a:rPr sz="1050" b="1">
                          <a:solidFill>
                            <a:srgbClr val="0C2B4A"/>
                          </a:solidFill>
                        </a:rPr>
                        <a:t>SHOW / DESCRIBE</a:t>
                      </a:r>
                    </a:p>
                  </a:txBody>
                  <a:tcPr anchor="ctr" marL="73152" marR="54864" marT="27432" marB="27432">
                    <a:solidFill>
                      <a:srgbClr val="EEF3F8"/>
                    </a:solidFill>
                  </a:tcPr>
                </a:tc>
                <a:tc>
                  <a:txBody>
                    <a:bodyPr wrap="square"/>
                    <a:lstStyle/>
                    <a:p>
                      <a:r>
                        <a:rPr sz="1050">
                          <a:solidFill>
                            <a:srgbClr val="1A1A1A"/>
                          </a:solidFill>
                        </a:rPr>
                        <a:t>Inspect structure (MySQL helpers)</a:t>
                      </a:r>
                    </a:p>
                  </a:txBody>
                  <a:tcPr anchor="ctr" marL="73152" marR="54864" marT="27432" marB="27432">
                    <a:solidFill>
                      <a:srgbClr val="EEF3F8"/>
                    </a:solidFill>
                  </a:tcPr>
                </a:tc>
                <a:tc>
                  <a:txBody>
                    <a:bodyPr wrap="square"/>
                    <a:lstStyle/>
                    <a:p>
                      <a:r>
                        <a:rPr sz="1050">
                          <a:solidFill>
                            <a:srgbClr val="1A1A1A"/>
                          </a:solidFill>
                        </a:rPr>
                        <a:t>DESCRIBE Student;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DDL is about STRUCTURE. Note DROP removes the table itself; TRUNCATE only empties it. Both differ from DELETE (a DML row-remover, S31).</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 / 219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DDL &amp; CREATE TABLE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Every backend feature at eSewa, Khalti, or a college portal begins with a migration — a CREATE TABLE (or ALTER TABLE) that defines where the new data will live. Building the Student table for a Pokhara University BIM intake is a literal day-1 job task.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"CREATE TABLE also adds the data." No — CREATE TABLE makes an empty structure with zero rows. Putting data in is a separate INSERT (S31). A freshly created table returns nothing from SELECT * until you insert rows.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DDL (Data Definition Language) defines database structure via CREATE, ALTER, and DROP. CREATE TABLE names a table and declares its columns with data types and constraints, producing an empty table. It changes the schema, not the data — inserting rows is a separate DML step.</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DDL · CREATE / ALTER / DROP TABLE · schema vs data · empty structure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 / 219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 Domain Types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data type is the DOMAIN of a column — the set of values it may hold. Choosing the right type enforces correctness and saves space. Core MySQL types: INT, DECIMAL(p,s), VARCHAR(n)/CHAR(n), DATE, BOOLEAN.</a:t>
            </a:r>
          </a:p>
          <a:p>
            <a:pPr>
              <a:spcAft>
                <a:spcPts val="500"/>
              </a:spcAft>
            </a:pPr>
            <a:r>
              <a:rPr sz="1200" b="1">
                <a:solidFill>
                  <a:srgbClr val="185FA5"/>
                </a:solidFill>
              </a:rPr>
              <a:t>HOW IT WORKS</a:t>
            </a:r>
          </a:p>
          <a:p>
            <a:pPr>
              <a:spcAft>
                <a:spcPts val="600"/>
              </a:spcAft>
            </a:pPr>
            <a:r>
              <a:rPr sz="1400">
                <a:solidFill>
                  <a:srgbClr val="1A1A1A"/>
                </a:solidFill>
              </a:rPr>
              <a:t>•  INT — whole numbers (roll, credits). DECIMAL(10,2) — exact money (NPR fees).</a:t>
            </a:r>
          </a:p>
          <a:p>
            <a:pPr>
              <a:spcAft>
                <a:spcPts val="600"/>
              </a:spcAft>
            </a:pPr>
            <a:r>
              <a:rPr sz="1400">
                <a:solidFill>
                  <a:srgbClr val="1A1A1A"/>
                </a:solidFill>
              </a:rPr>
              <a:t>•  VARCHAR(n) — variable-length text up to n; CHAR(n) — fixed length, padded.</a:t>
            </a:r>
          </a:p>
          <a:p>
            <a:pPr>
              <a:spcAft>
                <a:spcPts val="600"/>
              </a:spcAft>
            </a:pPr>
            <a:r>
              <a:rPr sz="1400">
                <a:solidFill>
                  <a:srgbClr val="1A1A1A"/>
                </a:solidFill>
              </a:rPr>
              <a:t>•  DATE — calendar dates (dob); BOOLEAN — true/false flags.</a:t>
            </a:r>
          </a:p>
          <a:p>
            <a:pPr>
              <a:spcAft>
                <a:spcPts val="600"/>
              </a:spcAft>
            </a:pPr>
            <a:r>
              <a:rPr sz="1400">
                <a:solidFill>
                  <a:srgbClr val="1A1A1A"/>
                </a:solidFill>
              </a:rPr>
              <a:t>•  Never store money as FLOAT — binary rounding corrupts fee/amount totals.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Data type = the size of tiffin box — wrong size wastes space or won't fit.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 / 219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Pick the right type — column → type → why (Nepal / IT)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895600"/>
                <a:gridCol w="2743200"/>
                <a:gridCol w="1828800"/>
                <a:gridCol w="3962399"/>
              </a:tblGrid>
              <a:tr h="552069">
                <a:tc>
                  <a:txBody>
                    <a:bodyPr wrap="square"/>
                    <a:lstStyle/>
                    <a:p>
                      <a:r>
                        <a:rPr sz="1100" b="1">
                          <a:solidFill>
                            <a:srgbClr val="FFFFFF"/>
                          </a:solidFill>
                        </a:rPr>
                        <a:t>Column</a:t>
                      </a:r>
                    </a:p>
                  </a:txBody>
                  <a:tcPr anchor="ctr" marL="73152" marR="54864" marT="27432" marB="27432">
                    <a:solidFill>
                      <a:srgbClr val="0C2B4A"/>
                    </a:solidFill>
                  </a:tcPr>
                </a:tc>
                <a:tc>
                  <a:txBody>
                    <a:bodyPr wrap="square"/>
                    <a:lstStyle/>
                    <a:p>
                      <a:r>
                        <a:rPr sz="1100" b="1">
                          <a:solidFill>
                            <a:srgbClr val="FFFFFF"/>
                          </a:solidFill>
                        </a:rPr>
                        <a:t>Right type (MySQL)</a:t>
                      </a:r>
                    </a:p>
                  </a:txBody>
                  <a:tcPr anchor="ctr" marL="73152" marR="54864" marT="27432" marB="27432">
                    <a:solidFill>
                      <a:srgbClr val="0C2B4A"/>
                    </a:solidFill>
                  </a:tcPr>
                </a:tc>
                <a:tc>
                  <a:txBody>
                    <a:bodyPr wrap="square"/>
                    <a:lstStyle/>
                    <a:p>
                      <a:r>
                        <a:rPr sz="1100" b="1">
                          <a:solidFill>
                            <a:srgbClr val="FFFFFF"/>
                          </a:solidFill>
                        </a:rPr>
                        <a:t>Wrong type</a:t>
                      </a:r>
                    </a:p>
                  </a:txBody>
                  <a:tcPr anchor="ctr" marL="73152" marR="54864" marT="27432" marB="27432">
                    <a:solidFill>
                      <a:srgbClr val="0C2B4A"/>
                    </a:solidFill>
                  </a:tcPr>
                </a:tc>
                <a:tc>
                  <a:txBody>
                    <a:bodyPr wrap="square"/>
                    <a:lstStyle/>
                    <a:p>
                      <a:r>
                        <a:rPr sz="1100" b="1">
                          <a:solidFill>
                            <a:srgbClr val="FFFFFF"/>
                          </a:solidFill>
                        </a:rPr>
                        <a:t>Why the wrong one breaks</a:t>
                      </a:r>
                    </a:p>
                  </a:txBody>
                  <a:tcPr anchor="ctr" marL="73152" marR="54864" marT="27432" marB="27432">
                    <a:solidFill>
                      <a:srgbClr val="0C2B4A"/>
                    </a:solidFill>
                  </a:tcPr>
                </a:tc>
              </a:tr>
              <a:tr h="552069">
                <a:tc>
                  <a:txBody>
                    <a:bodyPr wrap="square"/>
                    <a:lstStyle/>
                    <a:p>
                      <a:r>
                        <a:rPr sz="1050" b="1">
                          <a:solidFill>
                            <a:srgbClr val="0C2B4A"/>
                          </a:solidFill>
                        </a:rPr>
                        <a:t>roll (student ID)</a:t>
                      </a:r>
                    </a:p>
                  </a:txBody>
                  <a:tcPr anchor="ctr" marL="73152" marR="54864" marT="27432" marB="27432">
                    <a:solidFill>
                      <a:srgbClr val="FFFFFF"/>
                    </a:solidFill>
                  </a:tcPr>
                </a:tc>
                <a:tc>
                  <a:txBody>
                    <a:bodyPr wrap="square"/>
                    <a:lstStyle/>
                    <a:p>
                      <a:r>
                        <a:rPr sz="1050">
                          <a:solidFill>
                            <a:srgbClr val="1A1A1A"/>
                          </a:solidFill>
                        </a:rPr>
                        <a:t>INT</a:t>
                      </a:r>
                    </a:p>
                  </a:txBody>
                  <a:tcPr anchor="ctr" marL="73152" marR="54864" marT="27432" marB="27432">
                    <a:solidFill>
                      <a:srgbClr val="FFFFFF"/>
                    </a:solidFill>
                  </a:tcPr>
                </a:tc>
                <a:tc>
                  <a:txBody>
                    <a:bodyPr wrap="square"/>
                    <a:lstStyle/>
                    <a:p>
                      <a:r>
                        <a:rPr sz="1050">
                          <a:solidFill>
                            <a:srgbClr val="1A1A1A"/>
                          </a:solidFill>
                        </a:rPr>
                        <a:t>VARCHAR</a:t>
                      </a:r>
                    </a:p>
                  </a:txBody>
                  <a:tcPr anchor="ctr" marL="73152" marR="54864" marT="27432" marB="27432">
                    <a:solidFill>
                      <a:srgbClr val="FFFFFF"/>
                    </a:solidFill>
                  </a:tcPr>
                </a:tc>
                <a:tc>
                  <a:txBody>
                    <a:bodyPr wrap="square"/>
                    <a:lstStyle/>
                    <a:p>
                      <a:r>
                        <a:rPr sz="1050">
                          <a:solidFill>
                            <a:srgbClr val="1A1A1A"/>
                          </a:solidFill>
                        </a:rPr>
                        <a:t>numeric compare/sort as text mis-orders</a:t>
                      </a:r>
                    </a:p>
                  </a:txBody>
                  <a:tcPr anchor="ctr" marL="73152" marR="54864" marT="27432" marB="27432">
                    <a:solidFill>
                      <a:srgbClr val="FFFFFF"/>
                    </a:solidFill>
                  </a:tcPr>
                </a:tc>
              </a:tr>
              <a:tr h="552069">
                <a:tc>
                  <a:txBody>
                    <a:bodyPr wrap="square"/>
                    <a:lstStyle/>
                    <a:p>
                      <a:r>
                        <a:rPr sz="1050" b="1">
                          <a:solidFill>
                            <a:srgbClr val="0C2B4A"/>
                          </a:solidFill>
                        </a:rPr>
                        <a:t>fee amount (NPR)</a:t>
                      </a:r>
                    </a:p>
                  </a:txBody>
                  <a:tcPr anchor="ctr" marL="73152" marR="54864" marT="27432" marB="27432">
                    <a:solidFill>
                      <a:srgbClr val="EEF3F8"/>
                    </a:solidFill>
                  </a:tcPr>
                </a:tc>
                <a:tc>
                  <a:txBody>
                    <a:bodyPr wrap="square"/>
                    <a:lstStyle/>
                    <a:p>
                      <a:r>
                        <a:rPr sz="1050">
                          <a:solidFill>
                            <a:srgbClr val="1A1A1A"/>
                          </a:solidFill>
                        </a:rPr>
                        <a:t>DECIMAL(10,2)</a:t>
                      </a:r>
                    </a:p>
                  </a:txBody>
                  <a:tcPr anchor="ctr" marL="73152" marR="54864" marT="27432" marB="27432">
                    <a:solidFill>
                      <a:srgbClr val="EEF3F8"/>
                    </a:solidFill>
                  </a:tcPr>
                </a:tc>
                <a:tc>
                  <a:txBody>
                    <a:bodyPr wrap="square"/>
                    <a:lstStyle/>
                    <a:p>
                      <a:r>
                        <a:rPr sz="1050">
                          <a:solidFill>
                            <a:srgbClr val="1A1A1A"/>
                          </a:solidFill>
                        </a:rPr>
                        <a:t>FLOAT</a:t>
                      </a:r>
                    </a:p>
                  </a:txBody>
                  <a:tcPr anchor="ctr" marL="73152" marR="54864" marT="27432" marB="27432">
                    <a:solidFill>
                      <a:srgbClr val="EEF3F8"/>
                    </a:solidFill>
                  </a:tcPr>
                </a:tc>
                <a:tc>
                  <a:txBody>
                    <a:bodyPr wrap="square"/>
                    <a:lstStyle/>
                    <a:p>
                      <a:r>
                        <a:rPr sz="1050">
                          <a:solidFill>
                            <a:srgbClr val="1A1A1A"/>
                          </a:solidFill>
                        </a:rPr>
                        <a:t>binary rounding loses paisa in totals</a:t>
                      </a:r>
                    </a:p>
                  </a:txBody>
                  <a:tcPr anchor="ctr" marL="73152" marR="54864" marT="27432" marB="27432">
                    <a:solidFill>
                      <a:srgbClr val="EEF3F8"/>
                    </a:solidFill>
                  </a:tcPr>
                </a:tc>
              </a:tr>
              <a:tr h="552069">
                <a:tc>
                  <a:txBody>
                    <a:bodyPr wrap="square"/>
                    <a:lstStyle/>
                    <a:p>
                      <a:r>
                        <a:rPr sz="1050" b="1">
                          <a:solidFill>
                            <a:srgbClr val="0C2B4A"/>
                          </a:solidFill>
                        </a:rPr>
                        <a:t>phone (98XXXXXXXX)</a:t>
                      </a:r>
                    </a:p>
                  </a:txBody>
                  <a:tcPr anchor="ctr" marL="73152" marR="54864" marT="27432" marB="27432">
                    <a:solidFill>
                      <a:srgbClr val="FFFFFF"/>
                    </a:solidFill>
                  </a:tcPr>
                </a:tc>
                <a:tc>
                  <a:txBody>
                    <a:bodyPr wrap="square"/>
                    <a:lstStyle/>
                    <a:p>
                      <a:r>
                        <a:rPr sz="1050">
                          <a:solidFill>
                            <a:srgbClr val="1A1A1A"/>
                          </a:solidFill>
                        </a:rPr>
                        <a:t>VARCHAR(15)</a:t>
                      </a:r>
                    </a:p>
                  </a:txBody>
                  <a:tcPr anchor="ctr" marL="73152" marR="54864" marT="27432" marB="27432">
                    <a:solidFill>
                      <a:srgbClr val="FFFFFF"/>
                    </a:solidFill>
                  </a:tcPr>
                </a:tc>
                <a:tc>
                  <a:txBody>
                    <a:bodyPr wrap="square"/>
                    <a:lstStyle/>
                    <a:p>
                      <a:r>
                        <a:rPr sz="1050">
                          <a:solidFill>
                            <a:srgbClr val="1A1A1A"/>
                          </a:solidFill>
                        </a:rPr>
                        <a:t>INT</a:t>
                      </a:r>
                    </a:p>
                  </a:txBody>
                  <a:tcPr anchor="ctr" marL="73152" marR="54864" marT="27432" marB="27432">
                    <a:solidFill>
                      <a:srgbClr val="FFFFFF"/>
                    </a:solidFill>
                  </a:tcPr>
                </a:tc>
                <a:tc>
                  <a:txBody>
                    <a:bodyPr wrap="square"/>
                    <a:lstStyle/>
                    <a:p>
                      <a:r>
                        <a:rPr sz="1050">
                          <a:solidFill>
                            <a:srgbClr val="1A1A1A"/>
                          </a:solidFill>
                        </a:rPr>
                        <a:t>leading 0 and '+977' are lost</a:t>
                      </a:r>
                    </a:p>
                  </a:txBody>
                  <a:tcPr anchor="ctr" marL="73152" marR="54864" marT="27432" marB="27432">
                    <a:solidFill>
                      <a:srgbClr val="FFFFFF"/>
                    </a:solidFill>
                  </a:tcPr>
                </a:tc>
              </a:tr>
              <a:tr h="552069">
                <a:tc>
                  <a:txBody>
                    <a:bodyPr wrap="square"/>
                    <a:lstStyle/>
                    <a:p>
                      <a:r>
                        <a:rPr sz="1050" b="1">
                          <a:solidFill>
                            <a:srgbClr val="0C2B4A"/>
                          </a:solidFill>
                        </a:rPr>
                        <a:t>name</a:t>
                      </a:r>
                    </a:p>
                  </a:txBody>
                  <a:tcPr anchor="ctr" marL="73152" marR="54864" marT="27432" marB="27432">
                    <a:solidFill>
                      <a:srgbClr val="EEF3F8"/>
                    </a:solidFill>
                  </a:tcPr>
                </a:tc>
                <a:tc>
                  <a:txBody>
                    <a:bodyPr wrap="square"/>
                    <a:lstStyle/>
                    <a:p>
                      <a:r>
                        <a:rPr sz="1050">
                          <a:solidFill>
                            <a:srgbClr val="1A1A1A"/>
                          </a:solidFill>
                        </a:rPr>
                        <a:t>VARCHAR(50)</a:t>
                      </a:r>
                    </a:p>
                  </a:txBody>
                  <a:tcPr anchor="ctr" marL="73152" marR="54864" marT="27432" marB="27432">
                    <a:solidFill>
                      <a:srgbClr val="EEF3F8"/>
                    </a:solidFill>
                  </a:tcPr>
                </a:tc>
                <a:tc>
                  <a:txBody>
                    <a:bodyPr wrap="square"/>
                    <a:lstStyle/>
                    <a:p>
                      <a:r>
                        <a:rPr sz="1050">
                          <a:solidFill>
                            <a:srgbClr val="1A1A1A"/>
                          </a:solidFill>
                        </a:rPr>
                        <a:t>CHAR(50)</a:t>
                      </a:r>
                    </a:p>
                  </a:txBody>
                  <a:tcPr anchor="ctr" marL="73152" marR="54864" marT="27432" marB="27432">
                    <a:solidFill>
                      <a:srgbClr val="EEF3F8"/>
                    </a:solidFill>
                  </a:tcPr>
                </a:tc>
                <a:tc>
                  <a:txBody>
                    <a:bodyPr wrap="square"/>
                    <a:lstStyle/>
                    <a:p>
                      <a:r>
                        <a:rPr sz="1050">
                          <a:solidFill>
                            <a:srgbClr val="1A1A1A"/>
                          </a:solidFill>
                        </a:rPr>
                        <a:t>CHAR pads with spaces, wastes space</a:t>
                      </a:r>
                    </a:p>
                  </a:txBody>
                  <a:tcPr anchor="ctr" marL="73152" marR="54864" marT="27432" marB="27432">
                    <a:solidFill>
                      <a:srgbClr val="EEF3F8"/>
                    </a:solidFill>
                  </a:tcPr>
                </a:tc>
              </a:tr>
              <a:tr h="552069">
                <a:tc>
                  <a:txBody>
                    <a:bodyPr wrap="square"/>
                    <a:lstStyle/>
                    <a:p>
                      <a:r>
                        <a:rPr sz="1050" b="1">
                          <a:solidFill>
                            <a:srgbClr val="0C2B4A"/>
                          </a:solidFill>
                        </a:rPr>
                        <a:t>program code (e.g. 'BIM')</a:t>
                      </a:r>
                    </a:p>
                  </a:txBody>
                  <a:tcPr anchor="ctr" marL="73152" marR="54864" marT="27432" marB="27432">
                    <a:solidFill>
                      <a:srgbClr val="FFFFFF"/>
                    </a:solidFill>
                  </a:tcPr>
                </a:tc>
                <a:tc>
                  <a:txBody>
                    <a:bodyPr wrap="square"/>
                    <a:lstStyle/>
                    <a:p>
                      <a:r>
                        <a:rPr sz="1050">
                          <a:solidFill>
                            <a:srgbClr val="1A1A1A"/>
                          </a:solidFill>
                        </a:rPr>
                        <a:t>CHAR(3)</a:t>
                      </a:r>
                    </a:p>
                  </a:txBody>
                  <a:tcPr anchor="ctr" marL="73152" marR="54864" marT="27432" marB="27432">
                    <a:solidFill>
                      <a:srgbClr val="FFFFFF"/>
                    </a:solidFill>
                  </a:tcPr>
                </a:tc>
                <a:tc>
                  <a:txBody>
                    <a:bodyPr wrap="square"/>
                    <a:lstStyle/>
                    <a:p>
                      <a:r>
                        <a:rPr sz="1050">
                          <a:solidFill>
                            <a:srgbClr val="1A1A1A"/>
                          </a:solidFill>
                        </a:rPr>
                        <a:t>VARCHAR(3)</a:t>
                      </a:r>
                    </a:p>
                  </a:txBody>
                  <a:tcPr anchor="ctr" marL="73152" marR="54864" marT="27432" marB="27432">
                    <a:solidFill>
                      <a:srgbClr val="FFFFFF"/>
                    </a:solidFill>
                  </a:tcPr>
                </a:tc>
                <a:tc>
                  <a:txBody>
                    <a:bodyPr wrap="square"/>
                    <a:lstStyle/>
                    <a:p>
                      <a:r>
                        <a:rPr sz="1050">
                          <a:solidFill>
                            <a:srgbClr val="1A1A1A"/>
                          </a:solidFill>
                        </a:rPr>
                        <a:t>fixed-width code is ideal for CHAR</a:t>
                      </a:r>
                    </a:p>
                  </a:txBody>
                  <a:tcPr anchor="ctr" marL="73152" marR="54864" marT="27432" marB="27432">
                    <a:solidFill>
                      <a:srgbClr val="FFFFFF"/>
                    </a:solidFill>
                  </a:tcPr>
                </a:tc>
              </a:tr>
              <a:tr h="552069">
                <a:tc>
                  <a:txBody>
                    <a:bodyPr wrap="square"/>
                    <a:lstStyle/>
                    <a:p>
                      <a:r>
                        <a:rPr sz="1050" b="1">
                          <a:solidFill>
                            <a:srgbClr val="0C2B4A"/>
                          </a:solidFill>
                        </a:rPr>
                        <a:t>date of birth</a:t>
                      </a:r>
                    </a:p>
                  </a:txBody>
                  <a:tcPr anchor="ctr" marL="73152" marR="54864" marT="27432" marB="27432">
                    <a:solidFill>
                      <a:srgbClr val="EEF3F8"/>
                    </a:solidFill>
                  </a:tcPr>
                </a:tc>
                <a:tc>
                  <a:txBody>
                    <a:bodyPr wrap="square"/>
                    <a:lstStyle/>
                    <a:p>
                      <a:r>
                        <a:rPr sz="1050">
                          <a:solidFill>
                            <a:srgbClr val="1A1A1A"/>
                          </a:solidFill>
                        </a:rPr>
                        <a:t>DATE</a:t>
                      </a:r>
                    </a:p>
                  </a:txBody>
                  <a:tcPr anchor="ctr" marL="73152" marR="54864" marT="27432" marB="27432">
                    <a:solidFill>
                      <a:srgbClr val="EEF3F8"/>
                    </a:solidFill>
                  </a:tcPr>
                </a:tc>
                <a:tc>
                  <a:txBody>
                    <a:bodyPr wrap="square"/>
                    <a:lstStyle/>
                    <a:p>
                      <a:r>
                        <a:rPr sz="1050">
                          <a:solidFill>
                            <a:srgbClr val="1A1A1A"/>
                          </a:solidFill>
                        </a:rPr>
                        <a:t>VARCHAR</a:t>
                      </a:r>
                    </a:p>
                  </a:txBody>
                  <a:tcPr anchor="ctr" marL="73152" marR="54864" marT="27432" marB="27432">
                    <a:solidFill>
                      <a:srgbClr val="EEF3F8"/>
                    </a:solidFill>
                  </a:tcPr>
                </a:tc>
                <a:tc>
                  <a:txBody>
                    <a:bodyPr wrap="square"/>
                    <a:lstStyle/>
                    <a:p>
                      <a:r>
                        <a:rPr sz="1050">
                          <a:solidFill>
                            <a:srgbClr val="1A1A1A"/>
                          </a:solidFill>
                        </a:rPr>
                        <a:t>can't do date math or range filters</a:t>
                      </a:r>
                    </a:p>
                  </a:txBody>
                  <a:tcPr anchor="ctr" marL="73152" marR="54864" marT="27432" marB="27432">
                    <a:solidFill>
                      <a:srgbClr val="EEF3F8"/>
                    </a:solidFill>
                  </a:tcPr>
                </a:tc>
              </a:tr>
              <a:tr h="552069">
                <a:tc>
                  <a:txBody>
                    <a:bodyPr wrap="square"/>
                    <a:lstStyle/>
                    <a:p>
                      <a:r>
                        <a:rPr sz="1050" b="1">
                          <a:solidFill>
                            <a:srgbClr val="0C2B4A"/>
                          </a:solidFill>
                        </a:rPr>
                        <a:t>is_active flag</a:t>
                      </a:r>
                    </a:p>
                  </a:txBody>
                  <a:tcPr anchor="ctr" marL="73152" marR="54864" marT="27432" marB="27432">
                    <a:solidFill>
                      <a:srgbClr val="FFFFFF"/>
                    </a:solidFill>
                  </a:tcPr>
                </a:tc>
                <a:tc>
                  <a:txBody>
                    <a:bodyPr wrap="square"/>
                    <a:lstStyle/>
                    <a:p>
                      <a:r>
                        <a:rPr sz="1050">
                          <a:solidFill>
                            <a:srgbClr val="1A1A1A"/>
                          </a:solidFill>
                        </a:rPr>
                        <a:t>BOOLEAN</a:t>
                      </a:r>
                    </a:p>
                  </a:txBody>
                  <a:tcPr anchor="ctr" marL="73152" marR="54864" marT="27432" marB="27432">
                    <a:solidFill>
                      <a:srgbClr val="FFFFFF"/>
                    </a:solidFill>
                  </a:tcPr>
                </a:tc>
                <a:tc>
                  <a:txBody>
                    <a:bodyPr wrap="square"/>
                    <a:lstStyle/>
                    <a:p>
                      <a:r>
                        <a:rPr sz="1050">
                          <a:solidFill>
                            <a:srgbClr val="1A1A1A"/>
                          </a:solidFill>
                        </a:rPr>
                        <a:t>VARCHAR('yes')</a:t>
                      </a:r>
                    </a:p>
                  </a:txBody>
                  <a:tcPr anchor="ctr" marL="73152" marR="54864" marT="27432" marB="27432">
                    <a:solidFill>
                      <a:srgbClr val="FFFFFF"/>
                    </a:solidFill>
                  </a:tcPr>
                </a:tc>
                <a:tc>
                  <a:txBody>
                    <a:bodyPr wrap="square"/>
                    <a:lstStyle/>
                    <a:p>
                      <a:r>
                        <a:rPr sz="1050">
                          <a:solidFill>
                            <a:srgbClr val="1A1A1A"/>
                          </a:solidFill>
                        </a:rPr>
                        <a:t>free-text values drift ('Y','yes','TRUE')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type is a first line of defence: it rejects wrong-shaped data before any constraint runs. Money = DECIMAL, identifiers with leading zeros = VARCHAR.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219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 Domain Types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eSewa/Khalti store wallet balances as DECIMAL(precise to the paisa), phone numbers as VARCHAR (to keep the leading 0 and '+977'), and timestamps as DATETIME. A fee table storing amounts as FLOAT would slowly drift by paisa across millions of rows — a real accounting bug.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"FLOAT is fine for money." FLOAT/DOUBLE are binary approximations: 0.1 + 0.2 is not exactly 0.3, so totals drift. Use DECIMAL(p,s) for any currency or exact amount; reserve FLOAT for scientific measurements where tiny error is acceptable.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data type declares a column's domain — the values it may hold — enforcing correctness and controlling storage. Common MySQL types: INT, DECIMAL(p,s) for exact money, VARCHAR(n)/CHAR(n) for text, DATE/DATETIME, BOOLEAN. Money uses DECIMAL (not FLOAT); phone numbers use VARCHAR (not INT) to preserve leading zeros.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 type / domain · INT · DECIMAL(p,s) · VARCHAR vs CHAR · DATE · money≠FLOAT · phone≠INT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219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Specifying Constraints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constraint is a rule the DBMS enforces on every row, rejecting data that breaks it. The six you must know: PRIMARY KEY, FOREIGN KEY, NOT NULL, UNIQUE, CHECK, DEFAULT.</a:t>
            </a:r>
          </a:p>
          <a:p>
            <a:pPr>
              <a:spcAft>
                <a:spcPts val="500"/>
              </a:spcAft>
            </a:pPr>
            <a:r>
              <a:rPr sz="1200" b="1">
                <a:solidFill>
                  <a:srgbClr val="185FA5"/>
                </a:solidFill>
              </a:rPr>
              <a:t>HOW IT WORKS</a:t>
            </a:r>
          </a:p>
          <a:p>
            <a:pPr>
              <a:spcAft>
                <a:spcPts val="600"/>
              </a:spcAft>
            </a:pPr>
            <a:r>
              <a:rPr sz="1400">
                <a:solidFill>
                  <a:srgbClr val="1A1A1A"/>
                </a:solidFill>
              </a:rPr>
              <a:t>•  PRIMARY KEY = UNIQUE + NOT NULL, one per table (identifies each row).</a:t>
            </a:r>
          </a:p>
          <a:p>
            <a:pPr>
              <a:spcAft>
                <a:spcPts val="600"/>
              </a:spcAft>
            </a:pPr>
            <a:r>
              <a:rPr sz="1400">
                <a:solidFill>
                  <a:srgbClr val="1A1A1A"/>
                </a:solidFill>
              </a:rPr>
              <a:t>•  FOREIGN KEY links to another table's PK; optional ON DELETE CASCADE/RESTRICT.</a:t>
            </a:r>
          </a:p>
          <a:p>
            <a:pPr>
              <a:spcAft>
                <a:spcPts val="600"/>
              </a:spcAft>
            </a:pPr>
            <a:r>
              <a:rPr sz="1400">
                <a:solidFill>
                  <a:srgbClr val="1A1A1A"/>
                </a:solidFill>
              </a:rPr>
              <a:t>•  NOT NULL forbids blanks; UNIQUE forbids duplicates (but allows one NULL).</a:t>
            </a:r>
          </a:p>
          <a:p>
            <a:pPr>
              <a:spcAft>
                <a:spcPts val="600"/>
              </a:spcAft>
            </a:pPr>
            <a:r>
              <a:rPr sz="1400">
                <a:solidFill>
                  <a:srgbClr val="1A1A1A"/>
                </a:solidFill>
              </a:rPr>
              <a:t>•  CHECK validates a condition (marks 0–100); DEFAULT supplies a value if none given.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constraint is a bouncer at the door — bad data never gets in.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219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constraints — what each enforces (and PK vs UNIQUE)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143125"/>
                <a:gridCol w="3286124"/>
                <a:gridCol w="1285875"/>
                <a:gridCol w="1285875"/>
                <a:gridCol w="3429000"/>
              </a:tblGrid>
              <a:tr h="630936">
                <a:tc>
                  <a:txBody>
                    <a:bodyPr wrap="square"/>
                    <a:lstStyle/>
                    <a:p>
                      <a:r>
                        <a:rPr sz="1100" b="1">
                          <a:solidFill>
                            <a:srgbClr val="FFFFFF"/>
                          </a:solidFill>
                        </a:rPr>
                        <a:t>Constraint</a:t>
                      </a:r>
                    </a:p>
                  </a:txBody>
                  <a:tcPr anchor="ctr" marL="73152" marR="54864" marT="27432" marB="27432">
                    <a:solidFill>
                      <a:srgbClr val="0C2B4A"/>
                    </a:solidFill>
                  </a:tcPr>
                </a:tc>
                <a:tc>
                  <a:txBody>
                    <a:bodyPr wrap="square"/>
                    <a:lstStyle/>
                    <a:p>
                      <a:r>
                        <a:rPr sz="1100" b="1">
                          <a:solidFill>
                            <a:srgbClr val="FFFFFF"/>
                          </a:solidFill>
                        </a:rPr>
                        <a:t>Rule it enforces</a:t>
                      </a:r>
                    </a:p>
                  </a:txBody>
                  <a:tcPr anchor="ctr" marL="73152" marR="54864" marT="27432" marB="27432">
                    <a:solidFill>
                      <a:srgbClr val="0C2B4A"/>
                    </a:solidFill>
                  </a:tcPr>
                </a:tc>
                <a:tc>
                  <a:txBody>
                    <a:bodyPr wrap="square"/>
                    <a:lstStyle/>
                    <a:p>
                      <a:r>
                        <a:rPr sz="1100" b="1">
                          <a:solidFill>
                            <a:srgbClr val="FFFFFF"/>
                          </a:solidFill>
                        </a:rPr>
                        <a:t>Duplicates?</a:t>
                      </a:r>
                    </a:p>
                  </a:txBody>
                  <a:tcPr anchor="ctr" marL="73152" marR="54864" marT="27432" marB="27432">
                    <a:solidFill>
                      <a:srgbClr val="0C2B4A"/>
                    </a:solidFill>
                  </a:tcPr>
                </a:tc>
                <a:tc>
                  <a:txBody>
                    <a:bodyPr wrap="square"/>
                    <a:lstStyle/>
                    <a:p>
                      <a:r>
                        <a:rPr sz="1100" b="1">
                          <a:solidFill>
                            <a:srgbClr val="FFFFFF"/>
                          </a:solidFill>
                        </a:rPr>
                        <a:t>NULLs?</a:t>
                      </a:r>
                    </a:p>
                  </a:txBody>
                  <a:tcPr anchor="ctr" marL="73152" marR="54864" marT="27432" marB="27432">
                    <a:solidFill>
                      <a:srgbClr val="0C2B4A"/>
                    </a:solidFill>
                  </a:tcPr>
                </a:tc>
                <a:tc>
                  <a:txBody>
                    <a:bodyPr wrap="square"/>
                    <a:lstStyle/>
                    <a:p>
                      <a:r>
                        <a:rPr sz="1100" b="1">
                          <a:solidFill>
                            <a:srgbClr val="FFFFFF"/>
                          </a:solidFill>
                        </a:rPr>
                        <a:t>College example</a:t>
                      </a:r>
                    </a:p>
                  </a:txBody>
                  <a:tcPr anchor="ctr" marL="73152" marR="54864" marT="27432" marB="27432">
                    <a:solidFill>
                      <a:srgbClr val="0C2B4A"/>
                    </a:solidFill>
                  </a:tcPr>
                </a:tc>
              </a:tr>
              <a:tr h="630936">
                <a:tc>
                  <a:txBody>
                    <a:bodyPr wrap="square"/>
                    <a:lstStyle/>
                    <a:p>
                      <a:r>
                        <a:rPr sz="1050" b="1">
                          <a:solidFill>
                            <a:srgbClr val="0C2B4A"/>
                          </a:solidFill>
                        </a:rPr>
                        <a:t>PRIMARY KEY</a:t>
                      </a:r>
                    </a:p>
                  </a:txBody>
                  <a:tcPr anchor="ctr" marL="73152" marR="54864" marT="27432" marB="27432">
                    <a:solidFill>
                      <a:srgbClr val="FFFFFF"/>
                    </a:solidFill>
                  </a:tcPr>
                </a:tc>
                <a:tc>
                  <a:txBody>
                    <a:bodyPr wrap="square"/>
                    <a:lstStyle/>
                    <a:p>
                      <a:r>
                        <a:rPr sz="1050">
                          <a:solidFill>
                            <a:srgbClr val="1A1A1A"/>
                          </a:solidFill>
                        </a:rPr>
                        <a:t>uniquely identifies a row</a:t>
                      </a:r>
                    </a:p>
                  </a:txBody>
                  <a:tcPr anchor="ctr" marL="73152" marR="54864" marT="27432" marB="27432">
                    <a:solidFill>
                      <a:srgbClr val="FFFFFF"/>
                    </a:solidFill>
                  </a:tcPr>
                </a:tc>
                <a:tc>
                  <a:txBody>
                    <a:bodyPr wrap="square"/>
                    <a:lstStyle/>
                    <a:p>
                      <a:r>
                        <a:rPr sz="1050">
                          <a:solidFill>
                            <a:srgbClr val="1A1A1A"/>
                          </a:solidFill>
                        </a:rPr>
                        <a:t>no</a:t>
                      </a:r>
                    </a:p>
                  </a:txBody>
                  <a:tcPr anchor="ctr" marL="73152" marR="54864" marT="27432" marB="27432">
                    <a:solidFill>
                      <a:srgbClr val="FFFFFF"/>
                    </a:solidFill>
                  </a:tcPr>
                </a:tc>
                <a:tc>
                  <a:txBody>
                    <a:bodyPr wrap="square"/>
                    <a:lstStyle/>
                    <a:p>
                      <a:r>
                        <a:rPr sz="1050">
                          <a:solidFill>
                            <a:srgbClr val="1A1A1A"/>
                          </a:solidFill>
                        </a:rPr>
                        <a:t>no</a:t>
                      </a:r>
                    </a:p>
                  </a:txBody>
                  <a:tcPr anchor="ctr" marL="73152" marR="54864" marT="27432" marB="27432">
                    <a:solidFill>
                      <a:srgbClr val="FFFFFF"/>
                    </a:solidFill>
                  </a:tcPr>
                </a:tc>
                <a:tc>
                  <a:txBody>
                    <a:bodyPr wrap="square"/>
                    <a:lstStyle/>
                    <a:p>
                      <a:r>
                        <a:rPr sz="1050">
                          <a:solidFill>
                            <a:srgbClr val="1A1A1A"/>
                          </a:solidFill>
                        </a:rPr>
                        <a:t>Student.roll</a:t>
                      </a:r>
                    </a:p>
                  </a:txBody>
                  <a:tcPr anchor="ctr" marL="73152" marR="54864" marT="27432" marB="27432">
                    <a:solidFill>
                      <a:srgbClr val="FFFFFF"/>
                    </a:solidFill>
                  </a:tcPr>
                </a:tc>
              </a:tr>
              <a:tr h="630936">
                <a:tc>
                  <a:txBody>
                    <a:bodyPr wrap="square"/>
                    <a:lstStyle/>
                    <a:p>
                      <a:r>
                        <a:rPr sz="1050" b="1">
                          <a:solidFill>
                            <a:srgbClr val="0C2B4A"/>
                          </a:solidFill>
                        </a:rPr>
                        <a:t>FOREIGN KEY</a:t>
                      </a:r>
                    </a:p>
                  </a:txBody>
                  <a:tcPr anchor="ctr" marL="73152" marR="54864" marT="27432" marB="27432">
                    <a:solidFill>
                      <a:srgbClr val="EEF3F8"/>
                    </a:solidFill>
                  </a:tcPr>
                </a:tc>
                <a:tc>
                  <a:txBody>
                    <a:bodyPr wrap="square"/>
                    <a:lstStyle/>
                    <a:p>
                      <a:r>
                        <a:rPr sz="1050">
                          <a:solidFill>
                            <a:srgbClr val="1A1A1A"/>
                          </a:solidFill>
                        </a:rPr>
                        <a:t>value must exist in parent table</a:t>
                      </a:r>
                    </a:p>
                  </a:txBody>
                  <a:tcPr anchor="ctr" marL="73152" marR="54864" marT="27432" marB="27432">
                    <a:solidFill>
                      <a:srgbClr val="EEF3F8"/>
                    </a:solidFill>
                  </a:tcPr>
                </a:tc>
                <a:tc>
                  <a:txBody>
                    <a:bodyPr wrap="square"/>
                    <a:lstStyle/>
                    <a:p>
                      <a:r>
                        <a:rPr sz="1050">
                          <a:solidFill>
                            <a:srgbClr val="1A1A1A"/>
                          </a:solidFill>
                        </a:rPr>
                        <a:t>depends</a:t>
                      </a:r>
                    </a:p>
                  </a:txBody>
                  <a:tcPr anchor="ctr" marL="73152" marR="54864" marT="27432" marB="27432">
                    <a:solidFill>
                      <a:srgbClr val="EEF3F8"/>
                    </a:solidFill>
                  </a:tcPr>
                </a:tc>
                <a:tc>
                  <a:txBody>
                    <a:bodyPr wrap="square"/>
                    <a:lstStyle/>
                    <a:p>
                      <a:r>
                        <a:rPr sz="1050">
                          <a:solidFill>
                            <a:srgbClr val="1A1A1A"/>
                          </a:solidFill>
                        </a:rPr>
                        <a:t>depends</a:t>
                      </a:r>
                    </a:p>
                  </a:txBody>
                  <a:tcPr anchor="ctr" marL="73152" marR="54864" marT="27432" marB="27432">
                    <a:solidFill>
                      <a:srgbClr val="EEF3F8"/>
                    </a:solidFill>
                  </a:tcPr>
                </a:tc>
                <a:tc>
                  <a:txBody>
                    <a:bodyPr wrap="square"/>
                    <a:lstStyle/>
                    <a:p>
                      <a:r>
                        <a:rPr sz="1050">
                          <a:solidFill>
                            <a:srgbClr val="1A1A1A"/>
                          </a:solidFill>
                        </a:rPr>
                        <a:t>Enrollment.course_id → Course</a:t>
                      </a:r>
                    </a:p>
                  </a:txBody>
                  <a:tcPr anchor="ctr" marL="73152" marR="54864" marT="27432" marB="27432">
                    <a:solidFill>
                      <a:srgbClr val="EEF3F8"/>
                    </a:solidFill>
                  </a:tcPr>
                </a:tc>
              </a:tr>
              <a:tr h="630936">
                <a:tc>
                  <a:txBody>
                    <a:bodyPr wrap="square"/>
                    <a:lstStyle/>
                    <a:p>
                      <a:r>
                        <a:rPr sz="1050" b="1">
                          <a:solidFill>
                            <a:srgbClr val="0C2B4A"/>
                          </a:solidFill>
                        </a:rPr>
                        <a:t>NOT NULL</a:t>
                      </a:r>
                    </a:p>
                  </a:txBody>
                  <a:tcPr anchor="ctr" marL="73152" marR="54864" marT="27432" marB="27432">
                    <a:solidFill>
                      <a:srgbClr val="FFFFFF"/>
                    </a:solidFill>
                  </a:tcPr>
                </a:tc>
                <a:tc>
                  <a:txBody>
                    <a:bodyPr wrap="square"/>
                    <a:lstStyle/>
                    <a:p>
                      <a:r>
                        <a:rPr sz="1050">
                          <a:solidFill>
                            <a:srgbClr val="1A1A1A"/>
                          </a:solidFill>
                        </a:rPr>
                        <a:t>value must be present</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no</a:t>
                      </a:r>
                    </a:p>
                  </a:txBody>
                  <a:tcPr anchor="ctr" marL="73152" marR="54864" marT="27432" marB="27432">
                    <a:solidFill>
                      <a:srgbClr val="FFFFFF"/>
                    </a:solidFill>
                  </a:tcPr>
                </a:tc>
                <a:tc>
                  <a:txBody>
                    <a:bodyPr wrap="square"/>
                    <a:lstStyle/>
                    <a:p>
                      <a:r>
                        <a:rPr sz="1050">
                          <a:solidFill>
                            <a:srgbClr val="1A1A1A"/>
                          </a:solidFill>
                        </a:rPr>
                        <a:t>Student.name NOT NULL</a:t>
                      </a:r>
                    </a:p>
                  </a:txBody>
                  <a:tcPr anchor="ctr" marL="73152" marR="54864" marT="27432" marB="27432">
                    <a:solidFill>
                      <a:srgbClr val="FFFFFF"/>
                    </a:solidFill>
                  </a:tcPr>
                </a:tc>
              </a:tr>
              <a:tr h="630936">
                <a:tc>
                  <a:txBody>
                    <a:bodyPr wrap="square"/>
                    <a:lstStyle/>
                    <a:p>
                      <a:r>
                        <a:rPr sz="1050" b="1">
                          <a:solidFill>
                            <a:srgbClr val="0C2B4A"/>
                          </a:solidFill>
                        </a:rPr>
                        <a:t>UNIQUE</a:t>
                      </a:r>
                    </a:p>
                  </a:txBody>
                  <a:tcPr anchor="ctr" marL="73152" marR="54864" marT="27432" marB="27432">
                    <a:solidFill>
                      <a:srgbClr val="EEF3F8"/>
                    </a:solidFill>
                  </a:tcPr>
                </a:tc>
                <a:tc>
                  <a:txBody>
                    <a:bodyPr wrap="square"/>
                    <a:lstStyle/>
                    <a:p>
                      <a:r>
                        <a:rPr sz="1050">
                          <a:solidFill>
                            <a:srgbClr val="1A1A1A"/>
                          </a:solidFill>
                        </a:rPr>
                        <a:t>no two rows share the value</a:t>
                      </a:r>
                    </a:p>
                  </a:txBody>
                  <a:tcPr anchor="ctr" marL="73152" marR="54864" marT="27432" marB="27432">
                    <a:solidFill>
                      <a:srgbClr val="EEF3F8"/>
                    </a:solidFill>
                  </a:tcPr>
                </a:tc>
                <a:tc>
                  <a:txBody>
                    <a:bodyPr wrap="square"/>
                    <a:lstStyle/>
                    <a:p>
                      <a:r>
                        <a:rPr sz="1050">
                          <a:solidFill>
                            <a:srgbClr val="1A1A1A"/>
                          </a:solidFill>
                        </a:rPr>
                        <a:t>no</a:t>
                      </a:r>
                    </a:p>
                  </a:txBody>
                  <a:tcPr anchor="ctr" marL="73152" marR="54864" marT="27432" marB="27432">
                    <a:solidFill>
                      <a:srgbClr val="EEF3F8"/>
                    </a:solidFill>
                  </a:tcPr>
                </a:tc>
                <a:tc>
                  <a:txBody>
                    <a:bodyPr wrap="square"/>
                    <a:lstStyle/>
                    <a:p>
                      <a:r>
                        <a:rPr sz="1050">
                          <a:solidFill>
                            <a:srgbClr val="1A1A1A"/>
                          </a:solidFill>
                        </a:rPr>
                        <a:t>one NULL ok</a:t>
                      </a:r>
                    </a:p>
                  </a:txBody>
                  <a:tcPr anchor="ctr" marL="73152" marR="54864" marT="27432" marB="27432">
                    <a:solidFill>
                      <a:srgbClr val="EEF3F8"/>
                    </a:solidFill>
                  </a:tcPr>
                </a:tc>
                <a:tc>
                  <a:txBody>
                    <a:bodyPr wrap="square"/>
                    <a:lstStyle/>
                    <a:p>
                      <a:r>
                        <a:rPr sz="1050">
                          <a:solidFill>
                            <a:srgbClr val="1A1A1A"/>
                          </a:solidFill>
                        </a:rPr>
                        <a:t>email VARCHAR(60) UNIQUE</a:t>
                      </a:r>
                    </a:p>
                  </a:txBody>
                  <a:tcPr anchor="ctr" marL="73152" marR="54864" marT="27432" marB="27432">
                    <a:solidFill>
                      <a:srgbClr val="EEF3F8"/>
                    </a:solidFill>
                  </a:tcPr>
                </a:tc>
              </a:tr>
              <a:tr h="630936">
                <a:tc>
                  <a:txBody>
                    <a:bodyPr wrap="square"/>
                    <a:lstStyle/>
                    <a:p>
                      <a:r>
                        <a:rPr sz="1050" b="1">
                          <a:solidFill>
                            <a:srgbClr val="0C2B4A"/>
                          </a:solidFill>
                        </a:rPr>
                        <a:t>CHECK</a:t>
                      </a:r>
                    </a:p>
                  </a:txBody>
                  <a:tcPr anchor="ctr" marL="73152" marR="54864" marT="27432" marB="27432">
                    <a:solidFill>
                      <a:srgbClr val="FFFFFF"/>
                    </a:solidFill>
                  </a:tcPr>
                </a:tc>
                <a:tc>
                  <a:txBody>
                    <a:bodyPr wrap="square"/>
                    <a:lstStyle/>
                    <a:p>
                      <a:r>
                        <a:rPr sz="1050">
                          <a:solidFill>
                            <a:srgbClr val="1A1A1A"/>
                          </a:solidFill>
                        </a:rPr>
                        <a:t>value satisfies a condition</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CHECK (marks BETWEEN 0 AND 100)</a:t>
                      </a:r>
                    </a:p>
                  </a:txBody>
                  <a:tcPr anchor="ctr" marL="73152" marR="54864" marT="27432" marB="27432">
                    <a:solidFill>
                      <a:srgbClr val="FFFFFF"/>
                    </a:solidFill>
                  </a:tcPr>
                </a:tc>
              </a:tr>
              <a:tr h="630936">
                <a:tc>
                  <a:txBody>
                    <a:bodyPr wrap="square"/>
                    <a:lstStyle/>
                    <a:p>
                      <a:r>
                        <a:rPr sz="1050" b="1">
                          <a:solidFill>
                            <a:srgbClr val="0C2B4A"/>
                          </a:solidFill>
                        </a:rPr>
                        <a:t>DEFAULT</a:t>
                      </a:r>
                    </a:p>
                  </a:txBody>
                  <a:tcPr anchor="ctr" marL="73152" marR="54864" marT="27432" marB="27432">
                    <a:solidFill>
                      <a:srgbClr val="EEF3F8"/>
                    </a:solidFill>
                  </a:tcPr>
                </a:tc>
                <a:tc>
                  <a:txBody>
                    <a:bodyPr wrap="square"/>
                    <a:lstStyle/>
                    <a:p>
                      <a:r>
                        <a:rPr sz="1050">
                          <a:solidFill>
                            <a:srgbClr val="1A1A1A"/>
                          </a:solidFill>
                        </a:rPr>
                        <a:t>fills a value if none supplied</a:t>
                      </a:r>
                    </a:p>
                  </a:txBody>
                  <a:tcPr anchor="ctr" marL="73152" marR="54864" marT="27432" marB="27432">
                    <a:solidFill>
                      <a:srgbClr val="EEF3F8"/>
                    </a:solidFill>
                  </a:tcPr>
                </a:tc>
                <a:tc>
                  <a:txBody>
                    <a:bodyPr wrap="square"/>
                    <a:lstStyle/>
                    <a:p>
                      <a:r>
                        <a:rPr sz="1050">
                          <a:solidFill>
                            <a:srgbClr val="1A1A1A"/>
                          </a:solidFill>
                        </a:rPr>
                        <a:t>yes</a:t>
                      </a:r>
                    </a:p>
                  </a:txBody>
                  <a:tcPr anchor="ctr" marL="73152" marR="54864" marT="27432" marB="27432">
                    <a:solidFill>
                      <a:srgbClr val="EEF3F8"/>
                    </a:solidFill>
                  </a:tcPr>
                </a:tc>
                <a:tc>
                  <a:txBody>
                    <a:bodyPr wrap="square"/>
                    <a:lstStyle/>
                    <a:p>
                      <a:r>
                        <a:rPr sz="1050">
                          <a:solidFill>
                            <a:srgbClr val="1A1A1A"/>
                          </a:solidFill>
                        </a:rPr>
                        <a:t>-</a:t>
                      </a:r>
                    </a:p>
                  </a:txBody>
                  <a:tcPr anchor="ctr" marL="73152" marR="54864" marT="27432" marB="27432">
                    <a:solidFill>
                      <a:srgbClr val="EEF3F8"/>
                    </a:solidFill>
                  </a:tcPr>
                </a:tc>
                <a:tc>
                  <a:txBody>
                    <a:bodyPr wrap="square"/>
                    <a:lstStyle/>
                    <a:p>
                      <a:r>
                        <a:rPr sz="1050">
                          <a:solidFill>
                            <a:srgbClr val="1A1A1A"/>
                          </a:solidFill>
                        </a:rPr>
                        <a:t>semester INT DEFAULT 1</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classic exam line: PRIMARY KEY = UNIQUE + NOT NULL, and only one per table. NOT NULL forbids blanks but ALLOWS duplicates; UNIQUE forbids duplicates but allows one blank.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219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Specifying Constraints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college DB uses FOREIGN KEY (roll) REFERENCES Student(roll) so nobody can enroll a student who doesn't exist; email VARCHAR(60) UNIQUE so two accounts can't share an email; and CHECK (marks BETWEEN 0 AND 100) so a typo of 780 is rejected at the database, not just in the app.</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"PRIMARY KEY and UNIQUE are the same." Not quite: PRIMARY KEY = UNIQUE + NOT NULL and there is only ONE per table; a table can have MANY UNIQUE columns, and UNIQUE still allows a single NULL. PK identifies the row; UNIQUE just prevents duplicate values.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Constraints are rules the DBMS enforces on every row: PRIMARY KEY (unique + not null, one per table), FOREIGN KEY (must match a parent row, with ON DELETE options), NOT NULL, UNIQUE, CHECK (a condition), and DEFAULT. They move data-integrity rules into the database, so bad data is rejected regardless of which app inserts 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PRIMARY KEY · FOREIGN KEY · NOT NULL · UNIQUE · CHECK · DEFAULT · PK = UNIQUE + NOT NULL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219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4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Schema Definition: ALTER &amp; DROP</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ALTER TABLE changes an existing table's structure without recreating it; DROP TABLE deletes a table and all its data. These evolve a live schema safely as requirements change.</a:t>
            </a:r>
          </a:p>
          <a:p>
            <a:pPr>
              <a:spcAft>
                <a:spcPts val="500"/>
              </a:spcAft>
            </a:pPr>
            <a:r>
              <a:rPr sz="1200" b="1">
                <a:solidFill>
                  <a:srgbClr val="185FA5"/>
                </a:solidFill>
              </a:rPr>
              <a:t>HOW IT WORKS</a:t>
            </a:r>
          </a:p>
          <a:p>
            <a:pPr>
              <a:spcAft>
                <a:spcPts val="600"/>
              </a:spcAft>
            </a:pPr>
            <a:r>
              <a:rPr sz="1400">
                <a:solidFill>
                  <a:srgbClr val="1A1A1A"/>
                </a:solidFill>
              </a:rPr>
              <a:t>•  ALTER TABLE Student ADD email VARCHAR(60); adds a column, keeping all rows.</a:t>
            </a:r>
          </a:p>
          <a:p>
            <a:pPr>
              <a:spcAft>
                <a:spcPts val="600"/>
              </a:spcAft>
            </a:pPr>
            <a:r>
              <a:rPr sz="1400">
                <a:solidFill>
                  <a:srgbClr val="1A1A1A"/>
                </a:solidFill>
              </a:rPr>
              <a:t>•  ALTER can also MODIFY a column's type or DROP a single column.</a:t>
            </a:r>
          </a:p>
          <a:p>
            <a:pPr>
              <a:spcAft>
                <a:spcPts val="600"/>
              </a:spcAft>
            </a:pPr>
            <a:r>
              <a:rPr sz="1400">
                <a:solidFill>
                  <a:srgbClr val="1A1A1A"/>
                </a:solidFill>
              </a:rPr>
              <a:t>•  DROP TABLE Enrollment; removes the whole table — structure and data — permanently.</a:t>
            </a:r>
          </a:p>
          <a:p>
            <a:pPr>
              <a:spcAft>
                <a:spcPts val="600"/>
              </a:spcAft>
            </a:pPr>
            <a:r>
              <a:rPr sz="1400">
                <a:solidFill>
                  <a:srgbClr val="1A1A1A"/>
                </a:solidFill>
              </a:rPr>
              <a:t>•  Adding a column mid-semester uses ALTER, never a re-create (which would lose data).</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ALTER = renovate the room; DROP = demolish the building.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219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ALTER vs DROP vs TRUNCATE — same table, very different effect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5010410"/>
                <a:gridCol w="3288082"/>
                <a:gridCol w="3131506"/>
              </a:tblGrid>
              <a:tr h="736092">
                <a:tc>
                  <a:txBody>
                    <a:bodyPr wrap="square"/>
                    <a:lstStyle/>
                    <a:p>
                      <a:r>
                        <a:rPr sz="1100" b="1">
                          <a:solidFill>
                            <a:srgbClr val="FFFFFF"/>
                          </a:solidFill>
                        </a:rPr>
                        <a:t>Statement (MySQL)</a:t>
                      </a:r>
                    </a:p>
                  </a:txBody>
                  <a:tcPr anchor="ctr" marL="73152" marR="54864" marT="27432" marB="27432">
                    <a:solidFill>
                      <a:srgbClr val="0C2B4A"/>
                    </a:solidFill>
                  </a:tcPr>
                </a:tc>
                <a:tc>
                  <a:txBody>
                    <a:bodyPr wrap="square"/>
                    <a:lstStyle/>
                    <a:p>
                      <a:r>
                        <a:rPr sz="1100" b="1">
                          <a:solidFill>
                            <a:srgbClr val="FFFFFF"/>
                          </a:solidFill>
                        </a:rPr>
                        <a:t>What survives</a:t>
                      </a:r>
                    </a:p>
                  </a:txBody>
                  <a:tcPr anchor="ctr" marL="73152" marR="54864" marT="27432" marB="27432">
                    <a:solidFill>
                      <a:srgbClr val="0C2B4A"/>
                    </a:solidFill>
                  </a:tcPr>
                </a:tc>
                <a:tc>
                  <a:txBody>
                    <a:bodyPr wrap="square"/>
                    <a:lstStyle/>
                    <a:p>
                      <a:r>
                        <a:rPr sz="1100" b="1">
                          <a:solidFill>
                            <a:srgbClr val="FFFFFF"/>
                          </a:solidFill>
                        </a:rPr>
                        <a:t>When you'd use it</a:t>
                      </a:r>
                    </a:p>
                  </a:txBody>
                  <a:tcPr anchor="ctr" marL="73152" marR="54864" marT="27432" marB="27432">
                    <a:solidFill>
                      <a:srgbClr val="0C2B4A"/>
                    </a:solidFill>
                  </a:tcPr>
                </a:tc>
              </a:tr>
              <a:tr h="736092">
                <a:tc>
                  <a:txBody>
                    <a:bodyPr wrap="square"/>
                    <a:lstStyle/>
                    <a:p>
                      <a:r>
                        <a:rPr sz="1050" b="1">
                          <a:solidFill>
                            <a:srgbClr val="0C2B4A"/>
                          </a:solidFill>
                        </a:rPr>
                        <a:t>ALTER TABLE Student ADD phone VARCHAR(15);</a:t>
                      </a:r>
                    </a:p>
                  </a:txBody>
                  <a:tcPr anchor="ctr" marL="73152" marR="54864" marT="27432" marB="27432">
                    <a:solidFill>
                      <a:srgbClr val="FFFFFF"/>
                    </a:solidFill>
                  </a:tcPr>
                </a:tc>
                <a:tc>
                  <a:txBody>
                    <a:bodyPr wrap="square"/>
                    <a:lstStyle/>
                    <a:p>
                      <a:r>
                        <a:rPr sz="1050">
                          <a:solidFill>
                            <a:srgbClr val="1A1A1A"/>
                          </a:solidFill>
                        </a:rPr>
                        <a:t>all rows + all old columns</a:t>
                      </a:r>
                    </a:p>
                  </a:txBody>
                  <a:tcPr anchor="ctr" marL="73152" marR="54864" marT="27432" marB="27432">
                    <a:solidFill>
                      <a:srgbClr val="FFFFFF"/>
                    </a:solidFill>
                  </a:tcPr>
                </a:tc>
                <a:tc>
                  <a:txBody>
                    <a:bodyPr wrap="square"/>
                    <a:lstStyle/>
                    <a:p>
                      <a:r>
                        <a:rPr sz="1050">
                          <a:solidFill>
                            <a:srgbClr val="1A1A1A"/>
                          </a:solidFill>
                        </a:rPr>
                        <a:t>add a field mid-semester</a:t>
                      </a:r>
                    </a:p>
                  </a:txBody>
                  <a:tcPr anchor="ctr" marL="73152" marR="54864" marT="27432" marB="27432">
                    <a:solidFill>
                      <a:srgbClr val="FFFFFF"/>
                    </a:solidFill>
                  </a:tcPr>
                </a:tc>
              </a:tr>
              <a:tr h="736092">
                <a:tc>
                  <a:txBody>
                    <a:bodyPr wrap="square"/>
                    <a:lstStyle/>
                    <a:p>
                      <a:r>
                        <a:rPr sz="1050" b="1">
                          <a:solidFill>
                            <a:srgbClr val="0C2B4A"/>
                          </a:solidFill>
                        </a:rPr>
                        <a:t>ALTER TABLE Student MODIFY name VARCHAR(80);</a:t>
                      </a:r>
                    </a:p>
                  </a:txBody>
                  <a:tcPr anchor="ctr" marL="73152" marR="54864" marT="27432" marB="27432">
                    <a:solidFill>
                      <a:srgbClr val="EEF3F8"/>
                    </a:solidFill>
                  </a:tcPr>
                </a:tc>
                <a:tc>
                  <a:txBody>
                    <a:bodyPr wrap="square"/>
                    <a:lstStyle/>
                    <a:p>
                      <a:r>
                        <a:rPr sz="1050">
                          <a:solidFill>
                            <a:srgbClr val="1A1A1A"/>
                          </a:solidFill>
                        </a:rPr>
                        <a:t>all rows, name column widened</a:t>
                      </a:r>
                    </a:p>
                  </a:txBody>
                  <a:tcPr anchor="ctr" marL="73152" marR="54864" marT="27432" marB="27432">
                    <a:solidFill>
                      <a:srgbClr val="EEF3F8"/>
                    </a:solidFill>
                  </a:tcPr>
                </a:tc>
                <a:tc>
                  <a:txBody>
                    <a:bodyPr wrap="square"/>
                    <a:lstStyle/>
                    <a:p>
                      <a:r>
                        <a:rPr sz="1050">
                          <a:solidFill>
                            <a:srgbClr val="1A1A1A"/>
                          </a:solidFill>
                        </a:rPr>
                        <a:t>names were getting truncated</a:t>
                      </a:r>
                    </a:p>
                  </a:txBody>
                  <a:tcPr anchor="ctr" marL="73152" marR="54864" marT="27432" marB="27432">
                    <a:solidFill>
                      <a:srgbClr val="EEF3F8"/>
                    </a:solidFill>
                  </a:tcPr>
                </a:tc>
              </a:tr>
              <a:tr h="736092">
                <a:tc>
                  <a:txBody>
                    <a:bodyPr wrap="square"/>
                    <a:lstStyle/>
                    <a:p>
                      <a:r>
                        <a:rPr sz="1050" b="1">
                          <a:solidFill>
                            <a:srgbClr val="0C2B4A"/>
                          </a:solidFill>
                        </a:rPr>
                        <a:t>ALTER TABLE Student DROP COLUMN dob;</a:t>
                      </a:r>
                    </a:p>
                  </a:txBody>
                  <a:tcPr anchor="ctr" marL="73152" marR="54864" marT="27432" marB="27432">
                    <a:solidFill>
                      <a:srgbClr val="FFFFFF"/>
                    </a:solidFill>
                  </a:tcPr>
                </a:tc>
                <a:tc>
                  <a:txBody>
                    <a:bodyPr wrap="square"/>
                    <a:lstStyle/>
                    <a:p>
                      <a:r>
                        <a:rPr sz="1050">
                          <a:solidFill>
                            <a:srgbClr val="1A1A1A"/>
                          </a:solidFill>
                        </a:rPr>
                        <a:t>all rows, minus that column</a:t>
                      </a:r>
                    </a:p>
                  </a:txBody>
                  <a:tcPr anchor="ctr" marL="73152" marR="54864" marT="27432" marB="27432">
                    <a:solidFill>
                      <a:srgbClr val="FFFFFF"/>
                    </a:solidFill>
                  </a:tcPr>
                </a:tc>
                <a:tc>
                  <a:txBody>
                    <a:bodyPr wrap="square"/>
                    <a:lstStyle/>
                    <a:p>
                      <a:r>
                        <a:rPr sz="1050">
                          <a:solidFill>
                            <a:srgbClr val="1A1A1A"/>
                          </a:solidFill>
                        </a:rPr>
                        <a:t>stop storing a field</a:t>
                      </a:r>
                    </a:p>
                  </a:txBody>
                  <a:tcPr anchor="ctr" marL="73152" marR="54864" marT="27432" marB="27432">
                    <a:solidFill>
                      <a:srgbClr val="FFFFFF"/>
                    </a:solidFill>
                  </a:tcPr>
                </a:tc>
              </a:tr>
              <a:tr h="736092">
                <a:tc>
                  <a:txBody>
                    <a:bodyPr wrap="square"/>
                    <a:lstStyle/>
                    <a:p>
                      <a:r>
                        <a:rPr sz="1050" b="1">
                          <a:solidFill>
                            <a:srgbClr val="0C2B4A"/>
                          </a:solidFill>
                        </a:rPr>
                        <a:t>TRUNCATE TABLE Enrollment;</a:t>
                      </a:r>
                    </a:p>
                  </a:txBody>
                  <a:tcPr anchor="ctr" marL="73152" marR="54864" marT="27432" marB="27432">
                    <a:solidFill>
                      <a:srgbClr val="EEF3F8"/>
                    </a:solidFill>
                  </a:tcPr>
                </a:tc>
                <a:tc>
                  <a:txBody>
                    <a:bodyPr wrap="square"/>
                    <a:lstStyle/>
                    <a:p>
                      <a:r>
                        <a:rPr sz="1050">
                          <a:solidFill>
                            <a:srgbClr val="1A1A1A"/>
                          </a:solidFill>
                        </a:rPr>
                        <a:t>the table structure, zero rows</a:t>
                      </a:r>
                    </a:p>
                  </a:txBody>
                  <a:tcPr anchor="ctr" marL="73152" marR="54864" marT="27432" marB="27432">
                    <a:solidFill>
                      <a:srgbClr val="EEF3F8"/>
                    </a:solidFill>
                  </a:tcPr>
                </a:tc>
                <a:tc>
                  <a:txBody>
                    <a:bodyPr wrap="square"/>
                    <a:lstStyle/>
                    <a:p>
                      <a:r>
                        <a:rPr sz="1050">
                          <a:solidFill>
                            <a:srgbClr val="1A1A1A"/>
                          </a:solidFill>
                        </a:rPr>
                        <a:t>wipe test data, keep the table</a:t>
                      </a:r>
                    </a:p>
                  </a:txBody>
                  <a:tcPr anchor="ctr" marL="73152" marR="54864" marT="27432" marB="27432">
                    <a:solidFill>
                      <a:srgbClr val="EEF3F8"/>
                    </a:solidFill>
                  </a:tcPr>
                </a:tc>
              </a:tr>
              <a:tr h="736092">
                <a:tc>
                  <a:txBody>
                    <a:bodyPr wrap="square"/>
                    <a:lstStyle/>
                    <a:p>
                      <a:r>
                        <a:rPr sz="1050" b="1">
                          <a:solidFill>
                            <a:srgbClr val="0C2B4A"/>
                          </a:solidFill>
                        </a:rPr>
                        <a:t>DROP TABLE Teaches;</a:t>
                      </a:r>
                    </a:p>
                  </a:txBody>
                  <a:tcPr anchor="ctr" marL="73152" marR="54864" marT="27432" marB="27432">
                    <a:solidFill>
                      <a:srgbClr val="FFFFFF"/>
                    </a:solidFill>
                  </a:tcPr>
                </a:tc>
                <a:tc>
                  <a:txBody>
                    <a:bodyPr wrap="square"/>
                    <a:lstStyle/>
                    <a:p>
                      <a:r>
                        <a:rPr sz="1050">
                          <a:solidFill>
                            <a:srgbClr val="1A1A1A"/>
                          </a:solidFill>
                        </a:rPr>
                        <a:t>nothing — table + data gone</a:t>
                      </a:r>
                    </a:p>
                  </a:txBody>
                  <a:tcPr anchor="ctr" marL="73152" marR="54864" marT="27432" marB="27432">
                    <a:solidFill>
                      <a:srgbClr val="FFFFFF"/>
                    </a:solidFill>
                  </a:tcPr>
                </a:tc>
                <a:tc>
                  <a:txBody>
                    <a:bodyPr wrap="square"/>
                    <a:lstStyle/>
                    <a:p>
                      <a:r>
                        <a:rPr sz="1050">
                          <a:solidFill>
                            <a:srgbClr val="1A1A1A"/>
                          </a:solidFill>
                        </a:rPr>
                        <a:t>retire a table permanently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ALTER preserves data while changing structure; TRUNCATE keeps structure but empties data; DROP destroys both. Always back up before DROP/TRUNCATE on live data.</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219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Schema Definition: ALTER &amp; DROP</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Mid-semester, a college decides to email results, so it needs an email column. ALTER TABLE Student ADD email VARCHAR(60); adds it to all 5,000 existing rows instantly, no data lost. Re-creating the table instead would mean dropping every student first — a disaster.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"To add a column I must drop and recreate the table." That would destroy all existing rows. ALTER TABLE changes structure in place, keeping the data. Only use DROP when you genuinely want the table and its contents gone.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ALTER TABLE modifies an existing table's structure in place — ADD/MODIFY/DROP a column — while preserving its rows. DROP TABLE permanently deletes the table and all its data. Schema evolution (e.g. adding an email column mid-semester) uses ALTER so existing data is retained; DROP is reserved for retiring a table entirely.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ALTER TABLE · ADD/MODIFY/DROP COLUMN · DROP TABLE · schema evolution · preserve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219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S22 · HANDS-ON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Define the Enrollment table with every constraint kind</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Write MySQL DDL for Enrollment(roll, course_id, sem, grade, marks). Roll and course_id are foreign keys to Student and Course; the primary key is (roll, course_id, sem); marks must be 0–100; grade may be blank.</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Start the table and list columns with types: roll INT, course_id VARCHAR(6), sem VARCHAR(5), grade CHAR(2), marks INT.</a:t>
            </a:r>
          </a:p>
          <a:p>
            <a:pPr>
              <a:spcAft>
                <a:spcPts val="400"/>
              </a:spcAft>
            </a:pPr>
            <a:r>
              <a:rPr sz="1250" b="1">
                <a:solidFill>
                  <a:srgbClr val="854F0B"/>
                </a:solidFill>
              </a:rPr>
              <a:t>Step 2.  </a:t>
            </a:r>
            <a:r>
              <a:rPr sz="1250">
                <a:solidFill>
                  <a:srgbClr val="1A1A1A"/>
                </a:solidFill>
              </a:rPr>
              <a:t>Add the CHECK: marks INT CHECK (marks BETWEEN 0 AND 100) — rejects a typo like 780.</a:t>
            </a:r>
          </a:p>
          <a:p>
            <a:pPr>
              <a:spcAft>
                <a:spcPts val="400"/>
              </a:spcAft>
            </a:pPr>
            <a:r>
              <a:rPr sz="1250" b="1">
                <a:solidFill>
                  <a:srgbClr val="854F0B"/>
                </a:solidFill>
              </a:rPr>
              <a:t>Step 3.  </a:t>
            </a:r>
            <a:r>
              <a:rPr sz="1250">
                <a:solidFill>
                  <a:srgbClr val="1A1A1A"/>
                </a:solidFill>
              </a:rPr>
              <a:t>Declare the composite key: PRIMARY KEY (roll, course_id, sem) — a student takes a course once per semester.</a:t>
            </a:r>
          </a:p>
          <a:p>
            <a:pPr>
              <a:spcAft>
                <a:spcPts val="400"/>
              </a:spcAft>
            </a:pPr>
            <a:r>
              <a:rPr sz="1250" b="1">
                <a:solidFill>
                  <a:srgbClr val="854F0B"/>
                </a:solidFill>
              </a:rPr>
              <a:t>Step 4.  </a:t>
            </a:r>
            <a:r>
              <a:rPr sz="1250">
                <a:solidFill>
                  <a:srgbClr val="1A1A1A"/>
                </a:solidFill>
              </a:rPr>
              <a:t>Link the parents: FOREIGN KEY (roll) REFERENCES Student(roll), FOREIGN KEY (course_id) REFERENCES Course(course_id).</a:t>
            </a:r>
          </a:p>
          <a:p>
            <a:pPr>
              <a:spcAft>
                <a:spcPts val="400"/>
              </a:spcAft>
            </a:pPr>
            <a:r>
              <a:rPr sz="1250" b="1">
                <a:solidFill>
                  <a:srgbClr val="854F0B"/>
                </a:solidFill>
              </a:rPr>
              <a:t>Step 5.  </a:t>
            </a:r>
            <a:r>
              <a:rPr sz="1250">
                <a:solidFill>
                  <a:srgbClr val="1A1A1A"/>
                </a:solidFill>
              </a:rPr>
              <a:t>Leave grade nullable (mid-semester it is unknown) — do NOT add NOT NULL to it.</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CREATE TABLE Enrollment(roll INT, course_id VARCHAR(6), sem VARCHAR(5), grade CHAR(2), marks INT CHECK (marks BETWEEN 0 AND 100), PRIMARY KEY (roll,course_id,sem), FOREIGN KEY (roll) REFERENCES Student(roll), FOREIGN KEY (course_id) REFERENCES Course(course_id));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219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S22 — Design an eSewa Wallet table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list 3 columns for an eSewa Wallet table.</a:t>
            </a:r>
          </a:p>
          <a:p>
            <a:pPr>
              <a:spcAft>
                <a:spcPts val="700"/>
              </a:spcAft>
            </a:pPr>
            <a:r>
              <a:rPr sz="1550">
                <a:solidFill>
                  <a:srgbClr val="1A1A1A"/>
                </a:solidFill>
              </a:rPr>
              <a:t>•  For each column pick a data type AND one constraint, and justify both.</a:t>
            </a:r>
          </a:p>
          <a:p>
            <a:pPr>
              <a:spcAft>
                <a:spcPts val="700"/>
              </a:spcAft>
            </a:pPr>
            <a:r>
              <a:rPr sz="1550">
                <a:solidFill>
                  <a:srgbClr val="1A1A1A"/>
                </a:solidFill>
              </a:rPr>
              <a:t>•  Share aloud (3 min); build a class table of column → type → constraint.</a:t>
            </a:r>
          </a:p>
          <a:p>
            <a:pPr>
              <a:spcAft>
                <a:spcPts val="700"/>
              </a:spcAft>
            </a:pPr>
            <a:r>
              <a:rPr sz="1550">
                <a:solidFill>
                  <a:srgbClr val="1A1A1A"/>
                </a:solidFill>
              </a:rPr>
              <a:t>•  Close: notice how much integrity you can enforce before writing any app code.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answers: wallet_id INT PRIMARY KEY; balance DECIMAL(12,2) NOT NULL DEFAULT 0 CHECK (balance &gt;= 0); phone VARCHAR(15) UNIQUE NOT NULL. Reward DECIMAL for money and VARCHAR for phone.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219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constraint forbids empty values but ALLOWS duplicates?</a:t>
            </a:r>
          </a:p>
          <a:p>
            <a:pPr lvl="1"/>
            <a:r>
              <a:rPr sz="1500" b="1">
                <a:solidFill>
                  <a:srgbClr val="0F6E56"/>
                </a:solidFill>
              </a:rPr>
              <a:t>a) PRIMARY KEY   b) UNIQUE   c) ✅ NOT NULL   d) CHECK</a:t>
            </a:r>
          </a:p>
          <a:p>
            <a:pPr lvl="1">
              <a:spcBef>
                <a:spcPts val="600"/>
              </a:spcBef>
            </a:pPr>
            <a:r>
              <a:rPr sz="1500" i="1">
                <a:solidFill>
                  <a:srgbClr val="1A1A1A"/>
                </a:solidFill>
              </a:rPr>
              <a:t>     Why: NOT NULL only requires a value to be present; it says nothing about duplicates.</a:t>
            </a:r>
          </a:p>
          <a:p>
            <a:pPr>
              <a:spcBef>
                <a:spcPts val="900"/>
              </a:spcBef>
            </a:pPr>
            <a:r>
              <a:rPr sz="1700" b="1">
                <a:solidFill>
                  <a:srgbClr val="0C2B4A"/>
                </a:solidFill>
              </a:rPr>
              <a:t>Q2.  DROP TABLE belongs to which sub-language?</a:t>
            </a:r>
          </a:p>
          <a:p>
            <a:pPr lvl="1"/>
            <a:r>
              <a:rPr sz="1500" b="1">
                <a:solidFill>
                  <a:srgbClr val="0F6E56"/>
                </a:solidFill>
              </a:rPr>
              <a:t>a) DML   b) ✅ DDL   c) DCL   d) TCL</a:t>
            </a:r>
          </a:p>
          <a:p>
            <a:pPr lvl="1">
              <a:spcBef>
                <a:spcPts val="600"/>
              </a:spcBef>
            </a:pPr>
            <a:r>
              <a:rPr sz="1500" i="1">
                <a:solidFill>
                  <a:srgbClr val="1A1A1A"/>
                </a:solidFill>
              </a:rPr>
              <a:t>     Why: DROP defines/removes structure, so it is DDL (like CREATE and ALTER).</a:t>
            </a:r>
          </a:p>
          <a:p>
            <a:pPr>
              <a:spcBef>
                <a:spcPts val="900"/>
              </a:spcBef>
            </a:pPr>
            <a:r>
              <a:rPr sz="1700" b="1">
                <a:solidFill>
                  <a:srgbClr val="0C2B4A"/>
                </a:solidFill>
              </a:rPr>
              <a:t>Q3.  To store NPR fee amounts precisely, the best type is:</a:t>
            </a:r>
          </a:p>
          <a:p>
            <a:pPr lvl="1"/>
            <a:r>
              <a:rPr sz="1500" b="1">
                <a:solidFill>
                  <a:srgbClr val="0F6E56"/>
                </a:solidFill>
              </a:rPr>
              <a:t>a) FLOAT   b) ✅ DECIMAL(10,2)   c) VARCHAR   d) INT</a:t>
            </a:r>
          </a:p>
          <a:p>
            <a:pPr lvl="1">
              <a:spcBef>
                <a:spcPts val="600"/>
              </a:spcBef>
            </a:pPr>
            <a:r>
              <a:rPr sz="1500" i="1">
                <a:solidFill>
                  <a:srgbClr val="1A1A1A"/>
                </a:solidFill>
              </a:rPr>
              <a:t>     Why: DECIMAL is exact; FLOAT rounds in binary and drifts across many rows.</a:t>
            </a:r>
          </a:p>
          <a:p>
            <a:pPr lvl="1">
              <a:spcBef>
                <a:spcPts val="600"/>
              </a:spcBef>
            </a:pPr>
            <a:r>
              <a:rPr sz="1500" i="1">
                <a:solidFill>
                  <a:srgbClr val="1A1A1A"/>
                </a:solidFill>
              </a:rPr>
              <a:t>Discussion: pick a Nepali app and name one table it needs, with a data type + constraint per column.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219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DDL (CREATE/ALTER/DROP) defines structure; CREATE TABLE makes an EMPTY table.</a:t>
            </a:r>
          </a:p>
          <a:p>
            <a:pPr>
              <a:spcAft>
                <a:spcPts val="800"/>
              </a:spcAft>
            </a:pPr>
            <a:r>
              <a:rPr sz="1500">
                <a:solidFill>
                  <a:srgbClr val="1A1A1A"/>
                </a:solidFill>
              </a:rPr>
              <a:t>2.  Pick the right data type per column — DECIMAL for money, VARCHAR for phones/IDs with leading zeros.</a:t>
            </a:r>
          </a:p>
          <a:p>
            <a:pPr>
              <a:spcAft>
                <a:spcPts val="800"/>
              </a:spcAft>
            </a:pPr>
            <a:r>
              <a:rPr sz="1500">
                <a:solidFill>
                  <a:srgbClr val="1A1A1A"/>
                </a:solidFill>
              </a:rPr>
              <a:t>3.  Constraints (PK, FK, NOT NULL, UNIQUE, CHECK, DEFAULT) enforce integrity at the DB; PK = UNIQUE + NOT NULL.</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migration you ever write at a fintech or a college portal is DDL. Getting types and constraints right on day one prevents whole classes of bugs later — it is the difference between a database that protects your data and one that quietly corrupts it.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S23 — now that the boxes exist, we ask questions of them: SELECT, FROM, WHERE.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219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23 · LECTURE HOUR 2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DML Basics: SELECT · FROM · WHERE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There are millions of rows in a telecom's customer table. How do you pull JUST the Ncell users in Pokhara? One sentence of SQL.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22 / 219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Basic Query: SELECT … FROM …</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simplest query names WHICH COLUMNS (SELECT) FROM which table (FROM). SELECT performs projection — it chooses columns, not rows.</a:t>
            </a:r>
          </a:p>
          <a:p>
            <a:pPr>
              <a:spcAft>
                <a:spcPts val="500"/>
              </a:spcAft>
            </a:pPr>
            <a:r>
              <a:rPr sz="1200" b="1">
                <a:solidFill>
                  <a:srgbClr val="185FA5"/>
                </a:solidFill>
              </a:rPr>
              <a:t>HOW IT WORKS</a:t>
            </a:r>
          </a:p>
          <a:p>
            <a:pPr>
              <a:spcAft>
                <a:spcPts val="600"/>
              </a:spcAft>
            </a:pPr>
            <a:r>
              <a:rPr sz="1400">
                <a:solidFill>
                  <a:srgbClr val="1A1A1A"/>
                </a:solidFill>
              </a:rPr>
              <a:t>•  SELECT name, program FROM Student; returns two columns for every student.</a:t>
            </a:r>
          </a:p>
          <a:p>
            <a:pPr>
              <a:spcAft>
                <a:spcPts val="600"/>
              </a:spcAft>
            </a:pPr>
            <a:r>
              <a:rPr sz="1400">
                <a:solidFill>
                  <a:srgbClr val="1A1A1A"/>
                </a:solidFill>
              </a:rPr>
              <a:t>•  SELECT * FROM Course; returns ALL columns of every course.</a:t>
            </a:r>
          </a:p>
          <a:p>
            <a:pPr>
              <a:spcAft>
                <a:spcPts val="600"/>
              </a:spcAft>
            </a:pPr>
            <a:r>
              <a:rPr sz="1400">
                <a:solidFill>
                  <a:srgbClr val="1A1A1A"/>
                </a:solidFill>
              </a:rPr>
              <a:t>•  Column order in SELECT is the output order (independent of the table's order).</a:t>
            </a:r>
          </a:p>
          <a:p>
            <a:pPr>
              <a:spcAft>
                <a:spcPts val="600"/>
              </a:spcAft>
            </a:pPr>
            <a:r>
              <a:rPr sz="1400">
                <a:solidFill>
                  <a:srgbClr val="1A1A1A"/>
                </a:solidFill>
              </a:rPr>
              <a:t>•  SELECT chooses COLUMNS (projection); WHERE (next concept) chooses rows.</a:t>
            </a:r>
          </a:p>
        </p:txBody>
      </p:sp>
      <p:pic>
        <p:nvPicPr>
          <p:cNvPr id="6" name="Picture 5" descr="s23_query_flow.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SELECT = which columns · FROM = which table. It projects, it doesn't filter rows.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219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Reading a SELECT — query → what comes back</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990563"/>
                <a:gridCol w="3219718"/>
                <a:gridCol w="3219718"/>
              </a:tblGrid>
              <a:tr h="630936">
                <a:tc>
                  <a:txBody>
                    <a:bodyPr wrap="square"/>
                    <a:lstStyle/>
                    <a:p>
                      <a:r>
                        <a:rPr sz="1150" b="1">
                          <a:solidFill>
                            <a:srgbClr val="FFFFFF"/>
                          </a:solidFill>
                        </a:rPr>
                        <a:t>Query (MySQL)</a:t>
                      </a:r>
                    </a:p>
                  </a:txBody>
                  <a:tcPr anchor="ctr" marL="73152" marR="54864" marT="27432" marB="27432">
                    <a:solidFill>
                      <a:srgbClr val="0C2B4A"/>
                    </a:solidFill>
                  </a:tcPr>
                </a:tc>
                <a:tc>
                  <a:txBody>
                    <a:bodyPr wrap="square"/>
                    <a:lstStyle/>
                    <a:p>
                      <a:r>
                        <a:rPr sz="1150" b="1">
                          <a:solidFill>
                            <a:srgbClr val="FFFFFF"/>
                          </a:solidFill>
                        </a:rPr>
                        <a:t>Columns returned</a:t>
                      </a:r>
                    </a:p>
                  </a:txBody>
                  <a:tcPr anchor="ctr" marL="73152" marR="54864" marT="27432" marB="27432">
                    <a:solidFill>
                      <a:srgbClr val="0C2B4A"/>
                    </a:solidFill>
                  </a:tcPr>
                </a:tc>
                <a:tc>
                  <a:txBody>
                    <a:bodyPr wrap="square"/>
                    <a:lstStyle/>
                    <a:p>
                      <a:r>
                        <a:rPr sz="1150" b="1">
                          <a:solidFill>
                            <a:srgbClr val="FFFFFF"/>
                          </a:solidFill>
                        </a:rPr>
                        <a:t>Rows returned</a:t>
                      </a:r>
                    </a:p>
                  </a:txBody>
                  <a:tcPr anchor="ctr" marL="73152" marR="54864" marT="27432" marB="27432">
                    <a:solidFill>
                      <a:srgbClr val="0C2B4A"/>
                    </a:solidFill>
                  </a:tcPr>
                </a:tc>
              </a:tr>
              <a:tr h="630936">
                <a:tc>
                  <a:txBody>
                    <a:bodyPr wrap="square"/>
                    <a:lstStyle/>
                    <a:p>
                      <a:r>
                        <a:rPr sz="1100" b="1">
                          <a:solidFill>
                            <a:srgbClr val="0C2B4A"/>
                          </a:solidFill>
                        </a:rPr>
                        <a:t>SELECT * FROM Student;</a:t>
                      </a:r>
                    </a:p>
                  </a:txBody>
                  <a:tcPr anchor="ctr" marL="73152" marR="54864" marT="27432" marB="27432">
                    <a:solidFill>
                      <a:srgbClr val="FFFFFF"/>
                    </a:solidFill>
                  </a:tcPr>
                </a:tc>
                <a:tc>
                  <a:txBody>
                    <a:bodyPr wrap="square"/>
                    <a:lstStyle/>
                    <a:p>
                      <a:r>
                        <a:rPr sz="1100">
                          <a:solidFill>
                            <a:srgbClr val="1A1A1A"/>
                          </a:solidFill>
                        </a:rPr>
                        <a:t>all 6 columns</a:t>
                      </a:r>
                    </a:p>
                  </a:txBody>
                  <a:tcPr anchor="ctr" marL="73152" marR="54864" marT="27432" marB="27432">
                    <a:solidFill>
                      <a:srgbClr val="FFFFFF"/>
                    </a:solidFill>
                  </a:tcPr>
                </a:tc>
                <a:tc>
                  <a:txBody>
                    <a:bodyPr wrap="square"/>
                    <a:lstStyle/>
                    <a:p>
                      <a:r>
                        <a:rPr sz="1100">
                          <a:solidFill>
                            <a:srgbClr val="1A1A1A"/>
                          </a:solidFill>
                        </a:rPr>
                        <a:t>all students</a:t>
                      </a:r>
                    </a:p>
                  </a:txBody>
                  <a:tcPr anchor="ctr" marL="73152" marR="54864" marT="27432" marB="27432">
                    <a:solidFill>
                      <a:srgbClr val="FFFFFF"/>
                    </a:solidFill>
                  </a:tcPr>
                </a:tc>
              </a:tr>
              <a:tr h="630936">
                <a:tc>
                  <a:txBody>
                    <a:bodyPr wrap="square"/>
                    <a:lstStyle/>
                    <a:p>
                      <a:r>
                        <a:rPr sz="1100" b="1">
                          <a:solidFill>
                            <a:srgbClr val="0C2B4A"/>
                          </a:solidFill>
                        </a:rPr>
                        <a:t>SELECT name FROM Student;</a:t>
                      </a:r>
                    </a:p>
                  </a:txBody>
                  <a:tcPr anchor="ctr" marL="73152" marR="54864" marT="27432" marB="27432">
                    <a:solidFill>
                      <a:srgbClr val="EEF3F8"/>
                    </a:solidFill>
                  </a:tcPr>
                </a:tc>
                <a:tc>
                  <a:txBody>
                    <a:bodyPr wrap="square"/>
                    <a:lstStyle/>
                    <a:p>
                      <a:r>
                        <a:rPr sz="1100">
                          <a:solidFill>
                            <a:srgbClr val="1A1A1A"/>
                          </a:solidFill>
                        </a:rPr>
                        <a:t>just name</a:t>
                      </a:r>
                    </a:p>
                  </a:txBody>
                  <a:tcPr anchor="ctr" marL="73152" marR="54864" marT="27432" marB="27432">
                    <a:solidFill>
                      <a:srgbClr val="EEF3F8"/>
                    </a:solidFill>
                  </a:tcPr>
                </a:tc>
                <a:tc>
                  <a:txBody>
                    <a:bodyPr wrap="square"/>
                    <a:lstStyle/>
                    <a:p>
                      <a:r>
                        <a:rPr sz="1100">
                          <a:solidFill>
                            <a:srgbClr val="1A1A1A"/>
                          </a:solidFill>
                        </a:rPr>
                        <a:t>all students (one column)</a:t>
                      </a:r>
                    </a:p>
                  </a:txBody>
                  <a:tcPr anchor="ctr" marL="73152" marR="54864" marT="27432" marB="27432">
                    <a:solidFill>
                      <a:srgbClr val="EEF3F8"/>
                    </a:solidFill>
                  </a:tcPr>
                </a:tc>
              </a:tr>
              <a:tr h="630936">
                <a:tc>
                  <a:txBody>
                    <a:bodyPr wrap="square"/>
                    <a:lstStyle/>
                    <a:p>
                      <a:r>
                        <a:rPr sz="1100" b="1">
                          <a:solidFill>
                            <a:srgbClr val="0C2B4A"/>
                          </a:solidFill>
                        </a:rPr>
                        <a:t>SELECT name, program FROM Student;</a:t>
                      </a:r>
                    </a:p>
                  </a:txBody>
                  <a:tcPr anchor="ctr" marL="73152" marR="54864" marT="27432" marB="27432">
                    <a:solidFill>
                      <a:srgbClr val="FFFFFF"/>
                    </a:solidFill>
                  </a:tcPr>
                </a:tc>
                <a:tc>
                  <a:txBody>
                    <a:bodyPr wrap="square"/>
                    <a:lstStyle/>
                    <a:p>
                      <a:r>
                        <a:rPr sz="1100">
                          <a:solidFill>
                            <a:srgbClr val="1A1A1A"/>
                          </a:solidFill>
                        </a:rPr>
                        <a:t>name + program</a:t>
                      </a:r>
                    </a:p>
                  </a:txBody>
                  <a:tcPr anchor="ctr" marL="73152" marR="54864" marT="27432" marB="27432">
                    <a:solidFill>
                      <a:srgbClr val="FFFFFF"/>
                    </a:solidFill>
                  </a:tcPr>
                </a:tc>
                <a:tc>
                  <a:txBody>
                    <a:bodyPr wrap="square"/>
                    <a:lstStyle/>
                    <a:p>
                      <a:r>
                        <a:rPr sz="1100">
                          <a:solidFill>
                            <a:srgbClr val="1A1A1A"/>
                          </a:solidFill>
                        </a:rPr>
                        <a:t>all students</a:t>
                      </a:r>
                    </a:p>
                  </a:txBody>
                  <a:tcPr anchor="ctr" marL="73152" marR="54864" marT="27432" marB="27432">
                    <a:solidFill>
                      <a:srgbClr val="FFFFFF"/>
                    </a:solidFill>
                  </a:tcPr>
                </a:tc>
              </a:tr>
              <a:tr h="630936">
                <a:tc>
                  <a:txBody>
                    <a:bodyPr wrap="square"/>
                    <a:lstStyle/>
                    <a:p>
                      <a:r>
                        <a:rPr sz="1100" b="1">
                          <a:solidFill>
                            <a:srgbClr val="0C2B4A"/>
                          </a:solidFill>
                        </a:rPr>
                        <a:t>SELECT title, credits FROM Course;</a:t>
                      </a:r>
                    </a:p>
                  </a:txBody>
                  <a:tcPr anchor="ctr" marL="73152" marR="54864" marT="27432" marB="27432">
                    <a:solidFill>
                      <a:srgbClr val="EEF3F8"/>
                    </a:solidFill>
                  </a:tcPr>
                </a:tc>
                <a:tc>
                  <a:txBody>
                    <a:bodyPr wrap="square"/>
                    <a:lstStyle/>
                    <a:p>
                      <a:r>
                        <a:rPr sz="1100">
                          <a:solidFill>
                            <a:srgbClr val="1A1A1A"/>
                          </a:solidFill>
                        </a:rPr>
                        <a:t>title + credits</a:t>
                      </a:r>
                    </a:p>
                  </a:txBody>
                  <a:tcPr anchor="ctr" marL="73152" marR="54864" marT="27432" marB="27432">
                    <a:solidFill>
                      <a:srgbClr val="EEF3F8"/>
                    </a:solidFill>
                  </a:tcPr>
                </a:tc>
                <a:tc>
                  <a:txBody>
                    <a:bodyPr wrap="square"/>
                    <a:lstStyle/>
                    <a:p>
                      <a:r>
                        <a:rPr sz="1100">
                          <a:solidFill>
                            <a:srgbClr val="1A1A1A"/>
                          </a:solidFill>
                        </a:rPr>
                        <a:t>all courses</a:t>
                      </a:r>
                    </a:p>
                  </a:txBody>
                  <a:tcPr anchor="ctr" marL="73152" marR="54864" marT="27432" marB="27432">
                    <a:solidFill>
                      <a:srgbClr val="EEF3F8"/>
                    </a:solidFill>
                  </a:tcPr>
                </a:tc>
              </a:tr>
              <a:tr h="630936">
                <a:tc>
                  <a:txBody>
                    <a:bodyPr wrap="square"/>
                    <a:lstStyle/>
                    <a:p>
                      <a:r>
                        <a:rPr sz="1100" b="1">
                          <a:solidFill>
                            <a:srgbClr val="0C2B4A"/>
                          </a:solidFill>
                        </a:rPr>
                        <a:t>SELECT DISTINCT program FROM Student;</a:t>
                      </a:r>
                    </a:p>
                  </a:txBody>
                  <a:tcPr anchor="ctr" marL="73152" marR="54864" marT="27432" marB="27432">
                    <a:solidFill>
                      <a:srgbClr val="FFFFFF"/>
                    </a:solidFill>
                  </a:tcPr>
                </a:tc>
                <a:tc>
                  <a:txBody>
                    <a:bodyPr wrap="square"/>
                    <a:lstStyle/>
                    <a:p>
                      <a:r>
                        <a:rPr sz="1100">
                          <a:solidFill>
                            <a:srgbClr val="1A1A1A"/>
                          </a:solidFill>
                        </a:rPr>
                        <a:t>program, de-duplicated</a:t>
                      </a:r>
                    </a:p>
                  </a:txBody>
                  <a:tcPr anchor="ctr" marL="73152" marR="54864" marT="27432" marB="27432">
                    <a:solidFill>
                      <a:srgbClr val="FFFFFF"/>
                    </a:solidFill>
                  </a:tcPr>
                </a:tc>
                <a:tc>
                  <a:txBody>
                    <a:bodyPr wrap="square"/>
                    <a:lstStyle/>
                    <a:p>
                      <a:r>
                        <a:rPr sz="1100">
                          <a:solidFill>
                            <a:srgbClr val="1A1A1A"/>
                          </a:solidFill>
                        </a:rPr>
                        <a:t>one per program (S25)</a:t>
                      </a:r>
                    </a:p>
                  </a:txBody>
                  <a:tcPr anchor="ctr" marL="73152" marR="54864" marT="27432" marB="27432">
                    <a:solidFill>
                      <a:srgbClr val="FFFFFF"/>
                    </a:solidFill>
                  </a:tcPr>
                </a:tc>
              </a:tr>
              <a:tr h="630936">
                <a:tc>
                  <a:txBody>
                    <a:bodyPr wrap="square"/>
                    <a:lstStyle/>
                    <a:p>
                      <a:r>
                        <a:rPr sz="1100" b="1">
                          <a:solidFill>
                            <a:srgbClr val="0C2B4A"/>
                          </a:solidFill>
                        </a:rPr>
                        <a:t>SELECT roll, marks FROM Enrollment;</a:t>
                      </a:r>
                    </a:p>
                  </a:txBody>
                  <a:tcPr anchor="ctr" marL="73152" marR="54864" marT="27432" marB="27432">
                    <a:solidFill>
                      <a:srgbClr val="EEF3F8"/>
                    </a:solidFill>
                  </a:tcPr>
                </a:tc>
                <a:tc>
                  <a:txBody>
                    <a:bodyPr wrap="square"/>
                    <a:lstStyle/>
                    <a:p>
                      <a:r>
                        <a:rPr sz="1100">
                          <a:solidFill>
                            <a:srgbClr val="1A1A1A"/>
                          </a:solidFill>
                        </a:rPr>
                        <a:t>roll + marks</a:t>
                      </a:r>
                    </a:p>
                  </a:txBody>
                  <a:tcPr anchor="ctr" marL="73152" marR="54864" marT="27432" marB="27432">
                    <a:solidFill>
                      <a:srgbClr val="EEF3F8"/>
                    </a:solidFill>
                  </a:tcPr>
                </a:tc>
                <a:tc>
                  <a:txBody>
                    <a:bodyPr wrap="square"/>
                    <a:lstStyle/>
                    <a:p>
                      <a:r>
                        <a:rPr sz="1100">
                          <a:solidFill>
                            <a:srgbClr val="1A1A1A"/>
                          </a:solidFill>
                        </a:rPr>
                        <a:t>every enrollment row</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SELECT decides the COLUMNS (and their order). Without a WHERE clause you always get every row — projection alone never removes rows.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219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Basic Query: SELECT … FROM …</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Every list screen you see — a Daraz product grid, your eSewa transaction history, a college course catalogue — is a SELECT of specific columns FROM a table. The app rarely shows SELECT *; it picks exactly the columns the screen needs.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"SELECT chooses which rows I get." No — SELECT chooses COLUMNS (projection). Without a WHERE clause, you still get every row; you have just narrowed the columns. Row filtering is WHERE's job.</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basic query is SELECT &lt;columns&gt; FROM &lt;table&gt;. FROM names the source table(s); SELECT projects the chosen columns (SELECT * means all columns). It returns every row of the table unless a WHERE clause filters rows — SELECT controls columns, not rows.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SELECT (projection) · FROM · SELECT * · columns not rows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219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WHERE Clause (Filtering Rows)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WHERE keeps only the rows whose condition is TRUE. It supports comparison operators (=, &lt;&gt;, &lt;, &gt;=), logical operators (AND, OR, NOT), and the shortcuts BETWEEN and IN.</a:t>
            </a:r>
          </a:p>
          <a:p>
            <a:pPr>
              <a:spcAft>
                <a:spcPts val="500"/>
              </a:spcAft>
            </a:pPr>
            <a:r>
              <a:rPr sz="1200" b="1">
                <a:solidFill>
                  <a:srgbClr val="185FA5"/>
                </a:solidFill>
              </a:rPr>
              <a:t>HOW IT WORKS</a:t>
            </a:r>
          </a:p>
          <a:p>
            <a:pPr>
              <a:spcAft>
                <a:spcPts val="600"/>
              </a:spcAft>
            </a:pPr>
            <a:r>
              <a:rPr sz="1400">
                <a:solidFill>
                  <a:srgbClr val="1A1A1A"/>
                </a:solidFill>
              </a:rPr>
              <a:t>•  SELECT name FROM Student WHERE program='BIM' AND semester=4;</a:t>
            </a:r>
          </a:p>
          <a:p>
            <a:pPr>
              <a:spcAft>
                <a:spcPts val="600"/>
              </a:spcAft>
            </a:pPr>
            <a:r>
              <a:rPr sz="1400">
                <a:solidFill>
                  <a:srgbClr val="1A1A1A"/>
                </a:solidFill>
              </a:rPr>
              <a:t>•  BETWEEN a AND b is inclusive; IN (…) tests membership in a list.</a:t>
            </a:r>
          </a:p>
          <a:p>
            <a:pPr>
              <a:spcAft>
                <a:spcPts val="600"/>
              </a:spcAft>
            </a:pPr>
            <a:r>
              <a:rPr sz="1400">
                <a:solidFill>
                  <a:srgbClr val="1A1A1A"/>
                </a:solidFill>
              </a:rPr>
              <a:t>•  &lt;&gt; (or !=) means 'not equal'; combine conditions with AND / OR / NOT.</a:t>
            </a:r>
          </a:p>
          <a:p>
            <a:pPr>
              <a:spcAft>
                <a:spcPts val="600"/>
              </a:spcAft>
            </a:pPr>
            <a:r>
              <a:rPr sz="1400">
                <a:solidFill>
                  <a:srgbClr val="1A1A1A"/>
                </a:solidFill>
              </a:rPr>
              <a:t>•  Only rows evaluating to TRUE are kept (UNKNOWN/NULL rows are dropped — S27).</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WHERE is the row filter — it decides who stays and who is dropped.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219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conditions — operator → query → who is kept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428999"/>
                <a:gridCol w="4408714"/>
                <a:gridCol w="3592285"/>
              </a:tblGrid>
              <a:tr h="552069">
                <a:tc>
                  <a:txBody>
                    <a:bodyPr wrap="square"/>
                    <a:lstStyle/>
                    <a:p>
                      <a:r>
                        <a:rPr sz="1100" b="1">
                          <a:solidFill>
                            <a:srgbClr val="FFFFFF"/>
                          </a:solidFill>
                        </a:rPr>
                        <a:t>Goal</a:t>
                      </a:r>
                    </a:p>
                  </a:txBody>
                  <a:tcPr anchor="ctr" marL="73152" marR="54864" marT="27432" marB="27432">
                    <a:solidFill>
                      <a:srgbClr val="0C2B4A"/>
                    </a:solidFill>
                  </a:tcPr>
                </a:tc>
                <a:tc>
                  <a:txBody>
                    <a:bodyPr wrap="square"/>
                    <a:lstStyle/>
                    <a:p>
                      <a:r>
                        <a:rPr sz="1100" b="1">
                          <a:solidFill>
                            <a:srgbClr val="FFFFFF"/>
                          </a:solidFill>
                        </a:rPr>
                        <a:t>WHERE condition (MySQL)</a:t>
                      </a:r>
                    </a:p>
                  </a:txBody>
                  <a:tcPr anchor="ctr" marL="73152" marR="54864" marT="27432" marB="27432">
                    <a:solidFill>
                      <a:srgbClr val="0C2B4A"/>
                    </a:solidFill>
                  </a:tcPr>
                </a:tc>
                <a:tc>
                  <a:txBody>
                    <a:bodyPr wrap="square"/>
                    <a:lstStyle/>
                    <a:p>
                      <a:r>
                        <a:rPr sz="1100" b="1">
                          <a:solidFill>
                            <a:srgbClr val="FFFFFF"/>
                          </a:solidFill>
                        </a:rPr>
                        <a:t>Rows kept</a:t>
                      </a:r>
                    </a:p>
                  </a:txBody>
                  <a:tcPr anchor="ctr" marL="73152" marR="54864" marT="27432" marB="27432">
                    <a:solidFill>
                      <a:srgbClr val="0C2B4A"/>
                    </a:solidFill>
                  </a:tcPr>
                </a:tc>
              </a:tr>
              <a:tr h="552069">
                <a:tc>
                  <a:txBody>
                    <a:bodyPr wrap="square"/>
                    <a:lstStyle/>
                    <a:p>
                      <a:r>
                        <a:rPr sz="1050" b="1">
                          <a:solidFill>
                            <a:srgbClr val="0C2B4A"/>
                          </a:solidFill>
                        </a:rPr>
                        <a:t>BIM 4th-sem students</a:t>
                      </a:r>
                    </a:p>
                  </a:txBody>
                  <a:tcPr anchor="ctr" marL="73152" marR="54864" marT="27432" marB="27432">
                    <a:solidFill>
                      <a:srgbClr val="FFFFFF"/>
                    </a:solidFill>
                  </a:tcPr>
                </a:tc>
                <a:tc>
                  <a:txBody>
                    <a:bodyPr wrap="square"/>
                    <a:lstStyle/>
                    <a:p>
                      <a:r>
                        <a:rPr sz="1050">
                          <a:solidFill>
                            <a:srgbClr val="1A1A1A"/>
                          </a:solidFill>
                        </a:rPr>
                        <a:t>program='BIM' AND semester=4</a:t>
                      </a:r>
                    </a:p>
                  </a:txBody>
                  <a:tcPr anchor="ctr" marL="73152" marR="54864" marT="27432" marB="27432">
                    <a:solidFill>
                      <a:srgbClr val="FFFFFF"/>
                    </a:solidFill>
                  </a:tcPr>
                </a:tc>
                <a:tc>
                  <a:txBody>
                    <a:bodyPr wrap="square"/>
                    <a:lstStyle/>
                    <a:p>
                      <a:r>
                        <a:rPr sz="1050">
                          <a:solidFill>
                            <a:srgbClr val="1A1A1A"/>
                          </a:solidFill>
                        </a:rPr>
                        <a:t>Sita, Hari</a:t>
                      </a:r>
                    </a:p>
                  </a:txBody>
                  <a:tcPr anchor="ctr" marL="73152" marR="54864" marT="27432" marB="27432">
                    <a:solidFill>
                      <a:srgbClr val="FFFFFF"/>
                    </a:solidFill>
                  </a:tcPr>
                </a:tc>
              </a:tr>
              <a:tr h="552069">
                <a:tc>
                  <a:txBody>
                    <a:bodyPr wrap="square"/>
                    <a:lstStyle/>
                    <a:p>
                      <a:r>
                        <a:rPr sz="1050" b="1">
                          <a:solidFill>
                            <a:srgbClr val="0C2B4A"/>
                          </a:solidFill>
                        </a:rPr>
                        <a:t>IT instructors paid &gt; 60k</a:t>
                      </a:r>
                    </a:p>
                  </a:txBody>
                  <a:tcPr anchor="ctr" marL="73152" marR="54864" marT="27432" marB="27432">
                    <a:solidFill>
                      <a:srgbClr val="EEF3F8"/>
                    </a:solidFill>
                  </a:tcPr>
                </a:tc>
                <a:tc>
                  <a:txBody>
                    <a:bodyPr wrap="square"/>
                    <a:lstStyle/>
                    <a:p>
                      <a:r>
                        <a:rPr sz="1050">
                          <a:solidFill>
                            <a:srgbClr val="1A1A1A"/>
                          </a:solidFill>
                        </a:rPr>
                        <a:t>dept='IT' AND salary &gt; 60000</a:t>
                      </a:r>
                    </a:p>
                  </a:txBody>
                  <a:tcPr anchor="ctr" marL="73152" marR="54864" marT="27432" marB="27432">
                    <a:solidFill>
                      <a:srgbClr val="EEF3F8"/>
                    </a:solidFill>
                  </a:tcPr>
                </a:tc>
                <a:tc>
                  <a:txBody>
                    <a:bodyPr wrap="square"/>
                    <a:lstStyle/>
                    <a:p>
                      <a:r>
                        <a:rPr sz="1050">
                          <a:solidFill>
                            <a:srgbClr val="1A1A1A"/>
                          </a:solidFill>
                        </a:rPr>
                        <a:t>Sharma</a:t>
                      </a:r>
                    </a:p>
                  </a:txBody>
                  <a:tcPr anchor="ctr" marL="73152" marR="54864" marT="27432" marB="27432">
                    <a:solidFill>
                      <a:srgbClr val="EEF3F8"/>
                    </a:solidFill>
                  </a:tcPr>
                </a:tc>
              </a:tr>
              <a:tr h="552069">
                <a:tc>
                  <a:txBody>
                    <a:bodyPr wrap="square"/>
                    <a:lstStyle/>
                    <a:p>
                      <a:r>
                        <a:rPr sz="1050" b="1">
                          <a:solidFill>
                            <a:srgbClr val="0C2B4A"/>
                          </a:solidFill>
                        </a:rPr>
                        <a:t>Daraz items Rs 500–1500</a:t>
                      </a:r>
                    </a:p>
                  </a:txBody>
                  <a:tcPr anchor="ctr" marL="73152" marR="54864" marT="27432" marB="27432">
                    <a:solidFill>
                      <a:srgbClr val="FFFFFF"/>
                    </a:solidFill>
                  </a:tcPr>
                </a:tc>
                <a:tc>
                  <a:txBody>
                    <a:bodyPr wrap="square"/>
                    <a:lstStyle/>
                    <a:p>
                      <a:r>
                        <a:rPr sz="1050">
                          <a:solidFill>
                            <a:srgbClr val="1A1A1A"/>
                          </a:solidFill>
                        </a:rPr>
                        <a:t>price BETWEEN 500 AND 1500</a:t>
                      </a:r>
                    </a:p>
                  </a:txBody>
                  <a:tcPr anchor="ctr" marL="73152" marR="54864" marT="27432" marB="27432">
                    <a:solidFill>
                      <a:srgbClr val="FFFFFF"/>
                    </a:solidFill>
                  </a:tcPr>
                </a:tc>
                <a:tc>
                  <a:txBody>
                    <a:bodyPr wrap="square"/>
                    <a:lstStyle/>
                    <a:p>
                      <a:r>
                        <a:rPr sz="1050">
                          <a:solidFill>
                            <a:srgbClr val="1A1A1A"/>
                          </a:solidFill>
                        </a:rPr>
                        <a:t>mid-range products</a:t>
                      </a:r>
                    </a:p>
                  </a:txBody>
                  <a:tcPr anchor="ctr" marL="73152" marR="54864" marT="27432" marB="27432">
                    <a:solidFill>
                      <a:srgbClr val="FFFFFF"/>
                    </a:solidFill>
                  </a:tcPr>
                </a:tc>
              </a:tr>
              <a:tr h="552069">
                <a:tc>
                  <a:txBody>
                    <a:bodyPr wrap="square"/>
                    <a:lstStyle/>
                    <a:p>
                      <a:r>
                        <a:rPr sz="1050" b="1">
                          <a:solidFill>
                            <a:srgbClr val="0C2B4A"/>
                          </a:solidFill>
                        </a:rPr>
                        <a:t>Courses in IT or ECO dept</a:t>
                      </a:r>
                    </a:p>
                  </a:txBody>
                  <a:tcPr anchor="ctr" marL="73152" marR="54864" marT="27432" marB="27432">
                    <a:solidFill>
                      <a:srgbClr val="EEF3F8"/>
                    </a:solidFill>
                  </a:tcPr>
                </a:tc>
                <a:tc>
                  <a:txBody>
                    <a:bodyPr wrap="square"/>
                    <a:lstStyle/>
                    <a:p>
                      <a:r>
                        <a:rPr sz="1050">
                          <a:solidFill>
                            <a:srgbClr val="1A1A1A"/>
                          </a:solidFill>
                        </a:rPr>
                        <a:t>dept IN ('IT','ECO')</a:t>
                      </a:r>
                    </a:p>
                  </a:txBody>
                  <a:tcPr anchor="ctr" marL="73152" marR="54864" marT="27432" marB="27432">
                    <a:solidFill>
                      <a:srgbClr val="EEF3F8"/>
                    </a:solidFill>
                  </a:tcPr>
                </a:tc>
                <a:tc>
                  <a:txBody>
                    <a:bodyPr wrap="square"/>
                    <a:lstStyle/>
                    <a:p>
                      <a:r>
                        <a:rPr sz="1050">
                          <a:solidFill>
                            <a:srgbClr val="1A1A1A"/>
                          </a:solidFill>
                        </a:rPr>
                        <a:t>IT220, IT250, ECO101</a:t>
                      </a:r>
                    </a:p>
                  </a:txBody>
                  <a:tcPr anchor="ctr" marL="73152" marR="54864" marT="27432" marB="27432">
                    <a:solidFill>
                      <a:srgbClr val="EEF3F8"/>
                    </a:solidFill>
                  </a:tcPr>
                </a:tc>
              </a:tr>
              <a:tr h="552069">
                <a:tc>
                  <a:txBody>
                    <a:bodyPr wrap="square"/>
                    <a:lstStyle/>
                    <a:p>
                      <a:r>
                        <a:rPr sz="1050" b="1">
                          <a:solidFill>
                            <a:srgbClr val="0C2B4A"/>
                          </a:solidFill>
                        </a:rPr>
                        <a:t>Students NOT in BIM</a:t>
                      </a:r>
                    </a:p>
                  </a:txBody>
                  <a:tcPr anchor="ctr" marL="73152" marR="54864" marT="27432" marB="27432">
                    <a:solidFill>
                      <a:srgbClr val="FFFFFF"/>
                    </a:solidFill>
                  </a:tcPr>
                </a:tc>
                <a:tc>
                  <a:txBody>
                    <a:bodyPr wrap="square"/>
                    <a:lstStyle/>
                    <a:p>
                      <a:r>
                        <a:rPr sz="1050">
                          <a:solidFill>
                            <a:srgbClr val="1A1A1A"/>
                          </a:solidFill>
                        </a:rPr>
                        <a:t>program &lt;&gt; 'BIM'</a:t>
                      </a:r>
                    </a:p>
                  </a:txBody>
                  <a:tcPr anchor="ctr" marL="73152" marR="54864" marT="27432" marB="27432">
                    <a:solidFill>
                      <a:srgbClr val="FFFFFF"/>
                    </a:solidFill>
                  </a:tcPr>
                </a:tc>
                <a:tc>
                  <a:txBody>
                    <a:bodyPr wrap="square"/>
                    <a:lstStyle/>
                    <a:p>
                      <a:r>
                        <a:rPr sz="1050">
                          <a:solidFill>
                            <a:srgbClr val="1A1A1A"/>
                          </a:solidFill>
                        </a:rPr>
                        <a:t>Bishal, Gita</a:t>
                      </a:r>
                    </a:p>
                  </a:txBody>
                  <a:tcPr anchor="ctr" marL="73152" marR="54864" marT="27432" marB="27432">
                    <a:solidFill>
                      <a:srgbClr val="FFFFFF"/>
                    </a:solidFill>
                  </a:tcPr>
                </a:tc>
              </a:tr>
              <a:tr h="552069">
                <a:tc>
                  <a:txBody>
                    <a:bodyPr wrap="square"/>
                    <a:lstStyle/>
                    <a:p>
                      <a:r>
                        <a:rPr sz="1050" b="1">
                          <a:solidFill>
                            <a:srgbClr val="0C2B4A"/>
                          </a:solidFill>
                        </a:rPr>
                        <a:t>Marks below pass (40)</a:t>
                      </a:r>
                    </a:p>
                  </a:txBody>
                  <a:tcPr anchor="ctr" marL="73152" marR="54864" marT="27432" marB="27432">
                    <a:solidFill>
                      <a:srgbClr val="EEF3F8"/>
                    </a:solidFill>
                  </a:tcPr>
                </a:tc>
                <a:tc>
                  <a:txBody>
                    <a:bodyPr wrap="square"/>
                    <a:lstStyle/>
                    <a:p>
                      <a:r>
                        <a:rPr sz="1050">
                          <a:solidFill>
                            <a:srgbClr val="1A1A1A"/>
                          </a:solidFill>
                        </a:rPr>
                        <a:t>marks &lt; 40</a:t>
                      </a:r>
                    </a:p>
                  </a:txBody>
                  <a:tcPr anchor="ctr" marL="73152" marR="54864" marT="27432" marB="27432">
                    <a:solidFill>
                      <a:srgbClr val="EEF3F8"/>
                    </a:solidFill>
                  </a:tcPr>
                </a:tc>
                <a:tc>
                  <a:txBody>
                    <a:bodyPr wrap="square"/>
                    <a:lstStyle/>
                    <a:p>
                      <a:r>
                        <a:rPr sz="1050">
                          <a:solidFill>
                            <a:srgbClr val="1A1A1A"/>
                          </a:solidFill>
                        </a:rPr>
                        <a:t>failing enrollments</a:t>
                      </a:r>
                    </a:p>
                  </a:txBody>
                  <a:tcPr anchor="ctr" marL="73152" marR="54864" marT="27432" marB="27432">
                    <a:solidFill>
                      <a:srgbClr val="EEF3F8"/>
                    </a:solidFill>
                  </a:tcPr>
                </a:tc>
              </a:tr>
              <a:tr h="552069">
                <a:tc>
                  <a:txBody>
                    <a:bodyPr wrap="square"/>
                    <a:lstStyle/>
                    <a:p>
                      <a:r>
                        <a:rPr sz="1050" b="1">
                          <a:solidFill>
                            <a:srgbClr val="0C2B4A"/>
                          </a:solidFill>
                        </a:rPr>
                        <a:t>High marks OR is BIM</a:t>
                      </a:r>
                    </a:p>
                  </a:txBody>
                  <a:tcPr anchor="ctr" marL="73152" marR="54864" marT="27432" marB="27432">
                    <a:solidFill>
                      <a:srgbClr val="FFFFFF"/>
                    </a:solidFill>
                  </a:tcPr>
                </a:tc>
                <a:tc>
                  <a:txBody>
                    <a:bodyPr wrap="square"/>
                    <a:lstStyle/>
                    <a:p>
                      <a:r>
                        <a:rPr sz="1050">
                          <a:solidFill>
                            <a:srgbClr val="1A1A1A"/>
                          </a:solidFill>
                        </a:rPr>
                        <a:t>marks &gt;= 80 OR program='BIM'</a:t>
                      </a:r>
                    </a:p>
                  </a:txBody>
                  <a:tcPr anchor="ctr" marL="73152" marR="54864" marT="27432" marB="27432">
                    <a:solidFill>
                      <a:srgbClr val="FFFFFF"/>
                    </a:solidFill>
                  </a:tcPr>
                </a:tc>
                <a:tc>
                  <a:txBody>
                    <a:bodyPr wrap="square"/>
                    <a:lstStyle/>
                    <a:p>
                      <a:r>
                        <a:rPr sz="1050">
                          <a:solidFill>
                            <a:srgbClr val="1A1A1A"/>
                          </a:solidFill>
                        </a:rPr>
                        <a:t>toppers + all BIM</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Comparison (=,&lt;&gt;,&lt;,&gt;=), logical (AND/OR/NOT), and the shortcuts BETWEEN (inclusive range) and IN (list membership) build every filter. WHERE keeps only TRUE rows.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219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WHERE Clause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Every search box, filter chip, and report is a WHERE underneath: Daraz 'price Rs 500–1500 AND category = phones', a telecom pulling 'Ncell users in Pokhara', a bank listing 'transactions above Rs 1,00,000 today'. The user's filter maps directly to WHERE conditions.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"Adding more AND conditions returns more rows." The opposite: each AND is more restrictive, so results shrink. OR broadens (more rows); AND narrows (fewer rows). Mixing them without parentheses can also surprise you — group with ( ).</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WHERE clause filters rows, keeping only those whose condition evaluates to TRUE. It uses comparison operators (=, &lt;&gt;, &lt;, &gt;=), logical operators (AND, OR, NOT), and the shortcuts BETWEEN (inclusive range) and IN (list membership). WHERE selects rows; SELECT selects columns.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WHERE · comparison operators · AND/OR/NOT · BETWEEN · IN · keeps TRUE rows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219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3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Multiple Tables in FROM (Cross-Product Warning)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Listing two tables in FROM without a join condition produces a Cartesian (cross) product: every row of one table paired with every row of the other. You must add the matching condition to get sensible results.</a:t>
            </a:r>
          </a:p>
          <a:p>
            <a:pPr>
              <a:spcAft>
                <a:spcPts val="500"/>
              </a:spcAft>
            </a:pPr>
            <a:r>
              <a:rPr sz="1200" b="1">
                <a:solidFill>
                  <a:srgbClr val="185FA5"/>
                </a:solidFill>
              </a:rPr>
              <a:t>HOW IT WORKS</a:t>
            </a:r>
          </a:p>
          <a:p>
            <a:pPr>
              <a:spcAft>
                <a:spcPts val="600"/>
              </a:spcAft>
            </a:pPr>
            <a:r>
              <a:rPr sz="1400">
                <a:solidFill>
                  <a:srgbClr val="1A1A1A"/>
                </a:solidFill>
              </a:rPr>
              <a:t>•  FROM Student, Enrollment with no condition = rows(Student) × rows(Enrollment).</a:t>
            </a:r>
          </a:p>
          <a:p>
            <a:pPr>
              <a:spcAft>
                <a:spcPts val="600"/>
              </a:spcAft>
            </a:pPr>
            <a:r>
              <a:rPr sz="1400">
                <a:solidFill>
                  <a:srgbClr val="1A1A1A"/>
                </a:solidFill>
              </a:rPr>
              <a:t>•  Add WHERE Student.roll = Enrollment.roll to keep only matching pairs.</a:t>
            </a:r>
          </a:p>
          <a:p>
            <a:pPr>
              <a:spcAft>
                <a:spcPts val="600"/>
              </a:spcAft>
            </a:pPr>
            <a:r>
              <a:rPr sz="1400">
                <a:solidFill>
                  <a:srgbClr val="1A1A1A"/>
                </a:solidFill>
              </a:rPr>
              <a:t>•  This equality is the join condition (the explicit JOIN syntax comes in S33).</a:t>
            </a:r>
          </a:p>
          <a:p>
            <a:pPr>
              <a:spcAft>
                <a:spcPts val="600"/>
              </a:spcAft>
            </a:pPr>
            <a:r>
              <a:rPr sz="1400">
                <a:solidFill>
                  <a:srgbClr val="1A1A1A"/>
                </a:solidFill>
              </a:rPr>
              <a:t>•  5 students × 8 enrollments = 40 meaningless rows without the condition.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Two tables with no condition = every-row-times-every-row. Always add the match.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219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Cross product vs a proper join condition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251621"/>
                <a:gridCol w="3398108"/>
                <a:gridCol w="2780270"/>
              </a:tblGrid>
              <a:tr h="736092">
                <a:tc>
                  <a:txBody>
                    <a:bodyPr wrap="square"/>
                    <a:lstStyle/>
                    <a:p>
                      <a:r>
                        <a:rPr sz="1100" b="1">
                          <a:solidFill>
                            <a:srgbClr val="FFFFFF"/>
                          </a:solidFill>
                        </a:rPr>
                        <a:t>Query</a:t>
                      </a:r>
                    </a:p>
                  </a:txBody>
                  <a:tcPr anchor="ctr" marL="73152" marR="54864" marT="27432" marB="27432">
                    <a:solidFill>
                      <a:srgbClr val="0C2B4A"/>
                    </a:solidFill>
                  </a:tcPr>
                </a:tc>
                <a:tc>
                  <a:txBody>
                    <a:bodyPr wrap="square"/>
                    <a:lstStyle/>
                    <a:p>
                      <a:r>
                        <a:rPr sz="1100" b="1">
                          <a:solidFill>
                            <a:srgbClr val="FFFFFF"/>
                          </a:solidFill>
                        </a:rPr>
                        <a:t>What it does</a:t>
                      </a:r>
                    </a:p>
                  </a:txBody>
                  <a:tcPr anchor="ctr" marL="73152" marR="54864" marT="27432" marB="27432">
                    <a:solidFill>
                      <a:srgbClr val="0C2B4A"/>
                    </a:solidFill>
                  </a:tcPr>
                </a:tc>
                <a:tc>
                  <a:txBody>
                    <a:bodyPr wrap="square"/>
                    <a:lstStyle/>
                    <a:p>
                      <a:r>
                        <a:rPr sz="1100" b="1">
                          <a:solidFill>
                            <a:srgbClr val="FFFFFF"/>
                          </a:solidFill>
                        </a:rPr>
                        <a:t>Result size (seed data)</a:t>
                      </a:r>
                    </a:p>
                  </a:txBody>
                  <a:tcPr anchor="ctr" marL="73152" marR="54864" marT="27432" marB="27432">
                    <a:solidFill>
                      <a:srgbClr val="0C2B4A"/>
                    </a:solidFill>
                  </a:tcPr>
                </a:tc>
              </a:tr>
              <a:tr h="736092">
                <a:tc>
                  <a:txBody>
                    <a:bodyPr wrap="square"/>
                    <a:lstStyle/>
                    <a:p>
                      <a:r>
                        <a:rPr sz="1050" b="1">
                          <a:solidFill>
                            <a:srgbClr val="0C2B4A"/>
                          </a:solidFill>
                        </a:rPr>
                        <a:t>FROM Student, Enrollment (no WHERE)</a:t>
                      </a:r>
                    </a:p>
                  </a:txBody>
                  <a:tcPr anchor="ctr" marL="73152" marR="54864" marT="27432" marB="27432">
                    <a:solidFill>
                      <a:srgbClr val="FFFFFF"/>
                    </a:solidFill>
                  </a:tcPr>
                </a:tc>
                <a:tc>
                  <a:txBody>
                    <a:bodyPr wrap="square"/>
                    <a:lstStyle/>
                    <a:p>
                      <a:r>
                        <a:rPr sz="1050">
                          <a:solidFill>
                            <a:srgbClr val="1A1A1A"/>
                          </a:solidFill>
                        </a:rPr>
                        <a:t>pairs EVERY student with EVERY enrollment</a:t>
                      </a:r>
                    </a:p>
                  </a:txBody>
                  <a:tcPr anchor="ctr" marL="73152" marR="54864" marT="27432" marB="27432">
                    <a:solidFill>
                      <a:srgbClr val="FFFFFF"/>
                    </a:solidFill>
                  </a:tcPr>
                </a:tc>
                <a:tc>
                  <a:txBody>
                    <a:bodyPr wrap="square"/>
                    <a:lstStyle/>
                    <a:p>
                      <a:r>
                        <a:rPr sz="1050">
                          <a:solidFill>
                            <a:srgbClr val="1A1A1A"/>
                          </a:solidFill>
                        </a:rPr>
                        <a:t>5 × 8 = 40 rows (garbage)</a:t>
                      </a:r>
                    </a:p>
                  </a:txBody>
                  <a:tcPr anchor="ctr" marL="73152" marR="54864" marT="27432" marB="27432">
                    <a:solidFill>
                      <a:srgbClr val="FFFFFF"/>
                    </a:solidFill>
                  </a:tcPr>
                </a:tc>
              </a:tr>
              <a:tr h="736092">
                <a:tc>
                  <a:txBody>
                    <a:bodyPr wrap="square"/>
                    <a:lstStyle/>
                    <a:p>
                      <a:r>
                        <a:rPr sz="1050" b="1">
                          <a:solidFill>
                            <a:srgbClr val="0C2B4A"/>
                          </a:solidFill>
                        </a:rPr>
                        <a:t>...WHERE Student.roll = Enrollment.roll</a:t>
                      </a:r>
                    </a:p>
                  </a:txBody>
                  <a:tcPr anchor="ctr" marL="73152" marR="54864" marT="27432" marB="27432">
                    <a:solidFill>
                      <a:srgbClr val="EEF3F8"/>
                    </a:solidFill>
                  </a:tcPr>
                </a:tc>
                <a:tc>
                  <a:txBody>
                    <a:bodyPr wrap="square"/>
                    <a:lstStyle/>
                    <a:p>
                      <a:r>
                        <a:rPr sz="1050">
                          <a:solidFill>
                            <a:srgbClr val="1A1A1A"/>
                          </a:solidFill>
                        </a:rPr>
                        <a:t>keeps only matching student+enrollment</a:t>
                      </a:r>
                    </a:p>
                  </a:txBody>
                  <a:tcPr anchor="ctr" marL="73152" marR="54864" marT="27432" marB="27432">
                    <a:solidFill>
                      <a:srgbClr val="EEF3F8"/>
                    </a:solidFill>
                  </a:tcPr>
                </a:tc>
                <a:tc>
                  <a:txBody>
                    <a:bodyPr wrap="square"/>
                    <a:lstStyle/>
                    <a:p>
                      <a:r>
                        <a:rPr sz="1050">
                          <a:solidFill>
                            <a:srgbClr val="1A1A1A"/>
                          </a:solidFill>
                        </a:rPr>
                        <a:t>8 sensible rows</a:t>
                      </a:r>
                    </a:p>
                  </a:txBody>
                  <a:tcPr anchor="ctr" marL="73152" marR="54864" marT="27432" marB="27432">
                    <a:solidFill>
                      <a:srgbClr val="EEF3F8"/>
                    </a:solidFill>
                  </a:tcPr>
                </a:tc>
              </a:tr>
              <a:tr h="736092">
                <a:tc>
                  <a:txBody>
                    <a:bodyPr wrap="square"/>
                    <a:lstStyle/>
                    <a:p>
                      <a:r>
                        <a:rPr sz="1050" b="1">
                          <a:solidFill>
                            <a:srgbClr val="0C2B4A"/>
                          </a:solidFill>
                        </a:rPr>
                        <a:t>SELECT name, grade FROM Student, Enrollment WHERE Student.roll=Enrollment.roll</a:t>
                      </a:r>
                    </a:p>
                  </a:txBody>
                  <a:tcPr anchor="ctr" marL="73152" marR="54864" marT="27432" marB="27432">
                    <a:solidFill>
                      <a:srgbClr val="FFFFFF"/>
                    </a:solidFill>
                  </a:tcPr>
                </a:tc>
                <a:tc>
                  <a:txBody>
                    <a:bodyPr wrap="square"/>
                    <a:lstStyle/>
                    <a:p>
                      <a:r>
                        <a:rPr sz="1050">
                          <a:solidFill>
                            <a:srgbClr val="1A1A1A"/>
                          </a:solidFill>
                        </a:rPr>
                        <a:t>each student with their grade</a:t>
                      </a:r>
                    </a:p>
                  </a:txBody>
                  <a:tcPr anchor="ctr" marL="73152" marR="54864" marT="27432" marB="27432">
                    <a:solidFill>
                      <a:srgbClr val="FFFFFF"/>
                    </a:solidFill>
                  </a:tcPr>
                </a:tc>
                <a:tc>
                  <a:txBody>
                    <a:bodyPr wrap="square"/>
                    <a:lstStyle/>
                    <a:p>
                      <a:r>
                        <a:rPr sz="1050">
                          <a:solidFill>
                            <a:srgbClr val="1A1A1A"/>
                          </a:solidFill>
                        </a:rPr>
                        <a:t>8 rows</a:t>
                      </a:r>
                    </a:p>
                  </a:txBody>
                  <a:tcPr anchor="ctr" marL="73152" marR="54864" marT="27432" marB="27432">
                    <a:solidFill>
                      <a:srgbClr val="FFFFFF"/>
                    </a:solidFill>
                  </a:tcPr>
                </a:tc>
              </a:tr>
              <a:tr h="736092">
                <a:tc>
                  <a:txBody>
                    <a:bodyPr wrap="square"/>
                    <a:lstStyle/>
                    <a:p>
                      <a:r>
                        <a:rPr sz="1050" b="1">
                          <a:solidFill>
                            <a:srgbClr val="0C2B4A"/>
                          </a:solidFill>
                        </a:rPr>
                        <a:t>FROM Course, Teaches (no condition)</a:t>
                      </a:r>
                    </a:p>
                  </a:txBody>
                  <a:tcPr anchor="ctr" marL="73152" marR="54864" marT="27432" marB="27432">
                    <a:solidFill>
                      <a:srgbClr val="EEF3F8"/>
                    </a:solidFill>
                  </a:tcPr>
                </a:tc>
                <a:tc>
                  <a:txBody>
                    <a:bodyPr wrap="square"/>
                    <a:lstStyle/>
                    <a:p>
                      <a:r>
                        <a:rPr sz="1050">
                          <a:solidFill>
                            <a:srgbClr val="1A1A1A"/>
                          </a:solidFill>
                        </a:rPr>
                        <a:t>every course × every teaching row</a:t>
                      </a:r>
                    </a:p>
                  </a:txBody>
                  <a:tcPr anchor="ctr" marL="73152" marR="54864" marT="27432" marB="27432">
                    <a:solidFill>
                      <a:srgbClr val="EEF3F8"/>
                    </a:solidFill>
                  </a:tcPr>
                </a:tc>
                <a:tc>
                  <a:txBody>
                    <a:bodyPr wrap="square"/>
                    <a:lstStyle/>
                    <a:p>
                      <a:r>
                        <a:rPr sz="1050">
                          <a:solidFill>
                            <a:srgbClr val="1A1A1A"/>
                          </a:solidFill>
                        </a:rPr>
                        <a:t>cross product</a:t>
                      </a:r>
                    </a:p>
                  </a:txBody>
                  <a:tcPr anchor="ctr" marL="73152" marR="54864" marT="27432" marB="27432">
                    <a:solidFill>
                      <a:srgbClr val="EEF3F8"/>
                    </a:solidFill>
                  </a:tcPr>
                </a:tc>
              </a:tr>
              <a:tr h="736092">
                <a:tc>
                  <a:txBody>
                    <a:bodyPr wrap="square"/>
                    <a:lstStyle/>
                    <a:p>
                      <a:r>
                        <a:rPr sz="1050" b="1">
                          <a:solidFill>
                            <a:srgbClr val="0C2B4A"/>
                          </a:solidFill>
                        </a:rPr>
                        <a:t>...WHERE Course.course_id=Teaches.course_id</a:t>
                      </a:r>
                    </a:p>
                  </a:txBody>
                  <a:tcPr anchor="ctr" marL="73152" marR="54864" marT="27432" marB="27432">
                    <a:solidFill>
                      <a:srgbClr val="FFFFFF"/>
                    </a:solidFill>
                  </a:tcPr>
                </a:tc>
                <a:tc>
                  <a:txBody>
                    <a:bodyPr wrap="square"/>
                    <a:lstStyle/>
                    <a:p>
                      <a:r>
                        <a:rPr sz="1050">
                          <a:solidFill>
                            <a:srgbClr val="1A1A1A"/>
                          </a:solidFill>
                        </a:rPr>
                        <a:t>each course with its instructor link</a:t>
                      </a:r>
                    </a:p>
                  </a:txBody>
                  <a:tcPr anchor="ctr" marL="73152" marR="54864" marT="27432" marB="27432">
                    <a:solidFill>
                      <a:srgbClr val="FFFFFF"/>
                    </a:solidFill>
                  </a:tcPr>
                </a:tc>
                <a:tc>
                  <a:txBody>
                    <a:bodyPr wrap="square"/>
                    <a:lstStyle/>
                    <a:p>
                      <a:r>
                        <a:rPr sz="1050">
                          <a:solidFill>
                            <a:srgbClr val="1A1A1A"/>
                          </a:solidFill>
                        </a:rPr>
                        <a:t>matched rows only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Forgetting the join condition is the classic beginner disaster — a huge, meaningless result. The condition (roll = roll) is what makes a multi-table query correct.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219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Multiple Tables in FROM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mark-sheet needs a student's name (Student table) beside their grade (Enrollment table). Writing FROM Student, Enrollment WHERE Student.roll = Enrollment.roll stitches them correctly; dropping that WHERE would pair every student with every enrollment — nonsense a marksheet must never show.</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"Listing two tables just merges them sensibly." It does NOT — you get a cross product (every combination) unless you add the join condition. Two 1,000-row tables become 1,000,000 rows. Always specify how the tables relate.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Listing multiple tables in FROM without a condition yields a Cartesian (cross) product — every row of one paired with every row of the other. Adding a join condition (e.g. WHERE Student.roll = Enrollment.roll) keeps only the meaningful matched pairs. This implicit join foreshadows the explicit JOIN syntax of S33.</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cross / Cartesian product · join condition · multi-table FROM · matching rows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219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S23 — Translate English to WHERE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write a WHERE condition for 'Khalti users who joined in 2025 AND live in Kathmandu'.</a:t>
            </a:r>
          </a:p>
          <a:p>
            <a:pPr>
              <a:spcAft>
                <a:spcPts val="700"/>
              </a:spcAft>
            </a:pPr>
            <a:r>
              <a:rPr sz="1550">
                <a:solidFill>
                  <a:srgbClr val="1A1A1A"/>
                </a:solidFill>
              </a:rPr>
              <a:t>•  Then write one for 'products priced Rs 500–1500 OR on clearance'.</a:t>
            </a:r>
          </a:p>
          <a:p>
            <a:pPr>
              <a:spcAft>
                <a:spcPts val="700"/>
              </a:spcAft>
            </a:pPr>
            <a:r>
              <a:rPr sz="1550">
                <a:solidFill>
                  <a:srgbClr val="1A1A1A"/>
                </a:solidFill>
              </a:rPr>
              <a:t>•  Share aloud (3 min); check operator choice (AND vs OR, BETWEEN vs two comparisons).</a:t>
            </a:r>
          </a:p>
          <a:p>
            <a:pPr>
              <a:spcAft>
                <a:spcPts val="700"/>
              </a:spcAft>
            </a:pPr>
            <a:r>
              <a:rPr sz="1550">
                <a:solidFill>
                  <a:srgbClr val="1A1A1A"/>
                </a:solidFill>
              </a:rPr>
              <a:t>•  Close: notice how a plain-English filter maps one-to-one onto WHERE.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Answers like: WHERE YEAR(joined)=2025 AND city='Kathmandu'; WHERE price BETWEEN 500 AND 1500 OR clearance=TRUE. Reward correct AND/OR and BETWEEN usage.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219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clause filters ROWS?</a:t>
            </a:r>
          </a:p>
          <a:p>
            <a:pPr lvl="1"/>
            <a:r>
              <a:rPr sz="1500" b="1">
                <a:solidFill>
                  <a:srgbClr val="0F6E56"/>
                </a:solidFill>
              </a:rPr>
              <a:t>a) SELECT   b) FROM   c) ✅ WHERE   d) ORDER BY</a:t>
            </a:r>
          </a:p>
          <a:p>
            <a:pPr lvl="1">
              <a:spcBef>
                <a:spcPts val="600"/>
              </a:spcBef>
            </a:pPr>
            <a:r>
              <a:rPr sz="1500" i="1">
                <a:solidFill>
                  <a:srgbClr val="1A1A1A"/>
                </a:solidFill>
              </a:rPr>
              <a:t>     Why: WHERE tests each row's condition; SELECT only picks columns.</a:t>
            </a:r>
          </a:p>
          <a:p>
            <a:pPr>
              <a:spcBef>
                <a:spcPts val="900"/>
              </a:spcBef>
            </a:pPr>
            <a:r>
              <a:rPr sz="1700" b="1">
                <a:solidFill>
                  <a:srgbClr val="0C2B4A"/>
                </a:solidFill>
              </a:rPr>
              <a:t>Q2.  SELECT * FROM Student; returns:</a:t>
            </a:r>
          </a:p>
          <a:p>
            <a:pPr lvl="1"/>
            <a:r>
              <a:rPr sz="1500" b="1">
                <a:solidFill>
                  <a:srgbClr val="0F6E56"/>
                </a:solidFill>
              </a:rPr>
              <a:t>a) all columns, no rows   b) ✅ all columns, all rows   c) one column   d) an error</a:t>
            </a:r>
          </a:p>
          <a:p>
            <a:pPr lvl="1">
              <a:spcBef>
                <a:spcPts val="600"/>
              </a:spcBef>
            </a:pPr>
            <a:r>
              <a:rPr sz="1500" i="1">
                <a:solidFill>
                  <a:srgbClr val="1A1A1A"/>
                </a:solidFill>
              </a:rPr>
              <a:t>     Why: * means all columns, and with no WHERE every row is returned.</a:t>
            </a:r>
          </a:p>
          <a:p>
            <a:pPr>
              <a:spcBef>
                <a:spcPts val="900"/>
              </a:spcBef>
            </a:pPr>
            <a:r>
              <a:rPr sz="1700" b="1">
                <a:solidFill>
                  <a:srgbClr val="0C2B4A"/>
                </a:solidFill>
              </a:rPr>
              <a:t>Q3.  FROM Student, Enrollment with no condition gives:</a:t>
            </a:r>
          </a:p>
          <a:p>
            <a:pPr lvl="1"/>
            <a:r>
              <a:rPr sz="1500" b="1">
                <a:solidFill>
                  <a:srgbClr val="0F6E56"/>
                </a:solidFill>
              </a:rPr>
              <a:t>a) matched rows   b) ✅ a cross product (every combination)   c) an error   d) zero rows</a:t>
            </a:r>
          </a:p>
          <a:p>
            <a:pPr lvl="1">
              <a:spcBef>
                <a:spcPts val="600"/>
              </a:spcBef>
            </a:pPr>
            <a:r>
              <a:rPr sz="1500" i="1">
                <a:solidFill>
                  <a:srgbClr val="1A1A1A"/>
                </a:solidFill>
              </a:rPr>
              <a:t>     Why: without a join condition you get the Cartesian product.</a:t>
            </a:r>
          </a:p>
          <a:p>
            <a:pPr lvl="1">
              <a:spcBef>
                <a:spcPts val="600"/>
              </a:spcBef>
            </a:pPr>
            <a:r>
              <a:rPr sz="1500" i="1">
                <a:solidFill>
                  <a:srgbClr val="1A1A1A"/>
                </a:solidFill>
              </a:rPr>
              <a:t>Discussion: name a screen in a Nepali app and write the SELECT…WHERE behind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219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SELECT picks COLUMNS (projection); FROM picks the table; WHERE picks ROWS.</a:t>
            </a:r>
          </a:p>
          <a:p>
            <a:pPr>
              <a:spcAft>
                <a:spcPts val="800"/>
              </a:spcAft>
            </a:pPr>
            <a:r>
              <a:rPr sz="1500">
                <a:solidFill>
                  <a:srgbClr val="1A1A1A"/>
                </a:solidFill>
              </a:rPr>
              <a:t>2.  WHERE uses =,&lt;&gt;,&lt;,&gt;=, AND/OR/NOT, BETWEEN, IN to keep only TRUE rows.</a:t>
            </a:r>
          </a:p>
          <a:p>
            <a:pPr>
              <a:spcAft>
                <a:spcPts val="800"/>
              </a:spcAft>
            </a:pPr>
            <a:r>
              <a:rPr sz="1500">
                <a:solidFill>
                  <a:srgbClr val="1A1A1A"/>
                </a:solidFill>
              </a:rPr>
              <a:t>3.  Listing tables in FROM without a join condition = a dangerous cross product.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filter, search, and report in every app you will ever build is a SELECT…WHERE. This is the single most-used shape in all of SQL — fluency here pays off in literally every data or backend job.</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S24 — renaming things and searching inside text: AS, tuple variables, and LIKE.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219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24 · LECTURE HOUR 3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Rename · Tuple Variables · String Operations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When you join the Student table TO ITSELF to find classmates, both copies are called 'Student'. How does SQL tell them apart?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35 / 219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Rename Operation (AS)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AS renames a column or table in the OUTPUT (or for the query's duration) so results are readable and expressions get a name. The underlying table is unchanged.</a:t>
            </a:r>
          </a:p>
          <a:p>
            <a:pPr>
              <a:spcAft>
                <a:spcPts val="500"/>
              </a:spcAft>
            </a:pPr>
            <a:r>
              <a:rPr sz="1200" b="1">
                <a:solidFill>
                  <a:srgbClr val="185FA5"/>
                </a:solidFill>
              </a:rPr>
              <a:t>HOW IT WORKS</a:t>
            </a:r>
          </a:p>
          <a:p>
            <a:pPr>
              <a:spcAft>
                <a:spcPts val="600"/>
              </a:spcAft>
            </a:pPr>
            <a:r>
              <a:rPr sz="1400">
                <a:solidFill>
                  <a:srgbClr val="1A1A1A"/>
                </a:solidFill>
              </a:rPr>
              <a:t>•  SELECT name AS student_name, marks AS score FROM Enrollment;</a:t>
            </a:r>
          </a:p>
          <a:p>
            <a:pPr>
              <a:spcAft>
                <a:spcPts val="600"/>
              </a:spcAft>
            </a:pPr>
            <a:r>
              <a:rPr sz="1400">
                <a:solidFill>
                  <a:srgbClr val="1A1A1A"/>
                </a:solidFill>
              </a:rPr>
              <a:t>•  AS on a computed column gives it a header: marks*1.0/100 AS fraction.</a:t>
            </a:r>
          </a:p>
          <a:p>
            <a:pPr>
              <a:spcAft>
                <a:spcPts val="600"/>
              </a:spcAft>
            </a:pPr>
            <a:r>
              <a:rPr sz="1400">
                <a:solidFill>
                  <a:srgbClr val="1A1A1A"/>
                </a:solidFill>
              </a:rPr>
              <a:t>•  The AS keyword is optional in MySQL (name student_name works) but clearer with it.</a:t>
            </a:r>
          </a:p>
          <a:p>
            <a:pPr>
              <a:spcAft>
                <a:spcPts val="600"/>
              </a:spcAft>
            </a:pPr>
            <a:r>
              <a:rPr sz="1400">
                <a:solidFill>
                  <a:srgbClr val="1A1A1A"/>
                </a:solidFill>
              </a:rPr>
              <a:t>•  It renames only the result — the stored column name never changes.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AS = a nickname for output — the real column keeps its name.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219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AS in action — expression → readable output header</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735285"/>
                <a:gridCol w="3102428"/>
                <a:gridCol w="3592285"/>
              </a:tblGrid>
              <a:tr h="630936">
                <a:tc>
                  <a:txBody>
                    <a:bodyPr wrap="square"/>
                    <a:lstStyle/>
                    <a:p>
                      <a:r>
                        <a:rPr sz="1100" b="1">
                          <a:solidFill>
                            <a:srgbClr val="FFFFFF"/>
                          </a:solidFill>
                        </a:rPr>
                        <a:t>Query fragment</a:t>
                      </a:r>
                    </a:p>
                  </a:txBody>
                  <a:tcPr anchor="ctr" marL="73152" marR="54864" marT="27432" marB="27432">
                    <a:solidFill>
                      <a:srgbClr val="0C2B4A"/>
                    </a:solidFill>
                  </a:tcPr>
                </a:tc>
                <a:tc>
                  <a:txBody>
                    <a:bodyPr wrap="square"/>
                    <a:lstStyle/>
                    <a:p>
                      <a:r>
                        <a:rPr sz="1100" b="1">
                          <a:solidFill>
                            <a:srgbClr val="FFFFFF"/>
                          </a:solidFill>
                        </a:rPr>
                        <a:t>Output header</a:t>
                      </a:r>
                    </a:p>
                  </a:txBody>
                  <a:tcPr anchor="ctr" marL="73152" marR="54864" marT="27432" marB="27432">
                    <a:solidFill>
                      <a:srgbClr val="0C2B4A"/>
                    </a:solidFill>
                  </a:tcPr>
                </a:tc>
                <a:tc>
                  <a:txBody>
                    <a:bodyPr wrap="square"/>
                    <a:lstStyle/>
                    <a:p>
                      <a:r>
                        <a:rPr sz="1100" b="1">
                          <a:solidFill>
                            <a:srgbClr val="FFFFFF"/>
                          </a:solidFill>
                        </a:rPr>
                        <a:t>Why rename</a:t>
                      </a:r>
                    </a:p>
                  </a:txBody>
                  <a:tcPr anchor="ctr" marL="73152" marR="54864" marT="27432" marB="27432">
                    <a:solidFill>
                      <a:srgbClr val="0C2B4A"/>
                    </a:solidFill>
                  </a:tcPr>
                </a:tc>
              </a:tr>
              <a:tr h="630936">
                <a:tc>
                  <a:txBody>
                    <a:bodyPr wrap="square"/>
                    <a:lstStyle/>
                    <a:p>
                      <a:r>
                        <a:rPr sz="1050" b="1">
                          <a:solidFill>
                            <a:srgbClr val="0C2B4A"/>
                          </a:solidFill>
                        </a:rPr>
                        <a:t>SELECT name AS "Student Name"</a:t>
                      </a:r>
                    </a:p>
                  </a:txBody>
                  <a:tcPr anchor="ctr" marL="73152" marR="54864" marT="27432" marB="27432">
                    <a:solidFill>
                      <a:srgbClr val="FFFFFF"/>
                    </a:solidFill>
                  </a:tcPr>
                </a:tc>
                <a:tc>
                  <a:txBody>
                    <a:bodyPr wrap="square"/>
                    <a:lstStyle/>
                    <a:p>
                      <a:r>
                        <a:rPr sz="1050">
                          <a:solidFill>
                            <a:srgbClr val="1A1A1A"/>
                          </a:solidFill>
                        </a:rPr>
                        <a:t>Student Name</a:t>
                      </a:r>
                    </a:p>
                  </a:txBody>
                  <a:tcPr anchor="ctr" marL="73152" marR="54864" marT="27432" marB="27432">
                    <a:solidFill>
                      <a:srgbClr val="FFFFFF"/>
                    </a:solidFill>
                  </a:tcPr>
                </a:tc>
                <a:tc>
                  <a:txBody>
                    <a:bodyPr wrap="square"/>
                    <a:lstStyle/>
                    <a:p>
                      <a:r>
                        <a:rPr sz="1050">
                          <a:solidFill>
                            <a:srgbClr val="1A1A1A"/>
                          </a:solidFill>
                        </a:rPr>
                        <a:t>human-readable report column</a:t>
                      </a:r>
                    </a:p>
                  </a:txBody>
                  <a:tcPr anchor="ctr" marL="73152" marR="54864" marT="27432" marB="27432">
                    <a:solidFill>
                      <a:srgbClr val="FFFFFF"/>
                    </a:solidFill>
                  </a:tcPr>
                </a:tc>
              </a:tr>
              <a:tr h="630936">
                <a:tc>
                  <a:txBody>
                    <a:bodyPr wrap="square"/>
                    <a:lstStyle/>
                    <a:p>
                      <a:r>
                        <a:rPr sz="1050" b="1">
                          <a:solidFill>
                            <a:srgbClr val="0C2B4A"/>
                          </a:solidFill>
                        </a:rPr>
                        <a:t>marks AS score</a:t>
                      </a:r>
                    </a:p>
                  </a:txBody>
                  <a:tcPr anchor="ctr" marL="73152" marR="54864" marT="27432" marB="27432">
                    <a:solidFill>
                      <a:srgbClr val="EEF3F8"/>
                    </a:solidFill>
                  </a:tcPr>
                </a:tc>
                <a:tc>
                  <a:txBody>
                    <a:bodyPr wrap="square"/>
                    <a:lstStyle/>
                    <a:p>
                      <a:r>
                        <a:rPr sz="1050">
                          <a:solidFill>
                            <a:srgbClr val="1A1A1A"/>
                          </a:solidFill>
                        </a:rPr>
                        <a:t>score</a:t>
                      </a:r>
                    </a:p>
                  </a:txBody>
                  <a:tcPr anchor="ctr" marL="73152" marR="54864" marT="27432" marB="27432">
                    <a:solidFill>
                      <a:srgbClr val="EEF3F8"/>
                    </a:solidFill>
                  </a:tcPr>
                </a:tc>
                <a:tc>
                  <a:txBody>
                    <a:bodyPr wrap="square"/>
                    <a:lstStyle/>
                    <a:p>
                      <a:r>
                        <a:rPr sz="1050">
                          <a:solidFill>
                            <a:srgbClr val="1A1A1A"/>
                          </a:solidFill>
                        </a:rPr>
                        <a:t>clearer than 'marks' in context</a:t>
                      </a:r>
                    </a:p>
                  </a:txBody>
                  <a:tcPr anchor="ctr" marL="73152" marR="54864" marT="27432" marB="27432">
                    <a:solidFill>
                      <a:srgbClr val="EEF3F8"/>
                    </a:solidFill>
                  </a:tcPr>
                </a:tc>
              </a:tr>
              <a:tr h="630936">
                <a:tc>
                  <a:txBody>
                    <a:bodyPr wrap="square"/>
                    <a:lstStyle/>
                    <a:p>
                      <a:r>
                        <a:rPr sz="1050" b="1">
                          <a:solidFill>
                            <a:srgbClr val="0C2B4A"/>
                          </a:solidFill>
                        </a:rPr>
                        <a:t>marks*1.0 AS percentage</a:t>
                      </a:r>
                    </a:p>
                  </a:txBody>
                  <a:tcPr anchor="ctr" marL="73152" marR="54864" marT="27432" marB="27432">
                    <a:solidFill>
                      <a:srgbClr val="FFFFFF"/>
                    </a:solidFill>
                  </a:tcPr>
                </a:tc>
                <a:tc>
                  <a:txBody>
                    <a:bodyPr wrap="square"/>
                    <a:lstStyle/>
                    <a:p>
                      <a:r>
                        <a:rPr sz="1050">
                          <a:solidFill>
                            <a:srgbClr val="1A1A1A"/>
                          </a:solidFill>
                        </a:rPr>
                        <a:t>percentage</a:t>
                      </a:r>
                    </a:p>
                  </a:txBody>
                  <a:tcPr anchor="ctr" marL="73152" marR="54864" marT="27432" marB="27432">
                    <a:solidFill>
                      <a:srgbClr val="FFFFFF"/>
                    </a:solidFill>
                  </a:tcPr>
                </a:tc>
                <a:tc>
                  <a:txBody>
                    <a:bodyPr wrap="square"/>
                    <a:lstStyle/>
                    <a:p>
                      <a:r>
                        <a:rPr sz="1050">
                          <a:solidFill>
                            <a:srgbClr val="1A1A1A"/>
                          </a:solidFill>
                        </a:rPr>
                        <a:t>computed column needs a name</a:t>
                      </a:r>
                    </a:p>
                  </a:txBody>
                  <a:tcPr anchor="ctr" marL="73152" marR="54864" marT="27432" marB="27432">
                    <a:solidFill>
                      <a:srgbClr val="FFFFFF"/>
                    </a:solidFill>
                  </a:tcPr>
                </a:tc>
              </a:tr>
              <a:tr h="630936">
                <a:tc>
                  <a:txBody>
                    <a:bodyPr wrap="square"/>
                    <a:lstStyle/>
                    <a:p>
                      <a:r>
                        <a:rPr sz="1050" b="1">
                          <a:solidFill>
                            <a:srgbClr val="0C2B4A"/>
                          </a:solidFill>
                        </a:rPr>
                        <a:t>COUNT(*) AS total_students</a:t>
                      </a:r>
                    </a:p>
                  </a:txBody>
                  <a:tcPr anchor="ctr" marL="73152" marR="54864" marT="27432" marB="27432">
                    <a:solidFill>
                      <a:srgbClr val="EEF3F8"/>
                    </a:solidFill>
                  </a:tcPr>
                </a:tc>
                <a:tc>
                  <a:txBody>
                    <a:bodyPr wrap="square"/>
                    <a:lstStyle/>
                    <a:p>
                      <a:r>
                        <a:rPr sz="1050">
                          <a:solidFill>
                            <a:srgbClr val="1A1A1A"/>
                          </a:solidFill>
                        </a:rPr>
                        <a:t>total_students</a:t>
                      </a:r>
                    </a:p>
                  </a:txBody>
                  <a:tcPr anchor="ctr" marL="73152" marR="54864" marT="27432" marB="27432">
                    <a:solidFill>
                      <a:srgbClr val="EEF3F8"/>
                    </a:solidFill>
                  </a:tcPr>
                </a:tc>
                <a:tc>
                  <a:txBody>
                    <a:bodyPr wrap="square"/>
                    <a:lstStyle/>
                    <a:p>
                      <a:r>
                        <a:rPr sz="1050">
                          <a:solidFill>
                            <a:srgbClr val="1A1A1A"/>
                          </a:solidFill>
                        </a:rPr>
                        <a:t>aggregates have no natural name (S26)</a:t>
                      </a:r>
                    </a:p>
                  </a:txBody>
                  <a:tcPr anchor="ctr" marL="73152" marR="54864" marT="27432" marB="27432">
                    <a:solidFill>
                      <a:srgbClr val="EEF3F8"/>
                    </a:solidFill>
                  </a:tcPr>
                </a:tc>
              </a:tr>
              <a:tr h="630936">
                <a:tc>
                  <a:txBody>
                    <a:bodyPr wrap="square"/>
                    <a:lstStyle/>
                    <a:p>
                      <a:r>
                        <a:rPr sz="1050" b="1">
                          <a:solidFill>
                            <a:srgbClr val="0C2B4A"/>
                          </a:solidFill>
                        </a:rPr>
                        <a:t>salary*12 AS annual_salary</a:t>
                      </a:r>
                    </a:p>
                  </a:txBody>
                  <a:tcPr anchor="ctr" marL="73152" marR="54864" marT="27432" marB="27432">
                    <a:solidFill>
                      <a:srgbClr val="FFFFFF"/>
                    </a:solidFill>
                  </a:tcPr>
                </a:tc>
                <a:tc>
                  <a:txBody>
                    <a:bodyPr wrap="square"/>
                    <a:lstStyle/>
                    <a:p>
                      <a:r>
                        <a:rPr sz="1050">
                          <a:solidFill>
                            <a:srgbClr val="1A1A1A"/>
                          </a:solidFill>
                        </a:rPr>
                        <a:t>annual_salary</a:t>
                      </a:r>
                    </a:p>
                  </a:txBody>
                  <a:tcPr anchor="ctr" marL="73152" marR="54864" marT="27432" marB="27432">
                    <a:solidFill>
                      <a:srgbClr val="FFFFFF"/>
                    </a:solidFill>
                  </a:tcPr>
                </a:tc>
                <a:tc>
                  <a:txBody>
                    <a:bodyPr wrap="square"/>
                    <a:lstStyle/>
                    <a:p>
                      <a:r>
                        <a:rPr sz="1050">
                          <a:solidFill>
                            <a:srgbClr val="1A1A1A"/>
                          </a:solidFill>
                        </a:rPr>
                        <a:t>label the derived value</a:t>
                      </a:r>
                    </a:p>
                  </a:txBody>
                  <a:tcPr anchor="ctr" marL="73152" marR="54864" marT="27432" marB="27432">
                    <a:solidFill>
                      <a:srgbClr val="FFFFFF"/>
                    </a:solidFill>
                  </a:tcPr>
                </a:tc>
              </a:tr>
              <a:tr h="630936">
                <a:tc>
                  <a:txBody>
                    <a:bodyPr wrap="square"/>
                    <a:lstStyle/>
                    <a:p>
                      <a:r>
                        <a:rPr sz="1050" b="1">
                          <a:solidFill>
                            <a:srgbClr val="0C2B4A"/>
                          </a:solidFill>
                        </a:rPr>
                        <a:t>Student AS s</a:t>
                      </a:r>
                    </a:p>
                  </a:txBody>
                  <a:tcPr anchor="ctr" marL="73152" marR="54864" marT="27432" marB="27432">
                    <a:solidFill>
                      <a:srgbClr val="EEF3F8"/>
                    </a:solidFill>
                  </a:tcPr>
                </a:tc>
                <a:tc>
                  <a:txBody>
                    <a:bodyPr wrap="square"/>
                    <a:lstStyle/>
                    <a:p>
                      <a:r>
                        <a:rPr sz="1050">
                          <a:solidFill>
                            <a:srgbClr val="1A1A1A"/>
                          </a:solidFill>
                        </a:rPr>
                        <a:t>(table alias s)</a:t>
                      </a:r>
                    </a:p>
                  </a:txBody>
                  <a:tcPr anchor="ctr" marL="73152" marR="54864" marT="27432" marB="27432">
                    <a:solidFill>
                      <a:srgbClr val="EEF3F8"/>
                    </a:solidFill>
                  </a:tcPr>
                </a:tc>
                <a:tc>
                  <a:txBody>
                    <a:bodyPr wrap="square"/>
                    <a:lstStyle/>
                    <a:p>
                      <a:r>
                        <a:rPr sz="1050">
                          <a:solidFill>
                            <a:srgbClr val="1A1A1A"/>
                          </a:solidFill>
                        </a:rPr>
                        <a:t>short name for multi-table queries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Rename columns for readable reports and to NAME computed/aggregate values (which otherwise get an ugly auto-name). Renaming a TABLE (Student AS s) leads straight into tuple variables.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219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Rename Operation (AS)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college marksheet export must show headers like 'Student Name' and 'Percentage', not the raw column names 'name' and a formula. SELECT name AS 'Student Name', marks*1.0 AS 'Percentage' produces a report humans can read, without touching the stored schema.</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"Renaming with AS changes the column in the table." It does not — AS only labels the result set for this query. The stored column name is unchanged; the next query still sees the original name.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rename operation (AS) gives a column, expression, or table a new name for the query's output or duration. It makes reports readable, names computed and aggregate columns, and provides short table aliases — without altering the stored schema. In MySQL the AS keyword is optional but recommended for clarity.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rename · AS · column alias · expression alias · table alias · output only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219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Tuple Variables (Table Aliases)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tuple variable is a short alias bound to a table (Student s). It shortens multi-table queries and is MANDATORY for a self-join, where a table is joined to itself and both copies need distinct names.</a:t>
            </a:r>
          </a:p>
          <a:p>
            <a:pPr>
              <a:spcAft>
                <a:spcPts val="500"/>
              </a:spcAft>
            </a:pPr>
            <a:r>
              <a:rPr sz="1200" b="1">
                <a:solidFill>
                  <a:srgbClr val="185FA5"/>
                </a:solidFill>
              </a:rPr>
              <a:t>HOW IT WORKS</a:t>
            </a:r>
          </a:p>
          <a:p>
            <a:pPr>
              <a:spcAft>
                <a:spcPts val="600"/>
              </a:spcAft>
            </a:pPr>
            <a:r>
              <a:rPr sz="1400">
                <a:solidFill>
                  <a:srgbClr val="1A1A1A"/>
                </a:solidFill>
              </a:rPr>
              <a:t>•  SELECT s.name, e.grade FROM Student s, Enrollment e WHERE s.roll = e.roll;</a:t>
            </a:r>
          </a:p>
          <a:p>
            <a:pPr>
              <a:spcAft>
                <a:spcPts val="600"/>
              </a:spcAft>
            </a:pPr>
            <a:r>
              <a:rPr sz="1400">
                <a:solidFill>
                  <a:srgbClr val="1A1A1A"/>
                </a:solidFill>
              </a:rPr>
              <a:t>•  Prefix columns with the alias (s.name) to say which table you mean.</a:t>
            </a:r>
          </a:p>
          <a:p>
            <a:pPr>
              <a:spcAft>
                <a:spcPts val="600"/>
              </a:spcAft>
            </a:pPr>
            <a:r>
              <a:rPr sz="1400">
                <a:solidFill>
                  <a:srgbClr val="1A1A1A"/>
                </a:solidFill>
              </a:rPr>
              <a:t>•  Self-join: FROM Student s1, Student s2 — two independent handles on one table.</a:t>
            </a:r>
          </a:p>
          <a:p>
            <a:pPr>
              <a:spcAft>
                <a:spcPts val="600"/>
              </a:spcAft>
            </a:pPr>
            <a:r>
              <a:rPr sz="1400">
                <a:solidFill>
                  <a:srgbClr val="1A1A1A"/>
                </a:solidFill>
              </a:rPr>
              <a:t>•  Without distinct aliases, a self-join is ambiguous and errors.</a:t>
            </a:r>
          </a:p>
        </p:txBody>
      </p:sp>
      <p:pic>
        <p:nvPicPr>
          <p:cNvPr id="6" name="Picture 5" descr="s24_selfjoin.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Aliases are handles — a self-join needs two handles on the same table.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219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tuple variables matter — with vs without aliases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380704"/>
                <a:gridCol w="5473521"/>
                <a:gridCol w="2575774"/>
              </a:tblGrid>
              <a:tr h="736092">
                <a:tc>
                  <a:txBody>
                    <a:bodyPr wrap="square"/>
                    <a:lstStyle/>
                    <a:p>
                      <a:r>
                        <a:rPr sz="1100" b="1">
                          <a:solidFill>
                            <a:srgbClr val="FFFFFF"/>
                          </a:solidFill>
                        </a:rPr>
                        <a:t>Task</a:t>
                      </a:r>
                    </a:p>
                  </a:txBody>
                  <a:tcPr anchor="ctr" marL="73152" marR="54864" marT="27432" marB="27432">
                    <a:solidFill>
                      <a:srgbClr val="0C2B4A"/>
                    </a:solidFill>
                  </a:tcPr>
                </a:tc>
                <a:tc>
                  <a:txBody>
                    <a:bodyPr wrap="square"/>
                    <a:lstStyle/>
                    <a:p>
                      <a:r>
                        <a:rPr sz="1100" b="1">
                          <a:solidFill>
                            <a:srgbClr val="FFFFFF"/>
                          </a:solidFill>
                        </a:rPr>
                        <a:t>Query (MySQL)</a:t>
                      </a:r>
                    </a:p>
                  </a:txBody>
                  <a:tcPr anchor="ctr" marL="73152" marR="54864" marT="27432" marB="27432">
                    <a:solidFill>
                      <a:srgbClr val="0C2B4A"/>
                    </a:solidFill>
                  </a:tcPr>
                </a:tc>
                <a:tc>
                  <a:txBody>
                    <a:bodyPr wrap="square"/>
                    <a:lstStyle/>
                    <a:p>
                      <a:r>
                        <a:rPr sz="1100" b="1">
                          <a:solidFill>
                            <a:srgbClr val="FFFFFF"/>
                          </a:solidFill>
                        </a:rPr>
                        <a:t>Aliases needed?</a:t>
                      </a:r>
                    </a:p>
                  </a:txBody>
                  <a:tcPr anchor="ctr" marL="73152" marR="54864" marT="27432" marB="27432">
                    <a:solidFill>
                      <a:srgbClr val="0C2B4A"/>
                    </a:solidFill>
                  </a:tcPr>
                </a:tc>
              </a:tr>
              <a:tr h="736092">
                <a:tc>
                  <a:txBody>
                    <a:bodyPr wrap="square"/>
                    <a:lstStyle/>
                    <a:p>
                      <a:r>
                        <a:rPr sz="1050" b="1">
                          <a:solidFill>
                            <a:srgbClr val="0C2B4A"/>
                          </a:solidFill>
                        </a:rPr>
                        <a:t>student + their grade</a:t>
                      </a:r>
                    </a:p>
                  </a:txBody>
                  <a:tcPr anchor="ctr" marL="73152" marR="54864" marT="27432" marB="27432">
                    <a:solidFill>
                      <a:srgbClr val="FFFFFF"/>
                    </a:solidFill>
                  </a:tcPr>
                </a:tc>
                <a:tc>
                  <a:txBody>
                    <a:bodyPr wrap="square"/>
                    <a:lstStyle/>
                    <a:p>
                      <a:r>
                        <a:rPr sz="1050">
                          <a:solidFill>
                            <a:srgbClr val="1A1A1A"/>
                          </a:solidFill>
                        </a:rPr>
                        <a:t>FROM Student s, Enrollment e WHERE s.roll=e.roll</a:t>
                      </a:r>
                    </a:p>
                  </a:txBody>
                  <a:tcPr anchor="ctr" marL="73152" marR="54864" marT="27432" marB="27432">
                    <a:solidFill>
                      <a:srgbClr val="FFFFFF"/>
                    </a:solidFill>
                  </a:tcPr>
                </a:tc>
                <a:tc>
                  <a:txBody>
                    <a:bodyPr wrap="square"/>
                    <a:lstStyle/>
                    <a:p>
                      <a:r>
                        <a:rPr sz="1050">
                          <a:solidFill>
                            <a:srgbClr val="1A1A1A"/>
                          </a:solidFill>
                        </a:rPr>
                        <a:t>optional, but tidy</a:t>
                      </a:r>
                    </a:p>
                  </a:txBody>
                  <a:tcPr anchor="ctr" marL="73152" marR="54864" marT="27432" marB="27432">
                    <a:solidFill>
                      <a:srgbClr val="FFFFFF"/>
                    </a:solidFill>
                  </a:tcPr>
                </a:tc>
              </a:tr>
              <a:tr h="736092">
                <a:tc>
                  <a:txBody>
                    <a:bodyPr wrap="square"/>
                    <a:lstStyle/>
                    <a:p>
                      <a:r>
                        <a:rPr sz="1050" b="1">
                          <a:solidFill>
                            <a:srgbClr val="0C2B4A"/>
                          </a:solidFill>
                        </a:rPr>
                        <a:t>classmates (same program)</a:t>
                      </a:r>
                    </a:p>
                  </a:txBody>
                  <a:tcPr anchor="ctr" marL="73152" marR="54864" marT="27432" marB="27432">
                    <a:solidFill>
                      <a:srgbClr val="EEF3F8"/>
                    </a:solidFill>
                  </a:tcPr>
                </a:tc>
                <a:tc>
                  <a:txBody>
                    <a:bodyPr wrap="square"/>
                    <a:lstStyle/>
                    <a:p>
                      <a:r>
                        <a:rPr sz="1050">
                          <a:solidFill>
                            <a:srgbClr val="1A1A1A"/>
                          </a:solidFill>
                        </a:rPr>
                        <a:t>FROM Student s1, Student s2 WHERE s1.program=s2.program AND s1.roll&lt;&gt;s2.roll</a:t>
                      </a:r>
                    </a:p>
                  </a:txBody>
                  <a:tcPr anchor="ctr" marL="73152" marR="54864" marT="27432" marB="27432">
                    <a:solidFill>
                      <a:srgbClr val="EEF3F8"/>
                    </a:solidFill>
                  </a:tcPr>
                </a:tc>
                <a:tc>
                  <a:txBody>
                    <a:bodyPr wrap="square"/>
                    <a:lstStyle/>
                    <a:p>
                      <a:r>
                        <a:rPr sz="1050">
                          <a:solidFill>
                            <a:srgbClr val="1A1A1A"/>
                          </a:solidFill>
                        </a:rPr>
                        <a:t>MANDATORY (self-join)</a:t>
                      </a:r>
                    </a:p>
                  </a:txBody>
                  <a:tcPr anchor="ctr" marL="73152" marR="54864" marT="27432" marB="27432">
                    <a:solidFill>
                      <a:srgbClr val="EEF3F8"/>
                    </a:solidFill>
                  </a:tcPr>
                </a:tc>
              </a:tr>
              <a:tr h="736092">
                <a:tc>
                  <a:txBody>
                    <a:bodyPr wrap="square"/>
                    <a:lstStyle/>
                    <a:p>
                      <a:r>
                        <a:rPr sz="1050" b="1">
                          <a:solidFill>
                            <a:srgbClr val="0C2B4A"/>
                          </a:solidFill>
                        </a:rPr>
                        <a:t>instructor + course taught</a:t>
                      </a:r>
                    </a:p>
                  </a:txBody>
                  <a:tcPr anchor="ctr" marL="73152" marR="54864" marT="27432" marB="27432">
                    <a:solidFill>
                      <a:srgbClr val="FFFFFF"/>
                    </a:solidFill>
                  </a:tcPr>
                </a:tc>
                <a:tc>
                  <a:txBody>
                    <a:bodyPr wrap="square"/>
                    <a:lstStyle/>
                    <a:p>
                      <a:r>
                        <a:rPr sz="1050">
                          <a:solidFill>
                            <a:srgbClr val="1A1A1A"/>
                          </a:solidFill>
                        </a:rPr>
                        <a:t>FROM Instructor i, Teaches t WHERE i.inst_id=t.inst_id</a:t>
                      </a:r>
                    </a:p>
                  </a:txBody>
                  <a:tcPr anchor="ctr" marL="73152" marR="54864" marT="27432" marB="27432">
                    <a:solidFill>
                      <a:srgbClr val="FFFFFF"/>
                    </a:solidFill>
                  </a:tcPr>
                </a:tc>
                <a:tc>
                  <a:txBody>
                    <a:bodyPr wrap="square"/>
                    <a:lstStyle/>
                    <a:p>
                      <a:r>
                        <a:rPr sz="1050">
                          <a:solidFill>
                            <a:srgbClr val="1A1A1A"/>
                          </a:solidFill>
                        </a:rPr>
                        <a:t>optional, tidy</a:t>
                      </a:r>
                    </a:p>
                  </a:txBody>
                  <a:tcPr anchor="ctr" marL="73152" marR="54864" marT="27432" marB="27432">
                    <a:solidFill>
                      <a:srgbClr val="FFFFFF"/>
                    </a:solidFill>
                  </a:tcPr>
                </a:tc>
              </a:tr>
              <a:tr h="736092">
                <a:tc>
                  <a:txBody>
                    <a:bodyPr wrap="square"/>
                    <a:lstStyle/>
                    <a:p>
                      <a:r>
                        <a:rPr sz="1050" b="1">
                          <a:solidFill>
                            <a:srgbClr val="0C2B4A"/>
                          </a:solidFill>
                        </a:rPr>
                        <a:t>pairs of courses in same dept</a:t>
                      </a:r>
                    </a:p>
                  </a:txBody>
                  <a:tcPr anchor="ctr" marL="73152" marR="54864" marT="27432" marB="27432">
                    <a:solidFill>
                      <a:srgbClr val="EEF3F8"/>
                    </a:solidFill>
                  </a:tcPr>
                </a:tc>
                <a:tc>
                  <a:txBody>
                    <a:bodyPr wrap="square"/>
                    <a:lstStyle/>
                    <a:p>
                      <a:r>
                        <a:rPr sz="1050">
                          <a:solidFill>
                            <a:srgbClr val="1A1A1A"/>
                          </a:solidFill>
                        </a:rPr>
                        <a:t>FROM Course c1, Course c2 WHERE c1.dept=c2.dept AND c1.course_id&lt;&gt;c2.course_id</a:t>
                      </a:r>
                    </a:p>
                  </a:txBody>
                  <a:tcPr anchor="ctr" marL="73152" marR="54864" marT="27432" marB="27432">
                    <a:solidFill>
                      <a:srgbClr val="EEF3F8"/>
                    </a:solidFill>
                  </a:tcPr>
                </a:tc>
                <a:tc>
                  <a:txBody>
                    <a:bodyPr wrap="square"/>
                    <a:lstStyle/>
                    <a:p>
                      <a:r>
                        <a:rPr sz="1050">
                          <a:solidFill>
                            <a:srgbClr val="1A1A1A"/>
                          </a:solidFill>
                        </a:rPr>
                        <a:t>MANDATORY (self-join)</a:t>
                      </a:r>
                    </a:p>
                  </a:txBody>
                  <a:tcPr anchor="ctr" marL="73152" marR="54864" marT="27432" marB="27432">
                    <a:solidFill>
                      <a:srgbClr val="EEF3F8"/>
                    </a:solidFill>
                  </a:tcPr>
                </a:tc>
              </a:tr>
              <a:tr h="736092">
                <a:tc>
                  <a:txBody>
                    <a:bodyPr wrap="square"/>
                    <a:lstStyle/>
                    <a:p>
                      <a:r>
                        <a:rPr sz="1050" b="1">
                          <a:solidFill>
                            <a:srgbClr val="0C2B4A"/>
                          </a:solidFill>
                        </a:rPr>
                        <a:t>disambiguate same column name</a:t>
                      </a:r>
                    </a:p>
                  </a:txBody>
                  <a:tcPr anchor="ctr" marL="73152" marR="54864" marT="27432" marB="27432">
                    <a:solidFill>
                      <a:srgbClr val="FFFFFF"/>
                    </a:solidFill>
                  </a:tcPr>
                </a:tc>
                <a:tc>
                  <a:txBody>
                    <a:bodyPr wrap="square"/>
                    <a:lstStyle/>
                    <a:p>
                      <a:r>
                        <a:rPr sz="1050">
                          <a:solidFill>
                            <a:srgbClr val="1A1A1A"/>
                          </a:solidFill>
                        </a:rPr>
                        <a:t>s.roll vs e.roll</a:t>
                      </a:r>
                    </a:p>
                  </a:txBody>
                  <a:tcPr anchor="ctr" marL="73152" marR="54864" marT="27432" marB="27432">
                    <a:solidFill>
                      <a:srgbClr val="FFFFFF"/>
                    </a:solidFill>
                  </a:tcPr>
                </a:tc>
                <a:tc>
                  <a:txBody>
                    <a:bodyPr wrap="square"/>
                    <a:lstStyle/>
                    <a:p>
                      <a:r>
                        <a:rPr sz="1050">
                          <a:solidFill>
                            <a:srgbClr val="1A1A1A"/>
                          </a:solidFill>
                        </a:rPr>
                        <a:t>needed when names clash</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For ordinary multi-table queries aliases are convenience; for a SELF-join they are mandatory — the two copies of the table must have different names to be referred to at all.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219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Tuple Variables (Table Aliases)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To find everyone in Sita's program, you compare Student against itself: FROM Student s1, Student s2 WHERE s2.name='Sita' AND s1.program=s2.program AND s1.roll&lt;&gt;s2.roll. The two aliases s1 and s2 are the only way to hold two rows of the same table at once.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"Aliases are just cosmetic shortening." For most queries, yes — but for a self-join they are MANDATORY: without two distinct names, SQL cannot tell the two copies of the table apart and the query is ambiguous.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tuple variable (table alias) is a short name bound to a table for a query, e.g. Student s. It shortens multi-table queries and disambiguates columns (s.roll vs e.roll). It is mandatory for a self-join, where the same table appears twice and each copy needs its own name (s1, s2) to be referenced.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tuple variable · table alias · self-join · disambiguation · s1/s2</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219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3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String Operations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SQL searches and transforms text: LIKE with wildcards % (any sequence) and _ (exactly one character), CONCAT() for joining strings, and UPPER/LOWER/TRIM for case and whitespace.</a:t>
            </a:r>
          </a:p>
          <a:p>
            <a:pPr>
              <a:spcAft>
                <a:spcPts val="500"/>
              </a:spcAft>
            </a:pPr>
            <a:r>
              <a:rPr sz="1200" b="1">
                <a:solidFill>
                  <a:srgbClr val="185FA5"/>
                </a:solidFill>
              </a:rPr>
              <a:t>HOW IT WORKS</a:t>
            </a:r>
          </a:p>
          <a:p>
            <a:pPr>
              <a:spcAft>
                <a:spcPts val="600"/>
              </a:spcAft>
            </a:pPr>
            <a:r>
              <a:rPr sz="1400">
                <a:solidFill>
                  <a:srgbClr val="1A1A1A"/>
                </a:solidFill>
              </a:rPr>
              <a:t>•  SELECT name FROM Student WHERE name LIKE 'S%'; — names starting with S.</a:t>
            </a:r>
          </a:p>
          <a:p>
            <a:pPr>
              <a:spcAft>
                <a:spcPts val="600"/>
              </a:spcAft>
            </a:pPr>
            <a:r>
              <a:rPr sz="1400">
                <a:solidFill>
                  <a:srgbClr val="1A1A1A"/>
                </a:solidFill>
              </a:rPr>
              <a:t>•  email LIKE '%@pu.edu.np' — anything ending in that domain.</a:t>
            </a:r>
          </a:p>
          <a:p>
            <a:pPr>
              <a:spcAft>
                <a:spcPts val="600"/>
              </a:spcAft>
            </a:pPr>
            <a:r>
              <a:rPr sz="1400">
                <a:solidFill>
                  <a:srgbClr val="1A1A1A"/>
                </a:solidFill>
              </a:rPr>
              <a:t>•  _ matches exactly one character; % matches any run (including none).</a:t>
            </a:r>
          </a:p>
          <a:p>
            <a:pPr>
              <a:spcAft>
                <a:spcPts val="600"/>
              </a:spcAft>
            </a:pPr>
            <a:r>
              <a:rPr sz="1400">
                <a:solidFill>
                  <a:srgbClr val="1A1A1A"/>
                </a:solidFill>
              </a:rPr>
              <a:t>•  CONCAT(name,' (',program,')') builds display strings; use CONCAT in MySQL (not ||).</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 = 'blah blah anything'; _ = exactly one Scrabble tile.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219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LIKE patterns — pattern → meaning → sample match</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2820389"/>
                <a:gridCol w="3414155"/>
                <a:gridCol w="2820389"/>
                <a:gridCol w="2375064"/>
              </a:tblGrid>
              <a:tr h="552069">
                <a:tc>
                  <a:txBody>
                    <a:bodyPr wrap="square"/>
                    <a:lstStyle/>
                    <a:p>
                      <a:r>
                        <a:rPr sz="1100" b="1">
                          <a:solidFill>
                            <a:srgbClr val="FFFFFF"/>
                          </a:solidFill>
                        </a:rPr>
                        <a:t>Pattern (MySQL)</a:t>
                      </a:r>
                    </a:p>
                  </a:txBody>
                  <a:tcPr anchor="ctr" marL="73152" marR="54864" marT="27432" marB="27432">
                    <a:solidFill>
                      <a:srgbClr val="0C2B4A"/>
                    </a:solidFill>
                  </a:tcPr>
                </a:tc>
                <a:tc>
                  <a:txBody>
                    <a:bodyPr wrap="square"/>
                    <a:lstStyle/>
                    <a:p>
                      <a:r>
                        <a:rPr sz="1100" b="1">
                          <a:solidFill>
                            <a:srgbClr val="FFFFFF"/>
                          </a:solidFill>
                        </a:rPr>
                        <a:t>Meaning</a:t>
                      </a:r>
                    </a:p>
                  </a:txBody>
                  <a:tcPr anchor="ctr" marL="73152" marR="54864" marT="27432" marB="27432">
                    <a:solidFill>
                      <a:srgbClr val="0C2B4A"/>
                    </a:solidFill>
                  </a:tcPr>
                </a:tc>
                <a:tc>
                  <a:txBody>
                    <a:bodyPr wrap="square"/>
                    <a:lstStyle/>
                    <a:p>
                      <a:r>
                        <a:rPr sz="1100" b="1">
                          <a:solidFill>
                            <a:srgbClr val="FFFFFF"/>
                          </a:solidFill>
                        </a:rPr>
                        <a:t>Matches</a:t>
                      </a:r>
                    </a:p>
                  </a:txBody>
                  <a:tcPr anchor="ctr" marL="73152" marR="54864" marT="27432" marB="27432">
                    <a:solidFill>
                      <a:srgbClr val="0C2B4A"/>
                    </a:solidFill>
                  </a:tcPr>
                </a:tc>
                <a:tc>
                  <a:txBody>
                    <a:bodyPr wrap="square"/>
                    <a:lstStyle/>
                    <a:p>
                      <a:r>
                        <a:rPr sz="1100" b="1">
                          <a:solidFill>
                            <a:srgbClr val="FFFFFF"/>
                          </a:solidFill>
                        </a:rPr>
                        <a:t>Does NOT match</a:t>
                      </a:r>
                    </a:p>
                  </a:txBody>
                  <a:tcPr anchor="ctr" marL="73152" marR="54864" marT="27432" marB="27432">
                    <a:solidFill>
                      <a:srgbClr val="0C2B4A"/>
                    </a:solidFill>
                  </a:tcPr>
                </a:tc>
              </a:tr>
              <a:tr h="552069">
                <a:tc>
                  <a:txBody>
                    <a:bodyPr wrap="square"/>
                    <a:lstStyle/>
                    <a:p>
                      <a:r>
                        <a:rPr sz="1050" b="1">
                          <a:solidFill>
                            <a:srgbClr val="0C2B4A"/>
                          </a:solidFill>
                        </a:rPr>
                        <a:t>LIKE 'S%'</a:t>
                      </a:r>
                    </a:p>
                  </a:txBody>
                  <a:tcPr anchor="ctr" marL="73152" marR="54864" marT="27432" marB="27432">
                    <a:solidFill>
                      <a:srgbClr val="FFFFFF"/>
                    </a:solidFill>
                  </a:tcPr>
                </a:tc>
                <a:tc>
                  <a:txBody>
                    <a:bodyPr wrap="square"/>
                    <a:lstStyle/>
                    <a:p>
                      <a:r>
                        <a:rPr sz="1050">
                          <a:solidFill>
                            <a:srgbClr val="1A1A1A"/>
                          </a:solidFill>
                        </a:rPr>
                        <a:t>starts with S</a:t>
                      </a:r>
                    </a:p>
                  </a:txBody>
                  <a:tcPr anchor="ctr" marL="73152" marR="54864" marT="27432" marB="27432">
                    <a:solidFill>
                      <a:srgbClr val="FFFFFF"/>
                    </a:solidFill>
                  </a:tcPr>
                </a:tc>
                <a:tc>
                  <a:txBody>
                    <a:bodyPr wrap="square"/>
                    <a:lstStyle/>
                    <a:p>
                      <a:r>
                        <a:rPr sz="1050">
                          <a:solidFill>
                            <a:srgbClr val="1A1A1A"/>
                          </a:solidFill>
                        </a:rPr>
                        <a:t>Sita, Sharma</a:t>
                      </a:r>
                    </a:p>
                  </a:txBody>
                  <a:tcPr anchor="ctr" marL="73152" marR="54864" marT="27432" marB="27432">
                    <a:solidFill>
                      <a:srgbClr val="FFFFFF"/>
                    </a:solidFill>
                  </a:tcPr>
                </a:tc>
                <a:tc>
                  <a:txBody>
                    <a:bodyPr wrap="square"/>
                    <a:lstStyle/>
                    <a:p>
                      <a:r>
                        <a:rPr sz="1050">
                          <a:solidFill>
                            <a:srgbClr val="1A1A1A"/>
                          </a:solidFill>
                        </a:rPr>
                        <a:t>Hari</a:t>
                      </a:r>
                    </a:p>
                  </a:txBody>
                  <a:tcPr anchor="ctr" marL="73152" marR="54864" marT="27432" marB="27432">
                    <a:solidFill>
                      <a:srgbClr val="FFFFFF"/>
                    </a:solidFill>
                  </a:tcPr>
                </a:tc>
              </a:tr>
              <a:tr h="552069">
                <a:tc>
                  <a:txBody>
                    <a:bodyPr wrap="square"/>
                    <a:lstStyle/>
                    <a:p>
                      <a:r>
                        <a:rPr sz="1050" b="1">
                          <a:solidFill>
                            <a:srgbClr val="0C2B4A"/>
                          </a:solidFill>
                        </a:rPr>
                        <a:t>LIKE '%a'</a:t>
                      </a:r>
                    </a:p>
                  </a:txBody>
                  <a:tcPr anchor="ctr" marL="73152" marR="54864" marT="27432" marB="27432">
                    <a:solidFill>
                      <a:srgbClr val="EEF3F8"/>
                    </a:solidFill>
                  </a:tcPr>
                </a:tc>
                <a:tc>
                  <a:txBody>
                    <a:bodyPr wrap="square"/>
                    <a:lstStyle/>
                    <a:p>
                      <a:r>
                        <a:rPr sz="1050">
                          <a:solidFill>
                            <a:srgbClr val="1A1A1A"/>
                          </a:solidFill>
                        </a:rPr>
                        <a:t>ends with a</a:t>
                      </a:r>
                    </a:p>
                  </a:txBody>
                  <a:tcPr anchor="ctr" marL="73152" marR="54864" marT="27432" marB="27432">
                    <a:solidFill>
                      <a:srgbClr val="EEF3F8"/>
                    </a:solidFill>
                  </a:tcPr>
                </a:tc>
                <a:tc>
                  <a:txBody>
                    <a:bodyPr wrap="square"/>
                    <a:lstStyle/>
                    <a:p>
                      <a:r>
                        <a:rPr sz="1050">
                          <a:solidFill>
                            <a:srgbClr val="1A1A1A"/>
                          </a:solidFill>
                        </a:rPr>
                        <a:t>Sita, Anjali</a:t>
                      </a:r>
                    </a:p>
                  </a:txBody>
                  <a:tcPr anchor="ctr" marL="73152" marR="54864" marT="27432" marB="27432">
                    <a:solidFill>
                      <a:srgbClr val="EEF3F8"/>
                    </a:solidFill>
                  </a:tcPr>
                </a:tc>
                <a:tc>
                  <a:txBody>
                    <a:bodyPr wrap="square"/>
                    <a:lstStyle/>
                    <a:p>
                      <a:r>
                        <a:rPr sz="1050">
                          <a:solidFill>
                            <a:srgbClr val="1A1A1A"/>
                          </a:solidFill>
                        </a:rPr>
                        <a:t>Hari</a:t>
                      </a:r>
                    </a:p>
                  </a:txBody>
                  <a:tcPr anchor="ctr" marL="73152" marR="54864" marT="27432" marB="27432">
                    <a:solidFill>
                      <a:srgbClr val="EEF3F8"/>
                    </a:solidFill>
                  </a:tcPr>
                </a:tc>
              </a:tr>
              <a:tr h="552069">
                <a:tc>
                  <a:txBody>
                    <a:bodyPr wrap="square"/>
                    <a:lstStyle/>
                    <a:p>
                      <a:r>
                        <a:rPr sz="1050" b="1">
                          <a:solidFill>
                            <a:srgbClr val="0C2B4A"/>
                          </a:solidFill>
                        </a:rPr>
                        <a:t>LIKE '%it%'</a:t>
                      </a:r>
                    </a:p>
                  </a:txBody>
                  <a:tcPr anchor="ctr" marL="73152" marR="54864" marT="27432" marB="27432">
                    <a:solidFill>
                      <a:srgbClr val="FFFFFF"/>
                    </a:solidFill>
                  </a:tcPr>
                </a:tc>
                <a:tc>
                  <a:txBody>
                    <a:bodyPr wrap="square"/>
                    <a:lstStyle/>
                    <a:p>
                      <a:r>
                        <a:rPr sz="1050">
                          <a:solidFill>
                            <a:srgbClr val="1A1A1A"/>
                          </a:solidFill>
                        </a:rPr>
                        <a:t>contains 'it'</a:t>
                      </a:r>
                    </a:p>
                  </a:txBody>
                  <a:tcPr anchor="ctr" marL="73152" marR="54864" marT="27432" marB="27432">
                    <a:solidFill>
                      <a:srgbClr val="FFFFFF"/>
                    </a:solidFill>
                  </a:tcPr>
                </a:tc>
                <a:tc>
                  <a:txBody>
                    <a:bodyPr wrap="square"/>
                    <a:lstStyle/>
                    <a:p>
                      <a:r>
                        <a:rPr sz="1050">
                          <a:solidFill>
                            <a:srgbClr val="1A1A1A"/>
                          </a:solidFill>
                        </a:rPr>
                        <a:t>Sita, Smith</a:t>
                      </a:r>
                    </a:p>
                  </a:txBody>
                  <a:tcPr anchor="ctr" marL="73152" marR="54864" marT="27432" marB="27432">
                    <a:solidFill>
                      <a:srgbClr val="FFFFFF"/>
                    </a:solidFill>
                  </a:tcPr>
                </a:tc>
                <a:tc>
                  <a:txBody>
                    <a:bodyPr wrap="square"/>
                    <a:lstStyle/>
                    <a:p>
                      <a:r>
                        <a:rPr sz="1050">
                          <a:solidFill>
                            <a:srgbClr val="1A1A1A"/>
                          </a:solidFill>
                        </a:rPr>
                        <a:t>Hari</a:t>
                      </a:r>
                    </a:p>
                  </a:txBody>
                  <a:tcPr anchor="ctr" marL="73152" marR="54864" marT="27432" marB="27432">
                    <a:solidFill>
                      <a:srgbClr val="FFFFFF"/>
                    </a:solidFill>
                  </a:tcPr>
                </a:tc>
              </a:tr>
              <a:tr h="552069">
                <a:tc>
                  <a:txBody>
                    <a:bodyPr wrap="square"/>
                    <a:lstStyle/>
                    <a:p>
                      <a:r>
                        <a:rPr sz="1050" b="1">
                          <a:solidFill>
                            <a:srgbClr val="0C2B4A"/>
                          </a:solidFill>
                        </a:rPr>
                        <a:t>LIKE '_a%'</a:t>
                      </a:r>
                    </a:p>
                  </a:txBody>
                  <a:tcPr anchor="ctr" marL="73152" marR="54864" marT="27432" marB="27432">
                    <a:solidFill>
                      <a:srgbClr val="EEF3F8"/>
                    </a:solidFill>
                  </a:tcPr>
                </a:tc>
                <a:tc>
                  <a:txBody>
                    <a:bodyPr wrap="square"/>
                    <a:lstStyle/>
                    <a:p>
                      <a:r>
                        <a:rPr sz="1050">
                          <a:solidFill>
                            <a:srgbClr val="1A1A1A"/>
                          </a:solidFill>
                        </a:rPr>
                        <a:t>2nd letter is a</a:t>
                      </a:r>
                    </a:p>
                  </a:txBody>
                  <a:tcPr anchor="ctr" marL="73152" marR="54864" marT="27432" marB="27432">
                    <a:solidFill>
                      <a:srgbClr val="EEF3F8"/>
                    </a:solidFill>
                  </a:tcPr>
                </a:tc>
                <a:tc>
                  <a:txBody>
                    <a:bodyPr wrap="square"/>
                    <a:lstStyle/>
                    <a:p>
                      <a:r>
                        <a:rPr sz="1050">
                          <a:solidFill>
                            <a:srgbClr val="1A1A1A"/>
                          </a:solidFill>
                        </a:rPr>
                        <a:t>Hari, Rai</a:t>
                      </a:r>
                    </a:p>
                  </a:txBody>
                  <a:tcPr anchor="ctr" marL="73152" marR="54864" marT="27432" marB="27432">
                    <a:solidFill>
                      <a:srgbClr val="EEF3F8"/>
                    </a:solidFill>
                  </a:tcPr>
                </a:tc>
                <a:tc>
                  <a:txBody>
                    <a:bodyPr wrap="square"/>
                    <a:lstStyle/>
                    <a:p>
                      <a:r>
                        <a:rPr sz="1050">
                          <a:solidFill>
                            <a:srgbClr val="1A1A1A"/>
                          </a:solidFill>
                        </a:rPr>
                        <a:t>Sita</a:t>
                      </a:r>
                    </a:p>
                  </a:txBody>
                  <a:tcPr anchor="ctr" marL="73152" marR="54864" marT="27432" marB="27432">
                    <a:solidFill>
                      <a:srgbClr val="EEF3F8"/>
                    </a:solidFill>
                  </a:tcPr>
                </a:tc>
              </a:tr>
              <a:tr h="552069">
                <a:tc>
                  <a:txBody>
                    <a:bodyPr wrap="square"/>
                    <a:lstStyle/>
                    <a:p>
                      <a:r>
                        <a:rPr sz="1050" b="1">
                          <a:solidFill>
                            <a:srgbClr val="0C2B4A"/>
                          </a:solidFill>
                        </a:rPr>
                        <a:t>LIKE '98%'</a:t>
                      </a:r>
                    </a:p>
                  </a:txBody>
                  <a:tcPr anchor="ctr" marL="73152" marR="54864" marT="27432" marB="27432">
                    <a:solidFill>
                      <a:srgbClr val="FFFFFF"/>
                    </a:solidFill>
                  </a:tcPr>
                </a:tc>
                <a:tc>
                  <a:txBody>
                    <a:bodyPr wrap="square"/>
                    <a:lstStyle/>
                    <a:p>
                      <a:r>
                        <a:rPr sz="1050">
                          <a:solidFill>
                            <a:srgbClr val="1A1A1A"/>
                          </a:solidFill>
                        </a:rPr>
                        <a:t>phone starts 98 (Ncell/Ntc)</a:t>
                      </a:r>
                    </a:p>
                  </a:txBody>
                  <a:tcPr anchor="ctr" marL="73152" marR="54864" marT="27432" marB="27432">
                    <a:solidFill>
                      <a:srgbClr val="FFFFFF"/>
                    </a:solidFill>
                  </a:tcPr>
                </a:tc>
                <a:tc>
                  <a:txBody>
                    <a:bodyPr wrap="square"/>
                    <a:lstStyle/>
                    <a:p>
                      <a:r>
                        <a:rPr sz="1050">
                          <a:solidFill>
                            <a:srgbClr val="1A1A1A"/>
                          </a:solidFill>
                        </a:rPr>
                        <a:t>9841234567</a:t>
                      </a:r>
                    </a:p>
                  </a:txBody>
                  <a:tcPr anchor="ctr" marL="73152" marR="54864" marT="27432" marB="27432">
                    <a:solidFill>
                      <a:srgbClr val="FFFFFF"/>
                    </a:solidFill>
                  </a:tcPr>
                </a:tc>
                <a:tc>
                  <a:txBody>
                    <a:bodyPr wrap="square"/>
                    <a:lstStyle/>
                    <a:p>
                      <a:r>
                        <a:rPr sz="1050">
                          <a:solidFill>
                            <a:srgbClr val="1A1A1A"/>
                          </a:solidFill>
                        </a:rPr>
                        <a:t>01-4412345</a:t>
                      </a:r>
                    </a:p>
                  </a:txBody>
                  <a:tcPr anchor="ctr" marL="73152" marR="54864" marT="27432" marB="27432">
                    <a:solidFill>
                      <a:srgbClr val="FFFFFF"/>
                    </a:solidFill>
                  </a:tcPr>
                </a:tc>
              </a:tr>
              <a:tr h="552069">
                <a:tc>
                  <a:txBody>
                    <a:bodyPr wrap="square"/>
                    <a:lstStyle/>
                    <a:p>
                      <a:r>
                        <a:rPr sz="1050" b="1">
                          <a:solidFill>
                            <a:srgbClr val="0C2B4A"/>
                          </a:solidFill>
                        </a:rPr>
                        <a:t>LIKE '%@pu.edu.np'</a:t>
                      </a:r>
                    </a:p>
                  </a:txBody>
                  <a:tcPr anchor="ctr" marL="73152" marR="54864" marT="27432" marB="27432">
                    <a:solidFill>
                      <a:srgbClr val="EEF3F8"/>
                    </a:solidFill>
                  </a:tcPr>
                </a:tc>
                <a:tc>
                  <a:txBody>
                    <a:bodyPr wrap="square"/>
                    <a:lstStyle/>
                    <a:p>
                      <a:r>
                        <a:rPr sz="1050">
                          <a:solidFill>
                            <a:srgbClr val="1A1A1A"/>
                          </a:solidFill>
                        </a:rPr>
                        <a:t>college email domain</a:t>
                      </a:r>
                    </a:p>
                  </a:txBody>
                  <a:tcPr anchor="ctr" marL="73152" marR="54864" marT="27432" marB="27432">
                    <a:solidFill>
                      <a:srgbClr val="EEF3F8"/>
                    </a:solidFill>
                  </a:tcPr>
                </a:tc>
                <a:tc>
                  <a:txBody>
                    <a:bodyPr wrap="square"/>
                    <a:lstStyle/>
                    <a:p>
                      <a:r>
                        <a:rPr sz="1050">
                          <a:solidFill>
                            <a:srgbClr val="1A1A1A"/>
                          </a:solidFill>
                        </a:rPr>
                        <a:t>sita@pu.edu.np</a:t>
                      </a:r>
                    </a:p>
                  </a:txBody>
                  <a:tcPr anchor="ctr" marL="73152" marR="54864" marT="27432" marB="27432">
                    <a:solidFill>
                      <a:srgbClr val="EEF3F8"/>
                    </a:solidFill>
                  </a:tcPr>
                </a:tc>
                <a:tc>
                  <a:txBody>
                    <a:bodyPr wrap="square"/>
                    <a:lstStyle/>
                    <a:p>
                      <a:r>
                        <a:rPr sz="1050">
                          <a:solidFill>
                            <a:srgbClr val="1A1A1A"/>
                          </a:solidFill>
                        </a:rPr>
                        <a:t>x@gmail.com</a:t>
                      </a:r>
                    </a:p>
                  </a:txBody>
                  <a:tcPr anchor="ctr" marL="73152" marR="54864" marT="27432" marB="27432">
                    <a:solidFill>
                      <a:srgbClr val="EEF3F8"/>
                    </a:solidFill>
                  </a:tcPr>
                </a:tc>
              </a:tr>
              <a:tr h="552069">
                <a:tc>
                  <a:txBody>
                    <a:bodyPr wrap="square"/>
                    <a:lstStyle/>
                    <a:p>
                      <a:r>
                        <a:rPr sz="1050" b="1">
                          <a:solidFill>
                            <a:srgbClr val="0C2B4A"/>
                          </a:solidFill>
                        </a:rPr>
                        <a:t>= 'Sita'</a:t>
                      </a:r>
                    </a:p>
                  </a:txBody>
                  <a:tcPr anchor="ctr" marL="73152" marR="54864" marT="27432" marB="27432">
                    <a:solidFill>
                      <a:srgbClr val="FFFFFF"/>
                    </a:solidFill>
                  </a:tcPr>
                </a:tc>
                <a:tc>
                  <a:txBody>
                    <a:bodyPr wrap="square"/>
                    <a:lstStyle/>
                    <a:p>
                      <a:r>
                        <a:rPr sz="1050">
                          <a:solidFill>
                            <a:srgbClr val="1A1A1A"/>
                          </a:solidFill>
                        </a:rPr>
                        <a:t>EXACT match only</a:t>
                      </a:r>
                    </a:p>
                  </a:txBody>
                  <a:tcPr anchor="ctr" marL="73152" marR="54864" marT="27432" marB="27432">
                    <a:solidFill>
                      <a:srgbClr val="FFFFFF"/>
                    </a:solidFill>
                  </a:tcPr>
                </a:tc>
                <a:tc>
                  <a:txBody>
                    <a:bodyPr wrap="square"/>
                    <a:lstStyle/>
                    <a:p>
                      <a:r>
                        <a:rPr sz="1050">
                          <a:solidFill>
                            <a:srgbClr val="1A1A1A"/>
                          </a:solidFill>
                        </a:rPr>
                        <a:t>Sita</a:t>
                      </a:r>
                    </a:p>
                  </a:txBody>
                  <a:tcPr anchor="ctr" marL="73152" marR="54864" marT="27432" marB="27432">
                    <a:solidFill>
                      <a:srgbClr val="FFFFFF"/>
                    </a:solidFill>
                  </a:tcPr>
                </a:tc>
                <a:tc>
                  <a:txBody>
                    <a:bodyPr wrap="square"/>
                    <a:lstStyle/>
                    <a:p>
                      <a:r>
                        <a:rPr sz="1050">
                          <a:solidFill>
                            <a:srgbClr val="1A1A1A"/>
                          </a:solidFill>
                        </a:rPr>
                        <a:t>sita, Sit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 = any sequence (incl. empty); _ = exactly one character. LIKE does PATTERN matching; = does EXACT matching — the two are not interchangeable.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219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String Operations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search-as-you-type on Daraz and Hamrobazar is LIKE '%term%' under the hood (or full-text search for scale); a college can list all official emails with email LIKE '%@pu.edu.np'; a telecom finds its number range with phone LIKE '98%'.</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 and LIKE are the same." = is EXACT (name = 'Sita' matches only 'Sita'); LIKE does PATTERN matching with % and _. Also, LIKE 'Sita' with no wildcard behaves like = — the wildcards are what make LIKE powerful.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String operations search and transform text: LIKE matches patterns using % (any sequence) and _ (exactly one character); CONCAT() joins strings (MySQL uses CONCAT, not ||); UPPER/LOWER/TRIM adjust case and whitespace. LIKE is pattern matching, distinct from = (exact match).</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LIKE · % (any) · _ (one) · CONCAT · UPPER/LOWER/TRIM · pattern ≠ exact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219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S24 — Write the LIKE pattern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write a LIKE pattern for all college emails ending in '@pu.edu.np'.</a:t>
            </a:r>
          </a:p>
          <a:p>
            <a:pPr>
              <a:spcAft>
                <a:spcPts val="700"/>
              </a:spcAft>
            </a:pPr>
            <a:r>
              <a:rPr sz="1550">
                <a:solidFill>
                  <a:srgbClr val="1A1A1A"/>
                </a:solidFill>
              </a:rPr>
              <a:t>•  Then one for 'names with exactly 4 letters starting with A' (hint: use _).</a:t>
            </a:r>
          </a:p>
          <a:p>
            <a:pPr>
              <a:spcAft>
                <a:spcPts val="700"/>
              </a:spcAft>
            </a:pPr>
            <a:r>
              <a:rPr sz="1550">
                <a:solidFill>
                  <a:srgbClr val="1A1A1A"/>
                </a:solidFill>
              </a:rPr>
              <a:t>•  Share aloud (3 min); test each pattern against a few sample names.</a:t>
            </a:r>
          </a:p>
          <a:p>
            <a:pPr>
              <a:spcAft>
                <a:spcPts val="700"/>
              </a:spcAft>
            </a:pPr>
            <a:r>
              <a:rPr sz="1550">
                <a:solidFill>
                  <a:srgbClr val="1A1A1A"/>
                </a:solidFill>
              </a:rPr>
              <a:t>•  Close: name one place in a Nepali app where you have seen LIKE-style search.</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Answers: email LIKE '%@pu.edu.np'; name LIKE 'A___' (A + exactly three underscores). Reward correct use of % vs _ (four-letter needs three underscores after A).</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219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finds names ENDING in 'a'?</a:t>
            </a:r>
          </a:p>
          <a:p>
            <a:pPr lvl="1"/>
            <a:r>
              <a:rPr sz="1500" b="1">
                <a:solidFill>
                  <a:srgbClr val="0F6E56"/>
                </a:solidFill>
              </a:rPr>
              <a:t>a) LIKE 'a%'   b) ✅ LIKE '%a'   c) LIKE '_a'   d) = 'a'</a:t>
            </a:r>
          </a:p>
          <a:p>
            <a:pPr lvl="1">
              <a:spcBef>
                <a:spcPts val="600"/>
              </a:spcBef>
            </a:pPr>
            <a:r>
              <a:rPr sz="1500" i="1">
                <a:solidFill>
                  <a:srgbClr val="1A1A1A"/>
                </a:solidFill>
              </a:rPr>
              <a:t>     Why: % before a matches any prefix, then a fixed final 'a'.</a:t>
            </a:r>
          </a:p>
          <a:p>
            <a:pPr>
              <a:spcBef>
                <a:spcPts val="900"/>
              </a:spcBef>
            </a:pPr>
            <a:r>
              <a:rPr sz="1700" b="1">
                <a:solidFill>
                  <a:srgbClr val="0C2B4A"/>
                </a:solidFill>
              </a:rPr>
              <a:t>Q2.  The _ wildcard matches how many characters?</a:t>
            </a:r>
          </a:p>
          <a:p>
            <a:pPr lvl="1"/>
            <a:r>
              <a:rPr sz="1500" b="1">
                <a:solidFill>
                  <a:srgbClr val="0F6E56"/>
                </a:solidFill>
              </a:rPr>
              <a:t>a) any number   b) ✅ exactly one   c) zero   d) two</a:t>
            </a:r>
          </a:p>
          <a:p>
            <a:pPr lvl="1">
              <a:spcBef>
                <a:spcPts val="600"/>
              </a:spcBef>
            </a:pPr>
            <a:r>
              <a:rPr sz="1500" i="1">
                <a:solidFill>
                  <a:srgbClr val="1A1A1A"/>
                </a:solidFill>
              </a:rPr>
              <a:t>     Why: _ is a single-character placeholder; % is the any-length one.</a:t>
            </a:r>
          </a:p>
          <a:p>
            <a:pPr>
              <a:spcBef>
                <a:spcPts val="900"/>
              </a:spcBef>
            </a:pPr>
            <a:r>
              <a:rPr sz="1700" b="1">
                <a:solidFill>
                  <a:srgbClr val="0C2B4A"/>
                </a:solidFill>
              </a:rPr>
              <a:t>Q3.  A self-join REQUIRES:</a:t>
            </a:r>
          </a:p>
          <a:p>
            <a:pPr lvl="1"/>
            <a:r>
              <a:rPr sz="1500" b="1">
                <a:solidFill>
                  <a:srgbClr val="0F6E56"/>
                </a:solidFill>
              </a:rPr>
              <a:t>a) two tables   b) ✅ two distinct tuple-variable aliases on one table   c) a subquery   d) DISTINCT</a:t>
            </a:r>
          </a:p>
          <a:p>
            <a:pPr lvl="1">
              <a:spcBef>
                <a:spcPts val="600"/>
              </a:spcBef>
            </a:pPr>
            <a:r>
              <a:rPr sz="1500" i="1">
                <a:solidFill>
                  <a:srgbClr val="1A1A1A"/>
                </a:solidFill>
              </a:rPr>
              <a:t>     Why: the same table appears twice, so each copy needs its own alias.</a:t>
            </a:r>
          </a:p>
          <a:p>
            <a:pPr lvl="1">
              <a:spcBef>
                <a:spcPts val="600"/>
              </a:spcBef>
            </a:pPr>
            <a:r>
              <a:rPr sz="1500" i="1">
                <a:solidFill>
                  <a:srgbClr val="1A1A1A"/>
                </a:solidFill>
              </a:rPr>
              <a:t>Discussion: which Nepali app's search box is a LIKE '%term%' underneath?</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219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AS renames columns/tables in the OUTPUT for readable reports; the stored schema is unchanged.</a:t>
            </a:r>
          </a:p>
          <a:p>
            <a:pPr>
              <a:spcAft>
                <a:spcPts val="800"/>
              </a:spcAft>
            </a:pPr>
            <a:r>
              <a:rPr sz="1500">
                <a:solidFill>
                  <a:srgbClr val="1A1A1A"/>
                </a:solidFill>
              </a:rPr>
              <a:t>2.  Tuple variables (aliases) disambiguate columns and make self-joins possible (s1, s2).</a:t>
            </a:r>
          </a:p>
          <a:p>
            <a:pPr>
              <a:spcAft>
                <a:spcPts val="800"/>
              </a:spcAft>
            </a:pPr>
            <a:r>
              <a:rPr sz="1500">
                <a:solidFill>
                  <a:srgbClr val="1A1A1A"/>
                </a:solidFill>
              </a:rPr>
              <a:t>3.  LIKE + % (any) / _ (one) searches inside text; = is exact; MySQL joins strings with CONCAT.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 autocomplete and search on every app you use is string matching; readable report headers come from AS; and self-joins (find related rows in the same table) power 'people you may know' and 'related products' features everywhere.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S25 — controlling ORDER, removing duplicates (DISTINCT), and combining result sets (UNION/INTERSECT/EXCEPT).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219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25 · LECTURE HOUR 4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ORDER BY · DISTINCT · Set Operations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merit list isn't useful unless it's SORTED, and a mailing list isn't useful if every name appears five times. SQL fixes both — one keyword each.</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48 / 219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Ordering the Display (ORDER BY)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ORDER BY sorts the result rows. ASC (ascending) is the default; DESC is descending. Multiple sort keys break ties left to right. In MySQL, LIMIT n returns just the first n rows (useful for top-N).</a:t>
            </a:r>
          </a:p>
          <a:p>
            <a:pPr>
              <a:spcAft>
                <a:spcPts val="500"/>
              </a:spcAft>
            </a:pPr>
            <a:r>
              <a:rPr sz="1200" b="1">
                <a:solidFill>
                  <a:srgbClr val="185FA5"/>
                </a:solidFill>
              </a:rPr>
              <a:t>HOW IT WORKS</a:t>
            </a:r>
          </a:p>
          <a:p>
            <a:pPr>
              <a:spcAft>
                <a:spcPts val="600"/>
              </a:spcAft>
            </a:pPr>
            <a:r>
              <a:rPr sz="1400">
                <a:solidFill>
                  <a:srgbClr val="1A1A1A"/>
                </a:solidFill>
              </a:rPr>
              <a:t>•  SELECT name, marks FROM Enrollment ORDER BY marks DESC; — highest first.</a:t>
            </a:r>
          </a:p>
          <a:p>
            <a:pPr>
              <a:spcAft>
                <a:spcPts val="600"/>
              </a:spcAft>
            </a:pPr>
            <a:r>
              <a:rPr sz="1400">
                <a:solidFill>
                  <a:srgbClr val="1A1A1A"/>
                </a:solidFill>
              </a:rPr>
              <a:t>•  Multi-key: ORDER BY marks DESC, name ASC — ties broken by name.</a:t>
            </a:r>
          </a:p>
          <a:p>
            <a:pPr>
              <a:spcAft>
                <a:spcPts val="600"/>
              </a:spcAft>
            </a:pPr>
            <a:r>
              <a:rPr sz="1400">
                <a:solidFill>
                  <a:srgbClr val="1A1A1A"/>
                </a:solidFill>
              </a:rPr>
              <a:t>•  MySQL LIMIT 3 after ORDER BY gives the top 3 (merit list top rows).</a:t>
            </a:r>
          </a:p>
          <a:p>
            <a:pPr>
              <a:spcAft>
                <a:spcPts val="600"/>
              </a:spcAft>
            </a:pPr>
            <a:r>
              <a:rPr sz="1400">
                <a:solidFill>
                  <a:srgbClr val="1A1A1A"/>
                </a:solidFill>
              </a:rPr>
              <a:t>•  Rows have NO reliable order without ORDER BY — never assume one.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No ORDER BY = no promised order. Want a merit list? You must sort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219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ORDER BY — goal → clause → what you get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592285"/>
                <a:gridCol w="4572000"/>
                <a:gridCol w="3265714"/>
              </a:tblGrid>
              <a:tr h="630936">
                <a:tc>
                  <a:txBody>
                    <a:bodyPr wrap="square"/>
                    <a:lstStyle/>
                    <a:p>
                      <a:r>
                        <a:rPr sz="1100" b="1">
                          <a:solidFill>
                            <a:srgbClr val="FFFFFF"/>
                          </a:solidFill>
                        </a:rPr>
                        <a:t>Goal</a:t>
                      </a:r>
                    </a:p>
                  </a:txBody>
                  <a:tcPr anchor="ctr" marL="73152" marR="54864" marT="27432" marB="27432">
                    <a:solidFill>
                      <a:srgbClr val="0C2B4A"/>
                    </a:solidFill>
                  </a:tcPr>
                </a:tc>
                <a:tc>
                  <a:txBody>
                    <a:bodyPr wrap="square"/>
                    <a:lstStyle/>
                    <a:p>
                      <a:r>
                        <a:rPr sz="1100" b="1">
                          <a:solidFill>
                            <a:srgbClr val="FFFFFF"/>
                          </a:solidFill>
                        </a:rPr>
                        <a:t>Clause (MySQL)</a:t>
                      </a:r>
                    </a:p>
                  </a:txBody>
                  <a:tcPr anchor="ctr" marL="73152" marR="54864" marT="27432" marB="27432">
                    <a:solidFill>
                      <a:srgbClr val="0C2B4A"/>
                    </a:solidFill>
                  </a:tcPr>
                </a:tc>
                <a:tc>
                  <a:txBody>
                    <a:bodyPr wrap="square"/>
                    <a:lstStyle/>
                    <a:p>
                      <a:r>
                        <a:rPr sz="1100" b="1">
                          <a:solidFill>
                            <a:srgbClr val="FFFFFF"/>
                          </a:solidFill>
                        </a:rPr>
                        <a:t>Result</a:t>
                      </a:r>
                    </a:p>
                  </a:txBody>
                  <a:tcPr anchor="ctr" marL="73152" marR="54864" marT="27432" marB="27432">
                    <a:solidFill>
                      <a:srgbClr val="0C2B4A"/>
                    </a:solidFill>
                  </a:tcPr>
                </a:tc>
              </a:tr>
              <a:tr h="630936">
                <a:tc>
                  <a:txBody>
                    <a:bodyPr wrap="square"/>
                    <a:lstStyle/>
                    <a:p>
                      <a:r>
                        <a:rPr sz="1050" b="1">
                          <a:solidFill>
                            <a:srgbClr val="0C2B4A"/>
                          </a:solidFill>
                        </a:rPr>
                        <a:t>merit list, best first</a:t>
                      </a:r>
                    </a:p>
                  </a:txBody>
                  <a:tcPr anchor="ctr" marL="73152" marR="54864" marT="27432" marB="27432">
                    <a:solidFill>
                      <a:srgbClr val="FFFFFF"/>
                    </a:solidFill>
                  </a:tcPr>
                </a:tc>
                <a:tc>
                  <a:txBody>
                    <a:bodyPr wrap="square"/>
                    <a:lstStyle/>
                    <a:p>
                      <a:r>
                        <a:rPr sz="1050">
                          <a:solidFill>
                            <a:srgbClr val="1A1A1A"/>
                          </a:solidFill>
                        </a:rPr>
                        <a:t>ORDER BY marks DESC</a:t>
                      </a:r>
                    </a:p>
                  </a:txBody>
                  <a:tcPr anchor="ctr" marL="73152" marR="54864" marT="27432" marB="27432">
                    <a:solidFill>
                      <a:srgbClr val="FFFFFF"/>
                    </a:solidFill>
                  </a:tcPr>
                </a:tc>
                <a:tc>
                  <a:txBody>
                    <a:bodyPr wrap="square"/>
                    <a:lstStyle/>
                    <a:p>
                      <a:r>
                        <a:rPr sz="1050">
                          <a:solidFill>
                            <a:srgbClr val="1A1A1A"/>
                          </a:solidFill>
                        </a:rPr>
                        <a:t>88, 76, 55, 40…</a:t>
                      </a:r>
                    </a:p>
                  </a:txBody>
                  <a:tcPr anchor="ctr" marL="73152" marR="54864" marT="27432" marB="27432">
                    <a:solidFill>
                      <a:srgbClr val="FFFFFF"/>
                    </a:solidFill>
                  </a:tcPr>
                </a:tc>
              </a:tr>
              <a:tr h="630936">
                <a:tc>
                  <a:txBody>
                    <a:bodyPr wrap="square"/>
                    <a:lstStyle/>
                    <a:p>
                      <a:r>
                        <a:rPr sz="1050" b="1">
                          <a:solidFill>
                            <a:srgbClr val="0C2B4A"/>
                          </a:solidFill>
                        </a:rPr>
                        <a:t>alphabetical roll</a:t>
                      </a:r>
                    </a:p>
                  </a:txBody>
                  <a:tcPr anchor="ctr" marL="73152" marR="54864" marT="27432" marB="27432">
                    <a:solidFill>
                      <a:srgbClr val="EEF3F8"/>
                    </a:solidFill>
                  </a:tcPr>
                </a:tc>
                <a:tc>
                  <a:txBody>
                    <a:bodyPr wrap="square"/>
                    <a:lstStyle/>
                    <a:p>
                      <a:r>
                        <a:rPr sz="1050">
                          <a:solidFill>
                            <a:srgbClr val="1A1A1A"/>
                          </a:solidFill>
                        </a:rPr>
                        <a:t>ORDER BY name ASC</a:t>
                      </a:r>
                    </a:p>
                  </a:txBody>
                  <a:tcPr anchor="ctr" marL="73152" marR="54864" marT="27432" marB="27432">
                    <a:solidFill>
                      <a:srgbClr val="EEF3F8"/>
                    </a:solidFill>
                  </a:tcPr>
                </a:tc>
                <a:tc>
                  <a:txBody>
                    <a:bodyPr wrap="square"/>
                    <a:lstStyle/>
                    <a:p>
                      <a:r>
                        <a:rPr sz="1050">
                          <a:solidFill>
                            <a:srgbClr val="1A1A1A"/>
                          </a:solidFill>
                        </a:rPr>
                        <a:t>Anjali, Bishal, Gita…</a:t>
                      </a:r>
                    </a:p>
                  </a:txBody>
                  <a:tcPr anchor="ctr" marL="73152" marR="54864" marT="27432" marB="27432">
                    <a:solidFill>
                      <a:srgbClr val="EEF3F8"/>
                    </a:solidFill>
                  </a:tcPr>
                </a:tc>
              </a:tr>
              <a:tr h="630936">
                <a:tc>
                  <a:txBody>
                    <a:bodyPr wrap="square"/>
                    <a:lstStyle/>
                    <a:p>
                      <a:r>
                        <a:rPr sz="1050" b="1">
                          <a:solidFill>
                            <a:srgbClr val="0C2B4A"/>
                          </a:solidFill>
                        </a:rPr>
                        <a:t>ties broken by name</a:t>
                      </a:r>
                    </a:p>
                  </a:txBody>
                  <a:tcPr anchor="ctr" marL="73152" marR="54864" marT="27432" marB="27432">
                    <a:solidFill>
                      <a:srgbClr val="FFFFFF"/>
                    </a:solidFill>
                  </a:tcPr>
                </a:tc>
                <a:tc>
                  <a:txBody>
                    <a:bodyPr wrap="square"/>
                    <a:lstStyle/>
                    <a:p>
                      <a:r>
                        <a:rPr sz="1050">
                          <a:solidFill>
                            <a:srgbClr val="1A1A1A"/>
                          </a:solidFill>
                        </a:rPr>
                        <a:t>ORDER BY marks DESC, name ASC</a:t>
                      </a:r>
                    </a:p>
                  </a:txBody>
                  <a:tcPr anchor="ctr" marL="73152" marR="54864" marT="27432" marB="27432">
                    <a:solidFill>
                      <a:srgbClr val="FFFFFF"/>
                    </a:solidFill>
                  </a:tcPr>
                </a:tc>
                <a:tc>
                  <a:txBody>
                    <a:bodyPr wrap="square"/>
                    <a:lstStyle/>
                    <a:p>
                      <a:r>
                        <a:rPr sz="1050">
                          <a:solidFill>
                            <a:srgbClr val="1A1A1A"/>
                          </a:solidFill>
                        </a:rPr>
                        <a:t>same marks → A before B</a:t>
                      </a:r>
                    </a:p>
                  </a:txBody>
                  <a:tcPr anchor="ctr" marL="73152" marR="54864" marT="27432" marB="27432">
                    <a:solidFill>
                      <a:srgbClr val="FFFFFF"/>
                    </a:solidFill>
                  </a:tcPr>
                </a:tc>
              </a:tr>
              <a:tr h="630936">
                <a:tc>
                  <a:txBody>
                    <a:bodyPr wrap="square"/>
                    <a:lstStyle/>
                    <a:p>
                      <a:r>
                        <a:rPr sz="1050" b="1">
                          <a:solidFill>
                            <a:srgbClr val="0C2B4A"/>
                          </a:solidFill>
                        </a:rPr>
                        <a:t>top 3 scorers</a:t>
                      </a:r>
                    </a:p>
                  </a:txBody>
                  <a:tcPr anchor="ctr" marL="73152" marR="54864" marT="27432" marB="27432">
                    <a:solidFill>
                      <a:srgbClr val="EEF3F8"/>
                    </a:solidFill>
                  </a:tcPr>
                </a:tc>
                <a:tc>
                  <a:txBody>
                    <a:bodyPr wrap="square"/>
                    <a:lstStyle/>
                    <a:p>
                      <a:r>
                        <a:rPr sz="1050">
                          <a:solidFill>
                            <a:srgbClr val="1A1A1A"/>
                          </a:solidFill>
                        </a:rPr>
                        <a:t>ORDER BY marks DESC LIMIT 3</a:t>
                      </a:r>
                    </a:p>
                  </a:txBody>
                  <a:tcPr anchor="ctr" marL="73152" marR="54864" marT="27432" marB="27432">
                    <a:solidFill>
                      <a:srgbClr val="EEF3F8"/>
                    </a:solidFill>
                  </a:tcPr>
                </a:tc>
                <a:tc>
                  <a:txBody>
                    <a:bodyPr wrap="square"/>
                    <a:lstStyle/>
                    <a:p>
                      <a:r>
                        <a:rPr sz="1050">
                          <a:solidFill>
                            <a:srgbClr val="1A1A1A"/>
                          </a:solidFill>
                        </a:rPr>
                        <a:t>the three highest rows</a:t>
                      </a:r>
                    </a:p>
                  </a:txBody>
                  <a:tcPr anchor="ctr" marL="73152" marR="54864" marT="27432" marB="27432">
                    <a:solidFill>
                      <a:srgbClr val="EEF3F8"/>
                    </a:solidFill>
                  </a:tcPr>
                </a:tc>
              </a:tr>
              <a:tr h="630936">
                <a:tc>
                  <a:txBody>
                    <a:bodyPr wrap="square"/>
                    <a:lstStyle/>
                    <a:p>
                      <a:r>
                        <a:rPr sz="1050" b="1">
                          <a:solidFill>
                            <a:srgbClr val="0C2B4A"/>
                          </a:solidFill>
                        </a:rPr>
                        <a:t>cheapest 5 products</a:t>
                      </a:r>
                    </a:p>
                  </a:txBody>
                  <a:tcPr anchor="ctr" marL="73152" marR="54864" marT="27432" marB="27432">
                    <a:solidFill>
                      <a:srgbClr val="FFFFFF"/>
                    </a:solidFill>
                  </a:tcPr>
                </a:tc>
                <a:tc>
                  <a:txBody>
                    <a:bodyPr wrap="square"/>
                    <a:lstStyle/>
                    <a:p>
                      <a:r>
                        <a:rPr sz="1050">
                          <a:solidFill>
                            <a:srgbClr val="1A1A1A"/>
                          </a:solidFill>
                        </a:rPr>
                        <a:t>ORDER BY price ASC LIMIT 5</a:t>
                      </a:r>
                    </a:p>
                  </a:txBody>
                  <a:tcPr anchor="ctr" marL="73152" marR="54864" marT="27432" marB="27432">
                    <a:solidFill>
                      <a:srgbClr val="FFFFFF"/>
                    </a:solidFill>
                  </a:tcPr>
                </a:tc>
                <a:tc>
                  <a:txBody>
                    <a:bodyPr wrap="square"/>
                    <a:lstStyle/>
                    <a:p>
                      <a:r>
                        <a:rPr sz="1050">
                          <a:solidFill>
                            <a:srgbClr val="1A1A1A"/>
                          </a:solidFill>
                        </a:rPr>
                        <a:t>5 lowest prices</a:t>
                      </a:r>
                    </a:p>
                  </a:txBody>
                  <a:tcPr anchor="ctr" marL="73152" marR="54864" marT="27432" marB="27432">
                    <a:solidFill>
                      <a:srgbClr val="FFFFFF"/>
                    </a:solidFill>
                  </a:tcPr>
                </a:tc>
              </a:tr>
              <a:tr h="630936">
                <a:tc>
                  <a:txBody>
                    <a:bodyPr wrap="square"/>
                    <a:lstStyle/>
                    <a:p>
                      <a:r>
                        <a:rPr sz="1050" b="1">
                          <a:solidFill>
                            <a:srgbClr val="0C2B4A"/>
                          </a:solidFill>
                        </a:rPr>
                        <a:t>newest first</a:t>
                      </a:r>
                    </a:p>
                  </a:txBody>
                  <a:tcPr anchor="ctr" marL="73152" marR="54864" marT="27432" marB="27432">
                    <a:solidFill>
                      <a:srgbClr val="EEF3F8"/>
                    </a:solidFill>
                  </a:tcPr>
                </a:tc>
                <a:tc>
                  <a:txBody>
                    <a:bodyPr wrap="square"/>
                    <a:lstStyle/>
                    <a:p>
                      <a:r>
                        <a:rPr sz="1050">
                          <a:solidFill>
                            <a:srgbClr val="1A1A1A"/>
                          </a:solidFill>
                        </a:rPr>
                        <a:t>ORDER BY created_at DESC</a:t>
                      </a:r>
                    </a:p>
                  </a:txBody>
                  <a:tcPr anchor="ctr" marL="73152" marR="54864" marT="27432" marB="27432">
                    <a:solidFill>
                      <a:srgbClr val="EEF3F8"/>
                    </a:solidFill>
                  </a:tcPr>
                </a:tc>
                <a:tc>
                  <a:txBody>
                    <a:bodyPr wrap="square"/>
                    <a:lstStyle/>
                    <a:p>
                      <a:r>
                        <a:rPr sz="1050">
                          <a:solidFill>
                            <a:srgbClr val="1A1A1A"/>
                          </a:solidFill>
                        </a:rPr>
                        <a:t>latest transactions on top</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ASC is the default; add DESC for descending. LIMIT (MySQL) after ORDER BY is the standard 'top-N' idiom. Without ORDER BY, row order is not guaranteed.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219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Ordering the Display (ORDER BY)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college merit list is ORDER BY marks DESC, name ASC; Daraz 'sort by price: low to high' is ORDER BY price ASC; 'top sellers' is ORDER BY units_sold DESC LIMIT 10. Any 'sorted by…' control in an app is an ORDER BY.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"Rows come back sorted by default." They do NOT — without ORDER BY the DBMS may return rows in any order (and it can change between runs). If order matters, you must state it explicitly.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ORDER BY sorts result rows by one or more keys; ASC (default) is ascending, DESC descending, and multiple keys break ties left to right. In MySQL, LIMIT n returns the first n rows for top-N queries. Without ORDER BY, row order is undefined and must never be assumed.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ORDER BY · ASC/DESC · multi-key sort · LIMIT (MySQL) · order not guaranteed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219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Duplicate Tuples (DISTINCT / ALL)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SELECT keeps duplicate rows by default (ALL). DISTINCT removes duplicate rows from the result, so each distinct combination of the selected columns appears once.</a:t>
            </a:r>
          </a:p>
          <a:p>
            <a:pPr>
              <a:spcAft>
                <a:spcPts val="500"/>
              </a:spcAft>
            </a:pPr>
            <a:r>
              <a:rPr sz="1200" b="1">
                <a:solidFill>
                  <a:srgbClr val="185FA5"/>
                </a:solidFill>
              </a:rPr>
              <a:t>HOW IT WORKS</a:t>
            </a:r>
          </a:p>
          <a:p>
            <a:pPr>
              <a:spcAft>
                <a:spcPts val="600"/>
              </a:spcAft>
            </a:pPr>
            <a:r>
              <a:rPr sz="1400">
                <a:solidFill>
                  <a:srgbClr val="1A1A1A"/>
                </a:solidFill>
              </a:rPr>
              <a:t>•  SELECT DISTINCT program FROM Student; — one row per program.</a:t>
            </a:r>
          </a:p>
          <a:p>
            <a:pPr>
              <a:spcAft>
                <a:spcPts val="600"/>
              </a:spcAft>
            </a:pPr>
            <a:r>
              <a:rPr sz="1400">
                <a:solidFill>
                  <a:srgbClr val="1A1A1A"/>
                </a:solidFill>
              </a:rPr>
              <a:t>•  SELECT program FROM Student; — repeats a program once per student.</a:t>
            </a:r>
          </a:p>
          <a:p>
            <a:pPr>
              <a:spcAft>
                <a:spcPts val="600"/>
              </a:spcAft>
            </a:pPr>
            <a:r>
              <a:rPr sz="1400">
                <a:solidFill>
                  <a:srgbClr val="1A1A1A"/>
                </a:solidFill>
              </a:rPr>
              <a:t>•  DISTINCT applies to the WHOLE selected row, not one column.</a:t>
            </a:r>
          </a:p>
          <a:p>
            <a:pPr>
              <a:spcAft>
                <a:spcPts val="600"/>
              </a:spcAft>
            </a:pPr>
            <a:r>
              <a:rPr sz="1400">
                <a:solidFill>
                  <a:srgbClr val="1A1A1A"/>
                </a:solidFill>
              </a:rPr>
              <a:t>•  ALL is the (rarely written) default that keeps duplicates.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DISTINCT = 'one of each, please' — collapse repeats to a single row.</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219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DISTINCT vs ALL — same query, different result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898571"/>
                <a:gridCol w="3592285"/>
                <a:gridCol w="2939142"/>
              </a:tblGrid>
              <a:tr h="630936">
                <a:tc>
                  <a:txBody>
                    <a:bodyPr wrap="square"/>
                    <a:lstStyle/>
                    <a:p>
                      <a:r>
                        <a:rPr sz="1100" b="1">
                          <a:solidFill>
                            <a:srgbClr val="FFFFFF"/>
                          </a:solidFill>
                        </a:rPr>
                        <a:t>Query</a:t>
                      </a:r>
                    </a:p>
                  </a:txBody>
                  <a:tcPr anchor="ctr" marL="73152" marR="54864" marT="27432" marB="27432">
                    <a:solidFill>
                      <a:srgbClr val="0C2B4A"/>
                    </a:solidFill>
                  </a:tcPr>
                </a:tc>
                <a:tc>
                  <a:txBody>
                    <a:bodyPr wrap="square"/>
                    <a:lstStyle/>
                    <a:p>
                      <a:r>
                        <a:rPr sz="1100" b="1">
                          <a:solidFill>
                            <a:srgbClr val="FFFFFF"/>
                          </a:solidFill>
                        </a:rPr>
                        <a:t>Returns</a:t>
                      </a:r>
                    </a:p>
                  </a:txBody>
                  <a:tcPr anchor="ctr" marL="73152" marR="54864" marT="27432" marB="27432">
                    <a:solidFill>
                      <a:srgbClr val="0C2B4A"/>
                    </a:solidFill>
                  </a:tcPr>
                </a:tc>
                <a:tc>
                  <a:txBody>
                    <a:bodyPr wrap="square"/>
                    <a:lstStyle/>
                    <a:p>
                      <a:r>
                        <a:rPr sz="1100" b="1">
                          <a:solidFill>
                            <a:srgbClr val="FFFFFF"/>
                          </a:solidFill>
                        </a:rPr>
                        <a:t>Rows (seed data)</a:t>
                      </a:r>
                    </a:p>
                  </a:txBody>
                  <a:tcPr anchor="ctr" marL="73152" marR="54864" marT="27432" marB="27432">
                    <a:solidFill>
                      <a:srgbClr val="0C2B4A"/>
                    </a:solidFill>
                  </a:tcPr>
                </a:tc>
              </a:tr>
              <a:tr h="630936">
                <a:tc>
                  <a:txBody>
                    <a:bodyPr wrap="square"/>
                    <a:lstStyle/>
                    <a:p>
                      <a:r>
                        <a:rPr sz="1050" b="1">
                          <a:solidFill>
                            <a:srgbClr val="0C2B4A"/>
                          </a:solidFill>
                        </a:rPr>
                        <a:t>SELECT program FROM Student</a:t>
                      </a:r>
                    </a:p>
                  </a:txBody>
                  <a:tcPr anchor="ctr" marL="73152" marR="54864" marT="27432" marB="27432">
                    <a:solidFill>
                      <a:srgbClr val="FFFFFF"/>
                    </a:solidFill>
                  </a:tcPr>
                </a:tc>
                <a:tc>
                  <a:txBody>
                    <a:bodyPr wrap="square"/>
                    <a:lstStyle/>
                    <a:p>
                      <a:r>
                        <a:rPr sz="1050">
                          <a:solidFill>
                            <a:srgbClr val="1A1A1A"/>
                          </a:solidFill>
                        </a:rPr>
                        <a:t>every student's program (repeats)</a:t>
                      </a:r>
                    </a:p>
                  </a:txBody>
                  <a:tcPr anchor="ctr" marL="73152" marR="54864" marT="27432" marB="27432">
                    <a:solidFill>
                      <a:srgbClr val="FFFFFF"/>
                    </a:solidFill>
                  </a:tcPr>
                </a:tc>
                <a:tc>
                  <a:txBody>
                    <a:bodyPr wrap="square"/>
                    <a:lstStyle/>
                    <a:p>
                      <a:r>
                        <a:rPr sz="1050">
                          <a:solidFill>
                            <a:srgbClr val="1A1A1A"/>
                          </a:solidFill>
                        </a:rPr>
                        <a:t>BIM, BIM, BCA, BIM, BCA</a:t>
                      </a:r>
                    </a:p>
                  </a:txBody>
                  <a:tcPr anchor="ctr" marL="73152" marR="54864" marT="27432" marB="27432">
                    <a:solidFill>
                      <a:srgbClr val="FFFFFF"/>
                    </a:solidFill>
                  </a:tcPr>
                </a:tc>
              </a:tr>
              <a:tr h="630936">
                <a:tc>
                  <a:txBody>
                    <a:bodyPr wrap="square"/>
                    <a:lstStyle/>
                    <a:p>
                      <a:r>
                        <a:rPr sz="1050" b="1">
                          <a:solidFill>
                            <a:srgbClr val="0C2B4A"/>
                          </a:solidFill>
                        </a:rPr>
                        <a:t>SELECT DISTINCT program FROM Student</a:t>
                      </a:r>
                    </a:p>
                  </a:txBody>
                  <a:tcPr anchor="ctr" marL="73152" marR="54864" marT="27432" marB="27432">
                    <a:solidFill>
                      <a:srgbClr val="EEF3F8"/>
                    </a:solidFill>
                  </a:tcPr>
                </a:tc>
                <a:tc>
                  <a:txBody>
                    <a:bodyPr wrap="square"/>
                    <a:lstStyle/>
                    <a:p>
                      <a:r>
                        <a:rPr sz="1050">
                          <a:solidFill>
                            <a:srgbClr val="1A1A1A"/>
                          </a:solidFill>
                        </a:rPr>
                        <a:t>each program once</a:t>
                      </a:r>
                    </a:p>
                  </a:txBody>
                  <a:tcPr anchor="ctr" marL="73152" marR="54864" marT="27432" marB="27432">
                    <a:solidFill>
                      <a:srgbClr val="EEF3F8"/>
                    </a:solidFill>
                  </a:tcPr>
                </a:tc>
                <a:tc>
                  <a:txBody>
                    <a:bodyPr wrap="square"/>
                    <a:lstStyle/>
                    <a:p>
                      <a:r>
                        <a:rPr sz="1050">
                          <a:solidFill>
                            <a:srgbClr val="1A1A1A"/>
                          </a:solidFill>
                        </a:rPr>
                        <a:t>BIM, BCA</a:t>
                      </a:r>
                    </a:p>
                  </a:txBody>
                  <a:tcPr anchor="ctr" marL="73152" marR="54864" marT="27432" marB="27432">
                    <a:solidFill>
                      <a:srgbClr val="EEF3F8"/>
                    </a:solidFill>
                  </a:tcPr>
                </a:tc>
              </a:tr>
              <a:tr h="630936">
                <a:tc>
                  <a:txBody>
                    <a:bodyPr wrap="square"/>
                    <a:lstStyle/>
                    <a:p>
                      <a:r>
                        <a:rPr sz="1050" b="1">
                          <a:solidFill>
                            <a:srgbClr val="0C2B4A"/>
                          </a:solidFill>
                        </a:rPr>
                        <a:t>SELECT dept FROM Instructor</a:t>
                      </a:r>
                    </a:p>
                  </a:txBody>
                  <a:tcPr anchor="ctr" marL="73152" marR="54864" marT="27432" marB="27432">
                    <a:solidFill>
                      <a:srgbClr val="FFFFFF"/>
                    </a:solidFill>
                  </a:tcPr>
                </a:tc>
                <a:tc>
                  <a:txBody>
                    <a:bodyPr wrap="square"/>
                    <a:lstStyle/>
                    <a:p>
                      <a:r>
                        <a:rPr sz="1050">
                          <a:solidFill>
                            <a:srgbClr val="1A1A1A"/>
                          </a:solidFill>
                        </a:rPr>
                        <a:t>dept per instructor</a:t>
                      </a:r>
                    </a:p>
                  </a:txBody>
                  <a:tcPr anchor="ctr" marL="73152" marR="54864" marT="27432" marB="27432">
                    <a:solidFill>
                      <a:srgbClr val="FFFFFF"/>
                    </a:solidFill>
                  </a:tcPr>
                </a:tc>
                <a:tc>
                  <a:txBody>
                    <a:bodyPr wrap="square"/>
                    <a:lstStyle/>
                    <a:p>
                      <a:r>
                        <a:rPr sz="1050">
                          <a:solidFill>
                            <a:srgbClr val="1A1A1A"/>
                          </a:solidFill>
                        </a:rPr>
                        <a:t>IT, IT, MGT, ECO</a:t>
                      </a:r>
                    </a:p>
                  </a:txBody>
                  <a:tcPr anchor="ctr" marL="73152" marR="54864" marT="27432" marB="27432">
                    <a:solidFill>
                      <a:srgbClr val="FFFFFF"/>
                    </a:solidFill>
                  </a:tcPr>
                </a:tc>
              </a:tr>
              <a:tr h="630936">
                <a:tc>
                  <a:txBody>
                    <a:bodyPr wrap="square"/>
                    <a:lstStyle/>
                    <a:p>
                      <a:r>
                        <a:rPr sz="1050" b="1">
                          <a:solidFill>
                            <a:srgbClr val="0C2B4A"/>
                          </a:solidFill>
                        </a:rPr>
                        <a:t>SELECT DISTINCT dept FROM Instructor</a:t>
                      </a:r>
                    </a:p>
                  </a:txBody>
                  <a:tcPr anchor="ctr" marL="73152" marR="54864" marT="27432" marB="27432">
                    <a:solidFill>
                      <a:srgbClr val="EEF3F8"/>
                    </a:solidFill>
                  </a:tcPr>
                </a:tc>
                <a:tc>
                  <a:txBody>
                    <a:bodyPr wrap="square"/>
                    <a:lstStyle/>
                    <a:p>
                      <a:r>
                        <a:rPr sz="1050">
                          <a:solidFill>
                            <a:srgbClr val="1A1A1A"/>
                          </a:solidFill>
                        </a:rPr>
                        <a:t>each dept once</a:t>
                      </a:r>
                    </a:p>
                  </a:txBody>
                  <a:tcPr anchor="ctr" marL="73152" marR="54864" marT="27432" marB="27432">
                    <a:solidFill>
                      <a:srgbClr val="EEF3F8"/>
                    </a:solidFill>
                  </a:tcPr>
                </a:tc>
                <a:tc>
                  <a:txBody>
                    <a:bodyPr wrap="square"/>
                    <a:lstStyle/>
                    <a:p>
                      <a:r>
                        <a:rPr sz="1050">
                          <a:solidFill>
                            <a:srgbClr val="1A1A1A"/>
                          </a:solidFill>
                        </a:rPr>
                        <a:t>IT, MGT, ECO</a:t>
                      </a:r>
                    </a:p>
                  </a:txBody>
                  <a:tcPr anchor="ctr" marL="73152" marR="54864" marT="27432" marB="27432">
                    <a:solidFill>
                      <a:srgbClr val="EEF3F8"/>
                    </a:solidFill>
                  </a:tcPr>
                </a:tc>
              </a:tr>
              <a:tr h="630936">
                <a:tc>
                  <a:txBody>
                    <a:bodyPr wrap="square"/>
                    <a:lstStyle/>
                    <a:p>
                      <a:r>
                        <a:rPr sz="1050" b="1">
                          <a:solidFill>
                            <a:srgbClr val="0C2B4A"/>
                          </a:solidFill>
                        </a:rPr>
                        <a:t>SELECT DISTINCT program, semester FROM Student</a:t>
                      </a:r>
                    </a:p>
                  </a:txBody>
                  <a:tcPr anchor="ctr" marL="73152" marR="54864" marT="27432" marB="27432">
                    <a:solidFill>
                      <a:srgbClr val="FFFFFF"/>
                    </a:solidFill>
                  </a:tcPr>
                </a:tc>
                <a:tc>
                  <a:txBody>
                    <a:bodyPr wrap="square"/>
                    <a:lstStyle/>
                    <a:p>
                      <a:r>
                        <a:rPr sz="1050">
                          <a:solidFill>
                            <a:srgbClr val="1A1A1A"/>
                          </a:solidFill>
                        </a:rPr>
                        <a:t>distinct COMBINATIONS</a:t>
                      </a:r>
                    </a:p>
                  </a:txBody>
                  <a:tcPr anchor="ctr" marL="73152" marR="54864" marT="27432" marB="27432">
                    <a:solidFill>
                      <a:srgbClr val="FFFFFF"/>
                    </a:solidFill>
                  </a:tcPr>
                </a:tc>
                <a:tc>
                  <a:txBody>
                    <a:bodyPr wrap="square"/>
                    <a:lstStyle/>
                    <a:p>
                      <a:r>
                        <a:rPr sz="1050">
                          <a:solidFill>
                            <a:srgbClr val="1A1A1A"/>
                          </a:solidFill>
                        </a:rPr>
                        <a:t>(BIM,4),(BCA,4),(BIM,6),(BCA,2)</a:t>
                      </a:r>
                    </a:p>
                  </a:txBody>
                  <a:tcPr anchor="ctr" marL="73152" marR="54864" marT="27432" marB="27432">
                    <a:solidFill>
                      <a:srgbClr val="FFFFFF"/>
                    </a:solidFill>
                  </a:tcPr>
                </a:tc>
              </a:tr>
              <a:tr h="630936">
                <a:tc>
                  <a:txBody>
                    <a:bodyPr wrap="square"/>
                    <a:lstStyle/>
                    <a:p>
                      <a:r>
                        <a:rPr sz="1050" b="1">
                          <a:solidFill>
                            <a:srgbClr val="0C2B4A"/>
                          </a:solidFill>
                        </a:rPr>
                        <a:t>distinct districts (Nagarik App)</a:t>
                      </a:r>
                    </a:p>
                  </a:txBody>
                  <a:tcPr anchor="ctr" marL="73152" marR="54864" marT="27432" marB="27432">
                    <a:solidFill>
                      <a:srgbClr val="EEF3F8"/>
                    </a:solidFill>
                  </a:tcPr>
                </a:tc>
                <a:tc>
                  <a:txBody>
                    <a:bodyPr wrap="square"/>
                    <a:lstStyle/>
                    <a:p>
                      <a:r>
                        <a:rPr sz="1050">
                          <a:solidFill>
                            <a:srgbClr val="1A1A1A"/>
                          </a:solidFill>
                        </a:rPr>
                        <a:t>SELECT DISTINCT district FROM users</a:t>
                      </a:r>
                    </a:p>
                  </a:txBody>
                  <a:tcPr anchor="ctr" marL="73152" marR="54864" marT="27432" marB="27432">
                    <a:solidFill>
                      <a:srgbClr val="EEF3F8"/>
                    </a:solidFill>
                  </a:tcPr>
                </a:tc>
                <a:tc>
                  <a:txBody>
                    <a:bodyPr wrap="square"/>
                    <a:lstStyle/>
                    <a:p>
                      <a:r>
                        <a:rPr sz="1050">
                          <a:solidFill>
                            <a:srgbClr val="1A1A1A"/>
                          </a:solidFill>
                        </a:rPr>
                        <a:t>one row per district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DISTINCT de-duplicates the ENTIRE selected row. Selecting two columns with DISTINCT keeps each distinct pair — not each column de-duplicated separately.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219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Duplicate Tuples (DISTINCT / ALL)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'choose your district' dropdown is SELECT DISTINCT district FROM users — you want each district once, not repeated per user. A tag cloud, a filter list, a 'departments we hire in' list — all are DISTINCT queries over a column with many repeats.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"DISTINCT de-duplicates just the first column." No — DISTINCT considers the WHOLE selected row. SELECT DISTINCT program, semester returns each distinct (program, semester) PAIR, so a program can still appear several times with different semesters.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By default SELECT returns all rows including duplicates (ALL). DISTINCT removes duplicate rows so each distinct combination of the selected columns appears once. It applies to the entire selected row, not a single column — SELECT DISTINCT a, b de-duplicates the (a,b) pairs.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DISTINCT · ALL (default) · de-duplication · whole-row · distinct combinations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219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3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Set Operations: UNION / INTERSECT / EXCEPT</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Set operations combine two result sets that are UNION-COMPATIBLE (same number of columns, compatible types). UNION = rows in either; INTERSECT = rows in both; EXCEPT = rows in the first but not the second.</a:t>
            </a:r>
          </a:p>
          <a:p>
            <a:pPr>
              <a:spcAft>
                <a:spcPts val="500"/>
              </a:spcAft>
            </a:pPr>
            <a:r>
              <a:rPr sz="1200" b="1">
                <a:solidFill>
                  <a:srgbClr val="185FA5"/>
                </a:solidFill>
              </a:rPr>
              <a:t>HOW IT WORKS</a:t>
            </a:r>
          </a:p>
          <a:p>
            <a:pPr>
              <a:spcAft>
                <a:spcPts val="600"/>
              </a:spcAft>
            </a:pPr>
            <a:r>
              <a:rPr sz="1400">
                <a:solidFill>
                  <a:srgbClr val="1A1A1A"/>
                </a:solidFill>
              </a:rPr>
              <a:t>•  UNION stacks two results and removes duplicates; UNION ALL keeps them.</a:t>
            </a:r>
          </a:p>
          <a:p>
            <a:pPr>
              <a:spcAft>
                <a:spcPts val="600"/>
              </a:spcAft>
            </a:pPr>
            <a:r>
              <a:rPr sz="1400">
                <a:solidFill>
                  <a:srgbClr val="1A1A1A"/>
                </a:solidFill>
              </a:rPr>
              <a:t>•  INTERSECT keeps rows appearing in both queries; EXCEPT subtracts the second from the first.</a:t>
            </a:r>
          </a:p>
          <a:p>
            <a:pPr>
              <a:spcAft>
                <a:spcPts val="600"/>
              </a:spcAft>
            </a:pPr>
            <a:r>
              <a:rPr sz="1400">
                <a:solidFill>
                  <a:srgbClr val="1A1A1A"/>
                </a:solidFill>
              </a:rPr>
              <a:t>•  Both queries must return the same columns in the same order (union-compatible).</a:t>
            </a:r>
          </a:p>
          <a:p>
            <a:pPr>
              <a:spcAft>
                <a:spcPts val="600"/>
              </a:spcAft>
            </a:pPr>
            <a:r>
              <a:rPr sz="1400">
                <a:solidFill>
                  <a:srgbClr val="1A1A1A"/>
                </a:solidFill>
              </a:rPr>
              <a:t>•  MySQL note: UNION is native; older MySQL lacks INTERSECT/EXCEPT (emulate with IN / NOT IN or joins) — MariaDB 10.3+ and MySQL 8.0.31+ support them.</a:t>
            </a:r>
          </a:p>
        </p:txBody>
      </p:sp>
      <p:pic>
        <p:nvPicPr>
          <p:cNvPr id="6" name="Picture 5" descr="s25_setops.png"/>
          <p:cNvPicPr>
            <a:picLocks noChangeAspect="1"/>
          </p:cNvPicPr>
          <p:nvPr/>
        </p:nvPicPr>
        <p:blipFill>
          <a:blip r:embed="rId2"/>
          <a:stretch>
            <a:fillRect/>
          </a:stretch>
        </p:blipFill>
        <p:spPr>
          <a:xfrm>
            <a:off x="6355080" y="2603028"/>
            <a:ext cx="5532120" cy="242918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Venn: UNION = both circles, INTERSECT = overlap, EXCEPT = left minus overlap.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219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set operations — what each keeps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375064"/>
                <a:gridCol w="3562597"/>
                <a:gridCol w="1632857"/>
                <a:gridCol w="3859480"/>
              </a:tblGrid>
              <a:tr h="736092">
                <a:tc>
                  <a:txBody>
                    <a:bodyPr wrap="square"/>
                    <a:lstStyle/>
                    <a:p>
                      <a:r>
                        <a:rPr sz="1100" b="1">
                          <a:solidFill>
                            <a:srgbClr val="FFFFFF"/>
                          </a:solidFill>
                        </a:rPr>
                        <a:t>Operation</a:t>
                      </a:r>
                    </a:p>
                  </a:txBody>
                  <a:tcPr anchor="ctr" marL="73152" marR="54864" marT="27432" marB="27432">
                    <a:solidFill>
                      <a:srgbClr val="0C2B4A"/>
                    </a:solidFill>
                  </a:tcPr>
                </a:tc>
                <a:tc>
                  <a:txBody>
                    <a:bodyPr wrap="square"/>
                    <a:lstStyle/>
                    <a:p>
                      <a:r>
                        <a:rPr sz="1100" b="1">
                          <a:solidFill>
                            <a:srgbClr val="FFFFFF"/>
                          </a:solidFill>
                        </a:rPr>
                        <a:t>Keeps rows that are…</a:t>
                      </a:r>
                    </a:p>
                  </a:txBody>
                  <a:tcPr anchor="ctr" marL="73152" marR="54864" marT="27432" marB="27432">
                    <a:solidFill>
                      <a:srgbClr val="0C2B4A"/>
                    </a:solidFill>
                  </a:tcPr>
                </a:tc>
                <a:tc>
                  <a:txBody>
                    <a:bodyPr wrap="square"/>
                    <a:lstStyle/>
                    <a:p>
                      <a:r>
                        <a:rPr sz="1100" b="1">
                          <a:solidFill>
                            <a:srgbClr val="FFFFFF"/>
                          </a:solidFill>
                        </a:rPr>
                        <a:t>Duplicates?</a:t>
                      </a:r>
                    </a:p>
                  </a:txBody>
                  <a:tcPr anchor="ctr" marL="73152" marR="54864" marT="27432" marB="27432">
                    <a:solidFill>
                      <a:srgbClr val="0C2B4A"/>
                    </a:solidFill>
                  </a:tcPr>
                </a:tc>
                <a:tc>
                  <a:txBody>
                    <a:bodyPr wrap="square"/>
                    <a:lstStyle/>
                    <a:p>
                      <a:r>
                        <a:rPr sz="1100" b="1">
                          <a:solidFill>
                            <a:srgbClr val="FFFFFF"/>
                          </a:solidFill>
                        </a:rPr>
                        <a:t>College / Nepal example</a:t>
                      </a:r>
                    </a:p>
                  </a:txBody>
                  <a:tcPr anchor="ctr" marL="73152" marR="54864" marT="27432" marB="27432">
                    <a:solidFill>
                      <a:srgbClr val="0C2B4A"/>
                    </a:solidFill>
                  </a:tcPr>
                </a:tc>
              </a:tr>
              <a:tr h="736092">
                <a:tc>
                  <a:txBody>
                    <a:bodyPr wrap="square"/>
                    <a:lstStyle/>
                    <a:p>
                      <a:r>
                        <a:rPr sz="1050" b="1">
                          <a:solidFill>
                            <a:srgbClr val="0C2B4A"/>
                          </a:solidFill>
                        </a:rPr>
                        <a:t>UNION</a:t>
                      </a:r>
                    </a:p>
                  </a:txBody>
                  <a:tcPr anchor="ctr" marL="73152" marR="54864" marT="27432" marB="27432">
                    <a:solidFill>
                      <a:srgbClr val="FFFFFF"/>
                    </a:solidFill>
                  </a:tcPr>
                </a:tc>
                <a:tc>
                  <a:txBody>
                    <a:bodyPr wrap="square"/>
                    <a:lstStyle/>
                    <a:p>
                      <a:r>
                        <a:rPr sz="1050">
                          <a:solidFill>
                            <a:srgbClr val="1A1A1A"/>
                          </a:solidFill>
                        </a:rPr>
                        <a:t>in query A OR query B</a:t>
                      </a:r>
                    </a:p>
                  </a:txBody>
                  <a:tcPr anchor="ctr" marL="73152" marR="54864" marT="27432" marB="27432">
                    <a:solidFill>
                      <a:srgbClr val="FFFFFF"/>
                    </a:solidFill>
                  </a:tcPr>
                </a:tc>
                <a:tc>
                  <a:txBody>
                    <a:bodyPr wrap="square"/>
                    <a:lstStyle/>
                    <a:p>
                      <a:r>
                        <a:rPr sz="1050">
                          <a:solidFill>
                            <a:srgbClr val="1A1A1A"/>
                          </a:solidFill>
                        </a:rPr>
                        <a:t>removed</a:t>
                      </a:r>
                    </a:p>
                  </a:txBody>
                  <a:tcPr anchor="ctr" marL="73152" marR="54864" marT="27432" marB="27432">
                    <a:solidFill>
                      <a:srgbClr val="FFFFFF"/>
                    </a:solidFill>
                  </a:tcPr>
                </a:tc>
                <a:tc>
                  <a:txBody>
                    <a:bodyPr wrap="square"/>
                    <a:lstStyle/>
                    <a:p>
                      <a:r>
                        <a:rPr sz="1050">
                          <a:solidFill>
                            <a:srgbClr val="1A1A1A"/>
                          </a:solidFill>
                        </a:rPr>
                        <a:t>students in IT220 OR MGT201</a:t>
                      </a:r>
                    </a:p>
                  </a:txBody>
                  <a:tcPr anchor="ctr" marL="73152" marR="54864" marT="27432" marB="27432">
                    <a:solidFill>
                      <a:srgbClr val="FFFFFF"/>
                    </a:solidFill>
                  </a:tcPr>
                </a:tc>
              </a:tr>
              <a:tr h="736092">
                <a:tc>
                  <a:txBody>
                    <a:bodyPr wrap="square"/>
                    <a:lstStyle/>
                    <a:p>
                      <a:r>
                        <a:rPr sz="1050" b="1">
                          <a:solidFill>
                            <a:srgbClr val="0C2B4A"/>
                          </a:solidFill>
                        </a:rPr>
                        <a:t>UNION ALL</a:t>
                      </a:r>
                    </a:p>
                  </a:txBody>
                  <a:tcPr anchor="ctr" marL="73152" marR="54864" marT="27432" marB="27432">
                    <a:solidFill>
                      <a:srgbClr val="EEF3F8"/>
                    </a:solidFill>
                  </a:tcPr>
                </a:tc>
                <a:tc>
                  <a:txBody>
                    <a:bodyPr wrap="square"/>
                    <a:lstStyle/>
                    <a:p>
                      <a:r>
                        <a:rPr sz="1050">
                          <a:solidFill>
                            <a:srgbClr val="1A1A1A"/>
                          </a:solidFill>
                        </a:rPr>
                        <a:t>in A or B</a:t>
                      </a:r>
                    </a:p>
                  </a:txBody>
                  <a:tcPr anchor="ctr" marL="73152" marR="54864" marT="27432" marB="27432">
                    <a:solidFill>
                      <a:srgbClr val="EEF3F8"/>
                    </a:solidFill>
                  </a:tcPr>
                </a:tc>
                <a:tc>
                  <a:txBody>
                    <a:bodyPr wrap="square"/>
                    <a:lstStyle/>
                    <a:p>
                      <a:r>
                        <a:rPr sz="1050">
                          <a:solidFill>
                            <a:srgbClr val="1A1A1A"/>
                          </a:solidFill>
                        </a:rPr>
                        <a:t>KEPT</a:t>
                      </a:r>
                    </a:p>
                  </a:txBody>
                  <a:tcPr anchor="ctr" marL="73152" marR="54864" marT="27432" marB="27432">
                    <a:solidFill>
                      <a:srgbClr val="EEF3F8"/>
                    </a:solidFill>
                  </a:tcPr>
                </a:tc>
                <a:tc>
                  <a:txBody>
                    <a:bodyPr wrap="square"/>
                    <a:lstStyle/>
                    <a:p>
                      <a:r>
                        <a:rPr sz="1050">
                          <a:solidFill>
                            <a:srgbClr val="1A1A1A"/>
                          </a:solidFill>
                        </a:rPr>
                        <a:t>combine two logs, keep every entry</a:t>
                      </a:r>
                    </a:p>
                  </a:txBody>
                  <a:tcPr anchor="ctr" marL="73152" marR="54864" marT="27432" marB="27432">
                    <a:solidFill>
                      <a:srgbClr val="EEF3F8"/>
                    </a:solidFill>
                  </a:tcPr>
                </a:tc>
              </a:tr>
              <a:tr h="736092">
                <a:tc>
                  <a:txBody>
                    <a:bodyPr wrap="square"/>
                    <a:lstStyle/>
                    <a:p>
                      <a:r>
                        <a:rPr sz="1050" b="1">
                          <a:solidFill>
                            <a:srgbClr val="0C2B4A"/>
                          </a:solidFill>
                        </a:rPr>
                        <a:t>INTERSECT</a:t>
                      </a:r>
                    </a:p>
                  </a:txBody>
                  <a:tcPr anchor="ctr" marL="73152" marR="54864" marT="27432" marB="27432">
                    <a:solidFill>
                      <a:srgbClr val="FFFFFF"/>
                    </a:solidFill>
                  </a:tcPr>
                </a:tc>
                <a:tc>
                  <a:txBody>
                    <a:bodyPr wrap="square"/>
                    <a:lstStyle/>
                    <a:p>
                      <a:r>
                        <a:rPr sz="1050">
                          <a:solidFill>
                            <a:srgbClr val="1A1A1A"/>
                          </a:solidFill>
                        </a:rPr>
                        <a:t>in BOTH A and B</a:t>
                      </a:r>
                    </a:p>
                  </a:txBody>
                  <a:tcPr anchor="ctr" marL="73152" marR="54864" marT="27432" marB="27432">
                    <a:solidFill>
                      <a:srgbClr val="FFFFFF"/>
                    </a:solidFill>
                  </a:tcPr>
                </a:tc>
                <a:tc>
                  <a:txBody>
                    <a:bodyPr wrap="square"/>
                    <a:lstStyle/>
                    <a:p>
                      <a:r>
                        <a:rPr sz="1050">
                          <a:solidFill>
                            <a:srgbClr val="1A1A1A"/>
                          </a:solidFill>
                        </a:rPr>
                        <a:t>removed</a:t>
                      </a:r>
                    </a:p>
                  </a:txBody>
                  <a:tcPr anchor="ctr" marL="73152" marR="54864" marT="27432" marB="27432">
                    <a:solidFill>
                      <a:srgbClr val="FFFFFF"/>
                    </a:solidFill>
                  </a:tcPr>
                </a:tc>
                <a:tc>
                  <a:txBody>
                    <a:bodyPr wrap="square"/>
                    <a:lstStyle/>
                    <a:p>
                      <a:r>
                        <a:rPr sz="1050">
                          <a:solidFill>
                            <a:srgbClr val="1A1A1A"/>
                          </a:solidFill>
                        </a:rPr>
                        <a:t>students in DBMS AND Economics</a:t>
                      </a:r>
                    </a:p>
                  </a:txBody>
                  <a:tcPr anchor="ctr" marL="73152" marR="54864" marT="27432" marB="27432">
                    <a:solidFill>
                      <a:srgbClr val="FFFFFF"/>
                    </a:solidFill>
                  </a:tcPr>
                </a:tc>
              </a:tr>
              <a:tr h="736092">
                <a:tc>
                  <a:txBody>
                    <a:bodyPr wrap="square"/>
                    <a:lstStyle/>
                    <a:p>
                      <a:r>
                        <a:rPr sz="1050" b="1">
                          <a:solidFill>
                            <a:srgbClr val="0C2B4A"/>
                          </a:solidFill>
                        </a:rPr>
                        <a:t>EXCEPT</a:t>
                      </a:r>
                    </a:p>
                  </a:txBody>
                  <a:tcPr anchor="ctr" marL="73152" marR="54864" marT="27432" marB="27432">
                    <a:solidFill>
                      <a:srgbClr val="EEF3F8"/>
                    </a:solidFill>
                  </a:tcPr>
                </a:tc>
                <a:tc>
                  <a:txBody>
                    <a:bodyPr wrap="square"/>
                    <a:lstStyle/>
                    <a:p>
                      <a:r>
                        <a:rPr sz="1050">
                          <a:solidFill>
                            <a:srgbClr val="1A1A1A"/>
                          </a:solidFill>
                        </a:rPr>
                        <a:t>in A but NOT in B</a:t>
                      </a:r>
                    </a:p>
                  </a:txBody>
                  <a:tcPr anchor="ctr" marL="73152" marR="54864" marT="27432" marB="27432">
                    <a:solidFill>
                      <a:srgbClr val="EEF3F8"/>
                    </a:solidFill>
                  </a:tcPr>
                </a:tc>
                <a:tc>
                  <a:txBody>
                    <a:bodyPr wrap="square"/>
                    <a:lstStyle/>
                    <a:p>
                      <a:r>
                        <a:rPr sz="1050">
                          <a:solidFill>
                            <a:srgbClr val="1A1A1A"/>
                          </a:solidFill>
                        </a:rPr>
                        <a:t>removed</a:t>
                      </a:r>
                    </a:p>
                  </a:txBody>
                  <a:tcPr anchor="ctr" marL="73152" marR="54864" marT="27432" marB="27432">
                    <a:solidFill>
                      <a:srgbClr val="EEF3F8"/>
                    </a:solidFill>
                  </a:tcPr>
                </a:tc>
                <a:tc>
                  <a:txBody>
                    <a:bodyPr wrap="square"/>
                    <a:lstStyle/>
                    <a:p>
                      <a:r>
                        <a:rPr sz="1050">
                          <a:solidFill>
                            <a:srgbClr val="1A1A1A"/>
                          </a:solidFill>
                        </a:rPr>
                        <a:t>eSewa users EXCEPT Khalti users</a:t>
                      </a:r>
                    </a:p>
                  </a:txBody>
                  <a:tcPr anchor="ctr" marL="73152" marR="54864" marT="27432" marB="27432">
                    <a:solidFill>
                      <a:srgbClr val="EEF3F8"/>
                    </a:solidFill>
                  </a:tcPr>
                </a:tc>
              </a:tr>
              <a:tr h="736092">
                <a:tc>
                  <a:txBody>
                    <a:bodyPr wrap="square"/>
                    <a:lstStyle/>
                    <a:p>
                      <a:r>
                        <a:rPr sz="1050" b="1">
                          <a:solidFill>
                            <a:srgbClr val="0C2B4A"/>
                          </a:solidFill>
                        </a:rPr>
                        <a:t>(union-compatible)</a:t>
                      </a:r>
                    </a:p>
                  </a:txBody>
                  <a:tcPr anchor="ctr" marL="73152" marR="54864" marT="27432" marB="27432">
                    <a:solidFill>
                      <a:srgbClr val="FFFFFF"/>
                    </a:solidFill>
                  </a:tcPr>
                </a:tc>
                <a:tc>
                  <a:txBody>
                    <a:bodyPr wrap="square"/>
                    <a:lstStyle/>
                    <a:p>
                      <a:r>
                        <a:rPr sz="1050">
                          <a:solidFill>
                            <a:srgbClr val="1A1A1A"/>
                          </a:solidFill>
                        </a:rPr>
                        <a:t>same #cols + compatible types</a:t>
                      </a:r>
                    </a:p>
                  </a:txBody>
                  <a:tcPr anchor="ctr" marL="73152" marR="54864" marT="27432" marB="27432">
                    <a:solidFill>
                      <a:srgbClr val="FFFFFF"/>
                    </a:solidFill>
                  </a:tcPr>
                </a:tc>
                <a:tc>
                  <a:txBody>
                    <a:bodyPr wrap="square"/>
                    <a:lstStyle/>
                    <a:p>
                      <a:r>
                        <a:rPr sz="1050">
                          <a:solidFill>
                            <a:srgbClr val="1A1A1A"/>
                          </a:solidFill>
                        </a:rPr>
                        <a:t>-</a:t>
                      </a:r>
                    </a:p>
                  </a:txBody>
                  <a:tcPr anchor="ctr" marL="73152" marR="54864" marT="27432" marB="27432">
                    <a:solidFill>
                      <a:srgbClr val="FFFFFF"/>
                    </a:solidFill>
                  </a:tcPr>
                </a:tc>
                <a:tc>
                  <a:txBody>
                    <a:bodyPr wrap="square"/>
                    <a:lstStyle/>
                    <a:p>
                      <a:r>
                        <a:rPr sz="1050">
                          <a:solidFill>
                            <a:srgbClr val="1A1A1A"/>
                          </a:solidFill>
                        </a:rPr>
                        <a:t>required for all three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Union-compatibility (same columns, same order, compatible types) is mandatory. UNION removes duplicates; UNION ALL keeps them — and UNION ALL is faster when you know there are none.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219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Set Operations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Marketing segments are set operations: 'users in A but not B' (EXCEPT) targets 'registered but never paid'; 'in both A and B' (INTERSECT) finds cross-app users; 'in either' (UNION) merges two campaign lists into one de-duplicated mailing list.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"UNION keeps duplicates." No — UNION removes duplicates; UNION ALL keeps them. Also, the two queries must be union-compatible: same number of columns, in the same order, with compatible types — otherwise it errors.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Set operations combine two union-compatible result sets: UNION (rows in either, duplicates removed), UNION ALL (rows in either, duplicates kept), INTERSECT (rows in both), and EXCEPT/MINUS (rows in the first but not the second). Both queries must return the same columns in the same order.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UNION · UNION ALL · INTERSECT · EXCEPT · union-compatible · de-dup vs keep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219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S25 · HANDS-ON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Rank the merit list and find cross-enrolled students</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On the college schema: (a) produce the top-3 merit list of (name, marks); (b) list students enrolled in BOTH IT220 and MGT201.</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(a) Join to get names with marks: SELECT s.name, e.marks FROM Student s, Enrollment e WHERE s.roll=e.roll.</a:t>
            </a:r>
          </a:p>
          <a:p>
            <a:pPr>
              <a:spcAft>
                <a:spcPts val="400"/>
              </a:spcAft>
            </a:pPr>
            <a:r>
              <a:rPr sz="1250" b="1">
                <a:solidFill>
                  <a:srgbClr val="854F0B"/>
                </a:solidFill>
              </a:rPr>
              <a:t>Step 2.  </a:t>
            </a:r>
            <a:r>
              <a:rPr sz="1250">
                <a:solidFill>
                  <a:srgbClr val="1A1A1A"/>
                </a:solidFill>
              </a:rPr>
              <a:t>(a) Sort best-first and cap it: ORDER BY e.marks DESC LIMIT 3 → the top three scorers.</a:t>
            </a:r>
          </a:p>
          <a:p>
            <a:pPr>
              <a:spcAft>
                <a:spcPts val="400"/>
              </a:spcAft>
            </a:pPr>
            <a:r>
              <a:rPr sz="1250" b="1">
                <a:solidFill>
                  <a:srgbClr val="854F0B"/>
                </a:solidFill>
              </a:rPr>
              <a:t>Step 3.  </a:t>
            </a:r>
            <a:r>
              <a:rPr sz="1250">
                <a:solidFill>
                  <a:srgbClr val="1A1A1A"/>
                </a:solidFill>
              </a:rPr>
              <a:t>(b) Get IT220 rolls: SELECT roll FROM Enrollment WHERE course_id='IT220'.</a:t>
            </a:r>
          </a:p>
          <a:p>
            <a:pPr>
              <a:spcAft>
                <a:spcPts val="400"/>
              </a:spcAft>
            </a:pPr>
            <a:r>
              <a:rPr sz="1250" b="1">
                <a:solidFill>
                  <a:srgbClr val="854F0B"/>
                </a:solidFill>
              </a:rPr>
              <a:t>Step 4.  </a:t>
            </a:r>
            <a:r>
              <a:rPr sz="1250">
                <a:solidFill>
                  <a:srgbClr val="1A1A1A"/>
                </a:solidFill>
              </a:rPr>
              <a:t>(b) INTERSECT with MGT201 rolls to keep only students in BOTH courses.</a:t>
            </a:r>
          </a:p>
          <a:p>
            <a:pPr>
              <a:spcAft>
                <a:spcPts val="400"/>
              </a:spcAft>
            </a:pPr>
            <a:r>
              <a:rPr sz="1250" b="1">
                <a:solidFill>
                  <a:srgbClr val="854F0B"/>
                </a:solidFill>
              </a:rPr>
              <a:t>Step 5.  </a:t>
            </a:r>
            <a:r>
              <a:rPr sz="1250">
                <a:solidFill>
                  <a:srgbClr val="1A1A1A"/>
                </a:solidFill>
              </a:rPr>
              <a:t>(b) If your MySQL lacks INTERSECT, use WHERE roll IN (…MGT201…) on the IT220 set instead.</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(a) SELECT s.name, e.marks FROM Student s, Enrollment e WHERE s.roll=e.roll ORDER BY e.marks DESC LIMIT 3;   (b) SELECT roll FROM Enrollment WHERE course_id='IT220' INTERSECT SELECT roll FROM Enrollment WHERE course_id='MGT201';</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219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S25 — When would you use EXCEPT?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give a real Nepali-app scenario for EXCEPT (e.g. 'registered but never paid').</a:t>
            </a:r>
          </a:p>
          <a:p>
            <a:pPr>
              <a:spcAft>
                <a:spcPts val="700"/>
              </a:spcAft>
            </a:pPr>
            <a:r>
              <a:rPr sz="1550">
                <a:solidFill>
                  <a:srgbClr val="1A1A1A"/>
                </a:solidFill>
              </a:rPr>
              <a:t>•  Sketch the two queries A and B whose difference answers it.</a:t>
            </a:r>
          </a:p>
          <a:p>
            <a:pPr>
              <a:spcAft>
                <a:spcPts val="700"/>
              </a:spcAft>
            </a:pPr>
            <a:r>
              <a:rPr sz="1550">
                <a:solidFill>
                  <a:srgbClr val="1A1A1A"/>
                </a:solidFill>
              </a:rPr>
              <a:t>•  Share aloud (3 min); check the two sides are union-compatible.</a:t>
            </a:r>
          </a:p>
          <a:p>
            <a:pPr>
              <a:spcAft>
                <a:spcPts val="700"/>
              </a:spcAft>
            </a:pPr>
            <a:r>
              <a:rPr sz="1550">
                <a:solidFill>
                  <a:srgbClr val="1A1A1A"/>
                </a:solidFill>
              </a:rPr>
              <a:t>•  Close: EXCEPT is the 'who is missing' question — very common in retention/marketing.</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all users EXCEPT paying users = never-paid; enrolled EXCEPT graduated = still studying; registered EXCEPT attended = no-shows. Reward union-compatible A and B and a 'who's missing' framing.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219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Default sort direction of ORDER BY is:</a:t>
            </a:r>
          </a:p>
          <a:p>
            <a:pPr lvl="1"/>
            <a:r>
              <a:rPr sz="1500" b="1">
                <a:solidFill>
                  <a:srgbClr val="0F6E56"/>
                </a:solidFill>
              </a:rPr>
              <a:t>a) ✅ ascending (ASC)   b) descending   c) random   d) by insert order</a:t>
            </a:r>
          </a:p>
          <a:p>
            <a:pPr lvl="1">
              <a:spcBef>
                <a:spcPts val="600"/>
              </a:spcBef>
            </a:pPr>
            <a:r>
              <a:rPr sz="1500" i="1">
                <a:solidFill>
                  <a:srgbClr val="1A1A1A"/>
                </a:solidFill>
              </a:rPr>
              <a:t>     Why: ASC is implicit; you must write DESC for descending.</a:t>
            </a:r>
          </a:p>
          <a:p>
            <a:pPr>
              <a:spcBef>
                <a:spcPts val="900"/>
              </a:spcBef>
            </a:pPr>
            <a:r>
              <a:rPr sz="1700" b="1">
                <a:solidFill>
                  <a:srgbClr val="0C2B4A"/>
                </a:solidFill>
              </a:rPr>
              <a:t>Q2.  Which set op removes duplicates?</a:t>
            </a:r>
          </a:p>
          <a:p>
            <a:pPr lvl="1"/>
            <a:r>
              <a:rPr sz="1500" b="1">
                <a:solidFill>
                  <a:srgbClr val="0F6E56"/>
                </a:solidFill>
              </a:rPr>
              <a:t>a) UNION ALL   b) ✅ UNION   c) neither   d) both</a:t>
            </a:r>
          </a:p>
          <a:p>
            <a:pPr lvl="1">
              <a:spcBef>
                <a:spcPts val="600"/>
              </a:spcBef>
            </a:pPr>
            <a:r>
              <a:rPr sz="1500" i="1">
                <a:solidFill>
                  <a:srgbClr val="1A1A1A"/>
                </a:solidFill>
              </a:rPr>
              <a:t>     Why: UNION de-duplicates; UNION ALL deliberately keeps duplicates.</a:t>
            </a:r>
          </a:p>
          <a:p>
            <a:pPr>
              <a:spcBef>
                <a:spcPts val="900"/>
              </a:spcBef>
            </a:pPr>
            <a:r>
              <a:rPr sz="1700" b="1">
                <a:solidFill>
                  <a:srgbClr val="0C2B4A"/>
                </a:solidFill>
              </a:rPr>
              <a:t>Q3.  INTERSECT returns rows that are:</a:t>
            </a:r>
          </a:p>
          <a:p>
            <a:pPr lvl="1"/>
            <a:r>
              <a:rPr sz="1500" b="1">
                <a:solidFill>
                  <a:srgbClr val="0F6E56"/>
                </a:solidFill>
              </a:rPr>
              <a:t>a) in either set   b) ✅ in BOTH sets   c) in the first only   d) in neither</a:t>
            </a:r>
          </a:p>
          <a:p>
            <a:pPr lvl="1">
              <a:spcBef>
                <a:spcPts val="600"/>
              </a:spcBef>
            </a:pPr>
            <a:r>
              <a:rPr sz="1500" i="1">
                <a:solidFill>
                  <a:srgbClr val="1A1A1A"/>
                </a:solidFill>
              </a:rPr>
              <a:t>     Why: INTERSECT is the overlap of the two result sets.</a:t>
            </a:r>
          </a:p>
          <a:p>
            <a:pPr lvl="1">
              <a:spcBef>
                <a:spcPts val="600"/>
              </a:spcBef>
            </a:pPr>
            <a:r>
              <a:rPr sz="1500" i="1">
                <a:solidFill>
                  <a:srgbClr val="1A1A1A"/>
                </a:solidFill>
              </a:rPr>
              <a:t>Discussion: give a scenario where you'd use EXCEPT ('who registered but never paid').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219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ORDER BY sorts (ASC default / DESC); LIMIT n (MySQL) gives top-N; no ORDER BY = no guaranteed order.</a:t>
            </a:r>
          </a:p>
          <a:p>
            <a:pPr>
              <a:spcAft>
                <a:spcPts val="800"/>
              </a:spcAft>
            </a:pPr>
            <a:r>
              <a:rPr sz="1500">
                <a:solidFill>
                  <a:srgbClr val="1A1A1A"/>
                </a:solidFill>
              </a:rPr>
              <a:t>2.  DISTINCT removes duplicate ROWS (whole selected row), collapsing repeats to one.</a:t>
            </a:r>
          </a:p>
          <a:p>
            <a:pPr>
              <a:spcAft>
                <a:spcPts val="800"/>
              </a:spcAft>
            </a:pPr>
            <a:r>
              <a:rPr sz="1500">
                <a:solidFill>
                  <a:srgbClr val="1A1A1A"/>
                </a:solidFill>
              </a:rPr>
              <a:t>3.  UNION/INTERSECT/EXCEPT combine union-compatible result sets; UNION de-dups, UNION ALL keeps duplicates.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Leaderboards, 'top sellers', de-duplicated dropdowns, and 'users in A but not B' marketing segments are all built from ORDER BY, DISTINCT, and set operations — everyday tools in analytics and product work.</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S26 — summarizing data: the aggregate functions, GROUP BY, and HAVING.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219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26 · LECTURE HOUR 5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Aggregate Functions · GROUP BY · HAVING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What's the AVERAGE salary in the IT department? How MANY students passed DBMS? You don't want 5,000 rows — you want one number.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62 / 219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Aggregate Functions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An aggregate function collapses many rows into a single summary value. The five: COUNT, SUM, AVG, MIN, MAX. Over a whole table they return one row.</a:t>
            </a:r>
          </a:p>
          <a:p>
            <a:pPr>
              <a:spcAft>
                <a:spcPts val="500"/>
              </a:spcAft>
            </a:pPr>
            <a:r>
              <a:rPr sz="1200" b="1">
                <a:solidFill>
                  <a:srgbClr val="185FA5"/>
                </a:solidFill>
              </a:rPr>
              <a:t>HOW IT WORKS</a:t>
            </a:r>
          </a:p>
          <a:p>
            <a:pPr>
              <a:spcAft>
                <a:spcPts val="600"/>
              </a:spcAft>
            </a:pPr>
            <a:r>
              <a:rPr sz="1400">
                <a:solidFill>
                  <a:srgbClr val="1A1A1A"/>
                </a:solidFill>
              </a:rPr>
              <a:t>•  SELECT COUNT(*), AVG(marks), MAX(marks) FROM Enrollment WHERE course_id='IT220';</a:t>
            </a:r>
          </a:p>
          <a:p>
            <a:pPr>
              <a:spcAft>
                <a:spcPts val="600"/>
              </a:spcAft>
            </a:pPr>
            <a:r>
              <a:rPr sz="1400">
                <a:solidFill>
                  <a:srgbClr val="1A1A1A"/>
                </a:solidFill>
              </a:rPr>
              <a:t>•  COUNT(*) counts rows; COUNT(col) counts non-NULL values of col (S27).</a:t>
            </a:r>
          </a:p>
          <a:p>
            <a:pPr>
              <a:spcAft>
                <a:spcPts val="600"/>
              </a:spcAft>
            </a:pPr>
            <a:r>
              <a:rPr sz="1400">
                <a:solidFill>
                  <a:srgbClr val="1A1A1A"/>
                </a:solidFill>
              </a:rPr>
              <a:t>•  SUM/AVG work on numbers; MIN/MAX work on numbers, dates, and text.</a:t>
            </a:r>
          </a:p>
          <a:p>
            <a:pPr>
              <a:spcAft>
                <a:spcPts val="600"/>
              </a:spcAft>
            </a:pPr>
            <a:r>
              <a:rPr sz="1400">
                <a:solidFill>
                  <a:srgbClr val="1A1A1A"/>
                </a:solidFill>
              </a:rPr>
              <a:t>•  Aggregates ignore NULLs (except COUNT(*)) — a NULL mark is skipped by AVG.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An aggregate boils many rows down to ONE number.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219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aggregates — function → question → result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438400"/>
                <a:gridCol w="3505199"/>
                <a:gridCol w="3200400"/>
                <a:gridCol w="2286000"/>
              </a:tblGrid>
              <a:tr h="630936">
                <a:tc>
                  <a:txBody>
                    <a:bodyPr wrap="square"/>
                    <a:lstStyle/>
                    <a:p>
                      <a:r>
                        <a:rPr sz="1100" b="1">
                          <a:solidFill>
                            <a:srgbClr val="FFFFFF"/>
                          </a:solidFill>
                        </a:rPr>
                        <a:t>Function</a:t>
                      </a:r>
                    </a:p>
                  </a:txBody>
                  <a:tcPr anchor="ctr" marL="73152" marR="54864" marT="27432" marB="27432">
                    <a:solidFill>
                      <a:srgbClr val="0C2B4A"/>
                    </a:solidFill>
                  </a:tcPr>
                </a:tc>
                <a:tc>
                  <a:txBody>
                    <a:bodyPr wrap="square"/>
                    <a:lstStyle/>
                    <a:p>
                      <a:r>
                        <a:rPr sz="1100" b="1">
                          <a:solidFill>
                            <a:srgbClr val="FFFFFF"/>
                          </a:solidFill>
                        </a:rPr>
                        <a:t>Answers the question</a:t>
                      </a:r>
                    </a:p>
                  </a:txBody>
                  <a:tcPr anchor="ctr" marL="73152" marR="54864" marT="27432" marB="27432">
                    <a:solidFill>
                      <a:srgbClr val="0C2B4A"/>
                    </a:solidFill>
                  </a:tcPr>
                </a:tc>
                <a:tc>
                  <a:txBody>
                    <a:bodyPr wrap="square"/>
                    <a:lstStyle/>
                    <a:p>
                      <a:r>
                        <a:rPr sz="1100" b="1">
                          <a:solidFill>
                            <a:srgbClr val="FFFFFF"/>
                          </a:solidFill>
                        </a:rPr>
                        <a:t>College example</a:t>
                      </a:r>
                    </a:p>
                  </a:txBody>
                  <a:tcPr anchor="ctr" marL="73152" marR="54864" marT="27432" marB="27432">
                    <a:solidFill>
                      <a:srgbClr val="0C2B4A"/>
                    </a:solidFill>
                  </a:tcPr>
                </a:tc>
                <a:tc>
                  <a:txBody>
                    <a:bodyPr wrap="square"/>
                    <a:lstStyle/>
                    <a:p>
                      <a:r>
                        <a:rPr sz="1100" b="1">
                          <a:solidFill>
                            <a:srgbClr val="FFFFFF"/>
                          </a:solidFill>
                        </a:rPr>
                        <a:t>Result (seed)</a:t>
                      </a:r>
                    </a:p>
                  </a:txBody>
                  <a:tcPr anchor="ctr" marL="73152" marR="54864" marT="27432" marB="27432">
                    <a:solidFill>
                      <a:srgbClr val="0C2B4A"/>
                    </a:solidFill>
                  </a:tcPr>
                </a:tc>
              </a:tr>
              <a:tr h="630936">
                <a:tc>
                  <a:txBody>
                    <a:bodyPr wrap="square"/>
                    <a:lstStyle/>
                    <a:p>
                      <a:r>
                        <a:rPr sz="1050" b="1">
                          <a:solidFill>
                            <a:srgbClr val="0C2B4A"/>
                          </a:solidFill>
                        </a:rPr>
                        <a:t>COUNT(*)</a:t>
                      </a:r>
                    </a:p>
                  </a:txBody>
                  <a:tcPr anchor="ctr" marL="73152" marR="54864" marT="27432" marB="27432">
                    <a:solidFill>
                      <a:srgbClr val="FFFFFF"/>
                    </a:solidFill>
                  </a:tcPr>
                </a:tc>
                <a:tc>
                  <a:txBody>
                    <a:bodyPr wrap="square"/>
                    <a:lstStyle/>
                    <a:p>
                      <a:r>
                        <a:rPr sz="1050">
                          <a:solidFill>
                            <a:srgbClr val="1A1A1A"/>
                          </a:solidFill>
                        </a:rPr>
                        <a:t>how many rows?</a:t>
                      </a:r>
                    </a:p>
                  </a:txBody>
                  <a:tcPr anchor="ctr" marL="73152" marR="54864" marT="27432" marB="27432">
                    <a:solidFill>
                      <a:srgbClr val="FFFFFF"/>
                    </a:solidFill>
                  </a:tcPr>
                </a:tc>
                <a:tc>
                  <a:txBody>
                    <a:bodyPr wrap="square"/>
                    <a:lstStyle/>
                    <a:p>
                      <a:r>
                        <a:rPr sz="1050">
                          <a:solidFill>
                            <a:srgbClr val="1A1A1A"/>
                          </a:solidFill>
                        </a:rPr>
                        <a:t>students in IT220</a:t>
                      </a:r>
                    </a:p>
                  </a:txBody>
                  <a:tcPr anchor="ctr" marL="73152" marR="54864" marT="27432" marB="27432">
                    <a:solidFill>
                      <a:srgbClr val="FFFFFF"/>
                    </a:solidFill>
                  </a:tcPr>
                </a:tc>
                <a:tc>
                  <a:txBody>
                    <a:bodyPr wrap="square"/>
                    <a:lstStyle/>
                    <a:p>
                      <a:r>
                        <a:rPr sz="1050">
                          <a:solidFill>
                            <a:srgbClr val="1A1A1A"/>
                          </a:solidFill>
                        </a:rPr>
                        <a:t>4</a:t>
                      </a:r>
                    </a:p>
                  </a:txBody>
                  <a:tcPr anchor="ctr" marL="73152" marR="54864" marT="27432" marB="27432">
                    <a:solidFill>
                      <a:srgbClr val="FFFFFF"/>
                    </a:solidFill>
                  </a:tcPr>
                </a:tc>
              </a:tr>
              <a:tr h="630936">
                <a:tc>
                  <a:txBody>
                    <a:bodyPr wrap="square"/>
                    <a:lstStyle/>
                    <a:p>
                      <a:r>
                        <a:rPr sz="1050" b="1">
                          <a:solidFill>
                            <a:srgbClr val="0C2B4A"/>
                          </a:solidFill>
                        </a:rPr>
                        <a:t>COUNT(grade)</a:t>
                      </a:r>
                    </a:p>
                  </a:txBody>
                  <a:tcPr anchor="ctr" marL="73152" marR="54864" marT="27432" marB="27432">
                    <a:solidFill>
                      <a:srgbClr val="EEF3F8"/>
                    </a:solidFill>
                  </a:tcPr>
                </a:tc>
                <a:tc>
                  <a:txBody>
                    <a:bodyPr wrap="square"/>
                    <a:lstStyle/>
                    <a:p>
                      <a:r>
                        <a:rPr sz="1050">
                          <a:solidFill>
                            <a:srgbClr val="1A1A1A"/>
                          </a:solidFill>
                        </a:rPr>
                        <a:t>how many non-NULL grades?</a:t>
                      </a:r>
                    </a:p>
                  </a:txBody>
                  <a:tcPr anchor="ctr" marL="73152" marR="54864" marT="27432" marB="27432">
                    <a:solidFill>
                      <a:srgbClr val="EEF3F8"/>
                    </a:solidFill>
                  </a:tcPr>
                </a:tc>
                <a:tc>
                  <a:txBody>
                    <a:bodyPr wrap="square"/>
                    <a:lstStyle/>
                    <a:p>
                      <a:r>
                        <a:rPr sz="1050">
                          <a:solidFill>
                            <a:srgbClr val="1A1A1A"/>
                          </a:solidFill>
                        </a:rPr>
                        <a:t>graded IT220 rows</a:t>
                      </a:r>
                    </a:p>
                  </a:txBody>
                  <a:tcPr anchor="ctr" marL="73152" marR="54864" marT="27432" marB="27432">
                    <a:solidFill>
                      <a:srgbClr val="EEF3F8"/>
                    </a:solidFill>
                  </a:tcPr>
                </a:tc>
                <a:tc>
                  <a:txBody>
                    <a:bodyPr wrap="square"/>
                    <a:lstStyle/>
                    <a:p>
                      <a:r>
                        <a:rPr sz="1050">
                          <a:solidFill>
                            <a:srgbClr val="1A1A1A"/>
                          </a:solidFill>
                        </a:rPr>
                        <a:t>3 (one NULL)</a:t>
                      </a:r>
                    </a:p>
                  </a:txBody>
                  <a:tcPr anchor="ctr" marL="73152" marR="54864" marT="27432" marB="27432">
                    <a:solidFill>
                      <a:srgbClr val="EEF3F8"/>
                    </a:solidFill>
                  </a:tcPr>
                </a:tc>
              </a:tr>
              <a:tr h="630936">
                <a:tc>
                  <a:txBody>
                    <a:bodyPr wrap="square"/>
                    <a:lstStyle/>
                    <a:p>
                      <a:r>
                        <a:rPr sz="1050" b="1">
                          <a:solidFill>
                            <a:srgbClr val="0C2B4A"/>
                          </a:solidFill>
                        </a:rPr>
                        <a:t>SUM(marks)</a:t>
                      </a:r>
                    </a:p>
                  </a:txBody>
                  <a:tcPr anchor="ctr" marL="73152" marR="54864" marT="27432" marB="27432">
                    <a:solidFill>
                      <a:srgbClr val="FFFFFF"/>
                    </a:solidFill>
                  </a:tcPr>
                </a:tc>
                <a:tc>
                  <a:txBody>
                    <a:bodyPr wrap="square"/>
                    <a:lstStyle/>
                    <a:p>
                      <a:r>
                        <a:rPr sz="1050">
                          <a:solidFill>
                            <a:srgbClr val="1A1A1A"/>
                          </a:solidFill>
                        </a:rPr>
                        <a:t>total of a column?</a:t>
                      </a:r>
                    </a:p>
                  </a:txBody>
                  <a:tcPr anchor="ctr" marL="73152" marR="54864" marT="27432" marB="27432">
                    <a:solidFill>
                      <a:srgbClr val="FFFFFF"/>
                    </a:solidFill>
                  </a:tcPr>
                </a:tc>
                <a:tc>
                  <a:txBody>
                    <a:bodyPr wrap="square"/>
                    <a:lstStyle/>
                    <a:p>
                      <a:r>
                        <a:rPr sz="1050">
                          <a:solidFill>
                            <a:srgbClr val="1A1A1A"/>
                          </a:solidFill>
                        </a:rPr>
                        <a:t>total marks in IT220</a:t>
                      </a:r>
                    </a:p>
                  </a:txBody>
                  <a:tcPr anchor="ctr" marL="73152" marR="54864" marT="27432" marB="27432">
                    <a:solidFill>
                      <a:srgbClr val="FFFFFF"/>
                    </a:solidFill>
                  </a:tcPr>
                </a:tc>
                <a:tc>
                  <a:txBody>
                    <a:bodyPr wrap="square"/>
                    <a:lstStyle/>
                    <a:p>
                      <a:r>
                        <a:rPr sz="1050">
                          <a:solidFill>
                            <a:srgbClr val="1A1A1A"/>
                          </a:solidFill>
                        </a:rPr>
                        <a:t>259</a:t>
                      </a:r>
                    </a:p>
                  </a:txBody>
                  <a:tcPr anchor="ctr" marL="73152" marR="54864" marT="27432" marB="27432">
                    <a:solidFill>
                      <a:srgbClr val="FFFFFF"/>
                    </a:solidFill>
                  </a:tcPr>
                </a:tc>
              </a:tr>
              <a:tr h="630936">
                <a:tc>
                  <a:txBody>
                    <a:bodyPr wrap="square"/>
                    <a:lstStyle/>
                    <a:p>
                      <a:r>
                        <a:rPr sz="1050" b="1">
                          <a:solidFill>
                            <a:srgbClr val="0C2B4A"/>
                          </a:solidFill>
                        </a:rPr>
                        <a:t>AVG(marks)</a:t>
                      </a:r>
                    </a:p>
                  </a:txBody>
                  <a:tcPr anchor="ctr" marL="73152" marR="54864" marT="27432" marB="27432">
                    <a:solidFill>
                      <a:srgbClr val="EEF3F8"/>
                    </a:solidFill>
                  </a:tcPr>
                </a:tc>
                <a:tc>
                  <a:txBody>
                    <a:bodyPr wrap="square"/>
                    <a:lstStyle/>
                    <a:p>
                      <a:r>
                        <a:rPr sz="1050">
                          <a:solidFill>
                            <a:srgbClr val="1A1A1A"/>
                          </a:solidFill>
                        </a:rPr>
                        <a:t>the average?</a:t>
                      </a:r>
                    </a:p>
                  </a:txBody>
                  <a:tcPr anchor="ctr" marL="73152" marR="54864" marT="27432" marB="27432">
                    <a:solidFill>
                      <a:srgbClr val="EEF3F8"/>
                    </a:solidFill>
                  </a:tcPr>
                </a:tc>
                <a:tc>
                  <a:txBody>
                    <a:bodyPr wrap="square"/>
                    <a:lstStyle/>
                    <a:p>
                      <a:r>
                        <a:rPr sz="1050">
                          <a:solidFill>
                            <a:srgbClr val="1A1A1A"/>
                          </a:solidFill>
                        </a:rPr>
                        <a:t>average IT220 marks</a:t>
                      </a:r>
                    </a:p>
                  </a:txBody>
                  <a:tcPr anchor="ctr" marL="73152" marR="54864" marT="27432" marB="27432">
                    <a:solidFill>
                      <a:srgbClr val="EEF3F8"/>
                    </a:solidFill>
                  </a:tcPr>
                </a:tc>
                <a:tc>
                  <a:txBody>
                    <a:bodyPr wrap="square"/>
                    <a:lstStyle/>
                    <a:p>
                      <a:r>
                        <a:rPr sz="1050">
                          <a:solidFill>
                            <a:srgbClr val="1A1A1A"/>
                          </a:solidFill>
                        </a:rPr>
                        <a:t>86.3 (NULLs skipped)</a:t>
                      </a:r>
                    </a:p>
                  </a:txBody>
                  <a:tcPr anchor="ctr" marL="73152" marR="54864" marT="27432" marB="27432">
                    <a:solidFill>
                      <a:srgbClr val="EEF3F8"/>
                    </a:solidFill>
                  </a:tcPr>
                </a:tc>
              </a:tr>
              <a:tr h="630936">
                <a:tc>
                  <a:txBody>
                    <a:bodyPr wrap="square"/>
                    <a:lstStyle/>
                    <a:p>
                      <a:r>
                        <a:rPr sz="1050" b="1">
                          <a:solidFill>
                            <a:srgbClr val="0C2B4A"/>
                          </a:solidFill>
                        </a:rPr>
                        <a:t>MIN(salary)</a:t>
                      </a:r>
                    </a:p>
                  </a:txBody>
                  <a:tcPr anchor="ctr" marL="73152" marR="54864" marT="27432" marB="27432">
                    <a:solidFill>
                      <a:srgbClr val="FFFFFF"/>
                    </a:solidFill>
                  </a:tcPr>
                </a:tc>
                <a:tc>
                  <a:txBody>
                    <a:bodyPr wrap="square"/>
                    <a:lstStyle/>
                    <a:p>
                      <a:r>
                        <a:rPr sz="1050">
                          <a:solidFill>
                            <a:srgbClr val="1A1A1A"/>
                          </a:solidFill>
                        </a:rPr>
                        <a:t>the smallest?</a:t>
                      </a:r>
                    </a:p>
                  </a:txBody>
                  <a:tcPr anchor="ctr" marL="73152" marR="54864" marT="27432" marB="27432">
                    <a:solidFill>
                      <a:srgbClr val="FFFFFF"/>
                    </a:solidFill>
                  </a:tcPr>
                </a:tc>
                <a:tc>
                  <a:txBody>
                    <a:bodyPr wrap="square"/>
                    <a:lstStyle/>
                    <a:p>
                      <a:r>
                        <a:rPr sz="1050">
                          <a:solidFill>
                            <a:srgbClr val="1A1A1A"/>
                          </a:solidFill>
                        </a:rPr>
                        <a:t>lowest instructor salary</a:t>
                      </a:r>
                    </a:p>
                  </a:txBody>
                  <a:tcPr anchor="ctr" marL="73152" marR="54864" marT="27432" marB="27432">
                    <a:solidFill>
                      <a:srgbClr val="FFFFFF"/>
                    </a:solidFill>
                  </a:tcPr>
                </a:tc>
                <a:tc>
                  <a:txBody>
                    <a:bodyPr wrap="square"/>
                    <a:lstStyle/>
                    <a:p>
                      <a:r>
                        <a:rPr sz="1050">
                          <a:solidFill>
                            <a:srgbClr val="1A1A1A"/>
                          </a:solidFill>
                        </a:rPr>
                        <a:t>60000</a:t>
                      </a:r>
                    </a:p>
                  </a:txBody>
                  <a:tcPr anchor="ctr" marL="73152" marR="54864" marT="27432" marB="27432">
                    <a:solidFill>
                      <a:srgbClr val="FFFFFF"/>
                    </a:solidFill>
                  </a:tcPr>
                </a:tc>
              </a:tr>
              <a:tr h="630936">
                <a:tc>
                  <a:txBody>
                    <a:bodyPr wrap="square"/>
                    <a:lstStyle/>
                    <a:p>
                      <a:r>
                        <a:rPr sz="1050" b="1">
                          <a:solidFill>
                            <a:srgbClr val="0C2B4A"/>
                          </a:solidFill>
                        </a:rPr>
                        <a:t>MAX(marks)</a:t>
                      </a:r>
                    </a:p>
                  </a:txBody>
                  <a:tcPr anchor="ctr" marL="73152" marR="54864" marT="27432" marB="27432">
                    <a:solidFill>
                      <a:srgbClr val="EEF3F8"/>
                    </a:solidFill>
                  </a:tcPr>
                </a:tc>
                <a:tc>
                  <a:txBody>
                    <a:bodyPr wrap="square"/>
                    <a:lstStyle/>
                    <a:p>
                      <a:r>
                        <a:rPr sz="1050">
                          <a:solidFill>
                            <a:srgbClr val="1A1A1A"/>
                          </a:solidFill>
                        </a:rPr>
                        <a:t>the largest?</a:t>
                      </a:r>
                    </a:p>
                  </a:txBody>
                  <a:tcPr anchor="ctr" marL="73152" marR="54864" marT="27432" marB="27432">
                    <a:solidFill>
                      <a:srgbClr val="EEF3F8"/>
                    </a:solidFill>
                  </a:tcPr>
                </a:tc>
                <a:tc>
                  <a:txBody>
                    <a:bodyPr wrap="square"/>
                    <a:lstStyle/>
                    <a:p>
                      <a:r>
                        <a:rPr sz="1050">
                          <a:solidFill>
                            <a:srgbClr val="1A1A1A"/>
                          </a:solidFill>
                        </a:rPr>
                        <a:t>top mark in IT220</a:t>
                      </a:r>
                    </a:p>
                  </a:txBody>
                  <a:tcPr anchor="ctr" marL="73152" marR="54864" marT="27432" marB="27432">
                    <a:solidFill>
                      <a:srgbClr val="EEF3F8"/>
                    </a:solidFill>
                  </a:tcPr>
                </a:tc>
                <a:tc>
                  <a:txBody>
                    <a:bodyPr wrap="square"/>
                    <a:lstStyle/>
                    <a:p>
                      <a:r>
                        <a:rPr sz="1050">
                          <a:solidFill>
                            <a:srgbClr val="1A1A1A"/>
                          </a:solidFill>
                        </a:rPr>
                        <a:t>95</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COUNT(*) counts every row; COUNT(col) skips NULLs; AVG/SUM/MIN/MAX also skip NULLs. This NULL behaviour is the bridge to S27.</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219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Aggregate Functions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Every dashboard KPI is an aggregate: eSewa's 'total transactions today' is COUNT(*), 'total volume' is SUM(amount), 'average order value' on Daraz is AVG(total). One number summarising millions of rows.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"COUNT(column) counts all rows." No — COUNT(col) counts only rows where col is NOT NULL. COUNT(*) counts every row regardless. They differ exactly when the column has NULLs (e.g. ungraded enrollments).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Aggregate functions summarise many rows into one value: COUNT (row/value count), SUM, AVG, MIN, MAX. Over a whole table they return a single row. All ignore NULLs except COUNT(*), which counts every row — so COUNT(*) and COUNT(col) differ when col contains NULLs.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COUNT · SUM · AVG · MIN · MAX · COUNT(*) vs COUNT(col) · aggregates skip NULLs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219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GROUP BY (Per-Group Aggregates)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GROUP BY splits rows into groups by a column's value and returns one aggregate row per group. Every non-aggregated column in SELECT must appear in GROUP BY.</a:t>
            </a:r>
          </a:p>
          <a:p>
            <a:pPr>
              <a:spcAft>
                <a:spcPts val="500"/>
              </a:spcAft>
            </a:pPr>
            <a:r>
              <a:rPr sz="1200" b="1">
                <a:solidFill>
                  <a:srgbClr val="185FA5"/>
                </a:solidFill>
              </a:rPr>
              <a:t>HOW IT WORKS</a:t>
            </a:r>
          </a:p>
          <a:p>
            <a:pPr>
              <a:spcAft>
                <a:spcPts val="600"/>
              </a:spcAft>
            </a:pPr>
            <a:r>
              <a:rPr sz="1400">
                <a:solidFill>
                  <a:srgbClr val="1A1A1A"/>
                </a:solidFill>
              </a:rPr>
              <a:t>•  SELECT dept, AVG(salary) FROM Instructor GROUP BY dept; — one row per dept.</a:t>
            </a:r>
          </a:p>
          <a:p>
            <a:pPr>
              <a:spcAft>
                <a:spcPts val="600"/>
              </a:spcAft>
            </a:pPr>
            <a:r>
              <a:rPr sz="1400">
                <a:solidFill>
                  <a:srgbClr val="1A1A1A"/>
                </a:solidFill>
              </a:rPr>
              <a:t>•  Rows collapse: all IT instructors become a single IT row with the group's AVG.</a:t>
            </a:r>
          </a:p>
          <a:p>
            <a:pPr>
              <a:spcAft>
                <a:spcPts val="600"/>
              </a:spcAft>
            </a:pPr>
            <a:r>
              <a:rPr sz="1400">
                <a:solidFill>
                  <a:srgbClr val="1A1A1A"/>
                </a:solidFill>
              </a:rPr>
              <a:t>•  Rule: SELECT may list only the grouping columns plus aggregates.</a:t>
            </a:r>
          </a:p>
          <a:p>
            <a:pPr>
              <a:spcAft>
                <a:spcPts val="600"/>
              </a:spcAft>
            </a:pPr>
            <a:r>
              <a:rPr sz="1400">
                <a:solidFill>
                  <a:srgbClr val="1A1A1A"/>
                </a:solidFill>
              </a:rPr>
              <a:t>•  GROUP BY program gives average marks per program (BIM vs BCA).</a:t>
            </a:r>
          </a:p>
        </p:txBody>
      </p:sp>
      <p:pic>
        <p:nvPicPr>
          <p:cNvPr id="6" name="Picture 5" descr="s26_groupby.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GROUP BY collapses rows into one summary row per group.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219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GROUP BY — group by what → one row per group</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408714"/>
                <a:gridCol w="3102428"/>
                <a:gridCol w="3918857"/>
              </a:tblGrid>
              <a:tr h="630936">
                <a:tc>
                  <a:txBody>
                    <a:bodyPr wrap="square"/>
                    <a:lstStyle/>
                    <a:p>
                      <a:r>
                        <a:rPr sz="1100" b="1">
                          <a:solidFill>
                            <a:srgbClr val="FFFFFF"/>
                          </a:solidFill>
                        </a:rPr>
                        <a:t>Query</a:t>
                      </a:r>
                    </a:p>
                  </a:txBody>
                  <a:tcPr anchor="ctr" marL="73152" marR="54864" marT="27432" marB="27432">
                    <a:solidFill>
                      <a:srgbClr val="0C2B4A"/>
                    </a:solidFill>
                  </a:tcPr>
                </a:tc>
                <a:tc>
                  <a:txBody>
                    <a:bodyPr wrap="square"/>
                    <a:lstStyle/>
                    <a:p>
                      <a:r>
                        <a:rPr sz="1100" b="1">
                          <a:solidFill>
                            <a:srgbClr val="FFFFFF"/>
                          </a:solidFill>
                        </a:rPr>
                        <a:t>Groups formed</a:t>
                      </a:r>
                    </a:p>
                  </a:txBody>
                  <a:tcPr anchor="ctr" marL="73152" marR="54864" marT="27432" marB="27432">
                    <a:solidFill>
                      <a:srgbClr val="0C2B4A"/>
                    </a:solidFill>
                  </a:tcPr>
                </a:tc>
                <a:tc>
                  <a:txBody>
                    <a:bodyPr wrap="square"/>
                    <a:lstStyle/>
                    <a:p>
                      <a:r>
                        <a:rPr sz="1100" b="1">
                          <a:solidFill>
                            <a:srgbClr val="FFFFFF"/>
                          </a:solidFill>
                        </a:rPr>
                        <a:t>Output (one row per group)</a:t>
                      </a:r>
                    </a:p>
                  </a:txBody>
                  <a:tcPr anchor="ctr" marL="73152" marR="54864" marT="27432" marB="27432">
                    <a:solidFill>
                      <a:srgbClr val="0C2B4A"/>
                    </a:solidFill>
                  </a:tcPr>
                </a:tc>
              </a:tr>
              <a:tr h="630936">
                <a:tc>
                  <a:txBody>
                    <a:bodyPr wrap="square"/>
                    <a:lstStyle/>
                    <a:p>
                      <a:r>
                        <a:rPr sz="1050" b="1">
                          <a:solidFill>
                            <a:srgbClr val="0C2B4A"/>
                          </a:solidFill>
                        </a:rPr>
                        <a:t>GROUP BY dept (Instructor)</a:t>
                      </a:r>
                    </a:p>
                  </a:txBody>
                  <a:tcPr anchor="ctr" marL="73152" marR="54864" marT="27432" marB="27432">
                    <a:solidFill>
                      <a:srgbClr val="FFFFFF"/>
                    </a:solidFill>
                  </a:tcPr>
                </a:tc>
                <a:tc>
                  <a:txBody>
                    <a:bodyPr wrap="square"/>
                    <a:lstStyle/>
                    <a:p>
                      <a:r>
                        <a:rPr sz="1050">
                          <a:solidFill>
                            <a:srgbClr val="1A1A1A"/>
                          </a:solidFill>
                        </a:rPr>
                        <a:t>IT, MGT, ECO</a:t>
                      </a:r>
                    </a:p>
                  </a:txBody>
                  <a:tcPr anchor="ctr" marL="73152" marR="54864" marT="27432" marB="27432">
                    <a:solidFill>
                      <a:srgbClr val="FFFFFF"/>
                    </a:solidFill>
                  </a:tcPr>
                </a:tc>
                <a:tc>
                  <a:txBody>
                    <a:bodyPr wrap="square"/>
                    <a:lstStyle/>
                    <a:p>
                      <a:r>
                        <a:rPr sz="1050">
                          <a:solidFill>
                            <a:srgbClr val="1A1A1A"/>
                          </a:solidFill>
                        </a:rPr>
                        <a:t>dept + AVG(salary) each</a:t>
                      </a:r>
                    </a:p>
                  </a:txBody>
                  <a:tcPr anchor="ctr" marL="73152" marR="54864" marT="27432" marB="27432">
                    <a:solidFill>
                      <a:srgbClr val="FFFFFF"/>
                    </a:solidFill>
                  </a:tcPr>
                </a:tc>
              </a:tr>
              <a:tr h="630936">
                <a:tc>
                  <a:txBody>
                    <a:bodyPr wrap="square"/>
                    <a:lstStyle/>
                    <a:p>
                      <a:r>
                        <a:rPr sz="1050" b="1">
                          <a:solidFill>
                            <a:srgbClr val="0C2B4A"/>
                          </a:solidFill>
                        </a:rPr>
                        <a:t>GROUP BY program (Student)</a:t>
                      </a:r>
                    </a:p>
                  </a:txBody>
                  <a:tcPr anchor="ctr" marL="73152" marR="54864" marT="27432" marB="27432">
                    <a:solidFill>
                      <a:srgbClr val="EEF3F8"/>
                    </a:solidFill>
                  </a:tcPr>
                </a:tc>
                <a:tc>
                  <a:txBody>
                    <a:bodyPr wrap="square"/>
                    <a:lstStyle/>
                    <a:p>
                      <a:r>
                        <a:rPr sz="1050">
                          <a:solidFill>
                            <a:srgbClr val="1A1A1A"/>
                          </a:solidFill>
                        </a:rPr>
                        <a:t>BIM, BCA</a:t>
                      </a:r>
                    </a:p>
                  </a:txBody>
                  <a:tcPr anchor="ctr" marL="73152" marR="54864" marT="27432" marB="27432">
                    <a:solidFill>
                      <a:srgbClr val="EEF3F8"/>
                    </a:solidFill>
                  </a:tcPr>
                </a:tc>
                <a:tc>
                  <a:txBody>
                    <a:bodyPr wrap="square"/>
                    <a:lstStyle/>
                    <a:p>
                      <a:r>
                        <a:rPr sz="1050">
                          <a:solidFill>
                            <a:srgbClr val="1A1A1A"/>
                          </a:solidFill>
                        </a:rPr>
                        <a:t>program + COUNT(*) each</a:t>
                      </a:r>
                    </a:p>
                  </a:txBody>
                  <a:tcPr anchor="ctr" marL="73152" marR="54864" marT="27432" marB="27432">
                    <a:solidFill>
                      <a:srgbClr val="EEF3F8"/>
                    </a:solidFill>
                  </a:tcPr>
                </a:tc>
              </a:tr>
              <a:tr h="630936">
                <a:tc>
                  <a:txBody>
                    <a:bodyPr wrap="square"/>
                    <a:lstStyle/>
                    <a:p>
                      <a:r>
                        <a:rPr sz="1050" b="1">
                          <a:solidFill>
                            <a:srgbClr val="0C2B4A"/>
                          </a:solidFill>
                        </a:rPr>
                        <a:t>GROUP BY course_id (Enrollment)</a:t>
                      </a:r>
                    </a:p>
                  </a:txBody>
                  <a:tcPr anchor="ctr" marL="73152" marR="54864" marT="27432" marB="27432">
                    <a:solidFill>
                      <a:srgbClr val="FFFFFF"/>
                    </a:solidFill>
                  </a:tcPr>
                </a:tc>
                <a:tc>
                  <a:txBody>
                    <a:bodyPr wrap="square"/>
                    <a:lstStyle/>
                    <a:p>
                      <a:r>
                        <a:rPr sz="1050">
                          <a:solidFill>
                            <a:srgbClr val="1A1A1A"/>
                          </a:solidFill>
                        </a:rPr>
                        <a:t>per course</a:t>
                      </a:r>
                    </a:p>
                  </a:txBody>
                  <a:tcPr anchor="ctr" marL="73152" marR="54864" marT="27432" marB="27432">
                    <a:solidFill>
                      <a:srgbClr val="FFFFFF"/>
                    </a:solidFill>
                  </a:tcPr>
                </a:tc>
                <a:tc>
                  <a:txBody>
                    <a:bodyPr wrap="square"/>
                    <a:lstStyle/>
                    <a:p>
                      <a:r>
                        <a:rPr sz="1050">
                          <a:solidFill>
                            <a:srgbClr val="1A1A1A"/>
                          </a:solidFill>
                        </a:rPr>
                        <a:t>course_id + AVG(marks) each</a:t>
                      </a:r>
                    </a:p>
                  </a:txBody>
                  <a:tcPr anchor="ctr" marL="73152" marR="54864" marT="27432" marB="27432">
                    <a:solidFill>
                      <a:srgbClr val="FFFFFF"/>
                    </a:solidFill>
                  </a:tcPr>
                </a:tc>
              </a:tr>
              <a:tr h="630936">
                <a:tc>
                  <a:txBody>
                    <a:bodyPr wrap="square"/>
                    <a:lstStyle/>
                    <a:p>
                      <a:r>
                        <a:rPr sz="1050" b="1">
                          <a:solidFill>
                            <a:srgbClr val="0C2B4A"/>
                          </a:solidFill>
                        </a:rPr>
                        <a:t>GROUP BY program, semester</a:t>
                      </a:r>
                    </a:p>
                  </a:txBody>
                  <a:tcPr anchor="ctr" marL="73152" marR="54864" marT="27432" marB="27432">
                    <a:solidFill>
                      <a:srgbClr val="EEF3F8"/>
                    </a:solidFill>
                  </a:tcPr>
                </a:tc>
                <a:tc>
                  <a:txBody>
                    <a:bodyPr wrap="square"/>
                    <a:lstStyle/>
                    <a:p>
                      <a:r>
                        <a:rPr sz="1050">
                          <a:solidFill>
                            <a:srgbClr val="1A1A1A"/>
                          </a:solidFill>
                        </a:rPr>
                        <a:t>each (program, sem) pair</a:t>
                      </a:r>
                    </a:p>
                  </a:txBody>
                  <a:tcPr anchor="ctr" marL="73152" marR="54864" marT="27432" marB="27432">
                    <a:solidFill>
                      <a:srgbClr val="EEF3F8"/>
                    </a:solidFill>
                  </a:tcPr>
                </a:tc>
                <a:tc>
                  <a:txBody>
                    <a:bodyPr wrap="square"/>
                    <a:lstStyle/>
                    <a:p>
                      <a:r>
                        <a:rPr sz="1050">
                          <a:solidFill>
                            <a:srgbClr val="1A1A1A"/>
                          </a:solidFill>
                        </a:rPr>
                        <a:t>one row per combination</a:t>
                      </a:r>
                    </a:p>
                  </a:txBody>
                  <a:tcPr anchor="ctr" marL="73152" marR="54864" marT="27432" marB="27432">
                    <a:solidFill>
                      <a:srgbClr val="EEF3F8"/>
                    </a:solidFill>
                  </a:tcPr>
                </a:tc>
              </a:tr>
              <a:tr h="630936">
                <a:tc>
                  <a:txBody>
                    <a:bodyPr wrap="square"/>
                    <a:lstStyle/>
                    <a:p>
                      <a:r>
                        <a:rPr sz="1050" b="1">
                          <a:solidFill>
                            <a:srgbClr val="0C2B4A"/>
                          </a:solidFill>
                        </a:rPr>
                        <a:t>GROUP BY dept + COUNT(*)</a:t>
                      </a:r>
                    </a:p>
                  </a:txBody>
                  <a:tcPr anchor="ctr" marL="73152" marR="54864" marT="27432" marB="27432">
                    <a:solidFill>
                      <a:srgbClr val="FFFFFF"/>
                    </a:solidFill>
                  </a:tcPr>
                </a:tc>
                <a:tc>
                  <a:txBody>
                    <a:bodyPr wrap="square"/>
                    <a:lstStyle/>
                    <a:p>
                      <a:r>
                        <a:rPr sz="1050">
                          <a:solidFill>
                            <a:srgbClr val="1A1A1A"/>
                          </a:solidFill>
                        </a:rPr>
                        <a:t>per dept</a:t>
                      </a:r>
                    </a:p>
                  </a:txBody>
                  <a:tcPr anchor="ctr" marL="73152" marR="54864" marT="27432" marB="27432">
                    <a:solidFill>
                      <a:srgbClr val="FFFFFF"/>
                    </a:solidFill>
                  </a:tcPr>
                </a:tc>
                <a:tc>
                  <a:txBody>
                    <a:bodyPr wrap="square"/>
                    <a:lstStyle/>
                    <a:p>
                      <a:r>
                        <a:rPr sz="1050">
                          <a:solidFill>
                            <a:srgbClr val="1A1A1A"/>
                          </a:solidFill>
                        </a:rPr>
                        <a:t>dept + how many instructors</a:t>
                      </a:r>
                    </a:p>
                  </a:txBody>
                  <a:tcPr anchor="ctr" marL="73152" marR="54864" marT="27432" marB="27432">
                    <a:solidFill>
                      <a:srgbClr val="FFFFFF"/>
                    </a:solidFill>
                  </a:tcPr>
                </a:tc>
              </a:tr>
              <a:tr h="630936">
                <a:tc>
                  <a:txBody>
                    <a:bodyPr wrap="square"/>
                    <a:lstStyle/>
                    <a:p>
                      <a:r>
                        <a:rPr sz="1050" b="1">
                          <a:solidFill>
                            <a:srgbClr val="0C2B4A"/>
                          </a:solidFill>
                        </a:rPr>
                        <a:t>no GROUP BY, just AVG(salary)</a:t>
                      </a:r>
                    </a:p>
                  </a:txBody>
                  <a:tcPr anchor="ctr" marL="73152" marR="54864" marT="27432" marB="27432">
                    <a:solidFill>
                      <a:srgbClr val="EEF3F8"/>
                    </a:solidFill>
                  </a:tcPr>
                </a:tc>
                <a:tc>
                  <a:txBody>
                    <a:bodyPr wrap="square"/>
                    <a:lstStyle/>
                    <a:p>
                      <a:r>
                        <a:rPr sz="1050">
                          <a:solidFill>
                            <a:srgbClr val="1A1A1A"/>
                          </a:solidFill>
                        </a:rPr>
                        <a:t>whole table = one group</a:t>
                      </a:r>
                    </a:p>
                  </a:txBody>
                  <a:tcPr anchor="ctr" marL="73152" marR="54864" marT="27432" marB="27432">
                    <a:solidFill>
                      <a:srgbClr val="EEF3F8"/>
                    </a:solidFill>
                  </a:tcPr>
                </a:tc>
                <a:tc>
                  <a:txBody>
                    <a:bodyPr wrap="square"/>
                    <a:lstStyle/>
                    <a:p>
                      <a:r>
                        <a:rPr sz="1050">
                          <a:solidFill>
                            <a:srgbClr val="1A1A1A"/>
                          </a:solidFill>
                        </a:rPr>
                        <a:t>a single overall average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Golden rule: every column in SELECT that is NOT inside an aggregate must appear in GROUP BY (MySQL enforces this under ONLY_FULL_GROUP_BY). Grouping by two columns groups by their combination.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219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GROUP BY (Per-Group Aggregates)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revenue-by-category chart is SELECT category, SUM(amount) FROM sales GROUP BY category; 'average marks per program' is GROUP BY program; 'orders per city' is GROUP BY city. Any 'per X' metric on a dashboard is a GROUP BY X.</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"With GROUP BY I can SELECT any column." No — a non-aggregated column in SELECT MUST be in the GROUP BY list. SELECT name, AVG(marks) … GROUP BY program is illegal (which name? the group has many). Group by it or aggregate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GROUP BY partitions rows into groups sharing a value and returns one aggregate row per group (e.g. average salary per department). Any column in SELECT that is not inside an aggregate function must appear in GROUP BY; MySQL enforces this via ONLY_FULL_GROUP_BY. Grouping by multiple columns groups by their combination.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GROUP BY · one row per group · non-aggregated columns must be grouped · per-group aggregate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219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3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HAVING (Filter Groups)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HAVING filters GROUPS after aggregation, using aggregate conditions. WHERE filters rows BEFORE grouping; HAVING filters groups AFTER. Aggregates can appear in HAVING but never in WHERE.</a:t>
            </a:r>
          </a:p>
          <a:p>
            <a:pPr>
              <a:spcAft>
                <a:spcPts val="500"/>
              </a:spcAft>
            </a:pPr>
            <a:r>
              <a:rPr sz="1200" b="1">
                <a:solidFill>
                  <a:srgbClr val="185FA5"/>
                </a:solidFill>
              </a:rPr>
              <a:t>HOW IT WORKS</a:t>
            </a:r>
          </a:p>
          <a:p>
            <a:pPr>
              <a:spcAft>
                <a:spcPts val="600"/>
              </a:spcAft>
            </a:pPr>
            <a:r>
              <a:rPr sz="1400">
                <a:solidFill>
                  <a:srgbClr val="1A1A1A"/>
                </a:solidFill>
              </a:rPr>
              <a:t>•  SELECT course_id, COUNT(*) FROM Enrollment GROUP BY course_id HAVING COUNT(*) &gt; 30;</a:t>
            </a:r>
          </a:p>
          <a:p>
            <a:pPr>
              <a:spcAft>
                <a:spcPts val="600"/>
              </a:spcAft>
            </a:pPr>
            <a:r>
              <a:rPr sz="1400">
                <a:solidFill>
                  <a:srgbClr val="1A1A1A"/>
                </a:solidFill>
              </a:rPr>
              <a:t>•  WHERE runs first (drops rows), then GROUP BY, then HAVING (drops groups).</a:t>
            </a:r>
          </a:p>
          <a:p>
            <a:pPr>
              <a:spcAft>
                <a:spcPts val="600"/>
              </a:spcAft>
            </a:pPr>
            <a:r>
              <a:rPr sz="1400">
                <a:solidFill>
                  <a:srgbClr val="1A1A1A"/>
                </a:solidFill>
              </a:rPr>
              <a:t>•  You cannot put COUNT(*)&gt;30 in WHERE — aggregates don't exist yet at row-filter time.</a:t>
            </a:r>
          </a:p>
          <a:p>
            <a:pPr>
              <a:spcAft>
                <a:spcPts val="600"/>
              </a:spcAft>
            </a:pPr>
            <a:r>
              <a:rPr sz="1400">
                <a:solidFill>
                  <a:srgbClr val="1A1A1A"/>
                </a:solidFill>
              </a:rPr>
              <a:t>•  Use WHERE to pre-filter rows, HAVING to filter the resulting groups.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WHERE = bouncer at the door (per person); HAVING = inspector of each seated table.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219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vs HAVING — the classic confusion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57499"/>
                <a:gridCol w="4202205"/>
                <a:gridCol w="4370294"/>
              </a:tblGrid>
              <a:tr h="630936">
                <a:tc>
                  <a:txBody>
                    <a:bodyPr wrap="square"/>
                    <a:lstStyle/>
                    <a:p>
                      <a:r>
                        <a:rPr sz="1100" b="1">
                          <a:solidFill>
                            <a:srgbClr val="FFFFFF"/>
                          </a:solidFill>
                        </a:rPr>
                        <a:t>Question</a:t>
                      </a:r>
                    </a:p>
                  </a:txBody>
                  <a:tcPr anchor="ctr" marL="73152" marR="54864" marT="27432" marB="27432">
                    <a:solidFill>
                      <a:srgbClr val="0C2B4A"/>
                    </a:solidFill>
                  </a:tcPr>
                </a:tc>
                <a:tc>
                  <a:txBody>
                    <a:bodyPr wrap="square"/>
                    <a:lstStyle/>
                    <a:p>
                      <a:r>
                        <a:rPr sz="1100" b="1">
                          <a:solidFill>
                            <a:srgbClr val="FFFFFF"/>
                          </a:solidFill>
                        </a:rPr>
                        <a:t>WHERE</a:t>
                      </a:r>
                    </a:p>
                  </a:txBody>
                  <a:tcPr anchor="ctr" marL="73152" marR="54864" marT="27432" marB="27432">
                    <a:solidFill>
                      <a:srgbClr val="0C2B4A"/>
                    </a:solidFill>
                  </a:tcPr>
                </a:tc>
                <a:tc>
                  <a:txBody>
                    <a:bodyPr wrap="square"/>
                    <a:lstStyle/>
                    <a:p>
                      <a:r>
                        <a:rPr sz="1100" b="1">
                          <a:solidFill>
                            <a:srgbClr val="FFFFFF"/>
                          </a:solidFill>
                        </a:rPr>
                        <a:t>HAVING</a:t>
                      </a:r>
                    </a:p>
                  </a:txBody>
                  <a:tcPr anchor="ctr" marL="73152" marR="54864" marT="27432" marB="27432">
                    <a:solidFill>
                      <a:srgbClr val="0C2B4A"/>
                    </a:solidFill>
                  </a:tcPr>
                </a:tc>
              </a:tr>
              <a:tr h="630936">
                <a:tc>
                  <a:txBody>
                    <a:bodyPr wrap="square"/>
                    <a:lstStyle/>
                    <a:p>
                      <a:r>
                        <a:rPr sz="1050" b="1">
                          <a:solidFill>
                            <a:srgbClr val="0C2B4A"/>
                          </a:solidFill>
                        </a:rPr>
                        <a:t>Filters what?</a:t>
                      </a:r>
                    </a:p>
                  </a:txBody>
                  <a:tcPr anchor="ctr" marL="73152" marR="54864" marT="27432" marB="27432">
                    <a:solidFill>
                      <a:srgbClr val="FFFFFF"/>
                    </a:solidFill>
                  </a:tcPr>
                </a:tc>
                <a:tc>
                  <a:txBody>
                    <a:bodyPr wrap="square"/>
                    <a:lstStyle/>
                    <a:p>
                      <a:r>
                        <a:rPr sz="1050">
                          <a:solidFill>
                            <a:srgbClr val="1A1A1A"/>
                          </a:solidFill>
                        </a:rPr>
                        <a:t>individual rows</a:t>
                      </a:r>
                    </a:p>
                  </a:txBody>
                  <a:tcPr anchor="ctr" marL="73152" marR="54864" marT="27432" marB="27432">
                    <a:solidFill>
                      <a:srgbClr val="FFFFFF"/>
                    </a:solidFill>
                  </a:tcPr>
                </a:tc>
                <a:tc>
                  <a:txBody>
                    <a:bodyPr wrap="square"/>
                    <a:lstStyle/>
                    <a:p>
                      <a:r>
                        <a:rPr sz="1050">
                          <a:solidFill>
                            <a:srgbClr val="1A1A1A"/>
                          </a:solidFill>
                        </a:rPr>
                        <a:t>groups (after GROUP BY)</a:t>
                      </a:r>
                    </a:p>
                  </a:txBody>
                  <a:tcPr anchor="ctr" marL="73152" marR="54864" marT="27432" marB="27432">
                    <a:solidFill>
                      <a:srgbClr val="FFFFFF"/>
                    </a:solidFill>
                  </a:tcPr>
                </a:tc>
              </a:tr>
              <a:tr h="630936">
                <a:tc>
                  <a:txBody>
                    <a:bodyPr wrap="square"/>
                    <a:lstStyle/>
                    <a:p>
                      <a:r>
                        <a:rPr sz="1050" b="1">
                          <a:solidFill>
                            <a:srgbClr val="0C2B4A"/>
                          </a:solidFill>
                        </a:rPr>
                        <a:t>Runs when?</a:t>
                      </a:r>
                    </a:p>
                  </a:txBody>
                  <a:tcPr anchor="ctr" marL="73152" marR="54864" marT="27432" marB="27432">
                    <a:solidFill>
                      <a:srgbClr val="EEF3F8"/>
                    </a:solidFill>
                  </a:tcPr>
                </a:tc>
                <a:tc>
                  <a:txBody>
                    <a:bodyPr wrap="square"/>
                    <a:lstStyle/>
                    <a:p>
                      <a:r>
                        <a:rPr sz="1050">
                          <a:solidFill>
                            <a:srgbClr val="1A1A1A"/>
                          </a:solidFill>
                        </a:rPr>
                        <a:t>before grouping</a:t>
                      </a:r>
                    </a:p>
                  </a:txBody>
                  <a:tcPr anchor="ctr" marL="73152" marR="54864" marT="27432" marB="27432">
                    <a:solidFill>
                      <a:srgbClr val="EEF3F8"/>
                    </a:solidFill>
                  </a:tcPr>
                </a:tc>
                <a:tc>
                  <a:txBody>
                    <a:bodyPr wrap="square"/>
                    <a:lstStyle/>
                    <a:p>
                      <a:r>
                        <a:rPr sz="1050">
                          <a:solidFill>
                            <a:srgbClr val="1A1A1A"/>
                          </a:solidFill>
                        </a:rPr>
                        <a:t>after grouping/aggregation</a:t>
                      </a:r>
                    </a:p>
                  </a:txBody>
                  <a:tcPr anchor="ctr" marL="73152" marR="54864" marT="27432" marB="27432">
                    <a:solidFill>
                      <a:srgbClr val="EEF3F8"/>
                    </a:solidFill>
                  </a:tcPr>
                </a:tc>
              </a:tr>
              <a:tr h="630936">
                <a:tc>
                  <a:txBody>
                    <a:bodyPr wrap="square"/>
                    <a:lstStyle/>
                    <a:p>
                      <a:r>
                        <a:rPr sz="1050" b="1">
                          <a:solidFill>
                            <a:srgbClr val="0C2B4A"/>
                          </a:solidFill>
                        </a:rPr>
                        <a:t>Aggregates allowed?</a:t>
                      </a:r>
                    </a:p>
                  </a:txBody>
                  <a:tcPr anchor="ctr" marL="73152" marR="54864" marT="27432" marB="27432">
                    <a:solidFill>
                      <a:srgbClr val="FFFFFF"/>
                    </a:solidFill>
                  </a:tcPr>
                </a:tc>
                <a:tc>
                  <a:txBody>
                    <a:bodyPr wrap="square"/>
                    <a:lstStyle/>
                    <a:p>
                      <a:r>
                        <a:rPr sz="1050">
                          <a:solidFill>
                            <a:srgbClr val="1A1A1A"/>
                          </a:solidFill>
                        </a:rPr>
                        <a:t>no (COUNT(*) is illegal here)</a:t>
                      </a:r>
                    </a:p>
                  </a:txBody>
                  <a:tcPr anchor="ctr" marL="73152" marR="54864" marT="27432" marB="27432">
                    <a:solidFill>
                      <a:srgbClr val="FFFFFF"/>
                    </a:solidFill>
                  </a:tcPr>
                </a:tc>
                <a:tc>
                  <a:txBody>
                    <a:bodyPr wrap="square"/>
                    <a:lstStyle/>
                    <a:p>
                      <a:r>
                        <a:rPr sz="1050">
                          <a:solidFill>
                            <a:srgbClr val="1A1A1A"/>
                          </a:solidFill>
                        </a:rPr>
                        <a:t>yes (COUNT(*)&gt;30 is fine)</a:t>
                      </a:r>
                    </a:p>
                  </a:txBody>
                  <a:tcPr anchor="ctr" marL="73152" marR="54864" marT="27432" marB="27432">
                    <a:solidFill>
                      <a:srgbClr val="FFFFFF"/>
                    </a:solidFill>
                  </a:tcPr>
                </a:tc>
              </a:tr>
              <a:tr h="630936">
                <a:tc>
                  <a:txBody>
                    <a:bodyPr wrap="square"/>
                    <a:lstStyle/>
                    <a:p>
                      <a:r>
                        <a:rPr sz="1050" b="1">
                          <a:solidFill>
                            <a:srgbClr val="0C2B4A"/>
                          </a:solidFill>
                        </a:rPr>
                        <a:t>Example</a:t>
                      </a:r>
                    </a:p>
                  </a:txBody>
                  <a:tcPr anchor="ctr" marL="73152" marR="54864" marT="27432" marB="27432">
                    <a:solidFill>
                      <a:srgbClr val="EEF3F8"/>
                    </a:solidFill>
                  </a:tcPr>
                </a:tc>
                <a:tc>
                  <a:txBody>
                    <a:bodyPr wrap="square"/>
                    <a:lstStyle/>
                    <a:p>
                      <a:r>
                        <a:rPr sz="1050">
                          <a:solidFill>
                            <a:srgbClr val="1A1A1A"/>
                          </a:solidFill>
                        </a:rPr>
                        <a:t>WHERE marks &gt;= 40</a:t>
                      </a:r>
                    </a:p>
                  </a:txBody>
                  <a:tcPr anchor="ctr" marL="73152" marR="54864" marT="27432" marB="27432">
                    <a:solidFill>
                      <a:srgbClr val="EEF3F8"/>
                    </a:solidFill>
                  </a:tcPr>
                </a:tc>
                <a:tc>
                  <a:txBody>
                    <a:bodyPr wrap="square"/>
                    <a:lstStyle/>
                    <a:p>
                      <a:r>
                        <a:rPr sz="1050">
                          <a:solidFill>
                            <a:srgbClr val="1A1A1A"/>
                          </a:solidFill>
                        </a:rPr>
                        <a:t>HAVING AVG(marks) &gt;= 40</a:t>
                      </a:r>
                    </a:p>
                  </a:txBody>
                  <a:tcPr anchor="ctr" marL="73152" marR="54864" marT="27432" marB="27432">
                    <a:solidFill>
                      <a:srgbClr val="EEF3F8"/>
                    </a:solidFill>
                  </a:tcPr>
                </a:tc>
              </a:tr>
              <a:tr h="630936">
                <a:tc>
                  <a:txBody>
                    <a:bodyPr wrap="square"/>
                    <a:lstStyle/>
                    <a:p>
                      <a:r>
                        <a:rPr sz="1050" b="1">
                          <a:solidFill>
                            <a:srgbClr val="0C2B4A"/>
                          </a:solidFill>
                        </a:rPr>
                        <a:t>Analogy</a:t>
                      </a:r>
                    </a:p>
                  </a:txBody>
                  <a:tcPr anchor="ctr" marL="73152" marR="54864" marT="27432" marB="27432">
                    <a:solidFill>
                      <a:srgbClr val="FFFFFF"/>
                    </a:solidFill>
                  </a:tcPr>
                </a:tc>
                <a:tc>
                  <a:txBody>
                    <a:bodyPr wrap="square"/>
                    <a:lstStyle/>
                    <a:p>
                      <a:r>
                        <a:rPr sz="1050">
                          <a:solidFill>
                            <a:srgbClr val="1A1A1A"/>
                          </a:solidFill>
                        </a:rPr>
                        <a:t>bouncer per guest</a:t>
                      </a:r>
                    </a:p>
                  </a:txBody>
                  <a:tcPr anchor="ctr" marL="73152" marR="54864" marT="27432" marB="27432">
                    <a:solidFill>
                      <a:srgbClr val="FFFFFF"/>
                    </a:solidFill>
                  </a:tcPr>
                </a:tc>
                <a:tc>
                  <a:txBody>
                    <a:bodyPr wrap="square"/>
                    <a:lstStyle/>
                    <a:p>
                      <a:r>
                        <a:rPr sz="1050">
                          <a:solidFill>
                            <a:srgbClr val="1A1A1A"/>
                          </a:solidFill>
                        </a:rPr>
                        <a:t>inspector per table of guests</a:t>
                      </a:r>
                    </a:p>
                  </a:txBody>
                  <a:tcPr anchor="ctr" marL="73152" marR="54864" marT="27432" marB="27432">
                    <a:solidFill>
                      <a:srgbClr val="FFFFFF"/>
                    </a:solidFill>
                  </a:tcPr>
                </a:tc>
              </a:tr>
              <a:tr h="630936">
                <a:tc>
                  <a:txBody>
                    <a:bodyPr wrap="square"/>
                    <a:lstStyle/>
                    <a:p>
                      <a:r>
                        <a:rPr sz="1050" b="1">
                          <a:solidFill>
                            <a:srgbClr val="0C2B4A"/>
                          </a:solidFill>
                        </a:rPr>
                        <a:t>Can use both?</a:t>
                      </a:r>
                    </a:p>
                  </a:txBody>
                  <a:tcPr anchor="ctr" marL="73152" marR="54864" marT="27432" marB="27432">
                    <a:solidFill>
                      <a:srgbClr val="EEF3F8"/>
                    </a:solidFill>
                  </a:tcPr>
                </a:tc>
                <a:tc>
                  <a:txBody>
                    <a:bodyPr wrap="square"/>
                    <a:lstStyle/>
                    <a:p>
                      <a:r>
                        <a:rPr sz="1050">
                          <a:solidFill>
                            <a:srgbClr val="1A1A1A"/>
                          </a:solidFill>
                        </a:rPr>
                        <a:t>yes — WHERE then HAVING</a:t>
                      </a:r>
                    </a:p>
                  </a:txBody>
                  <a:tcPr anchor="ctr" marL="73152" marR="54864" marT="27432" marB="27432">
                    <a:solidFill>
                      <a:srgbClr val="EEF3F8"/>
                    </a:solidFill>
                  </a:tcPr>
                </a:tc>
                <a:tc>
                  <a:txBody>
                    <a:bodyPr wrap="square"/>
                    <a:lstStyle/>
                    <a:p>
                      <a:r>
                        <a:rPr sz="1050">
                          <a:solidFill>
                            <a:srgbClr val="1A1A1A"/>
                          </a:solidFill>
                        </a:rPr>
                        <a:t>WHERE marks IS NOT NULL … HAVING COUNT(*)&gt;30</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Order of evaluation: FROM → WHERE → GROUP BY → HAVING → SELECT → ORDER BY. Put a plain-column condition in WHERE (faster, pre-filter); put an aggregate condition in HAVING.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219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HAVING (Filter Groups)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'Courses with more than 30 students' is GROUP BY course_id HAVING COUNT(*) &gt; 30; 'departments whose average salary exceeds Rs 70,000' is GROUP BY dept HAVING AVG(salary) &gt; 70000. Any 'groups where the summary passes a threshold' report needs HAVING.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"Use WHERE COUNT(*) &gt; 30." Illegal — aggregates can't appear in WHERE (rows aren't grouped yet). The aggregate condition belongs in HAVING, which runs after GROUP BY. WHERE is only for per-row conditions.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HAVING filters groups after aggregation using aggregate conditions (e.g. HAVING COUNT(*) &gt; 30), whereas WHERE filters individual rows before grouping. Aggregates are allowed in HAVING but not in WHERE. Both can be used together: WHERE pre-filters rows, then HAVING filters the resulting groups.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HAVING · filters groups · WHERE filters rows · aggregate in HAVING not WHERE · evaluation order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219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S26 · HANDS-ON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Average marks per course, only busy courses</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On the college schema, show each course's average marks, but only for courses with more than 30 enrolled students, best average first.</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Group the enrollments by course: GROUP BY course_id.</a:t>
            </a:r>
          </a:p>
          <a:p>
            <a:pPr>
              <a:spcAft>
                <a:spcPts val="400"/>
              </a:spcAft>
            </a:pPr>
            <a:r>
              <a:rPr sz="1250" b="1">
                <a:solidFill>
                  <a:srgbClr val="854F0B"/>
                </a:solidFill>
              </a:rPr>
              <a:t>Step 2.  </a:t>
            </a:r>
            <a:r>
              <a:rPr sz="1250">
                <a:solidFill>
                  <a:srgbClr val="1A1A1A"/>
                </a:solidFill>
              </a:rPr>
              <a:t>Compute the per-group summaries: SELECT course_id, AVG(marks) AS avg_marks, COUNT(*) AS n.</a:t>
            </a:r>
          </a:p>
          <a:p>
            <a:pPr>
              <a:spcAft>
                <a:spcPts val="400"/>
              </a:spcAft>
            </a:pPr>
            <a:r>
              <a:rPr sz="1250" b="1">
                <a:solidFill>
                  <a:srgbClr val="854F0B"/>
                </a:solidFill>
              </a:rPr>
              <a:t>Step 3.  </a:t>
            </a:r>
            <a:r>
              <a:rPr sz="1250">
                <a:solidFill>
                  <a:srgbClr val="1A1A1A"/>
                </a:solidFill>
              </a:rPr>
              <a:t>Keep only busy groups with an aggregate filter: HAVING COUNT(*) &gt; 30 (NOT a WHERE).</a:t>
            </a:r>
          </a:p>
          <a:p>
            <a:pPr>
              <a:spcAft>
                <a:spcPts val="400"/>
              </a:spcAft>
            </a:pPr>
            <a:r>
              <a:rPr sz="1250" b="1">
                <a:solidFill>
                  <a:srgbClr val="854F0B"/>
                </a:solidFill>
              </a:rPr>
              <a:t>Step 4.  </a:t>
            </a:r>
            <a:r>
              <a:rPr sz="1250">
                <a:solidFill>
                  <a:srgbClr val="1A1A1A"/>
                </a:solidFill>
              </a:rPr>
              <a:t>Optionally pre-filter ungraded rows first: WHERE marks IS NOT NULL (a per-row condition).</a:t>
            </a:r>
          </a:p>
          <a:p>
            <a:pPr>
              <a:spcAft>
                <a:spcPts val="400"/>
              </a:spcAft>
            </a:pPr>
            <a:r>
              <a:rPr sz="1250" b="1">
                <a:solidFill>
                  <a:srgbClr val="854F0B"/>
                </a:solidFill>
              </a:rPr>
              <a:t>Step 5.  </a:t>
            </a:r>
            <a:r>
              <a:rPr sz="1250">
                <a:solidFill>
                  <a:srgbClr val="1A1A1A"/>
                </a:solidFill>
              </a:rPr>
              <a:t>Sort the surviving groups: ORDER BY avg_marks DESC.</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SELECT course_id, AVG(marks) AS avg_marks, COUNT(*) AS n FROM Enrollment WHERE marks IS NOT NULL GROUP BY course_id HAVING COUNT(*) &gt; 30 ORDER BY avg_marks DESC;</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219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S26 — Phrase the aggregate query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put into words the query 'departments whose average instructor salary exceeds Rs 70,000'.</a:t>
            </a:r>
          </a:p>
          <a:p>
            <a:pPr>
              <a:spcAft>
                <a:spcPts val="700"/>
              </a:spcAft>
            </a:pPr>
            <a:r>
              <a:rPr sz="1550">
                <a:solidFill>
                  <a:srgbClr val="1A1A1A"/>
                </a:solidFill>
              </a:rPr>
              <a:t>•  Decide: which part is GROUP BY and which is HAVING?</a:t>
            </a:r>
          </a:p>
          <a:p>
            <a:pPr>
              <a:spcAft>
                <a:spcPts val="700"/>
              </a:spcAft>
            </a:pPr>
            <a:r>
              <a:rPr sz="1550">
                <a:solidFill>
                  <a:srgbClr val="1A1A1A"/>
                </a:solidFill>
              </a:rPr>
              <a:t>•  Share aloud (3 min); confirm the aggregate condition goes in HAVING, not WHERE.</a:t>
            </a:r>
          </a:p>
          <a:p>
            <a:pPr>
              <a:spcAft>
                <a:spcPts val="700"/>
              </a:spcAft>
            </a:pPr>
            <a:r>
              <a:rPr sz="1550">
                <a:solidFill>
                  <a:srgbClr val="1A1A1A"/>
                </a:solidFill>
              </a:rPr>
              <a:t>•  Close: 'per group' → GROUP BY; 'groups where the summary passes a test' → HAVING.</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Answer: SELECT dept, AVG(salary) FROM Instructor GROUP BY dept HAVING AVG(salary) &gt; 70000. Reward correctly placing AVG(salary) in HAVING.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219</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clause filters GROUPS, not rows?</a:t>
            </a:r>
          </a:p>
          <a:p>
            <a:pPr lvl="1"/>
            <a:r>
              <a:rPr sz="1500" b="1">
                <a:solidFill>
                  <a:srgbClr val="0F6E56"/>
                </a:solidFill>
              </a:rPr>
              <a:t>a) WHERE   b) ✅ HAVING   c) SELECT   d) ORDER BY</a:t>
            </a:r>
          </a:p>
          <a:p>
            <a:pPr lvl="1">
              <a:spcBef>
                <a:spcPts val="600"/>
              </a:spcBef>
            </a:pPr>
            <a:r>
              <a:rPr sz="1500" i="1">
                <a:solidFill>
                  <a:srgbClr val="1A1A1A"/>
                </a:solidFill>
              </a:rPr>
              <a:t>     Why: HAVING runs after GROUP BY and can test aggregates.</a:t>
            </a:r>
          </a:p>
          <a:p>
            <a:pPr>
              <a:spcBef>
                <a:spcPts val="900"/>
              </a:spcBef>
            </a:pPr>
            <a:r>
              <a:rPr sz="1700" b="1">
                <a:solidFill>
                  <a:srgbClr val="0C2B4A"/>
                </a:solidFill>
              </a:rPr>
              <a:t>Q2.  COUNT(grade) vs COUNT(*) differ when:</a:t>
            </a:r>
          </a:p>
          <a:p>
            <a:pPr lvl="1"/>
            <a:r>
              <a:rPr sz="1500" b="1">
                <a:solidFill>
                  <a:srgbClr val="0F6E56"/>
                </a:solidFill>
              </a:rPr>
              <a:t>a) never   b) ✅ grade has NULLs   c) there are duplicates   d) grade is text</a:t>
            </a:r>
          </a:p>
          <a:p>
            <a:pPr lvl="1">
              <a:spcBef>
                <a:spcPts val="600"/>
              </a:spcBef>
            </a:pPr>
            <a:r>
              <a:rPr sz="1500" i="1">
                <a:solidFill>
                  <a:srgbClr val="1A1A1A"/>
                </a:solidFill>
              </a:rPr>
              <a:t>     Why: COUNT(grade) skips NULLs; COUNT(*) counts every row.</a:t>
            </a:r>
          </a:p>
          <a:p>
            <a:pPr>
              <a:spcBef>
                <a:spcPts val="900"/>
              </a:spcBef>
            </a:pPr>
            <a:r>
              <a:rPr sz="1700" b="1">
                <a:solidFill>
                  <a:srgbClr val="0C2B4A"/>
                </a:solidFill>
              </a:rPr>
              <a:t>Q3.  Which is ILLEGAL?</a:t>
            </a:r>
          </a:p>
          <a:p>
            <a:pPr lvl="1"/>
            <a:r>
              <a:rPr sz="1500" b="1">
                <a:solidFill>
                  <a:srgbClr val="0F6E56"/>
                </a:solidFill>
              </a:rPr>
              <a:t>a) HAVING COUNT(*)&gt;30   b) ✅ WHERE COUNT(*)&gt;30   c) WHERE marks&gt;=40   d) HAVING AVG(marks)&gt;40</a:t>
            </a:r>
          </a:p>
          <a:p>
            <a:pPr lvl="1">
              <a:spcBef>
                <a:spcPts val="600"/>
              </a:spcBef>
            </a:pPr>
            <a:r>
              <a:rPr sz="1500" i="1">
                <a:solidFill>
                  <a:srgbClr val="1A1A1A"/>
                </a:solidFill>
              </a:rPr>
              <a:t>     Why: aggregates cannot appear in WHERE (rows aren't grouped yet).</a:t>
            </a:r>
          </a:p>
          <a:p>
            <a:pPr lvl="1">
              <a:spcBef>
                <a:spcPts val="600"/>
              </a:spcBef>
            </a:pPr>
            <a:r>
              <a:rPr sz="1500" i="1">
                <a:solidFill>
                  <a:srgbClr val="1A1A1A"/>
                </a:solidFill>
              </a:rPr>
              <a:t>Discussion: name one dashboard KPI in a Nepali app and write its aggregate + GROUP BY.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219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COUNT/SUM/AVG/MIN/MAX summarise many rows into one; all skip NULLs except COUNT(*).</a:t>
            </a:r>
          </a:p>
          <a:p>
            <a:pPr>
              <a:spcAft>
                <a:spcPts val="800"/>
              </a:spcAft>
            </a:pPr>
            <a:r>
              <a:rPr sz="1500">
                <a:solidFill>
                  <a:srgbClr val="1A1A1A"/>
                </a:solidFill>
              </a:rPr>
              <a:t>2.  GROUP BY makes one aggregate row per group; non-aggregated SELECT columns must be grouped.</a:t>
            </a:r>
          </a:p>
          <a:p>
            <a:pPr>
              <a:spcAft>
                <a:spcPts val="800"/>
              </a:spcAft>
            </a:pPr>
            <a:r>
              <a:rPr sz="1500">
                <a:solidFill>
                  <a:srgbClr val="1A1A1A"/>
                </a:solidFill>
              </a:rPr>
              <a:t>3.  WHERE filters rows (before), HAVING filters groups (after) — aggregates go in HAVING, never WHERE.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KPI tile, chart, and report — daily revenue, active users, average order value — is an aggregate with GROUP BY. This is the core of analytics and business-intelligence work.</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S27 — the tricky truth about missing data: NULL values and three-valued logic.</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219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27 · LECTURE HOUR 6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NULL Values · Three-Valued Logic</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student's grade is blank — they haven't been graded yet. Is grade = grade true? In SQL... not necessarily. Welcome to NULL.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76 / 219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NULL Means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NULL represents a missing, unknown, or not-applicable value. It is NOT zero and NOT an empty string — those are actual values; NULL is the absence of any value.</a:t>
            </a:r>
          </a:p>
          <a:p>
            <a:pPr>
              <a:spcAft>
                <a:spcPts val="500"/>
              </a:spcAft>
            </a:pPr>
            <a:r>
              <a:rPr sz="1200" b="1">
                <a:solidFill>
                  <a:srgbClr val="185FA5"/>
                </a:solidFill>
              </a:rPr>
              <a:t>HOW IT WORKS</a:t>
            </a:r>
          </a:p>
          <a:p>
            <a:pPr>
              <a:spcAft>
                <a:spcPts val="600"/>
              </a:spcAft>
            </a:pPr>
            <a:r>
              <a:rPr sz="1400">
                <a:solidFill>
                  <a:srgbClr val="1A1A1A"/>
                </a:solidFill>
              </a:rPr>
              <a:t>•  Enrollment.grade is NULL for a student who is mid-semester (not yet graded).</a:t>
            </a:r>
          </a:p>
          <a:p>
            <a:pPr>
              <a:spcAft>
                <a:spcPts val="600"/>
              </a:spcAft>
            </a:pPr>
            <a:r>
              <a:rPr sz="1400">
                <a:solidFill>
                  <a:srgbClr val="1A1A1A"/>
                </a:solidFill>
              </a:rPr>
              <a:t>•  Instructor.salary is NULL for an unpaid intern (no salary applies).</a:t>
            </a:r>
          </a:p>
          <a:p>
            <a:pPr>
              <a:spcAft>
                <a:spcPts val="600"/>
              </a:spcAft>
            </a:pPr>
            <a:r>
              <a:rPr sz="1400">
                <a:solidFill>
                  <a:srgbClr val="1A1A1A"/>
                </a:solidFill>
              </a:rPr>
              <a:t>•  0 means 'a value of zero'; '' means 'an empty text'; NULL means 'we don't know'.</a:t>
            </a:r>
          </a:p>
          <a:p>
            <a:pPr>
              <a:spcAft>
                <a:spcPts val="600"/>
              </a:spcAft>
            </a:pPr>
            <a:r>
              <a:rPr sz="1400">
                <a:solidFill>
                  <a:srgbClr val="1A1A1A"/>
                </a:solidFill>
              </a:rPr>
              <a:t>•  A column allows NULL unless declared NOT NULL (S22).</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NULL = a sealed box: you can't say it equals anything, you don't know what's inside.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219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NULL vs 0 vs '' — three different things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344615"/>
                <a:gridCol w="3077307"/>
                <a:gridCol w="3223846"/>
                <a:gridCol w="2784230"/>
              </a:tblGrid>
              <a:tr h="630936">
                <a:tc>
                  <a:txBody>
                    <a:bodyPr wrap="square"/>
                    <a:lstStyle/>
                    <a:p>
                      <a:r>
                        <a:rPr sz="1100" b="1">
                          <a:solidFill>
                            <a:srgbClr val="FFFFFF"/>
                          </a:solidFill>
                        </a:rPr>
                        <a:t>Value</a:t>
                      </a:r>
                    </a:p>
                  </a:txBody>
                  <a:tcPr anchor="ctr" marL="73152" marR="54864" marT="27432" marB="27432">
                    <a:solidFill>
                      <a:srgbClr val="0C2B4A"/>
                    </a:solidFill>
                  </a:tcPr>
                </a:tc>
                <a:tc>
                  <a:txBody>
                    <a:bodyPr wrap="square"/>
                    <a:lstStyle/>
                    <a:p>
                      <a:r>
                        <a:rPr sz="1100" b="1">
                          <a:solidFill>
                            <a:srgbClr val="FFFFFF"/>
                          </a:solidFill>
                        </a:rPr>
                        <a:t>Means</a:t>
                      </a:r>
                    </a:p>
                  </a:txBody>
                  <a:tcPr anchor="ctr" marL="73152" marR="54864" marT="27432" marB="27432">
                    <a:solidFill>
                      <a:srgbClr val="0C2B4A"/>
                    </a:solidFill>
                  </a:tcPr>
                </a:tc>
                <a:tc>
                  <a:txBody>
                    <a:bodyPr wrap="square"/>
                    <a:lstStyle/>
                    <a:p>
                      <a:r>
                        <a:rPr sz="1100" b="1">
                          <a:solidFill>
                            <a:srgbClr val="FFFFFF"/>
                          </a:solidFill>
                        </a:rPr>
                        <a:t>Wallet example</a:t>
                      </a:r>
                    </a:p>
                  </a:txBody>
                  <a:tcPr anchor="ctr" marL="73152" marR="54864" marT="27432" marB="27432">
                    <a:solidFill>
                      <a:srgbClr val="0C2B4A"/>
                    </a:solidFill>
                  </a:tcPr>
                </a:tc>
                <a:tc>
                  <a:txBody>
                    <a:bodyPr wrap="square"/>
                    <a:lstStyle/>
                    <a:p>
                      <a:r>
                        <a:rPr sz="1100" b="1">
                          <a:solidFill>
                            <a:srgbClr val="FFFFFF"/>
                          </a:solidFill>
                        </a:rPr>
                        <a:t>Wrong if you…</a:t>
                      </a:r>
                    </a:p>
                  </a:txBody>
                  <a:tcPr anchor="ctr" marL="73152" marR="54864" marT="27432" marB="27432">
                    <a:solidFill>
                      <a:srgbClr val="0C2B4A"/>
                    </a:solidFill>
                  </a:tcPr>
                </a:tc>
              </a:tr>
              <a:tr h="630936">
                <a:tc>
                  <a:txBody>
                    <a:bodyPr wrap="square"/>
                    <a:lstStyle/>
                    <a:p>
                      <a:r>
                        <a:rPr sz="1050" b="1">
                          <a:solidFill>
                            <a:srgbClr val="0C2B4A"/>
                          </a:solidFill>
                        </a:rPr>
                        <a:t>NULL</a:t>
                      </a:r>
                    </a:p>
                  </a:txBody>
                  <a:tcPr anchor="ctr" marL="73152" marR="54864" marT="27432" marB="27432">
                    <a:solidFill>
                      <a:srgbClr val="FFFFFF"/>
                    </a:solidFill>
                  </a:tcPr>
                </a:tc>
                <a:tc>
                  <a:txBody>
                    <a:bodyPr wrap="square"/>
                    <a:lstStyle/>
                    <a:p>
                      <a:r>
                        <a:rPr sz="1050">
                          <a:solidFill>
                            <a:srgbClr val="1A1A1A"/>
                          </a:solidFill>
                        </a:rPr>
                        <a:t>unknown / not applicable</a:t>
                      </a:r>
                    </a:p>
                  </a:txBody>
                  <a:tcPr anchor="ctr" marL="73152" marR="54864" marT="27432" marB="27432">
                    <a:solidFill>
                      <a:srgbClr val="FFFFFF"/>
                    </a:solidFill>
                  </a:tcPr>
                </a:tc>
                <a:tc>
                  <a:txBody>
                    <a:bodyPr wrap="square"/>
                    <a:lstStyle/>
                    <a:p>
                      <a:r>
                        <a:rPr sz="1050">
                          <a:solidFill>
                            <a:srgbClr val="1A1A1A"/>
                          </a:solidFill>
                        </a:rPr>
                        <a:t>account not created yet</a:t>
                      </a:r>
                    </a:p>
                  </a:txBody>
                  <a:tcPr anchor="ctr" marL="73152" marR="54864" marT="27432" marB="27432">
                    <a:solidFill>
                      <a:srgbClr val="FFFFFF"/>
                    </a:solidFill>
                  </a:tcPr>
                </a:tc>
                <a:tc>
                  <a:txBody>
                    <a:bodyPr wrap="square"/>
                    <a:lstStyle/>
                    <a:p>
                      <a:r>
                        <a:rPr sz="1050">
                          <a:solidFill>
                            <a:srgbClr val="1A1A1A"/>
                          </a:solidFill>
                        </a:rPr>
                        <a:t>treat it as 0 balance</a:t>
                      </a:r>
                    </a:p>
                  </a:txBody>
                  <a:tcPr anchor="ctr" marL="73152" marR="54864" marT="27432" marB="27432">
                    <a:solidFill>
                      <a:srgbClr val="FFFFFF"/>
                    </a:solidFill>
                  </a:tcPr>
                </a:tc>
              </a:tr>
              <a:tr h="630936">
                <a:tc>
                  <a:txBody>
                    <a:bodyPr wrap="square"/>
                    <a:lstStyle/>
                    <a:p>
                      <a:r>
                        <a:rPr sz="1050" b="1">
                          <a:solidFill>
                            <a:srgbClr val="0C2B4A"/>
                          </a:solidFill>
                        </a:rPr>
                        <a:t>0</a:t>
                      </a:r>
                    </a:p>
                  </a:txBody>
                  <a:tcPr anchor="ctr" marL="73152" marR="54864" marT="27432" marB="27432">
                    <a:solidFill>
                      <a:srgbClr val="EEF3F8"/>
                    </a:solidFill>
                  </a:tcPr>
                </a:tc>
                <a:tc>
                  <a:txBody>
                    <a:bodyPr wrap="square"/>
                    <a:lstStyle/>
                    <a:p>
                      <a:r>
                        <a:rPr sz="1050">
                          <a:solidFill>
                            <a:srgbClr val="1A1A1A"/>
                          </a:solidFill>
                        </a:rPr>
                        <a:t>a real zero</a:t>
                      </a:r>
                    </a:p>
                  </a:txBody>
                  <a:tcPr anchor="ctr" marL="73152" marR="54864" marT="27432" marB="27432">
                    <a:solidFill>
                      <a:srgbClr val="EEF3F8"/>
                    </a:solidFill>
                  </a:tcPr>
                </a:tc>
                <a:tc>
                  <a:txBody>
                    <a:bodyPr wrap="square"/>
                    <a:lstStyle/>
                    <a:p>
                      <a:r>
                        <a:rPr sz="1050">
                          <a:solidFill>
                            <a:srgbClr val="1A1A1A"/>
                          </a:solidFill>
                        </a:rPr>
                        <a:t>balance is genuinely empty</a:t>
                      </a:r>
                    </a:p>
                  </a:txBody>
                  <a:tcPr anchor="ctr" marL="73152" marR="54864" marT="27432" marB="27432">
                    <a:solidFill>
                      <a:srgbClr val="EEF3F8"/>
                    </a:solidFill>
                  </a:tcPr>
                </a:tc>
                <a:tc>
                  <a:txBody>
                    <a:bodyPr wrap="square"/>
                    <a:lstStyle/>
                    <a:p>
                      <a:r>
                        <a:rPr sz="1050">
                          <a:solidFill>
                            <a:srgbClr val="1A1A1A"/>
                          </a:solidFill>
                        </a:rPr>
                        <a:t>treat it as unknown</a:t>
                      </a:r>
                    </a:p>
                  </a:txBody>
                  <a:tcPr anchor="ctr" marL="73152" marR="54864" marT="27432" marB="27432">
                    <a:solidFill>
                      <a:srgbClr val="EEF3F8"/>
                    </a:solidFill>
                  </a:tcPr>
                </a:tc>
              </a:tr>
              <a:tr h="630936">
                <a:tc>
                  <a:txBody>
                    <a:bodyPr wrap="square"/>
                    <a:lstStyle/>
                    <a:p>
                      <a:r>
                        <a:rPr sz="1050" b="1">
                          <a:solidFill>
                            <a:srgbClr val="0C2B4A"/>
                          </a:solidFill>
                        </a:rPr>
                        <a:t>'' (empty string)</a:t>
                      </a:r>
                    </a:p>
                  </a:txBody>
                  <a:tcPr anchor="ctr" marL="73152" marR="54864" marT="27432" marB="27432">
                    <a:solidFill>
                      <a:srgbClr val="FFFFFF"/>
                    </a:solidFill>
                  </a:tcPr>
                </a:tc>
                <a:tc>
                  <a:txBody>
                    <a:bodyPr wrap="square"/>
                    <a:lstStyle/>
                    <a:p>
                      <a:r>
                        <a:rPr sz="1050">
                          <a:solidFill>
                            <a:srgbClr val="1A1A1A"/>
                          </a:solidFill>
                        </a:rPr>
                        <a:t>present but blank text</a:t>
                      </a:r>
                    </a:p>
                  </a:txBody>
                  <a:tcPr anchor="ctr" marL="73152" marR="54864" marT="27432" marB="27432">
                    <a:solidFill>
                      <a:srgbClr val="FFFFFF"/>
                    </a:solidFill>
                  </a:tcPr>
                </a:tc>
                <a:tc>
                  <a:txBody>
                    <a:bodyPr wrap="square"/>
                    <a:lstStyle/>
                    <a:p>
                      <a:r>
                        <a:rPr sz="1050">
                          <a:solidFill>
                            <a:srgbClr val="1A1A1A"/>
                          </a:solidFill>
                        </a:rPr>
                        <a:t>no nickname set</a:t>
                      </a:r>
                    </a:p>
                  </a:txBody>
                  <a:tcPr anchor="ctr" marL="73152" marR="54864" marT="27432" marB="27432">
                    <a:solidFill>
                      <a:srgbClr val="FFFFFF"/>
                    </a:solidFill>
                  </a:tcPr>
                </a:tc>
                <a:tc>
                  <a:txBody>
                    <a:bodyPr wrap="square"/>
                    <a:lstStyle/>
                    <a:p>
                      <a:r>
                        <a:rPr sz="1050">
                          <a:solidFill>
                            <a:srgbClr val="1A1A1A"/>
                          </a:solidFill>
                        </a:rPr>
                        <a:t>confuse with NULL name</a:t>
                      </a:r>
                    </a:p>
                  </a:txBody>
                  <a:tcPr anchor="ctr" marL="73152" marR="54864" marT="27432" marB="27432">
                    <a:solidFill>
                      <a:srgbClr val="FFFFFF"/>
                    </a:solidFill>
                  </a:tcPr>
                </a:tc>
              </a:tr>
              <a:tr h="630936">
                <a:tc>
                  <a:txBody>
                    <a:bodyPr wrap="square"/>
                    <a:lstStyle/>
                    <a:p>
                      <a:r>
                        <a:rPr sz="1050" b="1">
                          <a:solidFill>
                            <a:srgbClr val="0C2B4A"/>
                          </a:solidFill>
                        </a:rPr>
                        <a:t>grade = NULL</a:t>
                      </a:r>
                    </a:p>
                  </a:txBody>
                  <a:tcPr anchor="ctr" marL="73152" marR="54864" marT="27432" marB="27432">
                    <a:solidFill>
                      <a:srgbClr val="EEF3F8"/>
                    </a:solidFill>
                  </a:tcPr>
                </a:tc>
                <a:tc>
                  <a:txBody>
                    <a:bodyPr wrap="square"/>
                    <a:lstStyle/>
                    <a:p>
                      <a:r>
                        <a:rPr sz="1050">
                          <a:solidFill>
                            <a:srgbClr val="1A1A1A"/>
                          </a:solidFill>
                        </a:rPr>
                        <a:t>not yet graded</a:t>
                      </a:r>
                    </a:p>
                  </a:txBody>
                  <a:tcPr anchor="ctr" marL="73152" marR="54864" marT="27432" marB="27432">
                    <a:solidFill>
                      <a:srgbClr val="EEF3F8"/>
                    </a:solidFill>
                  </a:tcPr>
                </a:tc>
                <a:tc>
                  <a:txBody>
                    <a:bodyPr wrap="square"/>
                    <a:lstStyle/>
                    <a:p>
                      <a:r>
                        <a:rPr sz="1050">
                          <a:solidFill>
                            <a:srgbClr val="1A1A1A"/>
                          </a:solidFill>
                        </a:rPr>
                        <a:t>mid-semester enrollment</a:t>
                      </a:r>
                    </a:p>
                  </a:txBody>
                  <a:tcPr anchor="ctr" marL="73152" marR="54864" marT="27432" marB="27432">
                    <a:solidFill>
                      <a:srgbClr val="EEF3F8"/>
                    </a:solidFill>
                  </a:tcPr>
                </a:tc>
                <a:tc>
                  <a:txBody>
                    <a:bodyPr wrap="square"/>
                    <a:lstStyle/>
                    <a:p>
                      <a:r>
                        <a:rPr sz="1050">
                          <a:solidFill>
                            <a:srgbClr val="1A1A1A"/>
                          </a:solidFill>
                        </a:rPr>
                        <a:t>count it as a fail (0)</a:t>
                      </a:r>
                    </a:p>
                  </a:txBody>
                  <a:tcPr anchor="ctr" marL="73152" marR="54864" marT="27432" marB="27432">
                    <a:solidFill>
                      <a:srgbClr val="EEF3F8"/>
                    </a:solidFill>
                  </a:tcPr>
                </a:tc>
              </a:tr>
              <a:tr h="630936">
                <a:tc>
                  <a:txBody>
                    <a:bodyPr wrap="square"/>
                    <a:lstStyle/>
                    <a:p>
                      <a:r>
                        <a:rPr sz="1050" b="1">
                          <a:solidFill>
                            <a:srgbClr val="0C2B4A"/>
                          </a:solidFill>
                        </a:rPr>
                        <a:t>salary = NULL</a:t>
                      </a:r>
                    </a:p>
                  </a:txBody>
                  <a:tcPr anchor="ctr" marL="73152" marR="54864" marT="27432" marB="27432">
                    <a:solidFill>
                      <a:srgbClr val="FFFFFF"/>
                    </a:solidFill>
                  </a:tcPr>
                </a:tc>
                <a:tc>
                  <a:txBody>
                    <a:bodyPr wrap="square"/>
                    <a:lstStyle/>
                    <a:p>
                      <a:r>
                        <a:rPr sz="1050">
                          <a:solidFill>
                            <a:srgbClr val="1A1A1A"/>
                          </a:solidFill>
                        </a:rPr>
                        <a:t>no salary applies</a:t>
                      </a:r>
                    </a:p>
                  </a:txBody>
                  <a:tcPr anchor="ctr" marL="73152" marR="54864" marT="27432" marB="27432">
                    <a:solidFill>
                      <a:srgbClr val="FFFFFF"/>
                    </a:solidFill>
                  </a:tcPr>
                </a:tc>
                <a:tc>
                  <a:txBody>
                    <a:bodyPr wrap="square"/>
                    <a:lstStyle/>
                    <a:p>
                      <a:r>
                        <a:rPr sz="1050">
                          <a:solidFill>
                            <a:srgbClr val="1A1A1A"/>
                          </a:solidFill>
                        </a:rPr>
                        <a:t>unpaid intern instructor</a:t>
                      </a:r>
                    </a:p>
                  </a:txBody>
                  <a:tcPr anchor="ctr" marL="73152" marR="54864" marT="27432" marB="27432">
                    <a:solidFill>
                      <a:srgbClr val="FFFFFF"/>
                    </a:solidFill>
                  </a:tcPr>
                </a:tc>
                <a:tc>
                  <a:txBody>
                    <a:bodyPr wrap="square"/>
                    <a:lstStyle/>
                    <a:p>
                      <a:r>
                        <a:rPr sz="1050">
                          <a:solidFill>
                            <a:srgbClr val="1A1A1A"/>
                          </a:solidFill>
                        </a:rPr>
                        <a:t>include in AVG as 0</a:t>
                      </a:r>
                    </a:p>
                  </a:txBody>
                  <a:tcPr anchor="ctr" marL="73152" marR="54864" marT="27432" marB="27432">
                    <a:solidFill>
                      <a:srgbClr val="FFFFFF"/>
                    </a:solidFill>
                  </a:tcPr>
                </a:tc>
              </a:tr>
              <a:tr h="630936">
                <a:tc>
                  <a:txBody>
                    <a:bodyPr wrap="square"/>
                    <a:lstStyle/>
                    <a:p>
                      <a:r>
                        <a:rPr sz="1050" b="1">
                          <a:solidFill>
                            <a:srgbClr val="0C2B4A"/>
                          </a:solidFill>
                        </a:rPr>
                        <a:t>marks = 0</a:t>
                      </a:r>
                    </a:p>
                  </a:txBody>
                  <a:tcPr anchor="ctr" marL="73152" marR="54864" marT="27432" marB="27432">
                    <a:solidFill>
                      <a:srgbClr val="EEF3F8"/>
                    </a:solidFill>
                  </a:tcPr>
                </a:tc>
                <a:tc>
                  <a:txBody>
                    <a:bodyPr wrap="square"/>
                    <a:lstStyle/>
                    <a:p>
                      <a:r>
                        <a:rPr sz="1050">
                          <a:solidFill>
                            <a:srgbClr val="1A1A1A"/>
                          </a:solidFill>
                        </a:rPr>
                        <a:t>genuinely scored zero</a:t>
                      </a:r>
                    </a:p>
                  </a:txBody>
                  <a:tcPr anchor="ctr" marL="73152" marR="54864" marT="27432" marB="27432">
                    <a:solidFill>
                      <a:srgbClr val="EEF3F8"/>
                    </a:solidFill>
                  </a:tcPr>
                </a:tc>
                <a:tc>
                  <a:txBody>
                    <a:bodyPr wrap="square"/>
                    <a:lstStyle/>
                    <a:p>
                      <a:r>
                        <a:rPr sz="1050">
                          <a:solidFill>
                            <a:srgbClr val="1A1A1A"/>
                          </a:solidFill>
                        </a:rPr>
                        <a:t>student sat and failed</a:t>
                      </a:r>
                    </a:p>
                  </a:txBody>
                  <a:tcPr anchor="ctr" marL="73152" marR="54864" marT="27432" marB="27432">
                    <a:solidFill>
                      <a:srgbClr val="EEF3F8"/>
                    </a:solidFill>
                  </a:tcPr>
                </a:tc>
                <a:tc>
                  <a:txBody>
                    <a:bodyPr wrap="square"/>
                    <a:lstStyle/>
                    <a:p>
                      <a:r>
                        <a:rPr sz="1050">
                          <a:solidFill>
                            <a:srgbClr val="1A1A1A"/>
                          </a:solidFill>
                        </a:rPr>
                        <a:t>hide from the class average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Confusing NULL with 0 or '' is a real, expensive bug. A NULL balance ('account not created') must never be shown as Rs 0 ('you have no money').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219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NULL Means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payment system must distinguish balance = 0 (a real account with no money) from balance = NULL (account not yet created). Showing a not-yet-created wallet as 'Rs 0' would tell a user they have an empty account that doesn't exist — a genuine bug that has shipped in real fintech products.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"NULL equals 0 or an empty string." No — 0 and '' are real values; NULL is the absence of a value. NULL + 5 is NULL (not 5); a NULL name is not the same as a blank name '' — the difference matters for logic and totals.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NULL represents missing, unknown, or not-applicable data — it is not zero and not an empty string, which are actual values. A NULL means 'no value is stored here'. Distinguishing NULL from 0/'' is essential: e.g. a NULL balance (account not created) differs from a 0 balance (account with no money).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NULL · unknown/missing/not-applicable · not 0 · not empty string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219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Three-Valued Logic (TRUE / FALSE / UNKNOWN)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Because NULL is unknown, any comparison with NULL yields UNKNOWN (not TRUE or FALSE). SQL logic has three values; WHERE keeps only rows that are TRUE — UNKNOWN rows are dropped.</a:t>
            </a:r>
          </a:p>
          <a:p>
            <a:pPr>
              <a:spcAft>
                <a:spcPts val="500"/>
              </a:spcAft>
            </a:pPr>
            <a:r>
              <a:rPr sz="1200" b="1">
                <a:solidFill>
                  <a:srgbClr val="185FA5"/>
                </a:solidFill>
              </a:rPr>
              <a:t>HOW IT WORKS</a:t>
            </a:r>
          </a:p>
          <a:p>
            <a:pPr>
              <a:spcAft>
                <a:spcPts val="600"/>
              </a:spcAft>
            </a:pPr>
            <a:r>
              <a:rPr sz="1400">
                <a:solidFill>
                  <a:srgbClr val="1A1A1A"/>
                </a:solidFill>
              </a:rPr>
              <a:t>•  grade = NULL evaluates to UNKNOWN, so it returns NO rows — never use it.</a:t>
            </a:r>
          </a:p>
          <a:p>
            <a:pPr>
              <a:spcAft>
                <a:spcPts val="600"/>
              </a:spcAft>
            </a:pPr>
            <a:r>
              <a:rPr sz="1400">
                <a:solidFill>
                  <a:srgbClr val="1A1A1A"/>
                </a:solidFill>
              </a:rPr>
              <a:t>•  Use IS NULL / IS NOT NULL to test for missing values.</a:t>
            </a:r>
          </a:p>
          <a:p>
            <a:pPr>
              <a:spcAft>
                <a:spcPts val="600"/>
              </a:spcAft>
            </a:pPr>
            <a:r>
              <a:rPr sz="1400">
                <a:solidFill>
                  <a:srgbClr val="1A1A1A"/>
                </a:solidFill>
              </a:rPr>
              <a:t>•  AND/OR follow three-valued truth tables (TRUE AND UNKNOWN = UNKNOWN).</a:t>
            </a:r>
          </a:p>
          <a:p>
            <a:pPr>
              <a:spcAft>
                <a:spcPts val="600"/>
              </a:spcAft>
            </a:pPr>
            <a:r>
              <a:rPr sz="1400">
                <a:solidFill>
                  <a:srgbClr val="1A1A1A"/>
                </a:solidFill>
              </a:rPr>
              <a:t>•  NOT UNKNOWN is still UNKNOWN — negation doesn't rescue it.</a:t>
            </a:r>
          </a:p>
        </p:txBody>
      </p:sp>
      <p:pic>
        <p:nvPicPr>
          <p:cNvPr id="6" name="Picture 5" descr="s27_three_valued.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 NULL ✗ (always UNKNOWN) · IS NULL ✓ (the correct test).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219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Testing for NULL — wrong vs right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983181"/>
                <a:gridCol w="4156363"/>
                <a:gridCol w="3290454"/>
              </a:tblGrid>
              <a:tr h="630936">
                <a:tc>
                  <a:txBody>
                    <a:bodyPr wrap="square"/>
                    <a:lstStyle/>
                    <a:p>
                      <a:r>
                        <a:rPr sz="1100" b="1">
                          <a:solidFill>
                            <a:srgbClr val="FFFFFF"/>
                          </a:solidFill>
                        </a:rPr>
                        <a:t>Goal</a:t>
                      </a:r>
                    </a:p>
                  </a:txBody>
                  <a:tcPr anchor="ctr" marL="73152" marR="54864" marT="27432" marB="27432">
                    <a:solidFill>
                      <a:srgbClr val="0C2B4A"/>
                    </a:solidFill>
                  </a:tcPr>
                </a:tc>
                <a:tc>
                  <a:txBody>
                    <a:bodyPr wrap="square"/>
                    <a:lstStyle/>
                    <a:p>
                      <a:r>
                        <a:rPr sz="1100" b="1">
                          <a:solidFill>
                            <a:srgbClr val="FFFFFF"/>
                          </a:solidFill>
                        </a:rPr>
                        <a:t>Wrong (returns nothing / bug)</a:t>
                      </a:r>
                    </a:p>
                  </a:txBody>
                  <a:tcPr anchor="ctr" marL="73152" marR="54864" marT="27432" marB="27432">
                    <a:solidFill>
                      <a:srgbClr val="0C2B4A"/>
                    </a:solidFill>
                  </a:tcPr>
                </a:tc>
                <a:tc>
                  <a:txBody>
                    <a:bodyPr wrap="square"/>
                    <a:lstStyle/>
                    <a:p>
                      <a:r>
                        <a:rPr sz="1100" b="1">
                          <a:solidFill>
                            <a:srgbClr val="FFFFFF"/>
                          </a:solidFill>
                        </a:rPr>
                        <a:t>Right</a:t>
                      </a:r>
                    </a:p>
                  </a:txBody>
                  <a:tcPr anchor="ctr" marL="73152" marR="54864" marT="27432" marB="27432">
                    <a:solidFill>
                      <a:srgbClr val="0C2B4A"/>
                    </a:solidFill>
                  </a:tcPr>
                </a:tc>
              </a:tr>
              <a:tr h="630936">
                <a:tc>
                  <a:txBody>
                    <a:bodyPr wrap="square"/>
                    <a:lstStyle/>
                    <a:p>
                      <a:r>
                        <a:rPr sz="1050" b="1">
                          <a:solidFill>
                            <a:srgbClr val="0C2B4A"/>
                          </a:solidFill>
                        </a:rPr>
                        <a:t>find ungraded enrollments</a:t>
                      </a:r>
                    </a:p>
                  </a:txBody>
                  <a:tcPr anchor="ctr" marL="73152" marR="54864" marT="27432" marB="27432">
                    <a:solidFill>
                      <a:srgbClr val="FFFFFF"/>
                    </a:solidFill>
                  </a:tcPr>
                </a:tc>
                <a:tc>
                  <a:txBody>
                    <a:bodyPr wrap="square"/>
                    <a:lstStyle/>
                    <a:p>
                      <a:r>
                        <a:rPr sz="1050">
                          <a:solidFill>
                            <a:srgbClr val="1A1A1A"/>
                          </a:solidFill>
                        </a:rPr>
                        <a:t>WHERE grade = NULL</a:t>
                      </a:r>
                    </a:p>
                  </a:txBody>
                  <a:tcPr anchor="ctr" marL="73152" marR="54864" marT="27432" marB="27432">
                    <a:solidFill>
                      <a:srgbClr val="FFFFFF"/>
                    </a:solidFill>
                  </a:tcPr>
                </a:tc>
                <a:tc>
                  <a:txBody>
                    <a:bodyPr wrap="square"/>
                    <a:lstStyle/>
                    <a:p>
                      <a:r>
                        <a:rPr sz="1050">
                          <a:solidFill>
                            <a:srgbClr val="1A1A1A"/>
                          </a:solidFill>
                        </a:rPr>
                        <a:t>WHERE grade IS NULL</a:t>
                      </a:r>
                    </a:p>
                  </a:txBody>
                  <a:tcPr anchor="ctr" marL="73152" marR="54864" marT="27432" marB="27432">
                    <a:solidFill>
                      <a:srgbClr val="FFFFFF"/>
                    </a:solidFill>
                  </a:tcPr>
                </a:tc>
              </a:tr>
              <a:tr h="630936">
                <a:tc>
                  <a:txBody>
                    <a:bodyPr wrap="square"/>
                    <a:lstStyle/>
                    <a:p>
                      <a:r>
                        <a:rPr sz="1050" b="1">
                          <a:solidFill>
                            <a:srgbClr val="0C2B4A"/>
                          </a:solidFill>
                        </a:rPr>
                        <a:t>find graded enrollments</a:t>
                      </a:r>
                    </a:p>
                  </a:txBody>
                  <a:tcPr anchor="ctr" marL="73152" marR="54864" marT="27432" marB="27432">
                    <a:solidFill>
                      <a:srgbClr val="EEF3F8"/>
                    </a:solidFill>
                  </a:tcPr>
                </a:tc>
                <a:tc>
                  <a:txBody>
                    <a:bodyPr wrap="square"/>
                    <a:lstStyle/>
                    <a:p>
                      <a:r>
                        <a:rPr sz="1050">
                          <a:solidFill>
                            <a:srgbClr val="1A1A1A"/>
                          </a:solidFill>
                        </a:rPr>
                        <a:t>WHERE grade &lt;&gt; NULL</a:t>
                      </a:r>
                    </a:p>
                  </a:txBody>
                  <a:tcPr anchor="ctr" marL="73152" marR="54864" marT="27432" marB="27432">
                    <a:solidFill>
                      <a:srgbClr val="EEF3F8"/>
                    </a:solidFill>
                  </a:tcPr>
                </a:tc>
                <a:tc>
                  <a:txBody>
                    <a:bodyPr wrap="square"/>
                    <a:lstStyle/>
                    <a:p>
                      <a:r>
                        <a:rPr sz="1050">
                          <a:solidFill>
                            <a:srgbClr val="1A1A1A"/>
                          </a:solidFill>
                        </a:rPr>
                        <a:t>WHERE grade IS NOT NULL</a:t>
                      </a:r>
                    </a:p>
                  </a:txBody>
                  <a:tcPr anchor="ctr" marL="73152" marR="54864" marT="27432" marB="27432">
                    <a:solidFill>
                      <a:srgbClr val="EEF3F8"/>
                    </a:solidFill>
                  </a:tcPr>
                </a:tc>
              </a:tr>
              <a:tr h="630936">
                <a:tc>
                  <a:txBody>
                    <a:bodyPr wrap="square"/>
                    <a:lstStyle/>
                    <a:p>
                      <a:r>
                        <a:rPr sz="1050" b="1">
                          <a:solidFill>
                            <a:srgbClr val="0C2B4A"/>
                          </a:solidFill>
                        </a:rPr>
                        <a:t>students missing an email</a:t>
                      </a:r>
                    </a:p>
                  </a:txBody>
                  <a:tcPr anchor="ctr" marL="73152" marR="54864" marT="27432" marB="27432">
                    <a:solidFill>
                      <a:srgbClr val="FFFFFF"/>
                    </a:solidFill>
                  </a:tcPr>
                </a:tc>
                <a:tc>
                  <a:txBody>
                    <a:bodyPr wrap="square"/>
                    <a:lstStyle/>
                    <a:p>
                      <a:r>
                        <a:rPr sz="1050">
                          <a:solidFill>
                            <a:srgbClr val="1A1A1A"/>
                          </a:solidFill>
                        </a:rPr>
                        <a:t>WHERE email = NULL</a:t>
                      </a:r>
                    </a:p>
                  </a:txBody>
                  <a:tcPr anchor="ctr" marL="73152" marR="54864" marT="27432" marB="27432">
                    <a:solidFill>
                      <a:srgbClr val="FFFFFF"/>
                    </a:solidFill>
                  </a:tcPr>
                </a:tc>
                <a:tc>
                  <a:txBody>
                    <a:bodyPr wrap="square"/>
                    <a:lstStyle/>
                    <a:p>
                      <a:r>
                        <a:rPr sz="1050">
                          <a:solidFill>
                            <a:srgbClr val="1A1A1A"/>
                          </a:solidFill>
                        </a:rPr>
                        <a:t>WHERE email IS NULL</a:t>
                      </a:r>
                    </a:p>
                  </a:txBody>
                  <a:tcPr anchor="ctr" marL="73152" marR="54864" marT="27432" marB="27432">
                    <a:solidFill>
                      <a:srgbClr val="FFFFFF"/>
                    </a:solidFill>
                  </a:tcPr>
                </a:tc>
              </a:tr>
              <a:tr h="630936">
                <a:tc>
                  <a:txBody>
                    <a:bodyPr wrap="square"/>
                    <a:lstStyle/>
                    <a:p>
                      <a:r>
                        <a:rPr sz="1050" b="1">
                          <a:solidFill>
                            <a:srgbClr val="0C2B4A"/>
                          </a:solidFill>
                        </a:rPr>
                        <a:t>interns (no salary)</a:t>
                      </a:r>
                    </a:p>
                  </a:txBody>
                  <a:tcPr anchor="ctr" marL="73152" marR="54864" marT="27432" marB="27432">
                    <a:solidFill>
                      <a:srgbClr val="EEF3F8"/>
                    </a:solidFill>
                  </a:tcPr>
                </a:tc>
                <a:tc>
                  <a:txBody>
                    <a:bodyPr wrap="square"/>
                    <a:lstStyle/>
                    <a:p>
                      <a:r>
                        <a:rPr sz="1050">
                          <a:solidFill>
                            <a:srgbClr val="1A1A1A"/>
                          </a:solidFill>
                        </a:rPr>
                        <a:t>WHERE salary = NULL</a:t>
                      </a:r>
                    </a:p>
                  </a:txBody>
                  <a:tcPr anchor="ctr" marL="73152" marR="54864" marT="27432" marB="27432">
                    <a:solidFill>
                      <a:srgbClr val="EEF3F8"/>
                    </a:solidFill>
                  </a:tcPr>
                </a:tc>
                <a:tc>
                  <a:txBody>
                    <a:bodyPr wrap="square"/>
                    <a:lstStyle/>
                    <a:p>
                      <a:r>
                        <a:rPr sz="1050">
                          <a:solidFill>
                            <a:srgbClr val="1A1A1A"/>
                          </a:solidFill>
                        </a:rPr>
                        <a:t>WHERE salary IS NULL</a:t>
                      </a:r>
                    </a:p>
                  </a:txBody>
                  <a:tcPr anchor="ctr" marL="73152" marR="54864" marT="27432" marB="27432">
                    <a:solidFill>
                      <a:srgbClr val="EEF3F8"/>
                    </a:solidFill>
                  </a:tcPr>
                </a:tc>
              </a:tr>
              <a:tr h="630936">
                <a:tc>
                  <a:txBody>
                    <a:bodyPr wrap="square"/>
                    <a:lstStyle/>
                    <a:p>
                      <a:r>
                        <a:rPr sz="1050" b="1">
                          <a:solidFill>
                            <a:srgbClr val="0C2B4A"/>
                          </a:solidFill>
                        </a:rPr>
                        <a:t>treat NULL marks as 0</a:t>
                      </a:r>
                    </a:p>
                  </a:txBody>
                  <a:tcPr anchor="ctr" marL="73152" marR="54864" marT="27432" marB="27432">
                    <a:solidFill>
                      <a:srgbClr val="FFFFFF"/>
                    </a:solidFill>
                  </a:tcPr>
                </a:tc>
                <a:tc>
                  <a:txBody>
                    <a:bodyPr wrap="square"/>
                    <a:lstStyle/>
                    <a:p>
                      <a:r>
                        <a:rPr sz="1050">
                          <a:solidFill>
                            <a:srgbClr val="1A1A1A"/>
                          </a:solidFill>
                        </a:rPr>
                        <a:t>AVG(marks)</a:t>
                      </a:r>
                    </a:p>
                  </a:txBody>
                  <a:tcPr anchor="ctr" marL="73152" marR="54864" marT="27432" marB="27432">
                    <a:solidFill>
                      <a:srgbClr val="FFFFFF"/>
                    </a:solidFill>
                  </a:tcPr>
                </a:tc>
                <a:tc>
                  <a:txBody>
                    <a:bodyPr wrap="square"/>
                    <a:lstStyle/>
                    <a:p>
                      <a:r>
                        <a:rPr sz="1050">
                          <a:solidFill>
                            <a:srgbClr val="1A1A1A"/>
                          </a:solidFill>
                        </a:rPr>
                        <a:t>AVG(COALESCE(marks,0))</a:t>
                      </a:r>
                    </a:p>
                  </a:txBody>
                  <a:tcPr anchor="ctr" marL="73152" marR="54864" marT="27432" marB="27432">
                    <a:solidFill>
                      <a:srgbClr val="FFFFFF"/>
                    </a:solidFill>
                  </a:tcPr>
                </a:tc>
              </a:tr>
              <a:tr h="630936">
                <a:tc>
                  <a:txBody>
                    <a:bodyPr wrap="square"/>
                    <a:lstStyle/>
                    <a:p>
                      <a:r>
                        <a:rPr sz="1050" b="1">
                          <a:solidFill>
                            <a:srgbClr val="0C2B4A"/>
                          </a:solidFill>
                        </a:rPr>
                        <a:t>default a NULL grade text</a:t>
                      </a:r>
                    </a:p>
                  </a:txBody>
                  <a:tcPr anchor="ctr" marL="73152" marR="54864" marT="27432" marB="27432">
                    <a:solidFill>
                      <a:srgbClr val="EEF3F8"/>
                    </a:solidFill>
                  </a:tcPr>
                </a:tc>
                <a:tc>
                  <a:txBody>
                    <a:bodyPr wrap="square"/>
                    <a:lstStyle/>
                    <a:p>
                      <a:r>
                        <a:rPr sz="1050">
                          <a:solidFill>
                            <a:srgbClr val="1A1A1A"/>
                          </a:solidFill>
                        </a:rPr>
                        <a:t>grade</a:t>
                      </a:r>
                    </a:p>
                  </a:txBody>
                  <a:tcPr anchor="ctr" marL="73152" marR="54864" marT="27432" marB="27432">
                    <a:solidFill>
                      <a:srgbClr val="EEF3F8"/>
                    </a:solidFill>
                  </a:tcPr>
                </a:tc>
                <a:tc>
                  <a:txBody>
                    <a:bodyPr wrap="square"/>
                    <a:lstStyle/>
                    <a:p>
                      <a:r>
                        <a:rPr sz="1050">
                          <a:solidFill>
                            <a:srgbClr val="1A1A1A"/>
                          </a:solidFill>
                        </a:rPr>
                        <a:t>COALESCE(grade,'N/A')</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 NULL and &lt;&gt; NULL always yield UNKNOWN, so they match no rows. Use IS NULL / IS NOT NULL. COALESCE(x, fallback) substitutes a value when x is NULL.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219</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Three-Valued Logic</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report of 'students with no email on file' must use WHERE email IS NULL. A developer who writes WHERE email = NULL gets zero rows and wrongly concludes 'everyone has an email' — a silent, dangerous bug caused by three-valued logic.</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 NULL finds the blanks." It never does — = NULL is UNKNOWN for every row, so it returns nothing. Always use IS NULL / IS NOT NULL. Likewise NOT IN with a NULL in the list can return no rows (a subtle S28 trap).</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 SQL, any comparison involving NULL yields UNKNOWN, giving three-valued logic (TRUE/FALSE/UNKNOWN). WHERE keeps only TRUE rows, so = NULL (always UNKNOWN) returns nothing — you must use IS NULL / IS NOT NULL. Logical operators follow three-valued truth tables (e.g. TRUE AND UNKNOWN = UNKNOWN).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three-valued logic · TRUE/FALSE/UNKNOWN · IS NULL / IS NOT NULL · = NULL is always UNKNOWN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219</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NULL in Aggregates &amp; Arithmetic</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Arithmetic with NULL gives NULL (100 + NULL = NULL). Aggregates ignore NULLs — except COUNT(*). This can silently change results, so decide deliberately whether a NULL should be dropped or treated as a value.</a:t>
            </a:r>
          </a:p>
          <a:p>
            <a:pPr>
              <a:spcAft>
                <a:spcPts val="500"/>
              </a:spcAft>
            </a:pPr>
            <a:r>
              <a:rPr sz="1200" b="1">
                <a:solidFill>
                  <a:srgbClr val="185FA5"/>
                </a:solidFill>
              </a:rPr>
              <a:t>HOW IT WORKS</a:t>
            </a:r>
          </a:p>
          <a:p>
            <a:pPr>
              <a:spcAft>
                <a:spcPts val="600"/>
              </a:spcAft>
            </a:pPr>
            <a:r>
              <a:rPr sz="1400">
                <a:solidFill>
                  <a:srgbClr val="1A1A1A"/>
                </a:solidFill>
              </a:rPr>
              <a:t>•  SELECT 100 + NULL; returns NULL — one NULL poisons an arithmetic expression.</a:t>
            </a:r>
          </a:p>
          <a:p>
            <a:pPr>
              <a:spcAft>
                <a:spcPts val="600"/>
              </a:spcAft>
            </a:pPr>
            <a:r>
              <a:rPr sz="1400">
                <a:solidFill>
                  <a:srgbClr val="1A1A1A"/>
                </a:solidFill>
              </a:rPr>
              <a:t>•  AVG(marks) skips NULL marks entirely (they don't count in numerator or denominator).</a:t>
            </a:r>
          </a:p>
          <a:p>
            <a:pPr>
              <a:spcAft>
                <a:spcPts val="600"/>
              </a:spcAft>
            </a:pPr>
            <a:r>
              <a:rPr sz="1400">
                <a:solidFill>
                  <a:srgbClr val="1A1A1A"/>
                </a:solidFill>
              </a:rPr>
              <a:t>•  COUNT(*) counts NULL rows; COUNT(col) and SUM/AVG/MIN/MAX ignore them.</a:t>
            </a:r>
          </a:p>
          <a:p>
            <a:pPr>
              <a:spcAft>
                <a:spcPts val="600"/>
              </a:spcAft>
            </a:pPr>
            <a:r>
              <a:rPr sz="1400">
                <a:solidFill>
                  <a:srgbClr val="1A1A1A"/>
                </a:solidFill>
              </a:rPr>
              <a:t>•  Use COALESCE(marks,0) if an ungraded student SHOULD count as 0.</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One NULL in a sum poisons it to NULL; aggregates quietly skip NULLs instead.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219</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NULL behaves in maths and aggregates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435522"/>
                <a:gridCol w="3753134"/>
                <a:gridCol w="3241343"/>
              </a:tblGrid>
              <a:tr h="552069">
                <a:tc>
                  <a:txBody>
                    <a:bodyPr wrap="square"/>
                    <a:lstStyle/>
                    <a:p>
                      <a:r>
                        <a:rPr sz="1100" b="1">
                          <a:solidFill>
                            <a:srgbClr val="FFFFFF"/>
                          </a:solidFill>
                        </a:rPr>
                        <a:t>Expression / aggregate</a:t>
                      </a:r>
                    </a:p>
                  </a:txBody>
                  <a:tcPr anchor="ctr" marL="73152" marR="54864" marT="27432" marB="27432">
                    <a:solidFill>
                      <a:srgbClr val="0C2B4A"/>
                    </a:solidFill>
                  </a:tcPr>
                </a:tc>
                <a:tc>
                  <a:txBody>
                    <a:bodyPr wrap="square"/>
                    <a:lstStyle/>
                    <a:p>
                      <a:r>
                        <a:rPr sz="1100" b="1">
                          <a:solidFill>
                            <a:srgbClr val="FFFFFF"/>
                          </a:solidFill>
                        </a:rPr>
                        <a:t>Result with a NULL present</a:t>
                      </a:r>
                    </a:p>
                  </a:txBody>
                  <a:tcPr anchor="ctr" marL="73152" marR="54864" marT="27432" marB="27432">
                    <a:solidFill>
                      <a:srgbClr val="0C2B4A"/>
                    </a:solidFill>
                  </a:tcPr>
                </a:tc>
                <a:tc>
                  <a:txBody>
                    <a:bodyPr wrap="square"/>
                    <a:lstStyle/>
                    <a:p>
                      <a:r>
                        <a:rPr sz="1100" b="1">
                          <a:solidFill>
                            <a:srgbClr val="FFFFFF"/>
                          </a:solidFill>
                        </a:rPr>
                        <a:t>Note</a:t>
                      </a:r>
                    </a:p>
                  </a:txBody>
                  <a:tcPr anchor="ctr" marL="73152" marR="54864" marT="27432" marB="27432">
                    <a:solidFill>
                      <a:srgbClr val="0C2B4A"/>
                    </a:solidFill>
                  </a:tcPr>
                </a:tc>
              </a:tr>
              <a:tr h="552069">
                <a:tc>
                  <a:txBody>
                    <a:bodyPr wrap="square"/>
                    <a:lstStyle/>
                    <a:p>
                      <a:r>
                        <a:rPr sz="1050" b="1">
                          <a:solidFill>
                            <a:srgbClr val="0C2B4A"/>
                          </a:solidFill>
                        </a:rPr>
                        <a:t>100 + NULL</a:t>
                      </a:r>
                    </a:p>
                  </a:txBody>
                  <a:tcPr anchor="ctr" marL="73152" marR="54864" marT="27432" marB="27432">
                    <a:solidFill>
                      <a:srgbClr val="FFFFFF"/>
                    </a:solidFill>
                  </a:tcPr>
                </a:tc>
                <a:tc>
                  <a:txBody>
                    <a:bodyPr wrap="square"/>
                    <a:lstStyle/>
                    <a:p>
                      <a:r>
                        <a:rPr sz="1050">
                          <a:solidFill>
                            <a:srgbClr val="1A1A1A"/>
                          </a:solidFill>
                        </a:rPr>
                        <a:t>NULL</a:t>
                      </a:r>
                    </a:p>
                  </a:txBody>
                  <a:tcPr anchor="ctr" marL="73152" marR="54864" marT="27432" marB="27432">
                    <a:solidFill>
                      <a:srgbClr val="FFFFFF"/>
                    </a:solidFill>
                  </a:tcPr>
                </a:tc>
                <a:tc>
                  <a:txBody>
                    <a:bodyPr wrap="square"/>
                    <a:lstStyle/>
                    <a:p>
                      <a:r>
                        <a:rPr sz="1050">
                          <a:solidFill>
                            <a:srgbClr val="1A1A1A"/>
                          </a:solidFill>
                        </a:rPr>
                        <a:t>any arithmetic with NULL → NULL</a:t>
                      </a:r>
                    </a:p>
                  </a:txBody>
                  <a:tcPr anchor="ctr" marL="73152" marR="54864" marT="27432" marB="27432">
                    <a:solidFill>
                      <a:srgbClr val="FFFFFF"/>
                    </a:solidFill>
                  </a:tcPr>
                </a:tc>
              </a:tr>
              <a:tr h="552069">
                <a:tc>
                  <a:txBody>
                    <a:bodyPr wrap="square"/>
                    <a:lstStyle/>
                    <a:p>
                      <a:r>
                        <a:rPr sz="1050" b="1">
                          <a:solidFill>
                            <a:srgbClr val="0C2B4A"/>
                          </a:solidFill>
                        </a:rPr>
                        <a:t>marks * 1.0 (marks NULL)</a:t>
                      </a:r>
                    </a:p>
                  </a:txBody>
                  <a:tcPr anchor="ctr" marL="73152" marR="54864" marT="27432" marB="27432">
                    <a:solidFill>
                      <a:srgbClr val="EEF3F8"/>
                    </a:solidFill>
                  </a:tcPr>
                </a:tc>
                <a:tc>
                  <a:txBody>
                    <a:bodyPr wrap="square"/>
                    <a:lstStyle/>
                    <a:p>
                      <a:r>
                        <a:rPr sz="1050">
                          <a:solidFill>
                            <a:srgbClr val="1A1A1A"/>
                          </a:solidFill>
                        </a:rPr>
                        <a:t>NULL</a:t>
                      </a:r>
                    </a:p>
                  </a:txBody>
                  <a:tcPr anchor="ctr" marL="73152" marR="54864" marT="27432" marB="27432">
                    <a:solidFill>
                      <a:srgbClr val="EEF3F8"/>
                    </a:solidFill>
                  </a:tcPr>
                </a:tc>
                <a:tc>
                  <a:txBody>
                    <a:bodyPr wrap="square"/>
                    <a:lstStyle/>
                    <a:p>
                      <a:r>
                        <a:rPr sz="1050">
                          <a:solidFill>
                            <a:srgbClr val="1A1A1A"/>
                          </a:solidFill>
                        </a:rPr>
                        <a:t>the whole expression is NULL</a:t>
                      </a:r>
                    </a:p>
                  </a:txBody>
                  <a:tcPr anchor="ctr" marL="73152" marR="54864" marT="27432" marB="27432">
                    <a:solidFill>
                      <a:srgbClr val="EEF3F8"/>
                    </a:solidFill>
                  </a:tcPr>
                </a:tc>
              </a:tr>
              <a:tr h="552069">
                <a:tc>
                  <a:txBody>
                    <a:bodyPr wrap="square"/>
                    <a:lstStyle/>
                    <a:p>
                      <a:r>
                        <a:rPr sz="1050" b="1">
                          <a:solidFill>
                            <a:srgbClr val="0C2B4A"/>
                          </a:solidFill>
                        </a:rPr>
                        <a:t>AVG(marks) over {88, NULL, 90}</a:t>
                      </a:r>
                    </a:p>
                  </a:txBody>
                  <a:tcPr anchor="ctr" marL="73152" marR="54864" marT="27432" marB="27432">
                    <a:solidFill>
                      <a:srgbClr val="FFFFFF"/>
                    </a:solidFill>
                  </a:tcPr>
                </a:tc>
                <a:tc>
                  <a:txBody>
                    <a:bodyPr wrap="square"/>
                    <a:lstStyle/>
                    <a:p>
                      <a:r>
                        <a:rPr sz="1050">
                          <a:solidFill>
                            <a:srgbClr val="1A1A1A"/>
                          </a:solidFill>
                        </a:rPr>
                        <a:t>89 (avg of 88 &amp; 90)</a:t>
                      </a:r>
                    </a:p>
                  </a:txBody>
                  <a:tcPr anchor="ctr" marL="73152" marR="54864" marT="27432" marB="27432">
                    <a:solidFill>
                      <a:srgbClr val="FFFFFF"/>
                    </a:solidFill>
                  </a:tcPr>
                </a:tc>
                <a:tc>
                  <a:txBody>
                    <a:bodyPr wrap="square"/>
                    <a:lstStyle/>
                    <a:p>
                      <a:r>
                        <a:rPr sz="1050">
                          <a:solidFill>
                            <a:srgbClr val="1A1A1A"/>
                          </a:solidFill>
                        </a:rPr>
                        <a:t>NULL row dropped entirely</a:t>
                      </a:r>
                    </a:p>
                  </a:txBody>
                  <a:tcPr anchor="ctr" marL="73152" marR="54864" marT="27432" marB="27432">
                    <a:solidFill>
                      <a:srgbClr val="FFFFFF"/>
                    </a:solidFill>
                  </a:tcPr>
                </a:tc>
              </a:tr>
              <a:tr h="552069">
                <a:tc>
                  <a:txBody>
                    <a:bodyPr wrap="square"/>
                    <a:lstStyle/>
                    <a:p>
                      <a:r>
                        <a:rPr sz="1050" b="1">
                          <a:solidFill>
                            <a:srgbClr val="0C2B4A"/>
                          </a:solidFill>
                        </a:rPr>
                        <a:t>COUNT(*) over 3 rows (1 NULL)</a:t>
                      </a:r>
                    </a:p>
                  </a:txBody>
                  <a:tcPr anchor="ctr" marL="73152" marR="54864" marT="27432" marB="27432">
                    <a:solidFill>
                      <a:srgbClr val="EEF3F8"/>
                    </a:solidFill>
                  </a:tcPr>
                </a:tc>
                <a:tc>
                  <a:txBody>
                    <a:bodyPr wrap="square"/>
                    <a:lstStyle/>
                    <a:p>
                      <a:r>
                        <a:rPr sz="1050">
                          <a:solidFill>
                            <a:srgbClr val="1A1A1A"/>
                          </a:solidFill>
                        </a:rPr>
                        <a:t>3</a:t>
                      </a:r>
                    </a:p>
                  </a:txBody>
                  <a:tcPr anchor="ctr" marL="73152" marR="54864" marT="27432" marB="27432">
                    <a:solidFill>
                      <a:srgbClr val="EEF3F8"/>
                    </a:solidFill>
                  </a:tcPr>
                </a:tc>
                <a:tc>
                  <a:txBody>
                    <a:bodyPr wrap="square"/>
                    <a:lstStyle/>
                    <a:p>
                      <a:r>
                        <a:rPr sz="1050">
                          <a:solidFill>
                            <a:srgbClr val="1A1A1A"/>
                          </a:solidFill>
                        </a:rPr>
                        <a:t>counts the NULL row</a:t>
                      </a:r>
                    </a:p>
                  </a:txBody>
                  <a:tcPr anchor="ctr" marL="73152" marR="54864" marT="27432" marB="27432">
                    <a:solidFill>
                      <a:srgbClr val="EEF3F8"/>
                    </a:solidFill>
                  </a:tcPr>
                </a:tc>
              </a:tr>
              <a:tr h="552069">
                <a:tc>
                  <a:txBody>
                    <a:bodyPr wrap="square"/>
                    <a:lstStyle/>
                    <a:p>
                      <a:r>
                        <a:rPr sz="1050" b="1">
                          <a:solidFill>
                            <a:srgbClr val="0C2B4A"/>
                          </a:solidFill>
                        </a:rPr>
                        <a:t>COUNT(marks) over 3 rows (1 NULL)</a:t>
                      </a:r>
                    </a:p>
                  </a:txBody>
                  <a:tcPr anchor="ctr" marL="73152" marR="54864" marT="27432" marB="27432">
                    <a:solidFill>
                      <a:srgbClr val="FFFFFF"/>
                    </a:solidFill>
                  </a:tcPr>
                </a:tc>
                <a:tc>
                  <a:txBody>
                    <a:bodyPr wrap="square"/>
                    <a:lstStyle/>
                    <a:p>
                      <a:r>
                        <a:rPr sz="1050">
                          <a:solidFill>
                            <a:srgbClr val="1A1A1A"/>
                          </a:solidFill>
                        </a:rPr>
                        <a:t>2</a:t>
                      </a:r>
                    </a:p>
                  </a:txBody>
                  <a:tcPr anchor="ctr" marL="73152" marR="54864" marT="27432" marB="27432">
                    <a:solidFill>
                      <a:srgbClr val="FFFFFF"/>
                    </a:solidFill>
                  </a:tcPr>
                </a:tc>
                <a:tc>
                  <a:txBody>
                    <a:bodyPr wrap="square"/>
                    <a:lstStyle/>
                    <a:p>
                      <a:r>
                        <a:rPr sz="1050">
                          <a:solidFill>
                            <a:srgbClr val="1A1A1A"/>
                          </a:solidFill>
                        </a:rPr>
                        <a:t>skips the NULL</a:t>
                      </a:r>
                    </a:p>
                  </a:txBody>
                  <a:tcPr anchor="ctr" marL="73152" marR="54864" marT="27432" marB="27432">
                    <a:solidFill>
                      <a:srgbClr val="FFFFFF"/>
                    </a:solidFill>
                  </a:tcPr>
                </a:tc>
              </a:tr>
              <a:tr h="552069">
                <a:tc>
                  <a:txBody>
                    <a:bodyPr wrap="square"/>
                    <a:lstStyle/>
                    <a:p>
                      <a:r>
                        <a:rPr sz="1050" b="1">
                          <a:solidFill>
                            <a:srgbClr val="0C2B4A"/>
                          </a:solidFill>
                        </a:rPr>
                        <a:t>SUM(marks) with a NULL</a:t>
                      </a:r>
                    </a:p>
                  </a:txBody>
                  <a:tcPr anchor="ctr" marL="73152" marR="54864" marT="27432" marB="27432">
                    <a:solidFill>
                      <a:srgbClr val="EEF3F8"/>
                    </a:solidFill>
                  </a:tcPr>
                </a:tc>
                <a:tc>
                  <a:txBody>
                    <a:bodyPr wrap="square"/>
                    <a:lstStyle/>
                    <a:p>
                      <a:r>
                        <a:rPr sz="1050">
                          <a:solidFill>
                            <a:srgbClr val="1A1A1A"/>
                          </a:solidFill>
                        </a:rPr>
                        <a:t>sum of non-NULLs</a:t>
                      </a:r>
                    </a:p>
                  </a:txBody>
                  <a:tcPr anchor="ctr" marL="73152" marR="54864" marT="27432" marB="27432">
                    <a:solidFill>
                      <a:srgbClr val="EEF3F8"/>
                    </a:solidFill>
                  </a:tcPr>
                </a:tc>
                <a:tc>
                  <a:txBody>
                    <a:bodyPr wrap="square"/>
                    <a:lstStyle/>
                    <a:p>
                      <a:r>
                        <a:rPr sz="1050">
                          <a:solidFill>
                            <a:srgbClr val="1A1A1A"/>
                          </a:solidFill>
                        </a:rPr>
                        <a:t>NULL contributes nothing</a:t>
                      </a:r>
                    </a:p>
                  </a:txBody>
                  <a:tcPr anchor="ctr" marL="73152" marR="54864" marT="27432" marB="27432">
                    <a:solidFill>
                      <a:srgbClr val="EEF3F8"/>
                    </a:solidFill>
                  </a:tcPr>
                </a:tc>
              </a:tr>
              <a:tr h="552069">
                <a:tc>
                  <a:txBody>
                    <a:bodyPr wrap="square"/>
                    <a:lstStyle/>
                    <a:p>
                      <a:r>
                        <a:rPr sz="1050" b="1">
                          <a:solidFill>
                            <a:srgbClr val="0C2B4A"/>
                          </a:solidFill>
                        </a:rPr>
                        <a:t>AVG(COALESCE(marks,0))</a:t>
                      </a:r>
                    </a:p>
                  </a:txBody>
                  <a:tcPr anchor="ctr" marL="73152" marR="54864" marT="27432" marB="27432">
                    <a:solidFill>
                      <a:srgbClr val="FFFFFF"/>
                    </a:solidFill>
                  </a:tcPr>
                </a:tc>
                <a:tc>
                  <a:txBody>
                    <a:bodyPr wrap="square"/>
                    <a:lstStyle/>
                    <a:p>
                      <a:r>
                        <a:rPr sz="1050">
                          <a:solidFill>
                            <a:srgbClr val="1A1A1A"/>
                          </a:solidFill>
                        </a:rPr>
                        <a:t>includes 0 for the NULL</a:t>
                      </a:r>
                    </a:p>
                  </a:txBody>
                  <a:tcPr anchor="ctr" marL="73152" marR="54864" marT="27432" marB="27432">
                    <a:solidFill>
                      <a:srgbClr val="FFFFFF"/>
                    </a:solidFill>
                  </a:tcPr>
                </a:tc>
                <a:tc>
                  <a:txBody>
                    <a:bodyPr wrap="square"/>
                    <a:lstStyle/>
                    <a:p>
                      <a:r>
                        <a:rPr sz="1050">
                          <a:solidFill>
                            <a:srgbClr val="1A1A1A"/>
                          </a:solidFill>
                        </a:rPr>
                        <a:t>makes NULL count as 0</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Aggregates silently drop NULLs, which can quietly change an average. Decide on purpose: exclude (default) or count-as-zero (COALESCE). COUNT(*) is the one aggregate that counts NULL rows.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219</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NULL in Aggregates &amp; Arithmetic</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Averaging class marks where some students aren't yet graded: AVG(marks) silently drops the ungraded ones, giving the average of those graded. If policy says ungraded = 0, you must write AVG(COALESCE(marks,0)) — otherwise the reported average is misleadingly high.</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"Aggregates include NULL rows as zero." No — SUM/AVG/MIN/MAX ignore NULLs entirely (they are not treated as 0). Only COUNT(*) counts NULL rows. If you want NULL to count as 0, wrap it in COALESCE.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Arithmetic with NULL yields NULL (100 + NULL = NULL). Aggregates ignore NULLs — SUM/AVG/MIN/MAX and COUNT(col) skip them, while COUNT(*) counts every row. This can silently alter results, so use COALESCE(x, fallback) when a NULL should be treated as a concrete value (e.g. 0).</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arithmetic with NULL → NULL · aggregates skip NULLs · COUNT(*) counts all · COALESCE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219</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S27 — Should ungraded count as 0?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a student is 'not yet graded' — should they count as 0 in the class average? Argue it.</a:t>
            </a:r>
          </a:p>
          <a:p>
            <a:pPr>
              <a:spcAft>
                <a:spcPts val="700"/>
              </a:spcAft>
            </a:pPr>
            <a:r>
              <a:rPr sz="1550">
                <a:solidFill>
                  <a:srgbClr val="1A1A1A"/>
                </a:solidFill>
              </a:rPr>
              <a:t>•  Write both queries: AVG(marks) vs AVG(COALESCE(marks,0)).</a:t>
            </a:r>
          </a:p>
          <a:p>
            <a:pPr>
              <a:spcAft>
                <a:spcPts val="700"/>
              </a:spcAft>
            </a:pPr>
            <a:r>
              <a:rPr sz="1550">
                <a:solidFill>
                  <a:srgbClr val="1A1A1A"/>
                </a:solidFill>
              </a:rPr>
              <a:t>•  Share aloud (3 min); discuss how NULL vs 0 changes the reported average.</a:t>
            </a:r>
          </a:p>
          <a:p>
            <a:pPr>
              <a:spcAft>
                <a:spcPts val="700"/>
              </a:spcAft>
            </a:pPr>
            <a:r>
              <a:rPr sz="1550">
                <a:solidFill>
                  <a:srgbClr val="1A1A1A"/>
                </a:solidFill>
              </a:rPr>
              <a:t>•  Close: the DB can't decide policy — you must choose to exclude or count-as-zero.</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Both are defensible: excluding (AVG(marks)) reflects only assessed work; counting-as-0 (COALESCE) penalises the ungraded. The lesson is that NULL forces an explicit policy choice.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219</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To find rows with a missing email, use:</a:t>
            </a:r>
          </a:p>
          <a:p>
            <a:pPr lvl="1"/>
            <a:r>
              <a:rPr sz="1500" b="1">
                <a:solidFill>
                  <a:srgbClr val="0F6E56"/>
                </a:solidFill>
              </a:rPr>
              <a:t>a) WHERE email = NULL   b) ✅ WHERE email IS NULL   c) WHERE email = ''   d) WHERE email = 0</a:t>
            </a:r>
          </a:p>
          <a:p>
            <a:pPr lvl="1">
              <a:spcBef>
                <a:spcPts val="600"/>
              </a:spcBef>
            </a:pPr>
            <a:r>
              <a:rPr sz="1500" i="1">
                <a:solidFill>
                  <a:srgbClr val="1A1A1A"/>
                </a:solidFill>
              </a:rPr>
              <a:t>     Why: = NULL is always UNKNOWN; IS NULL is the correct test.</a:t>
            </a:r>
          </a:p>
          <a:p>
            <a:pPr>
              <a:spcBef>
                <a:spcPts val="900"/>
              </a:spcBef>
            </a:pPr>
            <a:r>
              <a:rPr sz="1700" b="1">
                <a:solidFill>
                  <a:srgbClr val="0C2B4A"/>
                </a:solidFill>
              </a:rPr>
              <a:t>Q2.  SELECT 100 + NULL; returns:</a:t>
            </a:r>
          </a:p>
          <a:p>
            <a:pPr lvl="1"/>
            <a:r>
              <a:rPr sz="1500" b="1">
                <a:solidFill>
                  <a:srgbClr val="0F6E56"/>
                </a:solidFill>
              </a:rPr>
              <a:t>a) 100   b) 0   c) ✅ NULL   d) error</a:t>
            </a:r>
          </a:p>
          <a:p>
            <a:pPr lvl="1">
              <a:spcBef>
                <a:spcPts val="600"/>
              </a:spcBef>
            </a:pPr>
            <a:r>
              <a:rPr sz="1500" i="1">
                <a:solidFill>
                  <a:srgbClr val="1A1A1A"/>
                </a:solidFill>
              </a:rPr>
              <a:t>     Why: any arithmetic involving NULL yields NULL.</a:t>
            </a:r>
          </a:p>
          <a:p>
            <a:pPr>
              <a:spcBef>
                <a:spcPts val="900"/>
              </a:spcBef>
            </a:pPr>
            <a:r>
              <a:rPr sz="1700" b="1">
                <a:solidFill>
                  <a:srgbClr val="0C2B4A"/>
                </a:solidFill>
              </a:rPr>
              <a:t>Q3.  Which aggregate counts NULL rows?</a:t>
            </a:r>
          </a:p>
          <a:p>
            <a:pPr lvl="1"/>
            <a:r>
              <a:rPr sz="1500" b="1">
                <a:solidFill>
                  <a:srgbClr val="0F6E56"/>
                </a:solidFill>
              </a:rPr>
              <a:t>a) COUNT(col)   b) ✅ COUNT(*)   c) AVG   d) SUM</a:t>
            </a:r>
          </a:p>
          <a:p>
            <a:pPr lvl="1">
              <a:spcBef>
                <a:spcPts val="600"/>
              </a:spcBef>
            </a:pPr>
            <a:r>
              <a:rPr sz="1500" i="1">
                <a:solidFill>
                  <a:srgbClr val="1A1A1A"/>
                </a:solidFill>
              </a:rPr>
              <a:t>     Why: COUNT(*) counts every row; the others skip NULLs.</a:t>
            </a:r>
          </a:p>
          <a:p>
            <a:pPr lvl="1">
              <a:spcBef>
                <a:spcPts val="600"/>
              </a:spcBef>
            </a:pPr>
            <a:r>
              <a:rPr sz="1500" i="1">
                <a:solidFill>
                  <a:srgbClr val="1A1A1A"/>
                </a:solidFill>
              </a:rPr>
              <a:t>Discussion: give a real bug caused by treating NULL as 0 (e.g. wallet balance).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219</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NULL = unknown/missing/not-applicable — not 0 and not an empty string.</a:t>
            </a:r>
          </a:p>
          <a:p>
            <a:pPr>
              <a:spcAft>
                <a:spcPts val="800"/>
              </a:spcAft>
            </a:pPr>
            <a:r>
              <a:rPr sz="1500">
                <a:solidFill>
                  <a:srgbClr val="1A1A1A"/>
                </a:solidFill>
              </a:rPr>
              <a:t>2.  Comparisons with NULL are UNKNOWN; use IS NULL / IS NOT NULL, never = NULL.</a:t>
            </a:r>
          </a:p>
          <a:p>
            <a:pPr>
              <a:spcAft>
                <a:spcPts val="800"/>
              </a:spcAft>
            </a:pPr>
            <a:r>
              <a:rPr sz="1500">
                <a:solidFill>
                  <a:srgbClr val="1A1A1A"/>
                </a:solidFill>
              </a:rPr>
              <a:t>3.  Arithmetic with NULL → NULL; aggregates skip NULLs (except COUNT(*)); COALESCE substitutes a value.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Payment and identity systems live or die on the NULL-vs-0 distinction: 'balance = 0' (broke) vs 'balance = NULL' (no account) is a real production bug when confused. Correct NULL handling is a mark of a careful engineer.</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S28 — queries inside queries: nested subqueries with IN and SOME/ALL.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219</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28 · LECTURE HOUR 7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Nested Subqueries: IN · SOME/ALL</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Find students enrolled in ANY IT course — but you don't know the course IDs yet. Let one query feed another.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89 / 219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Subqueries &amp; Set Membership (IN / NOT IN)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subquery is a query nested inside another; the inner query runs and feeds its result to the outer. IN tests whether a value is in the inner result set; NOT IN tests the opposite.</a:t>
            </a:r>
          </a:p>
          <a:p>
            <a:pPr>
              <a:spcAft>
                <a:spcPts val="500"/>
              </a:spcAft>
            </a:pPr>
            <a:r>
              <a:rPr sz="1200" b="1">
                <a:solidFill>
                  <a:srgbClr val="185FA5"/>
                </a:solidFill>
              </a:rPr>
              <a:t>HOW IT WORKS</a:t>
            </a:r>
          </a:p>
          <a:p>
            <a:pPr>
              <a:spcAft>
                <a:spcPts val="600"/>
              </a:spcAft>
            </a:pPr>
            <a:r>
              <a:rPr sz="1400">
                <a:solidFill>
                  <a:srgbClr val="1A1A1A"/>
                </a:solidFill>
              </a:rPr>
              <a:t>•  SELECT name FROM Student WHERE roll IN (SELECT roll FROM Enrollment WHERE course_id='IT220');</a:t>
            </a:r>
          </a:p>
          <a:p>
            <a:pPr>
              <a:spcAft>
                <a:spcPts val="600"/>
              </a:spcAft>
            </a:pPr>
            <a:r>
              <a:rPr sz="1400">
                <a:solidFill>
                  <a:srgbClr val="1A1A1A"/>
                </a:solidFill>
              </a:rPr>
              <a:t>•  The inner query produces a set of rolls; the outer keeps students in that set.</a:t>
            </a:r>
          </a:p>
          <a:p>
            <a:pPr>
              <a:spcAft>
                <a:spcPts val="600"/>
              </a:spcAft>
            </a:pPr>
            <a:r>
              <a:rPr sz="1400">
                <a:solidFill>
                  <a:srgbClr val="1A1A1A"/>
                </a:solidFill>
              </a:rPr>
              <a:t>•  IN = membership; NOT IN = absence from the set.</a:t>
            </a:r>
          </a:p>
          <a:p>
            <a:pPr>
              <a:spcAft>
                <a:spcPts val="600"/>
              </a:spcAft>
            </a:pPr>
            <a:r>
              <a:rPr sz="1400">
                <a:solidFill>
                  <a:srgbClr val="1A1A1A"/>
                </a:solidFill>
              </a:rPr>
              <a:t>•  NOT IN breaks if the inner set contains a NULL (callback to S27) — it can return no rows.</a:t>
            </a:r>
          </a:p>
        </p:txBody>
      </p:sp>
      <p:pic>
        <p:nvPicPr>
          <p:cNvPr id="6" name="Picture 5" descr="s28_subquery.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Inner query runs first, its result feeds the outer WHERE.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219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 / NOT IN subqueries — question → query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516923"/>
                <a:gridCol w="7913076"/>
              </a:tblGrid>
              <a:tr h="630936">
                <a:tc>
                  <a:txBody>
                    <a:bodyPr wrap="square"/>
                    <a:lstStyle/>
                    <a:p>
                      <a:r>
                        <a:rPr sz="1050" b="1">
                          <a:solidFill>
                            <a:srgbClr val="FFFFFF"/>
                          </a:solidFill>
                        </a:rPr>
                        <a:t>Question</a:t>
                      </a:r>
                    </a:p>
                  </a:txBody>
                  <a:tcPr anchor="ctr" marL="73152" marR="54864" marT="27432" marB="27432">
                    <a:solidFill>
                      <a:srgbClr val="0C2B4A"/>
                    </a:solidFill>
                  </a:tcPr>
                </a:tc>
                <a:tc>
                  <a:txBody>
                    <a:bodyPr wrap="square"/>
                    <a:lstStyle/>
                    <a:p>
                      <a:r>
                        <a:rPr sz="1050" b="1">
                          <a:solidFill>
                            <a:srgbClr val="FFFFFF"/>
                          </a:solidFill>
                        </a:rPr>
                        <a:t>Query (MySQL)</a:t>
                      </a:r>
                    </a:p>
                  </a:txBody>
                  <a:tcPr anchor="ctr" marL="73152" marR="54864" marT="27432" marB="27432">
                    <a:solidFill>
                      <a:srgbClr val="0C2B4A"/>
                    </a:solidFill>
                  </a:tcPr>
                </a:tc>
              </a:tr>
              <a:tr h="630936">
                <a:tc>
                  <a:txBody>
                    <a:bodyPr wrap="square"/>
                    <a:lstStyle/>
                    <a:p>
                      <a:r>
                        <a:rPr sz="1000" b="1">
                          <a:solidFill>
                            <a:srgbClr val="0C2B4A"/>
                          </a:solidFill>
                        </a:rPr>
                        <a:t>students in IT220</a:t>
                      </a:r>
                    </a:p>
                  </a:txBody>
                  <a:tcPr anchor="ctr" marL="73152" marR="54864" marT="27432" marB="27432">
                    <a:solidFill>
                      <a:srgbClr val="FFFFFF"/>
                    </a:solidFill>
                  </a:tcPr>
                </a:tc>
                <a:tc>
                  <a:txBody>
                    <a:bodyPr wrap="square"/>
                    <a:lstStyle/>
                    <a:p>
                      <a:r>
                        <a:rPr sz="1000">
                          <a:solidFill>
                            <a:srgbClr val="1A1A1A"/>
                          </a:solidFill>
                        </a:rPr>
                        <a:t>WHERE roll IN (SELECT roll FROM Enrollment WHERE course_id='IT220')</a:t>
                      </a:r>
                    </a:p>
                  </a:txBody>
                  <a:tcPr anchor="ctr" marL="73152" marR="54864" marT="27432" marB="27432">
                    <a:solidFill>
                      <a:srgbClr val="FFFFFF"/>
                    </a:solidFill>
                  </a:tcPr>
                </a:tc>
              </a:tr>
              <a:tr h="630936">
                <a:tc>
                  <a:txBody>
                    <a:bodyPr wrap="square"/>
                    <a:lstStyle/>
                    <a:p>
                      <a:r>
                        <a:rPr sz="1000" b="1">
                          <a:solidFill>
                            <a:srgbClr val="0C2B4A"/>
                          </a:solidFill>
                        </a:rPr>
                        <a:t>students in NO course</a:t>
                      </a:r>
                    </a:p>
                  </a:txBody>
                  <a:tcPr anchor="ctr" marL="73152" marR="54864" marT="27432" marB="27432">
                    <a:solidFill>
                      <a:srgbClr val="EEF3F8"/>
                    </a:solidFill>
                  </a:tcPr>
                </a:tc>
                <a:tc>
                  <a:txBody>
                    <a:bodyPr wrap="square"/>
                    <a:lstStyle/>
                    <a:p>
                      <a:r>
                        <a:rPr sz="1000">
                          <a:solidFill>
                            <a:srgbClr val="1A1A1A"/>
                          </a:solidFill>
                        </a:rPr>
                        <a:t>WHERE roll NOT IN (SELECT roll FROM Enrollment)</a:t>
                      </a:r>
                    </a:p>
                  </a:txBody>
                  <a:tcPr anchor="ctr" marL="73152" marR="54864" marT="27432" marB="27432">
                    <a:solidFill>
                      <a:srgbClr val="EEF3F8"/>
                    </a:solidFill>
                  </a:tcPr>
                </a:tc>
              </a:tr>
              <a:tr h="630936">
                <a:tc>
                  <a:txBody>
                    <a:bodyPr wrap="square"/>
                    <a:lstStyle/>
                    <a:p>
                      <a:r>
                        <a:rPr sz="1000" b="1">
                          <a:solidFill>
                            <a:srgbClr val="0C2B4A"/>
                          </a:solidFill>
                        </a:rPr>
                        <a:t>courses someone teaches</a:t>
                      </a:r>
                    </a:p>
                  </a:txBody>
                  <a:tcPr anchor="ctr" marL="73152" marR="54864" marT="27432" marB="27432">
                    <a:solidFill>
                      <a:srgbClr val="FFFFFF"/>
                    </a:solidFill>
                  </a:tcPr>
                </a:tc>
                <a:tc>
                  <a:txBody>
                    <a:bodyPr wrap="square"/>
                    <a:lstStyle/>
                    <a:p>
                      <a:r>
                        <a:rPr sz="1000">
                          <a:solidFill>
                            <a:srgbClr val="1A1A1A"/>
                          </a:solidFill>
                        </a:rPr>
                        <a:t>WHERE course_id IN (SELECT course_id FROM Teaches)</a:t>
                      </a:r>
                    </a:p>
                  </a:txBody>
                  <a:tcPr anchor="ctr" marL="73152" marR="54864" marT="27432" marB="27432">
                    <a:solidFill>
                      <a:srgbClr val="FFFFFF"/>
                    </a:solidFill>
                  </a:tcPr>
                </a:tc>
              </a:tr>
              <a:tr h="630936">
                <a:tc>
                  <a:txBody>
                    <a:bodyPr wrap="square"/>
                    <a:lstStyle/>
                    <a:p>
                      <a:r>
                        <a:rPr sz="1000" b="1">
                          <a:solidFill>
                            <a:srgbClr val="0C2B4A"/>
                          </a:solidFill>
                        </a:rPr>
                        <a:t>courses nobody teaches</a:t>
                      </a:r>
                    </a:p>
                  </a:txBody>
                  <a:tcPr anchor="ctr" marL="73152" marR="54864" marT="27432" marB="27432">
                    <a:solidFill>
                      <a:srgbClr val="EEF3F8"/>
                    </a:solidFill>
                  </a:tcPr>
                </a:tc>
                <a:tc>
                  <a:txBody>
                    <a:bodyPr wrap="square"/>
                    <a:lstStyle/>
                    <a:p>
                      <a:r>
                        <a:rPr sz="1000">
                          <a:solidFill>
                            <a:srgbClr val="1A1A1A"/>
                          </a:solidFill>
                        </a:rPr>
                        <a:t>WHERE course_id NOT IN (SELECT course_id FROM Teaches)</a:t>
                      </a:r>
                    </a:p>
                  </a:txBody>
                  <a:tcPr anchor="ctr" marL="73152" marR="54864" marT="27432" marB="27432">
                    <a:solidFill>
                      <a:srgbClr val="EEF3F8"/>
                    </a:solidFill>
                  </a:tcPr>
                </a:tc>
              </a:tr>
              <a:tr h="630936">
                <a:tc>
                  <a:txBody>
                    <a:bodyPr wrap="square"/>
                    <a:lstStyle/>
                    <a:p>
                      <a:r>
                        <a:rPr sz="1000" b="1">
                          <a:solidFill>
                            <a:srgbClr val="0C2B4A"/>
                          </a:solidFill>
                        </a:rPr>
                        <a:t>Khalti users also on eSewa</a:t>
                      </a:r>
                    </a:p>
                  </a:txBody>
                  <a:tcPr anchor="ctr" marL="73152" marR="54864" marT="27432" marB="27432">
                    <a:solidFill>
                      <a:srgbClr val="FFFFFF"/>
                    </a:solidFill>
                  </a:tcPr>
                </a:tc>
                <a:tc>
                  <a:txBody>
                    <a:bodyPr wrap="square"/>
                    <a:lstStyle/>
                    <a:p>
                      <a:r>
                        <a:rPr sz="1000">
                          <a:solidFill>
                            <a:srgbClr val="1A1A1A"/>
                          </a:solidFill>
                        </a:rPr>
                        <a:t>WHERE user_id IN (SELECT user_id FROM esewa_users)</a:t>
                      </a:r>
                    </a:p>
                  </a:txBody>
                  <a:tcPr anchor="ctr" marL="73152" marR="54864" marT="27432" marB="27432">
                    <a:solidFill>
                      <a:srgbClr val="FFFFFF"/>
                    </a:solidFill>
                  </a:tcPr>
                </a:tc>
              </a:tr>
              <a:tr h="630936">
                <a:tc>
                  <a:txBody>
                    <a:bodyPr wrap="square"/>
                    <a:lstStyle/>
                    <a:p>
                      <a:r>
                        <a:rPr sz="1000" b="1">
                          <a:solidFill>
                            <a:srgbClr val="0C2B4A"/>
                          </a:solidFill>
                        </a:rPr>
                        <a:t>students in an IT-dept course</a:t>
                      </a:r>
                    </a:p>
                  </a:txBody>
                  <a:tcPr anchor="ctr" marL="73152" marR="54864" marT="27432" marB="27432">
                    <a:solidFill>
                      <a:srgbClr val="EEF3F8"/>
                    </a:solidFill>
                  </a:tcPr>
                </a:tc>
                <a:tc>
                  <a:txBody>
                    <a:bodyPr wrap="square"/>
                    <a:lstStyle/>
                    <a:p>
                      <a:r>
                        <a:rPr sz="1000">
                          <a:solidFill>
                            <a:srgbClr val="1A1A1A"/>
                          </a:solidFill>
                        </a:rPr>
                        <a:t>WHERE roll IN (SELECT roll FROM Enrollment WHERE course_id IN (SELECT course_id FROM Course WHERE dept='IT'))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inner query runs first and yields a set; IN keeps outer rows whose value is in it. Beware NOT IN when the inner set may contain NULL — pair it with WHERE col IS NOT NULL or use NOT EXISTS (S29).</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219</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Subqueries &amp; Set Membership (IN / NOT IN)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Segmentation queries at a fintech are IN subqueries: 'users who did X and also Y' = WHERE user_id IN (SELECT user_id FROM did_Y). Fraud and marketing teams constantly ask 'who is in this other set too?' — exactly what IN answers.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"NOT IN works fine with NULLs." It does NOT — if the inner subquery returns even one NULL, NOT IN can evaluate to UNKNOWN for every row and return nothing. Filter NULLs out of the inner set, or use NOT EXISTS (S29) instead.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subquery is a query nested inside another; the inner runs first and feeds the outer. IN tests set membership (value is in the inner result), NOT IN tests absence. NOT IN is unsafe when the inner set contains NULL — it can return no rows — so filter NULLs or prefer NOT EXISTS.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subquery · IN (membership) · NOT IN · inner feeds outer · NOT IN + NULL trap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219</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Set Comparison: SOME / ANY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SOME (a synonym for ANY) compares a value to a set and is TRUE if the comparison holds for AT LEAST ONE element. &gt; SOME means 'greater than at least one'.</a:t>
            </a:r>
          </a:p>
          <a:p>
            <a:pPr>
              <a:spcAft>
                <a:spcPts val="500"/>
              </a:spcAft>
            </a:pPr>
            <a:r>
              <a:rPr sz="1200" b="1">
                <a:solidFill>
                  <a:srgbClr val="185FA5"/>
                </a:solidFill>
              </a:rPr>
              <a:t>HOW IT WORKS</a:t>
            </a:r>
          </a:p>
          <a:p>
            <a:pPr>
              <a:spcAft>
                <a:spcPts val="600"/>
              </a:spcAft>
            </a:pPr>
            <a:r>
              <a:rPr sz="1400">
                <a:solidFill>
                  <a:srgbClr val="1A1A1A"/>
                </a:solidFill>
              </a:rPr>
              <a:t>•  SELECT name FROM Instructor WHERE salary &gt; SOME (SELECT salary FROM Instructor WHERE dept='IT');</a:t>
            </a:r>
          </a:p>
          <a:p>
            <a:pPr>
              <a:spcAft>
                <a:spcPts val="600"/>
              </a:spcAft>
            </a:pPr>
            <a:r>
              <a:rPr sz="1400">
                <a:solidFill>
                  <a:srgbClr val="1A1A1A"/>
                </a:solidFill>
              </a:rPr>
              <a:t>•  &gt; SOME (set) = greater than the MINIMUM of the set.</a:t>
            </a:r>
          </a:p>
          <a:p>
            <a:pPr>
              <a:spcAft>
                <a:spcPts val="600"/>
              </a:spcAft>
            </a:pPr>
            <a:r>
              <a:rPr sz="1400">
                <a:solidFill>
                  <a:srgbClr val="1A1A1A"/>
                </a:solidFill>
              </a:rPr>
              <a:t>•  = SOME is equivalent to IN (matches at least one).</a:t>
            </a:r>
          </a:p>
          <a:p>
            <a:pPr>
              <a:spcAft>
                <a:spcPts val="600"/>
              </a:spcAft>
            </a:pPr>
            <a:r>
              <a:rPr sz="1400">
                <a:solidFill>
                  <a:srgbClr val="1A1A1A"/>
                </a:solidFill>
              </a:rPr>
              <a:t>•  SOME and ANY are interchangeable keywords in SQL/MySQL.</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&gt; SOME = 'taller than at least one classmate' — beat just one and you qualify.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219</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SOME / ANY — operator → meaning → equivalent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516923"/>
                <a:gridCol w="5099538"/>
                <a:gridCol w="2813538"/>
              </a:tblGrid>
              <a:tr h="630936">
                <a:tc>
                  <a:txBody>
                    <a:bodyPr wrap="square"/>
                    <a:lstStyle/>
                    <a:p>
                      <a:r>
                        <a:rPr sz="1100" b="1">
                          <a:solidFill>
                            <a:srgbClr val="FFFFFF"/>
                          </a:solidFill>
                        </a:rPr>
                        <a:t>Expression</a:t>
                      </a:r>
                    </a:p>
                  </a:txBody>
                  <a:tcPr anchor="ctr" marL="73152" marR="54864" marT="27432" marB="27432">
                    <a:solidFill>
                      <a:srgbClr val="0C2B4A"/>
                    </a:solidFill>
                  </a:tcPr>
                </a:tc>
                <a:tc>
                  <a:txBody>
                    <a:bodyPr wrap="square"/>
                    <a:lstStyle/>
                    <a:p>
                      <a:r>
                        <a:rPr sz="1100" b="1">
                          <a:solidFill>
                            <a:srgbClr val="FFFFFF"/>
                          </a:solidFill>
                        </a:rPr>
                        <a:t>TRUE when the value is…</a:t>
                      </a:r>
                    </a:p>
                  </a:txBody>
                  <a:tcPr anchor="ctr" marL="73152" marR="54864" marT="27432" marB="27432">
                    <a:solidFill>
                      <a:srgbClr val="0C2B4A"/>
                    </a:solidFill>
                  </a:tcPr>
                </a:tc>
                <a:tc>
                  <a:txBody>
                    <a:bodyPr wrap="square"/>
                    <a:lstStyle/>
                    <a:p>
                      <a:r>
                        <a:rPr sz="1100" b="1">
                          <a:solidFill>
                            <a:srgbClr val="FFFFFF"/>
                          </a:solidFill>
                        </a:rPr>
                        <a:t>Equivalent to</a:t>
                      </a:r>
                    </a:p>
                  </a:txBody>
                  <a:tcPr anchor="ctr" marL="73152" marR="54864" marT="27432" marB="27432">
                    <a:solidFill>
                      <a:srgbClr val="0C2B4A"/>
                    </a:solidFill>
                  </a:tcPr>
                </a:tc>
              </a:tr>
              <a:tr h="630936">
                <a:tc>
                  <a:txBody>
                    <a:bodyPr wrap="square"/>
                    <a:lstStyle/>
                    <a:p>
                      <a:r>
                        <a:rPr sz="1050" b="1">
                          <a:solidFill>
                            <a:srgbClr val="0C2B4A"/>
                          </a:solidFill>
                        </a:rPr>
                        <a:t>&gt; SOME (set)</a:t>
                      </a:r>
                    </a:p>
                  </a:txBody>
                  <a:tcPr anchor="ctr" marL="73152" marR="54864" marT="27432" marB="27432">
                    <a:solidFill>
                      <a:srgbClr val="FFFFFF"/>
                    </a:solidFill>
                  </a:tcPr>
                </a:tc>
                <a:tc>
                  <a:txBody>
                    <a:bodyPr wrap="square"/>
                    <a:lstStyle/>
                    <a:p>
                      <a:r>
                        <a:rPr sz="1050">
                          <a:solidFill>
                            <a:srgbClr val="1A1A1A"/>
                          </a:solidFill>
                        </a:rPr>
                        <a:t>greater than at least one element</a:t>
                      </a:r>
                    </a:p>
                  </a:txBody>
                  <a:tcPr anchor="ctr" marL="73152" marR="54864" marT="27432" marB="27432">
                    <a:solidFill>
                      <a:srgbClr val="FFFFFF"/>
                    </a:solidFill>
                  </a:tcPr>
                </a:tc>
                <a:tc>
                  <a:txBody>
                    <a:bodyPr wrap="square"/>
                    <a:lstStyle/>
                    <a:p>
                      <a:r>
                        <a:rPr sz="1050">
                          <a:solidFill>
                            <a:srgbClr val="1A1A1A"/>
                          </a:solidFill>
                        </a:rPr>
                        <a:t>&gt; MIN(set)</a:t>
                      </a:r>
                    </a:p>
                  </a:txBody>
                  <a:tcPr anchor="ctr" marL="73152" marR="54864" marT="27432" marB="27432">
                    <a:solidFill>
                      <a:srgbClr val="FFFFFF"/>
                    </a:solidFill>
                  </a:tcPr>
                </a:tc>
              </a:tr>
              <a:tr h="630936">
                <a:tc>
                  <a:txBody>
                    <a:bodyPr wrap="square"/>
                    <a:lstStyle/>
                    <a:p>
                      <a:r>
                        <a:rPr sz="1050" b="1">
                          <a:solidFill>
                            <a:srgbClr val="0C2B4A"/>
                          </a:solidFill>
                        </a:rPr>
                        <a:t>&lt; SOME (set)</a:t>
                      </a:r>
                    </a:p>
                  </a:txBody>
                  <a:tcPr anchor="ctr" marL="73152" marR="54864" marT="27432" marB="27432">
                    <a:solidFill>
                      <a:srgbClr val="EEF3F8"/>
                    </a:solidFill>
                  </a:tcPr>
                </a:tc>
                <a:tc>
                  <a:txBody>
                    <a:bodyPr wrap="square"/>
                    <a:lstStyle/>
                    <a:p>
                      <a:r>
                        <a:rPr sz="1050">
                          <a:solidFill>
                            <a:srgbClr val="1A1A1A"/>
                          </a:solidFill>
                        </a:rPr>
                        <a:t>less than at least one element</a:t>
                      </a:r>
                    </a:p>
                  </a:txBody>
                  <a:tcPr anchor="ctr" marL="73152" marR="54864" marT="27432" marB="27432">
                    <a:solidFill>
                      <a:srgbClr val="EEF3F8"/>
                    </a:solidFill>
                  </a:tcPr>
                </a:tc>
                <a:tc>
                  <a:txBody>
                    <a:bodyPr wrap="square"/>
                    <a:lstStyle/>
                    <a:p>
                      <a:r>
                        <a:rPr sz="1050">
                          <a:solidFill>
                            <a:srgbClr val="1A1A1A"/>
                          </a:solidFill>
                        </a:rPr>
                        <a:t>&lt; MAX(set)</a:t>
                      </a:r>
                    </a:p>
                  </a:txBody>
                  <a:tcPr anchor="ctr" marL="73152" marR="54864" marT="27432" marB="27432">
                    <a:solidFill>
                      <a:srgbClr val="EEF3F8"/>
                    </a:solidFill>
                  </a:tcPr>
                </a:tc>
              </a:tr>
              <a:tr h="630936">
                <a:tc>
                  <a:txBody>
                    <a:bodyPr wrap="square"/>
                    <a:lstStyle/>
                    <a:p>
                      <a:r>
                        <a:rPr sz="1050" b="1">
                          <a:solidFill>
                            <a:srgbClr val="0C2B4A"/>
                          </a:solidFill>
                        </a:rPr>
                        <a:t>= SOME (set)</a:t>
                      </a:r>
                    </a:p>
                  </a:txBody>
                  <a:tcPr anchor="ctr" marL="73152" marR="54864" marT="27432" marB="27432">
                    <a:solidFill>
                      <a:srgbClr val="FFFFFF"/>
                    </a:solidFill>
                  </a:tcPr>
                </a:tc>
                <a:tc>
                  <a:txBody>
                    <a:bodyPr wrap="square"/>
                    <a:lstStyle/>
                    <a:p>
                      <a:r>
                        <a:rPr sz="1050">
                          <a:solidFill>
                            <a:srgbClr val="1A1A1A"/>
                          </a:solidFill>
                        </a:rPr>
                        <a:t>equal to at least one element</a:t>
                      </a:r>
                    </a:p>
                  </a:txBody>
                  <a:tcPr anchor="ctr" marL="73152" marR="54864" marT="27432" marB="27432">
                    <a:solidFill>
                      <a:srgbClr val="FFFFFF"/>
                    </a:solidFill>
                  </a:tcPr>
                </a:tc>
                <a:tc>
                  <a:txBody>
                    <a:bodyPr wrap="square"/>
                    <a:lstStyle/>
                    <a:p>
                      <a:r>
                        <a:rPr sz="1050">
                          <a:solidFill>
                            <a:srgbClr val="1A1A1A"/>
                          </a:solidFill>
                        </a:rPr>
                        <a:t>IN (set)</a:t>
                      </a:r>
                    </a:p>
                  </a:txBody>
                  <a:tcPr anchor="ctr" marL="73152" marR="54864" marT="27432" marB="27432">
                    <a:solidFill>
                      <a:srgbClr val="FFFFFF"/>
                    </a:solidFill>
                  </a:tcPr>
                </a:tc>
              </a:tr>
              <a:tr h="630936">
                <a:tc>
                  <a:txBody>
                    <a:bodyPr wrap="square"/>
                    <a:lstStyle/>
                    <a:p>
                      <a:r>
                        <a:rPr sz="1050" b="1">
                          <a:solidFill>
                            <a:srgbClr val="0C2B4A"/>
                          </a:solidFill>
                        </a:rPr>
                        <a:t>&lt;&gt; SOME (set)</a:t>
                      </a:r>
                    </a:p>
                  </a:txBody>
                  <a:tcPr anchor="ctr" marL="73152" marR="54864" marT="27432" marB="27432">
                    <a:solidFill>
                      <a:srgbClr val="EEF3F8"/>
                    </a:solidFill>
                  </a:tcPr>
                </a:tc>
                <a:tc>
                  <a:txBody>
                    <a:bodyPr wrap="square"/>
                    <a:lstStyle/>
                    <a:p>
                      <a:r>
                        <a:rPr sz="1050">
                          <a:solidFill>
                            <a:srgbClr val="1A1A1A"/>
                          </a:solidFill>
                        </a:rPr>
                        <a:t>different from at least one element</a:t>
                      </a:r>
                    </a:p>
                  </a:txBody>
                  <a:tcPr anchor="ctr" marL="73152" marR="54864" marT="27432" marB="27432">
                    <a:solidFill>
                      <a:srgbClr val="EEF3F8"/>
                    </a:solidFill>
                  </a:tcPr>
                </a:tc>
                <a:tc>
                  <a:txBody>
                    <a:bodyPr wrap="square"/>
                    <a:lstStyle/>
                    <a:p>
                      <a:r>
                        <a:rPr sz="1050">
                          <a:solidFill>
                            <a:srgbClr val="1A1A1A"/>
                          </a:solidFill>
                        </a:rPr>
                        <a:t>(nearly always true)</a:t>
                      </a:r>
                    </a:p>
                  </a:txBody>
                  <a:tcPr anchor="ctr" marL="73152" marR="54864" marT="27432" marB="27432">
                    <a:solidFill>
                      <a:srgbClr val="EEF3F8"/>
                    </a:solidFill>
                  </a:tcPr>
                </a:tc>
              </a:tr>
              <a:tr h="630936">
                <a:tc>
                  <a:txBody>
                    <a:bodyPr wrap="square"/>
                    <a:lstStyle/>
                    <a:p>
                      <a:r>
                        <a:rPr sz="1050" b="1">
                          <a:solidFill>
                            <a:srgbClr val="0C2B4A"/>
                          </a:solidFill>
                        </a:rPr>
                        <a:t>&gt;= SOME (set)</a:t>
                      </a:r>
                    </a:p>
                  </a:txBody>
                  <a:tcPr anchor="ctr" marL="73152" marR="54864" marT="27432" marB="27432">
                    <a:solidFill>
                      <a:srgbClr val="FFFFFF"/>
                    </a:solidFill>
                  </a:tcPr>
                </a:tc>
                <a:tc>
                  <a:txBody>
                    <a:bodyPr wrap="square"/>
                    <a:lstStyle/>
                    <a:p>
                      <a:r>
                        <a:rPr sz="1050">
                          <a:solidFill>
                            <a:srgbClr val="1A1A1A"/>
                          </a:solidFill>
                        </a:rPr>
                        <a:t>at least as big as one element</a:t>
                      </a:r>
                    </a:p>
                  </a:txBody>
                  <a:tcPr anchor="ctr" marL="73152" marR="54864" marT="27432" marB="27432">
                    <a:solidFill>
                      <a:srgbClr val="FFFFFF"/>
                    </a:solidFill>
                  </a:tcPr>
                </a:tc>
                <a:tc>
                  <a:txBody>
                    <a:bodyPr wrap="square"/>
                    <a:lstStyle/>
                    <a:p>
                      <a:r>
                        <a:rPr sz="1050">
                          <a:solidFill>
                            <a:srgbClr val="1A1A1A"/>
                          </a:solidFill>
                        </a:rPr>
                        <a:t>≥ MIN(set)</a:t>
                      </a:r>
                    </a:p>
                  </a:txBody>
                  <a:tcPr anchor="ctr" marL="73152" marR="54864" marT="27432" marB="27432">
                    <a:solidFill>
                      <a:srgbClr val="FFFFFF"/>
                    </a:solidFill>
                  </a:tcPr>
                </a:tc>
              </a:tr>
              <a:tr h="630936">
                <a:tc>
                  <a:txBody>
                    <a:bodyPr wrap="square"/>
                    <a:lstStyle/>
                    <a:p>
                      <a:r>
                        <a:rPr sz="1050" b="1">
                          <a:solidFill>
                            <a:srgbClr val="0C2B4A"/>
                          </a:solidFill>
                        </a:rPr>
                        <a:t>salary &gt; SOME (IT salaries)</a:t>
                      </a:r>
                    </a:p>
                  </a:txBody>
                  <a:tcPr anchor="ctr" marL="73152" marR="54864" marT="27432" marB="27432">
                    <a:solidFill>
                      <a:srgbClr val="EEF3F8"/>
                    </a:solidFill>
                  </a:tcPr>
                </a:tc>
                <a:tc>
                  <a:txBody>
                    <a:bodyPr wrap="square"/>
                    <a:lstStyle/>
                    <a:p>
                      <a:r>
                        <a:rPr sz="1050">
                          <a:solidFill>
                            <a:srgbClr val="1A1A1A"/>
                          </a:solidFill>
                        </a:rPr>
                        <a:t>paid more than some IT instructor</a:t>
                      </a:r>
                    </a:p>
                  </a:txBody>
                  <a:tcPr anchor="ctr" marL="73152" marR="54864" marT="27432" marB="27432">
                    <a:solidFill>
                      <a:srgbClr val="EEF3F8"/>
                    </a:solidFill>
                  </a:tcPr>
                </a:tc>
                <a:tc>
                  <a:txBody>
                    <a:bodyPr wrap="square"/>
                    <a:lstStyle/>
                    <a:p>
                      <a:r>
                        <a:rPr sz="1050">
                          <a:solidFill>
                            <a:srgbClr val="1A1A1A"/>
                          </a:solidFill>
                        </a:rPr>
                        <a:t>&gt; lowest IT salary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SOME/ANY = 'at least one'. The handy identities: = SOME is IN, &gt; SOME is &gt; MIN(set), &lt; SOME is &lt; MAX(set).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219</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Set Comparison: SOME / ANY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'Instructors who out-earn at least one IT instructor' is salary &gt; SOME (SELECT salary FROM Instructor WHERE dept='IT'). It is a low bar — beating the lowest-paid person in the set is enough — which is exactly what 'at least one' means.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"SOME and ALL mean the same." They are opposites in strength: SOME needs the comparison to hold for AT LEAST ONE element; ALL needs it for EVERY element. &gt; SOME is easy to satisfy; &gt; ALL is hard.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SOME (a.k.a. ANY) compares a value against a set and is TRUE if the comparison holds for at least one element: &gt; SOME means greater than the minimum, = SOME is equivalent to IN, &lt; SOME means less than the maximum. It contrasts with ALL, which requires the comparison to hold for every element.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SOME / ANY · at least one · &gt; SOME = &gt; MIN · = SOME = IN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95 / 219</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3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Set Comparison: ALL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ALL is TRUE only if the comparison holds for EVERY element of the set. &gt; ALL means 'greater than every value' — i.e. greater than the maximum.</a:t>
            </a:r>
          </a:p>
          <a:p>
            <a:pPr>
              <a:spcAft>
                <a:spcPts val="500"/>
              </a:spcAft>
            </a:pPr>
            <a:r>
              <a:rPr sz="1200" b="1">
                <a:solidFill>
                  <a:srgbClr val="185FA5"/>
                </a:solidFill>
              </a:rPr>
              <a:t>HOW IT WORKS</a:t>
            </a:r>
          </a:p>
          <a:p>
            <a:pPr>
              <a:spcAft>
                <a:spcPts val="600"/>
              </a:spcAft>
            </a:pPr>
            <a:r>
              <a:rPr sz="1400">
                <a:solidFill>
                  <a:srgbClr val="1A1A1A"/>
                </a:solidFill>
              </a:rPr>
              <a:t>•  SELECT name FROM Instructor WHERE salary &gt;= ALL (SELECT salary FROM Instructor);</a:t>
            </a:r>
          </a:p>
          <a:p>
            <a:pPr>
              <a:spcAft>
                <a:spcPts val="600"/>
              </a:spcAft>
            </a:pPr>
            <a:r>
              <a:rPr sz="1400">
                <a:solidFill>
                  <a:srgbClr val="1A1A1A"/>
                </a:solidFill>
              </a:rPr>
              <a:t>•  &gt; ALL (set) = greater than the MAXIMUM of the set (the top).</a:t>
            </a:r>
          </a:p>
          <a:p>
            <a:pPr>
              <a:spcAft>
                <a:spcPts val="600"/>
              </a:spcAft>
            </a:pPr>
            <a:r>
              <a:rPr sz="1400">
                <a:solidFill>
                  <a:srgbClr val="1A1A1A"/>
                </a:solidFill>
              </a:rPr>
              <a:t>•  &gt;= ALL over all salaries finds the highest-paid instructor.</a:t>
            </a:r>
          </a:p>
          <a:p>
            <a:pPr>
              <a:spcAft>
                <a:spcPts val="600"/>
              </a:spcAft>
            </a:pPr>
            <a:r>
              <a:rPr sz="1400">
                <a:solidFill>
                  <a:srgbClr val="1A1A1A"/>
                </a:solidFill>
              </a:rPr>
              <a:t>•  &lt;&gt; ALL is equivalent to NOT IN (different from every element).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&gt; ALL = 'tallest in the class' — you must beat EVERYONE.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219</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SOME vs ALL — the crucial contrast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3265714"/>
                <a:gridCol w="2449285"/>
                <a:gridCol w="2612571"/>
              </a:tblGrid>
              <a:tr h="630936">
                <a:tc>
                  <a:txBody>
                    <a:bodyPr wrap="square"/>
                    <a:lstStyle/>
                    <a:p>
                      <a:r>
                        <a:rPr sz="1100" b="1">
                          <a:solidFill>
                            <a:srgbClr val="FFFFFF"/>
                          </a:solidFill>
                        </a:rPr>
                        <a:t>Expression</a:t>
                      </a:r>
                    </a:p>
                  </a:txBody>
                  <a:tcPr anchor="ctr" marL="73152" marR="54864" marT="27432" marB="27432">
                    <a:solidFill>
                      <a:srgbClr val="0C2B4A"/>
                    </a:solidFill>
                  </a:tcPr>
                </a:tc>
                <a:tc>
                  <a:txBody>
                    <a:bodyPr wrap="square"/>
                    <a:lstStyle/>
                    <a:p>
                      <a:r>
                        <a:rPr sz="1100" b="1">
                          <a:solidFill>
                            <a:srgbClr val="FFFFFF"/>
                          </a:solidFill>
                        </a:rPr>
                        <a:t>TRUE when value is…</a:t>
                      </a:r>
                    </a:p>
                  </a:txBody>
                  <a:tcPr anchor="ctr" marL="73152" marR="54864" marT="27432" marB="27432">
                    <a:solidFill>
                      <a:srgbClr val="0C2B4A"/>
                    </a:solidFill>
                  </a:tcPr>
                </a:tc>
                <a:tc>
                  <a:txBody>
                    <a:bodyPr wrap="square"/>
                    <a:lstStyle/>
                    <a:p>
                      <a:r>
                        <a:rPr sz="1100" b="1">
                          <a:solidFill>
                            <a:srgbClr val="FFFFFF"/>
                          </a:solidFill>
                        </a:rPr>
                        <a:t>Equivalent</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r>
              <a:tr h="630936">
                <a:tc>
                  <a:txBody>
                    <a:bodyPr wrap="square"/>
                    <a:lstStyle/>
                    <a:p>
                      <a:r>
                        <a:rPr sz="1050" b="1">
                          <a:solidFill>
                            <a:srgbClr val="0C2B4A"/>
                          </a:solidFill>
                        </a:rPr>
                        <a:t>&gt; SOME (set)</a:t>
                      </a:r>
                    </a:p>
                  </a:txBody>
                  <a:tcPr anchor="ctr" marL="73152" marR="54864" marT="27432" marB="27432">
                    <a:solidFill>
                      <a:srgbClr val="FFFFFF"/>
                    </a:solidFill>
                  </a:tcPr>
                </a:tc>
                <a:tc>
                  <a:txBody>
                    <a:bodyPr wrap="square"/>
                    <a:lstStyle/>
                    <a:p>
                      <a:r>
                        <a:rPr sz="1050">
                          <a:solidFill>
                            <a:srgbClr val="1A1A1A"/>
                          </a:solidFill>
                        </a:rPr>
                        <a:t>&gt; at least one element</a:t>
                      </a:r>
                    </a:p>
                  </a:txBody>
                  <a:tcPr anchor="ctr" marL="73152" marR="54864" marT="27432" marB="27432">
                    <a:solidFill>
                      <a:srgbClr val="FFFFFF"/>
                    </a:solidFill>
                  </a:tcPr>
                </a:tc>
                <a:tc>
                  <a:txBody>
                    <a:bodyPr wrap="square"/>
                    <a:lstStyle/>
                    <a:p>
                      <a:r>
                        <a:rPr sz="1050">
                          <a:solidFill>
                            <a:srgbClr val="1A1A1A"/>
                          </a:solidFill>
                        </a:rPr>
                        <a:t>&gt; MIN(set)</a:t>
                      </a:r>
                    </a:p>
                  </a:txBody>
                  <a:tcPr anchor="ctr" marL="73152" marR="54864" marT="27432" marB="27432">
                    <a:solidFill>
                      <a:srgbClr val="FFFFFF"/>
                    </a:solidFill>
                  </a:tcPr>
                </a:tc>
                <a:tc>
                  <a:txBody>
                    <a:bodyPr wrap="square"/>
                    <a:lstStyle/>
                    <a:p>
                      <a:r>
                        <a:rPr sz="1050">
                          <a:solidFill>
                            <a:srgbClr val="1A1A1A"/>
                          </a:solidFill>
                        </a:rPr>
                        <a:t>beats the weakest</a:t>
                      </a:r>
                    </a:p>
                  </a:txBody>
                  <a:tcPr anchor="ctr" marL="73152" marR="54864" marT="27432" marB="27432">
                    <a:solidFill>
                      <a:srgbClr val="FFFFFF"/>
                    </a:solidFill>
                  </a:tcPr>
                </a:tc>
              </a:tr>
              <a:tr h="630936">
                <a:tc>
                  <a:txBody>
                    <a:bodyPr wrap="square"/>
                    <a:lstStyle/>
                    <a:p>
                      <a:r>
                        <a:rPr sz="1050" b="1">
                          <a:solidFill>
                            <a:srgbClr val="0C2B4A"/>
                          </a:solidFill>
                        </a:rPr>
                        <a:t>&gt; ALL (set)</a:t>
                      </a:r>
                    </a:p>
                  </a:txBody>
                  <a:tcPr anchor="ctr" marL="73152" marR="54864" marT="27432" marB="27432">
                    <a:solidFill>
                      <a:srgbClr val="EEF3F8"/>
                    </a:solidFill>
                  </a:tcPr>
                </a:tc>
                <a:tc>
                  <a:txBody>
                    <a:bodyPr wrap="square"/>
                    <a:lstStyle/>
                    <a:p>
                      <a:r>
                        <a:rPr sz="1050">
                          <a:solidFill>
                            <a:srgbClr val="1A1A1A"/>
                          </a:solidFill>
                        </a:rPr>
                        <a:t>&gt; every element</a:t>
                      </a:r>
                    </a:p>
                  </a:txBody>
                  <a:tcPr anchor="ctr" marL="73152" marR="54864" marT="27432" marB="27432">
                    <a:solidFill>
                      <a:srgbClr val="EEF3F8"/>
                    </a:solidFill>
                  </a:tcPr>
                </a:tc>
                <a:tc>
                  <a:txBody>
                    <a:bodyPr wrap="square"/>
                    <a:lstStyle/>
                    <a:p>
                      <a:r>
                        <a:rPr sz="1050">
                          <a:solidFill>
                            <a:srgbClr val="1A1A1A"/>
                          </a:solidFill>
                        </a:rPr>
                        <a:t>&gt; MAX(set)</a:t>
                      </a:r>
                    </a:p>
                  </a:txBody>
                  <a:tcPr anchor="ctr" marL="73152" marR="54864" marT="27432" marB="27432">
                    <a:solidFill>
                      <a:srgbClr val="EEF3F8"/>
                    </a:solidFill>
                  </a:tcPr>
                </a:tc>
                <a:tc>
                  <a:txBody>
                    <a:bodyPr wrap="square"/>
                    <a:lstStyle/>
                    <a:p>
                      <a:r>
                        <a:rPr sz="1050">
                          <a:solidFill>
                            <a:srgbClr val="1A1A1A"/>
                          </a:solidFill>
                        </a:rPr>
                        <a:t>beats everyone</a:t>
                      </a:r>
                    </a:p>
                  </a:txBody>
                  <a:tcPr anchor="ctr" marL="73152" marR="54864" marT="27432" marB="27432">
                    <a:solidFill>
                      <a:srgbClr val="EEF3F8"/>
                    </a:solidFill>
                  </a:tcPr>
                </a:tc>
              </a:tr>
              <a:tr h="630936">
                <a:tc>
                  <a:txBody>
                    <a:bodyPr wrap="square"/>
                    <a:lstStyle/>
                    <a:p>
                      <a:r>
                        <a:rPr sz="1050" b="1">
                          <a:solidFill>
                            <a:srgbClr val="0C2B4A"/>
                          </a:solidFill>
                        </a:rPr>
                        <a:t>= SOME (set)</a:t>
                      </a:r>
                    </a:p>
                  </a:txBody>
                  <a:tcPr anchor="ctr" marL="73152" marR="54864" marT="27432" marB="27432">
                    <a:solidFill>
                      <a:srgbClr val="FFFFFF"/>
                    </a:solidFill>
                  </a:tcPr>
                </a:tc>
                <a:tc>
                  <a:txBody>
                    <a:bodyPr wrap="square"/>
                    <a:lstStyle/>
                    <a:p>
                      <a:r>
                        <a:rPr sz="1050">
                          <a:solidFill>
                            <a:srgbClr val="1A1A1A"/>
                          </a:solidFill>
                        </a:rPr>
                        <a:t>= at least one</a:t>
                      </a:r>
                    </a:p>
                  </a:txBody>
                  <a:tcPr anchor="ctr" marL="73152" marR="54864" marT="27432" marB="27432">
                    <a:solidFill>
                      <a:srgbClr val="FFFFFF"/>
                    </a:solidFill>
                  </a:tcPr>
                </a:tc>
                <a:tc>
                  <a:txBody>
                    <a:bodyPr wrap="square"/>
                    <a:lstStyle/>
                    <a:p>
                      <a:r>
                        <a:rPr sz="1050">
                          <a:solidFill>
                            <a:srgbClr val="1A1A1A"/>
                          </a:solidFill>
                        </a:rPr>
                        <a:t>IN (set)</a:t>
                      </a:r>
                    </a:p>
                  </a:txBody>
                  <a:tcPr anchor="ctr" marL="73152" marR="54864" marT="27432" marB="27432">
                    <a:solidFill>
                      <a:srgbClr val="FFFFFF"/>
                    </a:solidFill>
                  </a:tcPr>
                </a:tc>
                <a:tc>
                  <a:txBody>
                    <a:bodyPr wrap="square"/>
                    <a:lstStyle/>
                    <a:p>
                      <a:r>
                        <a:rPr sz="1050">
                          <a:solidFill>
                            <a:srgbClr val="1A1A1A"/>
                          </a:solidFill>
                        </a:rPr>
                        <a:t>matches someone</a:t>
                      </a:r>
                    </a:p>
                  </a:txBody>
                  <a:tcPr anchor="ctr" marL="73152" marR="54864" marT="27432" marB="27432">
                    <a:solidFill>
                      <a:srgbClr val="FFFFFF"/>
                    </a:solidFill>
                  </a:tcPr>
                </a:tc>
              </a:tr>
              <a:tr h="630936">
                <a:tc>
                  <a:txBody>
                    <a:bodyPr wrap="square"/>
                    <a:lstStyle/>
                    <a:p>
                      <a:r>
                        <a:rPr sz="1050" b="1">
                          <a:solidFill>
                            <a:srgbClr val="0C2B4A"/>
                          </a:solidFill>
                        </a:rPr>
                        <a:t>&lt;&gt; ALL (set)</a:t>
                      </a:r>
                    </a:p>
                  </a:txBody>
                  <a:tcPr anchor="ctr" marL="73152" marR="54864" marT="27432" marB="27432">
                    <a:solidFill>
                      <a:srgbClr val="EEF3F8"/>
                    </a:solidFill>
                  </a:tcPr>
                </a:tc>
                <a:tc>
                  <a:txBody>
                    <a:bodyPr wrap="square"/>
                    <a:lstStyle/>
                    <a:p>
                      <a:r>
                        <a:rPr sz="1050">
                          <a:solidFill>
                            <a:srgbClr val="1A1A1A"/>
                          </a:solidFill>
                        </a:rPr>
                        <a:t>≠ every element</a:t>
                      </a:r>
                    </a:p>
                  </a:txBody>
                  <a:tcPr anchor="ctr" marL="73152" marR="54864" marT="27432" marB="27432">
                    <a:solidFill>
                      <a:srgbClr val="EEF3F8"/>
                    </a:solidFill>
                  </a:tcPr>
                </a:tc>
                <a:tc>
                  <a:txBody>
                    <a:bodyPr wrap="square"/>
                    <a:lstStyle/>
                    <a:p>
                      <a:r>
                        <a:rPr sz="1050">
                          <a:solidFill>
                            <a:srgbClr val="1A1A1A"/>
                          </a:solidFill>
                        </a:rPr>
                        <a:t>NOT IN (set)</a:t>
                      </a:r>
                    </a:p>
                  </a:txBody>
                  <a:tcPr anchor="ctr" marL="73152" marR="54864" marT="27432" marB="27432">
                    <a:solidFill>
                      <a:srgbClr val="EEF3F8"/>
                    </a:solidFill>
                  </a:tcPr>
                </a:tc>
                <a:tc>
                  <a:txBody>
                    <a:bodyPr wrap="square"/>
                    <a:lstStyle/>
                    <a:p>
                      <a:r>
                        <a:rPr sz="1050">
                          <a:solidFill>
                            <a:srgbClr val="1A1A1A"/>
                          </a:solidFill>
                        </a:rPr>
                        <a:t>matches no one</a:t>
                      </a:r>
                    </a:p>
                  </a:txBody>
                  <a:tcPr anchor="ctr" marL="73152" marR="54864" marT="27432" marB="27432">
                    <a:solidFill>
                      <a:srgbClr val="EEF3F8"/>
                    </a:solidFill>
                  </a:tcPr>
                </a:tc>
              </a:tr>
              <a:tr h="630936">
                <a:tc>
                  <a:txBody>
                    <a:bodyPr wrap="square"/>
                    <a:lstStyle/>
                    <a:p>
                      <a:r>
                        <a:rPr sz="1050" b="1">
                          <a:solidFill>
                            <a:srgbClr val="0C2B4A"/>
                          </a:solidFill>
                        </a:rPr>
                        <a:t>&gt;= ALL (salaries)</a:t>
                      </a:r>
                    </a:p>
                  </a:txBody>
                  <a:tcPr anchor="ctr" marL="73152" marR="54864" marT="27432" marB="27432">
                    <a:solidFill>
                      <a:srgbClr val="FFFFFF"/>
                    </a:solidFill>
                  </a:tcPr>
                </a:tc>
                <a:tc>
                  <a:txBody>
                    <a:bodyPr wrap="square"/>
                    <a:lstStyle/>
                    <a:p>
                      <a:r>
                        <a:rPr sz="1050">
                          <a:solidFill>
                            <a:srgbClr val="1A1A1A"/>
                          </a:solidFill>
                        </a:rPr>
                        <a:t>the maximum</a:t>
                      </a:r>
                    </a:p>
                  </a:txBody>
                  <a:tcPr anchor="ctr" marL="73152" marR="54864" marT="27432" marB="27432">
                    <a:solidFill>
                      <a:srgbClr val="FFFFFF"/>
                    </a:solidFill>
                  </a:tcPr>
                </a:tc>
                <a:tc>
                  <a:txBody>
                    <a:bodyPr wrap="square"/>
                    <a:lstStyle/>
                    <a:p>
                      <a:r>
                        <a:rPr sz="1050">
                          <a:solidFill>
                            <a:srgbClr val="1A1A1A"/>
                          </a:solidFill>
                        </a:rPr>
                        <a:t>the top value</a:t>
                      </a:r>
                    </a:p>
                  </a:txBody>
                  <a:tcPr anchor="ctr" marL="73152" marR="54864" marT="27432" marB="27432">
                    <a:solidFill>
                      <a:srgbClr val="FFFFFF"/>
                    </a:solidFill>
                  </a:tcPr>
                </a:tc>
                <a:tc>
                  <a:txBody>
                    <a:bodyPr wrap="square"/>
                    <a:lstStyle/>
                    <a:p>
                      <a:r>
                        <a:rPr sz="1050">
                          <a:solidFill>
                            <a:srgbClr val="1A1A1A"/>
                          </a:solidFill>
                        </a:rPr>
                        <a:t>highest-paid instructor</a:t>
                      </a:r>
                    </a:p>
                  </a:txBody>
                  <a:tcPr anchor="ctr" marL="73152" marR="54864" marT="27432" marB="27432">
                    <a:solidFill>
                      <a:srgbClr val="FFFFFF"/>
                    </a:solidFill>
                  </a:tcPr>
                </a:tc>
              </a:tr>
              <a:tr h="630936">
                <a:tc>
                  <a:txBody>
                    <a:bodyPr wrap="square"/>
                    <a:lstStyle/>
                    <a:p>
                      <a:r>
                        <a:rPr sz="1050" b="1">
                          <a:solidFill>
                            <a:srgbClr val="0C2B4A"/>
                          </a:solidFill>
                        </a:rPr>
                        <a:t>price &gt; ALL (Electronics)</a:t>
                      </a:r>
                    </a:p>
                  </a:txBody>
                  <a:tcPr anchor="ctr" marL="73152" marR="54864" marT="27432" marB="27432">
                    <a:solidFill>
                      <a:srgbClr val="EEF3F8"/>
                    </a:solidFill>
                  </a:tcPr>
                </a:tc>
                <a:tc>
                  <a:txBody>
                    <a:bodyPr wrap="square"/>
                    <a:lstStyle/>
                    <a:p>
                      <a:r>
                        <a:rPr sz="1050">
                          <a:solidFill>
                            <a:srgbClr val="1A1A1A"/>
                          </a:solidFill>
                        </a:rPr>
                        <a:t>dearer than every item</a:t>
                      </a:r>
                    </a:p>
                  </a:txBody>
                  <a:tcPr anchor="ctr" marL="73152" marR="54864" marT="27432" marB="27432">
                    <a:solidFill>
                      <a:srgbClr val="EEF3F8"/>
                    </a:solidFill>
                  </a:tcPr>
                </a:tc>
                <a:tc>
                  <a:txBody>
                    <a:bodyPr wrap="square"/>
                    <a:lstStyle/>
                    <a:p>
                      <a:r>
                        <a:rPr sz="1050">
                          <a:solidFill>
                            <a:srgbClr val="1A1A1A"/>
                          </a:solidFill>
                        </a:rPr>
                        <a:t>&gt; most expensive</a:t>
                      </a:r>
                    </a:p>
                  </a:txBody>
                  <a:tcPr anchor="ctr" marL="73152" marR="54864" marT="27432" marB="27432">
                    <a:solidFill>
                      <a:srgbClr val="EEF3F8"/>
                    </a:solidFill>
                  </a:tcPr>
                </a:tc>
                <a:tc>
                  <a:txBody>
                    <a:bodyPr wrap="square"/>
                    <a:lstStyle/>
                    <a:p>
                      <a:r>
                        <a:rPr sz="1050">
                          <a:solidFill>
                            <a:srgbClr val="1A1A1A"/>
                          </a:solidFill>
                        </a:rPr>
                        <a:t>premium product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SOME = at-least-one (easy); ALL = every-single-one (hard). &gt; ALL is &gt; MAX; &gt; SOME is &gt; MIN. &lt;&gt; ALL is NOT IN; = SOME is IN.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97 / 219</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Set Comparison: ALL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highest-paid instructor' is WHERE salary &gt;= ALL (SELECT salary FROM Instructor) — nobody earns more. Daraz's 'products priced higher than ALL items in Electronics' is price &gt; ALL (SELECT price FROM products WHERE category='Electronics').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"&gt; ALL just means &gt; SOME." No — &gt; ALL must beat the MAXIMUM (every element); &gt; SOME only needs to beat the MINIMUM (one element). Confusing them turns 'the top scorer' into 'anyone above the bottom'.</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ALL is TRUE only if the comparison holds for every element of the set: &gt; ALL means greater than the maximum, so &gt;= ALL finds the top value; &lt;&gt; ALL is equivalent to NOT IN. It is the strong counterpart to SOME/ANY (at least one) — ALL demands every one.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ALL · every element · &gt; ALL = &gt; MAX · &lt;&gt; ALL = NOT IN · strongest form</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219</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S28 · HANDS-ON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Find the highest-paid instructor two ways</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On the college schema, list the name(s) of the highest-paid instructor. Show both the subquery-comparison approach and the MAX approach.</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Understand 'highest-paid' = salary is &gt;= every other salary (nobody earns more).</a:t>
            </a:r>
          </a:p>
          <a:p>
            <a:pPr>
              <a:spcAft>
                <a:spcPts val="400"/>
              </a:spcAft>
            </a:pPr>
            <a:r>
              <a:rPr sz="1250" b="1">
                <a:solidFill>
                  <a:srgbClr val="854F0B"/>
                </a:solidFill>
              </a:rPr>
              <a:t>Step 2.  </a:t>
            </a:r>
            <a:r>
              <a:rPr sz="1250">
                <a:solidFill>
                  <a:srgbClr val="1A1A1A"/>
                </a:solidFill>
              </a:rPr>
              <a:t>Approach A (&gt;= ALL): keep instructors whose salary is &gt;= ALL salaries in the table.</a:t>
            </a:r>
          </a:p>
          <a:p>
            <a:pPr>
              <a:spcAft>
                <a:spcPts val="400"/>
              </a:spcAft>
            </a:pPr>
            <a:r>
              <a:rPr sz="1250" b="1">
                <a:solidFill>
                  <a:srgbClr val="854F0B"/>
                </a:solidFill>
              </a:rPr>
              <a:t>Step 3.  </a:t>
            </a:r>
            <a:r>
              <a:rPr sz="1250">
                <a:solidFill>
                  <a:srgbClr val="1A1A1A"/>
                </a:solidFill>
              </a:rPr>
              <a:t>Approach B (MAX subquery): keep instructors whose salary equals (SELECT MAX(salary) …).</a:t>
            </a:r>
          </a:p>
          <a:p>
            <a:pPr>
              <a:spcAft>
                <a:spcPts val="400"/>
              </a:spcAft>
            </a:pPr>
            <a:r>
              <a:rPr sz="1250" b="1">
                <a:solidFill>
                  <a:srgbClr val="854F0B"/>
                </a:solidFill>
              </a:rPr>
              <a:t>Step 4.  </a:t>
            </a:r>
            <a:r>
              <a:rPr sz="1250">
                <a:solidFill>
                  <a:srgbClr val="1A1A1A"/>
                </a:solidFill>
              </a:rPr>
              <a:t>Both handle ties correctly — if two share the top salary, both are returned.</a:t>
            </a:r>
          </a:p>
          <a:p>
            <a:pPr>
              <a:spcAft>
                <a:spcPts val="400"/>
              </a:spcAft>
            </a:pPr>
            <a:r>
              <a:rPr sz="1250" b="1">
                <a:solidFill>
                  <a:srgbClr val="854F0B"/>
                </a:solidFill>
              </a:rPr>
              <a:t>Step 5.  </a:t>
            </a:r>
            <a:r>
              <a:rPr sz="1250">
                <a:solidFill>
                  <a:srgbClr val="1A1A1A"/>
                </a:solidFill>
              </a:rPr>
              <a:t>Watch NULL salaries: an intern with NULL salary is neither the max nor compared meaningfully.</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A) SELECT name FROM Instructor WHERE salary &gt;= ALL (SELECT salary FROM Instructor WHERE salary IS NOT NULL);   B) SELECT name FROM Instructor WHERE salary = (SELECT MAX(salary) FROM Instructor);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219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S28 — Phrase a '&gt; ALL' query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phrase in SQL 'students who scored more than ALL of last year's batch'.</a:t>
            </a:r>
          </a:p>
          <a:p>
            <a:pPr>
              <a:spcAft>
                <a:spcPts val="700"/>
              </a:spcAft>
            </a:pPr>
            <a:r>
              <a:rPr sz="1550">
                <a:solidFill>
                  <a:srgbClr val="1A1A1A"/>
                </a:solidFill>
              </a:rPr>
              <a:t>•  Decide: is this SOME or ALL? Why?</a:t>
            </a:r>
          </a:p>
          <a:p>
            <a:pPr>
              <a:spcAft>
                <a:spcPts val="700"/>
              </a:spcAft>
            </a:pPr>
            <a:r>
              <a:rPr sz="1550">
                <a:solidFill>
                  <a:srgbClr val="1A1A1A"/>
                </a:solidFill>
              </a:rPr>
              <a:t>•  Share aloud (3 min); confirm '&gt; ALL' means beating the maximum of last year.</a:t>
            </a:r>
          </a:p>
          <a:p>
            <a:pPr>
              <a:spcAft>
                <a:spcPts val="700"/>
              </a:spcAft>
            </a:pPr>
            <a:r>
              <a:rPr sz="1550">
                <a:solidFill>
                  <a:srgbClr val="1A1A1A"/>
                </a:solidFill>
              </a:rPr>
              <a:t>•  Close: 'more than everyone' = &gt; ALL; 'more than someone' = &gt; SOME.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Answer shape: WHERE marks &gt; ALL (SELECT marks FROM last_year_batch). Reward recognising 'more than ALL' = &gt; MAX and rejecting &gt; SOME.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100 / 219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&gt; ALL (subquery) is TRUE when the value is greater than:</a:t>
            </a:r>
          </a:p>
          <a:p>
            <a:pPr lvl="1"/>
            <a:r>
              <a:rPr sz="1500" b="1">
                <a:solidFill>
                  <a:srgbClr val="0F6E56"/>
                </a:solidFill>
              </a:rPr>
              <a:t>a) one value   b) ✅ every value in the set   c) the average   d) no values</a:t>
            </a:r>
          </a:p>
          <a:p>
            <a:pPr lvl="1">
              <a:spcBef>
                <a:spcPts val="600"/>
              </a:spcBef>
            </a:pPr>
            <a:r>
              <a:rPr sz="1500" i="1">
                <a:solidFill>
                  <a:srgbClr val="1A1A1A"/>
                </a:solidFill>
              </a:rPr>
              <a:t>     Why: ALL requires the comparison to hold for every element (the maximum).</a:t>
            </a:r>
          </a:p>
          <a:p>
            <a:pPr>
              <a:spcBef>
                <a:spcPts val="900"/>
              </a:spcBef>
            </a:pPr>
            <a:r>
              <a:rPr sz="1700" b="1">
                <a:solidFill>
                  <a:srgbClr val="0C2B4A"/>
                </a:solidFill>
              </a:rPr>
              <a:t>Q2.  Which can be rewritten with IN?</a:t>
            </a:r>
          </a:p>
          <a:p>
            <a:pPr lvl="1"/>
            <a:r>
              <a:rPr sz="1500" b="1">
                <a:solidFill>
                  <a:srgbClr val="0F6E56"/>
                </a:solidFill>
              </a:rPr>
              <a:t>a) &gt; ALL   b) ✅ = SOME   c) &gt; SOME   d) &lt;&gt; ALL</a:t>
            </a:r>
          </a:p>
          <a:p>
            <a:pPr lvl="1">
              <a:spcBef>
                <a:spcPts val="600"/>
              </a:spcBef>
            </a:pPr>
            <a:r>
              <a:rPr sz="1500" i="1">
                <a:solidFill>
                  <a:srgbClr val="1A1A1A"/>
                </a:solidFill>
              </a:rPr>
              <a:t>     Why: = SOME (equals at least one) is exactly set membership (IN).</a:t>
            </a:r>
          </a:p>
          <a:p>
            <a:pPr>
              <a:spcBef>
                <a:spcPts val="900"/>
              </a:spcBef>
            </a:pPr>
            <a:r>
              <a:rPr sz="1700" b="1">
                <a:solidFill>
                  <a:srgbClr val="0C2B4A"/>
                </a:solidFill>
              </a:rPr>
              <a:t>Q3.  NOT IN can return no rows when the inner set:</a:t>
            </a:r>
          </a:p>
          <a:p>
            <a:pPr lvl="1"/>
            <a:r>
              <a:rPr sz="1500" b="1">
                <a:solidFill>
                  <a:srgbClr val="0F6E56"/>
                </a:solidFill>
              </a:rPr>
              <a:t>a) is empty   b) ✅ contains a NULL   c) is sorted   d) has duplicates</a:t>
            </a:r>
          </a:p>
          <a:p>
            <a:pPr lvl="1">
              <a:spcBef>
                <a:spcPts val="600"/>
              </a:spcBef>
            </a:pPr>
            <a:r>
              <a:rPr sz="1500" i="1">
                <a:solidFill>
                  <a:srgbClr val="1A1A1A"/>
                </a:solidFill>
              </a:rPr>
              <a:t>     Why: a NULL in the set makes NOT IN evaluate to UNKNOWN for all rows.</a:t>
            </a:r>
          </a:p>
          <a:p>
            <a:pPr lvl="1">
              <a:spcBef>
                <a:spcPts val="600"/>
              </a:spcBef>
            </a:pPr>
            <a:r>
              <a:rPr sz="1500" i="1">
                <a:solidFill>
                  <a:srgbClr val="1A1A1A"/>
                </a:solidFill>
              </a:rPr>
              <a:t>Discussion: phrase 'users who did X but also Y' as an IN subquery.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101 / 219</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subquery nests inside another; the inner runs first and feeds the outer query.</a:t>
            </a:r>
          </a:p>
          <a:p>
            <a:pPr>
              <a:spcAft>
                <a:spcPts val="800"/>
              </a:spcAft>
            </a:pPr>
            <a:r>
              <a:rPr sz="1500">
                <a:solidFill>
                  <a:srgbClr val="1A1A1A"/>
                </a:solidFill>
              </a:rPr>
              <a:t>2.  IN tests set membership (= SOME); NOT IN tests absence (but breaks with a NULL in the set).</a:t>
            </a:r>
          </a:p>
          <a:p>
            <a:pPr>
              <a:spcAft>
                <a:spcPts val="800"/>
              </a:spcAft>
            </a:pPr>
            <a:r>
              <a:rPr sz="1500">
                <a:solidFill>
                  <a:srgbClr val="1A1A1A"/>
                </a:solidFill>
              </a:rPr>
              <a:t>3.  SOME/ANY = at least one (&gt; SOME = &gt; MIN); ALL = every one (&gt; ALL = &gt; MAX).</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'Find users who did X but also Y' segmentation — the backbone of marketing, fraud detection, and analytics at every fintech — is written as IN and EXISTS subqueries. Subqueries let you answer questions when you don't yet know the exact values to filter on.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S29 — testing whether a relation is empty (EXISTS) or duplicate-free (UNIQUE).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102 / 219</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29 · LECTURE HOUR 8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Nested Subqueries: EXISTS · UNIQUE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Sometimes you don't care WHAT the inner query returns — only WHETHER it returns anything at all. That's EXISTS.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103 / 219</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EXISTS / NOT EXISTS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EXISTS is TRUE if the subquery returns at least one row; NOT EXISTS is TRUE if it returns none. It is usually CORRELATED — the inner query references the current outer row.</a:t>
            </a:r>
          </a:p>
          <a:p>
            <a:pPr>
              <a:spcAft>
                <a:spcPts val="500"/>
              </a:spcAft>
            </a:pPr>
            <a:r>
              <a:rPr sz="1200" b="1">
                <a:solidFill>
                  <a:srgbClr val="185FA5"/>
                </a:solidFill>
              </a:rPr>
              <a:t>HOW IT WORKS</a:t>
            </a:r>
          </a:p>
          <a:p>
            <a:pPr>
              <a:spcAft>
                <a:spcPts val="600"/>
              </a:spcAft>
            </a:pPr>
            <a:r>
              <a:rPr sz="1400">
                <a:solidFill>
                  <a:srgbClr val="1A1A1A"/>
                </a:solidFill>
              </a:rPr>
              <a:t>•  SELECT name FROM Student s WHERE EXISTS (SELECT * FROM Enrollment e WHERE e.roll=s.roll);</a:t>
            </a:r>
          </a:p>
          <a:p>
            <a:pPr>
              <a:spcAft>
                <a:spcPts val="600"/>
              </a:spcAft>
            </a:pPr>
            <a:r>
              <a:rPr sz="1400">
                <a:solidFill>
                  <a:srgbClr val="1A1A1A"/>
                </a:solidFill>
              </a:rPr>
              <a:t>•  The inner query re-runs for each outer row, using that row's values (s.roll).</a:t>
            </a:r>
          </a:p>
          <a:p>
            <a:pPr>
              <a:spcAft>
                <a:spcPts val="600"/>
              </a:spcAft>
            </a:pPr>
            <a:r>
              <a:rPr sz="1400">
                <a:solidFill>
                  <a:srgbClr val="1A1A1A"/>
                </a:solidFill>
              </a:rPr>
              <a:t>•  EXISTS only checks existence — SELECT *, SELECT 1, or SELECT anything are equivalent.</a:t>
            </a:r>
          </a:p>
          <a:p>
            <a:pPr>
              <a:spcAft>
                <a:spcPts val="600"/>
              </a:spcAft>
            </a:pPr>
            <a:r>
              <a:rPr sz="1400">
                <a:solidFill>
                  <a:srgbClr val="1A1A1A"/>
                </a:solidFill>
              </a:rPr>
              <a:t>•  NOT EXISTS finds outer rows for which the inner query is empty.</a:t>
            </a:r>
          </a:p>
        </p:txBody>
      </p:sp>
      <p:pic>
        <p:nvPicPr>
          <p:cNvPr id="6" name="Picture 5" descr="s29_correlated.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EXISTS = 'is anyone in the room?' — it counts existence, not columns.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104 / 219</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EXISTS / NOT EXISTS — question → correlated query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868615"/>
                <a:gridCol w="7561384"/>
              </a:tblGrid>
              <a:tr h="630936">
                <a:tc>
                  <a:txBody>
                    <a:bodyPr wrap="square"/>
                    <a:lstStyle/>
                    <a:p>
                      <a:r>
                        <a:rPr sz="1050" b="1">
                          <a:solidFill>
                            <a:srgbClr val="FFFFFF"/>
                          </a:solidFill>
                        </a:rPr>
                        <a:t>Question</a:t>
                      </a:r>
                    </a:p>
                  </a:txBody>
                  <a:tcPr anchor="ctr" marL="73152" marR="54864" marT="27432" marB="27432">
                    <a:solidFill>
                      <a:srgbClr val="0C2B4A"/>
                    </a:solidFill>
                  </a:tcPr>
                </a:tc>
                <a:tc>
                  <a:txBody>
                    <a:bodyPr wrap="square"/>
                    <a:lstStyle/>
                    <a:p>
                      <a:r>
                        <a:rPr sz="1050" b="1">
                          <a:solidFill>
                            <a:srgbClr val="FFFFFF"/>
                          </a:solidFill>
                        </a:rPr>
                        <a:t>Query (MySQL)</a:t>
                      </a:r>
                    </a:p>
                  </a:txBody>
                  <a:tcPr anchor="ctr" marL="73152" marR="54864" marT="27432" marB="27432">
                    <a:solidFill>
                      <a:srgbClr val="0C2B4A"/>
                    </a:solidFill>
                  </a:tcPr>
                </a:tc>
              </a:tr>
              <a:tr h="630936">
                <a:tc>
                  <a:txBody>
                    <a:bodyPr wrap="square"/>
                    <a:lstStyle/>
                    <a:p>
                      <a:r>
                        <a:rPr sz="1000" b="1">
                          <a:solidFill>
                            <a:srgbClr val="0C2B4A"/>
                          </a:solidFill>
                        </a:rPr>
                        <a:t>students with ≥1 enrollment</a:t>
                      </a:r>
                    </a:p>
                  </a:txBody>
                  <a:tcPr anchor="ctr" marL="73152" marR="54864" marT="27432" marB="27432">
                    <a:solidFill>
                      <a:srgbClr val="FFFFFF"/>
                    </a:solidFill>
                  </a:tcPr>
                </a:tc>
                <a:tc>
                  <a:txBody>
                    <a:bodyPr wrap="square"/>
                    <a:lstStyle/>
                    <a:p>
                      <a:r>
                        <a:rPr sz="1000">
                          <a:solidFill>
                            <a:srgbClr val="1A1A1A"/>
                          </a:solidFill>
                        </a:rPr>
                        <a:t>WHERE EXISTS (SELECT 1 FROM Enrollment e WHERE e.roll=s.roll)</a:t>
                      </a:r>
                    </a:p>
                  </a:txBody>
                  <a:tcPr anchor="ctr" marL="73152" marR="54864" marT="27432" marB="27432">
                    <a:solidFill>
                      <a:srgbClr val="FFFFFF"/>
                    </a:solidFill>
                  </a:tcPr>
                </a:tc>
              </a:tr>
              <a:tr h="630936">
                <a:tc>
                  <a:txBody>
                    <a:bodyPr wrap="square"/>
                    <a:lstStyle/>
                    <a:p>
                      <a:r>
                        <a:rPr sz="1000" b="1">
                          <a:solidFill>
                            <a:srgbClr val="0C2B4A"/>
                          </a:solidFill>
                        </a:rPr>
                        <a:t>students enrolled in nothing</a:t>
                      </a:r>
                    </a:p>
                  </a:txBody>
                  <a:tcPr anchor="ctr" marL="73152" marR="54864" marT="27432" marB="27432">
                    <a:solidFill>
                      <a:srgbClr val="EEF3F8"/>
                    </a:solidFill>
                  </a:tcPr>
                </a:tc>
                <a:tc>
                  <a:txBody>
                    <a:bodyPr wrap="square"/>
                    <a:lstStyle/>
                    <a:p>
                      <a:r>
                        <a:rPr sz="1000">
                          <a:solidFill>
                            <a:srgbClr val="1A1A1A"/>
                          </a:solidFill>
                        </a:rPr>
                        <a:t>WHERE NOT EXISTS (SELECT 1 FROM Enrollment e WHERE e.roll=s.roll)</a:t>
                      </a:r>
                    </a:p>
                  </a:txBody>
                  <a:tcPr anchor="ctr" marL="73152" marR="54864" marT="27432" marB="27432">
                    <a:solidFill>
                      <a:srgbClr val="EEF3F8"/>
                    </a:solidFill>
                  </a:tcPr>
                </a:tc>
              </a:tr>
              <a:tr h="630936">
                <a:tc>
                  <a:txBody>
                    <a:bodyPr wrap="square"/>
                    <a:lstStyle/>
                    <a:p>
                      <a:r>
                        <a:rPr sz="1000" b="1">
                          <a:solidFill>
                            <a:srgbClr val="0C2B4A"/>
                          </a:solidFill>
                        </a:rPr>
                        <a:t>instructors teaching this sem</a:t>
                      </a:r>
                    </a:p>
                  </a:txBody>
                  <a:tcPr anchor="ctr" marL="73152" marR="54864" marT="27432" marB="27432">
                    <a:solidFill>
                      <a:srgbClr val="FFFFFF"/>
                    </a:solidFill>
                  </a:tcPr>
                </a:tc>
                <a:tc>
                  <a:txBody>
                    <a:bodyPr wrap="square"/>
                    <a:lstStyle/>
                    <a:p>
                      <a:r>
                        <a:rPr sz="1000">
                          <a:solidFill>
                            <a:srgbClr val="1A1A1A"/>
                          </a:solidFill>
                        </a:rPr>
                        <a:t>WHERE EXISTS (SELECT 1 FROM Teaches t WHERE t.inst_id=i.inst_id)</a:t>
                      </a:r>
                    </a:p>
                  </a:txBody>
                  <a:tcPr anchor="ctr" marL="73152" marR="54864" marT="27432" marB="27432">
                    <a:solidFill>
                      <a:srgbClr val="FFFFFF"/>
                    </a:solidFill>
                  </a:tcPr>
                </a:tc>
              </a:tr>
              <a:tr h="630936">
                <a:tc>
                  <a:txBody>
                    <a:bodyPr wrap="square"/>
                    <a:lstStyle/>
                    <a:p>
                      <a:r>
                        <a:rPr sz="1000" b="1">
                          <a:solidFill>
                            <a:srgbClr val="0C2B4A"/>
                          </a:solidFill>
                        </a:rPr>
                        <a:t>courses nobody enrolled in</a:t>
                      </a:r>
                    </a:p>
                  </a:txBody>
                  <a:tcPr anchor="ctr" marL="73152" marR="54864" marT="27432" marB="27432">
                    <a:solidFill>
                      <a:srgbClr val="EEF3F8"/>
                    </a:solidFill>
                  </a:tcPr>
                </a:tc>
                <a:tc>
                  <a:txBody>
                    <a:bodyPr wrap="square"/>
                    <a:lstStyle/>
                    <a:p>
                      <a:r>
                        <a:rPr sz="1000">
                          <a:solidFill>
                            <a:srgbClr val="1A1A1A"/>
                          </a:solidFill>
                        </a:rPr>
                        <a:t>WHERE NOT EXISTS (SELECT 1 FROM Enrollment e WHERE e.course_id=c.course_id)</a:t>
                      </a:r>
                    </a:p>
                  </a:txBody>
                  <a:tcPr anchor="ctr" marL="73152" marR="54864" marT="27432" marB="27432">
                    <a:solidFill>
                      <a:srgbClr val="EEF3F8"/>
                    </a:solidFill>
                  </a:tcPr>
                </a:tc>
              </a:tr>
              <a:tr h="630936">
                <a:tc>
                  <a:txBody>
                    <a:bodyPr wrap="square"/>
                    <a:lstStyle/>
                    <a:p>
                      <a:r>
                        <a:rPr sz="1000" b="1">
                          <a:solidFill>
                            <a:srgbClr val="0C2B4A"/>
                          </a:solidFill>
                        </a:rPr>
                        <a:t>customers with a failed txn</a:t>
                      </a:r>
                    </a:p>
                  </a:txBody>
                  <a:tcPr anchor="ctr" marL="73152" marR="54864" marT="27432" marB="27432">
                    <a:solidFill>
                      <a:srgbClr val="FFFFFF"/>
                    </a:solidFill>
                  </a:tcPr>
                </a:tc>
                <a:tc>
                  <a:txBody>
                    <a:bodyPr wrap="square"/>
                    <a:lstStyle/>
                    <a:p>
                      <a:r>
                        <a:rPr sz="1000">
                          <a:solidFill>
                            <a:srgbClr val="1A1A1A"/>
                          </a:solidFill>
                        </a:rPr>
                        <a:t>WHERE EXISTS (SELECT 1 FROM txn WHERE txn.uid=u.uid AND status='failed')</a:t>
                      </a:r>
                    </a:p>
                  </a:txBody>
                  <a:tcPr anchor="ctr" marL="73152" marR="54864" marT="27432" marB="27432">
                    <a:solidFill>
                      <a:srgbClr val="FFFFFF"/>
                    </a:solidFill>
                  </a:tcPr>
                </a:tc>
              </a:tr>
              <a:tr h="630936">
                <a:tc>
                  <a:txBody>
                    <a:bodyPr wrap="square"/>
                    <a:lstStyle/>
                    <a:p>
                      <a:r>
                        <a:rPr sz="1000" b="1">
                          <a:solidFill>
                            <a:srgbClr val="0C2B4A"/>
                          </a:solidFill>
                        </a:rPr>
                        <a:t>customers with NO failed txn</a:t>
                      </a:r>
                    </a:p>
                  </a:txBody>
                  <a:tcPr anchor="ctr" marL="73152" marR="54864" marT="27432" marB="27432">
                    <a:solidFill>
                      <a:srgbClr val="EEF3F8"/>
                    </a:solidFill>
                  </a:tcPr>
                </a:tc>
                <a:tc>
                  <a:txBody>
                    <a:bodyPr wrap="square"/>
                    <a:lstStyle/>
                    <a:p>
                      <a:r>
                        <a:rPr sz="1000">
                          <a:solidFill>
                            <a:srgbClr val="1A1A1A"/>
                          </a:solidFill>
                        </a:rPr>
                        <a:t>WHERE NOT EXISTS (SELECT 1 FROM txn WHERE txn.uid=u.uid AND status='failed')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EXISTS short-circuits — it stops at the first matching row, so it is often faster than IN for correlated tests. The SELECT list inside EXISTS is irrelevant (use SELECT 1).</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105 / 219</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EXISTS / NOT EXISTS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Retention systems live on NOT EXISTS: 'send a reminder to customers who have NOT placed any order this month' is WHERE NOT EXISTS (SELECT 1 FROM orders o WHERE o.uid=c.uid AND o.month=…). It surfaces the inactive users a business most wants to win back.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"EXISTS cares about the columns the subquery selects." It does not — EXISTS only checks whether ANY row comes back; SELECT *, SELECT 1, SELECT roll are all equivalent. Only the WHERE inside the subquery matters.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EXISTS is TRUE if its subquery returns at least one row, NOT EXISTS if it returns none. It is typically correlated (the inner query references the outer row) and re-runs per outer row. Only row existence matters, so the subquery's SELECT list is irrelevant (SELECT 1 is idiomatic). NOT EXISTS expresses 'none/absent'.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EXISTS · NOT EXISTS · correlated subquery · existence not columns · SELECT 1</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106 / 219</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NOT EXISTS for 'For All' Queries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'for all' requirement ('students enrolled in EVERY IT course') has no direct SQL keyword. It is expressed as a double NOT EXISTS: 'there is NO IT course for which this student has NO enrollment'.</a:t>
            </a:r>
          </a:p>
          <a:p>
            <a:pPr>
              <a:spcAft>
                <a:spcPts val="500"/>
              </a:spcAft>
            </a:pPr>
            <a:r>
              <a:rPr sz="1200" b="1">
                <a:solidFill>
                  <a:srgbClr val="185FA5"/>
                </a:solidFill>
              </a:rPr>
              <a:t>HOW IT WORKS</a:t>
            </a:r>
          </a:p>
          <a:p>
            <a:pPr>
              <a:spcAft>
                <a:spcPts val="600"/>
              </a:spcAft>
            </a:pPr>
            <a:r>
              <a:rPr sz="1400">
                <a:solidFill>
                  <a:srgbClr val="1A1A1A"/>
                </a:solidFill>
              </a:rPr>
              <a:t>•  Rewrite 'for all X, P' as 'there is no X where NOT P' (double negation).</a:t>
            </a:r>
          </a:p>
          <a:p>
            <a:pPr>
              <a:spcAft>
                <a:spcPts val="600"/>
              </a:spcAft>
            </a:pPr>
            <a:r>
              <a:rPr sz="1400">
                <a:solidFill>
                  <a:srgbClr val="1A1A1A"/>
                </a:solidFill>
              </a:rPr>
              <a:t>•  Outer: student s. Inner-1: for each IT course c, check enrollment. Inner-2: NOT EXISTS that enrollment.</a:t>
            </a:r>
          </a:p>
          <a:p>
            <a:pPr>
              <a:spcAft>
                <a:spcPts val="600"/>
              </a:spcAft>
            </a:pPr>
            <a:r>
              <a:rPr sz="1400">
                <a:solidFill>
                  <a:srgbClr val="1A1A1A"/>
                </a:solidFill>
              </a:rPr>
              <a:t>•  If no IT course is missing an enrollment, the student took them all.</a:t>
            </a:r>
          </a:p>
          <a:p>
            <a:pPr>
              <a:spcAft>
                <a:spcPts val="600"/>
              </a:spcAft>
            </a:pPr>
            <a:r>
              <a:rPr sz="1400">
                <a:solidFill>
                  <a:srgbClr val="1A1A1A"/>
                </a:solidFill>
              </a:rPr>
              <a:t>•  This is advanced (relational division) — recognise the pattern, don't memorise it cold.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'Took every IT course' = 'there is NO IT course they didn't take'.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107 / 219</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'For all' rewritten as double NOT EXISTS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502727"/>
                <a:gridCol w="5195454"/>
                <a:gridCol w="1731818"/>
              </a:tblGrid>
              <a:tr h="630936">
                <a:tc>
                  <a:txBody>
                    <a:bodyPr wrap="square"/>
                    <a:lstStyle/>
                    <a:p>
                      <a:r>
                        <a:rPr sz="1100" b="1">
                          <a:solidFill>
                            <a:srgbClr val="FFFFFF"/>
                          </a:solidFill>
                        </a:rPr>
                        <a:t>Plain-English requirement</a:t>
                      </a:r>
                    </a:p>
                  </a:txBody>
                  <a:tcPr anchor="ctr" marL="73152" marR="54864" marT="27432" marB="27432">
                    <a:solidFill>
                      <a:srgbClr val="0C2B4A"/>
                    </a:solidFill>
                  </a:tcPr>
                </a:tc>
                <a:tc>
                  <a:txBody>
                    <a:bodyPr wrap="square"/>
                    <a:lstStyle/>
                    <a:p>
                      <a:r>
                        <a:rPr sz="1100" b="1">
                          <a:solidFill>
                            <a:srgbClr val="FFFFFF"/>
                          </a:solidFill>
                        </a:rPr>
                        <a:t>Double-negation rewrite</a:t>
                      </a:r>
                    </a:p>
                  </a:txBody>
                  <a:tcPr anchor="ctr" marL="73152" marR="54864" marT="27432" marB="27432">
                    <a:solidFill>
                      <a:srgbClr val="0C2B4A"/>
                    </a:solidFill>
                  </a:tcPr>
                </a:tc>
                <a:tc>
                  <a:txBody>
                    <a:bodyPr wrap="square"/>
                    <a:lstStyle/>
                    <a:p>
                      <a:r>
                        <a:rPr sz="1100" b="1">
                          <a:solidFill>
                            <a:srgbClr val="FFFFFF"/>
                          </a:solidFill>
                        </a:rPr>
                        <a:t>Difficulty</a:t>
                      </a:r>
                    </a:p>
                  </a:txBody>
                  <a:tcPr anchor="ctr" marL="73152" marR="54864" marT="27432" marB="27432">
                    <a:solidFill>
                      <a:srgbClr val="0C2B4A"/>
                    </a:solidFill>
                  </a:tcPr>
                </a:tc>
              </a:tr>
              <a:tr h="630936">
                <a:tc>
                  <a:txBody>
                    <a:bodyPr wrap="square"/>
                    <a:lstStyle/>
                    <a:p>
                      <a:r>
                        <a:rPr sz="1050" b="1">
                          <a:solidFill>
                            <a:srgbClr val="0C2B4A"/>
                          </a:solidFill>
                        </a:rPr>
                        <a:t>students in EVERY IT course</a:t>
                      </a:r>
                    </a:p>
                  </a:txBody>
                  <a:tcPr anchor="ctr" marL="73152" marR="54864" marT="27432" marB="27432">
                    <a:solidFill>
                      <a:srgbClr val="FFFFFF"/>
                    </a:solidFill>
                  </a:tcPr>
                </a:tc>
                <a:tc>
                  <a:txBody>
                    <a:bodyPr wrap="square"/>
                    <a:lstStyle/>
                    <a:p>
                      <a:r>
                        <a:rPr sz="1050">
                          <a:solidFill>
                            <a:srgbClr val="1A1A1A"/>
                          </a:solidFill>
                        </a:rPr>
                        <a:t>no IT course exists that they are NOT in</a:t>
                      </a:r>
                    </a:p>
                  </a:txBody>
                  <a:tcPr anchor="ctr" marL="73152" marR="54864" marT="27432" marB="27432">
                    <a:solidFill>
                      <a:srgbClr val="FFFFFF"/>
                    </a:solidFill>
                  </a:tcPr>
                </a:tc>
                <a:tc>
                  <a:txBody>
                    <a:bodyPr wrap="square"/>
                    <a:lstStyle/>
                    <a:p>
                      <a:r>
                        <a:rPr sz="1050">
                          <a:solidFill>
                            <a:srgbClr val="1A1A1A"/>
                          </a:solidFill>
                        </a:rPr>
                        <a:t>hard (division)</a:t>
                      </a:r>
                    </a:p>
                  </a:txBody>
                  <a:tcPr anchor="ctr" marL="73152" marR="54864" marT="27432" marB="27432">
                    <a:solidFill>
                      <a:srgbClr val="FFFFFF"/>
                    </a:solidFill>
                  </a:tcPr>
                </a:tc>
              </a:tr>
              <a:tr h="630936">
                <a:tc>
                  <a:txBody>
                    <a:bodyPr wrap="square"/>
                    <a:lstStyle/>
                    <a:p>
                      <a:r>
                        <a:rPr sz="1050" b="1">
                          <a:solidFill>
                            <a:srgbClr val="0C2B4A"/>
                          </a:solidFill>
                        </a:rPr>
                        <a:t>customers with NO failed txn</a:t>
                      </a:r>
                    </a:p>
                  </a:txBody>
                  <a:tcPr anchor="ctr" marL="73152" marR="54864" marT="27432" marB="27432">
                    <a:solidFill>
                      <a:srgbClr val="EEF3F8"/>
                    </a:solidFill>
                  </a:tcPr>
                </a:tc>
                <a:tc>
                  <a:txBody>
                    <a:bodyPr wrap="square"/>
                    <a:lstStyle/>
                    <a:p>
                      <a:r>
                        <a:rPr sz="1050">
                          <a:solidFill>
                            <a:srgbClr val="1A1A1A"/>
                          </a:solidFill>
                        </a:rPr>
                        <a:t>no txn exists with status='failed'</a:t>
                      </a:r>
                    </a:p>
                  </a:txBody>
                  <a:tcPr anchor="ctr" marL="73152" marR="54864" marT="27432" marB="27432">
                    <a:solidFill>
                      <a:srgbClr val="EEF3F8"/>
                    </a:solidFill>
                  </a:tcPr>
                </a:tc>
                <a:tc>
                  <a:txBody>
                    <a:bodyPr wrap="square"/>
                    <a:lstStyle/>
                    <a:p>
                      <a:r>
                        <a:rPr sz="1050">
                          <a:solidFill>
                            <a:srgbClr val="1A1A1A"/>
                          </a:solidFill>
                        </a:rPr>
                        <a:t>easy (single NOT EXISTS)</a:t>
                      </a:r>
                    </a:p>
                  </a:txBody>
                  <a:tcPr anchor="ctr" marL="73152" marR="54864" marT="27432" marB="27432">
                    <a:solidFill>
                      <a:srgbClr val="EEF3F8"/>
                    </a:solidFill>
                  </a:tcPr>
                </a:tc>
              </a:tr>
              <a:tr h="630936">
                <a:tc>
                  <a:txBody>
                    <a:bodyPr wrap="square"/>
                    <a:lstStyle/>
                    <a:p>
                      <a:r>
                        <a:rPr sz="1050" b="1">
                          <a:solidFill>
                            <a:srgbClr val="0C2B4A"/>
                          </a:solidFill>
                        </a:rPr>
                        <a:t>instructors teaching ALL IT courses</a:t>
                      </a:r>
                    </a:p>
                  </a:txBody>
                  <a:tcPr anchor="ctr" marL="73152" marR="54864" marT="27432" marB="27432">
                    <a:solidFill>
                      <a:srgbClr val="FFFFFF"/>
                    </a:solidFill>
                  </a:tcPr>
                </a:tc>
                <a:tc>
                  <a:txBody>
                    <a:bodyPr wrap="square"/>
                    <a:lstStyle/>
                    <a:p>
                      <a:r>
                        <a:rPr sz="1050">
                          <a:solidFill>
                            <a:srgbClr val="1A1A1A"/>
                          </a:solidFill>
                        </a:rPr>
                        <a:t>no IT course exists they do NOT teach</a:t>
                      </a:r>
                    </a:p>
                  </a:txBody>
                  <a:tcPr anchor="ctr" marL="73152" marR="54864" marT="27432" marB="27432">
                    <a:solidFill>
                      <a:srgbClr val="FFFFFF"/>
                    </a:solidFill>
                  </a:tcPr>
                </a:tc>
                <a:tc>
                  <a:txBody>
                    <a:bodyPr wrap="square"/>
                    <a:lstStyle/>
                    <a:p>
                      <a:r>
                        <a:rPr sz="1050">
                          <a:solidFill>
                            <a:srgbClr val="1A1A1A"/>
                          </a:solidFill>
                        </a:rPr>
                        <a:t>hard</a:t>
                      </a:r>
                    </a:p>
                  </a:txBody>
                  <a:tcPr anchor="ctr" marL="73152" marR="54864" marT="27432" marB="27432">
                    <a:solidFill>
                      <a:srgbClr val="FFFFFF"/>
                    </a:solidFill>
                  </a:tcPr>
                </a:tc>
              </a:tr>
              <a:tr h="630936">
                <a:tc>
                  <a:txBody>
                    <a:bodyPr wrap="square"/>
                    <a:lstStyle/>
                    <a:p>
                      <a:r>
                        <a:rPr sz="1050" b="1">
                          <a:solidFill>
                            <a:srgbClr val="0C2B4A"/>
                          </a:solidFill>
                        </a:rPr>
                        <a:t>students who passed ALL their courses</a:t>
                      </a:r>
                    </a:p>
                  </a:txBody>
                  <a:tcPr anchor="ctr" marL="73152" marR="54864" marT="27432" marB="27432">
                    <a:solidFill>
                      <a:srgbClr val="EEF3F8"/>
                    </a:solidFill>
                  </a:tcPr>
                </a:tc>
                <a:tc>
                  <a:txBody>
                    <a:bodyPr wrap="square"/>
                    <a:lstStyle/>
                    <a:p>
                      <a:r>
                        <a:rPr sz="1050">
                          <a:solidFill>
                            <a:srgbClr val="1A1A1A"/>
                          </a:solidFill>
                        </a:rPr>
                        <a:t>no enrollment of theirs has marks &lt; 40</a:t>
                      </a:r>
                    </a:p>
                  </a:txBody>
                  <a:tcPr anchor="ctr" marL="73152" marR="54864" marT="27432" marB="27432">
                    <a:solidFill>
                      <a:srgbClr val="EEF3F8"/>
                    </a:solidFill>
                  </a:tcPr>
                </a:tc>
                <a:tc>
                  <a:txBody>
                    <a:bodyPr wrap="square"/>
                    <a:lstStyle/>
                    <a:p>
                      <a:r>
                        <a:rPr sz="1050">
                          <a:solidFill>
                            <a:srgbClr val="1A1A1A"/>
                          </a:solidFill>
                        </a:rPr>
                        <a:t>medium</a:t>
                      </a:r>
                    </a:p>
                  </a:txBody>
                  <a:tcPr anchor="ctr" marL="73152" marR="54864" marT="27432" marB="27432">
                    <a:solidFill>
                      <a:srgbClr val="EEF3F8"/>
                    </a:solidFill>
                  </a:tcPr>
                </a:tc>
              </a:tr>
              <a:tr h="630936">
                <a:tc>
                  <a:txBody>
                    <a:bodyPr wrap="square"/>
                    <a:lstStyle/>
                    <a:p>
                      <a:r>
                        <a:rPr sz="1050" b="1">
                          <a:solidFill>
                            <a:srgbClr val="0C2B4A"/>
                          </a:solidFill>
                        </a:rPr>
                        <a:t>courses taken by ALL BIM students</a:t>
                      </a:r>
                    </a:p>
                  </a:txBody>
                  <a:tcPr anchor="ctr" marL="73152" marR="54864" marT="27432" marB="27432">
                    <a:solidFill>
                      <a:srgbClr val="FFFFFF"/>
                    </a:solidFill>
                  </a:tcPr>
                </a:tc>
                <a:tc>
                  <a:txBody>
                    <a:bodyPr wrap="square"/>
                    <a:lstStyle/>
                    <a:p>
                      <a:r>
                        <a:rPr sz="1050">
                          <a:solidFill>
                            <a:srgbClr val="1A1A1A"/>
                          </a:solidFill>
                        </a:rPr>
                        <a:t>no BIM student exists NOT enrolled in it</a:t>
                      </a:r>
                    </a:p>
                  </a:txBody>
                  <a:tcPr anchor="ctr" marL="73152" marR="54864" marT="27432" marB="27432">
                    <a:solidFill>
                      <a:srgbClr val="FFFFFF"/>
                    </a:solidFill>
                  </a:tcPr>
                </a:tc>
                <a:tc>
                  <a:txBody>
                    <a:bodyPr wrap="square"/>
                    <a:lstStyle/>
                    <a:p>
                      <a:r>
                        <a:rPr sz="1050">
                          <a:solidFill>
                            <a:srgbClr val="1A1A1A"/>
                          </a:solidFill>
                        </a:rPr>
                        <a:t>hard</a:t>
                      </a:r>
                    </a:p>
                  </a:txBody>
                  <a:tcPr anchor="ctr" marL="73152" marR="54864" marT="27432" marB="27432">
                    <a:solidFill>
                      <a:srgbClr val="FFFFFF"/>
                    </a:solidFill>
                  </a:tcPr>
                </a:tc>
              </a:tr>
              <a:tr h="630936">
                <a:tc>
                  <a:txBody>
                    <a:bodyPr wrap="square"/>
                    <a:lstStyle/>
                    <a:p>
                      <a:r>
                        <a:rPr sz="1050" b="1">
                          <a:solidFill>
                            <a:srgbClr val="0C2B4A"/>
                          </a:solidFill>
                        </a:rPr>
                        <a:t>users active EVERY day this week</a:t>
                      </a:r>
                    </a:p>
                  </a:txBody>
                  <a:tcPr anchor="ctr" marL="73152" marR="54864" marT="27432" marB="27432">
                    <a:solidFill>
                      <a:srgbClr val="EEF3F8"/>
                    </a:solidFill>
                  </a:tcPr>
                </a:tc>
                <a:tc>
                  <a:txBody>
                    <a:bodyPr wrap="square"/>
                    <a:lstStyle/>
                    <a:p>
                      <a:r>
                        <a:rPr sz="1050">
                          <a:solidFill>
                            <a:srgbClr val="1A1A1A"/>
                          </a:solidFill>
                        </a:rPr>
                        <a:t>no day this week exists with no activity</a:t>
                      </a:r>
                    </a:p>
                  </a:txBody>
                  <a:tcPr anchor="ctr" marL="73152" marR="54864" marT="27432" marB="27432">
                    <a:solidFill>
                      <a:srgbClr val="EEF3F8"/>
                    </a:solidFill>
                  </a:tcPr>
                </a:tc>
                <a:tc>
                  <a:txBody>
                    <a:bodyPr wrap="square"/>
                    <a:lstStyle/>
                    <a:p>
                      <a:r>
                        <a:rPr sz="1050">
                          <a:solidFill>
                            <a:srgbClr val="1A1A1A"/>
                          </a:solidFill>
                        </a:rPr>
                        <a:t>hard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trick for every 'for all / every' query: flip it to 'there is NO counterexample' and write NOT EXISTS. Single NOT EXISTS handles 'none'; double NOT EXISTS handles 'for all'.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108 / 219</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NOT EXISTS for 'For All' Queries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bank flags 'customers with NO failed transactions' via a single NOT EXISTS (… status='failed'). The harder 'students enrolled in every IT course' uses double NOT EXISTS — the standard way SQL expresses 'for all', since it has no FORALL keyword.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"There must be a FORALL keyword." There isn't — SQL expresses 'for all' indirectly through NOT EXISTS of the counterexample. 'Enrolled in every IT course' becomes 'no IT course exists in which they are not enrolled'.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SQL has no direct 'for all' operator, so universal requirements are expressed with NOT EXISTS of a counterexample. 'None' is a single NOT EXISTS; 'for all X' is a double NOT EXISTS ('there is no X for which the condition fails'). This is relational division — recognise the double-negation pattern.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NOT EXISTS · 'for all' via double negation · relational division · no FORALL keyword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109 / 219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UNIQUE Predicate (Absence of Duplicates)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UNIQUE predicate tests whether a subquery's result has NO duplicate rows: UNIQUE(subquery) is TRUE when every row it returns is distinct. It is different from the UNIQUE table constraint (S22).</a:t>
            </a:r>
          </a:p>
          <a:p>
            <a:pPr>
              <a:spcAft>
                <a:spcPts val="500"/>
              </a:spcAft>
            </a:pPr>
            <a:r>
              <a:rPr sz="1200" b="1">
                <a:solidFill>
                  <a:srgbClr val="185FA5"/>
                </a:solidFill>
              </a:rPr>
              <a:t>HOW IT WORKS</a:t>
            </a:r>
          </a:p>
          <a:p>
            <a:pPr>
              <a:spcAft>
                <a:spcPts val="600"/>
              </a:spcAft>
            </a:pPr>
            <a:r>
              <a:rPr sz="1400">
                <a:solidFill>
                  <a:srgbClr val="1A1A1A"/>
                </a:solidFill>
              </a:rPr>
              <a:t>•  UNIQUE (SELECT roll FROM Enrollment e WHERE e.course_id=c.course_id AND e.sem='2026S').</a:t>
            </a:r>
          </a:p>
          <a:p>
            <a:pPr>
              <a:spcAft>
                <a:spcPts val="600"/>
              </a:spcAft>
            </a:pPr>
            <a:r>
              <a:rPr sz="1400">
                <a:solidFill>
                  <a:srgbClr val="1A1A1A"/>
                </a:solidFill>
              </a:rPr>
              <a:t>•  TRUE if no two returned rows are identical (no duplicate enrolments that term).</a:t>
            </a:r>
          </a:p>
          <a:p>
            <a:pPr>
              <a:spcAft>
                <a:spcPts val="600"/>
              </a:spcAft>
            </a:pPr>
            <a:r>
              <a:rPr sz="1400">
                <a:solidFill>
                  <a:srgbClr val="1A1A1A"/>
                </a:solidFill>
              </a:rPr>
              <a:t>•  The UNIQUE CONSTRAINT (S22) prevents duplicates in a table; the UNIQUE PREDICATE tests a query result.</a:t>
            </a:r>
          </a:p>
          <a:p>
            <a:pPr>
              <a:spcAft>
                <a:spcPts val="600"/>
              </a:spcAft>
            </a:pPr>
            <a:r>
              <a:rPr sz="1400">
                <a:solidFill>
                  <a:srgbClr val="1A1A1A"/>
                </a:solidFill>
              </a:rPr>
              <a:t>•  MySQL support is limited — the idea is often expressed with GROUP BY … HAVING COUNT(*)=1 instead.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UNIQUE (predicate) = 'is everyone in the room a different person?'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110 / 219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UNIQUE constraint vs UNIQUE predicate — same word, different jobs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29552"/>
                <a:gridCol w="4264925"/>
                <a:gridCol w="4435522"/>
              </a:tblGrid>
              <a:tr h="630936">
                <a:tc>
                  <a:txBody>
                    <a:bodyPr wrap="square"/>
                    <a:lstStyle/>
                    <a:p>
                      <a:r>
                        <a:rPr sz="1100" b="1">
                          <a:solidFill>
                            <a:srgbClr val="FFFFFF"/>
                          </a:solidFill>
                        </a:rPr>
                        <a:t>Aspect</a:t>
                      </a:r>
                    </a:p>
                  </a:txBody>
                  <a:tcPr anchor="ctr" marL="73152" marR="54864" marT="27432" marB="27432">
                    <a:solidFill>
                      <a:srgbClr val="0C2B4A"/>
                    </a:solidFill>
                  </a:tcPr>
                </a:tc>
                <a:tc>
                  <a:txBody>
                    <a:bodyPr wrap="square"/>
                    <a:lstStyle/>
                    <a:p>
                      <a:r>
                        <a:rPr sz="1100" b="1">
                          <a:solidFill>
                            <a:srgbClr val="FFFFFF"/>
                          </a:solidFill>
                        </a:rPr>
                        <a:t>UNIQUE constraint (S22)</a:t>
                      </a:r>
                    </a:p>
                  </a:txBody>
                  <a:tcPr anchor="ctr" marL="73152" marR="54864" marT="27432" marB="27432">
                    <a:solidFill>
                      <a:srgbClr val="0C2B4A"/>
                    </a:solidFill>
                  </a:tcPr>
                </a:tc>
                <a:tc>
                  <a:txBody>
                    <a:bodyPr wrap="square"/>
                    <a:lstStyle/>
                    <a:p>
                      <a:r>
                        <a:rPr sz="1100" b="1">
                          <a:solidFill>
                            <a:srgbClr val="FFFFFF"/>
                          </a:solidFill>
                        </a:rPr>
                        <a:t>UNIQUE predicate (S29)</a:t>
                      </a:r>
                    </a:p>
                  </a:txBody>
                  <a:tcPr anchor="ctr" marL="73152" marR="54864" marT="27432" marB="27432">
                    <a:solidFill>
                      <a:srgbClr val="0C2B4A"/>
                    </a:solidFill>
                  </a:tcPr>
                </a:tc>
              </a:tr>
              <a:tr h="630936">
                <a:tc>
                  <a:txBody>
                    <a:bodyPr wrap="square"/>
                    <a:lstStyle/>
                    <a:p>
                      <a:r>
                        <a:rPr sz="1050" b="1">
                          <a:solidFill>
                            <a:srgbClr val="0C2B4A"/>
                          </a:solidFill>
                        </a:rPr>
                        <a:t>What it is</a:t>
                      </a:r>
                    </a:p>
                  </a:txBody>
                  <a:tcPr anchor="ctr" marL="73152" marR="54864" marT="27432" marB="27432">
                    <a:solidFill>
                      <a:srgbClr val="FFFFFF"/>
                    </a:solidFill>
                  </a:tcPr>
                </a:tc>
                <a:tc>
                  <a:txBody>
                    <a:bodyPr wrap="square"/>
                    <a:lstStyle/>
                    <a:p>
                      <a:r>
                        <a:rPr sz="1050">
                          <a:solidFill>
                            <a:srgbClr val="1A1A1A"/>
                          </a:solidFill>
                        </a:rPr>
                        <a:t>a table rule (DDL)</a:t>
                      </a:r>
                    </a:p>
                  </a:txBody>
                  <a:tcPr anchor="ctr" marL="73152" marR="54864" marT="27432" marB="27432">
                    <a:solidFill>
                      <a:srgbClr val="FFFFFF"/>
                    </a:solidFill>
                  </a:tcPr>
                </a:tc>
                <a:tc>
                  <a:txBody>
                    <a:bodyPr wrap="square"/>
                    <a:lstStyle/>
                    <a:p>
                      <a:r>
                        <a:rPr sz="1050">
                          <a:solidFill>
                            <a:srgbClr val="1A1A1A"/>
                          </a:solidFill>
                        </a:rPr>
                        <a:t>a boolean test in a query</a:t>
                      </a:r>
                    </a:p>
                  </a:txBody>
                  <a:tcPr anchor="ctr" marL="73152" marR="54864" marT="27432" marB="27432">
                    <a:solidFill>
                      <a:srgbClr val="FFFFFF"/>
                    </a:solidFill>
                  </a:tcPr>
                </a:tc>
              </a:tr>
              <a:tr h="630936">
                <a:tc>
                  <a:txBody>
                    <a:bodyPr wrap="square"/>
                    <a:lstStyle/>
                    <a:p>
                      <a:r>
                        <a:rPr sz="1050" b="1">
                          <a:solidFill>
                            <a:srgbClr val="0C2B4A"/>
                          </a:solidFill>
                        </a:rPr>
                        <a:t>Where it lives</a:t>
                      </a:r>
                    </a:p>
                  </a:txBody>
                  <a:tcPr anchor="ctr" marL="73152" marR="54864" marT="27432" marB="27432">
                    <a:solidFill>
                      <a:srgbClr val="EEF3F8"/>
                    </a:solidFill>
                  </a:tcPr>
                </a:tc>
                <a:tc>
                  <a:txBody>
                    <a:bodyPr wrap="square"/>
                    <a:lstStyle/>
                    <a:p>
                      <a:r>
                        <a:rPr sz="1050">
                          <a:solidFill>
                            <a:srgbClr val="1A1A1A"/>
                          </a:solidFill>
                        </a:rPr>
                        <a:t>CREATE TABLE … email UNIQUE</a:t>
                      </a:r>
                    </a:p>
                  </a:txBody>
                  <a:tcPr anchor="ctr" marL="73152" marR="54864" marT="27432" marB="27432">
                    <a:solidFill>
                      <a:srgbClr val="EEF3F8"/>
                    </a:solidFill>
                  </a:tcPr>
                </a:tc>
                <a:tc>
                  <a:txBody>
                    <a:bodyPr wrap="square"/>
                    <a:lstStyle/>
                    <a:p>
                      <a:r>
                        <a:rPr sz="1050">
                          <a:solidFill>
                            <a:srgbClr val="1A1A1A"/>
                          </a:solidFill>
                        </a:rPr>
                        <a:t>WHERE UNIQUE (subquery)</a:t>
                      </a:r>
                    </a:p>
                  </a:txBody>
                  <a:tcPr anchor="ctr" marL="73152" marR="54864" marT="27432" marB="27432">
                    <a:solidFill>
                      <a:srgbClr val="EEF3F8"/>
                    </a:solidFill>
                  </a:tcPr>
                </a:tc>
              </a:tr>
              <a:tr h="630936">
                <a:tc>
                  <a:txBody>
                    <a:bodyPr wrap="square"/>
                    <a:lstStyle/>
                    <a:p>
                      <a:r>
                        <a:rPr sz="1050" b="1">
                          <a:solidFill>
                            <a:srgbClr val="0C2B4A"/>
                          </a:solidFill>
                        </a:rPr>
                        <a:t>When it acts</a:t>
                      </a:r>
                    </a:p>
                  </a:txBody>
                  <a:tcPr anchor="ctr" marL="73152" marR="54864" marT="27432" marB="27432">
                    <a:solidFill>
                      <a:srgbClr val="FFFFFF"/>
                    </a:solidFill>
                  </a:tcPr>
                </a:tc>
                <a:tc>
                  <a:txBody>
                    <a:bodyPr wrap="square"/>
                    <a:lstStyle/>
                    <a:p>
                      <a:r>
                        <a:rPr sz="1050">
                          <a:solidFill>
                            <a:srgbClr val="1A1A1A"/>
                          </a:solidFill>
                        </a:rPr>
                        <a:t>on every INSERT/UPDATE</a:t>
                      </a:r>
                    </a:p>
                  </a:txBody>
                  <a:tcPr anchor="ctr" marL="73152" marR="54864" marT="27432" marB="27432">
                    <a:solidFill>
                      <a:srgbClr val="FFFFFF"/>
                    </a:solidFill>
                  </a:tcPr>
                </a:tc>
                <a:tc>
                  <a:txBody>
                    <a:bodyPr wrap="square"/>
                    <a:lstStyle/>
                    <a:p>
                      <a:r>
                        <a:rPr sz="1050">
                          <a:solidFill>
                            <a:srgbClr val="1A1A1A"/>
                          </a:solidFill>
                        </a:rPr>
                        <a:t>when the query runs</a:t>
                      </a:r>
                    </a:p>
                  </a:txBody>
                  <a:tcPr anchor="ctr" marL="73152" marR="54864" marT="27432" marB="27432">
                    <a:solidFill>
                      <a:srgbClr val="FFFFFF"/>
                    </a:solidFill>
                  </a:tcPr>
                </a:tc>
              </a:tr>
              <a:tr h="630936">
                <a:tc>
                  <a:txBody>
                    <a:bodyPr wrap="square"/>
                    <a:lstStyle/>
                    <a:p>
                      <a:r>
                        <a:rPr sz="1050" b="1">
                          <a:solidFill>
                            <a:srgbClr val="0C2B4A"/>
                          </a:solidFill>
                        </a:rPr>
                        <a:t>Purpose</a:t>
                      </a:r>
                    </a:p>
                  </a:txBody>
                  <a:tcPr anchor="ctr" marL="73152" marR="54864" marT="27432" marB="27432">
                    <a:solidFill>
                      <a:srgbClr val="EEF3F8"/>
                    </a:solidFill>
                  </a:tcPr>
                </a:tc>
                <a:tc>
                  <a:txBody>
                    <a:bodyPr wrap="square"/>
                    <a:lstStyle/>
                    <a:p>
                      <a:r>
                        <a:rPr sz="1050">
                          <a:solidFill>
                            <a:srgbClr val="1A1A1A"/>
                          </a:solidFill>
                        </a:rPr>
                        <a:t>prevent duplicate values ever stored</a:t>
                      </a:r>
                    </a:p>
                  </a:txBody>
                  <a:tcPr anchor="ctr" marL="73152" marR="54864" marT="27432" marB="27432">
                    <a:solidFill>
                      <a:srgbClr val="EEF3F8"/>
                    </a:solidFill>
                  </a:tcPr>
                </a:tc>
                <a:tc>
                  <a:txBody>
                    <a:bodyPr wrap="square"/>
                    <a:lstStyle/>
                    <a:p>
                      <a:r>
                        <a:rPr sz="1050">
                          <a:solidFill>
                            <a:srgbClr val="1A1A1A"/>
                          </a:solidFill>
                        </a:rPr>
                        <a:t>test if a result has duplicates</a:t>
                      </a:r>
                    </a:p>
                  </a:txBody>
                  <a:tcPr anchor="ctr" marL="73152" marR="54864" marT="27432" marB="27432">
                    <a:solidFill>
                      <a:srgbClr val="EEF3F8"/>
                    </a:solidFill>
                  </a:tcPr>
                </a:tc>
              </a:tr>
              <a:tr h="630936">
                <a:tc>
                  <a:txBody>
                    <a:bodyPr wrap="square"/>
                    <a:lstStyle/>
                    <a:p>
                      <a:r>
                        <a:rPr sz="1050" b="1">
                          <a:solidFill>
                            <a:srgbClr val="0C2B4A"/>
                          </a:solidFill>
                        </a:rPr>
                        <a:t>Returns</a:t>
                      </a:r>
                    </a:p>
                  </a:txBody>
                  <a:tcPr anchor="ctr" marL="73152" marR="54864" marT="27432" marB="27432">
                    <a:solidFill>
                      <a:srgbClr val="FFFFFF"/>
                    </a:solidFill>
                  </a:tcPr>
                </a:tc>
                <a:tc>
                  <a:txBody>
                    <a:bodyPr wrap="square"/>
                    <a:lstStyle/>
                    <a:p>
                      <a:r>
                        <a:rPr sz="1050">
                          <a:solidFill>
                            <a:srgbClr val="1A1A1A"/>
                          </a:solidFill>
                        </a:rPr>
                        <a:t>nothing (rejects bad data)</a:t>
                      </a:r>
                    </a:p>
                  </a:txBody>
                  <a:tcPr anchor="ctr" marL="73152" marR="54864" marT="27432" marB="27432">
                    <a:solidFill>
                      <a:srgbClr val="FFFFFF"/>
                    </a:solidFill>
                  </a:tcPr>
                </a:tc>
                <a:tc>
                  <a:txBody>
                    <a:bodyPr wrap="square"/>
                    <a:lstStyle/>
                    <a:p>
                      <a:r>
                        <a:rPr sz="1050">
                          <a:solidFill>
                            <a:srgbClr val="1A1A1A"/>
                          </a:solidFill>
                        </a:rPr>
                        <a:t>TRUE / FALSE</a:t>
                      </a:r>
                    </a:p>
                  </a:txBody>
                  <a:tcPr anchor="ctr" marL="73152" marR="54864" marT="27432" marB="27432">
                    <a:solidFill>
                      <a:srgbClr val="FFFFFF"/>
                    </a:solidFill>
                  </a:tcPr>
                </a:tc>
              </a:tr>
              <a:tr h="630936">
                <a:tc>
                  <a:txBody>
                    <a:bodyPr wrap="square"/>
                    <a:lstStyle/>
                    <a:p>
                      <a:r>
                        <a:rPr sz="1050" b="1">
                          <a:solidFill>
                            <a:srgbClr val="0C2B4A"/>
                          </a:solidFill>
                        </a:rPr>
                        <a:t>MySQL</a:t>
                      </a:r>
                    </a:p>
                  </a:txBody>
                  <a:tcPr anchor="ctr" marL="73152" marR="54864" marT="27432" marB="27432">
                    <a:solidFill>
                      <a:srgbClr val="EEF3F8"/>
                    </a:solidFill>
                  </a:tcPr>
                </a:tc>
                <a:tc>
                  <a:txBody>
                    <a:bodyPr wrap="square"/>
                    <a:lstStyle/>
                    <a:p>
                      <a:r>
                        <a:rPr sz="1050">
                          <a:solidFill>
                            <a:srgbClr val="1A1A1A"/>
                          </a:solidFill>
                        </a:rPr>
                        <a:t>fully supported</a:t>
                      </a:r>
                    </a:p>
                  </a:txBody>
                  <a:tcPr anchor="ctr" marL="73152" marR="54864" marT="27432" marB="27432">
                    <a:solidFill>
                      <a:srgbClr val="EEF3F8"/>
                    </a:solidFill>
                  </a:tcPr>
                </a:tc>
                <a:tc>
                  <a:txBody>
                    <a:bodyPr wrap="square"/>
                    <a:lstStyle/>
                    <a:p>
                      <a:r>
                        <a:rPr sz="1050">
                          <a:solidFill>
                            <a:srgbClr val="1A1A1A"/>
                          </a:solidFill>
                        </a:rPr>
                        <a:t>not supported — use HAVING COUNT(*)=1</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Don't conflate them: the constraint STOPS duplicates being stored; the predicate CHECKS whether a query result happens to be duplicate-free. In MySQL, emulate the predicate with GROUP BY … HAVING COUNT(*)=1.</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111 / 219</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UNIQUE Predicate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To check that no student double-registered for a course in a term, the UNIQUE predicate would test the enrolment subquery for that course. In practice on MySQL you write SELECT course_id FROM Enrollment GROUP BY course_id, sem HAVING COUNT(roll) &lt;&gt; COUNT(DISTINCT roll) to find any course with duplicate registrations.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UNIQUE constraint and the UNIQUE predicate are the same thing." No — one is a stored table rule (S22) that prevents duplicates; the other is a query-time boolean test that checks whether a result set has duplicates. Same keyword, different roles.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UNIQUE predicate, UNIQUE(subquery), is TRUE when the subquery returns no duplicate rows — a query-time duplicate-freeness test. It differs from the UNIQUE table constraint (S22), which permanently prevents duplicate values from being stored. MySQL lacks the predicate; it is emulated with GROUP BY … HAVING COUNT(*)=1.</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UNIQUE predicate · duplicate-free test · vs UNIQUE constraint · MySQL: HAVING COUNT(*)=1</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112 / 219</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S29 — IN vs EXISTS: which reads better?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compare IN and EXISTS for 'students who are enrolled somewhere'.</a:t>
            </a:r>
          </a:p>
          <a:p>
            <a:pPr>
              <a:spcAft>
                <a:spcPts val="700"/>
              </a:spcAft>
            </a:pPr>
            <a:r>
              <a:rPr sz="1550">
                <a:solidFill>
                  <a:srgbClr val="1A1A1A"/>
                </a:solidFill>
              </a:rPr>
              <a:t>•  Write both: WHERE roll IN (SELECT roll FROM Enrollment) vs WHERE EXISTS (…correlated…).</a:t>
            </a:r>
          </a:p>
          <a:p>
            <a:pPr>
              <a:spcAft>
                <a:spcPts val="700"/>
              </a:spcAft>
            </a:pPr>
            <a:r>
              <a:rPr sz="1550">
                <a:solidFill>
                  <a:srgbClr val="1A1A1A"/>
                </a:solidFill>
              </a:rPr>
              <a:t>•  Share aloud (3 min); when does each read more naturally?</a:t>
            </a:r>
          </a:p>
          <a:p>
            <a:pPr>
              <a:spcAft>
                <a:spcPts val="700"/>
              </a:spcAft>
            </a:pPr>
            <a:r>
              <a:rPr sz="1550">
                <a:solidFill>
                  <a:srgbClr val="1A1A1A"/>
                </a:solidFill>
              </a:rPr>
              <a:t>•  Close: EXISTS shines for correlated 'does a related row exist?'; IN for a flat value list.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Both work here. EXISTS is clearer and often faster for correlated existence checks and avoids the NOT IN + NULL trap; IN reads well for a simple membership list. Reward mentioning the NULL safety of NOT EXISTS.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113 / 219</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EXISTS returns TRUE when the subquery:</a:t>
            </a:r>
          </a:p>
          <a:p>
            <a:pPr lvl="1"/>
            <a:r>
              <a:rPr sz="1500" b="1">
                <a:solidFill>
                  <a:srgbClr val="0F6E56"/>
                </a:solidFill>
              </a:rPr>
              <a:t>a) returns 0 rows   b) ✅ returns at least one row   c) returns a NULL   d) has one column</a:t>
            </a:r>
          </a:p>
          <a:p>
            <a:pPr lvl="1">
              <a:spcBef>
                <a:spcPts val="600"/>
              </a:spcBef>
            </a:pPr>
            <a:r>
              <a:rPr sz="1500" i="1">
                <a:solidFill>
                  <a:srgbClr val="1A1A1A"/>
                </a:solidFill>
              </a:rPr>
              <a:t>     Why: EXISTS tests for the presence of any row.</a:t>
            </a:r>
          </a:p>
          <a:p>
            <a:pPr>
              <a:spcBef>
                <a:spcPts val="900"/>
              </a:spcBef>
            </a:pPr>
            <a:r>
              <a:rPr sz="1700" b="1">
                <a:solidFill>
                  <a:srgbClr val="0C2B4A"/>
                </a:solidFill>
              </a:rPr>
              <a:t>Q2.  To find students with NO enrollment at all, use:</a:t>
            </a:r>
          </a:p>
          <a:p>
            <a:pPr lvl="1"/>
            <a:r>
              <a:rPr sz="1500" b="1">
                <a:solidFill>
                  <a:srgbClr val="0F6E56"/>
                </a:solidFill>
              </a:rPr>
              <a:t>a) EXISTS   b) ✅ NOT EXISTS   c) IN   d) UNIQUE</a:t>
            </a:r>
          </a:p>
          <a:p>
            <a:pPr lvl="1">
              <a:spcBef>
                <a:spcPts val="600"/>
              </a:spcBef>
            </a:pPr>
            <a:r>
              <a:rPr sz="1500" i="1">
                <a:solidFill>
                  <a:srgbClr val="1A1A1A"/>
                </a:solidFill>
              </a:rPr>
              <a:t>     Why: NOT EXISTS is TRUE exactly when the related set is empty.</a:t>
            </a:r>
          </a:p>
          <a:p>
            <a:pPr>
              <a:spcBef>
                <a:spcPts val="900"/>
              </a:spcBef>
            </a:pPr>
            <a:r>
              <a:rPr sz="1700" b="1">
                <a:solidFill>
                  <a:srgbClr val="0C2B4A"/>
                </a:solidFill>
              </a:rPr>
              <a:t>Q3.  Inside EXISTS, SELECT * and SELECT 1 are:</a:t>
            </a:r>
          </a:p>
          <a:p>
            <a:pPr lvl="1"/>
            <a:r>
              <a:rPr sz="1500" b="1">
                <a:solidFill>
                  <a:srgbClr val="0F6E56"/>
                </a:solidFill>
              </a:rPr>
              <a:t>a) different   b) ✅ equivalent   c) errors   d) faster/slower respectively</a:t>
            </a:r>
          </a:p>
          <a:p>
            <a:pPr lvl="1">
              <a:spcBef>
                <a:spcPts val="600"/>
              </a:spcBef>
            </a:pPr>
            <a:r>
              <a:rPr sz="1500" i="1">
                <a:solidFill>
                  <a:srgbClr val="1A1A1A"/>
                </a:solidFill>
              </a:rPr>
              <a:t>     Why: EXISTS only checks row existence, not the selected columns.</a:t>
            </a:r>
          </a:p>
          <a:p>
            <a:pPr lvl="1">
              <a:spcBef>
                <a:spcPts val="600"/>
              </a:spcBef>
            </a:pPr>
            <a:r>
              <a:rPr sz="1500" i="1">
                <a:solidFill>
                  <a:srgbClr val="1A1A1A"/>
                </a:solidFill>
              </a:rPr>
              <a:t>Discussion: compare IN vs EXISTS — when does each read more naturally?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114 / 219</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EXISTS is TRUE if the (usually correlated) subquery returns any row; SELECT 1 is idiomatic.</a:t>
            </a:r>
          </a:p>
          <a:p>
            <a:pPr>
              <a:spcAft>
                <a:spcPts val="800"/>
              </a:spcAft>
            </a:pPr>
            <a:r>
              <a:rPr sz="1500">
                <a:solidFill>
                  <a:srgbClr val="1A1A1A"/>
                </a:solidFill>
              </a:rPr>
              <a:t>2.  NOT EXISTS expresses 'none' and, doubled, 'for all' (there is no counterexample).</a:t>
            </a:r>
          </a:p>
          <a:p>
            <a:pPr>
              <a:spcAft>
                <a:spcPts val="800"/>
              </a:spcAft>
            </a:pPr>
            <a:r>
              <a:rPr sz="1500">
                <a:solidFill>
                  <a:srgbClr val="1A1A1A"/>
                </a:solidFill>
              </a:rPr>
              <a:t>3.  The UNIQUE predicate tests a result for duplicates — distinct from the UNIQUE table constraint.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'Remind every customer who has NOT ordered this month' is a textbook NOT EXISTS query powering retention and re-engagement across e-commerce and fintech. Existence tests are how you find who is missing.</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S30 — packaging queries for reuse: derived relations and views.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115 / 219</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30 · LECTURE HOUR 9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Derived Relations · Views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keep typing the same 6-line join for the merit list. What if you could save it under one name and just call it MeritList?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116 / 219</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Derived Relations (Subquery in FROM)</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derived relation is a subquery used in the FROM clause as if it were a table. It must be given an alias. It lets you query the result of a query — for example, filter on an aggregate.</a:t>
            </a:r>
          </a:p>
          <a:p>
            <a:pPr>
              <a:spcAft>
                <a:spcPts val="500"/>
              </a:spcAft>
            </a:pPr>
            <a:r>
              <a:rPr sz="1200" b="1">
                <a:solidFill>
                  <a:srgbClr val="185FA5"/>
                </a:solidFill>
              </a:rPr>
              <a:t>HOW IT WORKS</a:t>
            </a:r>
          </a:p>
          <a:p>
            <a:pPr>
              <a:spcAft>
                <a:spcPts val="600"/>
              </a:spcAft>
            </a:pPr>
            <a:r>
              <a:rPr sz="1400">
                <a:solidFill>
                  <a:srgbClr val="1A1A1A"/>
                </a:solidFill>
              </a:rPr>
              <a:t>•  SELECT dept, avg_sal FROM (SELECT dept, AVG(salary) AS avg_sal FROM Instructor GROUP BY dept) AS d WHERE avg_sal &gt; 60000;</a:t>
            </a:r>
          </a:p>
          <a:p>
            <a:pPr>
              <a:spcAft>
                <a:spcPts val="600"/>
              </a:spcAft>
            </a:pPr>
            <a:r>
              <a:rPr sz="1400">
                <a:solidFill>
                  <a:srgbClr val="1A1A1A"/>
                </a:solidFill>
              </a:rPr>
              <a:t>•  The inner query builds a temporary result; the outer treats it as a table.</a:t>
            </a:r>
          </a:p>
          <a:p>
            <a:pPr>
              <a:spcAft>
                <a:spcPts val="600"/>
              </a:spcAft>
            </a:pPr>
            <a:r>
              <a:rPr sz="1400">
                <a:solidFill>
                  <a:srgbClr val="1A1A1A"/>
                </a:solidFill>
              </a:rPr>
              <a:t>•  A derived table MUST have an alias (… ) AS d — MySQL requires it.</a:t>
            </a:r>
          </a:p>
          <a:p>
            <a:pPr>
              <a:spcAft>
                <a:spcPts val="600"/>
              </a:spcAft>
            </a:pPr>
            <a:r>
              <a:rPr sz="1400">
                <a:solidFill>
                  <a:srgbClr val="1A1A1A"/>
                </a:solidFill>
              </a:rPr>
              <a:t>•  It is the clean way to filter on an aggregate you just computed.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derived relation = a query pretending to be a table (needs a name tag).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117 / 219</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Derived relations — why put a query in FROM</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02428"/>
                <a:gridCol w="5878285"/>
                <a:gridCol w="2449285"/>
              </a:tblGrid>
              <a:tr h="736092">
                <a:tc>
                  <a:txBody>
                    <a:bodyPr wrap="square"/>
                    <a:lstStyle/>
                    <a:p>
                      <a:r>
                        <a:rPr sz="1050" b="1">
                          <a:solidFill>
                            <a:srgbClr val="FFFFFF"/>
                          </a:solidFill>
                        </a:rPr>
                        <a:t>Task</a:t>
                      </a:r>
                    </a:p>
                  </a:txBody>
                  <a:tcPr anchor="ctr" marL="73152" marR="54864" marT="27432" marB="27432">
                    <a:solidFill>
                      <a:srgbClr val="0C2B4A"/>
                    </a:solidFill>
                  </a:tcPr>
                </a:tc>
                <a:tc>
                  <a:txBody>
                    <a:bodyPr wrap="square"/>
                    <a:lstStyle/>
                    <a:p>
                      <a:r>
                        <a:rPr sz="1050" b="1">
                          <a:solidFill>
                            <a:srgbClr val="FFFFFF"/>
                          </a:solidFill>
                        </a:rPr>
                        <a:t>Derived-relation query</a:t>
                      </a:r>
                    </a:p>
                  </a:txBody>
                  <a:tcPr anchor="ctr" marL="73152" marR="54864" marT="27432" marB="27432">
                    <a:solidFill>
                      <a:srgbClr val="0C2B4A"/>
                    </a:solidFill>
                  </a:tcPr>
                </a:tc>
                <a:tc>
                  <a:txBody>
                    <a:bodyPr wrap="square"/>
                    <a:lstStyle/>
                    <a:p>
                      <a:r>
                        <a:rPr sz="1050" b="1">
                          <a:solidFill>
                            <a:srgbClr val="FFFFFF"/>
                          </a:solidFill>
                        </a:rPr>
                        <a:t>Why not just WHERE?</a:t>
                      </a:r>
                    </a:p>
                  </a:txBody>
                  <a:tcPr anchor="ctr" marL="73152" marR="54864" marT="27432" marB="27432">
                    <a:solidFill>
                      <a:srgbClr val="0C2B4A"/>
                    </a:solidFill>
                  </a:tcPr>
                </a:tc>
              </a:tr>
              <a:tr h="736092">
                <a:tc>
                  <a:txBody>
                    <a:bodyPr wrap="square"/>
                    <a:lstStyle/>
                    <a:p>
                      <a:r>
                        <a:rPr sz="1000" b="1">
                          <a:solidFill>
                            <a:srgbClr val="0C2B4A"/>
                          </a:solidFill>
                        </a:rPr>
                        <a:t>depts averaging &gt; 60k</a:t>
                      </a:r>
                    </a:p>
                  </a:txBody>
                  <a:tcPr anchor="ctr" marL="73152" marR="54864" marT="27432" marB="27432">
                    <a:solidFill>
                      <a:srgbClr val="FFFFFF"/>
                    </a:solidFill>
                  </a:tcPr>
                </a:tc>
                <a:tc>
                  <a:txBody>
                    <a:bodyPr wrap="square"/>
                    <a:lstStyle/>
                    <a:p>
                      <a:r>
                        <a:rPr sz="1000">
                          <a:solidFill>
                            <a:srgbClr val="1A1A1A"/>
                          </a:solidFill>
                        </a:rPr>
                        <a:t>FROM (SELECT dept, AVG(salary) avg_sal … GROUP BY dept) d WHERE avg_sal&gt;60000</a:t>
                      </a:r>
                    </a:p>
                  </a:txBody>
                  <a:tcPr anchor="ctr" marL="73152" marR="54864" marT="27432" marB="27432">
                    <a:solidFill>
                      <a:srgbClr val="FFFFFF"/>
                    </a:solidFill>
                  </a:tcPr>
                </a:tc>
                <a:tc>
                  <a:txBody>
                    <a:bodyPr wrap="square"/>
                    <a:lstStyle/>
                    <a:p>
                      <a:r>
                        <a:rPr sz="1000">
                          <a:solidFill>
                            <a:srgbClr val="1A1A1A"/>
                          </a:solidFill>
                        </a:rPr>
                        <a:t>can't filter AVG in WHERE</a:t>
                      </a:r>
                    </a:p>
                  </a:txBody>
                  <a:tcPr anchor="ctr" marL="73152" marR="54864" marT="27432" marB="27432">
                    <a:solidFill>
                      <a:srgbClr val="FFFFFF"/>
                    </a:solidFill>
                  </a:tcPr>
                </a:tc>
              </a:tr>
              <a:tr h="736092">
                <a:tc>
                  <a:txBody>
                    <a:bodyPr wrap="square"/>
                    <a:lstStyle/>
                    <a:p>
                      <a:r>
                        <a:rPr sz="1000" b="1">
                          <a:solidFill>
                            <a:srgbClr val="0C2B4A"/>
                          </a:solidFill>
                        </a:rPr>
                        <a:t>top-3 then join</a:t>
                      </a:r>
                    </a:p>
                  </a:txBody>
                  <a:tcPr anchor="ctr" marL="73152" marR="54864" marT="27432" marB="27432">
                    <a:solidFill>
                      <a:srgbClr val="EEF3F8"/>
                    </a:solidFill>
                  </a:tcPr>
                </a:tc>
                <a:tc>
                  <a:txBody>
                    <a:bodyPr wrap="square"/>
                    <a:lstStyle/>
                    <a:p>
                      <a:r>
                        <a:rPr sz="1000">
                          <a:solidFill>
                            <a:srgbClr val="1A1A1A"/>
                          </a:solidFill>
                        </a:rPr>
                        <a:t>FROM (SELECT … ORDER BY marks DESC LIMIT 3) t JOIN …</a:t>
                      </a:r>
                    </a:p>
                  </a:txBody>
                  <a:tcPr anchor="ctr" marL="73152" marR="54864" marT="27432" marB="27432">
                    <a:solidFill>
                      <a:srgbClr val="EEF3F8"/>
                    </a:solidFill>
                  </a:tcPr>
                </a:tc>
                <a:tc>
                  <a:txBody>
                    <a:bodyPr wrap="square"/>
                    <a:lstStyle/>
                    <a:p>
                      <a:r>
                        <a:rPr sz="1000">
                          <a:solidFill>
                            <a:srgbClr val="1A1A1A"/>
                          </a:solidFill>
                        </a:rPr>
                        <a:t>pre-limit before joining</a:t>
                      </a:r>
                    </a:p>
                  </a:txBody>
                  <a:tcPr anchor="ctr" marL="73152" marR="54864" marT="27432" marB="27432">
                    <a:solidFill>
                      <a:srgbClr val="EEF3F8"/>
                    </a:solidFill>
                  </a:tcPr>
                </a:tc>
              </a:tr>
              <a:tr h="736092">
                <a:tc>
                  <a:txBody>
                    <a:bodyPr wrap="square"/>
                    <a:lstStyle/>
                    <a:p>
                      <a:r>
                        <a:rPr sz="1000" b="1">
                          <a:solidFill>
                            <a:srgbClr val="0C2B4A"/>
                          </a:solidFill>
                        </a:rPr>
                        <a:t>per-course averages, filtered</a:t>
                      </a:r>
                    </a:p>
                  </a:txBody>
                  <a:tcPr anchor="ctr" marL="73152" marR="54864" marT="27432" marB="27432">
                    <a:solidFill>
                      <a:srgbClr val="FFFFFF"/>
                    </a:solidFill>
                  </a:tcPr>
                </a:tc>
                <a:tc>
                  <a:txBody>
                    <a:bodyPr wrap="square"/>
                    <a:lstStyle/>
                    <a:p>
                      <a:r>
                        <a:rPr sz="1000">
                          <a:solidFill>
                            <a:srgbClr val="1A1A1A"/>
                          </a:solidFill>
                        </a:rPr>
                        <a:t>FROM (SELECT course_id, AVG(marks) a … GROUP BY course_id) x WHERE a&gt;=50</a:t>
                      </a:r>
                    </a:p>
                  </a:txBody>
                  <a:tcPr anchor="ctr" marL="73152" marR="54864" marT="27432" marB="27432">
                    <a:solidFill>
                      <a:srgbClr val="FFFFFF"/>
                    </a:solidFill>
                  </a:tcPr>
                </a:tc>
                <a:tc>
                  <a:txBody>
                    <a:bodyPr wrap="square"/>
                    <a:lstStyle/>
                    <a:p>
                      <a:r>
                        <a:rPr sz="1000">
                          <a:solidFill>
                            <a:srgbClr val="1A1A1A"/>
                          </a:solidFill>
                        </a:rPr>
                        <a:t>reuse the computed avg</a:t>
                      </a:r>
                    </a:p>
                  </a:txBody>
                  <a:tcPr anchor="ctr" marL="73152" marR="54864" marT="27432" marB="27432">
                    <a:solidFill>
                      <a:srgbClr val="FFFFFF"/>
                    </a:solidFill>
                  </a:tcPr>
                </a:tc>
              </a:tr>
              <a:tr h="736092">
                <a:tc>
                  <a:txBody>
                    <a:bodyPr wrap="square"/>
                    <a:lstStyle/>
                    <a:p>
                      <a:r>
                        <a:rPr sz="1000" b="1">
                          <a:solidFill>
                            <a:srgbClr val="0C2B4A"/>
                          </a:solidFill>
                        </a:rPr>
                        <a:t>rank within a subset</a:t>
                      </a:r>
                    </a:p>
                  </a:txBody>
                  <a:tcPr anchor="ctr" marL="73152" marR="54864" marT="27432" marB="27432">
                    <a:solidFill>
                      <a:srgbClr val="EEF3F8"/>
                    </a:solidFill>
                  </a:tcPr>
                </a:tc>
                <a:tc>
                  <a:txBody>
                    <a:bodyPr wrap="square"/>
                    <a:lstStyle/>
                    <a:p>
                      <a:r>
                        <a:rPr sz="1000">
                          <a:solidFill>
                            <a:srgbClr val="1A1A1A"/>
                          </a:solidFill>
                        </a:rPr>
                        <a:t>FROM (SELECT … WHERE dept='IT') sub</a:t>
                      </a:r>
                    </a:p>
                  </a:txBody>
                  <a:tcPr anchor="ctr" marL="73152" marR="54864" marT="27432" marB="27432">
                    <a:solidFill>
                      <a:srgbClr val="EEF3F8"/>
                    </a:solidFill>
                  </a:tcPr>
                </a:tc>
                <a:tc>
                  <a:txBody>
                    <a:bodyPr wrap="square"/>
                    <a:lstStyle/>
                    <a:p>
                      <a:r>
                        <a:rPr sz="1000">
                          <a:solidFill>
                            <a:srgbClr val="1A1A1A"/>
                          </a:solidFill>
                        </a:rPr>
                        <a:t>narrow first, then process</a:t>
                      </a:r>
                    </a:p>
                  </a:txBody>
                  <a:tcPr anchor="ctr" marL="73152" marR="54864" marT="27432" marB="27432">
                    <a:solidFill>
                      <a:srgbClr val="EEF3F8"/>
                    </a:solidFill>
                  </a:tcPr>
                </a:tc>
              </a:tr>
              <a:tr h="736092">
                <a:tc>
                  <a:txBody>
                    <a:bodyPr wrap="square"/>
                    <a:lstStyle/>
                    <a:p>
                      <a:r>
                        <a:rPr sz="1000" b="1">
                          <a:solidFill>
                            <a:srgbClr val="0C2B4A"/>
                          </a:solidFill>
                        </a:rPr>
                        <a:t>aggregate of an aggregate</a:t>
                      </a:r>
                    </a:p>
                  </a:txBody>
                  <a:tcPr anchor="ctr" marL="73152" marR="54864" marT="27432" marB="27432">
                    <a:solidFill>
                      <a:srgbClr val="FFFFFF"/>
                    </a:solidFill>
                  </a:tcPr>
                </a:tc>
                <a:tc>
                  <a:txBody>
                    <a:bodyPr wrap="square"/>
                    <a:lstStyle/>
                    <a:p>
                      <a:r>
                        <a:rPr sz="1000">
                          <a:solidFill>
                            <a:srgbClr val="1A1A1A"/>
                          </a:solidFill>
                        </a:rPr>
                        <a:t>FROM (SELECT dept, COUNT(*) c … GROUP BY dept) g</a:t>
                      </a:r>
                    </a:p>
                  </a:txBody>
                  <a:tcPr anchor="ctr" marL="73152" marR="54864" marT="27432" marB="27432">
                    <a:solidFill>
                      <a:srgbClr val="FFFFFF"/>
                    </a:solidFill>
                  </a:tcPr>
                </a:tc>
                <a:tc>
                  <a:txBody>
                    <a:bodyPr wrap="square"/>
                    <a:lstStyle/>
                    <a:p>
                      <a:r>
                        <a:rPr sz="1000">
                          <a:solidFill>
                            <a:srgbClr val="1A1A1A"/>
                          </a:solidFill>
                        </a:rPr>
                        <a:t>count the groups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derived relation names an intermediate result so the outer query can filter/join on computed columns (like an aggregate) that a single-level WHERE can't reach. Always alias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118 / 219</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Derived Relations (Subquery in FROM)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'departments above the company-average salary' report first computes each department's average in a derived table, then filters it. Analytics queries constantly stack a filter/join on top of a GROUP BY result this way — it is the standard shape for multi-step aggregation.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"You can't put a query in FROM." You can — it's a derived relation (a.k.a. derived table / inline view). The one firm rule in MySQL: it must have an alias, e.g. (SELECT …) AS d, or the query errors.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derived relation is a subquery placed in the FROM clause and used as a table; it must be given an alias. It lets the outer query filter, join, or aggregate over a computed intermediate result (e.g. filtering on a GROUP BY average that WHERE cannot reference directly).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derived relation · subquery in FROM · inline view · mandatory alias · filter on aggregate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119 / 219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Views: CREATE VIEW</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view is a named, stored QUERY — a virtual table computed on demand. CREATE VIEW saves the query under a name; querying the view re-runs its definition against the current base data.</a:t>
            </a:r>
          </a:p>
          <a:p>
            <a:pPr>
              <a:spcAft>
                <a:spcPts val="500"/>
              </a:spcAft>
            </a:pPr>
            <a:r>
              <a:rPr sz="1200" b="1">
                <a:solidFill>
                  <a:srgbClr val="185FA5"/>
                </a:solidFill>
              </a:rPr>
              <a:t>HOW IT WORKS</a:t>
            </a:r>
          </a:p>
          <a:p>
            <a:pPr>
              <a:spcAft>
                <a:spcPts val="600"/>
              </a:spcAft>
            </a:pPr>
            <a:r>
              <a:rPr sz="1400">
                <a:solidFill>
                  <a:srgbClr val="1A1A1A"/>
                </a:solidFill>
              </a:rPr>
              <a:t>•  CREATE VIEW MeritList AS SELECT roll, name, marks FROM Student NATURAL JOIN Enrollment ORDER BY marks DESC;</a:t>
            </a:r>
          </a:p>
          <a:p>
            <a:pPr>
              <a:spcAft>
                <a:spcPts val="600"/>
              </a:spcAft>
            </a:pPr>
            <a:r>
              <a:rPr sz="1400">
                <a:solidFill>
                  <a:srgbClr val="1A1A1A"/>
                </a:solidFill>
              </a:rPr>
              <a:t>•  Then SELECT * FROM MeritList; behaves like a table but stores no data.</a:t>
            </a:r>
          </a:p>
          <a:p>
            <a:pPr>
              <a:spcAft>
                <a:spcPts val="600"/>
              </a:spcAft>
            </a:pPr>
            <a:r>
              <a:rPr sz="1400">
                <a:solidFill>
                  <a:srgbClr val="1A1A1A"/>
                </a:solidFill>
              </a:rPr>
              <a:t>•  The view always reflects the latest base-table data (it re-runs each time).</a:t>
            </a:r>
          </a:p>
          <a:p>
            <a:pPr>
              <a:spcAft>
                <a:spcPts val="600"/>
              </a:spcAft>
            </a:pPr>
            <a:r>
              <a:rPr sz="1400">
                <a:solidFill>
                  <a:srgbClr val="1A1A1A"/>
                </a:solidFill>
              </a:rPr>
              <a:t>•  A view named BIMStudents can expose only the BIM rows to a coordinator.</a:t>
            </a:r>
          </a:p>
        </p:txBody>
      </p:sp>
      <p:pic>
        <p:nvPicPr>
          <p:cNvPr id="6" name="Picture 5" descr="s30_view.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view is a saved query with a name — a virtual table, not a copy.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120 / 219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View vs base table vs derived relation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523506"/>
                <a:gridCol w="2671948"/>
                <a:gridCol w="2968831"/>
                <a:gridCol w="3265714"/>
              </a:tblGrid>
              <a:tr h="630936">
                <a:tc>
                  <a:txBody>
                    <a:bodyPr wrap="square"/>
                    <a:lstStyle/>
                    <a:p>
                      <a:r>
                        <a:rPr sz="1100" b="1">
                          <a:solidFill>
                            <a:srgbClr val="FFFFFF"/>
                          </a:solidFill>
                        </a:rPr>
                        <a:t>Aspect</a:t>
                      </a:r>
                    </a:p>
                  </a:txBody>
                  <a:tcPr anchor="ctr" marL="73152" marR="54864" marT="27432" marB="27432">
                    <a:solidFill>
                      <a:srgbClr val="0C2B4A"/>
                    </a:solidFill>
                  </a:tcPr>
                </a:tc>
                <a:tc>
                  <a:txBody>
                    <a:bodyPr wrap="square"/>
                    <a:lstStyle/>
                    <a:p>
                      <a:r>
                        <a:rPr sz="1100" b="1">
                          <a:solidFill>
                            <a:srgbClr val="FFFFFF"/>
                          </a:solidFill>
                        </a:rPr>
                        <a:t>Base table</a:t>
                      </a:r>
                    </a:p>
                  </a:txBody>
                  <a:tcPr anchor="ctr" marL="73152" marR="54864" marT="27432" marB="27432">
                    <a:solidFill>
                      <a:srgbClr val="0C2B4A"/>
                    </a:solidFill>
                  </a:tcPr>
                </a:tc>
                <a:tc>
                  <a:txBody>
                    <a:bodyPr wrap="square"/>
                    <a:lstStyle/>
                    <a:p>
                      <a:r>
                        <a:rPr sz="1100" b="1">
                          <a:solidFill>
                            <a:srgbClr val="FFFFFF"/>
                          </a:solidFill>
                        </a:rPr>
                        <a:t>View</a:t>
                      </a:r>
                    </a:p>
                  </a:txBody>
                  <a:tcPr anchor="ctr" marL="73152" marR="54864" marT="27432" marB="27432">
                    <a:solidFill>
                      <a:srgbClr val="0C2B4A"/>
                    </a:solidFill>
                  </a:tcPr>
                </a:tc>
                <a:tc>
                  <a:txBody>
                    <a:bodyPr wrap="square"/>
                    <a:lstStyle/>
                    <a:p>
                      <a:r>
                        <a:rPr sz="1100" b="1">
                          <a:solidFill>
                            <a:srgbClr val="FFFFFF"/>
                          </a:solidFill>
                        </a:rPr>
                        <a:t>Derived relation</a:t>
                      </a:r>
                    </a:p>
                  </a:txBody>
                  <a:tcPr anchor="ctr" marL="73152" marR="54864" marT="27432" marB="27432">
                    <a:solidFill>
                      <a:srgbClr val="0C2B4A"/>
                    </a:solidFill>
                  </a:tcPr>
                </a:tc>
              </a:tr>
              <a:tr h="630936">
                <a:tc>
                  <a:txBody>
                    <a:bodyPr wrap="square"/>
                    <a:lstStyle/>
                    <a:p>
                      <a:r>
                        <a:rPr sz="1050" b="1">
                          <a:solidFill>
                            <a:srgbClr val="0C2B4A"/>
                          </a:solidFill>
                        </a:rPr>
                        <a:t>Stores data?</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no (stores the query)</a:t>
                      </a:r>
                    </a:p>
                  </a:txBody>
                  <a:tcPr anchor="ctr" marL="73152" marR="54864" marT="27432" marB="27432">
                    <a:solidFill>
                      <a:srgbClr val="FFFFFF"/>
                    </a:solidFill>
                  </a:tcPr>
                </a:tc>
                <a:tc>
                  <a:txBody>
                    <a:bodyPr wrap="square"/>
                    <a:lstStyle/>
                    <a:p>
                      <a:r>
                        <a:rPr sz="1050">
                          <a:solidFill>
                            <a:srgbClr val="1A1A1A"/>
                          </a:solidFill>
                        </a:rPr>
                        <a:t>no (temporary)</a:t>
                      </a:r>
                    </a:p>
                  </a:txBody>
                  <a:tcPr anchor="ctr" marL="73152" marR="54864" marT="27432" marB="27432">
                    <a:solidFill>
                      <a:srgbClr val="FFFFFF"/>
                    </a:solidFill>
                  </a:tcPr>
                </a:tc>
              </a:tr>
              <a:tr h="630936">
                <a:tc>
                  <a:txBody>
                    <a:bodyPr wrap="square"/>
                    <a:lstStyle/>
                    <a:p>
                      <a:r>
                        <a:rPr sz="1050" b="1">
                          <a:solidFill>
                            <a:srgbClr val="0C2B4A"/>
                          </a:solidFill>
                        </a:rPr>
                        <a:t>Named &amp; reusable?</a:t>
                      </a:r>
                    </a:p>
                  </a:txBody>
                  <a:tcPr anchor="ctr" marL="73152" marR="54864" marT="27432" marB="27432">
                    <a:solidFill>
                      <a:srgbClr val="EEF3F8"/>
                    </a:solidFill>
                  </a:tcPr>
                </a:tc>
                <a:tc>
                  <a:txBody>
                    <a:bodyPr wrap="square"/>
                    <a:lstStyle/>
                    <a:p>
                      <a:r>
                        <a:rPr sz="1050">
                          <a:solidFill>
                            <a:srgbClr val="1A1A1A"/>
                          </a:solidFill>
                        </a:rPr>
                        <a:t>yes</a:t>
                      </a:r>
                    </a:p>
                  </a:txBody>
                  <a:tcPr anchor="ctr" marL="73152" marR="54864" marT="27432" marB="27432">
                    <a:solidFill>
                      <a:srgbClr val="EEF3F8"/>
                    </a:solidFill>
                  </a:tcPr>
                </a:tc>
                <a:tc>
                  <a:txBody>
                    <a:bodyPr wrap="square"/>
                    <a:lstStyle/>
                    <a:p>
                      <a:r>
                        <a:rPr sz="1050">
                          <a:solidFill>
                            <a:srgbClr val="1A1A1A"/>
                          </a:solidFill>
                        </a:rPr>
                        <a:t>yes (persistent name)</a:t>
                      </a:r>
                    </a:p>
                  </a:txBody>
                  <a:tcPr anchor="ctr" marL="73152" marR="54864" marT="27432" marB="27432">
                    <a:solidFill>
                      <a:srgbClr val="EEF3F8"/>
                    </a:solidFill>
                  </a:tcPr>
                </a:tc>
                <a:tc>
                  <a:txBody>
                    <a:bodyPr wrap="square"/>
                    <a:lstStyle/>
                    <a:p>
                      <a:r>
                        <a:rPr sz="1050">
                          <a:solidFill>
                            <a:srgbClr val="1A1A1A"/>
                          </a:solidFill>
                        </a:rPr>
                        <a:t>no (query-local)</a:t>
                      </a:r>
                    </a:p>
                  </a:txBody>
                  <a:tcPr anchor="ctr" marL="73152" marR="54864" marT="27432" marB="27432">
                    <a:solidFill>
                      <a:srgbClr val="EEF3F8"/>
                    </a:solidFill>
                  </a:tcPr>
                </a:tc>
              </a:tr>
              <a:tr h="630936">
                <a:tc>
                  <a:txBody>
                    <a:bodyPr wrap="square"/>
                    <a:lstStyle/>
                    <a:p>
                      <a:r>
                        <a:rPr sz="1050" b="1">
                          <a:solidFill>
                            <a:srgbClr val="0C2B4A"/>
                          </a:solidFill>
                        </a:rPr>
                        <a:t>Reflects latest data?</a:t>
                      </a:r>
                    </a:p>
                  </a:txBody>
                  <a:tcPr anchor="ctr" marL="73152" marR="54864" marT="27432" marB="27432">
                    <a:solidFill>
                      <a:srgbClr val="FFFFFF"/>
                    </a:solidFill>
                  </a:tcPr>
                </a:tc>
                <a:tc>
                  <a:txBody>
                    <a:bodyPr wrap="square"/>
                    <a:lstStyle/>
                    <a:p>
                      <a:r>
                        <a:rPr sz="1050">
                          <a:solidFill>
                            <a:srgbClr val="1A1A1A"/>
                          </a:solidFill>
                        </a:rPr>
                        <a:t>is the data</a:t>
                      </a:r>
                    </a:p>
                  </a:txBody>
                  <a:tcPr anchor="ctr" marL="73152" marR="54864" marT="27432" marB="27432">
                    <a:solidFill>
                      <a:srgbClr val="FFFFFF"/>
                    </a:solidFill>
                  </a:tcPr>
                </a:tc>
                <a:tc>
                  <a:txBody>
                    <a:bodyPr wrap="square"/>
                    <a:lstStyle/>
                    <a:p>
                      <a:r>
                        <a:rPr sz="1050">
                          <a:solidFill>
                            <a:srgbClr val="1A1A1A"/>
                          </a:solidFill>
                        </a:rPr>
                        <a:t>yes, re-runs each time</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r>
              <a:tr h="630936">
                <a:tc>
                  <a:txBody>
                    <a:bodyPr wrap="square"/>
                    <a:lstStyle/>
                    <a:p>
                      <a:r>
                        <a:rPr sz="1050" b="1">
                          <a:solidFill>
                            <a:srgbClr val="0C2B4A"/>
                          </a:solidFill>
                        </a:rPr>
                        <a:t>How created</a:t>
                      </a:r>
                    </a:p>
                  </a:txBody>
                  <a:tcPr anchor="ctr" marL="73152" marR="54864" marT="27432" marB="27432">
                    <a:solidFill>
                      <a:srgbClr val="EEF3F8"/>
                    </a:solidFill>
                  </a:tcPr>
                </a:tc>
                <a:tc>
                  <a:txBody>
                    <a:bodyPr wrap="square"/>
                    <a:lstStyle/>
                    <a:p>
                      <a:r>
                        <a:rPr sz="1050">
                          <a:solidFill>
                            <a:srgbClr val="1A1A1A"/>
                          </a:solidFill>
                        </a:rPr>
                        <a:t>CREATE TABLE</a:t>
                      </a:r>
                    </a:p>
                  </a:txBody>
                  <a:tcPr anchor="ctr" marL="73152" marR="54864" marT="27432" marB="27432">
                    <a:solidFill>
                      <a:srgbClr val="EEF3F8"/>
                    </a:solidFill>
                  </a:tcPr>
                </a:tc>
                <a:tc>
                  <a:txBody>
                    <a:bodyPr wrap="square"/>
                    <a:lstStyle/>
                    <a:p>
                      <a:r>
                        <a:rPr sz="1050">
                          <a:solidFill>
                            <a:srgbClr val="1A1A1A"/>
                          </a:solidFill>
                        </a:rPr>
                        <a:t>CREATE VIEW</a:t>
                      </a:r>
                    </a:p>
                  </a:txBody>
                  <a:tcPr anchor="ctr" marL="73152" marR="54864" marT="27432" marB="27432">
                    <a:solidFill>
                      <a:srgbClr val="EEF3F8"/>
                    </a:solidFill>
                  </a:tcPr>
                </a:tc>
                <a:tc>
                  <a:txBody>
                    <a:bodyPr wrap="square"/>
                    <a:lstStyle/>
                    <a:p>
                      <a:r>
                        <a:rPr sz="1050">
                          <a:solidFill>
                            <a:srgbClr val="1A1A1A"/>
                          </a:solidFill>
                        </a:rPr>
                        <a:t>(SELECT …) AS alias in FROM</a:t>
                      </a:r>
                    </a:p>
                  </a:txBody>
                  <a:tcPr anchor="ctr" marL="73152" marR="54864" marT="27432" marB="27432">
                    <a:solidFill>
                      <a:srgbClr val="EEF3F8"/>
                    </a:solidFill>
                  </a:tcPr>
                </a:tc>
              </a:tr>
              <a:tr h="630936">
                <a:tc>
                  <a:txBody>
                    <a:bodyPr wrap="square"/>
                    <a:lstStyle/>
                    <a:p>
                      <a:r>
                        <a:rPr sz="1050" b="1">
                          <a:solidFill>
                            <a:srgbClr val="0C2B4A"/>
                          </a:solidFill>
                        </a:rPr>
                        <a:t>Example</a:t>
                      </a:r>
                    </a:p>
                  </a:txBody>
                  <a:tcPr anchor="ctr" marL="73152" marR="54864" marT="27432" marB="27432">
                    <a:solidFill>
                      <a:srgbClr val="FFFFFF"/>
                    </a:solidFill>
                  </a:tcPr>
                </a:tc>
                <a:tc>
                  <a:txBody>
                    <a:bodyPr wrap="square"/>
                    <a:lstStyle/>
                    <a:p>
                      <a:r>
                        <a:rPr sz="1050">
                          <a:solidFill>
                            <a:srgbClr val="1A1A1A"/>
                          </a:solidFill>
                        </a:rPr>
                        <a:t>Student</a:t>
                      </a:r>
                    </a:p>
                  </a:txBody>
                  <a:tcPr anchor="ctr" marL="73152" marR="54864" marT="27432" marB="27432">
                    <a:solidFill>
                      <a:srgbClr val="FFFFFF"/>
                    </a:solidFill>
                  </a:tcPr>
                </a:tc>
                <a:tc>
                  <a:txBody>
                    <a:bodyPr wrap="square"/>
                    <a:lstStyle/>
                    <a:p>
                      <a:r>
                        <a:rPr sz="1050">
                          <a:solidFill>
                            <a:srgbClr val="1A1A1A"/>
                          </a:solidFill>
                        </a:rPr>
                        <a:t>MeritList, BIMStudents</a:t>
                      </a:r>
                    </a:p>
                  </a:txBody>
                  <a:tcPr anchor="ctr" marL="73152" marR="54864" marT="27432" marB="27432">
                    <a:solidFill>
                      <a:srgbClr val="FFFFFF"/>
                    </a:solidFill>
                  </a:tcPr>
                </a:tc>
                <a:tc>
                  <a:txBody>
                    <a:bodyPr wrap="square"/>
                    <a:lstStyle/>
                    <a:p>
                      <a:r>
                        <a:rPr sz="1050">
                          <a:solidFill>
                            <a:srgbClr val="1A1A1A"/>
                          </a:solidFill>
                        </a:rPr>
                        <a:t>(SELECT … GROUP BY …) d</a:t>
                      </a:r>
                    </a:p>
                  </a:txBody>
                  <a:tcPr anchor="ctr" marL="73152" marR="54864" marT="27432" marB="27432">
                    <a:solidFill>
                      <a:srgbClr val="FFFFFF"/>
                    </a:solidFill>
                  </a:tcPr>
                </a:tc>
              </a:tr>
              <a:tr h="630936">
                <a:tc>
                  <a:txBody>
                    <a:bodyPr wrap="square"/>
                    <a:lstStyle/>
                    <a:p>
                      <a:r>
                        <a:rPr sz="1050" b="1">
                          <a:solidFill>
                            <a:srgbClr val="0C2B4A"/>
                          </a:solidFill>
                        </a:rPr>
                        <a:t>Lifetime</a:t>
                      </a:r>
                    </a:p>
                  </a:txBody>
                  <a:tcPr anchor="ctr" marL="73152" marR="54864" marT="27432" marB="27432">
                    <a:solidFill>
                      <a:srgbClr val="EEF3F8"/>
                    </a:solidFill>
                  </a:tcPr>
                </a:tc>
                <a:tc>
                  <a:txBody>
                    <a:bodyPr wrap="square"/>
                    <a:lstStyle/>
                    <a:p>
                      <a:r>
                        <a:rPr sz="1050">
                          <a:solidFill>
                            <a:srgbClr val="1A1A1A"/>
                          </a:solidFill>
                        </a:rPr>
                        <a:t>permanent</a:t>
                      </a:r>
                    </a:p>
                  </a:txBody>
                  <a:tcPr anchor="ctr" marL="73152" marR="54864" marT="27432" marB="27432">
                    <a:solidFill>
                      <a:srgbClr val="EEF3F8"/>
                    </a:solidFill>
                  </a:tcPr>
                </a:tc>
                <a:tc>
                  <a:txBody>
                    <a:bodyPr wrap="square"/>
                    <a:lstStyle/>
                    <a:p>
                      <a:r>
                        <a:rPr sz="1050">
                          <a:solidFill>
                            <a:srgbClr val="1A1A1A"/>
                          </a:solidFill>
                        </a:rPr>
                        <a:t>until DROP VIEW</a:t>
                      </a:r>
                    </a:p>
                  </a:txBody>
                  <a:tcPr anchor="ctr" marL="73152" marR="54864" marT="27432" marB="27432">
                    <a:solidFill>
                      <a:srgbClr val="EEF3F8"/>
                    </a:solidFill>
                  </a:tcPr>
                </a:tc>
                <a:tc>
                  <a:txBody>
                    <a:bodyPr wrap="square"/>
                    <a:lstStyle/>
                    <a:p>
                      <a:r>
                        <a:rPr sz="1050">
                          <a:solidFill>
                            <a:srgbClr val="1A1A1A"/>
                          </a:solidFill>
                        </a:rPr>
                        <a:t>just this query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view is a named, reusable derived relation stored in the schema. A standard view stores only the QUERY (recomputed each call); a MATERIALIZED view would store a data copy (MySQL has no native materialized views).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121 / 219</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Views: CREATE VIEW</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Instead of pasting the 6-line merit-list join into every report, a college creates it once as CREATE VIEW MeritList AS … and everyone runs SELECT * FROM MeritList. The view always shows current marks because it re-runs its query against the live Student/Enrollment data each time.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view stores its own copy of the data." A standard view stores only the QUERY definition, not the data — it recomputes on each access, always reflecting the latest base rows. A materialized view would store a copy (and can go stale); MySQL has no native materialized views.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view is a named, stored query that behaves as a virtual table: CREATE VIEW name AS &lt;query&gt;. Querying it re-runs the definition against current base data, so it always reflects the latest rows and stores no data itself. This contrasts with a materialized view, which stores a physical (possibly stale) copy.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view · CREATE VIEW · virtual table · stores query not data · vs materialized view</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122 / 219</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Views — Three Reasons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Views give three benefits: SIMPLICITY (hide a complex join behind one name), SECURITY (expose only allowed columns/rows), and CONSISTENCY (one definition reused everywhere). They do NOT guarantee faster disk access.</a:t>
            </a:r>
          </a:p>
          <a:p>
            <a:pPr>
              <a:spcAft>
                <a:spcPts val="500"/>
              </a:spcAft>
            </a:pPr>
            <a:r>
              <a:rPr sz="1200" b="1">
                <a:solidFill>
                  <a:srgbClr val="185FA5"/>
                </a:solidFill>
              </a:rPr>
              <a:t>HOW IT WORKS</a:t>
            </a:r>
          </a:p>
          <a:p>
            <a:pPr>
              <a:spcAft>
                <a:spcPts val="600"/>
              </a:spcAft>
            </a:pPr>
            <a:r>
              <a:rPr sz="1400">
                <a:solidFill>
                  <a:srgbClr val="1A1A1A"/>
                </a:solidFill>
              </a:rPr>
              <a:t>•  Simplicity: a hard 6-table join becomes SELECT * FROM ReportView.</a:t>
            </a:r>
          </a:p>
          <a:p>
            <a:pPr>
              <a:spcAft>
                <a:spcPts val="600"/>
              </a:spcAft>
            </a:pPr>
            <a:r>
              <a:rPr sz="1400">
                <a:solidFill>
                  <a:srgbClr val="1A1A1A"/>
                </a:solidFill>
              </a:rPr>
              <a:t>•  Security: a teller view hides salary/balance columns they must not see.</a:t>
            </a:r>
          </a:p>
          <a:p>
            <a:pPr>
              <a:spcAft>
                <a:spcPts val="600"/>
              </a:spcAft>
            </a:pPr>
            <a:r>
              <a:rPr sz="1400">
                <a:solidFill>
                  <a:srgbClr val="1A1A1A"/>
                </a:solidFill>
              </a:rPr>
              <a:t>•  Consistency: 'active student' is defined once, so every report agrees.</a:t>
            </a:r>
          </a:p>
          <a:p>
            <a:pPr>
              <a:spcAft>
                <a:spcPts val="600"/>
              </a:spcAft>
            </a:pPr>
            <a:r>
              <a:rPr sz="1400">
                <a:solidFill>
                  <a:srgbClr val="1A1A1A"/>
                </a:solidFill>
              </a:rPr>
              <a:t>•  Not a benefit: a standard view is not inherently faster (it re-runs the query).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view = a saved filter / window into the data — you see through it, you don't copy the room.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123 / 219</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reasons to use views (and the non-reason)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41343"/>
                <a:gridCol w="4094328"/>
                <a:gridCol w="4094328"/>
              </a:tblGrid>
              <a:tr h="630936">
                <a:tc>
                  <a:txBody>
                    <a:bodyPr wrap="square"/>
                    <a:lstStyle/>
                    <a:p>
                      <a:r>
                        <a:rPr sz="1100" b="1">
                          <a:solidFill>
                            <a:srgbClr val="FFFFFF"/>
                          </a:solidFill>
                        </a:rPr>
                        <a:t>Reason</a:t>
                      </a:r>
                    </a:p>
                  </a:txBody>
                  <a:tcPr anchor="ctr" marL="73152" marR="54864" marT="27432" marB="27432">
                    <a:solidFill>
                      <a:srgbClr val="0C2B4A"/>
                    </a:solidFill>
                  </a:tcPr>
                </a:tc>
                <a:tc>
                  <a:txBody>
                    <a:bodyPr wrap="square"/>
                    <a:lstStyle/>
                    <a:p>
                      <a:r>
                        <a:rPr sz="1100" b="1">
                          <a:solidFill>
                            <a:srgbClr val="FFFFFF"/>
                          </a:solidFill>
                        </a:rPr>
                        <a:t>What it gives</a:t>
                      </a:r>
                    </a:p>
                  </a:txBody>
                  <a:tcPr anchor="ctr" marL="73152" marR="54864" marT="27432" marB="27432">
                    <a:solidFill>
                      <a:srgbClr val="0C2B4A"/>
                    </a:solidFill>
                  </a:tcPr>
                </a:tc>
                <a:tc>
                  <a:txBody>
                    <a:bodyPr wrap="square"/>
                    <a:lstStyle/>
                    <a:p>
                      <a:r>
                        <a:rPr sz="1100" b="1">
                          <a:solidFill>
                            <a:srgbClr val="FFFFFF"/>
                          </a:solidFill>
                        </a:rPr>
                        <a:t>Nepal / IT example</a:t>
                      </a:r>
                    </a:p>
                  </a:txBody>
                  <a:tcPr anchor="ctr" marL="73152" marR="54864" marT="27432" marB="27432">
                    <a:solidFill>
                      <a:srgbClr val="0C2B4A"/>
                    </a:solidFill>
                  </a:tcPr>
                </a:tc>
              </a:tr>
              <a:tr h="630936">
                <a:tc>
                  <a:txBody>
                    <a:bodyPr wrap="square"/>
                    <a:lstStyle/>
                    <a:p>
                      <a:r>
                        <a:rPr sz="1050" b="1">
                          <a:solidFill>
                            <a:srgbClr val="0C2B4A"/>
                          </a:solidFill>
                        </a:rPr>
                        <a:t>Simplicity</a:t>
                      </a:r>
                    </a:p>
                  </a:txBody>
                  <a:tcPr anchor="ctr" marL="73152" marR="54864" marT="27432" marB="27432">
                    <a:solidFill>
                      <a:srgbClr val="FFFFFF"/>
                    </a:solidFill>
                  </a:tcPr>
                </a:tc>
                <a:tc>
                  <a:txBody>
                    <a:bodyPr wrap="square"/>
                    <a:lstStyle/>
                    <a:p>
                      <a:r>
                        <a:rPr sz="1050">
                          <a:solidFill>
                            <a:srgbClr val="1A1A1A"/>
                          </a:solidFill>
                        </a:rPr>
                        <a:t>hide a complex join behind one name</a:t>
                      </a:r>
                    </a:p>
                  </a:txBody>
                  <a:tcPr anchor="ctr" marL="73152" marR="54864" marT="27432" marB="27432">
                    <a:solidFill>
                      <a:srgbClr val="FFFFFF"/>
                    </a:solidFill>
                  </a:tcPr>
                </a:tc>
                <a:tc>
                  <a:txBody>
                    <a:bodyPr wrap="square"/>
                    <a:lstStyle/>
                    <a:p>
                      <a:r>
                        <a:rPr sz="1050">
                          <a:solidFill>
                            <a:srgbClr val="1A1A1A"/>
                          </a:solidFill>
                        </a:rPr>
                        <a:t>MeritList instead of a 6-line join</a:t>
                      </a:r>
                    </a:p>
                  </a:txBody>
                  <a:tcPr anchor="ctr" marL="73152" marR="54864" marT="27432" marB="27432">
                    <a:solidFill>
                      <a:srgbClr val="FFFFFF"/>
                    </a:solidFill>
                  </a:tcPr>
                </a:tc>
              </a:tr>
              <a:tr h="630936">
                <a:tc>
                  <a:txBody>
                    <a:bodyPr wrap="square"/>
                    <a:lstStyle/>
                    <a:p>
                      <a:r>
                        <a:rPr sz="1050" b="1">
                          <a:solidFill>
                            <a:srgbClr val="0C2B4A"/>
                          </a:solidFill>
                        </a:rPr>
                        <a:t>Security</a:t>
                      </a:r>
                    </a:p>
                  </a:txBody>
                  <a:tcPr anchor="ctr" marL="73152" marR="54864" marT="27432" marB="27432">
                    <a:solidFill>
                      <a:srgbClr val="EEF3F8"/>
                    </a:solidFill>
                  </a:tcPr>
                </a:tc>
                <a:tc>
                  <a:txBody>
                    <a:bodyPr wrap="square"/>
                    <a:lstStyle/>
                    <a:p>
                      <a:r>
                        <a:rPr sz="1050">
                          <a:solidFill>
                            <a:srgbClr val="1A1A1A"/>
                          </a:solidFill>
                        </a:rPr>
                        <a:t>show only allowed columns/rows</a:t>
                      </a:r>
                    </a:p>
                  </a:txBody>
                  <a:tcPr anchor="ctr" marL="73152" marR="54864" marT="27432" marB="27432">
                    <a:solidFill>
                      <a:srgbClr val="EEF3F8"/>
                    </a:solidFill>
                  </a:tcPr>
                </a:tc>
                <a:tc>
                  <a:txBody>
                    <a:bodyPr wrap="square"/>
                    <a:lstStyle/>
                    <a:p>
                      <a:r>
                        <a:rPr sz="1050">
                          <a:solidFill>
                            <a:srgbClr val="1A1A1A"/>
                          </a:solidFill>
                        </a:rPr>
                        <a:t>teller sees no salary/balance columns</a:t>
                      </a:r>
                    </a:p>
                  </a:txBody>
                  <a:tcPr anchor="ctr" marL="73152" marR="54864" marT="27432" marB="27432">
                    <a:solidFill>
                      <a:srgbClr val="EEF3F8"/>
                    </a:solidFill>
                  </a:tcPr>
                </a:tc>
              </a:tr>
              <a:tr h="630936">
                <a:tc>
                  <a:txBody>
                    <a:bodyPr wrap="square"/>
                    <a:lstStyle/>
                    <a:p>
                      <a:r>
                        <a:rPr sz="1050" b="1">
                          <a:solidFill>
                            <a:srgbClr val="0C2B4A"/>
                          </a:solidFill>
                        </a:rPr>
                        <a:t>Consistency</a:t>
                      </a:r>
                    </a:p>
                  </a:txBody>
                  <a:tcPr anchor="ctr" marL="73152" marR="54864" marT="27432" marB="27432">
                    <a:solidFill>
                      <a:srgbClr val="FFFFFF"/>
                    </a:solidFill>
                  </a:tcPr>
                </a:tc>
                <a:tc>
                  <a:txBody>
                    <a:bodyPr wrap="square"/>
                    <a:lstStyle/>
                    <a:p>
                      <a:r>
                        <a:rPr sz="1050">
                          <a:solidFill>
                            <a:srgbClr val="1A1A1A"/>
                          </a:solidFill>
                        </a:rPr>
                        <a:t>one definition reused everywhere</a:t>
                      </a:r>
                    </a:p>
                  </a:txBody>
                  <a:tcPr anchor="ctr" marL="73152" marR="54864" marT="27432" marB="27432">
                    <a:solidFill>
                      <a:srgbClr val="FFFFFF"/>
                    </a:solidFill>
                  </a:tcPr>
                </a:tc>
                <a:tc>
                  <a:txBody>
                    <a:bodyPr wrap="square"/>
                    <a:lstStyle/>
                    <a:p>
                      <a:r>
                        <a:rPr sz="1050">
                          <a:solidFill>
                            <a:srgbClr val="1A1A1A"/>
                          </a:solidFill>
                        </a:rPr>
                        <a:t>'active student' defined once, all reports agree</a:t>
                      </a:r>
                    </a:p>
                  </a:txBody>
                  <a:tcPr anchor="ctr" marL="73152" marR="54864" marT="27432" marB="27432">
                    <a:solidFill>
                      <a:srgbClr val="FFFFFF"/>
                    </a:solidFill>
                  </a:tcPr>
                </a:tc>
              </a:tr>
              <a:tr h="630936">
                <a:tc>
                  <a:txBody>
                    <a:bodyPr wrap="square"/>
                    <a:lstStyle/>
                    <a:p>
                      <a:r>
                        <a:rPr sz="1050" b="1">
                          <a:solidFill>
                            <a:srgbClr val="0C2B4A"/>
                          </a:solidFill>
                        </a:rPr>
                        <a:t>Row-level security</a:t>
                      </a:r>
                    </a:p>
                  </a:txBody>
                  <a:tcPr anchor="ctr" marL="73152" marR="54864" marT="27432" marB="27432">
                    <a:solidFill>
                      <a:srgbClr val="EEF3F8"/>
                    </a:solidFill>
                  </a:tcPr>
                </a:tc>
                <a:tc>
                  <a:txBody>
                    <a:bodyPr wrap="square"/>
                    <a:lstStyle/>
                    <a:p>
                      <a:r>
                        <a:rPr sz="1050">
                          <a:solidFill>
                            <a:srgbClr val="1A1A1A"/>
                          </a:solidFill>
                        </a:rPr>
                        <a:t>filter to a user's own data</a:t>
                      </a:r>
                    </a:p>
                  </a:txBody>
                  <a:tcPr anchor="ctr" marL="73152" marR="54864" marT="27432" marB="27432">
                    <a:solidFill>
                      <a:srgbClr val="EEF3F8"/>
                    </a:solidFill>
                  </a:tcPr>
                </a:tc>
                <a:tc>
                  <a:txBody>
                    <a:bodyPr wrap="square"/>
                    <a:lstStyle/>
                    <a:p>
                      <a:r>
                        <a:rPr sz="1050">
                          <a:solidFill>
                            <a:srgbClr val="1A1A1A"/>
                          </a:solidFill>
                        </a:rPr>
                        <a:t>Nagarik App: citizen sees only their records</a:t>
                      </a:r>
                    </a:p>
                  </a:txBody>
                  <a:tcPr anchor="ctr" marL="73152" marR="54864" marT="27432" marB="27432">
                    <a:solidFill>
                      <a:srgbClr val="EEF3F8"/>
                    </a:solidFill>
                  </a:tcPr>
                </a:tc>
              </a:tr>
              <a:tr h="630936">
                <a:tc>
                  <a:txBody>
                    <a:bodyPr wrap="square"/>
                    <a:lstStyle/>
                    <a:p>
                      <a:r>
                        <a:rPr sz="1050" b="1">
                          <a:solidFill>
                            <a:srgbClr val="0C2B4A"/>
                          </a:solidFill>
                        </a:rPr>
                        <a:t>Abstraction</a:t>
                      </a:r>
                    </a:p>
                  </a:txBody>
                  <a:tcPr anchor="ctr" marL="73152" marR="54864" marT="27432" marB="27432">
                    <a:solidFill>
                      <a:srgbClr val="FFFFFF"/>
                    </a:solidFill>
                  </a:tcPr>
                </a:tc>
                <a:tc>
                  <a:txBody>
                    <a:bodyPr wrap="square"/>
                    <a:lstStyle/>
                    <a:p>
                      <a:r>
                        <a:rPr sz="1050">
                          <a:solidFill>
                            <a:srgbClr val="1A1A1A"/>
                          </a:solidFill>
                        </a:rPr>
                        <a:t>apps depend on the view, not raw tables</a:t>
                      </a:r>
                    </a:p>
                  </a:txBody>
                  <a:tcPr anchor="ctr" marL="73152" marR="54864" marT="27432" marB="27432">
                    <a:solidFill>
                      <a:srgbClr val="FFFFFF"/>
                    </a:solidFill>
                  </a:tcPr>
                </a:tc>
                <a:tc>
                  <a:txBody>
                    <a:bodyPr wrap="square"/>
                    <a:lstStyle/>
                    <a:p>
                      <a:r>
                        <a:rPr sz="1050">
                          <a:solidFill>
                            <a:srgbClr val="1A1A1A"/>
                          </a:solidFill>
                        </a:rPr>
                        <a:t>refactor base tables without breaking apps</a:t>
                      </a:r>
                    </a:p>
                  </a:txBody>
                  <a:tcPr anchor="ctr" marL="73152" marR="54864" marT="27432" marB="27432">
                    <a:solidFill>
                      <a:srgbClr val="FFFFFF"/>
                    </a:solidFill>
                  </a:tcPr>
                </a:tc>
              </a:tr>
              <a:tr h="630936">
                <a:tc>
                  <a:txBody>
                    <a:bodyPr wrap="square"/>
                    <a:lstStyle/>
                    <a:p>
                      <a:r>
                        <a:rPr sz="1050" b="1">
                          <a:solidFill>
                            <a:srgbClr val="0C2B4A"/>
                          </a:solidFill>
                        </a:rPr>
                        <a:t>NOT a guaranteed benefit</a:t>
                      </a:r>
                    </a:p>
                  </a:txBody>
                  <a:tcPr anchor="ctr" marL="73152" marR="54864" marT="27432" marB="27432">
                    <a:solidFill>
                      <a:srgbClr val="EEF3F8"/>
                    </a:solidFill>
                  </a:tcPr>
                </a:tc>
                <a:tc>
                  <a:txBody>
                    <a:bodyPr wrap="square"/>
                    <a:lstStyle/>
                    <a:p>
                      <a:r>
                        <a:rPr sz="1050">
                          <a:solidFill>
                            <a:srgbClr val="1A1A1A"/>
                          </a:solidFill>
                        </a:rPr>
                        <a:t>faster disk access</a:t>
                      </a:r>
                    </a:p>
                  </a:txBody>
                  <a:tcPr anchor="ctr" marL="73152" marR="54864" marT="27432" marB="27432">
                    <a:solidFill>
                      <a:srgbClr val="EEF3F8"/>
                    </a:solidFill>
                  </a:tcPr>
                </a:tc>
                <a:tc>
                  <a:txBody>
                    <a:bodyPr wrap="square"/>
                    <a:lstStyle/>
                    <a:p>
                      <a:r>
                        <a:rPr sz="1050">
                          <a:solidFill>
                            <a:srgbClr val="1A1A1A"/>
                          </a:solidFill>
                        </a:rPr>
                        <a:t>a standard view re-runs; it isn't inherently faster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Simplicity, security, consistency (and abstraction) are the wins. Speed is NOT — a standard view recomputes each time. That 'faster disk' distractor is a classic exam trap.</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124 / 219</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Views — Three Reasons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Role-based portals are built on views: an admin, a teacher, and a student portal each read a different view of the same tables. A bank teller's view hides the salary and account-balance columns; the Nagarik App shows each citizen only their own records via a per-user filtered view — security and simplicity together.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"Views make queries faster on disk." Not for a standard view — it re-runs its query each time, so it isn't inherently faster (only a materialized view stores results). Views are for simplicity, security, and consistency, not raw speed.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Views provide simplicity (hide complex joins behind one name), security (expose only permitted columns/rows, e.g. hiding salary from a teller or filtering to a citizen's own records), and consistency (a single reused definition). They are not inherently faster on disk — a standard view recomputes on each access.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views · simplicity · security · consistency · row/column hiding · not faster disk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125 / 219</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S30 · HANDS-ON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Build and use a MeritList view</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Create a view MeritList(roll, name, marks) for IT220 in 2026S sorted by marks descending, then query the top of it.</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Write the underlying join: SELECT s.roll, s.name, e.marks FROM Student s JOIN Enrollment e ON s.roll=e.roll WHERE e.course_id='IT220' AND e.sem='2026S'.</a:t>
            </a:r>
          </a:p>
          <a:p>
            <a:pPr>
              <a:spcAft>
                <a:spcPts val="400"/>
              </a:spcAft>
            </a:pPr>
            <a:r>
              <a:rPr sz="1250" b="1">
                <a:solidFill>
                  <a:srgbClr val="854F0B"/>
                </a:solidFill>
              </a:rPr>
              <a:t>Step 2.  </a:t>
            </a:r>
            <a:r>
              <a:rPr sz="1250">
                <a:solidFill>
                  <a:srgbClr val="1A1A1A"/>
                </a:solidFill>
              </a:rPr>
              <a:t>Wrap it in CREATE VIEW MeritList AS &lt;that query&gt; ORDER BY e.marks DESC.</a:t>
            </a:r>
          </a:p>
          <a:p>
            <a:pPr>
              <a:spcAft>
                <a:spcPts val="400"/>
              </a:spcAft>
            </a:pPr>
            <a:r>
              <a:rPr sz="1250" b="1">
                <a:solidFill>
                  <a:srgbClr val="854F0B"/>
                </a:solidFill>
              </a:rPr>
              <a:t>Step 3.  </a:t>
            </a:r>
            <a:r>
              <a:rPr sz="1250">
                <a:solidFill>
                  <a:srgbClr val="1A1A1A"/>
                </a:solidFill>
              </a:rPr>
              <a:t>Now the complex join has a single reusable name: MeritList.</a:t>
            </a:r>
          </a:p>
          <a:p>
            <a:pPr>
              <a:spcAft>
                <a:spcPts val="400"/>
              </a:spcAft>
            </a:pPr>
            <a:r>
              <a:rPr sz="1250" b="1">
                <a:solidFill>
                  <a:srgbClr val="854F0B"/>
                </a:solidFill>
              </a:rPr>
              <a:t>Step 4.  </a:t>
            </a:r>
            <a:r>
              <a:rPr sz="1250">
                <a:solidFill>
                  <a:srgbClr val="1A1A1A"/>
                </a:solidFill>
              </a:rPr>
              <a:t>Query it like a table: SELECT * FROM MeritList LIMIT 3; for the top three.</a:t>
            </a:r>
          </a:p>
          <a:p>
            <a:pPr>
              <a:spcAft>
                <a:spcPts val="400"/>
              </a:spcAft>
            </a:pPr>
            <a:r>
              <a:rPr sz="1250" b="1">
                <a:solidFill>
                  <a:srgbClr val="854F0B"/>
                </a:solidFill>
              </a:rPr>
              <a:t>Step 5.  </a:t>
            </a:r>
            <a:r>
              <a:rPr sz="1250">
                <a:solidFill>
                  <a:srgbClr val="1A1A1A"/>
                </a:solidFill>
              </a:rPr>
              <a:t>Because it stores the QUERY, MeritList always reflects the latest marks.</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CREATE VIEW MeritList AS SELECT s.roll, s.name, e.marks FROM Student s JOIN Enrollment e ON s.roll=e.roll WHERE e.course_id='IT220' AND e.sem='2026S' ORDER BY e.marks DESC;  →  SELECT * FROM MeritList LIMIT 3;</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126 / 219</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S30 — What to hide in a view?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design a view of the Instructor table to show to STUDENTS.</a:t>
            </a:r>
          </a:p>
          <a:p>
            <a:pPr>
              <a:spcAft>
                <a:spcPts val="700"/>
              </a:spcAft>
            </a:pPr>
            <a:r>
              <a:rPr sz="1550">
                <a:solidFill>
                  <a:srgbClr val="1A1A1A"/>
                </a:solidFill>
              </a:rPr>
              <a:t>•  Which columns do you expose (name, dept) and which do you hide (salary)?</a:t>
            </a:r>
          </a:p>
          <a:p>
            <a:pPr>
              <a:spcAft>
                <a:spcPts val="700"/>
              </a:spcAft>
            </a:pPr>
            <a:r>
              <a:rPr sz="1550">
                <a:solidFill>
                  <a:srgbClr val="1A1A1A"/>
                </a:solidFill>
              </a:rPr>
              <a:t>•  Share aloud (3 min); state whether your view is for simplicity, security, or both.</a:t>
            </a:r>
          </a:p>
          <a:p>
            <a:pPr>
              <a:spcAft>
                <a:spcPts val="700"/>
              </a:spcAft>
            </a:pPr>
            <a:r>
              <a:rPr sz="1550">
                <a:solidFill>
                  <a:srgbClr val="1A1A1A"/>
                </a:solidFill>
              </a:rPr>
              <a:t>•  Close: hiding salary is column-level security — a top real-world use of views.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 student-facing view exposes name and dept but hides salary: CREATE VIEW PublicInstructor AS SELECT inst_id, name, dept FROM Instructor. Reward identifying this as security via column hiding.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127 / 219</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standard view stores:</a:t>
            </a:r>
          </a:p>
          <a:p>
            <a:pPr lvl="1"/>
            <a:r>
              <a:rPr sz="1500" b="1">
                <a:solidFill>
                  <a:srgbClr val="0F6E56"/>
                </a:solidFill>
              </a:rPr>
              <a:t>a) a copy of the data   b) ✅ the query definition, not the data   c) an index   d) nothing</a:t>
            </a:r>
          </a:p>
          <a:p>
            <a:pPr lvl="1">
              <a:spcBef>
                <a:spcPts val="600"/>
              </a:spcBef>
            </a:pPr>
            <a:r>
              <a:rPr sz="1500" i="1">
                <a:solidFill>
                  <a:srgbClr val="1A1A1A"/>
                </a:solidFill>
              </a:rPr>
              <a:t>     Why: it re-runs its query each access, always reflecting live data.</a:t>
            </a:r>
          </a:p>
          <a:p>
            <a:pPr>
              <a:spcBef>
                <a:spcPts val="900"/>
              </a:spcBef>
            </a:pPr>
            <a:r>
              <a:rPr sz="1700" b="1">
                <a:solidFill>
                  <a:srgbClr val="0C2B4A"/>
                </a:solidFill>
              </a:rPr>
              <a:t>Q2.  Which is NOT a guaranteed benefit of a view?</a:t>
            </a:r>
          </a:p>
          <a:p>
            <a:pPr lvl="1"/>
            <a:r>
              <a:rPr sz="1500" b="1">
                <a:solidFill>
                  <a:srgbClr val="0F6E56"/>
                </a:solidFill>
              </a:rPr>
              <a:t>a) simplicity   b) security   c) ✅ faster disk access   d) consistency</a:t>
            </a:r>
          </a:p>
          <a:p>
            <a:pPr lvl="1">
              <a:spcBef>
                <a:spcPts val="600"/>
              </a:spcBef>
            </a:pPr>
            <a:r>
              <a:rPr sz="1500" i="1">
                <a:solidFill>
                  <a:srgbClr val="1A1A1A"/>
                </a:solidFill>
              </a:rPr>
              <a:t>     Why: a standard view recomputes, so it isn't inherently faster.</a:t>
            </a:r>
          </a:p>
          <a:p>
            <a:pPr>
              <a:spcBef>
                <a:spcPts val="900"/>
              </a:spcBef>
            </a:pPr>
            <a:r>
              <a:rPr sz="1700" b="1">
                <a:solidFill>
                  <a:srgbClr val="0C2B4A"/>
                </a:solidFill>
              </a:rPr>
              <a:t>Q3.  A subquery used in the FROM clause is a:</a:t>
            </a:r>
          </a:p>
          <a:p>
            <a:pPr lvl="1"/>
            <a:r>
              <a:rPr sz="1500" b="1">
                <a:solidFill>
                  <a:srgbClr val="0F6E56"/>
                </a:solidFill>
              </a:rPr>
              <a:t>a) view   b) ✅ derived relation (must be aliased)   c) trigger   d) index</a:t>
            </a:r>
          </a:p>
          <a:p>
            <a:pPr lvl="1">
              <a:spcBef>
                <a:spcPts val="600"/>
              </a:spcBef>
            </a:pPr>
            <a:r>
              <a:rPr sz="1500" i="1">
                <a:solidFill>
                  <a:srgbClr val="1A1A1A"/>
                </a:solidFill>
              </a:rPr>
              <a:t>     Why: a FROM-clause subquery is a derived table and needs an alias.</a:t>
            </a:r>
          </a:p>
          <a:p>
            <a:pPr lvl="1">
              <a:spcBef>
                <a:spcPts val="600"/>
              </a:spcBef>
            </a:pPr>
            <a:r>
              <a:rPr sz="1500" i="1">
                <a:solidFill>
                  <a:srgbClr val="1A1A1A"/>
                </a:solidFill>
              </a:rPr>
              <a:t>Discussion: which columns would you hide in a view of Instructor shown to students?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128 / 219</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subquery in FROM is a derived relation (must be aliased) — query the result of a query.</a:t>
            </a:r>
          </a:p>
          <a:p>
            <a:pPr>
              <a:spcAft>
                <a:spcPts val="800"/>
              </a:spcAft>
            </a:pPr>
            <a:r>
              <a:rPr sz="1500">
                <a:solidFill>
                  <a:srgbClr val="1A1A1A"/>
                </a:solidFill>
              </a:rPr>
              <a:t>2.  A view is a named, stored QUERY (virtual table); it stores no data and always reflects live rows.</a:t>
            </a:r>
          </a:p>
          <a:p>
            <a:pPr>
              <a:spcAft>
                <a:spcPts val="800"/>
              </a:spcAft>
            </a:pPr>
            <a:r>
              <a:rPr sz="1500">
                <a:solidFill>
                  <a:srgbClr val="1A1A1A"/>
                </a:solidFill>
              </a:rPr>
              <a:t>3.  Views give simplicity, security, and consistency — NOT guaranteed faster disk access.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Admin/teacher/student portals and dashboards are almost always built on views for reuse and role-based security. Understanding views is essential to designing safe, maintainable data access.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S31 — changing the data itself: INSERT, UPDATE, DELETE (and the danger of a missing WHERE).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129 / 219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31 · LECTURE HOUR 10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Modifying Data: INSERT · UPDATE · DELETE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Reading data is safe. CHANGING it is where careers are made or broken — one forgotten WHERE can wipe a whole table.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130 / 219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INSERT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INSERT adds new rows. You list columns and matching VALUES, or insert the result of a SELECT for bulk loads. The VALUES order must match the column list (or all columns, in table order, if the list is omitted).</a:t>
            </a:r>
          </a:p>
          <a:p>
            <a:pPr>
              <a:spcAft>
                <a:spcPts val="500"/>
              </a:spcAft>
            </a:pPr>
            <a:r>
              <a:rPr sz="1200" b="1">
                <a:solidFill>
                  <a:srgbClr val="185FA5"/>
                </a:solidFill>
              </a:rPr>
              <a:t>HOW IT WORKS</a:t>
            </a:r>
          </a:p>
          <a:p>
            <a:pPr>
              <a:spcAft>
                <a:spcPts val="600"/>
              </a:spcAft>
            </a:pPr>
            <a:r>
              <a:rPr sz="1400">
                <a:solidFill>
                  <a:srgbClr val="1A1A1A"/>
                </a:solidFill>
              </a:rPr>
              <a:t>•  INSERT INTO Student(roll,name,program,semester) VALUES (101,'Sita','BIM',4);</a:t>
            </a:r>
          </a:p>
          <a:p>
            <a:pPr>
              <a:spcAft>
                <a:spcPts val="600"/>
              </a:spcAft>
            </a:pPr>
            <a:r>
              <a:rPr sz="1400">
                <a:solidFill>
                  <a:srgbClr val="1A1A1A"/>
                </a:solidFill>
              </a:rPr>
              <a:t>•  Omitting the column list means you must supply all columns in table order.</a:t>
            </a:r>
          </a:p>
          <a:p>
            <a:pPr>
              <a:spcAft>
                <a:spcPts val="600"/>
              </a:spcAft>
            </a:pPr>
            <a:r>
              <a:rPr sz="1400">
                <a:solidFill>
                  <a:srgbClr val="1A1A1A"/>
                </a:solidFill>
              </a:rPr>
              <a:t>•  Bulk: INSERT INTO Archive SELECT * FROM Enrollment WHERE sem='2024F';</a:t>
            </a:r>
          </a:p>
          <a:p>
            <a:pPr>
              <a:spcAft>
                <a:spcPts val="600"/>
              </a:spcAft>
            </a:pPr>
            <a:r>
              <a:rPr sz="1400">
                <a:solidFill>
                  <a:srgbClr val="1A1A1A"/>
                </a:solidFill>
              </a:rPr>
              <a:t>•  Columns not listed take their DEFAULT (S22) or NULL.</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INSERT = add a new row; VALUES must line up with the named columns.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131 / 219</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INSERT forms — column list, order, bulk</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102428"/>
                <a:gridCol w="5551714"/>
                <a:gridCol w="2775857"/>
              </a:tblGrid>
              <a:tr h="736092">
                <a:tc>
                  <a:txBody>
                    <a:bodyPr wrap="square"/>
                    <a:lstStyle/>
                    <a:p>
                      <a:r>
                        <a:rPr sz="1050" b="1">
                          <a:solidFill>
                            <a:srgbClr val="FFFFFF"/>
                          </a:solidFill>
                        </a:rPr>
                        <a:t>Form</a:t>
                      </a:r>
                    </a:p>
                  </a:txBody>
                  <a:tcPr anchor="ctr" marL="73152" marR="54864" marT="27432" marB="27432">
                    <a:solidFill>
                      <a:srgbClr val="0C2B4A"/>
                    </a:solidFill>
                  </a:tcPr>
                </a:tc>
                <a:tc>
                  <a:txBody>
                    <a:bodyPr wrap="square"/>
                    <a:lstStyle/>
                    <a:p>
                      <a:r>
                        <a:rPr sz="1050" b="1">
                          <a:solidFill>
                            <a:srgbClr val="FFFFFF"/>
                          </a:solidFill>
                        </a:rPr>
                        <a:t>Example (MySQL)</a:t>
                      </a:r>
                    </a:p>
                  </a:txBody>
                  <a:tcPr anchor="ctr" marL="73152" marR="54864" marT="27432" marB="27432">
                    <a:solidFill>
                      <a:srgbClr val="0C2B4A"/>
                    </a:solidFill>
                  </a:tcPr>
                </a:tc>
                <a:tc>
                  <a:txBody>
                    <a:bodyPr wrap="square"/>
                    <a:lstStyle/>
                    <a:p>
                      <a:r>
                        <a:rPr sz="1050" b="1">
                          <a:solidFill>
                            <a:srgbClr val="FFFFFF"/>
                          </a:solidFill>
                        </a:rPr>
                        <a:t>Note</a:t>
                      </a:r>
                    </a:p>
                  </a:txBody>
                  <a:tcPr anchor="ctr" marL="73152" marR="54864" marT="27432" marB="27432">
                    <a:solidFill>
                      <a:srgbClr val="0C2B4A"/>
                    </a:solidFill>
                  </a:tcPr>
                </a:tc>
              </a:tr>
              <a:tr h="736092">
                <a:tc>
                  <a:txBody>
                    <a:bodyPr wrap="square"/>
                    <a:lstStyle/>
                    <a:p>
                      <a:r>
                        <a:rPr sz="1000" b="1">
                          <a:solidFill>
                            <a:srgbClr val="0C2B4A"/>
                          </a:solidFill>
                        </a:rPr>
                        <a:t>explicit columns</a:t>
                      </a:r>
                    </a:p>
                  </a:txBody>
                  <a:tcPr anchor="ctr" marL="73152" marR="54864" marT="27432" marB="27432">
                    <a:solidFill>
                      <a:srgbClr val="FFFFFF"/>
                    </a:solidFill>
                  </a:tcPr>
                </a:tc>
                <a:tc>
                  <a:txBody>
                    <a:bodyPr wrap="square"/>
                    <a:lstStyle/>
                    <a:p>
                      <a:r>
                        <a:rPr sz="1000">
                          <a:solidFill>
                            <a:srgbClr val="1A1A1A"/>
                          </a:solidFill>
                        </a:rPr>
                        <a:t>INSERT INTO Student(roll,name) VALUES (106,'Rita')</a:t>
                      </a:r>
                    </a:p>
                  </a:txBody>
                  <a:tcPr anchor="ctr" marL="73152" marR="54864" marT="27432" marB="27432">
                    <a:solidFill>
                      <a:srgbClr val="FFFFFF"/>
                    </a:solidFill>
                  </a:tcPr>
                </a:tc>
                <a:tc>
                  <a:txBody>
                    <a:bodyPr wrap="square"/>
                    <a:lstStyle/>
                    <a:p>
                      <a:r>
                        <a:rPr sz="1000">
                          <a:solidFill>
                            <a:srgbClr val="1A1A1A"/>
                          </a:solidFill>
                        </a:rPr>
                        <a:t>others get DEFAULT/NULL</a:t>
                      </a:r>
                    </a:p>
                  </a:txBody>
                  <a:tcPr anchor="ctr" marL="73152" marR="54864" marT="27432" marB="27432">
                    <a:solidFill>
                      <a:srgbClr val="FFFFFF"/>
                    </a:solidFill>
                  </a:tcPr>
                </a:tc>
              </a:tr>
              <a:tr h="736092">
                <a:tc>
                  <a:txBody>
                    <a:bodyPr wrap="square"/>
                    <a:lstStyle/>
                    <a:p>
                      <a:r>
                        <a:rPr sz="1000" b="1">
                          <a:solidFill>
                            <a:srgbClr val="0C2B4A"/>
                          </a:solidFill>
                        </a:rPr>
                        <a:t>all columns, in order</a:t>
                      </a:r>
                    </a:p>
                  </a:txBody>
                  <a:tcPr anchor="ctr" marL="73152" marR="54864" marT="27432" marB="27432">
                    <a:solidFill>
                      <a:srgbClr val="EEF3F8"/>
                    </a:solidFill>
                  </a:tcPr>
                </a:tc>
                <a:tc>
                  <a:txBody>
                    <a:bodyPr wrap="square"/>
                    <a:lstStyle/>
                    <a:p>
                      <a:r>
                        <a:rPr sz="1000">
                          <a:solidFill>
                            <a:srgbClr val="1A1A1A"/>
                          </a:solidFill>
                        </a:rPr>
                        <a:t>INSERT INTO Course VALUES ('IT250','Digital Economy',3,'IT')</a:t>
                      </a:r>
                    </a:p>
                  </a:txBody>
                  <a:tcPr anchor="ctr" marL="73152" marR="54864" marT="27432" marB="27432">
                    <a:solidFill>
                      <a:srgbClr val="EEF3F8"/>
                    </a:solidFill>
                  </a:tcPr>
                </a:tc>
                <a:tc>
                  <a:txBody>
                    <a:bodyPr wrap="square"/>
                    <a:lstStyle/>
                    <a:p>
                      <a:r>
                        <a:rPr sz="1000">
                          <a:solidFill>
                            <a:srgbClr val="1A1A1A"/>
                          </a:solidFill>
                        </a:rPr>
                        <a:t>must match table order</a:t>
                      </a:r>
                    </a:p>
                  </a:txBody>
                  <a:tcPr anchor="ctr" marL="73152" marR="54864" marT="27432" marB="27432">
                    <a:solidFill>
                      <a:srgbClr val="EEF3F8"/>
                    </a:solidFill>
                  </a:tcPr>
                </a:tc>
              </a:tr>
              <a:tr h="736092">
                <a:tc>
                  <a:txBody>
                    <a:bodyPr wrap="square"/>
                    <a:lstStyle/>
                    <a:p>
                      <a:r>
                        <a:rPr sz="1000" b="1">
                          <a:solidFill>
                            <a:srgbClr val="0C2B4A"/>
                          </a:solidFill>
                        </a:rPr>
                        <a:t>multiple rows at once</a:t>
                      </a:r>
                    </a:p>
                  </a:txBody>
                  <a:tcPr anchor="ctr" marL="73152" marR="54864" marT="27432" marB="27432">
                    <a:solidFill>
                      <a:srgbClr val="FFFFFF"/>
                    </a:solidFill>
                  </a:tcPr>
                </a:tc>
                <a:tc>
                  <a:txBody>
                    <a:bodyPr wrap="square"/>
                    <a:lstStyle/>
                    <a:p>
                      <a:r>
                        <a:rPr sz="1000">
                          <a:solidFill>
                            <a:srgbClr val="1A1A1A"/>
                          </a:solidFill>
                        </a:rPr>
                        <a:t>INSERT INTO Student(roll,name) VALUES (107,'A'),(108,'B')</a:t>
                      </a:r>
                    </a:p>
                  </a:txBody>
                  <a:tcPr anchor="ctr" marL="73152" marR="54864" marT="27432" marB="27432">
                    <a:solidFill>
                      <a:srgbClr val="FFFFFF"/>
                    </a:solidFill>
                  </a:tcPr>
                </a:tc>
                <a:tc>
                  <a:txBody>
                    <a:bodyPr wrap="square"/>
                    <a:lstStyle/>
                    <a:p>
                      <a:r>
                        <a:rPr sz="1000">
                          <a:solidFill>
                            <a:srgbClr val="1A1A1A"/>
                          </a:solidFill>
                        </a:rPr>
                        <a:t>one statement, many rows</a:t>
                      </a:r>
                    </a:p>
                  </a:txBody>
                  <a:tcPr anchor="ctr" marL="73152" marR="54864" marT="27432" marB="27432">
                    <a:solidFill>
                      <a:srgbClr val="FFFFFF"/>
                    </a:solidFill>
                  </a:tcPr>
                </a:tc>
              </a:tr>
              <a:tr h="736092">
                <a:tc>
                  <a:txBody>
                    <a:bodyPr wrap="square"/>
                    <a:lstStyle/>
                    <a:p>
                      <a:r>
                        <a:rPr sz="1000" b="1">
                          <a:solidFill>
                            <a:srgbClr val="0C2B4A"/>
                          </a:solidFill>
                        </a:rPr>
                        <a:t>from a query (bulk)</a:t>
                      </a:r>
                    </a:p>
                  </a:txBody>
                  <a:tcPr anchor="ctr" marL="73152" marR="54864" marT="27432" marB="27432">
                    <a:solidFill>
                      <a:srgbClr val="EEF3F8"/>
                    </a:solidFill>
                  </a:tcPr>
                </a:tc>
                <a:tc>
                  <a:txBody>
                    <a:bodyPr wrap="square"/>
                    <a:lstStyle/>
                    <a:p>
                      <a:r>
                        <a:rPr sz="1000">
                          <a:solidFill>
                            <a:srgbClr val="1A1A1A"/>
                          </a:solidFill>
                        </a:rPr>
                        <a:t>INSERT INTO Archive SELECT * FROM Enrollment WHERE sem='2024F'</a:t>
                      </a:r>
                    </a:p>
                  </a:txBody>
                  <a:tcPr anchor="ctr" marL="73152" marR="54864" marT="27432" marB="27432">
                    <a:solidFill>
                      <a:srgbClr val="EEF3F8"/>
                    </a:solidFill>
                  </a:tcPr>
                </a:tc>
                <a:tc>
                  <a:txBody>
                    <a:bodyPr wrap="square"/>
                    <a:lstStyle/>
                    <a:p>
                      <a:r>
                        <a:rPr sz="1000">
                          <a:solidFill>
                            <a:srgbClr val="1A1A1A"/>
                          </a:solidFill>
                        </a:rPr>
                        <a:t>copy rows across tables</a:t>
                      </a:r>
                    </a:p>
                  </a:txBody>
                  <a:tcPr anchor="ctr" marL="73152" marR="54864" marT="27432" marB="27432">
                    <a:solidFill>
                      <a:srgbClr val="EEF3F8"/>
                    </a:solidFill>
                  </a:tcPr>
                </a:tc>
              </a:tr>
              <a:tr h="736092">
                <a:tc>
                  <a:txBody>
                    <a:bodyPr wrap="square"/>
                    <a:lstStyle/>
                    <a:p>
                      <a:r>
                        <a:rPr sz="1000" b="1">
                          <a:solidFill>
                            <a:srgbClr val="0C2B4A"/>
                          </a:solidFill>
                        </a:rPr>
                        <a:t>wrong: values mis-ordered</a:t>
                      </a:r>
                    </a:p>
                  </a:txBody>
                  <a:tcPr anchor="ctr" marL="73152" marR="54864" marT="27432" marB="27432">
                    <a:solidFill>
                      <a:srgbClr val="FFFFFF"/>
                    </a:solidFill>
                  </a:tcPr>
                </a:tc>
                <a:tc>
                  <a:txBody>
                    <a:bodyPr wrap="square"/>
                    <a:lstStyle/>
                    <a:p>
                      <a:r>
                        <a:rPr sz="1000">
                          <a:solidFill>
                            <a:srgbClr val="1A1A1A"/>
                          </a:solidFill>
                        </a:rPr>
                        <a:t>INSERT INTO Student(roll,name) VALUES ('Sita',101)</a:t>
                      </a:r>
                    </a:p>
                  </a:txBody>
                  <a:tcPr anchor="ctr" marL="73152" marR="54864" marT="27432" marB="27432">
                    <a:solidFill>
                      <a:srgbClr val="FFFFFF"/>
                    </a:solidFill>
                  </a:tcPr>
                </a:tc>
                <a:tc>
                  <a:txBody>
                    <a:bodyPr wrap="square"/>
                    <a:lstStyle/>
                    <a:p>
                      <a:r>
                        <a:rPr sz="1000">
                          <a:solidFill>
                            <a:srgbClr val="1A1A1A"/>
                          </a:solidFill>
                        </a:rPr>
                        <a:t>type/order mismatch → error or bad data</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VALUES must align with the column list by position. Omitting the column list forces all columns in exact table order — brittle if the schema changes, so listing columns is safer.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132 / 219</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INSERT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Registering a new student, adding a Khalti wallet row, recording a new order — each is an INSERT. Bulk archival ('move last year's enrollments to an archive table') uses INSERT … SELECT to copy many rows in one statement.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"Column order doesn't matter in INSERT." It does — VALUES are matched to columns by position. If you omit the column list you must supply every column in exact table order; a mismatch either errors or silently stores data in the wrong column.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INSERT adds rows: INSERT INTO t(cols) VALUES(...), where VALUES must align with the named columns by position (omitted columns take DEFAULT or NULL). Omitting the column list requires all columns in table order. INSERT … SELECT bulk-loads rows from a query. Listing columns explicitly is the safer habit.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INSERT · column list · VALUES order · INSERT … SELECT (bulk) · DEFAULT/NULL for omitted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133 / 219</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UPDATE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UPDATE changes values in existing rows. SET assigns new values; WHERE decides WHICH rows change. Omitting WHERE updates EVERY row — the single most dangerous mistake in SQL.</a:t>
            </a:r>
          </a:p>
          <a:p>
            <a:pPr>
              <a:spcAft>
                <a:spcPts val="500"/>
              </a:spcAft>
            </a:pPr>
            <a:r>
              <a:rPr sz="1200" b="1">
                <a:solidFill>
                  <a:srgbClr val="185FA5"/>
                </a:solidFill>
              </a:rPr>
              <a:t>HOW IT WORKS</a:t>
            </a:r>
          </a:p>
          <a:p>
            <a:pPr>
              <a:spcAft>
                <a:spcPts val="600"/>
              </a:spcAft>
            </a:pPr>
            <a:r>
              <a:rPr sz="1400">
                <a:solidFill>
                  <a:srgbClr val="1A1A1A"/>
                </a:solidFill>
              </a:rPr>
              <a:t>•  UPDATE Enrollment SET grade='A' WHERE roll=101 AND course_id='IT220';</a:t>
            </a:r>
          </a:p>
          <a:p>
            <a:pPr>
              <a:spcAft>
                <a:spcPts val="600"/>
              </a:spcAft>
            </a:pPr>
            <a:r>
              <a:rPr sz="1400">
                <a:solidFill>
                  <a:srgbClr val="1A1A1A"/>
                </a:solidFill>
              </a:rPr>
              <a:t>•  You can compute new values: SET salary = salary*1.10 (a 10% raise).</a:t>
            </a:r>
          </a:p>
          <a:p>
            <a:pPr>
              <a:spcAft>
                <a:spcPts val="600"/>
              </a:spcAft>
            </a:pPr>
            <a:r>
              <a:rPr sz="1400">
                <a:solidFill>
                  <a:srgbClr val="1A1A1A"/>
                </a:solidFill>
              </a:rPr>
              <a:t>•  No WHERE = every row updated — test the WHERE with a SELECT first.</a:t>
            </a:r>
          </a:p>
          <a:p>
            <a:pPr>
              <a:spcAft>
                <a:spcPts val="600"/>
              </a:spcAft>
            </a:pPr>
            <a:r>
              <a:rPr sz="1400">
                <a:solidFill>
                  <a:srgbClr val="1A1A1A"/>
                </a:solidFill>
              </a:rPr>
              <a:t>•  UPDATE can set several columns at once: SET a=…, b=….</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UPDATE without WHERE rewrites the WHOLE table. Always SELECT first.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134 / 219</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UPDATE — safe vs catastrophic</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551714"/>
                <a:gridCol w="3429000"/>
                <a:gridCol w="2449285"/>
              </a:tblGrid>
              <a:tr h="736092">
                <a:tc>
                  <a:txBody>
                    <a:bodyPr wrap="square"/>
                    <a:lstStyle/>
                    <a:p>
                      <a:r>
                        <a:rPr sz="1050" b="1">
                          <a:solidFill>
                            <a:srgbClr val="FFFFFF"/>
                          </a:solidFill>
                        </a:rPr>
                        <a:t>Statement</a:t>
                      </a:r>
                    </a:p>
                  </a:txBody>
                  <a:tcPr anchor="ctr" marL="73152" marR="54864" marT="27432" marB="27432">
                    <a:solidFill>
                      <a:srgbClr val="0C2B4A"/>
                    </a:solidFill>
                  </a:tcPr>
                </a:tc>
                <a:tc>
                  <a:txBody>
                    <a:bodyPr wrap="square"/>
                    <a:lstStyle/>
                    <a:p>
                      <a:r>
                        <a:rPr sz="1050" b="1">
                          <a:solidFill>
                            <a:srgbClr val="FFFFFF"/>
                          </a:solidFill>
                        </a:rPr>
                        <a:t>Effect</a:t>
                      </a:r>
                    </a:p>
                  </a:txBody>
                  <a:tcPr anchor="ctr" marL="73152" marR="54864" marT="27432" marB="27432">
                    <a:solidFill>
                      <a:srgbClr val="0C2B4A"/>
                    </a:solidFill>
                  </a:tcPr>
                </a:tc>
                <a:tc>
                  <a:txBody>
                    <a:bodyPr wrap="square"/>
                    <a:lstStyle/>
                    <a:p>
                      <a:r>
                        <a:rPr sz="1050" b="1">
                          <a:solidFill>
                            <a:srgbClr val="FFFFFF"/>
                          </a:solidFill>
                        </a:rPr>
                        <a:t>Verdict</a:t>
                      </a:r>
                    </a:p>
                  </a:txBody>
                  <a:tcPr anchor="ctr" marL="73152" marR="54864" marT="27432" marB="27432">
                    <a:solidFill>
                      <a:srgbClr val="0C2B4A"/>
                    </a:solidFill>
                  </a:tcPr>
                </a:tc>
              </a:tr>
              <a:tr h="736092">
                <a:tc>
                  <a:txBody>
                    <a:bodyPr wrap="square"/>
                    <a:lstStyle/>
                    <a:p>
                      <a:r>
                        <a:rPr sz="1000" b="1">
                          <a:solidFill>
                            <a:srgbClr val="0C2B4A"/>
                          </a:solidFill>
                        </a:rPr>
                        <a:t>UPDATE Enrollment SET grade='A' WHERE roll=101 AND course_id='IT220'</a:t>
                      </a:r>
                    </a:p>
                  </a:txBody>
                  <a:tcPr anchor="ctr" marL="73152" marR="54864" marT="27432" marB="27432">
                    <a:solidFill>
                      <a:srgbClr val="FFFFFF"/>
                    </a:solidFill>
                  </a:tcPr>
                </a:tc>
                <a:tc>
                  <a:txBody>
                    <a:bodyPr wrap="square"/>
                    <a:lstStyle/>
                    <a:p>
                      <a:r>
                        <a:rPr sz="1000">
                          <a:solidFill>
                            <a:srgbClr val="1A1A1A"/>
                          </a:solidFill>
                        </a:rPr>
                        <a:t>one specific enrollment</a:t>
                      </a:r>
                    </a:p>
                  </a:txBody>
                  <a:tcPr anchor="ctr" marL="73152" marR="54864" marT="27432" marB="27432">
                    <a:solidFill>
                      <a:srgbClr val="FFFFFF"/>
                    </a:solidFill>
                  </a:tcPr>
                </a:tc>
                <a:tc>
                  <a:txBody>
                    <a:bodyPr wrap="square"/>
                    <a:lstStyle/>
                    <a:p>
                      <a:r>
                        <a:rPr sz="1000">
                          <a:solidFill>
                            <a:srgbClr val="1A1A1A"/>
                          </a:solidFill>
                        </a:rPr>
                        <a:t>safe (targeted)</a:t>
                      </a:r>
                    </a:p>
                  </a:txBody>
                  <a:tcPr anchor="ctr" marL="73152" marR="54864" marT="27432" marB="27432">
                    <a:solidFill>
                      <a:srgbClr val="FFFFFF"/>
                    </a:solidFill>
                  </a:tcPr>
                </a:tc>
              </a:tr>
              <a:tr h="736092">
                <a:tc>
                  <a:txBody>
                    <a:bodyPr wrap="square"/>
                    <a:lstStyle/>
                    <a:p>
                      <a:r>
                        <a:rPr sz="1000" b="1">
                          <a:solidFill>
                            <a:srgbClr val="0C2B4A"/>
                          </a:solidFill>
                        </a:rPr>
                        <a:t>UPDATE Instructor SET salary=salary*1.10 WHERE dept='IT'</a:t>
                      </a:r>
                    </a:p>
                  </a:txBody>
                  <a:tcPr anchor="ctr" marL="73152" marR="54864" marT="27432" marB="27432">
                    <a:solidFill>
                      <a:srgbClr val="EEF3F8"/>
                    </a:solidFill>
                  </a:tcPr>
                </a:tc>
                <a:tc>
                  <a:txBody>
                    <a:bodyPr wrap="square"/>
                    <a:lstStyle/>
                    <a:p>
                      <a:r>
                        <a:rPr sz="1000">
                          <a:solidFill>
                            <a:srgbClr val="1A1A1A"/>
                          </a:solidFill>
                        </a:rPr>
                        <a:t>IT instructors get a 10% raise</a:t>
                      </a:r>
                    </a:p>
                  </a:txBody>
                  <a:tcPr anchor="ctr" marL="73152" marR="54864" marT="27432" marB="27432">
                    <a:solidFill>
                      <a:srgbClr val="EEF3F8"/>
                    </a:solidFill>
                  </a:tcPr>
                </a:tc>
                <a:tc>
                  <a:txBody>
                    <a:bodyPr wrap="square"/>
                    <a:lstStyle/>
                    <a:p>
                      <a:r>
                        <a:rPr sz="1000">
                          <a:solidFill>
                            <a:srgbClr val="1A1A1A"/>
                          </a:solidFill>
                        </a:rPr>
                        <a:t>safe (scoped)</a:t>
                      </a:r>
                    </a:p>
                  </a:txBody>
                  <a:tcPr anchor="ctr" marL="73152" marR="54864" marT="27432" marB="27432">
                    <a:solidFill>
                      <a:srgbClr val="EEF3F8"/>
                    </a:solidFill>
                  </a:tcPr>
                </a:tc>
              </a:tr>
              <a:tr h="736092">
                <a:tc>
                  <a:txBody>
                    <a:bodyPr wrap="square"/>
                    <a:lstStyle/>
                    <a:p>
                      <a:r>
                        <a:rPr sz="1000" b="1">
                          <a:solidFill>
                            <a:srgbClr val="0C2B4A"/>
                          </a:solidFill>
                        </a:rPr>
                        <a:t>UPDATE Enrollment SET grade='A'</a:t>
                      </a:r>
                    </a:p>
                  </a:txBody>
                  <a:tcPr anchor="ctr" marL="73152" marR="54864" marT="27432" marB="27432">
                    <a:solidFill>
                      <a:srgbClr val="FFFFFF"/>
                    </a:solidFill>
                  </a:tcPr>
                </a:tc>
                <a:tc>
                  <a:txBody>
                    <a:bodyPr wrap="square"/>
                    <a:lstStyle/>
                    <a:p>
                      <a:r>
                        <a:rPr sz="1000">
                          <a:solidFill>
                            <a:srgbClr val="1A1A1A"/>
                          </a:solidFill>
                        </a:rPr>
                        <a:t>EVERY row gets grade A</a:t>
                      </a:r>
                    </a:p>
                  </a:txBody>
                  <a:tcPr anchor="ctr" marL="73152" marR="54864" marT="27432" marB="27432">
                    <a:solidFill>
                      <a:srgbClr val="FFFFFF"/>
                    </a:solidFill>
                  </a:tcPr>
                </a:tc>
                <a:tc>
                  <a:txBody>
                    <a:bodyPr wrap="square"/>
                    <a:lstStyle/>
                    <a:p>
                      <a:r>
                        <a:rPr sz="1000">
                          <a:solidFill>
                            <a:srgbClr val="1A1A1A"/>
                          </a:solidFill>
                        </a:rPr>
                        <a:t>catastrophe (no WHERE)</a:t>
                      </a:r>
                    </a:p>
                  </a:txBody>
                  <a:tcPr anchor="ctr" marL="73152" marR="54864" marT="27432" marB="27432">
                    <a:solidFill>
                      <a:srgbClr val="FFFFFF"/>
                    </a:solidFill>
                  </a:tcPr>
                </a:tc>
              </a:tr>
              <a:tr h="736092">
                <a:tc>
                  <a:txBody>
                    <a:bodyPr wrap="square"/>
                    <a:lstStyle/>
                    <a:p>
                      <a:r>
                        <a:rPr sz="1000" b="1">
                          <a:solidFill>
                            <a:srgbClr val="0C2B4A"/>
                          </a:solidFill>
                        </a:rPr>
                        <a:t>UPDATE Student SET semester=semester+1 WHERE program='BIM'</a:t>
                      </a:r>
                    </a:p>
                  </a:txBody>
                  <a:tcPr anchor="ctr" marL="73152" marR="54864" marT="27432" marB="27432">
                    <a:solidFill>
                      <a:srgbClr val="EEF3F8"/>
                    </a:solidFill>
                  </a:tcPr>
                </a:tc>
                <a:tc>
                  <a:txBody>
                    <a:bodyPr wrap="square"/>
                    <a:lstStyle/>
                    <a:p>
                      <a:r>
                        <a:rPr sz="1000">
                          <a:solidFill>
                            <a:srgbClr val="1A1A1A"/>
                          </a:solidFill>
                        </a:rPr>
                        <a:t>promote all BIM students</a:t>
                      </a:r>
                    </a:p>
                  </a:txBody>
                  <a:tcPr anchor="ctr" marL="73152" marR="54864" marT="27432" marB="27432">
                    <a:solidFill>
                      <a:srgbClr val="EEF3F8"/>
                    </a:solidFill>
                  </a:tcPr>
                </a:tc>
                <a:tc>
                  <a:txBody>
                    <a:bodyPr wrap="square"/>
                    <a:lstStyle/>
                    <a:p>
                      <a:r>
                        <a:rPr sz="1000">
                          <a:solidFill>
                            <a:srgbClr val="1A1A1A"/>
                          </a:solidFill>
                        </a:rPr>
                        <a:t>safe (scoped)</a:t>
                      </a:r>
                    </a:p>
                  </a:txBody>
                  <a:tcPr anchor="ctr" marL="73152" marR="54864" marT="27432" marB="27432">
                    <a:solidFill>
                      <a:srgbClr val="EEF3F8"/>
                    </a:solidFill>
                  </a:tcPr>
                </a:tc>
              </a:tr>
              <a:tr h="736092">
                <a:tc>
                  <a:txBody>
                    <a:bodyPr wrap="square"/>
                    <a:lstStyle/>
                    <a:p>
                      <a:r>
                        <a:rPr sz="1000" b="1">
                          <a:solidFill>
                            <a:srgbClr val="0C2B4A"/>
                          </a:solidFill>
                        </a:rPr>
                        <a:t>SELECT * FROM Enrollment WHERE roll=101 (first!)</a:t>
                      </a:r>
                    </a:p>
                  </a:txBody>
                  <a:tcPr anchor="ctr" marL="73152" marR="54864" marT="27432" marB="27432">
                    <a:solidFill>
                      <a:srgbClr val="FFFFFF"/>
                    </a:solidFill>
                  </a:tcPr>
                </a:tc>
                <a:tc>
                  <a:txBody>
                    <a:bodyPr wrap="square"/>
                    <a:lstStyle/>
                    <a:p>
                      <a:r>
                        <a:rPr sz="1000">
                          <a:solidFill>
                            <a:srgbClr val="1A1A1A"/>
                          </a:solidFill>
                        </a:rPr>
                        <a:t>preview which rows WOULD change</a:t>
                      </a:r>
                    </a:p>
                  </a:txBody>
                  <a:tcPr anchor="ctr" marL="73152" marR="54864" marT="27432" marB="27432">
                    <a:solidFill>
                      <a:srgbClr val="FFFFFF"/>
                    </a:solidFill>
                  </a:tcPr>
                </a:tc>
                <a:tc>
                  <a:txBody>
                    <a:bodyPr wrap="square"/>
                    <a:lstStyle/>
                    <a:p>
                      <a:r>
                        <a:rPr sz="1000">
                          <a:solidFill>
                            <a:srgbClr val="1A1A1A"/>
                          </a:solidFill>
                        </a:rPr>
                        <a:t>the lifesaving habit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Always run a SELECT with your intended WHERE first to see exactly which rows will change. An UPDATE with no WHERE rewrites every row — there is no undo without a transaction (Unit 6) or backup.</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135 / 219</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UPDATE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'Edit profile', 'change delivery address', 'apply a 10% salary revision' are UPDATEs. A bank raising IT-department salaries runs UPDATE Instructor SET salary=salary*1.10 WHERE dept='IT'; the WHERE is what stops every employee in the company getting the raise.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"UPDATE Enrollment SET grade='A';" with no WHERE gives EVERY student an A. The fix: always test your WHERE with a SELECT first, and in production wrap changes in a transaction so you can ROLLBACK (Unit 6).</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UPDATE modifies existing rows: SET assigns new (possibly computed) values, and WHERE selects which rows change. Omitting WHERE updates every row — a common catastrophe — so always preview the affected rows with a matching SELECT first, and use transactions in production.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UPDATE · SET · WHERE scopes it · missing WHERE = all rows · SELECT-first habit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136 / 219</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3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DELETE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DELETE removes rows (a DML operation on data). WHERE decides which rows; no WHERE deletes them all. DELETE differs from DROP (DDL), which removes the whole table structure.</a:t>
            </a:r>
          </a:p>
          <a:p>
            <a:pPr>
              <a:spcAft>
                <a:spcPts val="500"/>
              </a:spcAft>
            </a:pPr>
            <a:r>
              <a:rPr sz="1200" b="1">
                <a:solidFill>
                  <a:srgbClr val="185FA5"/>
                </a:solidFill>
              </a:rPr>
              <a:t>HOW IT WORKS</a:t>
            </a:r>
          </a:p>
          <a:p>
            <a:pPr>
              <a:spcAft>
                <a:spcPts val="600"/>
              </a:spcAft>
            </a:pPr>
            <a:r>
              <a:rPr sz="1400">
                <a:solidFill>
                  <a:srgbClr val="1A1A1A"/>
                </a:solidFill>
              </a:rPr>
              <a:t>•  DELETE FROM Enrollment WHERE sem='2024F'; — removes only that semester's rows.</a:t>
            </a:r>
          </a:p>
          <a:p>
            <a:pPr>
              <a:spcAft>
                <a:spcPts val="600"/>
              </a:spcAft>
            </a:pPr>
            <a:r>
              <a:rPr sz="1400">
                <a:solidFill>
                  <a:srgbClr val="1A1A1A"/>
                </a:solidFill>
              </a:rPr>
              <a:t>•  DELETE FROM Enrollment; — removes ALL rows but keeps the table.</a:t>
            </a:r>
          </a:p>
          <a:p>
            <a:pPr>
              <a:spcAft>
                <a:spcPts val="600"/>
              </a:spcAft>
            </a:pPr>
            <a:r>
              <a:rPr sz="1400">
                <a:solidFill>
                  <a:srgbClr val="1A1A1A"/>
                </a:solidFill>
              </a:rPr>
              <a:t>•  Dropping a course may trigger FK behaviour: ON DELETE CASCADE vs RESTRICT (S22).</a:t>
            </a:r>
          </a:p>
          <a:p>
            <a:pPr>
              <a:spcAft>
                <a:spcPts val="600"/>
              </a:spcAft>
            </a:pPr>
            <a:r>
              <a:rPr sz="1400">
                <a:solidFill>
                  <a:srgbClr val="1A1A1A"/>
                </a:solidFill>
              </a:rPr>
              <a:t>•  DELETE removes rows; DROP removes the table itself; TRUNCATE fast-empties it.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DELETE = erase lines in a notebook; DROP = throw out the whole notebook.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137 / 219</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DELETE vs DROP vs TRUNCATE — what disappears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00400"/>
                <a:gridCol w="3505199"/>
                <a:gridCol w="3048000"/>
                <a:gridCol w="1676400"/>
              </a:tblGrid>
              <a:tr h="630936">
                <a:tc>
                  <a:txBody>
                    <a:bodyPr wrap="square"/>
                    <a:lstStyle/>
                    <a:p>
                      <a:r>
                        <a:rPr sz="1100" b="1">
                          <a:solidFill>
                            <a:srgbClr val="FFFFFF"/>
                          </a:solidFill>
                        </a:rPr>
                        <a:t>Command</a:t>
                      </a:r>
                    </a:p>
                  </a:txBody>
                  <a:tcPr anchor="ctr" marL="73152" marR="54864" marT="27432" marB="27432">
                    <a:solidFill>
                      <a:srgbClr val="0C2B4A"/>
                    </a:solidFill>
                  </a:tcPr>
                </a:tc>
                <a:tc>
                  <a:txBody>
                    <a:bodyPr wrap="square"/>
                    <a:lstStyle/>
                    <a:p>
                      <a:r>
                        <a:rPr sz="1100" b="1">
                          <a:solidFill>
                            <a:srgbClr val="FFFFFF"/>
                          </a:solidFill>
                        </a:rPr>
                        <a:t>Removes</a:t>
                      </a:r>
                    </a:p>
                  </a:txBody>
                  <a:tcPr anchor="ctr" marL="73152" marR="54864" marT="27432" marB="27432">
                    <a:solidFill>
                      <a:srgbClr val="0C2B4A"/>
                    </a:solidFill>
                  </a:tcPr>
                </a:tc>
                <a:tc>
                  <a:txBody>
                    <a:bodyPr wrap="square"/>
                    <a:lstStyle/>
                    <a:p>
                      <a:r>
                        <a:rPr sz="1100" b="1">
                          <a:solidFill>
                            <a:srgbClr val="FFFFFF"/>
                          </a:solidFill>
                        </a:rPr>
                        <a:t>Keeps</a:t>
                      </a:r>
                    </a:p>
                  </a:txBody>
                  <a:tcPr anchor="ctr" marL="73152" marR="54864" marT="27432" marB="27432">
                    <a:solidFill>
                      <a:srgbClr val="0C2B4A"/>
                    </a:solidFill>
                  </a:tcPr>
                </a:tc>
                <a:tc>
                  <a:txBody>
                    <a:bodyPr wrap="square"/>
                    <a:lstStyle/>
                    <a:p>
                      <a:r>
                        <a:rPr sz="1100" b="1">
                          <a:solidFill>
                            <a:srgbClr val="FFFFFF"/>
                          </a:solidFill>
                        </a:rPr>
                        <a:t>Language</a:t>
                      </a:r>
                    </a:p>
                  </a:txBody>
                  <a:tcPr anchor="ctr" marL="73152" marR="54864" marT="27432" marB="27432">
                    <a:solidFill>
                      <a:srgbClr val="0C2B4A"/>
                    </a:solidFill>
                  </a:tcPr>
                </a:tc>
              </a:tr>
              <a:tr h="630936">
                <a:tc>
                  <a:txBody>
                    <a:bodyPr wrap="square"/>
                    <a:lstStyle/>
                    <a:p>
                      <a:r>
                        <a:rPr sz="1050" b="1">
                          <a:solidFill>
                            <a:srgbClr val="0C2B4A"/>
                          </a:solidFill>
                        </a:rPr>
                        <a:t>DELETE FROM t WHERE …</a:t>
                      </a:r>
                    </a:p>
                  </a:txBody>
                  <a:tcPr anchor="ctr" marL="73152" marR="54864" marT="27432" marB="27432">
                    <a:solidFill>
                      <a:srgbClr val="FFFFFF"/>
                    </a:solidFill>
                  </a:tcPr>
                </a:tc>
                <a:tc>
                  <a:txBody>
                    <a:bodyPr wrap="square"/>
                    <a:lstStyle/>
                    <a:p>
                      <a:r>
                        <a:rPr sz="1050">
                          <a:solidFill>
                            <a:srgbClr val="1A1A1A"/>
                          </a:solidFill>
                        </a:rPr>
                        <a:t>matching rows</a:t>
                      </a:r>
                    </a:p>
                  </a:txBody>
                  <a:tcPr anchor="ctr" marL="73152" marR="54864" marT="27432" marB="27432">
                    <a:solidFill>
                      <a:srgbClr val="FFFFFF"/>
                    </a:solidFill>
                  </a:tcPr>
                </a:tc>
                <a:tc>
                  <a:txBody>
                    <a:bodyPr wrap="square"/>
                    <a:lstStyle/>
                    <a:p>
                      <a:r>
                        <a:rPr sz="1050">
                          <a:solidFill>
                            <a:srgbClr val="1A1A1A"/>
                          </a:solidFill>
                        </a:rPr>
                        <a:t>table + other rows</a:t>
                      </a:r>
                    </a:p>
                  </a:txBody>
                  <a:tcPr anchor="ctr" marL="73152" marR="54864" marT="27432" marB="27432">
                    <a:solidFill>
                      <a:srgbClr val="FFFFFF"/>
                    </a:solidFill>
                  </a:tcPr>
                </a:tc>
                <a:tc>
                  <a:txBody>
                    <a:bodyPr wrap="square"/>
                    <a:lstStyle/>
                    <a:p>
                      <a:r>
                        <a:rPr sz="1050">
                          <a:solidFill>
                            <a:srgbClr val="1A1A1A"/>
                          </a:solidFill>
                        </a:rPr>
                        <a:t>DML</a:t>
                      </a:r>
                    </a:p>
                  </a:txBody>
                  <a:tcPr anchor="ctr" marL="73152" marR="54864" marT="27432" marB="27432">
                    <a:solidFill>
                      <a:srgbClr val="FFFFFF"/>
                    </a:solidFill>
                  </a:tcPr>
                </a:tc>
              </a:tr>
              <a:tr h="630936">
                <a:tc>
                  <a:txBody>
                    <a:bodyPr wrap="square"/>
                    <a:lstStyle/>
                    <a:p>
                      <a:r>
                        <a:rPr sz="1050" b="1">
                          <a:solidFill>
                            <a:srgbClr val="0C2B4A"/>
                          </a:solidFill>
                        </a:rPr>
                        <a:t>DELETE FROM t</a:t>
                      </a:r>
                    </a:p>
                  </a:txBody>
                  <a:tcPr anchor="ctr" marL="73152" marR="54864" marT="27432" marB="27432">
                    <a:solidFill>
                      <a:srgbClr val="EEF3F8"/>
                    </a:solidFill>
                  </a:tcPr>
                </a:tc>
                <a:tc>
                  <a:txBody>
                    <a:bodyPr wrap="square"/>
                    <a:lstStyle/>
                    <a:p>
                      <a:r>
                        <a:rPr sz="1050">
                          <a:solidFill>
                            <a:srgbClr val="1A1A1A"/>
                          </a:solidFill>
                        </a:rPr>
                        <a:t>all rows</a:t>
                      </a:r>
                    </a:p>
                  </a:txBody>
                  <a:tcPr anchor="ctr" marL="73152" marR="54864" marT="27432" marB="27432">
                    <a:solidFill>
                      <a:srgbClr val="EEF3F8"/>
                    </a:solidFill>
                  </a:tcPr>
                </a:tc>
                <a:tc>
                  <a:txBody>
                    <a:bodyPr wrap="square"/>
                    <a:lstStyle/>
                    <a:p>
                      <a:r>
                        <a:rPr sz="1050">
                          <a:solidFill>
                            <a:srgbClr val="1A1A1A"/>
                          </a:solidFill>
                        </a:rPr>
                        <a:t>the empty table</a:t>
                      </a:r>
                    </a:p>
                  </a:txBody>
                  <a:tcPr anchor="ctr" marL="73152" marR="54864" marT="27432" marB="27432">
                    <a:solidFill>
                      <a:srgbClr val="EEF3F8"/>
                    </a:solidFill>
                  </a:tcPr>
                </a:tc>
                <a:tc>
                  <a:txBody>
                    <a:bodyPr wrap="square"/>
                    <a:lstStyle/>
                    <a:p>
                      <a:r>
                        <a:rPr sz="1050">
                          <a:solidFill>
                            <a:srgbClr val="1A1A1A"/>
                          </a:solidFill>
                        </a:rPr>
                        <a:t>DML</a:t>
                      </a:r>
                    </a:p>
                  </a:txBody>
                  <a:tcPr anchor="ctr" marL="73152" marR="54864" marT="27432" marB="27432">
                    <a:solidFill>
                      <a:srgbClr val="EEF3F8"/>
                    </a:solidFill>
                  </a:tcPr>
                </a:tc>
              </a:tr>
              <a:tr h="630936">
                <a:tc>
                  <a:txBody>
                    <a:bodyPr wrap="square"/>
                    <a:lstStyle/>
                    <a:p>
                      <a:r>
                        <a:rPr sz="1050" b="1">
                          <a:solidFill>
                            <a:srgbClr val="0C2B4A"/>
                          </a:solidFill>
                        </a:rPr>
                        <a:t>TRUNCATE TABLE t</a:t>
                      </a:r>
                    </a:p>
                  </a:txBody>
                  <a:tcPr anchor="ctr" marL="73152" marR="54864" marT="27432" marB="27432">
                    <a:solidFill>
                      <a:srgbClr val="FFFFFF"/>
                    </a:solidFill>
                  </a:tcPr>
                </a:tc>
                <a:tc>
                  <a:txBody>
                    <a:bodyPr wrap="square"/>
                    <a:lstStyle/>
                    <a:p>
                      <a:r>
                        <a:rPr sz="1050">
                          <a:solidFill>
                            <a:srgbClr val="1A1A1A"/>
                          </a:solidFill>
                        </a:rPr>
                        <a:t>all rows (fast, no per-row log)</a:t>
                      </a:r>
                    </a:p>
                  </a:txBody>
                  <a:tcPr anchor="ctr" marL="73152" marR="54864" marT="27432" marB="27432">
                    <a:solidFill>
                      <a:srgbClr val="FFFFFF"/>
                    </a:solidFill>
                  </a:tcPr>
                </a:tc>
                <a:tc>
                  <a:txBody>
                    <a:bodyPr wrap="square"/>
                    <a:lstStyle/>
                    <a:p>
                      <a:r>
                        <a:rPr sz="1050">
                          <a:solidFill>
                            <a:srgbClr val="1A1A1A"/>
                          </a:solidFill>
                        </a:rPr>
                        <a:t>the empty table</a:t>
                      </a:r>
                    </a:p>
                  </a:txBody>
                  <a:tcPr anchor="ctr" marL="73152" marR="54864" marT="27432" marB="27432">
                    <a:solidFill>
                      <a:srgbClr val="FFFFFF"/>
                    </a:solidFill>
                  </a:tcPr>
                </a:tc>
                <a:tc>
                  <a:txBody>
                    <a:bodyPr wrap="square"/>
                    <a:lstStyle/>
                    <a:p>
                      <a:r>
                        <a:rPr sz="1050">
                          <a:solidFill>
                            <a:srgbClr val="1A1A1A"/>
                          </a:solidFill>
                        </a:rPr>
                        <a:t>DDL</a:t>
                      </a:r>
                    </a:p>
                  </a:txBody>
                  <a:tcPr anchor="ctr" marL="73152" marR="54864" marT="27432" marB="27432">
                    <a:solidFill>
                      <a:srgbClr val="FFFFFF"/>
                    </a:solidFill>
                  </a:tcPr>
                </a:tc>
              </a:tr>
              <a:tr h="630936">
                <a:tc>
                  <a:txBody>
                    <a:bodyPr wrap="square"/>
                    <a:lstStyle/>
                    <a:p>
                      <a:r>
                        <a:rPr sz="1050" b="1">
                          <a:solidFill>
                            <a:srgbClr val="0C2B4A"/>
                          </a:solidFill>
                        </a:rPr>
                        <a:t>DROP TABLE t</a:t>
                      </a:r>
                    </a:p>
                  </a:txBody>
                  <a:tcPr anchor="ctr" marL="73152" marR="54864" marT="27432" marB="27432">
                    <a:solidFill>
                      <a:srgbClr val="EEF3F8"/>
                    </a:solidFill>
                  </a:tcPr>
                </a:tc>
                <a:tc>
                  <a:txBody>
                    <a:bodyPr wrap="square"/>
                    <a:lstStyle/>
                    <a:p>
                      <a:r>
                        <a:rPr sz="1050">
                          <a:solidFill>
                            <a:srgbClr val="1A1A1A"/>
                          </a:solidFill>
                        </a:rPr>
                        <a:t>the whole table + all data</a:t>
                      </a:r>
                    </a:p>
                  </a:txBody>
                  <a:tcPr anchor="ctr" marL="73152" marR="54864" marT="27432" marB="27432">
                    <a:solidFill>
                      <a:srgbClr val="EEF3F8"/>
                    </a:solidFill>
                  </a:tcPr>
                </a:tc>
                <a:tc>
                  <a:txBody>
                    <a:bodyPr wrap="square"/>
                    <a:lstStyle/>
                    <a:p>
                      <a:r>
                        <a:rPr sz="1050">
                          <a:solidFill>
                            <a:srgbClr val="1A1A1A"/>
                          </a:solidFill>
                        </a:rPr>
                        <a:t>nothing</a:t>
                      </a:r>
                    </a:p>
                  </a:txBody>
                  <a:tcPr anchor="ctr" marL="73152" marR="54864" marT="27432" marB="27432">
                    <a:solidFill>
                      <a:srgbClr val="EEF3F8"/>
                    </a:solidFill>
                  </a:tcPr>
                </a:tc>
                <a:tc>
                  <a:txBody>
                    <a:bodyPr wrap="square"/>
                    <a:lstStyle/>
                    <a:p>
                      <a:r>
                        <a:rPr sz="1050">
                          <a:solidFill>
                            <a:srgbClr val="1A1A1A"/>
                          </a:solidFill>
                        </a:rPr>
                        <a:t>DDL</a:t>
                      </a:r>
                    </a:p>
                  </a:txBody>
                  <a:tcPr anchor="ctr" marL="73152" marR="54864" marT="27432" marB="27432">
                    <a:solidFill>
                      <a:srgbClr val="EEF3F8"/>
                    </a:solidFill>
                  </a:tcPr>
                </a:tc>
              </a:tr>
              <a:tr h="630936">
                <a:tc>
                  <a:txBody>
                    <a:bodyPr wrap="square"/>
                    <a:lstStyle/>
                    <a:p>
                      <a:r>
                        <a:rPr sz="1050" b="1">
                          <a:solidFill>
                            <a:srgbClr val="0C2B4A"/>
                          </a:solidFill>
                        </a:rPr>
                        <a:t>ON DELETE CASCADE</a:t>
                      </a:r>
                    </a:p>
                  </a:txBody>
                  <a:tcPr anchor="ctr" marL="73152" marR="54864" marT="27432" marB="27432">
                    <a:solidFill>
                      <a:srgbClr val="FFFFFF"/>
                    </a:solidFill>
                  </a:tcPr>
                </a:tc>
                <a:tc>
                  <a:txBody>
                    <a:bodyPr wrap="square"/>
                    <a:lstStyle/>
                    <a:p>
                      <a:r>
                        <a:rPr sz="1050">
                          <a:solidFill>
                            <a:srgbClr val="1A1A1A"/>
                          </a:solidFill>
                        </a:rPr>
                        <a:t>child rows too, automatically</a:t>
                      </a:r>
                    </a:p>
                  </a:txBody>
                  <a:tcPr anchor="ctr" marL="73152" marR="54864" marT="27432" marB="27432">
                    <a:solidFill>
                      <a:srgbClr val="FFFFFF"/>
                    </a:solidFill>
                  </a:tcPr>
                </a:tc>
                <a:tc>
                  <a:txBody>
                    <a:bodyPr wrap="square"/>
                    <a:lstStyle/>
                    <a:p>
                      <a:r>
                        <a:rPr sz="1050">
                          <a:solidFill>
                            <a:srgbClr val="1A1A1A"/>
                          </a:solidFill>
                        </a:rPr>
                        <a:t>referential integrity</a:t>
                      </a:r>
                    </a:p>
                  </a:txBody>
                  <a:tcPr anchor="ctr" marL="73152" marR="54864" marT="27432" marB="27432">
                    <a:solidFill>
                      <a:srgbClr val="FFFFFF"/>
                    </a:solidFill>
                  </a:tcPr>
                </a:tc>
                <a:tc>
                  <a:txBody>
                    <a:bodyPr wrap="square"/>
                    <a:lstStyle/>
                    <a:p>
                      <a:r>
                        <a:rPr sz="1050">
                          <a:solidFill>
                            <a:srgbClr val="1A1A1A"/>
                          </a:solidFill>
                        </a:rPr>
                        <a:t>constraint (S22)</a:t>
                      </a:r>
                    </a:p>
                  </a:txBody>
                  <a:tcPr anchor="ctr" marL="73152" marR="54864" marT="27432" marB="27432">
                    <a:solidFill>
                      <a:srgbClr val="FFFFFF"/>
                    </a:solidFill>
                  </a:tcPr>
                </a:tc>
              </a:tr>
              <a:tr h="630936">
                <a:tc>
                  <a:txBody>
                    <a:bodyPr wrap="square"/>
                    <a:lstStyle/>
                    <a:p>
                      <a:r>
                        <a:rPr sz="1050" b="1">
                          <a:solidFill>
                            <a:srgbClr val="0C2B4A"/>
                          </a:solidFill>
                        </a:rPr>
                        <a:t>ON DELETE RESTRICT</a:t>
                      </a:r>
                    </a:p>
                  </a:txBody>
                  <a:tcPr anchor="ctr" marL="73152" marR="54864" marT="27432" marB="27432">
                    <a:solidFill>
                      <a:srgbClr val="EEF3F8"/>
                    </a:solidFill>
                  </a:tcPr>
                </a:tc>
                <a:tc>
                  <a:txBody>
                    <a:bodyPr wrap="square"/>
                    <a:lstStyle/>
                    <a:p>
                      <a:r>
                        <a:rPr sz="1050">
                          <a:solidFill>
                            <a:srgbClr val="1A1A1A"/>
                          </a:solidFill>
                        </a:rPr>
                        <a:t>blocks delete if children exist</a:t>
                      </a:r>
                    </a:p>
                  </a:txBody>
                  <a:tcPr anchor="ctr" marL="73152" marR="54864" marT="27432" marB="27432">
                    <a:solidFill>
                      <a:srgbClr val="EEF3F8"/>
                    </a:solidFill>
                  </a:tcPr>
                </a:tc>
                <a:tc>
                  <a:txBody>
                    <a:bodyPr wrap="square"/>
                    <a:lstStyle/>
                    <a:p>
                      <a:r>
                        <a:rPr sz="1050">
                          <a:solidFill>
                            <a:srgbClr val="1A1A1A"/>
                          </a:solidFill>
                        </a:rPr>
                        <a:t>the parent row</a:t>
                      </a:r>
                    </a:p>
                  </a:txBody>
                  <a:tcPr anchor="ctr" marL="73152" marR="54864" marT="27432" marB="27432">
                    <a:solidFill>
                      <a:srgbClr val="EEF3F8"/>
                    </a:solidFill>
                  </a:tcPr>
                </a:tc>
                <a:tc>
                  <a:txBody>
                    <a:bodyPr wrap="square"/>
                    <a:lstStyle/>
                    <a:p>
                      <a:r>
                        <a:rPr sz="1050">
                          <a:solidFill>
                            <a:srgbClr val="1A1A1A"/>
                          </a:solidFill>
                        </a:rPr>
                        <a:t>constraint (S22)</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DELETE (DML) removes rows and can be rolled back in a transaction; DROP (DDL) removes the table. FK ON DELETE rules decide what happens to child rows when a parent is deleted.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138 / 219</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DELETE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'Cancel order', 'remove item from cart', 'clear old logs' are DELETEs — usually soft-deletes (a status flag) in production so nothing is truly lost. Purging last year's enrollments is DELETE FROM Enrollment WHERE sem='2024F'; the WHERE keeps this year's data intact.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"DELETE and DROP are the same." No — DELETE (DML) removes ROWS and keeps the table (and can be rolled back in a transaction); DROP (DDL) removes the entire TABLE and its structure. Confusing them can destroy a schema, not just data.</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DELETE removes rows from a table (DML); WHERE scopes which rows, and no WHERE deletes all rows while keeping the table. It differs from DROP (DDL), which removes the whole table, and TRUNCATE, which fast-empties it. Foreign-key ON DELETE CASCADE/RESTRICT rules govern child rows.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DELETE (rows, DML) · DROP (table, DDL) · TRUNCATE · ON DELETE CASCADE/RESTRICT · soft-delete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139 / 219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S31 · HANDS-ON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 safe UPDATE workflow (preview before you change)</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Give IT-department instructors a 10% raise — safely, so you never accidentally raise everyone.</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FIRST preview the target rows: SELECT inst_id, name, salary FROM Instructor WHERE dept='IT'; — confirm it's the right people.</a:t>
            </a:r>
          </a:p>
          <a:p>
            <a:pPr>
              <a:spcAft>
                <a:spcPts val="400"/>
              </a:spcAft>
            </a:pPr>
            <a:r>
              <a:rPr sz="1250" b="1">
                <a:solidFill>
                  <a:srgbClr val="854F0B"/>
                </a:solidFill>
              </a:rPr>
              <a:t>Step 2.  </a:t>
            </a:r>
            <a:r>
              <a:rPr sz="1250">
                <a:solidFill>
                  <a:srgbClr val="1A1A1A"/>
                </a:solidFill>
              </a:rPr>
              <a:t>Check the WHERE returns ONLY the intended rows (Sharma, Karki) and nobody else.</a:t>
            </a:r>
          </a:p>
          <a:p>
            <a:pPr>
              <a:spcAft>
                <a:spcPts val="400"/>
              </a:spcAft>
            </a:pPr>
            <a:r>
              <a:rPr sz="1250" b="1">
                <a:solidFill>
                  <a:srgbClr val="854F0B"/>
                </a:solidFill>
              </a:rPr>
              <a:t>Step 3.  </a:t>
            </a:r>
            <a:r>
              <a:rPr sz="1250">
                <a:solidFill>
                  <a:srgbClr val="1A1A1A"/>
                </a:solidFill>
              </a:rPr>
              <a:t>Run the scoped update: UPDATE Instructor SET salary = salary*1.10 WHERE dept='IT';</a:t>
            </a:r>
          </a:p>
          <a:p>
            <a:pPr>
              <a:spcAft>
                <a:spcPts val="400"/>
              </a:spcAft>
            </a:pPr>
            <a:r>
              <a:rPr sz="1250" b="1">
                <a:solidFill>
                  <a:srgbClr val="854F0B"/>
                </a:solidFill>
              </a:rPr>
              <a:t>Step 4.  </a:t>
            </a:r>
            <a:r>
              <a:rPr sz="1250">
                <a:solidFill>
                  <a:srgbClr val="1A1A1A"/>
                </a:solidFill>
              </a:rPr>
              <a:t>Verify: re-run the SELECT and confirm the new salaries (80000→88000, 60000→66000).</a:t>
            </a:r>
          </a:p>
          <a:p>
            <a:pPr>
              <a:spcAft>
                <a:spcPts val="400"/>
              </a:spcAft>
            </a:pPr>
            <a:r>
              <a:rPr sz="1250" b="1">
                <a:solidFill>
                  <a:srgbClr val="854F0B"/>
                </a:solidFill>
              </a:rPr>
              <a:t>Step 5.  </a:t>
            </a:r>
            <a:r>
              <a:rPr sz="1250">
                <a:solidFill>
                  <a:srgbClr val="1A1A1A"/>
                </a:solidFill>
              </a:rPr>
              <a:t>In production, wrap steps 3–4 in a transaction so a mistake can ROLLBACK (Unit 6).</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SELECT inst_id,name,salary FROM Instructor WHERE dept='IT';  -- preview
UPDATE Instructor SET salary = salary*1.10 WHERE dept='IT';  -- apply (WHERE = the safety catch)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140 / 219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S31 — Why SELECT before you change?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explain why running a SELECT with your WHERE before an UPDATE/DELETE is lifesaving.</a:t>
            </a:r>
          </a:p>
          <a:p>
            <a:pPr>
              <a:spcAft>
                <a:spcPts val="700"/>
              </a:spcAft>
            </a:pPr>
            <a:r>
              <a:rPr sz="1550">
                <a:solidFill>
                  <a:srgbClr val="1A1A1A"/>
                </a:solidFill>
              </a:rPr>
              <a:t>•  Write the SELECT you'd run before 'delete all 2024F enrollments'.</a:t>
            </a:r>
          </a:p>
          <a:p>
            <a:pPr>
              <a:spcAft>
                <a:spcPts val="700"/>
              </a:spcAft>
            </a:pPr>
            <a:r>
              <a:rPr sz="1550">
                <a:solidFill>
                  <a:srgbClr val="1A1A1A"/>
                </a:solidFill>
              </a:rPr>
              <a:t>•  Share aloud (3 min); discuss soft-deletes and transactions as extra safety nets.</a:t>
            </a:r>
          </a:p>
          <a:p>
            <a:pPr>
              <a:spcAft>
                <a:spcPts val="700"/>
              </a:spcAft>
            </a:pPr>
            <a:r>
              <a:rPr sz="1550">
                <a:solidFill>
                  <a:srgbClr val="1A1A1A"/>
                </a:solidFill>
              </a:rPr>
              <a:t>•  Close: the SELECT shows exactly which rows WILL be hit — no surprises.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The SELECT with the same WHERE previews the exact rows an UPDATE/DELETE will affect, catching a missing or wrong WHERE before damage is done. Reward mentioning transactions/backups/soft-deletes.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141 / 219</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DELETE FROM Student; (no WHERE) does what?</a:t>
            </a:r>
          </a:p>
          <a:p>
            <a:pPr lvl="1"/>
            <a:r>
              <a:rPr sz="1500" b="1">
                <a:solidFill>
                  <a:srgbClr val="0F6E56"/>
                </a:solidFill>
              </a:rPr>
              <a:t>a) deletes one row   b) ✅ removes ALL rows (keeps the table)   c) drops the table   d) errors</a:t>
            </a:r>
          </a:p>
          <a:p>
            <a:pPr lvl="1">
              <a:spcBef>
                <a:spcPts val="600"/>
              </a:spcBef>
            </a:pPr>
            <a:r>
              <a:rPr sz="1500" i="1">
                <a:solidFill>
                  <a:srgbClr val="1A1A1A"/>
                </a:solidFill>
              </a:rPr>
              <a:t>     Why: with no WHERE, DELETE affects every row; the empty table remains.</a:t>
            </a:r>
          </a:p>
          <a:p>
            <a:pPr>
              <a:spcBef>
                <a:spcPts val="900"/>
              </a:spcBef>
            </a:pPr>
            <a:r>
              <a:rPr sz="1700" b="1">
                <a:solidFill>
                  <a:srgbClr val="0C2B4A"/>
                </a:solidFill>
              </a:rPr>
              <a:t>Q2.  To change existing values, use:</a:t>
            </a:r>
          </a:p>
          <a:p>
            <a:pPr lvl="1"/>
            <a:r>
              <a:rPr sz="1500" b="1">
                <a:solidFill>
                  <a:srgbClr val="0F6E56"/>
                </a:solidFill>
              </a:rPr>
              <a:t>a) INSERT   b) ✅ UPDATE   c) DELETE   d) SELECT</a:t>
            </a:r>
          </a:p>
          <a:p>
            <a:pPr lvl="1">
              <a:spcBef>
                <a:spcPts val="600"/>
              </a:spcBef>
            </a:pPr>
            <a:r>
              <a:rPr sz="1500" i="1">
                <a:solidFill>
                  <a:srgbClr val="1A1A1A"/>
                </a:solidFill>
              </a:rPr>
              <a:t>     Why: UPDATE … SET modifies values in existing rows.</a:t>
            </a:r>
          </a:p>
          <a:p>
            <a:pPr>
              <a:spcBef>
                <a:spcPts val="900"/>
              </a:spcBef>
            </a:pPr>
            <a:r>
              <a:rPr sz="1700" b="1">
                <a:solidFill>
                  <a:srgbClr val="0C2B4A"/>
                </a:solidFill>
              </a:rPr>
              <a:t>Q3.  DELETE differs from DROP because DELETE:</a:t>
            </a:r>
          </a:p>
          <a:p>
            <a:pPr lvl="1"/>
            <a:r>
              <a:rPr sz="1500" b="1">
                <a:solidFill>
                  <a:srgbClr val="0F6E56"/>
                </a:solidFill>
              </a:rPr>
              <a:t>a) removes the table   b) ✅ removes rows but keeps the table   c) is DDL   d) can't be undone</a:t>
            </a:r>
          </a:p>
          <a:p>
            <a:pPr lvl="1">
              <a:spcBef>
                <a:spcPts val="600"/>
              </a:spcBef>
            </a:pPr>
            <a:r>
              <a:rPr sz="1500" i="1">
                <a:solidFill>
                  <a:srgbClr val="1A1A1A"/>
                </a:solidFill>
              </a:rPr>
              <a:t>     Why: DELETE is DML on rows; DROP is DDL that removes the whole table.</a:t>
            </a:r>
          </a:p>
          <a:p>
            <a:pPr lvl="1">
              <a:spcBef>
                <a:spcPts val="600"/>
              </a:spcBef>
            </a:pPr>
            <a:r>
              <a:rPr sz="1500" i="1">
                <a:solidFill>
                  <a:srgbClr val="1A1A1A"/>
                </a:solidFill>
              </a:rPr>
              <a:t>Discussion: why is a SELECT-with-your-WHERE before UPDATE/DELETE a lifesaving habit?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142 / 219</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INSERT adds rows (VALUES must match columns; INSERT … SELECT bulk-loads).</a:t>
            </a:r>
          </a:p>
          <a:p>
            <a:pPr>
              <a:spcAft>
                <a:spcPts val="800"/>
              </a:spcAft>
            </a:pPr>
            <a:r>
              <a:rPr sz="1500">
                <a:solidFill>
                  <a:srgbClr val="1A1A1A"/>
                </a:solidFill>
              </a:rPr>
              <a:t>2.  UPDATE changes rows via SET; WHERE scopes it — a missing WHERE rewrites the whole table.</a:t>
            </a:r>
          </a:p>
          <a:p>
            <a:pPr>
              <a:spcAft>
                <a:spcPts val="800"/>
              </a:spcAft>
            </a:pPr>
            <a:r>
              <a:rPr sz="1500">
                <a:solidFill>
                  <a:srgbClr val="1A1A1A"/>
                </a:solidFill>
              </a:rPr>
              <a:t>3.  DELETE removes rows (DML, keeps the table); DROP removes the table (DDL). Always SELECT-first.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'edit', 'cancel', 'refund', and 'top-up' in eSewa/Daraz is an INSERT/UPDATE/DELETE — guarded by transactions and soft-deletes. The missing-WHERE mistake has taken down real production databases; the SELECT-first habit prevents it.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S32 — what happens when you try to modify data THROUGH a view: updatable vs non-updatable views.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143 / 219</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32 · LECTURE HOUR 11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Update of a View (Updatable vs Non-Updatable)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built the BIMStudents view yesterday. Can you INSERT a new student THROUGH it? Sometimes yes, sometimes the database says no —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144 / 219</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Modifying Through a View</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Changes to a SIMPLE view can pass through to its base table: an UPDATE/INSERT/DELETE on the view modifies the underlying rows. This works only when the mapping from view rows to base rows is unambiguous.</a:t>
            </a:r>
          </a:p>
          <a:p>
            <a:pPr>
              <a:spcAft>
                <a:spcPts val="500"/>
              </a:spcAft>
            </a:pPr>
            <a:r>
              <a:rPr sz="1200" b="1">
                <a:solidFill>
                  <a:srgbClr val="185FA5"/>
                </a:solidFill>
              </a:rPr>
              <a:t>HOW IT WORKS</a:t>
            </a:r>
          </a:p>
          <a:p>
            <a:pPr>
              <a:spcAft>
                <a:spcPts val="600"/>
              </a:spcAft>
            </a:pPr>
            <a:r>
              <a:rPr sz="1400">
                <a:solidFill>
                  <a:srgbClr val="1A1A1A"/>
                </a:solidFill>
              </a:rPr>
              <a:t>•  UPDATE BIMStudents SET semester=5 WHERE roll=101; updates the Student table.</a:t>
            </a:r>
          </a:p>
          <a:p>
            <a:pPr>
              <a:spcAft>
                <a:spcPts val="600"/>
              </a:spcAft>
            </a:pPr>
            <a:r>
              <a:rPr sz="1400">
                <a:solidFill>
                  <a:srgbClr val="1A1A1A"/>
                </a:solidFill>
              </a:rPr>
              <a:t>•  The view must map each of its rows to exactly one base-table row.</a:t>
            </a:r>
          </a:p>
          <a:p>
            <a:pPr>
              <a:spcAft>
                <a:spcPts val="600"/>
              </a:spcAft>
            </a:pPr>
            <a:r>
              <a:rPr sz="1400">
                <a:solidFill>
                  <a:srgbClr val="1A1A1A"/>
                </a:solidFill>
              </a:rPr>
              <a:t>•  Simple column/row subsets of ONE table are the updatable case.</a:t>
            </a:r>
          </a:p>
          <a:p>
            <a:pPr>
              <a:spcAft>
                <a:spcPts val="600"/>
              </a:spcAft>
            </a:pPr>
            <a:r>
              <a:rPr sz="1400">
                <a:solidFill>
                  <a:srgbClr val="1A1A1A"/>
                </a:solidFill>
              </a:rPr>
              <a:t>•  The DBMS rewrites the view modification into a base-table modification.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simple view is a clear window — changes pass straight through the glass to the table.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145 / 219</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Does the modification pass through the view?</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306956"/>
                <a:gridCol w="3644347"/>
                <a:gridCol w="3478695"/>
              </a:tblGrid>
              <a:tr h="630936">
                <a:tc>
                  <a:txBody>
                    <a:bodyPr wrap="square"/>
                    <a:lstStyle/>
                    <a:p>
                      <a:r>
                        <a:rPr sz="1100" b="1">
                          <a:solidFill>
                            <a:srgbClr val="FFFFFF"/>
                          </a:solidFill>
                        </a:rPr>
                        <a:t>View</a:t>
                      </a:r>
                    </a:p>
                  </a:txBody>
                  <a:tcPr anchor="ctr" marL="73152" marR="54864" marT="27432" marB="27432">
                    <a:solidFill>
                      <a:srgbClr val="0C2B4A"/>
                    </a:solidFill>
                  </a:tcPr>
                </a:tc>
                <a:tc>
                  <a:txBody>
                    <a:bodyPr wrap="square"/>
                    <a:lstStyle/>
                    <a:p>
                      <a:r>
                        <a:rPr sz="1100" b="1">
                          <a:solidFill>
                            <a:srgbClr val="FFFFFF"/>
                          </a:solidFill>
                        </a:rPr>
                        <a:t>Modification</a:t>
                      </a:r>
                    </a:p>
                  </a:txBody>
                  <a:tcPr anchor="ctr" marL="73152" marR="54864" marT="27432" marB="27432">
                    <a:solidFill>
                      <a:srgbClr val="0C2B4A"/>
                    </a:solidFill>
                  </a:tcPr>
                </a:tc>
                <a:tc>
                  <a:txBody>
                    <a:bodyPr wrap="square"/>
                    <a:lstStyle/>
                    <a:p>
                      <a:r>
                        <a:rPr sz="1100" b="1">
                          <a:solidFill>
                            <a:srgbClr val="FFFFFF"/>
                          </a:solidFill>
                        </a:rPr>
                        <a:t>Passes through?</a:t>
                      </a:r>
                    </a:p>
                  </a:txBody>
                  <a:tcPr anchor="ctr" marL="73152" marR="54864" marT="27432" marB="27432">
                    <a:solidFill>
                      <a:srgbClr val="0C2B4A"/>
                    </a:solidFill>
                  </a:tcPr>
                </a:tc>
              </a:tr>
              <a:tr h="630936">
                <a:tc>
                  <a:txBody>
                    <a:bodyPr wrap="square"/>
                    <a:lstStyle/>
                    <a:p>
                      <a:r>
                        <a:rPr sz="1050" b="1">
                          <a:solidFill>
                            <a:srgbClr val="0C2B4A"/>
                          </a:solidFill>
                        </a:rPr>
                        <a:t>BIMStudents (filter of Student)</a:t>
                      </a:r>
                    </a:p>
                  </a:txBody>
                  <a:tcPr anchor="ctr" marL="73152" marR="54864" marT="27432" marB="27432">
                    <a:solidFill>
                      <a:srgbClr val="FFFFFF"/>
                    </a:solidFill>
                  </a:tcPr>
                </a:tc>
                <a:tc>
                  <a:txBody>
                    <a:bodyPr wrap="square"/>
                    <a:lstStyle/>
                    <a:p>
                      <a:r>
                        <a:rPr sz="1050">
                          <a:solidFill>
                            <a:srgbClr val="1A1A1A"/>
                          </a:solidFill>
                        </a:rPr>
                        <a:t>UPDATE … SET semester=5</a:t>
                      </a:r>
                    </a:p>
                  </a:txBody>
                  <a:tcPr anchor="ctr" marL="73152" marR="54864" marT="27432" marB="27432">
                    <a:solidFill>
                      <a:srgbClr val="FFFFFF"/>
                    </a:solidFill>
                  </a:tcPr>
                </a:tc>
                <a:tc>
                  <a:txBody>
                    <a:bodyPr wrap="square"/>
                    <a:lstStyle/>
                    <a:p>
                      <a:r>
                        <a:rPr sz="1050">
                          <a:solidFill>
                            <a:srgbClr val="1A1A1A"/>
                          </a:solidFill>
                        </a:rPr>
                        <a:t>yes — one base row per view row</a:t>
                      </a:r>
                    </a:p>
                  </a:txBody>
                  <a:tcPr anchor="ctr" marL="73152" marR="54864" marT="27432" marB="27432">
                    <a:solidFill>
                      <a:srgbClr val="FFFFFF"/>
                    </a:solidFill>
                  </a:tcPr>
                </a:tc>
              </a:tr>
              <a:tr h="630936">
                <a:tc>
                  <a:txBody>
                    <a:bodyPr wrap="square"/>
                    <a:lstStyle/>
                    <a:p>
                      <a:r>
                        <a:rPr sz="1050" b="1">
                          <a:solidFill>
                            <a:srgbClr val="0C2B4A"/>
                          </a:solidFill>
                        </a:rPr>
                        <a:t>BIMStudents</a:t>
                      </a:r>
                    </a:p>
                  </a:txBody>
                  <a:tcPr anchor="ctr" marL="73152" marR="54864" marT="27432" marB="27432">
                    <a:solidFill>
                      <a:srgbClr val="EEF3F8"/>
                    </a:solidFill>
                  </a:tcPr>
                </a:tc>
                <a:tc>
                  <a:txBody>
                    <a:bodyPr wrap="square"/>
                    <a:lstStyle/>
                    <a:p>
                      <a:r>
                        <a:rPr sz="1050">
                          <a:solidFill>
                            <a:srgbClr val="1A1A1A"/>
                          </a:solidFill>
                        </a:rPr>
                        <a:t>INSERT a new BIM student</a:t>
                      </a:r>
                    </a:p>
                  </a:txBody>
                  <a:tcPr anchor="ctr" marL="73152" marR="54864" marT="27432" marB="27432">
                    <a:solidFill>
                      <a:srgbClr val="EEF3F8"/>
                    </a:solidFill>
                  </a:tcPr>
                </a:tc>
                <a:tc>
                  <a:txBody>
                    <a:bodyPr wrap="square"/>
                    <a:lstStyle/>
                    <a:p>
                      <a:r>
                        <a:rPr sz="1050">
                          <a:solidFill>
                            <a:srgbClr val="1A1A1A"/>
                          </a:solidFill>
                        </a:rPr>
                        <a:t>yes (needs the NOT NULL cols)</a:t>
                      </a:r>
                    </a:p>
                  </a:txBody>
                  <a:tcPr anchor="ctr" marL="73152" marR="54864" marT="27432" marB="27432">
                    <a:solidFill>
                      <a:srgbClr val="EEF3F8"/>
                    </a:solidFill>
                  </a:tcPr>
                </a:tc>
              </a:tr>
              <a:tr h="630936">
                <a:tc>
                  <a:txBody>
                    <a:bodyPr wrap="square"/>
                    <a:lstStyle/>
                    <a:p>
                      <a:r>
                        <a:rPr sz="1050" b="1">
                          <a:solidFill>
                            <a:srgbClr val="0C2B4A"/>
                          </a:solidFill>
                        </a:rPr>
                        <a:t>PublicInstructor (name, dept only)</a:t>
                      </a:r>
                    </a:p>
                  </a:txBody>
                  <a:tcPr anchor="ctr" marL="73152" marR="54864" marT="27432" marB="27432">
                    <a:solidFill>
                      <a:srgbClr val="FFFFFF"/>
                    </a:solidFill>
                  </a:tcPr>
                </a:tc>
                <a:tc>
                  <a:txBody>
                    <a:bodyPr wrap="square"/>
                    <a:lstStyle/>
                    <a:p>
                      <a:r>
                        <a:rPr sz="1050">
                          <a:solidFill>
                            <a:srgbClr val="1A1A1A"/>
                          </a:solidFill>
                        </a:rPr>
                        <a:t>UPDATE dept</a:t>
                      </a:r>
                    </a:p>
                  </a:txBody>
                  <a:tcPr anchor="ctr" marL="73152" marR="54864" marT="27432" marB="27432">
                    <a:solidFill>
                      <a:srgbClr val="FFFFFF"/>
                    </a:solidFill>
                  </a:tcPr>
                </a:tc>
                <a:tc>
                  <a:txBody>
                    <a:bodyPr wrap="square"/>
                    <a:lstStyle/>
                    <a:p>
                      <a:r>
                        <a:rPr sz="1050">
                          <a:solidFill>
                            <a:srgbClr val="1A1A1A"/>
                          </a:solidFill>
                        </a:rPr>
                        <a:t>yes — single table subset</a:t>
                      </a:r>
                    </a:p>
                  </a:txBody>
                  <a:tcPr anchor="ctr" marL="73152" marR="54864" marT="27432" marB="27432">
                    <a:solidFill>
                      <a:srgbClr val="FFFFFF"/>
                    </a:solidFill>
                  </a:tcPr>
                </a:tc>
              </a:tr>
              <a:tr h="630936">
                <a:tc>
                  <a:txBody>
                    <a:bodyPr wrap="square"/>
                    <a:lstStyle/>
                    <a:p>
                      <a:r>
                        <a:rPr sz="1050" b="1">
                          <a:solidFill>
                            <a:srgbClr val="0C2B4A"/>
                          </a:solidFill>
                        </a:rPr>
                        <a:t>MeritList (Student JOIN Enrollment)</a:t>
                      </a:r>
                    </a:p>
                  </a:txBody>
                  <a:tcPr anchor="ctr" marL="73152" marR="54864" marT="27432" marB="27432">
                    <a:solidFill>
                      <a:srgbClr val="EEF3F8"/>
                    </a:solidFill>
                  </a:tcPr>
                </a:tc>
                <a:tc>
                  <a:txBody>
                    <a:bodyPr wrap="square"/>
                    <a:lstStyle/>
                    <a:p>
                      <a:r>
                        <a:rPr sz="1050">
                          <a:solidFill>
                            <a:srgbClr val="1A1A1A"/>
                          </a:solidFill>
                        </a:rPr>
                        <a:t>UPDATE marks</a:t>
                      </a:r>
                    </a:p>
                  </a:txBody>
                  <a:tcPr anchor="ctr" marL="73152" marR="54864" marT="27432" marB="27432">
                    <a:solidFill>
                      <a:srgbClr val="EEF3F8"/>
                    </a:solidFill>
                  </a:tcPr>
                </a:tc>
                <a:tc>
                  <a:txBody>
                    <a:bodyPr wrap="square"/>
                    <a:lstStyle/>
                    <a:p>
                      <a:r>
                        <a:rPr sz="1050">
                          <a:solidFill>
                            <a:srgbClr val="1A1A1A"/>
                          </a:solidFill>
                        </a:rPr>
                        <a:t>ambiguous / blocked (join)</a:t>
                      </a:r>
                    </a:p>
                  </a:txBody>
                  <a:tcPr anchor="ctr" marL="73152" marR="54864" marT="27432" marB="27432">
                    <a:solidFill>
                      <a:srgbClr val="EEF3F8"/>
                    </a:solidFill>
                  </a:tcPr>
                </a:tc>
              </a:tr>
              <a:tr h="630936">
                <a:tc>
                  <a:txBody>
                    <a:bodyPr wrap="square"/>
                    <a:lstStyle/>
                    <a:p>
                      <a:r>
                        <a:rPr sz="1050" b="1">
                          <a:solidFill>
                            <a:srgbClr val="0C2B4A"/>
                          </a:solidFill>
                        </a:rPr>
                        <a:t>DeptAvgSalary (GROUP BY dept)</a:t>
                      </a:r>
                    </a:p>
                  </a:txBody>
                  <a:tcPr anchor="ctr" marL="73152" marR="54864" marT="27432" marB="27432">
                    <a:solidFill>
                      <a:srgbClr val="FFFFFF"/>
                    </a:solidFill>
                  </a:tcPr>
                </a:tc>
                <a:tc>
                  <a:txBody>
                    <a:bodyPr wrap="square"/>
                    <a:lstStyle/>
                    <a:p>
                      <a:r>
                        <a:rPr sz="1050">
                          <a:solidFill>
                            <a:srgbClr val="1A1A1A"/>
                          </a:solidFill>
                        </a:rPr>
                        <a:t>UPDATE avg_salary</a:t>
                      </a:r>
                    </a:p>
                  </a:txBody>
                  <a:tcPr anchor="ctr" marL="73152" marR="54864" marT="27432" marB="27432">
                    <a:solidFill>
                      <a:srgbClr val="FFFFFF"/>
                    </a:solidFill>
                  </a:tcPr>
                </a:tc>
                <a:tc>
                  <a:txBody>
                    <a:bodyPr wrap="square"/>
                    <a:lstStyle/>
                    <a:p>
                      <a:r>
                        <a:rPr sz="1050">
                          <a:solidFill>
                            <a:srgbClr val="1A1A1A"/>
                          </a:solidFill>
                        </a:rPr>
                        <a:t>no — aggregate can't map back</a:t>
                      </a:r>
                    </a:p>
                  </a:txBody>
                  <a:tcPr anchor="ctr" marL="73152" marR="54864" marT="27432" marB="27432">
                    <a:solidFill>
                      <a:srgbClr val="FFFFFF"/>
                    </a:solidFill>
                  </a:tcPr>
                </a:tc>
              </a:tr>
              <a:tr h="630936">
                <a:tc>
                  <a:txBody>
                    <a:bodyPr wrap="square"/>
                    <a:lstStyle/>
                    <a:p>
                      <a:r>
                        <a:rPr sz="1050" b="1">
                          <a:solidFill>
                            <a:srgbClr val="0C2B4A"/>
                          </a:solidFill>
                        </a:rPr>
                        <a:t>a view with a computed column</a:t>
                      </a:r>
                    </a:p>
                  </a:txBody>
                  <a:tcPr anchor="ctr" marL="73152" marR="54864" marT="27432" marB="27432">
                    <a:solidFill>
                      <a:srgbClr val="EEF3F8"/>
                    </a:solidFill>
                  </a:tcPr>
                </a:tc>
                <a:tc>
                  <a:txBody>
                    <a:bodyPr wrap="square"/>
                    <a:lstStyle/>
                    <a:p>
                      <a:r>
                        <a:rPr sz="1050">
                          <a:solidFill>
                            <a:srgbClr val="1A1A1A"/>
                          </a:solidFill>
                        </a:rPr>
                        <a:t>UPDATE that column</a:t>
                      </a:r>
                    </a:p>
                  </a:txBody>
                  <a:tcPr anchor="ctr" marL="73152" marR="54864" marT="27432" marB="27432">
                    <a:solidFill>
                      <a:srgbClr val="EEF3F8"/>
                    </a:solidFill>
                  </a:tcPr>
                </a:tc>
                <a:tc>
                  <a:txBody>
                    <a:bodyPr wrap="square"/>
                    <a:lstStyle/>
                    <a:p>
                      <a:r>
                        <a:rPr sz="1050">
                          <a:solidFill>
                            <a:srgbClr val="1A1A1A"/>
                          </a:solidFill>
                        </a:rPr>
                        <a:t>no — derived value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modification passes through only when the DBMS can map each view row to exactly one base-table row. Single-table filters/subsets qualify; joins, aggregates, and computed columns generally do not.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146 / 219</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Modifying Through a View</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An admin panel often exposes an editable view rather than the raw table. Editing a student's semester in the BIMStudents view writes straight through to the Student table — the coordinator never touches the base table directly, but their save still lands there.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"Editing a view only changes the view, not the real data." For an updatable view, the change passes THROUGH to the base table — the view has no data of its own. If it were non-updatable, the save would be rejected instead.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Modifying a view means running INSERT/UPDATE/DELETE against it; for an updatable view the DBMS rewrites this into a modification of the underlying base table, since the view stores no data. This works only when each view row maps unambiguously to exactly one base-table row.</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modify through view · pass-through to base table · unambiguous row mapping · views store no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147 / 219</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Updatable Views — the Rules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view is updatable when it maps cleanly to one base table: built on a SINGLE table, no aggregates/DISTINCT/GROUP BY, no derived (computed) columns, and it includes the base table's required NOT NULL columns (so an INSERT can supply them).</a:t>
            </a:r>
          </a:p>
          <a:p>
            <a:pPr>
              <a:spcAft>
                <a:spcPts val="500"/>
              </a:spcAft>
            </a:pPr>
            <a:r>
              <a:rPr sz="1200" b="1">
                <a:solidFill>
                  <a:srgbClr val="185FA5"/>
                </a:solidFill>
              </a:rPr>
              <a:t>HOW IT WORKS</a:t>
            </a:r>
          </a:p>
          <a:p>
            <a:pPr>
              <a:spcAft>
                <a:spcPts val="600"/>
              </a:spcAft>
            </a:pPr>
            <a:r>
              <a:rPr sz="1400">
                <a:solidFill>
                  <a:srgbClr val="1A1A1A"/>
                </a:solidFill>
              </a:rPr>
              <a:t>•  Single base table (no joins).</a:t>
            </a:r>
          </a:p>
          <a:p>
            <a:pPr>
              <a:spcAft>
                <a:spcPts val="600"/>
              </a:spcAft>
            </a:pPr>
            <a:r>
              <a:rPr sz="1400">
                <a:solidFill>
                  <a:srgbClr val="1A1A1A"/>
                </a:solidFill>
              </a:rPr>
              <a:t>•  No GROUP BY, aggregate functions, or DISTINCT.</a:t>
            </a:r>
          </a:p>
          <a:p>
            <a:pPr>
              <a:spcAft>
                <a:spcPts val="600"/>
              </a:spcAft>
            </a:pPr>
            <a:r>
              <a:rPr sz="1400">
                <a:solidFill>
                  <a:srgbClr val="1A1A1A"/>
                </a:solidFill>
              </a:rPr>
              <a:t>•  No derived/computed columns in the SELECT list.</a:t>
            </a:r>
          </a:p>
          <a:p>
            <a:pPr>
              <a:spcAft>
                <a:spcPts val="600"/>
              </a:spcAft>
            </a:pPr>
            <a:r>
              <a:rPr sz="1400">
                <a:solidFill>
                  <a:srgbClr val="1A1A1A"/>
                </a:solidFill>
              </a:rPr>
              <a:t>•  Includes the NOT NULL columns needed to insert a valid base row.</a:t>
            </a:r>
          </a:p>
        </p:txBody>
      </p:sp>
      <p:pic>
        <p:nvPicPr>
          <p:cNvPr id="6" name="Picture 5" descr="s32_updatable.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Updatable = simple, single-table, no summarising, no computed columns.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148 / 219</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updatability checklist — pass all to be updatable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692769"/>
                <a:gridCol w="3868615"/>
                <a:gridCol w="3868615"/>
              </a:tblGrid>
              <a:tr h="630936">
                <a:tc>
                  <a:txBody>
                    <a:bodyPr wrap="square"/>
                    <a:lstStyle/>
                    <a:p>
                      <a:r>
                        <a:rPr sz="1100" b="1">
                          <a:solidFill>
                            <a:srgbClr val="FFFFFF"/>
                          </a:solidFill>
                        </a:rPr>
                        <a:t>Rule</a:t>
                      </a:r>
                    </a:p>
                  </a:txBody>
                  <a:tcPr anchor="ctr" marL="73152" marR="54864" marT="27432" marB="27432">
                    <a:solidFill>
                      <a:srgbClr val="0C2B4A"/>
                    </a:solidFill>
                  </a:tcPr>
                </a:tc>
                <a:tc>
                  <a:txBody>
                    <a:bodyPr wrap="square"/>
                    <a:lstStyle/>
                    <a:p>
                      <a:r>
                        <a:rPr sz="1100" b="1">
                          <a:solidFill>
                            <a:srgbClr val="FFFFFF"/>
                          </a:solidFill>
                        </a:rPr>
                        <a:t>Updatable view</a:t>
                      </a:r>
                    </a:p>
                  </a:txBody>
                  <a:tcPr anchor="ctr" marL="73152" marR="54864" marT="27432" marB="27432">
                    <a:solidFill>
                      <a:srgbClr val="0C2B4A"/>
                    </a:solidFill>
                  </a:tcPr>
                </a:tc>
                <a:tc>
                  <a:txBody>
                    <a:bodyPr wrap="square"/>
                    <a:lstStyle/>
                    <a:p>
                      <a:r>
                        <a:rPr sz="1100" b="1">
                          <a:solidFill>
                            <a:srgbClr val="FFFFFF"/>
                          </a:solidFill>
                        </a:rPr>
                        <a:t>Non-updatable if…</a:t>
                      </a:r>
                    </a:p>
                  </a:txBody>
                  <a:tcPr anchor="ctr" marL="73152" marR="54864" marT="27432" marB="27432">
                    <a:solidFill>
                      <a:srgbClr val="0C2B4A"/>
                    </a:solidFill>
                  </a:tcPr>
                </a:tc>
              </a:tr>
              <a:tr h="630936">
                <a:tc>
                  <a:txBody>
                    <a:bodyPr wrap="square"/>
                    <a:lstStyle/>
                    <a:p>
                      <a:r>
                        <a:rPr sz="1050" b="1">
                          <a:solidFill>
                            <a:srgbClr val="0C2B4A"/>
                          </a:solidFill>
                        </a:rPr>
                        <a:t>Single base table</a:t>
                      </a:r>
                    </a:p>
                  </a:txBody>
                  <a:tcPr anchor="ctr" marL="73152" marR="54864" marT="27432" marB="27432">
                    <a:solidFill>
                      <a:srgbClr val="FFFFFF"/>
                    </a:solidFill>
                  </a:tcPr>
                </a:tc>
                <a:tc>
                  <a:txBody>
                    <a:bodyPr wrap="square"/>
                    <a:lstStyle/>
                    <a:p>
                      <a:r>
                        <a:rPr sz="1050">
                          <a:solidFill>
                            <a:srgbClr val="1A1A1A"/>
                          </a:solidFill>
                        </a:rPr>
                        <a:t>one table only</a:t>
                      </a:r>
                    </a:p>
                  </a:txBody>
                  <a:tcPr anchor="ctr" marL="73152" marR="54864" marT="27432" marB="27432">
                    <a:solidFill>
                      <a:srgbClr val="FFFFFF"/>
                    </a:solidFill>
                  </a:tcPr>
                </a:tc>
                <a:tc>
                  <a:txBody>
                    <a:bodyPr wrap="square"/>
                    <a:lstStyle/>
                    <a:p>
                      <a:r>
                        <a:rPr sz="1050">
                          <a:solidFill>
                            <a:srgbClr val="1A1A1A"/>
                          </a:solidFill>
                        </a:rPr>
                        <a:t>it joins two+ tables</a:t>
                      </a:r>
                    </a:p>
                  </a:txBody>
                  <a:tcPr anchor="ctr" marL="73152" marR="54864" marT="27432" marB="27432">
                    <a:solidFill>
                      <a:srgbClr val="FFFFFF"/>
                    </a:solidFill>
                  </a:tcPr>
                </a:tc>
              </a:tr>
              <a:tr h="630936">
                <a:tc>
                  <a:txBody>
                    <a:bodyPr wrap="square"/>
                    <a:lstStyle/>
                    <a:p>
                      <a:r>
                        <a:rPr sz="1050" b="1">
                          <a:solidFill>
                            <a:srgbClr val="0C2B4A"/>
                          </a:solidFill>
                        </a:rPr>
                        <a:t>No aggregates</a:t>
                      </a:r>
                    </a:p>
                  </a:txBody>
                  <a:tcPr anchor="ctr" marL="73152" marR="54864" marT="27432" marB="27432">
                    <a:solidFill>
                      <a:srgbClr val="EEF3F8"/>
                    </a:solidFill>
                  </a:tcPr>
                </a:tc>
                <a:tc>
                  <a:txBody>
                    <a:bodyPr wrap="square"/>
                    <a:lstStyle/>
                    <a:p>
                      <a:r>
                        <a:rPr sz="1050">
                          <a:solidFill>
                            <a:srgbClr val="1A1A1A"/>
                          </a:solidFill>
                        </a:rPr>
                        <a:t>plain columns</a:t>
                      </a:r>
                    </a:p>
                  </a:txBody>
                  <a:tcPr anchor="ctr" marL="73152" marR="54864" marT="27432" marB="27432">
                    <a:solidFill>
                      <a:srgbClr val="EEF3F8"/>
                    </a:solidFill>
                  </a:tcPr>
                </a:tc>
                <a:tc>
                  <a:txBody>
                    <a:bodyPr wrap="square"/>
                    <a:lstStyle/>
                    <a:p>
                      <a:r>
                        <a:rPr sz="1050">
                          <a:solidFill>
                            <a:srgbClr val="1A1A1A"/>
                          </a:solidFill>
                        </a:rPr>
                        <a:t>it uses SUM/AVG/COUNT…</a:t>
                      </a:r>
                    </a:p>
                  </a:txBody>
                  <a:tcPr anchor="ctr" marL="73152" marR="54864" marT="27432" marB="27432">
                    <a:solidFill>
                      <a:srgbClr val="EEF3F8"/>
                    </a:solidFill>
                  </a:tcPr>
                </a:tc>
              </a:tr>
              <a:tr h="630936">
                <a:tc>
                  <a:txBody>
                    <a:bodyPr wrap="square"/>
                    <a:lstStyle/>
                    <a:p>
                      <a:r>
                        <a:rPr sz="1050" b="1">
                          <a:solidFill>
                            <a:srgbClr val="0C2B4A"/>
                          </a:solidFill>
                        </a:rPr>
                        <a:t>No GROUP BY / DISTINCT</a:t>
                      </a:r>
                    </a:p>
                  </a:txBody>
                  <a:tcPr anchor="ctr" marL="73152" marR="54864" marT="27432" marB="27432">
                    <a:solidFill>
                      <a:srgbClr val="FFFFFF"/>
                    </a:solidFill>
                  </a:tcPr>
                </a:tc>
                <a:tc>
                  <a:txBody>
                    <a:bodyPr wrap="square"/>
                    <a:lstStyle/>
                    <a:p>
                      <a:r>
                        <a:rPr sz="1050">
                          <a:solidFill>
                            <a:srgbClr val="1A1A1A"/>
                          </a:solidFill>
                        </a:rPr>
                        <a:t>row-for-row</a:t>
                      </a:r>
                    </a:p>
                  </a:txBody>
                  <a:tcPr anchor="ctr" marL="73152" marR="54864" marT="27432" marB="27432">
                    <a:solidFill>
                      <a:srgbClr val="FFFFFF"/>
                    </a:solidFill>
                  </a:tcPr>
                </a:tc>
                <a:tc>
                  <a:txBody>
                    <a:bodyPr wrap="square"/>
                    <a:lstStyle/>
                    <a:p>
                      <a:r>
                        <a:rPr sz="1050">
                          <a:solidFill>
                            <a:srgbClr val="1A1A1A"/>
                          </a:solidFill>
                        </a:rPr>
                        <a:t>it groups or de-duplicates</a:t>
                      </a:r>
                    </a:p>
                  </a:txBody>
                  <a:tcPr anchor="ctr" marL="73152" marR="54864" marT="27432" marB="27432">
                    <a:solidFill>
                      <a:srgbClr val="FFFFFF"/>
                    </a:solidFill>
                  </a:tcPr>
                </a:tc>
              </a:tr>
              <a:tr h="630936">
                <a:tc>
                  <a:txBody>
                    <a:bodyPr wrap="square"/>
                    <a:lstStyle/>
                    <a:p>
                      <a:r>
                        <a:rPr sz="1050" b="1">
                          <a:solidFill>
                            <a:srgbClr val="0C2B4A"/>
                          </a:solidFill>
                        </a:rPr>
                        <a:t>No computed columns</a:t>
                      </a:r>
                    </a:p>
                  </a:txBody>
                  <a:tcPr anchor="ctr" marL="73152" marR="54864" marT="27432" marB="27432">
                    <a:solidFill>
                      <a:srgbClr val="EEF3F8"/>
                    </a:solidFill>
                  </a:tcPr>
                </a:tc>
                <a:tc>
                  <a:txBody>
                    <a:bodyPr wrap="square"/>
                    <a:lstStyle/>
                    <a:p>
                      <a:r>
                        <a:rPr sz="1050">
                          <a:solidFill>
                            <a:srgbClr val="1A1A1A"/>
                          </a:solidFill>
                        </a:rPr>
                        <a:t>stored columns only</a:t>
                      </a:r>
                    </a:p>
                  </a:txBody>
                  <a:tcPr anchor="ctr" marL="73152" marR="54864" marT="27432" marB="27432">
                    <a:solidFill>
                      <a:srgbClr val="EEF3F8"/>
                    </a:solidFill>
                  </a:tcPr>
                </a:tc>
                <a:tc>
                  <a:txBody>
                    <a:bodyPr wrap="square"/>
                    <a:lstStyle/>
                    <a:p>
                      <a:r>
                        <a:rPr sz="1050">
                          <a:solidFill>
                            <a:srgbClr val="1A1A1A"/>
                          </a:solidFill>
                        </a:rPr>
                        <a:t>it has marks*1.0 etc.</a:t>
                      </a:r>
                    </a:p>
                  </a:txBody>
                  <a:tcPr anchor="ctr" marL="73152" marR="54864" marT="27432" marB="27432">
                    <a:solidFill>
                      <a:srgbClr val="EEF3F8"/>
                    </a:solidFill>
                  </a:tcPr>
                </a:tc>
              </a:tr>
              <a:tr h="630936">
                <a:tc>
                  <a:txBody>
                    <a:bodyPr wrap="square"/>
                    <a:lstStyle/>
                    <a:p>
                      <a:r>
                        <a:rPr sz="1050" b="1">
                          <a:solidFill>
                            <a:srgbClr val="0C2B4A"/>
                          </a:solidFill>
                        </a:rPr>
                        <a:t>Includes NOT NULL cols</a:t>
                      </a:r>
                    </a:p>
                  </a:txBody>
                  <a:tcPr anchor="ctr" marL="73152" marR="54864" marT="27432" marB="27432">
                    <a:solidFill>
                      <a:srgbClr val="FFFFFF"/>
                    </a:solidFill>
                  </a:tcPr>
                </a:tc>
                <a:tc>
                  <a:txBody>
                    <a:bodyPr wrap="square"/>
                    <a:lstStyle/>
                    <a:p>
                      <a:r>
                        <a:rPr sz="1050">
                          <a:solidFill>
                            <a:srgbClr val="1A1A1A"/>
                          </a:solidFill>
                        </a:rPr>
                        <a:t>can insert a valid row</a:t>
                      </a:r>
                    </a:p>
                  </a:txBody>
                  <a:tcPr anchor="ctr" marL="73152" marR="54864" marT="27432" marB="27432">
                    <a:solidFill>
                      <a:srgbClr val="FFFFFF"/>
                    </a:solidFill>
                  </a:tcPr>
                </a:tc>
                <a:tc>
                  <a:txBody>
                    <a:bodyPr wrap="square"/>
                    <a:lstStyle/>
                    <a:p>
                      <a:r>
                        <a:rPr sz="1050">
                          <a:solidFill>
                            <a:srgbClr val="1A1A1A"/>
                          </a:solidFill>
                        </a:rPr>
                        <a:t>required columns are missing</a:t>
                      </a:r>
                    </a:p>
                  </a:txBody>
                  <a:tcPr anchor="ctr" marL="73152" marR="54864" marT="27432" marB="27432">
                    <a:solidFill>
                      <a:srgbClr val="FFFFFF"/>
                    </a:solidFill>
                  </a:tcPr>
                </a:tc>
              </a:tr>
              <a:tr h="630936">
                <a:tc>
                  <a:txBody>
                    <a:bodyPr wrap="square"/>
                    <a:lstStyle/>
                    <a:p>
                      <a:r>
                        <a:rPr sz="1050" b="1">
                          <a:solidFill>
                            <a:srgbClr val="0C2B4A"/>
                          </a:solidFill>
                        </a:rPr>
                        <a:t>Example</a:t>
                      </a:r>
                    </a:p>
                  </a:txBody>
                  <a:tcPr anchor="ctr" marL="73152" marR="54864" marT="27432" marB="27432">
                    <a:solidFill>
                      <a:srgbClr val="EEF3F8"/>
                    </a:solidFill>
                  </a:tcPr>
                </a:tc>
                <a:tc>
                  <a:txBody>
                    <a:bodyPr wrap="square"/>
                    <a:lstStyle/>
                    <a:p>
                      <a:r>
                        <a:rPr sz="1050">
                          <a:solidFill>
                            <a:srgbClr val="1A1A1A"/>
                          </a:solidFill>
                        </a:rPr>
                        <a:t>BIMStudents</a:t>
                      </a:r>
                    </a:p>
                  </a:txBody>
                  <a:tcPr anchor="ctr" marL="73152" marR="54864" marT="27432" marB="27432">
                    <a:solidFill>
                      <a:srgbClr val="EEF3F8"/>
                    </a:solidFill>
                  </a:tcPr>
                </a:tc>
                <a:tc>
                  <a:txBody>
                    <a:bodyPr wrap="square"/>
                    <a:lstStyle/>
                    <a:p>
                      <a:r>
                        <a:rPr sz="1050">
                          <a:solidFill>
                            <a:srgbClr val="1A1A1A"/>
                          </a:solidFill>
                        </a:rPr>
                        <a:t>DeptAvgSalary, MeritList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boxes must be ticked. A view fails updatability the moment it joins, aggregates, groups, de-duplicates, or computes — because the DBMS can no longer map a view row to one base row.</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149 / 219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Updatable Views — the Rules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BIMStudents = SELECT roll,name,program,semester FROM Student WHERE program='BIM' is updatable: one table, no aggregates, no computed columns, and it carries the NOT NULL columns, so you can UPDATE or even INSERT a BIM student through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view can be edited like a table." Only views meeting the updatability rules — single table, no aggregates/DISTINCT/GROUP BY, no derived columns, and the required NOT NULL columns present. Break any rule and the DBMS rejects the modification.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view is updatable when it maps cleanly to a single base table: no joins, no aggregates/GROUP BY/DISTINCT, no derived columns, and it includes the base table's NOT NULL columns so inserts can supply them. Only then can the DBMS translate a view modification into an unambiguous base-table modification.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updatable view · single table · no aggregate/GROUP BY/DISTINCT · no derived columns · NOT NULL present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150 / 219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Non-Updatable Views &amp; WITH CHECK OPTION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Views with joins, aggregates, GROUP BY, or computed columns are generally NON-updatable — the change can't be mapped back to base rows unambiguously. WITH CHECK OPTION guards an updatable view so you can't insert/update a row that falls OUTSIDE the view's filter.</a:t>
            </a:r>
          </a:p>
          <a:p>
            <a:pPr>
              <a:spcAft>
                <a:spcPts val="500"/>
              </a:spcAft>
            </a:pPr>
            <a:r>
              <a:rPr sz="1200" b="1">
                <a:solidFill>
                  <a:srgbClr val="185FA5"/>
                </a:solidFill>
              </a:rPr>
              <a:t>HOW IT WORKS</a:t>
            </a:r>
          </a:p>
          <a:p>
            <a:pPr>
              <a:spcAft>
                <a:spcPts val="600"/>
              </a:spcAft>
            </a:pPr>
            <a:r>
              <a:rPr sz="1400">
                <a:solidFill>
                  <a:srgbClr val="1A1A1A"/>
                </a:solidFill>
              </a:rPr>
              <a:t>•  DeptAvgSalary (GROUP BY dept) — 'raise the average to 80k' is meaningless per row → non-updatable.</a:t>
            </a:r>
          </a:p>
          <a:p>
            <a:pPr>
              <a:spcAft>
                <a:spcPts val="600"/>
              </a:spcAft>
            </a:pPr>
            <a:r>
              <a:rPr sz="1400">
                <a:solidFill>
                  <a:srgbClr val="1A1A1A"/>
                </a:solidFill>
              </a:rPr>
              <a:t>•  A join view — which base table would an insert go into? → ambiguous, blocked.</a:t>
            </a:r>
          </a:p>
          <a:p>
            <a:pPr>
              <a:spcAft>
                <a:spcPts val="600"/>
              </a:spcAft>
            </a:pPr>
            <a:r>
              <a:rPr sz="1400">
                <a:solidFill>
                  <a:srgbClr val="1A1A1A"/>
                </a:solidFill>
              </a:rPr>
              <a:t>•  WITH CHECK OPTION: inserting a 'BCA' student through BIMStudents WITH CHECK OPTION is rejected.</a:t>
            </a:r>
          </a:p>
          <a:p>
            <a:pPr>
              <a:spcAft>
                <a:spcPts val="600"/>
              </a:spcAft>
            </a:pPr>
            <a:r>
              <a:rPr sz="1400">
                <a:solidFill>
                  <a:srgbClr val="1A1A1A"/>
                </a:solidFill>
              </a:rPr>
              <a:t>•  It stops rows 'disappearing' from a view the moment they're inserted.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You can't un-bake a cake: an aggregate view can't be pushed back into individual rows.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151 / 219</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Non-updatable views and the CHECK OPTION guard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024647"/>
                <a:gridCol w="4185633"/>
                <a:gridCol w="3219718"/>
              </a:tblGrid>
              <a:tr h="630936">
                <a:tc>
                  <a:txBody>
                    <a:bodyPr wrap="square"/>
                    <a:lstStyle/>
                    <a:p>
                      <a:r>
                        <a:rPr sz="1100" b="1">
                          <a:solidFill>
                            <a:srgbClr val="FFFFFF"/>
                          </a:solidFill>
                        </a:rPr>
                        <a:t>View / clause</a:t>
                      </a:r>
                    </a:p>
                  </a:txBody>
                  <a:tcPr anchor="ctr" marL="73152" marR="54864" marT="27432" marB="27432">
                    <a:solidFill>
                      <a:srgbClr val="0C2B4A"/>
                    </a:solidFill>
                  </a:tcPr>
                </a:tc>
                <a:tc>
                  <a:txBody>
                    <a:bodyPr wrap="square"/>
                    <a:lstStyle/>
                    <a:p>
                      <a:r>
                        <a:rPr sz="1100" b="1">
                          <a:solidFill>
                            <a:srgbClr val="FFFFFF"/>
                          </a:solidFill>
                        </a:rPr>
                        <a:t>Why non-updatable / what it guards</a:t>
                      </a:r>
                    </a:p>
                  </a:txBody>
                  <a:tcPr anchor="ctr" marL="73152" marR="54864" marT="27432" marB="27432">
                    <a:solidFill>
                      <a:srgbClr val="0C2B4A"/>
                    </a:solidFill>
                  </a:tcPr>
                </a:tc>
                <a:tc>
                  <a:txBody>
                    <a:bodyPr wrap="square"/>
                    <a:lstStyle/>
                    <a:p>
                      <a:r>
                        <a:rPr sz="1100" b="1">
                          <a:solidFill>
                            <a:srgbClr val="FFFFFF"/>
                          </a:solidFill>
                        </a:rPr>
                        <a:t>Attempted change</a:t>
                      </a:r>
                    </a:p>
                  </a:txBody>
                  <a:tcPr anchor="ctr" marL="73152" marR="54864" marT="27432" marB="27432">
                    <a:solidFill>
                      <a:srgbClr val="0C2B4A"/>
                    </a:solidFill>
                  </a:tcPr>
                </a:tc>
              </a:tr>
              <a:tr h="630936">
                <a:tc>
                  <a:txBody>
                    <a:bodyPr wrap="square"/>
                    <a:lstStyle/>
                    <a:p>
                      <a:r>
                        <a:rPr sz="1050" b="1">
                          <a:solidFill>
                            <a:srgbClr val="0C2B4A"/>
                          </a:solidFill>
                        </a:rPr>
                        <a:t>DeptAvgSalary (GROUP BY dept)</a:t>
                      </a:r>
                    </a:p>
                  </a:txBody>
                  <a:tcPr anchor="ctr" marL="73152" marR="54864" marT="27432" marB="27432">
                    <a:solidFill>
                      <a:srgbClr val="FFFFFF"/>
                    </a:solidFill>
                  </a:tcPr>
                </a:tc>
                <a:tc>
                  <a:txBody>
                    <a:bodyPr wrap="square"/>
                    <a:lstStyle/>
                    <a:p>
                      <a:r>
                        <a:rPr sz="1050">
                          <a:solidFill>
                            <a:srgbClr val="1A1A1A"/>
                          </a:solidFill>
                        </a:rPr>
                        <a:t>aggregate can't map to rows</a:t>
                      </a:r>
                    </a:p>
                  </a:txBody>
                  <a:tcPr anchor="ctr" marL="73152" marR="54864" marT="27432" marB="27432">
                    <a:solidFill>
                      <a:srgbClr val="FFFFFF"/>
                    </a:solidFill>
                  </a:tcPr>
                </a:tc>
                <a:tc>
                  <a:txBody>
                    <a:bodyPr wrap="square"/>
                    <a:lstStyle/>
                    <a:p>
                      <a:r>
                        <a:rPr sz="1050">
                          <a:solidFill>
                            <a:srgbClr val="1A1A1A"/>
                          </a:solidFill>
                        </a:rPr>
                        <a:t>'set avg=80k' — meaningless</a:t>
                      </a:r>
                    </a:p>
                  </a:txBody>
                  <a:tcPr anchor="ctr" marL="73152" marR="54864" marT="27432" marB="27432">
                    <a:solidFill>
                      <a:srgbClr val="FFFFFF"/>
                    </a:solidFill>
                  </a:tcPr>
                </a:tc>
              </a:tr>
              <a:tr h="630936">
                <a:tc>
                  <a:txBody>
                    <a:bodyPr wrap="square"/>
                    <a:lstStyle/>
                    <a:p>
                      <a:r>
                        <a:rPr sz="1050" b="1">
                          <a:solidFill>
                            <a:srgbClr val="0C2B4A"/>
                          </a:solidFill>
                        </a:rPr>
                        <a:t>MeritList (Student JOIN Enrollment)</a:t>
                      </a:r>
                    </a:p>
                  </a:txBody>
                  <a:tcPr anchor="ctr" marL="73152" marR="54864" marT="27432" marB="27432">
                    <a:solidFill>
                      <a:srgbClr val="EEF3F8"/>
                    </a:solidFill>
                  </a:tcPr>
                </a:tc>
                <a:tc>
                  <a:txBody>
                    <a:bodyPr wrap="square"/>
                    <a:lstStyle/>
                    <a:p>
                      <a:r>
                        <a:rPr sz="1050">
                          <a:solidFill>
                            <a:srgbClr val="1A1A1A"/>
                          </a:solidFill>
                        </a:rPr>
                        <a:t>which base table gets the change?</a:t>
                      </a:r>
                    </a:p>
                  </a:txBody>
                  <a:tcPr anchor="ctr" marL="73152" marR="54864" marT="27432" marB="27432">
                    <a:solidFill>
                      <a:srgbClr val="EEF3F8"/>
                    </a:solidFill>
                  </a:tcPr>
                </a:tc>
                <a:tc>
                  <a:txBody>
                    <a:bodyPr wrap="square"/>
                    <a:lstStyle/>
                    <a:p>
                      <a:r>
                        <a:rPr sz="1050">
                          <a:solidFill>
                            <a:srgbClr val="1A1A1A"/>
                          </a:solidFill>
                        </a:rPr>
                        <a:t>UPDATE marks — ambiguous</a:t>
                      </a:r>
                    </a:p>
                  </a:txBody>
                  <a:tcPr anchor="ctr" marL="73152" marR="54864" marT="27432" marB="27432">
                    <a:solidFill>
                      <a:srgbClr val="EEF3F8"/>
                    </a:solidFill>
                  </a:tcPr>
                </a:tc>
              </a:tr>
              <a:tr h="630936">
                <a:tc>
                  <a:txBody>
                    <a:bodyPr wrap="square"/>
                    <a:lstStyle/>
                    <a:p>
                      <a:r>
                        <a:rPr sz="1050" b="1">
                          <a:solidFill>
                            <a:srgbClr val="0C2B4A"/>
                          </a:solidFill>
                        </a:rPr>
                        <a:t>Pct (marks*1.0 AS pct)</a:t>
                      </a:r>
                    </a:p>
                  </a:txBody>
                  <a:tcPr anchor="ctr" marL="73152" marR="54864" marT="27432" marB="27432">
                    <a:solidFill>
                      <a:srgbClr val="FFFFFF"/>
                    </a:solidFill>
                  </a:tcPr>
                </a:tc>
                <a:tc>
                  <a:txBody>
                    <a:bodyPr wrap="square"/>
                    <a:lstStyle/>
                    <a:p>
                      <a:r>
                        <a:rPr sz="1050">
                          <a:solidFill>
                            <a:srgbClr val="1A1A1A"/>
                          </a:solidFill>
                        </a:rPr>
                        <a:t>derived column has no base storage</a:t>
                      </a:r>
                    </a:p>
                  </a:txBody>
                  <a:tcPr anchor="ctr" marL="73152" marR="54864" marT="27432" marB="27432">
                    <a:solidFill>
                      <a:srgbClr val="FFFFFF"/>
                    </a:solidFill>
                  </a:tcPr>
                </a:tc>
                <a:tc>
                  <a:txBody>
                    <a:bodyPr wrap="square"/>
                    <a:lstStyle/>
                    <a:p>
                      <a:r>
                        <a:rPr sz="1050">
                          <a:solidFill>
                            <a:srgbClr val="1A1A1A"/>
                          </a:solidFill>
                        </a:rPr>
                        <a:t>UPDATE pct — impossible</a:t>
                      </a:r>
                    </a:p>
                  </a:txBody>
                  <a:tcPr anchor="ctr" marL="73152" marR="54864" marT="27432" marB="27432">
                    <a:solidFill>
                      <a:srgbClr val="FFFFFF"/>
                    </a:solidFill>
                  </a:tcPr>
                </a:tc>
              </a:tr>
              <a:tr h="630936">
                <a:tc>
                  <a:txBody>
                    <a:bodyPr wrap="square"/>
                    <a:lstStyle/>
                    <a:p>
                      <a:r>
                        <a:rPr sz="1050" b="1">
                          <a:solidFill>
                            <a:srgbClr val="0C2B4A"/>
                          </a:solidFill>
                        </a:rPr>
                        <a:t>a DISTINCT view</a:t>
                      </a:r>
                    </a:p>
                  </a:txBody>
                  <a:tcPr anchor="ctr" marL="73152" marR="54864" marT="27432" marB="27432">
                    <a:solidFill>
                      <a:srgbClr val="EEF3F8"/>
                    </a:solidFill>
                  </a:tcPr>
                </a:tc>
                <a:tc>
                  <a:txBody>
                    <a:bodyPr wrap="square"/>
                    <a:lstStyle/>
                    <a:p>
                      <a:r>
                        <a:rPr sz="1050">
                          <a:solidFill>
                            <a:srgbClr val="1A1A1A"/>
                          </a:solidFill>
                        </a:rPr>
                        <a:t>de-dup loses row identity</a:t>
                      </a:r>
                    </a:p>
                  </a:txBody>
                  <a:tcPr anchor="ctr" marL="73152" marR="54864" marT="27432" marB="27432">
                    <a:solidFill>
                      <a:srgbClr val="EEF3F8"/>
                    </a:solidFill>
                  </a:tcPr>
                </a:tc>
                <a:tc>
                  <a:txBody>
                    <a:bodyPr wrap="square"/>
                    <a:lstStyle/>
                    <a:p>
                      <a:r>
                        <a:rPr sz="1050">
                          <a:solidFill>
                            <a:srgbClr val="1A1A1A"/>
                          </a:solidFill>
                        </a:rPr>
                        <a:t>UPDATE a merged row — ambiguous</a:t>
                      </a:r>
                    </a:p>
                  </a:txBody>
                  <a:tcPr anchor="ctr" marL="73152" marR="54864" marT="27432" marB="27432">
                    <a:solidFill>
                      <a:srgbClr val="EEF3F8"/>
                    </a:solidFill>
                  </a:tcPr>
                </a:tc>
              </a:tr>
              <a:tr h="630936">
                <a:tc>
                  <a:txBody>
                    <a:bodyPr wrap="square"/>
                    <a:lstStyle/>
                    <a:p>
                      <a:r>
                        <a:rPr sz="1050" b="1">
                          <a:solidFill>
                            <a:srgbClr val="0C2B4A"/>
                          </a:solidFill>
                        </a:rPr>
                        <a:t>BIMStudents WITH CHECK OPTION</a:t>
                      </a:r>
                    </a:p>
                  </a:txBody>
                  <a:tcPr anchor="ctr" marL="73152" marR="54864" marT="27432" marB="27432">
                    <a:solidFill>
                      <a:srgbClr val="FFFFFF"/>
                    </a:solidFill>
                  </a:tcPr>
                </a:tc>
                <a:tc>
                  <a:txBody>
                    <a:bodyPr wrap="square"/>
                    <a:lstStyle/>
                    <a:p>
                      <a:r>
                        <a:rPr sz="1050">
                          <a:solidFill>
                            <a:srgbClr val="1A1A1A"/>
                          </a:solidFill>
                        </a:rPr>
                        <a:t>guards the filter (program='BIM')</a:t>
                      </a:r>
                    </a:p>
                  </a:txBody>
                  <a:tcPr anchor="ctr" marL="73152" marR="54864" marT="27432" marB="27432">
                    <a:solidFill>
                      <a:srgbClr val="FFFFFF"/>
                    </a:solidFill>
                  </a:tcPr>
                </a:tc>
                <a:tc>
                  <a:txBody>
                    <a:bodyPr wrap="square"/>
                    <a:lstStyle/>
                    <a:p>
                      <a:r>
                        <a:rPr sz="1050">
                          <a:solidFill>
                            <a:srgbClr val="1A1A1A"/>
                          </a:solidFill>
                        </a:rPr>
                        <a:t>INSERT a 'BCA' row — REJECTED</a:t>
                      </a:r>
                    </a:p>
                  </a:txBody>
                  <a:tcPr anchor="ctr" marL="73152" marR="54864" marT="27432" marB="27432">
                    <a:solidFill>
                      <a:srgbClr val="FFFFFF"/>
                    </a:solidFill>
                  </a:tcPr>
                </a:tc>
              </a:tr>
              <a:tr h="630936">
                <a:tc>
                  <a:txBody>
                    <a:bodyPr wrap="square"/>
                    <a:lstStyle/>
                    <a:p>
                      <a:r>
                        <a:rPr sz="1050" b="1">
                          <a:solidFill>
                            <a:srgbClr val="0C2B4A"/>
                          </a:solidFill>
                        </a:rPr>
                        <a:t>BIMStudents WITH CHECK OPTION</a:t>
                      </a:r>
                    </a:p>
                  </a:txBody>
                  <a:tcPr anchor="ctr" marL="73152" marR="54864" marT="27432" marB="27432">
                    <a:solidFill>
                      <a:srgbClr val="EEF3F8"/>
                    </a:solidFill>
                  </a:tcPr>
                </a:tc>
                <a:tc>
                  <a:txBody>
                    <a:bodyPr wrap="square"/>
                    <a:lstStyle/>
                    <a:p>
                      <a:r>
                        <a:rPr sz="1050">
                          <a:solidFill>
                            <a:srgbClr val="1A1A1A"/>
                          </a:solidFill>
                        </a:rPr>
                        <a:t>guards the filter</a:t>
                      </a:r>
                    </a:p>
                  </a:txBody>
                  <a:tcPr anchor="ctr" marL="73152" marR="54864" marT="27432" marB="27432">
                    <a:solidFill>
                      <a:srgbClr val="EEF3F8"/>
                    </a:solidFill>
                  </a:tcPr>
                </a:tc>
                <a:tc>
                  <a:txBody>
                    <a:bodyPr wrap="square"/>
                    <a:lstStyle/>
                    <a:p>
                      <a:r>
                        <a:rPr sz="1050">
                          <a:solidFill>
                            <a:srgbClr val="1A1A1A"/>
                          </a:solidFill>
                        </a:rPr>
                        <a:t>UPDATE program to 'BCA' — REJECTED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Joins/aggregates/DISTINCT/computed columns break the row mapping → non-updatable. WITH CHECK OPTION keeps an updatable view honest: it forbids changes that would put a row outside the view's own condition.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152 / 219</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Non-Updatable Views &amp; WITH CHECK OPTION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DeptAvgSalary view (GROUP BY dept) can't be updated — 'raise this department's average to 80k' has no single-row meaning. And BIMStudents WITH CHECK OPTION rejects inserting a BCA student, so a row can't vanish from the very view you inserted it through.</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a view won't save my change, it's a bug." Often it's correct behaviour: aggregated/joined views are non-updatable by design, and WITH CHECK OPTION deliberately blocks rows that would fall outside the view's filter. Understanding this prevents 'why won't my save go through?' confusion.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Views built on joins, aggregates, GROUP BY, DISTINCT, or computed columns are generally non-updatable, because a change cannot be mapped back to base rows unambiguously (e.g. you can't push an average back to individual salaries). WITH CHECK OPTION protects an updatable view by rejecting inserts/updates that would place a row outside the view's defining condition.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non-updatable · joins/aggregates/DISTINCT/computed · WITH CHECK OPTION · guard the filter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153 / 219</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S32 — Why can't you update an aggregate view?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explain why the DBMS can't update DeptAvgSalary (instructors grouped by dept average).</a:t>
            </a:r>
          </a:p>
          <a:p>
            <a:pPr>
              <a:spcAft>
                <a:spcPts val="700"/>
              </a:spcAft>
            </a:pPr>
            <a:r>
              <a:rPr sz="1550">
                <a:solidFill>
                  <a:srgbClr val="1A1A1A"/>
                </a:solidFill>
              </a:rPr>
              <a:t>•  Sketch what 'set the IT average to 80,000' would even mean for the individual salaries.</a:t>
            </a:r>
          </a:p>
          <a:p>
            <a:pPr>
              <a:spcAft>
                <a:spcPts val="700"/>
              </a:spcAft>
            </a:pPr>
            <a:r>
              <a:rPr sz="1550">
                <a:solidFill>
                  <a:srgbClr val="1A1A1A"/>
                </a:solidFill>
              </a:rPr>
              <a:t>•  Share aloud (3 min); connect to the 'can't un-bake the cake' idea.</a:t>
            </a:r>
          </a:p>
          <a:p>
            <a:pPr>
              <a:spcAft>
                <a:spcPts val="700"/>
              </a:spcAft>
            </a:pPr>
            <a:r>
              <a:rPr sz="1550">
                <a:solidFill>
                  <a:srgbClr val="1A1A1A"/>
                </a:solidFill>
              </a:rPr>
              <a:t>•  Close: an aggregate throws away row identity, so there's no unique way back.</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There's no single way to change many salaries to hit a target average — the mapping from one aggregate value back to many rows is ambiguous, so the DBMS refuses. Reward the 'summary can't be reversed' reasoning.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154 / 219</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view is typically NOT updatable?</a:t>
            </a:r>
          </a:p>
          <a:p>
            <a:pPr lvl="1"/>
            <a:r>
              <a:rPr sz="1500" b="1">
                <a:solidFill>
                  <a:srgbClr val="0F6E56"/>
                </a:solidFill>
              </a:rPr>
              <a:t>a) simple column subset   b) ✅ GROUP BY aggregate view   c) single-table filter   d) row subset</a:t>
            </a:r>
          </a:p>
          <a:p>
            <a:pPr lvl="1">
              <a:spcBef>
                <a:spcPts val="600"/>
              </a:spcBef>
            </a:pPr>
            <a:r>
              <a:rPr sz="1500" i="1">
                <a:solidFill>
                  <a:srgbClr val="1A1A1A"/>
                </a:solidFill>
              </a:rPr>
              <a:t>     Why: an aggregate can't be mapped back to individual base rows.</a:t>
            </a:r>
          </a:p>
          <a:p>
            <a:pPr>
              <a:spcBef>
                <a:spcPts val="900"/>
              </a:spcBef>
            </a:pPr>
            <a:r>
              <a:rPr sz="1700" b="1">
                <a:solidFill>
                  <a:srgbClr val="0C2B4A"/>
                </a:solidFill>
              </a:rPr>
              <a:t>Q2.  WITH CHECK OPTION prevents:</a:t>
            </a:r>
          </a:p>
          <a:p>
            <a:pPr lvl="1"/>
            <a:r>
              <a:rPr sz="1500" b="1">
                <a:solidFill>
                  <a:srgbClr val="0F6E56"/>
                </a:solidFill>
              </a:rPr>
              <a:t>a) all inserts   b) ✅ inserting/updating rows that violate the view's condition   c) deletes   d) joins</a:t>
            </a:r>
          </a:p>
          <a:p>
            <a:pPr lvl="1">
              <a:spcBef>
                <a:spcPts val="600"/>
              </a:spcBef>
            </a:pPr>
            <a:r>
              <a:rPr sz="1500" i="1">
                <a:solidFill>
                  <a:srgbClr val="1A1A1A"/>
                </a:solidFill>
              </a:rPr>
              <a:t>     Why: it keeps rows inside the view's own filter.</a:t>
            </a:r>
          </a:p>
          <a:p>
            <a:pPr>
              <a:spcBef>
                <a:spcPts val="900"/>
              </a:spcBef>
            </a:pPr>
            <a:r>
              <a:rPr sz="1700" b="1">
                <a:solidFill>
                  <a:srgbClr val="0C2B4A"/>
                </a:solidFill>
              </a:rPr>
              <a:t>Q3.  A view is updatable only if it is built on:</a:t>
            </a:r>
          </a:p>
          <a:p>
            <a:pPr lvl="1"/>
            <a:r>
              <a:rPr sz="1500" b="1">
                <a:solidFill>
                  <a:srgbClr val="0F6E56"/>
                </a:solidFill>
              </a:rPr>
              <a:t>a) many joined tables   b) ✅ a single base table with no aggregates/derived cols   c) a GROUP BY   d) DISTINCT</a:t>
            </a:r>
          </a:p>
          <a:p>
            <a:pPr lvl="1">
              <a:spcBef>
                <a:spcPts val="600"/>
              </a:spcBef>
            </a:pPr>
            <a:r>
              <a:rPr sz="1500" i="1">
                <a:solidFill>
                  <a:srgbClr val="1A1A1A"/>
                </a:solidFill>
              </a:rPr>
              <a:t>     Why: only then does each view row map to exactly one base row.</a:t>
            </a:r>
          </a:p>
          <a:p>
            <a:pPr lvl="1">
              <a:spcBef>
                <a:spcPts val="600"/>
              </a:spcBef>
            </a:pPr>
            <a:r>
              <a:rPr sz="1500" i="1">
                <a:solidFill>
                  <a:srgbClr val="1A1A1A"/>
                </a:solidFill>
              </a:rPr>
              <a:t>Discussion: why can't the database update a view that groups instructors by department average?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155 / 219</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Simple single-table views can be modified THROUGH (the change passes to the base table).</a:t>
            </a:r>
          </a:p>
          <a:p>
            <a:pPr>
              <a:spcAft>
                <a:spcPts val="800"/>
              </a:spcAft>
            </a:pPr>
            <a:r>
              <a:rPr sz="1500">
                <a:solidFill>
                  <a:srgbClr val="1A1A1A"/>
                </a:solidFill>
              </a:rPr>
              <a:t>2.  Views with joins, aggregates, GROUP BY, DISTINCT, or computed columns are generally non-updatable.</a:t>
            </a:r>
          </a:p>
          <a:p>
            <a:pPr>
              <a:spcAft>
                <a:spcPts val="800"/>
              </a:spcAft>
            </a:pPr>
            <a:r>
              <a:rPr sz="1500">
                <a:solidFill>
                  <a:srgbClr val="1A1A1A"/>
                </a:solidFill>
              </a:rPr>
              <a:t>3.  WITH CHECK OPTION blocks inserts/updates that would put a row outside the view's filter.</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Admin panels expose editable views; knowing which are updatable prevents the frustrating 'why won't my save go through?' bug and guides safe, role-based data editing.</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S33 — the heart of relational power: joining tables (INNER/OUTER/NATURAL/ON/USING).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156 / 219</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33 · LECTURE HOUR 12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Joined Relations: Join Types &amp; Conditions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Student names live in one table, their grades in another. The query that stitches them together is the single most-used statement in real SQL: the JOIN.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157 / 219</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INNER JOIN (Matched Rows Only)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An INNER JOIN combines rows from two tables where the join condition matches. Rows with no match on EITHER side are dropped. It is the default JOIN.</a:t>
            </a:r>
          </a:p>
          <a:p>
            <a:pPr>
              <a:spcAft>
                <a:spcPts val="500"/>
              </a:spcAft>
            </a:pPr>
            <a:r>
              <a:rPr sz="1200" b="1">
                <a:solidFill>
                  <a:srgbClr val="185FA5"/>
                </a:solidFill>
              </a:rPr>
              <a:t>HOW IT WORKS</a:t>
            </a:r>
          </a:p>
          <a:p>
            <a:pPr>
              <a:spcAft>
                <a:spcPts val="600"/>
              </a:spcAft>
            </a:pPr>
            <a:r>
              <a:rPr sz="1400">
                <a:solidFill>
                  <a:srgbClr val="1A1A1A"/>
                </a:solidFill>
              </a:rPr>
              <a:t>•  SELECT s.name, e.grade FROM Student s INNER JOIN Enrollment e ON s.roll=e.roll;</a:t>
            </a:r>
          </a:p>
          <a:p>
            <a:pPr>
              <a:spcAft>
                <a:spcPts val="600"/>
              </a:spcAft>
            </a:pPr>
            <a:r>
              <a:rPr sz="1400">
                <a:solidFill>
                  <a:srgbClr val="1A1A1A"/>
                </a:solidFill>
              </a:rPr>
              <a:t>•  Only students who HAVE an enrollment appear; unenrolled students are dropped.</a:t>
            </a:r>
          </a:p>
          <a:p>
            <a:pPr>
              <a:spcAft>
                <a:spcPts val="600"/>
              </a:spcAft>
            </a:pPr>
            <a:r>
              <a:rPr sz="1400">
                <a:solidFill>
                  <a:srgbClr val="1A1A1A"/>
                </a:solidFill>
              </a:rPr>
              <a:t>•  The explicit-JOIN form replaces the S23 comma-and-WHERE style.</a:t>
            </a:r>
          </a:p>
          <a:p>
            <a:pPr>
              <a:spcAft>
                <a:spcPts val="600"/>
              </a:spcAft>
            </a:pPr>
            <a:r>
              <a:rPr sz="1400">
                <a:solidFill>
                  <a:srgbClr val="1A1A1A"/>
                </a:solidFill>
              </a:rPr>
              <a:t>•  JOIN with no INNER keyword still means INNER JOIN.</a:t>
            </a:r>
          </a:p>
        </p:txBody>
      </p:sp>
      <p:pic>
        <p:nvPicPr>
          <p:cNvPr id="6" name="Picture 5" descr="s33_joins.png"/>
          <p:cNvPicPr>
            <a:picLocks noChangeAspect="1"/>
          </p:cNvPicPr>
          <p:nvPr/>
        </p:nvPicPr>
        <p:blipFill>
          <a:blip r:embed="rId2"/>
          <a:stretch>
            <a:fillRect/>
          </a:stretch>
        </p:blipFill>
        <p:spPr>
          <a:xfrm>
            <a:off x="6355080" y="2550319"/>
            <a:ext cx="5532120" cy="253460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INNER JOIN keeps only rows that match on BOTH sides.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158 / 219</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INNER JOIN — matched pairs only</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472608"/>
                <a:gridCol w="3809999"/>
                <a:gridCol w="3147391"/>
              </a:tblGrid>
              <a:tr h="736092">
                <a:tc>
                  <a:txBody>
                    <a:bodyPr wrap="square"/>
                    <a:lstStyle/>
                    <a:p>
                      <a:r>
                        <a:rPr sz="1100" b="1">
                          <a:solidFill>
                            <a:srgbClr val="FFFFFF"/>
                          </a:solidFill>
                        </a:rPr>
                        <a:t>Join</a:t>
                      </a:r>
                    </a:p>
                  </a:txBody>
                  <a:tcPr anchor="ctr" marL="73152" marR="54864" marT="27432" marB="27432">
                    <a:solidFill>
                      <a:srgbClr val="0C2B4A"/>
                    </a:solidFill>
                  </a:tcPr>
                </a:tc>
                <a:tc>
                  <a:txBody>
                    <a:bodyPr wrap="square"/>
                    <a:lstStyle/>
                    <a:p>
                      <a:r>
                        <a:rPr sz="1100" b="1">
                          <a:solidFill>
                            <a:srgbClr val="FFFFFF"/>
                          </a:solidFill>
                        </a:rPr>
                        <a:t>What it returns</a:t>
                      </a:r>
                    </a:p>
                  </a:txBody>
                  <a:tcPr anchor="ctr" marL="73152" marR="54864" marT="27432" marB="27432">
                    <a:solidFill>
                      <a:srgbClr val="0C2B4A"/>
                    </a:solidFill>
                  </a:tcPr>
                </a:tc>
                <a:tc>
                  <a:txBody>
                    <a:bodyPr wrap="square"/>
                    <a:lstStyle/>
                    <a:p>
                      <a:r>
                        <a:rPr sz="1100" b="1">
                          <a:solidFill>
                            <a:srgbClr val="FFFFFF"/>
                          </a:solidFill>
                        </a:rPr>
                        <a:t>Who is dropped</a:t>
                      </a:r>
                    </a:p>
                  </a:txBody>
                  <a:tcPr anchor="ctr" marL="73152" marR="54864" marT="27432" marB="27432">
                    <a:solidFill>
                      <a:srgbClr val="0C2B4A"/>
                    </a:solidFill>
                  </a:tcPr>
                </a:tc>
              </a:tr>
              <a:tr h="736092">
                <a:tc>
                  <a:txBody>
                    <a:bodyPr wrap="square"/>
                    <a:lstStyle/>
                    <a:p>
                      <a:r>
                        <a:rPr sz="1050" b="1">
                          <a:solidFill>
                            <a:srgbClr val="0C2B4A"/>
                          </a:solidFill>
                        </a:rPr>
                        <a:t>Student INNER JOIN Enrollment ON roll</a:t>
                      </a:r>
                    </a:p>
                  </a:txBody>
                  <a:tcPr anchor="ctr" marL="73152" marR="54864" marT="27432" marB="27432">
                    <a:solidFill>
                      <a:srgbClr val="FFFFFF"/>
                    </a:solidFill>
                  </a:tcPr>
                </a:tc>
                <a:tc>
                  <a:txBody>
                    <a:bodyPr wrap="square"/>
                    <a:lstStyle/>
                    <a:p>
                      <a:r>
                        <a:rPr sz="1050">
                          <a:solidFill>
                            <a:srgbClr val="1A1A1A"/>
                          </a:solidFill>
                        </a:rPr>
                        <a:t>students WITH their enrollments</a:t>
                      </a:r>
                    </a:p>
                  </a:txBody>
                  <a:tcPr anchor="ctr" marL="73152" marR="54864" marT="27432" marB="27432">
                    <a:solidFill>
                      <a:srgbClr val="FFFFFF"/>
                    </a:solidFill>
                  </a:tcPr>
                </a:tc>
                <a:tc>
                  <a:txBody>
                    <a:bodyPr wrap="square"/>
                    <a:lstStyle/>
                    <a:p>
                      <a:r>
                        <a:rPr sz="1050">
                          <a:solidFill>
                            <a:srgbClr val="1A1A1A"/>
                          </a:solidFill>
                        </a:rPr>
                        <a:t>students with no enrollment</a:t>
                      </a:r>
                    </a:p>
                  </a:txBody>
                  <a:tcPr anchor="ctr" marL="73152" marR="54864" marT="27432" marB="27432">
                    <a:solidFill>
                      <a:srgbClr val="FFFFFF"/>
                    </a:solidFill>
                  </a:tcPr>
                </a:tc>
              </a:tr>
              <a:tr h="736092">
                <a:tc>
                  <a:txBody>
                    <a:bodyPr wrap="square"/>
                    <a:lstStyle/>
                    <a:p>
                      <a:r>
                        <a:rPr sz="1050" b="1">
                          <a:solidFill>
                            <a:srgbClr val="0C2B4A"/>
                          </a:solidFill>
                        </a:rPr>
                        <a:t>Course INNER JOIN Teaches ON course_id</a:t>
                      </a:r>
                    </a:p>
                  </a:txBody>
                  <a:tcPr anchor="ctr" marL="73152" marR="54864" marT="27432" marB="27432">
                    <a:solidFill>
                      <a:srgbClr val="EEF3F8"/>
                    </a:solidFill>
                  </a:tcPr>
                </a:tc>
                <a:tc>
                  <a:txBody>
                    <a:bodyPr wrap="square"/>
                    <a:lstStyle/>
                    <a:p>
                      <a:r>
                        <a:rPr sz="1050">
                          <a:solidFill>
                            <a:srgbClr val="1A1A1A"/>
                          </a:solidFill>
                        </a:rPr>
                        <a:t>courses that ARE taught</a:t>
                      </a:r>
                    </a:p>
                  </a:txBody>
                  <a:tcPr anchor="ctr" marL="73152" marR="54864" marT="27432" marB="27432">
                    <a:solidFill>
                      <a:srgbClr val="EEF3F8"/>
                    </a:solidFill>
                  </a:tcPr>
                </a:tc>
                <a:tc>
                  <a:txBody>
                    <a:bodyPr wrap="square"/>
                    <a:lstStyle/>
                    <a:p>
                      <a:r>
                        <a:rPr sz="1050">
                          <a:solidFill>
                            <a:srgbClr val="1A1A1A"/>
                          </a:solidFill>
                        </a:rPr>
                        <a:t>courses nobody teaches</a:t>
                      </a:r>
                    </a:p>
                  </a:txBody>
                  <a:tcPr anchor="ctr" marL="73152" marR="54864" marT="27432" marB="27432">
                    <a:solidFill>
                      <a:srgbClr val="EEF3F8"/>
                    </a:solidFill>
                  </a:tcPr>
                </a:tc>
              </a:tr>
              <a:tr h="736092">
                <a:tc>
                  <a:txBody>
                    <a:bodyPr wrap="square"/>
                    <a:lstStyle/>
                    <a:p>
                      <a:r>
                        <a:rPr sz="1050" b="1">
                          <a:solidFill>
                            <a:srgbClr val="0C2B4A"/>
                          </a:solidFill>
                        </a:rPr>
                        <a:t>Instructor JOIN Teaches ON inst_id</a:t>
                      </a:r>
                    </a:p>
                  </a:txBody>
                  <a:tcPr anchor="ctr" marL="73152" marR="54864" marT="27432" marB="27432">
                    <a:solidFill>
                      <a:srgbClr val="FFFFFF"/>
                    </a:solidFill>
                  </a:tcPr>
                </a:tc>
                <a:tc>
                  <a:txBody>
                    <a:bodyPr wrap="square"/>
                    <a:lstStyle/>
                    <a:p>
                      <a:r>
                        <a:rPr sz="1050">
                          <a:solidFill>
                            <a:srgbClr val="1A1A1A"/>
                          </a:solidFill>
                        </a:rPr>
                        <a:t>instructors WITH a course</a:t>
                      </a:r>
                    </a:p>
                  </a:txBody>
                  <a:tcPr anchor="ctr" marL="73152" marR="54864" marT="27432" marB="27432">
                    <a:solidFill>
                      <a:srgbClr val="FFFFFF"/>
                    </a:solidFill>
                  </a:tcPr>
                </a:tc>
                <a:tc>
                  <a:txBody>
                    <a:bodyPr wrap="square"/>
                    <a:lstStyle/>
                    <a:p>
                      <a:r>
                        <a:rPr sz="1050">
                          <a:solidFill>
                            <a:srgbClr val="1A1A1A"/>
                          </a:solidFill>
                        </a:rPr>
                        <a:t>instructors teaching nothing</a:t>
                      </a:r>
                    </a:p>
                  </a:txBody>
                  <a:tcPr anchor="ctr" marL="73152" marR="54864" marT="27432" marB="27432">
                    <a:solidFill>
                      <a:srgbClr val="FFFFFF"/>
                    </a:solidFill>
                  </a:tcPr>
                </a:tc>
              </a:tr>
              <a:tr h="736092">
                <a:tc>
                  <a:txBody>
                    <a:bodyPr wrap="square"/>
                    <a:lstStyle/>
                    <a:p>
                      <a:r>
                        <a:rPr sz="1050" b="1">
                          <a:solidFill>
                            <a:srgbClr val="0C2B4A"/>
                          </a:solidFill>
                        </a:rPr>
                        <a:t>Enrollment JOIN Course ON course_id</a:t>
                      </a:r>
                    </a:p>
                  </a:txBody>
                  <a:tcPr anchor="ctr" marL="73152" marR="54864" marT="27432" marB="27432">
                    <a:solidFill>
                      <a:srgbClr val="EEF3F8"/>
                    </a:solidFill>
                  </a:tcPr>
                </a:tc>
                <a:tc>
                  <a:txBody>
                    <a:bodyPr wrap="square"/>
                    <a:lstStyle/>
                    <a:p>
                      <a:r>
                        <a:rPr sz="1050">
                          <a:solidFill>
                            <a:srgbClr val="1A1A1A"/>
                          </a:solidFill>
                        </a:rPr>
                        <a:t>enrollments + course titles</a:t>
                      </a:r>
                    </a:p>
                  </a:txBody>
                  <a:tcPr anchor="ctr" marL="73152" marR="54864" marT="27432" marB="27432">
                    <a:solidFill>
                      <a:srgbClr val="EEF3F8"/>
                    </a:solidFill>
                  </a:tcPr>
                </a:tc>
                <a:tc>
                  <a:txBody>
                    <a:bodyPr wrap="square"/>
                    <a:lstStyle/>
                    <a:p>
                      <a:r>
                        <a:rPr sz="1050">
                          <a:solidFill>
                            <a:srgbClr val="1A1A1A"/>
                          </a:solidFill>
                        </a:rPr>
                        <a:t>(none — every FK matches)</a:t>
                      </a:r>
                    </a:p>
                  </a:txBody>
                  <a:tcPr anchor="ctr" marL="73152" marR="54864" marT="27432" marB="27432">
                    <a:solidFill>
                      <a:srgbClr val="EEF3F8"/>
                    </a:solidFill>
                  </a:tcPr>
                </a:tc>
              </a:tr>
              <a:tr h="736092">
                <a:tc>
                  <a:txBody>
                    <a:bodyPr wrap="square"/>
                    <a:lstStyle/>
                    <a:p>
                      <a:r>
                        <a:rPr sz="1050" b="1">
                          <a:solidFill>
                            <a:srgbClr val="0C2B4A"/>
                          </a:solidFill>
                        </a:rPr>
                        <a:t>orders JOIN customers ON cust_id</a:t>
                      </a:r>
                    </a:p>
                  </a:txBody>
                  <a:tcPr anchor="ctr" marL="73152" marR="54864" marT="27432" marB="27432">
                    <a:solidFill>
                      <a:srgbClr val="FFFFFF"/>
                    </a:solidFill>
                  </a:tcPr>
                </a:tc>
                <a:tc>
                  <a:txBody>
                    <a:bodyPr wrap="square"/>
                    <a:lstStyle/>
                    <a:p>
                      <a:r>
                        <a:rPr sz="1050">
                          <a:solidFill>
                            <a:srgbClr val="1A1A1A"/>
                          </a:solidFill>
                        </a:rPr>
                        <a:t>orders with customer details</a:t>
                      </a:r>
                    </a:p>
                  </a:txBody>
                  <a:tcPr anchor="ctr" marL="73152" marR="54864" marT="27432" marB="27432">
                    <a:solidFill>
                      <a:srgbClr val="FFFFFF"/>
                    </a:solidFill>
                  </a:tcPr>
                </a:tc>
                <a:tc>
                  <a:txBody>
                    <a:bodyPr wrap="square"/>
                    <a:lstStyle/>
                    <a:p>
                      <a:r>
                        <a:rPr sz="1050">
                          <a:solidFill>
                            <a:srgbClr val="1A1A1A"/>
                          </a:solidFill>
                        </a:rPr>
                        <a:t>orphan orders (bad data)</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INNER JOIN = intersection: a row appears only if it has a match on both sides. It silently hides unmatched rows — which is exactly what LEFT/RIGHT/FULL joins fix.</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159 / 219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INNER JOIN (Matched Rows Only)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marksheet report is Student INNER JOIN Enrollment ON s.roll=e.roll — each student beside their grades. Any student who registered for nothing simply won't appear, which is fine for a marksheet but wrong if you need a full class roll.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"JOIN keeps everything from both tables." No — INNER JOIN drops any row without a match on both sides. To keep unmatched rows (e.g. students with no enrollment), you need an OUTER join.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INNER JOIN returns only rows where the join condition matches in both tables (SELECT … FROM A INNER JOIN B ON A.k=B.k), dropping unmatched rows on either side. JOIN without a qualifier means INNER JOIN. It replaces the older comma-plus-WHERE syntax with a clearer, explicit form.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INNER JOIN · ON condition · matches on both sides · unmatched dropped · default JOIN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160 / 219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OUTER Joins: LEFT / RIGHT / FULL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OUTER joins keep unmatched rows and fill the missing side with NULLs. LEFT keeps all left-table rows; RIGHT keeps all right-table rows; FULL keeps both. They surface the 'missing' cases.</a:t>
            </a:r>
          </a:p>
          <a:p>
            <a:pPr>
              <a:spcAft>
                <a:spcPts val="500"/>
              </a:spcAft>
            </a:pPr>
            <a:r>
              <a:rPr sz="1200" b="1">
                <a:solidFill>
                  <a:srgbClr val="185FA5"/>
                </a:solidFill>
              </a:rPr>
              <a:t>HOW IT WORKS</a:t>
            </a:r>
          </a:p>
          <a:p>
            <a:pPr>
              <a:spcAft>
                <a:spcPts val="600"/>
              </a:spcAft>
            </a:pPr>
            <a:r>
              <a:rPr sz="1400">
                <a:solidFill>
                  <a:srgbClr val="1A1A1A"/>
                </a:solidFill>
              </a:rPr>
              <a:t>•  SELECT s.name, e.course_id FROM Student s LEFT JOIN Enrollment e ON s.roll=e.roll;</a:t>
            </a:r>
          </a:p>
          <a:p>
            <a:pPr>
              <a:spcAft>
                <a:spcPts val="600"/>
              </a:spcAft>
            </a:pPr>
            <a:r>
              <a:rPr sz="1400">
                <a:solidFill>
                  <a:srgbClr val="1A1A1A"/>
                </a:solidFill>
              </a:rPr>
              <a:t>•  LEFT JOIN keeps every student; those with no enrollment show course_id = NULL.</a:t>
            </a:r>
          </a:p>
          <a:p>
            <a:pPr>
              <a:spcAft>
                <a:spcPts val="600"/>
              </a:spcAft>
            </a:pPr>
            <a:r>
              <a:rPr sz="1400">
                <a:solidFill>
                  <a:srgbClr val="1A1A1A"/>
                </a:solidFill>
              </a:rPr>
              <a:t>•  RIGHT JOIN is the mirror image; FULL OUTER JOIN keeps unmatched rows from both.</a:t>
            </a:r>
          </a:p>
          <a:p>
            <a:pPr>
              <a:spcAft>
                <a:spcPts val="600"/>
              </a:spcAft>
            </a:pPr>
            <a:r>
              <a:rPr sz="1400">
                <a:solidFill>
                  <a:srgbClr val="1A1A1A"/>
                </a:solidFill>
              </a:rPr>
              <a:t>•  MySQL has no FULL OUTER JOIN — emulate it with LEFT JOIN UNION RIGHT JOIN.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OUTER keeps the lonely rows too — the missing side is filled with NULL.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161 / 219</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INNER vs LEFT vs RIGHT vs FULL — which unmatched rows survive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170253"/>
                <a:gridCol w="2893670"/>
                <a:gridCol w="2893670"/>
                <a:gridCol w="3472405"/>
              </a:tblGrid>
              <a:tr h="736092">
                <a:tc>
                  <a:txBody>
                    <a:bodyPr wrap="square"/>
                    <a:lstStyle/>
                    <a:p>
                      <a:r>
                        <a:rPr sz="1100" b="1">
                          <a:solidFill>
                            <a:srgbClr val="FFFFFF"/>
                          </a:solidFill>
                        </a:rPr>
                        <a:t>Join type</a:t>
                      </a:r>
                    </a:p>
                  </a:txBody>
                  <a:tcPr anchor="ctr" marL="73152" marR="54864" marT="27432" marB="27432">
                    <a:solidFill>
                      <a:srgbClr val="0C2B4A"/>
                    </a:solidFill>
                  </a:tcPr>
                </a:tc>
                <a:tc>
                  <a:txBody>
                    <a:bodyPr wrap="square"/>
                    <a:lstStyle/>
                    <a:p>
                      <a:r>
                        <a:rPr sz="1100" b="1">
                          <a:solidFill>
                            <a:srgbClr val="FFFFFF"/>
                          </a:solidFill>
                        </a:rPr>
                        <a:t>Keeps unmatched from…</a:t>
                      </a:r>
                    </a:p>
                  </a:txBody>
                  <a:tcPr anchor="ctr" marL="73152" marR="54864" marT="27432" marB="27432">
                    <a:solidFill>
                      <a:srgbClr val="0C2B4A"/>
                    </a:solidFill>
                  </a:tcPr>
                </a:tc>
                <a:tc>
                  <a:txBody>
                    <a:bodyPr wrap="square"/>
                    <a:lstStyle/>
                    <a:p>
                      <a:r>
                        <a:rPr sz="1100" b="1">
                          <a:solidFill>
                            <a:srgbClr val="FFFFFF"/>
                          </a:solidFill>
                        </a:rPr>
                        <a:t>NULLs appear for…</a:t>
                      </a:r>
                    </a:p>
                  </a:txBody>
                  <a:tcPr anchor="ctr" marL="73152" marR="54864" marT="27432" marB="27432">
                    <a:solidFill>
                      <a:srgbClr val="0C2B4A"/>
                    </a:solidFill>
                  </a:tcPr>
                </a:tc>
                <a:tc>
                  <a:txBody>
                    <a:bodyPr wrap="square"/>
                    <a:lstStyle/>
                    <a:p>
                      <a:r>
                        <a:rPr sz="1100" b="1">
                          <a:solidFill>
                            <a:srgbClr val="FFFFFF"/>
                          </a:solidFill>
                        </a:rPr>
                        <a:t>Use it to…</a:t>
                      </a:r>
                    </a:p>
                  </a:txBody>
                  <a:tcPr anchor="ctr" marL="73152" marR="54864" marT="27432" marB="27432">
                    <a:solidFill>
                      <a:srgbClr val="0C2B4A"/>
                    </a:solidFill>
                  </a:tcPr>
                </a:tc>
              </a:tr>
              <a:tr h="736092">
                <a:tc>
                  <a:txBody>
                    <a:bodyPr wrap="square"/>
                    <a:lstStyle/>
                    <a:p>
                      <a:r>
                        <a:rPr sz="1050" b="1">
                          <a:solidFill>
                            <a:srgbClr val="0C2B4A"/>
                          </a:solidFill>
                        </a:rPr>
                        <a:t>INNER</a:t>
                      </a:r>
                    </a:p>
                  </a:txBody>
                  <a:tcPr anchor="ctr" marL="73152" marR="54864" marT="27432" marB="27432">
                    <a:solidFill>
                      <a:srgbClr val="FFFFFF"/>
                    </a:solidFill>
                  </a:tcPr>
                </a:tc>
                <a:tc>
                  <a:txBody>
                    <a:bodyPr wrap="square"/>
                    <a:lstStyle/>
                    <a:p>
                      <a:r>
                        <a:rPr sz="1050">
                          <a:solidFill>
                            <a:srgbClr val="1A1A1A"/>
                          </a:solidFill>
                        </a:rPr>
                        <a:t>neither</a:t>
                      </a:r>
                    </a:p>
                  </a:txBody>
                  <a:tcPr anchor="ctr" marL="73152" marR="54864" marT="27432" marB="27432">
                    <a:solidFill>
                      <a:srgbClr val="FFFFFF"/>
                    </a:solidFill>
                  </a:tcPr>
                </a:tc>
                <a:tc>
                  <a:txBody>
                    <a:bodyPr wrap="square"/>
                    <a:lstStyle/>
                    <a:p>
                      <a:r>
                        <a:rPr sz="1050">
                          <a:solidFill>
                            <a:srgbClr val="1A1A1A"/>
                          </a:solidFill>
                        </a:rPr>
                        <a:t>(none)</a:t>
                      </a:r>
                    </a:p>
                  </a:txBody>
                  <a:tcPr anchor="ctr" marL="73152" marR="54864" marT="27432" marB="27432">
                    <a:solidFill>
                      <a:srgbClr val="FFFFFF"/>
                    </a:solidFill>
                  </a:tcPr>
                </a:tc>
                <a:tc>
                  <a:txBody>
                    <a:bodyPr wrap="square"/>
                    <a:lstStyle/>
                    <a:p>
                      <a:r>
                        <a:rPr sz="1050">
                          <a:solidFill>
                            <a:srgbClr val="1A1A1A"/>
                          </a:solidFill>
                        </a:rPr>
                        <a:t>list only matched pairs</a:t>
                      </a:r>
                    </a:p>
                  </a:txBody>
                  <a:tcPr anchor="ctr" marL="73152" marR="54864" marT="27432" marB="27432">
                    <a:solidFill>
                      <a:srgbClr val="FFFFFF"/>
                    </a:solidFill>
                  </a:tcPr>
                </a:tc>
              </a:tr>
              <a:tr h="736092">
                <a:tc>
                  <a:txBody>
                    <a:bodyPr wrap="square"/>
                    <a:lstStyle/>
                    <a:p>
                      <a:r>
                        <a:rPr sz="1050" b="1">
                          <a:solidFill>
                            <a:srgbClr val="0C2B4A"/>
                          </a:solidFill>
                        </a:rPr>
                        <a:t>LEFT (OUTER)</a:t>
                      </a:r>
                    </a:p>
                  </a:txBody>
                  <a:tcPr anchor="ctr" marL="73152" marR="54864" marT="27432" marB="27432">
                    <a:solidFill>
                      <a:srgbClr val="EEF3F8"/>
                    </a:solidFill>
                  </a:tcPr>
                </a:tc>
                <a:tc>
                  <a:txBody>
                    <a:bodyPr wrap="square"/>
                    <a:lstStyle/>
                    <a:p>
                      <a:r>
                        <a:rPr sz="1050">
                          <a:solidFill>
                            <a:srgbClr val="1A1A1A"/>
                          </a:solidFill>
                        </a:rPr>
                        <a:t>the LEFT table</a:t>
                      </a:r>
                    </a:p>
                  </a:txBody>
                  <a:tcPr anchor="ctr" marL="73152" marR="54864" marT="27432" marB="27432">
                    <a:solidFill>
                      <a:srgbClr val="EEF3F8"/>
                    </a:solidFill>
                  </a:tcPr>
                </a:tc>
                <a:tc>
                  <a:txBody>
                    <a:bodyPr wrap="square"/>
                    <a:lstStyle/>
                    <a:p>
                      <a:r>
                        <a:rPr sz="1050">
                          <a:solidFill>
                            <a:srgbClr val="1A1A1A"/>
                          </a:solidFill>
                        </a:rPr>
                        <a:t>missing right side</a:t>
                      </a:r>
                    </a:p>
                  </a:txBody>
                  <a:tcPr anchor="ctr" marL="73152" marR="54864" marT="27432" marB="27432">
                    <a:solidFill>
                      <a:srgbClr val="EEF3F8"/>
                    </a:solidFill>
                  </a:tcPr>
                </a:tc>
                <a:tc>
                  <a:txBody>
                    <a:bodyPr wrap="square"/>
                    <a:lstStyle/>
                    <a:p>
                      <a:r>
                        <a:rPr sz="1050">
                          <a:solidFill>
                            <a:srgbClr val="1A1A1A"/>
                          </a:solidFill>
                        </a:rPr>
                        <a:t>keep all students, even unenrolled</a:t>
                      </a:r>
                    </a:p>
                  </a:txBody>
                  <a:tcPr anchor="ctr" marL="73152" marR="54864" marT="27432" marB="27432">
                    <a:solidFill>
                      <a:srgbClr val="EEF3F8"/>
                    </a:solidFill>
                  </a:tcPr>
                </a:tc>
              </a:tr>
              <a:tr h="736092">
                <a:tc>
                  <a:txBody>
                    <a:bodyPr wrap="square"/>
                    <a:lstStyle/>
                    <a:p>
                      <a:r>
                        <a:rPr sz="1050" b="1">
                          <a:solidFill>
                            <a:srgbClr val="0C2B4A"/>
                          </a:solidFill>
                        </a:rPr>
                        <a:t>RIGHT (OUTER)</a:t>
                      </a:r>
                    </a:p>
                  </a:txBody>
                  <a:tcPr anchor="ctr" marL="73152" marR="54864" marT="27432" marB="27432">
                    <a:solidFill>
                      <a:srgbClr val="FFFFFF"/>
                    </a:solidFill>
                  </a:tcPr>
                </a:tc>
                <a:tc>
                  <a:txBody>
                    <a:bodyPr wrap="square"/>
                    <a:lstStyle/>
                    <a:p>
                      <a:r>
                        <a:rPr sz="1050">
                          <a:solidFill>
                            <a:srgbClr val="1A1A1A"/>
                          </a:solidFill>
                        </a:rPr>
                        <a:t>the RIGHT table</a:t>
                      </a:r>
                    </a:p>
                  </a:txBody>
                  <a:tcPr anchor="ctr" marL="73152" marR="54864" marT="27432" marB="27432">
                    <a:solidFill>
                      <a:srgbClr val="FFFFFF"/>
                    </a:solidFill>
                  </a:tcPr>
                </a:tc>
                <a:tc>
                  <a:txBody>
                    <a:bodyPr wrap="square"/>
                    <a:lstStyle/>
                    <a:p>
                      <a:r>
                        <a:rPr sz="1050">
                          <a:solidFill>
                            <a:srgbClr val="1A1A1A"/>
                          </a:solidFill>
                        </a:rPr>
                        <a:t>missing left side</a:t>
                      </a:r>
                    </a:p>
                  </a:txBody>
                  <a:tcPr anchor="ctr" marL="73152" marR="54864" marT="27432" marB="27432">
                    <a:solidFill>
                      <a:srgbClr val="FFFFFF"/>
                    </a:solidFill>
                  </a:tcPr>
                </a:tc>
                <a:tc>
                  <a:txBody>
                    <a:bodyPr wrap="square"/>
                    <a:lstStyle/>
                    <a:p>
                      <a:r>
                        <a:rPr sz="1050">
                          <a:solidFill>
                            <a:srgbClr val="1A1A1A"/>
                          </a:solidFill>
                        </a:rPr>
                        <a:t>keep all enrollments, even orphaned</a:t>
                      </a:r>
                    </a:p>
                  </a:txBody>
                  <a:tcPr anchor="ctr" marL="73152" marR="54864" marT="27432" marB="27432">
                    <a:solidFill>
                      <a:srgbClr val="FFFFFF"/>
                    </a:solidFill>
                  </a:tcPr>
                </a:tc>
              </a:tr>
              <a:tr h="736092">
                <a:tc>
                  <a:txBody>
                    <a:bodyPr wrap="square"/>
                    <a:lstStyle/>
                    <a:p>
                      <a:r>
                        <a:rPr sz="1050" b="1">
                          <a:solidFill>
                            <a:srgbClr val="0C2B4A"/>
                          </a:solidFill>
                        </a:rPr>
                        <a:t>FULL (OUTER)</a:t>
                      </a:r>
                    </a:p>
                  </a:txBody>
                  <a:tcPr anchor="ctr" marL="73152" marR="54864" marT="27432" marB="27432">
                    <a:solidFill>
                      <a:srgbClr val="EEF3F8"/>
                    </a:solidFill>
                  </a:tcPr>
                </a:tc>
                <a:tc>
                  <a:txBody>
                    <a:bodyPr wrap="square"/>
                    <a:lstStyle/>
                    <a:p>
                      <a:r>
                        <a:rPr sz="1050">
                          <a:solidFill>
                            <a:srgbClr val="1A1A1A"/>
                          </a:solidFill>
                        </a:rPr>
                        <a:t>both tables</a:t>
                      </a:r>
                    </a:p>
                  </a:txBody>
                  <a:tcPr anchor="ctr" marL="73152" marR="54864" marT="27432" marB="27432">
                    <a:solidFill>
                      <a:srgbClr val="EEF3F8"/>
                    </a:solidFill>
                  </a:tcPr>
                </a:tc>
                <a:tc>
                  <a:txBody>
                    <a:bodyPr wrap="square"/>
                    <a:lstStyle/>
                    <a:p>
                      <a:r>
                        <a:rPr sz="1050">
                          <a:solidFill>
                            <a:srgbClr val="1A1A1A"/>
                          </a:solidFill>
                        </a:rPr>
                        <a:t>either missing side</a:t>
                      </a:r>
                    </a:p>
                  </a:txBody>
                  <a:tcPr anchor="ctr" marL="73152" marR="54864" marT="27432" marB="27432">
                    <a:solidFill>
                      <a:srgbClr val="EEF3F8"/>
                    </a:solidFill>
                  </a:tcPr>
                </a:tc>
                <a:tc>
                  <a:txBody>
                    <a:bodyPr wrap="square"/>
                    <a:lstStyle/>
                    <a:p>
                      <a:r>
                        <a:rPr sz="1050">
                          <a:solidFill>
                            <a:srgbClr val="1A1A1A"/>
                          </a:solidFill>
                        </a:rPr>
                        <a:t>reconcile two lists completely</a:t>
                      </a:r>
                    </a:p>
                  </a:txBody>
                  <a:tcPr anchor="ctr" marL="73152" marR="54864" marT="27432" marB="27432">
                    <a:solidFill>
                      <a:srgbClr val="EEF3F8"/>
                    </a:solidFill>
                  </a:tcPr>
                </a:tc>
              </a:tr>
              <a:tr h="736092">
                <a:tc>
                  <a:txBody>
                    <a:bodyPr wrap="square"/>
                    <a:lstStyle/>
                    <a:p>
                      <a:r>
                        <a:rPr sz="1050" b="1">
                          <a:solidFill>
                            <a:srgbClr val="0C2B4A"/>
                          </a:solidFill>
                        </a:rPr>
                        <a:t>MySQL FULL</a:t>
                      </a:r>
                    </a:p>
                  </a:txBody>
                  <a:tcPr anchor="ctr" marL="73152" marR="54864" marT="27432" marB="27432">
                    <a:solidFill>
                      <a:srgbClr val="FFFFFF"/>
                    </a:solidFill>
                  </a:tcPr>
                </a:tc>
                <a:tc>
                  <a:txBody>
                    <a:bodyPr wrap="square"/>
                    <a:lstStyle/>
                    <a:p>
                      <a:r>
                        <a:rPr sz="1050">
                          <a:solidFill>
                            <a:srgbClr val="1A1A1A"/>
                          </a:solidFill>
                        </a:rPr>
                        <a:t>(not supported)</a:t>
                      </a:r>
                    </a:p>
                  </a:txBody>
                  <a:tcPr anchor="ctr" marL="73152" marR="54864" marT="27432" marB="27432">
                    <a:solidFill>
                      <a:srgbClr val="FFFFFF"/>
                    </a:solidFill>
                  </a:tcPr>
                </a:tc>
                <a:tc>
                  <a:txBody>
                    <a:bodyPr wrap="square"/>
                    <a:lstStyle/>
                    <a:p>
                      <a:r>
                        <a:rPr sz="1050">
                          <a:solidFill>
                            <a:srgbClr val="1A1A1A"/>
                          </a:solidFill>
                        </a:rPr>
                        <a:t>-</a:t>
                      </a:r>
                    </a:p>
                  </a:txBody>
                  <a:tcPr anchor="ctr" marL="73152" marR="54864" marT="27432" marB="27432">
                    <a:solidFill>
                      <a:srgbClr val="FFFFFF"/>
                    </a:solidFill>
                  </a:tcPr>
                </a:tc>
                <a:tc>
                  <a:txBody>
                    <a:bodyPr wrap="square"/>
                    <a:lstStyle/>
                    <a:p>
                      <a:r>
                        <a:rPr sz="1050">
                          <a:solidFill>
                            <a:srgbClr val="1A1A1A"/>
                          </a:solidFill>
                        </a:rPr>
                        <a:t>LEFT JOIN UNION RIGHT JOIN</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Outer joins are how a business sees the MISSING cases — students who enrolled in nothing, users who never transacted, products never ordered. The unmatched side is filled with NULL (link back to S27).</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162 / 219</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OUTER Joins: LEFT / RIGHT / FULL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'All eSewa registered users and their transactions — including users who never transacted' is users LEFT JOIN transactions; the never-active users appear with NULL transaction columns. That NULL is exactly the inactive-user list a growth team wants (callback to NOT EXISTS, S29).</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 outer join is just a slower inner join." No — it returns DIFFERENT rows: it keeps unmatched rows (with NULLs) that an INNER JOIN drops. Choosing INNER when you needed LEFT silently hides the very rows (inactive users, unsold products) you were looking for.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OUTER joins keep unmatched rows and NULL-fill the missing side: LEFT keeps all left-table rows, RIGHT all right-table rows, FULL keeps unmatched rows from both. They reveal 'missing' cases (students with no enrollment, users with no transactions). MySQL lacks FULL OUTER JOIN, emulated by LEFT JOIN UNION RIGHT JOIN.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LEFT / RIGHT / FULL OUTER JOIN · keep unmatched · NULL fill · MySQL: no FULL (UNION trick)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163 / 219</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3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Join Conditions: ON · USING · NATURAL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Three ways to state the match: ON gives an explicit condition; USING(col) is a shortcut when both tables share the column name; NATURAL JOIN auto-matches ALL columns with the same name.</a:t>
            </a:r>
          </a:p>
          <a:p>
            <a:pPr>
              <a:spcAft>
                <a:spcPts val="500"/>
              </a:spcAft>
            </a:pPr>
            <a:r>
              <a:rPr sz="1200" b="1">
                <a:solidFill>
                  <a:srgbClr val="185FA5"/>
                </a:solidFill>
              </a:rPr>
              <a:t>HOW IT WORKS</a:t>
            </a:r>
          </a:p>
          <a:p>
            <a:pPr>
              <a:spcAft>
                <a:spcPts val="600"/>
              </a:spcAft>
            </a:pPr>
            <a:r>
              <a:rPr sz="1400">
                <a:solidFill>
                  <a:srgbClr val="1A1A1A"/>
                </a:solidFill>
              </a:rPr>
              <a:t>•  ON: … JOIN Enrollment e ON s.roll = e.roll (most explicit, always safe).</a:t>
            </a:r>
          </a:p>
          <a:p>
            <a:pPr>
              <a:spcAft>
                <a:spcPts val="600"/>
              </a:spcAft>
            </a:pPr>
            <a:r>
              <a:rPr sz="1400">
                <a:solidFill>
                  <a:srgbClr val="1A1A1A"/>
                </a:solidFill>
              </a:rPr>
              <a:t>•  USING: … JOIN Enrollment USING(roll) (same-named column, no table prefix needed).</a:t>
            </a:r>
          </a:p>
          <a:p>
            <a:pPr>
              <a:spcAft>
                <a:spcPts val="600"/>
              </a:spcAft>
            </a:pPr>
            <a:r>
              <a:rPr sz="1400">
                <a:solidFill>
                  <a:srgbClr val="1A1A1A"/>
                </a:solidFill>
              </a:rPr>
              <a:t>•  NATURAL: … NATURAL JOIN Enrollment (joins on every common column name automatically).</a:t>
            </a:r>
          </a:p>
          <a:p>
            <a:pPr>
              <a:spcAft>
                <a:spcPts val="600"/>
              </a:spcAft>
            </a:pPr>
            <a:r>
              <a:rPr sz="1400">
                <a:solidFill>
                  <a:srgbClr val="1A1A1A"/>
                </a:solidFill>
              </a:rPr>
              <a:t>•  NATURAL is risky — it silently uses ALL shared names, including unexpected ones.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ON = you name the match; NATURAL = the DB guesses it (and can guess wrong).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164 / 219</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 vs USING vs NATURAL — control vs convenience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369634"/>
                <a:gridCol w="3205975"/>
                <a:gridCol w="2787804"/>
                <a:gridCol w="3066585"/>
              </a:tblGrid>
              <a:tr h="736092">
                <a:tc>
                  <a:txBody>
                    <a:bodyPr wrap="square"/>
                    <a:lstStyle/>
                    <a:p>
                      <a:r>
                        <a:rPr sz="1100" b="1">
                          <a:solidFill>
                            <a:srgbClr val="FFFFFF"/>
                          </a:solidFill>
                        </a:rPr>
                        <a:t>Clause</a:t>
                      </a:r>
                    </a:p>
                  </a:txBody>
                  <a:tcPr anchor="ctr" marL="73152" marR="54864" marT="27432" marB="27432">
                    <a:solidFill>
                      <a:srgbClr val="0C2B4A"/>
                    </a:solidFill>
                  </a:tcPr>
                </a:tc>
                <a:tc>
                  <a:txBody>
                    <a:bodyPr wrap="square"/>
                    <a:lstStyle/>
                    <a:p>
                      <a:r>
                        <a:rPr sz="1100" b="1">
                          <a:solidFill>
                            <a:srgbClr val="FFFFFF"/>
                          </a:solidFill>
                        </a:rPr>
                        <a:t>How it matches</a:t>
                      </a:r>
                    </a:p>
                  </a:txBody>
                  <a:tcPr anchor="ctr" marL="73152" marR="54864" marT="27432" marB="27432">
                    <a:solidFill>
                      <a:srgbClr val="0C2B4A"/>
                    </a:solidFill>
                  </a:tcPr>
                </a:tc>
                <a:tc>
                  <a:txBody>
                    <a:bodyPr wrap="square"/>
                    <a:lstStyle/>
                    <a:p>
                      <a:r>
                        <a:rPr sz="1100" b="1">
                          <a:solidFill>
                            <a:srgbClr val="FFFFFF"/>
                          </a:solidFill>
                        </a:rPr>
                        <a:t>Pros</a:t>
                      </a:r>
                    </a:p>
                  </a:txBody>
                  <a:tcPr anchor="ctr" marL="73152" marR="54864" marT="27432" marB="27432">
                    <a:solidFill>
                      <a:srgbClr val="0C2B4A"/>
                    </a:solidFill>
                  </a:tcPr>
                </a:tc>
                <a:tc>
                  <a:txBody>
                    <a:bodyPr wrap="square"/>
                    <a:lstStyle/>
                    <a:p>
                      <a:r>
                        <a:rPr sz="1100" b="1">
                          <a:solidFill>
                            <a:srgbClr val="FFFFFF"/>
                          </a:solidFill>
                        </a:rPr>
                        <a:t>Risk</a:t>
                      </a:r>
                    </a:p>
                  </a:txBody>
                  <a:tcPr anchor="ctr" marL="73152" marR="54864" marT="27432" marB="27432">
                    <a:solidFill>
                      <a:srgbClr val="0C2B4A"/>
                    </a:solidFill>
                  </a:tcPr>
                </a:tc>
              </a:tr>
              <a:tr h="736092">
                <a:tc>
                  <a:txBody>
                    <a:bodyPr wrap="square"/>
                    <a:lstStyle/>
                    <a:p>
                      <a:r>
                        <a:rPr sz="1050" b="1">
                          <a:solidFill>
                            <a:srgbClr val="0C2B4A"/>
                          </a:solidFill>
                        </a:rPr>
                        <a:t>ON A.k=B.k</a:t>
                      </a:r>
                    </a:p>
                  </a:txBody>
                  <a:tcPr anchor="ctr" marL="73152" marR="54864" marT="27432" marB="27432">
                    <a:solidFill>
                      <a:srgbClr val="FFFFFF"/>
                    </a:solidFill>
                  </a:tcPr>
                </a:tc>
                <a:tc>
                  <a:txBody>
                    <a:bodyPr wrap="square"/>
                    <a:lstStyle/>
                    <a:p>
                      <a:r>
                        <a:rPr sz="1050">
                          <a:solidFill>
                            <a:srgbClr val="1A1A1A"/>
                          </a:solidFill>
                        </a:rPr>
                        <a:t>explicit condition you write</a:t>
                      </a:r>
                    </a:p>
                  </a:txBody>
                  <a:tcPr anchor="ctr" marL="73152" marR="54864" marT="27432" marB="27432">
                    <a:solidFill>
                      <a:srgbClr val="FFFFFF"/>
                    </a:solidFill>
                  </a:tcPr>
                </a:tc>
                <a:tc>
                  <a:txBody>
                    <a:bodyPr wrap="square"/>
                    <a:lstStyle/>
                    <a:p>
                      <a:r>
                        <a:rPr sz="1050">
                          <a:solidFill>
                            <a:srgbClr val="1A1A1A"/>
                          </a:solidFill>
                        </a:rPr>
                        <a:t>full control, any condition</a:t>
                      </a:r>
                    </a:p>
                  </a:txBody>
                  <a:tcPr anchor="ctr" marL="73152" marR="54864" marT="27432" marB="27432">
                    <a:solidFill>
                      <a:srgbClr val="FFFFFF"/>
                    </a:solidFill>
                  </a:tcPr>
                </a:tc>
                <a:tc>
                  <a:txBody>
                    <a:bodyPr wrap="square"/>
                    <a:lstStyle/>
                    <a:p>
                      <a:r>
                        <a:rPr sz="1050">
                          <a:solidFill>
                            <a:srgbClr val="1A1A1A"/>
                          </a:solidFill>
                        </a:rPr>
                        <a:t>more typing</a:t>
                      </a:r>
                    </a:p>
                  </a:txBody>
                  <a:tcPr anchor="ctr" marL="73152" marR="54864" marT="27432" marB="27432">
                    <a:solidFill>
                      <a:srgbClr val="FFFFFF"/>
                    </a:solidFill>
                  </a:tcPr>
                </a:tc>
              </a:tr>
              <a:tr h="736092">
                <a:tc>
                  <a:txBody>
                    <a:bodyPr wrap="square"/>
                    <a:lstStyle/>
                    <a:p>
                      <a:r>
                        <a:rPr sz="1050" b="1">
                          <a:solidFill>
                            <a:srgbClr val="0C2B4A"/>
                          </a:solidFill>
                        </a:rPr>
                        <a:t>USING(k)</a:t>
                      </a:r>
                    </a:p>
                  </a:txBody>
                  <a:tcPr anchor="ctr" marL="73152" marR="54864" marT="27432" marB="27432">
                    <a:solidFill>
                      <a:srgbClr val="EEF3F8"/>
                    </a:solidFill>
                  </a:tcPr>
                </a:tc>
                <a:tc>
                  <a:txBody>
                    <a:bodyPr wrap="square"/>
                    <a:lstStyle/>
                    <a:p>
                      <a:r>
                        <a:rPr sz="1050">
                          <a:solidFill>
                            <a:srgbClr val="1A1A1A"/>
                          </a:solidFill>
                        </a:rPr>
                        <a:t>same-named column, once</a:t>
                      </a:r>
                    </a:p>
                  </a:txBody>
                  <a:tcPr anchor="ctr" marL="73152" marR="54864" marT="27432" marB="27432">
                    <a:solidFill>
                      <a:srgbClr val="EEF3F8"/>
                    </a:solidFill>
                  </a:tcPr>
                </a:tc>
                <a:tc>
                  <a:txBody>
                    <a:bodyPr wrap="square"/>
                    <a:lstStyle/>
                    <a:p>
                      <a:r>
                        <a:rPr sz="1050">
                          <a:solidFill>
                            <a:srgbClr val="1A1A1A"/>
                          </a:solidFill>
                        </a:rPr>
                        <a:t>concise, one k column in output</a:t>
                      </a:r>
                    </a:p>
                  </a:txBody>
                  <a:tcPr anchor="ctr" marL="73152" marR="54864" marT="27432" marB="27432">
                    <a:solidFill>
                      <a:srgbClr val="EEF3F8"/>
                    </a:solidFill>
                  </a:tcPr>
                </a:tc>
                <a:tc>
                  <a:txBody>
                    <a:bodyPr wrap="square"/>
                    <a:lstStyle/>
                    <a:p>
                      <a:r>
                        <a:rPr sz="1050">
                          <a:solidFill>
                            <a:srgbClr val="1A1A1A"/>
                          </a:solidFill>
                        </a:rPr>
                        <a:t>both must share the name</a:t>
                      </a:r>
                    </a:p>
                  </a:txBody>
                  <a:tcPr anchor="ctr" marL="73152" marR="54864" marT="27432" marB="27432">
                    <a:solidFill>
                      <a:srgbClr val="EEF3F8"/>
                    </a:solidFill>
                  </a:tcPr>
                </a:tc>
              </a:tr>
              <a:tr h="736092">
                <a:tc>
                  <a:txBody>
                    <a:bodyPr wrap="square"/>
                    <a:lstStyle/>
                    <a:p>
                      <a:r>
                        <a:rPr sz="1050" b="1">
                          <a:solidFill>
                            <a:srgbClr val="0C2B4A"/>
                          </a:solidFill>
                        </a:rPr>
                        <a:t>NATURAL JOIN</a:t>
                      </a:r>
                    </a:p>
                  </a:txBody>
                  <a:tcPr anchor="ctr" marL="73152" marR="54864" marT="27432" marB="27432">
                    <a:solidFill>
                      <a:srgbClr val="FFFFFF"/>
                    </a:solidFill>
                  </a:tcPr>
                </a:tc>
                <a:tc>
                  <a:txBody>
                    <a:bodyPr wrap="square"/>
                    <a:lstStyle/>
                    <a:p>
                      <a:r>
                        <a:rPr sz="1050">
                          <a:solidFill>
                            <a:srgbClr val="1A1A1A"/>
                          </a:solidFill>
                        </a:rPr>
                        <a:t>ALL common column names</a:t>
                      </a:r>
                    </a:p>
                  </a:txBody>
                  <a:tcPr anchor="ctr" marL="73152" marR="54864" marT="27432" marB="27432">
                    <a:solidFill>
                      <a:srgbClr val="FFFFFF"/>
                    </a:solidFill>
                  </a:tcPr>
                </a:tc>
                <a:tc>
                  <a:txBody>
                    <a:bodyPr wrap="square"/>
                    <a:lstStyle/>
                    <a:p>
                      <a:r>
                        <a:rPr sz="1050">
                          <a:solidFill>
                            <a:srgbClr val="1A1A1A"/>
                          </a:solidFill>
                        </a:rPr>
                        <a:t>shortest to write</a:t>
                      </a:r>
                    </a:p>
                  </a:txBody>
                  <a:tcPr anchor="ctr" marL="73152" marR="54864" marT="27432" marB="27432">
                    <a:solidFill>
                      <a:srgbClr val="FFFFFF"/>
                    </a:solidFill>
                  </a:tcPr>
                </a:tc>
                <a:tc>
                  <a:txBody>
                    <a:bodyPr wrap="square"/>
                    <a:lstStyle/>
                    <a:p>
                      <a:r>
                        <a:rPr sz="1050">
                          <a:solidFill>
                            <a:srgbClr val="1A1A1A"/>
                          </a:solidFill>
                        </a:rPr>
                        <a:t>silent wrong match on extra shared names</a:t>
                      </a:r>
                    </a:p>
                  </a:txBody>
                  <a:tcPr anchor="ctr" marL="73152" marR="54864" marT="27432" marB="27432">
                    <a:solidFill>
                      <a:srgbClr val="FFFFFF"/>
                    </a:solidFill>
                  </a:tcPr>
                </a:tc>
              </a:tr>
              <a:tr h="736092">
                <a:tc>
                  <a:txBody>
                    <a:bodyPr wrap="square"/>
                    <a:lstStyle/>
                    <a:p>
                      <a:r>
                        <a:rPr sz="1050" b="1">
                          <a:solidFill>
                            <a:srgbClr val="0C2B4A"/>
                          </a:solidFill>
                        </a:rPr>
                        <a:t>ON (unequal)</a:t>
                      </a:r>
                    </a:p>
                  </a:txBody>
                  <a:tcPr anchor="ctr" marL="73152" marR="54864" marT="27432" marB="27432">
                    <a:solidFill>
                      <a:srgbClr val="EEF3F8"/>
                    </a:solidFill>
                  </a:tcPr>
                </a:tc>
                <a:tc>
                  <a:txBody>
                    <a:bodyPr wrap="square"/>
                    <a:lstStyle/>
                    <a:p>
                      <a:r>
                        <a:rPr sz="1050">
                          <a:solidFill>
                            <a:srgbClr val="1A1A1A"/>
                          </a:solidFill>
                        </a:rPr>
                        <a:t>e.g. ON a.x &gt; b.y</a:t>
                      </a:r>
                    </a:p>
                  </a:txBody>
                  <a:tcPr anchor="ctr" marL="73152" marR="54864" marT="27432" marB="27432">
                    <a:solidFill>
                      <a:srgbClr val="EEF3F8"/>
                    </a:solidFill>
                  </a:tcPr>
                </a:tc>
                <a:tc>
                  <a:txBody>
                    <a:bodyPr wrap="square"/>
                    <a:lstStyle/>
                    <a:p>
                      <a:r>
                        <a:rPr sz="1050">
                          <a:solidFill>
                            <a:srgbClr val="1A1A1A"/>
                          </a:solidFill>
                        </a:rPr>
                        <a:t>non-equi joins possible</a:t>
                      </a:r>
                    </a:p>
                  </a:txBody>
                  <a:tcPr anchor="ctr" marL="73152" marR="54864" marT="27432" marB="27432">
                    <a:solidFill>
                      <a:srgbClr val="EEF3F8"/>
                    </a:solidFill>
                  </a:tcPr>
                </a:tc>
                <a:tc>
                  <a:txBody>
                    <a:bodyPr wrap="square"/>
                    <a:lstStyle/>
                    <a:p>
                      <a:r>
                        <a:rPr sz="1050">
                          <a:solidFill>
                            <a:srgbClr val="1A1A1A"/>
                          </a:solidFill>
                        </a:rPr>
                        <a:t>only ON supports this</a:t>
                      </a:r>
                    </a:p>
                  </a:txBody>
                  <a:tcPr anchor="ctr" marL="73152" marR="54864" marT="27432" marB="27432">
                    <a:solidFill>
                      <a:srgbClr val="EEF3F8"/>
                    </a:solidFill>
                  </a:tcPr>
                </a:tc>
              </a:tr>
              <a:tr h="736092">
                <a:tc>
                  <a:txBody>
                    <a:bodyPr wrap="square"/>
                    <a:lstStyle/>
                    <a:p>
                      <a:r>
                        <a:rPr sz="1050" b="1">
                          <a:solidFill>
                            <a:srgbClr val="0C2B4A"/>
                          </a:solidFill>
                        </a:rPr>
                        <a:t>NATURAL surprise</a:t>
                      </a:r>
                    </a:p>
                  </a:txBody>
                  <a:tcPr anchor="ctr" marL="73152" marR="54864" marT="27432" marB="27432">
                    <a:solidFill>
                      <a:srgbClr val="FFFFFF"/>
                    </a:solidFill>
                  </a:tcPr>
                </a:tc>
                <a:tc>
                  <a:txBody>
                    <a:bodyPr wrap="square"/>
                    <a:lstStyle/>
                    <a:p>
                      <a:r>
                        <a:rPr sz="1050">
                          <a:solidFill>
                            <a:srgbClr val="1A1A1A"/>
                          </a:solidFill>
                        </a:rPr>
                        <a:t>Student &amp; Enrollment share 'sem'?</a:t>
                      </a:r>
                    </a:p>
                  </a:txBody>
                  <a:tcPr anchor="ctr" marL="73152" marR="54864" marT="27432" marB="27432">
                    <a:solidFill>
                      <a:srgbClr val="FFFFFF"/>
                    </a:solidFill>
                  </a:tcPr>
                </a:tc>
                <a:tc>
                  <a:txBody>
                    <a:bodyPr wrap="square"/>
                    <a:lstStyle/>
                    <a:p>
                      <a:r>
                        <a:rPr sz="1050">
                          <a:solidFill>
                            <a:srgbClr val="1A1A1A"/>
                          </a:solidFill>
                        </a:rPr>
                        <a:t>-</a:t>
                      </a:r>
                    </a:p>
                  </a:txBody>
                  <a:tcPr anchor="ctr" marL="73152" marR="54864" marT="27432" marB="27432">
                    <a:solidFill>
                      <a:srgbClr val="FFFFFF"/>
                    </a:solidFill>
                  </a:tcPr>
                </a:tc>
                <a:tc>
                  <a:txBody>
                    <a:bodyPr wrap="square"/>
                    <a:lstStyle/>
                    <a:p>
                      <a:r>
                        <a:rPr sz="1050">
                          <a:solidFill>
                            <a:srgbClr val="1A1A1A"/>
                          </a:solidFill>
                        </a:rPr>
                        <a:t>joins on roll AND sem unexpectedly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Prefer ON in real code — it is explicit and predictable. NATURAL JOIN is convenient but dangerous: add a column with a shared name later and every NATURAL join silently changes meaning.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165 / 219</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Join Conditions: ON · USING · NATURAL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Daraz's 'all products, including those never ordered' is products LEFT JOIN order_items ON products.id=order_items.product_id — an explicit ON, chosen over NATURAL so a shared column like created_at can't silently corrupt the match. Production code overwhelmingly uses ON for exactly this predictability.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"NATURAL JOIN is always safe and convenient." It silently joins on EVERY common column name. If Student and Enrollment both have a 'sem' column, NATURAL JOIN matches on roll AND sem — usually not what you meant. Prefer ON (or USING) so the match is explicit.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Join conditions specify how tables match: ON gives an explicit (and possibly non-equi) condition; USING(col) is a shortcut for an equi-join on a shared column name (keeping one copy); NATURAL JOIN auto-joins on all columns with the same name. NATURAL is risky because unexpected shared names silently change the join — ON is the safe default.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ON (explicit) · USING(col) · NATURAL JOIN · NATURAL risk · prefer 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166 / 219</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S33 · HANDS-ON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List every student and their grade — including the unenrolled</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On the college schema, produce a full class roll showing each student's name and course grade, keeping students who registered for nothing.</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Recognise 'keep the unenrolled too' means an OUTER join, not INNER.</a:t>
            </a:r>
          </a:p>
          <a:p>
            <a:pPr>
              <a:spcAft>
                <a:spcPts val="400"/>
              </a:spcAft>
            </a:pPr>
            <a:r>
              <a:rPr sz="1250" b="1">
                <a:solidFill>
                  <a:srgbClr val="854F0B"/>
                </a:solidFill>
              </a:rPr>
              <a:t>Step 2.  </a:t>
            </a:r>
            <a:r>
              <a:rPr sz="1250">
                <a:solidFill>
                  <a:srgbClr val="1A1A1A"/>
                </a:solidFill>
              </a:rPr>
              <a:t>Put Student on the left and keep all its rows: Student s LEFT JOIN Enrollment e.</a:t>
            </a:r>
          </a:p>
          <a:p>
            <a:pPr>
              <a:spcAft>
                <a:spcPts val="400"/>
              </a:spcAft>
            </a:pPr>
            <a:r>
              <a:rPr sz="1250" b="1">
                <a:solidFill>
                  <a:srgbClr val="854F0B"/>
                </a:solidFill>
              </a:rPr>
              <a:t>Step 3.  </a:t>
            </a:r>
            <a:r>
              <a:rPr sz="1250">
                <a:solidFill>
                  <a:srgbClr val="1A1A1A"/>
                </a:solidFill>
              </a:rPr>
              <a:t>State the match explicitly with ON s.roll = e.roll (avoid NATURAL's surprises).</a:t>
            </a:r>
          </a:p>
          <a:p>
            <a:pPr>
              <a:spcAft>
                <a:spcPts val="400"/>
              </a:spcAft>
            </a:pPr>
            <a:r>
              <a:rPr sz="1250" b="1">
                <a:solidFill>
                  <a:srgbClr val="854F0B"/>
                </a:solidFill>
              </a:rPr>
              <a:t>Step 4.  </a:t>
            </a:r>
            <a:r>
              <a:rPr sz="1250">
                <a:solidFill>
                  <a:srgbClr val="1A1A1A"/>
                </a:solidFill>
              </a:rPr>
              <a:t>Select the columns: s.name, e.course_id, e.grade.</a:t>
            </a:r>
          </a:p>
          <a:p>
            <a:pPr>
              <a:spcAft>
                <a:spcPts val="400"/>
              </a:spcAft>
            </a:pPr>
            <a:r>
              <a:rPr sz="1250" b="1">
                <a:solidFill>
                  <a:srgbClr val="854F0B"/>
                </a:solidFill>
              </a:rPr>
              <a:t>Step 5.  </a:t>
            </a:r>
            <a:r>
              <a:rPr sz="1250">
                <a:solidFill>
                  <a:srgbClr val="1A1A1A"/>
                </a:solidFill>
              </a:rPr>
              <a:t>Students with no enrollment appear with course_id and grade = NULL (the S27 NULL again).</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SELECT s.name, e.course_id, e.grade FROM Student s LEFT JOIN Enrollment e ON s.roll = e.roll ORDER BY s.name;  -- unenrolled students show NULL grade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167 / 219</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S33 — INNER or LEFT for Daraz?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Daraz wants 'all products, INCLUDING those never ordered'. INNER or LEFT join? Why?</a:t>
            </a:r>
          </a:p>
          <a:p>
            <a:pPr>
              <a:spcAft>
                <a:spcPts val="700"/>
              </a:spcAft>
            </a:pPr>
            <a:r>
              <a:rPr sz="1550">
                <a:solidFill>
                  <a:srgbClr val="1A1A1A"/>
                </a:solidFill>
              </a:rPr>
              <a:t>•  Write the join with an explicit ON condition.</a:t>
            </a:r>
          </a:p>
          <a:p>
            <a:pPr>
              <a:spcAft>
                <a:spcPts val="700"/>
              </a:spcAft>
            </a:pPr>
            <a:r>
              <a:rPr sz="1550">
                <a:solidFill>
                  <a:srgbClr val="1A1A1A"/>
                </a:solidFill>
              </a:rPr>
              <a:t>•  Share aloud (3 min); identify what the NULLs mean (never-ordered products).</a:t>
            </a:r>
          </a:p>
          <a:p>
            <a:pPr>
              <a:spcAft>
                <a:spcPts val="700"/>
              </a:spcAft>
            </a:pPr>
            <a:r>
              <a:rPr sz="1550">
                <a:solidFill>
                  <a:srgbClr val="1A1A1A"/>
                </a:solidFill>
              </a:rPr>
              <a:t>•  Close: 'include the ones with no match' is the signal for an OUTER (LEFT) join.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LEFT JOIN: products LEFT JOIN order_items ON products.id=order_items.product_id. Never-ordered products appear with NULL order columns — exactly the 'dead stock' report. Reward choosing LEFT and explaining the NULLs.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168 / 219</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join keeps unmatched rows from the LEFT table?</a:t>
            </a:r>
          </a:p>
          <a:p>
            <a:pPr lvl="1"/>
            <a:r>
              <a:rPr sz="1500" b="1">
                <a:solidFill>
                  <a:srgbClr val="0F6E56"/>
                </a:solidFill>
              </a:rPr>
              <a:t>a) INNER   b) ✅ LEFT (OUTER) JOIN   c) RIGHT JOIN   d) NATURAL</a:t>
            </a:r>
          </a:p>
          <a:p>
            <a:pPr lvl="1">
              <a:spcBef>
                <a:spcPts val="600"/>
              </a:spcBef>
            </a:pPr>
            <a:r>
              <a:rPr sz="1500" i="1">
                <a:solidFill>
                  <a:srgbClr val="1A1A1A"/>
                </a:solidFill>
              </a:rPr>
              <a:t>     Why: LEFT keeps all left rows, NULL-filling the missing right side.</a:t>
            </a:r>
          </a:p>
          <a:p>
            <a:pPr>
              <a:spcBef>
                <a:spcPts val="900"/>
              </a:spcBef>
            </a:pPr>
            <a:r>
              <a:rPr sz="1700" b="1">
                <a:solidFill>
                  <a:srgbClr val="0C2B4A"/>
                </a:solidFill>
              </a:rPr>
              <a:t>Q2.  NATURAL JOIN matches on:</a:t>
            </a:r>
          </a:p>
          <a:p>
            <a:pPr lvl="1"/>
            <a:r>
              <a:rPr sz="1500" b="1">
                <a:solidFill>
                  <a:srgbClr val="0F6E56"/>
                </a:solidFill>
              </a:rPr>
              <a:t>a) the primary key   b) ✅ all columns with the same name   c) the first column   d) an ON clause</a:t>
            </a:r>
          </a:p>
          <a:p>
            <a:pPr lvl="1">
              <a:spcBef>
                <a:spcPts val="600"/>
              </a:spcBef>
            </a:pPr>
            <a:r>
              <a:rPr sz="1500" i="1">
                <a:solidFill>
                  <a:srgbClr val="1A1A1A"/>
                </a:solidFill>
              </a:rPr>
              <a:t>     Why: it auto-joins on every shared column name — hence its risk.</a:t>
            </a:r>
          </a:p>
          <a:p>
            <a:pPr>
              <a:spcBef>
                <a:spcPts val="900"/>
              </a:spcBef>
            </a:pPr>
            <a:r>
              <a:rPr sz="1700" b="1">
                <a:solidFill>
                  <a:srgbClr val="0C2B4A"/>
                </a:solidFill>
              </a:rPr>
              <a:t>Q3.  INNER JOIN returns rows that:</a:t>
            </a:r>
          </a:p>
          <a:p>
            <a:pPr lvl="1"/>
            <a:r>
              <a:rPr sz="1500" b="1">
                <a:solidFill>
                  <a:srgbClr val="0F6E56"/>
                </a:solidFill>
              </a:rPr>
              <a:t>a) exist in either table   b) ✅ match in BOTH tables   c) are unmatched   d) are NULL</a:t>
            </a:r>
          </a:p>
          <a:p>
            <a:pPr lvl="1">
              <a:spcBef>
                <a:spcPts val="600"/>
              </a:spcBef>
            </a:pPr>
            <a:r>
              <a:rPr sz="1500" i="1">
                <a:solidFill>
                  <a:srgbClr val="1A1A1A"/>
                </a:solidFill>
              </a:rPr>
              <a:t>     Why: INNER keeps only matched pairs, dropping unmatched rows.</a:t>
            </a:r>
          </a:p>
          <a:p>
            <a:pPr lvl="1">
              <a:spcBef>
                <a:spcPts val="600"/>
              </a:spcBef>
            </a:pPr>
            <a:r>
              <a:rPr sz="1500" i="1">
                <a:solidFill>
                  <a:srgbClr val="1A1A1A"/>
                </a:solidFill>
              </a:rPr>
              <a:t>Discussion: Daraz wants 'all products, including never-ordered' — INNER or LEFT?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169 / 219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INNER JOIN keeps only rows matching on both sides; unmatched rows are dropped.</a:t>
            </a:r>
          </a:p>
          <a:p>
            <a:pPr>
              <a:spcAft>
                <a:spcPts val="800"/>
              </a:spcAft>
            </a:pPr>
            <a:r>
              <a:rPr sz="1500">
                <a:solidFill>
                  <a:srgbClr val="1A1A1A"/>
                </a:solidFill>
              </a:rPr>
              <a:t>2.  LEFT/RIGHT/FULL OUTER joins keep unmatched rows, NULL-filling the missing side (MySQL lacks FULL).</a:t>
            </a:r>
          </a:p>
          <a:p>
            <a:pPr>
              <a:spcAft>
                <a:spcPts val="800"/>
              </a:spcAft>
            </a:pPr>
            <a:r>
              <a:rPr sz="1500">
                <a:solidFill>
                  <a:srgbClr val="1A1A1A"/>
                </a:solidFill>
              </a:rPr>
              <a:t>3.  ON (explicit) is the safe default; USING is a shared-name shortcut; NATURAL auto-matches all common names (risky).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Essentially every multi-table report — orders+customers, transactions+users, students+grades — is a JOIN, and OUTER joins surface the inactive/missing cases businesses care about most. JOIN fluency is the core of real SQL work.</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S34 — packaging logic on the server: stored procedures.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170 / 219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34 · LECTURE HOUR 13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Basic Concepts of Stored Procedures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What if a 20-line enrollment routine — check seats, insert, update the count — could be stored IN the database and run with one call: CALL enroll(101,'IT220')?</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171 / 219</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a Stored Procedure Is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stored procedure is a named block of SQL plus procedural logic, stored in the database and executed on the server with CALL. Unlike a view, it can run many statements, take parameters, and modify data.</a:t>
            </a:r>
          </a:p>
          <a:p>
            <a:pPr>
              <a:spcAft>
                <a:spcPts val="500"/>
              </a:spcAft>
            </a:pPr>
            <a:r>
              <a:rPr sz="1200" b="1">
                <a:solidFill>
                  <a:srgbClr val="185FA5"/>
                </a:solidFill>
              </a:rPr>
              <a:t>HOW IT WORKS</a:t>
            </a:r>
          </a:p>
          <a:p>
            <a:pPr>
              <a:spcAft>
                <a:spcPts val="600"/>
              </a:spcAft>
            </a:pPr>
            <a:r>
              <a:rPr sz="1400">
                <a:solidFill>
                  <a:srgbClr val="1A1A1A"/>
                </a:solidFill>
              </a:rPr>
              <a:t>•  CREATE PROCEDURE enroll(IN r INT, IN c VARCHAR(10)) BEGIN INSERT INTO Enrollment(roll,course_id) VALUES(r,c); END;</a:t>
            </a:r>
          </a:p>
          <a:p>
            <a:pPr>
              <a:spcAft>
                <a:spcPts val="600"/>
              </a:spcAft>
            </a:pPr>
            <a:r>
              <a:rPr sz="1400">
                <a:solidFill>
                  <a:srgbClr val="1A1A1A"/>
                </a:solidFill>
              </a:rPr>
              <a:t>•  Invoke it with CALL enroll(101,'IT220'); — one call runs the whole block.</a:t>
            </a:r>
          </a:p>
          <a:p>
            <a:pPr>
              <a:spcAft>
                <a:spcPts val="600"/>
              </a:spcAft>
            </a:pPr>
            <a:r>
              <a:rPr sz="1400">
                <a:solidFill>
                  <a:srgbClr val="1A1A1A"/>
                </a:solidFill>
              </a:rPr>
              <a:t>•  It lives on the server, so the logic is central and reused by every app.</a:t>
            </a:r>
          </a:p>
          <a:p>
            <a:pPr>
              <a:spcAft>
                <a:spcPts val="600"/>
              </a:spcAft>
            </a:pPr>
            <a:r>
              <a:rPr sz="1400">
                <a:solidFill>
                  <a:srgbClr val="1A1A1A"/>
                </a:solidFill>
              </a:rPr>
              <a:t>•  A view is a virtual TABLE; a procedure is executable LOGIC.</a:t>
            </a:r>
          </a:p>
        </p:txBody>
      </p:sp>
      <p:pic>
        <p:nvPicPr>
          <p:cNvPr id="6" name="Picture 5" descr="s34_procedure.png"/>
          <p:cNvPicPr>
            <a:picLocks noChangeAspect="1"/>
          </p:cNvPicPr>
          <p:nvPr/>
        </p:nvPicPr>
        <p:blipFill>
          <a:blip r:embed="rId2"/>
          <a:stretch>
            <a:fillRect/>
          </a:stretch>
        </p:blipFill>
        <p:spPr>
          <a:xfrm>
            <a:off x="6355080" y="2550319"/>
            <a:ext cx="5532120" cy="253460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stored procedure = a saved recipe the kitchen runs on order.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172 / 219</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Stored procedure vs view — logic vs virtual table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89384"/>
                <a:gridCol w="4220307"/>
                <a:gridCol w="4220307"/>
              </a:tblGrid>
              <a:tr h="630936">
                <a:tc>
                  <a:txBody>
                    <a:bodyPr wrap="square"/>
                    <a:lstStyle/>
                    <a:p>
                      <a:r>
                        <a:rPr sz="1100" b="1">
                          <a:solidFill>
                            <a:srgbClr val="FFFFFF"/>
                          </a:solidFill>
                        </a:rPr>
                        <a:t>Aspect</a:t>
                      </a:r>
                    </a:p>
                  </a:txBody>
                  <a:tcPr anchor="ctr" marL="73152" marR="54864" marT="27432" marB="27432">
                    <a:solidFill>
                      <a:srgbClr val="0C2B4A"/>
                    </a:solidFill>
                  </a:tcPr>
                </a:tc>
                <a:tc>
                  <a:txBody>
                    <a:bodyPr wrap="square"/>
                    <a:lstStyle/>
                    <a:p>
                      <a:r>
                        <a:rPr sz="1100" b="1">
                          <a:solidFill>
                            <a:srgbClr val="FFFFFF"/>
                          </a:solidFill>
                        </a:rPr>
                        <a:t>View</a:t>
                      </a:r>
                    </a:p>
                  </a:txBody>
                  <a:tcPr anchor="ctr" marL="73152" marR="54864" marT="27432" marB="27432">
                    <a:solidFill>
                      <a:srgbClr val="0C2B4A"/>
                    </a:solidFill>
                  </a:tcPr>
                </a:tc>
                <a:tc>
                  <a:txBody>
                    <a:bodyPr wrap="square"/>
                    <a:lstStyle/>
                    <a:p>
                      <a:r>
                        <a:rPr sz="1100" b="1">
                          <a:solidFill>
                            <a:srgbClr val="FFFFFF"/>
                          </a:solidFill>
                        </a:rPr>
                        <a:t>Stored procedure</a:t>
                      </a:r>
                    </a:p>
                  </a:txBody>
                  <a:tcPr anchor="ctr" marL="73152" marR="54864" marT="27432" marB="27432">
                    <a:solidFill>
                      <a:srgbClr val="0C2B4A"/>
                    </a:solidFill>
                  </a:tcPr>
                </a:tc>
              </a:tr>
              <a:tr h="630936">
                <a:tc>
                  <a:txBody>
                    <a:bodyPr wrap="square"/>
                    <a:lstStyle/>
                    <a:p>
                      <a:r>
                        <a:rPr sz="1050" b="1">
                          <a:solidFill>
                            <a:srgbClr val="0C2B4A"/>
                          </a:solidFill>
                        </a:rPr>
                        <a:t>What it is</a:t>
                      </a:r>
                    </a:p>
                  </a:txBody>
                  <a:tcPr anchor="ctr" marL="73152" marR="54864" marT="27432" marB="27432">
                    <a:solidFill>
                      <a:srgbClr val="FFFFFF"/>
                    </a:solidFill>
                  </a:tcPr>
                </a:tc>
                <a:tc>
                  <a:txBody>
                    <a:bodyPr wrap="square"/>
                    <a:lstStyle/>
                    <a:p>
                      <a:r>
                        <a:rPr sz="1050">
                          <a:solidFill>
                            <a:srgbClr val="1A1A1A"/>
                          </a:solidFill>
                        </a:rPr>
                        <a:t>a named query (virtual table)</a:t>
                      </a:r>
                    </a:p>
                  </a:txBody>
                  <a:tcPr anchor="ctr" marL="73152" marR="54864" marT="27432" marB="27432">
                    <a:solidFill>
                      <a:srgbClr val="FFFFFF"/>
                    </a:solidFill>
                  </a:tcPr>
                </a:tc>
                <a:tc>
                  <a:txBody>
                    <a:bodyPr wrap="square"/>
                    <a:lstStyle/>
                    <a:p>
                      <a:r>
                        <a:rPr sz="1050">
                          <a:solidFill>
                            <a:srgbClr val="1A1A1A"/>
                          </a:solidFill>
                        </a:rPr>
                        <a:t>a named block of logic</a:t>
                      </a:r>
                    </a:p>
                  </a:txBody>
                  <a:tcPr anchor="ctr" marL="73152" marR="54864" marT="27432" marB="27432">
                    <a:solidFill>
                      <a:srgbClr val="FFFFFF"/>
                    </a:solidFill>
                  </a:tcPr>
                </a:tc>
              </a:tr>
              <a:tr h="630936">
                <a:tc>
                  <a:txBody>
                    <a:bodyPr wrap="square"/>
                    <a:lstStyle/>
                    <a:p>
                      <a:r>
                        <a:rPr sz="1050" b="1">
                          <a:solidFill>
                            <a:srgbClr val="0C2B4A"/>
                          </a:solidFill>
                        </a:rPr>
                        <a:t>Statements</a:t>
                      </a:r>
                    </a:p>
                  </a:txBody>
                  <a:tcPr anchor="ctr" marL="73152" marR="54864" marT="27432" marB="27432">
                    <a:solidFill>
                      <a:srgbClr val="EEF3F8"/>
                    </a:solidFill>
                  </a:tcPr>
                </a:tc>
                <a:tc>
                  <a:txBody>
                    <a:bodyPr wrap="square"/>
                    <a:lstStyle/>
                    <a:p>
                      <a:r>
                        <a:rPr sz="1050">
                          <a:solidFill>
                            <a:srgbClr val="1A1A1A"/>
                          </a:solidFill>
                        </a:rPr>
                        <a:t>one SELECT</a:t>
                      </a:r>
                    </a:p>
                  </a:txBody>
                  <a:tcPr anchor="ctr" marL="73152" marR="54864" marT="27432" marB="27432">
                    <a:solidFill>
                      <a:srgbClr val="EEF3F8"/>
                    </a:solidFill>
                  </a:tcPr>
                </a:tc>
                <a:tc>
                  <a:txBody>
                    <a:bodyPr wrap="square"/>
                    <a:lstStyle/>
                    <a:p>
                      <a:r>
                        <a:rPr sz="1050">
                          <a:solidFill>
                            <a:srgbClr val="1A1A1A"/>
                          </a:solidFill>
                        </a:rPr>
                        <a:t>many (INSERT/UPDATE/IF/loops)</a:t>
                      </a:r>
                    </a:p>
                  </a:txBody>
                  <a:tcPr anchor="ctr" marL="73152" marR="54864" marT="27432" marB="27432">
                    <a:solidFill>
                      <a:srgbClr val="EEF3F8"/>
                    </a:solidFill>
                  </a:tcPr>
                </a:tc>
              </a:tr>
              <a:tr h="630936">
                <a:tc>
                  <a:txBody>
                    <a:bodyPr wrap="square"/>
                    <a:lstStyle/>
                    <a:p>
                      <a:r>
                        <a:rPr sz="1050" b="1">
                          <a:solidFill>
                            <a:srgbClr val="0C2B4A"/>
                          </a:solidFill>
                        </a:rPr>
                        <a:t>Parameters</a:t>
                      </a:r>
                    </a:p>
                  </a:txBody>
                  <a:tcPr anchor="ctr" marL="73152" marR="54864" marT="27432" marB="27432">
                    <a:solidFill>
                      <a:srgbClr val="FFFFFF"/>
                    </a:solidFill>
                  </a:tcPr>
                </a:tc>
                <a:tc>
                  <a:txBody>
                    <a:bodyPr wrap="square"/>
                    <a:lstStyle/>
                    <a:p>
                      <a:r>
                        <a:rPr sz="1050">
                          <a:solidFill>
                            <a:srgbClr val="1A1A1A"/>
                          </a:solidFill>
                        </a:rPr>
                        <a:t>no</a:t>
                      </a:r>
                    </a:p>
                  </a:txBody>
                  <a:tcPr anchor="ctr" marL="73152" marR="54864" marT="27432" marB="27432">
                    <a:solidFill>
                      <a:srgbClr val="FFFFFF"/>
                    </a:solidFill>
                  </a:tcPr>
                </a:tc>
                <a:tc>
                  <a:txBody>
                    <a:bodyPr wrap="square"/>
                    <a:lstStyle/>
                    <a:p>
                      <a:r>
                        <a:rPr sz="1050">
                          <a:solidFill>
                            <a:srgbClr val="1A1A1A"/>
                          </a:solidFill>
                        </a:rPr>
                        <a:t>yes (IN/OUT/INOUT)</a:t>
                      </a:r>
                    </a:p>
                  </a:txBody>
                  <a:tcPr anchor="ctr" marL="73152" marR="54864" marT="27432" marB="27432">
                    <a:solidFill>
                      <a:srgbClr val="FFFFFF"/>
                    </a:solidFill>
                  </a:tcPr>
                </a:tc>
              </a:tr>
              <a:tr h="630936">
                <a:tc>
                  <a:txBody>
                    <a:bodyPr wrap="square"/>
                    <a:lstStyle/>
                    <a:p>
                      <a:r>
                        <a:rPr sz="1050" b="1">
                          <a:solidFill>
                            <a:srgbClr val="0C2B4A"/>
                          </a:solidFill>
                        </a:rPr>
                        <a:t>Can modify data?</a:t>
                      </a:r>
                    </a:p>
                  </a:txBody>
                  <a:tcPr anchor="ctr" marL="73152" marR="54864" marT="27432" marB="27432">
                    <a:solidFill>
                      <a:srgbClr val="EEF3F8"/>
                    </a:solidFill>
                  </a:tcPr>
                </a:tc>
                <a:tc>
                  <a:txBody>
                    <a:bodyPr wrap="square"/>
                    <a:lstStyle/>
                    <a:p>
                      <a:r>
                        <a:rPr sz="1050">
                          <a:solidFill>
                            <a:srgbClr val="1A1A1A"/>
                          </a:solidFill>
                        </a:rPr>
                        <a:t>only if updatable (S32)</a:t>
                      </a:r>
                    </a:p>
                  </a:txBody>
                  <a:tcPr anchor="ctr" marL="73152" marR="54864" marT="27432" marB="27432">
                    <a:solidFill>
                      <a:srgbClr val="EEF3F8"/>
                    </a:solidFill>
                  </a:tcPr>
                </a:tc>
                <a:tc>
                  <a:txBody>
                    <a:bodyPr wrap="square"/>
                    <a:lstStyle/>
                    <a:p>
                      <a:r>
                        <a:rPr sz="1050">
                          <a:solidFill>
                            <a:srgbClr val="1A1A1A"/>
                          </a:solidFill>
                        </a:rPr>
                        <a:t>yes, directly</a:t>
                      </a:r>
                    </a:p>
                  </a:txBody>
                  <a:tcPr anchor="ctr" marL="73152" marR="54864" marT="27432" marB="27432">
                    <a:solidFill>
                      <a:srgbClr val="EEF3F8"/>
                    </a:solidFill>
                  </a:tcPr>
                </a:tc>
              </a:tr>
              <a:tr h="630936">
                <a:tc>
                  <a:txBody>
                    <a:bodyPr wrap="square"/>
                    <a:lstStyle/>
                    <a:p>
                      <a:r>
                        <a:rPr sz="1050" b="1">
                          <a:solidFill>
                            <a:srgbClr val="0C2B4A"/>
                          </a:solidFill>
                        </a:rPr>
                        <a:t>Invoked with</a:t>
                      </a:r>
                    </a:p>
                  </a:txBody>
                  <a:tcPr anchor="ctr" marL="73152" marR="54864" marT="27432" marB="27432">
                    <a:solidFill>
                      <a:srgbClr val="FFFFFF"/>
                    </a:solidFill>
                  </a:tcPr>
                </a:tc>
                <a:tc>
                  <a:txBody>
                    <a:bodyPr wrap="square"/>
                    <a:lstStyle/>
                    <a:p>
                      <a:r>
                        <a:rPr sz="1050">
                          <a:solidFill>
                            <a:srgbClr val="1A1A1A"/>
                          </a:solidFill>
                        </a:rPr>
                        <a:t>SELECT * FROM view</a:t>
                      </a:r>
                    </a:p>
                  </a:txBody>
                  <a:tcPr anchor="ctr" marL="73152" marR="54864" marT="27432" marB="27432">
                    <a:solidFill>
                      <a:srgbClr val="FFFFFF"/>
                    </a:solidFill>
                  </a:tcPr>
                </a:tc>
                <a:tc>
                  <a:txBody>
                    <a:bodyPr wrap="square"/>
                    <a:lstStyle/>
                    <a:p>
                      <a:r>
                        <a:rPr sz="1050">
                          <a:solidFill>
                            <a:srgbClr val="1A1A1A"/>
                          </a:solidFill>
                        </a:rPr>
                        <a:t>CALL proc(args)</a:t>
                      </a:r>
                    </a:p>
                  </a:txBody>
                  <a:tcPr anchor="ctr" marL="73152" marR="54864" marT="27432" marB="27432">
                    <a:solidFill>
                      <a:srgbClr val="FFFFFF"/>
                    </a:solidFill>
                  </a:tcPr>
                </a:tc>
              </a:tr>
              <a:tr h="630936">
                <a:tc>
                  <a:txBody>
                    <a:bodyPr wrap="square"/>
                    <a:lstStyle/>
                    <a:p>
                      <a:r>
                        <a:rPr sz="1050" b="1">
                          <a:solidFill>
                            <a:srgbClr val="0C2B4A"/>
                          </a:solidFill>
                        </a:rPr>
                        <a:t>Best for</a:t>
                      </a:r>
                    </a:p>
                  </a:txBody>
                  <a:tcPr anchor="ctr" marL="73152" marR="54864" marT="27432" marB="27432">
                    <a:solidFill>
                      <a:srgbClr val="EEF3F8"/>
                    </a:solidFill>
                  </a:tcPr>
                </a:tc>
                <a:tc>
                  <a:txBody>
                    <a:bodyPr wrap="square"/>
                    <a:lstStyle/>
                    <a:p>
                      <a:r>
                        <a:rPr sz="1050">
                          <a:solidFill>
                            <a:srgbClr val="1A1A1A"/>
                          </a:solidFill>
                        </a:rPr>
                        <a:t>reuse a query / security</a:t>
                      </a:r>
                    </a:p>
                  </a:txBody>
                  <a:tcPr anchor="ctr" marL="73152" marR="54864" marT="27432" marB="27432">
                    <a:solidFill>
                      <a:srgbClr val="EEF3F8"/>
                    </a:solidFill>
                  </a:tcPr>
                </a:tc>
                <a:tc>
                  <a:txBody>
                    <a:bodyPr wrap="square"/>
                    <a:lstStyle/>
                    <a:p>
                      <a:r>
                        <a:rPr sz="1050">
                          <a:solidFill>
                            <a:srgbClr val="1A1A1A"/>
                          </a:solidFill>
                        </a:rPr>
                        <a:t>reuse multi-step business logic</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view packages a QUERY; a procedure packages LOGIC (multiple statements, parameters, control flow). Reaching for a procedure signals a multi-step operation, not just a saved SELECT.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173 / 219</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a Stored Procedure Is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An enrollment routine — check seats remain, insert the enrollment, decrement the seat count — is stored once as a procedure and run with CALL enroll(101,'IT220'). Every app (web, mobile, admin) calls the same server-side logic, so the rules can't drift between clients.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procedure is just a saved SELECT (a view)." No — a view is a virtual table (one query, no parameters, read-oriented). A procedure runs multi-statement procedural logic, accepts parameters, and can modify data. Different tools for different jobs.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stored procedure is a named block of SQL and procedural logic stored in the database and executed on the server via CALL. Unlike a view (a virtual table from one query), it can contain many statements, accept parameters, use control flow, and modify data — packaging reusable multi-step logic centrally.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stored procedure · CREATE PROCEDURE · CALL · server-side logic · vs view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174 / 219</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2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Parameters &amp; Basic Control Flow</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Procedures take parameters — IN (input), OUT (return a value), INOUT (both) — and can use variables, IF, and loops. This makes them small programs that run inside the database.</a:t>
            </a:r>
          </a:p>
          <a:p>
            <a:pPr>
              <a:spcAft>
                <a:spcPts val="500"/>
              </a:spcAft>
            </a:pPr>
            <a:r>
              <a:rPr sz="1200" b="1">
                <a:solidFill>
                  <a:srgbClr val="185FA5"/>
                </a:solidFill>
              </a:rPr>
              <a:t>HOW IT WORKS</a:t>
            </a:r>
          </a:p>
          <a:p>
            <a:pPr>
              <a:spcAft>
                <a:spcPts val="600"/>
              </a:spcAft>
            </a:pPr>
            <a:r>
              <a:rPr sz="1400">
                <a:solidFill>
                  <a:srgbClr val="1A1A1A"/>
                </a:solidFill>
              </a:rPr>
              <a:t>•  IN passes a value in; OUT returns a value to the caller; INOUT does both.</a:t>
            </a:r>
          </a:p>
          <a:p>
            <a:pPr>
              <a:spcAft>
                <a:spcPts val="600"/>
              </a:spcAft>
            </a:pPr>
            <a:r>
              <a:rPr sz="1400">
                <a:solidFill>
                  <a:srgbClr val="1A1A1A"/>
                </a:solidFill>
              </a:rPr>
              <a:t>•  CREATE PROCEDURE transfer(IN frm INT, IN to INT, IN amt DECIMAL(10,2)).</a:t>
            </a:r>
          </a:p>
          <a:p>
            <a:pPr>
              <a:spcAft>
                <a:spcPts val="600"/>
              </a:spcAft>
            </a:pPr>
            <a:r>
              <a:rPr sz="1400">
                <a:solidFill>
                  <a:srgbClr val="1A1A1A"/>
                </a:solidFill>
              </a:rPr>
              <a:t>•  Control flow: DECLARE variables, IF … THEN, WHILE loops.</a:t>
            </a:r>
          </a:p>
          <a:p>
            <a:pPr>
              <a:spcAft>
                <a:spcPts val="600"/>
              </a:spcAft>
            </a:pPr>
            <a:r>
              <a:rPr sz="1400">
                <a:solidFill>
                  <a:srgbClr val="1A1A1A"/>
                </a:solidFill>
              </a:rPr>
              <a:t>•  Kept at concept level here — the point is 'procedures can hold logic', not deep coding.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IN = ingredients you hand in; OUT = the dish handed back.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175 / 219</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Procedure parameters &amp; logic — what each part does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17272"/>
                <a:gridCol w="4329545"/>
                <a:gridCol w="3983181"/>
              </a:tblGrid>
              <a:tr h="630936">
                <a:tc>
                  <a:txBody>
                    <a:bodyPr wrap="square"/>
                    <a:lstStyle/>
                    <a:p>
                      <a:r>
                        <a:rPr sz="1100" b="1">
                          <a:solidFill>
                            <a:srgbClr val="FFFFFF"/>
                          </a:solidFill>
                        </a:rPr>
                        <a:t>Element</a:t>
                      </a:r>
                    </a:p>
                  </a:txBody>
                  <a:tcPr anchor="ctr" marL="73152" marR="54864" marT="27432" marB="27432">
                    <a:solidFill>
                      <a:srgbClr val="0C2B4A"/>
                    </a:solidFill>
                  </a:tcPr>
                </a:tc>
                <a:tc>
                  <a:txBody>
                    <a:bodyPr wrap="square"/>
                    <a:lstStyle/>
                    <a:p>
                      <a:r>
                        <a:rPr sz="1100" b="1">
                          <a:solidFill>
                            <a:srgbClr val="FFFFFF"/>
                          </a:solidFill>
                        </a:rPr>
                        <a:t>Role</a:t>
                      </a:r>
                    </a:p>
                  </a:txBody>
                  <a:tcPr anchor="ctr" marL="73152" marR="54864" marT="27432" marB="27432">
                    <a:solidFill>
                      <a:srgbClr val="0C2B4A"/>
                    </a:solidFill>
                  </a:tcPr>
                </a:tc>
                <a:tc>
                  <a:txBody>
                    <a:bodyPr wrap="square"/>
                    <a:lstStyle/>
                    <a:p>
                      <a:r>
                        <a:rPr sz="1100" b="1">
                          <a:solidFill>
                            <a:srgbClr val="FFFFFF"/>
                          </a:solidFill>
                        </a:rPr>
                        <a:t>Wallet-transfer example</a:t>
                      </a:r>
                    </a:p>
                  </a:txBody>
                  <a:tcPr anchor="ctr" marL="73152" marR="54864" marT="27432" marB="27432">
                    <a:solidFill>
                      <a:srgbClr val="0C2B4A"/>
                    </a:solidFill>
                  </a:tcPr>
                </a:tc>
              </a:tr>
              <a:tr h="630936">
                <a:tc>
                  <a:txBody>
                    <a:bodyPr wrap="square"/>
                    <a:lstStyle/>
                    <a:p>
                      <a:r>
                        <a:rPr sz="1050" b="1">
                          <a:solidFill>
                            <a:srgbClr val="0C2B4A"/>
                          </a:solidFill>
                        </a:rPr>
                        <a:t>IN param</a:t>
                      </a:r>
                    </a:p>
                  </a:txBody>
                  <a:tcPr anchor="ctr" marL="73152" marR="54864" marT="27432" marB="27432">
                    <a:solidFill>
                      <a:srgbClr val="FFFFFF"/>
                    </a:solidFill>
                  </a:tcPr>
                </a:tc>
                <a:tc>
                  <a:txBody>
                    <a:bodyPr wrap="square"/>
                    <a:lstStyle/>
                    <a:p>
                      <a:r>
                        <a:rPr sz="1050">
                          <a:solidFill>
                            <a:srgbClr val="1A1A1A"/>
                          </a:solidFill>
                        </a:rPr>
                        <a:t>value passed into the procedure</a:t>
                      </a:r>
                    </a:p>
                  </a:txBody>
                  <a:tcPr anchor="ctr" marL="73152" marR="54864" marT="27432" marB="27432">
                    <a:solidFill>
                      <a:srgbClr val="FFFFFF"/>
                    </a:solidFill>
                  </a:tcPr>
                </a:tc>
                <a:tc>
                  <a:txBody>
                    <a:bodyPr wrap="square"/>
                    <a:lstStyle/>
                    <a:p>
                      <a:r>
                        <a:rPr sz="1050">
                          <a:solidFill>
                            <a:srgbClr val="1A1A1A"/>
                          </a:solidFill>
                        </a:rPr>
                        <a:t>frm, to, amt</a:t>
                      </a:r>
                    </a:p>
                  </a:txBody>
                  <a:tcPr anchor="ctr" marL="73152" marR="54864" marT="27432" marB="27432">
                    <a:solidFill>
                      <a:srgbClr val="FFFFFF"/>
                    </a:solidFill>
                  </a:tcPr>
                </a:tc>
              </a:tr>
              <a:tr h="630936">
                <a:tc>
                  <a:txBody>
                    <a:bodyPr wrap="square"/>
                    <a:lstStyle/>
                    <a:p>
                      <a:r>
                        <a:rPr sz="1050" b="1">
                          <a:solidFill>
                            <a:srgbClr val="0C2B4A"/>
                          </a:solidFill>
                        </a:rPr>
                        <a:t>OUT param</a:t>
                      </a:r>
                    </a:p>
                  </a:txBody>
                  <a:tcPr anchor="ctr" marL="73152" marR="54864" marT="27432" marB="27432">
                    <a:solidFill>
                      <a:srgbClr val="EEF3F8"/>
                    </a:solidFill>
                  </a:tcPr>
                </a:tc>
                <a:tc>
                  <a:txBody>
                    <a:bodyPr wrap="square"/>
                    <a:lstStyle/>
                    <a:p>
                      <a:r>
                        <a:rPr sz="1050">
                          <a:solidFill>
                            <a:srgbClr val="1A1A1A"/>
                          </a:solidFill>
                        </a:rPr>
                        <a:t>value returned to the caller</a:t>
                      </a:r>
                    </a:p>
                  </a:txBody>
                  <a:tcPr anchor="ctr" marL="73152" marR="54864" marT="27432" marB="27432">
                    <a:solidFill>
                      <a:srgbClr val="EEF3F8"/>
                    </a:solidFill>
                  </a:tcPr>
                </a:tc>
                <a:tc>
                  <a:txBody>
                    <a:bodyPr wrap="square"/>
                    <a:lstStyle/>
                    <a:p>
                      <a:r>
                        <a:rPr sz="1050">
                          <a:solidFill>
                            <a:srgbClr val="1A1A1A"/>
                          </a:solidFill>
                        </a:rPr>
                        <a:t>OUT new_balance DECIMAL(10,2)</a:t>
                      </a:r>
                    </a:p>
                  </a:txBody>
                  <a:tcPr anchor="ctr" marL="73152" marR="54864" marT="27432" marB="27432">
                    <a:solidFill>
                      <a:srgbClr val="EEF3F8"/>
                    </a:solidFill>
                  </a:tcPr>
                </a:tc>
              </a:tr>
              <a:tr h="630936">
                <a:tc>
                  <a:txBody>
                    <a:bodyPr wrap="square"/>
                    <a:lstStyle/>
                    <a:p>
                      <a:r>
                        <a:rPr sz="1050" b="1">
                          <a:solidFill>
                            <a:srgbClr val="0C2B4A"/>
                          </a:solidFill>
                        </a:rPr>
                        <a:t>INOUT param</a:t>
                      </a:r>
                    </a:p>
                  </a:txBody>
                  <a:tcPr anchor="ctr" marL="73152" marR="54864" marT="27432" marB="27432">
                    <a:solidFill>
                      <a:srgbClr val="FFFFFF"/>
                    </a:solidFill>
                  </a:tcPr>
                </a:tc>
                <a:tc>
                  <a:txBody>
                    <a:bodyPr wrap="square"/>
                    <a:lstStyle/>
                    <a:p>
                      <a:r>
                        <a:rPr sz="1050">
                          <a:solidFill>
                            <a:srgbClr val="1A1A1A"/>
                          </a:solidFill>
                        </a:rPr>
                        <a:t>passed in and updated</a:t>
                      </a:r>
                    </a:p>
                  </a:txBody>
                  <a:tcPr anchor="ctr" marL="73152" marR="54864" marT="27432" marB="27432">
                    <a:solidFill>
                      <a:srgbClr val="FFFFFF"/>
                    </a:solidFill>
                  </a:tcPr>
                </a:tc>
                <a:tc>
                  <a:txBody>
                    <a:bodyPr wrap="square"/>
                    <a:lstStyle/>
                    <a:p>
                      <a:r>
                        <a:rPr sz="1050">
                          <a:solidFill>
                            <a:srgbClr val="1A1A1A"/>
                          </a:solidFill>
                        </a:rPr>
                        <a:t>INOUT retries INT</a:t>
                      </a:r>
                    </a:p>
                  </a:txBody>
                  <a:tcPr anchor="ctr" marL="73152" marR="54864" marT="27432" marB="27432">
                    <a:solidFill>
                      <a:srgbClr val="FFFFFF"/>
                    </a:solidFill>
                  </a:tcPr>
                </a:tc>
              </a:tr>
              <a:tr h="630936">
                <a:tc>
                  <a:txBody>
                    <a:bodyPr wrap="square"/>
                    <a:lstStyle/>
                    <a:p>
                      <a:r>
                        <a:rPr sz="1050" b="1">
                          <a:solidFill>
                            <a:srgbClr val="0C2B4A"/>
                          </a:solidFill>
                        </a:rPr>
                        <a:t>variable (DECLARE)</a:t>
                      </a:r>
                    </a:p>
                  </a:txBody>
                  <a:tcPr anchor="ctr" marL="73152" marR="54864" marT="27432" marB="27432">
                    <a:solidFill>
                      <a:srgbClr val="EEF3F8"/>
                    </a:solidFill>
                  </a:tcPr>
                </a:tc>
                <a:tc>
                  <a:txBody>
                    <a:bodyPr wrap="square"/>
                    <a:lstStyle/>
                    <a:p>
                      <a:r>
                        <a:rPr sz="1050">
                          <a:solidFill>
                            <a:srgbClr val="1A1A1A"/>
                          </a:solidFill>
                        </a:rPr>
                        <a:t>local working value</a:t>
                      </a:r>
                    </a:p>
                  </a:txBody>
                  <a:tcPr anchor="ctr" marL="73152" marR="54864" marT="27432" marB="27432">
                    <a:solidFill>
                      <a:srgbClr val="EEF3F8"/>
                    </a:solidFill>
                  </a:tcPr>
                </a:tc>
                <a:tc>
                  <a:txBody>
                    <a:bodyPr wrap="square"/>
                    <a:lstStyle/>
                    <a:p>
                      <a:r>
                        <a:rPr sz="1050">
                          <a:solidFill>
                            <a:srgbClr val="1A1A1A"/>
                          </a:solidFill>
                        </a:rPr>
                        <a:t>DECLARE bal DECIMAL(10,2)</a:t>
                      </a:r>
                    </a:p>
                  </a:txBody>
                  <a:tcPr anchor="ctr" marL="73152" marR="54864" marT="27432" marB="27432">
                    <a:solidFill>
                      <a:srgbClr val="EEF3F8"/>
                    </a:solidFill>
                  </a:tcPr>
                </a:tc>
              </a:tr>
              <a:tr h="630936">
                <a:tc>
                  <a:txBody>
                    <a:bodyPr wrap="square"/>
                    <a:lstStyle/>
                    <a:p>
                      <a:r>
                        <a:rPr sz="1050" b="1">
                          <a:solidFill>
                            <a:srgbClr val="0C2B4A"/>
                          </a:solidFill>
                        </a:rPr>
                        <a:t>IF … THEN</a:t>
                      </a:r>
                    </a:p>
                  </a:txBody>
                  <a:tcPr anchor="ctr" marL="73152" marR="54864" marT="27432" marB="27432">
                    <a:solidFill>
                      <a:srgbClr val="FFFFFF"/>
                    </a:solidFill>
                  </a:tcPr>
                </a:tc>
                <a:tc>
                  <a:txBody>
                    <a:bodyPr wrap="square"/>
                    <a:lstStyle/>
                    <a:p>
                      <a:r>
                        <a:rPr sz="1050">
                          <a:solidFill>
                            <a:srgbClr val="1A1A1A"/>
                          </a:solidFill>
                        </a:rPr>
                        <a:t>conditional logic</a:t>
                      </a:r>
                    </a:p>
                  </a:txBody>
                  <a:tcPr anchor="ctr" marL="73152" marR="54864" marT="27432" marB="27432">
                    <a:solidFill>
                      <a:srgbClr val="FFFFFF"/>
                    </a:solidFill>
                  </a:tcPr>
                </a:tc>
                <a:tc>
                  <a:txBody>
                    <a:bodyPr wrap="square"/>
                    <a:lstStyle/>
                    <a:p>
                      <a:r>
                        <a:rPr sz="1050">
                          <a:solidFill>
                            <a:srgbClr val="1A1A1A"/>
                          </a:solidFill>
                        </a:rPr>
                        <a:t>IF bal &lt; amt THEN reject</a:t>
                      </a:r>
                    </a:p>
                  </a:txBody>
                  <a:tcPr anchor="ctr" marL="73152" marR="54864" marT="27432" marB="27432">
                    <a:solidFill>
                      <a:srgbClr val="FFFFFF"/>
                    </a:solidFill>
                  </a:tcPr>
                </a:tc>
              </a:tr>
              <a:tr h="630936">
                <a:tc>
                  <a:txBody>
                    <a:bodyPr wrap="square"/>
                    <a:lstStyle/>
                    <a:p>
                      <a:r>
                        <a:rPr sz="1050" b="1">
                          <a:solidFill>
                            <a:srgbClr val="0C2B4A"/>
                          </a:solidFill>
                        </a:rPr>
                        <a:t>the two writes</a:t>
                      </a:r>
                    </a:p>
                  </a:txBody>
                  <a:tcPr anchor="ctr" marL="73152" marR="54864" marT="27432" marB="27432">
                    <a:solidFill>
                      <a:srgbClr val="EEF3F8"/>
                    </a:solidFill>
                  </a:tcPr>
                </a:tc>
                <a:tc>
                  <a:txBody>
                    <a:bodyPr wrap="square"/>
                    <a:lstStyle/>
                    <a:p>
                      <a:r>
                        <a:rPr sz="1050">
                          <a:solidFill>
                            <a:srgbClr val="1A1A1A"/>
                          </a:solidFill>
                        </a:rPr>
                        <a:t>debit + credit together</a:t>
                      </a:r>
                    </a:p>
                  </a:txBody>
                  <a:tcPr anchor="ctr" marL="73152" marR="54864" marT="27432" marB="27432">
                    <a:solidFill>
                      <a:srgbClr val="EEF3F8"/>
                    </a:solidFill>
                  </a:tcPr>
                </a:tc>
                <a:tc>
                  <a:txBody>
                    <a:bodyPr wrap="square"/>
                    <a:lstStyle/>
                    <a:p>
                      <a:r>
                        <a:rPr sz="1050">
                          <a:solidFill>
                            <a:srgbClr val="1A1A1A"/>
                          </a:solidFill>
                        </a:rPr>
                        <a:t>UPDATE sender; UPDATE receiver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Parameters make a procedure reusable with different inputs; IN/OUT/INOUT control data direction. Control flow (IF, loops) lets the procedure make decisions the server-side — a small program next to the data.</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176 / 219</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Parameters &amp; Basic Control Flow</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An eSewa-style transfer(from, to, amount) procedure checks the sender's balance (IF), debits one wallet and credits the other, and can return the new balance via an OUT parameter. Parameters let the one procedure serve every transfer, whatever the accounts and amount.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"Parameters are just for input." Not only — IN feeds values in, but OUT returns results to the caller and INOUT does both. A transfer procedure can return the new balance through an OUT parameter rather than requiring a second query.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Stored procedures take parameters — IN (input), OUT (output back to the caller), INOUT (both) — and use variables, IF conditions, and loops. This lets a procedure act as a small program beside the data: e.g. a transfer(from,to,amount) that validates the balance and performs the debit and credit.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 / OUT / INOUT parameters · variables · IF · loops · reusable server-side logic</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177 / 219</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Use Stored Procedures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Procedures give reuse, performance (fewer client-server round-trips), centralized business logic (one place, not copied in every app), and security (grant CALL without granting table access).</a:t>
            </a:r>
          </a:p>
          <a:p>
            <a:pPr>
              <a:spcAft>
                <a:spcPts val="500"/>
              </a:spcAft>
            </a:pPr>
            <a:r>
              <a:rPr sz="1200" b="1">
                <a:solidFill>
                  <a:srgbClr val="185FA5"/>
                </a:solidFill>
              </a:rPr>
              <a:t>HOW IT WORKS</a:t>
            </a:r>
          </a:p>
          <a:p>
            <a:pPr>
              <a:spcAft>
                <a:spcPts val="600"/>
              </a:spcAft>
            </a:pPr>
            <a:r>
              <a:rPr sz="1400">
                <a:solidFill>
                  <a:srgbClr val="1A1A1A"/>
                </a:solidFill>
              </a:rPr>
              <a:t>•  Reuse: write the enrollment logic once, call it from web, mobile, and admin.</a:t>
            </a:r>
          </a:p>
          <a:p>
            <a:pPr>
              <a:spcAft>
                <a:spcPts val="600"/>
              </a:spcAft>
            </a:pPr>
            <a:r>
              <a:rPr sz="1400">
                <a:solidFill>
                  <a:srgbClr val="1A1A1A"/>
                </a:solidFill>
              </a:rPr>
              <a:t>•  Performance: one CALL runs many statements server-side (one round-trip, not ten).</a:t>
            </a:r>
          </a:p>
          <a:p>
            <a:pPr>
              <a:spcAft>
                <a:spcPts val="600"/>
              </a:spcAft>
            </a:pPr>
            <a:r>
              <a:rPr sz="1400">
                <a:solidFill>
                  <a:srgbClr val="1A1A1A"/>
                </a:solidFill>
              </a:rPr>
              <a:t>•  Consistency/security: logic lives in the DB, and you can GRANT CALL without table rights.</a:t>
            </a:r>
          </a:p>
          <a:p>
            <a:pPr>
              <a:spcAft>
                <a:spcPts val="600"/>
              </a:spcAft>
            </a:pPr>
            <a:r>
              <a:rPr sz="1400">
                <a:solidFill>
                  <a:srgbClr val="1A1A1A"/>
                </a:solidFill>
              </a:rPr>
              <a:t>•  Debit+credit in one procedure keeps them together (bridges to transactions, Unit 6).</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procedure = the recipe the kitchen keeps, so every order comes out the same.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178 / 219</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3 · PAYOFF</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procedures — benefit → concrete payoff (Nepal / IT)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17272"/>
                <a:gridCol w="4156363"/>
                <a:gridCol w="4156363"/>
              </a:tblGrid>
              <a:tr h="630936">
                <a:tc>
                  <a:txBody>
                    <a:bodyPr wrap="square"/>
                    <a:lstStyle/>
                    <a:p>
                      <a:r>
                        <a:rPr sz="1100" b="1">
                          <a:solidFill>
                            <a:srgbClr val="FFFFFF"/>
                          </a:solidFill>
                        </a:rPr>
                        <a:t>Benefit</a:t>
                      </a:r>
                    </a:p>
                  </a:txBody>
                  <a:tcPr anchor="ctr" marL="73152" marR="54864" marT="27432" marB="27432">
                    <a:solidFill>
                      <a:srgbClr val="0C2B4A"/>
                    </a:solidFill>
                  </a:tcPr>
                </a:tc>
                <a:tc>
                  <a:txBody>
                    <a:bodyPr wrap="square"/>
                    <a:lstStyle/>
                    <a:p>
                      <a:r>
                        <a:rPr sz="1100" b="1">
                          <a:solidFill>
                            <a:srgbClr val="FFFFFF"/>
                          </a:solidFill>
                        </a:rPr>
                        <a:t>What it gives</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r>
              <a:tr h="630936">
                <a:tc>
                  <a:txBody>
                    <a:bodyPr wrap="square"/>
                    <a:lstStyle/>
                    <a:p>
                      <a:r>
                        <a:rPr sz="1050" b="1">
                          <a:solidFill>
                            <a:srgbClr val="0C2B4A"/>
                          </a:solidFill>
                        </a:rPr>
                        <a:t>Reuse</a:t>
                      </a:r>
                    </a:p>
                  </a:txBody>
                  <a:tcPr anchor="ctr" marL="73152" marR="54864" marT="27432" marB="27432">
                    <a:solidFill>
                      <a:srgbClr val="FFFFFF"/>
                    </a:solidFill>
                  </a:tcPr>
                </a:tc>
                <a:tc>
                  <a:txBody>
                    <a:bodyPr wrap="square"/>
                    <a:lstStyle/>
                    <a:p>
                      <a:r>
                        <a:rPr sz="1050">
                          <a:solidFill>
                            <a:srgbClr val="1A1A1A"/>
                          </a:solidFill>
                        </a:rPr>
                        <a:t>write logic once, call everywhere</a:t>
                      </a:r>
                    </a:p>
                  </a:txBody>
                  <a:tcPr anchor="ctr" marL="73152" marR="54864" marT="27432" marB="27432">
                    <a:solidFill>
                      <a:srgbClr val="FFFFFF"/>
                    </a:solidFill>
                  </a:tcPr>
                </a:tc>
                <a:tc>
                  <a:txBody>
                    <a:bodyPr wrap="square"/>
                    <a:lstStyle/>
                    <a:p>
                      <a:r>
                        <a:rPr sz="1050">
                          <a:solidFill>
                            <a:srgbClr val="1A1A1A"/>
                          </a:solidFill>
                        </a:rPr>
                        <a:t>enroll() called by web + app + admin</a:t>
                      </a:r>
                    </a:p>
                  </a:txBody>
                  <a:tcPr anchor="ctr" marL="73152" marR="54864" marT="27432" marB="27432">
                    <a:solidFill>
                      <a:srgbClr val="FFFFFF"/>
                    </a:solidFill>
                  </a:tcPr>
                </a:tc>
              </a:tr>
              <a:tr h="630936">
                <a:tc>
                  <a:txBody>
                    <a:bodyPr wrap="square"/>
                    <a:lstStyle/>
                    <a:p>
                      <a:r>
                        <a:rPr sz="1050" b="1">
                          <a:solidFill>
                            <a:srgbClr val="0C2B4A"/>
                          </a:solidFill>
                        </a:rPr>
                        <a:t>Performance</a:t>
                      </a:r>
                    </a:p>
                  </a:txBody>
                  <a:tcPr anchor="ctr" marL="73152" marR="54864" marT="27432" marB="27432">
                    <a:solidFill>
                      <a:srgbClr val="EEF3F8"/>
                    </a:solidFill>
                  </a:tcPr>
                </a:tc>
                <a:tc>
                  <a:txBody>
                    <a:bodyPr wrap="square"/>
                    <a:lstStyle/>
                    <a:p>
                      <a:r>
                        <a:rPr sz="1050">
                          <a:solidFill>
                            <a:srgbClr val="1A1A1A"/>
                          </a:solidFill>
                        </a:rPr>
                        <a:t>fewer client-server round-trips</a:t>
                      </a:r>
                    </a:p>
                  </a:txBody>
                  <a:tcPr anchor="ctr" marL="73152" marR="54864" marT="27432" marB="27432">
                    <a:solidFill>
                      <a:srgbClr val="EEF3F8"/>
                    </a:solidFill>
                  </a:tcPr>
                </a:tc>
                <a:tc>
                  <a:txBody>
                    <a:bodyPr wrap="square"/>
                    <a:lstStyle/>
                    <a:p>
                      <a:r>
                        <a:rPr sz="1050">
                          <a:solidFill>
                            <a:srgbClr val="1A1A1A"/>
                          </a:solidFill>
                        </a:rPr>
                        <a:t>one CALL vs 10 separate queries</a:t>
                      </a:r>
                    </a:p>
                  </a:txBody>
                  <a:tcPr anchor="ctr" marL="73152" marR="54864" marT="27432" marB="27432">
                    <a:solidFill>
                      <a:srgbClr val="EEF3F8"/>
                    </a:solidFill>
                  </a:tcPr>
                </a:tc>
              </a:tr>
              <a:tr h="630936">
                <a:tc>
                  <a:txBody>
                    <a:bodyPr wrap="square"/>
                    <a:lstStyle/>
                    <a:p>
                      <a:r>
                        <a:rPr sz="1050" b="1">
                          <a:solidFill>
                            <a:srgbClr val="0C2B4A"/>
                          </a:solidFill>
                        </a:rPr>
                        <a:t>Centralized logic</a:t>
                      </a:r>
                    </a:p>
                  </a:txBody>
                  <a:tcPr anchor="ctr" marL="73152" marR="54864" marT="27432" marB="27432">
                    <a:solidFill>
                      <a:srgbClr val="FFFFFF"/>
                    </a:solidFill>
                  </a:tcPr>
                </a:tc>
                <a:tc>
                  <a:txBody>
                    <a:bodyPr wrap="square"/>
                    <a:lstStyle/>
                    <a:p>
                      <a:r>
                        <a:rPr sz="1050">
                          <a:solidFill>
                            <a:srgbClr val="1A1A1A"/>
                          </a:solidFill>
                        </a:rPr>
                        <a:t>rules live in one place</a:t>
                      </a:r>
                    </a:p>
                  </a:txBody>
                  <a:tcPr anchor="ctr" marL="73152" marR="54864" marT="27432" marB="27432">
                    <a:solidFill>
                      <a:srgbClr val="FFFFFF"/>
                    </a:solidFill>
                  </a:tcPr>
                </a:tc>
                <a:tc>
                  <a:txBody>
                    <a:bodyPr wrap="square"/>
                    <a:lstStyle/>
                    <a:p>
                      <a:r>
                        <a:rPr sz="1050">
                          <a:solidFill>
                            <a:srgbClr val="1A1A1A"/>
                          </a:solidFill>
                        </a:rPr>
                        <a:t>fee calculation can't drift between apps</a:t>
                      </a:r>
                    </a:p>
                  </a:txBody>
                  <a:tcPr anchor="ctr" marL="73152" marR="54864" marT="27432" marB="27432">
                    <a:solidFill>
                      <a:srgbClr val="FFFFFF"/>
                    </a:solidFill>
                  </a:tcPr>
                </a:tc>
              </a:tr>
              <a:tr h="630936">
                <a:tc>
                  <a:txBody>
                    <a:bodyPr wrap="square"/>
                    <a:lstStyle/>
                    <a:p>
                      <a:r>
                        <a:rPr sz="1050" b="1">
                          <a:solidFill>
                            <a:srgbClr val="0C2B4A"/>
                          </a:solidFill>
                        </a:rPr>
                        <a:t>Security</a:t>
                      </a:r>
                    </a:p>
                  </a:txBody>
                  <a:tcPr anchor="ctr" marL="73152" marR="54864" marT="27432" marB="27432">
                    <a:solidFill>
                      <a:srgbClr val="EEF3F8"/>
                    </a:solidFill>
                  </a:tcPr>
                </a:tc>
                <a:tc>
                  <a:txBody>
                    <a:bodyPr wrap="square"/>
                    <a:lstStyle/>
                    <a:p>
                      <a:r>
                        <a:rPr sz="1050">
                          <a:solidFill>
                            <a:srgbClr val="1A1A1A"/>
                          </a:solidFill>
                        </a:rPr>
                        <a:t>GRANT CALL, not table access</a:t>
                      </a:r>
                    </a:p>
                  </a:txBody>
                  <a:tcPr anchor="ctr" marL="73152" marR="54864" marT="27432" marB="27432">
                    <a:solidFill>
                      <a:srgbClr val="EEF3F8"/>
                    </a:solidFill>
                  </a:tcPr>
                </a:tc>
                <a:tc>
                  <a:txBody>
                    <a:bodyPr wrap="square"/>
                    <a:lstStyle/>
                    <a:p>
                      <a:r>
                        <a:rPr sz="1050">
                          <a:solidFill>
                            <a:srgbClr val="1A1A1A"/>
                          </a:solidFill>
                        </a:rPr>
                        <a:t>staff can enroll without raw table rights</a:t>
                      </a:r>
                    </a:p>
                  </a:txBody>
                  <a:tcPr anchor="ctr" marL="73152" marR="54864" marT="27432" marB="27432">
                    <a:solidFill>
                      <a:srgbClr val="EEF3F8"/>
                    </a:solidFill>
                  </a:tcPr>
                </a:tc>
              </a:tr>
              <a:tr h="630936">
                <a:tc>
                  <a:txBody>
                    <a:bodyPr wrap="square"/>
                    <a:lstStyle/>
                    <a:p>
                      <a:r>
                        <a:rPr sz="1050" b="1">
                          <a:solidFill>
                            <a:srgbClr val="0C2B4A"/>
                          </a:solidFill>
                        </a:rPr>
                        <a:t>Consistency</a:t>
                      </a:r>
                    </a:p>
                  </a:txBody>
                  <a:tcPr anchor="ctr" marL="73152" marR="54864" marT="27432" marB="27432">
                    <a:solidFill>
                      <a:srgbClr val="FFFFFF"/>
                    </a:solidFill>
                  </a:tcPr>
                </a:tc>
                <a:tc>
                  <a:txBody>
                    <a:bodyPr wrap="square"/>
                    <a:lstStyle/>
                    <a:p>
                      <a:r>
                        <a:rPr sz="1050">
                          <a:solidFill>
                            <a:srgbClr val="1A1A1A"/>
                          </a:solidFill>
                        </a:rPr>
                        <a:t>related steps run together</a:t>
                      </a:r>
                    </a:p>
                  </a:txBody>
                  <a:tcPr anchor="ctr" marL="73152" marR="54864" marT="27432" marB="27432">
                    <a:solidFill>
                      <a:srgbClr val="FFFFFF"/>
                    </a:solidFill>
                  </a:tcPr>
                </a:tc>
                <a:tc>
                  <a:txBody>
                    <a:bodyPr wrap="square"/>
                    <a:lstStyle/>
                    <a:p>
                      <a:r>
                        <a:rPr sz="1050">
                          <a:solidFill>
                            <a:srgbClr val="1A1A1A"/>
                          </a:solidFill>
                        </a:rPr>
                        <a:t>debit + credit in one transfer()</a:t>
                      </a:r>
                    </a:p>
                  </a:txBody>
                  <a:tcPr anchor="ctr" marL="73152" marR="54864" marT="27432" marB="27432">
                    <a:solidFill>
                      <a:srgbClr val="FFFFFF"/>
                    </a:solidFill>
                  </a:tcPr>
                </a:tc>
              </a:tr>
              <a:tr h="630936">
                <a:tc>
                  <a:txBody>
                    <a:bodyPr wrap="square"/>
                    <a:lstStyle/>
                    <a:p>
                      <a:r>
                        <a:rPr sz="1050" b="1">
                          <a:solidFill>
                            <a:srgbClr val="0C2B4A"/>
                          </a:solidFill>
                        </a:rPr>
                        <a:t>Maintainability</a:t>
                      </a:r>
                    </a:p>
                  </a:txBody>
                  <a:tcPr anchor="ctr" marL="73152" marR="54864" marT="27432" marB="27432">
                    <a:solidFill>
                      <a:srgbClr val="EEF3F8"/>
                    </a:solidFill>
                  </a:tcPr>
                </a:tc>
                <a:tc>
                  <a:txBody>
                    <a:bodyPr wrap="square"/>
                    <a:lstStyle/>
                    <a:p>
                      <a:r>
                        <a:rPr sz="1050">
                          <a:solidFill>
                            <a:srgbClr val="1A1A1A"/>
                          </a:solidFill>
                        </a:rPr>
                        <a:t>fix the rule in one spot</a:t>
                      </a:r>
                    </a:p>
                  </a:txBody>
                  <a:tcPr anchor="ctr" marL="73152" marR="54864" marT="27432" marB="27432">
                    <a:solidFill>
                      <a:srgbClr val="EEF3F8"/>
                    </a:solidFill>
                  </a:tcPr>
                </a:tc>
                <a:tc>
                  <a:txBody>
                    <a:bodyPr wrap="square"/>
                    <a:lstStyle/>
                    <a:p>
                      <a:r>
                        <a:rPr sz="1050">
                          <a:solidFill>
                            <a:srgbClr val="1A1A1A"/>
                          </a:solidFill>
                        </a:rPr>
                        <a:t>change the seat-limit check once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Banks and fintechs push critical logic (transfers, interest calc) into procedures for consistency, security, and speed. The debit+credit-together point leads straight into transactions (Unit 6).</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179 / 219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Use Stored Procedures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Banks and fintechs put fund transfers and interest calculations in stored procedures so the logic is identical across every channel, runs fast in one round-trip, and can be granted (CALL) to staff without exposing the underlying tables. One definition, consistently applied.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"Procedures are outdated — put all logic in the app." For critical, shared, data-close logic (transfers, audits) procedures give consistency, security, and fewer round-trips that app-only logic can't match. Many systems use both: app logic for UI, procedures for critical data operations.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Stored procedures offer reuse (write once, call from every app), performance (one server round-trip runs many statements), centralized business logic (rules can't drift between clients), and security (GRANT CALL without table access). This makes them ideal for critical shared operations like fund transfers — which also motivates transactions (Unit 6).</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reuse · performance (round-trips) · centralized logic · security (GRANT CALL) · consistency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180 / 219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S34 — What deserves to be a procedure?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name one repeated multi-step operation in a college system worth making a procedure.</a:t>
            </a:r>
          </a:p>
          <a:p>
            <a:pPr>
              <a:spcAft>
                <a:spcPts val="700"/>
              </a:spcAft>
            </a:pPr>
            <a:r>
              <a:rPr sz="1550">
                <a:solidFill>
                  <a:srgbClr val="1A1A1A"/>
                </a:solidFill>
              </a:rPr>
              <a:t>•  List the steps it would bundle (e.g. enroll = check seats → insert → update count).</a:t>
            </a:r>
          </a:p>
          <a:p>
            <a:pPr>
              <a:spcAft>
                <a:spcPts val="700"/>
              </a:spcAft>
            </a:pPr>
            <a:r>
              <a:rPr sz="1550">
                <a:solidFill>
                  <a:srgbClr val="1A1A1A"/>
                </a:solidFill>
              </a:rPr>
              <a:t>•  Share aloud (3 min); decide which benefit (reuse/security/performance) is the main win.</a:t>
            </a:r>
          </a:p>
          <a:p>
            <a:pPr>
              <a:spcAft>
                <a:spcPts val="700"/>
              </a:spcAft>
            </a:pPr>
            <a:r>
              <a:rPr sz="1550">
                <a:solidFill>
                  <a:srgbClr val="1A1A1A"/>
                </a:solidFill>
              </a:rPr>
              <a:t>•  Close: multi-step + repeated + critical = a good procedure candidate.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enroll a student, publish results (compute grades + lock + notify), promote a semester. Reward multi-step operations where consistency/security matters, not single one-off SELECTs.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181 / 219</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stored procedure is invoked using:</a:t>
            </a:r>
          </a:p>
          <a:p>
            <a:pPr lvl="1"/>
            <a:r>
              <a:rPr sz="1500" b="1">
                <a:solidFill>
                  <a:srgbClr val="0F6E56"/>
                </a:solidFill>
              </a:rPr>
              <a:t>a) SELECT   b) ✅ CALL (or EXEC)   c) RUN   d) OPEN</a:t>
            </a:r>
          </a:p>
          <a:p>
            <a:pPr lvl="1">
              <a:spcBef>
                <a:spcPts val="600"/>
              </a:spcBef>
            </a:pPr>
            <a:r>
              <a:rPr sz="1500" i="1">
                <a:solidFill>
                  <a:srgbClr val="1A1A1A"/>
                </a:solidFill>
              </a:rPr>
              <a:t>     Why: CALL proc(args) executes the stored block.</a:t>
            </a:r>
          </a:p>
          <a:p>
            <a:pPr>
              <a:spcBef>
                <a:spcPts val="900"/>
              </a:spcBef>
            </a:pPr>
            <a:r>
              <a:rPr sz="1700" b="1">
                <a:solidFill>
                  <a:srgbClr val="0C2B4A"/>
                </a:solidFill>
              </a:rPr>
              <a:t>Q2.  The main difference from a view is that a procedure:</a:t>
            </a:r>
          </a:p>
          <a:p>
            <a:pPr lvl="1"/>
            <a:r>
              <a:rPr sz="1500" b="1">
                <a:solidFill>
                  <a:srgbClr val="0F6E56"/>
                </a:solidFill>
              </a:rPr>
              <a:t>a) stores data   b) ✅ runs procedural logic / can modify data   c) is read-only   d) is a table</a:t>
            </a:r>
          </a:p>
          <a:p>
            <a:pPr lvl="1">
              <a:spcBef>
                <a:spcPts val="600"/>
              </a:spcBef>
            </a:pPr>
            <a:r>
              <a:rPr sz="1500" i="1">
                <a:solidFill>
                  <a:srgbClr val="1A1A1A"/>
                </a:solidFill>
              </a:rPr>
              <a:t>     Why: a view is a virtual table; a procedure runs multi-step logic.</a:t>
            </a:r>
          </a:p>
          <a:p>
            <a:pPr>
              <a:spcBef>
                <a:spcPts val="900"/>
              </a:spcBef>
            </a:pPr>
            <a:r>
              <a:rPr sz="1700" b="1">
                <a:solidFill>
                  <a:srgbClr val="0C2B4A"/>
                </a:solidFill>
              </a:rPr>
              <a:t>Q3.  Which parameter mode returns a value to the caller?</a:t>
            </a:r>
          </a:p>
          <a:p>
            <a:pPr lvl="1"/>
            <a:r>
              <a:rPr sz="1500" b="1">
                <a:solidFill>
                  <a:srgbClr val="0F6E56"/>
                </a:solidFill>
              </a:rPr>
              <a:t>a) IN   b) ✅ OUT   c) neither   d) CALL</a:t>
            </a:r>
          </a:p>
          <a:p>
            <a:pPr lvl="1">
              <a:spcBef>
                <a:spcPts val="600"/>
              </a:spcBef>
            </a:pPr>
            <a:r>
              <a:rPr sz="1500" i="1">
                <a:solidFill>
                  <a:srgbClr val="1A1A1A"/>
                </a:solidFill>
              </a:rPr>
              <a:t>     Why: OUT (and INOUT) return values; IN only passes in.</a:t>
            </a:r>
          </a:p>
          <a:p>
            <a:pPr lvl="1">
              <a:spcBef>
                <a:spcPts val="600"/>
              </a:spcBef>
            </a:pPr>
            <a:r>
              <a:rPr sz="1500" i="1">
                <a:solidFill>
                  <a:srgbClr val="1A1A1A"/>
                </a:solidFill>
              </a:rPr>
              <a:t>Discussion: name one college-system operation worth turning into a stored procedure.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182 / 219</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stored procedure is a named, callable block of server-side logic (CALL proc(args)).</a:t>
            </a:r>
          </a:p>
          <a:p>
            <a:pPr>
              <a:spcAft>
                <a:spcPts val="800"/>
              </a:spcAft>
            </a:pPr>
            <a:r>
              <a:rPr sz="1500">
                <a:solidFill>
                  <a:srgbClr val="1A1A1A"/>
                </a:solidFill>
              </a:rPr>
              <a:t>2.  It takes IN/OUT/INOUT parameters and can run many statements and modify data (unlike a view).</a:t>
            </a:r>
          </a:p>
          <a:p>
            <a:pPr>
              <a:spcAft>
                <a:spcPts val="800"/>
              </a:spcAft>
            </a:pPr>
            <a:r>
              <a:rPr sz="1500">
                <a:solidFill>
                  <a:srgbClr val="1A1A1A"/>
                </a:solidFill>
              </a:rPr>
              <a:t>3.  Benefits: reuse, performance (fewer round-trips), centralized logic, and security (GRANT CALL).</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Banks and fintechs push transfers and interest calculations into stored procedures for consistency, speed, and security — grasping them prepares you for real backend and database work.</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S35 — code that fires automatically (triggers) and structures that make reads fast (indexes).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183 / 219</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35 · LECTURE HOUR 14 (OF 15)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DML Triggers · Indexing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Every time a student is graded, the system should auto-log it — without the app remembering to. And when 'find roll 101' scans a million rows... why is it instant? Triggers and indexes.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184 / 219</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[THEORY] [SNIPPET]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DML Triggers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trigger is code that fires AUTOMATICALLY on an INSERT, UPDATE, or DELETE — BEFORE or AFTER the event. You never call a trigger; the data-modification event fires it.</a:t>
            </a:r>
          </a:p>
          <a:p>
            <a:pPr>
              <a:spcAft>
                <a:spcPts val="500"/>
              </a:spcAft>
            </a:pPr>
            <a:r>
              <a:rPr sz="1200" b="1">
                <a:solidFill>
                  <a:srgbClr val="185FA5"/>
                </a:solidFill>
              </a:rPr>
              <a:t>HOW IT WORKS</a:t>
            </a:r>
          </a:p>
          <a:p>
            <a:pPr>
              <a:spcAft>
                <a:spcPts val="600"/>
              </a:spcAft>
            </a:pPr>
            <a:r>
              <a:rPr sz="1400">
                <a:solidFill>
                  <a:srgbClr val="1A1A1A"/>
                </a:solidFill>
              </a:rPr>
              <a:t>•  CREATE TRIGGER log_grade AFTER UPDATE ON Enrollment FOR EACH ROW INSERT INTO GradeAudit(...) VALUES(OLD.grade,NEW.grade,NOW());</a:t>
            </a:r>
          </a:p>
          <a:p>
            <a:pPr>
              <a:spcAft>
                <a:spcPts val="600"/>
              </a:spcAft>
            </a:pPr>
            <a:r>
              <a:rPr sz="1400">
                <a:solidFill>
                  <a:srgbClr val="1A1A1A"/>
                </a:solidFill>
              </a:rPr>
              <a:t>•  BEFORE triggers can validate/adjust a row; AFTER triggers react (e.g. audit).</a:t>
            </a:r>
          </a:p>
          <a:p>
            <a:pPr>
              <a:spcAft>
                <a:spcPts val="600"/>
              </a:spcAft>
            </a:pPr>
            <a:r>
              <a:rPr sz="1400">
                <a:solidFill>
                  <a:srgbClr val="1A1A1A"/>
                </a:solidFill>
              </a:rPr>
              <a:t>•  FOR EACH ROW runs the trigger once per affected row.</a:t>
            </a:r>
          </a:p>
          <a:p>
            <a:pPr>
              <a:spcAft>
                <a:spcPts val="600"/>
              </a:spcAft>
            </a:pPr>
            <a:r>
              <a:rPr sz="1400">
                <a:solidFill>
                  <a:srgbClr val="1A1A1A"/>
                </a:solidFill>
              </a:rPr>
              <a:t>•  Triggers enforce rules and side-effects the app can't forget to run.</a:t>
            </a:r>
          </a:p>
        </p:txBody>
      </p:sp>
      <p:pic>
        <p:nvPicPr>
          <p:cNvPr id="6" name="Picture 5" descr="s35_trigger.png"/>
          <p:cNvPicPr>
            <a:picLocks noChangeAspect="1"/>
          </p:cNvPicPr>
          <p:nvPr/>
        </p:nvPicPr>
        <p:blipFill>
          <a:blip r:embed="rId2"/>
          <a:stretch>
            <a:fillRect/>
          </a:stretch>
        </p:blipFill>
        <p:spPr>
          <a:xfrm>
            <a:off x="6355080" y="2603028"/>
            <a:ext cx="5532120" cy="242918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trigger fires by itself on the event — you never CALL 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185 / 219</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Trigger uses — event → automatic action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094328"/>
                <a:gridCol w="2217761"/>
                <a:gridCol w="5117910"/>
              </a:tblGrid>
              <a:tr h="630936">
                <a:tc>
                  <a:txBody>
                    <a:bodyPr wrap="square"/>
                    <a:lstStyle/>
                    <a:p>
                      <a:r>
                        <a:rPr sz="1100" b="1">
                          <a:solidFill>
                            <a:srgbClr val="FFFFFF"/>
                          </a:solidFill>
                        </a:rPr>
                        <a:t>Trigger fires on</a:t>
                      </a:r>
                    </a:p>
                  </a:txBody>
                  <a:tcPr anchor="ctr" marL="73152" marR="54864" marT="27432" marB="27432">
                    <a:solidFill>
                      <a:srgbClr val="0C2B4A"/>
                    </a:solidFill>
                  </a:tcPr>
                </a:tc>
                <a:tc>
                  <a:txBody>
                    <a:bodyPr wrap="square"/>
                    <a:lstStyle/>
                    <a:p>
                      <a:r>
                        <a:rPr sz="1100" b="1">
                          <a:solidFill>
                            <a:srgbClr val="FFFFFF"/>
                          </a:solidFill>
                        </a:rPr>
                        <a:t>Timing</a:t>
                      </a:r>
                    </a:p>
                  </a:txBody>
                  <a:tcPr anchor="ctr" marL="73152" marR="54864" marT="27432" marB="27432">
                    <a:solidFill>
                      <a:srgbClr val="0C2B4A"/>
                    </a:solidFill>
                  </a:tcPr>
                </a:tc>
                <a:tc>
                  <a:txBody>
                    <a:bodyPr wrap="square"/>
                    <a:lstStyle/>
                    <a:p>
                      <a:r>
                        <a:rPr sz="1100" b="1">
                          <a:solidFill>
                            <a:srgbClr val="FFFFFF"/>
                          </a:solidFill>
                        </a:rPr>
                        <a:t>Automatic action</a:t>
                      </a:r>
                    </a:p>
                  </a:txBody>
                  <a:tcPr anchor="ctr" marL="73152" marR="54864" marT="27432" marB="27432">
                    <a:solidFill>
                      <a:srgbClr val="0C2B4A"/>
                    </a:solidFill>
                  </a:tcPr>
                </a:tc>
              </a:tr>
              <a:tr h="630936">
                <a:tc>
                  <a:txBody>
                    <a:bodyPr wrap="square"/>
                    <a:lstStyle/>
                    <a:p>
                      <a:r>
                        <a:rPr sz="1050" b="1">
                          <a:solidFill>
                            <a:srgbClr val="0C2B4A"/>
                          </a:solidFill>
                        </a:rPr>
                        <a:t>UPDATE of Enrollment.marks</a:t>
                      </a:r>
                    </a:p>
                  </a:txBody>
                  <a:tcPr anchor="ctr" marL="73152" marR="54864" marT="27432" marB="27432">
                    <a:solidFill>
                      <a:srgbClr val="FFFFFF"/>
                    </a:solidFill>
                  </a:tcPr>
                </a:tc>
                <a:tc>
                  <a:txBody>
                    <a:bodyPr wrap="square"/>
                    <a:lstStyle/>
                    <a:p>
                      <a:r>
                        <a:rPr sz="1050">
                          <a:solidFill>
                            <a:srgbClr val="1A1A1A"/>
                          </a:solidFill>
                        </a:rPr>
                        <a:t>AFTER</a:t>
                      </a:r>
                    </a:p>
                  </a:txBody>
                  <a:tcPr anchor="ctr" marL="73152" marR="54864" marT="27432" marB="27432">
                    <a:solidFill>
                      <a:srgbClr val="FFFFFF"/>
                    </a:solidFill>
                  </a:tcPr>
                </a:tc>
                <a:tc>
                  <a:txBody>
                    <a:bodyPr wrap="square"/>
                    <a:lstStyle/>
                    <a:p>
                      <a:r>
                        <a:rPr sz="1050">
                          <a:solidFill>
                            <a:srgbClr val="1A1A1A"/>
                          </a:solidFill>
                        </a:rPr>
                        <a:t>write old+new to GradeAudit (audit trail)</a:t>
                      </a:r>
                    </a:p>
                  </a:txBody>
                  <a:tcPr anchor="ctr" marL="73152" marR="54864" marT="27432" marB="27432">
                    <a:solidFill>
                      <a:srgbClr val="FFFFFF"/>
                    </a:solidFill>
                  </a:tcPr>
                </a:tc>
              </a:tr>
              <a:tr h="630936">
                <a:tc>
                  <a:txBody>
                    <a:bodyPr wrap="square"/>
                    <a:lstStyle/>
                    <a:p>
                      <a:r>
                        <a:rPr sz="1050" b="1">
                          <a:solidFill>
                            <a:srgbClr val="0C2B4A"/>
                          </a:solidFill>
                        </a:rPr>
                        <a:t>INSERT into Enrollment</a:t>
                      </a:r>
                    </a:p>
                  </a:txBody>
                  <a:tcPr anchor="ctr" marL="73152" marR="54864" marT="27432" marB="27432">
                    <a:solidFill>
                      <a:srgbClr val="EEF3F8"/>
                    </a:solidFill>
                  </a:tcPr>
                </a:tc>
                <a:tc>
                  <a:txBody>
                    <a:bodyPr wrap="square"/>
                    <a:lstStyle/>
                    <a:p>
                      <a:r>
                        <a:rPr sz="1050">
                          <a:solidFill>
                            <a:srgbClr val="1A1A1A"/>
                          </a:solidFill>
                        </a:rPr>
                        <a:t>BEFORE</a:t>
                      </a:r>
                    </a:p>
                  </a:txBody>
                  <a:tcPr anchor="ctr" marL="73152" marR="54864" marT="27432" marB="27432">
                    <a:solidFill>
                      <a:srgbClr val="EEF3F8"/>
                    </a:solidFill>
                  </a:tcPr>
                </a:tc>
                <a:tc>
                  <a:txBody>
                    <a:bodyPr wrap="square"/>
                    <a:lstStyle/>
                    <a:p>
                      <a:r>
                        <a:rPr sz="1050">
                          <a:solidFill>
                            <a:srgbClr val="1A1A1A"/>
                          </a:solidFill>
                        </a:rPr>
                        <a:t>reject if marks &gt; 100 (defence-in-depth)</a:t>
                      </a:r>
                    </a:p>
                  </a:txBody>
                  <a:tcPr anchor="ctr" marL="73152" marR="54864" marT="27432" marB="27432">
                    <a:solidFill>
                      <a:srgbClr val="EEF3F8"/>
                    </a:solidFill>
                  </a:tcPr>
                </a:tc>
              </a:tr>
              <a:tr h="630936">
                <a:tc>
                  <a:txBody>
                    <a:bodyPr wrap="square"/>
                    <a:lstStyle/>
                    <a:p>
                      <a:r>
                        <a:rPr sz="1050" b="1">
                          <a:solidFill>
                            <a:srgbClr val="0C2B4A"/>
                          </a:solidFill>
                        </a:rPr>
                        <a:t>DELETE from Student</a:t>
                      </a:r>
                    </a:p>
                  </a:txBody>
                  <a:tcPr anchor="ctr" marL="73152" marR="54864" marT="27432" marB="27432">
                    <a:solidFill>
                      <a:srgbClr val="FFFFFF"/>
                    </a:solidFill>
                  </a:tcPr>
                </a:tc>
                <a:tc>
                  <a:txBody>
                    <a:bodyPr wrap="square"/>
                    <a:lstStyle/>
                    <a:p>
                      <a:r>
                        <a:rPr sz="1050">
                          <a:solidFill>
                            <a:srgbClr val="1A1A1A"/>
                          </a:solidFill>
                        </a:rPr>
                        <a:t>AFTER</a:t>
                      </a:r>
                    </a:p>
                  </a:txBody>
                  <a:tcPr anchor="ctr" marL="73152" marR="54864" marT="27432" marB="27432">
                    <a:solidFill>
                      <a:srgbClr val="FFFFFF"/>
                    </a:solidFill>
                  </a:tcPr>
                </a:tc>
                <a:tc>
                  <a:txBody>
                    <a:bodyPr wrap="square"/>
                    <a:lstStyle/>
                    <a:p>
                      <a:r>
                        <a:rPr sz="1050">
                          <a:solidFill>
                            <a:srgbClr val="1A1A1A"/>
                          </a:solidFill>
                        </a:rPr>
                        <a:t>archive the deleted row</a:t>
                      </a:r>
                    </a:p>
                  </a:txBody>
                  <a:tcPr anchor="ctr" marL="73152" marR="54864" marT="27432" marB="27432">
                    <a:solidFill>
                      <a:srgbClr val="FFFFFF"/>
                    </a:solidFill>
                  </a:tcPr>
                </a:tc>
              </a:tr>
              <a:tr h="630936">
                <a:tc>
                  <a:txBody>
                    <a:bodyPr wrap="square"/>
                    <a:lstStyle/>
                    <a:p>
                      <a:r>
                        <a:rPr sz="1050" b="1">
                          <a:solidFill>
                            <a:srgbClr val="0C2B4A"/>
                          </a:solidFill>
                        </a:rPr>
                        <a:t>UPDATE of wallet balance</a:t>
                      </a:r>
                    </a:p>
                  </a:txBody>
                  <a:tcPr anchor="ctr" marL="73152" marR="54864" marT="27432" marB="27432">
                    <a:solidFill>
                      <a:srgbClr val="EEF3F8"/>
                    </a:solidFill>
                  </a:tcPr>
                </a:tc>
                <a:tc>
                  <a:txBody>
                    <a:bodyPr wrap="square"/>
                    <a:lstStyle/>
                    <a:p>
                      <a:r>
                        <a:rPr sz="1050">
                          <a:solidFill>
                            <a:srgbClr val="1A1A1A"/>
                          </a:solidFill>
                        </a:rPr>
                        <a:t>AFTER</a:t>
                      </a:r>
                    </a:p>
                  </a:txBody>
                  <a:tcPr anchor="ctr" marL="73152" marR="54864" marT="27432" marB="27432">
                    <a:solidFill>
                      <a:srgbClr val="EEF3F8"/>
                    </a:solidFill>
                  </a:tcPr>
                </a:tc>
                <a:tc>
                  <a:txBody>
                    <a:bodyPr wrap="square"/>
                    <a:lstStyle/>
                    <a:p>
                      <a:r>
                        <a:rPr sz="1050">
                          <a:solidFill>
                            <a:srgbClr val="1A1A1A"/>
                          </a:solidFill>
                        </a:rPr>
                        <a:t>log the change for fraud analysis</a:t>
                      </a:r>
                    </a:p>
                  </a:txBody>
                  <a:tcPr anchor="ctr" marL="73152" marR="54864" marT="27432" marB="27432">
                    <a:solidFill>
                      <a:srgbClr val="EEF3F8"/>
                    </a:solidFill>
                  </a:tcPr>
                </a:tc>
              </a:tr>
              <a:tr h="630936">
                <a:tc>
                  <a:txBody>
                    <a:bodyPr wrap="square"/>
                    <a:lstStyle/>
                    <a:p>
                      <a:r>
                        <a:rPr sz="1050" b="1">
                          <a:solidFill>
                            <a:srgbClr val="0C2B4A"/>
                          </a:solidFill>
                        </a:rPr>
                        <a:t>INSERT into orders</a:t>
                      </a:r>
                    </a:p>
                  </a:txBody>
                  <a:tcPr anchor="ctr" marL="73152" marR="54864" marT="27432" marB="27432">
                    <a:solidFill>
                      <a:srgbClr val="FFFFFF"/>
                    </a:solidFill>
                  </a:tcPr>
                </a:tc>
                <a:tc>
                  <a:txBody>
                    <a:bodyPr wrap="square"/>
                    <a:lstStyle/>
                    <a:p>
                      <a:r>
                        <a:rPr sz="1050">
                          <a:solidFill>
                            <a:srgbClr val="1A1A1A"/>
                          </a:solidFill>
                        </a:rPr>
                        <a:t>AFTER</a:t>
                      </a:r>
                    </a:p>
                  </a:txBody>
                  <a:tcPr anchor="ctr" marL="73152" marR="54864" marT="27432" marB="27432">
                    <a:solidFill>
                      <a:srgbClr val="FFFFFF"/>
                    </a:solidFill>
                  </a:tcPr>
                </a:tc>
                <a:tc>
                  <a:txBody>
                    <a:bodyPr wrap="square"/>
                    <a:lstStyle/>
                    <a:p>
                      <a:r>
                        <a:rPr sz="1050">
                          <a:solidFill>
                            <a:srgbClr val="1A1A1A"/>
                          </a:solidFill>
                        </a:rPr>
                        <a:t>decrement stock automatically</a:t>
                      </a:r>
                    </a:p>
                  </a:txBody>
                  <a:tcPr anchor="ctr" marL="73152" marR="54864" marT="27432" marB="27432">
                    <a:solidFill>
                      <a:srgbClr val="FFFFFF"/>
                    </a:solidFill>
                  </a:tcPr>
                </a:tc>
              </a:tr>
              <a:tr h="630936">
                <a:tc>
                  <a:txBody>
                    <a:bodyPr wrap="square"/>
                    <a:lstStyle/>
                    <a:p>
                      <a:r>
                        <a:rPr sz="1050" b="1">
                          <a:solidFill>
                            <a:srgbClr val="0C2B4A"/>
                          </a:solidFill>
                        </a:rPr>
                        <a:t>UPDATE of salary</a:t>
                      </a:r>
                    </a:p>
                  </a:txBody>
                  <a:tcPr anchor="ctr" marL="73152" marR="54864" marT="27432" marB="27432">
                    <a:solidFill>
                      <a:srgbClr val="EEF3F8"/>
                    </a:solidFill>
                  </a:tcPr>
                </a:tc>
                <a:tc>
                  <a:txBody>
                    <a:bodyPr wrap="square"/>
                    <a:lstStyle/>
                    <a:p>
                      <a:r>
                        <a:rPr sz="1050">
                          <a:solidFill>
                            <a:srgbClr val="1A1A1A"/>
                          </a:solidFill>
                        </a:rPr>
                        <a:t>BEFORE</a:t>
                      </a:r>
                    </a:p>
                  </a:txBody>
                  <a:tcPr anchor="ctr" marL="73152" marR="54864" marT="27432" marB="27432">
                    <a:solidFill>
                      <a:srgbClr val="EEF3F8"/>
                    </a:solidFill>
                  </a:tcPr>
                </a:tc>
                <a:tc>
                  <a:txBody>
                    <a:bodyPr wrap="square"/>
                    <a:lstStyle/>
                    <a:p>
                      <a:r>
                        <a:rPr sz="1050">
                          <a:solidFill>
                            <a:srgbClr val="1A1A1A"/>
                          </a:solidFill>
                        </a:rPr>
                        <a:t>block a raise above a policy cap</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Triggers run side-effects the application must never forget — audits, derived-total maintenance, extra validation. BEFORE can veto/adjust the change; AFTER reacts once it has happened.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186 / 219</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DML Triggers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Exam-integrity systems use an AFTER UPDATE trigger on the marks column to write every change (old value, new value, timestamp, user) to a GradeAudit table — so any tampering leaves a trail, automatically, whether the change came from the app, an admin script, or raw SQL.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"You have to call a trigger like a procedure." No — a trigger fires by ITSELF on its INSERT/UPDATE/DELETE event; there is no CALL. That's its power (nothing can bypass it) and its danger (hidden side-effects if overused).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DML trigger is code that fires automatically on an INSERT, UPDATE, or DELETE, either BEFORE (validate/adjust) or AFTER (react) the event, running FOR EACH ROW affected. It is never called explicitly — the event fires it — making it ideal for audit trails, enforcing rules, and maintaining derived data regardless of which client made the change.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trigger · BEFORE/AFTER · INSERT/UPDATE/DELETE · fires automatically · FOR EACH ROW · audit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187 / 219</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OLD vs NEW &amp; Trigger Use Cases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Inside a row-level trigger, OLD refers to the row's values before the change and NEW to the values after. Comparing them powers auditing, complex rule enforcement, and auto-maintaining derived totals.</a:t>
            </a:r>
          </a:p>
          <a:p>
            <a:pPr>
              <a:spcAft>
                <a:spcPts val="500"/>
              </a:spcAft>
            </a:pPr>
            <a:r>
              <a:rPr sz="1200" b="1">
                <a:solidFill>
                  <a:srgbClr val="185FA5"/>
                </a:solidFill>
              </a:rPr>
              <a:t>HOW IT WORKS</a:t>
            </a:r>
          </a:p>
          <a:p>
            <a:pPr>
              <a:spcAft>
                <a:spcPts val="600"/>
              </a:spcAft>
            </a:pPr>
            <a:r>
              <a:rPr sz="1400">
                <a:solidFill>
                  <a:srgbClr val="1A1A1A"/>
                </a:solidFill>
              </a:rPr>
              <a:t>•  UPDATE: OLD.grade is the previous grade, NEW.grade the incoming one.</a:t>
            </a:r>
          </a:p>
          <a:p>
            <a:pPr>
              <a:spcAft>
                <a:spcPts val="600"/>
              </a:spcAft>
            </a:pPr>
            <a:r>
              <a:rPr sz="1400">
                <a:solidFill>
                  <a:srgbClr val="1A1A1A"/>
                </a:solidFill>
              </a:rPr>
              <a:t>•  INSERT: only NEW exists; DELETE: only OLD exists.</a:t>
            </a:r>
          </a:p>
          <a:p>
            <a:pPr>
              <a:spcAft>
                <a:spcPts val="600"/>
              </a:spcAft>
            </a:pPr>
            <a:r>
              <a:rPr sz="1400">
                <a:solidFill>
                  <a:srgbClr val="1A1A1A"/>
                </a:solidFill>
              </a:rPr>
              <a:t>•  Audit: log OLD.grade → NEW.grade with NOW() on every marks change.</a:t>
            </a:r>
          </a:p>
          <a:p>
            <a:pPr>
              <a:spcAft>
                <a:spcPts val="600"/>
              </a:spcAft>
            </a:pPr>
            <a:r>
              <a:rPr sz="1400">
                <a:solidFill>
                  <a:srgbClr val="1A1A1A"/>
                </a:solidFill>
              </a:rPr>
              <a:t>•  Rule: a BEFORE trigger blocking marks &gt; 100 backs up the CHECK from S22 (defence-in-depth).</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OLD = the row before · NEW = the row after — compare them to react.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188 / 219</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OLD vs NEW by event, and what you'd do</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492500"/>
                <a:gridCol w="2063750"/>
                <a:gridCol w="2063750"/>
                <a:gridCol w="3810000"/>
              </a:tblGrid>
              <a:tr h="630936">
                <a:tc>
                  <a:txBody>
                    <a:bodyPr wrap="square"/>
                    <a:lstStyle/>
                    <a:p>
                      <a:r>
                        <a:rPr sz="1100" b="1">
                          <a:solidFill>
                            <a:srgbClr val="FFFFFF"/>
                          </a:solidFill>
                        </a:rPr>
                        <a:t>Event</a:t>
                      </a:r>
                    </a:p>
                  </a:txBody>
                  <a:tcPr anchor="ctr" marL="73152" marR="54864" marT="27432" marB="27432">
                    <a:solidFill>
                      <a:srgbClr val="0C2B4A"/>
                    </a:solidFill>
                  </a:tcPr>
                </a:tc>
                <a:tc>
                  <a:txBody>
                    <a:bodyPr wrap="square"/>
                    <a:lstStyle/>
                    <a:p>
                      <a:r>
                        <a:rPr sz="1100" b="1">
                          <a:solidFill>
                            <a:srgbClr val="FFFFFF"/>
                          </a:solidFill>
                        </a:rPr>
                        <a:t>OLD available?</a:t>
                      </a:r>
                    </a:p>
                  </a:txBody>
                  <a:tcPr anchor="ctr" marL="73152" marR="54864" marT="27432" marB="27432">
                    <a:solidFill>
                      <a:srgbClr val="0C2B4A"/>
                    </a:solidFill>
                  </a:tcPr>
                </a:tc>
                <a:tc>
                  <a:txBody>
                    <a:bodyPr wrap="square"/>
                    <a:lstStyle/>
                    <a:p>
                      <a:r>
                        <a:rPr sz="1100" b="1">
                          <a:solidFill>
                            <a:srgbClr val="FFFFFF"/>
                          </a:solidFill>
                        </a:rPr>
                        <a:t>NEW available?</a:t>
                      </a:r>
                    </a:p>
                  </a:txBody>
                  <a:tcPr anchor="ctr" marL="73152" marR="54864" marT="27432" marB="27432">
                    <a:solidFill>
                      <a:srgbClr val="0C2B4A"/>
                    </a:solidFill>
                  </a:tcPr>
                </a:tc>
                <a:tc>
                  <a:txBody>
                    <a:bodyPr wrap="square"/>
                    <a:lstStyle/>
                    <a:p>
                      <a:r>
                        <a:rPr sz="1100" b="1">
                          <a:solidFill>
                            <a:srgbClr val="FFFFFF"/>
                          </a:solidFill>
                        </a:rPr>
                        <a:t>Typical use</a:t>
                      </a:r>
                    </a:p>
                  </a:txBody>
                  <a:tcPr anchor="ctr" marL="73152" marR="54864" marT="27432" marB="27432">
                    <a:solidFill>
                      <a:srgbClr val="0C2B4A"/>
                    </a:solidFill>
                  </a:tcPr>
                </a:tc>
              </a:tr>
              <a:tr h="630936">
                <a:tc>
                  <a:txBody>
                    <a:bodyPr wrap="square"/>
                    <a:lstStyle/>
                    <a:p>
                      <a:r>
                        <a:rPr sz="1050" b="1">
                          <a:solidFill>
                            <a:srgbClr val="0C2B4A"/>
                          </a:solidFill>
                        </a:rPr>
                        <a:t>INSERT</a:t>
                      </a:r>
                    </a:p>
                  </a:txBody>
                  <a:tcPr anchor="ctr" marL="73152" marR="54864" marT="27432" marB="27432">
                    <a:solidFill>
                      <a:srgbClr val="FFFFFF"/>
                    </a:solidFill>
                  </a:tcPr>
                </a:tc>
                <a:tc>
                  <a:txBody>
                    <a:bodyPr wrap="square"/>
                    <a:lstStyle/>
                    <a:p>
                      <a:r>
                        <a:rPr sz="1050">
                          <a:solidFill>
                            <a:srgbClr val="1A1A1A"/>
                          </a:solidFill>
                        </a:rPr>
                        <a:t>no</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validate/adjust NEW before storing</a:t>
                      </a:r>
                    </a:p>
                  </a:txBody>
                  <a:tcPr anchor="ctr" marL="73152" marR="54864" marT="27432" marB="27432">
                    <a:solidFill>
                      <a:srgbClr val="FFFFFF"/>
                    </a:solidFill>
                  </a:tcPr>
                </a:tc>
              </a:tr>
              <a:tr h="630936">
                <a:tc>
                  <a:txBody>
                    <a:bodyPr wrap="square"/>
                    <a:lstStyle/>
                    <a:p>
                      <a:r>
                        <a:rPr sz="1050" b="1">
                          <a:solidFill>
                            <a:srgbClr val="0C2B4A"/>
                          </a:solidFill>
                        </a:rPr>
                        <a:t>UPDATE</a:t>
                      </a:r>
                    </a:p>
                  </a:txBody>
                  <a:tcPr anchor="ctr" marL="73152" marR="54864" marT="27432" marB="27432">
                    <a:solidFill>
                      <a:srgbClr val="EEF3F8"/>
                    </a:solidFill>
                  </a:tcPr>
                </a:tc>
                <a:tc>
                  <a:txBody>
                    <a:bodyPr wrap="square"/>
                    <a:lstStyle/>
                    <a:p>
                      <a:r>
                        <a:rPr sz="1050">
                          <a:solidFill>
                            <a:srgbClr val="1A1A1A"/>
                          </a:solidFill>
                        </a:rPr>
                        <a:t>yes</a:t>
                      </a:r>
                    </a:p>
                  </a:txBody>
                  <a:tcPr anchor="ctr" marL="73152" marR="54864" marT="27432" marB="27432">
                    <a:solidFill>
                      <a:srgbClr val="EEF3F8"/>
                    </a:solidFill>
                  </a:tcPr>
                </a:tc>
                <a:tc>
                  <a:txBody>
                    <a:bodyPr wrap="square"/>
                    <a:lstStyle/>
                    <a:p>
                      <a:r>
                        <a:rPr sz="1050">
                          <a:solidFill>
                            <a:srgbClr val="1A1A1A"/>
                          </a:solidFill>
                        </a:rPr>
                        <a:t>yes</a:t>
                      </a:r>
                    </a:p>
                  </a:txBody>
                  <a:tcPr anchor="ctr" marL="73152" marR="54864" marT="27432" marB="27432">
                    <a:solidFill>
                      <a:srgbClr val="EEF3F8"/>
                    </a:solidFill>
                  </a:tcPr>
                </a:tc>
                <a:tc>
                  <a:txBody>
                    <a:bodyPr wrap="square"/>
                    <a:lstStyle/>
                    <a:p>
                      <a:r>
                        <a:rPr sz="1050">
                          <a:solidFill>
                            <a:srgbClr val="1A1A1A"/>
                          </a:solidFill>
                        </a:rPr>
                        <a:t>audit OLD→NEW; block bad changes</a:t>
                      </a:r>
                    </a:p>
                  </a:txBody>
                  <a:tcPr anchor="ctr" marL="73152" marR="54864" marT="27432" marB="27432">
                    <a:solidFill>
                      <a:srgbClr val="EEF3F8"/>
                    </a:solidFill>
                  </a:tcPr>
                </a:tc>
              </a:tr>
              <a:tr h="630936">
                <a:tc>
                  <a:txBody>
                    <a:bodyPr wrap="square"/>
                    <a:lstStyle/>
                    <a:p>
                      <a:r>
                        <a:rPr sz="1050" b="1">
                          <a:solidFill>
                            <a:srgbClr val="0C2B4A"/>
                          </a:solidFill>
                        </a:rPr>
                        <a:t>DELETE</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no</a:t>
                      </a:r>
                    </a:p>
                  </a:txBody>
                  <a:tcPr anchor="ctr" marL="73152" marR="54864" marT="27432" marB="27432">
                    <a:solidFill>
                      <a:srgbClr val="FFFFFF"/>
                    </a:solidFill>
                  </a:tcPr>
                </a:tc>
                <a:tc>
                  <a:txBody>
                    <a:bodyPr wrap="square"/>
                    <a:lstStyle/>
                    <a:p>
                      <a:r>
                        <a:rPr sz="1050">
                          <a:solidFill>
                            <a:srgbClr val="1A1A1A"/>
                          </a:solidFill>
                        </a:rPr>
                        <a:t>archive OLD before it's gone</a:t>
                      </a:r>
                    </a:p>
                  </a:txBody>
                  <a:tcPr anchor="ctr" marL="73152" marR="54864" marT="27432" marB="27432">
                    <a:solidFill>
                      <a:srgbClr val="FFFFFF"/>
                    </a:solidFill>
                  </a:tcPr>
                </a:tc>
              </a:tr>
              <a:tr h="630936">
                <a:tc>
                  <a:txBody>
                    <a:bodyPr wrap="square"/>
                    <a:lstStyle/>
                    <a:p>
                      <a:r>
                        <a:rPr sz="1050" b="1">
                          <a:solidFill>
                            <a:srgbClr val="0C2B4A"/>
                          </a:solidFill>
                        </a:rPr>
                        <a:t>BEFORE UPDATE marks&gt;100</a:t>
                      </a:r>
                    </a:p>
                  </a:txBody>
                  <a:tcPr anchor="ctr" marL="73152" marR="54864" marT="27432" marB="27432">
                    <a:solidFill>
                      <a:srgbClr val="EEF3F8"/>
                    </a:solidFill>
                  </a:tcPr>
                </a:tc>
                <a:tc>
                  <a:txBody>
                    <a:bodyPr wrap="square"/>
                    <a:lstStyle/>
                    <a:p>
                      <a:r>
                        <a:rPr sz="1050">
                          <a:solidFill>
                            <a:srgbClr val="1A1A1A"/>
                          </a:solidFill>
                        </a:rPr>
                        <a:t>yes</a:t>
                      </a:r>
                    </a:p>
                  </a:txBody>
                  <a:tcPr anchor="ctr" marL="73152" marR="54864" marT="27432" marB="27432">
                    <a:solidFill>
                      <a:srgbClr val="EEF3F8"/>
                    </a:solidFill>
                  </a:tcPr>
                </a:tc>
                <a:tc>
                  <a:txBody>
                    <a:bodyPr wrap="square"/>
                    <a:lstStyle/>
                    <a:p>
                      <a:r>
                        <a:rPr sz="1050">
                          <a:solidFill>
                            <a:srgbClr val="1A1A1A"/>
                          </a:solidFill>
                        </a:rPr>
                        <a:t>yes</a:t>
                      </a:r>
                    </a:p>
                  </a:txBody>
                  <a:tcPr anchor="ctr" marL="73152" marR="54864" marT="27432" marB="27432">
                    <a:solidFill>
                      <a:srgbClr val="EEF3F8"/>
                    </a:solidFill>
                  </a:tcPr>
                </a:tc>
                <a:tc>
                  <a:txBody>
                    <a:bodyPr wrap="square"/>
                    <a:lstStyle/>
                    <a:p>
                      <a:r>
                        <a:rPr sz="1050">
                          <a:solidFill>
                            <a:srgbClr val="1A1A1A"/>
                          </a:solidFill>
                        </a:rPr>
                        <a:t>reject NEW.marks&gt;100 (with S22 CHECK)</a:t>
                      </a:r>
                    </a:p>
                  </a:txBody>
                  <a:tcPr anchor="ctr" marL="73152" marR="54864" marT="27432" marB="27432">
                    <a:solidFill>
                      <a:srgbClr val="EEF3F8"/>
                    </a:solidFill>
                  </a:tcPr>
                </a:tc>
              </a:tr>
              <a:tr h="630936">
                <a:tc>
                  <a:txBody>
                    <a:bodyPr wrap="square"/>
                    <a:lstStyle/>
                    <a:p>
                      <a:r>
                        <a:rPr sz="1050" b="1">
                          <a:solidFill>
                            <a:srgbClr val="0C2B4A"/>
                          </a:solidFill>
                        </a:rPr>
                        <a:t>AFTER UPDATE grade</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INSERT (OLD.grade,NEW.grade,NOW()) to audit</a:t>
                      </a:r>
                    </a:p>
                  </a:txBody>
                  <a:tcPr anchor="ctr" marL="73152" marR="54864" marT="27432" marB="27432">
                    <a:solidFill>
                      <a:srgbClr val="FFFFFF"/>
                    </a:solidFill>
                  </a:tcPr>
                </a:tc>
              </a:tr>
              <a:tr h="630936">
                <a:tc>
                  <a:txBody>
                    <a:bodyPr wrap="square"/>
                    <a:lstStyle/>
                    <a:p>
                      <a:r>
                        <a:rPr sz="1050" b="1">
                          <a:solidFill>
                            <a:srgbClr val="0C2B4A"/>
                          </a:solidFill>
                        </a:rPr>
                        <a:t>AFTER INSERT order</a:t>
                      </a:r>
                    </a:p>
                  </a:txBody>
                  <a:tcPr anchor="ctr" marL="73152" marR="54864" marT="27432" marB="27432">
                    <a:solidFill>
                      <a:srgbClr val="EEF3F8"/>
                    </a:solidFill>
                  </a:tcPr>
                </a:tc>
                <a:tc>
                  <a:txBody>
                    <a:bodyPr wrap="square"/>
                    <a:lstStyle/>
                    <a:p>
                      <a:r>
                        <a:rPr sz="1050">
                          <a:solidFill>
                            <a:srgbClr val="1A1A1A"/>
                          </a:solidFill>
                        </a:rPr>
                        <a:t>no</a:t>
                      </a:r>
                    </a:p>
                  </a:txBody>
                  <a:tcPr anchor="ctr" marL="73152" marR="54864" marT="27432" marB="27432">
                    <a:solidFill>
                      <a:srgbClr val="EEF3F8"/>
                    </a:solidFill>
                  </a:tcPr>
                </a:tc>
                <a:tc>
                  <a:txBody>
                    <a:bodyPr wrap="square"/>
                    <a:lstStyle/>
                    <a:p>
                      <a:r>
                        <a:rPr sz="1050">
                          <a:solidFill>
                            <a:srgbClr val="1A1A1A"/>
                          </a:solidFill>
                        </a:rPr>
                        <a:t>yes</a:t>
                      </a:r>
                    </a:p>
                  </a:txBody>
                  <a:tcPr anchor="ctr" marL="73152" marR="54864" marT="27432" marB="27432">
                    <a:solidFill>
                      <a:srgbClr val="EEF3F8"/>
                    </a:solidFill>
                  </a:tcPr>
                </a:tc>
                <a:tc>
                  <a:txBody>
                    <a:bodyPr wrap="square"/>
                    <a:lstStyle/>
                    <a:p>
                      <a:r>
                        <a:rPr sz="1050">
                          <a:solidFill>
                            <a:srgbClr val="1A1A1A"/>
                          </a:solidFill>
                        </a:rPr>
                        <a:t>decrement stock by NEW.qty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OLD/NEW availability follows the event: INSERT has only NEW, DELETE only OLD, UPDATE has both. Comparing OLD and NEW is how a trigger audits changes and enforces cross-value rules.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189 / 219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OLD vs NEW &amp; Use Cases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marks-audit trigger stores OLD.marks, NEW.marks, and NOW() every time a grade changes, giving investigators a complete before/after history. A BEFORE UPDATE trigger that rejects NEW.marks &gt; 100 adds a second line of defence behind the S22 CHECK constraint.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"Triggers can do everything, so put all logic in them." Over-using triggers creates hidden, hard-to-debug side-effects ('why did this row change?'). Use them for audits, integrity, and derived-data upkeep — not as a dumping ground for business logic better kept visible in procedures/app code.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 a row-level trigger, OLD holds the pre-change values and NEW the post-change values; INSERT exposes only NEW, DELETE only OLD, UPDATE both. Comparing them enables auditing (log OLD→NEW), enforcing cross-value rules (block NEW.marks&gt;100 as defence-in-depth with the CHECK), and auto-maintaining derived totals.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OLD (before) · NEW (after) · availability per event · audit &amp; rule enforcement · defence-in-depth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190 / 219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3 · [THEORY] [SNIPPET] [HANDS-ON]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Indexing (CREATE INDEX)</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An index is an auxiliary structure (usually a B-tree) that lets the DBMS find rows by a column's value quickly, instead of scanning the whole table. It speeds up lookups, joins, and sorts on that column.</a:t>
            </a:r>
          </a:p>
          <a:p>
            <a:pPr>
              <a:spcAft>
                <a:spcPts val="500"/>
              </a:spcAft>
            </a:pPr>
            <a:r>
              <a:rPr sz="1200" b="1">
                <a:solidFill>
                  <a:srgbClr val="185FA5"/>
                </a:solidFill>
              </a:rPr>
              <a:t>HOW IT WORKS</a:t>
            </a:r>
          </a:p>
          <a:p>
            <a:pPr>
              <a:spcAft>
                <a:spcPts val="600"/>
              </a:spcAft>
            </a:pPr>
            <a:r>
              <a:rPr sz="1400">
                <a:solidFill>
                  <a:srgbClr val="1A1A1A"/>
                </a:solidFill>
              </a:rPr>
              <a:t>•  CREATE INDEX idx_student_program ON Student(program);</a:t>
            </a:r>
          </a:p>
          <a:p>
            <a:pPr>
              <a:spcAft>
                <a:spcPts val="600"/>
              </a:spcAft>
            </a:pPr>
            <a:r>
              <a:rPr sz="1400">
                <a:solidFill>
                  <a:srgbClr val="1A1A1A"/>
                </a:solidFill>
              </a:rPr>
              <a:t>•  A B-tree index lets a lookup jump to the row in a few hops, not a full scan.</a:t>
            </a:r>
          </a:p>
          <a:p>
            <a:pPr>
              <a:spcAft>
                <a:spcPts val="600"/>
              </a:spcAft>
            </a:pPr>
            <a:r>
              <a:rPr sz="1400">
                <a:solidFill>
                  <a:srgbClr val="1A1A1A"/>
                </a:solidFill>
              </a:rPr>
              <a:t>•  Indexes help WHERE, JOIN, and ORDER BY on the indexed column.</a:t>
            </a:r>
          </a:p>
          <a:p>
            <a:pPr>
              <a:spcAft>
                <a:spcPts val="600"/>
              </a:spcAft>
            </a:pPr>
            <a:r>
              <a:rPr sz="1400">
                <a:solidFill>
                  <a:srgbClr val="1A1A1A"/>
                </a:solidFill>
              </a:rPr>
              <a:t>•  The primary key is automatically indexed; you add indexes for other hot columns.</a:t>
            </a:r>
          </a:p>
        </p:txBody>
      </p:sp>
      <p:pic>
        <p:nvPicPr>
          <p:cNvPr id="6" name="Picture 5" descr="s35_index.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An index = the index at the back of a textbook — jump to the page, don't read every one.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191 / 219</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Table scan vs index lookup — the speed difference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070958"/>
                <a:gridCol w="3444657"/>
                <a:gridCol w="3914383"/>
              </a:tblGrid>
              <a:tr h="630936">
                <a:tc>
                  <a:txBody>
                    <a:bodyPr wrap="square"/>
                    <a:lstStyle/>
                    <a:p>
                      <a:r>
                        <a:rPr sz="1100" b="1">
                          <a:solidFill>
                            <a:srgbClr val="FFFFFF"/>
                          </a:solidFill>
                        </a:rPr>
                        <a:t>Query</a:t>
                      </a:r>
                    </a:p>
                  </a:txBody>
                  <a:tcPr anchor="ctr" marL="73152" marR="54864" marT="27432" marB="27432">
                    <a:solidFill>
                      <a:srgbClr val="0C2B4A"/>
                    </a:solidFill>
                  </a:tcPr>
                </a:tc>
                <a:tc>
                  <a:txBody>
                    <a:bodyPr wrap="square"/>
                    <a:lstStyle/>
                    <a:p>
                      <a:r>
                        <a:rPr sz="1100" b="1">
                          <a:solidFill>
                            <a:srgbClr val="FFFFFF"/>
                          </a:solidFill>
                        </a:rPr>
                        <a:t>Without index</a:t>
                      </a:r>
                    </a:p>
                  </a:txBody>
                  <a:tcPr anchor="ctr" marL="73152" marR="54864" marT="27432" marB="27432">
                    <a:solidFill>
                      <a:srgbClr val="0C2B4A"/>
                    </a:solidFill>
                  </a:tcPr>
                </a:tc>
                <a:tc>
                  <a:txBody>
                    <a:bodyPr wrap="square"/>
                    <a:lstStyle/>
                    <a:p>
                      <a:r>
                        <a:rPr sz="1100" b="1">
                          <a:solidFill>
                            <a:srgbClr val="FFFFFF"/>
                          </a:solidFill>
                        </a:rPr>
                        <a:t>With index on the column</a:t>
                      </a:r>
                    </a:p>
                  </a:txBody>
                  <a:tcPr anchor="ctr" marL="73152" marR="54864" marT="27432" marB="27432">
                    <a:solidFill>
                      <a:srgbClr val="0C2B4A"/>
                    </a:solidFill>
                  </a:tcPr>
                </a:tc>
              </a:tr>
              <a:tr h="630936">
                <a:tc>
                  <a:txBody>
                    <a:bodyPr wrap="square"/>
                    <a:lstStyle/>
                    <a:p>
                      <a:r>
                        <a:rPr sz="1050" b="1">
                          <a:solidFill>
                            <a:srgbClr val="0C2B4A"/>
                          </a:solidFill>
                        </a:rPr>
                        <a:t>WHERE roll = 101</a:t>
                      </a:r>
                    </a:p>
                  </a:txBody>
                  <a:tcPr anchor="ctr" marL="73152" marR="54864" marT="27432" marB="27432">
                    <a:solidFill>
                      <a:srgbClr val="FFFFFF"/>
                    </a:solidFill>
                  </a:tcPr>
                </a:tc>
                <a:tc>
                  <a:txBody>
                    <a:bodyPr wrap="square"/>
                    <a:lstStyle/>
                    <a:p>
                      <a:r>
                        <a:rPr sz="1050">
                          <a:solidFill>
                            <a:srgbClr val="1A1A1A"/>
                          </a:solidFill>
                        </a:rPr>
                        <a:t>scan every row</a:t>
                      </a:r>
                    </a:p>
                  </a:txBody>
                  <a:tcPr anchor="ctr" marL="73152" marR="54864" marT="27432" marB="27432">
                    <a:solidFill>
                      <a:srgbClr val="FFFFFF"/>
                    </a:solidFill>
                  </a:tcPr>
                </a:tc>
                <a:tc>
                  <a:txBody>
                    <a:bodyPr wrap="square"/>
                    <a:lstStyle/>
                    <a:p>
                      <a:r>
                        <a:rPr sz="1050">
                          <a:solidFill>
                            <a:srgbClr val="1A1A1A"/>
                          </a:solidFill>
                        </a:rPr>
                        <a:t>jump straight to it (B-tree)</a:t>
                      </a:r>
                    </a:p>
                  </a:txBody>
                  <a:tcPr anchor="ctr" marL="73152" marR="54864" marT="27432" marB="27432">
                    <a:solidFill>
                      <a:srgbClr val="FFFFFF"/>
                    </a:solidFill>
                  </a:tcPr>
                </a:tc>
              </a:tr>
              <a:tr h="630936">
                <a:tc>
                  <a:txBody>
                    <a:bodyPr wrap="square"/>
                    <a:lstStyle/>
                    <a:p>
                      <a:r>
                        <a:rPr sz="1050" b="1">
                          <a:solidFill>
                            <a:srgbClr val="0C2B4A"/>
                          </a:solidFill>
                        </a:rPr>
                        <a:t>WHERE program='BIM'</a:t>
                      </a:r>
                    </a:p>
                  </a:txBody>
                  <a:tcPr anchor="ctr" marL="73152" marR="54864" marT="27432" marB="27432">
                    <a:solidFill>
                      <a:srgbClr val="EEF3F8"/>
                    </a:solidFill>
                  </a:tcPr>
                </a:tc>
                <a:tc>
                  <a:txBody>
                    <a:bodyPr wrap="square"/>
                    <a:lstStyle/>
                    <a:p>
                      <a:r>
                        <a:rPr sz="1050">
                          <a:solidFill>
                            <a:srgbClr val="1A1A1A"/>
                          </a:solidFill>
                        </a:rPr>
                        <a:t>scan whole table</a:t>
                      </a:r>
                    </a:p>
                  </a:txBody>
                  <a:tcPr anchor="ctr" marL="73152" marR="54864" marT="27432" marB="27432">
                    <a:solidFill>
                      <a:srgbClr val="EEF3F8"/>
                    </a:solidFill>
                  </a:tcPr>
                </a:tc>
                <a:tc>
                  <a:txBody>
                    <a:bodyPr wrap="square"/>
                    <a:lstStyle/>
                    <a:p>
                      <a:r>
                        <a:rPr sz="1050">
                          <a:solidFill>
                            <a:srgbClr val="1A1A1A"/>
                          </a:solidFill>
                        </a:rPr>
                        <a:t>seek matching rows fast</a:t>
                      </a:r>
                    </a:p>
                  </a:txBody>
                  <a:tcPr anchor="ctr" marL="73152" marR="54864" marT="27432" marB="27432">
                    <a:solidFill>
                      <a:srgbClr val="EEF3F8"/>
                    </a:solidFill>
                  </a:tcPr>
                </a:tc>
              </a:tr>
              <a:tr h="630936">
                <a:tc>
                  <a:txBody>
                    <a:bodyPr wrap="square"/>
                    <a:lstStyle/>
                    <a:p>
                      <a:r>
                        <a:rPr sz="1050" b="1">
                          <a:solidFill>
                            <a:srgbClr val="0C2B4A"/>
                          </a:solidFill>
                        </a:rPr>
                        <a:t>JOIN … ON s.roll=e.roll</a:t>
                      </a:r>
                    </a:p>
                  </a:txBody>
                  <a:tcPr anchor="ctr" marL="73152" marR="54864" marT="27432" marB="27432">
                    <a:solidFill>
                      <a:srgbClr val="FFFFFF"/>
                    </a:solidFill>
                  </a:tcPr>
                </a:tc>
                <a:tc>
                  <a:txBody>
                    <a:bodyPr wrap="square"/>
                    <a:lstStyle/>
                    <a:p>
                      <a:r>
                        <a:rPr sz="1050">
                          <a:solidFill>
                            <a:srgbClr val="1A1A1A"/>
                          </a:solidFill>
                        </a:rPr>
                        <a:t>slow row-by-row match</a:t>
                      </a:r>
                    </a:p>
                  </a:txBody>
                  <a:tcPr anchor="ctr" marL="73152" marR="54864" marT="27432" marB="27432">
                    <a:solidFill>
                      <a:srgbClr val="FFFFFF"/>
                    </a:solidFill>
                  </a:tcPr>
                </a:tc>
                <a:tc>
                  <a:txBody>
                    <a:bodyPr wrap="square"/>
                    <a:lstStyle/>
                    <a:p>
                      <a:r>
                        <a:rPr sz="1050">
                          <a:solidFill>
                            <a:srgbClr val="1A1A1A"/>
                          </a:solidFill>
                        </a:rPr>
                        <a:t>fast indexed lookup per row</a:t>
                      </a:r>
                    </a:p>
                  </a:txBody>
                  <a:tcPr anchor="ctr" marL="73152" marR="54864" marT="27432" marB="27432">
                    <a:solidFill>
                      <a:srgbClr val="FFFFFF"/>
                    </a:solidFill>
                  </a:tcPr>
                </a:tc>
              </a:tr>
              <a:tr h="630936">
                <a:tc>
                  <a:txBody>
                    <a:bodyPr wrap="square"/>
                    <a:lstStyle/>
                    <a:p>
                      <a:r>
                        <a:rPr sz="1050" b="1">
                          <a:solidFill>
                            <a:srgbClr val="0C2B4A"/>
                          </a:solidFill>
                        </a:rPr>
                        <a:t>ORDER BY marks</a:t>
                      </a:r>
                    </a:p>
                  </a:txBody>
                  <a:tcPr anchor="ctr" marL="73152" marR="54864" marT="27432" marB="27432">
                    <a:solidFill>
                      <a:srgbClr val="EEF3F8"/>
                    </a:solidFill>
                  </a:tcPr>
                </a:tc>
                <a:tc>
                  <a:txBody>
                    <a:bodyPr wrap="square"/>
                    <a:lstStyle/>
                    <a:p>
                      <a:r>
                        <a:rPr sz="1050">
                          <a:solidFill>
                            <a:srgbClr val="1A1A1A"/>
                          </a:solidFill>
                        </a:rPr>
                        <a:t>sort all rows each time</a:t>
                      </a:r>
                    </a:p>
                  </a:txBody>
                  <a:tcPr anchor="ctr" marL="73152" marR="54864" marT="27432" marB="27432">
                    <a:solidFill>
                      <a:srgbClr val="EEF3F8"/>
                    </a:solidFill>
                  </a:tcPr>
                </a:tc>
                <a:tc>
                  <a:txBody>
                    <a:bodyPr wrap="square"/>
                    <a:lstStyle/>
                    <a:p>
                      <a:r>
                        <a:rPr sz="1050">
                          <a:solidFill>
                            <a:srgbClr val="1A1A1A"/>
                          </a:solidFill>
                        </a:rPr>
                        <a:t>read in index order (pre-sorted)</a:t>
                      </a:r>
                    </a:p>
                  </a:txBody>
                  <a:tcPr anchor="ctr" marL="73152" marR="54864" marT="27432" marB="27432">
                    <a:solidFill>
                      <a:srgbClr val="EEF3F8"/>
                    </a:solidFill>
                  </a:tcPr>
                </a:tc>
              </a:tr>
              <a:tr h="630936">
                <a:tc>
                  <a:txBody>
                    <a:bodyPr wrap="square"/>
                    <a:lstStyle/>
                    <a:p>
                      <a:r>
                        <a:rPr sz="1050" b="1">
                          <a:solidFill>
                            <a:srgbClr val="0C2B4A"/>
                          </a:solidFill>
                        </a:rPr>
                        <a:t>transactions WHERE user_id=…</a:t>
                      </a:r>
                    </a:p>
                  </a:txBody>
                  <a:tcPr anchor="ctr" marL="73152" marR="54864" marT="27432" marB="27432">
                    <a:solidFill>
                      <a:srgbClr val="FFFFFF"/>
                    </a:solidFill>
                  </a:tcPr>
                </a:tc>
                <a:tc>
                  <a:txBody>
                    <a:bodyPr wrap="square"/>
                    <a:lstStyle/>
                    <a:p>
                      <a:r>
                        <a:rPr sz="1050">
                          <a:solidFill>
                            <a:srgbClr val="1A1A1A"/>
                          </a:solidFill>
                        </a:rPr>
                        <a:t>scan millions of rows</a:t>
                      </a:r>
                    </a:p>
                  </a:txBody>
                  <a:tcPr anchor="ctr" marL="73152" marR="54864" marT="27432" marB="27432">
                    <a:solidFill>
                      <a:srgbClr val="FFFFFF"/>
                    </a:solidFill>
                  </a:tcPr>
                </a:tc>
                <a:tc>
                  <a:txBody>
                    <a:bodyPr wrap="square"/>
                    <a:lstStyle/>
                    <a:p>
                      <a:r>
                        <a:rPr sz="1050">
                          <a:solidFill>
                            <a:srgbClr val="1A1A1A"/>
                          </a:solidFill>
                        </a:rPr>
                        <a:t>index makes history load instant</a:t>
                      </a:r>
                    </a:p>
                  </a:txBody>
                  <a:tcPr anchor="ctr" marL="73152" marR="54864" marT="27432" marB="27432">
                    <a:solidFill>
                      <a:srgbClr val="FFFFFF"/>
                    </a:solidFill>
                  </a:tcPr>
                </a:tc>
              </a:tr>
              <a:tr h="630936">
                <a:tc>
                  <a:txBody>
                    <a:bodyPr wrap="square"/>
                    <a:lstStyle/>
                    <a:p>
                      <a:r>
                        <a:rPr sz="1050" b="1">
                          <a:solidFill>
                            <a:srgbClr val="0C2B4A"/>
                          </a:solidFill>
                        </a:rPr>
                        <a:t>Khalti history page</a:t>
                      </a:r>
                    </a:p>
                  </a:txBody>
                  <a:tcPr anchor="ctr" marL="73152" marR="54864" marT="27432" marB="27432">
                    <a:solidFill>
                      <a:srgbClr val="EEF3F8"/>
                    </a:solidFill>
                  </a:tcPr>
                </a:tc>
                <a:tc>
                  <a:txBody>
                    <a:bodyPr wrap="square"/>
                    <a:lstStyle/>
                    <a:p>
                      <a:r>
                        <a:rPr sz="1050">
                          <a:solidFill>
                            <a:srgbClr val="1A1A1A"/>
                          </a:solidFill>
                        </a:rPr>
                        <a:t>slow, times out</a:t>
                      </a:r>
                    </a:p>
                  </a:txBody>
                  <a:tcPr anchor="ctr" marL="73152" marR="54864" marT="27432" marB="27432">
                    <a:solidFill>
                      <a:srgbClr val="EEF3F8"/>
                    </a:solidFill>
                  </a:tcPr>
                </a:tc>
                <a:tc>
                  <a:txBody>
                    <a:bodyPr wrap="square"/>
                    <a:lstStyle/>
                    <a:p>
                      <a:r>
                        <a:rPr sz="1050">
                          <a:solidFill>
                            <a:srgbClr val="1A1A1A"/>
                          </a:solidFill>
                        </a:rPr>
                        <a:t>idx on (user_id) → fast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An index turns a full table scan (read every row) into a targeted lookup (a few B-tree hops). This is the #1 reason a slow app page becomes fast — index the columns you filter, join, and sort 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192 / 219</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Indexing (CREATE INDEX)</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Khalti's transaction-history page filters by user_id over millions of rows; an index on transactions(user_id) turns a full-table scan into an instant lookup, so the page loads in milliseconds. Correct indexing is the single most common fix that turns a slow screen fast.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 index stores a separate copy of the data." It stores an ordered structure of key values plus pointers to rows — not a full duplicate. Also, an index doesn't change query RESULTS, only their SPEED; a query returns the same rows with or without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index is an auxiliary (usually B-tree) structure that lets the DBMS locate rows by a column's value in a few hops instead of scanning the whole table, accelerating WHERE, JOIN, and ORDER BY on that column. CREATE INDEX name ON table(col). The primary key is indexed automatically; other frequently queried columns are indexed deliberately.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index · B-tree · CREATE INDEX · table scan vs lookup · speeds WHERE/JOIN/ORDER BY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193 / 219</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When Indexes Help — and Hurt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Indexes speed reads but slow writes (every INSERT/UPDATE/DELETE must also maintain the index) and use extra storage. Index selectively: the columns you frequently filter, join, or sort on — not every column.</a:t>
            </a:r>
          </a:p>
          <a:p>
            <a:pPr>
              <a:spcAft>
                <a:spcPts val="500"/>
              </a:spcAft>
            </a:pPr>
            <a:r>
              <a:rPr sz="1200" b="1">
                <a:solidFill>
                  <a:srgbClr val="185FA5"/>
                </a:solidFill>
              </a:rPr>
              <a:t>HOW IT WORKS</a:t>
            </a:r>
          </a:p>
          <a:p>
            <a:pPr>
              <a:spcAft>
                <a:spcPts val="600"/>
              </a:spcAft>
            </a:pPr>
            <a:r>
              <a:rPr sz="1400">
                <a:solidFill>
                  <a:srgbClr val="1A1A1A"/>
                </a:solidFill>
              </a:rPr>
              <a:t>•  Help: frequent WHERE/JOIN/ORDER BY on that column; high-selectivity columns.</a:t>
            </a:r>
          </a:p>
          <a:p>
            <a:pPr>
              <a:spcAft>
                <a:spcPts val="600"/>
              </a:spcAft>
            </a:pPr>
            <a:r>
              <a:rPr sz="1400">
                <a:solidFill>
                  <a:srgbClr val="1A1A1A"/>
                </a:solidFill>
              </a:rPr>
              <a:t>•  Hurt: every write must update the index too, so many indexes slow inserts/updates.</a:t>
            </a:r>
          </a:p>
          <a:p>
            <a:pPr>
              <a:spcAft>
                <a:spcPts val="600"/>
              </a:spcAft>
            </a:pPr>
            <a:r>
              <a:rPr sz="1400">
                <a:solidFill>
                  <a:srgbClr val="1A1A1A"/>
                </a:solidFill>
              </a:rPr>
              <a:t>•  Cost: storage space; unused indexes are pure overhead.</a:t>
            </a:r>
          </a:p>
          <a:p>
            <a:pPr>
              <a:spcAft>
                <a:spcPts val="600"/>
              </a:spcAft>
            </a:pPr>
            <a:r>
              <a:rPr sz="1400">
                <a:solidFill>
                  <a:srgbClr val="1A1A1A"/>
                </a:solidFill>
              </a:rPr>
              <a:t>•  Rule: index the read-hot columns; don't index everything 'just in case'.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Every index you add is another book you must re-sort on every write.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194 / 219</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4 · PAYOFF</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Index this? — decision guide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717142"/>
                <a:gridCol w="1995714"/>
                <a:gridCol w="4717142"/>
              </a:tblGrid>
              <a:tr h="630936">
                <a:tc>
                  <a:txBody>
                    <a:bodyPr wrap="square"/>
                    <a:lstStyle/>
                    <a:p>
                      <a:r>
                        <a:rPr sz="1100" b="1">
                          <a:solidFill>
                            <a:srgbClr val="FFFFFF"/>
                          </a:solidFill>
                        </a:rPr>
                        <a:t>Column / situation</a:t>
                      </a:r>
                    </a:p>
                  </a:txBody>
                  <a:tcPr anchor="ctr" marL="73152" marR="54864" marT="27432" marB="27432">
                    <a:solidFill>
                      <a:srgbClr val="0C2B4A"/>
                    </a:solidFill>
                  </a:tcPr>
                </a:tc>
                <a:tc>
                  <a:txBody>
                    <a:bodyPr wrap="square"/>
                    <a:lstStyle/>
                    <a:p>
                      <a:r>
                        <a:rPr sz="1100" b="1">
                          <a:solidFill>
                            <a:srgbClr val="FFFFFF"/>
                          </a:solidFill>
                        </a:rPr>
                        <a:t>Index it?</a:t>
                      </a:r>
                    </a:p>
                  </a:txBody>
                  <a:tcPr anchor="ctr" marL="73152" marR="54864" marT="27432" marB="27432">
                    <a:solidFill>
                      <a:srgbClr val="0C2B4A"/>
                    </a:solidFill>
                  </a:tcPr>
                </a:tc>
                <a:tc>
                  <a:txBody>
                    <a:bodyPr wrap="square"/>
                    <a:lstStyle/>
                    <a:p>
                      <a:r>
                        <a:rPr sz="1100" b="1">
                          <a:solidFill>
                            <a:srgbClr val="FFFFFF"/>
                          </a:solidFill>
                        </a:rPr>
                        <a:t>Why</a:t>
                      </a:r>
                    </a:p>
                  </a:txBody>
                  <a:tcPr anchor="ctr" marL="73152" marR="54864" marT="27432" marB="27432">
                    <a:solidFill>
                      <a:srgbClr val="0C2B4A"/>
                    </a:solidFill>
                  </a:tcPr>
                </a:tc>
              </a:tr>
              <a:tr h="630936">
                <a:tc>
                  <a:txBody>
                    <a:bodyPr wrap="square"/>
                    <a:lstStyle/>
                    <a:p>
                      <a:r>
                        <a:rPr sz="1050" b="1">
                          <a:solidFill>
                            <a:srgbClr val="0C2B4A"/>
                          </a:solidFill>
                        </a:rPr>
                        <a:t>Enrollment.roll (joined often)</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speeds the student-grade join</a:t>
                      </a:r>
                    </a:p>
                  </a:txBody>
                  <a:tcPr anchor="ctr" marL="73152" marR="54864" marT="27432" marB="27432">
                    <a:solidFill>
                      <a:srgbClr val="FFFFFF"/>
                    </a:solidFill>
                  </a:tcPr>
                </a:tc>
              </a:tr>
              <a:tr h="630936">
                <a:tc>
                  <a:txBody>
                    <a:bodyPr wrap="square"/>
                    <a:lstStyle/>
                    <a:p>
                      <a:r>
                        <a:rPr sz="1050" b="1">
                          <a:solidFill>
                            <a:srgbClr val="0C2B4A"/>
                          </a:solidFill>
                        </a:rPr>
                        <a:t>Student.program (filtered often)</a:t>
                      </a:r>
                    </a:p>
                  </a:txBody>
                  <a:tcPr anchor="ctr" marL="73152" marR="54864" marT="27432" marB="27432">
                    <a:solidFill>
                      <a:srgbClr val="EEF3F8"/>
                    </a:solidFill>
                  </a:tcPr>
                </a:tc>
                <a:tc>
                  <a:txBody>
                    <a:bodyPr wrap="square"/>
                    <a:lstStyle/>
                    <a:p>
                      <a:r>
                        <a:rPr sz="1050">
                          <a:solidFill>
                            <a:srgbClr val="1A1A1A"/>
                          </a:solidFill>
                        </a:rPr>
                        <a:t>yes</a:t>
                      </a:r>
                    </a:p>
                  </a:txBody>
                  <a:tcPr anchor="ctr" marL="73152" marR="54864" marT="27432" marB="27432">
                    <a:solidFill>
                      <a:srgbClr val="EEF3F8"/>
                    </a:solidFill>
                  </a:tcPr>
                </a:tc>
                <a:tc>
                  <a:txBody>
                    <a:bodyPr wrap="square"/>
                    <a:lstStyle/>
                    <a:p>
                      <a:r>
                        <a:rPr sz="1050">
                          <a:solidFill>
                            <a:srgbClr val="1A1A1A"/>
                          </a:solidFill>
                        </a:rPr>
                        <a:t>fast WHERE program='BIM'</a:t>
                      </a:r>
                    </a:p>
                  </a:txBody>
                  <a:tcPr anchor="ctr" marL="73152" marR="54864" marT="27432" marB="27432">
                    <a:solidFill>
                      <a:srgbClr val="EEF3F8"/>
                    </a:solidFill>
                  </a:tcPr>
                </a:tc>
              </a:tr>
              <a:tr h="630936">
                <a:tc>
                  <a:txBody>
                    <a:bodyPr wrap="square"/>
                    <a:lstStyle/>
                    <a:p>
                      <a:r>
                        <a:rPr sz="1050" b="1">
                          <a:solidFill>
                            <a:srgbClr val="0C2B4A"/>
                          </a:solidFill>
                        </a:rPr>
                        <a:t>transactions.user_id (history page)</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turns a scan into a lookup</a:t>
                      </a:r>
                    </a:p>
                  </a:txBody>
                  <a:tcPr anchor="ctr" marL="73152" marR="54864" marT="27432" marB="27432">
                    <a:solidFill>
                      <a:srgbClr val="FFFFFF"/>
                    </a:solidFill>
                  </a:tcPr>
                </a:tc>
              </a:tr>
              <a:tr h="630936">
                <a:tc>
                  <a:txBody>
                    <a:bodyPr wrap="square"/>
                    <a:lstStyle/>
                    <a:p>
                      <a:r>
                        <a:rPr sz="1050" b="1">
                          <a:solidFill>
                            <a:srgbClr val="0C2B4A"/>
                          </a:solidFill>
                        </a:rPr>
                        <a:t>a rarely queried notes column</a:t>
                      </a:r>
                    </a:p>
                  </a:txBody>
                  <a:tcPr anchor="ctr" marL="73152" marR="54864" marT="27432" marB="27432">
                    <a:solidFill>
                      <a:srgbClr val="EEF3F8"/>
                    </a:solidFill>
                  </a:tcPr>
                </a:tc>
                <a:tc>
                  <a:txBody>
                    <a:bodyPr wrap="square"/>
                    <a:lstStyle/>
                    <a:p>
                      <a:r>
                        <a:rPr sz="1050">
                          <a:solidFill>
                            <a:srgbClr val="1A1A1A"/>
                          </a:solidFill>
                        </a:rPr>
                        <a:t>no</a:t>
                      </a:r>
                    </a:p>
                  </a:txBody>
                  <a:tcPr anchor="ctr" marL="73152" marR="54864" marT="27432" marB="27432">
                    <a:solidFill>
                      <a:srgbClr val="EEF3F8"/>
                    </a:solidFill>
                  </a:tcPr>
                </a:tc>
                <a:tc>
                  <a:txBody>
                    <a:bodyPr wrap="square"/>
                    <a:lstStyle/>
                    <a:p>
                      <a:r>
                        <a:rPr sz="1050">
                          <a:solidFill>
                            <a:srgbClr val="1A1A1A"/>
                          </a:solidFill>
                        </a:rPr>
                        <a:t>overhead with no read benefit</a:t>
                      </a:r>
                    </a:p>
                  </a:txBody>
                  <a:tcPr anchor="ctr" marL="73152" marR="54864" marT="27432" marB="27432">
                    <a:solidFill>
                      <a:srgbClr val="EEF3F8"/>
                    </a:solidFill>
                  </a:tcPr>
                </a:tc>
              </a:tr>
              <a:tr h="630936">
                <a:tc>
                  <a:txBody>
                    <a:bodyPr wrap="square"/>
                    <a:lstStyle/>
                    <a:p>
                      <a:r>
                        <a:rPr sz="1050" b="1">
                          <a:solidFill>
                            <a:srgbClr val="0C2B4A"/>
                          </a:solidFill>
                        </a:rPr>
                        <a:t>a column with 2 values (gender)</a:t>
                      </a:r>
                    </a:p>
                  </a:txBody>
                  <a:tcPr anchor="ctr" marL="73152" marR="54864" marT="27432" marB="27432">
                    <a:solidFill>
                      <a:srgbClr val="FFFFFF"/>
                    </a:solidFill>
                  </a:tcPr>
                </a:tc>
                <a:tc>
                  <a:txBody>
                    <a:bodyPr wrap="square"/>
                    <a:lstStyle/>
                    <a:p>
                      <a:r>
                        <a:rPr sz="1050">
                          <a:solidFill>
                            <a:srgbClr val="1A1A1A"/>
                          </a:solidFill>
                        </a:rPr>
                        <a:t>usually no</a:t>
                      </a:r>
                    </a:p>
                  </a:txBody>
                  <a:tcPr anchor="ctr" marL="73152" marR="54864" marT="27432" marB="27432">
                    <a:solidFill>
                      <a:srgbClr val="FFFFFF"/>
                    </a:solidFill>
                  </a:tcPr>
                </a:tc>
                <a:tc>
                  <a:txBody>
                    <a:bodyPr wrap="square"/>
                    <a:lstStyle/>
                    <a:p>
                      <a:r>
                        <a:rPr sz="1050">
                          <a:solidFill>
                            <a:srgbClr val="1A1A1A"/>
                          </a:solidFill>
                        </a:rPr>
                        <a:t>low selectivity — scan is as fast</a:t>
                      </a:r>
                    </a:p>
                  </a:txBody>
                  <a:tcPr anchor="ctr" marL="73152" marR="54864" marT="27432" marB="27432">
                    <a:solidFill>
                      <a:srgbClr val="FFFFFF"/>
                    </a:solidFill>
                  </a:tcPr>
                </a:tc>
              </a:tr>
              <a:tr h="630936">
                <a:tc>
                  <a:txBody>
                    <a:bodyPr wrap="square"/>
                    <a:lstStyle/>
                    <a:p>
                      <a:r>
                        <a:rPr sz="1050" b="1">
                          <a:solidFill>
                            <a:srgbClr val="0C2B4A"/>
                          </a:solidFill>
                        </a:rPr>
                        <a:t>a write-heavy log's every column</a:t>
                      </a:r>
                    </a:p>
                  </a:txBody>
                  <a:tcPr anchor="ctr" marL="73152" marR="54864" marT="27432" marB="27432">
                    <a:solidFill>
                      <a:srgbClr val="EEF3F8"/>
                    </a:solidFill>
                  </a:tcPr>
                </a:tc>
                <a:tc>
                  <a:txBody>
                    <a:bodyPr wrap="square"/>
                    <a:lstStyle/>
                    <a:p>
                      <a:r>
                        <a:rPr sz="1050">
                          <a:solidFill>
                            <a:srgbClr val="1A1A1A"/>
                          </a:solidFill>
                        </a:rPr>
                        <a:t>no</a:t>
                      </a:r>
                    </a:p>
                  </a:txBody>
                  <a:tcPr anchor="ctr" marL="73152" marR="54864" marT="27432" marB="27432">
                    <a:solidFill>
                      <a:srgbClr val="EEF3F8"/>
                    </a:solidFill>
                  </a:tcPr>
                </a:tc>
                <a:tc>
                  <a:txBody>
                    <a:bodyPr wrap="square"/>
                    <a:lstStyle/>
                    <a:p>
                      <a:r>
                        <a:rPr sz="1050">
                          <a:solidFill>
                            <a:srgbClr val="1A1A1A"/>
                          </a:solidFill>
                        </a:rPr>
                        <a:t>each index slows every INSERT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Index the columns you READ by (filter/join/sort), especially high-selectivity ones. Over-indexing slows writes and wastes storage — the classic 'index everything' mistake makes a write-heavy system slower, not faster.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195 / 219</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When Indexes Help — and Hurt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On the Enrollment table, indexing roll (used in almost every join to Student) and course_id (used to filter by course) pays off hugely; indexing rarely-queried columns just slows every grade entry. A write-heavy audit log, by contrast, is often left lightly indexed so inserts stay fast.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"Index every column for maximum speed." Over-indexing slows every INSERT/UPDATE/DELETE (each index must be maintained) and wastes storage. Index the columns you actually filter, join, or sort on — selectivity and read-frequency decide, not 'just in case'.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Indexes speed reads (WHERE/JOIN/ORDER BY) but slow writes, since every INSERT/UPDATE/DELETE must also update each index, and they consume storage. Index selectively — the frequently filtered/joined/sorted, high-selectivity columns — rather than every column. Over-indexing degrades a write-heavy system.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index trade-off · reads faster / writes slower · storage cost · selectivity · index selectively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196 / 219</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S35 · HANDS-ON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Choose and create the right index for a slow query</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A grades page runs SELECT * FROM Enrollment WHERE roll = ? for a student's transcript, and it's slow. Diagnose and fix it.</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Confirm the filter column: the query filters (and joins) on roll — the hot column.</a:t>
            </a:r>
          </a:p>
          <a:p>
            <a:pPr>
              <a:spcAft>
                <a:spcPts val="400"/>
              </a:spcAft>
            </a:pPr>
            <a:r>
              <a:rPr sz="1250" b="1">
                <a:solidFill>
                  <a:srgbClr val="854F0B"/>
                </a:solidFill>
              </a:rPr>
              <a:t>Step 2.  </a:t>
            </a:r>
            <a:r>
              <a:rPr sz="1250">
                <a:solidFill>
                  <a:srgbClr val="1A1A1A"/>
                </a:solidFill>
              </a:rPr>
              <a:t>Check the current plan: EXPLAIN SELECT * FROM Enrollment WHERE roll=101; — a full scan means no useful index.</a:t>
            </a:r>
          </a:p>
          <a:p>
            <a:pPr>
              <a:spcAft>
                <a:spcPts val="400"/>
              </a:spcAft>
            </a:pPr>
            <a:r>
              <a:rPr sz="1250" b="1">
                <a:solidFill>
                  <a:srgbClr val="854F0B"/>
                </a:solidFill>
              </a:rPr>
              <a:t>Step 3.  </a:t>
            </a:r>
            <a:r>
              <a:rPr sz="1250">
                <a:solidFill>
                  <a:srgbClr val="1A1A1A"/>
                </a:solidFill>
              </a:rPr>
              <a:t>Create a targeted index: CREATE INDEX idx_enrollment_roll ON Enrollment(roll);</a:t>
            </a:r>
          </a:p>
          <a:p>
            <a:pPr>
              <a:spcAft>
                <a:spcPts val="400"/>
              </a:spcAft>
            </a:pPr>
            <a:r>
              <a:rPr sz="1250" b="1">
                <a:solidFill>
                  <a:srgbClr val="854F0B"/>
                </a:solidFill>
              </a:rPr>
              <a:t>Step 4.  </a:t>
            </a:r>
            <a:r>
              <a:rPr sz="1250">
                <a:solidFill>
                  <a:srgbClr val="1A1A1A"/>
                </a:solidFill>
              </a:rPr>
              <a:t>Re-run EXPLAIN — it should now show an index lookup instead of a scan.</a:t>
            </a:r>
          </a:p>
          <a:p>
            <a:pPr>
              <a:spcAft>
                <a:spcPts val="400"/>
              </a:spcAft>
            </a:pPr>
            <a:r>
              <a:rPr sz="1250" b="1">
                <a:solidFill>
                  <a:srgbClr val="854F0B"/>
                </a:solidFill>
              </a:rPr>
              <a:t>Step 5.  </a:t>
            </a:r>
            <a:r>
              <a:rPr sz="1250">
                <a:solidFill>
                  <a:srgbClr val="1A1A1A"/>
                </a:solidFill>
              </a:rPr>
              <a:t>Don't over-do it: add indexes only for the columns actually filtered/joined (roll, course_id), not every column.</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EXPLAIN SELECT * FROM Enrollment WHERE roll=101;   -- shows a full scan
CREATE INDEX idx_enrollment_roll ON Enrollment(roll);   -- now a fast B-tree lookup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197 / 219</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S35 — Which Enrollment column to index?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which column of Enrollment would you index, and why?</a:t>
            </a:r>
          </a:p>
          <a:p>
            <a:pPr>
              <a:spcAft>
                <a:spcPts val="700"/>
              </a:spcAft>
            </a:pPr>
            <a:r>
              <a:rPr sz="1550">
                <a:solidFill>
                  <a:srgbClr val="1A1A1A"/>
                </a:solidFill>
              </a:rPr>
              <a:t>•  Consider how the table is queried (by roll? by course_id? by grade?).</a:t>
            </a:r>
          </a:p>
          <a:p>
            <a:pPr>
              <a:spcAft>
                <a:spcPts val="700"/>
              </a:spcAft>
            </a:pPr>
            <a:r>
              <a:rPr sz="1550">
                <a:solidFill>
                  <a:srgbClr val="1A1A1A"/>
                </a:solidFill>
              </a:rPr>
              <a:t>•  Share aloud (3 min); weigh the read benefit against the write cost.</a:t>
            </a:r>
          </a:p>
          <a:p>
            <a:pPr>
              <a:spcAft>
                <a:spcPts val="700"/>
              </a:spcAft>
            </a:pPr>
            <a:r>
              <a:rPr sz="1550">
                <a:solidFill>
                  <a:srgbClr val="1A1A1A"/>
                </a:solidFill>
              </a:rPr>
              <a:t>•  Close: index the columns you filter/join on most — not the ones you rarely query.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roll and course_id are the natural indexes (constant joins/filters); grade is rarely a filter and low-selectivity, so skip it. Reward read-frequency + selectivity reasoning and the write-cost caveat.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198 / 219</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trigger executes:</a:t>
            </a:r>
          </a:p>
          <a:p>
            <a:pPr lvl="1"/>
            <a:r>
              <a:rPr sz="1500" b="1">
                <a:solidFill>
                  <a:srgbClr val="0F6E56"/>
                </a:solidFill>
              </a:rPr>
              <a:t>a) when you CALL it   b) ✅ automatically on a data-modification event   c) on SELECT   d) never</a:t>
            </a:r>
          </a:p>
          <a:p>
            <a:pPr lvl="1">
              <a:spcBef>
                <a:spcPts val="600"/>
              </a:spcBef>
            </a:pPr>
            <a:r>
              <a:rPr sz="1500" i="1">
                <a:solidFill>
                  <a:srgbClr val="1A1A1A"/>
                </a:solidFill>
              </a:rPr>
              <a:t>     Why: INSERT/UPDATE/DELETE fires it; you never call a trigger.</a:t>
            </a:r>
          </a:p>
          <a:p>
            <a:pPr>
              <a:spcBef>
                <a:spcPts val="900"/>
              </a:spcBef>
            </a:pPr>
            <a:r>
              <a:rPr sz="1700" b="1">
                <a:solidFill>
                  <a:srgbClr val="0C2B4A"/>
                </a:solidFill>
              </a:rPr>
              <a:t>Q2.  Indexes generally make ___ faster but ___ slower:</a:t>
            </a:r>
          </a:p>
          <a:p>
            <a:pPr lvl="1"/>
            <a:r>
              <a:rPr sz="1500" b="1">
                <a:solidFill>
                  <a:srgbClr val="0F6E56"/>
                </a:solidFill>
              </a:rPr>
              <a:t>a) writes / reads   b) ✅ reads / writes   c) both faster   d) both slower</a:t>
            </a:r>
          </a:p>
          <a:p>
            <a:pPr lvl="1">
              <a:spcBef>
                <a:spcPts val="600"/>
              </a:spcBef>
            </a:pPr>
            <a:r>
              <a:rPr sz="1500" i="1">
                <a:solidFill>
                  <a:srgbClr val="1A1A1A"/>
                </a:solidFill>
              </a:rPr>
              <a:t>     Why: lookups speed up, but every write must maintain the index.</a:t>
            </a:r>
          </a:p>
          <a:p>
            <a:pPr>
              <a:spcBef>
                <a:spcPts val="900"/>
              </a:spcBef>
            </a:pPr>
            <a:r>
              <a:rPr sz="1700" b="1">
                <a:solidFill>
                  <a:srgbClr val="0C2B4A"/>
                </a:solidFill>
              </a:rPr>
              <a:t>Q3.  In an UPDATE trigger, the value BEFORE the change is:</a:t>
            </a:r>
          </a:p>
          <a:p>
            <a:pPr lvl="1"/>
            <a:r>
              <a:rPr sz="1500" b="1">
                <a:solidFill>
                  <a:srgbClr val="0F6E56"/>
                </a:solidFill>
              </a:rPr>
              <a:t>a) NEW   b) ✅ OLD   c) NULL   d) CURRENT</a:t>
            </a:r>
          </a:p>
          <a:p>
            <a:pPr lvl="1">
              <a:spcBef>
                <a:spcPts val="600"/>
              </a:spcBef>
            </a:pPr>
            <a:r>
              <a:rPr sz="1500" i="1">
                <a:solidFill>
                  <a:srgbClr val="1A1A1A"/>
                </a:solidFill>
              </a:rPr>
              <a:t>     Why: OLD holds pre-change values; NEW holds post-change values.</a:t>
            </a:r>
          </a:p>
          <a:p>
            <a:pPr lvl="1">
              <a:spcBef>
                <a:spcPts val="600"/>
              </a:spcBef>
            </a:pPr>
            <a:r>
              <a:rPr sz="1500" i="1">
                <a:solidFill>
                  <a:srgbClr val="1A1A1A"/>
                </a:solidFill>
              </a:rPr>
              <a:t>Discussion: which column in the Enrollment table would you index,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199 / 219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Triggers fire automatically on INSERT/UPDATE/DELETE (BEFORE/AFTER); OLD/NEW compare pre/post values.</a:t>
            </a:r>
          </a:p>
          <a:p>
            <a:pPr>
              <a:spcAft>
                <a:spcPts val="800"/>
              </a:spcAft>
            </a:pPr>
            <a:r>
              <a:rPr sz="1500">
                <a:solidFill>
                  <a:srgbClr val="1A1A1A"/>
                </a:solidFill>
              </a:rPr>
              <a:t>2.  Indexes (B-trees) turn full table scans into fast lookups for WHERE/JOIN/ORDER BY.</a:t>
            </a:r>
          </a:p>
          <a:p>
            <a:pPr>
              <a:spcAft>
                <a:spcPts val="800"/>
              </a:spcAft>
            </a:pPr>
            <a:r>
              <a:rPr sz="1500">
                <a:solidFill>
                  <a:srgbClr val="1A1A1A"/>
                </a:solidFill>
              </a:rPr>
              <a:t>3.  Indexes speed reads but slow writes and use storage — index selectively, not every column.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Audit triggers underpin fraud and compliance trails in fintech; correct indexing is the #1 reason a slow app page becomes fast. Both are everyday tools for real database performance and integrity work.</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S36 — pulling all 15 sessions together: recap + a live lab problem-set walkthrough.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200 / 219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36 · LECTURE HOUR 15 (OF 15) — CLOSES UNIT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SQL Recap + Lab Problem-Set Walkthrough</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Fifteen sessions, one language. Today we take a blank database and a stack of real questions, and answer every one — live.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201 / 219</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SQL Map (Synthesis)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All of SQL fits one map: DDL defines structure; DML queries and modifies data; views, joins, procedures, triggers, and indexes extend it. Within a query, clauses run in a fixed logical order.</a:t>
            </a:r>
          </a:p>
          <a:p>
            <a:pPr>
              <a:spcAft>
                <a:spcPts val="500"/>
              </a:spcAft>
            </a:pPr>
            <a:r>
              <a:rPr sz="1200" b="1">
                <a:solidFill>
                  <a:srgbClr val="185FA5"/>
                </a:solidFill>
              </a:rPr>
              <a:t>HOW IT WORKS</a:t>
            </a:r>
          </a:p>
          <a:p>
            <a:pPr>
              <a:spcAft>
                <a:spcPts val="600"/>
              </a:spcAft>
            </a:pPr>
            <a:r>
              <a:rPr sz="1400">
                <a:solidFill>
                  <a:srgbClr val="1A1A1A"/>
                </a:solidFill>
              </a:rPr>
              <a:t>•  DDL (define) → DML (query/modify) → views → joins → procedures/triggers/indexes.</a:t>
            </a:r>
          </a:p>
          <a:p>
            <a:pPr>
              <a:spcAft>
                <a:spcPts val="600"/>
              </a:spcAft>
            </a:pPr>
            <a:r>
              <a:rPr sz="1400">
                <a:solidFill>
                  <a:srgbClr val="1A1A1A"/>
                </a:solidFill>
              </a:rPr>
              <a:t>•  Clause execution order: FROM → WHERE → GROUP BY → HAVING → SELECT → ORDER BY.</a:t>
            </a:r>
          </a:p>
          <a:p>
            <a:pPr>
              <a:spcAft>
                <a:spcPts val="600"/>
              </a:spcAft>
            </a:pPr>
            <a:r>
              <a:rPr sz="1400">
                <a:solidFill>
                  <a:srgbClr val="1A1A1A"/>
                </a:solidFill>
              </a:rPr>
              <a:t>•  You WRITE SELECT first but the engine RUNS FROM first and SELECT almost last.</a:t>
            </a:r>
          </a:p>
          <a:p>
            <a:pPr>
              <a:spcAft>
                <a:spcPts val="600"/>
              </a:spcAft>
            </a:pPr>
            <a:r>
              <a:rPr sz="1400">
                <a:solidFill>
                  <a:srgbClr val="1A1A1A"/>
                </a:solidFill>
              </a:rPr>
              <a:t>•  Every concept in S22–S35 slots onto this single pipeline.</a:t>
            </a:r>
          </a:p>
        </p:txBody>
      </p:sp>
      <p:pic>
        <p:nvPicPr>
          <p:cNvPr id="6" name="Picture 5" descr="s36_pipeline.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Write order ≠ run order: FROM → WHERE → GROUP BY → HAVING → SELECT → ORDER BY.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202 / 219</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Unit-5 callback grid — concept → session → one-line recall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983181"/>
                <a:gridCol w="1731818"/>
                <a:gridCol w="5715000"/>
              </a:tblGrid>
              <a:tr h="294436">
                <a:tc>
                  <a:txBody>
                    <a:bodyPr wrap="square"/>
                    <a:lstStyle/>
                    <a:p>
                      <a:r>
                        <a:rPr sz="1000" b="1">
                          <a:solidFill>
                            <a:srgbClr val="FFFFFF"/>
                          </a:solidFill>
                        </a:rPr>
                        <a:t>Concept</a:t>
                      </a:r>
                    </a:p>
                  </a:txBody>
                  <a:tcPr anchor="ctr" marL="73152" marR="54864" marT="27432" marB="27432">
                    <a:solidFill>
                      <a:srgbClr val="0C2B4A"/>
                    </a:solidFill>
                  </a:tcPr>
                </a:tc>
                <a:tc>
                  <a:txBody>
                    <a:bodyPr wrap="square"/>
                    <a:lstStyle/>
                    <a:p>
                      <a:r>
                        <a:rPr sz="1000" b="1">
                          <a:solidFill>
                            <a:srgbClr val="FFFFFF"/>
                          </a:solidFill>
                        </a:rPr>
                        <a:t>Session</a:t>
                      </a:r>
                    </a:p>
                  </a:txBody>
                  <a:tcPr anchor="ctr" marL="73152" marR="54864" marT="27432" marB="27432">
                    <a:solidFill>
                      <a:srgbClr val="0C2B4A"/>
                    </a:solidFill>
                  </a:tcPr>
                </a:tc>
                <a:tc>
                  <a:txBody>
                    <a:bodyPr wrap="square"/>
                    <a:lstStyle/>
                    <a:p>
                      <a:r>
                        <a:rPr sz="1000" b="1">
                          <a:solidFill>
                            <a:srgbClr val="FFFFFF"/>
                          </a:solidFill>
                        </a:rPr>
                        <a:t>One-line recall</a:t>
                      </a:r>
                    </a:p>
                  </a:txBody>
                  <a:tcPr anchor="ctr" marL="73152" marR="54864" marT="27432" marB="27432">
                    <a:solidFill>
                      <a:srgbClr val="0C2B4A"/>
                    </a:solidFill>
                  </a:tcPr>
                </a:tc>
              </a:tr>
              <a:tr h="294436">
                <a:tc>
                  <a:txBody>
                    <a:bodyPr wrap="square"/>
                    <a:lstStyle/>
                    <a:p>
                      <a:r>
                        <a:rPr sz="950" b="1">
                          <a:solidFill>
                            <a:srgbClr val="0C2B4A"/>
                          </a:solidFill>
                        </a:rPr>
                        <a:t>DDL &amp; constraints</a:t>
                      </a:r>
                    </a:p>
                  </a:txBody>
                  <a:tcPr anchor="ctr" marL="73152" marR="54864" marT="27432" marB="27432">
                    <a:solidFill>
                      <a:srgbClr val="FFFFFF"/>
                    </a:solidFill>
                  </a:tcPr>
                </a:tc>
                <a:tc>
                  <a:txBody>
                    <a:bodyPr wrap="square"/>
                    <a:lstStyle/>
                    <a:p>
                      <a:r>
                        <a:rPr sz="950">
                          <a:solidFill>
                            <a:srgbClr val="1A1A1A"/>
                          </a:solidFill>
                        </a:rPr>
                        <a:t>S22</a:t>
                      </a:r>
                    </a:p>
                  </a:txBody>
                  <a:tcPr anchor="ctr" marL="73152" marR="54864" marT="27432" marB="27432">
                    <a:solidFill>
                      <a:srgbClr val="FFFFFF"/>
                    </a:solidFill>
                  </a:tcPr>
                </a:tc>
                <a:tc>
                  <a:txBody>
                    <a:bodyPr wrap="square"/>
                    <a:lstStyle/>
                    <a:p>
                      <a:r>
                        <a:rPr sz="950">
                          <a:solidFill>
                            <a:srgbClr val="1A1A1A"/>
                          </a:solidFill>
                        </a:rPr>
                        <a:t>CREATE/ALTER/DROP; PK=UNIQUE+NOT NULL; DECIMAL for money</a:t>
                      </a:r>
                    </a:p>
                  </a:txBody>
                  <a:tcPr anchor="ctr" marL="73152" marR="54864" marT="27432" marB="27432">
                    <a:solidFill>
                      <a:srgbClr val="FFFFFF"/>
                    </a:solidFill>
                  </a:tcPr>
                </a:tc>
              </a:tr>
              <a:tr h="294436">
                <a:tc>
                  <a:txBody>
                    <a:bodyPr wrap="square"/>
                    <a:lstStyle/>
                    <a:p>
                      <a:r>
                        <a:rPr sz="950" b="1">
                          <a:solidFill>
                            <a:srgbClr val="0C2B4A"/>
                          </a:solidFill>
                        </a:rPr>
                        <a:t>SELECT/FROM/WHERE</a:t>
                      </a:r>
                    </a:p>
                  </a:txBody>
                  <a:tcPr anchor="ctr" marL="73152" marR="54864" marT="27432" marB="27432">
                    <a:solidFill>
                      <a:srgbClr val="EEF3F8"/>
                    </a:solidFill>
                  </a:tcPr>
                </a:tc>
                <a:tc>
                  <a:txBody>
                    <a:bodyPr wrap="square"/>
                    <a:lstStyle/>
                    <a:p>
                      <a:r>
                        <a:rPr sz="950">
                          <a:solidFill>
                            <a:srgbClr val="1A1A1A"/>
                          </a:solidFill>
                        </a:rPr>
                        <a:t>S23</a:t>
                      </a:r>
                    </a:p>
                  </a:txBody>
                  <a:tcPr anchor="ctr" marL="73152" marR="54864" marT="27432" marB="27432">
                    <a:solidFill>
                      <a:srgbClr val="EEF3F8"/>
                    </a:solidFill>
                  </a:tcPr>
                </a:tc>
                <a:tc>
                  <a:txBody>
                    <a:bodyPr wrap="square"/>
                    <a:lstStyle/>
                    <a:p>
                      <a:r>
                        <a:rPr sz="950">
                          <a:solidFill>
                            <a:srgbClr val="1A1A1A"/>
                          </a:solidFill>
                        </a:rPr>
                        <a:t>SELECT=columns, WHERE=rows; no condition = cross product</a:t>
                      </a:r>
                    </a:p>
                  </a:txBody>
                  <a:tcPr anchor="ctr" marL="73152" marR="54864" marT="27432" marB="27432">
                    <a:solidFill>
                      <a:srgbClr val="EEF3F8"/>
                    </a:solidFill>
                  </a:tcPr>
                </a:tc>
              </a:tr>
              <a:tr h="294436">
                <a:tc>
                  <a:txBody>
                    <a:bodyPr wrap="square"/>
                    <a:lstStyle/>
                    <a:p>
                      <a:r>
                        <a:rPr sz="950" b="1">
                          <a:solidFill>
                            <a:srgbClr val="0C2B4A"/>
                          </a:solidFill>
                        </a:rPr>
                        <a:t>rename / aliases / strings</a:t>
                      </a:r>
                    </a:p>
                  </a:txBody>
                  <a:tcPr anchor="ctr" marL="73152" marR="54864" marT="27432" marB="27432">
                    <a:solidFill>
                      <a:srgbClr val="FFFFFF"/>
                    </a:solidFill>
                  </a:tcPr>
                </a:tc>
                <a:tc>
                  <a:txBody>
                    <a:bodyPr wrap="square"/>
                    <a:lstStyle/>
                    <a:p>
                      <a:r>
                        <a:rPr sz="950">
                          <a:solidFill>
                            <a:srgbClr val="1A1A1A"/>
                          </a:solidFill>
                        </a:rPr>
                        <a:t>S24</a:t>
                      </a:r>
                    </a:p>
                  </a:txBody>
                  <a:tcPr anchor="ctr" marL="73152" marR="54864" marT="27432" marB="27432">
                    <a:solidFill>
                      <a:srgbClr val="FFFFFF"/>
                    </a:solidFill>
                  </a:tcPr>
                </a:tc>
                <a:tc>
                  <a:txBody>
                    <a:bodyPr wrap="square"/>
                    <a:lstStyle/>
                    <a:p>
                      <a:r>
                        <a:rPr sz="950">
                          <a:solidFill>
                            <a:srgbClr val="1A1A1A"/>
                          </a:solidFill>
                        </a:rPr>
                        <a:t>AS; self-join needs s1,s2; LIKE % (any) _ (one)</a:t>
                      </a:r>
                    </a:p>
                  </a:txBody>
                  <a:tcPr anchor="ctr" marL="73152" marR="54864" marT="27432" marB="27432">
                    <a:solidFill>
                      <a:srgbClr val="FFFFFF"/>
                    </a:solidFill>
                  </a:tcPr>
                </a:tc>
              </a:tr>
              <a:tr h="294436">
                <a:tc>
                  <a:txBody>
                    <a:bodyPr wrap="square"/>
                    <a:lstStyle/>
                    <a:p>
                      <a:r>
                        <a:rPr sz="950" b="1">
                          <a:solidFill>
                            <a:srgbClr val="0C2B4A"/>
                          </a:solidFill>
                        </a:rPr>
                        <a:t>ORDER BY / DISTINCT / sets</a:t>
                      </a:r>
                    </a:p>
                  </a:txBody>
                  <a:tcPr anchor="ctr" marL="73152" marR="54864" marT="27432" marB="27432">
                    <a:solidFill>
                      <a:srgbClr val="EEF3F8"/>
                    </a:solidFill>
                  </a:tcPr>
                </a:tc>
                <a:tc>
                  <a:txBody>
                    <a:bodyPr wrap="square"/>
                    <a:lstStyle/>
                    <a:p>
                      <a:r>
                        <a:rPr sz="950">
                          <a:solidFill>
                            <a:srgbClr val="1A1A1A"/>
                          </a:solidFill>
                        </a:rPr>
                        <a:t>S25</a:t>
                      </a:r>
                    </a:p>
                  </a:txBody>
                  <a:tcPr anchor="ctr" marL="73152" marR="54864" marT="27432" marB="27432">
                    <a:solidFill>
                      <a:srgbClr val="EEF3F8"/>
                    </a:solidFill>
                  </a:tcPr>
                </a:tc>
                <a:tc>
                  <a:txBody>
                    <a:bodyPr wrap="square"/>
                    <a:lstStyle/>
                    <a:p>
                      <a:r>
                        <a:rPr sz="950">
                          <a:solidFill>
                            <a:srgbClr val="1A1A1A"/>
                          </a:solidFill>
                        </a:rPr>
                        <a:t>sort; de-dup; UNION removes dups, UNION ALL keeps</a:t>
                      </a:r>
                    </a:p>
                  </a:txBody>
                  <a:tcPr anchor="ctr" marL="73152" marR="54864" marT="27432" marB="27432">
                    <a:solidFill>
                      <a:srgbClr val="EEF3F8"/>
                    </a:solidFill>
                  </a:tcPr>
                </a:tc>
              </a:tr>
              <a:tr h="294436">
                <a:tc>
                  <a:txBody>
                    <a:bodyPr wrap="square"/>
                    <a:lstStyle/>
                    <a:p>
                      <a:r>
                        <a:rPr sz="950" b="1">
                          <a:solidFill>
                            <a:srgbClr val="0C2B4A"/>
                          </a:solidFill>
                        </a:rPr>
                        <a:t>aggregates / GROUP BY / HAVING</a:t>
                      </a:r>
                    </a:p>
                  </a:txBody>
                  <a:tcPr anchor="ctr" marL="73152" marR="54864" marT="27432" marB="27432">
                    <a:solidFill>
                      <a:srgbClr val="FFFFFF"/>
                    </a:solidFill>
                  </a:tcPr>
                </a:tc>
                <a:tc>
                  <a:txBody>
                    <a:bodyPr wrap="square"/>
                    <a:lstStyle/>
                    <a:p>
                      <a:r>
                        <a:rPr sz="950">
                          <a:solidFill>
                            <a:srgbClr val="1A1A1A"/>
                          </a:solidFill>
                        </a:rPr>
                        <a:t>S26</a:t>
                      </a:r>
                    </a:p>
                  </a:txBody>
                  <a:tcPr anchor="ctr" marL="73152" marR="54864" marT="27432" marB="27432">
                    <a:solidFill>
                      <a:srgbClr val="FFFFFF"/>
                    </a:solidFill>
                  </a:tcPr>
                </a:tc>
                <a:tc>
                  <a:txBody>
                    <a:bodyPr wrap="square"/>
                    <a:lstStyle/>
                    <a:p>
                      <a:r>
                        <a:rPr sz="950">
                          <a:solidFill>
                            <a:srgbClr val="1A1A1A"/>
                          </a:solidFill>
                        </a:rPr>
                        <a:t>summaries; WHERE before, HAVING after grouping</a:t>
                      </a:r>
                    </a:p>
                  </a:txBody>
                  <a:tcPr anchor="ctr" marL="73152" marR="54864" marT="27432" marB="27432">
                    <a:solidFill>
                      <a:srgbClr val="FFFFFF"/>
                    </a:solidFill>
                  </a:tcPr>
                </a:tc>
              </a:tr>
              <a:tr h="294436">
                <a:tc>
                  <a:txBody>
                    <a:bodyPr wrap="square"/>
                    <a:lstStyle/>
                    <a:p>
                      <a:r>
                        <a:rPr sz="950" b="1">
                          <a:solidFill>
                            <a:srgbClr val="0C2B4A"/>
                          </a:solidFill>
                        </a:rPr>
                        <a:t>NULL &amp; 3-valued logic</a:t>
                      </a:r>
                    </a:p>
                  </a:txBody>
                  <a:tcPr anchor="ctr" marL="73152" marR="54864" marT="27432" marB="27432">
                    <a:solidFill>
                      <a:srgbClr val="EEF3F8"/>
                    </a:solidFill>
                  </a:tcPr>
                </a:tc>
                <a:tc>
                  <a:txBody>
                    <a:bodyPr wrap="square"/>
                    <a:lstStyle/>
                    <a:p>
                      <a:r>
                        <a:rPr sz="950">
                          <a:solidFill>
                            <a:srgbClr val="1A1A1A"/>
                          </a:solidFill>
                        </a:rPr>
                        <a:t>S27</a:t>
                      </a:r>
                    </a:p>
                  </a:txBody>
                  <a:tcPr anchor="ctr" marL="73152" marR="54864" marT="27432" marB="27432">
                    <a:solidFill>
                      <a:srgbClr val="EEF3F8"/>
                    </a:solidFill>
                  </a:tcPr>
                </a:tc>
                <a:tc>
                  <a:txBody>
                    <a:bodyPr wrap="square"/>
                    <a:lstStyle/>
                    <a:p>
                      <a:r>
                        <a:rPr sz="950">
                          <a:solidFill>
                            <a:srgbClr val="1A1A1A"/>
                          </a:solidFill>
                        </a:rPr>
                        <a:t>IS NULL not = NULL; aggregates skip NULLs</a:t>
                      </a:r>
                    </a:p>
                  </a:txBody>
                  <a:tcPr anchor="ctr" marL="73152" marR="54864" marT="27432" marB="27432">
                    <a:solidFill>
                      <a:srgbClr val="EEF3F8"/>
                    </a:solidFill>
                  </a:tcPr>
                </a:tc>
              </a:tr>
              <a:tr h="294436">
                <a:tc>
                  <a:txBody>
                    <a:bodyPr wrap="square"/>
                    <a:lstStyle/>
                    <a:p>
                      <a:r>
                        <a:rPr sz="950" b="1">
                          <a:solidFill>
                            <a:srgbClr val="0C2B4A"/>
                          </a:solidFill>
                        </a:rPr>
                        <a:t>subqueries IN/SOME/ALL</a:t>
                      </a:r>
                    </a:p>
                  </a:txBody>
                  <a:tcPr anchor="ctr" marL="73152" marR="54864" marT="27432" marB="27432">
                    <a:solidFill>
                      <a:srgbClr val="FFFFFF"/>
                    </a:solidFill>
                  </a:tcPr>
                </a:tc>
                <a:tc>
                  <a:txBody>
                    <a:bodyPr wrap="square"/>
                    <a:lstStyle/>
                    <a:p>
                      <a:r>
                        <a:rPr sz="950">
                          <a:solidFill>
                            <a:srgbClr val="1A1A1A"/>
                          </a:solidFill>
                        </a:rPr>
                        <a:t>S28</a:t>
                      </a:r>
                    </a:p>
                  </a:txBody>
                  <a:tcPr anchor="ctr" marL="73152" marR="54864" marT="27432" marB="27432">
                    <a:solidFill>
                      <a:srgbClr val="FFFFFF"/>
                    </a:solidFill>
                  </a:tcPr>
                </a:tc>
                <a:tc>
                  <a:txBody>
                    <a:bodyPr wrap="square"/>
                    <a:lstStyle/>
                    <a:p>
                      <a:r>
                        <a:rPr sz="950">
                          <a:solidFill>
                            <a:srgbClr val="1A1A1A"/>
                          </a:solidFill>
                        </a:rPr>
                        <a:t>IN=member; &gt;SOME=&gt;MIN; &gt;ALL=&gt;MAX</a:t>
                      </a:r>
                    </a:p>
                  </a:txBody>
                  <a:tcPr anchor="ctr" marL="73152" marR="54864" marT="27432" marB="27432">
                    <a:solidFill>
                      <a:srgbClr val="FFFFFF"/>
                    </a:solidFill>
                  </a:tcPr>
                </a:tc>
              </a:tr>
              <a:tr h="294436">
                <a:tc>
                  <a:txBody>
                    <a:bodyPr wrap="square"/>
                    <a:lstStyle/>
                    <a:p>
                      <a:r>
                        <a:rPr sz="950" b="1">
                          <a:solidFill>
                            <a:srgbClr val="0C2B4A"/>
                          </a:solidFill>
                        </a:rPr>
                        <a:t>EXISTS / UNIQUE</a:t>
                      </a:r>
                    </a:p>
                  </a:txBody>
                  <a:tcPr anchor="ctr" marL="73152" marR="54864" marT="27432" marB="27432">
                    <a:solidFill>
                      <a:srgbClr val="EEF3F8"/>
                    </a:solidFill>
                  </a:tcPr>
                </a:tc>
                <a:tc>
                  <a:txBody>
                    <a:bodyPr wrap="square"/>
                    <a:lstStyle/>
                    <a:p>
                      <a:r>
                        <a:rPr sz="950">
                          <a:solidFill>
                            <a:srgbClr val="1A1A1A"/>
                          </a:solidFill>
                        </a:rPr>
                        <a:t>S29</a:t>
                      </a:r>
                    </a:p>
                  </a:txBody>
                  <a:tcPr anchor="ctr" marL="73152" marR="54864" marT="27432" marB="27432">
                    <a:solidFill>
                      <a:srgbClr val="EEF3F8"/>
                    </a:solidFill>
                  </a:tcPr>
                </a:tc>
                <a:tc>
                  <a:txBody>
                    <a:bodyPr wrap="square"/>
                    <a:lstStyle/>
                    <a:p>
                      <a:r>
                        <a:rPr sz="950">
                          <a:solidFill>
                            <a:srgbClr val="1A1A1A"/>
                          </a:solidFill>
                        </a:rPr>
                        <a:t>EXISTS=any row; NOT EXISTS='none'/'for all'</a:t>
                      </a:r>
                    </a:p>
                  </a:txBody>
                  <a:tcPr anchor="ctr" marL="73152" marR="54864" marT="27432" marB="27432">
                    <a:solidFill>
                      <a:srgbClr val="EEF3F8"/>
                    </a:solidFill>
                  </a:tcPr>
                </a:tc>
              </a:tr>
              <a:tr h="294436">
                <a:tc>
                  <a:txBody>
                    <a:bodyPr wrap="square"/>
                    <a:lstStyle/>
                    <a:p>
                      <a:r>
                        <a:rPr sz="950" b="1">
                          <a:solidFill>
                            <a:srgbClr val="0C2B4A"/>
                          </a:solidFill>
                        </a:rPr>
                        <a:t>derived relations / views</a:t>
                      </a:r>
                    </a:p>
                  </a:txBody>
                  <a:tcPr anchor="ctr" marL="73152" marR="54864" marT="27432" marB="27432">
                    <a:solidFill>
                      <a:srgbClr val="FFFFFF"/>
                    </a:solidFill>
                  </a:tcPr>
                </a:tc>
                <a:tc>
                  <a:txBody>
                    <a:bodyPr wrap="square"/>
                    <a:lstStyle/>
                    <a:p>
                      <a:r>
                        <a:rPr sz="950">
                          <a:solidFill>
                            <a:srgbClr val="1A1A1A"/>
                          </a:solidFill>
                        </a:rPr>
                        <a:t>S30</a:t>
                      </a:r>
                    </a:p>
                  </a:txBody>
                  <a:tcPr anchor="ctr" marL="73152" marR="54864" marT="27432" marB="27432">
                    <a:solidFill>
                      <a:srgbClr val="FFFFFF"/>
                    </a:solidFill>
                  </a:tcPr>
                </a:tc>
                <a:tc>
                  <a:txBody>
                    <a:bodyPr wrap="square"/>
                    <a:lstStyle/>
                    <a:p>
                      <a:r>
                        <a:rPr sz="950">
                          <a:solidFill>
                            <a:srgbClr val="1A1A1A"/>
                          </a:solidFill>
                        </a:rPr>
                        <a:t>subquery in FROM; view=saved query, no data</a:t>
                      </a:r>
                    </a:p>
                  </a:txBody>
                  <a:tcPr anchor="ctr" marL="73152" marR="54864" marT="27432" marB="27432">
                    <a:solidFill>
                      <a:srgbClr val="FFFFFF"/>
                    </a:solidFill>
                  </a:tcPr>
                </a:tc>
              </a:tr>
              <a:tr h="294436">
                <a:tc>
                  <a:txBody>
                    <a:bodyPr wrap="square"/>
                    <a:lstStyle/>
                    <a:p>
                      <a:r>
                        <a:rPr sz="950" b="1">
                          <a:solidFill>
                            <a:srgbClr val="0C2B4A"/>
                          </a:solidFill>
                        </a:rPr>
                        <a:t>INSERT/UPDATE/DELETE</a:t>
                      </a:r>
                    </a:p>
                  </a:txBody>
                  <a:tcPr anchor="ctr" marL="73152" marR="54864" marT="27432" marB="27432">
                    <a:solidFill>
                      <a:srgbClr val="EEF3F8"/>
                    </a:solidFill>
                  </a:tcPr>
                </a:tc>
                <a:tc>
                  <a:txBody>
                    <a:bodyPr wrap="square"/>
                    <a:lstStyle/>
                    <a:p>
                      <a:r>
                        <a:rPr sz="950">
                          <a:solidFill>
                            <a:srgbClr val="1A1A1A"/>
                          </a:solidFill>
                        </a:rPr>
                        <a:t>S31</a:t>
                      </a:r>
                    </a:p>
                  </a:txBody>
                  <a:tcPr anchor="ctr" marL="73152" marR="54864" marT="27432" marB="27432">
                    <a:solidFill>
                      <a:srgbClr val="EEF3F8"/>
                    </a:solidFill>
                  </a:tcPr>
                </a:tc>
                <a:tc>
                  <a:txBody>
                    <a:bodyPr wrap="square"/>
                    <a:lstStyle/>
                    <a:p>
                      <a:r>
                        <a:rPr sz="950">
                          <a:solidFill>
                            <a:srgbClr val="1A1A1A"/>
                          </a:solidFill>
                        </a:rPr>
                        <a:t>missing WHERE = whole table; SELECT-first</a:t>
                      </a:r>
                    </a:p>
                  </a:txBody>
                  <a:tcPr anchor="ctr" marL="73152" marR="54864" marT="27432" marB="27432">
                    <a:solidFill>
                      <a:srgbClr val="EEF3F8"/>
                    </a:solidFill>
                  </a:tcPr>
                </a:tc>
              </a:tr>
              <a:tr h="294436">
                <a:tc>
                  <a:txBody>
                    <a:bodyPr wrap="square"/>
                    <a:lstStyle/>
                    <a:p>
                      <a:r>
                        <a:rPr sz="950" b="1">
                          <a:solidFill>
                            <a:srgbClr val="0C2B4A"/>
                          </a:solidFill>
                        </a:rPr>
                        <a:t>view updatability</a:t>
                      </a:r>
                    </a:p>
                  </a:txBody>
                  <a:tcPr anchor="ctr" marL="73152" marR="54864" marT="27432" marB="27432">
                    <a:solidFill>
                      <a:srgbClr val="FFFFFF"/>
                    </a:solidFill>
                  </a:tcPr>
                </a:tc>
                <a:tc>
                  <a:txBody>
                    <a:bodyPr wrap="square"/>
                    <a:lstStyle/>
                    <a:p>
                      <a:r>
                        <a:rPr sz="950">
                          <a:solidFill>
                            <a:srgbClr val="1A1A1A"/>
                          </a:solidFill>
                        </a:rPr>
                        <a:t>S32</a:t>
                      </a:r>
                    </a:p>
                  </a:txBody>
                  <a:tcPr anchor="ctr" marL="73152" marR="54864" marT="27432" marB="27432">
                    <a:solidFill>
                      <a:srgbClr val="FFFFFF"/>
                    </a:solidFill>
                  </a:tcPr>
                </a:tc>
                <a:tc>
                  <a:txBody>
                    <a:bodyPr wrap="square"/>
                    <a:lstStyle/>
                    <a:p>
                      <a:r>
                        <a:rPr sz="950">
                          <a:solidFill>
                            <a:srgbClr val="1A1A1A"/>
                          </a:solidFill>
                        </a:rPr>
                        <a:t>single table, no aggregate/join; WITH CHECK OPTION</a:t>
                      </a:r>
                    </a:p>
                  </a:txBody>
                  <a:tcPr anchor="ctr" marL="73152" marR="54864" marT="27432" marB="27432">
                    <a:solidFill>
                      <a:srgbClr val="FFFFFF"/>
                    </a:solidFill>
                  </a:tcPr>
                </a:tc>
              </a:tr>
              <a:tr h="294436">
                <a:tc>
                  <a:txBody>
                    <a:bodyPr wrap="square"/>
                    <a:lstStyle/>
                    <a:p>
                      <a:r>
                        <a:rPr sz="950" b="1">
                          <a:solidFill>
                            <a:srgbClr val="0C2B4A"/>
                          </a:solidFill>
                        </a:rPr>
                        <a:t>joins</a:t>
                      </a:r>
                    </a:p>
                  </a:txBody>
                  <a:tcPr anchor="ctr" marL="73152" marR="54864" marT="27432" marB="27432">
                    <a:solidFill>
                      <a:srgbClr val="EEF3F8"/>
                    </a:solidFill>
                  </a:tcPr>
                </a:tc>
                <a:tc>
                  <a:txBody>
                    <a:bodyPr wrap="square"/>
                    <a:lstStyle/>
                    <a:p>
                      <a:r>
                        <a:rPr sz="950">
                          <a:solidFill>
                            <a:srgbClr val="1A1A1A"/>
                          </a:solidFill>
                        </a:rPr>
                        <a:t>S33</a:t>
                      </a:r>
                    </a:p>
                  </a:txBody>
                  <a:tcPr anchor="ctr" marL="73152" marR="54864" marT="27432" marB="27432">
                    <a:solidFill>
                      <a:srgbClr val="EEF3F8"/>
                    </a:solidFill>
                  </a:tcPr>
                </a:tc>
                <a:tc>
                  <a:txBody>
                    <a:bodyPr wrap="square"/>
                    <a:lstStyle/>
                    <a:p>
                      <a:r>
                        <a:rPr sz="950">
                          <a:solidFill>
                            <a:srgbClr val="1A1A1A"/>
                          </a:solidFill>
                        </a:rPr>
                        <a:t>INNER=both; LEFT keeps unmatched; prefer ON</a:t>
                      </a:r>
                    </a:p>
                  </a:txBody>
                  <a:tcPr anchor="ctr" marL="73152" marR="54864" marT="27432" marB="27432">
                    <a:solidFill>
                      <a:srgbClr val="EEF3F8"/>
                    </a:solidFill>
                  </a:tcPr>
                </a:tc>
              </a:tr>
              <a:tr h="294436">
                <a:tc>
                  <a:txBody>
                    <a:bodyPr wrap="square"/>
                    <a:lstStyle/>
                    <a:p>
                      <a:r>
                        <a:rPr sz="950" b="1">
                          <a:solidFill>
                            <a:srgbClr val="0C2B4A"/>
                          </a:solidFill>
                        </a:rPr>
                        <a:t>stored procedures</a:t>
                      </a:r>
                    </a:p>
                  </a:txBody>
                  <a:tcPr anchor="ctr" marL="73152" marR="54864" marT="27432" marB="27432">
                    <a:solidFill>
                      <a:srgbClr val="FFFFFF"/>
                    </a:solidFill>
                  </a:tcPr>
                </a:tc>
                <a:tc>
                  <a:txBody>
                    <a:bodyPr wrap="square"/>
                    <a:lstStyle/>
                    <a:p>
                      <a:r>
                        <a:rPr sz="950">
                          <a:solidFill>
                            <a:srgbClr val="1A1A1A"/>
                          </a:solidFill>
                        </a:rPr>
                        <a:t>S34</a:t>
                      </a:r>
                    </a:p>
                  </a:txBody>
                  <a:tcPr anchor="ctr" marL="73152" marR="54864" marT="27432" marB="27432">
                    <a:solidFill>
                      <a:srgbClr val="FFFFFF"/>
                    </a:solidFill>
                  </a:tcPr>
                </a:tc>
                <a:tc>
                  <a:txBody>
                    <a:bodyPr wrap="square"/>
                    <a:lstStyle/>
                    <a:p>
                      <a:r>
                        <a:rPr sz="950">
                          <a:solidFill>
                            <a:srgbClr val="1A1A1A"/>
                          </a:solidFill>
                        </a:rPr>
                        <a:t>CALL; logic + params; not a view</a:t>
                      </a:r>
                    </a:p>
                  </a:txBody>
                  <a:tcPr anchor="ctr" marL="73152" marR="54864" marT="27432" marB="27432">
                    <a:solidFill>
                      <a:srgbClr val="FFFFFF"/>
                    </a:solidFill>
                  </a:tcPr>
                </a:tc>
              </a:tr>
              <a:tr h="294448">
                <a:tc>
                  <a:txBody>
                    <a:bodyPr wrap="square"/>
                    <a:lstStyle/>
                    <a:p>
                      <a:r>
                        <a:rPr sz="950" b="1">
                          <a:solidFill>
                            <a:srgbClr val="0C2B4A"/>
                          </a:solidFill>
                        </a:rPr>
                        <a:t>triggers / indexes</a:t>
                      </a:r>
                    </a:p>
                  </a:txBody>
                  <a:tcPr anchor="ctr" marL="73152" marR="54864" marT="27432" marB="27432">
                    <a:solidFill>
                      <a:srgbClr val="EEF3F8"/>
                    </a:solidFill>
                  </a:tcPr>
                </a:tc>
                <a:tc>
                  <a:txBody>
                    <a:bodyPr wrap="square"/>
                    <a:lstStyle/>
                    <a:p>
                      <a:r>
                        <a:rPr sz="950">
                          <a:solidFill>
                            <a:srgbClr val="1A1A1A"/>
                          </a:solidFill>
                        </a:rPr>
                        <a:t>S35</a:t>
                      </a:r>
                    </a:p>
                  </a:txBody>
                  <a:tcPr anchor="ctr" marL="73152" marR="54864" marT="27432" marB="27432">
                    <a:solidFill>
                      <a:srgbClr val="EEF3F8"/>
                    </a:solidFill>
                  </a:tcPr>
                </a:tc>
                <a:tc>
                  <a:txBody>
                    <a:bodyPr wrap="square"/>
                    <a:lstStyle/>
                    <a:p>
                      <a:r>
                        <a:rPr sz="950">
                          <a:solidFill>
                            <a:srgbClr val="1A1A1A"/>
                          </a:solidFill>
                        </a:rPr>
                        <a:t>triggers auto-fire; index reads faster, writes slower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One-page map of the whole unit — each concept, its session, and the single line to remember. Use it to navigate revision and to see how the pieces connect on the query pipeline.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203 / 219</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SQL Map (Synthesis)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real backend query touches the whole map at once: a Daraz sales dashboard JOINs orders to customers (S33), filters with WHERE (S23), summarises with GROUP BY/HAVing (S26), handles NULLs (S27), reads from a VIEW (S30), and runs fast because of INDEXES (S35). One report, fifteen sessions.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"SQL clauses run in the order I type them." No — the engine runs FROM → WHERE → GROUP BY → HAVING → SELECT → ORDER BY. That's why you can't use a SELECT alias in WHERE, and why aggregate filters go in HAVING, not WHERE.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SQL is one coherent system: DDL builds structures, DML queries/modifies data, and views, joins, procedures, triggers, and indexes extend it. Within a query the logical execution order is FROM → WHERE → GROUP BY → HAVING → SELECT → ORDER BY — different from the written order — which explains alias scope and why aggregate conditions belong in HAVING.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SQL map · DDL/DML/views/joins/procedures/triggers/indexes · clause execution order · write vs run order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204 / 219</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S36 · LAB · EASY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Basic SELECT/WHERE and pattern matching</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(1) List name and program of all 4th-semester BIM students. (2) List students whose name starts with 'A'.</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(1) Filter on two columns with AND: program='BIM' AND semester=4.</a:t>
            </a:r>
          </a:p>
          <a:p>
            <a:pPr>
              <a:spcAft>
                <a:spcPts val="400"/>
              </a:spcAft>
            </a:pPr>
            <a:r>
              <a:rPr sz="1250" b="1">
                <a:solidFill>
                  <a:srgbClr val="854F0B"/>
                </a:solidFill>
              </a:rPr>
              <a:t>Step 2.  </a:t>
            </a:r>
            <a:r>
              <a:rPr sz="1250">
                <a:solidFill>
                  <a:srgbClr val="1A1A1A"/>
                </a:solidFill>
              </a:rPr>
              <a:t>(1) Project just the two requested columns: SELECT name, program.</a:t>
            </a:r>
          </a:p>
          <a:p>
            <a:pPr>
              <a:spcAft>
                <a:spcPts val="400"/>
              </a:spcAft>
            </a:pPr>
            <a:r>
              <a:rPr sz="1250" b="1">
                <a:solidFill>
                  <a:srgbClr val="854F0B"/>
                </a:solidFill>
              </a:rPr>
              <a:t>Step 3.  </a:t>
            </a:r>
            <a:r>
              <a:rPr sz="1250">
                <a:solidFill>
                  <a:srgbClr val="1A1A1A"/>
                </a:solidFill>
              </a:rPr>
              <a:t>(2) Use LIKE with the % wildcard for 'starts with A': name LIKE 'A%'.</a:t>
            </a:r>
          </a:p>
          <a:p>
            <a:pPr>
              <a:spcAft>
                <a:spcPts val="400"/>
              </a:spcAft>
            </a:pPr>
            <a:r>
              <a:rPr sz="1250" b="1">
                <a:solidFill>
                  <a:srgbClr val="854F0B"/>
                </a:solidFill>
              </a:rPr>
              <a:t>Step 4.  </a:t>
            </a:r>
            <a:r>
              <a:rPr sz="1250">
                <a:solidFill>
                  <a:srgbClr val="1A1A1A"/>
                </a:solidFill>
              </a:rPr>
              <a:t>(2) '%' matches any following characters; a leading 'A' fixes the first letter.</a:t>
            </a:r>
          </a:p>
          <a:p>
            <a:pPr>
              <a:spcAft>
                <a:spcPts val="400"/>
              </a:spcAft>
            </a:pPr>
            <a:r>
              <a:rPr sz="1250" b="1">
                <a:solidFill>
                  <a:srgbClr val="854F0B"/>
                </a:solidFill>
              </a:rPr>
              <a:t>Step 5.  </a:t>
            </a:r>
            <a:r>
              <a:rPr sz="1250">
                <a:solidFill>
                  <a:srgbClr val="1A1A1A"/>
                </a:solidFill>
              </a:rPr>
              <a:t>Test each against the seed data (Anjali matches; Sita/Hari do not).</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1) SELECT name, program FROM Student WHERE program='BIM' AND semester=4;
2) SELECT name FROM Student WHERE name LIKE 'A%';</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205 / 219</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S36 · LAB · MEDIUM</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Aggregation, top-N, and the 'missing' rows</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(3) Average marks per course, only courses with &gt;30 students. (4) Students with NO enrollment. (5) Top 3 students by marks.</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(3) GROUP BY course_id, then filter groups with HAVING COUNT(*)&gt;30 (not WHERE).</a:t>
            </a:r>
          </a:p>
          <a:p>
            <a:pPr>
              <a:spcAft>
                <a:spcPts val="400"/>
              </a:spcAft>
            </a:pPr>
            <a:r>
              <a:rPr sz="1250" b="1">
                <a:solidFill>
                  <a:srgbClr val="854F0B"/>
                </a:solidFill>
              </a:rPr>
              <a:t>Step 2.  </a:t>
            </a:r>
            <a:r>
              <a:rPr sz="1250">
                <a:solidFill>
                  <a:srgbClr val="1A1A1A"/>
                </a:solidFill>
              </a:rPr>
              <a:t>(4) 'No enrollment' = LEFT JOIN and keep NULL right side, or NOT EXISTS.</a:t>
            </a:r>
          </a:p>
          <a:p>
            <a:pPr>
              <a:spcAft>
                <a:spcPts val="400"/>
              </a:spcAft>
            </a:pPr>
            <a:r>
              <a:rPr sz="1250" b="1">
                <a:solidFill>
                  <a:srgbClr val="854F0B"/>
                </a:solidFill>
              </a:rPr>
              <a:t>Step 3.  </a:t>
            </a:r>
            <a:r>
              <a:rPr sz="1250">
                <a:solidFill>
                  <a:srgbClr val="1A1A1A"/>
                </a:solidFill>
              </a:rPr>
              <a:t>(4) LEFT JOIN Enrollment ... WHERE e.roll IS NULL isolates the unmatched students.</a:t>
            </a:r>
          </a:p>
          <a:p>
            <a:pPr>
              <a:spcAft>
                <a:spcPts val="400"/>
              </a:spcAft>
            </a:pPr>
            <a:r>
              <a:rPr sz="1250" b="1">
                <a:solidFill>
                  <a:srgbClr val="854F0B"/>
                </a:solidFill>
              </a:rPr>
              <a:t>Step 4.  </a:t>
            </a:r>
            <a:r>
              <a:rPr sz="1250">
                <a:solidFill>
                  <a:srgbClr val="1A1A1A"/>
                </a:solidFill>
              </a:rPr>
              <a:t>(5) ORDER BY marks DESC then LIMIT 3 for the top three.</a:t>
            </a:r>
          </a:p>
          <a:p>
            <a:pPr>
              <a:spcAft>
                <a:spcPts val="400"/>
              </a:spcAft>
            </a:pPr>
            <a:r>
              <a:rPr sz="1250" b="1">
                <a:solidFill>
                  <a:srgbClr val="854F0B"/>
                </a:solidFill>
              </a:rPr>
              <a:t>Step 5.  </a:t>
            </a:r>
            <a:r>
              <a:rPr sz="1250">
                <a:solidFill>
                  <a:srgbClr val="1A1A1A"/>
                </a:solidFill>
              </a:rPr>
              <a:t>Note (3) uses HAVING (aggregate filter); (4) uses the S33/S29 'missing rows' pattern.</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3) SELECT course_id, AVG(marks) FROM Enrollment GROUP BY course_id HAVING COUNT(*)&gt;30;
4) SELECT s.name FROM Student s LEFT JOIN Enrollment e ON s.roll=e.roll WHERE e.roll IS NULL;
5) SELECT s.name, e.marks FROM Student s JOIN Enrollment e ON s.roll=e.roll ORDER BY e.marks DESC LIMIT 3;</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206 / 219</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S36 · LAB · HARD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Subqueries, views, and 'for all'</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(6) Highest-paid instructor. (7) Create and query a MeritList view. (8) Students enrolled in EVERY IT course.</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(6) Highest-paid = salary equals the MAX salary (handles ties): WHERE salary=(SELECT MAX(salary) FROM Instructor).</a:t>
            </a:r>
          </a:p>
          <a:p>
            <a:pPr>
              <a:spcAft>
                <a:spcPts val="400"/>
              </a:spcAft>
            </a:pPr>
            <a:r>
              <a:rPr sz="1250" b="1">
                <a:solidFill>
                  <a:srgbClr val="854F0B"/>
                </a:solidFill>
              </a:rPr>
              <a:t>Step 2.  </a:t>
            </a:r>
            <a:r>
              <a:rPr sz="1250">
                <a:solidFill>
                  <a:srgbClr val="1A1A1A"/>
                </a:solidFill>
              </a:rPr>
              <a:t>(7) Save the join as a view: CREATE VIEW MeritList AS SELECT roll,name,marks FROM Student JOIN Enrollment USING(roll); then SELECT * FROM MeritList ORDER BY marks DESC.</a:t>
            </a:r>
          </a:p>
          <a:p>
            <a:pPr>
              <a:spcAft>
                <a:spcPts val="400"/>
              </a:spcAft>
            </a:pPr>
            <a:r>
              <a:rPr sz="1250" b="1">
                <a:solidFill>
                  <a:srgbClr val="854F0B"/>
                </a:solidFill>
              </a:rPr>
              <a:t>Step 3.  </a:t>
            </a:r>
            <a:r>
              <a:rPr sz="1250">
                <a:solidFill>
                  <a:srgbClr val="1A1A1A"/>
                </a:solidFill>
              </a:rPr>
              <a:t>(8) 'Every IT course' = there is NO IT course the student is NOT enrolled in (double NOT EXISTS).</a:t>
            </a:r>
          </a:p>
          <a:p>
            <a:pPr>
              <a:spcAft>
                <a:spcPts val="400"/>
              </a:spcAft>
            </a:pPr>
            <a:r>
              <a:rPr sz="1250" b="1">
                <a:solidFill>
                  <a:srgbClr val="854F0B"/>
                </a:solidFill>
              </a:rPr>
              <a:t>Step 4.  </a:t>
            </a:r>
            <a:r>
              <a:rPr sz="1250">
                <a:solidFill>
                  <a:srgbClr val="1A1A1A"/>
                </a:solidFill>
              </a:rPr>
              <a:t>(8) Outer: student s. Inner-1: IT courses c. Inner-2: NOT EXISTS enrollment of s in c.</a:t>
            </a:r>
          </a:p>
          <a:p>
            <a:pPr>
              <a:spcAft>
                <a:spcPts val="400"/>
              </a:spcAft>
            </a:pPr>
            <a:r>
              <a:rPr sz="1250" b="1">
                <a:solidFill>
                  <a:srgbClr val="854F0B"/>
                </a:solidFill>
              </a:rPr>
              <a:t>Step 5.  </a:t>
            </a:r>
            <a:r>
              <a:rPr sz="1250">
                <a:solidFill>
                  <a:srgbClr val="1A1A1A"/>
                </a:solidFill>
              </a:rPr>
              <a:t>Recognise (8) as relational division — the S29 double-negation pattern.</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6) SELECT name FROM Instructor WHERE salary=(SELECT MAX(salary) FROM Instructor);
8) SELECT s.name FROM Student s WHERE NOT EXISTS (SELECT 1 FROM Course c WHERE c.dept='IT' AND NOT EXISTS (SELECT 1 FROM Enrollment e WHERE e.roll=s.roll AND e.course_id=c.course_id));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207 / 219</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Common-mistakes review — the classic Unit-5 bugs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414155"/>
                <a:gridCol w="3562597"/>
                <a:gridCol w="3265714"/>
                <a:gridCol w="1187532"/>
              </a:tblGrid>
              <a:tr h="552069">
                <a:tc>
                  <a:txBody>
                    <a:bodyPr wrap="square"/>
                    <a:lstStyle/>
                    <a:p>
                      <a:r>
                        <a:rPr sz="1050" b="1">
                          <a:solidFill>
                            <a:srgbClr val="FFFFFF"/>
                          </a:solidFill>
                        </a:rPr>
                        <a:t>Mistake</a:t>
                      </a:r>
                    </a:p>
                  </a:txBody>
                  <a:tcPr anchor="ctr" marL="73152" marR="54864" marT="27432" marB="27432">
                    <a:solidFill>
                      <a:srgbClr val="0C2B4A"/>
                    </a:solidFill>
                  </a:tcPr>
                </a:tc>
                <a:tc>
                  <a:txBody>
                    <a:bodyPr wrap="square"/>
                    <a:lstStyle/>
                    <a:p>
                      <a:r>
                        <a:rPr sz="1050" b="1">
                          <a:solidFill>
                            <a:srgbClr val="FFFFFF"/>
                          </a:solidFill>
                        </a:rPr>
                        <a:t>Why it's wrong</a:t>
                      </a:r>
                    </a:p>
                  </a:txBody>
                  <a:tcPr anchor="ctr" marL="73152" marR="54864" marT="27432" marB="27432">
                    <a:solidFill>
                      <a:srgbClr val="0C2B4A"/>
                    </a:solidFill>
                  </a:tcPr>
                </a:tc>
                <a:tc>
                  <a:txBody>
                    <a:bodyPr wrap="square"/>
                    <a:lstStyle/>
                    <a:p>
                      <a:r>
                        <a:rPr sz="1050" b="1">
                          <a:solidFill>
                            <a:srgbClr val="FFFFFF"/>
                          </a:solidFill>
                        </a:rPr>
                        <a:t>The fix</a:t>
                      </a:r>
                    </a:p>
                  </a:txBody>
                  <a:tcPr anchor="ctr" marL="73152" marR="54864" marT="27432" marB="27432">
                    <a:solidFill>
                      <a:srgbClr val="0C2B4A"/>
                    </a:solidFill>
                  </a:tcPr>
                </a:tc>
                <a:tc>
                  <a:txBody>
                    <a:bodyPr wrap="square"/>
                    <a:lstStyle/>
                    <a:p>
                      <a:r>
                        <a:rPr sz="1050" b="1">
                          <a:solidFill>
                            <a:srgbClr val="FFFFFF"/>
                          </a:solidFill>
                        </a:rPr>
                        <a:t>Session</a:t>
                      </a:r>
                    </a:p>
                  </a:txBody>
                  <a:tcPr anchor="ctr" marL="73152" marR="54864" marT="27432" marB="27432">
                    <a:solidFill>
                      <a:srgbClr val="0C2B4A"/>
                    </a:solidFill>
                  </a:tcPr>
                </a:tc>
              </a:tr>
              <a:tr h="552069">
                <a:tc>
                  <a:txBody>
                    <a:bodyPr wrap="square"/>
                    <a:lstStyle/>
                    <a:p>
                      <a:r>
                        <a:rPr sz="1000" b="1">
                          <a:solidFill>
                            <a:srgbClr val="0C2B4A"/>
                          </a:solidFill>
                        </a:rPr>
                        <a:t>WHERE grade = NULL</a:t>
                      </a:r>
                    </a:p>
                  </a:txBody>
                  <a:tcPr anchor="ctr" marL="73152" marR="54864" marT="27432" marB="27432">
                    <a:solidFill>
                      <a:srgbClr val="FFFFFF"/>
                    </a:solidFill>
                  </a:tcPr>
                </a:tc>
                <a:tc>
                  <a:txBody>
                    <a:bodyPr wrap="square"/>
                    <a:lstStyle/>
                    <a:p>
                      <a:r>
                        <a:rPr sz="1000">
                          <a:solidFill>
                            <a:srgbClr val="1A1A1A"/>
                          </a:solidFill>
                        </a:rPr>
                        <a:t>= NULL is always UNKNOWN → no rows</a:t>
                      </a:r>
                    </a:p>
                  </a:txBody>
                  <a:tcPr anchor="ctr" marL="73152" marR="54864" marT="27432" marB="27432">
                    <a:solidFill>
                      <a:srgbClr val="FFFFFF"/>
                    </a:solidFill>
                  </a:tcPr>
                </a:tc>
                <a:tc>
                  <a:txBody>
                    <a:bodyPr wrap="square"/>
                    <a:lstStyle/>
                    <a:p>
                      <a:r>
                        <a:rPr sz="1000">
                          <a:solidFill>
                            <a:srgbClr val="1A1A1A"/>
                          </a:solidFill>
                        </a:rPr>
                        <a:t>WHERE grade IS NULL</a:t>
                      </a:r>
                    </a:p>
                  </a:txBody>
                  <a:tcPr anchor="ctr" marL="73152" marR="54864" marT="27432" marB="27432">
                    <a:solidFill>
                      <a:srgbClr val="FFFFFF"/>
                    </a:solidFill>
                  </a:tcPr>
                </a:tc>
                <a:tc>
                  <a:txBody>
                    <a:bodyPr wrap="square"/>
                    <a:lstStyle/>
                    <a:p>
                      <a:r>
                        <a:rPr sz="1000">
                          <a:solidFill>
                            <a:srgbClr val="1A1A1A"/>
                          </a:solidFill>
                        </a:rPr>
                        <a:t>S27</a:t>
                      </a:r>
                    </a:p>
                  </a:txBody>
                  <a:tcPr anchor="ctr" marL="73152" marR="54864" marT="27432" marB="27432">
                    <a:solidFill>
                      <a:srgbClr val="FFFFFF"/>
                    </a:solidFill>
                  </a:tcPr>
                </a:tc>
              </a:tr>
              <a:tr h="552069">
                <a:tc>
                  <a:txBody>
                    <a:bodyPr wrap="square"/>
                    <a:lstStyle/>
                    <a:p>
                      <a:r>
                        <a:rPr sz="1000" b="1">
                          <a:solidFill>
                            <a:srgbClr val="0C2B4A"/>
                          </a:solidFill>
                        </a:rPr>
                        <a:t>UPDATE/DELETE with no WHERE</a:t>
                      </a:r>
                    </a:p>
                  </a:txBody>
                  <a:tcPr anchor="ctr" marL="73152" marR="54864" marT="27432" marB="27432">
                    <a:solidFill>
                      <a:srgbClr val="EEF3F8"/>
                    </a:solidFill>
                  </a:tcPr>
                </a:tc>
                <a:tc>
                  <a:txBody>
                    <a:bodyPr wrap="square"/>
                    <a:lstStyle/>
                    <a:p>
                      <a:r>
                        <a:rPr sz="1000">
                          <a:solidFill>
                            <a:srgbClr val="1A1A1A"/>
                          </a:solidFill>
                        </a:rPr>
                        <a:t>changes/wipes EVERY row</a:t>
                      </a:r>
                    </a:p>
                  </a:txBody>
                  <a:tcPr anchor="ctr" marL="73152" marR="54864" marT="27432" marB="27432">
                    <a:solidFill>
                      <a:srgbClr val="EEF3F8"/>
                    </a:solidFill>
                  </a:tcPr>
                </a:tc>
                <a:tc>
                  <a:txBody>
                    <a:bodyPr wrap="square"/>
                    <a:lstStyle/>
                    <a:p>
                      <a:r>
                        <a:rPr sz="1000">
                          <a:solidFill>
                            <a:srgbClr val="1A1A1A"/>
                          </a:solidFill>
                        </a:rPr>
                        <a:t>add WHERE; SELECT-first</a:t>
                      </a:r>
                    </a:p>
                  </a:txBody>
                  <a:tcPr anchor="ctr" marL="73152" marR="54864" marT="27432" marB="27432">
                    <a:solidFill>
                      <a:srgbClr val="EEF3F8"/>
                    </a:solidFill>
                  </a:tcPr>
                </a:tc>
                <a:tc>
                  <a:txBody>
                    <a:bodyPr wrap="square"/>
                    <a:lstStyle/>
                    <a:p>
                      <a:r>
                        <a:rPr sz="1000">
                          <a:solidFill>
                            <a:srgbClr val="1A1A1A"/>
                          </a:solidFill>
                        </a:rPr>
                        <a:t>S31</a:t>
                      </a:r>
                    </a:p>
                  </a:txBody>
                  <a:tcPr anchor="ctr" marL="73152" marR="54864" marT="27432" marB="27432">
                    <a:solidFill>
                      <a:srgbClr val="EEF3F8"/>
                    </a:solidFill>
                  </a:tcPr>
                </a:tc>
              </a:tr>
              <a:tr h="552069">
                <a:tc>
                  <a:txBody>
                    <a:bodyPr wrap="square"/>
                    <a:lstStyle/>
                    <a:p>
                      <a:r>
                        <a:rPr sz="1000" b="1">
                          <a:solidFill>
                            <a:srgbClr val="0C2B4A"/>
                          </a:solidFill>
                        </a:rPr>
                        <a:t>WHERE COUNT(*) &gt; 30</a:t>
                      </a:r>
                    </a:p>
                  </a:txBody>
                  <a:tcPr anchor="ctr" marL="73152" marR="54864" marT="27432" marB="27432">
                    <a:solidFill>
                      <a:srgbClr val="FFFFFF"/>
                    </a:solidFill>
                  </a:tcPr>
                </a:tc>
                <a:tc>
                  <a:txBody>
                    <a:bodyPr wrap="square"/>
                    <a:lstStyle/>
                    <a:p>
                      <a:r>
                        <a:rPr sz="1000">
                          <a:solidFill>
                            <a:srgbClr val="1A1A1A"/>
                          </a:solidFill>
                        </a:rPr>
                        <a:t>aggregates illegal in WHERE</a:t>
                      </a:r>
                    </a:p>
                  </a:txBody>
                  <a:tcPr anchor="ctr" marL="73152" marR="54864" marT="27432" marB="27432">
                    <a:solidFill>
                      <a:srgbClr val="FFFFFF"/>
                    </a:solidFill>
                  </a:tcPr>
                </a:tc>
                <a:tc>
                  <a:txBody>
                    <a:bodyPr wrap="square"/>
                    <a:lstStyle/>
                    <a:p>
                      <a:r>
                        <a:rPr sz="1000">
                          <a:solidFill>
                            <a:srgbClr val="1A1A1A"/>
                          </a:solidFill>
                        </a:rPr>
                        <a:t>use HAVING COUNT(*)&gt;30</a:t>
                      </a:r>
                    </a:p>
                  </a:txBody>
                  <a:tcPr anchor="ctr" marL="73152" marR="54864" marT="27432" marB="27432">
                    <a:solidFill>
                      <a:srgbClr val="FFFFFF"/>
                    </a:solidFill>
                  </a:tcPr>
                </a:tc>
                <a:tc>
                  <a:txBody>
                    <a:bodyPr wrap="square"/>
                    <a:lstStyle/>
                    <a:p>
                      <a:r>
                        <a:rPr sz="1000">
                          <a:solidFill>
                            <a:srgbClr val="1A1A1A"/>
                          </a:solidFill>
                        </a:rPr>
                        <a:t>S26</a:t>
                      </a:r>
                    </a:p>
                  </a:txBody>
                  <a:tcPr anchor="ctr" marL="73152" marR="54864" marT="27432" marB="27432">
                    <a:solidFill>
                      <a:srgbClr val="FFFFFF"/>
                    </a:solidFill>
                  </a:tcPr>
                </a:tc>
              </a:tr>
              <a:tr h="552069">
                <a:tc>
                  <a:txBody>
                    <a:bodyPr wrap="square"/>
                    <a:lstStyle/>
                    <a:p>
                      <a:r>
                        <a:rPr sz="1000" b="1">
                          <a:solidFill>
                            <a:srgbClr val="0C2B4A"/>
                          </a:solidFill>
                        </a:rPr>
                        <a:t>NATURAL JOIN everywhere</a:t>
                      </a:r>
                    </a:p>
                  </a:txBody>
                  <a:tcPr anchor="ctr" marL="73152" marR="54864" marT="27432" marB="27432">
                    <a:solidFill>
                      <a:srgbClr val="EEF3F8"/>
                    </a:solidFill>
                  </a:tcPr>
                </a:tc>
                <a:tc>
                  <a:txBody>
                    <a:bodyPr wrap="square"/>
                    <a:lstStyle/>
                    <a:p>
                      <a:r>
                        <a:rPr sz="1000">
                          <a:solidFill>
                            <a:srgbClr val="1A1A1A"/>
                          </a:solidFill>
                        </a:rPr>
                        <a:t>silently joins on all shared names</a:t>
                      </a:r>
                    </a:p>
                  </a:txBody>
                  <a:tcPr anchor="ctr" marL="73152" marR="54864" marT="27432" marB="27432">
                    <a:solidFill>
                      <a:srgbClr val="EEF3F8"/>
                    </a:solidFill>
                  </a:tcPr>
                </a:tc>
                <a:tc>
                  <a:txBody>
                    <a:bodyPr wrap="square"/>
                    <a:lstStyle/>
                    <a:p>
                      <a:r>
                        <a:rPr sz="1000">
                          <a:solidFill>
                            <a:srgbClr val="1A1A1A"/>
                          </a:solidFill>
                        </a:rPr>
                        <a:t>use ON / USING explicitly</a:t>
                      </a:r>
                    </a:p>
                  </a:txBody>
                  <a:tcPr anchor="ctr" marL="73152" marR="54864" marT="27432" marB="27432">
                    <a:solidFill>
                      <a:srgbClr val="EEF3F8"/>
                    </a:solidFill>
                  </a:tcPr>
                </a:tc>
                <a:tc>
                  <a:txBody>
                    <a:bodyPr wrap="square"/>
                    <a:lstStyle/>
                    <a:p>
                      <a:r>
                        <a:rPr sz="1000">
                          <a:solidFill>
                            <a:srgbClr val="1A1A1A"/>
                          </a:solidFill>
                        </a:rPr>
                        <a:t>S33</a:t>
                      </a:r>
                    </a:p>
                  </a:txBody>
                  <a:tcPr anchor="ctr" marL="73152" marR="54864" marT="27432" marB="27432">
                    <a:solidFill>
                      <a:srgbClr val="EEF3F8"/>
                    </a:solidFill>
                  </a:tcPr>
                </a:tc>
              </a:tr>
              <a:tr h="552069">
                <a:tc>
                  <a:txBody>
                    <a:bodyPr wrap="square"/>
                    <a:lstStyle/>
                    <a:p>
                      <a:r>
                        <a:rPr sz="1000" b="1">
                          <a:solidFill>
                            <a:srgbClr val="0C2B4A"/>
                          </a:solidFill>
                        </a:rPr>
                        <a:t>NOT IN with a NULL in the set</a:t>
                      </a:r>
                    </a:p>
                  </a:txBody>
                  <a:tcPr anchor="ctr" marL="73152" marR="54864" marT="27432" marB="27432">
                    <a:solidFill>
                      <a:srgbClr val="FFFFFF"/>
                    </a:solidFill>
                  </a:tcPr>
                </a:tc>
                <a:tc>
                  <a:txBody>
                    <a:bodyPr wrap="square"/>
                    <a:lstStyle/>
                    <a:p>
                      <a:r>
                        <a:rPr sz="1000">
                          <a:solidFill>
                            <a:srgbClr val="1A1A1A"/>
                          </a:solidFill>
                        </a:rPr>
                        <a:t>returns no rows unexpectedly</a:t>
                      </a:r>
                    </a:p>
                  </a:txBody>
                  <a:tcPr anchor="ctr" marL="73152" marR="54864" marT="27432" marB="27432">
                    <a:solidFill>
                      <a:srgbClr val="FFFFFF"/>
                    </a:solidFill>
                  </a:tcPr>
                </a:tc>
                <a:tc>
                  <a:txBody>
                    <a:bodyPr wrap="square"/>
                    <a:lstStyle/>
                    <a:p>
                      <a:r>
                        <a:rPr sz="1000">
                          <a:solidFill>
                            <a:srgbClr val="1A1A1A"/>
                          </a:solidFill>
                        </a:rPr>
                        <a:t>filter NULLs / use NOT EXISTS</a:t>
                      </a:r>
                    </a:p>
                  </a:txBody>
                  <a:tcPr anchor="ctr" marL="73152" marR="54864" marT="27432" marB="27432">
                    <a:solidFill>
                      <a:srgbClr val="FFFFFF"/>
                    </a:solidFill>
                  </a:tcPr>
                </a:tc>
                <a:tc>
                  <a:txBody>
                    <a:bodyPr wrap="square"/>
                    <a:lstStyle/>
                    <a:p>
                      <a:r>
                        <a:rPr sz="1000">
                          <a:solidFill>
                            <a:srgbClr val="1A1A1A"/>
                          </a:solidFill>
                        </a:rPr>
                        <a:t>S28</a:t>
                      </a:r>
                    </a:p>
                  </a:txBody>
                  <a:tcPr anchor="ctr" marL="73152" marR="54864" marT="27432" marB="27432">
                    <a:solidFill>
                      <a:srgbClr val="FFFFFF"/>
                    </a:solidFill>
                  </a:tcPr>
                </a:tc>
              </a:tr>
              <a:tr h="552069">
                <a:tc>
                  <a:txBody>
                    <a:bodyPr wrap="square"/>
                    <a:lstStyle/>
                    <a:p>
                      <a:r>
                        <a:rPr sz="1000" b="1">
                          <a:solidFill>
                            <a:srgbClr val="0C2B4A"/>
                          </a:solidFill>
                        </a:rPr>
                        <a:t>INNER when you needed LEFT</a:t>
                      </a:r>
                    </a:p>
                  </a:txBody>
                  <a:tcPr anchor="ctr" marL="73152" marR="54864" marT="27432" marB="27432">
                    <a:solidFill>
                      <a:srgbClr val="EEF3F8"/>
                    </a:solidFill>
                  </a:tcPr>
                </a:tc>
                <a:tc>
                  <a:txBody>
                    <a:bodyPr wrap="square"/>
                    <a:lstStyle/>
                    <a:p>
                      <a:r>
                        <a:rPr sz="1000">
                          <a:solidFill>
                            <a:srgbClr val="1A1A1A"/>
                          </a:solidFill>
                        </a:rPr>
                        <a:t>hides the unmatched rows you wanted</a:t>
                      </a:r>
                    </a:p>
                  </a:txBody>
                  <a:tcPr anchor="ctr" marL="73152" marR="54864" marT="27432" marB="27432">
                    <a:solidFill>
                      <a:srgbClr val="EEF3F8"/>
                    </a:solidFill>
                  </a:tcPr>
                </a:tc>
                <a:tc>
                  <a:txBody>
                    <a:bodyPr wrap="square"/>
                    <a:lstStyle/>
                    <a:p>
                      <a:r>
                        <a:rPr sz="1000">
                          <a:solidFill>
                            <a:srgbClr val="1A1A1A"/>
                          </a:solidFill>
                        </a:rPr>
                        <a:t>use LEFT OUTER JOIN</a:t>
                      </a:r>
                    </a:p>
                  </a:txBody>
                  <a:tcPr anchor="ctr" marL="73152" marR="54864" marT="27432" marB="27432">
                    <a:solidFill>
                      <a:srgbClr val="EEF3F8"/>
                    </a:solidFill>
                  </a:tcPr>
                </a:tc>
                <a:tc>
                  <a:txBody>
                    <a:bodyPr wrap="square"/>
                    <a:lstStyle/>
                    <a:p>
                      <a:r>
                        <a:rPr sz="1000">
                          <a:solidFill>
                            <a:srgbClr val="1A1A1A"/>
                          </a:solidFill>
                        </a:rPr>
                        <a:t>S33</a:t>
                      </a:r>
                    </a:p>
                  </a:txBody>
                  <a:tcPr anchor="ctr" marL="73152" marR="54864" marT="27432" marB="27432">
                    <a:solidFill>
                      <a:srgbClr val="EEF3F8"/>
                    </a:solidFill>
                  </a:tcPr>
                </a:tc>
              </a:tr>
              <a:tr h="552069">
                <a:tc>
                  <a:txBody>
                    <a:bodyPr wrap="square"/>
                    <a:lstStyle/>
                    <a:p>
                      <a:r>
                        <a:rPr sz="1000" b="1">
                          <a:solidFill>
                            <a:srgbClr val="0C2B4A"/>
                          </a:solidFill>
                        </a:rPr>
                        <a:t>money as FLOAT</a:t>
                      </a:r>
                    </a:p>
                  </a:txBody>
                  <a:tcPr anchor="ctr" marL="73152" marR="54864" marT="27432" marB="27432">
                    <a:solidFill>
                      <a:srgbClr val="FFFFFF"/>
                    </a:solidFill>
                  </a:tcPr>
                </a:tc>
                <a:tc>
                  <a:txBody>
                    <a:bodyPr wrap="square"/>
                    <a:lstStyle/>
                    <a:p>
                      <a:r>
                        <a:rPr sz="1000">
                          <a:solidFill>
                            <a:srgbClr val="1A1A1A"/>
                          </a:solidFill>
                        </a:rPr>
                        <a:t>binary rounding drifts totals</a:t>
                      </a:r>
                    </a:p>
                  </a:txBody>
                  <a:tcPr anchor="ctr" marL="73152" marR="54864" marT="27432" marB="27432">
                    <a:solidFill>
                      <a:srgbClr val="FFFFFF"/>
                    </a:solidFill>
                  </a:tcPr>
                </a:tc>
                <a:tc>
                  <a:txBody>
                    <a:bodyPr wrap="square"/>
                    <a:lstStyle/>
                    <a:p>
                      <a:r>
                        <a:rPr sz="1000">
                          <a:solidFill>
                            <a:srgbClr val="1A1A1A"/>
                          </a:solidFill>
                        </a:rPr>
                        <a:t>use DECIMAL(p,s)</a:t>
                      </a:r>
                    </a:p>
                  </a:txBody>
                  <a:tcPr anchor="ctr" marL="73152" marR="54864" marT="27432" marB="27432">
                    <a:solidFill>
                      <a:srgbClr val="FFFFFF"/>
                    </a:solidFill>
                  </a:tcPr>
                </a:tc>
                <a:tc>
                  <a:txBody>
                    <a:bodyPr wrap="square"/>
                    <a:lstStyle/>
                    <a:p>
                      <a:r>
                        <a:rPr sz="1000">
                          <a:solidFill>
                            <a:srgbClr val="1A1A1A"/>
                          </a:solidFill>
                        </a:rPr>
                        <a:t>S22</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seven bugs account for most real-world SQL errors. Recognising them on sight — and the one-line fix for each — is what separates a fluent SQL writer from a beginner.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208 / 219</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Bridge to the Lab Project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syllabus lab project (individual or group ≤4) asks you to pick a domain — library, clinic, or e-shop — design the tables (Units 1–4), then write CRUD and reports (this unit): CREATE TABLE with constraints, INSERT seed data, SELECT/JOIN reports, a couple of views, and sensible indexes.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"SQL is just for exams." It is one of the most-requested skills on nearly every data/backend job posting in Nepal and abroad. The lab project is a portfolio piece — a small but complete database you can demo in an interview.</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Unit-5 skills combine directly into the lab project: model a chosen domain (library/clinic/e-shop) as tables with constraints, seed it with INSERTs, answer questions with SELECT/JOIN/GROUP BY reports, expose role-based VIEWs, and add INDEXes for speed. This end-to-end fluency — design plus SQL — is the marketable outcome of the whole course.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lab project · design → CRUD → reports · views + indexes · portfolio piece · job-relevant SQL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209 / 219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S36 — Three queries a Nepali app runs daily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a Nepali app (eSewa, Daraz, a college portal).</a:t>
            </a:r>
          </a:p>
          <a:p>
            <a:pPr>
              <a:spcAft>
                <a:spcPts val="700"/>
              </a:spcAft>
            </a:pPr>
            <a:r>
              <a:rPr sz="1550">
                <a:solidFill>
                  <a:srgbClr val="1A1A1A"/>
                </a:solidFill>
              </a:rPr>
              <a:t>•  List 3 SQL queries its database must answer every day (a filter, an aggregate, a join).</a:t>
            </a:r>
          </a:p>
          <a:p>
            <a:pPr>
              <a:spcAft>
                <a:spcPts val="700"/>
              </a:spcAft>
            </a:pPr>
            <a:r>
              <a:rPr sz="1550">
                <a:solidFill>
                  <a:srgbClr val="1A1A1A"/>
                </a:solidFill>
              </a:rPr>
              <a:t>•  Share aloud (3 min); classify each by the clauses it needs.</a:t>
            </a:r>
          </a:p>
          <a:p>
            <a:pPr>
              <a:spcAft>
                <a:spcPts val="700"/>
              </a:spcAft>
            </a:pPr>
            <a:r>
              <a:rPr sz="1550">
                <a:solidFill>
                  <a:srgbClr val="1A1A1A"/>
                </a:solidFill>
              </a:rPr>
              <a:t>•  Close: notice you can now name the exact SQL behind everyday features.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daily transaction total (SUM+GROUP BY date), a user's history (WHERE user_id + ORDER BY date), orders-with-customer (JOIN). Reward covering a filter, an aggregate, and a join across the three.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210 / 219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correct clause EXECUTION order is:</a:t>
            </a:r>
          </a:p>
          <a:p>
            <a:pPr lvl="1"/>
            <a:r>
              <a:rPr sz="1500" b="1">
                <a:solidFill>
                  <a:srgbClr val="0F6E56"/>
                </a:solidFill>
              </a:rPr>
              <a:t>a) SELECT→FROM→WHERE   b) ✅ FROM→WHERE→GROUP BY→HAVING→SELECT→ORDER BY   c) WHERE→SELECT→FROM   d) any order</a:t>
            </a:r>
          </a:p>
          <a:p>
            <a:pPr lvl="1">
              <a:spcBef>
                <a:spcPts val="600"/>
              </a:spcBef>
            </a:pPr>
            <a:r>
              <a:rPr sz="1500" i="1">
                <a:solidFill>
                  <a:srgbClr val="1A1A1A"/>
                </a:solidFill>
              </a:rPr>
              <a:t>     Why: the engine runs FROM first and SELECT near last, regardless of write order.</a:t>
            </a:r>
          </a:p>
          <a:p>
            <a:pPr>
              <a:spcBef>
                <a:spcPts val="900"/>
              </a:spcBef>
            </a:pPr>
            <a:r>
              <a:rPr sz="1700" b="1">
                <a:solidFill>
                  <a:srgbClr val="0C2B4A"/>
                </a:solidFill>
              </a:rPr>
              <a:t>Q2.  'Find rows where email is missing' uses:</a:t>
            </a:r>
          </a:p>
          <a:p>
            <a:pPr lvl="1"/>
            <a:r>
              <a:rPr sz="1500" b="1">
                <a:solidFill>
                  <a:srgbClr val="0F6E56"/>
                </a:solidFill>
              </a:rPr>
              <a:t>a) = NULL   b) ✅ IS NULL   c) = ''   d) NOT NULL</a:t>
            </a:r>
          </a:p>
          <a:p>
            <a:pPr lvl="1">
              <a:spcBef>
                <a:spcPts val="600"/>
              </a:spcBef>
            </a:pPr>
            <a:r>
              <a:rPr sz="1500" i="1">
                <a:solidFill>
                  <a:srgbClr val="1A1A1A"/>
                </a:solidFill>
              </a:rPr>
              <a:t>     Why: IS NULL is the only correct test for missing values.</a:t>
            </a:r>
          </a:p>
          <a:p>
            <a:pPr>
              <a:spcBef>
                <a:spcPts val="900"/>
              </a:spcBef>
            </a:pPr>
            <a:r>
              <a:rPr sz="1700" b="1">
                <a:solidFill>
                  <a:srgbClr val="0C2B4A"/>
                </a:solidFill>
              </a:rPr>
              <a:t>Q3.  'Students enrolled in EVERY IT course' is expressed with:</a:t>
            </a:r>
          </a:p>
          <a:p>
            <a:pPr lvl="1"/>
            <a:r>
              <a:rPr sz="1500" b="1">
                <a:solidFill>
                  <a:srgbClr val="0F6E56"/>
                </a:solidFill>
              </a:rPr>
              <a:t>a) IN   b) ✅ double NOT EXISTS   c) a single JOIN   d) DISTINCT</a:t>
            </a:r>
          </a:p>
          <a:p>
            <a:pPr lvl="1">
              <a:spcBef>
                <a:spcPts val="600"/>
              </a:spcBef>
            </a:pPr>
            <a:r>
              <a:rPr sz="1500" i="1">
                <a:solidFill>
                  <a:srgbClr val="1A1A1A"/>
                </a:solidFill>
              </a:rPr>
              <a:t>     Why: 'for all' = 'no counterexample' = NOT EXISTS of a NOT EXISTS.</a:t>
            </a:r>
          </a:p>
          <a:p>
            <a:pPr lvl="1">
              <a:spcBef>
                <a:spcPts val="600"/>
              </a:spcBef>
            </a:pPr>
            <a:r>
              <a:rPr sz="1500" i="1">
                <a:solidFill>
                  <a:srgbClr val="1A1A1A"/>
                </a:solidFill>
              </a:rPr>
              <a:t>Discussion: pick a Nepali app and list 3 SQL queries its database must answer every day.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211 / 219</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DDL builds, DML uses, and views/joins/procedures/triggers/indexes extend — all on one query pipeline.</a:t>
            </a:r>
          </a:p>
          <a:p>
            <a:pPr>
              <a:spcAft>
                <a:spcPts val="800"/>
              </a:spcAft>
            </a:pPr>
            <a:r>
              <a:rPr sz="1500">
                <a:solidFill>
                  <a:srgbClr val="1A1A1A"/>
                </a:solidFill>
              </a:rPr>
              <a:t>2.  Clause order (FROM→WHERE→GROUP BY→HAVING→SELECT→ORDER BY) and NULL/WHERE habits prevent the classic bugs.</a:t>
            </a:r>
          </a:p>
          <a:p>
            <a:pPr>
              <a:spcAft>
                <a:spcPts val="800"/>
              </a:spcAft>
            </a:pPr>
            <a:r>
              <a:rPr sz="1500">
                <a:solidFill>
                  <a:srgbClr val="1A1A1A"/>
                </a:solidFill>
              </a:rPr>
              <a:t>3.  You can now read and write production-style SQL — and build a complete lab-project database.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problem-solving fluency IS the marketable skill: SQL appears on nearly every data and backend job posting in Nepal and abroad. The lab project turns it into a portfolio piece you can demo.</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Next unit — keeping data correct when many users hit it at once: transactions, concurrency &amp; recovery (Unit 6).</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212 / 219</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SQL revision reference (MySQL / MariaDB)</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DDL &amp; constraints (S22)</a:t>
            </a:r>
          </a:p>
          <a:p>
            <a:pPr>
              <a:spcBef>
                <a:spcPts val="300"/>
              </a:spcBef>
            </a:pPr>
            <a:r>
              <a:rPr sz="1200">
                <a:solidFill>
                  <a:srgbClr val="1A1A1A"/>
                </a:solidFill>
              </a:rPr>
              <a:t>CREATE/ALTER/DROP TABLE. Types: INT, DECIMAL(p,s) for money, VARCHAR/CHAR, DATE, BOOLEAN. Constraints: PRIMARY KEY (=UNIQUE+NOT NULL), FOREIGN KEY, NOT NULL, UNIQUE, CHECK, DEFAULT.</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Query basics (S23–S25)</a:t>
            </a:r>
          </a:p>
          <a:p>
            <a:pPr>
              <a:spcBef>
                <a:spcPts val="300"/>
              </a:spcBef>
            </a:pPr>
            <a:r>
              <a:rPr sz="1200">
                <a:solidFill>
                  <a:srgbClr val="1A1A1A"/>
                </a:solidFill>
              </a:rPr>
              <a:t>SELECT cols FROM t WHERE rows; AND/OR/NOT, BETWEEN, IN. AS renames; s1/s2 self-join; LIKE % (any) _ (one). ORDER BY … DESC, LIMIT n; DISTINCT; UNION/INTERSECT/EXCEPT (UNION ALL keeps dups).</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Aggregates &amp; NULL (S26–S27)</a:t>
            </a:r>
          </a:p>
          <a:p>
            <a:pPr>
              <a:spcBef>
                <a:spcPts val="300"/>
              </a:spcBef>
            </a:pPr>
            <a:r>
              <a:rPr sz="1200">
                <a:solidFill>
                  <a:srgbClr val="1A1A1A"/>
                </a:solidFill>
              </a:rPr>
              <a:t>COUNT/SUM/AVG/MIN/MAX; GROUP BY (per group), HAVING (filter groups, aggregates ok). WHERE before, HAVING after. NULL: use IS NULL; aggregates skip NULLs; COALESCE(x,0).</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Subqueries (S28–S29)</a:t>
            </a:r>
          </a:p>
          <a:p>
            <a:pPr>
              <a:spcBef>
                <a:spcPts val="300"/>
              </a:spcBef>
            </a:pPr>
            <a:r>
              <a:rPr sz="1200">
                <a:solidFill>
                  <a:srgbClr val="1A1A1A"/>
                </a:solidFill>
              </a:rPr>
              <a:t>IN=member (=SOME); &gt;SOME=&gt;MIN; &gt;ALL=&gt;MAX; &lt;&gt;ALL=NOT IN. EXISTS=any row; NOT EXISTS='none'/'for all' (double). Beware NOT IN + NULL.</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Views &amp; modify (S30–S32)</a:t>
            </a:r>
          </a:p>
          <a:p>
            <a:pPr>
              <a:spcBef>
                <a:spcPts val="300"/>
              </a:spcBef>
            </a:pPr>
            <a:r>
              <a:rPr sz="1200">
                <a:solidFill>
                  <a:srgbClr val="1A1A1A"/>
                </a:solidFill>
              </a:rPr>
              <a:t>Derived relation = subquery in FROM (alias!). VIEW = saved query, no data (not faster). Updatable = single table, no aggregate/join/DISTINCT/derived col; WITH CHECK OPTION. INSERT/UPDATE/DELETE — WHERE or whole table.</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Joins, procs, triggers, index (S33–S35)</a:t>
            </a:r>
          </a:p>
          <a:p>
            <a:pPr>
              <a:spcBef>
                <a:spcPts val="300"/>
              </a:spcBef>
            </a:pPr>
            <a:r>
              <a:rPr sz="1200">
                <a:solidFill>
                  <a:srgbClr val="1A1A1A"/>
                </a:solidFill>
              </a:rPr>
              <a:t>INNER=both; LEFT/RIGHT/FULL keep unmatched (NULLs); prefer ON. Procedure=CALL, logic+params. Trigger fires auto (BEFORE/AFTER, OLD/NEW). Index=B-tree; reads faster, writes slower; index selectively.</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213 / 219</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DDL — </a:t>
            </a:r>
            <a:r>
              <a:rPr sz="1150">
                <a:solidFill>
                  <a:srgbClr val="1A1A1A"/>
                </a:solidFill>
              </a:rPr>
              <a:t>CREATE/ALTER/DROP — defines structure.</a:t>
            </a:r>
          </a:p>
          <a:p>
            <a:pPr>
              <a:spcAft>
                <a:spcPts val="600"/>
              </a:spcAft>
            </a:pPr>
            <a:r>
              <a:rPr sz="1150" b="1">
                <a:solidFill>
                  <a:srgbClr val="0C2B4A"/>
                </a:solidFill>
              </a:rPr>
              <a:t>DML — </a:t>
            </a:r>
            <a:r>
              <a:rPr sz="1150">
                <a:solidFill>
                  <a:srgbClr val="1A1A1A"/>
                </a:solidFill>
              </a:rPr>
              <a:t>SELECT/INSERT/UPDATE/DELETE — queries &amp; modifies data.</a:t>
            </a:r>
          </a:p>
          <a:p>
            <a:pPr>
              <a:spcAft>
                <a:spcPts val="600"/>
              </a:spcAft>
            </a:pPr>
            <a:r>
              <a:rPr sz="1150" b="1">
                <a:solidFill>
                  <a:srgbClr val="0C2B4A"/>
                </a:solidFill>
              </a:rPr>
              <a:t>Constraint — </a:t>
            </a:r>
            <a:r>
              <a:rPr sz="1150">
                <a:solidFill>
                  <a:srgbClr val="1A1A1A"/>
                </a:solidFill>
              </a:rPr>
              <a:t>a rule the DBMS enforces on rows (PK/FK/NOT NULL/UNIQUE/CHECK/DEFAULT).</a:t>
            </a:r>
          </a:p>
          <a:p>
            <a:pPr>
              <a:spcAft>
                <a:spcPts val="600"/>
              </a:spcAft>
            </a:pPr>
            <a:r>
              <a:rPr sz="1150" b="1">
                <a:solidFill>
                  <a:srgbClr val="0C2B4A"/>
                </a:solidFill>
              </a:rPr>
              <a:t>PRIMARY KEY — </a:t>
            </a:r>
            <a:r>
              <a:rPr sz="1150">
                <a:solidFill>
                  <a:srgbClr val="1A1A1A"/>
                </a:solidFill>
              </a:rPr>
              <a:t>UNIQUE + NOT NULL; one per table.</a:t>
            </a:r>
          </a:p>
          <a:p>
            <a:pPr>
              <a:spcAft>
                <a:spcPts val="600"/>
              </a:spcAft>
            </a:pPr>
            <a:r>
              <a:rPr sz="1150" b="1">
                <a:solidFill>
                  <a:srgbClr val="0C2B4A"/>
                </a:solidFill>
              </a:rPr>
              <a:t>FOREIGN KEY — </a:t>
            </a:r>
            <a:r>
              <a:rPr sz="1150">
                <a:solidFill>
                  <a:srgbClr val="1A1A1A"/>
                </a:solidFill>
              </a:rPr>
              <a:t>a value that must match a parent table's key.</a:t>
            </a:r>
          </a:p>
          <a:p>
            <a:pPr>
              <a:spcAft>
                <a:spcPts val="600"/>
              </a:spcAft>
            </a:pPr>
            <a:r>
              <a:rPr sz="1150" b="1">
                <a:solidFill>
                  <a:srgbClr val="0C2B4A"/>
                </a:solidFill>
              </a:rPr>
              <a:t>DECIMAL(p,s) — </a:t>
            </a:r>
            <a:r>
              <a:rPr sz="1150">
                <a:solidFill>
                  <a:srgbClr val="1A1A1A"/>
                </a:solidFill>
              </a:rPr>
              <a:t>exact fixed-point type for money (never FLOAT).</a:t>
            </a:r>
          </a:p>
          <a:p>
            <a:pPr>
              <a:spcAft>
                <a:spcPts val="600"/>
              </a:spcAft>
            </a:pPr>
            <a:r>
              <a:rPr sz="1150" b="1">
                <a:solidFill>
                  <a:srgbClr val="0C2B4A"/>
                </a:solidFill>
              </a:rPr>
              <a:t>Projection (SELECT) — </a:t>
            </a:r>
            <a:r>
              <a:rPr sz="1150">
                <a:solidFill>
                  <a:srgbClr val="1A1A1A"/>
                </a:solidFill>
              </a:rPr>
              <a:t>choosing columns.</a:t>
            </a:r>
          </a:p>
          <a:p>
            <a:pPr>
              <a:spcAft>
                <a:spcPts val="600"/>
              </a:spcAft>
            </a:pPr>
            <a:r>
              <a:rPr sz="1150" b="1">
                <a:solidFill>
                  <a:srgbClr val="0C2B4A"/>
                </a:solidFill>
              </a:rPr>
              <a:t>Selection (WHERE) — </a:t>
            </a:r>
            <a:r>
              <a:rPr sz="1150">
                <a:solidFill>
                  <a:srgbClr val="1A1A1A"/>
                </a:solidFill>
              </a:rPr>
              <a:t>choosing rows whose condition is TRUE.</a:t>
            </a:r>
          </a:p>
          <a:p>
            <a:pPr>
              <a:spcAft>
                <a:spcPts val="600"/>
              </a:spcAft>
            </a:pPr>
            <a:r>
              <a:rPr sz="1150" b="1">
                <a:solidFill>
                  <a:srgbClr val="0C2B4A"/>
                </a:solidFill>
              </a:rPr>
              <a:t>Cross / Cartesian product — </a:t>
            </a:r>
            <a:r>
              <a:rPr sz="1150">
                <a:solidFill>
                  <a:srgbClr val="1A1A1A"/>
                </a:solidFill>
              </a:rPr>
              <a:t>every row × every row (missing join condition).</a:t>
            </a:r>
          </a:p>
          <a:p>
            <a:pPr>
              <a:spcAft>
                <a:spcPts val="600"/>
              </a:spcAft>
            </a:pPr>
            <a:r>
              <a:rPr sz="1150" b="1">
                <a:solidFill>
                  <a:srgbClr val="0C2B4A"/>
                </a:solidFill>
              </a:rPr>
              <a:t>AS / alias — </a:t>
            </a:r>
            <a:r>
              <a:rPr sz="1150">
                <a:solidFill>
                  <a:srgbClr val="1A1A1A"/>
                </a:solidFill>
              </a:rPr>
              <a:t>renames a column or table for output/queries.</a:t>
            </a:r>
          </a:p>
          <a:p>
            <a:pPr>
              <a:spcAft>
                <a:spcPts val="600"/>
              </a:spcAft>
            </a:pPr>
            <a:r>
              <a:rPr sz="1150" b="1">
                <a:solidFill>
                  <a:srgbClr val="0C2B4A"/>
                </a:solidFill>
              </a:rPr>
              <a:t>Tuple variable — </a:t>
            </a:r>
            <a:r>
              <a:rPr sz="1150">
                <a:solidFill>
                  <a:srgbClr val="1A1A1A"/>
                </a:solidFill>
              </a:rPr>
              <a:t>a table alias; mandatory for self-joins (s1,s2).</a:t>
            </a:r>
          </a:p>
          <a:p>
            <a:pPr>
              <a:spcAft>
                <a:spcPts val="600"/>
              </a:spcAft>
            </a:pPr>
            <a:r>
              <a:rPr sz="1150" b="1">
                <a:solidFill>
                  <a:srgbClr val="0C2B4A"/>
                </a:solidFill>
              </a:rPr>
              <a:t>LIKE — </a:t>
            </a:r>
            <a:r>
              <a:rPr sz="1150">
                <a:solidFill>
                  <a:srgbClr val="1A1A1A"/>
                </a:solidFill>
              </a:rPr>
              <a:t>pattern match: % = any sequence, _ = one character.</a:t>
            </a:r>
          </a:p>
          <a:p>
            <a:pPr>
              <a:spcAft>
                <a:spcPts val="600"/>
              </a:spcAft>
            </a:pPr>
            <a:r>
              <a:rPr sz="1150" b="1">
                <a:solidFill>
                  <a:srgbClr val="0C2B4A"/>
                </a:solidFill>
              </a:rPr>
              <a:t>ORDER BY — </a:t>
            </a:r>
            <a:r>
              <a:rPr sz="1150">
                <a:solidFill>
                  <a:srgbClr val="1A1A1A"/>
                </a:solidFill>
              </a:rPr>
              <a:t>sorts result rows (ASC default / DESC).</a:t>
            </a:r>
          </a:p>
          <a:p>
            <a:pPr>
              <a:spcAft>
                <a:spcPts val="600"/>
              </a:spcAft>
            </a:pPr>
            <a:r>
              <a:rPr sz="1150" b="1">
                <a:solidFill>
                  <a:srgbClr val="0C2B4A"/>
                </a:solidFill>
              </a:rPr>
              <a:t>DISTINCT — </a:t>
            </a:r>
            <a:r>
              <a:rPr sz="1150">
                <a:solidFill>
                  <a:srgbClr val="1A1A1A"/>
                </a:solidFill>
              </a:rPr>
              <a:t>removes duplicate rows from the result.</a:t>
            </a:r>
          </a:p>
          <a:p>
            <a:pPr>
              <a:spcAft>
                <a:spcPts val="600"/>
              </a:spcAft>
            </a:pPr>
            <a:r>
              <a:rPr sz="1150" b="1">
                <a:solidFill>
                  <a:srgbClr val="0C2B4A"/>
                </a:solidFill>
              </a:rPr>
              <a:t>UNION / INTERSECT / EXCEPT — </a:t>
            </a:r>
            <a:r>
              <a:rPr sz="1150">
                <a:solidFill>
                  <a:srgbClr val="1A1A1A"/>
                </a:solidFill>
              </a:rPr>
              <a:t>combine union-compatible result sets.</a:t>
            </a:r>
          </a:p>
          <a:p>
            <a:pPr>
              <a:spcAft>
                <a:spcPts val="600"/>
              </a:spcAft>
            </a:pPr>
            <a:r>
              <a:rPr sz="1150" b="1">
                <a:solidFill>
                  <a:srgbClr val="0C2B4A"/>
                </a:solidFill>
              </a:rPr>
              <a:t>Aggregate function — </a:t>
            </a:r>
            <a:r>
              <a:rPr sz="1150">
                <a:solidFill>
                  <a:srgbClr val="1A1A1A"/>
                </a:solidFill>
              </a:rPr>
              <a:t>COUNT/SUM/AVG/MIN/MAX — many rows to one value.</a:t>
            </a:r>
          </a:p>
          <a:p>
            <a:pPr>
              <a:spcAft>
                <a:spcPts val="600"/>
              </a:spcAft>
            </a:pPr>
            <a:r>
              <a:rPr sz="1150" b="1">
                <a:solidFill>
                  <a:srgbClr val="0C2B4A"/>
                </a:solidFill>
              </a:rPr>
              <a:t>GROUP BY — </a:t>
            </a:r>
            <a:r>
              <a:rPr sz="1150">
                <a:solidFill>
                  <a:srgbClr val="1A1A1A"/>
                </a:solidFill>
              </a:rPr>
              <a:t>one aggregate row per group.</a:t>
            </a:r>
          </a:p>
          <a:p>
            <a:pPr>
              <a:spcAft>
                <a:spcPts val="600"/>
              </a:spcAft>
            </a:pPr>
            <a:r>
              <a:rPr sz="1150" b="1">
                <a:solidFill>
                  <a:srgbClr val="0C2B4A"/>
                </a:solidFill>
              </a:rPr>
              <a:t>HAVING — </a:t>
            </a:r>
            <a:r>
              <a:rPr sz="1150">
                <a:solidFill>
                  <a:srgbClr val="1A1A1A"/>
                </a:solidFill>
              </a:rPr>
              <a:t>filters groups after aggregation (aggregates allowed).</a:t>
            </a:r>
          </a:p>
          <a:p>
            <a:pPr>
              <a:spcAft>
                <a:spcPts val="600"/>
              </a:spcAft>
            </a:pPr>
            <a:r>
              <a:rPr sz="1150" b="1">
                <a:solidFill>
                  <a:srgbClr val="0C2B4A"/>
                </a:solidFill>
              </a:rPr>
              <a:t>NULL — </a:t>
            </a:r>
            <a:r>
              <a:rPr sz="1150">
                <a:solidFill>
                  <a:srgbClr val="1A1A1A"/>
                </a:solidFill>
              </a:rPr>
              <a:t>unknown/missing — not 0, not empty string.</a:t>
            </a:r>
          </a:p>
          <a:p>
            <a:pPr>
              <a:spcAft>
                <a:spcPts val="600"/>
              </a:spcAft>
            </a:pPr>
            <a:r>
              <a:rPr sz="1150" b="1">
                <a:solidFill>
                  <a:srgbClr val="0C2B4A"/>
                </a:solidFill>
              </a:rPr>
              <a:t>Three-valued logic — </a:t>
            </a:r>
            <a:r>
              <a:rPr sz="1150">
                <a:solidFill>
                  <a:srgbClr val="1A1A1A"/>
                </a:solidFill>
              </a:rPr>
              <a:t>TRUE/FALSE/UNKNOWN; use IS NULL, not = NULL.</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COALESCE — </a:t>
            </a:r>
            <a:r>
              <a:rPr sz="1150">
                <a:solidFill>
                  <a:srgbClr val="1A1A1A"/>
                </a:solidFill>
              </a:rPr>
              <a:t>returns the first non-NULL argument (a fallback).</a:t>
            </a:r>
          </a:p>
          <a:p>
            <a:pPr>
              <a:spcAft>
                <a:spcPts val="600"/>
              </a:spcAft>
            </a:pPr>
            <a:r>
              <a:rPr sz="1150" b="1">
                <a:solidFill>
                  <a:srgbClr val="0C2B4A"/>
                </a:solidFill>
              </a:rPr>
              <a:t>Subquery — </a:t>
            </a:r>
            <a:r>
              <a:rPr sz="1150">
                <a:solidFill>
                  <a:srgbClr val="1A1A1A"/>
                </a:solidFill>
              </a:rPr>
              <a:t>a query nested inside another.</a:t>
            </a:r>
          </a:p>
          <a:p>
            <a:pPr>
              <a:spcAft>
                <a:spcPts val="600"/>
              </a:spcAft>
            </a:pPr>
            <a:r>
              <a:rPr sz="1150" b="1">
                <a:solidFill>
                  <a:srgbClr val="0C2B4A"/>
                </a:solidFill>
              </a:rPr>
              <a:t>IN / NOT IN — </a:t>
            </a:r>
            <a:r>
              <a:rPr sz="1150">
                <a:solidFill>
                  <a:srgbClr val="1A1A1A"/>
                </a:solidFill>
              </a:rPr>
              <a:t>tests set membership / absence.</a:t>
            </a:r>
          </a:p>
          <a:p>
            <a:pPr>
              <a:spcAft>
                <a:spcPts val="600"/>
              </a:spcAft>
            </a:pPr>
            <a:r>
              <a:rPr sz="1150" b="1">
                <a:solidFill>
                  <a:srgbClr val="0C2B4A"/>
                </a:solidFill>
              </a:rPr>
              <a:t>SOME/ANY / ALL — </a:t>
            </a:r>
            <a:r>
              <a:rPr sz="1150">
                <a:solidFill>
                  <a:srgbClr val="1A1A1A"/>
                </a:solidFill>
              </a:rPr>
              <a:t>at-least-one / every element comparison.</a:t>
            </a:r>
          </a:p>
          <a:p>
            <a:pPr>
              <a:spcAft>
                <a:spcPts val="600"/>
              </a:spcAft>
            </a:pPr>
            <a:r>
              <a:rPr sz="1150" b="1">
                <a:solidFill>
                  <a:srgbClr val="0C2B4A"/>
                </a:solidFill>
              </a:rPr>
              <a:t>EXISTS / NOT EXISTS — </a:t>
            </a:r>
            <a:r>
              <a:rPr sz="1150">
                <a:solidFill>
                  <a:srgbClr val="1A1A1A"/>
                </a:solidFill>
              </a:rPr>
              <a:t>tests whether a subquery returns any / no rows.</a:t>
            </a:r>
          </a:p>
          <a:p>
            <a:pPr>
              <a:spcAft>
                <a:spcPts val="600"/>
              </a:spcAft>
            </a:pPr>
            <a:r>
              <a:rPr sz="1150" b="1">
                <a:solidFill>
                  <a:srgbClr val="0C2B4A"/>
                </a:solidFill>
              </a:rPr>
              <a:t>Correlated subquery — </a:t>
            </a:r>
            <a:r>
              <a:rPr sz="1150">
                <a:solidFill>
                  <a:srgbClr val="1A1A1A"/>
                </a:solidFill>
              </a:rPr>
              <a:t>inner query references the outer row.</a:t>
            </a:r>
          </a:p>
          <a:p>
            <a:pPr>
              <a:spcAft>
                <a:spcPts val="600"/>
              </a:spcAft>
            </a:pPr>
            <a:r>
              <a:rPr sz="1150" b="1">
                <a:solidFill>
                  <a:srgbClr val="0C2B4A"/>
                </a:solidFill>
              </a:rPr>
              <a:t>Derived relation — </a:t>
            </a:r>
            <a:r>
              <a:rPr sz="1150">
                <a:solidFill>
                  <a:srgbClr val="1A1A1A"/>
                </a:solidFill>
              </a:rPr>
              <a:t>a subquery in FROM (must be aliased).</a:t>
            </a:r>
          </a:p>
          <a:p>
            <a:pPr>
              <a:spcAft>
                <a:spcPts val="600"/>
              </a:spcAft>
            </a:pPr>
            <a:r>
              <a:rPr sz="1150" b="1">
                <a:solidFill>
                  <a:srgbClr val="0C2B4A"/>
                </a:solidFill>
              </a:rPr>
              <a:t>View — </a:t>
            </a:r>
            <a:r>
              <a:rPr sz="1150">
                <a:solidFill>
                  <a:srgbClr val="1A1A1A"/>
                </a:solidFill>
              </a:rPr>
              <a:t>a named stored query (virtual table, stores no data).</a:t>
            </a:r>
          </a:p>
          <a:p>
            <a:pPr>
              <a:spcAft>
                <a:spcPts val="600"/>
              </a:spcAft>
            </a:pPr>
            <a:r>
              <a:rPr sz="1150" b="1">
                <a:solidFill>
                  <a:srgbClr val="0C2B4A"/>
                </a:solidFill>
              </a:rPr>
              <a:t>Updatable view — </a:t>
            </a:r>
            <a:r>
              <a:rPr sz="1150">
                <a:solidFill>
                  <a:srgbClr val="1A1A1A"/>
                </a:solidFill>
              </a:rPr>
              <a:t>a view whose changes pass to one base table.</a:t>
            </a:r>
          </a:p>
          <a:p>
            <a:pPr>
              <a:spcAft>
                <a:spcPts val="600"/>
              </a:spcAft>
            </a:pPr>
            <a:r>
              <a:rPr sz="1150" b="1">
                <a:solidFill>
                  <a:srgbClr val="0C2B4A"/>
                </a:solidFill>
              </a:rPr>
              <a:t>WITH CHECK OPTION — </a:t>
            </a:r>
            <a:r>
              <a:rPr sz="1150">
                <a:solidFill>
                  <a:srgbClr val="1A1A1A"/>
                </a:solidFill>
              </a:rPr>
              <a:t>blocks rows that fall outside a view's filter.</a:t>
            </a:r>
          </a:p>
          <a:p>
            <a:pPr>
              <a:spcAft>
                <a:spcPts val="600"/>
              </a:spcAft>
            </a:pPr>
            <a:r>
              <a:rPr sz="1150" b="1">
                <a:solidFill>
                  <a:srgbClr val="0C2B4A"/>
                </a:solidFill>
              </a:rPr>
              <a:t>INNER JOIN — </a:t>
            </a:r>
            <a:r>
              <a:rPr sz="1150">
                <a:solidFill>
                  <a:srgbClr val="1A1A1A"/>
                </a:solidFill>
              </a:rPr>
              <a:t>keeps only rows matching on both sides.</a:t>
            </a:r>
          </a:p>
          <a:p>
            <a:pPr>
              <a:spcAft>
                <a:spcPts val="600"/>
              </a:spcAft>
            </a:pPr>
            <a:r>
              <a:rPr sz="1150" b="1">
                <a:solidFill>
                  <a:srgbClr val="0C2B4A"/>
                </a:solidFill>
              </a:rPr>
              <a:t>OUTER JOIN — </a:t>
            </a:r>
            <a:r>
              <a:rPr sz="1150">
                <a:solidFill>
                  <a:srgbClr val="1A1A1A"/>
                </a:solidFill>
              </a:rPr>
              <a:t>LEFT/RIGHT/FULL — keeps unmatched rows (NULL-filled).</a:t>
            </a:r>
          </a:p>
          <a:p>
            <a:pPr>
              <a:spcAft>
                <a:spcPts val="600"/>
              </a:spcAft>
            </a:pPr>
            <a:r>
              <a:rPr sz="1150" b="1">
                <a:solidFill>
                  <a:srgbClr val="0C2B4A"/>
                </a:solidFill>
              </a:rPr>
              <a:t>ON / USING / NATURAL — </a:t>
            </a:r>
            <a:r>
              <a:rPr sz="1150">
                <a:solidFill>
                  <a:srgbClr val="1A1A1A"/>
                </a:solidFill>
              </a:rPr>
              <a:t>explicit / shared-column / all-common-names join match.</a:t>
            </a:r>
          </a:p>
          <a:p>
            <a:pPr>
              <a:spcAft>
                <a:spcPts val="600"/>
              </a:spcAft>
            </a:pPr>
            <a:r>
              <a:rPr sz="1150" b="1">
                <a:solidFill>
                  <a:srgbClr val="0C2B4A"/>
                </a:solidFill>
              </a:rPr>
              <a:t>Stored procedure — </a:t>
            </a:r>
            <a:r>
              <a:rPr sz="1150">
                <a:solidFill>
                  <a:srgbClr val="1A1A1A"/>
                </a:solidFill>
              </a:rPr>
              <a:t>a named, callable block of server-side logic (CALL).</a:t>
            </a:r>
          </a:p>
          <a:p>
            <a:pPr>
              <a:spcAft>
                <a:spcPts val="600"/>
              </a:spcAft>
            </a:pPr>
            <a:r>
              <a:rPr sz="1150" b="1">
                <a:solidFill>
                  <a:srgbClr val="0C2B4A"/>
                </a:solidFill>
              </a:rPr>
              <a:t>IN/OUT/INOUT — </a:t>
            </a:r>
            <a:r>
              <a:rPr sz="1150">
                <a:solidFill>
                  <a:srgbClr val="1A1A1A"/>
                </a:solidFill>
              </a:rPr>
              <a:t>stored-procedure parameter directions.</a:t>
            </a:r>
          </a:p>
          <a:p>
            <a:pPr>
              <a:spcAft>
                <a:spcPts val="600"/>
              </a:spcAft>
            </a:pPr>
            <a:r>
              <a:rPr sz="1150" b="1">
                <a:solidFill>
                  <a:srgbClr val="0C2B4A"/>
                </a:solidFill>
              </a:rPr>
              <a:t>Trigger — </a:t>
            </a:r>
            <a:r>
              <a:rPr sz="1150">
                <a:solidFill>
                  <a:srgbClr val="1A1A1A"/>
                </a:solidFill>
              </a:rPr>
              <a:t>code that fires automatically on INSERT/UPDATE/DELETE.</a:t>
            </a:r>
          </a:p>
          <a:p>
            <a:pPr>
              <a:spcAft>
                <a:spcPts val="600"/>
              </a:spcAft>
            </a:pPr>
            <a:r>
              <a:rPr sz="1150" b="1">
                <a:solidFill>
                  <a:srgbClr val="0C2B4A"/>
                </a:solidFill>
              </a:rPr>
              <a:t>OLD / NEW — </a:t>
            </a:r>
            <a:r>
              <a:rPr sz="1150">
                <a:solidFill>
                  <a:srgbClr val="1A1A1A"/>
                </a:solidFill>
              </a:rPr>
              <a:t>a trigger's pre-/post-change row values.</a:t>
            </a:r>
          </a:p>
          <a:p>
            <a:pPr>
              <a:spcAft>
                <a:spcPts val="600"/>
              </a:spcAft>
            </a:pPr>
            <a:r>
              <a:rPr sz="1150" b="1">
                <a:solidFill>
                  <a:srgbClr val="0C2B4A"/>
                </a:solidFill>
              </a:rPr>
              <a:t>Index — </a:t>
            </a:r>
            <a:r>
              <a:rPr sz="1150">
                <a:solidFill>
                  <a:srgbClr val="1A1A1A"/>
                </a:solidFill>
              </a:rPr>
              <a:t>a B-tree structure that speeds lookups (reads↑, writes↓).</a:t>
            </a:r>
          </a:p>
          <a:p>
            <a:pPr>
              <a:spcAft>
                <a:spcPts val="600"/>
              </a:spcAft>
            </a:pPr>
            <a:r>
              <a:rPr sz="1150" b="1">
                <a:solidFill>
                  <a:srgbClr val="0C2B4A"/>
                </a:solidFill>
              </a:rPr>
              <a:t>Clause execution order — </a:t>
            </a:r>
            <a:r>
              <a:rPr sz="1150">
                <a:solidFill>
                  <a:srgbClr val="1A1A1A"/>
                </a:solidFill>
              </a:rPr>
              <a:t>FROM→WHERE→GROUP BY→HAVING→SELECT→ORDER BY.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214 / 219</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5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22 concept MCQs (answers shown), then Part B (write the SQL) and Part C (short answer / discussion) — worked from the concept slides and Unit5_material.md.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215 / 219</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Part A — Concept MCQs (1–11,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CREATE TABLE belongs to  →  ✅ DDL</a:t>
            </a:r>
          </a:p>
          <a:p>
            <a:pPr lvl="1"/>
            <a:r>
              <a:rPr sz="1250" b="1">
                <a:solidFill>
                  <a:srgbClr val="0F6E56"/>
                </a:solidFill>
              </a:rPr>
              <a:t>2.  PRIMARY KEY is equivalent to  →  ✅ UNIQUE + NOT NULL</a:t>
            </a:r>
          </a:p>
          <a:p>
            <a:pPr lvl="1"/>
            <a:r>
              <a:rPr sz="1250" b="1">
                <a:solidFill>
                  <a:srgbClr val="0F6E56"/>
                </a:solidFill>
              </a:rPr>
              <a:t>3.  To store NPR currency precisely, use  →  ✅ DECIMAL</a:t>
            </a:r>
          </a:p>
          <a:p>
            <a:pPr lvl="1"/>
            <a:r>
              <a:rPr sz="1250" b="1">
                <a:solidFill>
                  <a:srgbClr val="0F6E56"/>
                </a:solidFill>
              </a:rPr>
              <a:t>4.  Which clause filters rows?  →  ✅ WHERE</a:t>
            </a:r>
          </a:p>
          <a:p>
            <a:pPr lvl="1"/>
            <a:r>
              <a:rPr sz="1250" b="1">
                <a:solidFill>
                  <a:srgbClr val="0F6E56"/>
                </a:solidFill>
              </a:rPr>
              <a:t>5.  SELECT chooses  →  ✅ columns (projection)</a:t>
            </a:r>
          </a:p>
          <a:p>
            <a:pPr lvl="1"/>
            <a:r>
              <a:rPr sz="1250" b="1">
                <a:solidFill>
                  <a:srgbClr val="0F6E56"/>
                </a:solidFill>
              </a:rPr>
              <a:t>6.  LIKE '%a' matches names that  →  ✅ end with 'a'</a:t>
            </a:r>
          </a:p>
          <a:p>
            <a:pPr lvl="1"/>
            <a:r>
              <a:rPr sz="1250" b="1">
                <a:solidFill>
                  <a:srgbClr val="0F6E56"/>
                </a:solidFill>
              </a:rPr>
              <a:t>7.  '_' in LIKE matches  →  ✅ exactly one character</a:t>
            </a:r>
          </a:p>
          <a:p>
            <a:pPr lvl="1"/>
            <a:r>
              <a:rPr sz="1250" b="1">
                <a:solidFill>
                  <a:srgbClr val="0F6E56"/>
                </a:solidFill>
              </a:rPr>
              <a:t>8.  Default ORDER BY direction is  →  ✅ ascending (ASC)</a:t>
            </a:r>
          </a:p>
          <a:p>
            <a:pPr lvl="1"/>
            <a:r>
              <a:rPr sz="1250" b="1">
                <a:solidFill>
                  <a:srgbClr val="0F6E56"/>
                </a:solidFill>
              </a:rPr>
              <a:t>9.  Which removes duplicates?  →  ✅ UNION (UNION ALL keeps them)</a:t>
            </a:r>
          </a:p>
          <a:p>
            <a:pPr lvl="1"/>
            <a:r>
              <a:rPr sz="1250" b="1">
                <a:solidFill>
                  <a:srgbClr val="0F6E56"/>
                </a:solidFill>
              </a:rPr>
              <a:t>10.  INTERSECT returns  →  ✅ rows in BOTH result sets</a:t>
            </a:r>
          </a:p>
          <a:p>
            <a:pPr lvl="1"/>
            <a:r>
              <a:rPr sz="1250" b="1">
                <a:solidFill>
                  <a:srgbClr val="0F6E56"/>
                </a:solidFill>
              </a:rPr>
              <a:t>11.  Which can appear in WHERE?  →  ✅ salary&gt;5000 (not COUNT(*)&gt;5)</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216 / 219</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Part A — Concept MCQs (12–22,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12.  HAVING filters  →  ✅ groups</a:t>
            </a:r>
          </a:p>
          <a:p>
            <a:pPr lvl="1"/>
            <a:r>
              <a:rPr sz="1250" b="1">
                <a:solidFill>
                  <a:srgbClr val="0F6E56"/>
                </a:solidFill>
              </a:rPr>
              <a:t>13.  WHERE grade = NULL returns  →  ✅ no rows (use IS NULL)</a:t>
            </a:r>
          </a:p>
          <a:p>
            <a:pPr lvl="1"/>
            <a:r>
              <a:rPr sz="1250" b="1">
                <a:solidFill>
                  <a:srgbClr val="0F6E56"/>
                </a:solidFill>
              </a:rPr>
              <a:t>14.  COUNT(*) vs COUNT(col) differ when  →  ✅ col has NULLs</a:t>
            </a:r>
          </a:p>
          <a:p>
            <a:pPr lvl="1"/>
            <a:r>
              <a:rPr sz="1250" b="1">
                <a:solidFill>
                  <a:srgbClr val="0F6E56"/>
                </a:solidFill>
              </a:rPr>
              <a:t>15.  &gt; ALL(subquery) is true when the value exceeds  →  ✅ every value</a:t>
            </a:r>
          </a:p>
          <a:p>
            <a:pPr lvl="1"/>
            <a:r>
              <a:rPr sz="1250" b="1">
                <a:solidFill>
                  <a:srgbClr val="0F6E56"/>
                </a:solidFill>
              </a:rPr>
              <a:t>16.  EXISTS is true when the subquery  →  ✅ returns ≥1 row</a:t>
            </a:r>
          </a:p>
          <a:p>
            <a:pPr lvl="1"/>
            <a:r>
              <a:rPr sz="1250" b="1">
                <a:solidFill>
                  <a:srgbClr val="0F6E56"/>
                </a:solidFill>
              </a:rPr>
              <a:t>17.  A standard view stores  →  ✅ the query, not the data</a:t>
            </a:r>
          </a:p>
          <a:p>
            <a:pPr lvl="1"/>
            <a:r>
              <a:rPr sz="1250" b="1">
                <a:solidFill>
                  <a:srgbClr val="0F6E56"/>
                </a:solidFill>
              </a:rPr>
              <a:t>18.  A non-updatable view typically contains  →  ✅ GROUP BY / aggregate / join</a:t>
            </a:r>
          </a:p>
          <a:p>
            <a:pPr lvl="1"/>
            <a:r>
              <a:rPr sz="1250" b="1">
                <a:solidFill>
                  <a:srgbClr val="0F6E56"/>
                </a:solidFill>
              </a:rPr>
              <a:t>19.  LEFT JOIN keeps unmatched rows from  →  ✅ the left table</a:t>
            </a:r>
          </a:p>
          <a:p>
            <a:pPr lvl="1"/>
            <a:r>
              <a:rPr sz="1250" b="1">
                <a:solidFill>
                  <a:srgbClr val="0F6E56"/>
                </a:solidFill>
              </a:rPr>
              <a:t>20.  A DML trigger runs  →  ✅ automatically on INSERT/UPDATE/DELETE</a:t>
            </a:r>
          </a:p>
          <a:p>
            <a:pPr lvl="1"/>
            <a:r>
              <a:rPr sz="1250" b="1">
                <a:solidFill>
                  <a:srgbClr val="0F6E56"/>
                </a:solidFill>
              </a:rPr>
              <a:t>21.  Indexes typically make reads ___ and writes ___  →  ✅ faster / slower</a:t>
            </a:r>
          </a:p>
          <a:p>
            <a:pPr lvl="1"/>
            <a:r>
              <a:rPr sz="1250" b="1">
                <a:solidFill>
                  <a:srgbClr val="0F6E56"/>
                </a:solidFill>
              </a:rPr>
              <a:t>22.  CALL invokes a  →  ✅ stored procedure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217 / 219</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Parts B &amp; C — write the SQL, short answer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Part B — Write the SQL (college schema)</a:t>
            </a:r>
          </a:p>
          <a:p>
            <a:pPr lvl="1">
              <a:spcBef>
                <a:spcPts val="200"/>
              </a:spcBef>
            </a:pPr>
            <a:r>
              <a:rPr sz="1250" i="1">
                <a:solidFill>
                  <a:srgbClr val="1A1A1A"/>
                </a:solidFill>
              </a:rPr>
              <a:t>1. Name+program of all 4th-sem BIM students (S23).   2. Average marks per course, only courses with &gt;30 students (S26).</a:t>
            </a:r>
          </a:p>
          <a:p>
            <a:pPr lvl="1">
              <a:spcBef>
                <a:spcPts val="200"/>
              </a:spcBef>
            </a:pPr>
            <a:r>
              <a:rPr sz="1250" i="1">
                <a:solidFill>
                  <a:srgbClr val="1A1A1A"/>
                </a:solidFill>
              </a:rPr>
              <a:t>3. Students with NO enrollment (LEFT JOIN / NOT EXISTS — S29/S33).   4. Name(s) of the highest-paid instructor (&gt;= ALL or MAX — S28).</a:t>
            </a:r>
          </a:p>
          <a:p>
            <a:pPr lvl="1">
              <a:spcBef>
                <a:spcPts val="200"/>
              </a:spcBef>
            </a:pPr>
            <a:r>
              <a:rPr sz="1250" i="1">
                <a:solidFill>
                  <a:srgbClr val="1A1A1A"/>
                </a:solidFill>
              </a:rPr>
              <a:t>5. Create a view MeritList(roll,name,marks) sorted by marks desc, then select from it (S30).   6. Increase IT-dept salaries by 10% (UPDATE+WHERE — S31).</a:t>
            </a:r>
          </a:p>
          <a:p>
            <a:pPr>
              <a:spcBef>
                <a:spcPts val="500"/>
              </a:spcBef>
            </a:pPr>
            <a:r>
              <a:rPr sz="1400" b="1">
                <a:solidFill>
                  <a:srgbClr val="0C2B4A"/>
                </a:solidFill>
              </a:rPr>
              <a:t>Part C — Short answer / discussion</a:t>
            </a:r>
          </a:p>
          <a:p>
            <a:pPr lvl="1">
              <a:spcBef>
                <a:spcPts val="200"/>
              </a:spcBef>
            </a:pPr>
            <a:r>
              <a:rPr sz="1250" i="1">
                <a:solidFill>
                  <a:srgbClr val="1A1A1A"/>
                </a:solidFill>
              </a:rPr>
              <a:t>• Difference between WHERE and HAVING with one example each.   • Why IS NULL is required instead of = NULL (three-valued logic).</a:t>
            </a:r>
          </a:p>
          <a:p>
            <a:pPr lvl="1">
              <a:spcBef>
                <a:spcPts val="200"/>
              </a:spcBef>
            </a:pPr>
            <a:r>
              <a:rPr sz="1250" i="1">
                <a:solidFill>
                  <a:srgbClr val="1A1A1A"/>
                </a:solidFill>
              </a:rPr>
              <a:t>• One real Nepali-app scenario each for INNER JOIN and LEFT JOIN.   • When would you add an index, and what is its cost?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218 / 219</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5  ·  IT 220</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S22–S36 complete: DDL &amp; constraints · SELECT/WHERE · rename/strings · ORDER BY/DISTINCT/sets · aggregates &amp; GROUP BY/HAVING · NULL &amp; 3VL · subqueries (IN/SOME/ALL, EXISTS/UNIQUE) · views · INSERT/UPDATE/DELETE · view updatability · joins · procedures · triggers &amp; indexes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worked-SQL &amp; comparison tables throughout · MySQL / MariaDB · self-contained, PDF-safe · Next: Unit 6 — Transactions, Concurrency &amp; Recovery.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219 / 219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