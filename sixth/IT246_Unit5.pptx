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Draw out that 'the internet' is only part of it, and that 'secure' needs a precise meaning. Agenda: cyberspace → cybersecurity (people+process+tech) → the CIA triad.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Kill the 'cyberspace = my browser tabs' reflex early. Point at NEA billing / OT and the Nagarik App as parts of the same domain that need protecting.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The mini case: a college server reachable from the internet with a default admin password — is the threat the password, the exposure, or both? (Both — a process failure and an exposure.)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Map each Nepal incident to a leg: DDoS on e-banking = A; leaked database = C; altered exam result / land record = I. Keep returning to the stool analogy.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Draw out that 'secure' means all three legs, not just secrecy — and that the ranking depends on the system.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Draw out that each convenience added an entry point but rarely a defender. Agenda: technology growth → economic-model shifts → outsourcing &amp; supply chain.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Contrast 2010 (a till + one PC) with 2026 (QR pay, cloud DB, app, CCTV, staff phones). Each convenience is also a door.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The mini case: why does a low-skill criminal in 2026 pose more risk than one in 2010? Answer — rented, ready-made tools. Localise: pre-packaged phishing kits aimed at Nepali users.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Localise: Nepali banks/government outsourcing software development or hosting to outside vendors. If the vendor is breached, the bank's customers are the ones harmed.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Draw out that convenience adds doors, crime is now a cheap rented service, and outsourcing keeps the accountability with you.</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Draw out that the SAME threat carries very different risk depending on vulnerability and impact. Agenda: threat vs vulnerability vs asset → the risk formula → what security actually mitigates.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Hammer the distinction with the flood analogy. A threat with no matching vulnerability ≈ harmless; patching is removing the vulnerability so the threat can't land.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Work the campus ranking case out loud. Then map to the matrix: high-impact financial systems get the most defence budget for a reason.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The analogy: you can't make crossing the road risk-free, but a zebra crossing + looking both ways makes the risk acceptable. Same for systems — reduce, don't fantasise about zero.</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Draw out that risk multiplies three factors, and that defence usually targets vulnerability and impact (not the threat itself).</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Frame the whole session as RECOGNISE-and-DEFEND — no attack recipes. Agenda: malware → phishing → DoS → poisoned web services. Every attack is paired with its defence.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Localise: pirated software is a common infection route in Nepal, and ransomware has hit Nepali businesses and government offices. Keep it about recognition + defence.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Work the 'principal asks for gift cards' mini case: list 3 red flags. Localise: fake eSewa/Khalti reward, fake bank-KYC SMS, fake Nepal Police/IRD fine, look-alike bank URLs.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Localise: Nepali bank / government portals knocked offline during hacktivist campaigns. Strictly conceptual — the point is recognising the CIA goal hit (Availability) and the defences.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Localise: defacement of Nepali government websites; cloned/fake banking login pages on poisoned or look-alike sites. Bust 'HTTPS = safe': the padlock means encrypted, not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Reinforce: name the attack, name the CIA goal it hits, name the defence. Keep everything recognition-and-defence.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Frame as conceptual recognition + countermeasures only — no execution steps. Agenda: MITM → ARP poisoning → DNS poisoning → why infrastructure attacks are dangerous.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Localise: open Wi-Fi at Kathmandu cafés/airports/campuses as a MITM risk for anyone checking e-banking. The fix is encryption, which makes intercepted traffic unreadable and un-alterable.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Mini case: on a shared office LAN, why does HTTPS/VPN still protect you even if the LAN is poisoned? Because the attacker sees only encrypted, useless traffic. Keep it conceptual.</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Localise: redirecting users typing a Nepali bank's domain to a cloned phishing login (framed as the threat + how to detect it). The certificate warning is the defence that catches it.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Tie the session together: three different attacks, one repeated defence — encryption and heeding warnings. That's the takeaway students must leave with.</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Land the through-line: three plumbing attacks, one repeated defence — encryption plus heeding certificate warnings.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Draw out that MOTIVE and AUTHORISATION — not skill — define the hat. Agenda: coloured hats → attacker types by motive → why classifying attackers shapes defence.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Localise: Nepali ethical-hacker/bug-bounty researchers who responsibly report flaws in bank/government sites (white) vs those who defaced them (black). Bust 'all hackers are criminals'.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min. Mini case: a site defaced with a political message and no money stolen — which type? (Hacktivist.) Localise each type with a Nepal example. Note insiders can be negligent, not just malicious.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 The analogy: hats are like jersey colours — same game, but you defend differently against each team. Land that insiders + phishing, not a lone genius, cause much of the real damage.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Land the two big corrections: the hat is intent+authorisation not skill, and insiders/phishing cause much of the real damage.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as a 15–20 min in-class quiz or take-home review.</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 A.</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Sections B–D. Model answers on the concept slides and in Unit5_material.md. All defensive/conceptual.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2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3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3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3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Unit 5 — Fundamentals of Cybersecurity</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IT 246: IT Ethics &amp; Cybersecurity  ·  BIM 6th Semester  ·  Sessions S22–S27</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DEFENSIVE / awareness unit — every attack is described only to recognise and defend against it (no attack recipes). Self-contained slides with depth: every concept grounded in comparison &amp; concrete-example TABLES (Nepal / IT localised). Exports to PDF with no information lost.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 / 94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FUNDAMENTALS OF CYBERSECURITY  ·  S22–S27</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Unit 5 — Learning Outcomes</a:t>
            </a:r>
          </a:p>
        </p:txBody>
      </p:sp>
      <p:sp>
        <p:nvSpPr>
          <p:cNvPr id="5" name="TextBox 4"/>
          <p:cNvSpPr txBox="1"/>
          <p:nvPr/>
        </p:nvSpPr>
        <p:spPr>
          <a:xfrm>
            <a:off x="640080" y="1600200"/>
            <a:ext cx="10972800" cy="4206240"/>
          </a:xfrm>
          <a:prstGeom prst="rect">
            <a:avLst/>
          </a:prstGeom>
          <a:noFill/>
        </p:spPr>
        <p:txBody>
          <a:bodyPr wrap="square">
            <a:spAutoFit/>
          </a:bodyPr>
          <a:lstStyle/>
          <a:p>
            <a:pPr>
              <a:spcAft>
                <a:spcPts val="800"/>
              </a:spcAft>
            </a:pPr>
            <a:r>
              <a:rPr sz="1600" b="1">
                <a:solidFill>
                  <a:srgbClr val="0C2B4A"/>
                </a:solidFill>
              </a:rPr>
              <a:t>By the end of this unit, you will be able to:</a:t>
            </a:r>
          </a:p>
          <a:p>
            <a:pPr>
              <a:spcAft>
                <a:spcPts val="500"/>
              </a:spcAft>
            </a:pPr>
            <a:r>
              <a:rPr sz="1450">
                <a:solidFill>
                  <a:srgbClr val="1A1A1A"/>
                </a:solidFill>
              </a:rPr>
              <a:t>•  Define cyberspace and cybersecurity, and explain the CIA triad as the core objective (S22)</a:t>
            </a:r>
          </a:p>
          <a:p>
            <a:pPr>
              <a:spcAft>
                <a:spcPts val="500"/>
              </a:spcAft>
            </a:pPr>
            <a:r>
              <a:rPr sz="1450">
                <a:solidFill>
                  <a:srgbClr val="1A1A1A"/>
                </a:solidFill>
              </a:rPr>
              <a:t>•  Explain how technology, economic-model shifts, and outsourcing reshape the threat landscape (S23)</a:t>
            </a:r>
          </a:p>
          <a:p>
            <a:pPr>
              <a:spcAft>
                <a:spcPts val="500"/>
              </a:spcAft>
            </a:pPr>
            <a:r>
              <a:rPr sz="1450">
                <a:solidFill>
                  <a:srgbClr val="1A1A1A"/>
                </a:solidFill>
              </a:rPr>
              <a:t>•  Express risk as threat × vulnerability × impact and use it to prioritise defences (S24)</a:t>
            </a:r>
          </a:p>
          <a:p>
            <a:pPr>
              <a:spcAft>
                <a:spcPts val="500"/>
              </a:spcAft>
            </a:pPr>
            <a:r>
              <a:rPr sz="1450">
                <a:solidFill>
                  <a:srgbClr val="1A1A1A"/>
                </a:solidFill>
              </a:rPr>
              <a:t>•  Recognise common attacks — malware, phishing, DoS, poisoned web services — and their defences (S25)</a:t>
            </a:r>
          </a:p>
          <a:p>
            <a:pPr>
              <a:spcAft>
                <a:spcPts val="500"/>
              </a:spcAft>
            </a:pPr>
            <a:r>
              <a:rPr sz="1450">
                <a:solidFill>
                  <a:srgbClr val="1A1A1A"/>
                </a:solidFill>
              </a:rPr>
              <a:t>•  Explain ARP/DNS poisoning and man-in-the-middle conceptually, and name the countermeasures (S26)</a:t>
            </a:r>
          </a:p>
          <a:p>
            <a:pPr>
              <a:spcAft>
                <a:spcPts val="500"/>
              </a:spcAft>
            </a:pPr>
            <a:r>
              <a:rPr sz="1450">
                <a:solidFill>
                  <a:srgbClr val="1A1A1A"/>
                </a:solidFill>
              </a:rPr>
              <a:t>•  Classify cyberattackers by motive and 'hat' (white/grey/black, script kiddies, hacktivists, state, insiders) (S27)</a:t>
            </a:r>
          </a:p>
        </p:txBody>
      </p:sp>
      <p:sp>
        <p:nvSpPr>
          <p:cNvPr id="6" name="Rounded Rectangle 5"/>
          <p:cNvSpPr/>
          <p:nvPr/>
        </p:nvSpPr>
        <p:spPr>
          <a:xfrm>
            <a:off x="640080" y="5806440"/>
            <a:ext cx="10972800" cy="77724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Course context</a:t>
            </a:r>
          </a:p>
          <a:p>
            <a:pPr>
              <a:spcBef>
                <a:spcPts val="300"/>
              </a:spcBef>
            </a:pPr>
            <a:r>
              <a:rPr sz="1300">
                <a:solidFill>
                  <a:srgbClr val="1A1A1A"/>
                </a:solidFill>
              </a:rPr>
              <a:t>This is Unit 5 of IT 246 — the shift from ETHICS (Units 1–4) to DEFENCE. It gives you the vocabulary (CIA, risk, threat vs vulnerability) and the attack/defence pairs you will use for the rest of the course. Everything here is framed to defend, never to attack.</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 / 94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5 — ROADMAP</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Where each session fits (S22–S27)</a:t>
            </a:r>
          </a:p>
        </p:txBody>
      </p:sp>
      <p:sp>
        <p:nvSpPr>
          <p:cNvPr id="5" name="Rounded Rectangle 4"/>
          <p:cNvSpPr/>
          <p:nvPr/>
        </p:nvSpPr>
        <p:spPr>
          <a:xfrm>
            <a:off x="640080" y="1645920"/>
            <a:ext cx="5349240" cy="416052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THIS UNIT  ·  S1–S5</a:t>
            </a:r>
          </a:p>
          <a:p>
            <a:pPr>
              <a:spcBef>
                <a:spcPts val="300"/>
              </a:spcBef>
            </a:pPr>
            <a:r>
              <a:rPr sz="1400">
                <a:solidFill>
                  <a:srgbClr val="1A1A1A"/>
                </a:solidFill>
              </a:rPr>
              <a:t>S22  Cyberspace, cybersecurity &amp; the CIA triad
S23  Threat-landscape drivers (tech · economics · outsourcing)
S24  Risk = threat × vulnerability × impact
S25  Common attacks + poisoned web services (defence)
S26  Network poisoning: ARP · DNS · MITM (defence)
S27  Cyberattackers &amp; their coloured hats — closes unit</a:t>
            </a:r>
          </a:p>
        </p:txBody>
      </p:sp>
      <p:sp>
        <p:nvSpPr>
          <p:cNvPr id="6" name="Rounded Rectangle 5"/>
          <p:cNvSpPr/>
          <p:nvPr/>
        </p:nvSpPr>
        <p:spPr>
          <a:xfrm>
            <a:off x="6199632" y="1645920"/>
            <a:ext cx="5349240" cy="4160520"/>
          </a:xfrm>
          <a:prstGeom prst="roundRect">
            <a:avLst/>
          </a:prstGeom>
          <a:solidFill>
            <a:srgbClr val="F2F5F8"/>
          </a:solidFill>
          <a:ln w="12700">
            <a:solidFill>
              <a:srgbClr val="55606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55606B"/>
                </a:solidFill>
              </a:rPr>
              <a:t>⏭️  LATER UNITS</a:t>
            </a:r>
          </a:p>
          <a:p>
            <a:pPr>
              <a:spcBef>
                <a:spcPts val="300"/>
              </a:spcBef>
            </a:pPr>
            <a:r>
              <a:rPr sz="1400">
                <a:solidFill>
                  <a:srgbClr val="1A1A1A"/>
                </a:solidFill>
              </a:rPr>
              <a:t>Units 6–8   Personal security, cryptography &amp; digital forensics
Unit 9   Cyber law in Nepal (ETA 2063, Privacy Act)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 / 94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22 · LECTURE HOUR 1 (OF 6)</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Introduction to Cyberspace &amp; Cybersecurity · the CIA Triad</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Your eSewa balance, your exam results on a college portal, the NEA billing system, the army's email — all live in the same 'place' that doesn't physically exist. Who is responsible for keeping it safe, and safe from what exactly?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 / 94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Is Cyberspace</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Cyberspace is the interconnected digital environment of networks, systems, data, and the people and devices using them. It is not just 'the internet' — it includes private and bank networks, the cloud, OT/ICS (industrial control), and mobile. Think of it as a domain, like land, sea, air, and space.</a:t>
            </a:r>
          </a:p>
          <a:p>
            <a:pPr>
              <a:spcAft>
                <a:spcPts val="500"/>
              </a:spcAft>
            </a:pPr>
            <a:r>
              <a:rPr sz="1200" b="1">
                <a:solidFill>
                  <a:srgbClr val="185FA5"/>
                </a:solidFill>
              </a:rPr>
              <a:t>HOW IT WORKS</a:t>
            </a:r>
          </a:p>
          <a:p>
            <a:pPr>
              <a:spcAft>
                <a:spcPts val="600"/>
              </a:spcAft>
            </a:pPr>
            <a:r>
              <a:rPr sz="1400">
                <a:solidFill>
                  <a:srgbClr val="1A1A1A"/>
                </a:solidFill>
              </a:rPr>
              <a:t>•  It spans public internet AND private networks, cloud, and offline-connected devices.</a:t>
            </a:r>
          </a:p>
          <a:p>
            <a:pPr>
              <a:spcAft>
                <a:spcPts val="600"/>
              </a:spcAft>
            </a:pPr>
            <a:r>
              <a:rPr sz="1400">
                <a:solidFill>
                  <a:srgbClr val="1A1A1A"/>
                </a:solidFill>
              </a:rPr>
              <a:t>•  OT/ICS — the software running a power grid or water plant — is part of cyberspace too.</a:t>
            </a:r>
          </a:p>
          <a:p>
            <a:pPr>
              <a:spcAft>
                <a:spcPts val="600"/>
              </a:spcAft>
            </a:pPr>
            <a:r>
              <a:rPr sz="1400">
                <a:solidFill>
                  <a:srgbClr val="1A1A1A"/>
                </a:solidFill>
              </a:rPr>
              <a:t>•  Militaries treat it as the 'fifth domain' of conflict (after land, sea, air, space).</a:t>
            </a:r>
          </a:p>
          <a:p>
            <a:pPr>
              <a:spcAft>
                <a:spcPts val="600"/>
              </a:spcAft>
            </a:pPr>
            <a:r>
              <a:rPr sz="1400">
                <a:solidFill>
                  <a:srgbClr val="1A1A1A"/>
                </a:solidFill>
              </a:rPr>
              <a:t>•  Nepal's cyberspace is growing fast: National ID, eSewa/Khalti, Nagarik App, e-governance portals.</a:t>
            </a:r>
          </a:p>
        </p:txBody>
      </p:sp>
      <p:pic>
        <p:nvPicPr>
          <p:cNvPr id="6" name="Picture 5" descr="s22_domains.png"/>
          <p:cNvPicPr>
            <a:picLocks noChangeAspect="1"/>
          </p:cNvPicPr>
          <p:nvPr/>
        </p:nvPicPr>
        <p:blipFill>
          <a:blip r:embed="rId2"/>
          <a:stretch>
            <a:fillRect/>
          </a:stretch>
        </p:blipFill>
        <p:spPr>
          <a:xfrm>
            <a:off x="6355080" y="2654402"/>
            <a:ext cx="5532120" cy="2326435"/>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Cyberspace = the whole connected digital domain, not just the websites you visit.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 / 94</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 1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Is this part of cyberspace? — beyond 'the websites I visit'</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4070958"/>
                <a:gridCol w="2661780"/>
                <a:gridCol w="4697260"/>
              </a:tblGrid>
              <a:tr h="630936">
                <a:tc>
                  <a:txBody>
                    <a:bodyPr wrap="square"/>
                    <a:lstStyle/>
                    <a:p>
                      <a:r>
                        <a:rPr sz="1150" b="1">
                          <a:solidFill>
                            <a:srgbClr val="FFFFFF"/>
                          </a:solidFill>
                        </a:rPr>
                        <a:t>Real thing (Nepal / IT)</a:t>
                      </a:r>
                    </a:p>
                  </a:txBody>
                  <a:tcPr anchor="ctr" marL="73152" marR="54864" marT="27432" marB="27432">
                    <a:solidFill>
                      <a:srgbClr val="0C2B4A"/>
                    </a:solidFill>
                  </a:tcPr>
                </a:tc>
                <a:tc>
                  <a:txBody>
                    <a:bodyPr wrap="square"/>
                    <a:lstStyle/>
                    <a:p>
                      <a:r>
                        <a:rPr sz="1150" b="1">
                          <a:solidFill>
                            <a:srgbClr val="FFFFFF"/>
                          </a:solidFill>
                        </a:rPr>
                        <a:t>Part of cyberspace?</a:t>
                      </a:r>
                    </a:p>
                  </a:txBody>
                  <a:tcPr anchor="ctr" marL="73152" marR="54864" marT="27432" marB="27432">
                    <a:solidFill>
                      <a:srgbClr val="0C2B4A"/>
                    </a:solidFill>
                  </a:tcPr>
                </a:tc>
                <a:tc>
                  <a:txBody>
                    <a:bodyPr wrap="square"/>
                    <a:lstStyle/>
                    <a:p>
                      <a:r>
                        <a:rPr sz="1150" b="1">
                          <a:solidFill>
                            <a:srgbClr val="FFFFFF"/>
                          </a:solidFill>
                        </a:rPr>
                        <a:t>Why (verdict)</a:t>
                      </a:r>
                    </a:p>
                  </a:txBody>
                  <a:tcPr anchor="ctr" marL="73152" marR="54864" marT="27432" marB="27432">
                    <a:solidFill>
                      <a:srgbClr val="0C2B4A"/>
                    </a:solidFill>
                  </a:tcPr>
                </a:tc>
              </a:tr>
              <a:tr h="630936">
                <a:tc>
                  <a:txBody>
                    <a:bodyPr wrap="square"/>
                    <a:lstStyle/>
                    <a:p>
                      <a:r>
                        <a:rPr sz="1100" b="1">
                          <a:solidFill>
                            <a:srgbClr val="0C2B4A"/>
                          </a:solidFill>
                        </a:rPr>
                        <a:t>The websites you browse</a:t>
                      </a:r>
                    </a:p>
                  </a:txBody>
                  <a:tcPr anchor="ctr" marL="73152" marR="54864" marT="27432" marB="27432">
                    <a:solidFill>
                      <a:srgbClr val="FFFFFF"/>
                    </a:solidFill>
                  </a:tcPr>
                </a:tc>
                <a:tc>
                  <a:txBody>
                    <a:bodyPr wrap="square"/>
                    <a:lstStyle/>
                    <a:p>
                      <a:r>
                        <a:rPr sz="1100">
                          <a:solidFill>
                            <a:srgbClr val="1A1A1A"/>
                          </a:solidFill>
                        </a:rPr>
                        <a:t>Yes</a:t>
                      </a:r>
                    </a:p>
                  </a:txBody>
                  <a:tcPr anchor="ctr" marL="73152" marR="54864" marT="27432" marB="27432">
                    <a:solidFill>
                      <a:srgbClr val="FFFFFF"/>
                    </a:solidFill>
                  </a:tcPr>
                </a:tc>
                <a:tc>
                  <a:txBody>
                    <a:bodyPr wrap="square"/>
                    <a:lstStyle/>
                    <a:p>
                      <a:r>
                        <a:rPr sz="1100">
                          <a:solidFill>
                            <a:srgbClr val="1A1A1A"/>
                          </a:solidFill>
                        </a:rPr>
                        <a:t>The visible surface — but only a slice of the whole</a:t>
                      </a:r>
                    </a:p>
                  </a:txBody>
                  <a:tcPr anchor="ctr" marL="73152" marR="54864" marT="27432" marB="27432">
                    <a:solidFill>
                      <a:srgbClr val="FFFFFF"/>
                    </a:solidFill>
                  </a:tcPr>
                </a:tc>
              </a:tr>
              <a:tr h="630936">
                <a:tc>
                  <a:txBody>
                    <a:bodyPr wrap="square"/>
                    <a:lstStyle/>
                    <a:p>
                      <a:r>
                        <a:rPr sz="1100" b="1">
                          <a:solidFill>
                            <a:srgbClr val="0C2B4A"/>
                          </a:solidFill>
                        </a:rPr>
                        <a:t>A bank's back-end customer database</a:t>
                      </a:r>
                    </a:p>
                  </a:txBody>
                  <a:tcPr anchor="ctr" marL="73152" marR="54864" marT="27432" marB="27432">
                    <a:solidFill>
                      <a:srgbClr val="EEF3F8"/>
                    </a:solidFill>
                  </a:tcPr>
                </a:tc>
                <a:tc>
                  <a:txBody>
                    <a:bodyPr wrap="square"/>
                    <a:lstStyle/>
                    <a:p>
                      <a:r>
                        <a:rPr sz="1100">
                          <a:solidFill>
                            <a:srgbClr val="1A1A1A"/>
                          </a:solidFill>
                        </a:rPr>
                        <a:t>Yes</a:t>
                      </a:r>
                    </a:p>
                  </a:txBody>
                  <a:tcPr anchor="ctr" marL="73152" marR="54864" marT="27432" marB="27432">
                    <a:solidFill>
                      <a:srgbClr val="EEF3F8"/>
                    </a:solidFill>
                  </a:tcPr>
                </a:tc>
                <a:tc>
                  <a:txBody>
                    <a:bodyPr wrap="square"/>
                    <a:lstStyle/>
                    <a:p>
                      <a:r>
                        <a:rPr sz="1100">
                          <a:solidFill>
                            <a:srgbClr val="1A1A1A"/>
                          </a:solidFill>
                        </a:rPr>
                        <a:t>Private systems are cyberspace even if you never see them</a:t>
                      </a:r>
                    </a:p>
                  </a:txBody>
                  <a:tcPr anchor="ctr" marL="73152" marR="54864" marT="27432" marB="27432">
                    <a:solidFill>
                      <a:srgbClr val="EEF3F8"/>
                    </a:solidFill>
                  </a:tcPr>
                </a:tc>
              </a:tr>
              <a:tr h="630936">
                <a:tc>
                  <a:txBody>
                    <a:bodyPr wrap="square"/>
                    <a:lstStyle/>
                    <a:p>
                      <a:r>
                        <a:rPr sz="1100" b="1">
                          <a:solidFill>
                            <a:srgbClr val="0C2B4A"/>
                          </a:solidFill>
                        </a:rPr>
                        <a:t>NEA grid / billing control software (OT/ICS)</a:t>
                      </a:r>
                    </a:p>
                  </a:txBody>
                  <a:tcPr anchor="ctr" marL="73152" marR="54864" marT="27432" marB="27432">
                    <a:solidFill>
                      <a:srgbClr val="FFFFFF"/>
                    </a:solidFill>
                  </a:tcPr>
                </a:tc>
                <a:tc>
                  <a:txBody>
                    <a:bodyPr wrap="square"/>
                    <a:lstStyle/>
                    <a:p>
                      <a:r>
                        <a:rPr sz="1100">
                          <a:solidFill>
                            <a:srgbClr val="1A1A1A"/>
                          </a:solidFill>
                        </a:rPr>
                        <a:t>Yes</a:t>
                      </a:r>
                    </a:p>
                  </a:txBody>
                  <a:tcPr anchor="ctr" marL="73152" marR="54864" marT="27432" marB="27432">
                    <a:solidFill>
                      <a:srgbClr val="FFFFFF"/>
                    </a:solidFill>
                  </a:tcPr>
                </a:tc>
                <a:tc>
                  <a:txBody>
                    <a:bodyPr wrap="square"/>
                    <a:lstStyle/>
                    <a:p>
                      <a:r>
                        <a:rPr sz="1100">
                          <a:solidFill>
                            <a:srgbClr val="1A1A1A"/>
                          </a:solidFill>
                        </a:rPr>
                        <a:t>Operational technology is a critical, often-forgotten part</a:t>
                      </a:r>
                    </a:p>
                  </a:txBody>
                  <a:tcPr anchor="ctr" marL="73152" marR="54864" marT="27432" marB="27432">
                    <a:solidFill>
                      <a:srgbClr val="FFFFFF"/>
                    </a:solidFill>
                  </a:tcPr>
                </a:tc>
              </a:tr>
              <a:tr h="630936">
                <a:tc>
                  <a:txBody>
                    <a:bodyPr wrap="square"/>
                    <a:lstStyle/>
                    <a:p>
                      <a:r>
                        <a:rPr sz="1100" b="1">
                          <a:solidFill>
                            <a:srgbClr val="0C2B4A"/>
                          </a:solidFill>
                        </a:rPr>
                        <a:t>The Nagarik App on your phone</a:t>
                      </a:r>
                    </a:p>
                  </a:txBody>
                  <a:tcPr anchor="ctr" marL="73152" marR="54864" marT="27432" marB="27432">
                    <a:solidFill>
                      <a:srgbClr val="EEF3F8"/>
                    </a:solidFill>
                  </a:tcPr>
                </a:tc>
                <a:tc>
                  <a:txBody>
                    <a:bodyPr wrap="square"/>
                    <a:lstStyle/>
                    <a:p>
                      <a:r>
                        <a:rPr sz="1100">
                          <a:solidFill>
                            <a:srgbClr val="1A1A1A"/>
                          </a:solidFill>
                        </a:rPr>
                        <a:t>Yes</a:t>
                      </a:r>
                    </a:p>
                  </a:txBody>
                  <a:tcPr anchor="ctr" marL="73152" marR="54864" marT="27432" marB="27432">
                    <a:solidFill>
                      <a:srgbClr val="EEF3F8"/>
                    </a:solidFill>
                  </a:tcPr>
                </a:tc>
                <a:tc>
                  <a:txBody>
                    <a:bodyPr wrap="square"/>
                    <a:lstStyle/>
                    <a:p>
                      <a:r>
                        <a:rPr sz="1100">
                          <a:solidFill>
                            <a:srgbClr val="1A1A1A"/>
                          </a:solidFill>
                        </a:rPr>
                        <a:t>Mobile apps + their cloud back-ends are all in the domain</a:t>
                      </a:r>
                    </a:p>
                  </a:txBody>
                  <a:tcPr anchor="ctr" marL="73152" marR="54864" marT="27432" marB="27432">
                    <a:solidFill>
                      <a:srgbClr val="EEF3F8"/>
                    </a:solidFill>
                  </a:tcPr>
                </a:tc>
              </a:tr>
              <a:tr h="630936">
                <a:tc>
                  <a:txBody>
                    <a:bodyPr wrap="square"/>
                    <a:lstStyle/>
                    <a:p>
                      <a:r>
                        <a:rPr sz="1100" b="1">
                          <a:solidFill>
                            <a:srgbClr val="0C2B4A"/>
                          </a:solidFill>
                        </a:rPr>
                        <a:t>A smart CCTV / IoT sensor in an office</a:t>
                      </a:r>
                    </a:p>
                  </a:txBody>
                  <a:tcPr anchor="ctr" marL="73152" marR="54864" marT="27432" marB="27432">
                    <a:solidFill>
                      <a:srgbClr val="FFFFFF"/>
                    </a:solidFill>
                  </a:tcPr>
                </a:tc>
                <a:tc>
                  <a:txBody>
                    <a:bodyPr wrap="square"/>
                    <a:lstStyle/>
                    <a:p>
                      <a:r>
                        <a:rPr sz="1100">
                          <a:solidFill>
                            <a:srgbClr val="1A1A1A"/>
                          </a:solidFill>
                        </a:rPr>
                        <a:t>Yes</a:t>
                      </a:r>
                    </a:p>
                  </a:txBody>
                  <a:tcPr anchor="ctr" marL="73152" marR="54864" marT="27432" marB="27432">
                    <a:solidFill>
                      <a:srgbClr val="FFFFFF"/>
                    </a:solidFill>
                  </a:tcPr>
                </a:tc>
                <a:tc>
                  <a:txBody>
                    <a:bodyPr wrap="square"/>
                    <a:lstStyle/>
                    <a:p>
                      <a:r>
                        <a:rPr sz="1100">
                          <a:solidFill>
                            <a:srgbClr val="1A1A1A"/>
                          </a:solidFill>
                        </a:rPr>
                        <a:t>Connected devices are entry points into cyberspace</a:t>
                      </a:r>
                    </a:p>
                  </a:txBody>
                  <a:tcPr anchor="ctr" marL="73152" marR="54864" marT="27432" marB="27432">
                    <a:solidFill>
                      <a:srgbClr val="FFFFFF"/>
                    </a:solidFill>
                  </a:tcPr>
                </a:tc>
              </a:tr>
              <a:tr h="630936">
                <a:tc>
                  <a:txBody>
                    <a:bodyPr wrap="square"/>
                    <a:lstStyle/>
                    <a:p>
                      <a:r>
                        <a:rPr sz="1100" b="1">
                          <a:solidFill>
                            <a:srgbClr val="0C2B4A"/>
                          </a:solidFill>
                        </a:rPr>
                        <a:t>A paper land-record ledger in a cupboard</a:t>
                      </a:r>
                    </a:p>
                  </a:txBody>
                  <a:tcPr anchor="ctr" marL="73152" marR="54864" marT="27432" marB="27432">
                    <a:solidFill>
                      <a:srgbClr val="EEF3F8"/>
                    </a:solidFill>
                  </a:tcPr>
                </a:tc>
                <a:tc>
                  <a:txBody>
                    <a:bodyPr wrap="square"/>
                    <a:lstStyle/>
                    <a:p>
                      <a:r>
                        <a:rPr sz="1100">
                          <a:solidFill>
                            <a:srgbClr val="1A1A1A"/>
                          </a:solidFill>
                        </a:rPr>
                        <a:t>No</a:t>
                      </a:r>
                    </a:p>
                  </a:txBody>
                  <a:tcPr anchor="ctr" marL="73152" marR="54864" marT="27432" marB="27432">
                    <a:solidFill>
                      <a:srgbClr val="EEF3F8"/>
                    </a:solidFill>
                  </a:tcPr>
                </a:tc>
                <a:tc>
                  <a:txBody>
                    <a:bodyPr wrap="square"/>
                    <a:lstStyle/>
                    <a:p>
                      <a:r>
                        <a:rPr sz="1100">
                          <a:solidFill>
                            <a:srgbClr val="1A1A1A"/>
                          </a:solidFill>
                        </a:rPr>
                        <a:t>Not digital / not connected — outside cyberspace (until digitised)</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'Cyberspace = the websites I visit' is the misconception. It includes back-end systems, infrastructure (OT/ICS), cloud, and offline-connected devices — a whole domain like land/sea/air.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 / 94</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Is Cyberspace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Nepal's cyberspace has exploded in a decade: the National ID system, eSewa/Khalti wallets, the Nagarik App, online banking, and e-governance portals all live in it — alongside the NEA billing/grid software you never see. NATO and militaries even treat cyberspace as the 'fifth domain' of conflict after land, sea, air, and space.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"Cyberspace = the websites I visit." It is far larger: back-end databases, cloud, industrial control systems (OT/ICS), and offline-connected devices are all part of it. Protecting cyberspace means protecting the plumbing you never see, not just the pages on your screen.</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Cyberspace is the interconnected digital environment of networks, systems, data, and the people and devices using them — a domain like land, sea, air, and space. It spans the public internet, private and bank networks, the cloud, OT/ICS, and mobile, so it includes back-end systems and infrastructure, not merely the websites a user visits.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cyberspace · fifth domain · networks + systems + data + people · OT/ICS · more than the internet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 / 94</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Is Cybersecurity</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Cybersecurity is the practice of protecting systems, networks, and data from unauthorised access, harm, or disruption. It is a defensive discipline built on three pillars — people, process, and technology — not just antivirus software. The weakest of the three decides how secure you really are.</a:t>
            </a:r>
          </a:p>
          <a:p>
            <a:pPr>
              <a:spcAft>
                <a:spcPts val="500"/>
              </a:spcAft>
            </a:pPr>
            <a:r>
              <a:rPr sz="1200" b="1">
                <a:solidFill>
                  <a:srgbClr val="185FA5"/>
                </a:solidFill>
              </a:rPr>
              <a:t>HOW IT WORKS</a:t>
            </a:r>
          </a:p>
          <a:p>
            <a:pPr>
              <a:spcAft>
                <a:spcPts val="600"/>
              </a:spcAft>
            </a:pPr>
            <a:r>
              <a:rPr sz="1400">
                <a:solidFill>
                  <a:srgbClr val="1A1A1A"/>
                </a:solidFill>
              </a:rPr>
              <a:t>•  People: trained staff who don't click the phishing link or share the OTP.</a:t>
            </a:r>
          </a:p>
          <a:p>
            <a:pPr>
              <a:spcAft>
                <a:spcPts val="600"/>
              </a:spcAft>
            </a:pPr>
            <a:r>
              <a:rPr sz="1400">
                <a:solidFill>
                  <a:srgbClr val="1A1A1A"/>
                </a:solidFill>
              </a:rPr>
              <a:t>•  Process: policies, patching schedules, incident response, backups, access rules.</a:t>
            </a:r>
          </a:p>
          <a:p>
            <a:pPr>
              <a:spcAft>
                <a:spcPts val="600"/>
              </a:spcAft>
            </a:pPr>
            <a:r>
              <a:rPr sz="1400">
                <a:solidFill>
                  <a:srgbClr val="1A1A1A"/>
                </a:solidFill>
              </a:rPr>
              <a:t>•  Technology: firewalls, antivirus/EDR, encryption, MFA — tools, not the whole answer.</a:t>
            </a:r>
          </a:p>
          <a:p>
            <a:pPr>
              <a:spcAft>
                <a:spcPts val="600"/>
              </a:spcAft>
            </a:pPr>
            <a:r>
              <a:rPr sz="1400">
                <a:solidFill>
                  <a:srgbClr val="1A1A1A"/>
                </a:solidFill>
              </a:rPr>
              <a:t>•  In Nepal, NPCERT (the national CERT) coordinates response; banks run security teams under NRB cyber-resilience guidance.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Cybersecurity = people + process + technology; the weakest pillar sets your real security.</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 / 94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People + process + technology — and what fails without each</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661780"/>
                <a:gridCol w="4070958"/>
                <a:gridCol w="4697260"/>
              </a:tblGrid>
              <a:tr h="630936">
                <a:tc>
                  <a:txBody>
                    <a:bodyPr wrap="square"/>
                    <a:lstStyle/>
                    <a:p>
                      <a:r>
                        <a:rPr sz="1150" b="1">
                          <a:solidFill>
                            <a:srgbClr val="FFFFFF"/>
                          </a:solidFill>
                        </a:rPr>
                        <a:t>Pillar</a:t>
                      </a:r>
                    </a:p>
                  </a:txBody>
                  <a:tcPr anchor="ctr" marL="73152" marR="54864" marT="27432" marB="27432">
                    <a:solidFill>
                      <a:srgbClr val="0C2B4A"/>
                    </a:solidFill>
                  </a:tcPr>
                </a:tc>
                <a:tc>
                  <a:txBody>
                    <a:bodyPr wrap="square"/>
                    <a:lstStyle/>
                    <a:p>
                      <a:r>
                        <a:rPr sz="1150" b="1">
                          <a:solidFill>
                            <a:srgbClr val="FFFFFF"/>
                          </a:solidFill>
                        </a:rPr>
                        <a:t>What it is</a:t>
                      </a:r>
                    </a:p>
                  </a:txBody>
                  <a:tcPr anchor="ctr" marL="73152" marR="54864" marT="27432" marB="27432">
                    <a:solidFill>
                      <a:srgbClr val="0C2B4A"/>
                    </a:solidFill>
                  </a:tcPr>
                </a:tc>
                <a:tc>
                  <a:txBody>
                    <a:bodyPr wrap="square"/>
                    <a:lstStyle/>
                    <a:p>
                      <a:r>
                        <a:rPr sz="1150" b="1">
                          <a:solidFill>
                            <a:srgbClr val="FFFFFF"/>
                          </a:solidFill>
                        </a:rPr>
                        <a:t>If this pillar is weak (Nepal / IT)</a:t>
                      </a:r>
                    </a:p>
                  </a:txBody>
                  <a:tcPr anchor="ctr" marL="73152" marR="54864" marT="27432" marB="27432">
                    <a:solidFill>
                      <a:srgbClr val="0C2B4A"/>
                    </a:solidFill>
                  </a:tcPr>
                </a:tc>
              </a:tr>
              <a:tr h="630936">
                <a:tc>
                  <a:txBody>
                    <a:bodyPr wrap="square"/>
                    <a:lstStyle/>
                    <a:p>
                      <a:r>
                        <a:rPr sz="1100" b="1">
                          <a:solidFill>
                            <a:srgbClr val="0C2B4A"/>
                          </a:solidFill>
                        </a:rPr>
                        <a:t>People</a:t>
                      </a:r>
                    </a:p>
                  </a:txBody>
                  <a:tcPr anchor="ctr" marL="73152" marR="54864" marT="27432" marB="27432">
                    <a:solidFill>
                      <a:srgbClr val="FFFFFF"/>
                    </a:solidFill>
                  </a:tcPr>
                </a:tc>
                <a:tc>
                  <a:txBody>
                    <a:bodyPr wrap="square"/>
                    <a:lstStyle/>
                    <a:p>
                      <a:r>
                        <a:rPr sz="1100">
                          <a:solidFill>
                            <a:srgbClr val="1A1A1A"/>
                          </a:solidFill>
                        </a:rPr>
                        <a:t>Trained, aware staff and users</a:t>
                      </a:r>
                    </a:p>
                  </a:txBody>
                  <a:tcPr anchor="ctr" marL="73152" marR="54864" marT="27432" marB="27432">
                    <a:solidFill>
                      <a:srgbClr val="FFFFFF"/>
                    </a:solidFill>
                  </a:tcPr>
                </a:tc>
                <a:tc>
                  <a:txBody>
                    <a:bodyPr wrap="square"/>
                    <a:lstStyle/>
                    <a:p>
                      <a:r>
                        <a:rPr sz="1100">
                          <a:solidFill>
                            <a:srgbClr val="1A1A1A"/>
                          </a:solidFill>
                        </a:rPr>
                        <a:t>A clerk shares an OTP → account drained despite good tech</a:t>
                      </a:r>
                    </a:p>
                  </a:txBody>
                  <a:tcPr anchor="ctr" marL="73152" marR="54864" marT="27432" marB="27432">
                    <a:solidFill>
                      <a:srgbClr val="FFFFFF"/>
                    </a:solidFill>
                  </a:tcPr>
                </a:tc>
              </a:tr>
              <a:tr h="630936">
                <a:tc>
                  <a:txBody>
                    <a:bodyPr wrap="square"/>
                    <a:lstStyle/>
                    <a:p>
                      <a:r>
                        <a:rPr sz="1100" b="1">
                          <a:solidFill>
                            <a:srgbClr val="0C2B4A"/>
                          </a:solidFill>
                        </a:rPr>
                        <a:t>Process</a:t>
                      </a:r>
                    </a:p>
                  </a:txBody>
                  <a:tcPr anchor="ctr" marL="73152" marR="54864" marT="27432" marB="27432">
                    <a:solidFill>
                      <a:srgbClr val="EEF3F8"/>
                    </a:solidFill>
                  </a:tcPr>
                </a:tc>
                <a:tc>
                  <a:txBody>
                    <a:bodyPr wrap="square"/>
                    <a:lstStyle/>
                    <a:p>
                      <a:r>
                        <a:rPr sz="1100">
                          <a:solidFill>
                            <a:srgbClr val="1A1A1A"/>
                          </a:solidFill>
                        </a:rPr>
                        <a:t>Policies, patching, backups, response</a:t>
                      </a:r>
                    </a:p>
                  </a:txBody>
                  <a:tcPr anchor="ctr" marL="73152" marR="54864" marT="27432" marB="27432">
                    <a:solidFill>
                      <a:srgbClr val="EEF3F8"/>
                    </a:solidFill>
                  </a:tcPr>
                </a:tc>
                <a:tc>
                  <a:txBody>
                    <a:bodyPr wrap="square"/>
                    <a:lstStyle/>
                    <a:p>
                      <a:r>
                        <a:rPr sz="1100">
                          <a:solidFill>
                            <a:srgbClr val="1A1A1A"/>
                          </a:solidFill>
                        </a:rPr>
                        <a:t>No patch schedule → a known flaw stays open for months</a:t>
                      </a:r>
                    </a:p>
                  </a:txBody>
                  <a:tcPr anchor="ctr" marL="73152" marR="54864" marT="27432" marB="27432">
                    <a:solidFill>
                      <a:srgbClr val="EEF3F8"/>
                    </a:solidFill>
                  </a:tcPr>
                </a:tc>
              </a:tr>
              <a:tr h="630936">
                <a:tc>
                  <a:txBody>
                    <a:bodyPr wrap="square"/>
                    <a:lstStyle/>
                    <a:p>
                      <a:r>
                        <a:rPr sz="1100" b="1">
                          <a:solidFill>
                            <a:srgbClr val="0C2B4A"/>
                          </a:solidFill>
                        </a:rPr>
                        <a:t>Technology</a:t>
                      </a:r>
                    </a:p>
                  </a:txBody>
                  <a:tcPr anchor="ctr" marL="73152" marR="54864" marT="27432" marB="27432">
                    <a:solidFill>
                      <a:srgbClr val="FFFFFF"/>
                    </a:solidFill>
                  </a:tcPr>
                </a:tc>
                <a:tc>
                  <a:txBody>
                    <a:bodyPr wrap="square"/>
                    <a:lstStyle/>
                    <a:p>
                      <a:r>
                        <a:rPr sz="1100">
                          <a:solidFill>
                            <a:srgbClr val="1A1A1A"/>
                          </a:solidFill>
                        </a:rPr>
                        <a:t>Firewalls, antivirus/EDR, MFA, encryption</a:t>
                      </a:r>
                    </a:p>
                  </a:txBody>
                  <a:tcPr anchor="ctr" marL="73152" marR="54864" marT="27432" marB="27432">
                    <a:solidFill>
                      <a:srgbClr val="FFFFFF"/>
                    </a:solidFill>
                  </a:tcPr>
                </a:tc>
                <a:tc>
                  <a:txBody>
                    <a:bodyPr wrap="square"/>
                    <a:lstStyle/>
                    <a:p>
                      <a:r>
                        <a:rPr sz="1100">
                          <a:solidFill>
                            <a:srgbClr val="1A1A1A"/>
                          </a:solidFill>
                        </a:rPr>
                        <a:t>No MFA → one stolen password = full access</a:t>
                      </a:r>
                    </a:p>
                  </a:txBody>
                  <a:tcPr anchor="ctr" marL="73152" marR="54864" marT="27432" marB="27432">
                    <a:solidFill>
                      <a:srgbClr val="FFFFFF"/>
                    </a:solidFill>
                  </a:tcPr>
                </a:tc>
              </a:tr>
              <a:tr h="630936">
                <a:tc>
                  <a:txBody>
                    <a:bodyPr wrap="square"/>
                    <a:lstStyle/>
                    <a:p>
                      <a:r>
                        <a:rPr sz="1100" b="1">
                          <a:solidFill>
                            <a:srgbClr val="0C2B4A"/>
                          </a:solidFill>
                        </a:rPr>
                        <a:t>People + process</a:t>
                      </a:r>
                    </a:p>
                  </a:txBody>
                  <a:tcPr anchor="ctr" marL="73152" marR="54864" marT="27432" marB="27432">
                    <a:solidFill>
                      <a:srgbClr val="EEF3F8"/>
                    </a:solidFill>
                  </a:tcPr>
                </a:tc>
                <a:tc>
                  <a:txBody>
                    <a:bodyPr wrap="square"/>
                    <a:lstStyle/>
                    <a:p>
                      <a:r>
                        <a:rPr sz="1100">
                          <a:solidFill>
                            <a:srgbClr val="1A1A1A"/>
                          </a:solidFill>
                        </a:rPr>
                        <a:t>Trained staff following a set drill</a:t>
                      </a:r>
                    </a:p>
                  </a:txBody>
                  <a:tcPr anchor="ctr" marL="73152" marR="54864" marT="27432" marB="27432">
                    <a:solidFill>
                      <a:srgbClr val="EEF3F8"/>
                    </a:solidFill>
                  </a:tcPr>
                </a:tc>
                <a:tc>
                  <a:txBody>
                    <a:bodyPr wrap="square"/>
                    <a:lstStyle/>
                    <a:p>
                      <a:r>
                        <a:rPr sz="1100">
                          <a:solidFill>
                            <a:srgbClr val="1A1A1A"/>
                          </a:solidFill>
                        </a:rPr>
                        <a:t>No incident plan → a breach turns into a public disaster</a:t>
                      </a:r>
                    </a:p>
                  </a:txBody>
                  <a:tcPr anchor="ctr" marL="73152" marR="54864" marT="27432" marB="27432">
                    <a:solidFill>
                      <a:srgbClr val="EEF3F8"/>
                    </a:solidFill>
                  </a:tcPr>
                </a:tc>
              </a:tr>
              <a:tr h="630936">
                <a:tc>
                  <a:txBody>
                    <a:bodyPr wrap="square"/>
                    <a:lstStyle/>
                    <a:p>
                      <a:r>
                        <a:rPr sz="1100" b="1">
                          <a:solidFill>
                            <a:srgbClr val="0C2B4A"/>
                          </a:solidFill>
                        </a:rPr>
                        <a:t>Process + tech</a:t>
                      </a:r>
                    </a:p>
                  </a:txBody>
                  <a:tcPr anchor="ctr" marL="73152" marR="54864" marT="27432" marB="27432">
                    <a:solidFill>
                      <a:srgbClr val="FFFFFF"/>
                    </a:solidFill>
                  </a:tcPr>
                </a:tc>
                <a:tc>
                  <a:txBody>
                    <a:bodyPr wrap="square"/>
                    <a:lstStyle/>
                    <a:p>
                      <a:r>
                        <a:rPr sz="1100">
                          <a:solidFill>
                            <a:srgbClr val="1A1A1A"/>
                          </a:solidFill>
                        </a:rPr>
                        <a:t>Backups that are actually tested</a:t>
                      </a:r>
                    </a:p>
                  </a:txBody>
                  <a:tcPr anchor="ctr" marL="73152" marR="54864" marT="27432" marB="27432">
                    <a:solidFill>
                      <a:srgbClr val="FFFFFF"/>
                    </a:solidFill>
                  </a:tcPr>
                </a:tc>
                <a:tc>
                  <a:txBody>
                    <a:bodyPr wrap="square"/>
                    <a:lstStyle/>
                    <a:p>
                      <a:r>
                        <a:rPr sz="1100">
                          <a:solidFill>
                            <a:srgbClr val="1A1A1A"/>
                          </a:solidFill>
                        </a:rPr>
                        <a:t>Untested backup fails on restore → ransomware wins</a:t>
                      </a:r>
                    </a:p>
                  </a:txBody>
                  <a:tcPr anchor="ctr" marL="73152" marR="54864" marT="27432" marB="27432">
                    <a:solidFill>
                      <a:srgbClr val="FFFFFF"/>
                    </a:solidFill>
                  </a:tcPr>
                </a:tc>
              </a:tr>
              <a:tr h="630936">
                <a:tc>
                  <a:txBody>
                    <a:bodyPr wrap="square"/>
                    <a:lstStyle/>
                    <a:p>
                      <a:r>
                        <a:rPr sz="1100" b="1">
                          <a:solidFill>
                            <a:srgbClr val="0C2B4A"/>
                          </a:solidFill>
                        </a:rPr>
                        <a:t>All three</a:t>
                      </a:r>
                    </a:p>
                  </a:txBody>
                  <a:tcPr anchor="ctr" marL="73152" marR="54864" marT="27432" marB="27432">
                    <a:solidFill>
                      <a:srgbClr val="EEF3F8"/>
                    </a:solidFill>
                  </a:tcPr>
                </a:tc>
                <a:tc>
                  <a:txBody>
                    <a:bodyPr wrap="square"/>
                    <a:lstStyle/>
                    <a:p>
                      <a:r>
                        <a:rPr sz="1100">
                          <a:solidFill>
                            <a:srgbClr val="1A1A1A"/>
                          </a:solidFill>
                        </a:rPr>
                        <a:t>A defensive discipline, not a product</a:t>
                      </a:r>
                    </a:p>
                  </a:txBody>
                  <a:tcPr anchor="ctr" marL="73152" marR="54864" marT="27432" marB="27432">
                    <a:solidFill>
                      <a:srgbClr val="EEF3F8"/>
                    </a:solidFill>
                  </a:tcPr>
                </a:tc>
                <a:tc>
                  <a:txBody>
                    <a:bodyPr wrap="square"/>
                    <a:lstStyle/>
                    <a:p>
                      <a:r>
                        <a:rPr sz="1100">
                          <a:solidFill>
                            <a:srgbClr val="1A1A1A"/>
                          </a:solidFill>
                        </a:rPr>
                        <a:t>'We bought antivirus, so we're secure' → false confidence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Security is only as strong as the weakest pillar. Antivirus alone (technology) cannot save you from an untrained clerk (people) or a missing patch policy (process).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 / 94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Is Cybersecurity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In Nepal, NPCERT coordinates incident response, and banks run security teams under NRB cyber-resilience guidance. Worked mini-case: a college server sits on the internet with a default admin password. The threat (someone scanning for it) and the vulnerability (the default password + the exposure) are BOTH real — security means fixing the process and the exposure, not blaming one thing.</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"Cybersecurity just means installing antivirus." Antivirus is one piece of the technology pillar. Real security is people + process + technology together — a trained user, a patching policy, and a firewall — and it is a continuous discipline, not a product you buy once.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Cybersecurity is the practice of protecting systems, networks, and data from unauthorised access, harm, or disruption. It rests on three pillars — people (awareness/training), process (policies, patching, backups, response), and technology (firewalls, antivirus/EDR, MFA, encryption) — and is a defensive discipline, not just antivirus. Its strength is set by the weakest pillar.</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cybersecurity · people + process + technology · defensive discipline · NPCERT · weakest-pillar rule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10 / 94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CIA Triad — Confidentiality, Integrity, Availability</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The CIA triad is the three goals every security control serves: Confidentiality (secrecy / access control), Integrity (data stays unchanged and trustworthy), and Availability (the system is usable when needed). Every attack breaks at least one leg; there are real trade-offs between them.</a:t>
            </a:r>
          </a:p>
          <a:p>
            <a:pPr>
              <a:spcAft>
                <a:spcPts val="500"/>
              </a:spcAft>
            </a:pPr>
            <a:r>
              <a:rPr sz="1200" b="1">
                <a:solidFill>
                  <a:srgbClr val="185FA5"/>
                </a:solidFill>
              </a:rPr>
              <a:t>HOW IT WORKS</a:t>
            </a:r>
          </a:p>
          <a:p>
            <a:pPr>
              <a:spcAft>
                <a:spcPts val="600"/>
              </a:spcAft>
            </a:pPr>
            <a:r>
              <a:rPr sz="1400">
                <a:solidFill>
                  <a:srgbClr val="1A1A1A"/>
                </a:solidFill>
              </a:rPr>
              <a:t>•  Confidentiality = only authorised people can read the data (encryption, access control).</a:t>
            </a:r>
          </a:p>
          <a:p>
            <a:pPr>
              <a:spcAft>
                <a:spcPts val="600"/>
              </a:spcAft>
            </a:pPr>
            <a:r>
              <a:rPr sz="1400">
                <a:solidFill>
                  <a:srgbClr val="1A1A1A"/>
                </a:solidFill>
              </a:rPr>
              <a:t>•  Integrity = data has not been secretly altered (hashing, checksums, audit logs).</a:t>
            </a:r>
          </a:p>
          <a:p>
            <a:pPr>
              <a:spcAft>
                <a:spcPts val="600"/>
              </a:spcAft>
            </a:pPr>
            <a:r>
              <a:rPr sz="1400">
                <a:solidFill>
                  <a:srgbClr val="1A1A1A"/>
                </a:solidFill>
              </a:rPr>
              <a:t>•  Availability = the service is up when users need it (backups, redundancy, capacity).</a:t>
            </a:r>
          </a:p>
          <a:p>
            <a:pPr>
              <a:spcAft>
                <a:spcPts val="600"/>
              </a:spcAft>
            </a:pPr>
            <a:r>
              <a:rPr sz="1400">
                <a:solidFill>
                  <a:srgbClr val="1A1A1A"/>
                </a:solidFill>
              </a:rPr>
              <a:t>•  Trade-off: locking a system down hard (C) can hurt Availability — security is a balance.</a:t>
            </a:r>
          </a:p>
        </p:txBody>
      </p:sp>
      <p:pic>
        <p:nvPicPr>
          <p:cNvPr id="6" name="Picture 5" descr="s22_ciatriad.png"/>
          <p:cNvPicPr>
            <a:picLocks noChangeAspect="1"/>
          </p:cNvPicPr>
          <p:nvPr/>
        </p:nvPicPr>
        <p:blipFill>
          <a:blip r:embed="rId2"/>
          <a:stretch>
            <a:fillRect/>
          </a:stretch>
        </p:blipFill>
        <p:spPr>
          <a:xfrm>
            <a:off x="6355080" y="2286776"/>
            <a:ext cx="5532120" cy="3061687"/>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CIA is a three-legged stool — saw off any leg and it falls over.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11 / 94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Confidentiality vs Integrity vs Availability</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2428875"/>
                <a:gridCol w="3000375"/>
                <a:gridCol w="3000375"/>
                <a:gridCol w="3000375"/>
              </a:tblGrid>
              <a:tr h="736092">
                <a:tc>
                  <a:txBody>
                    <a:bodyPr wrap="square"/>
                    <a:lstStyle/>
                    <a:p>
                      <a:r>
                        <a:rPr sz="1100" b="1">
                          <a:solidFill>
                            <a:srgbClr val="FFFFFF"/>
                          </a:solidFill>
                        </a:rPr>
                        <a:t>Dimension</a:t>
                      </a:r>
                    </a:p>
                  </a:txBody>
                  <a:tcPr anchor="ctr" marL="73152" marR="54864" marT="27432" marB="27432">
                    <a:solidFill>
                      <a:srgbClr val="0C2B4A"/>
                    </a:solidFill>
                  </a:tcPr>
                </a:tc>
                <a:tc>
                  <a:txBody>
                    <a:bodyPr wrap="square"/>
                    <a:lstStyle/>
                    <a:p>
                      <a:r>
                        <a:rPr sz="1100" b="1">
                          <a:solidFill>
                            <a:srgbClr val="FFFFFF"/>
                          </a:solidFill>
                        </a:rPr>
                        <a:t>Confidentiality (C)</a:t>
                      </a:r>
                    </a:p>
                  </a:txBody>
                  <a:tcPr anchor="ctr" marL="73152" marR="54864" marT="27432" marB="27432">
                    <a:solidFill>
                      <a:srgbClr val="0C2B4A"/>
                    </a:solidFill>
                  </a:tcPr>
                </a:tc>
                <a:tc>
                  <a:txBody>
                    <a:bodyPr wrap="square"/>
                    <a:lstStyle/>
                    <a:p>
                      <a:r>
                        <a:rPr sz="1100" b="1">
                          <a:solidFill>
                            <a:srgbClr val="FFFFFF"/>
                          </a:solidFill>
                        </a:rPr>
                        <a:t>Integrity (I)</a:t>
                      </a:r>
                    </a:p>
                  </a:txBody>
                  <a:tcPr anchor="ctr" marL="73152" marR="54864" marT="27432" marB="27432">
                    <a:solidFill>
                      <a:srgbClr val="0C2B4A"/>
                    </a:solidFill>
                  </a:tcPr>
                </a:tc>
                <a:tc>
                  <a:txBody>
                    <a:bodyPr wrap="square"/>
                    <a:lstStyle/>
                    <a:p>
                      <a:r>
                        <a:rPr sz="1100" b="1">
                          <a:solidFill>
                            <a:srgbClr val="FFFFFF"/>
                          </a:solidFill>
                        </a:rPr>
                        <a:t>Availability (A)</a:t>
                      </a:r>
                    </a:p>
                  </a:txBody>
                  <a:tcPr anchor="ctr" marL="73152" marR="54864" marT="27432" marB="27432">
                    <a:solidFill>
                      <a:srgbClr val="0C2B4A"/>
                    </a:solidFill>
                  </a:tcPr>
                </a:tc>
              </a:tr>
              <a:tr h="736092">
                <a:tc>
                  <a:txBody>
                    <a:bodyPr wrap="square"/>
                    <a:lstStyle/>
                    <a:p>
                      <a:r>
                        <a:rPr sz="1050" b="1">
                          <a:solidFill>
                            <a:srgbClr val="0C2B4A"/>
                          </a:solidFill>
                        </a:rPr>
                        <a:t>Goal</a:t>
                      </a:r>
                    </a:p>
                  </a:txBody>
                  <a:tcPr anchor="ctr" marL="73152" marR="54864" marT="27432" marB="27432">
                    <a:solidFill>
                      <a:srgbClr val="FFFFFF"/>
                    </a:solidFill>
                  </a:tcPr>
                </a:tc>
                <a:tc>
                  <a:txBody>
                    <a:bodyPr wrap="square"/>
                    <a:lstStyle/>
                    <a:p>
                      <a:r>
                        <a:rPr sz="1050">
                          <a:solidFill>
                            <a:srgbClr val="1A1A1A"/>
                          </a:solidFill>
                        </a:rPr>
                        <a:t>Keep data secret</a:t>
                      </a:r>
                    </a:p>
                  </a:txBody>
                  <a:tcPr anchor="ctr" marL="73152" marR="54864" marT="27432" marB="27432">
                    <a:solidFill>
                      <a:srgbClr val="FFFFFF"/>
                    </a:solidFill>
                  </a:tcPr>
                </a:tc>
                <a:tc>
                  <a:txBody>
                    <a:bodyPr wrap="square"/>
                    <a:lstStyle/>
                    <a:p>
                      <a:r>
                        <a:rPr sz="1050">
                          <a:solidFill>
                            <a:srgbClr val="1A1A1A"/>
                          </a:solidFill>
                        </a:rPr>
                        <a:t>Keep data correct &amp; trusted</a:t>
                      </a:r>
                    </a:p>
                  </a:txBody>
                  <a:tcPr anchor="ctr" marL="73152" marR="54864" marT="27432" marB="27432">
                    <a:solidFill>
                      <a:srgbClr val="FFFFFF"/>
                    </a:solidFill>
                  </a:tcPr>
                </a:tc>
                <a:tc>
                  <a:txBody>
                    <a:bodyPr wrap="square"/>
                    <a:lstStyle/>
                    <a:p>
                      <a:r>
                        <a:rPr sz="1050">
                          <a:solidFill>
                            <a:srgbClr val="1A1A1A"/>
                          </a:solidFill>
                        </a:rPr>
                        <a:t>Keep the service usable</a:t>
                      </a:r>
                    </a:p>
                  </a:txBody>
                  <a:tcPr anchor="ctr" marL="73152" marR="54864" marT="27432" marB="27432">
                    <a:solidFill>
                      <a:srgbClr val="FFFFFF"/>
                    </a:solidFill>
                  </a:tcPr>
                </a:tc>
              </a:tr>
              <a:tr h="736092">
                <a:tc>
                  <a:txBody>
                    <a:bodyPr wrap="square"/>
                    <a:lstStyle/>
                    <a:p>
                      <a:r>
                        <a:rPr sz="1050" b="1">
                          <a:solidFill>
                            <a:srgbClr val="0C2B4A"/>
                          </a:solidFill>
                        </a:rPr>
                        <a:t>Broken when…</a:t>
                      </a:r>
                    </a:p>
                  </a:txBody>
                  <a:tcPr anchor="ctr" marL="73152" marR="54864" marT="27432" marB="27432">
                    <a:solidFill>
                      <a:srgbClr val="EEF3F8"/>
                    </a:solidFill>
                  </a:tcPr>
                </a:tc>
                <a:tc>
                  <a:txBody>
                    <a:bodyPr wrap="square"/>
                    <a:lstStyle/>
                    <a:p>
                      <a:r>
                        <a:rPr sz="1050">
                          <a:solidFill>
                            <a:srgbClr val="1A1A1A"/>
                          </a:solidFill>
                        </a:rPr>
                        <a:t>Data is leaked/read</a:t>
                      </a:r>
                    </a:p>
                  </a:txBody>
                  <a:tcPr anchor="ctr" marL="73152" marR="54864" marT="27432" marB="27432">
                    <a:solidFill>
                      <a:srgbClr val="EEF3F8"/>
                    </a:solidFill>
                  </a:tcPr>
                </a:tc>
                <a:tc>
                  <a:txBody>
                    <a:bodyPr wrap="square"/>
                    <a:lstStyle/>
                    <a:p>
                      <a:r>
                        <a:rPr sz="1050">
                          <a:solidFill>
                            <a:srgbClr val="1A1A1A"/>
                          </a:solidFill>
                        </a:rPr>
                        <a:t>Data is secretly altered</a:t>
                      </a:r>
                    </a:p>
                  </a:txBody>
                  <a:tcPr anchor="ctr" marL="73152" marR="54864" marT="27432" marB="27432">
                    <a:solidFill>
                      <a:srgbClr val="EEF3F8"/>
                    </a:solidFill>
                  </a:tcPr>
                </a:tc>
                <a:tc>
                  <a:txBody>
                    <a:bodyPr wrap="square"/>
                    <a:lstStyle/>
                    <a:p>
                      <a:r>
                        <a:rPr sz="1050">
                          <a:solidFill>
                            <a:srgbClr val="1A1A1A"/>
                          </a:solidFill>
                        </a:rPr>
                        <a:t>Service is knocked offline</a:t>
                      </a:r>
                    </a:p>
                  </a:txBody>
                  <a:tcPr anchor="ctr" marL="73152" marR="54864" marT="27432" marB="27432">
                    <a:solidFill>
                      <a:srgbClr val="EEF3F8"/>
                    </a:solidFill>
                  </a:tcPr>
                </a:tc>
              </a:tr>
              <a:tr h="736092">
                <a:tc>
                  <a:txBody>
                    <a:bodyPr wrap="square"/>
                    <a:lstStyle/>
                    <a:p>
                      <a:r>
                        <a:rPr sz="1050" b="1">
                          <a:solidFill>
                            <a:srgbClr val="0C2B4A"/>
                          </a:solidFill>
                        </a:rPr>
                        <a:t>Typical control</a:t>
                      </a:r>
                    </a:p>
                  </a:txBody>
                  <a:tcPr anchor="ctr" marL="73152" marR="54864" marT="27432" marB="27432">
                    <a:solidFill>
                      <a:srgbClr val="FFFFFF"/>
                    </a:solidFill>
                  </a:tcPr>
                </a:tc>
                <a:tc>
                  <a:txBody>
                    <a:bodyPr wrap="square"/>
                    <a:lstStyle/>
                    <a:p>
                      <a:r>
                        <a:rPr sz="1050">
                          <a:solidFill>
                            <a:srgbClr val="1A1A1A"/>
                          </a:solidFill>
                        </a:rPr>
                        <a:t>Encryption, access control</a:t>
                      </a:r>
                    </a:p>
                  </a:txBody>
                  <a:tcPr anchor="ctr" marL="73152" marR="54864" marT="27432" marB="27432">
                    <a:solidFill>
                      <a:srgbClr val="FFFFFF"/>
                    </a:solidFill>
                  </a:tcPr>
                </a:tc>
                <a:tc>
                  <a:txBody>
                    <a:bodyPr wrap="square"/>
                    <a:lstStyle/>
                    <a:p>
                      <a:r>
                        <a:rPr sz="1050">
                          <a:solidFill>
                            <a:srgbClr val="1A1A1A"/>
                          </a:solidFill>
                        </a:rPr>
                        <a:t>Hashing, audit logs, checks</a:t>
                      </a:r>
                    </a:p>
                  </a:txBody>
                  <a:tcPr anchor="ctr" marL="73152" marR="54864" marT="27432" marB="27432">
                    <a:solidFill>
                      <a:srgbClr val="FFFFFF"/>
                    </a:solidFill>
                  </a:tcPr>
                </a:tc>
                <a:tc>
                  <a:txBody>
                    <a:bodyPr wrap="square"/>
                    <a:lstStyle/>
                    <a:p>
                      <a:r>
                        <a:rPr sz="1050">
                          <a:solidFill>
                            <a:srgbClr val="1A1A1A"/>
                          </a:solidFill>
                        </a:rPr>
                        <a:t>Backups, redundancy, capacity</a:t>
                      </a:r>
                    </a:p>
                  </a:txBody>
                  <a:tcPr anchor="ctr" marL="73152" marR="54864" marT="27432" marB="27432">
                    <a:solidFill>
                      <a:srgbClr val="FFFFFF"/>
                    </a:solidFill>
                  </a:tcPr>
                </a:tc>
              </a:tr>
              <a:tr h="736092">
                <a:tc>
                  <a:txBody>
                    <a:bodyPr wrap="square"/>
                    <a:lstStyle/>
                    <a:p>
                      <a:r>
                        <a:rPr sz="1050" b="1">
                          <a:solidFill>
                            <a:srgbClr val="0C2B4A"/>
                          </a:solidFill>
                        </a:rPr>
                        <a:t>Nepal example (broken)</a:t>
                      </a:r>
                    </a:p>
                  </a:txBody>
                  <a:tcPr anchor="ctr" marL="73152" marR="54864" marT="27432" marB="27432">
                    <a:solidFill>
                      <a:srgbClr val="EEF3F8"/>
                    </a:solidFill>
                  </a:tcPr>
                </a:tc>
                <a:tc>
                  <a:txBody>
                    <a:bodyPr wrap="square"/>
                    <a:lstStyle/>
                    <a:p>
                      <a:r>
                        <a:rPr sz="1050">
                          <a:solidFill>
                            <a:srgbClr val="1A1A1A"/>
                          </a:solidFill>
                        </a:rPr>
                        <a:t>eSewa/KYC database leaks</a:t>
                      </a:r>
                    </a:p>
                  </a:txBody>
                  <a:tcPr anchor="ctr" marL="73152" marR="54864" marT="27432" marB="27432">
                    <a:solidFill>
                      <a:srgbClr val="EEF3F8"/>
                    </a:solidFill>
                  </a:tcPr>
                </a:tc>
                <a:tc>
                  <a:txBody>
                    <a:bodyPr wrap="square"/>
                    <a:lstStyle/>
                    <a:p>
                      <a:r>
                        <a:rPr sz="1050">
                          <a:solidFill>
                            <a:srgbClr val="1A1A1A"/>
                          </a:solidFill>
                        </a:rPr>
                        <a:t>Land-record data is altered</a:t>
                      </a:r>
                    </a:p>
                  </a:txBody>
                  <a:tcPr anchor="ctr" marL="73152" marR="54864" marT="27432" marB="27432">
                    <a:solidFill>
                      <a:srgbClr val="EEF3F8"/>
                    </a:solidFill>
                  </a:tcPr>
                </a:tc>
                <a:tc>
                  <a:txBody>
                    <a:bodyPr wrap="square"/>
                    <a:lstStyle/>
                    <a:p>
                      <a:r>
                        <a:rPr sz="1050">
                          <a:solidFill>
                            <a:srgbClr val="1A1A1A"/>
                          </a:solidFill>
                        </a:rPr>
                        <a:t>e-banking down in a DDoS</a:t>
                      </a:r>
                    </a:p>
                  </a:txBody>
                  <a:tcPr anchor="ctr" marL="73152" marR="54864" marT="27432" marB="27432">
                    <a:solidFill>
                      <a:srgbClr val="EEF3F8"/>
                    </a:solidFill>
                  </a:tcPr>
                </a:tc>
              </a:tr>
              <a:tr h="736092">
                <a:tc>
                  <a:txBody>
                    <a:bodyPr wrap="square"/>
                    <a:lstStyle/>
                    <a:p>
                      <a:r>
                        <a:rPr sz="1050" b="1">
                          <a:solidFill>
                            <a:srgbClr val="0C2B4A"/>
                          </a:solidFill>
                        </a:rPr>
                        <a:t>Attack that hits it</a:t>
                      </a:r>
                    </a:p>
                  </a:txBody>
                  <a:tcPr anchor="ctr" marL="73152" marR="54864" marT="27432" marB="27432">
                    <a:solidFill>
                      <a:srgbClr val="FFFFFF"/>
                    </a:solidFill>
                  </a:tcPr>
                </a:tc>
                <a:tc>
                  <a:txBody>
                    <a:bodyPr wrap="square"/>
                    <a:lstStyle/>
                    <a:p>
                      <a:r>
                        <a:rPr sz="1050">
                          <a:solidFill>
                            <a:srgbClr val="1A1A1A"/>
                          </a:solidFill>
                        </a:rPr>
                        <a:t>Data theft / spyware</a:t>
                      </a:r>
                    </a:p>
                  </a:txBody>
                  <a:tcPr anchor="ctr" marL="73152" marR="54864" marT="27432" marB="27432">
                    <a:solidFill>
                      <a:srgbClr val="FFFFFF"/>
                    </a:solidFill>
                  </a:tcPr>
                </a:tc>
                <a:tc>
                  <a:txBody>
                    <a:bodyPr wrap="square"/>
                    <a:lstStyle/>
                    <a:p>
                      <a:r>
                        <a:rPr sz="1050">
                          <a:solidFill>
                            <a:srgbClr val="1A1A1A"/>
                          </a:solidFill>
                        </a:rPr>
                        <a:t>Tampering / defacement</a:t>
                      </a:r>
                    </a:p>
                  </a:txBody>
                  <a:tcPr anchor="ctr" marL="73152" marR="54864" marT="27432" marB="27432">
                    <a:solidFill>
                      <a:srgbClr val="FFFFFF"/>
                    </a:solidFill>
                  </a:tcPr>
                </a:tc>
                <a:tc>
                  <a:txBody>
                    <a:bodyPr wrap="square"/>
                    <a:lstStyle/>
                    <a:p>
                      <a:r>
                        <a:rPr sz="1050">
                          <a:solidFill>
                            <a:srgbClr val="1A1A1A"/>
                          </a:solidFill>
                        </a:rPr>
                        <a:t>DoS / ransomware lockout</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Every control ultimately serves one or more of C, I, A. A system that never leaks (C) but is always down (A) or tamper-prone (I) is still insecure — you need all three.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12 / 94</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CIA Triad</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Map real Nepal incidents to the triad: a DDoS knocking a Nepali bank's e-banking offline breaks Availability; a leaked KYC/customer database breaks Confidentiality; a tampered exam result on a college portal or altered land-records data breaks Integrity. Ransomware is nasty because it can break Availability (files locked) and Confidentiality (data stolen) at once.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"Security just means keeping secrets (Confidentiality)." An always-down or easily-tampered system is insecure even if nothing ever leaks. Integrity and Availability matter just as much — a bank whose data is trustworthy and secret but offline every festival has still failed its customers.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CIA triad — Confidentiality, Integrity, Availability — is the set of three goals every security control serves. C keeps data secret (encryption, access control), I keeps it unchanged and trustworthy (hashing, audit logs), A keeps the system usable (backups, redundancy). Every attack breaks at least one leg, and they trade off, so security means balancing all three — like a three-legged stool.</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CIA triad · confidentiality · integrity · availability · three-legged stool · every control serves C/I/A</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13 / 94</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S22 · CONCEPT 3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Which CIA goal does each incident violate?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419600"/>
                <a:gridCol w="3048000"/>
                <a:gridCol w="3962399"/>
              </a:tblGrid>
              <a:tr h="552069">
                <a:tc>
                  <a:txBody>
                    <a:bodyPr wrap="square"/>
                    <a:lstStyle/>
                    <a:p>
                      <a:r>
                        <a:rPr sz="1150" b="1">
                          <a:solidFill>
                            <a:srgbClr val="FFFFFF"/>
                          </a:solidFill>
                        </a:rPr>
                        <a:t>Incident (Nepal / global)</a:t>
                      </a:r>
                    </a:p>
                  </a:txBody>
                  <a:tcPr anchor="ctr" marL="73152" marR="54864" marT="27432" marB="27432">
                    <a:solidFill>
                      <a:srgbClr val="0C2B4A"/>
                    </a:solidFill>
                  </a:tcPr>
                </a:tc>
                <a:tc>
                  <a:txBody>
                    <a:bodyPr wrap="square"/>
                    <a:lstStyle/>
                    <a:p>
                      <a:r>
                        <a:rPr sz="1150" b="1">
                          <a:solidFill>
                            <a:srgbClr val="FFFFFF"/>
                          </a:solidFill>
                        </a:rPr>
                        <a:t>CIA goal violated</a:t>
                      </a:r>
                    </a:p>
                  </a:txBody>
                  <a:tcPr anchor="ctr" marL="73152" marR="54864" marT="27432" marB="27432">
                    <a:solidFill>
                      <a:srgbClr val="0C2B4A"/>
                    </a:solidFill>
                  </a:tcPr>
                </a:tc>
                <a:tc>
                  <a:txBody>
                    <a:bodyPr wrap="square"/>
                    <a:lstStyle/>
                    <a:p>
                      <a:r>
                        <a:rPr sz="1150" b="1">
                          <a:solidFill>
                            <a:srgbClr val="FFFFFF"/>
                          </a:solidFill>
                        </a:rPr>
                        <a:t>Why (verdict)</a:t>
                      </a:r>
                    </a:p>
                  </a:txBody>
                  <a:tcPr anchor="ctr" marL="73152" marR="54864" marT="27432" marB="27432">
                    <a:solidFill>
                      <a:srgbClr val="0C2B4A"/>
                    </a:solidFill>
                  </a:tcPr>
                </a:tc>
              </a:tr>
              <a:tr h="552069">
                <a:tc>
                  <a:txBody>
                    <a:bodyPr wrap="square"/>
                    <a:lstStyle/>
                    <a:p>
                      <a:r>
                        <a:rPr sz="1100" b="1">
                          <a:solidFill>
                            <a:srgbClr val="0C2B4A"/>
                          </a:solidFill>
                        </a:rPr>
                        <a:t>Ransomware locks a hospital's files</a:t>
                      </a:r>
                    </a:p>
                  </a:txBody>
                  <a:tcPr anchor="ctr" marL="73152" marR="54864" marT="27432" marB="27432">
                    <a:solidFill>
                      <a:srgbClr val="FFFFFF"/>
                    </a:solidFill>
                  </a:tcPr>
                </a:tc>
                <a:tc>
                  <a:txBody>
                    <a:bodyPr wrap="square"/>
                    <a:lstStyle/>
                    <a:p>
                      <a:r>
                        <a:rPr sz="1100">
                          <a:solidFill>
                            <a:srgbClr val="1A1A1A"/>
                          </a:solidFill>
                        </a:rPr>
                        <a:t>Availability</a:t>
                      </a:r>
                    </a:p>
                  </a:txBody>
                  <a:tcPr anchor="ctr" marL="73152" marR="54864" marT="27432" marB="27432">
                    <a:solidFill>
                      <a:srgbClr val="FFFFFF"/>
                    </a:solidFill>
                  </a:tcPr>
                </a:tc>
                <a:tc>
                  <a:txBody>
                    <a:bodyPr wrap="square"/>
                    <a:lstStyle/>
                    <a:p>
                      <a:r>
                        <a:rPr sz="1100">
                          <a:solidFill>
                            <a:srgbClr val="1A1A1A"/>
                          </a:solidFill>
                        </a:rPr>
                        <a:t>Legitimate users can't reach data when needed</a:t>
                      </a:r>
                    </a:p>
                  </a:txBody>
                  <a:tcPr anchor="ctr" marL="73152" marR="54864" marT="27432" marB="27432">
                    <a:solidFill>
                      <a:srgbClr val="FFFFFF"/>
                    </a:solidFill>
                  </a:tcPr>
                </a:tc>
              </a:tr>
              <a:tr h="552069">
                <a:tc>
                  <a:txBody>
                    <a:bodyPr wrap="square"/>
                    <a:lstStyle/>
                    <a:p>
                      <a:r>
                        <a:rPr sz="1100" b="1">
                          <a:solidFill>
                            <a:srgbClr val="0C2B4A"/>
                          </a:solidFill>
                        </a:rPr>
                        <a:t>A leaked eSewa/KYC customer database</a:t>
                      </a:r>
                    </a:p>
                  </a:txBody>
                  <a:tcPr anchor="ctr" marL="73152" marR="54864" marT="27432" marB="27432">
                    <a:solidFill>
                      <a:srgbClr val="EEF3F8"/>
                    </a:solidFill>
                  </a:tcPr>
                </a:tc>
                <a:tc>
                  <a:txBody>
                    <a:bodyPr wrap="square"/>
                    <a:lstStyle/>
                    <a:p>
                      <a:r>
                        <a:rPr sz="1100">
                          <a:solidFill>
                            <a:srgbClr val="1A1A1A"/>
                          </a:solidFill>
                        </a:rPr>
                        <a:t>Confidentiality</a:t>
                      </a:r>
                    </a:p>
                  </a:txBody>
                  <a:tcPr anchor="ctr" marL="73152" marR="54864" marT="27432" marB="27432">
                    <a:solidFill>
                      <a:srgbClr val="EEF3F8"/>
                    </a:solidFill>
                  </a:tcPr>
                </a:tc>
                <a:tc>
                  <a:txBody>
                    <a:bodyPr wrap="square"/>
                    <a:lstStyle/>
                    <a:p>
                      <a:r>
                        <a:rPr sz="1100">
                          <a:solidFill>
                            <a:srgbClr val="1A1A1A"/>
                          </a:solidFill>
                        </a:rPr>
                        <a:t>Secret data is now readable by outsiders</a:t>
                      </a:r>
                    </a:p>
                  </a:txBody>
                  <a:tcPr anchor="ctr" marL="73152" marR="54864" marT="27432" marB="27432">
                    <a:solidFill>
                      <a:srgbClr val="EEF3F8"/>
                    </a:solidFill>
                  </a:tcPr>
                </a:tc>
              </a:tr>
              <a:tr h="552069">
                <a:tc>
                  <a:txBody>
                    <a:bodyPr wrap="square"/>
                    <a:lstStyle/>
                    <a:p>
                      <a:r>
                        <a:rPr sz="1100" b="1">
                          <a:solidFill>
                            <a:srgbClr val="0C2B4A"/>
                          </a:solidFill>
                        </a:rPr>
                        <a:t>An exam result changed on a college portal</a:t>
                      </a:r>
                    </a:p>
                  </a:txBody>
                  <a:tcPr anchor="ctr" marL="73152" marR="54864" marT="27432" marB="27432">
                    <a:solidFill>
                      <a:srgbClr val="FFFFFF"/>
                    </a:solidFill>
                  </a:tcPr>
                </a:tc>
                <a:tc>
                  <a:txBody>
                    <a:bodyPr wrap="square"/>
                    <a:lstStyle/>
                    <a:p>
                      <a:r>
                        <a:rPr sz="1100">
                          <a:solidFill>
                            <a:srgbClr val="1A1A1A"/>
                          </a:solidFill>
                        </a:rPr>
                        <a:t>Integrity</a:t>
                      </a:r>
                    </a:p>
                  </a:txBody>
                  <a:tcPr anchor="ctr" marL="73152" marR="54864" marT="27432" marB="27432">
                    <a:solidFill>
                      <a:srgbClr val="FFFFFF"/>
                    </a:solidFill>
                  </a:tcPr>
                </a:tc>
                <a:tc>
                  <a:txBody>
                    <a:bodyPr wrap="square"/>
                    <a:lstStyle/>
                    <a:p>
                      <a:r>
                        <a:rPr sz="1100">
                          <a:solidFill>
                            <a:srgbClr val="1A1A1A"/>
                          </a:solidFill>
                        </a:rPr>
                        <a:t>Data is no longer trustworthy / unaltered</a:t>
                      </a:r>
                    </a:p>
                  </a:txBody>
                  <a:tcPr anchor="ctr" marL="73152" marR="54864" marT="27432" marB="27432">
                    <a:solidFill>
                      <a:srgbClr val="FFFFFF"/>
                    </a:solidFill>
                  </a:tcPr>
                </a:tc>
              </a:tr>
              <a:tr h="552069">
                <a:tc>
                  <a:txBody>
                    <a:bodyPr wrap="square"/>
                    <a:lstStyle/>
                    <a:p>
                      <a:r>
                        <a:rPr sz="1100" b="1">
                          <a:solidFill>
                            <a:srgbClr val="0C2B4A"/>
                          </a:solidFill>
                        </a:rPr>
                        <a:t>DDoS takes a bank's e-banking offline</a:t>
                      </a:r>
                    </a:p>
                  </a:txBody>
                  <a:tcPr anchor="ctr" marL="73152" marR="54864" marT="27432" marB="27432">
                    <a:solidFill>
                      <a:srgbClr val="EEF3F8"/>
                    </a:solidFill>
                  </a:tcPr>
                </a:tc>
                <a:tc>
                  <a:txBody>
                    <a:bodyPr wrap="square"/>
                    <a:lstStyle/>
                    <a:p>
                      <a:r>
                        <a:rPr sz="1100">
                          <a:solidFill>
                            <a:srgbClr val="1A1A1A"/>
                          </a:solidFill>
                        </a:rPr>
                        <a:t>Availability</a:t>
                      </a:r>
                    </a:p>
                  </a:txBody>
                  <a:tcPr anchor="ctr" marL="73152" marR="54864" marT="27432" marB="27432">
                    <a:solidFill>
                      <a:srgbClr val="EEF3F8"/>
                    </a:solidFill>
                  </a:tcPr>
                </a:tc>
                <a:tc>
                  <a:txBody>
                    <a:bodyPr wrap="square"/>
                    <a:lstStyle/>
                    <a:p>
                      <a:r>
                        <a:rPr sz="1100">
                          <a:solidFill>
                            <a:srgbClr val="1A1A1A"/>
                          </a:solidFill>
                        </a:rPr>
                        <a:t>Service is unusable during the attack</a:t>
                      </a:r>
                    </a:p>
                  </a:txBody>
                  <a:tcPr anchor="ctr" marL="73152" marR="54864" marT="27432" marB="27432">
                    <a:solidFill>
                      <a:srgbClr val="EEF3F8"/>
                    </a:solidFill>
                  </a:tcPr>
                </a:tc>
              </a:tr>
              <a:tr h="552069">
                <a:tc>
                  <a:txBody>
                    <a:bodyPr wrap="square"/>
                    <a:lstStyle/>
                    <a:p>
                      <a:r>
                        <a:rPr sz="1100" b="1">
                          <a:solidFill>
                            <a:srgbClr val="0C2B4A"/>
                          </a:solidFill>
                        </a:rPr>
                        <a:t>Land-record values quietly altered</a:t>
                      </a:r>
                    </a:p>
                  </a:txBody>
                  <a:tcPr anchor="ctr" marL="73152" marR="54864" marT="27432" marB="27432">
                    <a:solidFill>
                      <a:srgbClr val="FFFFFF"/>
                    </a:solidFill>
                  </a:tcPr>
                </a:tc>
                <a:tc>
                  <a:txBody>
                    <a:bodyPr wrap="square"/>
                    <a:lstStyle/>
                    <a:p>
                      <a:r>
                        <a:rPr sz="1100">
                          <a:solidFill>
                            <a:srgbClr val="1A1A1A"/>
                          </a:solidFill>
                        </a:rPr>
                        <a:t>Integrity</a:t>
                      </a:r>
                    </a:p>
                  </a:txBody>
                  <a:tcPr anchor="ctr" marL="73152" marR="54864" marT="27432" marB="27432">
                    <a:solidFill>
                      <a:srgbClr val="FFFFFF"/>
                    </a:solidFill>
                  </a:tcPr>
                </a:tc>
                <a:tc>
                  <a:txBody>
                    <a:bodyPr wrap="square"/>
                    <a:lstStyle/>
                    <a:p>
                      <a:r>
                        <a:rPr sz="1100">
                          <a:solidFill>
                            <a:srgbClr val="1A1A1A"/>
                          </a:solidFill>
                        </a:rPr>
                        <a:t>Records look official but are wrong</a:t>
                      </a:r>
                    </a:p>
                  </a:txBody>
                  <a:tcPr anchor="ctr" marL="73152" marR="54864" marT="27432" marB="27432">
                    <a:solidFill>
                      <a:srgbClr val="FFFFFF"/>
                    </a:solidFill>
                  </a:tcPr>
                </a:tc>
              </a:tr>
              <a:tr h="552069">
                <a:tc>
                  <a:txBody>
                    <a:bodyPr wrap="square"/>
                    <a:lstStyle/>
                    <a:p>
                      <a:r>
                        <a:rPr sz="1100" b="1">
                          <a:solidFill>
                            <a:srgbClr val="0C2B4A"/>
                          </a:solidFill>
                        </a:rPr>
                        <a:t>Spyware silently copies your messages</a:t>
                      </a:r>
                    </a:p>
                  </a:txBody>
                  <a:tcPr anchor="ctr" marL="73152" marR="54864" marT="27432" marB="27432">
                    <a:solidFill>
                      <a:srgbClr val="EEF3F8"/>
                    </a:solidFill>
                  </a:tcPr>
                </a:tc>
                <a:tc>
                  <a:txBody>
                    <a:bodyPr wrap="square"/>
                    <a:lstStyle/>
                    <a:p>
                      <a:r>
                        <a:rPr sz="1100">
                          <a:solidFill>
                            <a:srgbClr val="1A1A1A"/>
                          </a:solidFill>
                        </a:rPr>
                        <a:t>Confidentiality</a:t>
                      </a:r>
                    </a:p>
                  </a:txBody>
                  <a:tcPr anchor="ctr" marL="73152" marR="54864" marT="27432" marB="27432">
                    <a:solidFill>
                      <a:srgbClr val="EEF3F8"/>
                    </a:solidFill>
                  </a:tcPr>
                </a:tc>
                <a:tc>
                  <a:txBody>
                    <a:bodyPr wrap="square"/>
                    <a:lstStyle/>
                    <a:p>
                      <a:r>
                        <a:rPr sz="1100">
                          <a:solidFill>
                            <a:srgbClr val="1A1A1A"/>
                          </a:solidFill>
                        </a:rPr>
                        <a:t>Private data is read without permission</a:t>
                      </a:r>
                    </a:p>
                  </a:txBody>
                  <a:tcPr anchor="ctr" marL="73152" marR="54864" marT="27432" marB="27432">
                    <a:solidFill>
                      <a:srgbClr val="EEF3F8"/>
                    </a:solidFill>
                  </a:tcPr>
                </a:tc>
              </a:tr>
              <a:tr h="552069">
                <a:tc>
                  <a:txBody>
                    <a:bodyPr wrap="square"/>
                    <a:lstStyle/>
                    <a:p>
                      <a:r>
                        <a:rPr sz="1100" b="1">
                          <a:solidFill>
                            <a:srgbClr val="0C2B4A"/>
                          </a:solidFill>
                        </a:rPr>
                        <a:t>Ransomware that also steals data first</a:t>
                      </a:r>
                    </a:p>
                  </a:txBody>
                  <a:tcPr anchor="ctr" marL="73152" marR="54864" marT="27432" marB="27432">
                    <a:solidFill>
                      <a:srgbClr val="FFFFFF"/>
                    </a:solidFill>
                  </a:tcPr>
                </a:tc>
                <a:tc>
                  <a:txBody>
                    <a:bodyPr wrap="square"/>
                    <a:lstStyle/>
                    <a:p>
                      <a:r>
                        <a:rPr sz="1100">
                          <a:solidFill>
                            <a:srgbClr val="1A1A1A"/>
                          </a:solidFill>
                        </a:rPr>
                        <a:t>Confidentiality + Availability</a:t>
                      </a:r>
                    </a:p>
                  </a:txBody>
                  <a:tcPr anchor="ctr" marL="73152" marR="54864" marT="27432" marB="27432">
                    <a:solidFill>
                      <a:srgbClr val="FFFFFF"/>
                    </a:solidFill>
                  </a:tcPr>
                </a:tc>
                <a:tc>
                  <a:txBody>
                    <a:bodyPr wrap="square"/>
                    <a:lstStyle/>
                    <a:p>
                      <a:r>
                        <a:rPr sz="1100">
                          <a:solidFill>
                            <a:srgbClr val="1A1A1A"/>
                          </a:solidFill>
                        </a:rPr>
                        <a:t>Two legs broken at once — data stolen AND locked</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Naming the violated leg is the vocabulary every security job, audit, and NRB bank inspection uses. Some attacks (ransomware with exfiltration) break more than one leg.</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14 / 94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S22 — 'Rank C, I, A for your result portal'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for your college result portal, rank Confidentiality, Integrity, and Availability by importance.</a:t>
            </a:r>
          </a:p>
          <a:p>
            <a:pPr>
              <a:spcAft>
                <a:spcPts val="700"/>
              </a:spcAft>
            </a:pPr>
            <a:r>
              <a:rPr sz="1550">
                <a:solidFill>
                  <a:srgbClr val="1A1A1A"/>
                </a:solidFill>
              </a:rPr>
              <a:t>•  Justify the ranking: what is the worst thing that could happen to each?</a:t>
            </a:r>
          </a:p>
          <a:p>
            <a:pPr>
              <a:spcAft>
                <a:spcPts val="700"/>
              </a:spcAft>
            </a:pPr>
            <a:r>
              <a:rPr sz="1550">
                <a:solidFill>
                  <a:srgbClr val="1A1A1A"/>
                </a:solidFill>
              </a:rPr>
              <a:t>•  Take 3–4 answers aloud (3 min); notice teams disagree — that is the point.</a:t>
            </a:r>
          </a:p>
          <a:p>
            <a:pPr>
              <a:spcAft>
                <a:spcPts val="700"/>
              </a:spcAft>
            </a:pPr>
            <a:r>
              <a:rPr sz="1550">
                <a:solidFill>
                  <a:srgbClr val="1A1A1A"/>
                </a:solidFill>
              </a:rPr>
              <a:t>•  Close: for a result portal, Integrity usually tops the list (a changed grade is catastrophic); for e-banking, all three are critical.</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Draw out that the ranking depends on the system: a result portal fears tampering (I) most; a hospital fears downtime (A); a KYC store fears leaks (C). There is no single 'right' order — it depends on the asset.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15 / 94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S22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A ransomware attack that locks files mainly violates:</a:t>
            </a:r>
          </a:p>
          <a:p>
            <a:pPr lvl="1"/>
            <a:r>
              <a:rPr sz="1500" b="1">
                <a:solidFill>
                  <a:srgbClr val="0F6E56"/>
                </a:solidFill>
              </a:rPr>
              <a:t>a) Confidentiality   b) Integrity   c) ✅ Availability   d) none</a:t>
            </a:r>
          </a:p>
          <a:p>
            <a:pPr lvl="1">
              <a:spcBef>
                <a:spcPts val="600"/>
              </a:spcBef>
            </a:pPr>
            <a:r>
              <a:rPr sz="1500" i="1">
                <a:solidFill>
                  <a:srgbClr val="1A1A1A"/>
                </a:solidFill>
              </a:rPr>
              <a:t>     Why: locked files mean legitimate users can't reach the data when they need it — that is Availability.</a:t>
            </a:r>
          </a:p>
          <a:p>
            <a:pPr>
              <a:spcBef>
                <a:spcPts val="900"/>
              </a:spcBef>
            </a:pPr>
            <a:r>
              <a:rPr sz="1700" b="1">
                <a:solidFill>
                  <a:srgbClr val="0C2B4A"/>
                </a:solidFill>
              </a:rPr>
              <a:t>Q2.  Ensuring data has not been secretly altered is:</a:t>
            </a:r>
          </a:p>
          <a:p>
            <a:pPr lvl="1"/>
            <a:r>
              <a:rPr sz="1500" b="1">
                <a:solidFill>
                  <a:srgbClr val="0F6E56"/>
                </a:solidFill>
              </a:rPr>
              <a:t>a) Confidentiality   b) ✅ Integrity   c) Availability   d) authentication</a:t>
            </a:r>
          </a:p>
          <a:p>
            <a:pPr lvl="1">
              <a:spcBef>
                <a:spcPts val="600"/>
              </a:spcBef>
            </a:pPr>
            <a:r>
              <a:rPr sz="1500" i="1">
                <a:solidFill>
                  <a:srgbClr val="1A1A1A"/>
                </a:solidFill>
              </a:rPr>
              <a:t>     Why: Integrity is about data staying unchanged and trustworthy — no silent tampering.</a:t>
            </a:r>
          </a:p>
          <a:p>
            <a:pPr lvl="1">
              <a:spcBef>
                <a:spcPts val="600"/>
              </a:spcBef>
            </a:pPr>
            <a:r>
              <a:rPr sz="1500" i="1">
                <a:solidFill>
                  <a:srgbClr val="1A1A1A"/>
                </a:solidFill>
              </a:rPr>
              <a:t>Discussion: for your college result portal, rank C, I, and A by importance — and justify.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16 / 94</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S22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Cyberspace = the whole connected digital domain (networks, systems, data, people) — not just the websites you visit.</a:t>
            </a:r>
          </a:p>
          <a:p>
            <a:pPr>
              <a:spcAft>
                <a:spcPts val="800"/>
              </a:spcAft>
            </a:pPr>
            <a:r>
              <a:rPr sz="1500">
                <a:solidFill>
                  <a:srgbClr val="1A1A1A"/>
                </a:solidFill>
              </a:rPr>
              <a:t>2.  Cybersecurity = people + process + technology; a defensive discipline, not just antivirus (weakest pillar wins).</a:t>
            </a:r>
          </a:p>
          <a:p>
            <a:pPr>
              <a:spcAft>
                <a:spcPts val="800"/>
              </a:spcAft>
            </a:pPr>
            <a:r>
              <a:rPr sz="1500">
                <a:solidFill>
                  <a:srgbClr val="1A1A1A"/>
                </a:solidFill>
              </a:rPr>
              <a:t>3.  The CIA triad — Confidentiality, Integrity, Availability — is the goal every control serves; every attack breaks a leg.</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CIA is the vocabulary you'll use for the rest of this course and in every real security job: every audit, penetration test, and NRB bank inspection is ultimately checking C, I, and A. Learn to name the leg an incident breaks and you can reason about any attack.</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S23 — the forces (technology, economics, outsourcing) that keep reshaping this landscape.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17 / 94</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23 · LECTURE HOUR 2 (OF 6)</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Key Development Areas: Technology · Economics · Outsourcing</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Ten years ago a Nepali shop kept cash in a drawer. Today it takes QR payments, stores customer numbers in the cloud, and runs on a phone. Did the shop get a security team too? Why does the attack surface keep exploding?</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18 / 94</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S23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Technological Changes Expand the Attack Surface</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The attack surface is the sum of all the points where an attacker could try to get in. Each new technology — cloud, mobile, IoT, AI, remote work — adds new devices, data, and entry points, so it grows the attack surface. New features usually arrive before their security does.</a:t>
            </a:r>
          </a:p>
          <a:p>
            <a:pPr>
              <a:spcAft>
                <a:spcPts val="500"/>
              </a:spcAft>
            </a:pPr>
            <a:r>
              <a:rPr sz="1200" b="1">
                <a:solidFill>
                  <a:srgbClr val="185FA5"/>
                </a:solidFill>
              </a:rPr>
              <a:t>HOW IT WORKS</a:t>
            </a:r>
          </a:p>
          <a:p>
            <a:pPr>
              <a:spcAft>
                <a:spcPts val="600"/>
              </a:spcAft>
            </a:pPr>
            <a:r>
              <a:rPr sz="1400">
                <a:solidFill>
                  <a:srgbClr val="1A1A1A"/>
                </a:solidFill>
              </a:rPr>
              <a:t>•  More devices/data/entry points = a bigger attack surface to defend.</a:t>
            </a:r>
          </a:p>
          <a:p>
            <a:pPr>
              <a:spcAft>
                <a:spcPts val="600"/>
              </a:spcAft>
            </a:pPr>
            <a:r>
              <a:rPr sz="1400">
                <a:solidFill>
                  <a:srgbClr val="1A1A1A"/>
                </a:solidFill>
              </a:rPr>
              <a:t>•  Cloud moves data off-site; mobile puts sensitive apps on easily-lost phones; IoT adds cheap, weak devices.</a:t>
            </a:r>
          </a:p>
          <a:p>
            <a:pPr>
              <a:spcAft>
                <a:spcPts val="600"/>
              </a:spcAft>
            </a:pPr>
            <a:r>
              <a:rPr sz="1400">
                <a:solidFill>
                  <a:srgbClr val="1A1A1A"/>
                </a:solidFill>
              </a:rPr>
              <a:t>•  Remote work extends the network into homes and cafés you don't control.</a:t>
            </a:r>
          </a:p>
          <a:p>
            <a:pPr>
              <a:spcAft>
                <a:spcPts val="600"/>
              </a:spcAft>
            </a:pPr>
            <a:r>
              <a:rPr sz="1400">
                <a:solidFill>
                  <a:srgbClr val="1A1A1A"/>
                </a:solidFill>
              </a:rPr>
              <a:t>•  The lag: a shiny new feature ships, its security hardening comes (if at all) later.</a:t>
            </a:r>
          </a:p>
        </p:txBody>
      </p:sp>
      <p:pic>
        <p:nvPicPr>
          <p:cNvPr id="6" name="Picture 5" descr="s23_attacksurface.png"/>
          <p:cNvPicPr>
            <a:picLocks noChangeAspect="1"/>
          </p:cNvPicPr>
          <p:nvPr/>
        </p:nvPicPr>
        <p:blipFill>
          <a:blip r:embed="rId2"/>
          <a:stretch>
            <a:fillRect/>
          </a:stretch>
        </p:blipFill>
        <p:spPr>
          <a:xfrm>
            <a:off x="6355080" y="2560511"/>
            <a:ext cx="5532120" cy="2514218"/>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Every new technology adds entry points — the attack surface only grows.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19 / 94</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S23 · CONCEPT 1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New technology → the new attack surface it adds (Nepal)</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527777"/>
                <a:gridCol w="3668888"/>
                <a:gridCol w="4233333"/>
              </a:tblGrid>
              <a:tr h="630936">
                <a:tc>
                  <a:txBody>
                    <a:bodyPr wrap="square"/>
                    <a:lstStyle/>
                    <a:p>
                      <a:r>
                        <a:rPr sz="1150" b="1">
                          <a:solidFill>
                            <a:srgbClr val="FFFFFF"/>
                          </a:solidFill>
                        </a:rPr>
                        <a:t>New technology adopted</a:t>
                      </a:r>
                    </a:p>
                  </a:txBody>
                  <a:tcPr anchor="ctr" marL="73152" marR="54864" marT="27432" marB="27432">
                    <a:solidFill>
                      <a:srgbClr val="0C2B4A"/>
                    </a:solidFill>
                  </a:tcPr>
                </a:tc>
                <a:tc>
                  <a:txBody>
                    <a:bodyPr wrap="square"/>
                    <a:lstStyle/>
                    <a:p>
                      <a:r>
                        <a:rPr sz="1150" b="1">
                          <a:solidFill>
                            <a:srgbClr val="FFFFFF"/>
                          </a:solidFill>
                        </a:rPr>
                        <a:t>New entry point it adds</a:t>
                      </a:r>
                    </a:p>
                  </a:txBody>
                  <a:tcPr anchor="ctr" marL="73152" marR="54864" marT="27432" marB="27432">
                    <a:solidFill>
                      <a:srgbClr val="0C2B4A"/>
                    </a:solidFill>
                  </a:tcPr>
                </a:tc>
                <a:tc>
                  <a:txBody>
                    <a:bodyPr wrap="square"/>
                    <a:lstStyle/>
                    <a:p>
                      <a:r>
                        <a:rPr sz="1150" b="1">
                          <a:solidFill>
                            <a:srgbClr val="FFFFFF"/>
                          </a:solidFill>
                        </a:rPr>
                        <a:t>Defence to add with it</a:t>
                      </a:r>
                    </a:p>
                  </a:txBody>
                  <a:tcPr anchor="ctr" marL="73152" marR="54864" marT="27432" marB="27432">
                    <a:solidFill>
                      <a:srgbClr val="0C2B4A"/>
                    </a:solidFill>
                  </a:tcPr>
                </a:tc>
              </a:tr>
              <a:tr h="630936">
                <a:tc>
                  <a:txBody>
                    <a:bodyPr wrap="square"/>
                    <a:lstStyle/>
                    <a:p>
                      <a:r>
                        <a:rPr sz="1100" b="1">
                          <a:solidFill>
                            <a:srgbClr val="0C2B4A"/>
                          </a:solidFill>
                        </a:rPr>
                        <a:t>QR payments (fonepay) at a shop</a:t>
                      </a:r>
                    </a:p>
                  </a:txBody>
                  <a:tcPr anchor="ctr" marL="73152" marR="54864" marT="27432" marB="27432">
                    <a:solidFill>
                      <a:srgbClr val="FFFFFF"/>
                    </a:solidFill>
                  </a:tcPr>
                </a:tc>
                <a:tc>
                  <a:txBody>
                    <a:bodyPr wrap="square"/>
                    <a:lstStyle/>
                    <a:p>
                      <a:r>
                        <a:rPr sz="1100">
                          <a:solidFill>
                            <a:srgbClr val="1A1A1A"/>
                          </a:solidFill>
                        </a:rPr>
                        <a:t>Fake QR / payment-redirect risk</a:t>
                      </a:r>
                    </a:p>
                  </a:txBody>
                  <a:tcPr anchor="ctr" marL="73152" marR="54864" marT="27432" marB="27432">
                    <a:solidFill>
                      <a:srgbClr val="FFFFFF"/>
                    </a:solidFill>
                  </a:tcPr>
                </a:tc>
                <a:tc>
                  <a:txBody>
                    <a:bodyPr wrap="square"/>
                    <a:lstStyle/>
                    <a:p>
                      <a:r>
                        <a:rPr sz="1100">
                          <a:solidFill>
                            <a:srgbClr val="1A1A1A"/>
                          </a:solidFill>
                        </a:rPr>
                        <a:t>Verify payee name; staff training; reconcile daily</a:t>
                      </a:r>
                    </a:p>
                  </a:txBody>
                  <a:tcPr anchor="ctr" marL="73152" marR="54864" marT="27432" marB="27432">
                    <a:solidFill>
                      <a:srgbClr val="FFFFFF"/>
                    </a:solidFill>
                  </a:tcPr>
                </a:tc>
              </a:tr>
              <a:tr h="630936">
                <a:tc>
                  <a:txBody>
                    <a:bodyPr wrap="square"/>
                    <a:lstStyle/>
                    <a:p>
                      <a:r>
                        <a:rPr sz="1100" b="1">
                          <a:solidFill>
                            <a:srgbClr val="0C2B4A"/>
                          </a:solidFill>
                        </a:rPr>
                        <a:t>Customer data moved to the cloud</a:t>
                      </a:r>
                    </a:p>
                  </a:txBody>
                  <a:tcPr anchor="ctr" marL="73152" marR="54864" marT="27432" marB="27432">
                    <a:solidFill>
                      <a:srgbClr val="EEF3F8"/>
                    </a:solidFill>
                  </a:tcPr>
                </a:tc>
                <a:tc>
                  <a:txBody>
                    <a:bodyPr wrap="square"/>
                    <a:lstStyle/>
                    <a:p>
                      <a:r>
                        <a:rPr sz="1100">
                          <a:solidFill>
                            <a:srgbClr val="1A1A1A"/>
                          </a:solidFill>
                        </a:rPr>
                        <a:t>Data now reachable over the internet</a:t>
                      </a:r>
                    </a:p>
                  </a:txBody>
                  <a:tcPr anchor="ctr" marL="73152" marR="54864" marT="27432" marB="27432">
                    <a:solidFill>
                      <a:srgbClr val="EEF3F8"/>
                    </a:solidFill>
                  </a:tcPr>
                </a:tc>
                <a:tc>
                  <a:txBody>
                    <a:bodyPr wrap="square"/>
                    <a:lstStyle/>
                    <a:p>
                      <a:r>
                        <a:rPr sz="1100">
                          <a:solidFill>
                            <a:srgbClr val="1A1A1A"/>
                          </a:solidFill>
                        </a:rPr>
                        <a:t>Access control, encryption, MFA on the console</a:t>
                      </a:r>
                    </a:p>
                  </a:txBody>
                  <a:tcPr anchor="ctr" marL="73152" marR="54864" marT="27432" marB="27432">
                    <a:solidFill>
                      <a:srgbClr val="EEF3F8"/>
                    </a:solidFill>
                  </a:tcPr>
                </a:tc>
              </a:tr>
              <a:tr h="630936">
                <a:tc>
                  <a:txBody>
                    <a:bodyPr wrap="square"/>
                    <a:lstStyle/>
                    <a:p>
                      <a:r>
                        <a:rPr sz="1100" b="1">
                          <a:solidFill>
                            <a:srgbClr val="0C2B4A"/>
                          </a:solidFill>
                        </a:rPr>
                        <a:t>Smart CCTV / IoT in the office</a:t>
                      </a:r>
                    </a:p>
                  </a:txBody>
                  <a:tcPr anchor="ctr" marL="73152" marR="54864" marT="27432" marB="27432">
                    <a:solidFill>
                      <a:srgbClr val="FFFFFF"/>
                    </a:solidFill>
                  </a:tcPr>
                </a:tc>
                <a:tc>
                  <a:txBody>
                    <a:bodyPr wrap="square"/>
                    <a:lstStyle/>
                    <a:p>
                      <a:r>
                        <a:rPr sz="1100">
                          <a:solidFill>
                            <a:srgbClr val="1A1A1A"/>
                          </a:solidFill>
                        </a:rPr>
                        <a:t>Cheap devices with weak defaults</a:t>
                      </a:r>
                    </a:p>
                  </a:txBody>
                  <a:tcPr anchor="ctr" marL="73152" marR="54864" marT="27432" marB="27432">
                    <a:solidFill>
                      <a:srgbClr val="FFFFFF"/>
                    </a:solidFill>
                  </a:tcPr>
                </a:tc>
                <a:tc>
                  <a:txBody>
                    <a:bodyPr wrap="square"/>
                    <a:lstStyle/>
                    <a:p>
                      <a:r>
                        <a:rPr sz="1100">
                          <a:solidFill>
                            <a:srgbClr val="1A1A1A"/>
                          </a:solidFill>
                        </a:rPr>
                        <a:t>Change defaults, segregate on their own network, patch</a:t>
                      </a:r>
                    </a:p>
                  </a:txBody>
                  <a:tcPr anchor="ctr" marL="73152" marR="54864" marT="27432" marB="27432">
                    <a:solidFill>
                      <a:srgbClr val="FFFFFF"/>
                    </a:solidFill>
                  </a:tcPr>
                </a:tc>
              </a:tr>
              <a:tr h="630936">
                <a:tc>
                  <a:txBody>
                    <a:bodyPr wrap="square"/>
                    <a:lstStyle/>
                    <a:p>
                      <a:r>
                        <a:rPr sz="1100" b="1">
                          <a:solidFill>
                            <a:srgbClr val="0C2B4A"/>
                          </a:solidFill>
                        </a:rPr>
                        <a:t>Staff use personal phones for work</a:t>
                      </a:r>
                    </a:p>
                  </a:txBody>
                  <a:tcPr anchor="ctr" marL="73152" marR="54864" marT="27432" marB="27432">
                    <a:solidFill>
                      <a:srgbClr val="EEF3F8"/>
                    </a:solidFill>
                  </a:tcPr>
                </a:tc>
                <a:tc>
                  <a:txBody>
                    <a:bodyPr wrap="square"/>
                    <a:lstStyle/>
                    <a:p>
                      <a:r>
                        <a:rPr sz="1100">
                          <a:solidFill>
                            <a:srgbClr val="1A1A1A"/>
                          </a:solidFill>
                        </a:rPr>
                        <a:t>Lost/compromised phone = data leak</a:t>
                      </a:r>
                    </a:p>
                  </a:txBody>
                  <a:tcPr anchor="ctr" marL="73152" marR="54864" marT="27432" marB="27432">
                    <a:solidFill>
                      <a:srgbClr val="EEF3F8"/>
                    </a:solidFill>
                  </a:tcPr>
                </a:tc>
                <a:tc>
                  <a:txBody>
                    <a:bodyPr wrap="square"/>
                    <a:lstStyle/>
                    <a:p>
                      <a:r>
                        <a:rPr sz="1100">
                          <a:solidFill>
                            <a:srgbClr val="1A1A1A"/>
                          </a:solidFill>
                        </a:rPr>
                        <a:t>Screen lock, remote wipe, keep work data separate</a:t>
                      </a:r>
                    </a:p>
                  </a:txBody>
                  <a:tcPr anchor="ctr" marL="73152" marR="54864" marT="27432" marB="27432">
                    <a:solidFill>
                      <a:srgbClr val="EEF3F8"/>
                    </a:solidFill>
                  </a:tcPr>
                </a:tc>
              </a:tr>
              <a:tr h="630936">
                <a:tc>
                  <a:txBody>
                    <a:bodyPr wrap="square"/>
                    <a:lstStyle/>
                    <a:p>
                      <a:r>
                        <a:rPr sz="1100" b="1">
                          <a:solidFill>
                            <a:srgbClr val="0C2B4A"/>
                          </a:solidFill>
                        </a:rPr>
                        <a:t>Remote / work-from-home setup</a:t>
                      </a:r>
                    </a:p>
                  </a:txBody>
                  <a:tcPr anchor="ctr" marL="73152" marR="54864" marT="27432" marB="27432">
                    <a:solidFill>
                      <a:srgbClr val="FFFFFF"/>
                    </a:solidFill>
                  </a:tcPr>
                </a:tc>
                <a:tc>
                  <a:txBody>
                    <a:bodyPr wrap="square"/>
                    <a:lstStyle/>
                    <a:p>
                      <a:r>
                        <a:rPr sz="1100">
                          <a:solidFill>
                            <a:srgbClr val="1A1A1A"/>
                          </a:solidFill>
                        </a:rPr>
                        <a:t>Home Wi-Fi and PCs you don't control</a:t>
                      </a:r>
                    </a:p>
                  </a:txBody>
                  <a:tcPr anchor="ctr" marL="73152" marR="54864" marT="27432" marB="27432">
                    <a:solidFill>
                      <a:srgbClr val="FFFFFF"/>
                    </a:solidFill>
                  </a:tcPr>
                </a:tc>
                <a:tc>
                  <a:txBody>
                    <a:bodyPr wrap="square"/>
                    <a:lstStyle/>
                    <a:p>
                      <a:r>
                        <a:rPr sz="1100">
                          <a:solidFill>
                            <a:srgbClr val="1A1A1A"/>
                          </a:solidFill>
                        </a:rPr>
                        <a:t>VPN, endpoint protection, secure config policy</a:t>
                      </a:r>
                    </a:p>
                  </a:txBody>
                  <a:tcPr anchor="ctr" marL="73152" marR="54864" marT="27432" marB="27432">
                    <a:solidFill>
                      <a:srgbClr val="FFFFFF"/>
                    </a:solidFill>
                  </a:tcPr>
                </a:tc>
              </a:tr>
              <a:tr h="630936">
                <a:tc>
                  <a:txBody>
                    <a:bodyPr wrap="square"/>
                    <a:lstStyle/>
                    <a:p>
                      <a:r>
                        <a:rPr sz="1100" b="1">
                          <a:solidFill>
                            <a:srgbClr val="0C2B4A"/>
                          </a:solidFill>
                        </a:rPr>
                        <a:t>An AI chatbot handling queries</a:t>
                      </a:r>
                    </a:p>
                  </a:txBody>
                  <a:tcPr anchor="ctr" marL="73152" marR="54864" marT="27432" marB="27432">
                    <a:solidFill>
                      <a:srgbClr val="EEF3F8"/>
                    </a:solidFill>
                  </a:tcPr>
                </a:tc>
                <a:tc>
                  <a:txBody>
                    <a:bodyPr wrap="square"/>
                    <a:lstStyle/>
                    <a:p>
                      <a:r>
                        <a:rPr sz="1100">
                          <a:solidFill>
                            <a:srgbClr val="1A1A1A"/>
                          </a:solidFill>
                        </a:rPr>
                        <a:t>New data flows + prompt-abuse risk</a:t>
                      </a:r>
                    </a:p>
                  </a:txBody>
                  <a:tcPr anchor="ctr" marL="73152" marR="54864" marT="27432" marB="27432">
                    <a:solidFill>
                      <a:srgbClr val="EEF3F8"/>
                    </a:solidFill>
                  </a:tcPr>
                </a:tc>
                <a:tc>
                  <a:txBody>
                    <a:bodyPr wrap="square"/>
                    <a:lstStyle/>
                    <a:p>
                      <a:r>
                        <a:rPr sz="1100">
                          <a:solidFill>
                            <a:srgbClr val="1A1A1A"/>
                          </a:solidFill>
                        </a:rPr>
                        <a:t>Limit data it sees; monitor; validate its outputs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Each row PAIRS the new tech with the defence it demands. New features arrive before their security — so the habit is: adopt a technology, add its defence in the same breath.</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20 / 94</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S23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Technological Changes Expand the Attack Surface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Nepal's decade of QR payments (fonepay), the Nagarik App, smart CCTV, and cheap IoT in homes and offices has multiplied entry points. Globally, billions of IoT devices shipped with weak default passwords became botnet fuel (e.g. the Mirai botnet). Each convenience added a door — and doors need locks that were often bolted on afterwards, if at all.</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"New technology is automatically more secure." Usually the opposite: new features arrive first and their security hardening comes later (or never for cheap IoT). Adopting a technology without adding its defence quietly grows your attack surface — convenience is not the same as safety.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Technological change expands the attack surface — the sum of all points an attacker could target. Cloud, mobile, IoT, AI, and remote work each add devices, data, and entry points, and their security typically lags the feature. So every adopted technology must be paired with a defence; more capability without more protection simply means more ways in.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attack surface · cloud/mobile/IoT/AI/remote · features before security · IoT botnets · adopt tech + its defence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21 / 94</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S23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Economic Model Shifts — Cybercrime as a Business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Cybercrime and IT itself have become businesses, and that changes who attacks and why. SaaS/cloud shifts where data lives; 'Cybercrime-as-a-Service' and Ransomware-as-a-Service (RaaS) let low-skill criminals RENT ready-made attack tools; and data itself becomes a traded commodity, bought and sold in bulk.</a:t>
            </a:r>
          </a:p>
          <a:p>
            <a:pPr>
              <a:spcAft>
                <a:spcPts val="500"/>
              </a:spcAft>
            </a:pPr>
            <a:r>
              <a:rPr sz="1200" b="1">
                <a:solidFill>
                  <a:srgbClr val="185FA5"/>
                </a:solidFill>
              </a:rPr>
              <a:t>HOW IT WORKS</a:t>
            </a:r>
          </a:p>
          <a:p>
            <a:pPr>
              <a:spcAft>
                <a:spcPts val="600"/>
              </a:spcAft>
            </a:pPr>
            <a:r>
              <a:rPr sz="1400">
                <a:solidFill>
                  <a:srgbClr val="1A1A1A"/>
                </a:solidFill>
              </a:rPr>
              <a:t>•  Cloud/SaaS moves data to third-party platforms you don't own — new dependency, new target.</a:t>
            </a:r>
          </a:p>
          <a:p>
            <a:pPr>
              <a:spcAft>
                <a:spcPts val="600"/>
              </a:spcAft>
            </a:pPr>
            <a:r>
              <a:rPr sz="1400">
                <a:solidFill>
                  <a:srgbClr val="1A1A1A"/>
                </a:solidFill>
              </a:rPr>
              <a:t>•  RaaS / phishing kits are rented like software subscriptions, lowering the skill needed to attack.</a:t>
            </a:r>
          </a:p>
          <a:p>
            <a:pPr>
              <a:spcAft>
                <a:spcPts val="600"/>
              </a:spcAft>
            </a:pPr>
            <a:r>
              <a:rPr sz="1400">
                <a:solidFill>
                  <a:srgbClr val="1A1A1A"/>
                </a:solidFill>
              </a:rPr>
              <a:t>•  Stolen data (cards, credentials, KYC) is a commodity, sold in bulk on criminal markets.</a:t>
            </a:r>
          </a:p>
          <a:p>
            <a:pPr>
              <a:spcAft>
                <a:spcPts val="600"/>
              </a:spcAft>
            </a:pPr>
            <a:r>
              <a:rPr sz="1400">
                <a:solidFill>
                  <a:srgbClr val="1A1A1A"/>
                </a:solidFill>
              </a:rPr>
              <a:t>•  Some ransomware gangs even run 'customer support' to help victims pay — crime as an industry.</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Crime went pro: a low-skill attacker in 2026 can RENT tools an expert once needed.</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22 / 94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S23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attacker economy — 2010 vs 2026</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2775857"/>
                <a:gridCol w="3918857"/>
                <a:gridCol w="4735285"/>
              </a:tblGrid>
              <a:tr h="736092">
                <a:tc>
                  <a:txBody>
                    <a:bodyPr wrap="square"/>
                    <a:lstStyle/>
                    <a:p>
                      <a:r>
                        <a:rPr sz="1100" b="1">
                          <a:solidFill>
                            <a:srgbClr val="FFFFFF"/>
                          </a:solidFill>
                        </a:rPr>
                        <a:t>Dimension</a:t>
                      </a:r>
                    </a:p>
                  </a:txBody>
                  <a:tcPr anchor="ctr" marL="73152" marR="54864" marT="27432" marB="27432">
                    <a:solidFill>
                      <a:srgbClr val="0C2B4A"/>
                    </a:solidFill>
                  </a:tcPr>
                </a:tc>
                <a:tc>
                  <a:txBody>
                    <a:bodyPr wrap="square"/>
                    <a:lstStyle/>
                    <a:p>
                      <a:r>
                        <a:rPr sz="1100" b="1">
                          <a:solidFill>
                            <a:srgbClr val="FFFFFF"/>
                          </a:solidFill>
                        </a:rPr>
                        <a:t>~2010 attacker</a:t>
                      </a:r>
                    </a:p>
                  </a:txBody>
                  <a:tcPr anchor="ctr" marL="73152" marR="54864" marT="27432" marB="27432">
                    <a:solidFill>
                      <a:srgbClr val="0C2B4A"/>
                    </a:solidFill>
                  </a:tcPr>
                </a:tc>
                <a:tc>
                  <a:txBody>
                    <a:bodyPr wrap="square"/>
                    <a:lstStyle/>
                    <a:p>
                      <a:r>
                        <a:rPr sz="1100" b="1">
                          <a:solidFill>
                            <a:srgbClr val="FFFFFF"/>
                          </a:solidFill>
                        </a:rPr>
                        <a:t>2026 attacker</a:t>
                      </a:r>
                    </a:p>
                  </a:txBody>
                  <a:tcPr anchor="ctr" marL="73152" marR="54864" marT="27432" marB="27432">
                    <a:solidFill>
                      <a:srgbClr val="0C2B4A"/>
                    </a:solidFill>
                  </a:tcPr>
                </a:tc>
              </a:tr>
              <a:tr h="736092">
                <a:tc>
                  <a:txBody>
                    <a:bodyPr wrap="square"/>
                    <a:lstStyle/>
                    <a:p>
                      <a:r>
                        <a:rPr sz="1050" b="1">
                          <a:solidFill>
                            <a:srgbClr val="0C2B4A"/>
                          </a:solidFill>
                        </a:rPr>
                        <a:t>Skill needed</a:t>
                      </a:r>
                    </a:p>
                  </a:txBody>
                  <a:tcPr anchor="ctr" marL="73152" marR="54864" marT="27432" marB="27432">
                    <a:solidFill>
                      <a:srgbClr val="FFFFFF"/>
                    </a:solidFill>
                  </a:tcPr>
                </a:tc>
                <a:tc>
                  <a:txBody>
                    <a:bodyPr wrap="square"/>
                    <a:lstStyle/>
                    <a:p>
                      <a:r>
                        <a:rPr sz="1050">
                          <a:solidFill>
                            <a:srgbClr val="1A1A1A"/>
                          </a:solidFill>
                        </a:rPr>
                        <a:t>High — had to build tools</a:t>
                      </a:r>
                    </a:p>
                  </a:txBody>
                  <a:tcPr anchor="ctr" marL="73152" marR="54864" marT="27432" marB="27432">
                    <a:solidFill>
                      <a:srgbClr val="FFFFFF"/>
                    </a:solidFill>
                  </a:tcPr>
                </a:tc>
                <a:tc>
                  <a:txBody>
                    <a:bodyPr wrap="square"/>
                    <a:lstStyle/>
                    <a:p>
                      <a:r>
                        <a:rPr sz="1050">
                          <a:solidFill>
                            <a:srgbClr val="1A1A1A"/>
                          </a:solidFill>
                        </a:rPr>
                        <a:t>Low — rents ready-made kits (RaaS)</a:t>
                      </a:r>
                    </a:p>
                  </a:txBody>
                  <a:tcPr anchor="ctr" marL="73152" marR="54864" marT="27432" marB="27432">
                    <a:solidFill>
                      <a:srgbClr val="FFFFFF"/>
                    </a:solidFill>
                  </a:tcPr>
                </a:tc>
              </a:tr>
              <a:tr h="736092">
                <a:tc>
                  <a:txBody>
                    <a:bodyPr wrap="square"/>
                    <a:lstStyle/>
                    <a:p>
                      <a:r>
                        <a:rPr sz="1050" b="1">
                          <a:solidFill>
                            <a:srgbClr val="0C2B4A"/>
                          </a:solidFill>
                        </a:rPr>
                        <a:t>Where data lives</a:t>
                      </a:r>
                    </a:p>
                  </a:txBody>
                  <a:tcPr anchor="ctr" marL="73152" marR="54864" marT="27432" marB="27432">
                    <a:solidFill>
                      <a:srgbClr val="EEF3F8"/>
                    </a:solidFill>
                  </a:tcPr>
                </a:tc>
                <a:tc>
                  <a:txBody>
                    <a:bodyPr wrap="square"/>
                    <a:lstStyle/>
                    <a:p>
                      <a:r>
                        <a:rPr sz="1050">
                          <a:solidFill>
                            <a:srgbClr val="1A1A1A"/>
                          </a:solidFill>
                        </a:rPr>
                        <a:t>On-premise servers</a:t>
                      </a:r>
                    </a:p>
                  </a:txBody>
                  <a:tcPr anchor="ctr" marL="73152" marR="54864" marT="27432" marB="27432">
                    <a:solidFill>
                      <a:srgbClr val="EEF3F8"/>
                    </a:solidFill>
                  </a:tcPr>
                </a:tc>
                <a:tc>
                  <a:txBody>
                    <a:bodyPr wrap="square"/>
                    <a:lstStyle/>
                    <a:p>
                      <a:r>
                        <a:rPr sz="1050">
                          <a:solidFill>
                            <a:srgbClr val="1A1A1A"/>
                          </a:solidFill>
                        </a:rPr>
                        <a:t>Cloud / SaaS platforms (new target)</a:t>
                      </a:r>
                    </a:p>
                  </a:txBody>
                  <a:tcPr anchor="ctr" marL="73152" marR="54864" marT="27432" marB="27432">
                    <a:solidFill>
                      <a:srgbClr val="EEF3F8"/>
                    </a:solidFill>
                  </a:tcPr>
                </a:tc>
              </a:tr>
              <a:tr h="736092">
                <a:tc>
                  <a:txBody>
                    <a:bodyPr wrap="square"/>
                    <a:lstStyle/>
                    <a:p>
                      <a:r>
                        <a:rPr sz="1050" b="1">
                          <a:solidFill>
                            <a:srgbClr val="0C2B4A"/>
                          </a:solidFill>
                        </a:rPr>
                        <a:t>Business model</a:t>
                      </a:r>
                    </a:p>
                  </a:txBody>
                  <a:tcPr anchor="ctr" marL="73152" marR="54864" marT="27432" marB="27432">
                    <a:solidFill>
                      <a:srgbClr val="FFFFFF"/>
                    </a:solidFill>
                  </a:tcPr>
                </a:tc>
                <a:tc>
                  <a:txBody>
                    <a:bodyPr wrap="square"/>
                    <a:lstStyle/>
                    <a:p>
                      <a:r>
                        <a:rPr sz="1050">
                          <a:solidFill>
                            <a:srgbClr val="1A1A1A"/>
                          </a:solidFill>
                        </a:rPr>
                        <a:t>Lone hobbyist / vandal</a:t>
                      </a:r>
                    </a:p>
                  </a:txBody>
                  <a:tcPr anchor="ctr" marL="73152" marR="54864" marT="27432" marB="27432">
                    <a:solidFill>
                      <a:srgbClr val="FFFFFF"/>
                    </a:solidFill>
                  </a:tcPr>
                </a:tc>
                <a:tc>
                  <a:txBody>
                    <a:bodyPr wrap="square"/>
                    <a:lstStyle/>
                    <a:p>
                      <a:r>
                        <a:rPr sz="1050">
                          <a:solidFill>
                            <a:srgbClr val="1A1A1A"/>
                          </a:solidFill>
                        </a:rPr>
                        <a:t>Organised gangs with 'customer support'</a:t>
                      </a:r>
                    </a:p>
                  </a:txBody>
                  <a:tcPr anchor="ctr" marL="73152" marR="54864" marT="27432" marB="27432">
                    <a:solidFill>
                      <a:srgbClr val="FFFFFF"/>
                    </a:solidFill>
                  </a:tcPr>
                </a:tc>
              </a:tr>
              <a:tr h="736092">
                <a:tc>
                  <a:txBody>
                    <a:bodyPr wrap="square"/>
                    <a:lstStyle/>
                    <a:p>
                      <a:r>
                        <a:rPr sz="1050" b="1">
                          <a:solidFill>
                            <a:srgbClr val="0C2B4A"/>
                          </a:solidFill>
                        </a:rPr>
                        <a:t>What's for sale</a:t>
                      </a:r>
                    </a:p>
                  </a:txBody>
                  <a:tcPr anchor="ctr" marL="73152" marR="54864" marT="27432" marB="27432">
                    <a:solidFill>
                      <a:srgbClr val="EEF3F8"/>
                    </a:solidFill>
                  </a:tcPr>
                </a:tc>
                <a:tc>
                  <a:txBody>
                    <a:bodyPr wrap="square"/>
                    <a:lstStyle/>
                    <a:p>
                      <a:r>
                        <a:rPr sz="1050">
                          <a:solidFill>
                            <a:srgbClr val="1A1A1A"/>
                          </a:solidFill>
                        </a:rPr>
                        <a:t>Little</a:t>
                      </a:r>
                    </a:p>
                  </a:txBody>
                  <a:tcPr anchor="ctr" marL="73152" marR="54864" marT="27432" marB="27432">
                    <a:solidFill>
                      <a:srgbClr val="EEF3F8"/>
                    </a:solidFill>
                  </a:tcPr>
                </a:tc>
                <a:tc>
                  <a:txBody>
                    <a:bodyPr wrap="square"/>
                    <a:lstStyle/>
                    <a:p>
                      <a:r>
                        <a:rPr sz="1050">
                          <a:solidFill>
                            <a:srgbClr val="1A1A1A"/>
                          </a:solidFill>
                        </a:rPr>
                        <a:t>Stolen cards, credentials, KYC in bulk</a:t>
                      </a:r>
                    </a:p>
                  </a:txBody>
                  <a:tcPr anchor="ctr" marL="73152" marR="54864" marT="27432" marB="27432">
                    <a:solidFill>
                      <a:srgbClr val="EEF3F8"/>
                    </a:solidFill>
                  </a:tcPr>
                </a:tc>
              </a:tr>
              <a:tr h="736092">
                <a:tc>
                  <a:txBody>
                    <a:bodyPr wrap="square"/>
                    <a:lstStyle/>
                    <a:p>
                      <a:r>
                        <a:rPr sz="1050" b="1">
                          <a:solidFill>
                            <a:srgbClr val="0C2B4A"/>
                          </a:solidFill>
                        </a:rPr>
                        <a:t>Nepal impact</a:t>
                      </a:r>
                    </a:p>
                  </a:txBody>
                  <a:tcPr anchor="ctr" marL="73152" marR="54864" marT="27432" marB="27432">
                    <a:solidFill>
                      <a:srgbClr val="FFFFFF"/>
                    </a:solidFill>
                  </a:tcPr>
                </a:tc>
                <a:tc>
                  <a:txBody>
                    <a:bodyPr wrap="square"/>
                    <a:lstStyle/>
                    <a:p>
                      <a:r>
                        <a:rPr sz="1050">
                          <a:solidFill>
                            <a:srgbClr val="1A1A1A"/>
                          </a:solidFill>
                        </a:rPr>
                        <a:t>Rare, opportunistic</a:t>
                      </a:r>
                    </a:p>
                  </a:txBody>
                  <a:tcPr anchor="ctr" marL="73152" marR="54864" marT="27432" marB="27432">
                    <a:solidFill>
                      <a:srgbClr val="FFFFFF"/>
                    </a:solidFill>
                  </a:tcPr>
                </a:tc>
                <a:tc>
                  <a:txBody>
                    <a:bodyPr wrap="square"/>
                    <a:lstStyle/>
                    <a:p>
                      <a:r>
                        <a:rPr sz="1050">
                          <a:solidFill>
                            <a:srgbClr val="1A1A1A"/>
                          </a:solidFill>
                        </a:rPr>
                        <a:t>Pre-packaged phishing kits target local users</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shift matters for defence: attacks are now cheap, scalable, and require little skill — so 'we're too small/unskilled a target for real hackers' is false. The tools are rented, not built.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23 / 94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S23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Economic Model Shifts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In Nepal, stolen card / eSewa / bank credentials are sold in bulk on criminal markets, and pre-packaged phishing kits are aimed specifically at Nepali users (fake bank-KYC, fake wallet rewards). Globally, ransomware gangs operate like companies — complete with 'customer support' desks to walk victims through paying. Crime has become a scalable service industry.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"Only a genius hacker could attack us, and we're too small to bother with." Ransomware-as-a-Service and rented phishing kits mean a low-skill criminal can now run a powerful attack cheaply and at scale — small, local targets are attacked precisely because they are easy and numerous.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Economic-model shifts have turned cybercrime and IT into businesses: SaaS/cloud changes where data lives; Cybercrime-/Ransomware-as-a-Service lets low-skill attackers rent powerful tools; and stolen data becomes a traded commodity sold in bulk. This lowers the skill and cost of attacking, so the volume and reach of attacks — including on small Nepali targets — rises sharply.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economic shift · Cybercrime-/Ransomware-as-a-Service · data as commodity · rented tools · low skill, high reach</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24 / 94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S23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Outsourcing &amp; the Supply Chain</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Relying on third-party vendors and contractors introduces THEIR risk into YOUR system — this is supply-chain risk. Third-party access, shared credentials, and managed services extend your trust boundary outside your own walls, so a vendor's weakness can become your breach.</a:t>
            </a:r>
          </a:p>
          <a:p>
            <a:pPr>
              <a:spcAft>
                <a:spcPts val="500"/>
              </a:spcAft>
            </a:pPr>
            <a:r>
              <a:rPr sz="1200" b="1">
                <a:solidFill>
                  <a:srgbClr val="185FA5"/>
                </a:solidFill>
              </a:rPr>
              <a:t>HOW IT WORKS</a:t>
            </a:r>
          </a:p>
          <a:p>
            <a:pPr>
              <a:spcAft>
                <a:spcPts val="600"/>
              </a:spcAft>
            </a:pPr>
            <a:r>
              <a:rPr sz="1400">
                <a:solidFill>
                  <a:srgbClr val="1A1A1A"/>
                </a:solidFill>
              </a:rPr>
              <a:t>•  A vendor with access to your system is a door into it — their security is now your security.</a:t>
            </a:r>
          </a:p>
          <a:p>
            <a:pPr>
              <a:spcAft>
                <a:spcPts val="600"/>
              </a:spcAft>
            </a:pPr>
            <a:r>
              <a:rPr sz="1400">
                <a:solidFill>
                  <a:srgbClr val="1A1A1A"/>
                </a:solidFill>
              </a:rPr>
              <a:t>•  The chain is deep: you trust your vendor, and your vendor's sub-vendors too.</a:t>
            </a:r>
          </a:p>
          <a:p>
            <a:pPr>
              <a:spcAft>
                <a:spcPts val="600"/>
              </a:spcAft>
            </a:pPr>
            <a:r>
              <a:rPr sz="1400">
                <a:solidFill>
                  <a:srgbClr val="1A1A1A"/>
                </a:solidFill>
              </a:rPr>
              <a:t>•  A single compromised software update from a trusted vendor can hit all its customers at once.</a:t>
            </a:r>
          </a:p>
          <a:p>
            <a:pPr>
              <a:spcAft>
                <a:spcPts val="600"/>
              </a:spcAft>
            </a:pPr>
            <a:r>
              <a:rPr sz="1400">
                <a:solidFill>
                  <a:srgbClr val="1A1A1A"/>
                </a:solidFill>
              </a:rPr>
              <a:t>•  You outsource the WORK, but you keep the ACCOUNTABILITY for protecting your data.</a:t>
            </a:r>
          </a:p>
        </p:txBody>
      </p:sp>
      <p:pic>
        <p:nvPicPr>
          <p:cNvPr id="6" name="Picture 5" descr="s23_supplychain.png"/>
          <p:cNvPicPr>
            <a:picLocks noChangeAspect="1"/>
          </p:cNvPicPr>
          <p:nvPr/>
        </p:nvPicPr>
        <p:blipFill>
          <a:blip r:embed="rId2"/>
          <a:stretch>
            <a:fillRect/>
          </a:stretch>
        </p:blipFill>
        <p:spPr>
          <a:xfrm>
            <a:off x="6355080" y="2603028"/>
            <a:ext cx="5532120" cy="2429183"/>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You outsource the work, not the accountability — a vendor breach is your breach.</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25 / 94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S23 · CONCEPT 3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Outsourcing scenario → the risk it inherits (Nepal)</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668888"/>
                <a:gridCol w="3527777"/>
                <a:gridCol w="4233333"/>
              </a:tblGrid>
              <a:tr h="630936">
                <a:tc>
                  <a:txBody>
                    <a:bodyPr wrap="square"/>
                    <a:lstStyle/>
                    <a:p>
                      <a:r>
                        <a:rPr sz="1150" b="1">
                          <a:solidFill>
                            <a:srgbClr val="FFFFFF"/>
                          </a:solidFill>
                        </a:rPr>
                        <a:t>Outsourcing scenario</a:t>
                      </a:r>
                    </a:p>
                  </a:txBody>
                  <a:tcPr anchor="ctr" marL="73152" marR="54864" marT="27432" marB="27432">
                    <a:solidFill>
                      <a:srgbClr val="0C2B4A"/>
                    </a:solidFill>
                  </a:tcPr>
                </a:tc>
                <a:tc>
                  <a:txBody>
                    <a:bodyPr wrap="square"/>
                    <a:lstStyle/>
                    <a:p>
                      <a:r>
                        <a:rPr sz="1150" b="1">
                          <a:solidFill>
                            <a:srgbClr val="FFFFFF"/>
                          </a:solidFill>
                        </a:rPr>
                        <a:t>Risk inherited</a:t>
                      </a:r>
                    </a:p>
                  </a:txBody>
                  <a:tcPr anchor="ctr" marL="73152" marR="54864" marT="27432" marB="27432">
                    <a:solidFill>
                      <a:srgbClr val="0C2B4A"/>
                    </a:solidFill>
                  </a:tcPr>
                </a:tc>
                <a:tc>
                  <a:txBody>
                    <a:bodyPr wrap="square"/>
                    <a:lstStyle/>
                    <a:p>
                      <a:r>
                        <a:rPr sz="1150" b="1">
                          <a:solidFill>
                            <a:srgbClr val="FFFFFF"/>
                          </a:solidFill>
                        </a:rPr>
                        <a:t>Defence / control</a:t>
                      </a:r>
                    </a:p>
                  </a:txBody>
                  <a:tcPr anchor="ctr" marL="73152" marR="54864" marT="27432" marB="27432">
                    <a:solidFill>
                      <a:srgbClr val="0C2B4A"/>
                    </a:solidFill>
                  </a:tcPr>
                </a:tc>
              </a:tr>
              <a:tr h="630936">
                <a:tc>
                  <a:txBody>
                    <a:bodyPr wrap="square"/>
                    <a:lstStyle/>
                    <a:p>
                      <a:r>
                        <a:rPr sz="1100" b="1">
                          <a:solidFill>
                            <a:srgbClr val="0C2B4A"/>
                          </a:solidFill>
                        </a:rPr>
                        <a:t>Bank outsources app development to a vendor</a:t>
                      </a:r>
                    </a:p>
                  </a:txBody>
                  <a:tcPr anchor="ctr" marL="73152" marR="54864" marT="27432" marB="27432">
                    <a:solidFill>
                      <a:srgbClr val="FFFFFF"/>
                    </a:solidFill>
                  </a:tcPr>
                </a:tc>
                <a:tc>
                  <a:txBody>
                    <a:bodyPr wrap="square"/>
                    <a:lstStyle/>
                    <a:p>
                      <a:r>
                        <a:rPr sz="1100">
                          <a:solidFill>
                            <a:srgbClr val="1A1A1A"/>
                          </a:solidFill>
                        </a:rPr>
                        <a:t>Vendor's insecure code ships into the bank</a:t>
                      </a:r>
                    </a:p>
                  </a:txBody>
                  <a:tcPr anchor="ctr" marL="73152" marR="54864" marT="27432" marB="27432">
                    <a:solidFill>
                      <a:srgbClr val="FFFFFF"/>
                    </a:solidFill>
                  </a:tcPr>
                </a:tc>
                <a:tc>
                  <a:txBody>
                    <a:bodyPr wrap="square"/>
                    <a:lstStyle/>
                    <a:p>
                      <a:r>
                        <a:rPr sz="1100">
                          <a:solidFill>
                            <a:srgbClr val="1A1A1A"/>
                          </a:solidFill>
                        </a:rPr>
                        <a:t>Security requirements in contract; code review; testing</a:t>
                      </a:r>
                    </a:p>
                  </a:txBody>
                  <a:tcPr anchor="ctr" marL="73152" marR="54864" marT="27432" marB="27432">
                    <a:solidFill>
                      <a:srgbClr val="FFFFFF"/>
                    </a:solidFill>
                  </a:tcPr>
                </a:tc>
              </a:tr>
              <a:tr h="630936">
                <a:tc>
                  <a:txBody>
                    <a:bodyPr wrap="square"/>
                    <a:lstStyle/>
                    <a:p>
                      <a:r>
                        <a:rPr sz="1100" b="1">
                          <a:solidFill>
                            <a:srgbClr val="0C2B4A"/>
                          </a:solidFill>
                        </a:rPr>
                        <a:t>Government hosts a portal with a third party</a:t>
                      </a:r>
                    </a:p>
                  </a:txBody>
                  <a:tcPr anchor="ctr" marL="73152" marR="54864" marT="27432" marB="27432">
                    <a:solidFill>
                      <a:srgbClr val="EEF3F8"/>
                    </a:solidFill>
                  </a:tcPr>
                </a:tc>
                <a:tc>
                  <a:txBody>
                    <a:bodyPr wrap="square"/>
                    <a:lstStyle/>
                    <a:p>
                      <a:r>
                        <a:rPr sz="1100">
                          <a:solidFill>
                            <a:srgbClr val="1A1A1A"/>
                          </a:solidFill>
                        </a:rPr>
                        <a:t>Host's breach exposes citizen data</a:t>
                      </a:r>
                    </a:p>
                  </a:txBody>
                  <a:tcPr anchor="ctr" marL="73152" marR="54864" marT="27432" marB="27432">
                    <a:solidFill>
                      <a:srgbClr val="EEF3F8"/>
                    </a:solidFill>
                  </a:tcPr>
                </a:tc>
                <a:tc>
                  <a:txBody>
                    <a:bodyPr wrap="square"/>
                    <a:lstStyle/>
                    <a:p>
                      <a:r>
                        <a:rPr sz="1100">
                          <a:solidFill>
                            <a:srgbClr val="1A1A1A"/>
                          </a:solidFill>
                        </a:rPr>
                        <a:t>Data-protection clauses; audits; encryption</a:t>
                      </a:r>
                    </a:p>
                  </a:txBody>
                  <a:tcPr anchor="ctr" marL="73152" marR="54864" marT="27432" marB="27432">
                    <a:solidFill>
                      <a:srgbClr val="EEF3F8"/>
                    </a:solidFill>
                  </a:tcPr>
                </a:tc>
              </a:tr>
              <a:tr h="630936">
                <a:tc>
                  <a:txBody>
                    <a:bodyPr wrap="square"/>
                    <a:lstStyle/>
                    <a:p>
                      <a:r>
                        <a:rPr sz="1100" b="1">
                          <a:solidFill>
                            <a:srgbClr val="0C2B4A"/>
                          </a:solidFill>
                        </a:rPr>
                        <a:t>Vendor gets remote access to maintain a system</a:t>
                      </a:r>
                    </a:p>
                  </a:txBody>
                  <a:tcPr anchor="ctr" marL="73152" marR="54864" marT="27432" marB="27432">
                    <a:solidFill>
                      <a:srgbClr val="FFFFFF"/>
                    </a:solidFill>
                  </a:tcPr>
                </a:tc>
                <a:tc>
                  <a:txBody>
                    <a:bodyPr wrap="square"/>
                    <a:lstStyle/>
                    <a:p>
                      <a:r>
                        <a:rPr sz="1100">
                          <a:solidFill>
                            <a:srgbClr val="1A1A1A"/>
                          </a:solidFill>
                        </a:rPr>
                        <a:t>A stolen vendor credential = access to you</a:t>
                      </a:r>
                    </a:p>
                  </a:txBody>
                  <a:tcPr anchor="ctr" marL="73152" marR="54864" marT="27432" marB="27432">
                    <a:solidFill>
                      <a:srgbClr val="FFFFFF"/>
                    </a:solidFill>
                  </a:tcPr>
                </a:tc>
                <a:tc>
                  <a:txBody>
                    <a:bodyPr wrap="square"/>
                    <a:lstStyle/>
                    <a:p>
                      <a:r>
                        <a:rPr sz="1100">
                          <a:solidFill>
                            <a:srgbClr val="1A1A1A"/>
                          </a:solidFill>
                        </a:rPr>
                        <a:t>Least privilege, MFA, time-limited access, logging</a:t>
                      </a:r>
                    </a:p>
                  </a:txBody>
                  <a:tcPr anchor="ctr" marL="73152" marR="54864" marT="27432" marB="27432">
                    <a:solidFill>
                      <a:srgbClr val="FFFFFF"/>
                    </a:solidFill>
                  </a:tcPr>
                </a:tc>
              </a:tr>
              <a:tr h="630936">
                <a:tc>
                  <a:txBody>
                    <a:bodyPr wrap="square"/>
                    <a:lstStyle/>
                    <a:p>
                      <a:r>
                        <a:rPr sz="1100" b="1">
                          <a:solidFill>
                            <a:srgbClr val="0C2B4A"/>
                          </a:solidFill>
                        </a:rPr>
                        <a:t>Shared admin password given to a contractor</a:t>
                      </a:r>
                    </a:p>
                  </a:txBody>
                  <a:tcPr anchor="ctr" marL="73152" marR="54864" marT="27432" marB="27432">
                    <a:solidFill>
                      <a:srgbClr val="EEF3F8"/>
                    </a:solidFill>
                  </a:tcPr>
                </a:tc>
                <a:tc>
                  <a:txBody>
                    <a:bodyPr wrap="square"/>
                    <a:lstStyle/>
                    <a:p>
                      <a:r>
                        <a:rPr sz="1100">
                          <a:solidFill>
                            <a:srgbClr val="1A1A1A"/>
                          </a:solidFill>
                        </a:rPr>
                        <a:t>No accountability if it leaks</a:t>
                      </a:r>
                    </a:p>
                  </a:txBody>
                  <a:tcPr anchor="ctr" marL="73152" marR="54864" marT="27432" marB="27432">
                    <a:solidFill>
                      <a:srgbClr val="EEF3F8"/>
                    </a:solidFill>
                  </a:tcPr>
                </a:tc>
                <a:tc>
                  <a:txBody>
                    <a:bodyPr wrap="square"/>
                    <a:lstStyle/>
                    <a:p>
                      <a:r>
                        <a:rPr sz="1100">
                          <a:solidFill>
                            <a:srgbClr val="1A1A1A"/>
                          </a:solidFill>
                        </a:rPr>
                        <a:t>Unique named accounts; revoke on exit</a:t>
                      </a:r>
                    </a:p>
                  </a:txBody>
                  <a:tcPr anchor="ctr" marL="73152" marR="54864" marT="27432" marB="27432">
                    <a:solidFill>
                      <a:srgbClr val="EEF3F8"/>
                    </a:solidFill>
                  </a:tcPr>
                </a:tc>
              </a:tr>
              <a:tr h="630936">
                <a:tc>
                  <a:txBody>
                    <a:bodyPr wrap="square"/>
                    <a:lstStyle/>
                    <a:p>
                      <a:r>
                        <a:rPr sz="1100" b="1">
                          <a:solidFill>
                            <a:srgbClr val="0C2B4A"/>
                          </a:solidFill>
                        </a:rPr>
                        <a:t>Managed service (SaaS) holds your data</a:t>
                      </a:r>
                    </a:p>
                  </a:txBody>
                  <a:tcPr anchor="ctr" marL="73152" marR="54864" marT="27432" marB="27432">
                    <a:solidFill>
                      <a:srgbClr val="FFFFFF"/>
                    </a:solidFill>
                  </a:tcPr>
                </a:tc>
                <a:tc>
                  <a:txBody>
                    <a:bodyPr wrap="square"/>
                    <a:lstStyle/>
                    <a:p>
                      <a:r>
                        <a:rPr sz="1100">
                          <a:solidFill>
                            <a:srgbClr val="1A1A1A"/>
                          </a:solidFill>
                        </a:rPr>
                        <a:t>Depend on their uptime &amp; security</a:t>
                      </a:r>
                    </a:p>
                  </a:txBody>
                  <a:tcPr anchor="ctr" marL="73152" marR="54864" marT="27432" marB="27432">
                    <a:solidFill>
                      <a:srgbClr val="FFFFFF"/>
                    </a:solidFill>
                  </a:tcPr>
                </a:tc>
                <a:tc>
                  <a:txBody>
                    <a:bodyPr wrap="square"/>
                    <a:lstStyle/>
                    <a:p>
                      <a:r>
                        <a:rPr sz="1100">
                          <a:solidFill>
                            <a:srgbClr val="1A1A1A"/>
                          </a:solidFill>
                        </a:rPr>
                        <a:t>Review their certifications; a backup you control</a:t>
                      </a:r>
                    </a:p>
                  </a:txBody>
                  <a:tcPr anchor="ctr" marL="73152" marR="54864" marT="27432" marB="27432">
                    <a:solidFill>
                      <a:srgbClr val="FFFFFF"/>
                    </a:solidFill>
                  </a:tcPr>
                </a:tc>
              </a:tr>
              <a:tr h="630936">
                <a:tc>
                  <a:txBody>
                    <a:bodyPr wrap="square"/>
                    <a:lstStyle/>
                    <a:p>
                      <a:r>
                        <a:rPr sz="1100" b="1">
                          <a:solidFill>
                            <a:srgbClr val="0C2B4A"/>
                          </a:solidFill>
                        </a:rPr>
                        <a:t>Vendor uses its own sub-vendor (deep chain)</a:t>
                      </a:r>
                    </a:p>
                  </a:txBody>
                  <a:tcPr anchor="ctr" marL="73152" marR="54864" marT="27432" marB="27432">
                    <a:solidFill>
                      <a:srgbClr val="EEF3F8"/>
                    </a:solidFill>
                  </a:tcPr>
                </a:tc>
                <a:tc>
                  <a:txBody>
                    <a:bodyPr wrap="square"/>
                    <a:lstStyle/>
                    <a:p>
                      <a:r>
                        <a:rPr sz="1100">
                          <a:solidFill>
                            <a:srgbClr val="1A1A1A"/>
                          </a:solidFill>
                        </a:rPr>
                        <a:t>Risk you can't even see</a:t>
                      </a:r>
                    </a:p>
                  </a:txBody>
                  <a:tcPr anchor="ctr" marL="73152" marR="54864" marT="27432" marB="27432">
                    <a:solidFill>
                      <a:srgbClr val="EEF3F8"/>
                    </a:solidFill>
                  </a:tcPr>
                </a:tc>
                <a:tc>
                  <a:txBody>
                    <a:bodyPr wrap="square"/>
                    <a:lstStyle/>
                    <a:p>
                      <a:r>
                        <a:rPr sz="1100">
                          <a:solidFill>
                            <a:srgbClr val="1A1A1A"/>
                          </a:solidFill>
                        </a:rPr>
                        <a:t>Require vendors to vet their sub-vendors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duty of care travels with the data (echoing Unit 4's outsourcing ethics). You outsource the work, not the accountability — a vendor's carelessness is your customers' breach.</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26 / 94</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S23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Outsourcing &amp; the Supply Chain</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Nepali banks and government offices routinely outsource software development or hosting to outside vendors. If that vendor is breached — or ships insecure code, or has a stolen maintenance credential — the bank's customers are harmed and the bank's name is on the incident. Globally, supply-chain attacks (a poisoned update from a trusted vendor reaching thousands at once) show how deep the chain goes.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we outsource IT, we outsource the risk too." You outsource the WORK, not the accountability. Regulators, customers, and the public still hold YOU responsible for protecting the data — so vendor security must be contracted, audited, and monitored, not assumed.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Outsourcing to third-party vendors introduces their risk into your system — supply-chain risk. Third-party access, shared credentials, and managed services extend the trust boundary beyond your walls, and the chain runs to your vendors' sub-vendors. A vendor breach becomes your breach; you outsource the work but keep accountability, so vendor security must be required and verified.</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supply-chain risk · third-party access · trust boundary extended · work outsourced, accountability kept · vet vendors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27 / 94</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S23 — 'One new tech, one new risk'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name one new technology your family or workplace adopted recently.</a:t>
            </a:r>
          </a:p>
          <a:p>
            <a:pPr>
              <a:spcAft>
                <a:spcPts val="700"/>
              </a:spcAft>
            </a:pPr>
            <a:r>
              <a:rPr sz="1550">
                <a:solidFill>
                  <a:srgbClr val="1A1A1A"/>
                </a:solidFill>
              </a:rPr>
              <a:t>•  List the new risk that came with it, and one defence they could add.</a:t>
            </a:r>
          </a:p>
          <a:p>
            <a:pPr>
              <a:spcAft>
                <a:spcPts val="700"/>
              </a:spcAft>
            </a:pPr>
            <a:r>
              <a:rPr sz="1550">
                <a:solidFill>
                  <a:srgbClr val="1A1A1A"/>
                </a:solidFill>
              </a:rPr>
              <a:t>•  Take 3–4 answers aloud (3 min); sort them into technology / economics / outsourcing drivers.</a:t>
            </a:r>
          </a:p>
          <a:p>
            <a:pPr>
              <a:spcAft>
                <a:spcPts val="700"/>
              </a:spcAft>
            </a:pPr>
            <a:r>
              <a:rPr sz="1550">
                <a:solidFill>
                  <a:srgbClr val="1A1A1A"/>
                </a:solidFill>
              </a:rPr>
              <a:t>•  Close: notice almost nobody added a defender when they added the technology — that's the whole point.</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Seeds: QR payments (fake-QR risk), a smart TV/CCTV (weak default), online banking (phishing), a shop moving records to the cloud (access control). Reward pairs that name a concrete, matching defence.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28 / 94</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S23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The 'attack surface' grows mainly because:</a:t>
            </a:r>
          </a:p>
          <a:p>
            <a:pPr lvl="1"/>
            <a:r>
              <a:rPr sz="1500" b="1">
                <a:solidFill>
                  <a:srgbClr val="0F6E56"/>
                </a:solidFill>
              </a:rPr>
              <a:t>a) hackers get smarter   b) ✅ more devices, data, and entry points are added   c) laws change   d) prices fall</a:t>
            </a:r>
          </a:p>
          <a:p>
            <a:pPr lvl="1">
              <a:spcBef>
                <a:spcPts val="600"/>
              </a:spcBef>
            </a:pPr>
            <a:r>
              <a:rPr sz="1500" i="1">
                <a:solidFill>
                  <a:srgbClr val="1A1A1A"/>
                </a:solidFill>
              </a:rPr>
              <a:t>     Why: every new device, data store, and connection is another point an attacker could target.</a:t>
            </a:r>
          </a:p>
          <a:p>
            <a:pPr>
              <a:spcBef>
                <a:spcPts val="900"/>
              </a:spcBef>
            </a:pPr>
            <a:r>
              <a:rPr sz="1700" b="1">
                <a:solidFill>
                  <a:srgbClr val="0C2B4A"/>
                </a:solidFill>
              </a:rPr>
              <a:t>Q2.  'Ransomware-as-a-Service' matters because it:</a:t>
            </a:r>
          </a:p>
          <a:p>
            <a:pPr lvl="1"/>
            <a:r>
              <a:rPr sz="1500" b="1">
                <a:solidFill>
                  <a:srgbClr val="0F6E56"/>
                </a:solidFill>
              </a:rPr>
              <a:t>a) is legal   b) protects victims   c) ✅ lets low-skill attackers rent powerful tools   d) needs no internet</a:t>
            </a:r>
          </a:p>
          <a:p>
            <a:pPr lvl="1">
              <a:spcBef>
                <a:spcPts val="600"/>
              </a:spcBef>
            </a:pPr>
            <a:r>
              <a:rPr sz="1500" i="1">
                <a:solidFill>
                  <a:srgbClr val="1A1A1A"/>
                </a:solidFill>
              </a:rPr>
              <a:t>     Why: renting ready-made attack tools lowers the skill and cost of attacking, so attacks multiply.</a:t>
            </a:r>
          </a:p>
          <a:p>
            <a:pPr lvl="1">
              <a:spcBef>
                <a:spcPts val="600"/>
              </a:spcBef>
            </a:pPr>
            <a:r>
              <a:rPr sz="1500" i="1">
                <a:solidFill>
                  <a:srgbClr val="1A1A1A"/>
                </a:solidFill>
              </a:rPr>
              <a:t>Discussion: name one new technology your family adopted recently — what new risk came with it?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29 / 94</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S23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New technology (cloud, mobile, IoT, AI, remote work) grows the attack surface — features arrive before their security.</a:t>
            </a:r>
          </a:p>
          <a:p>
            <a:pPr>
              <a:spcAft>
                <a:spcPts val="800"/>
              </a:spcAft>
            </a:pPr>
            <a:r>
              <a:rPr sz="1500">
                <a:solidFill>
                  <a:srgbClr val="1A1A1A"/>
                </a:solidFill>
              </a:rPr>
              <a:t>2.  Cybercrime and IT became business models: RaaS/phishing kits let low-skill attackers rent power; data is a traded commodity.</a:t>
            </a:r>
          </a:p>
          <a:p>
            <a:pPr>
              <a:spcAft>
                <a:spcPts val="800"/>
              </a:spcAft>
            </a:pPr>
            <a:r>
              <a:rPr sz="1500">
                <a:solidFill>
                  <a:srgbClr val="1A1A1A"/>
                </a:solidFill>
              </a:rPr>
              <a:t>3.  Outsourcing extends your trust boundary — a vendor's breach is your breach; you outsource the work, not the accountability.</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When you propose a new system at work — a cloud service, a vendor, an app — you'll be expected to ask 'what new risk does this add, and who now has access to our data?' This session is that habit: adopt a capability and its defence together.</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S24 — turning all this into measurable RISK, so you can decide what to fix first.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30 / 94</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24 · LECTURE HOUR 3 (OF 6)</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Risks Cybersecurity Mitigates · Risk = Threat × Vulnerability × Impact</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Two laptops. One holds wedding photos with no internet; one holds a bank's customer database online. The same 'virus' lands on both — which one keeps you up at night, and can you now say WHY, precisely?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31 / 94</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S24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Threats, Vulnerabilities &amp; Assets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Three words people confuse. A threat is something that COULD cause harm; a vulnerability is a weakness it can exploit; an asset is what you're protecting. The chain: a threat actor + a threat exploits a vulnerability to harm an asset. With no vulnerability, the threat has nothing to land on.</a:t>
            </a:r>
          </a:p>
          <a:p>
            <a:pPr>
              <a:spcAft>
                <a:spcPts val="500"/>
              </a:spcAft>
            </a:pPr>
            <a:r>
              <a:rPr sz="1200" b="1">
                <a:solidFill>
                  <a:srgbClr val="185FA5"/>
                </a:solidFill>
              </a:rPr>
              <a:t>HOW IT WORKS</a:t>
            </a:r>
          </a:p>
          <a:p>
            <a:pPr>
              <a:spcAft>
                <a:spcPts val="600"/>
              </a:spcAft>
            </a:pPr>
            <a:r>
              <a:rPr sz="1400">
                <a:solidFill>
                  <a:srgbClr val="1A1A1A"/>
                </a:solidFill>
              </a:rPr>
              <a:t>•  Threat = the potential danger (a worm, a phisher, a flood).</a:t>
            </a:r>
          </a:p>
          <a:p>
            <a:pPr>
              <a:spcAft>
                <a:spcPts val="600"/>
              </a:spcAft>
            </a:pPr>
            <a:r>
              <a:rPr sz="1400">
                <a:solidFill>
                  <a:srgbClr val="1A1A1A"/>
                </a:solidFill>
              </a:rPr>
              <a:t>•  Vulnerability = the weakness that lets it in (unpatched software, a weak password).</a:t>
            </a:r>
          </a:p>
          <a:p>
            <a:pPr>
              <a:spcAft>
                <a:spcPts val="600"/>
              </a:spcAft>
            </a:pPr>
            <a:r>
              <a:rPr sz="1400">
                <a:solidFill>
                  <a:srgbClr val="1A1A1A"/>
                </a:solidFill>
              </a:rPr>
              <a:t>•  Asset = what has value and is being protected (data, money, a service, reputation).</a:t>
            </a:r>
          </a:p>
          <a:p>
            <a:pPr>
              <a:spcAft>
                <a:spcPts val="600"/>
              </a:spcAft>
            </a:pPr>
            <a:r>
              <a:rPr sz="1400">
                <a:solidFill>
                  <a:srgbClr val="1A1A1A"/>
                </a:solidFill>
              </a:rPr>
              <a:t>•  Remove the vulnerability (e.g. patch) and the same threat can no longer cause harm.</a:t>
            </a:r>
          </a:p>
        </p:txBody>
      </p:sp>
      <p:pic>
        <p:nvPicPr>
          <p:cNvPr id="6" name="Picture 5" descr="s24_tva.png"/>
          <p:cNvPicPr>
            <a:picLocks noChangeAspect="1"/>
          </p:cNvPicPr>
          <p:nvPr/>
        </p:nvPicPr>
        <p:blipFill>
          <a:blip r:embed="rId2"/>
          <a:stretch>
            <a:fillRect/>
          </a:stretch>
        </p:blipFill>
        <p:spPr>
          <a:xfrm>
            <a:off x="6355080" y="2578375"/>
            <a:ext cx="5532120" cy="2478489"/>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Threat = the flood; vulnerability = living in a basement; asset = your belongings.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32 / 94</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S24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Threat vs Vulnerability vs Asset</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017058"/>
                <a:gridCol w="3092823"/>
                <a:gridCol w="2823882"/>
                <a:gridCol w="3496235"/>
              </a:tblGrid>
              <a:tr h="736092">
                <a:tc>
                  <a:txBody>
                    <a:bodyPr wrap="square"/>
                    <a:lstStyle/>
                    <a:p>
                      <a:r>
                        <a:rPr sz="1100" b="1">
                          <a:solidFill>
                            <a:srgbClr val="FFFFFF"/>
                          </a:solidFill>
                        </a:rPr>
                        <a:t>Term</a:t>
                      </a:r>
                    </a:p>
                  </a:txBody>
                  <a:tcPr anchor="ctr" marL="73152" marR="54864" marT="27432" marB="27432">
                    <a:solidFill>
                      <a:srgbClr val="0C2B4A"/>
                    </a:solidFill>
                  </a:tcPr>
                </a:tc>
                <a:tc>
                  <a:txBody>
                    <a:bodyPr wrap="square"/>
                    <a:lstStyle/>
                    <a:p>
                      <a:r>
                        <a:rPr sz="1100" b="1">
                          <a:solidFill>
                            <a:srgbClr val="FFFFFF"/>
                          </a:solidFill>
                        </a:rPr>
                        <a:t>What it is</a:t>
                      </a:r>
                    </a:p>
                  </a:txBody>
                  <a:tcPr anchor="ctr" marL="73152" marR="54864" marT="27432" marB="27432">
                    <a:solidFill>
                      <a:srgbClr val="0C2B4A"/>
                    </a:solidFill>
                  </a:tcPr>
                </a:tc>
                <a:tc>
                  <a:txBody>
                    <a:bodyPr wrap="square"/>
                    <a:lstStyle/>
                    <a:p>
                      <a:r>
                        <a:rPr sz="1100" b="1">
                          <a:solidFill>
                            <a:srgbClr val="FFFFFF"/>
                          </a:solidFill>
                        </a:rPr>
                        <a:t>Everyday analogy</a:t>
                      </a:r>
                    </a:p>
                  </a:txBody>
                  <a:tcPr anchor="ctr" marL="73152" marR="54864" marT="27432" marB="27432">
                    <a:solidFill>
                      <a:srgbClr val="0C2B4A"/>
                    </a:solidFill>
                  </a:tcPr>
                </a:tc>
                <a:tc>
                  <a:txBody>
                    <a:bodyPr wrap="square"/>
                    <a:lstStyle/>
                    <a:p>
                      <a:r>
                        <a:rPr sz="1100" b="1">
                          <a:solidFill>
                            <a:srgbClr val="FFFFFF"/>
                          </a:solidFill>
                        </a:rPr>
                        <a:t>Nepal / IT example</a:t>
                      </a:r>
                    </a:p>
                  </a:txBody>
                  <a:tcPr anchor="ctr" marL="73152" marR="54864" marT="27432" marB="27432">
                    <a:solidFill>
                      <a:srgbClr val="0C2B4A"/>
                    </a:solidFill>
                  </a:tcPr>
                </a:tc>
              </a:tr>
              <a:tr h="736092">
                <a:tc>
                  <a:txBody>
                    <a:bodyPr wrap="square"/>
                    <a:lstStyle/>
                    <a:p>
                      <a:r>
                        <a:rPr sz="1050" b="1">
                          <a:solidFill>
                            <a:srgbClr val="0C2B4A"/>
                          </a:solidFill>
                        </a:rPr>
                        <a:t>Threat</a:t>
                      </a:r>
                    </a:p>
                  </a:txBody>
                  <a:tcPr anchor="ctr" marL="73152" marR="54864" marT="27432" marB="27432">
                    <a:solidFill>
                      <a:srgbClr val="FFFFFF"/>
                    </a:solidFill>
                  </a:tcPr>
                </a:tc>
                <a:tc>
                  <a:txBody>
                    <a:bodyPr wrap="square"/>
                    <a:lstStyle/>
                    <a:p>
                      <a:r>
                        <a:rPr sz="1050">
                          <a:solidFill>
                            <a:srgbClr val="1A1A1A"/>
                          </a:solidFill>
                        </a:rPr>
                        <a:t>Something that could cause harm</a:t>
                      </a:r>
                    </a:p>
                  </a:txBody>
                  <a:tcPr anchor="ctr" marL="73152" marR="54864" marT="27432" marB="27432">
                    <a:solidFill>
                      <a:srgbClr val="FFFFFF"/>
                    </a:solidFill>
                  </a:tcPr>
                </a:tc>
                <a:tc>
                  <a:txBody>
                    <a:bodyPr wrap="square"/>
                    <a:lstStyle/>
                    <a:p>
                      <a:r>
                        <a:rPr sz="1050">
                          <a:solidFill>
                            <a:srgbClr val="1A1A1A"/>
                          </a:solidFill>
                        </a:rPr>
                        <a:t>A flood</a:t>
                      </a:r>
                    </a:p>
                  </a:txBody>
                  <a:tcPr anchor="ctr" marL="73152" marR="54864" marT="27432" marB="27432">
                    <a:solidFill>
                      <a:srgbClr val="FFFFFF"/>
                    </a:solidFill>
                  </a:tcPr>
                </a:tc>
                <a:tc>
                  <a:txBody>
                    <a:bodyPr wrap="square"/>
                    <a:lstStyle/>
                    <a:p>
                      <a:r>
                        <a:rPr sz="1050">
                          <a:solidFill>
                            <a:srgbClr val="1A1A1A"/>
                          </a:solidFill>
                        </a:rPr>
                        <a:t>A worm; a phishing campaign</a:t>
                      </a:r>
                    </a:p>
                  </a:txBody>
                  <a:tcPr anchor="ctr" marL="73152" marR="54864" marT="27432" marB="27432">
                    <a:solidFill>
                      <a:srgbClr val="FFFFFF"/>
                    </a:solidFill>
                  </a:tcPr>
                </a:tc>
              </a:tr>
              <a:tr h="736092">
                <a:tc>
                  <a:txBody>
                    <a:bodyPr wrap="square"/>
                    <a:lstStyle/>
                    <a:p>
                      <a:r>
                        <a:rPr sz="1050" b="1">
                          <a:solidFill>
                            <a:srgbClr val="0C2B4A"/>
                          </a:solidFill>
                        </a:rPr>
                        <a:t>Vulnerability</a:t>
                      </a:r>
                    </a:p>
                  </a:txBody>
                  <a:tcPr anchor="ctr" marL="73152" marR="54864" marT="27432" marB="27432">
                    <a:solidFill>
                      <a:srgbClr val="EEF3F8"/>
                    </a:solidFill>
                  </a:tcPr>
                </a:tc>
                <a:tc>
                  <a:txBody>
                    <a:bodyPr wrap="square"/>
                    <a:lstStyle/>
                    <a:p>
                      <a:r>
                        <a:rPr sz="1050">
                          <a:solidFill>
                            <a:srgbClr val="1A1A1A"/>
                          </a:solidFill>
                        </a:rPr>
                        <a:t>A weakness it can exploit</a:t>
                      </a:r>
                    </a:p>
                  </a:txBody>
                  <a:tcPr anchor="ctr" marL="73152" marR="54864" marT="27432" marB="27432">
                    <a:solidFill>
                      <a:srgbClr val="EEF3F8"/>
                    </a:solidFill>
                  </a:tcPr>
                </a:tc>
                <a:tc>
                  <a:txBody>
                    <a:bodyPr wrap="square"/>
                    <a:lstStyle/>
                    <a:p>
                      <a:r>
                        <a:rPr sz="1050">
                          <a:solidFill>
                            <a:srgbClr val="1A1A1A"/>
                          </a:solidFill>
                        </a:rPr>
                        <a:t>Living in a basement</a:t>
                      </a:r>
                    </a:p>
                  </a:txBody>
                  <a:tcPr anchor="ctr" marL="73152" marR="54864" marT="27432" marB="27432">
                    <a:solidFill>
                      <a:srgbClr val="EEF3F8"/>
                    </a:solidFill>
                  </a:tcPr>
                </a:tc>
                <a:tc>
                  <a:txBody>
                    <a:bodyPr wrap="square"/>
                    <a:lstStyle/>
                    <a:p>
                      <a:r>
                        <a:rPr sz="1050">
                          <a:solidFill>
                            <a:srgbClr val="1A1A1A"/>
                          </a:solidFill>
                        </a:rPr>
                        <a:t>An unpatched government web server</a:t>
                      </a:r>
                    </a:p>
                  </a:txBody>
                  <a:tcPr anchor="ctr" marL="73152" marR="54864" marT="27432" marB="27432">
                    <a:solidFill>
                      <a:srgbClr val="EEF3F8"/>
                    </a:solidFill>
                  </a:tcPr>
                </a:tc>
              </a:tr>
              <a:tr h="736092">
                <a:tc>
                  <a:txBody>
                    <a:bodyPr wrap="square"/>
                    <a:lstStyle/>
                    <a:p>
                      <a:r>
                        <a:rPr sz="1050" b="1">
                          <a:solidFill>
                            <a:srgbClr val="0C2B4A"/>
                          </a:solidFill>
                        </a:rPr>
                        <a:t>Asset</a:t>
                      </a:r>
                    </a:p>
                  </a:txBody>
                  <a:tcPr anchor="ctr" marL="73152" marR="54864" marT="27432" marB="27432">
                    <a:solidFill>
                      <a:srgbClr val="FFFFFF"/>
                    </a:solidFill>
                  </a:tcPr>
                </a:tc>
                <a:tc>
                  <a:txBody>
                    <a:bodyPr wrap="square"/>
                    <a:lstStyle/>
                    <a:p>
                      <a:r>
                        <a:rPr sz="1050">
                          <a:solidFill>
                            <a:srgbClr val="1A1A1A"/>
                          </a:solidFill>
                        </a:rPr>
                        <a:t>What you're protecting</a:t>
                      </a:r>
                    </a:p>
                  </a:txBody>
                  <a:tcPr anchor="ctr" marL="73152" marR="54864" marT="27432" marB="27432">
                    <a:solidFill>
                      <a:srgbClr val="FFFFFF"/>
                    </a:solidFill>
                  </a:tcPr>
                </a:tc>
                <a:tc>
                  <a:txBody>
                    <a:bodyPr wrap="square"/>
                    <a:lstStyle/>
                    <a:p>
                      <a:r>
                        <a:rPr sz="1050">
                          <a:solidFill>
                            <a:srgbClr val="1A1A1A"/>
                          </a:solidFill>
                        </a:rPr>
                        <a:t>Your belongings</a:t>
                      </a:r>
                    </a:p>
                  </a:txBody>
                  <a:tcPr anchor="ctr" marL="73152" marR="54864" marT="27432" marB="27432">
                    <a:solidFill>
                      <a:srgbClr val="FFFFFF"/>
                    </a:solidFill>
                  </a:tcPr>
                </a:tc>
                <a:tc>
                  <a:txBody>
                    <a:bodyPr wrap="square"/>
                    <a:lstStyle/>
                    <a:p>
                      <a:r>
                        <a:rPr sz="1050">
                          <a:solidFill>
                            <a:srgbClr val="1A1A1A"/>
                          </a:solidFill>
                        </a:rPr>
                        <a:t>Citizen data; eSewa balances</a:t>
                      </a:r>
                    </a:p>
                  </a:txBody>
                  <a:tcPr anchor="ctr" marL="73152" marR="54864" marT="27432" marB="27432">
                    <a:solidFill>
                      <a:srgbClr val="FFFFFF"/>
                    </a:solidFill>
                  </a:tcPr>
                </a:tc>
              </a:tr>
              <a:tr h="736092">
                <a:tc>
                  <a:txBody>
                    <a:bodyPr wrap="square"/>
                    <a:lstStyle/>
                    <a:p>
                      <a:r>
                        <a:rPr sz="1050" b="1">
                          <a:solidFill>
                            <a:srgbClr val="0C2B4A"/>
                          </a:solidFill>
                        </a:rPr>
                        <a:t>Threat actor</a:t>
                      </a:r>
                    </a:p>
                  </a:txBody>
                  <a:tcPr anchor="ctr" marL="73152" marR="54864" marT="27432" marB="27432">
                    <a:solidFill>
                      <a:srgbClr val="EEF3F8"/>
                    </a:solidFill>
                  </a:tcPr>
                </a:tc>
                <a:tc>
                  <a:txBody>
                    <a:bodyPr wrap="square"/>
                    <a:lstStyle/>
                    <a:p>
                      <a:r>
                        <a:rPr sz="1050">
                          <a:solidFill>
                            <a:srgbClr val="1A1A1A"/>
                          </a:solidFill>
                        </a:rPr>
                        <a:t>Who is behind the threat</a:t>
                      </a:r>
                    </a:p>
                  </a:txBody>
                  <a:tcPr anchor="ctr" marL="73152" marR="54864" marT="27432" marB="27432">
                    <a:solidFill>
                      <a:srgbClr val="EEF3F8"/>
                    </a:solidFill>
                  </a:tcPr>
                </a:tc>
                <a:tc>
                  <a:txBody>
                    <a:bodyPr wrap="square"/>
                    <a:lstStyle/>
                    <a:p>
                      <a:r>
                        <a:rPr sz="1050">
                          <a:solidFill>
                            <a:srgbClr val="1A1A1A"/>
                          </a:solidFill>
                        </a:rPr>
                        <a:t>The storm / a burglar</a:t>
                      </a:r>
                    </a:p>
                  </a:txBody>
                  <a:tcPr anchor="ctr" marL="73152" marR="54864" marT="27432" marB="27432">
                    <a:solidFill>
                      <a:srgbClr val="EEF3F8"/>
                    </a:solidFill>
                  </a:tcPr>
                </a:tc>
                <a:tc>
                  <a:txBody>
                    <a:bodyPr wrap="square"/>
                    <a:lstStyle/>
                    <a:p>
                      <a:r>
                        <a:rPr sz="1050">
                          <a:solidFill>
                            <a:srgbClr val="1A1A1A"/>
                          </a:solidFill>
                        </a:rPr>
                        <a:t>A criminal gang; an insider</a:t>
                      </a:r>
                    </a:p>
                  </a:txBody>
                  <a:tcPr anchor="ctr" marL="73152" marR="54864" marT="27432" marB="27432">
                    <a:solidFill>
                      <a:srgbClr val="EEF3F8"/>
                    </a:solidFill>
                  </a:tcPr>
                </a:tc>
              </a:tr>
              <a:tr h="736092">
                <a:tc>
                  <a:txBody>
                    <a:bodyPr wrap="square"/>
                    <a:lstStyle/>
                    <a:p>
                      <a:r>
                        <a:rPr sz="1050" b="1">
                          <a:solidFill>
                            <a:srgbClr val="0C2B4A"/>
                          </a:solidFill>
                        </a:rPr>
                        <a:t>Exploit</a:t>
                      </a:r>
                    </a:p>
                  </a:txBody>
                  <a:tcPr anchor="ctr" marL="73152" marR="54864" marT="27432" marB="27432">
                    <a:solidFill>
                      <a:srgbClr val="FFFFFF"/>
                    </a:solidFill>
                  </a:tcPr>
                </a:tc>
                <a:tc>
                  <a:txBody>
                    <a:bodyPr wrap="square"/>
                    <a:lstStyle/>
                    <a:p>
                      <a:r>
                        <a:rPr sz="1050">
                          <a:solidFill>
                            <a:srgbClr val="1A1A1A"/>
                          </a:solidFill>
                        </a:rPr>
                        <a:t>Threat actually using the weakness</a:t>
                      </a:r>
                    </a:p>
                  </a:txBody>
                  <a:tcPr anchor="ctr" marL="73152" marR="54864" marT="27432" marB="27432">
                    <a:solidFill>
                      <a:srgbClr val="FFFFFF"/>
                    </a:solidFill>
                  </a:tcPr>
                </a:tc>
                <a:tc>
                  <a:txBody>
                    <a:bodyPr wrap="square"/>
                    <a:lstStyle/>
                    <a:p>
                      <a:r>
                        <a:rPr sz="1050">
                          <a:solidFill>
                            <a:srgbClr val="1A1A1A"/>
                          </a:solidFill>
                        </a:rPr>
                        <a:t>Water entering the basement</a:t>
                      </a:r>
                    </a:p>
                  </a:txBody>
                  <a:tcPr anchor="ctr" marL="73152" marR="54864" marT="27432" marB="27432">
                    <a:solidFill>
                      <a:srgbClr val="FFFFFF"/>
                    </a:solidFill>
                  </a:tcPr>
                </a:tc>
                <a:tc>
                  <a:txBody>
                    <a:bodyPr wrap="square"/>
                    <a:lstStyle/>
                    <a:p>
                      <a:r>
                        <a:rPr sz="1050">
                          <a:solidFill>
                            <a:srgbClr val="1A1A1A"/>
                          </a:solidFill>
                        </a:rPr>
                        <a:t>The worm compromising the server</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'Threat and vulnerability are the same thing' is the classic confusion. A flood (threat) only harms you if you live in a basement (vulnerability) — no weakness, no harm.</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33 / 94</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S24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Threats, Vulnerabilities &amp; Assets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government site running outdated software (a vulnerability) is repeatedly defaced (a threat realised), harming citizens' trust (the asset). Globally, an unpatched server (vulnerability) plus a worm (threat) produced mass compromise (e.g. WannaCry). The lesson: the threat existed in both cases, but the harm only landed where a vulnerability let it.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"Threat and vulnerability are the same thing." They're different: a flood is a threat; living in a basement is the vulnerability; your belongings are the asset. You usually can't remove the threat (floods happen), but you CAN remove the vulnerability (patch, move upstairs) — that's what defence does.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threat is something that could cause harm; a vulnerability is a weakness it can exploit; an asset is what you protect. The chain is: a threat actor + threat exploits a vulnerability to harm an asset — and with no vulnerability, the threat cannot land. Because you rarely control the threat, defence concentrates on removing vulnerabilities and limiting impact to the asset.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threat · vulnerability · asset · threat actor · exploit · no vulnerability ⇒ no harm · patch the weakness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34 / 94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S24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Risk = Threat × Vulnerability × Impact</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Risk is the likelihood × consequence of a threat exploiting a vulnerability — captured as risk = threat × vulnerability × impact. A high threat with no vulnerability is low risk; a tiny vulnerability with catastrophic impact is high risk. This is exactly how professionals prioritise where to spend limited defence budget.</a:t>
            </a:r>
          </a:p>
          <a:p>
            <a:pPr>
              <a:spcAft>
                <a:spcPts val="500"/>
              </a:spcAft>
            </a:pPr>
            <a:r>
              <a:rPr sz="1200" b="1">
                <a:solidFill>
                  <a:srgbClr val="185FA5"/>
                </a:solidFill>
              </a:rPr>
              <a:t>HOW IT WORKS</a:t>
            </a:r>
          </a:p>
          <a:p>
            <a:pPr>
              <a:spcAft>
                <a:spcPts val="600"/>
              </a:spcAft>
            </a:pPr>
            <a:r>
              <a:rPr sz="1400">
                <a:solidFill>
                  <a:srgbClr val="1A1A1A"/>
                </a:solidFill>
              </a:rPr>
              <a:t>•  Multiply, don't add: if any factor is near zero, the risk is low.</a:t>
            </a:r>
          </a:p>
          <a:p>
            <a:pPr>
              <a:spcAft>
                <a:spcPts val="600"/>
              </a:spcAft>
            </a:pPr>
            <a:r>
              <a:rPr sz="1400">
                <a:solidFill>
                  <a:srgbClr val="1A1A1A"/>
                </a:solidFill>
              </a:rPr>
              <a:t>•  High threat + zero vulnerability ≈ low risk (nothing to exploit).</a:t>
            </a:r>
          </a:p>
          <a:p>
            <a:pPr>
              <a:spcAft>
                <a:spcPts val="600"/>
              </a:spcAft>
            </a:pPr>
            <a:r>
              <a:rPr sz="1400">
                <a:solidFill>
                  <a:srgbClr val="1A1A1A"/>
                </a:solidFill>
              </a:rPr>
              <a:t>•  Small vulnerability + catastrophic impact ≈ high risk (worth fixing first).</a:t>
            </a:r>
          </a:p>
          <a:p>
            <a:pPr>
              <a:spcAft>
                <a:spcPts val="600"/>
              </a:spcAft>
            </a:pPr>
            <a:r>
              <a:rPr sz="1400">
                <a:solidFill>
                  <a:srgbClr val="1A1A1A"/>
                </a:solidFill>
              </a:rPr>
              <a:t>•  Rank risks by likelihood × impact and defend the top-right of the matrix first.</a:t>
            </a:r>
          </a:p>
        </p:txBody>
      </p:sp>
      <p:pic>
        <p:nvPicPr>
          <p:cNvPr id="6" name="Picture 5" descr="s24_riskmatrix.png"/>
          <p:cNvPicPr>
            <a:picLocks noChangeAspect="1"/>
          </p:cNvPicPr>
          <p:nvPr/>
        </p:nvPicPr>
        <p:blipFill>
          <a:blip r:embed="rId2"/>
          <a:stretch>
            <a:fillRect/>
          </a:stretch>
        </p:blipFill>
        <p:spPr>
          <a:xfrm>
            <a:off x="6355080" y="2543183"/>
            <a:ext cx="5532120" cy="2548873"/>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Risk multiplies threat, vulnerability, and impact — one near-zero factor lowers it all.</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35 / 94</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S24 · CONCEPT 2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Scoring risk — same threat, different risk (Nepal)</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668888"/>
                <a:gridCol w="3668888"/>
                <a:gridCol w="4092222"/>
              </a:tblGrid>
              <a:tr h="630936">
                <a:tc>
                  <a:txBody>
                    <a:bodyPr wrap="square"/>
                    <a:lstStyle/>
                    <a:p>
                      <a:r>
                        <a:rPr sz="1150" b="1">
                          <a:solidFill>
                            <a:srgbClr val="FFFFFF"/>
                          </a:solidFill>
                        </a:rPr>
                        <a:t>Scenario</a:t>
                      </a:r>
                    </a:p>
                  </a:txBody>
                  <a:tcPr anchor="ctr" marL="73152" marR="54864" marT="27432" marB="27432">
                    <a:solidFill>
                      <a:srgbClr val="0C2B4A"/>
                    </a:solidFill>
                  </a:tcPr>
                </a:tc>
                <a:tc>
                  <a:txBody>
                    <a:bodyPr wrap="square"/>
                    <a:lstStyle/>
                    <a:p>
                      <a:r>
                        <a:rPr sz="1150" b="1">
                          <a:solidFill>
                            <a:srgbClr val="FFFFFF"/>
                          </a:solidFill>
                        </a:rPr>
                        <a:t>Threat × Vulnerability × Impact</a:t>
                      </a:r>
                    </a:p>
                  </a:txBody>
                  <a:tcPr anchor="ctr" marL="73152" marR="54864" marT="27432" marB="27432">
                    <a:solidFill>
                      <a:srgbClr val="0C2B4A"/>
                    </a:solidFill>
                  </a:tcPr>
                </a:tc>
                <a:tc>
                  <a:txBody>
                    <a:bodyPr wrap="square"/>
                    <a:lstStyle/>
                    <a:p>
                      <a:r>
                        <a:rPr sz="1150" b="1">
                          <a:solidFill>
                            <a:srgbClr val="FFFFFF"/>
                          </a:solidFill>
                        </a:rPr>
                        <a:t>Risk level (verdict)</a:t>
                      </a:r>
                    </a:p>
                  </a:txBody>
                  <a:tcPr anchor="ctr" marL="73152" marR="54864" marT="27432" marB="27432">
                    <a:solidFill>
                      <a:srgbClr val="0C2B4A"/>
                    </a:solidFill>
                  </a:tcPr>
                </a:tc>
              </a:tr>
              <a:tr h="630936">
                <a:tc>
                  <a:txBody>
                    <a:bodyPr wrap="square"/>
                    <a:lstStyle/>
                    <a:p>
                      <a:r>
                        <a:rPr sz="1100" b="1">
                          <a:solidFill>
                            <a:srgbClr val="0C2B4A"/>
                          </a:solidFill>
                        </a:rPr>
                        <a:t>Offline laptop of wedding photos, malware</a:t>
                      </a:r>
                    </a:p>
                  </a:txBody>
                  <a:tcPr anchor="ctr" marL="73152" marR="54864" marT="27432" marB="27432">
                    <a:solidFill>
                      <a:srgbClr val="FFFFFF"/>
                    </a:solidFill>
                  </a:tcPr>
                </a:tc>
                <a:tc>
                  <a:txBody>
                    <a:bodyPr wrap="square"/>
                    <a:lstStyle/>
                    <a:p>
                      <a:r>
                        <a:rPr sz="1100">
                          <a:solidFill>
                            <a:srgbClr val="1A1A1A"/>
                          </a:solidFill>
                        </a:rPr>
                        <a:t>High × Low (no net) × Low</a:t>
                      </a:r>
                    </a:p>
                  </a:txBody>
                  <a:tcPr anchor="ctr" marL="73152" marR="54864" marT="27432" marB="27432">
                    <a:solidFill>
                      <a:srgbClr val="FFFFFF"/>
                    </a:solidFill>
                  </a:tcPr>
                </a:tc>
                <a:tc>
                  <a:txBody>
                    <a:bodyPr wrap="square"/>
                    <a:lstStyle/>
                    <a:p>
                      <a:r>
                        <a:rPr sz="1100">
                          <a:solidFill>
                            <a:srgbClr val="1A1A1A"/>
                          </a:solidFill>
                        </a:rPr>
                        <a:t>Low — little to exploit, little lost</a:t>
                      </a:r>
                    </a:p>
                  </a:txBody>
                  <a:tcPr anchor="ctr" marL="73152" marR="54864" marT="27432" marB="27432">
                    <a:solidFill>
                      <a:srgbClr val="FFFFFF"/>
                    </a:solidFill>
                  </a:tcPr>
                </a:tc>
              </a:tr>
              <a:tr h="630936">
                <a:tc>
                  <a:txBody>
                    <a:bodyPr wrap="square"/>
                    <a:lstStyle/>
                    <a:p>
                      <a:r>
                        <a:rPr sz="1100" b="1">
                          <a:solidFill>
                            <a:srgbClr val="0C2B4A"/>
                          </a:solidFill>
                        </a:rPr>
                        <a:t>Online bank customer DB, same malware</a:t>
                      </a:r>
                    </a:p>
                  </a:txBody>
                  <a:tcPr anchor="ctr" marL="73152" marR="54864" marT="27432" marB="27432">
                    <a:solidFill>
                      <a:srgbClr val="EEF3F8"/>
                    </a:solidFill>
                  </a:tcPr>
                </a:tc>
                <a:tc>
                  <a:txBody>
                    <a:bodyPr wrap="square"/>
                    <a:lstStyle/>
                    <a:p>
                      <a:r>
                        <a:rPr sz="1100">
                          <a:solidFill>
                            <a:srgbClr val="1A1A1A"/>
                          </a:solidFill>
                        </a:rPr>
                        <a:t>High × Medium × Critical</a:t>
                      </a:r>
                    </a:p>
                  </a:txBody>
                  <a:tcPr anchor="ctr" marL="73152" marR="54864" marT="27432" marB="27432">
                    <a:solidFill>
                      <a:srgbClr val="EEF3F8"/>
                    </a:solidFill>
                  </a:tcPr>
                </a:tc>
                <a:tc>
                  <a:txBody>
                    <a:bodyPr wrap="square"/>
                    <a:lstStyle/>
                    <a:p>
                      <a:r>
                        <a:rPr sz="1100">
                          <a:solidFill>
                            <a:srgbClr val="1A1A1A"/>
                          </a:solidFill>
                        </a:rPr>
                        <a:t>High — huge impact if it lands</a:t>
                      </a:r>
                    </a:p>
                  </a:txBody>
                  <a:tcPr anchor="ctr" marL="73152" marR="54864" marT="27432" marB="27432">
                    <a:solidFill>
                      <a:srgbClr val="EEF3F8"/>
                    </a:solidFill>
                  </a:tcPr>
                </a:tc>
              </a:tr>
              <a:tr h="630936">
                <a:tc>
                  <a:txBody>
                    <a:bodyPr wrap="square"/>
                    <a:lstStyle/>
                    <a:p>
                      <a:r>
                        <a:rPr sz="1100" b="1">
                          <a:solidFill>
                            <a:srgbClr val="0C2B4A"/>
                          </a:solidFill>
                        </a:rPr>
                        <a:t>Defaced public webpage (no data lost)</a:t>
                      </a:r>
                    </a:p>
                  </a:txBody>
                  <a:tcPr anchor="ctr" marL="73152" marR="54864" marT="27432" marB="27432">
                    <a:solidFill>
                      <a:srgbClr val="FFFFFF"/>
                    </a:solidFill>
                  </a:tcPr>
                </a:tc>
                <a:tc>
                  <a:txBody>
                    <a:bodyPr wrap="square"/>
                    <a:lstStyle/>
                    <a:p>
                      <a:r>
                        <a:rPr sz="1100">
                          <a:solidFill>
                            <a:srgbClr val="1A1A1A"/>
                          </a:solidFill>
                        </a:rPr>
                        <a:t>High × Medium × Low</a:t>
                      </a:r>
                    </a:p>
                  </a:txBody>
                  <a:tcPr anchor="ctr" marL="73152" marR="54864" marT="27432" marB="27432">
                    <a:solidFill>
                      <a:srgbClr val="FFFFFF"/>
                    </a:solidFill>
                  </a:tcPr>
                </a:tc>
                <a:tc>
                  <a:txBody>
                    <a:bodyPr wrap="square"/>
                    <a:lstStyle/>
                    <a:p>
                      <a:r>
                        <a:rPr sz="1100">
                          <a:solidFill>
                            <a:srgbClr val="1A1A1A"/>
                          </a:solidFill>
                        </a:rPr>
                        <a:t>Medium — embarrassing, limited harm</a:t>
                      </a:r>
                    </a:p>
                  </a:txBody>
                  <a:tcPr anchor="ctr" marL="73152" marR="54864" marT="27432" marB="27432">
                    <a:solidFill>
                      <a:srgbClr val="FFFFFF"/>
                    </a:solidFill>
                  </a:tcPr>
                </a:tc>
              </a:tr>
              <a:tr h="630936">
                <a:tc>
                  <a:txBody>
                    <a:bodyPr wrap="square"/>
                    <a:lstStyle/>
                    <a:p>
                      <a:r>
                        <a:rPr sz="1100" b="1">
                          <a:solidFill>
                            <a:srgbClr val="0C2B4A"/>
                          </a:solidFill>
                        </a:rPr>
                        <a:t>Leaked student grades on a portal</a:t>
                      </a:r>
                    </a:p>
                  </a:txBody>
                  <a:tcPr anchor="ctr" marL="73152" marR="54864" marT="27432" marB="27432">
                    <a:solidFill>
                      <a:srgbClr val="EEF3F8"/>
                    </a:solidFill>
                  </a:tcPr>
                </a:tc>
                <a:tc>
                  <a:txBody>
                    <a:bodyPr wrap="square"/>
                    <a:lstStyle/>
                    <a:p>
                      <a:r>
                        <a:rPr sz="1100">
                          <a:solidFill>
                            <a:srgbClr val="1A1A1A"/>
                          </a:solidFill>
                        </a:rPr>
                        <a:t>Medium × Medium × High</a:t>
                      </a:r>
                    </a:p>
                  </a:txBody>
                  <a:tcPr anchor="ctr" marL="73152" marR="54864" marT="27432" marB="27432">
                    <a:solidFill>
                      <a:srgbClr val="EEF3F8"/>
                    </a:solidFill>
                  </a:tcPr>
                </a:tc>
                <a:tc>
                  <a:txBody>
                    <a:bodyPr wrap="square"/>
                    <a:lstStyle/>
                    <a:p>
                      <a:r>
                        <a:rPr sz="1100">
                          <a:solidFill>
                            <a:srgbClr val="1A1A1A"/>
                          </a:solidFill>
                        </a:rPr>
                        <a:t>High — privacy + trust damage</a:t>
                      </a:r>
                    </a:p>
                  </a:txBody>
                  <a:tcPr anchor="ctr" marL="73152" marR="54864" marT="27432" marB="27432">
                    <a:solidFill>
                      <a:srgbClr val="EEF3F8"/>
                    </a:solidFill>
                  </a:tcPr>
                </a:tc>
              </a:tr>
              <a:tr h="630936">
                <a:tc>
                  <a:txBody>
                    <a:bodyPr wrap="square"/>
                    <a:lstStyle/>
                    <a:p>
                      <a:r>
                        <a:rPr sz="1100" b="1">
                          <a:solidFill>
                            <a:srgbClr val="0C2B4A"/>
                          </a:solidFill>
                        </a:rPr>
                        <a:t>Wiped payroll database, no backup</a:t>
                      </a:r>
                    </a:p>
                  </a:txBody>
                  <a:tcPr anchor="ctr" marL="73152" marR="54864" marT="27432" marB="27432">
                    <a:solidFill>
                      <a:srgbClr val="FFFFFF"/>
                    </a:solidFill>
                  </a:tcPr>
                </a:tc>
                <a:tc>
                  <a:txBody>
                    <a:bodyPr wrap="square"/>
                    <a:lstStyle/>
                    <a:p>
                      <a:r>
                        <a:rPr sz="1100">
                          <a:solidFill>
                            <a:srgbClr val="1A1A1A"/>
                          </a:solidFill>
                        </a:rPr>
                        <a:t>Low × Medium × Critical</a:t>
                      </a:r>
                    </a:p>
                  </a:txBody>
                  <a:tcPr anchor="ctr" marL="73152" marR="54864" marT="27432" marB="27432">
                    <a:solidFill>
                      <a:srgbClr val="FFFFFF"/>
                    </a:solidFill>
                  </a:tcPr>
                </a:tc>
                <a:tc>
                  <a:txBody>
                    <a:bodyPr wrap="square"/>
                    <a:lstStyle/>
                    <a:p>
                      <a:r>
                        <a:rPr sz="1100">
                          <a:solidFill>
                            <a:srgbClr val="1A1A1A"/>
                          </a:solidFill>
                        </a:rPr>
                        <a:t>High — low odds, catastrophic loss</a:t>
                      </a:r>
                    </a:p>
                  </a:txBody>
                  <a:tcPr anchor="ctr" marL="73152" marR="54864" marT="27432" marB="27432">
                    <a:solidFill>
                      <a:srgbClr val="FFFFFF"/>
                    </a:solidFill>
                  </a:tcPr>
                </a:tc>
              </a:tr>
              <a:tr h="630936">
                <a:tc>
                  <a:txBody>
                    <a:bodyPr wrap="square"/>
                    <a:lstStyle/>
                    <a:p>
                      <a:r>
                        <a:rPr sz="1100" b="1">
                          <a:solidFill>
                            <a:srgbClr val="0C2B4A"/>
                          </a:solidFill>
                        </a:rPr>
                        <a:t>Old test server, no real data</a:t>
                      </a:r>
                    </a:p>
                  </a:txBody>
                  <a:tcPr anchor="ctr" marL="73152" marR="54864" marT="27432" marB="27432">
                    <a:solidFill>
                      <a:srgbClr val="EEF3F8"/>
                    </a:solidFill>
                  </a:tcPr>
                </a:tc>
                <a:tc>
                  <a:txBody>
                    <a:bodyPr wrap="square"/>
                    <a:lstStyle/>
                    <a:p>
                      <a:r>
                        <a:rPr sz="1100">
                          <a:solidFill>
                            <a:srgbClr val="1A1A1A"/>
                          </a:solidFill>
                        </a:rPr>
                        <a:t>Medium × High × Low</a:t>
                      </a:r>
                    </a:p>
                  </a:txBody>
                  <a:tcPr anchor="ctr" marL="73152" marR="54864" marT="27432" marB="27432">
                    <a:solidFill>
                      <a:srgbClr val="EEF3F8"/>
                    </a:solidFill>
                  </a:tcPr>
                </a:tc>
                <a:tc>
                  <a:txBody>
                    <a:bodyPr wrap="square"/>
                    <a:lstStyle/>
                    <a:p>
                      <a:r>
                        <a:rPr sz="1100">
                          <a:solidFill>
                            <a:srgbClr val="1A1A1A"/>
                          </a:solidFill>
                        </a:rPr>
                        <a:t>Low — weak, but nothing valuable on it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This is why financial systems get the most defence budget: not because they're attacked most, but because their IMPACT is critical. Rank by likelihood × impact and fix the top of the list first.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36 / 94</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S24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Risk = Threat × Vulnerability × Impact</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Framing an incident like the NIC ASIA SWIFT fraud as high-impact (large funds moved) explains why banks and financial systems get the most defence budget — the impact factor is enormous even when likelihood is low. A worked campus example: rank (a) a defaced webpage, (b) leaked student grades, (c) a wiped payroll database — by impact, the wiped payroll and leaked grades outrank the defacement.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 threat we hear about most is the one to fix first." Not necessarily — risk multiplies threat, vulnerability, AND impact. A loud but low-impact threat can rank below a quiet one with catastrophic impact. Fear ranks by headlines; professionals rank by likelihood × impact.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Risk = threat × vulnerability × impact — the likelihood × consequence of a threat exploiting a vulnerability. Because the factors multiply, a high threat with no vulnerability is low risk, while a small vulnerability with catastrophic impact is high risk. Ranking risks this way (a risk matrix) lets professionals prioritise limited defence budget on the highest-impact exposures first.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risk = T × V × I · likelihood × consequence · multiply not add · risk matrix · prioritise by impact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37 / 94</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S24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Cybersecurity Actually Mitigates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The goal of cybersecurity is to reduce risk to an ACCEPTABLE level, not to reach zero. You attack the formula from three sides: reduce threat exposure, fix vulnerabilities (patching), and limit impact (backups, segmentation). Some risk always remains — this leftover is called residual risk.</a:t>
            </a:r>
          </a:p>
          <a:p>
            <a:pPr>
              <a:spcAft>
                <a:spcPts val="500"/>
              </a:spcAft>
            </a:pPr>
            <a:r>
              <a:rPr sz="1200" b="1">
                <a:solidFill>
                  <a:srgbClr val="185FA5"/>
                </a:solidFill>
              </a:rPr>
              <a:t>HOW IT WORKS</a:t>
            </a:r>
          </a:p>
          <a:p>
            <a:pPr>
              <a:spcAft>
                <a:spcPts val="600"/>
              </a:spcAft>
            </a:pPr>
            <a:r>
              <a:rPr sz="1400">
                <a:solidFill>
                  <a:srgbClr val="1A1A1A"/>
                </a:solidFill>
              </a:rPr>
              <a:t>•  Reduce threat exposure: don't expose services to the internet needlessly; filter, monitor.</a:t>
            </a:r>
          </a:p>
          <a:p>
            <a:pPr>
              <a:spcAft>
                <a:spcPts val="600"/>
              </a:spcAft>
            </a:pPr>
            <a:r>
              <a:rPr sz="1400">
                <a:solidFill>
                  <a:srgbClr val="1A1A1A"/>
                </a:solidFill>
              </a:rPr>
              <a:t>•  Reduce vulnerability: patch, strong passwords + MFA, secure configuration.</a:t>
            </a:r>
          </a:p>
          <a:p>
            <a:pPr>
              <a:spcAft>
                <a:spcPts val="600"/>
              </a:spcAft>
            </a:pPr>
            <a:r>
              <a:rPr sz="1400">
                <a:solidFill>
                  <a:srgbClr val="1A1A1A"/>
                </a:solidFill>
              </a:rPr>
              <a:t>•  Reduce impact: backups, network segmentation, encryption so a breach hurts less.</a:t>
            </a:r>
          </a:p>
          <a:p>
            <a:pPr>
              <a:spcAft>
                <a:spcPts val="600"/>
              </a:spcAft>
            </a:pPr>
            <a:r>
              <a:rPr sz="1400">
                <a:solidFill>
                  <a:srgbClr val="1A1A1A"/>
                </a:solidFill>
              </a:rPr>
              <a:t>•  Zero risk is impossible; you manage risk DOWN to a level the organisation accepts (residual risk).</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You can't reach zero risk — you manage it down to acceptable, like a zebra crossing.</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38 / 94</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S24 · CONCEPT 3 · PAYOFF TABLE</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Each control → which risk factor it reduces</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114800"/>
                <a:gridCol w="3352800"/>
                <a:gridCol w="3962399"/>
              </a:tblGrid>
              <a:tr h="552069">
                <a:tc>
                  <a:txBody>
                    <a:bodyPr wrap="square"/>
                    <a:lstStyle/>
                    <a:p>
                      <a:r>
                        <a:rPr sz="1150" b="1">
                          <a:solidFill>
                            <a:srgbClr val="FFFFFF"/>
                          </a:solidFill>
                        </a:rPr>
                        <a:t>Control / practice</a:t>
                      </a:r>
                    </a:p>
                  </a:txBody>
                  <a:tcPr anchor="ctr" marL="73152" marR="54864" marT="27432" marB="27432">
                    <a:solidFill>
                      <a:srgbClr val="0C2B4A"/>
                    </a:solidFill>
                  </a:tcPr>
                </a:tc>
                <a:tc>
                  <a:txBody>
                    <a:bodyPr wrap="square"/>
                    <a:lstStyle/>
                    <a:p>
                      <a:r>
                        <a:rPr sz="1150" b="1">
                          <a:solidFill>
                            <a:srgbClr val="FFFFFF"/>
                          </a:solidFill>
                        </a:rPr>
                        <a:t>Reduces which factor?</a:t>
                      </a:r>
                    </a:p>
                  </a:txBody>
                  <a:tcPr anchor="ctr" marL="73152" marR="54864" marT="27432" marB="27432">
                    <a:solidFill>
                      <a:srgbClr val="0C2B4A"/>
                    </a:solidFill>
                  </a:tcPr>
                </a:tc>
                <a:tc>
                  <a:txBody>
                    <a:bodyPr wrap="square"/>
                    <a:lstStyle/>
                    <a:p>
                      <a:r>
                        <a:rPr sz="1150" b="1">
                          <a:solidFill>
                            <a:srgbClr val="FFFFFF"/>
                          </a:solidFill>
                        </a:rPr>
                        <a:t>Effect (verdict)</a:t>
                      </a:r>
                    </a:p>
                  </a:txBody>
                  <a:tcPr anchor="ctr" marL="73152" marR="54864" marT="27432" marB="27432">
                    <a:solidFill>
                      <a:srgbClr val="0C2B4A"/>
                    </a:solidFill>
                  </a:tcPr>
                </a:tc>
              </a:tr>
              <a:tr h="552069">
                <a:tc>
                  <a:txBody>
                    <a:bodyPr wrap="square"/>
                    <a:lstStyle/>
                    <a:p>
                      <a:r>
                        <a:rPr sz="1100" b="1">
                          <a:solidFill>
                            <a:srgbClr val="0C2B4A"/>
                          </a:solidFill>
                        </a:rPr>
                        <a:t>Patching software promptly</a:t>
                      </a:r>
                    </a:p>
                  </a:txBody>
                  <a:tcPr anchor="ctr" marL="73152" marR="54864" marT="27432" marB="27432">
                    <a:solidFill>
                      <a:srgbClr val="FFFFFF"/>
                    </a:solidFill>
                  </a:tcPr>
                </a:tc>
                <a:tc>
                  <a:txBody>
                    <a:bodyPr wrap="square"/>
                    <a:lstStyle/>
                    <a:p>
                      <a:r>
                        <a:rPr sz="1100">
                          <a:solidFill>
                            <a:srgbClr val="1A1A1A"/>
                          </a:solidFill>
                        </a:rPr>
                        <a:t>Vulnerability</a:t>
                      </a:r>
                    </a:p>
                  </a:txBody>
                  <a:tcPr anchor="ctr" marL="73152" marR="54864" marT="27432" marB="27432">
                    <a:solidFill>
                      <a:srgbClr val="FFFFFF"/>
                    </a:solidFill>
                  </a:tcPr>
                </a:tc>
                <a:tc>
                  <a:txBody>
                    <a:bodyPr wrap="square"/>
                    <a:lstStyle/>
                    <a:p>
                      <a:r>
                        <a:rPr sz="1100">
                          <a:solidFill>
                            <a:srgbClr val="1A1A1A"/>
                          </a:solidFill>
                        </a:rPr>
                        <a:t>Removes the weakness the threat needs</a:t>
                      </a:r>
                    </a:p>
                  </a:txBody>
                  <a:tcPr anchor="ctr" marL="73152" marR="54864" marT="27432" marB="27432">
                    <a:solidFill>
                      <a:srgbClr val="FFFFFF"/>
                    </a:solidFill>
                  </a:tcPr>
                </a:tc>
              </a:tr>
              <a:tr h="552069">
                <a:tc>
                  <a:txBody>
                    <a:bodyPr wrap="square"/>
                    <a:lstStyle/>
                    <a:p>
                      <a:r>
                        <a:rPr sz="1100" b="1">
                          <a:solidFill>
                            <a:srgbClr val="0C2B4A"/>
                          </a:solidFill>
                        </a:rPr>
                        <a:t>MFA on accounts</a:t>
                      </a:r>
                    </a:p>
                  </a:txBody>
                  <a:tcPr anchor="ctr" marL="73152" marR="54864" marT="27432" marB="27432">
                    <a:solidFill>
                      <a:srgbClr val="EEF3F8"/>
                    </a:solidFill>
                  </a:tcPr>
                </a:tc>
                <a:tc>
                  <a:txBody>
                    <a:bodyPr wrap="square"/>
                    <a:lstStyle/>
                    <a:p>
                      <a:r>
                        <a:rPr sz="1100">
                          <a:solidFill>
                            <a:srgbClr val="1A1A1A"/>
                          </a:solidFill>
                        </a:rPr>
                        <a:t>Vulnerability</a:t>
                      </a:r>
                    </a:p>
                  </a:txBody>
                  <a:tcPr anchor="ctr" marL="73152" marR="54864" marT="27432" marB="27432">
                    <a:solidFill>
                      <a:srgbClr val="EEF3F8"/>
                    </a:solidFill>
                  </a:tcPr>
                </a:tc>
                <a:tc>
                  <a:txBody>
                    <a:bodyPr wrap="square"/>
                    <a:lstStyle/>
                    <a:p>
                      <a:r>
                        <a:rPr sz="1100">
                          <a:solidFill>
                            <a:srgbClr val="1A1A1A"/>
                          </a:solidFill>
                        </a:rPr>
                        <a:t>A stolen password alone is no longer enough</a:t>
                      </a:r>
                    </a:p>
                  </a:txBody>
                  <a:tcPr anchor="ctr" marL="73152" marR="54864" marT="27432" marB="27432">
                    <a:solidFill>
                      <a:srgbClr val="EEF3F8"/>
                    </a:solidFill>
                  </a:tcPr>
                </a:tc>
              </a:tr>
              <a:tr h="552069">
                <a:tc>
                  <a:txBody>
                    <a:bodyPr wrap="square"/>
                    <a:lstStyle/>
                    <a:p>
                      <a:r>
                        <a:rPr sz="1100" b="1">
                          <a:solidFill>
                            <a:srgbClr val="0C2B4A"/>
                          </a:solidFill>
                        </a:rPr>
                        <a:t>Tested backups</a:t>
                      </a:r>
                    </a:p>
                  </a:txBody>
                  <a:tcPr anchor="ctr" marL="73152" marR="54864" marT="27432" marB="27432">
                    <a:solidFill>
                      <a:srgbClr val="FFFFFF"/>
                    </a:solidFill>
                  </a:tcPr>
                </a:tc>
                <a:tc>
                  <a:txBody>
                    <a:bodyPr wrap="square"/>
                    <a:lstStyle/>
                    <a:p>
                      <a:r>
                        <a:rPr sz="1100">
                          <a:solidFill>
                            <a:srgbClr val="1A1A1A"/>
                          </a:solidFill>
                        </a:rPr>
                        <a:t>Impact</a:t>
                      </a:r>
                    </a:p>
                  </a:txBody>
                  <a:tcPr anchor="ctr" marL="73152" marR="54864" marT="27432" marB="27432">
                    <a:solidFill>
                      <a:srgbClr val="FFFFFF"/>
                    </a:solidFill>
                  </a:tcPr>
                </a:tc>
                <a:tc>
                  <a:txBody>
                    <a:bodyPr wrap="square"/>
                    <a:lstStyle/>
                    <a:p>
                      <a:r>
                        <a:rPr sz="1100">
                          <a:solidFill>
                            <a:srgbClr val="1A1A1A"/>
                          </a:solidFill>
                        </a:rPr>
                        <a:t>Ransomware/wipe hurts far less — you restore</a:t>
                      </a:r>
                    </a:p>
                  </a:txBody>
                  <a:tcPr anchor="ctr" marL="73152" marR="54864" marT="27432" marB="27432">
                    <a:solidFill>
                      <a:srgbClr val="FFFFFF"/>
                    </a:solidFill>
                  </a:tcPr>
                </a:tc>
              </a:tr>
              <a:tr h="552069">
                <a:tc>
                  <a:txBody>
                    <a:bodyPr wrap="square"/>
                    <a:lstStyle/>
                    <a:p>
                      <a:r>
                        <a:rPr sz="1100" b="1">
                          <a:solidFill>
                            <a:srgbClr val="0C2B4A"/>
                          </a:solidFill>
                        </a:rPr>
                        <a:t>Network segmentation</a:t>
                      </a:r>
                    </a:p>
                  </a:txBody>
                  <a:tcPr anchor="ctr" marL="73152" marR="54864" marT="27432" marB="27432">
                    <a:solidFill>
                      <a:srgbClr val="EEF3F8"/>
                    </a:solidFill>
                  </a:tcPr>
                </a:tc>
                <a:tc>
                  <a:txBody>
                    <a:bodyPr wrap="square"/>
                    <a:lstStyle/>
                    <a:p>
                      <a:r>
                        <a:rPr sz="1100">
                          <a:solidFill>
                            <a:srgbClr val="1A1A1A"/>
                          </a:solidFill>
                        </a:rPr>
                        <a:t>Impact</a:t>
                      </a:r>
                    </a:p>
                  </a:txBody>
                  <a:tcPr anchor="ctr" marL="73152" marR="54864" marT="27432" marB="27432">
                    <a:solidFill>
                      <a:srgbClr val="EEF3F8"/>
                    </a:solidFill>
                  </a:tcPr>
                </a:tc>
                <a:tc>
                  <a:txBody>
                    <a:bodyPr wrap="square"/>
                    <a:lstStyle/>
                    <a:p>
                      <a:r>
                        <a:rPr sz="1100">
                          <a:solidFill>
                            <a:srgbClr val="1A1A1A"/>
                          </a:solidFill>
                        </a:rPr>
                        <a:t>A breach is contained to one segment</a:t>
                      </a:r>
                    </a:p>
                  </a:txBody>
                  <a:tcPr anchor="ctr" marL="73152" marR="54864" marT="27432" marB="27432">
                    <a:solidFill>
                      <a:srgbClr val="EEF3F8"/>
                    </a:solidFill>
                  </a:tcPr>
                </a:tc>
              </a:tr>
              <a:tr h="552069">
                <a:tc>
                  <a:txBody>
                    <a:bodyPr wrap="square"/>
                    <a:lstStyle/>
                    <a:p>
                      <a:r>
                        <a:rPr sz="1100" b="1">
                          <a:solidFill>
                            <a:srgbClr val="0C2B4A"/>
                          </a:solidFill>
                        </a:rPr>
                        <a:t>Not exposing a service to the internet</a:t>
                      </a:r>
                    </a:p>
                  </a:txBody>
                  <a:tcPr anchor="ctr" marL="73152" marR="54864" marT="27432" marB="27432">
                    <a:solidFill>
                      <a:srgbClr val="FFFFFF"/>
                    </a:solidFill>
                  </a:tcPr>
                </a:tc>
                <a:tc>
                  <a:txBody>
                    <a:bodyPr wrap="square"/>
                    <a:lstStyle/>
                    <a:p>
                      <a:r>
                        <a:rPr sz="1100">
                          <a:solidFill>
                            <a:srgbClr val="1A1A1A"/>
                          </a:solidFill>
                        </a:rPr>
                        <a:t>Threat exposure</a:t>
                      </a:r>
                    </a:p>
                  </a:txBody>
                  <a:tcPr anchor="ctr" marL="73152" marR="54864" marT="27432" marB="27432">
                    <a:solidFill>
                      <a:srgbClr val="FFFFFF"/>
                    </a:solidFill>
                  </a:tcPr>
                </a:tc>
                <a:tc>
                  <a:txBody>
                    <a:bodyPr wrap="square"/>
                    <a:lstStyle/>
                    <a:p>
                      <a:r>
                        <a:rPr sz="1100">
                          <a:solidFill>
                            <a:srgbClr val="1A1A1A"/>
                          </a:solidFill>
                        </a:rPr>
                        <a:t>Fewer attackers can even reach it</a:t>
                      </a:r>
                    </a:p>
                  </a:txBody>
                  <a:tcPr anchor="ctr" marL="73152" marR="54864" marT="27432" marB="27432">
                    <a:solidFill>
                      <a:srgbClr val="FFFFFF"/>
                    </a:solidFill>
                  </a:tcPr>
                </a:tc>
              </a:tr>
              <a:tr h="552069">
                <a:tc>
                  <a:txBody>
                    <a:bodyPr wrap="square"/>
                    <a:lstStyle/>
                    <a:p>
                      <a:r>
                        <a:rPr sz="1100" b="1">
                          <a:solidFill>
                            <a:srgbClr val="0C2B4A"/>
                          </a:solidFill>
                        </a:rPr>
                        <a:t>Staff phishing training</a:t>
                      </a:r>
                    </a:p>
                  </a:txBody>
                  <a:tcPr anchor="ctr" marL="73152" marR="54864" marT="27432" marB="27432">
                    <a:solidFill>
                      <a:srgbClr val="EEF3F8"/>
                    </a:solidFill>
                  </a:tcPr>
                </a:tc>
                <a:tc>
                  <a:txBody>
                    <a:bodyPr wrap="square"/>
                    <a:lstStyle/>
                    <a:p>
                      <a:r>
                        <a:rPr sz="1100">
                          <a:solidFill>
                            <a:srgbClr val="1A1A1A"/>
                          </a:solidFill>
                        </a:rPr>
                        <a:t>Vulnerability (human)</a:t>
                      </a:r>
                    </a:p>
                  </a:txBody>
                  <a:tcPr anchor="ctr" marL="73152" marR="54864" marT="27432" marB="27432">
                    <a:solidFill>
                      <a:srgbClr val="EEF3F8"/>
                    </a:solidFill>
                  </a:tcPr>
                </a:tc>
                <a:tc>
                  <a:txBody>
                    <a:bodyPr wrap="square"/>
                    <a:lstStyle/>
                    <a:p>
                      <a:r>
                        <a:rPr sz="1100">
                          <a:solidFill>
                            <a:srgbClr val="1A1A1A"/>
                          </a:solidFill>
                        </a:rPr>
                        <a:t>Fewer people click the lure in the first place</a:t>
                      </a:r>
                    </a:p>
                  </a:txBody>
                  <a:tcPr anchor="ctr" marL="73152" marR="54864" marT="27432" marB="27432">
                    <a:solidFill>
                      <a:srgbClr val="EEF3F8"/>
                    </a:solidFill>
                  </a:tcPr>
                </a:tc>
              </a:tr>
              <a:tr h="552069">
                <a:tc>
                  <a:txBody>
                    <a:bodyPr wrap="square"/>
                    <a:lstStyle/>
                    <a:p>
                      <a:r>
                        <a:rPr sz="1100" b="1">
                          <a:solidFill>
                            <a:srgbClr val="0C2B4A"/>
                          </a:solidFill>
                        </a:rPr>
                        <a:t>Encryption of stored data</a:t>
                      </a:r>
                    </a:p>
                  </a:txBody>
                  <a:tcPr anchor="ctr" marL="73152" marR="54864" marT="27432" marB="27432">
                    <a:solidFill>
                      <a:srgbClr val="FFFFFF"/>
                    </a:solidFill>
                  </a:tcPr>
                </a:tc>
                <a:tc>
                  <a:txBody>
                    <a:bodyPr wrap="square"/>
                    <a:lstStyle/>
                    <a:p>
                      <a:r>
                        <a:rPr sz="1100">
                          <a:solidFill>
                            <a:srgbClr val="1A1A1A"/>
                          </a:solidFill>
                        </a:rPr>
                        <a:t>Impact</a:t>
                      </a:r>
                    </a:p>
                  </a:txBody>
                  <a:tcPr anchor="ctr" marL="73152" marR="54864" marT="27432" marB="27432">
                    <a:solidFill>
                      <a:srgbClr val="FFFFFF"/>
                    </a:solidFill>
                  </a:tcPr>
                </a:tc>
                <a:tc>
                  <a:txBody>
                    <a:bodyPr wrap="square"/>
                    <a:lstStyle/>
                    <a:p>
                      <a:r>
                        <a:rPr sz="1100">
                          <a:solidFill>
                            <a:srgbClr val="1A1A1A"/>
                          </a:solidFill>
                        </a:rPr>
                        <a:t>A stolen database is unreadable to the thief</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Defence works the formula from three sides: cut threat exposure, fix vulnerabilities, and limit impact. You can't zero any factor entirely — the leftover is residual risk you consciously accept.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39 / 94</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S24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Cybersecurity Actually Mitigates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bank can't make its e-banking risk-free, but it patches (cuts vulnerability), keeps offline backups (cuts impact), and doesn't expose admin panels to the internet (cuts threat exposure) — bringing risk down to a level it and NRB can accept. What's left after all controls is residual risk, acknowledged rather than pretended away.</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"Good security means zero risk." Zero risk is impossible — you manage it down to an acceptable level. Chasing zero wastes budget and creates false confidence; the professional goal is proportionate, residual-risk-aware defence, like a zebra crossing makes road-crossing acceptable, not risk-free.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Cybersecurity's goal is to reduce risk to an acceptable level, not zero. It works the risk formula from three sides — reducing threat exposure, fixing vulnerabilities (patching, MFA, secure config), and limiting impact (backups, segmentation, encryption). Some residual risk always remains and is consciously accepted; pretending zero risk is achievable is itself a security failure.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reduce risk to acceptable · residual risk · cut exposure/vulnerability/impact · zero risk impossible · zebra-crossing</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40 / 94</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S24 — 'Threat, vulnerability, impact for your device'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pick one device you own (phone, laptop).</a:t>
            </a:r>
          </a:p>
          <a:p>
            <a:pPr>
              <a:spcAft>
                <a:spcPts val="700"/>
              </a:spcAft>
            </a:pPr>
            <a:r>
              <a:rPr sz="1550">
                <a:solidFill>
                  <a:srgbClr val="1A1A1A"/>
                </a:solidFill>
              </a:rPr>
              <a:t>•  Name one threat to it, one vulnerability it has, and the impact if it's compromised.</a:t>
            </a:r>
          </a:p>
          <a:p>
            <a:pPr>
              <a:spcAft>
                <a:spcPts val="700"/>
              </a:spcAft>
            </a:pPr>
            <a:r>
              <a:rPr sz="1550">
                <a:solidFill>
                  <a:srgbClr val="1A1A1A"/>
                </a:solidFill>
              </a:rPr>
              <a:t>•  Take 3–4 answers aloud (3 min); for each, suggest one control and which factor it reduces.</a:t>
            </a:r>
          </a:p>
          <a:p>
            <a:pPr>
              <a:spcAft>
                <a:spcPts val="700"/>
              </a:spcAft>
            </a:pPr>
            <a:r>
              <a:rPr sz="1550">
                <a:solidFill>
                  <a:srgbClr val="1A1A1A"/>
                </a:solidFill>
              </a:rPr>
              <a:t>•  Close: notice you can rarely remove the threat — but you can nearly always reduce the vulnerability or impact.</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Seeds: phone — threat: theft/phishing; vulnerability: no screen lock, reused password; impact: eSewa + photos lost. Control: lock + MFA (vulnerability), backup (impact). Reward correct factor labelling.</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41 / 94</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S24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A weakness that an attack can exploit is a:</a:t>
            </a:r>
          </a:p>
          <a:p>
            <a:pPr lvl="1"/>
            <a:r>
              <a:rPr sz="1500" b="1">
                <a:solidFill>
                  <a:srgbClr val="0F6E56"/>
                </a:solidFill>
              </a:rPr>
              <a:t>a) threat   b) ✅ vulnerability   c) asset   d) risk</a:t>
            </a:r>
          </a:p>
          <a:p>
            <a:pPr lvl="1">
              <a:spcBef>
                <a:spcPts val="600"/>
              </a:spcBef>
            </a:pPr>
            <a:r>
              <a:rPr sz="1500" i="1">
                <a:solidFill>
                  <a:srgbClr val="1A1A1A"/>
                </a:solidFill>
              </a:rPr>
              <a:t>     Why: a vulnerability is the weakness; the threat is the thing that could exploit it.</a:t>
            </a:r>
          </a:p>
          <a:p>
            <a:pPr>
              <a:spcBef>
                <a:spcPts val="900"/>
              </a:spcBef>
            </a:pPr>
            <a:r>
              <a:rPr sz="1700" b="1">
                <a:solidFill>
                  <a:srgbClr val="0C2B4A"/>
                </a:solidFill>
              </a:rPr>
              <a:t>Q2.  In risk = threat × vulnerability × impact, patching a flaw mainly reduces the:</a:t>
            </a:r>
          </a:p>
          <a:p>
            <a:pPr lvl="1"/>
            <a:r>
              <a:rPr sz="1500" b="1">
                <a:solidFill>
                  <a:srgbClr val="0F6E56"/>
                </a:solidFill>
              </a:rPr>
              <a:t>a) threat   b) impact   c) ✅ vulnerability factor   d) asset value</a:t>
            </a:r>
          </a:p>
          <a:p>
            <a:pPr lvl="1">
              <a:spcBef>
                <a:spcPts val="600"/>
              </a:spcBef>
            </a:pPr>
            <a:r>
              <a:rPr sz="1500" i="1">
                <a:solidFill>
                  <a:srgbClr val="1A1A1A"/>
                </a:solidFill>
              </a:rPr>
              <a:t>     Why: patching removes the weakness, so the same threat has less to exploit.</a:t>
            </a:r>
          </a:p>
          <a:p>
            <a:pPr lvl="1">
              <a:spcBef>
                <a:spcPts val="600"/>
              </a:spcBef>
            </a:pPr>
            <a:r>
              <a:rPr sz="1500" i="1">
                <a:solidFill>
                  <a:srgbClr val="1A1A1A"/>
                </a:solidFill>
              </a:rPr>
              <a:t>Discussion: pick one device you own — name one threat, one vulnerability, and the impact if compromised.</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42 / 94</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S24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Threat ≠ vulnerability ≠ asset: a threat could harm; a vulnerability is the weakness it exploits; the asset is what you protect.</a:t>
            </a:r>
          </a:p>
          <a:p>
            <a:pPr>
              <a:spcAft>
                <a:spcPts val="800"/>
              </a:spcAft>
            </a:pPr>
            <a:r>
              <a:rPr sz="1500">
                <a:solidFill>
                  <a:srgbClr val="1A1A1A"/>
                </a:solidFill>
              </a:rPr>
              <a:t>2.  Risk = threat × vulnerability × impact — factors multiply, so a near-zero factor means low risk; rank by likelihood × impact.</a:t>
            </a:r>
          </a:p>
          <a:p>
            <a:pPr>
              <a:spcAft>
                <a:spcPts val="800"/>
              </a:spcAft>
            </a:pPr>
            <a:r>
              <a:rPr sz="1500">
                <a:solidFill>
                  <a:srgbClr val="1A1A1A"/>
                </a:solidFill>
              </a:rPr>
              <a:t>3.  Security reduces risk to ACCEPTABLE, never zero — cut exposure, fix vulnerabilities, limit impact; residual risk remains.</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Security budgets and even exam-grade priorities are set by risk, not fear — this formula is exactly how professionals decide what to fix first. Being able to say 'this is low likelihood but critical impact, so it's a high risk' is the language of every risk register and audit.</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S25 — the actual attacks that exploit these vulnerabilities, and how to recognise and defend against them.</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43 / 94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25 · LECTURE HOUR 4 (OF 6)</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Common Cyberattacks &amp; Poisoned Web Services (defensive view)</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An SMS says 'Your eSewa/IME is blocked — verify here' with a link. A pop-up says 'Your PC has 5 viruses, call this number.' Both want one thing from you. Can you name the trick AND the defence?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44 / 94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S25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Malware — Recognition &amp; Defence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Malware is malicious software — viruses, worms, trojans, ransomware, spyware. Each behaves differently (spreads, hides, locks, or spies), but the defences overlap: keep software updated, run antivirus/EDR, use least privilege, and keep tested backups. We study behaviour and warning signs to defend, not to build it.</a:t>
            </a:r>
          </a:p>
          <a:p>
            <a:pPr>
              <a:spcAft>
                <a:spcPts val="500"/>
              </a:spcAft>
            </a:pPr>
            <a:r>
              <a:rPr sz="1200" b="1">
                <a:solidFill>
                  <a:srgbClr val="185FA5"/>
                </a:solidFill>
              </a:rPr>
              <a:t>HOW IT WORKS</a:t>
            </a:r>
          </a:p>
          <a:p>
            <a:pPr>
              <a:spcAft>
                <a:spcPts val="600"/>
              </a:spcAft>
            </a:pPr>
            <a:r>
              <a:rPr sz="1400">
                <a:solidFill>
                  <a:srgbClr val="1A1A1A"/>
                </a:solidFill>
              </a:rPr>
              <a:t>•  Virus attaches to files; worm spreads by itself; trojan hides in something you trust.</a:t>
            </a:r>
          </a:p>
          <a:p>
            <a:pPr>
              <a:spcAft>
                <a:spcPts val="600"/>
              </a:spcAft>
            </a:pPr>
            <a:r>
              <a:rPr sz="1400">
                <a:solidFill>
                  <a:srgbClr val="1A1A1A"/>
                </a:solidFill>
              </a:rPr>
              <a:t>•  Ransomware locks/encrypts your files for money; spyware silently watches and steals.</a:t>
            </a:r>
          </a:p>
          <a:p>
            <a:pPr>
              <a:spcAft>
                <a:spcPts val="600"/>
              </a:spcAft>
            </a:pPr>
            <a:r>
              <a:rPr sz="1400">
                <a:solidFill>
                  <a:srgbClr val="1A1A1A"/>
                </a:solidFill>
              </a:rPr>
              <a:t>•  Warning signs: sudden slowness, pop-ups, files renamed/locked, unknown processes.</a:t>
            </a:r>
          </a:p>
          <a:p>
            <a:pPr>
              <a:spcAft>
                <a:spcPts val="600"/>
              </a:spcAft>
            </a:pPr>
            <a:r>
              <a:rPr sz="1400">
                <a:solidFill>
                  <a:srgbClr val="1A1A1A"/>
                </a:solidFill>
              </a:rPr>
              <a:t>•  Defences: updates + antivirus/EDR + least privilege + backups + careful clicks.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Different malware, overlapping defence: update, protect, least-privilege, back up.</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45 / 94</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S25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Malware types — behaviour, warning sign &amp; defence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1882588"/>
                <a:gridCol w="3227294"/>
                <a:gridCol w="2823882"/>
                <a:gridCol w="3496235"/>
              </a:tblGrid>
              <a:tr h="630936">
                <a:tc>
                  <a:txBody>
                    <a:bodyPr wrap="square"/>
                    <a:lstStyle/>
                    <a:p>
                      <a:r>
                        <a:rPr sz="1100" b="1">
                          <a:solidFill>
                            <a:srgbClr val="FFFFFF"/>
                          </a:solidFill>
                        </a:rPr>
                        <a:t>Type</a:t>
                      </a:r>
                    </a:p>
                  </a:txBody>
                  <a:tcPr anchor="ctr" marL="73152" marR="54864" marT="27432" marB="27432">
                    <a:solidFill>
                      <a:srgbClr val="0C2B4A"/>
                    </a:solidFill>
                  </a:tcPr>
                </a:tc>
                <a:tc>
                  <a:txBody>
                    <a:bodyPr wrap="square"/>
                    <a:lstStyle/>
                    <a:p>
                      <a:r>
                        <a:rPr sz="1100" b="1">
                          <a:solidFill>
                            <a:srgbClr val="FFFFFF"/>
                          </a:solidFill>
                        </a:rPr>
                        <a:t>How it behaves</a:t>
                      </a:r>
                    </a:p>
                  </a:txBody>
                  <a:tcPr anchor="ctr" marL="73152" marR="54864" marT="27432" marB="27432">
                    <a:solidFill>
                      <a:srgbClr val="0C2B4A"/>
                    </a:solidFill>
                  </a:tcPr>
                </a:tc>
                <a:tc>
                  <a:txBody>
                    <a:bodyPr wrap="square"/>
                    <a:lstStyle/>
                    <a:p>
                      <a:r>
                        <a:rPr sz="1100" b="1">
                          <a:solidFill>
                            <a:srgbClr val="FFFFFF"/>
                          </a:solidFill>
                        </a:rPr>
                        <a:t>Warning sign</a:t>
                      </a:r>
                    </a:p>
                  </a:txBody>
                  <a:tcPr anchor="ctr" marL="73152" marR="54864" marT="27432" marB="27432">
                    <a:solidFill>
                      <a:srgbClr val="0C2B4A"/>
                    </a:solidFill>
                  </a:tcPr>
                </a:tc>
                <a:tc>
                  <a:txBody>
                    <a:bodyPr wrap="square"/>
                    <a:lstStyle/>
                    <a:p>
                      <a:r>
                        <a:rPr sz="1100" b="1">
                          <a:solidFill>
                            <a:srgbClr val="FFFFFF"/>
                          </a:solidFill>
                        </a:rPr>
                        <a:t>Key defence</a:t>
                      </a:r>
                    </a:p>
                  </a:txBody>
                  <a:tcPr anchor="ctr" marL="73152" marR="54864" marT="27432" marB="27432">
                    <a:solidFill>
                      <a:srgbClr val="0C2B4A"/>
                    </a:solidFill>
                  </a:tcPr>
                </a:tc>
              </a:tr>
              <a:tr h="630936">
                <a:tc>
                  <a:txBody>
                    <a:bodyPr wrap="square"/>
                    <a:lstStyle/>
                    <a:p>
                      <a:r>
                        <a:rPr sz="1050" b="1">
                          <a:solidFill>
                            <a:srgbClr val="0C2B4A"/>
                          </a:solidFill>
                        </a:rPr>
                        <a:t>Virus</a:t>
                      </a:r>
                    </a:p>
                  </a:txBody>
                  <a:tcPr anchor="ctr" marL="73152" marR="54864" marT="27432" marB="27432">
                    <a:solidFill>
                      <a:srgbClr val="FFFFFF"/>
                    </a:solidFill>
                  </a:tcPr>
                </a:tc>
                <a:tc>
                  <a:txBody>
                    <a:bodyPr wrap="square"/>
                    <a:lstStyle/>
                    <a:p>
                      <a:r>
                        <a:rPr sz="1050">
                          <a:solidFill>
                            <a:srgbClr val="1A1A1A"/>
                          </a:solidFill>
                        </a:rPr>
                        <a:t>Attaches to a file; runs when opened</a:t>
                      </a:r>
                    </a:p>
                  </a:txBody>
                  <a:tcPr anchor="ctr" marL="73152" marR="54864" marT="27432" marB="27432">
                    <a:solidFill>
                      <a:srgbClr val="FFFFFF"/>
                    </a:solidFill>
                  </a:tcPr>
                </a:tc>
                <a:tc>
                  <a:txBody>
                    <a:bodyPr wrap="square"/>
                    <a:lstStyle/>
                    <a:p>
                      <a:r>
                        <a:rPr sz="1050">
                          <a:solidFill>
                            <a:srgbClr val="1A1A1A"/>
                          </a:solidFill>
                        </a:rPr>
                        <a:t>Files corrupted; odd errors</a:t>
                      </a:r>
                    </a:p>
                  </a:txBody>
                  <a:tcPr anchor="ctr" marL="73152" marR="54864" marT="27432" marB="27432">
                    <a:solidFill>
                      <a:srgbClr val="FFFFFF"/>
                    </a:solidFill>
                  </a:tcPr>
                </a:tc>
                <a:tc>
                  <a:txBody>
                    <a:bodyPr wrap="square"/>
                    <a:lstStyle/>
                    <a:p>
                      <a:r>
                        <a:rPr sz="1050">
                          <a:solidFill>
                            <a:srgbClr val="1A1A1A"/>
                          </a:solidFill>
                        </a:rPr>
                        <a:t>Antivirus; don't open unknown files</a:t>
                      </a:r>
                    </a:p>
                  </a:txBody>
                  <a:tcPr anchor="ctr" marL="73152" marR="54864" marT="27432" marB="27432">
                    <a:solidFill>
                      <a:srgbClr val="FFFFFF"/>
                    </a:solidFill>
                  </a:tcPr>
                </a:tc>
              </a:tr>
              <a:tr h="630936">
                <a:tc>
                  <a:txBody>
                    <a:bodyPr wrap="square"/>
                    <a:lstStyle/>
                    <a:p>
                      <a:r>
                        <a:rPr sz="1050" b="1">
                          <a:solidFill>
                            <a:srgbClr val="0C2B4A"/>
                          </a:solidFill>
                        </a:rPr>
                        <a:t>Worm</a:t>
                      </a:r>
                    </a:p>
                  </a:txBody>
                  <a:tcPr anchor="ctr" marL="73152" marR="54864" marT="27432" marB="27432">
                    <a:solidFill>
                      <a:srgbClr val="EEF3F8"/>
                    </a:solidFill>
                  </a:tcPr>
                </a:tc>
                <a:tc>
                  <a:txBody>
                    <a:bodyPr wrap="square"/>
                    <a:lstStyle/>
                    <a:p>
                      <a:r>
                        <a:rPr sz="1050">
                          <a:solidFill>
                            <a:srgbClr val="1A1A1A"/>
                          </a:solidFill>
                        </a:rPr>
                        <a:t>Self-spreads across the network</a:t>
                      </a:r>
                    </a:p>
                  </a:txBody>
                  <a:tcPr anchor="ctr" marL="73152" marR="54864" marT="27432" marB="27432">
                    <a:solidFill>
                      <a:srgbClr val="EEF3F8"/>
                    </a:solidFill>
                  </a:tcPr>
                </a:tc>
                <a:tc>
                  <a:txBody>
                    <a:bodyPr wrap="square"/>
                    <a:lstStyle/>
                    <a:p>
                      <a:r>
                        <a:rPr sz="1050">
                          <a:solidFill>
                            <a:srgbClr val="1A1A1A"/>
                          </a:solidFill>
                        </a:rPr>
                        <a:t>Network slow; devices infected fast</a:t>
                      </a:r>
                    </a:p>
                  </a:txBody>
                  <a:tcPr anchor="ctr" marL="73152" marR="54864" marT="27432" marB="27432">
                    <a:solidFill>
                      <a:srgbClr val="EEF3F8"/>
                    </a:solidFill>
                  </a:tcPr>
                </a:tc>
                <a:tc>
                  <a:txBody>
                    <a:bodyPr wrap="square"/>
                    <a:lstStyle/>
                    <a:p>
                      <a:r>
                        <a:rPr sz="1050">
                          <a:solidFill>
                            <a:srgbClr val="1A1A1A"/>
                          </a:solidFill>
                        </a:rPr>
                        <a:t>Patch promptly; segment the network</a:t>
                      </a:r>
                    </a:p>
                  </a:txBody>
                  <a:tcPr anchor="ctr" marL="73152" marR="54864" marT="27432" marB="27432">
                    <a:solidFill>
                      <a:srgbClr val="EEF3F8"/>
                    </a:solidFill>
                  </a:tcPr>
                </a:tc>
              </a:tr>
              <a:tr h="630936">
                <a:tc>
                  <a:txBody>
                    <a:bodyPr wrap="square"/>
                    <a:lstStyle/>
                    <a:p>
                      <a:r>
                        <a:rPr sz="1050" b="1">
                          <a:solidFill>
                            <a:srgbClr val="0C2B4A"/>
                          </a:solidFill>
                        </a:rPr>
                        <a:t>Trojan</a:t>
                      </a:r>
                    </a:p>
                  </a:txBody>
                  <a:tcPr anchor="ctr" marL="73152" marR="54864" marT="27432" marB="27432">
                    <a:solidFill>
                      <a:srgbClr val="FFFFFF"/>
                    </a:solidFill>
                  </a:tcPr>
                </a:tc>
                <a:tc>
                  <a:txBody>
                    <a:bodyPr wrap="square"/>
                    <a:lstStyle/>
                    <a:p>
                      <a:r>
                        <a:rPr sz="1050">
                          <a:solidFill>
                            <a:srgbClr val="1A1A1A"/>
                          </a:solidFill>
                        </a:rPr>
                        <a:t>Hides inside trusted-looking software</a:t>
                      </a:r>
                    </a:p>
                  </a:txBody>
                  <a:tcPr anchor="ctr" marL="73152" marR="54864" marT="27432" marB="27432">
                    <a:solidFill>
                      <a:srgbClr val="FFFFFF"/>
                    </a:solidFill>
                  </a:tcPr>
                </a:tc>
                <a:tc>
                  <a:txBody>
                    <a:bodyPr wrap="square"/>
                    <a:lstStyle/>
                    <a:p>
                      <a:r>
                        <a:rPr sz="1050">
                          <a:solidFill>
                            <a:srgbClr val="1A1A1A"/>
                          </a:solidFill>
                        </a:rPr>
                        <a:t>Unexpected behaviour after install</a:t>
                      </a:r>
                    </a:p>
                  </a:txBody>
                  <a:tcPr anchor="ctr" marL="73152" marR="54864" marT="27432" marB="27432">
                    <a:solidFill>
                      <a:srgbClr val="FFFFFF"/>
                    </a:solidFill>
                  </a:tcPr>
                </a:tc>
                <a:tc>
                  <a:txBody>
                    <a:bodyPr wrap="square"/>
                    <a:lstStyle/>
                    <a:p>
                      <a:r>
                        <a:rPr sz="1050">
                          <a:solidFill>
                            <a:srgbClr val="1A1A1A"/>
                          </a:solidFill>
                        </a:rPr>
                        <a:t>Install only from trusted sources</a:t>
                      </a:r>
                    </a:p>
                  </a:txBody>
                  <a:tcPr anchor="ctr" marL="73152" marR="54864" marT="27432" marB="27432">
                    <a:solidFill>
                      <a:srgbClr val="FFFFFF"/>
                    </a:solidFill>
                  </a:tcPr>
                </a:tc>
              </a:tr>
              <a:tr h="630936">
                <a:tc>
                  <a:txBody>
                    <a:bodyPr wrap="square"/>
                    <a:lstStyle/>
                    <a:p>
                      <a:r>
                        <a:rPr sz="1050" b="1">
                          <a:solidFill>
                            <a:srgbClr val="0C2B4A"/>
                          </a:solidFill>
                        </a:rPr>
                        <a:t>Ransomware</a:t>
                      </a:r>
                    </a:p>
                  </a:txBody>
                  <a:tcPr anchor="ctr" marL="73152" marR="54864" marT="27432" marB="27432">
                    <a:solidFill>
                      <a:srgbClr val="EEF3F8"/>
                    </a:solidFill>
                  </a:tcPr>
                </a:tc>
                <a:tc>
                  <a:txBody>
                    <a:bodyPr wrap="square"/>
                    <a:lstStyle/>
                    <a:p>
                      <a:r>
                        <a:rPr sz="1050">
                          <a:solidFill>
                            <a:srgbClr val="1A1A1A"/>
                          </a:solidFill>
                        </a:rPr>
                        <a:t>Encrypts files, demands payment</a:t>
                      </a:r>
                    </a:p>
                  </a:txBody>
                  <a:tcPr anchor="ctr" marL="73152" marR="54864" marT="27432" marB="27432">
                    <a:solidFill>
                      <a:srgbClr val="EEF3F8"/>
                    </a:solidFill>
                  </a:tcPr>
                </a:tc>
                <a:tc>
                  <a:txBody>
                    <a:bodyPr wrap="square"/>
                    <a:lstStyle/>
                    <a:p>
                      <a:r>
                        <a:rPr sz="1050">
                          <a:solidFill>
                            <a:srgbClr val="1A1A1A"/>
                          </a:solidFill>
                        </a:rPr>
                        <a:t>Files locked; ransom note</a:t>
                      </a:r>
                    </a:p>
                  </a:txBody>
                  <a:tcPr anchor="ctr" marL="73152" marR="54864" marT="27432" marB="27432">
                    <a:solidFill>
                      <a:srgbClr val="EEF3F8"/>
                    </a:solidFill>
                  </a:tcPr>
                </a:tc>
                <a:tc>
                  <a:txBody>
                    <a:bodyPr wrap="square"/>
                    <a:lstStyle/>
                    <a:p>
                      <a:r>
                        <a:rPr sz="1050">
                          <a:solidFill>
                            <a:srgbClr val="1A1A1A"/>
                          </a:solidFill>
                        </a:rPr>
                        <a:t>Tested offline backups; patch; least privilege</a:t>
                      </a:r>
                    </a:p>
                  </a:txBody>
                  <a:tcPr anchor="ctr" marL="73152" marR="54864" marT="27432" marB="27432">
                    <a:solidFill>
                      <a:srgbClr val="EEF3F8"/>
                    </a:solidFill>
                  </a:tcPr>
                </a:tc>
              </a:tr>
              <a:tr h="630936">
                <a:tc>
                  <a:txBody>
                    <a:bodyPr wrap="square"/>
                    <a:lstStyle/>
                    <a:p>
                      <a:r>
                        <a:rPr sz="1050" b="1">
                          <a:solidFill>
                            <a:srgbClr val="0C2B4A"/>
                          </a:solidFill>
                        </a:rPr>
                        <a:t>Spyware</a:t>
                      </a:r>
                    </a:p>
                  </a:txBody>
                  <a:tcPr anchor="ctr" marL="73152" marR="54864" marT="27432" marB="27432">
                    <a:solidFill>
                      <a:srgbClr val="FFFFFF"/>
                    </a:solidFill>
                  </a:tcPr>
                </a:tc>
                <a:tc>
                  <a:txBody>
                    <a:bodyPr wrap="square"/>
                    <a:lstStyle/>
                    <a:p>
                      <a:r>
                        <a:rPr sz="1050">
                          <a:solidFill>
                            <a:srgbClr val="1A1A1A"/>
                          </a:solidFill>
                        </a:rPr>
                        <a:t>Silently watches, steals data</a:t>
                      </a:r>
                    </a:p>
                  </a:txBody>
                  <a:tcPr anchor="ctr" marL="73152" marR="54864" marT="27432" marB="27432">
                    <a:solidFill>
                      <a:srgbClr val="FFFFFF"/>
                    </a:solidFill>
                  </a:tcPr>
                </a:tc>
                <a:tc>
                  <a:txBody>
                    <a:bodyPr wrap="square"/>
                    <a:lstStyle/>
                    <a:p>
                      <a:r>
                        <a:rPr sz="1050">
                          <a:solidFill>
                            <a:srgbClr val="1A1A1A"/>
                          </a:solidFill>
                        </a:rPr>
                        <a:t>Battery/data drain; strange activity</a:t>
                      </a:r>
                    </a:p>
                  </a:txBody>
                  <a:tcPr anchor="ctr" marL="73152" marR="54864" marT="27432" marB="27432">
                    <a:solidFill>
                      <a:srgbClr val="FFFFFF"/>
                    </a:solidFill>
                  </a:tcPr>
                </a:tc>
                <a:tc>
                  <a:txBody>
                    <a:bodyPr wrap="square"/>
                    <a:lstStyle/>
                    <a:p>
                      <a:r>
                        <a:rPr sz="1050">
                          <a:solidFill>
                            <a:srgbClr val="1A1A1A"/>
                          </a:solidFill>
                        </a:rPr>
                        <a:t>Anti-malware; app-permission hygiene</a:t>
                      </a:r>
                    </a:p>
                  </a:txBody>
                  <a:tcPr anchor="ctr" marL="73152" marR="54864" marT="27432" marB="27432">
                    <a:solidFill>
                      <a:srgbClr val="FFFFFF"/>
                    </a:solidFill>
                  </a:tcPr>
                </a:tc>
              </a:tr>
              <a:tr h="630936">
                <a:tc>
                  <a:txBody>
                    <a:bodyPr wrap="square"/>
                    <a:lstStyle/>
                    <a:p>
                      <a:r>
                        <a:rPr sz="1050" b="1">
                          <a:solidFill>
                            <a:srgbClr val="0C2B4A"/>
                          </a:solidFill>
                        </a:rPr>
                        <a:t>Adware / PUP</a:t>
                      </a:r>
                    </a:p>
                  </a:txBody>
                  <a:tcPr anchor="ctr" marL="73152" marR="54864" marT="27432" marB="27432">
                    <a:solidFill>
                      <a:srgbClr val="EEF3F8"/>
                    </a:solidFill>
                  </a:tcPr>
                </a:tc>
                <a:tc>
                  <a:txBody>
                    <a:bodyPr wrap="square"/>
                    <a:lstStyle/>
                    <a:p>
                      <a:r>
                        <a:rPr sz="1050">
                          <a:solidFill>
                            <a:srgbClr val="1A1A1A"/>
                          </a:solidFill>
                        </a:rPr>
                        <a:t>Floods pop-ups, bundles junk</a:t>
                      </a:r>
                    </a:p>
                  </a:txBody>
                  <a:tcPr anchor="ctr" marL="73152" marR="54864" marT="27432" marB="27432">
                    <a:solidFill>
                      <a:srgbClr val="EEF3F8"/>
                    </a:solidFill>
                  </a:tcPr>
                </a:tc>
                <a:tc>
                  <a:txBody>
                    <a:bodyPr wrap="square"/>
                    <a:lstStyle/>
                    <a:p>
                      <a:r>
                        <a:rPr sz="1050">
                          <a:solidFill>
                            <a:srgbClr val="1A1A1A"/>
                          </a:solidFill>
                        </a:rPr>
                        <a:t>Constant ads; new toolbars</a:t>
                      </a:r>
                    </a:p>
                  </a:txBody>
                  <a:tcPr anchor="ctr" marL="73152" marR="54864" marT="27432" marB="27432">
                    <a:solidFill>
                      <a:srgbClr val="EEF3F8"/>
                    </a:solidFill>
                  </a:tcPr>
                </a:tc>
                <a:tc>
                  <a:txBody>
                    <a:bodyPr wrap="square"/>
                    <a:lstStyle/>
                    <a:p>
                      <a:r>
                        <a:rPr sz="1050">
                          <a:solidFill>
                            <a:srgbClr val="1A1A1A"/>
                          </a:solidFill>
                        </a:rPr>
                        <a:t>Careful installs; avoid pirated software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Studied for RECOGNITION and DEFENCE only. Notice the defences overlap: updates, antivirus/EDR, least privilege, backups, and careful clicks beat most of them.</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46 / 94</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S25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Malware — Recognition &amp; Defence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Globally, WannaCry ransomware spread worldwide through a single unpatched Windows flaw — a worm + ransomware combined. In Nepal, ransomware and malware have hit businesses and government offices, and pirated/cracked software is a common infection route (the 'free' download carries a trojan). The fix is unglamorous: patch, run EDR, least privilege, and keep tested backups.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"Antivirus alone keeps me safe." Antivirus is one layer. Updates (WannaCry was a missing patch), tested backups (your ransomware recovery), least privilege, and careful clicks matter just as much — and pirated software often IS the malware. Defence is layered, not a single product.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Malware is malicious software — viruses (attach to files), worms (self-spread), trojans (hide in trusted software), ransomware (encrypt for money), and spyware (silently steal). Recognising each behaviour and its warning signs supports defence, which is layered and overlapping: prompt updates, antivirus/EDR, least privilege, tested backups, and cautious clicking beat most malware.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malware · virus/worm/trojan/ransomware/spyware · WannaCry (unpatched) · layered defence · patch + backup + EDR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47 / 94</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S25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Phishing &amp; Social-Lure Attacks — Recognition &amp; Defence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Phishing tricks a PERSON into giving credentials, money, or clicks via fake messages. It targets people, not machines, so no firewall fully stops it. The signs: manufactured urgency, mismatched or look-alike links, requests for OTP/PIN. The defences: verify out-of-band, never share an OTP, use MFA, and report.</a:t>
            </a:r>
          </a:p>
          <a:p>
            <a:pPr>
              <a:spcAft>
                <a:spcPts val="500"/>
              </a:spcAft>
            </a:pPr>
            <a:r>
              <a:rPr sz="1200" b="1">
                <a:solidFill>
                  <a:srgbClr val="185FA5"/>
                </a:solidFill>
              </a:rPr>
              <a:t>HOW IT WORKS</a:t>
            </a:r>
          </a:p>
          <a:p>
            <a:pPr>
              <a:spcAft>
                <a:spcPts val="600"/>
              </a:spcAft>
            </a:pPr>
            <a:r>
              <a:rPr sz="1400">
                <a:solidFill>
                  <a:srgbClr val="1A1A1A"/>
                </a:solidFill>
              </a:rPr>
              <a:t>•  Red flags: urgency ('act now / account blocked'), mismatched links, look-alike domains, OTP/PIN requests.</a:t>
            </a:r>
          </a:p>
          <a:p>
            <a:pPr>
              <a:spcAft>
                <a:spcPts val="600"/>
              </a:spcAft>
            </a:pPr>
            <a:r>
              <a:rPr sz="1400">
                <a:solidFill>
                  <a:srgbClr val="1A1A1A"/>
                </a:solidFill>
              </a:rPr>
              <a:t>•  Spear-phishing is targeted and researched — it can fool experts, not just careless people.</a:t>
            </a:r>
          </a:p>
          <a:p>
            <a:pPr>
              <a:spcAft>
                <a:spcPts val="600"/>
              </a:spcAft>
            </a:pPr>
            <a:r>
              <a:rPr sz="1400">
                <a:solidFill>
                  <a:srgbClr val="1A1A1A"/>
                </a:solidFill>
              </a:rPr>
              <a:t>•  Defences: pause and verify through a known channel; never share OTP/PIN; enable MFA.</a:t>
            </a:r>
          </a:p>
          <a:p>
            <a:pPr>
              <a:spcAft>
                <a:spcPts val="600"/>
              </a:spcAft>
            </a:pPr>
            <a:r>
              <a:rPr sz="1400">
                <a:solidFill>
                  <a:srgbClr val="1A1A1A"/>
                </a:solidFill>
              </a:rPr>
              <a:t>•  Report suspected phishing (to the bank, IT team, or NPCERT) so others are warned.</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Phishing hacks the human, not the computer — urgency is the tell; verify out-of-band.</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48 / 94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S25 · CONCEPT 2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Nepali phishing lures — the red flag &amp; the defence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007922"/>
                <a:gridCol w="3562597"/>
                <a:gridCol w="3859480"/>
              </a:tblGrid>
              <a:tr h="630936">
                <a:tc>
                  <a:txBody>
                    <a:bodyPr wrap="square"/>
                    <a:lstStyle/>
                    <a:p>
                      <a:r>
                        <a:rPr sz="1150" b="1">
                          <a:solidFill>
                            <a:srgbClr val="FFFFFF"/>
                          </a:solidFill>
                        </a:rPr>
                        <a:t>Lure (Nepal)</a:t>
                      </a:r>
                    </a:p>
                  </a:txBody>
                  <a:tcPr anchor="ctr" marL="73152" marR="54864" marT="27432" marB="27432">
                    <a:solidFill>
                      <a:srgbClr val="0C2B4A"/>
                    </a:solidFill>
                  </a:tcPr>
                </a:tc>
                <a:tc>
                  <a:txBody>
                    <a:bodyPr wrap="square"/>
                    <a:lstStyle/>
                    <a:p>
                      <a:r>
                        <a:rPr sz="1150" b="1">
                          <a:solidFill>
                            <a:srgbClr val="FFFFFF"/>
                          </a:solidFill>
                        </a:rPr>
                        <a:t>Red flag to spot</a:t>
                      </a:r>
                    </a:p>
                  </a:txBody>
                  <a:tcPr anchor="ctr" marL="73152" marR="54864" marT="27432" marB="27432">
                    <a:solidFill>
                      <a:srgbClr val="0C2B4A"/>
                    </a:solidFill>
                  </a:tcPr>
                </a:tc>
                <a:tc>
                  <a:txBody>
                    <a:bodyPr wrap="square"/>
                    <a:lstStyle/>
                    <a:p>
                      <a:r>
                        <a:rPr sz="1150" b="1">
                          <a:solidFill>
                            <a:srgbClr val="FFFFFF"/>
                          </a:solidFill>
                        </a:rPr>
                        <a:t>What you should do</a:t>
                      </a:r>
                    </a:p>
                  </a:txBody>
                  <a:tcPr anchor="ctr" marL="73152" marR="54864" marT="27432" marB="27432">
                    <a:solidFill>
                      <a:srgbClr val="0C2B4A"/>
                    </a:solidFill>
                  </a:tcPr>
                </a:tc>
              </a:tr>
              <a:tr h="630936">
                <a:tc>
                  <a:txBody>
                    <a:bodyPr wrap="square"/>
                    <a:lstStyle/>
                    <a:p>
                      <a:r>
                        <a:rPr sz="1100" b="1">
                          <a:solidFill>
                            <a:srgbClr val="0C2B4A"/>
                          </a:solidFill>
                        </a:rPr>
                        <a:t>'Your eSewa/IME is blocked — verify here'</a:t>
                      </a:r>
                    </a:p>
                  </a:txBody>
                  <a:tcPr anchor="ctr" marL="73152" marR="54864" marT="27432" marB="27432">
                    <a:solidFill>
                      <a:srgbClr val="FFFFFF"/>
                    </a:solidFill>
                  </a:tcPr>
                </a:tc>
                <a:tc>
                  <a:txBody>
                    <a:bodyPr wrap="square"/>
                    <a:lstStyle/>
                    <a:p>
                      <a:r>
                        <a:rPr sz="1100">
                          <a:solidFill>
                            <a:srgbClr val="1A1A1A"/>
                          </a:solidFill>
                        </a:rPr>
                        <a:t>Urgency + a link asking to log in</a:t>
                      </a:r>
                    </a:p>
                  </a:txBody>
                  <a:tcPr anchor="ctr" marL="73152" marR="54864" marT="27432" marB="27432">
                    <a:solidFill>
                      <a:srgbClr val="FFFFFF"/>
                    </a:solidFill>
                  </a:tcPr>
                </a:tc>
                <a:tc>
                  <a:txBody>
                    <a:bodyPr wrap="square"/>
                    <a:lstStyle/>
                    <a:p>
                      <a:r>
                        <a:rPr sz="1100">
                          <a:solidFill>
                            <a:srgbClr val="1A1A1A"/>
                          </a:solidFill>
                        </a:rPr>
                        <a:t>Don't click; open the app yourself; report</a:t>
                      </a:r>
                    </a:p>
                  </a:txBody>
                  <a:tcPr anchor="ctr" marL="73152" marR="54864" marT="27432" marB="27432">
                    <a:solidFill>
                      <a:srgbClr val="FFFFFF"/>
                    </a:solidFill>
                  </a:tcPr>
                </a:tc>
              </a:tr>
              <a:tr h="630936">
                <a:tc>
                  <a:txBody>
                    <a:bodyPr wrap="square"/>
                    <a:lstStyle/>
                    <a:p>
                      <a:r>
                        <a:rPr sz="1100" b="1">
                          <a:solidFill>
                            <a:srgbClr val="0C2B4A"/>
                          </a:solidFill>
                        </a:rPr>
                        <a:t>'You won a Khalti reward — claim now'</a:t>
                      </a:r>
                    </a:p>
                  </a:txBody>
                  <a:tcPr anchor="ctr" marL="73152" marR="54864" marT="27432" marB="27432">
                    <a:solidFill>
                      <a:srgbClr val="EEF3F8"/>
                    </a:solidFill>
                  </a:tcPr>
                </a:tc>
                <a:tc>
                  <a:txBody>
                    <a:bodyPr wrap="square"/>
                    <a:lstStyle/>
                    <a:p>
                      <a:r>
                        <a:rPr sz="1100">
                          <a:solidFill>
                            <a:srgbClr val="1A1A1A"/>
                          </a:solidFill>
                        </a:rPr>
                        <a:t>Too-good offer + urgency</a:t>
                      </a:r>
                    </a:p>
                  </a:txBody>
                  <a:tcPr anchor="ctr" marL="73152" marR="54864" marT="27432" marB="27432">
                    <a:solidFill>
                      <a:srgbClr val="EEF3F8"/>
                    </a:solidFill>
                  </a:tcPr>
                </a:tc>
                <a:tc>
                  <a:txBody>
                    <a:bodyPr wrap="square"/>
                    <a:lstStyle/>
                    <a:p>
                      <a:r>
                        <a:rPr sz="1100">
                          <a:solidFill>
                            <a:srgbClr val="1A1A1A"/>
                          </a:solidFill>
                        </a:rPr>
                        <a:t>Ignore; verify in the official app only</a:t>
                      </a:r>
                    </a:p>
                  </a:txBody>
                  <a:tcPr anchor="ctr" marL="73152" marR="54864" marT="27432" marB="27432">
                    <a:solidFill>
                      <a:srgbClr val="EEF3F8"/>
                    </a:solidFill>
                  </a:tcPr>
                </a:tc>
              </a:tr>
              <a:tr h="630936">
                <a:tc>
                  <a:txBody>
                    <a:bodyPr wrap="square"/>
                    <a:lstStyle/>
                    <a:p>
                      <a:r>
                        <a:rPr sz="1100" b="1">
                          <a:solidFill>
                            <a:srgbClr val="0C2B4A"/>
                          </a:solidFill>
                        </a:rPr>
                        <a:t>Fake bank-KYC SMS asking for OTP/PIN</a:t>
                      </a:r>
                    </a:p>
                  </a:txBody>
                  <a:tcPr anchor="ctr" marL="73152" marR="54864" marT="27432" marB="27432">
                    <a:solidFill>
                      <a:srgbClr val="FFFFFF"/>
                    </a:solidFill>
                  </a:tcPr>
                </a:tc>
                <a:tc>
                  <a:txBody>
                    <a:bodyPr wrap="square"/>
                    <a:lstStyle/>
                    <a:p>
                      <a:r>
                        <a:rPr sz="1100">
                          <a:solidFill>
                            <a:srgbClr val="1A1A1A"/>
                          </a:solidFill>
                        </a:rPr>
                        <a:t>Any request for OTP/PIN</a:t>
                      </a:r>
                    </a:p>
                  </a:txBody>
                  <a:tcPr anchor="ctr" marL="73152" marR="54864" marT="27432" marB="27432">
                    <a:solidFill>
                      <a:srgbClr val="FFFFFF"/>
                    </a:solidFill>
                  </a:tcPr>
                </a:tc>
                <a:tc>
                  <a:txBody>
                    <a:bodyPr wrap="square"/>
                    <a:lstStyle/>
                    <a:p>
                      <a:r>
                        <a:rPr sz="1100">
                          <a:solidFill>
                            <a:srgbClr val="1A1A1A"/>
                          </a:solidFill>
                        </a:rPr>
                        <a:t>Never share OTP/PIN — banks never ask</a:t>
                      </a:r>
                    </a:p>
                  </a:txBody>
                  <a:tcPr anchor="ctr" marL="73152" marR="54864" marT="27432" marB="27432">
                    <a:solidFill>
                      <a:srgbClr val="FFFFFF"/>
                    </a:solidFill>
                  </a:tcPr>
                </a:tc>
              </a:tr>
              <a:tr h="630936">
                <a:tc>
                  <a:txBody>
                    <a:bodyPr wrap="square"/>
                    <a:lstStyle/>
                    <a:p>
                      <a:r>
                        <a:rPr sz="1100" b="1">
                          <a:solidFill>
                            <a:srgbClr val="0C2B4A"/>
                          </a:solidFill>
                        </a:rPr>
                        <a:t>'Nepal Police/IRD fine — pay via this link'</a:t>
                      </a:r>
                    </a:p>
                  </a:txBody>
                  <a:tcPr anchor="ctr" marL="73152" marR="54864" marT="27432" marB="27432">
                    <a:solidFill>
                      <a:srgbClr val="EEF3F8"/>
                    </a:solidFill>
                  </a:tcPr>
                </a:tc>
                <a:tc>
                  <a:txBody>
                    <a:bodyPr wrap="square"/>
                    <a:lstStyle/>
                    <a:p>
                      <a:r>
                        <a:rPr sz="1100">
                          <a:solidFill>
                            <a:srgbClr val="1A1A1A"/>
                          </a:solidFill>
                        </a:rPr>
                        <a:t>Threat + unofficial payment link</a:t>
                      </a:r>
                    </a:p>
                  </a:txBody>
                  <a:tcPr anchor="ctr" marL="73152" marR="54864" marT="27432" marB="27432">
                    <a:solidFill>
                      <a:srgbClr val="EEF3F8"/>
                    </a:solidFill>
                  </a:tcPr>
                </a:tc>
                <a:tc>
                  <a:txBody>
                    <a:bodyPr wrap="square"/>
                    <a:lstStyle/>
                    <a:p>
                      <a:r>
                        <a:rPr sz="1100">
                          <a:solidFill>
                            <a:srgbClr val="1A1A1A"/>
                          </a:solidFill>
                        </a:rPr>
                        <a:t>Verify through official channels, not the link</a:t>
                      </a:r>
                    </a:p>
                  </a:txBody>
                  <a:tcPr anchor="ctr" marL="73152" marR="54864" marT="27432" marB="27432">
                    <a:solidFill>
                      <a:srgbClr val="EEF3F8"/>
                    </a:solidFill>
                  </a:tcPr>
                </a:tc>
              </a:tr>
              <a:tr h="630936">
                <a:tc>
                  <a:txBody>
                    <a:bodyPr wrap="square"/>
                    <a:lstStyle/>
                    <a:p>
                      <a:r>
                        <a:rPr sz="1100" b="1">
                          <a:solidFill>
                            <a:srgbClr val="0C2B4A"/>
                          </a:solidFill>
                        </a:rPr>
                        <a:t>Look-alike bank URL (subtly misspelled)</a:t>
                      </a:r>
                    </a:p>
                  </a:txBody>
                  <a:tcPr anchor="ctr" marL="73152" marR="54864" marT="27432" marB="27432">
                    <a:solidFill>
                      <a:srgbClr val="FFFFFF"/>
                    </a:solidFill>
                  </a:tcPr>
                </a:tc>
                <a:tc>
                  <a:txBody>
                    <a:bodyPr wrap="square"/>
                    <a:lstStyle/>
                    <a:p>
                      <a:r>
                        <a:rPr sz="1100">
                          <a:solidFill>
                            <a:srgbClr val="1A1A1A"/>
                          </a:solidFill>
                        </a:rPr>
                        <a:t>Domain slightly wrong (e.g. rn for m)</a:t>
                      </a:r>
                    </a:p>
                  </a:txBody>
                  <a:tcPr anchor="ctr" marL="73152" marR="54864" marT="27432" marB="27432">
                    <a:solidFill>
                      <a:srgbClr val="FFFFFF"/>
                    </a:solidFill>
                  </a:tcPr>
                </a:tc>
                <a:tc>
                  <a:txBody>
                    <a:bodyPr wrap="square"/>
                    <a:lstStyle/>
                    <a:p>
                      <a:r>
                        <a:rPr sz="1100">
                          <a:solidFill>
                            <a:srgbClr val="1A1A1A"/>
                          </a:solidFill>
                        </a:rPr>
                        <a:t>Type the address yourself; check carefully</a:t>
                      </a:r>
                    </a:p>
                  </a:txBody>
                  <a:tcPr anchor="ctr" marL="73152" marR="54864" marT="27432" marB="27432">
                    <a:solidFill>
                      <a:srgbClr val="FFFFFF"/>
                    </a:solidFill>
                  </a:tcPr>
                </a:tc>
              </a:tr>
              <a:tr h="630936">
                <a:tc>
                  <a:txBody>
                    <a:bodyPr wrap="square"/>
                    <a:lstStyle/>
                    <a:p>
                      <a:r>
                        <a:rPr sz="1100" b="1">
                          <a:solidFill>
                            <a:srgbClr val="0C2B4A"/>
                          </a:solidFill>
                        </a:rPr>
                        <a:t>Email 'from the principal' wanting gift cards</a:t>
                      </a:r>
                    </a:p>
                  </a:txBody>
                  <a:tcPr anchor="ctr" marL="73152" marR="54864" marT="27432" marB="27432">
                    <a:solidFill>
                      <a:srgbClr val="EEF3F8"/>
                    </a:solidFill>
                  </a:tcPr>
                </a:tc>
                <a:tc>
                  <a:txBody>
                    <a:bodyPr wrap="square"/>
                    <a:lstStyle/>
                    <a:p>
                      <a:r>
                        <a:rPr sz="1100">
                          <a:solidFill>
                            <a:srgbClr val="1A1A1A"/>
                          </a:solidFill>
                        </a:rPr>
                        <a:t>Urgent, unusual request, odd sender</a:t>
                      </a:r>
                    </a:p>
                  </a:txBody>
                  <a:tcPr anchor="ctr" marL="73152" marR="54864" marT="27432" marB="27432">
                    <a:solidFill>
                      <a:srgbClr val="EEF3F8"/>
                    </a:solidFill>
                  </a:tcPr>
                </a:tc>
                <a:tc>
                  <a:txBody>
                    <a:bodyPr wrap="square"/>
                    <a:lstStyle/>
                    <a:p>
                      <a:r>
                        <a:rPr sz="1100">
                          <a:solidFill>
                            <a:srgbClr val="1A1A1A"/>
                          </a:solidFill>
                        </a:rPr>
                        <a:t>Verify by phone/in person out-of-band</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Phishing targets the human, so the defence is behavioural: pause on urgency, verify out-of-band, never share OTP/PIN, enable MFA, and report. Well-crafted spear-phishing fools experts too.</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49 / 94</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S25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Phishing &amp; Social-Lure Attacks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Nepali users are hit with fake 'eSewa/Khalti reward' messages, fake bank-KYC SMS demanding an OTP, fake Nepal Police/IRD fine notices, and look-alike bank domains. Worked mini-case: an email 'from your principal' urgently asks you to buy gift cards — three red flags are the urgency, the unusual request, and the mismatched sender address. The defence is to verify through a known, separate channel before acting.</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"Only careless people fall for phishing." Well-crafted, targeted spear-phishing (researched, personalised, well-timed) fools experts and executives too. The defence isn't 'be smart', it's a habit: pause on urgency, verify out-of-band, never share an OTP, and enable MFA so a stolen password alone fails.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Phishing tricks a person into giving credentials, money, or clicks through fake messages, targeting people rather than machines. Its signs are manufactured urgency, mismatched or look-alike links, and requests for OTP/PIN; spear-phishing is targeted enough to fool experts. Defences are behavioural: verify out-of-band, never share OTP/PIN, use MFA, and report — because no firewall fully stops a human being tricked.</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phishing · social engineering · urgency + look-alike links + OTP requests · spear-phishing · verify out-of-band + MFA</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50 / 94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S25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Denial-of-Service (DoS / DDoS) — Conceptual</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Denial-of-Service attack overwhelms a service with traffic so legitimate users can't reach it — it attacks Availability. A DDoS is 'distributed': the flood comes from many machines (often a botnet) at once. We cover this conceptually; there are no traffic-generation instructions here.</a:t>
            </a:r>
          </a:p>
          <a:p>
            <a:pPr>
              <a:spcAft>
                <a:spcPts val="500"/>
              </a:spcAft>
            </a:pPr>
            <a:r>
              <a:rPr sz="1200" b="1">
                <a:solidFill>
                  <a:srgbClr val="185FA5"/>
                </a:solidFill>
              </a:rPr>
              <a:t>HOW IT WORKS</a:t>
            </a:r>
          </a:p>
          <a:p>
            <a:pPr>
              <a:spcAft>
                <a:spcPts val="600"/>
              </a:spcAft>
            </a:pPr>
            <a:r>
              <a:rPr sz="1400">
                <a:solidFill>
                  <a:srgbClr val="1A1A1A"/>
                </a:solidFill>
              </a:rPr>
              <a:t>•  Many requests flood a server until it can't serve real users — the target is uptime, not secrecy.</a:t>
            </a:r>
          </a:p>
          <a:p>
            <a:pPr>
              <a:spcAft>
                <a:spcPts val="600"/>
              </a:spcAft>
            </a:pPr>
            <a:r>
              <a:rPr sz="1400">
                <a:solidFill>
                  <a:srgbClr val="1A1A1A"/>
                </a:solidFill>
              </a:rPr>
              <a:t>•  DDoS uses many sources (a botnet) so it's hard to simply block one address.</a:t>
            </a:r>
          </a:p>
          <a:p>
            <a:pPr>
              <a:spcAft>
                <a:spcPts val="600"/>
              </a:spcAft>
            </a:pPr>
            <a:r>
              <a:rPr sz="1400">
                <a:solidFill>
                  <a:srgbClr val="1A1A1A"/>
                </a:solidFill>
              </a:rPr>
              <a:t>•  Defences (conceptual): rate-limiting, CDNs / traffic-scrubbing services, spare capacity.</a:t>
            </a:r>
          </a:p>
          <a:p>
            <a:pPr>
              <a:spcAft>
                <a:spcPts val="600"/>
              </a:spcAft>
            </a:pPr>
            <a:r>
              <a:rPr sz="1400">
                <a:solidFill>
                  <a:srgbClr val="1A1A1A"/>
                </a:solidFill>
              </a:rPr>
              <a:t>•  Coordinate with your ISP and NPCERT during a sustained attack — you can't fight it alone.</a:t>
            </a:r>
          </a:p>
        </p:txBody>
      </p:sp>
      <p:pic>
        <p:nvPicPr>
          <p:cNvPr id="6" name="Picture 5" descr="s25_dos.png"/>
          <p:cNvPicPr>
            <a:picLocks noChangeAspect="1"/>
          </p:cNvPicPr>
          <p:nvPr/>
        </p:nvPicPr>
        <p:blipFill>
          <a:blip r:embed="rId2"/>
          <a:stretch>
            <a:fillRect/>
          </a:stretch>
        </p:blipFill>
        <p:spPr>
          <a:xfrm>
            <a:off x="6355080" y="2511970"/>
            <a:ext cx="5532120" cy="2611300"/>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DoS floods a service to break Availability — defended by capacity, filtering &amp; coordination.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51 / 94</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S25 · CONCEPT 3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Attack family → CIA goal it hits → defence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414155"/>
                <a:gridCol w="3562597"/>
                <a:gridCol w="4453246"/>
              </a:tblGrid>
              <a:tr h="630936">
                <a:tc>
                  <a:txBody>
                    <a:bodyPr wrap="square"/>
                    <a:lstStyle/>
                    <a:p>
                      <a:r>
                        <a:rPr sz="1150" b="1">
                          <a:solidFill>
                            <a:srgbClr val="FFFFFF"/>
                          </a:solidFill>
                        </a:rPr>
                        <a:t>Attack family</a:t>
                      </a:r>
                    </a:p>
                  </a:txBody>
                  <a:tcPr anchor="ctr" marL="73152" marR="54864" marT="27432" marB="27432">
                    <a:solidFill>
                      <a:srgbClr val="0C2B4A"/>
                    </a:solidFill>
                  </a:tcPr>
                </a:tc>
                <a:tc>
                  <a:txBody>
                    <a:bodyPr wrap="square"/>
                    <a:lstStyle/>
                    <a:p>
                      <a:r>
                        <a:rPr sz="1150" b="1">
                          <a:solidFill>
                            <a:srgbClr val="FFFFFF"/>
                          </a:solidFill>
                        </a:rPr>
                        <a:t>CIA goal it mainly hits</a:t>
                      </a:r>
                    </a:p>
                  </a:txBody>
                  <a:tcPr anchor="ctr" marL="73152" marR="54864" marT="27432" marB="27432">
                    <a:solidFill>
                      <a:srgbClr val="0C2B4A"/>
                    </a:solidFill>
                  </a:tcPr>
                </a:tc>
                <a:tc>
                  <a:txBody>
                    <a:bodyPr wrap="square"/>
                    <a:lstStyle/>
                    <a:p>
                      <a:r>
                        <a:rPr sz="1150" b="1">
                          <a:solidFill>
                            <a:srgbClr val="FFFFFF"/>
                          </a:solidFill>
                        </a:rPr>
                        <a:t>Core defence (paired)</a:t>
                      </a:r>
                    </a:p>
                  </a:txBody>
                  <a:tcPr anchor="ctr" marL="73152" marR="54864" marT="27432" marB="27432">
                    <a:solidFill>
                      <a:srgbClr val="0C2B4A"/>
                    </a:solidFill>
                  </a:tcPr>
                </a:tc>
              </a:tr>
              <a:tr h="630936">
                <a:tc>
                  <a:txBody>
                    <a:bodyPr wrap="square"/>
                    <a:lstStyle/>
                    <a:p>
                      <a:r>
                        <a:rPr sz="1100" b="1">
                          <a:solidFill>
                            <a:srgbClr val="0C2B4A"/>
                          </a:solidFill>
                        </a:rPr>
                        <a:t>Malware / ransomware</a:t>
                      </a:r>
                    </a:p>
                  </a:txBody>
                  <a:tcPr anchor="ctr" marL="73152" marR="54864" marT="27432" marB="27432">
                    <a:solidFill>
                      <a:srgbClr val="FFFFFF"/>
                    </a:solidFill>
                  </a:tcPr>
                </a:tc>
                <a:tc>
                  <a:txBody>
                    <a:bodyPr wrap="square"/>
                    <a:lstStyle/>
                    <a:p>
                      <a:r>
                        <a:rPr sz="1100">
                          <a:solidFill>
                            <a:srgbClr val="1A1A1A"/>
                          </a:solidFill>
                        </a:rPr>
                        <a:t>Availability (+ Confidentiality)</a:t>
                      </a:r>
                    </a:p>
                  </a:txBody>
                  <a:tcPr anchor="ctr" marL="73152" marR="54864" marT="27432" marB="27432">
                    <a:solidFill>
                      <a:srgbClr val="FFFFFF"/>
                    </a:solidFill>
                  </a:tcPr>
                </a:tc>
                <a:tc>
                  <a:txBody>
                    <a:bodyPr wrap="square"/>
                    <a:lstStyle/>
                    <a:p>
                      <a:r>
                        <a:rPr sz="1100">
                          <a:solidFill>
                            <a:srgbClr val="1A1A1A"/>
                          </a:solidFill>
                        </a:rPr>
                        <a:t>Patch, EDR, least privilege, tested backups</a:t>
                      </a:r>
                    </a:p>
                  </a:txBody>
                  <a:tcPr anchor="ctr" marL="73152" marR="54864" marT="27432" marB="27432">
                    <a:solidFill>
                      <a:srgbClr val="FFFFFF"/>
                    </a:solidFill>
                  </a:tcPr>
                </a:tc>
              </a:tr>
              <a:tr h="630936">
                <a:tc>
                  <a:txBody>
                    <a:bodyPr wrap="square"/>
                    <a:lstStyle/>
                    <a:p>
                      <a:r>
                        <a:rPr sz="1100" b="1">
                          <a:solidFill>
                            <a:srgbClr val="0C2B4A"/>
                          </a:solidFill>
                        </a:rPr>
                        <a:t>Phishing</a:t>
                      </a:r>
                    </a:p>
                  </a:txBody>
                  <a:tcPr anchor="ctr" marL="73152" marR="54864" marT="27432" marB="27432">
                    <a:solidFill>
                      <a:srgbClr val="EEF3F8"/>
                    </a:solidFill>
                  </a:tcPr>
                </a:tc>
                <a:tc>
                  <a:txBody>
                    <a:bodyPr wrap="square"/>
                    <a:lstStyle/>
                    <a:p>
                      <a:r>
                        <a:rPr sz="1100">
                          <a:solidFill>
                            <a:srgbClr val="1A1A1A"/>
                          </a:solidFill>
                        </a:rPr>
                        <a:t>Confidentiality (stolen creds)</a:t>
                      </a:r>
                    </a:p>
                  </a:txBody>
                  <a:tcPr anchor="ctr" marL="73152" marR="54864" marT="27432" marB="27432">
                    <a:solidFill>
                      <a:srgbClr val="EEF3F8"/>
                    </a:solidFill>
                  </a:tcPr>
                </a:tc>
                <a:tc>
                  <a:txBody>
                    <a:bodyPr wrap="square"/>
                    <a:lstStyle/>
                    <a:p>
                      <a:r>
                        <a:rPr sz="1100">
                          <a:solidFill>
                            <a:srgbClr val="1A1A1A"/>
                          </a:solidFill>
                        </a:rPr>
                        <a:t>Verify out-of-band, MFA, training, report</a:t>
                      </a:r>
                    </a:p>
                  </a:txBody>
                  <a:tcPr anchor="ctr" marL="73152" marR="54864" marT="27432" marB="27432">
                    <a:solidFill>
                      <a:srgbClr val="EEF3F8"/>
                    </a:solidFill>
                  </a:tcPr>
                </a:tc>
              </a:tr>
              <a:tr h="630936">
                <a:tc>
                  <a:txBody>
                    <a:bodyPr wrap="square"/>
                    <a:lstStyle/>
                    <a:p>
                      <a:r>
                        <a:rPr sz="1100" b="1">
                          <a:solidFill>
                            <a:srgbClr val="0C2B4A"/>
                          </a:solidFill>
                        </a:rPr>
                        <a:t>DoS / DDoS</a:t>
                      </a:r>
                    </a:p>
                  </a:txBody>
                  <a:tcPr anchor="ctr" marL="73152" marR="54864" marT="27432" marB="27432">
                    <a:solidFill>
                      <a:srgbClr val="FFFFFF"/>
                    </a:solidFill>
                  </a:tcPr>
                </a:tc>
                <a:tc>
                  <a:txBody>
                    <a:bodyPr wrap="square"/>
                    <a:lstStyle/>
                    <a:p>
                      <a:r>
                        <a:rPr sz="1100">
                          <a:solidFill>
                            <a:srgbClr val="1A1A1A"/>
                          </a:solidFill>
                        </a:rPr>
                        <a:t>Availability</a:t>
                      </a:r>
                    </a:p>
                  </a:txBody>
                  <a:tcPr anchor="ctr" marL="73152" marR="54864" marT="27432" marB="27432">
                    <a:solidFill>
                      <a:srgbClr val="FFFFFF"/>
                    </a:solidFill>
                  </a:tcPr>
                </a:tc>
                <a:tc>
                  <a:txBody>
                    <a:bodyPr wrap="square"/>
                    <a:lstStyle/>
                    <a:p>
                      <a:r>
                        <a:rPr sz="1100">
                          <a:solidFill>
                            <a:srgbClr val="1A1A1A"/>
                          </a:solidFill>
                        </a:rPr>
                        <a:t>Rate-limiting, CDN/scrubbing, capacity, ISP/NPCERT</a:t>
                      </a:r>
                    </a:p>
                  </a:txBody>
                  <a:tcPr anchor="ctr" marL="73152" marR="54864" marT="27432" marB="27432">
                    <a:solidFill>
                      <a:srgbClr val="FFFFFF"/>
                    </a:solidFill>
                  </a:tcPr>
                </a:tc>
              </a:tr>
              <a:tr h="630936">
                <a:tc>
                  <a:txBody>
                    <a:bodyPr wrap="square"/>
                    <a:lstStyle/>
                    <a:p>
                      <a:r>
                        <a:rPr sz="1100" b="1">
                          <a:solidFill>
                            <a:srgbClr val="0C2B4A"/>
                          </a:solidFill>
                        </a:rPr>
                        <a:t>Poisoned / defaced website</a:t>
                      </a:r>
                    </a:p>
                  </a:txBody>
                  <a:tcPr anchor="ctr" marL="73152" marR="54864" marT="27432" marB="27432">
                    <a:solidFill>
                      <a:srgbClr val="EEF3F8"/>
                    </a:solidFill>
                  </a:tcPr>
                </a:tc>
                <a:tc>
                  <a:txBody>
                    <a:bodyPr wrap="square"/>
                    <a:lstStyle/>
                    <a:p>
                      <a:r>
                        <a:rPr sz="1100">
                          <a:solidFill>
                            <a:srgbClr val="1A1A1A"/>
                          </a:solidFill>
                        </a:rPr>
                        <a:t>Integrity (+ Availability)</a:t>
                      </a:r>
                    </a:p>
                  </a:txBody>
                  <a:tcPr anchor="ctr" marL="73152" marR="54864" marT="27432" marB="27432">
                    <a:solidFill>
                      <a:srgbClr val="EEF3F8"/>
                    </a:solidFill>
                  </a:tcPr>
                </a:tc>
                <a:tc>
                  <a:txBody>
                    <a:bodyPr wrap="square"/>
                    <a:lstStyle/>
                    <a:p>
                      <a:r>
                        <a:rPr sz="1100">
                          <a:solidFill>
                            <a:srgbClr val="1A1A1A"/>
                          </a:solidFill>
                        </a:rPr>
                        <a:t>Patching, input validation, WAF, monitoring</a:t>
                      </a:r>
                    </a:p>
                  </a:txBody>
                  <a:tcPr anchor="ctr" marL="73152" marR="54864" marT="27432" marB="27432">
                    <a:solidFill>
                      <a:srgbClr val="EEF3F8"/>
                    </a:solidFill>
                  </a:tcPr>
                </a:tc>
              </a:tr>
              <a:tr h="630936">
                <a:tc>
                  <a:txBody>
                    <a:bodyPr wrap="square"/>
                    <a:lstStyle/>
                    <a:p>
                      <a:r>
                        <a:rPr sz="1100" b="1">
                          <a:solidFill>
                            <a:srgbClr val="0C2B4A"/>
                          </a:solidFill>
                        </a:rPr>
                        <a:t>Data theft / spyware</a:t>
                      </a:r>
                    </a:p>
                  </a:txBody>
                  <a:tcPr anchor="ctr" marL="73152" marR="54864" marT="27432" marB="27432">
                    <a:solidFill>
                      <a:srgbClr val="FFFFFF"/>
                    </a:solidFill>
                  </a:tcPr>
                </a:tc>
                <a:tc>
                  <a:txBody>
                    <a:bodyPr wrap="square"/>
                    <a:lstStyle/>
                    <a:p>
                      <a:r>
                        <a:rPr sz="1100">
                          <a:solidFill>
                            <a:srgbClr val="1A1A1A"/>
                          </a:solidFill>
                        </a:rPr>
                        <a:t>Confidentiality</a:t>
                      </a:r>
                    </a:p>
                  </a:txBody>
                  <a:tcPr anchor="ctr" marL="73152" marR="54864" marT="27432" marB="27432">
                    <a:solidFill>
                      <a:srgbClr val="FFFFFF"/>
                    </a:solidFill>
                  </a:tcPr>
                </a:tc>
                <a:tc>
                  <a:txBody>
                    <a:bodyPr wrap="square"/>
                    <a:lstStyle/>
                    <a:p>
                      <a:r>
                        <a:rPr sz="1100">
                          <a:solidFill>
                            <a:srgbClr val="1A1A1A"/>
                          </a:solidFill>
                        </a:rPr>
                        <a:t>Encryption, access control, anti-malware</a:t>
                      </a:r>
                    </a:p>
                  </a:txBody>
                  <a:tcPr anchor="ctr" marL="73152" marR="54864" marT="27432" marB="27432">
                    <a:solidFill>
                      <a:srgbClr val="FFFFFF"/>
                    </a:solidFill>
                  </a:tcPr>
                </a:tc>
              </a:tr>
              <a:tr h="630936">
                <a:tc>
                  <a:txBody>
                    <a:bodyPr wrap="square"/>
                    <a:lstStyle/>
                    <a:p>
                      <a:r>
                        <a:rPr sz="1100" b="1">
                          <a:solidFill>
                            <a:srgbClr val="0C2B4A"/>
                          </a:solidFill>
                        </a:rPr>
                        <a:t>Tampering with records</a:t>
                      </a:r>
                    </a:p>
                  </a:txBody>
                  <a:tcPr anchor="ctr" marL="73152" marR="54864" marT="27432" marB="27432">
                    <a:solidFill>
                      <a:srgbClr val="EEF3F8"/>
                    </a:solidFill>
                  </a:tcPr>
                </a:tc>
                <a:tc>
                  <a:txBody>
                    <a:bodyPr wrap="square"/>
                    <a:lstStyle/>
                    <a:p>
                      <a:r>
                        <a:rPr sz="1100">
                          <a:solidFill>
                            <a:srgbClr val="1A1A1A"/>
                          </a:solidFill>
                        </a:rPr>
                        <a:t>Integrity</a:t>
                      </a:r>
                    </a:p>
                  </a:txBody>
                  <a:tcPr anchor="ctr" marL="73152" marR="54864" marT="27432" marB="27432">
                    <a:solidFill>
                      <a:srgbClr val="EEF3F8"/>
                    </a:solidFill>
                  </a:tcPr>
                </a:tc>
                <a:tc>
                  <a:txBody>
                    <a:bodyPr wrap="square"/>
                    <a:lstStyle/>
                    <a:p>
                      <a:r>
                        <a:rPr sz="1100">
                          <a:solidFill>
                            <a:srgbClr val="1A1A1A"/>
                          </a:solidFill>
                        </a:rPr>
                        <a:t>Hashing, audit logs, backups, access control</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This is the map for the whole unit: name the CIA goal an attack hits, then reach for the paired defence. Every attack here is studied to defend against it.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52 / 94</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S25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Denial-of-Service (DoS / DDoS)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Nepali bank and government portals have been knocked offline during hacktivist campaigns — a textbook attack on Availability, where nothing is stolen or altered but nobody can use the service. Because a DDoS comes from many sources at once, the defences are capacity and filtering (rate-limiting, a CDN or scrubbing service) plus coordinating with the ISP and NPCERT — no single organisation absorbs a large flood alone.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DoS attack steals my data." Usually it steals nothing — it attacks Availability by making the service unreachable. That's still serious (a bank offline during a festival is a real harm), but the defence is about capacity and filtering, not about protecting secrets.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Denial-of-Service attack overwhelms a service with traffic so legitimate users can't reach it, attacking Availability; a DDoS distributes the flood across many machines (a botnet) at once. Studied conceptually, its defences are rate-limiting, CDNs/traffic-scrubbing, spare capacity, and ISP/NPCERT coordination — because a large distributed flood cannot be blocked from one point.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DoS / DDoS · attacks Availability · distributed botnet flood · rate-limiting/CDN/scrubbing/capacity · ISP + NPCERT</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53 / 94</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S25 · CONCEPT 4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Poisoned Web-Service &amp; Web-Based Attacks — Recognition &amp; Defence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poisoned web-service attack turns a trusted website or service into a delivery vehicle — drive-by downloads, malvertising, defacement, or injected malicious content. The unsettling point: a familiar, HTTPS site can be compromised. Defences split between users (updates, script/ad hygiene) and site owners (input validation, patching, a WAF).</a:t>
            </a:r>
          </a:p>
          <a:p>
            <a:pPr>
              <a:spcAft>
                <a:spcPts val="500"/>
              </a:spcAft>
            </a:pPr>
            <a:r>
              <a:rPr sz="1200" b="1">
                <a:solidFill>
                  <a:srgbClr val="185FA5"/>
                </a:solidFill>
              </a:rPr>
              <a:t>HOW IT WORKS</a:t>
            </a:r>
          </a:p>
          <a:p>
            <a:pPr>
              <a:spcAft>
                <a:spcPts val="600"/>
              </a:spcAft>
            </a:pPr>
            <a:r>
              <a:rPr sz="1400">
                <a:solidFill>
                  <a:srgbClr val="1A1A1A"/>
                </a:solidFill>
              </a:rPr>
              <a:t>•  The site you trust can be turned against you if it's compromised or serving bad ads.</a:t>
            </a:r>
          </a:p>
          <a:p>
            <a:pPr>
              <a:spcAft>
                <a:spcPts val="600"/>
              </a:spcAft>
            </a:pPr>
            <a:r>
              <a:rPr sz="1400">
                <a:solidFill>
                  <a:srgbClr val="1A1A1A"/>
                </a:solidFill>
              </a:rPr>
              <a:t>•  Signs: unexpected downloads/pop-ups, altered content (defacement), browser warnings.</a:t>
            </a:r>
          </a:p>
          <a:p>
            <a:pPr>
              <a:spcAft>
                <a:spcPts val="600"/>
              </a:spcAft>
            </a:pPr>
            <a:r>
              <a:rPr sz="1400">
                <a:solidFill>
                  <a:srgbClr val="1A1A1A"/>
                </a:solidFill>
              </a:rPr>
              <a:t>•  User defences: keep browser/OS updated, ad/script hygiene, don't ignore warnings.</a:t>
            </a:r>
          </a:p>
          <a:p>
            <a:pPr>
              <a:spcAft>
                <a:spcPts val="600"/>
              </a:spcAft>
            </a:pPr>
            <a:r>
              <a:rPr sz="1400">
                <a:solidFill>
                  <a:srgbClr val="1A1A1A"/>
                </a:solidFill>
              </a:rPr>
              <a:t>•  Site-owner defences (conceptual): input validation, patching, a Web Application Firewall (WAF).</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poisoned trusted site is a tampered sample in a shop you trusted — the padlock ≠ safe.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54 / 94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S25 · CONCEPT 4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Web-based attack sign → what it is → defence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007922"/>
                <a:gridCol w="3414155"/>
                <a:gridCol w="4007922"/>
              </a:tblGrid>
              <a:tr h="630936">
                <a:tc>
                  <a:txBody>
                    <a:bodyPr wrap="square"/>
                    <a:lstStyle/>
                    <a:p>
                      <a:r>
                        <a:rPr sz="1150" b="1">
                          <a:solidFill>
                            <a:srgbClr val="FFFFFF"/>
                          </a:solidFill>
                        </a:rPr>
                        <a:t>Sign / situation (Nepal)</a:t>
                      </a:r>
                    </a:p>
                  </a:txBody>
                  <a:tcPr anchor="ctr" marL="73152" marR="54864" marT="27432" marB="27432">
                    <a:solidFill>
                      <a:srgbClr val="0C2B4A"/>
                    </a:solidFill>
                  </a:tcPr>
                </a:tc>
                <a:tc>
                  <a:txBody>
                    <a:bodyPr wrap="square"/>
                    <a:lstStyle/>
                    <a:p>
                      <a:r>
                        <a:rPr sz="1150" b="1">
                          <a:solidFill>
                            <a:srgbClr val="FFFFFF"/>
                          </a:solidFill>
                        </a:rPr>
                        <a:t>What it likely is</a:t>
                      </a:r>
                    </a:p>
                  </a:txBody>
                  <a:tcPr anchor="ctr" marL="73152" marR="54864" marT="27432" marB="27432">
                    <a:solidFill>
                      <a:srgbClr val="0C2B4A"/>
                    </a:solidFill>
                  </a:tcPr>
                </a:tc>
                <a:tc>
                  <a:txBody>
                    <a:bodyPr wrap="square"/>
                    <a:lstStyle/>
                    <a:p>
                      <a:r>
                        <a:rPr sz="1150" b="1">
                          <a:solidFill>
                            <a:srgbClr val="FFFFFF"/>
                          </a:solidFill>
                        </a:rPr>
                        <a:t>Defence (paired)</a:t>
                      </a:r>
                    </a:p>
                  </a:txBody>
                  <a:tcPr anchor="ctr" marL="73152" marR="54864" marT="27432" marB="27432">
                    <a:solidFill>
                      <a:srgbClr val="0C2B4A"/>
                    </a:solidFill>
                  </a:tcPr>
                </a:tc>
              </a:tr>
              <a:tr h="630936">
                <a:tc>
                  <a:txBody>
                    <a:bodyPr wrap="square"/>
                    <a:lstStyle/>
                    <a:p>
                      <a:r>
                        <a:rPr sz="1100" b="1">
                          <a:solidFill>
                            <a:srgbClr val="0C2B4A"/>
                          </a:solidFill>
                        </a:rPr>
                        <a:t>Govt website shows an attacker's message</a:t>
                      </a:r>
                    </a:p>
                  </a:txBody>
                  <a:tcPr anchor="ctr" marL="73152" marR="54864" marT="27432" marB="27432">
                    <a:solidFill>
                      <a:srgbClr val="FFFFFF"/>
                    </a:solidFill>
                  </a:tcPr>
                </a:tc>
                <a:tc>
                  <a:txBody>
                    <a:bodyPr wrap="square"/>
                    <a:lstStyle/>
                    <a:p>
                      <a:r>
                        <a:rPr sz="1100">
                          <a:solidFill>
                            <a:srgbClr val="1A1A1A"/>
                          </a:solidFill>
                        </a:rPr>
                        <a:t>Defacement (Integrity hit)</a:t>
                      </a:r>
                    </a:p>
                  </a:txBody>
                  <a:tcPr anchor="ctr" marL="73152" marR="54864" marT="27432" marB="27432">
                    <a:solidFill>
                      <a:srgbClr val="FFFFFF"/>
                    </a:solidFill>
                  </a:tcPr>
                </a:tc>
                <a:tc>
                  <a:txBody>
                    <a:bodyPr wrap="square"/>
                    <a:lstStyle/>
                    <a:p>
                      <a:r>
                        <a:rPr sz="1100">
                          <a:solidFill>
                            <a:srgbClr val="1A1A1A"/>
                          </a:solidFill>
                        </a:rPr>
                        <a:t>Patching, input validation, WAF, monitoring</a:t>
                      </a:r>
                    </a:p>
                  </a:txBody>
                  <a:tcPr anchor="ctr" marL="73152" marR="54864" marT="27432" marB="27432">
                    <a:solidFill>
                      <a:srgbClr val="FFFFFF"/>
                    </a:solidFill>
                  </a:tcPr>
                </a:tc>
              </a:tr>
              <a:tr h="630936">
                <a:tc>
                  <a:txBody>
                    <a:bodyPr wrap="square"/>
                    <a:lstStyle/>
                    <a:p>
                      <a:r>
                        <a:rPr sz="1100" b="1">
                          <a:solidFill>
                            <a:srgbClr val="0C2B4A"/>
                          </a:solidFill>
                        </a:rPr>
                        <a:t>A trusted site suddenly pushes a download</a:t>
                      </a:r>
                    </a:p>
                  </a:txBody>
                  <a:tcPr anchor="ctr" marL="73152" marR="54864" marT="27432" marB="27432">
                    <a:solidFill>
                      <a:srgbClr val="EEF3F8"/>
                    </a:solidFill>
                  </a:tcPr>
                </a:tc>
                <a:tc>
                  <a:txBody>
                    <a:bodyPr wrap="square"/>
                    <a:lstStyle/>
                    <a:p>
                      <a:r>
                        <a:rPr sz="1100">
                          <a:solidFill>
                            <a:srgbClr val="1A1A1A"/>
                          </a:solidFill>
                        </a:rPr>
                        <a:t>Drive-by / compromised site</a:t>
                      </a:r>
                    </a:p>
                  </a:txBody>
                  <a:tcPr anchor="ctr" marL="73152" marR="54864" marT="27432" marB="27432">
                    <a:solidFill>
                      <a:srgbClr val="EEF3F8"/>
                    </a:solidFill>
                  </a:tcPr>
                </a:tc>
                <a:tc>
                  <a:txBody>
                    <a:bodyPr wrap="square"/>
                    <a:lstStyle/>
                    <a:p>
                      <a:r>
                        <a:rPr sz="1100">
                          <a:solidFill>
                            <a:srgbClr val="1A1A1A"/>
                          </a:solidFill>
                        </a:rPr>
                        <a:t>Keep browser/OS updated; don't run it</a:t>
                      </a:r>
                    </a:p>
                  </a:txBody>
                  <a:tcPr anchor="ctr" marL="73152" marR="54864" marT="27432" marB="27432">
                    <a:solidFill>
                      <a:srgbClr val="EEF3F8"/>
                    </a:solidFill>
                  </a:tcPr>
                </a:tc>
              </a:tr>
              <a:tr h="630936">
                <a:tc>
                  <a:txBody>
                    <a:bodyPr wrap="square"/>
                    <a:lstStyle/>
                    <a:p>
                      <a:r>
                        <a:rPr sz="1100" b="1">
                          <a:solidFill>
                            <a:srgbClr val="0C2B4A"/>
                          </a:solidFill>
                        </a:rPr>
                        <a:t>Ads on a normal site trigger scary pop-ups</a:t>
                      </a:r>
                    </a:p>
                  </a:txBody>
                  <a:tcPr anchor="ctr" marL="73152" marR="54864" marT="27432" marB="27432">
                    <a:solidFill>
                      <a:srgbClr val="FFFFFF"/>
                    </a:solidFill>
                  </a:tcPr>
                </a:tc>
                <a:tc>
                  <a:txBody>
                    <a:bodyPr wrap="square"/>
                    <a:lstStyle/>
                    <a:p>
                      <a:r>
                        <a:rPr sz="1100">
                          <a:solidFill>
                            <a:srgbClr val="1A1A1A"/>
                          </a:solidFill>
                        </a:rPr>
                        <a:t>Malvertising</a:t>
                      </a:r>
                    </a:p>
                  </a:txBody>
                  <a:tcPr anchor="ctr" marL="73152" marR="54864" marT="27432" marB="27432">
                    <a:solidFill>
                      <a:srgbClr val="FFFFFF"/>
                    </a:solidFill>
                  </a:tcPr>
                </a:tc>
                <a:tc>
                  <a:txBody>
                    <a:bodyPr wrap="square"/>
                    <a:lstStyle/>
                    <a:p>
                      <a:r>
                        <a:rPr sz="1100">
                          <a:solidFill>
                            <a:srgbClr val="1A1A1A"/>
                          </a:solidFill>
                        </a:rPr>
                        <a:t>Ad/script hygiene; ad-blocker; ignore the pop-up</a:t>
                      </a:r>
                    </a:p>
                  </a:txBody>
                  <a:tcPr anchor="ctr" marL="73152" marR="54864" marT="27432" marB="27432">
                    <a:solidFill>
                      <a:srgbClr val="FFFFFF"/>
                    </a:solidFill>
                  </a:tcPr>
                </a:tc>
              </a:tr>
              <a:tr h="630936">
                <a:tc>
                  <a:txBody>
                    <a:bodyPr wrap="square"/>
                    <a:lstStyle/>
                    <a:p>
                      <a:r>
                        <a:rPr sz="1100" b="1">
                          <a:solidFill>
                            <a:srgbClr val="0C2B4A"/>
                          </a:solidFill>
                        </a:rPr>
                        <a:t>A cloned bank login on a look-alike URL</a:t>
                      </a:r>
                    </a:p>
                  </a:txBody>
                  <a:tcPr anchor="ctr" marL="73152" marR="54864" marT="27432" marB="27432">
                    <a:solidFill>
                      <a:srgbClr val="EEF3F8"/>
                    </a:solidFill>
                  </a:tcPr>
                </a:tc>
                <a:tc>
                  <a:txBody>
                    <a:bodyPr wrap="square"/>
                    <a:lstStyle/>
                    <a:p>
                      <a:r>
                        <a:rPr sz="1100">
                          <a:solidFill>
                            <a:srgbClr val="1A1A1A"/>
                          </a:solidFill>
                        </a:rPr>
                        <a:t>Fake login (credential theft)</a:t>
                      </a:r>
                    </a:p>
                  </a:txBody>
                  <a:tcPr anchor="ctr" marL="73152" marR="54864" marT="27432" marB="27432">
                    <a:solidFill>
                      <a:srgbClr val="EEF3F8"/>
                    </a:solidFill>
                  </a:tcPr>
                </a:tc>
                <a:tc>
                  <a:txBody>
                    <a:bodyPr wrap="square"/>
                    <a:lstStyle/>
                    <a:p>
                      <a:r>
                        <a:rPr sz="1100">
                          <a:solidFill>
                            <a:srgbClr val="1A1A1A"/>
                          </a:solidFill>
                        </a:rPr>
                        <a:t>Check the domain + certificate; type the address</a:t>
                      </a:r>
                    </a:p>
                  </a:txBody>
                  <a:tcPr anchor="ctr" marL="73152" marR="54864" marT="27432" marB="27432">
                    <a:solidFill>
                      <a:srgbClr val="EEF3F8"/>
                    </a:solidFill>
                  </a:tcPr>
                </a:tc>
              </a:tr>
              <a:tr h="630936">
                <a:tc>
                  <a:txBody>
                    <a:bodyPr wrap="square"/>
                    <a:lstStyle/>
                    <a:p>
                      <a:r>
                        <a:rPr sz="1100" b="1">
                          <a:solidFill>
                            <a:srgbClr val="0C2B4A"/>
                          </a:solidFill>
                        </a:rPr>
                        <a:t>Padlock shown but the site feels wrong</a:t>
                      </a:r>
                    </a:p>
                  </a:txBody>
                  <a:tcPr anchor="ctr" marL="73152" marR="54864" marT="27432" marB="27432">
                    <a:solidFill>
                      <a:srgbClr val="FFFFFF"/>
                    </a:solidFill>
                  </a:tcPr>
                </a:tc>
                <a:tc>
                  <a:txBody>
                    <a:bodyPr wrap="square"/>
                    <a:lstStyle/>
                    <a:p>
                      <a:r>
                        <a:rPr sz="1100">
                          <a:solidFill>
                            <a:srgbClr val="1A1A1A"/>
                          </a:solidFill>
                        </a:rPr>
                        <a:t>HTTPS ≠ trustworthy</a:t>
                      </a:r>
                    </a:p>
                  </a:txBody>
                  <a:tcPr anchor="ctr" marL="73152" marR="54864" marT="27432" marB="27432">
                    <a:solidFill>
                      <a:srgbClr val="FFFFFF"/>
                    </a:solidFill>
                  </a:tcPr>
                </a:tc>
                <a:tc>
                  <a:txBody>
                    <a:bodyPr wrap="square"/>
                    <a:lstStyle/>
                    <a:p>
                      <a:r>
                        <a:rPr sz="1100">
                          <a:solidFill>
                            <a:srgbClr val="1A1A1A"/>
                          </a:solidFill>
                        </a:rPr>
                        <a:t>Padlock = encrypted only; verify identity too</a:t>
                      </a:r>
                    </a:p>
                  </a:txBody>
                  <a:tcPr anchor="ctr" marL="73152" marR="54864" marT="27432" marB="27432">
                    <a:solidFill>
                      <a:srgbClr val="FFFFFF"/>
                    </a:solidFill>
                  </a:tcPr>
                </a:tc>
              </a:tr>
              <a:tr h="630936">
                <a:tc>
                  <a:txBody>
                    <a:bodyPr wrap="square"/>
                    <a:lstStyle/>
                    <a:p>
                      <a:r>
                        <a:rPr sz="1100" b="1">
                          <a:solidFill>
                            <a:srgbClr val="0C2B4A"/>
                          </a:solidFill>
                        </a:rPr>
                        <a:t>Form input causes odd server behaviour</a:t>
                      </a:r>
                    </a:p>
                  </a:txBody>
                  <a:tcPr anchor="ctr" marL="73152" marR="54864" marT="27432" marB="27432">
                    <a:solidFill>
                      <a:srgbClr val="EEF3F8"/>
                    </a:solidFill>
                  </a:tcPr>
                </a:tc>
                <a:tc>
                  <a:txBody>
                    <a:bodyPr wrap="square"/>
                    <a:lstStyle/>
                    <a:p>
                      <a:r>
                        <a:rPr sz="1100">
                          <a:solidFill>
                            <a:srgbClr val="1A1A1A"/>
                          </a:solidFill>
                        </a:rPr>
                        <a:t>Possible injection</a:t>
                      </a:r>
                    </a:p>
                  </a:txBody>
                  <a:tcPr anchor="ctr" marL="73152" marR="54864" marT="27432" marB="27432">
                    <a:solidFill>
                      <a:srgbClr val="EEF3F8"/>
                    </a:solidFill>
                  </a:tcPr>
                </a:tc>
                <a:tc>
                  <a:txBody>
                    <a:bodyPr wrap="square"/>
                    <a:lstStyle/>
                    <a:p>
                      <a:r>
                        <a:rPr sz="1100">
                          <a:solidFill>
                            <a:srgbClr val="1A1A1A"/>
                          </a:solidFill>
                        </a:rPr>
                        <a:t>Site owner: validate/sanitise input; patch</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padlock means the connection is ENCRYPTED, not that the site is TRUSTWORTHY — a poisoned or cloned site can have HTTPS. Trusted sites can be compromised; keep software patched and heed warnings.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55 / 94</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S25 · CONCEPT 4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Poisoned Web-Service &amp; Web-Based Attacks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Nepali government websites have been defaced (an Integrity attack — the page is altered), and cloned banking login pages are hosted on poisoned or look-alike sites to harvest credentials. Users defend by keeping browsers/OS patched, practising ad/script hygiene, and heeding warnings; site owners defend (conceptually) with input validation, patching, and a WAF.</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familiar or HTTPS site is always safe." Trusted sites can be compromised, and the padlock only means the connection is encrypted — not that the site is genuine or clean. A cloned phishing site can show a padlock too. Verify the domain and certificate; don't treat HTTPS as a safety guarantee.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Poisoned web-service attacks turn trusted websites/services into delivery vehicles — drive-by downloads, malvertising, defacement, or injected content — so even a familiar HTTPS site can be compromised. User defences are updates, ad/script hygiene, and heeding warnings; site-owner defences (conceptual) are input validation, patching, and a WAF. The padlock means encrypted, not trustworthy.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poisoned web service · drive-by/malvertising/defacement · HTTPS ≠ safe (encrypted ≠ trusted) · patch + WAF + validation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56 / 94</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S25 — 'Share a real scam message'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share a real scam SMS/email you or your family received.</a:t>
            </a:r>
          </a:p>
          <a:p>
            <a:pPr>
              <a:spcAft>
                <a:spcPts val="700"/>
              </a:spcAft>
            </a:pPr>
            <a:r>
              <a:rPr sz="1550">
                <a:solidFill>
                  <a:srgbClr val="1A1A1A"/>
                </a:solidFill>
              </a:rPr>
              <a:t>•  Identify the lure (what it wanted) and the red flags that give it away.</a:t>
            </a:r>
          </a:p>
          <a:p>
            <a:pPr>
              <a:spcAft>
                <a:spcPts val="700"/>
              </a:spcAft>
            </a:pPr>
            <a:r>
              <a:rPr sz="1550">
                <a:solidFill>
                  <a:srgbClr val="1A1A1A"/>
                </a:solidFill>
              </a:rPr>
              <a:t>•  Take 3–4 examples aloud (3 min); for each, state what the person should have done.</a:t>
            </a:r>
          </a:p>
          <a:p>
            <a:pPr>
              <a:spcAft>
                <a:spcPts val="700"/>
              </a:spcAft>
            </a:pPr>
            <a:r>
              <a:rPr sz="1550">
                <a:solidFill>
                  <a:srgbClr val="1A1A1A"/>
                </a:solidFill>
              </a:rPr>
              <a:t>•  Close: almost every example uses urgency + a link or an OTP request — the same two tells.</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Expect fake eSewa/Khalti rewards, bank-KYC OTP requests, fake fines, look-alike URLs. Reward pairs who name the red flag AND the correct action (verify out-of-band, never share OTP, report). Keep it defensive.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57 / 94</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S25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A message creating urgency to make you click a fake link is:</a:t>
            </a:r>
          </a:p>
          <a:p>
            <a:pPr lvl="1"/>
            <a:r>
              <a:rPr sz="1500" b="1">
                <a:solidFill>
                  <a:srgbClr val="0F6E56"/>
                </a:solidFill>
              </a:rPr>
              <a:t>a) malware   b) ✅ phishing   c) DoS   d) a firewall</a:t>
            </a:r>
          </a:p>
          <a:p>
            <a:pPr lvl="1">
              <a:spcBef>
                <a:spcPts val="600"/>
              </a:spcBef>
            </a:pPr>
            <a:r>
              <a:rPr sz="1500" i="1">
                <a:solidFill>
                  <a:srgbClr val="1A1A1A"/>
                </a:solidFill>
              </a:rPr>
              <a:t>     Why: phishing manipulates a person with urgency and a fake link to hand over credentials or money.</a:t>
            </a:r>
          </a:p>
          <a:p>
            <a:pPr>
              <a:spcBef>
                <a:spcPts val="900"/>
              </a:spcBef>
            </a:pPr>
            <a:r>
              <a:rPr sz="1700" b="1">
                <a:solidFill>
                  <a:srgbClr val="0C2B4A"/>
                </a:solidFill>
              </a:rPr>
              <a:t>Q2.  A DoS attack primarily targets which CIA goal?</a:t>
            </a:r>
          </a:p>
          <a:p>
            <a:pPr lvl="1"/>
            <a:r>
              <a:rPr sz="1500" b="1">
                <a:solidFill>
                  <a:srgbClr val="0F6E56"/>
                </a:solidFill>
              </a:rPr>
              <a:t>a) Confidentiality   b) Integrity   c) ✅ Availability   d) authentication</a:t>
            </a:r>
          </a:p>
          <a:p>
            <a:pPr lvl="1">
              <a:spcBef>
                <a:spcPts val="600"/>
              </a:spcBef>
            </a:pPr>
            <a:r>
              <a:rPr sz="1500" i="1">
                <a:solidFill>
                  <a:srgbClr val="1A1A1A"/>
                </a:solidFill>
              </a:rPr>
              <a:t>     Why: DoS floods a service so real users can't reach it — that is an Availability attack.</a:t>
            </a:r>
          </a:p>
          <a:p>
            <a:pPr lvl="1">
              <a:spcBef>
                <a:spcPts val="600"/>
              </a:spcBef>
            </a:pPr>
            <a:r>
              <a:rPr sz="1500" i="1">
                <a:solidFill>
                  <a:srgbClr val="1A1A1A"/>
                </a:solidFill>
              </a:rPr>
              <a:t>Discussion: share a real scam SMS/email — what was the lure, and what should the person have done?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58 / 94</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S25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Malware (virus/worm/trojan/ransomware/spyware) is beaten by layered defence: updates + antivirus/EDR + least privilege + backups.</a:t>
            </a:r>
          </a:p>
          <a:p>
            <a:pPr>
              <a:spcAft>
                <a:spcPts val="800"/>
              </a:spcAft>
            </a:pPr>
            <a:r>
              <a:rPr sz="1500">
                <a:solidFill>
                  <a:srgbClr val="1A1A1A"/>
                </a:solidFill>
              </a:rPr>
              <a:t>2.  Phishing targets PEOPLE with urgency and fake links — verify out-of-band, never share OTP, use MFA, and report.</a:t>
            </a:r>
          </a:p>
          <a:p>
            <a:pPr>
              <a:spcAft>
                <a:spcPts val="800"/>
              </a:spcAft>
            </a:pPr>
            <a:r>
              <a:rPr sz="1500">
                <a:solidFill>
                  <a:srgbClr val="1A1A1A"/>
                </a:solidFill>
              </a:rPr>
              <a:t>3.  DoS attacks Availability (capacity/filtering/ISP+NPCERT); poisoned/HTTPS sites can be compromised — the padlock ≠ safe.</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These four attack families cause the majority of real incidents in Nepal — recognising them is your single highest-value skill in this unit. If you can name the trick and the defence for a scam SMS, you can protect yourself, your family, and your future employer.</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S26 — attacks that poison the NETWORK beneath all this: ARP, DNS, and man-in-the-middle.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59 / 94</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26 · LECTURE HOUR 5 (OF 6)</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Network Infrastructure Poisoning · MITM (defensive view)</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You type esewa.com.np and hit your real login... or do you? What if the 'signpost' that points your browser to the right address was quietly swapped — on public café Wi-Fi?</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60 / 94</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S26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Man-in-the-Middle (MITM) — the Idea</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In a man-in-the-middle attack, an attacker secretly sits between two parties and can READ or ALTER what passes. Because it can both eavesdrop and tamper, MITM breaks Confidentiality AND Integrity. The classic setting is an untrusted/public Wi-Fi network. The universal defence is encryption: HTTPS/TLS and a VPN.</a:t>
            </a:r>
          </a:p>
          <a:p>
            <a:pPr>
              <a:spcAft>
                <a:spcPts val="500"/>
              </a:spcAft>
            </a:pPr>
            <a:r>
              <a:rPr sz="1200" b="1">
                <a:solidFill>
                  <a:srgbClr val="185FA5"/>
                </a:solidFill>
              </a:rPr>
              <a:t>HOW IT WORKS</a:t>
            </a:r>
          </a:p>
          <a:p>
            <a:pPr>
              <a:spcAft>
                <a:spcPts val="600"/>
              </a:spcAft>
            </a:pPr>
            <a:r>
              <a:rPr sz="1400">
                <a:solidFill>
                  <a:srgbClr val="1A1A1A"/>
                </a:solidFill>
              </a:rPr>
              <a:t>•  The attacker relays traffic so both sides think they're talking directly — but everything passes through.</a:t>
            </a:r>
          </a:p>
          <a:p>
            <a:pPr>
              <a:spcAft>
                <a:spcPts val="600"/>
              </a:spcAft>
            </a:pPr>
            <a:r>
              <a:rPr sz="1400">
                <a:solidFill>
                  <a:srgbClr val="1A1A1A"/>
                </a:solidFill>
              </a:rPr>
              <a:t>•  It breaks Confidentiality (reads) and Integrity (can alter) at once.</a:t>
            </a:r>
          </a:p>
          <a:p>
            <a:pPr>
              <a:spcAft>
                <a:spcPts val="600"/>
              </a:spcAft>
            </a:pPr>
            <a:r>
              <a:rPr sz="1400">
                <a:solidFill>
                  <a:srgbClr val="1A1A1A"/>
                </a:solidFill>
              </a:rPr>
              <a:t>•  Common on untrusted/public Wi-Fi where anyone nearby may be positioned in the middle.</a:t>
            </a:r>
          </a:p>
          <a:p>
            <a:pPr>
              <a:spcAft>
                <a:spcPts val="600"/>
              </a:spcAft>
            </a:pPr>
            <a:r>
              <a:rPr sz="1400">
                <a:solidFill>
                  <a:srgbClr val="1A1A1A"/>
                </a:solidFill>
              </a:rPr>
              <a:t>•  Defences: HTTPS/TLS everywhere, a VPN on untrusted networks, and take certificate warnings seriously.</a:t>
            </a:r>
          </a:p>
        </p:txBody>
      </p:sp>
      <p:pic>
        <p:nvPicPr>
          <p:cNvPr id="6" name="Picture 5" descr="s26_mitm.png"/>
          <p:cNvPicPr>
            <a:picLocks noChangeAspect="1"/>
          </p:cNvPicPr>
          <p:nvPr/>
        </p:nvPicPr>
        <p:blipFill>
          <a:blip r:embed="rId2"/>
          <a:stretch>
            <a:fillRect/>
          </a:stretch>
        </p:blipFill>
        <p:spPr>
          <a:xfrm>
            <a:off x="6355080" y="2550319"/>
            <a:ext cx="5532120" cy="2534600"/>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MITM = a secret relay between you and the server — encryption makes the relay useless.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61 / 94</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S26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Network-poisoning attacks — what each targets &amp; its defence</a:t>
            </a:r>
          </a:p>
        </p:txBody>
      </p:sp>
      <p:graphicFrame>
        <p:nvGraphicFramePr>
          <p:cNvPr id="5" name="Table 4"/>
          <p:cNvGraphicFramePr>
            <a:graphicFrameLocks noGrp="1"/>
          </p:cNvGraphicFramePr>
          <p:nvPr/>
        </p:nvGraphicFramePr>
        <p:xfrm>
          <a:off x="384048" y="1572768"/>
          <a:ext cx="11429997" cy="4416552"/>
        </p:xfrm>
        <a:graphic>
          <a:graphicData uri="http://schemas.openxmlformats.org/drawingml/2006/table">
            <a:tbl>
              <a:tblPr>
                <a:tableStyleId>{5C22544A-7EE6-4342-B048-85BDC9FD1C3A}</a:tableStyleId>
              </a:tblPr>
              <a:tblGrid>
                <a:gridCol w="2102068"/>
                <a:gridCol w="2890344"/>
                <a:gridCol w="3153103"/>
                <a:gridCol w="3284482"/>
              </a:tblGrid>
              <a:tr h="883310">
                <a:tc>
                  <a:txBody>
                    <a:bodyPr wrap="square"/>
                    <a:lstStyle/>
                    <a:p>
                      <a:r>
                        <a:rPr sz="1100" b="1">
                          <a:solidFill>
                            <a:srgbClr val="FFFFFF"/>
                          </a:solidFill>
                        </a:rPr>
                        <a:t>Attack</a:t>
                      </a:r>
                    </a:p>
                  </a:txBody>
                  <a:tcPr anchor="ctr" marL="73152" marR="54864" marT="27432" marB="27432">
                    <a:solidFill>
                      <a:srgbClr val="0C2B4A"/>
                    </a:solidFill>
                  </a:tcPr>
                </a:tc>
                <a:tc>
                  <a:txBody>
                    <a:bodyPr wrap="square"/>
                    <a:lstStyle/>
                    <a:p>
                      <a:r>
                        <a:rPr sz="1100" b="1">
                          <a:solidFill>
                            <a:srgbClr val="FFFFFF"/>
                          </a:solidFill>
                        </a:rPr>
                        <a:t>What it targets</a:t>
                      </a:r>
                    </a:p>
                  </a:txBody>
                  <a:tcPr anchor="ctr" marL="73152" marR="54864" marT="27432" marB="27432">
                    <a:solidFill>
                      <a:srgbClr val="0C2B4A"/>
                    </a:solidFill>
                  </a:tcPr>
                </a:tc>
                <a:tc>
                  <a:txBody>
                    <a:bodyPr wrap="square"/>
                    <a:lstStyle/>
                    <a:p>
                      <a:r>
                        <a:rPr sz="1100" b="1">
                          <a:solidFill>
                            <a:srgbClr val="FFFFFF"/>
                          </a:solidFill>
                        </a:rPr>
                        <a:t>How you might notice</a:t>
                      </a:r>
                    </a:p>
                  </a:txBody>
                  <a:tcPr anchor="ctr" marL="73152" marR="54864" marT="27432" marB="27432">
                    <a:solidFill>
                      <a:srgbClr val="0C2B4A"/>
                    </a:solidFill>
                  </a:tcPr>
                </a:tc>
                <a:tc>
                  <a:txBody>
                    <a:bodyPr wrap="square"/>
                    <a:lstStyle/>
                    <a:p>
                      <a:r>
                        <a:rPr sz="1100" b="1">
                          <a:solidFill>
                            <a:srgbClr val="FFFFFF"/>
                          </a:solidFill>
                        </a:rPr>
                        <a:t>Key defence</a:t>
                      </a:r>
                    </a:p>
                  </a:txBody>
                  <a:tcPr anchor="ctr" marL="73152" marR="54864" marT="27432" marB="27432">
                    <a:solidFill>
                      <a:srgbClr val="0C2B4A"/>
                    </a:solidFill>
                  </a:tcPr>
                </a:tc>
              </a:tr>
              <a:tr h="883310">
                <a:tc>
                  <a:txBody>
                    <a:bodyPr wrap="square"/>
                    <a:lstStyle/>
                    <a:p>
                      <a:r>
                        <a:rPr sz="1050" b="1">
                          <a:solidFill>
                            <a:srgbClr val="0C2B4A"/>
                          </a:solidFill>
                        </a:rPr>
                        <a:t>MITM</a:t>
                      </a:r>
                    </a:p>
                  </a:txBody>
                  <a:tcPr anchor="ctr" marL="73152" marR="54864" marT="27432" marB="27432">
                    <a:solidFill>
                      <a:srgbClr val="FFFFFF"/>
                    </a:solidFill>
                  </a:tcPr>
                </a:tc>
                <a:tc>
                  <a:txBody>
                    <a:bodyPr wrap="square"/>
                    <a:lstStyle/>
                    <a:p>
                      <a:r>
                        <a:rPr sz="1050">
                          <a:solidFill>
                            <a:srgbClr val="1A1A1A"/>
                          </a:solidFill>
                        </a:rPr>
                        <a:t>Traffic between two parties</a:t>
                      </a:r>
                    </a:p>
                  </a:txBody>
                  <a:tcPr anchor="ctr" marL="73152" marR="54864" marT="27432" marB="27432">
                    <a:solidFill>
                      <a:srgbClr val="FFFFFF"/>
                    </a:solidFill>
                  </a:tcPr>
                </a:tc>
                <a:tc>
                  <a:txBody>
                    <a:bodyPr wrap="square"/>
                    <a:lstStyle/>
                    <a:p>
                      <a:r>
                        <a:rPr sz="1050">
                          <a:solidFill>
                            <a:srgbClr val="1A1A1A"/>
                          </a:solidFill>
                        </a:rPr>
                        <a:t>Certificate warnings; odd behaviour</a:t>
                      </a:r>
                    </a:p>
                  </a:txBody>
                  <a:tcPr anchor="ctr" marL="73152" marR="54864" marT="27432" marB="27432">
                    <a:solidFill>
                      <a:srgbClr val="FFFFFF"/>
                    </a:solidFill>
                  </a:tcPr>
                </a:tc>
                <a:tc>
                  <a:txBody>
                    <a:bodyPr wrap="square"/>
                    <a:lstStyle/>
                    <a:p>
                      <a:r>
                        <a:rPr sz="1050">
                          <a:solidFill>
                            <a:srgbClr val="1A1A1A"/>
                          </a:solidFill>
                        </a:rPr>
                        <a:t>HTTPS/TLS + VPN on untrusted Wi-Fi</a:t>
                      </a:r>
                    </a:p>
                  </a:txBody>
                  <a:tcPr anchor="ctr" marL="73152" marR="54864" marT="27432" marB="27432">
                    <a:solidFill>
                      <a:srgbClr val="FFFFFF"/>
                    </a:solidFill>
                  </a:tcPr>
                </a:tc>
              </a:tr>
              <a:tr h="883310">
                <a:tc>
                  <a:txBody>
                    <a:bodyPr wrap="square"/>
                    <a:lstStyle/>
                    <a:p>
                      <a:r>
                        <a:rPr sz="1050" b="1">
                          <a:solidFill>
                            <a:srgbClr val="0C2B4A"/>
                          </a:solidFill>
                        </a:rPr>
                        <a:t>ARP poisoning</a:t>
                      </a:r>
                    </a:p>
                  </a:txBody>
                  <a:tcPr anchor="ctr" marL="73152" marR="54864" marT="27432" marB="27432">
                    <a:solidFill>
                      <a:srgbClr val="EEF3F8"/>
                    </a:solidFill>
                  </a:tcPr>
                </a:tc>
                <a:tc>
                  <a:txBody>
                    <a:bodyPr wrap="square"/>
                    <a:lstStyle/>
                    <a:p>
                      <a:r>
                        <a:rPr sz="1050">
                          <a:solidFill>
                            <a:srgbClr val="1A1A1A"/>
                          </a:solidFill>
                        </a:rPr>
                        <a:t>The LOCAL network (LAN)</a:t>
                      </a:r>
                    </a:p>
                  </a:txBody>
                  <a:tcPr anchor="ctr" marL="73152" marR="54864" marT="27432" marB="27432">
                    <a:solidFill>
                      <a:srgbClr val="EEF3F8"/>
                    </a:solidFill>
                  </a:tcPr>
                </a:tc>
                <a:tc>
                  <a:txBody>
                    <a:bodyPr wrap="square"/>
                    <a:lstStyle/>
                    <a:p>
                      <a:r>
                        <a:rPr sz="1050">
                          <a:solidFill>
                            <a:srgbClr val="1A1A1A"/>
                          </a:solidFill>
                        </a:rPr>
                        <a:t>Hard to see; needs monitoring</a:t>
                      </a:r>
                    </a:p>
                  </a:txBody>
                  <a:tcPr anchor="ctr" marL="73152" marR="54864" marT="27432" marB="27432">
                    <a:solidFill>
                      <a:srgbClr val="EEF3F8"/>
                    </a:solidFill>
                  </a:tcPr>
                </a:tc>
                <a:tc>
                  <a:txBody>
                    <a:bodyPr wrap="square"/>
                    <a:lstStyle/>
                    <a:p>
                      <a:r>
                        <a:rPr sz="1050">
                          <a:solidFill>
                            <a:srgbClr val="1A1A1A"/>
                          </a:solidFill>
                        </a:rPr>
                        <a:t>Segmentation, DAI, encryption</a:t>
                      </a:r>
                    </a:p>
                  </a:txBody>
                  <a:tcPr anchor="ctr" marL="73152" marR="54864" marT="27432" marB="27432">
                    <a:solidFill>
                      <a:srgbClr val="EEF3F8"/>
                    </a:solidFill>
                  </a:tcPr>
                </a:tc>
              </a:tr>
              <a:tr h="883310">
                <a:tc>
                  <a:txBody>
                    <a:bodyPr wrap="square"/>
                    <a:lstStyle/>
                    <a:p>
                      <a:r>
                        <a:rPr sz="1050" b="1">
                          <a:solidFill>
                            <a:srgbClr val="0C2B4A"/>
                          </a:solidFill>
                        </a:rPr>
                        <a:t>DNS poisoning</a:t>
                      </a:r>
                    </a:p>
                  </a:txBody>
                  <a:tcPr anchor="ctr" marL="73152" marR="54864" marT="27432" marB="27432">
                    <a:solidFill>
                      <a:srgbClr val="FFFFFF"/>
                    </a:solidFill>
                  </a:tcPr>
                </a:tc>
                <a:tc>
                  <a:txBody>
                    <a:bodyPr wrap="square"/>
                    <a:lstStyle/>
                    <a:p>
                      <a:r>
                        <a:rPr sz="1050">
                          <a:solidFill>
                            <a:srgbClr val="1A1A1A"/>
                          </a:solidFill>
                        </a:rPr>
                        <a:t>Name→address lookup</a:t>
                      </a:r>
                    </a:p>
                  </a:txBody>
                  <a:tcPr anchor="ctr" marL="73152" marR="54864" marT="27432" marB="27432">
                    <a:solidFill>
                      <a:srgbClr val="FFFFFF"/>
                    </a:solidFill>
                  </a:tcPr>
                </a:tc>
                <a:tc>
                  <a:txBody>
                    <a:bodyPr wrap="square"/>
                    <a:lstStyle/>
                    <a:p>
                      <a:r>
                        <a:rPr sz="1050">
                          <a:solidFill>
                            <a:srgbClr val="1A1A1A"/>
                          </a:solidFill>
                        </a:rPr>
                        <a:t>Right name but cert warnings</a:t>
                      </a:r>
                    </a:p>
                  </a:txBody>
                  <a:tcPr anchor="ctr" marL="73152" marR="54864" marT="27432" marB="27432">
                    <a:solidFill>
                      <a:srgbClr val="FFFFFF"/>
                    </a:solidFill>
                  </a:tcPr>
                </a:tc>
                <a:tc>
                  <a:txBody>
                    <a:bodyPr wrap="square"/>
                    <a:lstStyle/>
                    <a:p>
                      <a:r>
                        <a:rPr sz="1050">
                          <a:solidFill>
                            <a:srgbClr val="1A1A1A"/>
                          </a:solidFill>
                        </a:rPr>
                        <a:t>DNSSEC, trusted resolver, HTTPS checks</a:t>
                      </a:r>
                    </a:p>
                  </a:txBody>
                  <a:tcPr anchor="ctr" marL="73152" marR="54864" marT="27432" marB="27432">
                    <a:solidFill>
                      <a:srgbClr val="FFFFFF"/>
                    </a:solidFill>
                  </a:tcPr>
                </a:tc>
              </a:tr>
              <a:tr h="883312">
                <a:tc>
                  <a:txBody>
                    <a:bodyPr wrap="square"/>
                    <a:lstStyle/>
                    <a:p>
                      <a:r>
                        <a:rPr sz="1050" b="1">
                          <a:solidFill>
                            <a:srgbClr val="0C2B4A"/>
                          </a:solidFill>
                        </a:rPr>
                        <a:t>Rogue Wi-Fi hotspot</a:t>
                      </a:r>
                    </a:p>
                  </a:txBody>
                  <a:tcPr anchor="ctr" marL="73152" marR="54864" marT="27432" marB="27432">
                    <a:solidFill>
                      <a:srgbClr val="EEF3F8"/>
                    </a:solidFill>
                  </a:tcPr>
                </a:tc>
                <a:tc>
                  <a:txBody>
                    <a:bodyPr wrap="square"/>
                    <a:lstStyle/>
                    <a:p>
                      <a:r>
                        <a:rPr sz="1050">
                          <a:solidFill>
                            <a:srgbClr val="1A1A1A"/>
                          </a:solidFill>
                        </a:rPr>
                        <a:t>Users on public Wi-Fi</a:t>
                      </a:r>
                    </a:p>
                  </a:txBody>
                  <a:tcPr anchor="ctr" marL="73152" marR="54864" marT="27432" marB="27432">
                    <a:solidFill>
                      <a:srgbClr val="EEF3F8"/>
                    </a:solidFill>
                  </a:tcPr>
                </a:tc>
                <a:tc>
                  <a:txBody>
                    <a:bodyPr wrap="square"/>
                    <a:lstStyle/>
                    <a:p>
                      <a:r>
                        <a:rPr sz="1050">
                          <a:solidFill>
                            <a:srgbClr val="1A1A1A"/>
                          </a:solidFill>
                        </a:rPr>
                        <a:t>Unexpected/duplicate network name</a:t>
                      </a:r>
                    </a:p>
                  </a:txBody>
                  <a:tcPr anchor="ctr" marL="73152" marR="54864" marT="27432" marB="27432">
                    <a:solidFill>
                      <a:srgbClr val="EEF3F8"/>
                    </a:solidFill>
                  </a:tcPr>
                </a:tc>
                <a:tc>
                  <a:txBody>
                    <a:bodyPr wrap="square"/>
                    <a:lstStyle/>
                    <a:p>
                      <a:r>
                        <a:rPr sz="1050">
                          <a:solidFill>
                            <a:srgbClr val="1A1A1A"/>
                          </a:solidFill>
                        </a:rPr>
                        <a:t>VPN; avoid sensitive logins on it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Conceptual recognition + countermeasures only. The through-line: encryption (HTTPS/VPN) and heeding warnings protect the USER even when the network beneath is compromised.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62 / 94</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S26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Man-in-the-Middle (MITM)</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Open Wi-Fi at Kathmandu cafés, the airport, and campuses is a real MITM risk for anyone checking e-banking: an attacker on the same network may be positioned to read or alter unencrypted traffic. Globally, rogue Wi-Fi hotspots in airports and cafés have intercepted unencrypted traffic. The defence that works even there is encryption — HTTPS/TLS plus a VPN — which makes any relayed traffic unreadable and un-alterable.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"Public Wi-Fi is fine if it has a password posted on the wall." A shared, known password protects little against someone already on the same network. The real protection is end-to-end encryption (HTTPS/VPN) and heeding certificate warnings — not whether the Wi-Fi itself asked for a password.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man-in-the-middle attack secretly places an attacker between two parties so they can read or alter the traffic, breaking Confidentiality and Integrity at once; it's most common on untrusted/public Wi-Fi. The universal defence is encryption — HTTPS/TLS everywhere and a VPN on untrusted networks — plus taking certificate warnings seriously, since encrypted traffic can't be usefully read or changed.</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man-in-the-middle · reads + alters traffic · breaks C and I · public Wi-Fi · HTTPS/TLS + VPN + heed cert warnings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63 / 94</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S26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ARP Poisoning — What It Is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ARP poisoning tricks devices on a LOCAL network into sending their traffic to the attacker by faking hardware-address mappings. The root problem: the local network trusts ARP answers blindly. This enables MITM on a LAN. We describe it conceptually — there are no spoofing commands here — and focus on the defences.</a:t>
            </a:r>
          </a:p>
          <a:p>
            <a:pPr>
              <a:spcAft>
                <a:spcPts val="500"/>
              </a:spcAft>
            </a:pPr>
            <a:r>
              <a:rPr sz="1200" b="1">
                <a:solidFill>
                  <a:srgbClr val="185FA5"/>
                </a:solidFill>
              </a:rPr>
              <a:t>HOW IT WORKS</a:t>
            </a:r>
          </a:p>
          <a:p>
            <a:pPr>
              <a:spcAft>
                <a:spcPts val="600"/>
              </a:spcAft>
            </a:pPr>
            <a:r>
              <a:rPr sz="1400">
                <a:solidFill>
                  <a:srgbClr val="1A1A1A"/>
                </a:solidFill>
              </a:rPr>
              <a:t>•  Devices on a LAN ask 'who has this address?' and trust the reply — even a forged one.</a:t>
            </a:r>
          </a:p>
          <a:p>
            <a:pPr>
              <a:spcAft>
                <a:spcPts val="600"/>
              </a:spcAft>
            </a:pPr>
            <a:r>
              <a:rPr sz="1400">
                <a:solidFill>
                  <a:srgbClr val="1A1A1A"/>
                </a:solidFill>
              </a:rPr>
              <a:t>•  A forged reply can make traffic flow through the attacker (MITM on the LAN).</a:t>
            </a:r>
          </a:p>
          <a:p>
            <a:pPr>
              <a:spcAft>
                <a:spcPts val="600"/>
              </a:spcAft>
            </a:pPr>
            <a:r>
              <a:rPr sz="1400">
                <a:solidFill>
                  <a:srgbClr val="1A1A1A"/>
                </a:solidFill>
              </a:rPr>
              <a:t>•  Defences: network segmentation, dynamic ARP inspection (DAI), encrypted traffic, monitoring.</a:t>
            </a:r>
          </a:p>
          <a:p>
            <a:pPr>
              <a:spcAft>
                <a:spcPts val="600"/>
              </a:spcAft>
            </a:pPr>
            <a:r>
              <a:rPr sz="1400">
                <a:solidFill>
                  <a:srgbClr val="1A1A1A"/>
                </a:solidFill>
              </a:rPr>
              <a:t>•  Crucially: even on a poisoned LAN, HTTPS/VPN keeps the diverted traffic unreadable.</a:t>
            </a:r>
          </a:p>
        </p:txBody>
      </p:sp>
      <p:pic>
        <p:nvPicPr>
          <p:cNvPr id="6" name="Picture 5" descr="s26_arp.png"/>
          <p:cNvPicPr>
            <a:picLocks noChangeAspect="1"/>
          </p:cNvPicPr>
          <p:nvPr/>
        </p:nvPicPr>
        <p:blipFill>
          <a:blip r:embed="rId2"/>
          <a:stretch>
            <a:fillRect/>
          </a:stretch>
        </p:blipFill>
        <p:spPr>
          <a:xfrm>
            <a:off x="6355080" y="2497611"/>
            <a:ext cx="5532120" cy="2640017"/>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ARP poisoning abuses a LAN's blind trust — but encryption still shields your data.</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64 / 94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S26 · CONCEPT 2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ARP-poisoning situations → the safe response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4007922"/>
                <a:gridCol w="3414155"/>
                <a:gridCol w="4007922"/>
              </a:tblGrid>
              <a:tr h="630936">
                <a:tc>
                  <a:txBody>
                    <a:bodyPr wrap="square"/>
                    <a:lstStyle/>
                    <a:p>
                      <a:r>
                        <a:rPr sz="1150" b="1">
                          <a:solidFill>
                            <a:srgbClr val="FFFFFF"/>
                          </a:solidFill>
                        </a:rPr>
                        <a:t>Situation (defensive framing)</a:t>
                      </a:r>
                    </a:p>
                  </a:txBody>
                  <a:tcPr anchor="ctr" marL="73152" marR="54864" marT="27432" marB="27432">
                    <a:solidFill>
                      <a:srgbClr val="0C2B4A"/>
                    </a:solidFill>
                  </a:tcPr>
                </a:tc>
                <a:tc>
                  <a:txBody>
                    <a:bodyPr wrap="square"/>
                    <a:lstStyle/>
                    <a:p>
                      <a:r>
                        <a:rPr sz="1150" b="1">
                          <a:solidFill>
                            <a:srgbClr val="FFFFFF"/>
                          </a:solidFill>
                        </a:rPr>
                        <a:t>Why it's a risk</a:t>
                      </a:r>
                    </a:p>
                  </a:txBody>
                  <a:tcPr anchor="ctr" marL="73152" marR="54864" marT="27432" marB="27432">
                    <a:solidFill>
                      <a:srgbClr val="0C2B4A"/>
                    </a:solidFill>
                  </a:tcPr>
                </a:tc>
                <a:tc>
                  <a:txBody>
                    <a:bodyPr wrap="square"/>
                    <a:lstStyle/>
                    <a:p>
                      <a:r>
                        <a:rPr sz="1150" b="1">
                          <a:solidFill>
                            <a:srgbClr val="FFFFFF"/>
                          </a:solidFill>
                        </a:rPr>
                        <a:t>Safe response / defence</a:t>
                      </a:r>
                    </a:p>
                  </a:txBody>
                  <a:tcPr anchor="ctr" marL="73152" marR="54864" marT="27432" marB="27432">
                    <a:solidFill>
                      <a:srgbClr val="0C2B4A"/>
                    </a:solidFill>
                  </a:tcPr>
                </a:tc>
              </a:tr>
              <a:tr h="630936">
                <a:tc>
                  <a:txBody>
                    <a:bodyPr wrap="square"/>
                    <a:lstStyle/>
                    <a:p>
                      <a:r>
                        <a:rPr sz="1100" b="1">
                          <a:solidFill>
                            <a:srgbClr val="0C2B4A"/>
                          </a:solidFill>
                        </a:rPr>
                        <a:t>Shared office LAN, sensitive logins</a:t>
                      </a:r>
                    </a:p>
                  </a:txBody>
                  <a:tcPr anchor="ctr" marL="73152" marR="54864" marT="27432" marB="27432">
                    <a:solidFill>
                      <a:srgbClr val="FFFFFF"/>
                    </a:solidFill>
                  </a:tcPr>
                </a:tc>
                <a:tc>
                  <a:txBody>
                    <a:bodyPr wrap="square"/>
                    <a:lstStyle/>
                    <a:p>
                      <a:r>
                        <a:rPr sz="1100">
                          <a:solidFill>
                            <a:srgbClr val="1A1A1A"/>
                          </a:solidFill>
                        </a:rPr>
                        <a:t>LAN trusts ARP replies blindly</a:t>
                      </a:r>
                    </a:p>
                  </a:txBody>
                  <a:tcPr anchor="ctr" marL="73152" marR="54864" marT="27432" marB="27432">
                    <a:solidFill>
                      <a:srgbClr val="FFFFFF"/>
                    </a:solidFill>
                  </a:tcPr>
                </a:tc>
                <a:tc>
                  <a:txBody>
                    <a:bodyPr wrap="square"/>
                    <a:lstStyle/>
                    <a:p>
                      <a:r>
                        <a:rPr sz="1100">
                          <a:solidFill>
                            <a:srgbClr val="1A1A1A"/>
                          </a:solidFill>
                        </a:rPr>
                        <a:t>Use HTTPS/VPN; segment the network</a:t>
                      </a:r>
                    </a:p>
                  </a:txBody>
                  <a:tcPr anchor="ctr" marL="73152" marR="54864" marT="27432" marB="27432">
                    <a:solidFill>
                      <a:srgbClr val="FFFFFF"/>
                    </a:solidFill>
                  </a:tcPr>
                </a:tc>
              </a:tr>
              <a:tr h="630936">
                <a:tc>
                  <a:txBody>
                    <a:bodyPr wrap="square"/>
                    <a:lstStyle/>
                    <a:p>
                      <a:r>
                        <a:rPr sz="1100" b="1">
                          <a:solidFill>
                            <a:srgbClr val="0C2B4A"/>
                          </a:solidFill>
                        </a:rPr>
                        <a:t>Guest devices on the same LAN as servers</a:t>
                      </a:r>
                    </a:p>
                  </a:txBody>
                  <a:tcPr anchor="ctr" marL="73152" marR="54864" marT="27432" marB="27432">
                    <a:solidFill>
                      <a:srgbClr val="EEF3F8"/>
                    </a:solidFill>
                  </a:tcPr>
                </a:tc>
                <a:tc>
                  <a:txBody>
                    <a:bodyPr wrap="square"/>
                    <a:lstStyle/>
                    <a:p>
                      <a:r>
                        <a:rPr sz="1100">
                          <a:solidFill>
                            <a:srgbClr val="1A1A1A"/>
                          </a:solidFill>
                        </a:rPr>
                        <a:t>A guest could divert traffic</a:t>
                      </a:r>
                    </a:p>
                  </a:txBody>
                  <a:tcPr anchor="ctr" marL="73152" marR="54864" marT="27432" marB="27432">
                    <a:solidFill>
                      <a:srgbClr val="EEF3F8"/>
                    </a:solidFill>
                  </a:tcPr>
                </a:tc>
                <a:tc>
                  <a:txBody>
                    <a:bodyPr wrap="square"/>
                    <a:lstStyle/>
                    <a:p>
                      <a:r>
                        <a:rPr sz="1100">
                          <a:solidFill>
                            <a:srgbClr val="1A1A1A"/>
                          </a:solidFill>
                        </a:rPr>
                        <a:t>Separate VLAN for guests</a:t>
                      </a:r>
                    </a:p>
                  </a:txBody>
                  <a:tcPr anchor="ctr" marL="73152" marR="54864" marT="27432" marB="27432">
                    <a:solidFill>
                      <a:srgbClr val="EEF3F8"/>
                    </a:solidFill>
                  </a:tcPr>
                </a:tc>
              </a:tr>
              <a:tr h="630936">
                <a:tc>
                  <a:txBody>
                    <a:bodyPr wrap="square"/>
                    <a:lstStyle/>
                    <a:p>
                      <a:r>
                        <a:rPr sz="1100" b="1">
                          <a:solidFill>
                            <a:srgbClr val="0C2B4A"/>
                          </a:solidFill>
                        </a:rPr>
                        <a:t>Traffic silently rerouted on the LAN</a:t>
                      </a:r>
                    </a:p>
                  </a:txBody>
                  <a:tcPr anchor="ctr" marL="73152" marR="54864" marT="27432" marB="27432">
                    <a:solidFill>
                      <a:srgbClr val="FFFFFF"/>
                    </a:solidFill>
                  </a:tcPr>
                </a:tc>
                <a:tc>
                  <a:txBody>
                    <a:bodyPr wrap="square"/>
                    <a:lstStyle/>
                    <a:p>
                      <a:r>
                        <a:rPr sz="1100">
                          <a:solidFill>
                            <a:srgbClr val="1A1A1A"/>
                          </a:solidFill>
                        </a:rPr>
                        <a:t>MITM enabled locally</a:t>
                      </a:r>
                    </a:p>
                  </a:txBody>
                  <a:tcPr anchor="ctr" marL="73152" marR="54864" marT="27432" marB="27432">
                    <a:solidFill>
                      <a:srgbClr val="FFFFFF"/>
                    </a:solidFill>
                  </a:tcPr>
                </a:tc>
                <a:tc>
                  <a:txBody>
                    <a:bodyPr wrap="square"/>
                    <a:lstStyle/>
                    <a:p>
                      <a:r>
                        <a:rPr sz="1100">
                          <a:solidFill>
                            <a:srgbClr val="1A1A1A"/>
                          </a:solidFill>
                        </a:rPr>
                        <a:t>Dynamic ARP inspection (DAI) on switches</a:t>
                      </a:r>
                    </a:p>
                  </a:txBody>
                  <a:tcPr anchor="ctr" marL="73152" marR="54864" marT="27432" marB="27432">
                    <a:solidFill>
                      <a:srgbClr val="FFFFFF"/>
                    </a:solidFill>
                  </a:tcPr>
                </a:tc>
              </a:tr>
              <a:tr h="630936">
                <a:tc>
                  <a:txBody>
                    <a:bodyPr wrap="square"/>
                    <a:lstStyle/>
                    <a:p>
                      <a:r>
                        <a:rPr sz="1100" b="1">
                          <a:solidFill>
                            <a:srgbClr val="0C2B4A"/>
                          </a:solidFill>
                        </a:rPr>
                        <a:t>No monitoring of the local network</a:t>
                      </a:r>
                    </a:p>
                  </a:txBody>
                  <a:tcPr anchor="ctr" marL="73152" marR="54864" marT="27432" marB="27432">
                    <a:solidFill>
                      <a:srgbClr val="EEF3F8"/>
                    </a:solidFill>
                  </a:tcPr>
                </a:tc>
                <a:tc>
                  <a:txBody>
                    <a:bodyPr wrap="square"/>
                    <a:lstStyle/>
                    <a:p>
                      <a:r>
                        <a:rPr sz="1100">
                          <a:solidFill>
                            <a:srgbClr val="1A1A1A"/>
                          </a:solidFill>
                        </a:rPr>
                        <a:t>Poisoning goes unnoticed</a:t>
                      </a:r>
                    </a:p>
                  </a:txBody>
                  <a:tcPr anchor="ctr" marL="73152" marR="54864" marT="27432" marB="27432">
                    <a:solidFill>
                      <a:srgbClr val="EEF3F8"/>
                    </a:solidFill>
                  </a:tcPr>
                </a:tc>
                <a:tc>
                  <a:txBody>
                    <a:bodyPr wrap="square"/>
                    <a:lstStyle/>
                    <a:p>
                      <a:r>
                        <a:rPr sz="1100">
                          <a:solidFill>
                            <a:srgbClr val="1A1A1A"/>
                          </a:solidFill>
                        </a:rPr>
                        <a:t>Monitor/alert on ARP anomalies</a:t>
                      </a:r>
                    </a:p>
                  </a:txBody>
                  <a:tcPr anchor="ctr" marL="73152" marR="54864" marT="27432" marB="27432">
                    <a:solidFill>
                      <a:srgbClr val="EEF3F8"/>
                    </a:solidFill>
                  </a:tcPr>
                </a:tc>
              </a:tr>
              <a:tr h="630936">
                <a:tc>
                  <a:txBody>
                    <a:bodyPr wrap="square"/>
                    <a:lstStyle/>
                    <a:p>
                      <a:r>
                        <a:rPr sz="1100" b="1">
                          <a:solidFill>
                            <a:srgbClr val="0C2B4A"/>
                          </a:solidFill>
                        </a:rPr>
                        <a:t>Plaintext (HTTP) service on the LAN</a:t>
                      </a:r>
                    </a:p>
                  </a:txBody>
                  <a:tcPr anchor="ctr" marL="73152" marR="54864" marT="27432" marB="27432">
                    <a:solidFill>
                      <a:srgbClr val="FFFFFF"/>
                    </a:solidFill>
                  </a:tcPr>
                </a:tc>
                <a:tc>
                  <a:txBody>
                    <a:bodyPr wrap="square"/>
                    <a:lstStyle/>
                    <a:p>
                      <a:r>
                        <a:rPr sz="1100">
                          <a:solidFill>
                            <a:srgbClr val="1A1A1A"/>
                          </a:solidFill>
                        </a:rPr>
                        <a:t>Readable if diverted</a:t>
                      </a:r>
                    </a:p>
                  </a:txBody>
                  <a:tcPr anchor="ctr" marL="73152" marR="54864" marT="27432" marB="27432">
                    <a:solidFill>
                      <a:srgbClr val="FFFFFF"/>
                    </a:solidFill>
                  </a:tcPr>
                </a:tc>
                <a:tc>
                  <a:txBody>
                    <a:bodyPr wrap="square"/>
                    <a:lstStyle/>
                    <a:p>
                      <a:r>
                        <a:rPr sz="1100">
                          <a:solidFill>
                            <a:srgbClr val="1A1A1A"/>
                          </a:solidFill>
                        </a:rPr>
                        <a:t>Enforce HTTPS/TLS internally too</a:t>
                      </a:r>
                    </a:p>
                  </a:txBody>
                  <a:tcPr anchor="ctr" marL="73152" marR="54864" marT="27432" marB="27432">
                    <a:solidFill>
                      <a:srgbClr val="FFFFFF"/>
                    </a:solidFill>
                  </a:tcPr>
                </a:tc>
              </a:tr>
              <a:tr h="630936">
                <a:tc>
                  <a:txBody>
                    <a:bodyPr wrap="square"/>
                    <a:lstStyle/>
                    <a:p>
                      <a:r>
                        <a:rPr sz="1100" b="1">
                          <a:solidFill>
                            <a:srgbClr val="0C2B4A"/>
                          </a:solidFill>
                        </a:rPr>
                        <a:t>Café/campus Wi-Fi with many strangers</a:t>
                      </a:r>
                    </a:p>
                  </a:txBody>
                  <a:tcPr anchor="ctr" marL="73152" marR="54864" marT="27432" marB="27432">
                    <a:solidFill>
                      <a:srgbClr val="EEF3F8"/>
                    </a:solidFill>
                  </a:tcPr>
                </a:tc>
                <a:tc>
                  <a:txBody>
                    <a:bodyPr wrap="square"/>
                    <a:lstStyle/>
                    <a:p>
                      <a:r>
                        <a:rPr sz="1100">
                          <a:solidFill>
                            <a:srgbClr val="1A1A1A"/>
                          </a:solidFill>
                        </a:rPr>
                        <a:t>Anyone may be on your segment</a:t>
                      </a:r>
                    </a:p>
                  </a:txBody>
                  <a:tcPr anchor="ctr" marL="73152" marR="54864" marT="27432" marB="27432">
                    <a:solidFill>
                      <a:srgbClr val="EEF3F8"/>
                    </a:solidFill>
                  </a:tcPr>
                </a:tc>
                <a:tc>
                  <a:txBody>
                    <a:bodyPr wrap="square"/>
                    <a:lstStyle/>
                    <a:p>
                      <a:r>
                        <a:rPr sz="1100">
                          <a:solidFill>
                            <a:srgbClr val="1A1A1A"/>
                          </a:solidFill>
                        </a:rPr>
                        <a:t>VPN; avoid banking on it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Framed for defence only — no spoofing steps. The universal user safety net is encryption: a poisoned LAN still can't read or alter HTTPS/VPN traffic.</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65 / 94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S26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ARP Poisoning</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On a shared office or campus LAN, the network trusts address answers blindly, so traffic can in principle be diverted through an attacker — a local MITM. The practical point for users: even if the LAN is poisoned, HTTPS and a VPN keep the diverted traffic encrypted, and so unreadable and un-alterable. For owners, segmentation, dynamic ARP inspection, and monitoring reduce the risk at the infrastructure level.</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the office network is compromised, there's nothing I can do." Encryption still protects you: on a poisoned LAN the attacker sees only scrambled HTTPS/VPN traffic. User-side encryption and owner-side controls (segmentation, DAI, monitoring) each reduce the risk from different angles.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ARP poisoning tricks devices on a local network into sending traffic to an attacker by faking hardware-address mappings, exploiting the LAN's blind trust in ARP replies to enable MITM. Described conceptually (no spoofing steps), its defences are segmentation, dynamic ARP inspection, monitoring, and — critically for users — encryption (HTTPS/VPN), which keeps diverted traffic unreadable even on a poisoned LAN.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ARP poisoning · LAN trusts ARP blindly · local MITM · segmentation + DAI + monitoring · encryption still protects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66 / 94</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S26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DNS Poisoning / Spoofing — What It Is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DNS poisoning corrupts the 'phonebook' that turns a domain name into an address, so a correct-looking name leads to a FAKE server. Forged or cached DNS answers send users to look-alike sites. The tell for a user is a certificate/security warning: the name can look right while the destination is wrong. Defences: DNSSEC, trusted resolvers, and HTTPS + certificate checks.</a:t>
            </a:r>
          </a:p>
          <a:p>
            <a:pPr>
              <a:spcAft>
                <a:spcPts val="500"/>
              </a:spcAft>
            </a:pPr>
            <a:r>
              <a:rPr sz="1200" b="1">
                <a:solidFill>
                  <a:srgbClr val="185FA5"/>
                </a:solidFill>
              </a:rPr>
              <a:t>HOW IT WORKS</a:t>
            </a:r>
          </a:p>
          <a:p>
            <a:pPr>
              <a:spcAft>
                <a:spcPts val="600"/>
              </a:spcAft>
            </a:pPr>
            <a:r>
              <a:rPr sz="1400">
                <a:solidFill>
                  <a:srgbClr val="1A1A1A"/>
                </a:solidFill>
              </a:rPr>
              <a:t>•  DNS maps names (esewa.com.np) to addresses; poisoning makes it hand back a wrong one.</a:t>
            </a:r>
          </a:p>
          <a:p>
            <a:pPr>
              <a:spcAft>
                <a:spcPts val="600"/>
              </a:spcAft>
            </a:pPr>
            <a:r>
              <a:rPr sz="1400">
                <a:solidFill>
                  <a:srgbClr val="1A1A1A"/>
                </a:solidFill>
              </a:rPr>
              <a:t>•  You see the right NAME in the address bar, but you're sent to a fake server.</a:t>
            </a:r>
          </a:p>
          <a:p>
            <a:pPr>
              <a:spcAft>
                <a:spcPts val="600"/>
              </a:spcAft>
            </a:pPr>
            <a:r>
              <a:rPr sz="1400">
                <a:solidFill>
                  <a:srgbClr val="1A1A1A"/>
                </a:solidFill>
              </a:rPr>
              <a:t>•  A certificate warning is the clue — the fake server can't present a valid certificate for the real name.</a:t>
            </a:r>
          </a:p>
          <a:p>
            <a:pPr>
              <a:spcAft>
                <a:spcPts val="600"/>
              </a:spcAft>
            </a:pPr>
            <a:r>
              <a:rPr sz="1400">
                <a:solidFill>
                  <a:srgbClr val="1A1A1A"/>
                </a:solidFill>
              </a:rPr>
              <a:t>•  Defences: DNSSEC, trusted/secure resolvers, HTTPS everywhere, and heeding security warnings.</a:t>
            </a:r>
          </a:p>
        </p:txBody>
      </p:sp>
      <p:pic>
        <p:nvPicPr>
          <p:cNvPr id="6" name="Picture 5" descr="s26_dns.png"/>
          <p:cNvPicPr>
            <a:picLocks noChangeAspect="1"/>
          </p:cNvPicPr>
          <p:nvPr/>
        </p:nvPicPr>
        <p:blipFill>
          <a:blip r:embed="rId2"/>
          <a:stretch>
            <a:fillRect/>
          </a:stretch>
        </p:blipFill>
        <p:spPr>
          <a:xfrm>
            <a:off x="6355080" y="2497611"/>
            <a:ext cx="5532120" cy="2640017"/>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DNS poisoning = tampering the phonebook so the right NAME rings the wrong number.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67 / 94</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S26 · CONCEPT 3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DNS-poisoning signs → what's happening → defence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859480"/>
                <a:gridCol w="3562597"/>
                <a:gridCol w="4007922"/>
              </a:tblGrid>
              <a:tr h="630936">
                <a:tc>
                  <a:txBody>
                    <a:bodyPr wrap="square"/>
                    <a:lstStyle/>
                    <a:p>
                      <a:r>
                        <a:rPr sz="1150" b="1">
                          <a:solidFill>
                            <a:srgbClr val="FFFFFF"/>
                          </a:solidFill>
                        </a:rPr>
                        <a:t>Sign the user sees</a:t>
                      </a:r>
                    </a:p>
                  </a:txBody>
                  <a:tcPr anchor="ctr" marL="73152" marR="54864" marT="27432" marB="27432">
                    <a:solidFill>
                      <a:srgbClr val="0C2B4A"/>
                    </a:solidFill>
                  </a:tcPr>
                </a:tc>
                <a:tc>
                  <a:txBody>
                    <a:bodyPr wrap="square"/>
                    <a:lstStyle/>
                    <a:p>
                      <a:r>
                        <a:rPr sz="1150" b="1">
                          <a:solidFill>
                            <a:srgbClr val="FFFFFF"/>
                          </a:solidFill>
                        </a:rPr>
                        <a:t>What's happening</a:t>
                      </a:r>
                    </a:p>
                  </a:txBody>
                  <a:tcPr anchor="ctr" marL="73152" marR="54864" marT="27432" marB="27432">
                    <a:solidFill>
                      <a:srgbClr val="0C2B4A"/>
                    </a:solidFill>
                  </a:tcPr>
                </a:tc>
                <a:tc>
                  <a:txBody>
                    <a:bodyPr wrap="square"/>
                    <a:lstStyle/>
                    <a:p>
                      <a:r>
                        <a:rPr sz="1150" b="1">
                          <a:solidFill>
                            <a:srgbClr val="FFFFFF"/>
                          </a:solidFill>
                        </a:rPr>
                        <a:t>Defence / safe response</a:t>
                      </a:r>
                    </a:p>
                  </a:txBody>
                  <a:tcPr anchor="ctr" marL="73152" marR="54864" marT="27432" marB="27432">
                    <a:solidFill>
                      <a:srgbClr val="0C2B4A"/>
                    </a:solidFill>
                  </a:tcPr>
                </a:tc>
              </a:tr>
              <a:tr h="630936">
                <a:tc>
                  <a:txBody>
                    <a:bodyPr wrap="square"/>
                    <a:lstStyle/>
                    <a:p>
                      <a:r>
                        <a:rPr sz="1100" b="1">
                          <a:solidFill>
                            <a:srgbClr val="0C2B4A"/>
                          </a:solidFill>
                        </a:rPr>
                        <a:t>Right name, but a certificate warning</a:t>
                      </a:r>
                    </a:p>
                  </a:txBody>
                  <a:tcPr anchor="ctr" marL="73152" marR="54864" marT="27432" marB="27432">
                    <a:solidFill>
                      <a:srgbClr val="FFFFFF"/>
                    </a:solidFill>
                  </a:tcPr>
                </a:tc>
                <a:tc>
                  <a:txBody>
                    <a:bodyPr wrap="square"/>
                    <a:lstStyle/>
                    <a:p>
                      <a:r>
                        <a:rPr sz="1100">
                          <a:solidFill>
                            <a:srgbClr val="1A1A1A"/>
                          </a:solidFill>
                        </a:rPr>
                        <a:t>Sent to a fake server</a:t>
                      </a:r>
                    </a:p>
                  </a:txBody>
                  <a:tcPr anchor="ctr" marL="73152" marR="54864" marT="27432" marB="27432">
                    <a:solidFill>
                      <a:srgbClr val="FFFFFF"/>
                    </a:solidFill>
                  </a:tcPr>
                </a:tc>
                <a:tc>
                  <a:txBody>
                    <a:bodyPr wrap="square"/>
                    <a:lstStyle/>
                    <a:p>
                      <a:r>
                        <a:rPr sz="1100">
                          <a:solidFill>
                            <a:srgbClr val="1A1A1A"/>
                          </a:solidFill>
                        </a:rPr>
                        <a:t>Stop; don't proceed; heed the warning</a:t>
                      </a:r>
                    </a:p>
                  </a:txBody>
                  <a:tcPr anchor="ctr" marL="73152" marR="54864" marT="27432" marB="27432">
                    <a:solidFill>
                      <a:srgbClr val="FFFFFF"/>
                    </a:solidFill>
                  </a:tcPr>
                </a:tc>
              </a:tr>
              <a:tr h="630936">
                <a:tc>
                  <a:txBody>
                    <a:bodyPr wrap="square"/>
                    <a:lstStyle/>
                    <a:p>
                      <a:r>
                        <a:rPr sz="1100" b="1">
                          <a:solidFill>
                            <a:srgbClr val="0C2B4A"/>
                          </a:solidFill>
                        </a:rPr>
                        <a:t>Bank login looks slightly 'off'</a:t>
                      </a:r>
                    </a:p>
                  </a:txBody>
                  <a:tcPr anchor="ctr" marL="73152" marR="54864" marT="27432" marB="27432">
                    <a:solidFill>
                      <a:srgbClr val="EEF3F8"/>
                    </a:solidFill>
                  </a:tcPr>
                </a:tc>
                <a:tc>
                  <a:txBody>
                    <a:bodyPr wrap="square"/>
                    <a:lstStyle/>
                    <a:p>
                      <a:r>
                        <a:rPr sz="1100">
                          <a:solidFill>
                            <a:srgbClr val="1A1A1A"/>
                          </a:solidFill>
                        </a:rPr>
                        <a:t>Possible cloned site via poisoned DNS</a:t>
                      </a:r>
                    </a:p>
                  </a:txBody>
                  <a:tcPr anchor="ctr" marL="73152" marR="54864" marT="27432" marB="27432">
                    <a:solidFill>
                      <a:srgbClr val="EEF3F8"/>
                    </a:solidFill>
                  </a:tcPr>
                </a:tc>
                <a:tc>
                  <a:txBody>
                    <a:bodyPr wrap="square"/>
                    <a:lstStyle/>
                    <a:p>
                      <a:r>
                        <a:rPr sz="1100">
                          <a:solidFill>
                            <a:srgbClr val="1A1A1A"/>
                          </a:solidFill>
                        </a:rPr>
                        <a:t>Close it; type the address; use the app</a:t>
                      </a:r>
                    </a:p>
                  </a:txBody>
                  <a:tcPr anchor="ctr" marL="73152" marR="54864" marT="27432" marB="27432">
                    <a:solidFill>
                      <a:srgbClr val="EEF3F8"/>
                    </a:solidFill>
                  </a:tcPr>
                </a:tc>
              </a:tr>
              <a:tr h="630936">
                <a:tc>
                  <a:txBody>
                    <a:bodyPr wrap="square"/>
                    <a:lstStyle/>
                    <a:p>
                      <a:r>
                        <a:rPr sz="1100" b="1">
                          <a:solidFill>
                            <a:srgbClr val="0C2B4A"/>
                          </a:solidFill>
                        </a:rPr>
                        <a:t>Redirected somewhere unexpected</a:t>
                      </a:r>
                    </a:p>
                  </a:txBody>
                  <a:tcPr anchor="ctr" marL="73152" marR="54864" marT="27432" marB="27432">
                    <a:solidFill>
                      <a:srgbClr val="FFFFFF"/>
                    </a:solidFill>
                  </a:tcPr>
                </a:tc>
                <a:tc>
                  <a:txBody>
                    <a:bodyPr wrap="square"/>
                    <a:lstStyle/>
                    <a:p>
                      <a:r>
                        <a:rPr sz="1100">
                          <a:solidFill>
                            <a:srgbClr val="1A1A1A"/>
                          </a:solidFill>
                        </a:rPr>
                        <a:t>Forged/cached DNS answer</a:t>
                      </a:r>
                    </a:p>
                  </a:txBody>
                  <a:tcPr anchor="ctr" marL="73152" marR="54864" marT="27432" marB="27432">
                    <a:solidFill>
                      <a:srgbClr val="FFFFFF"/>
                    </a:solidFill>
                  </a:tcPr>
                </a:tc>
                <a:tc>
                  <a:txBody>
                    <a:bodyPr wrap="square"/>
                    <a:lstStyle/>
                    <a:p>
                      <a:r>
                        <a:rPr sz="1100">
                          <a:solidFill>
                            <a:srgbClr val="1A1A1A"/>
                          </a:solidFill>
                        </a:rPr>
                        <a:t>Use a trusted resolver; check HTTPS cert</a:t>
                      </a:r>
                    </a:p>
                  </a:txBody>
                  <a:tcPr anchor="ctr" marL="73152" marR="54864" marT="27432" marB="27432">
                    <a:solidFill>
                      <a:srgbClr val="FFFFFF"/>
                    </a:solidFill>
                  </a:tcPr>
                </a:tc>
              </a:tr>
              <a:tr h="630936">
                <a:tc>
                  <a:txBody>
                    <a:bodyPr wrap="square"/>
                    <a:lstStyle/>
                    <a:p>
                      <a:r>
                        <a:rPr sz="1100" b="1">
                          <a:solidFill>
                            <a:srgbClr val="0C2B4A"/>
                          </a:solidFill>
                        </a:rPr>
                        <a:t>No padlock / invalid certificate</a:t>
                      </a:r>
                    </a:p>
                  </a:txBody>
                  <a:tcPr anchor="ctr" marL="73152" marR="54864" marT="27432" marB="27432">
                    <a:solidFill>
                      <a:srgbClr val="EEF3F8"/>
                    </a:solidFill>
                  </a:tcPr>
                </a:tc>
                <a:tc>
                  <a:txBody>
                    <a:bodyPr wrap="square"/>
                    <a:lstStyle/>
                    <a:p>
                      <a:r>
                        <a:rPr sz="1100">
                          <a:solidFill>
                            <a:srgbClr val="1A1A1A"/>
                          </a:solidFill>
                        </a:rPr>
                        <a:t>Fake server can't prove the name</a:t>
                      </a:r>
                    </a:p>
                  </a:txBody>
                  <a:tcPr anchor="ctr" marL="73152" marR="54864" marT="27432" marB="27432">
                    <a:solidFill>
                      <a:srgbClr val="EEF3F8"/>
                    </a:solidFill>
                  </a:tcPr>
                </a:tc>
                <a:tc>
                  <a:txBody>
                    <a:bodyPr wrap="square"/>
                    <a:lstStyle/>
                    <a:p>
                      <a:r>
                        <a:rPr sz="1100">
                          <a:solidFill>
                            <a:srgbClr val="1A1A1A"/>
                          </a:solidFill>
                        </a:rPr>
                        <a:t>Never enter credentials</a:t>
                      </a:r>
                    </a:p>
                  </a:txBody>
                  <a:tcPr anchor="ctr" marL="73152" marR="54864" marT="27432" marB="27432">
                    <a:solidFill>
                      <a:srgbClr val="EEF3F8"/>
                    </a:solidFill>
                  </a:tcPr>
                </a:tc>
              </a:tr>
              <a:tr h="630936">
                <a:tc>
                  <a:txBody>
                    <a:bodyPr wrap="square"/>
                    <a:lstStyle/>
                    <a:p>
                      <a:r>
                        <a:rPr sz="1100" b="1">
                          <a:solidFill>
                            <a:srgbClr val="0C2B4A"/>
                          </a:solidFill>
                        </a:rPr>
                        <a:t>Different result on mobile data vs Wi-Fi</a:t>
                      </a:r>
                    </a:p>
                  </a:txBody>
                  <a:tcPr anchor="ctr" marL="73152" marR="54864" marT="27432" marB="27432">
                    <a:solidFill>
                      <a:srgbClr val="FFFFFF"/>
                    </a:solidFill>
                  </a:tcPr>
                </a:tc>
                <a:tc>
                  <a:txBody>
                    <a:bodyPr wrap="square"/>
                    <a:lstStyle/>
                    <a:p>
                      <a:r>
                        <a:rPr sz="1100">
                          <a:solidFill>
                            <a:srgbClr val="1A1A1A"/>
                          </a:solidFill>
                        </a:rPr>
                        <a:t>One resolver may be poisoned</a:t>
                      </a:r>
                    </a:p>
                  </a:txBody>
                  <a:tcPr anchor="ctr" marL="73152" marR="54864" marT="27432" marB="27432">
                    <a:solidFill>
                      <a:srgbClr val="FFFFFF"/>
                    </a:solidFill>
                  </a:tcPr>
                </a:tc>
                <a:tc>
                  <a:txBody>
                    <a:bodyPr wrap="square"/>
                    <a:lstStyle/>
                    <a:p>
                      <a:r>
                        <a:rPr sz="1100">
                          <a:solidFill>
                            <a:srgbClr val="1A1A1A"/>
                          </a:solidFill>
                        </a:rPr>
                        <a:t>Compare; report to IT/NPCERT</a:t>
                      </a:r>
                    </a:p>
                  </a:txBody>
                  <a:tcPr anchor="ctr" marL="73152" marR="54864" marT="27432" marB="27432">
                    <a:solidFill>
                      <a:srgbClr val="FFFFFF"/>
                    </a:solidFill>
                  </a:tcPr>
                </a:tc>
              </a:tr>
              <a:tr h="630936">
                <a:tc>
                  <a:txBody>
                    <a:bodyPr wrap="square"/>
                    <a:lstStyle/>
                    <a:p>
                      <a:r>
                        <a:rPr sz="1100" b="1">
                          <a:solidFill>
                            <a:srgbClr val="0C2B4A"/>
                          </a:solidFill>
                        </a:rPr>
                        <a:t>Org-wide users hitting a fake site</a:t>
                      </a:r>
                    </a:p>
                  </a:txBody>
                  <a:tcPr anchor="ctr" marL="73152" marR="54864" marT="27432" marB="27432">
                    <a:solidFill>
                      <a:srgbClr val="EEF3F8"/>
                    </a:solidFill>
                  </a:tcPr>
                </a:tc>
                <a:tc>
                  <a:txBody>
                    <a:bodyPr wrap="square"/>
                    <a:lstStyle/>
                    <a:p>
                      <a:r>
                        <a:rPr sz="1100">
                          <a:solidFill>
                            <a:srgbClr val="1A1A1A"/>
                          </a:solidFill>
                        </a:rPr>
                        <a:t>Cache poisoning at the resolver</a:t>
                      </a:r>
                    </a:p>
                  </a:txBody>
                  <a:tcPr anchor="ctr" marL="73152" marR="54864" marT="27432" marB="27432">
                    <a:solidFill>
                      <a:srgbClr val="EEF3F8"/>
                    </a:solidFill>
                  </a:tcPr>
                </a:tc>
                <a:tc>
                  <a:txBody>
                    <a:bodyPr wrap="square"/>
                    <a:lstStyle/>
                    <a:p>
                      <a:r>
                        <a:rPr sz="1100">
                          <a:solidFill>
                            <a:srgbClr val="1A1A1A"/>
                          </a:solidFill>
                        </a:rPr>
                        <a:t>DNSSEC + secure resolver at the org level</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Poisoned DNS shows the RIGHT name while pointing at a FAKE server — so the address bar alone isn't proof. The certificate warning is the tell; DNSSEC and trusted resolvers stop it at the infrastructure level.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68 / 94</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S26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DNS Poisoning / Spoofing</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The threat: a user typing a Nepali bank's domain is quietly redirected to a cloned phishing login that harvests credentials — the address bar shows the right name, but the server is fake. Detecting it: the fake server can't present a valid certificate for the real domain, so a security warning appears. Defences: DNSSEC + trusted resolvers (infrastructure) plus HTTPS + certificate checks (user).</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the address bar shows the right name, the site must be real." Poisoned DNS can show the right NAME while pointing at a fake server. The reliable tell is the certificate: a fake server can't present a valid one for the real domain, so a certificate warning means STOP — don't type your password.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DNS poisoning/spoofing corrupts the name→address 'phonebook' so a correct-looking domain leads to a fake server, via forged or cached DNS answers. Because the name can look right while the destination is wrong, the user's tell is a certificate/security warning. Defences are DNSSEC and trusted resolvers at the infrastructure level, and HTTPS plus certificate checks (and heeding warnings) for users.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DNS poisoning · name→address phonebook tampered · right name, fake server · certificate warning is the tell · DNSSEC</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69 / 94</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S26 · CONCEPT 4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Infrastructure Attacks Are Dangerous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Attacks on the network's plumbing (ARP, DNS, MITM) are dangerous because they are SILENT and hit many users at once, below the application layer — the app looks normal while the traffic beneath is compromised. The good news: a small set of universal user defences works across all of them.</a:t>
            </a:r>
          </a:p>
          <a:p>
            <a:pPr>
              <a:spcAft>
                <a:spcPts val="500"/>
              </a:spcAft>
            </a:pPr>
            <a:r>
              <a:rPr sz="1200" b="1">
                <a:solidFill>
                  <a:srgbClr val="185FA5"/>
                </a:solidFill>
              </a:rPr>
              <a:t>HOW IT WORKS</a:t>
            </a:r>
          </a:p>
          <a:p>
            <a:pPr>
              <a:spcAft>
                <a:spcPts val="600"/>
              </a:spcAft>
            </a:pPr>
            <a:r>
              <a:rPr sz="1400">
                <a:solidFill>
                  <a:srgbClr val="1A1A1A"/>
                </a:solidFill>
              </a:rPr>
              <a:t>•  They operate beneath the app, so the app can look completely normal.</a:t>
            </a:r>
          </a:p>
          <a:p>
            <a:pPr>
              <a:spcAft>
                <a:spcPts val="600"/>
              </a:spcAft>
            </a:pPr>
            <a:r>
              <a:rPr sz="1400">
                <a:solidFill>
                  <a:srgbClr val="1A1A1A"/>
                </a:solidFill>
              </a:rPr>
              <a:t>•  They're silent and can hit many users on a network simultaneously.</a:t>
            </a:r>
          </a:p>
          <a:p>
            <a:pPr>
              <a:spcAft>
                <a:spcPts val="600"/>
              </a:spcAft>
            </a:pPr>
            <a:r>
              <a:rPr sz="1400">
                <a:solidFill>
                  <a:srgbClr val="1A1A1A"/>
                </a:solidFill>
              </a:rPr>
              <a:t>•  Universal user defences: encryption (HTTPS/VPN), heed security warnings, avoid sensitive logins on untrusted networks.</a:t>
            </a:r>
          </a:p>
          <a:p>
            <a:pPr>
              <a:spcAft>
                <a:spcPts val="600"/>
              </a:spcAft>
            </a:pPr>
            <a:r>
              <a:rPr sz="1400">
                <a:solidFill>
                  <a:srgbClr val="1A1A1A"/>
                </a:solidFill>
              </a:rPr>
              <a:t>•  Infrastructure owners add DNSSEC, DAI, segmentation, and monitoring on top.</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Infra attacks hide below the app — but encryption + heeding warnings defends against them all.</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70 / 94</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S26 · CONCEPT 4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One universal defence set → covers all infrastructure attacks</a:t>
            </a:r>
          </a:p>
        </p:txBody>
      </p:sp>
      <p:graphicFrame>
        <p:nvGraphicFramePr>
          <p:cNvPr id="5" name="Table 4"/>
          <p:cNvGraphicFramePr>
            <a:graphicFrameLocks noGrp="1"/>
          </p:cNvGraphicFramePr>
          <p:nvPr/>
        </p:nvGraphicFramePr>
        <p:xfrm>
          <a:off x="384048" y="1572768"/>
          <a:ext cx="11430000" cy="4416552"/>
        </p:xfrm>
        <a:graphic>
          <a:graphicData uri="http://schemas.openxmlformats.org/drawingml/2006/table">
            <a:tbl>
              <a:tblPr>
                <a:tableStyleId>{5C22544A-7EE6-4342-B048-85BDC9FD1C3A}</a:tableStyleId>
              </a:tblPr>
              <a:tblGrid>
                <a:gridCol w="4267200"/>
                <a:gridCol w="4114800"/>
                <a:gridCol w="3048000"/>
              </a:tblGrid>
              <a:tr h="630936">
                <a:tc>
                  <a:txBody>
                    <a:bodyPr wrap="square"/>
                    <a:lstStyle/>
                    <a:p>
                      <a:r>
                        <a:rPr sz="1150" b="1">
                          <a:solidFill>
                            <a:srgbClr val="FFFFFF"/>
                          </a:solidFill>
                        </a:rPr>
                        <a:t>Universal user defence</a:t>
                      </a:r>
                    </a:p>
                  </a:txBody>
                  <a:tcPr anchor="ctr" marL="73152" marR="54864" marT="27432" marB="27432">
                    <a:solidFill>
                      <a:srgbClr val="0C2B4A"/>
                    </a:solidFill>
                  </a:tcPr>
                </a:tc>
                <a:tc>
                  <a:txBody>
                    <a:bodyPr wrap="square"/>
                    <a:lstStyle/>
                    <a:p>
                      <a:r>
                        <a:rPr sz="1150" b="1">
                          <a:solidFill>
                            <a:srgbClr val="FFFFFF"/>
                          </a:solidFill>
                        </a:rPr>
                        <a:t>Why it works</a:t>
                      </a:r>
                    </a:p>
                  </a:txBody>
                  <a:tcPr anchor="ctr" marL="73152" marR="54864" marT="27432" marB="27432">
                    <a:solidFill>
                      <a:srgbClr val="0C2B4A"/>
                    </a:solidFill>
                  </a:tcPr>
                </a:tc>
                <a:tc>
                  <a:txBody>
                    <a:bodyPr wrap="square"/>
                    <a:lstStyle/>
                    <a:p>
                      <a:r>
                        <a:rPr sz="1150" b="1">
                          <a:solidFill>
                            <a:srgbClr val="FFFFFF"/>
                          </a:solidFill>
                        </a:rPr>
                        <a:t>Covers</a:t>
                      </a:r>
                    </a:p>
                  </a:txBody>
                  <a:tcPr anchor="ctr" marL="73152" marR="54864" marT="27432" marB="27432">
                    <a:solidFill>
                      <a:srgbClr val="0C2B4A"/>
                    </a:solidFill>
                  </a:tcPr>
                </a:tc>
              </a:tr>
              <a:tr h="630936">
                <a:tc>
                  <a:txBody>
                    <a:bodyPr wrap="square"/>
                    <a:lstStyle/>
                    <a:p>
                      <a:r>
                        <a:rPr sz="1100" b="1">
                          <a:solidFill>
                            <a:srgbClr val="0C2B4A"/>
                          </a:solidFill>
                        </a:rPr>
                        <a:t>Use HTTPS/TLS everywhere</a:t>
                      </a:r>
                    </a:p>
                  </a:txBody>
                  <a:tcPr anchor="ctr" marL="73152" marR="54864" marT="27432" marB="27432">
                    <a:solidFill>
                      <a:srgbClr val="FFFFFF"/>
                    </a:solidFill>
                  </a:tcPr>
                </a:tc>
                <a:tc>
                  <a:txBody>
                    <a:bodyPr wrap="square"/>
                    <a:lstStyle/>
                    <a:p>
                      <a:r>
                        <a:rPr sz="1100">
                          <a:solidFill>
                            <a:srgbClr val="1A1A1A"/>
                          </a:solidFill>
                        </a:rPr>
                        <a:t>Encrypted traffic can't be read or altered</a:t>
                      </a:r>
                    </a:p>
                  </a:txBody>
                  <a:tcPr anchor="ctr" marL="73152" marR="54864" marT="27432" marB="27432">
                    <a:solidFill>
                      <a:srgbClr val="FFFFFF"/>
                    </a:solidFill>
                  </a:tcPr>
                </a:tc>
                <a:tc>
                  <a:txBody>
                    <a:bodyPr wrap="square"/>
                    <a:lstStyle/>
                    <a:p>
                      <a:r>
                        <a:rPr sz="1100">
                          <a:solidFill>
                            <a:srgbClr val="1A1A1A"/>
                          </a:solidFill>
                        </a:rPr>
                        <a:t>MITM, ARP, DNS (partially)</a:t>
                      </a:r>
                    </a:p>
                  </a:txBody>
                  <a:tcPr anchor="ctr" marL="73152" marR="54864" marT="27432" marB="27432">
                    <a:solidFill>
                      <a:srgbClr val="FFFFFF"/>
                    </a:solidFill>
                  </a:tcPr>
                </a:tc>
              </a:tr>
              <a:tr h="630936">
                <a:tc>
                  <a:txBody>
                    <a:bodyPr wrap="square"/>
                    <a:lstStyle/>
                    <a:p>
                      <a:r>
                        <a:rPr sz="1100" b="1">
                          <a:solidFill>
                            <a:srgbClr val="0C2B4A"/>
                          </a:solidFill>
                        </a:rPr>
                        <a:t>Use a VPN on untrusted Wi-Fi</a:t>
                      </a:r>
                    </a:p>
                  </a:txBody>
                  <a:tcPr anchor="ctr" marL="73152" marR="54864" marT="27432" marB="27432">
                    <a:solidFill>
                      <a:srgbClr val="EEF3F8"/>
                    </a:solidFill>
                  </a:tcPr>
                </a:tc>
                <a:tc>
                  <a:txBody>
                    <a:bodyPr wrap="square"/>
                    <a:lstStyle/>
                    <a:p>
                      <a:r>
                        <a:rPr sz="1100">
                          <a:solidFill>
                            <a:srgbClr val="1A1A1A"/>
                          </a:solidFill>
                        </a:rPr>
                        <a:t>Wraps all traffic in encryption</a:t>
                      </a:r>
                    </a:p>
                  </a:txBody>
                  <a:tcPr anchor="ctr" marL="73152" marR="54864" marT="27432" marB="27432">
                    <a:solidFill>
                      <a:srgbClr val="EEF3F8"/>
                    </a:solidFill>
                  </a:tcPr>
                </a:tc>
                <a:tc>
                  <a:txBody>
                    <a:bodyPr wrap="square"/>
                    <a:lstStyle/>
                    <a:p>
                      <a:r>
                        <a:rPr sz="1100">
                          <a:solidFill>
                            <a:srgbClr val="1A1A1A"/>
                          </a:solidFill>
                        </a:rPr>
                        <a:t>MITM, ARP, rogue hotspot</a:t>
                      </a:r>
                    </a:p>
                  </a:txBody>
                  <a:tcPr anchor="ctr" marL="73152" marR="54864" marT="27432" marB="27432">
                    <a:solidFill>
                      <a:srgbClr val="EEF3F8"/>
                    </a:solidFill>
                  </a:tcPr>
                </a:tc>
              </a:tr>
              <a:tr h="630936">
                <a:tc>
                  <a:txBody>
                    <a:bodyPr wrap="square"/>
                    <a:lstStyle/>
                    <a:p>
                      <a:r>
                        <a:rPr sz="1100" b="1">
                          <a:solidFill>
                            <a:srgbClr val="0C2B4A"/>
                          </a:solidFill>
                        </a:rPr>
                        <a:t>Heed certificate/security warnings</a:t>
                      </a:r>
                    </a:p>
                  </a:txBody>
                  <a:tcPr anchor="ctr" marL="73152" marR="54864" marT="27432" marB="27432">
                    <a:solidFill>
                      <a:srgbClr val="FFFFFF"/>
                    </a:solidFill>
                  </a:tcPr>
                </a:tc>
                <a:tc>
                  <a:txBody>
                    <a:bodyPr wrap="square"/>
                    <a:lstStyle/>
                    <a:p>
                      <a:r>
                        <a:rPr sz="1100">
                          <a:solidFill>
                            <a:srgbClr val="1A1A1A"/>
                          </a:solidFill>
                        </a:rPr>
                        <a:t>The tell that you're on a fake/relayed path</a:t>
                      </a:r>
                    </a:p>
                  </a:txBody>
                  <a:tcPr anchor="ctr" marL="73152" marR="54864" marT="27432" marB="27432">
                    <a:solidFill>
                      <a:srgbClr val="FFFFFF"/>
                    </a:solidFill>
                  </a:tcPr>
                </a:tc>
                <a:tc>
                  <a:txBody>
                    <a:bodyPr wrap="square"/>
                    <a:lstStyle/>
                    <a:p>
                      <a:r>
                        <a:rPr sz="1100">
                          <a:solidFill>
                            <a:srgbClr val="1A1A1A"/>
                          </a:solidFill>
                        </a:rPr>
                        <a:t>DNS poisoning, MITM</a:t>
                      </a:r>
                    </a:p>
                  </a:txBody>
                  <a:tcPr anchor="ctr" marL="73152" marR="54864" marT="27432" marB="27432">
                    <a:solidFill>
                      <a:srgbClr val="FFFFFF"/>
                    </a:solidFill>
                  </a:tcPr>
                </a:tc>
              </a:tr>
              <a:tr h="630936">
                <a:tc>
                  <a:txBody>
                    <a:bodyPr wrap="square"/>
                    <a:lstStyle/>
                    <a:p>
                      <a:r>
                        <a:rPr sz="1100" b="1">
                          <a:solidFill>
                            <a:srgbClr val="0C2B4A"/>
                          </a:solidFill>
                        </a:rPr>
                        <a:t>Avoid sensitive logins on public Wi-Fi</a:t>
                      </a:r>
                    </a:p>
                  </a:txBody>
                  <a:tcPr anchor="ctr" marL="73152" marR="54864" marT="27432" marB="27432">
                    <a:solidFill>
                      <a:srgbClr val="EEF3F8"/>
                    </a:solidFill>
                  </a:tcPr>
                </a:tc>
                <a:tc>
                  <a:txBody>
                    <a:bodyPr wrap="square"/>
                    <a:lstStyle/>
                    <a:p>
                      <a:r>
                        <a:rPr sz="1100">
                          <a:solidFill>
                            <a:srgbClr val="1A1A1A"/>
                          </a:solidFill>
                        </a:rPr>
                        <a:t>Removes the exposure entirely</a:t>
                      </a:r>
                    </a:p>
                  </a:txBody>
                  <a:tcPr anchor="ctr" marL="73152" marR="54864" marT="27432" marB="27432">
                    <a:solidFill>
                      <a:srgbClr val="EEF3F8"/>
                    </a:solidFill>
                  </a:tcPr>
                </a:tc>
                <a:tc>
                  <a:txBody>
                    <a:bodyPr wrap="square"/>
                    <a:lstStyle/>
                    <a:p>
                      <a:r>
                        <a:rPr sz="1100">
                          <a:solidFill>
                            <a:srgbClr val="1A1A1A"/>
                          </a:solidFill>
                        </a:rPr>
                        <a:t>MITM, rogue hotspot</a:t>
                      </a:r>
                    </a:p>
                  </a:txBody>
                  <a:tcPr anchor="ctr" marL="73152" marR="54864" marT="27432" marB="27432">
                    <a:solidFill>
                      <a:srgbClr val="EEF3F8"/>
                    </a:solidFill>
                  </a:tcPr>
                </a:tc>
              </a:tr>
              <a:tr h="630936">
                <a:tc>
                  <a:txBody>
                    <a:bodyPr wrap="square"/>
                    <a:lstStyle/>
                    <a:p>
                      <a:r>
                        <a:rPr sz="1100" b="1">
                          <a:solidFill>
                            <a:srgbClr val="0C2B4A"/>
                          </a:solidFill>
                        </a:rPr>
                        <a:t>Keep the device/browser updated</a:t>
                      </a:r>
                    </a:p>
                  </a:txBody>
                  <a:tcPr anchor="ctr" marL="73152" marR="54864" marT="27432" marB="27432">
                    <a:solidFill>
                      <a:srgbClr val="FFFFFF"/>
                    </a:solidFill>
                  </a:tcPr>
                </a:tc>
                <a:tc>
                  <a:txBody>
                    <a:bodyPr wrap="square"/>
                    <a:lstStyle/>
                    <a:p>
                      <a:r>
                        <a:rPr sz="1100">
                          <a:solidFill>
                            <a:srgbClr val="1A1A1A"/>
                          </a:solidFill>
                        </a:rPr>
                        <a:t>Closes flaws these attacks lean on</a:t>
                      </a:r>
                    </a:p>
                  </a:txBody>
                  <a:tcPr anchor="ctr" marL="73152" marR="54864" marT="27432" marB="27432">
                    <a:solidFill>
                      <a:srgbClr val="FFFFFF"/>
                    </a:solidFill>
                  </a:tcPr>
                </a:tc>
                <a:tc>
                  <a:txBody>
                    <a:bodyPr wrap="square"/>
                    <a:lstStyle/>
                    <a:p>
                      <a:r>
                        <a:rPr sz="1100">
                          <a:solidFill>
                            <a:srgbClr val="1A1A1A"/>
                          </a:solidFill>
                        </a:rPr>
                        <a:t>All</a:t>
                      </a:r>
                    </a:p>
                  </a:txBody>
                  <a:tcPr anchor="ctr" marL="73152" marR="54864" marT="27432" marB="27432">
                    <a:solidFill>
                      <a:srgbClr val="FFFFFF"/>
                    </a:solidFill>
                  </a:tcPr>
                </a:tc>
              </a:tr>
              <a:tr h="630936">
                <a:tc>
                  <a:txBody>
                    <a:bodyPr wrap="square"/>
                    <a:lstStyle/>
                    <a:p>
                      <a:r>
                        <a:rPr sz="1100" b="1">
                          <a:solidFill>
                            <a:srgbClr val="0C2B4A"/>
                          </a:solidFill>
                        </a:rPr>
                        <a:t>Owners: DNSSEC, DAI, segmentation, monitoring</a:t>
                      </a:r>
                    </a:p>
                  </a:txBody>
                  <a:tcPr anchor="ctr" marL="73152" marR="54864" marT="27432" marB="27432">
                    <a:solidFill>
                      <a:srgbClr val="EEF3F8"/>
                    </a:solidFill>
                  </a:tcPr>
                </a:tc>
                <a:tc>
                  <a:txBody>
                    <a:bodyPr wrap="square"/>
                    <a:lstStyle/>
                    <a:p>
                      <a:r>
                        <a:rPr sz="1100">
                          <a:solidFill>
                            <a:srgbClr val="1A1A1A"/>
                          </a:solidFill>
                        </a:rPr>
                        <a:t>Fix it at the infrastructure level</a:t>
                      </a:r>
                    </a:p>
                  </a:txBody>
                  <a:tcPr anchor="ctr" marL="73152" marR="54864" marT="27432" marB="27432">
                    <a:solidFill>
                      <a:srgbClr val="EEF3F8"/>
                    </a:solidFill>
                  </a:tcPr>
                </a:tc>
                <a:tc>
                  <a:txBody>
                    <a:bodyPr wrap="square"/>
                    <a:lstStyle/>
                    <a:p>
                      <a:r>
                        <a:rPr sz="1100">
                          <a:solidFill>
                            <a:srgbClr val="1A1A1A"/>
                          </a:solidFill>
                        </a:rPr>
                        <a:t>DNS, ARP, MITM</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unifying lesson of S26: three different plumbing attacks, ONE repeated user defence — encryption plus heeding warnings — with infrastructure owners hardening DNS/ARP/segmentation underneath.</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71 / 94</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S26 · CONCEPT 4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Infrastructure Attacks Are Dangerous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Because ARP, DNS, and MITM operate below the application, a Nepali user's banking app or browser can look perfectly normal while the traffic beneath is being read, altered, or redirected — and one poisoned café or campus network can affect everyone on it at once. That's why the same defence keeps recurring: encryption (HTTPS/VPN), heeding certificate warnings, and not doing e-banking on untrusted Wi-Fi.</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the app looks normal, the connection must be safe." Infrastructure attacks are invisible at the app layer — the page looks fine while the plumbing is compromised. Safety comes from encryption and heeding warnings, not from the app 'looking okay'.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Infrastructure attacks (ARP, DNS, MITM) are dangerous because they act silently below the application layer and can hit many users at once — the app looks normal while the underlying traffic is compromised. The countermeasure is a small universal set: encryption (HTTPS/VPN), heeding security warnings, and avoiding sensitive logins on untrusted networks, with owners adding DNSSEC, DAI, and monitoring.</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infrastructure attacks · silent, below the app, many users · universal defence = encryption + heed warnings + avoid untrusted Wi-Fi</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72 / 94</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S26 — 'Café Wi-Fi and your e-banking'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you must check e-banking and only café Wi-Fi is available. What do you do, and why?</a:t>
            </a:r>
          </a:p>
          <a:p>
            <a:pPr>
              <a:spcAft>
                <a:spcPts val="700"/>
              </a:spcAft>
            </a:pPr>
            <a:r>
              <a:rPr sz="1550">
                <a:solidFill>
                  <a:srgbClr val="1A1A1A"/>
                </a:solidFill>
              </a:rPr>
              <a:t>•  List the risks (MITM, poisoned DNS) and the defences you'd use.</a:t>
            </a:r>
          </a:p>
          <a:p>
            <a:pPr>
              <a:spcAft>
                <a:spcPts val="700"/>
              </a:spcAft>
            </a:pPr>
            <a:r>
              <a:rPr sz="1550">
                <a:solidFill>
                  <a:srgbClr val="1A1A1A"/>
                </a:solidFill>
              </a:rPr>
              <a:t>•  Take 3–4 answers aloud (3 min); rank them from safest to riskiest.</a:t>
            </a:r>
          </a:p>
          <a:p>
            <a:pPr>
              <a:spcAft>
                <a:spcPts val="700"/>
              </a:spcAft>
            </a:pPr>
            <a:r>
              <a:rPr sz="1550">
                <a:solidFill>
                  <a:srgbClr val="1A1A1A"/>
                </a:solidFill>
              </a:rPr>
              <a:t>•  Close: safest is mobile data or wait; if you must, use a VPN + HTTPS and never ignore a certificate warning.</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Strong answers: prefer mobile data / the official app over café Wi-Fi; if unavoidable, use a VPN, ensure HTTPS, and treat any certificate warning as STOP. Reward reasoning about WHY encryption defeats MITM/DNS poisoning.</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73 / 94</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S26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An attacker secretly relaying/altering traffic between two parties is performing a:</a:t>
            </a:r>
          </a:p>
          <a:p>
            <a:pPr lvl="1"/>
            <a:r>
              <a:rPr sz="1500" b="1">
                <a:solidFill>
                  <a:srgbClr val="0F6E56"/>
                </a:solidFill>
              </a:rPr>
              <a:t>a) DoS   b) ✅ man-in-the-middle attack   c) phishing   d) defacement</a:t>
            </a:r>
          </a:p>
          <a:p>
            <a:pPr lvl="1">
              <a:spcBef>
                <a:spcPts val="600"/>
              </a:spcBef>
            </a:pPr>
            <a:r>
              <a:rPr sz="1500" i="1">
                <a:solidFill>
                  <a:srgbClr val="1A1A1A"/>
                </a:solidFill>
              </a:rPr>
              <a:t>     Why: MITM sits between two parties and can read or alter what passes — breaking Confidentiality and Integrity.</a:t>
            </a:r>
          </a:p>
          <a:p>
            <a:pPr>
              <a:spcBef>
                <a:spcPts val="900"/>
              </a:spcBef>
            </a:pPr>
            <a:r>
              <a:rPr sz="1700" b="1">
                <a:solidFill>
                  <a:srgbClr val="0C2B4A"/>
                </a:solidFill>
              </a:rPr>
              <a:t>Q2.  The best everyday user defence against MITM on public Wi-Fi is:</a:t>
            </a:r>
          </a:p>
          <a:p>
            <a:pPr lvl="1"/>
            <a:r>
              <a:rPr sz="1500" b="1">
                <a:solidFill>
                  <a:srgbClr val="0F6E56"/>
                </a:solidFill>
              </a:rPr>
              <a:t>a) a longer password   b) ✅ use HTTPS/VPN encryption   c) turn off the screen lock   d) delete cookies</a:t>
            </a:r>
          </a:p>
          <a:p>
            <a:pPr lvl="1">
              <a:spcBef>
                <a:spcPts val="600"/>
              </a:spcBef>
            </a:pPr>
            <a:r>
              <a:rPr sz="1500" i="1">
                <a:solidFill>
                  <a:srgbClr val="1A1A1A"/>
                </a:solidFill>
              </a:rPr>
              <a:t>     Why: encryption makes relayed traffic unreadable and un-alterable, defeating the middle attacker.</a:t>
            </a:r>
          </a:p>
          <a:p>
            <a:pPr lvl="1">
              <a:spcBef>
                <a:spcPts val="600"/>
              </a:spcBef>
            </a:pPr>
            <a:r>
              <a:rPr sz="1500" i="1">
                <a:solidFill>
                  <a:srgbClr val="1A1A1A"/>
                </a:solidFill>
              </a:rPr>
              <a:t>Discussion: you must check e-banking and only café Wi-Fi is available — what do you do, and why?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74 / 94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S26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MITM = an attacker secretly relaying/altering traffic (breaks Confidentiality AND Integrity), common on public Wi-Fi.</a:t>
            </a:r>
          </a:p>
          <a:p>
            <a:pPr>
              <a:spcAft>
                <a:spcPts val="800"/>
              </a:spcAft>
            </a:pPr>
            <a:r>
              <a:rPr sz="1500">
                <a:solidFill>
                  <a:srgbClr val="1A1A1A"/>
                </a:solidFill>
              </a:rPr>
              <a:t>2.  ARP poisoning targets the LOCAL network; DNS poisoning targets name lookups (right name, fake server — the cert warning is the tell).</a:t>
            </a:r>
          </a:p>
          <a:p>
            <a:pPr>
              <a:spcAft>
                <a:spcPts val="800"/>
              </a:spcAft>
            </a:pPr>
            <a:r>
              <a:rPr sz="1500">
                <a:solidFill>
                  <a:srgbClr val="1A1A1A"/>
                </a:solidFill>
              </a:rPr>
              <a:t>3.  Universal defence: encryption (HTTPS/VPN) + heed security warnings + avoid sensitive logins on untrusted networks.</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As a future IT manager you'll set café-Wi-Fi policy, VPN rules, and HTTPS enforcement — these concepts let you justify those rules to a non-technical boss ('encryption is why a poisoned network still can't read our traffic'). It's the reasoning, not just the rule.</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S27 — WHO is behind all these attacks, and why: cyberattackers and their coloured hats.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75 / 94</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27 · LECTURE HOUR 6 (OF 6) — CLOSES UNIT 5</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Cyberattackers and Their Coloured Hats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The same skill that breaks into a bank can also be PAID by that bank to break in first and report it. So is a 'hacker' a criminal, a hero, or just a job title?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76 / 94</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S27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Coloured Hats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Hackers are classified by INTENT and AUTHORISATION, not by skill. A white hat is authorised and ethical (a penetration tester). A black hat is malicious and illegal. A grey hat is unauthorised but not (always) malicious — still illegal, because they act without permission even if they mean to help.</a:t>
            </a:r>
          </a:p>
          <a:p>
            <a:pPr>
              <a:spcAft>
                <a:spcPts val="500"/>
              </a:spcAft>
            </a:pPr>
            <a:r>
              <a:rPr sz="1200" b="1">
                <a:solidFill>
                  <a:srgbClr val="185FA5"/>
                </a:solidFill>
              </a:rPr>
              <a:t>HOW IT WORKS</a:t>
            </a:r>
          </a:p>
          <a:p>
            <a:pPr>
              <a:spcAft>
                <a:spcPts val="600"/>
              </a:spcAft>
            </a:pPr>
            <a:r>
              <a:rPr sz="1400">
                <a:solidFill>
                  <a:srgbClr val="1A1A1A"/>
                </a:solidFill>
              </a:rPr>
              <a:t>•  White hat: hired/authorised to test and improve security — legal, ethical (e.g. bug bounties).</a:t>
            </a:r>
          </a:p>
          <a:p>
            <a:pPr>
              <a:spcAft>
                <a:spcPts val="600"/>
              </a:spcAft>
            </a:pPr>
            <a:r>
              <a:rPr sz="1400">
                <a:solidFill>
                  <a:srgbClr val="1A1A1A"/>
                </a:solidFill>
              </a:rPr>
              <a:t>•  Black hat: attacks for malicious or criminal ends — illegal.</a:t>
            </a:r>
          </a:p>
          <a:p>
            <a:pPr>
              <a:spcAft>
                <a:spcPts val="600"/>
              </a:spcAft>
            </a:pPr>
            <a:r>
              <a:rPr sz="1400">
                <a:solidFill>
                  <a:srgbClr val="1A1A1A"/>
                </a:solidFill>
              </a:rPr>
              <a:t>•  Grey hat: pokes without permission and may report the flaw — well-meaning but still illegal.</a:t>
            </a:r>
          </a:p>
          <a:p>
            <a:pPr>
              <a:spcAft>
                <a:spcPts val="600"/>
              </a:spcAft>
            </a:pPr>
            <a:r>
              <a:rPr sz="1400">
                <a:solidFill>
                  <a:srgbClr val="1A1A1A"/>
                </a:solidFill>
              </a:rPr>
              <a:t>•  The hat is about authorisation + intent; the same technical skill sits behind all three.</a:t>
            </a:r>
          </a:p>
        </p:txBody>
      </p:sp>
      <p:pic>
        <p:nvPicPr>
          <p:cNvPr id="6" name="Picture 5" descr="s27_hats.png"/>
          <p:cNvPicPr>
            <a:picLocks noChangeAspect="1"/>
          </p:cNvPicPr>
          <p:nvPr/>
        </p:nvPicPr>
        <p:blipFill>
          <a:blip r:embed="rId2"/>
          <a:stretch>
            <a:fillRect/>
          </a:stretch>
        </p:blipFill>
        <p:spPr>
          <a:xfrm>
            <a:off x="6355080" y="2616024"/>
            <a:ext cx="5532120" cy="2403191"/>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The hat is authorisation + intent, not skill — same knowledge, different purpose.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77 / 94</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S27 · CONCEPT 1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White vs Grey vs Black hat</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116666"/>
                <a:gridCol w="3104444"/>
                <a:gridCol w="3104444"/>
                <a:gridCol w="3104444"/>
              </a:tblGrid>
              <a:tr h="736092">
                <a:tc>
                  <a:txBody>
                    <a:bodyPr wrap="square"/>
                    <a:lstStyle/>
                    <a:p>
                      <a:r>
                        <a:rPr sz="1100" b="1">
                          <a:solidFill>
                            <a:srgbClr val="FFFFFF"/>
                          </a:solidFill>
                        </a:rPr>
                        <a:t>Dimension</a:t>
                      </a:r>
                    </a:p>
                  </a:txBody>
                  <a:tcPr anchor="ctr" marL="73152" marR="54864" marT="27432" marB="27432">
                    <a:solidFill>
                      <a:srgbClr val="0C2B4A"/>
                    </a:solidFill>
                  </a:tcPr>
                </a:tc>
                <a:tc>
                  <a:txBody>
                    <a:bodyPr wrap="square"/>
                    <a:lstStyle/>
                    <a:p>
                      <a:r>
                        <a:rPr sz="1100" b="1">
                          <a:solidFill>
                            <a:srgbClr val="FFFFFF"/>
                          </a:solidFill>
                        </a:rPr>
                        <a:t>White hat</a:t>
                      </a:r>
                    </a:p>
                  </a:txBody>
                  <a:tcPr anchor="ctr" marL="73152" marR="54864" marT="27432" marB="27432">
                    <a:solidFill>
                      <a:srgbClr val="0C2B4A"/>
                    </a:solidFill>
                  </a:tcPr>
                </a:tc>
                <a:tc>
                  <a:txBody>
                    <a:bodyPr wrap="square"/>
                    <a:lstStyle/>
                    <a:p>
                      <a:r>
                        <a:rPr sz="1100" b="1">
                          <a:solidFill>
                            <a:srgbClr val="FFFFFF"/>
                          </a:solidFill>
                        </a:rPr>
                        <a:t>Grey hat</a:t>
                      </a:r>
                    </a:p>
                  </a:txBody>
                  <a:tcPr anchor="ctr" marL="73152" marR="54864" marT="27432" marB="27432">
                    <a:solidFill>
                      <a:srgbClr val="0C2B4A"/>
                    </a:solidFill>
                  </a:tcPr>
                </a:tc>
                <a:tc>
                  <a:txBody>
                    <a:bodyPr wrap="square"/>
                    <a:lstStyle/>
                    <a:p>
                      <a:r>
                        <a:rPr sz="1100" b="1">
                          <a:solidFill>
                            <a:srgbClr val="FFFFFF"/>
                          </a:solidFill>
                        </a:rPr>
                        <a:t>Black hat</a:t>
                      </a:r>
                    </a:p>
                  </a:txBody>
                  <a:tcPr anchor="ctr" marL="73152" marR="54864" marT="27432" marB="27432">
                    <a:solidFill>
                      <a:srgbClr val="0C2B4A"/>
                    </a:solidFill>
                  </a:tcPr>
                </a:tc>
              </a:tr>
              <a:tr h="736092">
                <a:tc>
                  <a:txBody>
                    <a:bodyPr wrap="square"/>
                    <a:lstStyle/>
                    <a:p>
                      <a:r>
                        <a:rPr sz="1050" b="1">
                          <a:solidFill>
                            <a:srgbClr val="0C2B4A"/>
                          </a:solidFill>
                        </a:rPr>
                        <a:t>Authorised?</a:t>
                      </a:r>
                    </a:p>
                  </a:txBody>
                  <a:tcPr anchor="ctr" marL="73152" marR="54864" marT="27432" marB="27432">
                    <a:solidFill>
                      <a:srgbClr val="FFFFFF"/>
                    </a:solidFill>
                  </a:tcPr>
                </a:tc>
                <a:tc>
                  <a:txBody>
                    <a:bodyPr wrap="square"/>
                    <a:lstStyle/>
                    <a:p>
                      <a:r>
                        <a:rPr sz="1050">
                          <a:solidFill>
                            <a:srgbClr val="1A1A1A"/>
                          </a:solidFill>
                        </a:rPr>
                        <a:t>Yes — invited</a:t>
                      </a:r>
                    </a:p>
                  </a:txBody>
                  <a:tcPr anchor="ctr" marL="73152" marR="54864" marT="27432" marB="27432">
                    <a:solidFill>
                      <a:srgbClr val="FFFFFF"/>
                    </a:solidFill>
                  </a:tcPr>
                </a:tc>
                <a:tc>
                  <a:txBody>
                    <a:bodyPr wrap="square"/>
                    <a:lstStyle/>
                    <a:p>
                      <a:r>
                        <a:rPr sz="1050">
                          <a:solidFill>
                            <a:srgbClr val="1A1A1A"/>
                          </a:solidFill>
                        </a:rPr>
                        <a:t>No</a:t>
                      </a:r>
                    </a:p>
                  </a:txBody>
                  <a:tcPr anchor="ctr" marL="73152" marR="54864" marT="27432" marB="27432">
                    <a:solidFill>
                      <a:srgbClr val="FFFFFF"/>
                    </a:solidFill>
                  </a:tcPr>
                </a:tc>
                <a:tc>
                  <a:txBody>
                    <a:bodyPr wrap="square"/>
                    <a:lstStyle/>
                    <a:p>
                      <a:r>
                        <a:rPr sz="1050">
                          <a:solidFill>
                            <a:srgbClr val="1A1A1A"/>
                          </a:solidFill>
                        </a:rPr>
                        <a:t>No</a:t>
                      </a:r>
                    </a:p>
                  </a:txBody>
                  <a:tcPr anchor="ctr" marL="73152" marR="54864" marT="27432" marB="27432">
                    <a:solidFill>
                      <a:srgbClr val="FFFFFF"/>
                    </a:solidFill>
                  </a:tcPr>
                </a:tc>
              </a:tr>
              <a:tr h="736092">
                <a:tc>
                  <a:txBody>
                    <a:bodyPr wrap="square"/>
                    <a:lstStyle/>
                    <a:p>
                      <a:r>
                        <a:rPr sz="1050" b="1">
                          <a:solidFill>
                            <a:srgbClr val="0C2B4A"/>
                          </a:solidFill>
                        </a:rPr>
                        <a:t>Intent</a:t>
                      </a:r>
                    </a:p>
                  </a:txBody>
                  <a:tcPr anchor="ctr" marL="73152" marR="54864" marT="27432" marB="27432">
                    <a:solidFill>
                      <a:srgbClr val="EEF3F8"/>
                    </a:solidFill>
                  </a:tcPr>
                </a:tc>
                <a:tc>
                  <a:txBody>
                    <a:bodyPr wrap="square"/>
                    <a:lstStyle/>
                    <a:p>
                      <a:r>
                        <a:rPr sz="1050">
                          <a:solidFill>
                            <a:srgbClr val="1A1A1A"/>
                          </a:solidFill>
                        </a:rPr>
                        <a:t>Improve security</a:t>
                      </a:r>
                    </a:p>
                  </a:txBody>
                  <a:tcPr anchor="ctr" marL="73152" marR="54864" marT="27432" marB="27432">
                    <a:solidFill>
                      <a:srgbClr val="EEF3F8"/>
                    </a:solidFill>
                  </a:tcPr>
                </a:tc>
                <a:tc>
                  <a:txBody>
                    <a:bodyPr wrap="square"/>
                    <a:lstStyle/>
                    <a:p>
                      <a:r>
                        <a:rPr sz="1050">
                          <a:solidFill>
                            <a:srgbClr val="1A1A1A"/>
                          </a:solidFill>
                        </a:rPr>
                        <a:t>Mixed / curious</a:t>
                      </a:r>
                    </a:p>
                  </a:txBody>
                  <a:tcPr anchor="ctr" marL="73152" marR="54864" marT="27432" marB="27432">
                    <a:solidFill>
                      <a:srgbClr val="EEF3F8"/>
                    </a:solidFill>
                  </a:tcPr>
                </a:tc>
                <a:tc>
                  <a:txBody>
                    <a:bodyPr wrap="square"/>
                    <a:lstStyle/>
                    <a:p>
                      <a:r>
                        <a:rPr sz="1050">
                          <a:solidFill>
                            <a:srgbClr val="1A1A1A"/>
                          </a:solidFill>
                        </a:rPr>
                        <a:t>Malicious / criminal</a:t>
                      </a:r>
                    </a:p>
                  </a:txBody>
                  <a:tcPr anchor="ctr" marL="73152" marR="54864" marT="27432" marB="27432">
                    <a:solidFill>
                      <a:srgbClr val="EEF3F8"/>
                    </a:solidFill>
                  </a:tcPr>
                </a:tc>
              </a:tr>
              <a:tr h="736092">
                <a:tc>
                  <a:txBody>
                    <a:bodyPr wrap="square"/>
                    <a:lstStyle/>
                    <a:p>
                      <a:r>
                        <a:rPr sz="1050" b="1">
                          <a:solidFill>
                            <a:srgbClr val="0C2B4A"/>
                          </a:solidFill>
                        </a:rPr>
                        <a:t>Legal?</a:t>
                      </a:r>
                    </a:p>
                  </a:txBody>
                  <a:tcPr anchor="ctr" marL="73152" marR="54864" marT="27432" marB="27432">
                    <a:solidFill>
                      <a:srgbClr val="FFFFFF"/>
                    </a:solidFill>
                  </a:tcPr>
                </a:tc>
                <a:tc>
                  <a:txBody>
                    <a:bodyPr wrap="square"/>
                    <a:lstStyle/>
                    <a:p>
                      <a:r>
                        <a:rPr sz="1050">
                          <a:solidFill>
                            <a:srgbClr val="1A1A1A"/>
                          </a:solidFill>
                        </a:rPr>
                        <a:t>Legal</a:t>
                      </a:r>
                    </a:p>
                  </a:txBody>
                  <a:tcPr anchor="ctr" marL="73152" marR="54864" marT="27432" marB="27432">
                    <a:solidFill>
                      <a:srgbClr val="FFFFFF"/>
                    </a:solidFill>
                  </a:tcPr>
                </a:tc>
                <a:tc>
                  <a:txBody>
                    <a:bodyPr wrap="square"/>
                    <a:lstStyle/>
                    <a:p>
                      <a:r>
                        <a:rPr sz="1050">
                          <a:solidFill>
                            <a:srgbClr val="1A1A1A"/>
                          </a:solidFill>
                        </a:rPr>
                        <a:t>Illegal (no permission)</a:t>
                      </a:r>
                    </a:p>
                  </a:txBody>
                  <a:tcPr anchor="ctr" marL="73152" marR="54864" marT="27432" marB="27432">
                    <a:solidFill>
                      <a:srgbClr val="FFFFFF"/>
                    </a:solidFill>
                  </a:tcPr>
                </a:tc>
                <a:tc>
                  <a:txBody>
                    <a:bodyPr wrap="square"/>
                    <a:lstStyle/>
                    <a:p>
                      <a:r>
                        <a:rPr sz="1050">
                          <a:solidFill>
                            <a:srgbClr val="1A1A1A"/>
                          </a:solidFill>
                        </a:rPr>
                        <a:t>Illegal</a:t>
                      </a:r>
                    </a:p>
                  </a:txBody>
                  <a:tcPr anchor="ctr" marL="73152" marR="54864" marT="27432" marB="27432">
                    <a:solidFill>
                      <a:srgbClr val="FFFFFF"/>
                    </a:solidFill>
                  </a:tcPr>
                </a:tc>
              </a:tr>
              <a:tr h="736092">
                <a:tc>
                  <a:txBody>
                    <a:bodyPr wrap="square"/>
                    <a:lstStyle/>
                    <a:p>
                      <a:r>
                        <a:rPr sz="1050" b="1">
                          <a:solidFill>
                            <a:srgbClr val="0C2B4A"/>
                          </a:solidFill>
                        </a:rPr>
                        <a:t>Typical activity</a:t>
                      </a:r>
                    </a:p>
                  </a:txBody>
                  <a:tcPr anchor="ctr" marL="73152" marR="54864" marT="27432" marB="27432">
                    <a:solidFill>
                      <a:srgbClr val="EEF3F8"/>
                    </a:solidFill>
                  </a:tcPr>
                </a:tc>
                <a:tc>
                  <a:txBody>
                    <a:bodyPr wrap="square"/>
                    <a:lstStyle/>
                    <a:p>
                      <a:r>
                        <a:rPr sz="1050">
                          <a:solidFill>
                            <a:srgbClr val="1A1A1A"/>
                          </a:solidFill>
                        </a:rPr>
                        <a:t>Pen-test, bug bounty</a:t>
                      </a:r>
                    </a:p>
                  </a:txBody>
                  <a:tcPr anchor="ctr" marL="73152" marR="54864" marT="27432" marB="27432">
                    <a:solidFill>
                      <a:srgbClr val="EEF3F8"/>
                    </a:solidFill>
                  </a:tcPr>
                </a:tc>
                <a:tc>
                  <a:txBody>
                    <a:bodyPr wrap="square"/>
                    <a:lstStyle/>
                    <a:p>
                      <a:r>
                        <a:rPr sz="1050">
                          <a:solidFill>
                            <a:srgbClr val="1A1A1A"/>
                          </a:solidFill>
                        </a:rPr>
                        <a:t>Unrequested probing, then report</a:t>
                      </a:r>
                    </a:p>
                  </a:txBody>
                  <a:tcPr anchor="ctr" marL="73152" marR="54864" marT="27432" marB="27432">
                    <a:solidFill>
                      <a:srgbClr val="EEF3F8"/>
                    </a:solidFill>
                  </a:tcPr>
                </a:tc>
                <a:tc>
                  <a:txBody>
                    <a:bodyPr wrap="square"/>
                    <a:lstStyle/>
                    <a:p>
                      <a:r>
                        <a:rPr sz="1050">
                          <a:solidFill>
                            <a:srgbClr val="1A1A1A"/>
                          </a:solidFill>
                        </a:rPr>
                        <a:t>Fraud, ransomware, theft</a:t>
                      </a:r>
                    </a:p>
                  </a:txBody>
                  <a:tcPr anchor="ctr" marL="73152" marR="54864" marT="27432" marB="27432">
                    <a:solidFill>
                      <a:srgbClr val="EEF3F8"/>
                    </a:solidFill>
                  </a:tcPr>
                </a:tc>
              </a:tr>
              <a:tr h="736092">
                <a:tc>
                  <a:txBody>
                    <a:bodyPr wrap="square"/>
                    <a:lstStyle/>
                    <a:p>
                      <a:r>
                        <a:rPr sz="1050" b="1">
                          <a:solidFill>
                            <a:srgbClr val="0C2B4A"/>
                          </a:solidFill>
                        </a:rPr>
                        <a:t>Nepal example</a:t>
                      </a:r>
                    </a:p>
                  </a:txBody>
                  <a:tcPr anchor="ctr" marL="73152" marR="54864" marT="27432" marB="27432">
                    <a:solidFill>
                      <a:srgbClr val="FFFFFF"/>
                    </a:solidFill>
                  </a:tcPr>
                </a:tc>
                <a:tc>
                  <a:txBody>
                    <a:bodyPr wrap="square"/>
                    <a:lstStyle/>
                    <a:p>
                      <a:r>
                        <a:rPr sz="1050">
                          <a:solidFill>
                            <a:srgbClr val="1A1A1A"/>
                          </a:solidFill>
                        </a:rPr>
                        <a:t>Reports a bank flaw responsibly</a:t>
                      </a:r>
                    </a:p>
                  </a:txBody>
                  <a:tcPr anchor="ctr" marL="73152" marR="54864" marT="27432" marB="27432">
                    <a:solidFill>
                      <a:srgbClr val="FFFFFF"/>
                    </a:solidFill>
                  </a:tcPr>
                </a:tc>
                <a:tc>
                  <a:txBody>
                    <a:bodyPr wrap="square"/>
                    <a:lstStyle/>
                    <a:p>
                      <a:r>
                        <a:rPr sz="1050">
                          <a:solidFill>
                            <a:srgbClr val="1A1A1A"/>
                          </a:solidFill>
                        </a:rPr>
                        <a:t>Finds a gov flaw uninvited</a:t>
                      </a:r>
                    </a:p>
                  </a:txBody>
                  <a:tcPr anchor="ctr" marL="73152" marR="54864" marT="27432" marB="27432">
                    <a:solidFill>
                      <a:srgbClr val="FFFFFF"/>
                    </a:solidFill>
                  </a:tcPr>
                </a:tc>
                <a:tc>
                  <a:txBody>
                    <a:bodyPr wrap="square"/>
                    <a:lstStyle/>
                    <a:p>
                      <a:r>
                        <a:rPr sz="1050">
                          <a:solidFill>
                            <a:srgbClr val="1A1A1A"/>
                          </a:solidFill>
                        </a:rPr>
                        <a:t>Defaces / steals data</a:t>
                      </a:r>
                    </a:p>
                  </a:txBody>
                  <a:tcPr anchor="ctr" marL="73152" marR="54864" marT="27432" marB="27432">
                    <a:solidFill>
                      <a:srgbClr val="FFFFFF"/>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It's about authorisation + intent, not skill. A grey hat may mean well but is still acting illegally by probing without permission — good intentions don't make it authorised.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78 / 94</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S27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Coloured Hats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In Nepal, ethical-hacker and bug-bounty researchers who responsibly report flaws in bank or government sites are white hats — invited or acting within a disclosure programme. Those who defaced the same sites are black hats. Globally, bug-bounty researchers (white) and ransomware operators (black) may possess identical skills; the hat is defined by whether they had permission and what they intended.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"All hackers are criminals." The hat is about authorisation and intent, not skill — many hackers are paid defenders (penetration testers, bug-bounty researchers) who make systems safer. Skill is neutral; how and why you use it decides the colour of the hat.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Hackers are classified by intent and authorisation, not skill: a white hat is authorised and ethical (pen-testers, bug bounties), a black hat is malicious and illegal, and a grey hat is unauthorised but not necessarily malicious — still illegal because they act without permission. The same technical knowledge underlies all three, so the hat depends on authorisation plus intent, not ability.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coloured hats · white/grey/black · authorisation + intent, not skill · pen-tester vs criminal · grey = illegal but not malicious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79 / 94</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S27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Attacker Types by Motive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Different attackers want different things, and motive predicts their behaviour. Script kiddies (low skill, seek thrills) use others' tools; hacktivists are politically/socially motivated; cybercriminals/organised crime want money; state/nation-state actors ('APT') pursue espionage and sabotage with deep resources; insiders misuse legitimate access, maliciously or by negligence.</a:t>
            </a:r>
          </a:p>
          <a:p>
            <a:pPr>
              <a:spcAft>
                <a:spcPts val="500"/>
              </a:spcAft>
            </a:pPr>
            <a:r>
              <a:rPr sz="1200" b="1">
                <a:solidFill>
                  <a:srgbClr val="185FA5"/>
                </a:solidFill>
              </a:rPr>
              <a:t>HOW IT WORKS</a:t>
            </a:r>
          </a:p>
          <a:p>
            <a:pPr>
              <a:spcAft>
                <a:spcPts val="600"/>
              </a:spcAft>
            </a:pPr>
            <a:r>
              <a:rPr sz="1400">
                <a:solidFill>
                  <a:srgbClr val="1A1A1A"/>
                </a:solidFill>
              </a:rPr>
              <a:t>•  Script kiddies: low skill, borrowed tools, chasing notoriety or thrills.</a:t>
            </a:r>
          </a:p>
          <a:p>
            <a:pPr>
              <a:spcAft>
                <a:spcPts val="600"/>
              </a:spcAft>
            </a:pPr>
            <a:r>
              <a:rPr sz="1400">
                <a:solidFill>
                  <a:srgbClr val="1A1A1A"/>
                </a:solidFill>
              </a:rPr>
              <a:t>•  Hacktivists: defacements, leaks, DDoS to make a political/social point.</a:t>
            </a:r>
          </a:p>
          <a:p>
            <a:pPr>
              <a:spcAft>
                <a:spcPts val="600"/>
              </a:spcAft>
            </a:pPr>
            <a:r>
              <a:rPr sz="1400">
                <a:solidFill>
                  <a:srgbClr val="1A1A1A"/>
                </a:solidFill>
              </a:rPr>
              <a:t>•  Cybercriminals / organised crime: fraud, ransomware, data theft — for money.</a:t>
            </a:r>
          </a:p>
          <a:p>
            <a:pPr>
              <a:spcAft>
                <a:spcPts val="600"/>
              </a:spcAft>
            </a:pPr>
            <a:r>
              <a:rPr sz="1400">
                <a:solidFill>
                  <a:srgbClr val="1A1A1A"/>
                </a:solidFill>
              </a:rPr>
              <a:t>•  State actors (APT): espionage, sabotage, strategic advantage — well-resourced and persistent.</a:t>
            </a:r>
          </a:p>
          <a:p>
            <a:pPr>
              <a:spcAft>
                <a:spcPts val="600"/>
              </a:spcAft>
            </a:pPr>
            <a:r>
              <a:rPr sz="1400">
                <a:solidFill>
                  <a:srgbClr val="1A1A1A"/>
                </a:solidFill>
              </a:rPr>
              <a:t>•  Insiders: employees/contractors misusing access — malicious OR simply negligent.</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Motive predicts the attacker: thrill, politics, money, espionage, or misused access.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80 / 94</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S27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Attacker types — motive, typical target &amp; key defence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689411"/>
                <a:gridCol w="2554941"/>
                <a:gridCol w="2958352"/>
                <a:gridCol w="3227294"/>
              </a:tblGrid>
              <a:tr h="630936">
                <a:tc>
                  <a:txBody>
                    <a:bodyPr wrap="square"/>
                    <a:lstStyle/>
                    <a:p>
                      <a:r>
                        <a:rPr sz="1100" b="1">
                          <a:solidFill>
                            <a:srgbClr val="FFFFFF"/>
                          </a:solidFill>
                        </a:rPr>
                        <a:t>Attacker type</a:t>
                      </a:r>
                    </a:p>
                  </a:txBody>
                  <a:tcPr anchor="ctr" marL="73152" marR="54864" marT="27432" marB="27432">
                    <a:solidFill>
                      <a:srgbClr val="0C2B4A"/>
                    </a:solidFill>
                  </a:tcPr>
                </a:tc>
                <a:tc>
                  <a:txBody>
                    <a:bodyPr wrap="square"/>
                    <a:lstStyle/>
                    <a:p>
                      <a:r>
                        <a:rPr sz="1100" b="1">
                          <a:solidFill>
                            <a:srgbClr val="FFFFFF"/>
                          </a:solidFill>
                        </a:rPr>
                        <a:t>Motive</a:t>
                      </a:r>
                    </a:p>
                  </a:txBody>
                  <a:tcPr anchor="ctr" marL="73152" marR="54864" marT="27432" marB="27432">
                    <a:solidFill>
                      <a:srgbClr val="0C2B4A"/>
                    </a:solidFill>
                  </a:tcPr>
                </a:tc>
                <a:tc>
                  <a:txBody>
                    <a:bodyPr wrap="square"/>
                    <a:lstStyle/>
                    <a:p>
                      <a:r>
                        <a:rPr sz="1100" b="1">
                          <a:solidFill>
                            <a:srgbClr val="FFFFFF"/>
                          </a:solidFill>
                        </a:rPr>
                        <a:t>Typical target</a:t>
                      </a:r>
                    </a:p>
                  </a:txBody>
                  <a:tcPr anchor="ctr" marL="73152" marR="54864" marT="27432" marB="27432">
                    <a:solidFill>
                      <a:srgbClr val="0C2B4A"/>
                    </a:solidFill>
                  </a:tcPr>
                </a:tc>
                <a:tc>
                  <a:txBody>
                    <a:bodyPr wrap="square"/>
                    <a:lstStyle/>
                    <a:p>
                      <a:r>
                        <a:rPr sz="1100" b="1">
                          <a:solidFill>
                            <a:srgbClr val="FFFFFF"/>
                          </a:solidFill>
                        </a:rPr>
                        <a:t>Key defence</a:t>
                      </a:r>
                    </a:p>
                  </a:txBody>
                  <a:tcPr anchor="ctr" marL="73152" marR="54864" marT="27432" marB="27432">
                    <a:solidFill>
                      <a:srgbClr val="0C2B4A"/>
                    </a:solidFill>
                  </a:tcPr>
                </a:tc>
              </a:tr>
              <a:tr h="630936">
                <a:tc>
                  <a:txBody>
                    <a:bodyPr wrap="square"/>
                    <a:lstStyle/>
                    <a:p>
                      <a:r>
                        <a:rPr sz="1050" b="1">
                          <a:solidFill>
                            <a:srgbClr val="0C2B4A"/>
                          </a:solidFill>
                        </a:rPr>
                        <a:t>Script kiddie</a:t>
                      </a:r>
                    </a:p>
                  </a:txBody>
                  <a:tcPr anchor="ctr" marL="73152" marR="54864" marT="27432" marB="27432">
                    <a:solidFill>
                      <a:srgbClr val="FFFFFF"/>
                    </a:solidFill>
                  </a:tcPr>
                </a:tc>
                <a:tc>
                  <a:txBody>
                    <a:bodyPr wrap="square"/>
                    <a:lstStyle/>
                    <a:p>
                      <a:r>
                        <a:rPr sz="1050">
                          <a:solidFill>
                            <a:srgbClr val="1A1A1A"/>
                          </a:solidFill>
                        </a:rPr>
                        <a:t>Thrills, notoriety</a:t>
                      </a:r>
                    </a:p>
                  </a:txBody>
                  <a:tcPr anchor="ctr" marL="73152" marR="54864" marT="27432" marB="27432">
                    <a:solidFill>
                      <a:srgbClr val="FFFFFF"/>
                    </a:solidFill>
                  </a:tcPr>
                </a:tc>
                <a:tc>
                  <a:txBody>
                    <a:bodyPr wrap="square"/>
                    <a:lstStyle/>
                    <a:p>
                      <a:r>
                        <a:rPr sz="1050">
                          <a:solidFill>
                            <a:srgbClr val="1A1A1A"/>
                          </a:solidFill>
                        </a:rPr>
                        <a:t>Easy, exposed systems</a:t>
                      </a:r>
                    </a:p>
                  </a:txBody>
                  <a:tcPr anchor="ctr" marL="73152" marR="54864" marT="27432" marB="27432">
                    <a:solidFill>
                      <a:srgbClr val="FFFFFF"/>
                    </a:solidFill>
                  </a:tcPr>
                </a:tc>
                <a:tc>
                  <a:txBody>
                    <a:bodyPr wrap="square"/>
                    <a:lstStyle/>
                    <a:p>
                      <a:r>
                        <a:rPr sz="1050">
                          <a:solidFill>
                            <a:srgbClr val="1A1A1A"/>
                          </a:solidFill>
                        </a:rPr>
                        <a:t>Patch, basic hygiene, MFA</a:t>
                      </a:r>
                    </a:p>
                  </a:txBody>
                  <a:tcPr anchor="ctr" marL="73152" marR="54864" marT="27432" marB="27432">
                    <a:solidFill>
                      <a:srgbClr val="FFFFFF"/>
                    </a:solidFill>
                  </a:tcPr>
                </a:tc>
              </a:tr>
              <a:tr h="630936">
                <a:tc>
                  <a:txBody>
                    <a:bodyPr wrap="square"/>
                    <a:lstStyle/>
                    <a:p>
                      <a:r>
                        <a:rPr sz="1050" b="1">
                          <a:solidFill>
                            <a:srgbClr val="0C2B4A"/>
                          </a:solidFill>
                        </a:rPr>
                        <a:t>Hacktivist</a:t>
                      </a:r>
                    </a:p>
                  </a:txBody>
                  <a:tcPr anchor="ctr" marL="73152" marR="54864" marT="27432" marB="27432">
                    <a:solidFill>
                      <a:srgbClr val="EEF3F8"/>
                    </a:solidFill>
                  </a:tcPr>
                </a:tc>
                <a:tc>
                  <a:txBody>
                    <a:bodyPr wrap="square"/>
                    <a:lstStyle/>
                    <a:p>
                      <a:r>
                        <a:rPr sz="1050">
                          <a:solidFill>
                            <a:srgbClr val="1A1A1A"/>
                          </a:solidFill>
                        </a:rPr>
                        <a:t>Political / social message</a:t>
                      </a:r>
                    </a:p>
                  </a:txBody>
                  <a:tcPr anchor="ctr" marL="73152" marR="54864" marT="27432" marB="27432">
                    <a:solidFill>
                      <a:srgbClr val="EEF3F8"/>
                    </a:solidFill>
                  </a:tcPr>
                </a:tc>
                <a:tc>
                  <a:txBody>
                    <a:bodyPr wrap="square"/>
                    <a:lstStyle/>
                    <a:p>
                      <a:r>
                        <a:rPr sz="1050">
                          <a:solidFill>
                            <a:srgbClr val="1A1A1A"/>
                          </a:solidFill>
                        </a:rPr>
                        <a:t>Public gov / high-profile sites</a:t>
                      </a:r>
                    </a:p>
                  </a:txBody>
                  <a:tcPr anchor="ctr" marL="73152" marR="54864" marT="27432" marB="27432">
                    <a:solidFill>
                      <a:srgbClr val="EEF3F8"/>
                    </a:solidFill>
                  </a:tcPr>
                </a:tc>
                <a:tc>
                  <a:txBody>
                    <a:bodyPr wrap="square"/>
                    <a:lstStyle/>
                    <a:p>
                      <a:r>
                        <a:rPr sz="1050">
                          <a:solidFill>
                            <a:srgbClr val="1A1A1A"/>
                          </a:solidFill>
                        </a:rPr>
                        <a:t>DDoS defence, patching, monitoring</a:t>
                      </a:r>
                    </a:p>
                  </a:txBody>
                  <a:tcPr anchor="ctr" marL="73152" marR="54864" marT="27432" marB="27432">
                    <a:solidFill>
                      <a:srgbClr val="EEF3F8"/>
                    </a:solidFill>
                  </a:tcPr>
                </a:tc>
              </a:tr>
              <a:tr h="630936">
                <a:tc>
                  <a:txBody>
                    <a:bodyPr wrap="square"/>
                    <a:lstStyle/>
                    <a:p>
                      <a:r>
                        <a:rPr sz="1050" b="1">
                          <a:solidFill>
                            <a:srgbClr val="0C2B4A"/>
                          </a:solidFill>
                        </a:rPr>
                        <a:t>Cybercriminal / org. crime</a:t>
                      </a:r>
                    </a:p>
                  </a:txBody>
                  <a:tcPr anchor="ctr" marL="73152" marR="54864" marT="27432" marB="27432">
                    <a:solidFill>
                      <a:srgbClr val="FFFFFF"/>
                    </a:solidFill>
                  </a:tcPr>
                </a:tc>
                <a:tc>
                  <a:txBody>
                    <a:bodyPr wrap="square"/>
                    <a:lstStyle/>
                    <a:p>
                      <a:r>
                        <a:rPr sz="1050">
                          <a:solidFill>
                            <a:srgbClr val="1A1A1A"/>
                          </a:solidFill>
                        </a:rPr>
                        <a:t>Money</a:t>
                      </a:r>
                    </a:p>
                  </a:txBody>
                  <a:tcPr anchor="ctr" marL="73152" marR="54864" marT="27432" marB="27432">
                    <a:solidFill>
                      <a:srgbClr val="FFFFFF"/>
                    </a:solidFill>
                  </a:tcPr>
                </a:tc>
                <a:tc>
                  <a:txBody>
                    <a:bodyPr wrap="square"/>
                    <a:lstStyle/>
                    <a:p>
                      <a:r>
                        <a:rPr sz="1050">
                          <a:solidFill>
                            <a:srgbClr val="1A1A1A"/>
                          </a:solidFill>
                        </a:rPr>
                        <a:t>Banks, wallets, personal data</a:t>
                      </a:r>
                    </a:p>
                  </a:txBody>
                  <a:tcPr anchor="ctr" marL="73152" marR="54864" marT="27432" marB="27432">
                    <a:solidFill>
                      <a:srgbClr val="FFFFFF"/>
                    </a:solidFill>
                  </a:tcPr>
                </a:tc>
                <a:tc>
                  <a:txBody>
                    <a:bodyPr wrap="square"/>
                    <a:lstStyle/>
                    <a:p>
                      <a:r>
                        <a:rPr sz="1050">
                          <a:solidFill>
                            <a:srgbClr val="1A1A1A"/>
                          </a:solidFill>
                        </a:rPr>
                        <a:t>Fraud controls, backups, MFA, monitoring</a:t>
                      </a:r>
                    </a:p>
                  </a:txBody>
                  <a:tcPr anchor="ctr" marL="73152" marR="54864" marT="27432" marB="27432">
                    <a:solidFill>
                      <a:srgbClr val="FFFFFF"/>
                    </a:solidFill>
                  </a:tcPr>
                </a:tc>
              </a:tr>
              <a:tr h="630936">
                <a:tc>
                  <a:txBody>
                    <a:bodyPr wrap="square"/>
                    <a:lstStyle/>
                    <a:p>
                      <a:r>
                        <a:rPr sz="1050" b="1">
                          <a:solidFill>
                            <a:srgbClr val="0C2B4A"/>
                          </a:solidFill>
                        </a:rPr>
                        <a:t>State / nation-state (APT)</a:t>
                      </a:r>
                    </a:p>
                  </a:txBody>
                  <a:tcPr anchor="ctr" marL="73152" marR="54864" marT="27432" marB="27432">
                    <a:solidFill>
                      <a:srgbClr val="EEF3F8"/>
                    </a:solidFill>
                  </a:tcPr>
                </a:tc>
                <a:tc>
                  <a:txBody>
                    <a:bodyPr wrap="square"/>
                    <a:lstStyle/>
                    <a:p>
                      <a:r>
                        <a:rPr sz="1050">
                          <a:solidFill>
                            <a:srgbClr val="1A1A1A"/>
                          </a:solidFill>
                        </a:rPr>
                        <a:t>Espionage, sabotage</a:t>
                      </a:r>
                    </a:p>
                  </a:txBody>
                  <a:tcPr anchor="ctr" marL="73152" marR="54864" marT="27432" marB="27432">
                    <a:solidFill>
                      <a:srgbClr val="EEF3F8"/>
                    </a:solidFill>
                  </a:tcPr>
                </a:tc>
                <a:tc>
                  <a:txBody>
                    <a:bodyPr wrap="square"/>
                    <a:lstStyle/>
                    <a:p>
                      <a:r>
                        <a:rPr sz="1050">
                          <a:solidFill>
                            <a:srgbClr val="1A1A1A"/>
                          </a:solidFill>
                        </a:rPr>
                        <a:t>Government, critical infrastructure</a:t>
                      </a:r>
                    </a:p>
                  </a:txBody>
                  <a:tcPr anchor="ctr" marL="73152" marR="54864" marT="27432" marB="27432">
                    <a:solidFill>
                      <a:srgbClr val="EEF3F8"/>
                    </a:solidFill>
                  </a:tcPr>
                </a:tc>
                <a:tc>
                  <a:txBody>
                    <a:bodyPr wrap="square"/>
                    <a:lstStyle/>
                    <a:p>
                      <a:r>
                        <a:rPr sz="1050">
                          <a:solidFill>
                            <a:srgbClr val="1A1A1A"/>
                          </a:solidFill>
                        </a:rPr>
                        <a:t>Defence-in-depth, threat intel, segmentation</a:t>
                      </a:r>
                    </a:p>
                  </a:txBody>
                  <a:tcPr anchor="ctr" marL="73152" marR="54864" marT="27432" marB="27432">
                    <a:solidFill>
                      <a:srgbClr val="EEF3F8"/>
                    </a:solidFill>
                  </a:tcPr>
                </a:tc>
              </a:tr>
              <a:tr h="630936">
                <a:tc>
                  <a:txBody>
                    <a:bodyPr wrap="square"/>
                    <a:lstStyle/>
                    <a:p>
                      <a:r>
                        <a:rPr sz="1050" b="1">
                          <a:solidFill>
                            <a:srgbClr val="0C2B4A"/>
                          </a:solidFill>
                        </a:rPr>
                        <a:t>Insider (malicious)</a:t>
                      </a:r>
                    </a:p>
                  </a:txBody>
                  <a:tcPr anchor="ctr" marL="73152" marR="54864" marT="27432" marB="27432">
                    <a:solidFill>
                      <a:srgbClr val="FFFFFF"/>
                    </a:solidFill>
                  </a:tcPr>
                </a:tc>
                <a:tc>
                  <a:txBody>
                    <a:bodyPr wrap="square"/>
                    <a:lstStyle/>
                    <a:p>
                      <a:r>
                        <a:rPr sz="1050">
                          <a:solidFill>
                            <a:srgbClr val="1A1A1A"/>
                          </a:solidFill>
                        </a:rPr>
                        <a:t>Revenge, profit</a:t>
                      </a:r>
                    </a:p>
                  </a:txBody>
                  <a:tcPr anchor="ctr" marL="73152" marR="54864" marT="27432" marB="27432">
                    <a:solidFill>
                      <a:srgbClr val="FFFFFF"/>
                    </a:solidFill>
                  </a:tcPr>
                </a:tc>
                <a:tc>
                  <a:txBody>
                    <a:bodyPr wrap="square"/>
                    <a:lstStyle/>
                    <a:p>
                      <a:r>
                        <a:rPr sz="1050">
                          <a:solidFill>
                            <a:srgbClr val="1A1A1A"/>
                          </a:solidFill>
                        </a:rPr>
                        <a:t>Own employer's data/systems</a:t>
                      </a:r>
                    </a:p>
                  </a:txBody>
                  <a:tcPr anchor="ctr" marL="73152" marR="54864" marT="27432" marB="27432">
                    <a:solidFill>
                      <a:srgbClr val="FFFFFF"/>
                    </a:solidFill>
                  </a:tcPr>
                </a:tc>
                <a:tc>
                  <a:txBody>
                    <a:bodyPr wrap="square"/>
                    <a:lstStyle/>
                    <a:p>
                      <a:r>
                        <a:rPr sz="1050">
                          <a:solidFill>
                            <a:srgbClr val="1A1A1A"/>
                          </a:solidFill>
                        </a:rPr>
                        <a:t>Least privilege, logging, separation of duties</a:t>
                      </a:r>
                    </a:p>
                  </a:txBody>
                  <a:tcPr anchor="ctr" marL="73152" marR="54864" marT="27432" marB="27432">
                    <a:solidFill>
                      <a:srgbClr val="FFFFFF"/>
                    </a:solidFill>
                  </a:tcPr>
                </a:tc>
              </a:tr>
              <a:tr h="630936">
                <a:tc>
                  <a:txBody>
                    <a:bodyPr wrap="square"/>
                    <a:lstStyle/>
                    <a:p>
                      <a:r>
                        <a:rPr sz="1050" b="1">
                          <a:solidFill>
                            <a:srgbClr val="0C2B4A"/>
                          </a:solidFill>
                        </a:rPr>
                        <a:t>Insider (negligent)</a:t>
                      </a:r>
                    </a:p>
                  </a:txBody>
                  <a:tcPr anchor="ctr" marL="73152" marR="54864" marT="27432" marB="27432">
                    <a:solidFill>
                      <a:srgbClr val="EEF3F8"/>
                    </a:solidFill>
                  </a:tcPr>
                </a:tc>
                <a:tc>
                  <a:txBody>
                    <a:bodyPr wrap="square"/>
                    <a:lstStyle/>
                    <a:p>
                      <a:r>
                        <a:rPr sz="1050">
                          <a:solidFill>
                            <a:srgbClr val="1A1A1A"/>
                          </a:solidFill>
                        </a:rPr>
                        <a:t>(none — carelessness)</a:t>
                      </a:r>
                    </a:p>
                  </a:txBody>
                  <a:tcPr anchor="ctr" marL="73152" marR="54864" marT="27432" marB="27432">
                    <a:solidFill>
                      <a:srgbClr val="EEF3F8"/>
                    </a:solidFill>
                  </a:tcPr>
                </a:tc>
                <a:tc>
                  <a:txBody>
                    <a:bodyPr wrap="square"/>
                    <a:lstStyle/>
                    <a:p>
                      <a:r>
                        <a:rPr sz="1050">
                          <a:solidFill>
                            <a:srgbClr val="1A1A1A"/>
                          </a:solidFill>
                        </a:rPr>
                        <a:t>Accidental exposure</a:t>
                      </a:r>
                    </a:p>
                  </a:txBody>
                  <a:tcPr anchor="ctr" marL="73152" marR="54864" marT="27432" marB="27432">
                    <a:solidFill>
                      <a:srgbClr val="EEF3F8"/>
                    </a:solidFill>
                  </a:tcPr>
                </a:tc>
                <a:tc>
                  <a:txBody>
                    <a:bodyPr wrap="square"/>
                    <a:lstStyle/>
                    <a:p>
                      <a:r>
                        <a:rPr sz="1050">
                          <a:solidFill>
                            <a:srgbClr val="1A1A1A"/>
                          </a:solidFill>
                        </a:rPr>
                        <a:t>Training, DLP, access reviews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Motive predicts target, method, and persistence — so it shapes which defences you prioritise. Note insiders split into malicious AND negligent; both need trust + monitoring controls, not just firewalls.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81 / 94</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S27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Attacker Types by Motive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In Nepal, hacktivist defacements of government sites have flared during regional tensions (a political message, not theft); financially-motivated fraud is framed by incidents like the NIC ASIA SWIFT case (money is the goal); and insiders misuse legitimate access. Worked mini-case: a site defaced with a political message and no money stolen points to a hacktivist, whose goal is attention, not profit.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 biggest threat is always an outside genius hacker." In reality, insiders and simple phishing cause a large share of real damage, and much crime uses rented, unsophisticated tools. Ranking attackers by Hollywood image, not by motive and likelihood, misdirects your defences.</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Attackers are classified by motive, which predicts their behaviour: script kiddies (thrills, borrowed tools), hacktivists (political/social — defacements, leaks, DDoS), cybercriminals/organised crime (money — fraud, ransomware), state/nation-state actors (espionage/sabotage, well-resourced APTs), and insiders (misusing access, maliciously or negligently). Naming the motive tells you the likely target and method.</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script kiddie · hacktivist · cybercriminal · state actor (APT) · insider (malicious/negligent) · motive predicts behaviour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82 / 94</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S27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Classifying Attackers Matters for Defence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Motive predicts target, method, and persistence — so knowing WHO you face shapes your defence priorities. A bank fears organised crime and insiders most; a ministry fears state actors and hacktivists. And insiders need trust + monitoring controls (least privilege, logging), not just firewalls, because they're already inside.</a:t>
            </a:r>
          </a:p>
          <a:p>
            <a:pPr>
              <a:spcAft>
                <a:spcPts val="500"/>
              </a:spcAft>
            </a:pPr>
            <a:r>
              <a:rPr sz="1200" b="1">
                <a:solidFill>
                  <a:srgbClr val="185FA5"/>
                </a:solidFill>
              </a:rPr>
              <a:t>HOW IT WORKS</a:t>
            </a:r>
          </a:p>
          <a:p>
            <a:pPr>
              <a:spcAft>
                <a:spcPts val="600"/>
              </a:spcAft>
            </a:pPr>
            <a:r>
              <a:rPr sz="1400">
                <a:solidFill>
                  <a:srgbClr val="1A1A1A"/>
                </a:solidFill>
              </a:rPr>
              <a:t>•  Match the defence to the likely attacker: a bank hardens against fraud + insiders first.</a:t>
            </a:r>
          </a:p>
          <a:p>
            <a:pPr>
              <a:spcAft>
                <a:spcPts val="600"/>
              </a:spcAft>
            </a:pPr>
            <a:r>
              <a:rPr sz="1400">
                <a:solidFill>
                  <a:srgbClr val="1A1A1A"/>
                </a:solidFill>
              </a:rPr>
              <a:t>•  A ministry prioritises against state actors (APT) and hacktivists.</a:t>
            </a:r>
          </a:p>
          <a:p>
            <a:pPr>
              <a:spcAft>
                <a:spcPts val="600"/>
              </a:spcAft>
            </a:pPr>
            <a:r>
              <a:rPr sz="1400">
                <a:solidFill>
                  <a:srgbClr val="1A1A1A"/>
                </a:solidFill>
              </a:rPr>
              <a:t>•  Firewalls stop outsiders; insiders need least privilege, logging, and separation of duties.</a:t>
            </a:r>
          </a:p>
          <a:p>
            <a:pPr>
              <a:spcAft>
                <a:spcPts val="600"/>
              </a:spcAft>
            </a:pPr>
            <a:r>
              <a:rPr sz="1400">
                <a:solidFill>
                  <a:srgbClr val="1A1A1A"/>
                </a:solidFill>
              </a:rPr>
              <a:t>•  Spend the budget where the real, likely threat is — not on the scariest headline.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Know your likely attacker and you know where to spend defence — motive shapes priorities.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83 / 94</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S27 · CONCEPT 3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Organisation → top attacker to fear → defence priority (Nepal)</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414155"/>
                <a:gridCol w="3562597"/>
                <a:gridCol w="4453246"/>
              </a:tblGrid>
              <a:tr h="630936">
                <a:tc>
                  <a:txBody>
                    <a:bodyPr wrap="square"/>
                    <a:lstStyle/>
                    <a:p>
                      <a:r>
                        <a:rPr sz="1150" b="1">
                          <a:solidFill>
                            <a:srgbClr val="FFFFFF"/>
                          </a:solidFill>
                        </a:rPr>
                        <a:t>Organisation</a:t>
                      </a:r>
                    </a:p>
                  </a:txBody>
                  <a:tcPr anchor="ctr" marL="73152" marR="54864" marT="27432" marB="27432">
                    <a:solidFill>
                      <a:srgbClr val="0C2B4A"/>
                    </a:solidFill>
                  </a:tcPr>
                </a:tc>
                <a:tc>
                  <a:txBody>
                    <a:bodyPr wrap="square"/>
                    <a:lstStyle/>
                    <a:p>
                      <a:r>
                        <a:rPr sz="1150" b="1">
                          <a:solidFill>
                            <a:srgbClr val="FFFFFF"/>
                          </a:solidFill>
                        </a:rPr>
                        <a:t>Top attacker(s) to fear</a:t>
                      </a:r>
                    </a:p>
                  </a:txBody>
                  <a:tcPr anchor="ctr" marL="73152" marR="54864" marT="27432" marB="27432">
                    <a:solidFill>
                      <a:srgbClr val="0C2B4A"/>
                    </a:solidFill>
                  </a:tcPr>
                </a:tc>
                <a:tc>
                  <a:txBody>
                    <a:bodyPr wrap="square"/>
                    <a:lstStyle/>
                    <a:p>
                      <a:r>
                        <a:rPr sz="1150" b="1">
                          <a:solidFill>
                            <a:srgbClr val="FFFFFF"/>
                          </a:solidFill>
                        </a:rPr>
                        <a:t>Defence priority</a:t>
                      </a:r>
                    </a:p>
                  </a:txBody>
                  <a:tcPr anchor="ctr" marL="73152" marR="54864" marT="27432" marB="27432">
                    <a:solidFill>
                      <a:srgbClr val="0C2B4A"/>
                    </a:solidFill>
                  </a:tcPr>
                </a:tc>
              </a:tr>
              <a:tr h="630936">
                <a:tc>
                  <a:txBody>
                    <a:bodyPr wrap="square"/>
                    <a:lstStyle/>
                    <a:p>
                      <a:r>
                        <a:rPr sz="1100" b="1">
                          <a:solidFill>
                            <a:srgbClr val="0C2B4A"/>
                          </a:solidFill>
                        </a:rPr>
                        <a:t>Commercial bank</a:t>
                      </a:r>
                    </a:p>
                  </a:txBody>
                  <a:tcPr anchor="ctr" marL="73152" marR="54864" marT="27432" marB="27432">
                    <a:solidFill>
                      <a:srgbClr val="FFFFFF"/>
                    </a:solidFill>
                  </a:tcPr>
                </a:tc>
                <a:tc>
                  <a:txBody>
                    <a:bodyPr wrap="square"/>
                    <a:lstStyle/>
                    <a:p>
                      <a:r>
                        <a:rPr sz="1100">
                          <a:solidFill>
                            <a:srgbClr val="1A1A1A"/>
                          </a:solidFill>
                        </a:rPr>
                        <a:t>Organised crime + insiders</a:t>
                      </a:r>
                    </a:p>
                  </a:txBody>
                  <a:tcPr anchor="ctr" marL="73152" marR="54864" marT="27432" marB="27432">
                    <a:solidFill>
                      <a:srgbClr val="FFFFFF"/>
                    </a:solidFill>
                  </a:tcPr>
                </a:tc>
                <a:tc>
                  <a:txBody>
                    <a:bodyPr wrap="square"/>
                    <a:lstStyle/>
                    <a:p>
                      <a:r>
                        <a:rPr sz="1100">
                          <a:solidFill>
                            <a:srgbClr val="1A1A1A"/>
                          </a:solidFill>
                        </a:rPr>
                        <a:t>Fraud controls, least privilege, monitoring, MFA</a:t>
                      </a:r>
                    </a:p>
                  </a:txBody>
                  <a:tcPr anchor="ctr" marL="73152" marR="54864" marT="27432" marB="27432">
                    <a:solidFill>
                      <a:srgbClr val="FFFFFF"/>
                    </a:solidFill>
                  </a:tcPr>
                </a:tc>
              </a:tr>
              <a:tr h="630936">
                <a:tc>
                  <a:txBody>
                    <a:bodyPr wrap="square"/>
                    <a:lstStyle/>
                    <a:p>
                      <a:r>
                        <a:rPr sz="1100" b="1">
                          <a:solidFill>
                            <a:srgbClr val="0C2B4A"/>
                          </a:solidFill>
                        </a:rPr>
                        <a:t>Government ministry</a:t>
                      </a:r>
                    </a:p>
                  </a:txBody>
                  <a:tcPr anchor="ctr" marL="73152" marR="54864" marT="27432" marB="27432">
                    <a:solidFill>
                      <a:srgbClr val="EEF3F8"/>
                    </a:solidFill>
                  </a:tcPr>
                </a:tc>
                <a:tc>
                  <a:txBody>
                    <a:bodyPr wrap="square"/>
                    <a:lstStyle/>
                    <a:p>
                      <a:r>
                        <a:rPr sz="1100">
                          <a:solidFill>
                            <a:srgbClr val="1A1A1A"/>
                          </a:solidFill>
                        </a:rPr>
                        <a:t>State actors + hacktivists</a:t>
                      </a:r>
                    </a:p>
                  </a:txBody>
                  <a:tcPr anchor="ctr" marL="73152" marR="54864" marT="27432" marB="27432">
                    <a:solidFill>
                      <a:srgbClr val="EEF3F8"/>
                    </a:solidFill>
                  </a:tcPr>
                </a:tc>
                <a:tc>
                  <a:txBody>
                    <a:bodyPr wrap="square"/>
                    <a:lstStyle/>
                    <a:p>
                      <a:r>
                        <a:rPr sz="1100">
                          <a:solidFill>
                            <a:srgbClr val="1A1A1A"/>
                          </a:solidFill>
                        </a:rPr>
                        <a:t>Defence-in-depth, DDoS defence, threat intel</a:t>
                      </a:r>
                    </a:p>
                  </a:txBody>
                  <a:tcPr anchor="ctr" marL="73152" marR="54864" marT="27432" marB="27432">
                    <a:solidFill>
                      <a:srgbClr val="EEF3F8"/>
                    </a:solidFill>
                  </a:tcPr>
                </a:tc>
              </a:tr>
              <a:tr h="630936">
                <a:tc>
                  <a:txBody>
                    <a:bodyPr wrap="square"/>
                    <a:lstStyle/>
                    <a:p>
                      <a:r>
                        <a:rPr sz="1100" b="1">
                          <a:solidFill>
                            <a:srgbClr val="0C2B4A"/>
                          </a:solidFill>
                        </a:rPr>
                        <a:t>College / campus</a:t>
                      </a:r>
                    </a:p>
                  </a:txBody>
                  <a:tcPr anchor="ctr" marL="73152" marR="54864" marT="27432" marB="27432">
                    <a:solidFill>
                      <a:srgbClr val="FFFFFF"/>
                    </a:solidFill>
                  </a:tcPr>
                </a:tc>
                <a:tc>
                  <a:txBody>
                    <a:bodyPr wrap="square"/>
                    <a:lstStyle/>
                    <a:p>
                      <a:r>
                        <a:rPr sz="1100">
                          <a:solidFill>
                            <a:srgbClr val="1A1A1A"/>
                          </a:solidFill>
                        </a:rPr>
                        <a:t>Script kiddies + phishing</a:t>
                      </a:r>
                    </a:p>
                  </a:txBody>
                  <a:tcPr anchor="ctr" marL="73152" marR="54864" marT="27432" marB="27432">
                    <a:solidFill>
                      <a:srgbClr val="FFFFFF"/>
                    </a:solidFill>
                  </a:tcPr>
                </a:tc>
                <a:tc>
                  <a:txBody>
                    <a:bodyPr wrap="square"/>
                    <a:lstStyle/>
                    <a:p>
                      <a:r>
                        <a:rPr sz="1100">
                          <a:solidFill>
                            <a:srgbClr val="1A1A1A"/>
                          </a:solidFill>
                        </a:rPr>
                        <a:t>Patching, MFA, awareness training</a:t>
                      </a:r>
                    </a:p>
                  </a:txBody>
                  <a:tcPr anchor="ctr" marL="73152" marR="54864" marT="27432" marB="27432">
                    <a:solidFill>
                      <a:srgbClr val="FFFFFF"/>
                    </a:solidFill>
                  </a:tcPr>
                </a:tc>
              </a:tr>
              <a:tr h="630936">
                <a:tc>
                  <a:txBody>
                    <a:bodyPr wrap="square"/>
                    <a:lstStyle/>
                    <a:p>
                      <a:r>
                        <a:rPr sz="1100" b="1">
                          <a:solidFill>
                            <a:srgbClr val="0C2B4A"/>
                          </a:solidFill>
                        </a:rPr>
                        <a:t>Fintech / wallet (eSewa-like)</a:t>
                      </a:r>
                    </a:p>
                  </a:txBody>
                  <a:tcPr anchor="ctr" marL="73152" marR="54864" marT="27432" marB="27432">
                    <a:solidFill>
                      <a:srgbClr val="EEF3F8"/>
                    </a:solidFill>
                  </a:tcPr>
                </a:tc>
                <a:tc>
                  <a:txBody>
                    <a:bodyPr wrap="square"/>
                    <a:lstStyle/>
                    <a:p>
                      <a:r>
                        <a:rPr sz="1100">
                          <a:solidFill>
                            <a:srgbClr val="1A1A1A"/>
                          </a:solidFill>
                        </a:rPr>
                        <a:t>Cybercriminals + insiders</a:t>
                      </a:r>
                    </a:p>
                  </a:txBody>
                  <a:tcPr anchor="ctr" marL="73152" marR="54864" marT="27432" marB="27432">
                    <a:solidFill>
                      <a:srgbClr val="EEF3F8"/>
                    </a:solidFill>
                  </a:tcPr>
                </a:tc>
                <a:tc>
                  <a:txBody>
                    <a:bodyPr wrap="square"/>
                    <a:lstStyle/>
                    <a:p>
                      <a:r>
                        <a:rPr sz="1100">
                          <a:solidFill>
                            <a:srgbClr val="1A1A1A"/>
                          </a:solidFill>
                        </a:rPr>
                        <a:t>Fraud detection, segregation of duties, backups</a:t>
                      </a:r>
                    </a:p>
                  </a:txBody>
                  <a:tcPr anchor="ctr" marL="73152" marR="54864" marT="27432" marB="27432">
                    <a:solidFill>
                      <a:srgbClr val="EEF3F8"/>
                    </a:solidFill>
                  </a:tcPr>
                </a:tc>
              </a:tr>
              <a:tr h="630936">
                <a:tc>
                  <a:txBody>
                    <a:bodyPr wrap="square"/>
                    <a:lstStyle/>
                    <a:p>
                      <a:r>
                        <a:rPr sz="1100" b="1">
                          <a:solidFill>
                            <a:srgbClr val="0C2B4A"/>
                          </a:solidFill>
                        </a:rPr>
                        <a:t>Hospital</a:t>
                      </a:r>
                    </a:p>
                  </a:txBody>
                  <a:tcPr anchor="ctr" marL="73152" marR="54864" marT="27432" marB="27432">
                    <a:solidFill>
                      <a:srgbClr val="FFFFFF"/>
                    </a:solidFill>
                  </a:tcPr>
                </a:tc>
                <a:tc>
                  <a:txBody>
                    <a:bodyPr wrap="square"/>
                    <a:lstStyle/>
                    <a:p>
                      <a:r>
                        <a:rPr sz="1100">
                          <a:solidFill>
                            <a:srgbClr val="1A1A1A"/>
                          </a:solidFill>
                        </a:rPr>
                        <a:t>Ransomware crews</a:t>
                      </a:r>
                    </a:p>
                  </a:txBody>
                  <a:tcPr anchor="ctr" marL="73152" marR="54864" marT="27432" marB="27432">
                    <a:solidFill>
                      <a:srgbClr val="FFFFFF"/>
                    </a:solidFill>
                  </a:tcPr>
                </a:tc>
                <a:tc>
                  <a:txBody>
                    <a:bodyPr wrap="square"/>
                    <a:lstStyle/>
                    <a:p>
                      <a:r>
                        <a:rPr sz="1100">
                          <a:solidFill>
                            <a:srgbClr val="1A1A1A"/>
                          </a:solidFill>
                        </a:rPr>
                        <a:t>Tested backups, segmentation, patching</a:t>
                      </a:r>
                    </a:p>
                  </a:txBody>
                  <a:tcPr anchor="ctr" marL="73152" marR="54864" marT="27432" marB="27432">
                    <a:solidFill>
                      <a:srgbClr val="FFFFFF"/>
                    </a:solidFill>
                  </a:tcPr>
                </a:tc>
              </a:tr>
              <a:tr h="630936">
                <a:tc>
                  <a:txBody>
                    <a:bodyPr wrap="square"/>
                    <a:lstStyle/>
                    <a:p>
                      <a:r>
                        <a:rPr sz="1100" b="1">
                          <a:solidFill>
                            <a:srgbClr val="0C2B4A"/>
                          </a:solidFill>
                        </a:rPr>
                        <a:t>Telecom / ISP</a:t>
                      </a:r>
                    </a:p>
                  </a:txBody>
                  <a:tcPr anchor="ctr" marL="73152" marR="54864" marT="27432" marB="27432">
                    <a:solidFill>
                      <a:srgbClr val="EEF3F8"/>
                    </a:solidFill>
                  </a:tcPr>
                </a:tc>
                <a:tc>
                  <a:txBody>
                    <a:bodyPr wrap="square"/>
                    <a:lstStyle/>
                    <a:p>
                      <a:r>
                        <a:rPr sz="1100">
                          <a:solidFill>
                            <a:srgbClr val="1A1A1A"/>
                          </a:solidFill>
                        </a:rPr>
                        <a:t>State actors + DDoS crews</a:t>
                      </a:r>
                    </a:p>
                  </a:txBody>
                  <a:tcPr anchor="ctr" marL="73152" marR="54864" marT="27432" marB="27432">
                    <a:solidFill>
                      <a:srgbClr val="EEF3F8"/>
                    </a:solidFill>
                  </a:tcPr>
                </a:tc>
                <a:tc>
                  <a:txBody>
                    <a:bodyPr wrap="square"/>
                    <a:lstStyle/>
                    <a:p>
                      <a:r>
                        <a:rPr sz="1100">
                          <a:solidFill>
                            <a:srgbClr val="1A1A1A"/>
                          </a:solidFill>
                        </a:rPr>
                        <a:t>Infrastructure hardening, scrubbing, monitoring</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Motive predicts target and method, so it sets defence priorities. Insiders need trust + monitoring controls (least privilege, logging), not just a firewall — they're already inside.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84 / 94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S27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Classifying Attackers Matters for Defence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Nepali bank spends most on fraud controls, least privilege, and monitoring because organised crime and insiders are its realistic top threats; a ministry invests in defence-in-depth and DDoS resilience because it faces state actors and hacktivists. Matching defence to the likely attacker — rather than to the scariest movie villain — is how limited security budgets get spent where they actually reduce risk.</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"Just buy a firewall and you're safe from everyone." A firewall stops outside network attacks but does little against an insider who already has access or a user tricked by phishing. Different motives need different controls — insiders need least privilege, logging, and separation of duties, not just a perimeter.</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Classifying attackers matters because motive predicts target, method, and persistence, so it shapes defence priorities: a bank hardens against organised crime and insiders, a ministry against state actors and hacktivists. Insiders in particular need trust and monitoring controls (least privilege, logging, separation of duties), not just firewalls — letting an organisation spend its limited budget where the real threat lies.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motive predicts defence · bank vs ministry priorities · insiders need trust + monitoring · spend on likely, not scary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85 / 94</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S27 — 'Biggest real risk to a Nepali bank?'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which attacker type is the biggest REAL risk to a Nepali bank — and why?</a:t>
            </a:r>
          </a:p>
          <a:p>
            <a:pPr>
              <a:spcAft>
                <a:spcPts val="700"/>
              </a:spcAft>
            </a:pPr>
            <a:r>
              <a:rPr sz="1550">
                <a:solidFill>
                  <a:srgbClr val="1A1A1A"/>
                </a:solidFill>
              </a:rPr>
              <a:t>•  Rank organised crime, insiders, hacktivists, and state actors for a bank specifically.</a:t>
            </a:r>
          </a:p>
          <a:p>
            <a:pPr>
              <a:spcAft>
                <a:spcPts val="700"/>
              </a:spcAft>
            </a:pPr>
            <a:r>
              <a:rPr sz="1550">
                <a:solidFill>
                  <a:srgbClr val="1A1A1A"/>
                </a:solidFill>
              </a:rPr>
              <a:t>•  Take 3–4 answers aloud (3 min); tie each to the defence it demands.</a:t>
            </a:r>
          </a:p>
          <a:p>
            <a:pPr>
              <a:spcAft>
                <a:spcPts val="700"/>
              </a:spcAft>
            </a:pPr>
            <a:r>
              <a:rPr sz="1550">
                <a:solidFill>
                  <a:srgbClr val="1A1A1A"/>
                </a:solidFill>
              </a:rPr>
              <a:t>•  Close: for a bank, organised crime + insiders usually top the list — and insiders need monitoring, not just a firewall.</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Reward reasoning that links MOTIVE to TARGET to DEFENCE. Draw out that insiders and phishing, not a lone genius, cause much real damage — so trust + monitoring controls matter as much as perimeter firewalls.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86 / 94</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S27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A hacker authorised to test a system to improve its security is a:</a:t>
            </a:r>
          </a:p>
          <a:p>
            <a:pPr lvl="1"/>
            <a:r>
              <a:rPr sz="1500" b="1">
                <a:solidFill>
                  <a:srgbClr val="0F6E56"/>
                </a:solidFill>
              </a:rPr>
              <a:t>a) black hat   b) grey hat   c) ✅ white hat   d) script kiddie</a:t>
            </a:r>
          </a:p>
          <a:p>
            <a:pPr lvl="1">
              <a:spcBef>
                <a:spcPts val="600"/>
              </a:spcBef>
            </a:pPr>
            <a:r>
              <a:rPr sz="1500" i="1">
                <a:solidFill>
                  <a:srgbClr val="1A1A1A"/>
                </a:solidFill>
              </a:rPr>
              <a:t>     Why: white hats act with authorisation and good intent — the hat is about authorisation + intent, not skill.</a:t>
            </a:r>
          </a:p>
          <a:p>
            <a:pPr>
              <a:spcBef>
                <a:spcPts val="900"/>
              </a:spcBef>
            </a:pPr>
            <a:r>
              <a:rPr sz="1700" b="1">
                <a:solidFill>
                  <a:srgbClr val="0C2B4A"/>
                </a:solidFill>
              </a:rPr>
              <a:t>Q2.  An employee misusing legitimate access is an:</a:t>
            </a:r>
          </a:p>
          <a:p>
            <a:pPr lvl="1"/>
            <a:r>
              <a:rPr sz="1500" b="1">
                <a:solidFill>
                  <a:srgbClr val="0F6E56"/>
                </a:solidFill>
              </a:rPr>
              <a:t>a) outsider   b) ✅ insider threat   c) hacktivist   d) script kiddie</a:t>
            </a:r>
          </a:p>
          <a:p>
            <a:pPr lvl="1">
              <a:spcBef>
                <a:spcPts val="600"/>
              </a:spcBef>
            </a:pPr>
            <a:r>
              <a:rPr sz="1500" i="1">
                <a:solidFill>
                  <a:srgbClr val="1A1A1A"/>
                </a:solidFill>
              </a:rPr>
              <a:t>     Why: insiders already have access, so they need least privilege, logging, and monitoring — not just a firewall.</a:t>
            </a:r>
          </a:p>
          <a:p>
            <a:pPr lvl="1">
              <a:spcBef>
                <a:spcPts val="600"/>
              </a:spcBef>
            </a:pPr>
            <a:r>
              <a:rPr sz="1500" i="1">
                <a:solidFill>
                  <a:srgbClr val="1A1A1A"/>
                </a:solidFill>
              </a:rPr>
              <a:t>Discussion: which attacker type is the biggest real risk to a Nepali bank — and why?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87 / 94</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S27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Hats = intent + authorisation, not skill: white (authorised/ethical), black (malicious/illegal), grey (unauthorised but not always malicious — still illegal).</a:t>
            </a:r>
          </a:p>
          <a:p>
            <a:pPr>
              <a:spcAft>
                <a:spcPts val="800"/>
              </a:spcAft>
            </a:pPr>
            <a:r>
              <a:rPr sz="1500">
                <a:solidFill>
                  <a:srgbClr val="1A1A1A"/>
                </a:solidFill>
              </a:rPr>
              <a:t>2.  Attackers range from script kiddies to hacktivists, cybercriminals, state actors (APT), and insiders (malicious or negligent).</a:t>
            </a:r>
          </a:p>
          <a:p>
            <a:pPr>
              <a:spcAft>
                <a:spcPts val="800"/>
              </a:spcAft>
            </a:pPr>
            <a:r>
              <a:rPr sz="1500">
                <a:solidFill>
                  <a:srgbClr val="1A1A1A"/>
                </a:solidFill>
              </a:rPr>
              <a:t>3.  Motive predicts target and method, so it shapes defence — a bank fears crime + insiders; insiders need trust + monitoring, not just firewalls.</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Knowing WHO attacks and WHY lets you (and your future employer) spend defence budget where the real threats are, instead of on fear. This closes Unit 5: you now have the CIA vocabulary, the risk formula, the attack/defence pairs, and the attacker map.</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Next unit — from these fundamentals to PERSONAL cybersecurity: your own devices, accounts, and passwords.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88 / 94</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5 · CHEAT SHEET</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One-page revision reference</a:t>
            </a:r>
          </a:p>
        </p:txBody>
      </p:sp>
      <p:sp>
        <p:nvSpPr>
          <p:cNvPr id="5" name="Rounded Rectangle 4"/>
          <p:cNvSpPr/>
          <p:nvPr/>
        </p:nvSpPr>
        <p:spPr>
          <a:xfrm>
            <a:off x="640080"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Foundations (S22)</a:t>
            </a:r>
          </a:p>
          <a:p>
            <a:pPr>
              <a:spcBef>
                <a:spcPts val="300"/>
              </a:spcBef>
            </a:pPr>
            <a:r>
              <a:rPr sz="1200">
                <a:solidFill>
                  <a:srgbClr val="1A1A1A"/>
                </a:solidFill>
              </a:rPr>
              <a:t>Cyberspace = whole connected digital domain (not just websites). Cybersecurity = people + process + technology. CIA triad: Confidentiality (secrecy) · Integrity (unaltered) · Availability (usable) — every control serves C/I/A.</a:t>
            </a:r>
          </a:p>
        </p:txBody>
      </p:sp>
      <p:sp>
        <p:nvSpPr>
          <p:cNvPr id="6" name="Rounded Rectangle 5"/>
          <p:cNvSpPr/>
          <p:nvPr/>
        </p:nvSpPr>
        <p:spPr>
          <a:xfrm>
            <a:off x="6199632"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Threat landscape (S23)</a:t>
            </a:r>
          </a:p>
          <a:p>
            <a:pPr>
              <a:spcBef>
                <a:spcPts val="300"/>
              </a:spcBef>
            </a:pPr>
            <a:r>
              <a:rPr sz="1200">
                <a:solidFill>
                  <a:srgbClr val="1A1A1A"/>
                </a:solidFill>
              </a:rPr>
              <a:t>New tech (cloud/mobile/IoT/AI/remote) grows the attack surface. Crime is a business: Ransomware-/Cybercrime-as-a-Service rents tools to low-skill attackers. Outsourcing = supply-chain risk; you outsource work, not accountability.</a:t>
            </a:r>
          </a:p>
        </p:txBody>
      </p:sp>
      <p:sp>
        <p:nvSpPr>
          <p:cNvPr id="7" name="Rounded Rectangle 6"/>
          <p:cNvSpPr/>
          <p:nvPr/>
        </p:nvSpPr>
        <p:spPr>
          <a:xfrm>
            <a:off x="640080"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Risk (S24)</a:t>
            </a:r>
          </a:p>
          <a:p>
            <a:pPr>
              <a:spcBef>
                <a:spcPts val="300"/>
              </a:spcBef>
            </a:pPr>
            <a:r>
              <a:rPr sz="1200">
                <a:solidFill>
                  <a:srgbClr val="1A1A1A"/>
                </a:solidFill>
              </a:rPr>
              <a:t>Threat = could harm · Vulnerability = weakness · Asset = what you protect. Risk = threat × vulnerability × impact (multiply). No vulnerability ⇒ threat can't land. Goal = reduce to ACCEPTABLE, not zero (residual risk).</a:t>
            </a:r>
          </a:p>
        </p:txBody>
      </p:sp>
      <p:sp>
        <p:nvSpPr>
          <p:cNvPr id="8" name="Rounded Rectangle 7"/>
          <p:cNvSpPr/>
          <p:nvPr/>
        </p:nvSpPr>
        <p:spPr>
          <a:xfrm>
            <a:off x="6199632"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Common attacks (S25)</a:t>
            </a:r>
          </a:p>
          <a:p>
            <a:pPr>
              <a:spcBef>
                <a:spcPts val="300"/>
              </a:spcBef>
            </a:pPr>
            <a:r>
              <a:rPr sz="1200">
                <a:solidFill>
                  <a:srgbClr val="1A1A1A"/>
                </a:solidFill>
              </a:rPr>
              <a:t>Malware (virus/worm/trojan/ransomware/spyware) → update+EDR+least priv+backups. Phishing → verify out-of-band, never share OTP, MFA. DoS → attacks Availability; rate-limit/CDN/ISP+NPCERT. Poisoned/HTTPS site → padlock ≠ safe.</a:t>
            </a:r>
          </a:p>
        </p:txBody>
      </p:sp>
      <p:sp>
        <p:nvSpPr>
          <p:cNvPr id="9" name="Rounded Rectangle 8"/>
          <p:cNvSpPr/>
          <p:nvPr/>
        </p:nvSpPr>
        <p:spPr>
          <a:xfrm>
            <a:off x="640080"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Network poisoning (S26)</a:t>
            </a:r>
          </a:p>
          <a:p>
            <a:pPr>
              <a:spcBef>
                <a:spcPts val="300"/>
              </a:spcBef>
            </a:pPr>
            <a:r>
              <a:rPr sz="1200">
                <a:solidFill>
                  <a:srgbClr val="1A1A1A"/>
                </a:solidFill>
              </a:rPr>
              <a:t>MITM = secret relay (breaks C+I), common on public Wi-Fi. ARP = poisons the LAN; DNS = right name, fake server (cert warning is the tell). Universal defence: HTTPS/VPN + heed warnings + avoid untrusted Wi-Fi logins.</a:t>
            </a:r>
          </a:p>
        </p:txBody>
      </p:sp>
      <p:sp>
        <p:nvSpPr>
          <p:cNvPr id="10" name="Rounded Rectangle 9"/>
          <p:cNvSpPr/>
          <p:nvPr/>
        </p:nvSpPr>
        <p:spPr>
          <a:xfrm>
            <a:off x="6199632"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Attackers (S27)</a:t>
            </a:r>
          </a:p>
          <a:p>
            <a:pPr>
              <a:spcBef>
                <a:spcPts val="300"/>
              </a:spcBef>
            </a:pPr>
            <a:r>
              <a:rPr sz="1200">
                <a:solidFill>
                  <a:srgbClr val="1A1A1A"/>
                </a:solidFill>
              </a:rPr>
              <a:t>Hats = intent + authorisation, not skill: white/grey/black. Types: script kiddie · hacktivist · cybercriminal · state (APT) · insider. Motive predicts target → shapes defence. Insiders need monitoring, not just firewalls.</a:t>
            </a:r>
          </a:p>
        </p:txBody>
      </p:sp>
      <p:sp>
        <p:nvSpPr>
          <p:cNvPr id="11" name="TextBox 10"/>
          <p:cNvSpPr txBox="1"/>
          <p:nvPr/>
        </p:nvSpPr>
        <p:spPr>
          <a:xfrm>
            <a:off x="11292840" y="274320"/>
            <a:ext cx="822960" cy="320040"/>
          </a:xfrm>
          <a:prstGeom prst="rect">
            <a:avLst/>
          </a:prstGeom>
          <a:noFill/>
        </p:spPr>
        <p:txBody>
          <a:bodyPr wrap="none">
            <a:spAutoFit/>
          </a:bodyPr>
          <a:lstStyle/>
          <a:p>
            <a:pPr algn="r"/>
            <a:r>
              <a:rPr sz="1000">
                <a:solidFill>
                  <a:srgbClr val="55606B"/>
                </a:solidFill>
              </a:rPr>
              <a:t>89 / 94</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5 · GLOSSARY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Key terms — quick reference</a:t>
            </a:r>
          </a:p>
        </p:txBody>
      </p:sp>
      <p:sp>
        <p:nvSpPr>
          <p:cNvPr id="5" name="TextBox 4"/>
          <p:cNvSpPr txBox="1"/>
          <p:nvPr/>
        </p:nvSpPr>
        <p:spPr>
          <a:xfrm>
            <a:off x="640080" y="1600200"/>
            <a:ext cx="5349240" cy="4846320"/>
          </a:xfrm>
          <a:prstGeom prst="rect">
            <a:avLst/>
          </a:prstGeom>
          <a:noFill/>
        </p:spPr>
        <p:txBody>
          <a:bodyPr wrap="square">
            <a:spAutoFit/>
          </a:bodyPr>
          <a:lstStyle/>
          <a:p>
            <a:pPr>
              <a:spcAft>
                <a:spcPts val="600"/>
              </a:spcAft>
            </a:pPr>
            <a:r>
              <a:rPr sz="1150" b="1">
                <a:solidFill>
                  <a:srgbClr val="0C2B4A"/>
                </a:solidFill>
              </a:rPr>
              <a:t>Cyberspace — </a:t>
            </a:r>
            <a:r>
              <a:rPr sz="1150">
                <a:solidFill>
                  <a:srgbClr val="1A1A1A"/>
                </a:solidFill>
              </a:rPr>
              <a:t>the interconnected digital environment of networks, systems, data, and people/devices.</a:t>
            </a:r>
          </a:p>
          <a:p>
            <a:pPr>
              <a:spcAft>
                <a:spcPts val="600"/>
              </a:spcAft>
            </a:pPr>
            <a:r>
              <a:rPr sz="1150" b="1">
                <a:solidFill>
                  <a:srgbClr val="0C2B4A"/>
                </a:solidFill>
              </a:rPr>
              <a:t>Cybersecurity — </a:t>
            </a:r>
            <a:r>
              <a:rPr sz="1150">
                <a:solidFill>
                  <a:srgbClr val="1A1A1A"/>
                </a:solidFill>
              </a:rPr>
              <a:t>protecting systems, networks &amp; data from unauthorised access, harm, or disruption.</a:t>
            </a:r>
          </a:p>
          <a:p>
            <a:pPr>
              <a:spcAft>
                <a:spcPts val="600"/>
              </a:spcAft>
            </a:pPr>
            <a:r>
              <a:rPr sz="1150" b="1">
                <a:solidFill>
                  <a:srgbClr val="0C2B4A"/>
                </a:solidFill>
              </a:rPr>
              <a:t>People/process/technology — </a:t>
            </a:r>
            <a:r>
              <a:rPr sz="1150">
                <a:solidFill>
                  <a:srgbClr val="1A1A1A"/>
                </a:solidFill>
              </a:rPr>
              <a:t>the three pillars of security; the weakest sets your real security.</a:t>
            </a:r>
          </a:p>
          <a:p>
            <a:pPr>
              <a:spcAft>
                <a:spcPts val="600"/>
              </a:spcAft>
            </a:pPr>
            <a:r>
              <a:rPr sz="1150" b="1">
                <a:solidFill>
                  <a:srgbClr val="0C2B4A"/>
                </a:solidFill>
              </a:rPr>
              <a:t>CIA triad — </a:t>
            </a:r>
            <a:r>
              <a:rPr sz="1150">
                <a:solidFill>
                  <a:srgbClr val="1A1A1A"/>
                </a:solidFill>
              </a:rPr>
              <a:t>Confidentiality, Integrity, Availability — the three goals every control serves.</a:t>
            </a:r>
          </a:p>
          <a:p>
            <a:pPr>
              <a:spcAft>
                <a:spcPts val="600"/>
              </a:spcAft>
            </a:pPr>
            <a:r>
              <a:rPr sz="1150" b="1">
                <a:solidFill>
                  <a:srgbClr val="0C2B4A"/>
                </a:solidFill>
              </a:rPr>
              <a:t>Confidentiality — </a:t>
            </a:r>
            <a:r>
              <a:rPr sz="1150">
                <a:solidFill>
                  <a:srgbClr val="1A1A1A"/>
                </a:solidFill>
              </a:rPr>
              <a:t>data kept secret / access-controlled.</a:t>
            </a:r>
          </a:p>
          <a:p>
            <a:pPr>
              <a:spcAft>
                <a:spcPts val="600"/>
              </a:spcAft>
            </a:pPr>
            <a:r>
              <a:rPr sz="1150" b="1">
                <a:solidFill>
                  <a:srgbClr val="0C2B4A"/>
                </a:solidFill>
              </a:rPr>
              <a:t>Integrity — </a:t>
            </a:r>
            <a:r>
              <a:rPr sz="1150">
                <a:solidFill>
                  <a:srgbClr val="1A1A1A"/>
                </a:solidFill>
              </a:rPr>
              <a:t>data stays unchanged and trustworthy.</a:t>
            </a:r>
          </a:p>
          <a:p>
            <a:pPr>
              <a:spcAft>
                <a:spcPts val="600"/>
              </a:spcAft>
            </a:pPr>
            <a:r>
              <a:rPr sz="1150" b="1">
                <a:solidFill>
                  <a:srgbClr val="0C2B4A"/>
                </a:solidFill>
              </a:rPr>
              <a:t>Availability — </a:t>
            </a:r>
            <a:r>
              <a:rPr sz="1150">
                <a:solidFill>
                  <a:srgbClr val="1A1A1A"/>
                </a:solidFill>
              </a:rPr>
              <a:t>the system is usable when needed.</a:t>
            </a:r>
          </a:p>
          <a:p>
            <a:pPr>
              <a:spcAft>
                <a:spcPts val="600"/>
              </a:spcAft>
            </a:pPr>
            <a:r>
              <a:rPr sz="1150" b="1">
                <a:solidFill>
                  <a:srgbClr val="0C2B4A"/>
                </a:solidFill>
              </a:rPr>
              <a:t>Attack surface — </a:t>
            </a:r>
            <a:r>
              <a:rPr sz="1150">
                <a:solidFill>
                  <a:srgbClr val="1A1A1A"/>
                </a:solidFill>
              </a:rPr>
              <a:t>the sum of all points where an attacker could try to get in.</a:t>
            </a:r>
          </a:p>
          <a:p>
            <a:pPr>
              <a:spcAft>
                <a:spcPts val="600"/>
              </a:spcAft>
            </a:pPr>
            <a:r>
              <a:rPr sz="1150" b="1">
                <a:solidFill>
                  <a:srgbClr val="0C2B4A"/>
                </a:solidFill>
              </a:rPr>
              <a:t>Ransomware-as-a-Service — </a:t>
            </a:r>
            <a:r>
              <a:rPr sz="1150">
                <a:solidFill>
                  <a:srgbClr val="1A1A1A"/>
                </a:solidFill>
              </a:rPr>
              <a:t>rented ready-made ransomware tools for low-skill attackers.</a:t>
            </a:r>
          </a:p>
          <a:p>
            <a:pPr>
              <a:spcAft>
                <a:spcPts val="600"/>
              </a:spcAft>
            </a:pPr>
            <a:r>
              <a:rPr sz="1150" b="1">
                <a:solidFill>
                  <a:srgbClr val="0C2B4A"/>
                </a:solidFill>
              </a:rPr>
              <a:t>Supply-chain risk — </a:t>
            </a:r>
            <a:r>
              <a:rPr sz="1150">
                <a:solidFill>
                  <a:srgbClr val="1A1A1A"/>
                </a:solidFill>
              </a:rPr>
              <a:t>a vendor's weakness becoming your breach; work is outsourced, accountability isn't.</a:t>
            </a:r>
          </a:p>
          <a:p>
            <a:pPr>
              <a:spcAft>
                <a:spcPts val="600"/>
              </a:spcAft>
            </a:pPr>
            <a:r>
              <a:rPr sz="1150" b="1">
                <a:solidFill>
                  <a:srgbClr val="0C2B4A"/>
                </a:solidFill>
              </a:rPr>
              <a:t>Threat — </a:t>
            </a:r>
            <a:r>
              <a:rPr sz="1150">
                <a:solidFill>
                  <a:srgbClr val="1A1A1A"/>
                </a:solidFill>
              </a:rPr>
              <a:t>something that could cause harm.</a:t>
            </a:r>
          </a:p>
          <a:p>
            <a:pPr>
              <a:spcAft>
                <a:spcPts val="600"/>
              </a:spcAft>
            </a:pPr>
            <a:r>
              <a:rPr sz="1150" b="1">
                <a:solidFill>
                  <a:srgbClr val="0C2B4A"/>
                </a:solidFill>
              </a:rPr>
              <a:t>Vulnerability — </a:t>
            </a:r>
            <a:r>
              <a:rPr sz="1150">
                <a:solidFill>
                  <a:srgbClr val="1A1A1A"/>
                </a:solidFill>
              </a:rPr>
              <a:t>a weakness a threat can exploit.</a:t>
            </a:r>
          </a:p>
          <a:p>
            <a:pPr>
              <a:spcAft>
                <a:spcPts val="600"/>
              </a:spcAft>
            </a:pPr>
            <a:r>
              <a:rPr sz="1150" b="1">
                <a:solidFill>
                  <a:srgbClr val="0C2B4A"/>
                </a:solidFill>
              </a:rPr>
              <a:t>Asset — </a:t>
            </a:r>
            <a:r>
              <a:rPr sz="1150">
                <a:solidFill>
                  <a:srgbClr val="1A1A1A"/>
                </a:solidFill>
              </a:rPr>
              <a:t>what you're protecting (data, money, service, reputation).</a:t>
            </a:r>
          </a:p>
          <a:p>
            <a:pPr>
              <a:spcAft>
                <a:spcPts val="600"/>
              </a:spcAft>
            </a:pPr>
            <a:r>
              <a:rPr sz="1150" b="1">
                <a:solidFill>
                  <a:srgbClr val="0C2B4A"/>
                </a:solidFill>
              </a:rPr>
              <a:t>Risk — </a:t>
            </a:r>
            <a:r>
              <a:rPr sz="1150">
                <a:solidFill>
                  <a:srgbClr val="1A1A1A"/>
                </a:solidFill>
              </a:rPr>
              <a:t>threat × vulnerability × impact — likelihood × consequence.</a:t>
            </a:r>
          </a:p>
        </p:txBody>
      </p:sp>
      <p:sp>
        <p:nvSpPr>
          <p:cNvPr id="6" name="TextBox 5"/>
          <p:cNvSpPr txBox="1"/>
          <p:nvPr/>
        </p:nvSpPr>
        <p:spPr>
          <a:xfrm>
            <a:off x="6199632" y="1600200"/>
            <a:ext cx="5349240" cy="4846320"/>
          </a:xfrm>
          <a:prstGeom prst="rect">
            <a:avLst/>
          </a:prstGeom>
          <a:noFill/>
        </p:spPr>
        <p:txBody>
          <a:bodyPr wrap="square">
            <a:spAutoFit/>
          </a:bodyPr>
          <a:lstStyle/>
          <a:p>
            <a:pPr>
              <a:spcAft>
                <a:spcPts val="600"/>
              </a:spcAft>
            </a:pPr>
            <a:r>
              <a:rPr sz="1150" b="1">
                <a:solidFill>
                  <a:srgbClr val="0C2B4A"/>
                </a:solidFill>
              </a:rPr>
              <a:t>Residual risk — </a:t>
            </a:r>
            <a:r>
              <a:rPr sz="1150">
                <a:solidFill>
                  <a:srgbClr val="1A1A1A"/>
                </a:solidFill>
              </a:rPr>
              <a:t>the risk left after controls; you reduce risk to acceptable, not zero.</a:t>
            </a:r>
          </a:p>
          <a:p>
            <a:pPr>
              <a:spcAft>
                <a:spcPts val="600"/>
              </a:spcAft>
            </a:pPr>
            <a:r>
              <a:rPr sz="1150" b="1">
                <a:solidFill>
                  <a:srgbClr val="0C2B4A"/>
                </a:solidFill>
              </a:rPr>
              <a:t>Malware — </a:t>
            </a:r>
            <a:r>
              <a:rPr sz="1150">
                <a:solidFill>
                  <a:srgbClr val="1A1A1A"/>
                </a:solidFill>
              </a:rPr>
              <a:t>malicious software: virus, worm, trojan, ransomware, spyware.</a:t>
            </a:r>
          </a:p>
          <a:p>
            <a:pPr>
              <a:spcAft>
                <a:spcPts val="600"/>
              </a:spcAft>
            </a:pPr>
            <a:r>
              <a:rPr sz="1150" b="1">
                <a:solidFill>
                  <a:srgbClr val="0C2B4A"/>
                </a:solidFill>
              </a:rPr>
              <a:t>Phishing — </a:t>
            </a:r>
            <a:r>
              <a:rPr sz="1150">
                <a:solidFill>
                  <a:srgbClr val="1A1A1A"/>
                </a:solidFill>
              </a:rPr>
              <a:t>tricking a person into giving credentials/money/clicks via fake messages.</a:t>
            </a:r>
          </a:p>
          <a:p>
            <a:pPr>
              <a:spcAft>
                <a:spcPts val="600"/>
              </a:spcAft>
            </a:pPr>
            <a:r>
              <a:rPr sz="1150" b="1">
                <a:solidFill>
                  <a:srgbClr val="0C2B4A"/>
                </a:solidFill>
              </a:rPr>
              <a:t>Spear-phishing — </a:t>
            </a:r>
            <a:r>
              <a:rPr sz="1150">
                <a:solidFill>
                  <a:srgbClr val="1A1A1A"/>
                </a:solidFill>
              </a:rPr>
              <a:t>targeted, researched phishing that can fool experts.</a:t>
            </a:r>
          </a:p>
          <a:p>
            <a:pPr>
              <a:spcAft>
                <a:spcPts val="600"/>
              </a:spcAft>
            </a:pPr>
            <a:r>
              <a:rPr sz="1150" b="1">
                <a:solidFill>
                  <a:srgbClr val="0C2B4A"/>
                </a:solidFill>
              </a:rPr>
              <a:t>DoS / DDoS — </a:t>
            </a:r>
            <a:r>
              <a:rPr sz="1150">
                <a:solidFill>
                  <a:srgbClr val="1A1A1A"/>
                </a:solidFill>
              </a:rPr>
              <a:t>flooding a service so real users can't reach it — attacks Availability.</a:t>
            </a:r>
          </a:p>
          <a:p>
            <a:pPr>
              <a:spcAft>
                <a:spcPts val="600"/>
              </a:spcAft>
            </a:pPr>
            <a:r>
              <a:rPr sz="1150" b="1">
                <a:solidFill>
                  <a:srgbClr val="0C2B4A"/>
                </a:solidFill>
              </a:rPr>
              <a:t>Poisoned web service — </a:t>
            </a:r>
            <a:r>
              <a:rPr sz="1150">
                <a:solidFill>
                  <a:srgbClr val="1A1A1A"/>
                </a:solidFill>
              </a:rPr>
              <a:t>a trusted site turned into a delivery vehicle (drive-by, malvertising, defacement).</a:t>
            </a:r>
          </a:p>
          <a:p>
            <a:pPr>
              <a:spcAft>
                <a:spcPts val="600"/>
              </a:spcAft>
            </a:pPr>
            <a:r>
              <a:rPr sz="1150" b="1">
                <a:solidFill>
                  <a:srgbClr val="0C2B4A"/>
                </a:solidFill>
              </a:rPr>
              <a:t>MITM — </a:t>
            </a:r>
            <a:r>
              <a:rPr sz="1150">
                <a:solidFill>
                  <a:srgbClr val="1A1A1A"/>
                </a:solidFill>
              </a:rPr>
              <a:t>attacker secretly relays/alters traffic between two parties (breaks C and I).</a:t>
            </a:r>
          </a:p>
          <a:p>
            <a:pPr>
              <a:spcAft>
                <a:spcPts val="600"/>
              </a:spcAft>
            </a:pPr>
            <a:r>
              <a:rPr sz="1150" b="1">
                <a:solidFill>
                  <a:srgbClr val="0C2B4A"/>
                </a:solidFill>
              </a:rPr>
              <a:t>ARP poisoning — </a:t>
            </a:r>
            <a:r>
              <a:rPr sz="1150">
                <a:solidFill>
                  <a:srgbClr val="1A1A1A"/>
                </a:solidFill>
              </a:rPr>
              <a:t>faking hardware-address mappings to divert LAN traffic (local MITM).</a:t>
            </a:r>
          </a:p>
          <a:p>
            <a:pPr>
              <a:spcAft>
                <a:spcPts val="600"/>
              </a:spcAft>
            </a:pPr>
            <a:r>
              <a:rPr sz="1150" b="1">
                <a:solidFill>
                  <a:srgbClr val="0C2B4A"/>
                </a:solidFill>
              </a:rPr>
              <a:t>DNS poisoning — </a:t>
            </a:r>
            <a:r>
              <a:rPr sz="1150">
                <a:solidFill>
                  <a:srgbClr val="1A1A1A"/>
                </a:solidFill>
              </a:rPr>
              <a:t>corrupting name→address lookup so a right-looking name leads to a fake server.</a:t>
            </a:r>
          </a:p>
          <a:p>
            <a:pPr>
              <a:spcAft>
                <a:spcPts val="600"/>
              </a:spcAft>
            </a:pPr>
            <a:r>
              <a:rPr sz="1150" b="1">
                <a:solidFill>
                  <a:srgbClr val="0C2B4A"/>
                </a:solidFill>
              </a:rPr>
              <a:t>DNSSEC — </a:t>
            </a:r>
            <a:r>
              <a:rPr sz="1150">
                <a:solidFill>
                  <a:srgbClr val="1A1A1A"/>
                </a:solidFill>
              </a:rPr>
              <a:t>authentication for DNS answers that helps prevent DNS poisoning.</a:t>
            </a:r>
          </a:p>
          <a:p>
            <a:pPr>
              <a:spcAft>
                <a:spcPts val="600"/>
              </a:spcAft>
            </a:pPr>
            <a:r>
              <a:rPr sz="1150" b="1">
                <a:solidFill>
                  <a:srgbClr val="0C2B4A"/>
                </a:solidFill>
              </a:rPr>
              <a:t>White/grey/black hat — </a:t>
            </a:r>
            <a:r>
              <a:rPr sz="1150">
                <a:solidFill>
                  <a:srgbClr val="1A1A1A"/>
                </a:solidFill>
              </a:rPr>
              <a:t>hacker classes by authorisation + intent (not skill).</a:t>
            </a:r>
          </a:p>
          <a:p>
            <a:pPr>
              <a:spcAft>
                <a:spcPts val="600"/>
              </a:spcAft>
            </a:pPr>
            <a:r>
              <a:rPr sz="1150" b="1">
                <a:solidFill>
                  <a:srgbClr val="0C2B4A"/>
                </a:solidFill>
              </a:rPr>
              <a:t>APT — </a:t>
            </a:r>
            <a:r>
              <a:rPr sz="1150">
                <a:solidFill>
                  <a:srgbClr val="1A1A1A"/>
                </a:solidFill>
              </a:rPr>
              <a:t>advanced persistent threat — a well-resourced state/organised actor.</a:t>
            </a:r>
          </a:p>
          <a:p>
            <a:pPr>
              <a:spcAft>
                <a:spcPts val="600"/>
              </a:spcAft>
            </a:pPr>
            <a:r>
              <a:rPr sz="1150" b="1">
                <a:solidFill>
                  <a:srgbClr val="0C2B4A"/>
                </a:solidFill>
              </a:rPr>
              <a:t>Insider threat — </a:t>
            </a:r>
            <a:r>
              <a:rPr sz="1150">
                <a:solidFill>
                  <a:srgbClr val="1A1A1A"/>
                </a:solidFill>
              </a:rPr>
              <a:t>an employee/contractor misusing access — malicious or negligent.</a:t>
            </a:r>
          </a:p>
          <a:p>
            <a:pPr>
              <a:spcAft>
                <a:spcPts val="600"/>
              </a:spcAft>
            </a:pPr>
            <a:r>
              <a:rPr sz="1150" b="1">
                <a:solidFill>
                  <a:srgbClr val="0C2B4A"/>
                </a:solidFill>
              </a:rPr>
              <a:t>NPCERT — </a:t>
            </a:r>
            <a:r>
              <a:rPr sz="1150">
                <a:solidFill>
                  <a:srgbClr val="1A1A1A"/>
                </a:solidFill>
              </a:rPr>
              <a:t>Nepal's national Computer Emergency Response Team.</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90 / 94</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UNIT 5 · REVISION</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Consolidated end-of-unit quiz</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Ten MCQs across the whole unit (answers shown), then short-answer, applied-case, and discussion questions to work from the concept slides and Unit5_material.md. All content stays defensive / conceptual — no attack-execution steps.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91 / 94</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 A — Multiple choice (answers shown)</a:t>
            </a:r>
          </a:p>
        </p:txBody>
      </p:sp>
      <p:sp>
        <p:nvSpPr>
          <p:cNvPr id="5" name="TextBox 4"/>
          <p:cNvSpPr txBox="1"/>
          <p:nvPr/>
        </p:nvSpPr>
        <p:spPr>
          <a:xfrm>
            <a:off x="640080" y="1600200"/>
            <a:ext cx="10881360" cy="4846320"/>
          </a:xfrm>
          <a:prstGeom prst="rect">
            <a:avLst/>
          </a:prstGeom>
          <a:noFill/>
        </p:spPr>
        <p:txBody>
          <a:bodyPr wrap="square">
            <a:spAutoFit/>
          </a:bodyPr>
          <a:lstStyle/>
          <a:p>
            <a:pPr lvl="1"/>
            <a:r>
              <a:rPr sz="1250" b="1">
                <a:solidFill>
                  <a:srgbClr val="0F6E56"/>
                </a:solidFill>
              </a:rPr>
              <a:t>1.  Cyberspace is best described as   →  ✅ the whole connected digital domain (not just websites)</a:t>
            </a:r>
          </a:p>
          <a:p>
            <a:pPr lvl="1"/>
            <a:r>
              <a:rPr sz="1250" b="1">
                <a:solidFill>
                  <a:srgbClr val="0F6E56"/>
                </a:solidFill>
              </a:rPr>
              <a:t>2.  The three CIA goals are   →  ✅ Confidentiality, Integrity, Availability</a:t>
            </a:r>
          </a:p>
          <a:p>
            <a:pPr lvl="1"/>
            <a:r>
              <a:rPr sz="1250" b="1">
                <a:solidFill>
                  <a:srgbClr val="0F6E56"/>
                </a:solidFill>
              </a:rPr>
              <a:t>3.  Ransomware locking files mainly violates   →  ✅ Availability</a:t>
            </a:r>
          </a:p>
          <a:p>
            <a:pPr lvl="1"/>
            <a:r>
              <a:rPr sz="1250" b="1">
                <a:solidFill>
                  <a:srgbClr val="0F6E56"/>
                </a:solidFill>
              </a:rPr>
              <a:t>4.  Secretly altering data violates   →  ✅ Integrity</a:t>
            </a:r>
          </a:p>
          <a:p>
            <a:pPr lvl="1"/>
            <a:r>
              <a:rPr sz="1250" b="1">
                <a:solidFill>
                  <a:srgbClr val="0F6E56"/>
                </a:solidFill>
              </a:rPr>
              <a:t>5.  The attack surface grows mainly because   →  ✅ more devices, data, and entry points are added</a:t>
            </a:r>
          </a:p>
          <a:p>
            <a:pPr lvl="1"/>
            <a:r>
              <a:rPr sz="1250" b="1">
                <a:solidFill>
                  <a:srgbClr val="0F6E56"/>
                </a:solidFill>
              </a:rPr>
              <a:t>6.  Ransomware-as-a-Service matters because it   →  ✅ lets low-skill attackers rent powerful tools</a:t>
            </a:r>
          </a:p>
          <a:p>
            <a:pPr lvl="1"/>
            <a:r>
              <a:rPr sz="1250" b="1">
                <a:solidFill>
                  <a:srgbClr val="0F6E56"/>
                </a:solidFill>
              </a:rPr>
              <a:t>7.  Risk is expressed as   →  ✅ threat × vulnerability × impact</a:t>
            </a:r>
          </a:p>
          <a:p>
            <a:pPr lvl="1"/>
            <a:r>
              <a:rPr sz="1250" b="1">
                <a:solidFill>
                  <a:srgbClr val="0F6E56"/>
                </a:solidFill>
              </a:rPr>
              <a:t>8.  A weakness an attack can exploit is a   →  ✅ vulnerability (a threat is what exploits it)</a:t>
            </a:r>
          </a:p>
          <a:p>
            <a:pPr lvl="1"/>
            <a:r>
              <a:rPr sz="1250" b="1">
                <a:solidFill>
                  <a:srgbClr val="0F6E56"/>
                </a:solidFill>
              </a:rPr>
              <a:t>9.  A message using urgency + a fake link is   →  ✅ phishing; the best MITM defence is   →  ✅ HTTPS/VPN</a:t>
            </a:r>
          </a:p>
          <a:p>
            <a:pPr lvl="1"/>
            <a:r>
              <a:rPr sz="1250" b="1">
                <a:solidFill>
                  <a:srgbClr val="0F6E56"/>
                </a:solidFill>
              </a:rPr>
              <a:t>10.  A hacker authorised to test a system is a   →  ✅ white hat; an employee misusing access is an   →  ✅ insider</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92 / 94</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Sections B–D — short answer, applied case &amp; discussion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500"/>
              </a:spcBef>
            </a:pPr>
            <a:r>
              <a:rPr sz="1400" b="1">
                <a:solidFill>
                  <a:srgbClr val="0C2B4A"/>
                </a:solidFill>
              </a:rPr>
              <a:t>Section B — Short answer</a:t>
            </a:r>
          </a:p>
          <a:p>
            <a:pPr lvl="1">
              <a:spcBef>
                <a:spcPts val="200"/>
              </a:spcBef>
            </a:pPr>
            <a:r>
              <a:rPr sz="1250" i="1">
                <a:solidFill>
                  <a:srgbClr val="1A1A1A"/>
                </a:solidFill>
              </a:rPr>
              <a:t>11. Define cybersecurity (people+process+tech).   12. Explain each letter of the CIA triad with a Nepal example.</a:t>
            </a:r>
          </a:p>
          <a:p>
            <a:pPr lvl="1">
              <a:spcBef>
                <a:spcPts val="200"/>
              </a:spcBef>
            </a:pPr>
            <a:r>
              <a:rPr sz="1250" i="1">
                <a:solidFill>
                  <a:srgbClr val="1A1A1A"/>
                </a:solidFill>
              </a:rPr>
              <a:t>13. Why does outsourcing keep accountability with you?   14. State and explain risk = threat × vulnerability × impact.   15. List 3 defences against phishing.</a:t>
            </a:r>
          </a:p>
          <a:p>
            <a:pPr>
              <a:spcBef>
                <a:spcPts val="500"/>
              </a:spcBef>
            </a:pPr>
            <a:r>
              <a:rPr sz="1400" b="1">
                <a:solidFill>
                  <a:srgbClr val="0C2B4A"/>
                </a:solidFill>
              </a:rPr>
              <a:t>Section C — Applied case</a:t>
            </a:r>
          </a:p>
          <a:p>
            <a:pPr lvl="1">
              <a:spcBef>
                <a:spcPts val="200"/>
              </a:spcBef>
            </a:pPr>
            <a:r>
              <a:rPr sz="1250" i="1">
                <a:solidFill>
                  <a:srgbClr val="1A1A1A"/>
                </a:solidFill>
              </a:rPr>
              <a:t>16. For a Nepali bank or campus: identify the asset, threat, vulnerability, and impact, then propose two controls.</a:t>
            </a:r>
          </a:p>
          <a:p>
            <a:pPr lvl="1">
              <a:spcBef>
                <a:spcPts val="200"/>
              </a:spcBef>
            </a:pPr>
            <a:r>
              <a:rPr sz="1250" i="1">
                <a:solidFill>
                  <a:srgbClr val="1A1A1A"/>
                </a:solidFill>
              </a:rPr>
              <a:t>17. A cloned/poisoned login page is reached via the right-looking address — name the likely technique and the user-side defence.</a:t>
            </a:r>
          </a:p>
          <a:p>
            <a:pPr>
              <a:spcBef>
                <a:spcPts val="500"/>
              </a:spcBef>
            </a:pPr>
            <a:r>
              <a:rPr sz="1400" b="1">
                <a:solidFill>
                  <a:srgbClr val="0C2B4A"/>
                </a:solidFill>
              </a:rPr>
              <a:t>Section D — Discussion</a:t>
            </a:r>
          </a:p>
          <a:p>
            <a:pPr lvl="1">
              <a:spcBef>
                <a:spcPts val="200"/>
              </a:spcBef>
            </a:pPr>
            <a:r>
              <a:rPr sz="1250" i="1">
                <a:solidFill>
                  <a:srgbClr val="1A1A1A"/>
                </a:solidFill>
              </a:rPr>
              <a:t>18. For a Nepali ministry, rank hacktivists, organised crime, state actors, and insiders by real-world risk — justify your top two.</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93 / 94</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End of Unit 5  ·  IT 246</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S22–S27 complete: cyberspace &amp; the CIA triad · threat-landscape drivers · risk = T × V × I · common attacks &amp; poisoned web services · ARP/DNS/MITM poisoning · cyberattackers &amp; their hats</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Built to COURSE_MATERIAL_STANDARD.md incl. the §7A depth rule · comparison &amp; concrete-example tables throughout · defensive/awareness framing (no attack recipes) · self-contained, PDF-safe · Next: Units 6–8 — personal security, cryptography &amp; digital forensics.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94 / 94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