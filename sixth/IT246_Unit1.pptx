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sessions, one outcome each. This unit sets the reasoning toolkit reused across all 9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Read 3 scenarios — sharing one paid login among 8; taking 'chiya kharcha' to push a file; dumping e-waste in the river. Run TWO votes: 'which are illegal?' then 'which are unethical?' The counts won't match — that mismatch IS the lesson. Don't resolve yet; cold-call a student who split their vote. Write agenda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4 words on the board. Define each, but spend the time on how they RELATE: must-do (law) vs should-do (ethics) vs personally-believe (morals) vs polite (etiquette). Nepal: bribe = illegal AND unethical; 'source-force' queue-jump = unethical not illegal; left-hand at a feast = etiquette only. Say aloud: 'the law is the minimum society tolerates, not the maximum you should aim for.' Transition: 'if legal ≠ ethical, we need to SEE the difference — the grid.'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point of S1: legal and ethical are SEPARATE axes. Walk each quadrant. The dangerous quadrant is legal+unethical — that's where most business scandals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business is special: customers can't verify most claims (does the medicine work? is my data safe?), so business runs on trust. Walk the two-shop example fully. Mini case (take 2–3 answers): a trekking agency hides a route safety risk to keep a booking — who bears the cost? Client (safety), agency (reputation/lawsuits), AND the whole tourism sector. One shortcut, an industry's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'bad apples' assumption — misbehavior is mostly situational, which is exactly why S2/S3 (systems &amp; culture) matter. Deliver the brakes analogy with conviction: take the brakes off and you can't speed, you can only crash.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Seeds if pairs stall: selling legally-collected user data; a politician's legal conflict of interest; pirating unaffordable software (illegal, students argue ethical). Keep it moving — this activity is what fills the time and makes the grid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every job offer has a code of conduct; employers check your online reputation BEFORE the interview; recruiters ask 'tell me about an ethical dilemma'. SUMMARY [~2 min]: ethics = group code; legal ≠ ethical (watch the legal-but-unethical quadrant); business ethics = profit vs trust, misbehavior is situational so systems fix it. Next: CSR.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Ncell funds a school; a bank plants trees; a firm sponsors flood relief — kindness, marketing, or duty? Show of hands for each. Most vote 'marketing' cynically — acknowledge it, then complicate: what if it's all three AND society can legitimately expect it? Nepal actually REQUIRES some CSR. Keep the cynicism alive for the closing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old Friedman 'only profit' view with the modern consensus. The crucial idea is that society GRANTS a business its licence to operate, so responsibility flows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bottom-up. NRB directs banks to spend on CSR — that sits in the ethical/philanthropic layers, but only works because the bank is profitable and legal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Evaluate the factory TWICE, out loud: shareholder lens = success (profit up); stakeholder lens = failure (village harmed; costs hidden not absent — health, lawsuits, lost social licence). Land it: 'ethics fails when we count only the stakeholders on the balance sheet.'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each lever WITH its why. NRB directs Nepali banks to allocate profit to CSR — so part of CSR here is regulated,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reuses the hook's cynicism productively. The 'does daily operation match the message' test is the takeaway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CSR shapes which firms attract talent/investment and which face boycotts; as a manager you can build real vs decorative CSR. SUMMARY [~2 min]: CSR = duty to society (Carroll's 4 layers); stakeholders = all affected; good ethics is built via leadership/culture/codes/transparency. Next: the systems that turn values into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a company hires consultants, writes a glossy Code of Ethics, frames it in reception… and behaves exactly as before. Ask: WHY did the document change nothing? Take 2–3 answers, then pull together: a value written down ≠ a value practiced. Ethics needs SYSTEMS, not posters.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identical-code contrast is the whole point: the document was never the cause, the system around it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loop. The unequal-punishment mini case shows what happens when 'Consequences' is applied selectively — the whole cycle loses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each component WITH its purpose. Nepal: a bank's AML/compliance training + grievance/whistle-blower hotline is exactly this machinery, and it's regulated.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unequal-punishment case: visible hypocrisy destroys trust FASTER than having no code at all, because now the rule is openly power-dependent.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Ties straight back to the consistency point — push them on enforcement, not just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in your first weeks these signals reveal a healthy vs toxic employer (real reporting channel? rules apply to seniors? genuine training?). SUMMARY [~2 min]: values need systems; effective programs = leadership+code+training+reporting+audits; consistent enforcement beats any document. Next: a repeatable decision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a classmate accidentally shares a Drive folder with TOMORROW'S exam answers. You have them. Don't ask 'what's right' — ask 'HOW would you even decide?' Take gut reactions, then point out everyone jumped to an answer with no METHOD. Today we build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5-step spine returns in EVERY later unit (IP, security, forensics, cyber law). Emphasize that 'get the facts' alone resolves most apparent dilemmas.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5-step spine returns in every later unit. Run the leaked-exam-answers scenario through it live. Lenses can disagree — that's fine; the point is defensible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ambulance case through every lens (utilitarian: a life outweighs the wait; rights: right to life; fairness: an emergency genuinely IS a different case; virtue: a decent person waves them through). Then: the HARD cases are where lenses disagree — naming the disagreement is half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each trap as it SOUNDS in real life. The fudge-the-report case = obedience + slippery slope; have students spot which pressure is being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rehearses the process on a dilemma students actually feel. Don't force a 'correct' answer; reward defensible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grey-area calls happen constantly (a gift, a bent rule, a deadline shortcut); a repeatable process protects you and others; interviewers literally ask for it. SUMMARY [~2 min]: 5-step process; four lenses; four traps. Next: why this is sharper and bigger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[~5 min]: an app silently sells your location; a loan algorithm rejects applicants by neighborhood (digital redlining); a deepfake goes viral the night before an election. Framing line: a shopkeeper cheats one customer at a time; bad code harms MILLIONS in seconds, permanently. Ask: what makes the IT versions WORSE?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each factor with a concrete consequence. Tie back to S1: 'the law is the floor' matters MOST in IT because the floor is often missing — your own ethics is all that's holding.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PAPA = Privacy, Accuracy, Property, Access. This quadrant previews the whole course. End on 'can vs should' with the 100,000-user scraping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scraping case through the S4 5-step process quickly: facts (is 'public' = 'consented'?), stakeholders (the 100,000), lens (rights: did they agree to THIS use?), act, reflect. Show 'can' and 'should' give different answers. A biased-data hiring algorithm discriminates automatically,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Makes the abstract PAPA framework personal. Good closer — students leave seeing their own apps through the unit's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[~3 min]: you'll build/manage/buy systems and decide what data to collect and how algorithms treat people; every later unit is a tool for 'can vs should'. SUMMARY [~2 min]: IT amplifies impact (scale/speed/anonymity/permanence); tech is value-laden; PAPA; professionals own can-vs-should. Next unit: ethics for IT workers &amp;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MCQ + 5 short answer + 2 applied cases + 1 discussion. Full questions and answer key are in Unit1_material.md.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lines map to the most common exam questions. Full quiz with answer key is in the markdown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Unit 1 — An Overview of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FDDEA"/>
                </a:solidFill>
              </a:rPr>
              <a:t>IT 246: IT Ethics and Cybersecurity  ·  BIM 6th Semester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5 lecture hours (S1–S5)  ·  50 min each  ·  Nepal / South Asia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Unit 1 —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By the end of this unit, you will be able to: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Define ethics and distinguish it from morals, law, and etiquette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Explain ethics in the business world and Corporate Social Responsibility (CSR)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Describe how organizations foster CSR and improve business ethics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Apply a structured ethical decision-making process to a dilemma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Explain why ethics matters specifically in Information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 · LECTURE HOUR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What is Ethics? · Ethics in Business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1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Ethics, Morals, Law &amp; Etiquette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Ethics — a code of right/wrong owned by a GROUP, profession, or society (it's shared)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Morals — an individual's PERSONAL beliefs (family, religion, upbringing)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Law — rules the STATE enforces, with penalties (codified, slow, can't cover everything)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Etiquette — social MANNERS; breaking it is rude, not deeply wrong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They usually overlap — the cases that matter are where they PULL APART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'if it's legal, it's ethical.' Law is the FLOOR, not the ceiling.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1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Legal vs Ethical — two different axes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C2B4A"/>
                </a:solidFill>
              </a:rPr>
              <a:t>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76871" y="201168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C2B4A"/>
                </a:solidFill>
              </a:rPr>
              <a:t>ILLEGAL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4038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C2B4A"/>
                </a:solidFill>
              </a:rPr>
              <a:t>ETHICAL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6612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C2B4A"/>
                </a:solidFill>
              </a:rPr>
              <a:t>UNETHICAL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468880"/>
            <a:ext cx="3977639" cy="169164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Paying taxes honestly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Keeping a promise to a customer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76871" y="2468880"/>
            <a:ext cx="3977639" cy="169164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Justified civil disobedience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(rare — illegal but morally defended)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325112"/>
            <a:ext cx="3977639" cy="1691640"/>
          </a:xfrm>
          <a:prstGeom prst="round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Exploiting a tax loophole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Queue-jumping via 'source-force'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76871" y="4325112"/>
            <a:ext cx="3977639" cy="1691640"/>
          </a:xfrm>
          <a:prstGeom prst="roundRect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Paying a bribe ('ghus')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Leaking someone's private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3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Ethics in the Business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Business ethics = applying ethical standards to commercial conduct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 business serves MANY stakeholders at once (customers, staff, society, owners) — they conflict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Central tension: short-term profit vs long-term TRUST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Trust is slow to build, instant to lose — unethical shortcuts spend a years-long reserve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festival shortage — Shop A triples prices (wins today); Shop B holds (longer queue every Dashain)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 · CONCEPT 4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Why Good People &amp; Businesses Still Go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Most misbehavior comes from ordinary people under predictable pressure — not 'bad people'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Results pressure — the target crowds out the ethics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'Everyone does it' — normalization makes wrong feel normal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Weak oversight + diffusion of responsibility — 'I just followed the process'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If misbehavior is SITUATIONAL, good systems &amp; culture prevent it (→ S2, S3)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Analogy: ethics = the BRAKES that let you drive fast safely — not a roadblock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S1 — 'Find the grey area'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Think–Pair–Share (2 min in pairs, 3 min sharing, 1 min close)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Each pair invents ONE act that is legal-but-unethical and ONE illegal-but-arguably-ethical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Draw from Nepali daily life or IT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Take 4–5 answers aloud and place each on the 2×2 grid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Close: notice how EASY legal-but-unethical was to find — that's the quadrant this course trains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S1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An action that is legal but still wrong is best called…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Unethical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A profession's written code of conduct is an example of…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Ethics (a group code)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name one thing legal in Nepal you consider unethical — which grid quadrant?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2 · LECTURE HOUR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Corporate Social Responsibility (CSR)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1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What CSR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CSR = a company's DUTY to act for society's benefit, not only shareholders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Key word: DUTY — business owes the society that lets it operate (infrastructure, workers, trust)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Modern consensus shifted from 'business of business is only profit' → profit AND responsibility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1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Carroll's CSR Pyramid</a:t>
            </a:r>
          </a:p>
        </p:txBody>
      </p:sp>
      <p:sp>
        <p:nvSpPr>
          <p:cNvPr id="5" name="Rectangle 4"/>
          <p:cNvSpPr/>
          <p:nvPr/>
        </p:nvSpPr>
        <p:spPr>
          <a:xfrm>
            <a:off x="1798167" y="4800600"/>
            <a:ext cx="8595360" cy="960120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ECONOMIC — be profitable (the foundation)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12567" y="3803904"/>
            <a:ext cx="6766560" cy="960120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LEGAL — obey the law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26967" y="2807208"/>
            <a:ext cx="4937760" cy="96012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ETHICAL — do what is right, beyond the law</a:t>
            </a:r>
          </a:p>
        </p:txBody>
      </p:sp>
      <p:sp>
        <p:nvSpPr>
          <p:cNvPr id="8" name="Trapezoid 7"/>
          <p:cNvSpPr/>
          <p:nvPr/>
        </p:nvSpPr>
        <p:spPr>
          <a:xfrm>
            <a:off x="4541367" y="1810512"/>
            <a:ext cx="3108960" cy="960120"/>
          </a:xfrm>
          <a:prstGeom prst="trapezoid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PHILANTHROPIC — give back to the community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606B"/>
                </a:solidFill>
              </a:rPr>
              <a:t>Lower layers must hold before the upper ones mean anything — you can't be philanthropic if you're not first viable and legal.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3  [THEORY]  ·  ~8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Stakeholder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To whom does a company answer? Narrow answer: shareholders (owners)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Stakeholder theory widens it: EVERYONE materially affected — customers, staff, suppliers,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   community, environment, government, AND owners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Consequence: a decision great for owners but harmful to the community is a FAILURE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Mini case: a factory profitable for owners but polluting a village's water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S2 · CONCEPT 4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Fostering CSR &amp; an Ethical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Tone from the top — staff copy what leaders DO, not what posters say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 clear, public code of ethics — turns vague values into specific expectations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An ethical culture — raising a concern is rewarded, doing right is the easy path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Social-responsibility reporting — publishing impact creates accountability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'Good ethics is good business' — trust compounds like interest; a scandal is a withdrawal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S2 — 'Genuine or greenwashing?'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Think–Pair–Share (2 min pairs, 4 min sharing)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Each pair names ONE Nepali company's CSR activity they've seen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Class judges 2–3 examples: genuine responsibility or image-building?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Test to apply: does the company's EVERYDAY operation match the CSR message?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e.g. a bank advertising 'we care about farmers' while its loan terms crush them = greenwashing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S2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The base of Carroll's CSR pyramid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d) Economic responsibility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Stakeholders include all EXCEPT…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only the shareholders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a Nepali company doing visible CSR — genuine or image-building? Apply the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3 · LECTURE HOUR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Improving Business Ethics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1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From Values to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An ethics program = the SYSTEMS that turn stated values into actual behavior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It bridges the gap between what a firm SAYS and what it does on a deadline Tuesday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Two firms, identical code: one where leaders follow it + violations have consequences,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   one where leaders quietly break it → same document, OPPOSITE cultures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2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An Ethics Program is a Cycle, not a Poster</a:t>
            </a:r>
          </a:p>
        </p:txBody>
      </p:sp>
      <p:sp>
        <p:nvSpPr>
          <p:cNvPr id="5" name="Pentagon 4"/>
          <p:cNvSpPr/>
          <p:nvPr/>
        </p:nvSpPr>
        <p:spPr>
          <a:xfrm>
            <a:off x="732891" y="2926080"/>
            <a:ext cx="2057400" cy="1371600"/>
          </a:xfrm>
          <a:prstGeom prst="homePlate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CODE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of conduct</a:t>
            </a:r>
          </a:p>
        </p:txBody>
      </p:sp>
      <p:sp>
        <p:nvSpPr>
          <p:cNvPr id="6" name="Pentagon 5"/>
          <p:cNvSpPr/>
          <p:nvPr/>
        </p:nvSpPr>
        <p:spPr>
          <a:xfrm>
            <a:off x="2900019" y="2926080"/>
            <a:ext cx="2057400" cy="1371600"/>
          </a:xfrm>
          <a:prstGeom prst="homePlat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TRAINING</a:t>
            </a:r>
          </a:p>
        </p:txBody>
      </p:sp>
      <p:sp>
        <p:nvSpPr>
          <p:cNvPr id="7" name="Pentagon 6"/>
          <p:cNvSpPr/>
          <p:nvPr/>
        </p:nvSpPr>
        <p:spPr>
          <a:xfrm>
            <a:off x="5067147" y="2926080"/>
            <a:ext cx="2057400" cy="1371600"/>
          </a:xfrm>
          <a:prstGeom prst="homePlate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REPORTING</a:t>
            </a:r>
          </a:p>
          <a:p>
            <a:pPr algn="ctr"/>
            <a:r>
              <a:rPr sz="1350" b="1">
                <a:solidFill>
                  <a:srgbClr val="FFFFFF"/>
                </a:solidFill>
              </a:rPr>
              <a:t>(hotline)</a:t>
            </a:r>
          </a:p>
        </p:txBody>
      </p:sp>
      <p:sp>
        <p:nvSpPr>
          <p:cNvPr id="8" name="Pentagon 7"/>
          <p:cNvSpPr/>
          <p:nvPr/>
        </p:nvSpPr>
        <p:spPr>
          <a:xfrm>
            <a:off x="7234275" y="2926080"/>
            <a:ext cx="2057400" cy="1371600"/>
          </a:xfrm>
          <a:prstGeom prst="homePlate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AUDIT</a:t>
            </a:r>
          </a:p>
        </p:txBody>
      </p:sp>
      <p:sp>
        <p:nvSpPr>
          <p:cNvPr id="9" name="Pentagon 8"/>
          <p:cNvSpPr/>
          <p:nvPr/>
        </p:nvSpPr>
        <p:spPr>
          <a:xfrm>
            <a:off x="9401403" y="2926080"/>
            <a:ext cx="2057400" cy="1371600"/>
          </a:xfrm>
          <a:prstGeom prst="homePlate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FFFFFF"/>
                </a:solidFill>
              </a:rPr>
              <a:t>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606B"/>
                </a:solidFill>
              </a:rPr>
              <a:t>↺  …and back to refining the Code. A document on the wall changes nothing — the cycle is what changes behavior.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2  [THEORY]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Components of an Effective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Ethics officer/committee with REAL authority (not an ignored side-duty)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Board-level oversight — so ethics can't be buried by middle management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 specific code of conduct — 'no gifts over X', not just 'be good'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Ongoing training — real scenarios, refreshed (not a one-time slideshow)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Safe reporting (whistle-blower) channels — anonymous &amp; retaliation-free or no one uses them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Periodic ethics audits — check rules are FOLLOWED, not just posted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'a code guarantees ethics.' Unenforced code is WORSE than none — signals rules are for show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S3 · CONCEPT 3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Measuring &amp; Sustaining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Ethics audits + anonymous culture surveys — surface problems before scandals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Consistent consequences for violations — at EVERY level, especially the top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Track reported concerns and act, so reporting feels worthwhile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Make-or-break factor: CONSISTENCY — selective punishment destroys the program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Mini case: senior let off, junior punished for the same rule — what does everyone learn?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S3 — 'Design one enforceable rule'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(2 min), then 3 answers aloud (3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Design ONE concrete rule to make the college exam process more ethical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AND state how it would be ENFORCED (a rule with no enforcement is a poster)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Pressure-test each: who checks it? what's the consequence? could a senior dodge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S3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The most important driver of an ethical culture is…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Leadership / tone at the top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A safe, retaliation-free way to report wrongdoing is a…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Whistle-blower / reporting hotline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which single component would do the most good in a typical Nepali office — why?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4 · LECTURE HOUR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Ethical Considerations in Decision Making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1  [THEORY]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The 5-Step Decision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1. Get the facts — most 'dilemmas' dissolve with facts; never reason on assumptions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2. Identify stakeholders &amp; options — who's affected; what are the REALISTIC options?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3. Evaluate options using ethical lenses (next slide)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4. Choose and act — and own it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5. Reflect — outcome? what would I do differently? (this is how judgment improves)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Steps 1 &amp; 2 are the ones people skip — and where most bad decisions are born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1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The 5-Step Ethical Decision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5731" y="2377440"/>
            <a:ext cx="1965960" cy="137160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Get the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facts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79979" y="2916936"/>
            <a:ext cx="256032" cy="292608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54299" y="2377440"/>
            <a:ext cx="1965960" cy="137160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Stakeholders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&amp; options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8547" y="2916936"/>
            <a:ext cx="256032" cy="292608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12867" y="2377440"/>
            <a:ext cx="1965960" cy="137160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Evaluate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(lenses)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97115" y="2916936"/>
            <a:ext cx="256032" cy="292608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1435" y="2377440"/>
            <a:ext cx="1965960" cy="137160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Choose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&amp; act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55683" y="2916936"/>
            <a:ext cx="256032" cy="292608"/>
          </a:xfrm>
          <a:prstGeom prst="rightArrow">
            <a:avLst/>
          </a:prstGeom>
          <a:solidFill>
            <a:srgbClr val="C7C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30003" y="2377440"/>
            <a:ext cx="1965960" cy="137160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Reflect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335" y="3886200"/>
            <a:ext cx="104790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2B4A"/>
                </a:solidFill>
              </a:rPr>
              <a:t>Step 3 — test each option through these lenses: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6335" y="4297680"/>
            <a:ext cx="2468880" cy="86868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Utilitarian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(greatest good)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6383" y="4297680"/>
            <a:ext cx="2468880" cy="86868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Rights / duty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(respect rights)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4297680"/>
            <a:ext cx="2468880" cy="86868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Fairness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(treat alike)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6479" y="4297680"/>
            <a:ext cx="2468880" cy="86868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FFFFFF"/>
                </a:solidFill>
              </a:rPr>
              <a:t>Virtue / common good</a:t>
            </a:r>
          </a:p>
          <a:p>
            <a:pPr algn="ctr"/>
            <a:r>
              <a:rPr sz="1250" b="1">
                <a:solidFill>
                  <a:srgbClr val="FFFFFF"/>
                </a:solidFill>
              </a:rPr>
              <a:t>(good character)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2  [THEORY]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Four Ethical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Utilitarian — 'which option does the most good for the most people?'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Rights/duty — 'does this respect everyone's rights &amp; my duties, regardless of outcome?'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Fairness/justice — 'am I treating similar people alike? is this fair?'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Virtue/common good — 'what would a person of good character do?'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Nepal: fuel-queue + ambulance — all four lenses CONVERGE, which is why it feels obvious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'ethics is just opinion.' Lenses give defensible, comparable reasoning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S4 · CONCEPT 3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Common Decision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Rationalization — 'it's not really cheating, everyone uses these notes'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Groupthink — going along because the whole team is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Slippery slope — 'just this once' lowers the bar for next time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Blind obedience — 'my manager told me to' (you're still responsible)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Mini case: manager says 'fudge this one report, only this once' — name the traps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S4 — 'Run the dilemma'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(3 min), then 2 pairs walk through aloud (3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Take the leaked-exam-answers hook and work ALL 5 steps explicitly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Name at least one LENS used in step 3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Goal isn't unanimity — it's that everyone USED the method and can defend the choice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S4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The first step in ethical decision making is to…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Gather the facts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'Greatest good for the greatest number' is which lens?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Utilitarian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a workplace example where two lenses DISAGREE — how would you decide?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5 · LECTURE HOUR 5 — CLOSES UNIT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Ethics in Information Technology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1  [THEORY]  ·  ~9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Why IT Ethics is Distinct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Scale — one decision (a default, an algorithm) affects millions at once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Speed — harm spreads in seconds, before anyone can intervene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Anonymity — wrongdoers hide; victims targeted from a distance, across borders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Permanence — leaked/posted data is almost impossible to erase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Capability–regulation gap — tech outruns the law, so 'is it legal?' often has no answer yet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'A rumor in a village fades; a screenshot online is forever.'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2  · 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The Four Pillars of IT Ethics — 'PAPA'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2331720"/>
            <a:ext cx="3931920" cy="1600200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PRIVACY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Who can collect &amp; see your data?  (Unit 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331720"/>
            <a:ext cx="3931920" cy="1600200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ACCURACY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Who's liable when data / algorithms are wrong?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069080"/>
            <a:ext cx="3931920" cy="1600200"/>
          </a:xfrm>
          <a:prstGeom prst="round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PROPERTY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Who owns information &amp; software?  (Unit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069080"/>
            <a:ext cx="3931920" cy="1600200"/>
          </a:xfrm>
          <a:prstGeom prst="roundRect">
            <a:avLst/>
          </a:prstGeom>
          <a:solidFill>
            <a:srgbClr val="993C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ACCESS</a:t>
            </a:r>
          </a:p>
          <a:p>
            <a:pPr algn="ctr"/>
            <a:r>
              <a:rPr sz="1250">
                <a:solidFill>
                  <a:srgbClr val="FFFFFF"/>
                </a:solidFill>
              </a:rPr>
              <a:t>Who gets to use technology — and who's left out?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606B"/>
                </a:solidFill>
              </a:rPr>
              <a:t>Security threads through all four (Units 5–8).  Core question of the course:  just because we CAN — should we?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S5 · CONCEPT 3  [THEORY]  ·  ~7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The IT Professional's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Defining question of IT ethics: you CAN — but SHOULD you?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It lands on YOU: you'll choose what data to collect, how an algorithm treats people, what to log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Professional codes (ACM, IEEE) put duty to users &amp; public above employer convenience</a:t>
            </a:r>
          </a:p>
          <a:p>
            <a:pPr lvl="1">
              <a:spcAft>
                <a:spcPts val="300"/>
              </a:spcAft>
            </a:pPr>
            <a:r>
              <a:rPr sz="1550">
                <a:solidFill>
                  <a:srgbClr val="55606B"/>
                </a:solidFill>
              </a:rPr>
              <a:t>Mini case: you CAN scrape 100,000 users' public posts for a project — SHOULD you?</a:t>
            </a:r>
          </a:p>
          <a:p>
            <a:pPr lvl="1">
              <a:spcAft>
                <a:spcPts val="600"/>
              </a:spcAft>
            </a:pPr>
            <a:r>
              <a:rPr sz="1550" i="1">
                <a:solidFill>
                  <a:srgbClr val="0F6E56"/>
                </a:solidFill>
              </a:rPr>
              <a:t>Misconception: 'the tool is neutral.' What you build &amp; how an algorithm decides encodes values + bias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S5 — 'Can vs Should audit'  ·  ~6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</a:rPr>
              <a:t>In pairs (2 min), then 3 answers aloud (4 min)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Each pair picks ONE app they use daily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Identify (a) one PAPA theme it raises a concern about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and (b) one 'can but maybe shouldn't' thing it does with their data</a:t>
            </a:r>
          </a:p>
          <a:p>
            <a:pPr lvl="1">
              <a:spcAft>
                <a:spcPts val="400"/>
              </a:spcAft>
            </a:pPr>
            <a:r>
              <a:rPr sz="1550">
                <a:solidFill>
                  <a:srgbClr val="55606B"/>
                </a:solidFill>
              </a:rPr>
              <a:t>Closes the unit on THEIR real digital life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C2B4A"/>
                </a:solidFill>
              </a:rPr>
              <a:t>S5 — Quick Check  ·  ~5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Q1. What most makes IT ethics distinct?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b) The scale, speed &amp; permanence of impact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C2B4A"/>
                </a:solidFill>
              </a:rPr>
              <a:t>Q2. 'PAPA' = Privacy, Accuracy, Property, and…</a:t>
            </a:r>
          </a:p>
          <a:p>
            <a:pPr lvl="1"/>
            <a:r>
              <a:rPr sz="1600" b="1">
                <a:solidFill>
                  <a:srgbClr val="0F6E56"/>
                </a:solidFill>
              </a:rPr>
              <a:t>✅ c) Access</a:t>
            </a:r>
          </a:p>
          <a:p>
            <a:pPr lvl="1"/>
            <a:r>
              <a:rPr sz="1600">
                <a:solidFill>
                  <a:srgbClr val="1A1A1A"/>
                </a:solidFill>
              </a:rPr>
              <a:t>Discussion: an IT product you use that raises a concern — which PAPA theme, and why?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</a:rPr>
              <a:t>Unit 1 — End-of-Unit Quiz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1 ·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B4A"/>
                </a:solidFill>
              </a:rPr>
              <a:t>Exam pointers — what to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Ethics vs morals vs law vs etiquette; 'legal ≠ ethical'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CSR &amp; Carroll's pyramid (4 layers in order); stakeholder theory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Components of an effective ethics program; tone at the top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The 5-step decision process and the four ethical lenses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1A1A1A"/>
                </a:solidFill>
              </a:rPr>
              <a:t>Why IT ethics is distinct; the PAPA framework; 'can vs should'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End of Unit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CFDDEA"/>
                </a:solidFill>
              </a:rPr>
              <a:t>Next: Unit 2 — Ethics for IT Workers and IT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Generated for IT 246 · diagrams are native shapes (editable) · speaker notes in each slide's Notes pane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