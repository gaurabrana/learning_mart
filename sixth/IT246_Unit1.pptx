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Run the two votes; don't resolve the scenarios. Agenda: ethics vs law → ethics in business → why good companies still go wrong.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Full comparison table on the next slide; spend time on how the four RELATE, not just definitions.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Fill the grid live, asking the class for each cell; place the 'chiya kharcha' bribe (bottom-right) and the shared login (argue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Walk the two-shop example fully; then the trekking-agency mini case (who bears the hidden cost?).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Correct the 'bad apples' assumption; deliver the brakes analogy with conviction.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[~6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Keep the cynicism ('it's just marketing') alive as a thread for the greenwashing activity. Agenda: CSR → Carroll's pyramid → stakeholder theory → fostering ethics.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Stress 'duty' — society can legitimately expect it, not merely hope for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A company donating to charity while underpaying staff is doing CSR backwards — image without foundation.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Work the polluting-factory mini case through both lenses.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Deliver the 'trust compounds' line; sets up the greenwashing activity.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[~6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Pull answers together: a value written down is not a value practised. Ethics needs systems, not posters. Agenda: values→behaviour → program components → measuring &amp; sustaining.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'same code, opposite cultures' contrast is the whole 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Walk each component with its purpose; the cycle image shows they reinforce each other.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Work the two-employees mini case (senior excused, junior punished).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Point out everyone jumped to an answer with no method. Agenda: the 5-step process → four ethical lenses → common decision traps.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Steps 1 and 2 are the ones people skip — where most bad decisions are born.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Walk the ambulance-queue case where all four converge; then note hard cases are where they disagree.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Work the 'just fudge this one report' mini case — obedience + slippery slope.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[~6 min].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Ask: what makes the IT versions worse than the offline versions? Agenda: why IT is distinct → the PAPA pillars → 'can vs should'.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Tie back to S1: 'the law is the floor' matters MOST in IT — the floor is often missing entirely.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Connect each pillar forward to the unit that develops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Run the 100,000-public-posts scraping mini case through the S4 process.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[~6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15–20 min in-class quiz or take-home review.</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 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Sections B–D. Model answers on the concept slides and in Unit1_material.md.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1 — An Overview of Ethics</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246: IT Ethics &amp; Cybersecurity  ·  BIM 6th Semester  ·  Sessions S1–S5</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Self-contained slides with depth: every concept grounded in comparison &amp; concrete-example TABLES (Nepal / IT localised) — no abstraction without instances. Exports to PDF with no information lost.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101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OVERVIEW  ·  S1–S5</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1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Define ethics and distinguish it from morals, law, and etiquette (S1)</a:t>
            </a:r>
          </a:p>
          <a:p>
            <a:pPr>
              <a:spcAft>
                <a:spcPts val="500"/>
              </a:spcAft>
            </a:pPr>
            <a:r>
              <a:rPr sz="1450">
                <a:solidFill>
                  <a:srgbClr val="1A1A1A"/>
                </a:solidFill>
              </a:rPr>
              <a:t>•  Explain ethics in the business world and Corporate Social Responsibility (S1–S2)</a:t>
            </a:r>
          </a:p>
          <a:p>
            <a:pPr>
              <a:spcAft>
                <a:spcPts val="500"/>
              </a:spcAft>
            </a:pPr>
            <a:r>
              <a:rPr sz="1450">
                <a:solidFill>
                  <a:srgbClr val="1A1A1A"/>
                </a:solidFill>
              </a:rPr>
              <a:t>•  Describe how organizations foster CSR and improve business ethics (S2–S3)</a:t>
            </a:r>
          </a:p>
          <a:p>
            <a:pPr>
              <a:spcAft>
                <a:spcPts val="500"/>
              </a:spcAft>
            </a:pPr>
            <a:r>
              <a:rPr sz="1450">
                <a:solidFill>
                  <a:srgbClr val="1A1A1A"/>
                </a:solidFill>
              </a:rPr>
              <a:t>•  Apply a structured 5-step ethical decision-making process to a dilemma (S4)</a:t>
            </a:r>
          </a:p>
          <a:p>
            <a:pPr>
              <a:spcAft>
                <a:spcPts val="500"/>
              </a:spcAft>
            </a:pPr>
            <a:r>
              <a:rPr sz="1450">
                <a:solidFill>
                  <a:srgbClr val="1A1A1A"/>
                </a:solidFill>
              </a:rPr>
              <a:t>•  Explain why ethics matters specifically in Information Technology (S5)</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Unit 1 of IT 246. It is the reasoning foundation for every later unit — IT workers/users, intellectual property, cybersecurity, digital forensics, and Nepal's cyber law.</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101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1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(S1–S5)</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S1–S5</a:t>
            </a:r>
          </a:p>
          <a:p>
            <a:pPr>
              <a:spcBef>
                <a:spcPts val="300"/>
              </a:spcBef>
            </a:pPr>
            <a:r>
              <a:rPr sz="1400">
                <a:solidFill>
                  <a:srgbClr val="1A1A1A"/>
                </a:solidFill>
              </a:rPr>
              <a:t>S1   What is ethics? · ethics in the business world
S2   Corporate Social Responsibility (CSR)
S3   Improving business ethics (systems, not posters)
S4   Ethical decision-making (5 steps · 4 lenses)
S5   Ethics in Information Technology (closes Unit 1)</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LATER UNITS</a:t>
            </a:r>
          </a:p>
          <a:p>
            <a:pPr>
              <a:spcBef>
                <a:spcPts val="300"/>
              </a:spcBef>
            </a:pPr>
            <a:r>
              <a:rPr sz="1400">
                <a:solidFill>
                  <a:srgbClr val="1A1A1A"/>
                </a:solidFill>
              </a:rPr>
              <a:t>Unit 2   Ethics for IT workers &amp; users
Unit 3   Intellectual property
Units 5–8   Cybersecurity &amp; digital forensics
Unit 9   Cyber law in Nepal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101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 · LECTURE HOUR 1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What is Ethics? · Ethics in the Business World</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Three cases: sharing one paid Netflix/Canva login among 8; taking 'chiya kharcha' to push a file up the pile; dumping e-waste in the river at night. Vote 'which are illegal?' then 'which are unethical?' — the counts won't match. That mismatch is the whole lesson.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101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Ethics, Morals, Law &amp; Etiquette — four words people mix up</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Four related ideas people use interchangeably — a professional must not. Ethics = a code of right/wrong owned by a GROUP. Morals = an INDIVIDUAL's personal beliefs. Law = rules the STATE enforces. Etiquette = social MANNERS.</a:t>
            </a:r>
          </a:p>
          <a:p>
            <a:pPr>
              <a:spcAft>
                <a:spcPts val="500"/>
              </a:spcAft>
            </a:pPr>
            <a:r>
              <a:rPr sz="1200" b="1">
                <a:solidFill>
                  <a:srgbClr val="185FA5"/>
                </a:solidFill>
              </a:rPr>
              <a:t>HOW IT WORKS</a:t>
            </a:r>
          </a:p>
          <a:p>
            <a:pPr>
              <a:spcAft>
                <a:spcPts val="600"/>
              </a:spcAft>
            </a:pPr>
            <a:r>
              <a:rPr sz="1400">
                <a:solidFill>
                  <a:srgbClr val="1A1A1A"/>
                </a:solidFill>
              </a:rPr>
              <a:t>•  Ethics is shared (a profession, a company, a society can each have one).</a:t>
            </a:r>
          </a:p>
          <a:p>
            <a:pPr>
              <a:spcAft>
                <a:spcPts val="600"/>
              </a:spcAft>
            </a:pPr>
            <a:r>
              <a:rPr sz="1400">
                <a:solidFill>
                  <a:srgbClr val="1A1A1A"/>
                </a:solidFill>
              </a:rPr>
              <a:t>•  Morals are personal (family, religion, upbringing) — two ethical people can differ.</a:t>
            </a:r>
          </a:p>
          <a:p>
            <a:pPr>
              <a:spcAft>
                <a:spcPts val="600"/>
              </a:spcAft>
            </a:pPr>
            <a:r>
              <a:rPr sz="1400">
                <a:solidFill>
                  <a:srgbClr val="1A1A1A"/>
                </a:solidFill>
              </a:rPr>
              <a:t>•  Law is codified and backed by force, but slow and can't cover everything.</a:t>
            </a:r>
          </a:p>
          <a:p>
            <a:pPr>
              <a:spcAft>
                <a:spcPts val="600"/>
              </a:spcAft>
            </a:pPr>
            <a:r>
              <a:rPr sz="1400">
                <a:solidFill>
                  <a:srgbClr val="1A1A1A"/>
                </a:solidFill>
              </a:rPr>
              <a:t>•  Etiquette breaches are rude, not deeply wrong. They usually overlap — the cases that matter are where they PULL APART.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Law = must; ethics = should; morals = I believe; etiquette = polite.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 / 101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Ethics vs Morals vs Law vs Etiquette — at a glance</a:t>
            </a:r>
          </a:p>
        </p:txBody>
      </p:sp>
      <p:graphicFrame>
        <p:nvGraphicFramePr>
          <p:cNvPr id="5" name="Table 4"/>
          <p:cNvGraphicFramePr>
            <a:graphicFrameLocks noGrp="1"/>
          </p:cNvGraphicFramePr>
          <p:nvPr/>
        </p:nvGraphicFramePr>
        <p:xfrm>
          <a:off x="384048" y="1572768"/>
          <a:ext cx="11429997" cy="4416552"/>
        </p:xfrm>
        <a:graphic>
          <a:graphicData uri="http://schemas.openxmlformats.org/drawingml/2006/table">
            <a:tbl>
              <a:tblPr>
                <a:tableStyleId>{5C22544A-7EE6-4342-B048-85BDC9FD1C3A}</a:tableStyleId>
              </a:tblPr>
              <a:tblGrid>
                <a:gridCol w="997857"/>
                <a:gridCol w="2177142"/>
                <a:gridCol w="1814285"/>
                <a:gridCol w="1723571"/>
                <a:gridCol w="1995714"/>
                <a:gridCol w="2721428"/>
              </a:tblGrid>
              <a:tr h="883310">
                <a:tc>
                  <a:txBody>
                    <a:bodyPr wrap="square"/>
                    <a:lstStyle/>
                    <a:p>
                      <a:r>
                        <a:rPr sz="1100" b="1">
                          <a:solidFill>
                            <a:srgbClr val="FFFFFF"/>
                          </a:solidFill>
                        </a:rPr>
                        <a:t>Concept</a:t>
                      </a:r>
                    </a:p>
                  </a:txBody>
                  <a:tcPr anchor="ctr" marL="73152" marR="54864" marT="27432" marB="27432">
                    <a:solidFill>
                      <a:srgbClr val="0C2B4A"/>
                    </a:solidFill>
                  </a:tcPr>
                </a:tc>
                <a:tc>
                  <a:txBody>
                    <a:bodyPr wrap="square"/>
                    <a:lstStyle/>
                    <a:p>
                      <a:r>
                        <a:rPr sz="1100" b="1">
                          <a:solidFill>
                            <a:srgbClr val="FFFFFF"/>
                          </a:solidFill>
                        </a:rPr>
                        <a:t>Meaning</a:t>
                      </a:r>
                    </a:p>
                  </a:txBody>
                  <a:tcPr anchor="ctr" marL="73152" marR="54864" marT="27432" marB="27432">
                    <a:solidFill>
                      <a:srgbClr val="0C2B4A"/>
                    </a:solidFill>
                  </a:tcPr>
                </a:tc>
                <a:tc>
                  <a:txBody>
                    <a:bodyPr wrap="square"/>
                    <a:lstStyle/>
                    <a:p>
                      <a:r>
                        <a:rPr sz="1100" b="1">
                          <a:solidFill>
                            <a:srgbClr val="FFFFFF"/>
                          </a:solidFill>
                        </a:rPr>
                        <a:t>Source</a:t>
                      </a:r>
                    </a:p>
                  </a:txBody>
                  <a:tcPr anchor="ctr" marL="73152" marR="54864" marT="27432" marB="27432">
                    <a:solidFill>
                      <a:srgbClr val="0C2B4A"/>
                    </a:solidFill>
                  </a:tcPr>
                </a:tc>
                <a:tc>
                  <a:txBody>
                    <a:bodyPr wrap="square"/>
                    <a:lstStyle/>
                    <a:p>
                      <a:r>
                        <a:rPr sz="1100" b="1">
                          <a:solidFill>
                            <a:srgbClr val="FFFFFF"/>
                          </a:solidFill>
                        </a:rPr>
                        <a:t>Who decides</a:t>
                      </a:r>
                    </a:p>
                  </a:txBody>
                  <a:tcPr anchor="ctr" marL="73152" marR="54864" marT="27432" marB="27432">
                    <a:solidFill>
                      <a:srgbClr val="0C2B4A"/>
                    </a:solidFill>
                  </a:tcPr>
                </a:tc>
                <a:tc>
                  <a:txBody>
                    <a:bodyPr wrap="square"/>
                    <a:lstStyle/>
                    <a:p>
                      <a:r>
                        <a:rPr sz="1100" b="1">
                          <a:solidFill>
                            <a:srgbClr val="FFFFFF"/>
                          </a:solidFill>
                        </a:rPr>
                        <a:t>If broken</a:t>
                      </a:r>
                    </a:p>
                  </a:txBody>
                  <a:tcPr anchor="ctr" marL="73152" marR="54864" marT="27432" marB="27432">
                    <a:solidFill>
                      <a:srgbClr val="0C2B4A"/>
                    </a:solidFill>
                  </a:tcPr>
                </a:tc>
                <a:tc>
                  <a:txBody>
                    <a:bodyPr wrap="square"/>
                    <a:lstStyle/>
                    <a:p>
                      <a:r>
                        <a:rPr sz="1100" b="1">
                          <a:solidFill>
                            <a:srgbClr val="FFFFFF"/>
                          </a:solidFill>
                        </a:rPr>
                        <a:t>Example</a:t>
                      </a:r>
                    </a:p>
                  </a:txBody>
                  <a:tcPr anchor="ctr" marL="73152" marR="54864" marT="27432" marB="27432">
                    <a:solidFill>
                      <a:srgbClr val="0C2B4A"/>
                    </a:solidFill>
                  </a:tcPr>
                </a:tc>
              </a:tr>
              <a:tr h="883310">
                <a:tc>
                  <a:txBody>
                    <a:bodyPr wrap="square"/>
                    <a:lstStyle/>
                    <a:p>
                      <a:r>
                        <a:rPr sz="1050" b="1">
                          <a:solidFill>
                            <a:srgbClr val="0C2B4A"/>
                          </a:solidFill>
                        </a:rPr>
                        <a:t>Ethics</a:t>
                      </a:r>
                    </a:p>
                  </a:txBody>
                  <a:tcPr anchor="ctr" marL="73152" marR="54864" marT="27432" marB="27432">
                    <a:solidFill>
                      <a:srgbClr val="FFFFFF"/>
                    </a:solidFill>
                  </a:tcPr>
                </a:tc>
                <a:tc>
                  <a:txBody>
                    <a:bodyPr wrap="square"/>
                    <a:lstStyle/>
                    <a:p>
                      <a:r>
                        <a:rPr sz="1050">
                          <a:solidFill>
                            <a:srgbClr val="1A1A1A"/>
                          </a:solidFill>
                        </a:rPr>
                        <a:t>Shared standards of right/wrong for a group, profession, or society</a:t>
                      </a:r>
                    </a:p>
                  </a:txBody>
                  <a:tcPr anchor="ctr" marL="73152" marR="54864" marT="27432" marB="27432">
                    <a:solidFill>
                      <a:srgbClr val="FFFFFF"/>
                    </a:solidFill>
                  </a:tcPr>
                </a:tc>
                <a:tc>
                  <a:txBody>
                    <a:bodyPr wrap="square"/>
                    <a:lstStyle/>
                    <a:p>
                      <a:r>
                        <a:rPr sz="1050">
                          <a:solidFill>
                            <a:srgbClr val="1A1A1A"/>
                          </a:solidFill>
                        </a:rPr>
                        <a:t>Professional codes, organizations, society</a:t>
                      </a:r>
                    </a:p>
                  </a:txBody>
                  <a:tcPr anchor="ctr" marL="73152" marR="54864" marT="27432" marB="27432">
                    <a:solidFill>
                      <a:srgbClr val="FFFFFF"/>
                    </a:solidFill>
                  </a:tcPr>
                </a:tc>
                <a:tc>
                  <a:txBody>
                    <a:bodyPr wrap="square"/>
                    <a:lstStyle/>
                    <a:p>
                      <a:r>
                        <a:rPr sz="1050">
                          <a:solidFill>
                            <a:srgbClr val="1A1A1A"/>
                          </a:solidFill>
                        </a:rPr>
                        <a:t>Professional bodies / organizations / society</a:t>
                      </a:r>
                    </a:p>
                  </a:txBody>
                  <a:tcPr anchor="ctr" marL="73152" marR="54864" marT="27432" marB="27432">
                    <a:solidFill>
                      <a:srgbClr val="FFFFFF"/>
                    </a:solidFill>
                  </a:tcPr>
                </a:tc>
                <a:tc>
                  <a:txBody>
                    <a:bodyPr wrap="square"/>
                    <a:lstStyle/>
                    <a:p>
                      <a:r>
                        <a:rPr sz="1050">
                          <a:solidFill>
                            <a:srgbClr val="1A1A1A"/>
                          </a:solidFill>
                        </a:rPr>
                        <a:t>Loss of trust, disciplinary action, suspension, lost reputation</a:t>
                      </a:r>
                    </a:p>
                  </a:txBody>
                  <a:tcPr anchor="ctr" marL="73152" marR="54864" marT="27432" marB="27432">
                    <a:solidFill>
                      <a:srgbClr val="FFFFFF"/>
                    </a:solidFill>
                  </a:tcPr>
                </a:tc>
                <a:tc>
                  <a:txBody>
                    <a:bodyPr wrap="square"/>
                    <a:lstStyle/>
                    <a:p>
                      <a:r>
                        <a:rPr sz="1050">
                          <a:solidFill>
                            <a:srgbClr val="1A1A1A"/>
                          </a:solidFill>
                        </a:rPr>
                        <a:t>A doctor shares a patient's confidential records → disciplinary action, possible loss of licence</a:t>
                      </a:r>
                    </a:p>
                  </a:txBody>
                  <a:tcPr anchor="ctr" marL="73152" marR="54864" marT="27432" marB="27432">
                    <a:solidFill>
                      <a:srgbClr val="FFFFFF"/>
                    </a:solidFill>
                  </a:tcPr>
                </a:tc>
              </a:tr>
              <a:tr h="883310">
                <a:tc>
                  <a:txBody>
                    <a:bodyPr wrap="square"/>
                    <a:lstStyle/>
                    <a:p>
                      <a:r>
                        <a:rPr sz="1050" b="1">
                          <a:solidFill>
                            <a:srgbClr val="0C2B4A"/>
                          </a:solidFill>
                        </a:rPr>
                        <a:t>Morals</a:t>
                      </a:r>
                    </a:p>
                  </a:txBody>
                  <a:tcPr anchor="ctr" marL="73152" marR="54864" marT="27432" marB="27432">
                    <a:solidFill>
                      <a:srgbClr val="EEF3F8"/>
                    </a:solidFill>
                  </a:tcPr>
                </a:tc>
                <a:tc>
                  <a:txBody>
                    <a:bodyPr wrap="square"/>
                    <a:lstStyle/>
                    <a:p>
                      <a:r>
                        <a:rPr sz="1050">
                          <a:solidFill>
                            <a:srgbClr val="1A1A1A"/>
                          </a:solidFill>
                        </a:rPr>
                        <a:t>An individual's personal beliefs about right and wrong</a:t>
                      </a:r>
                    </a:p>
                  </a:txBody>
                  <a:tcPr anchor="ctr" marL="73152" marR="54864" marT="27432" marB="27432">
                    <a:solidFill>
                      <a:srgbClr val="EEF3F8"/>
                    </a:solidFill>
                  </a:tcPr>
                </a:tc>
                <a:tc>
                  <a:txBody>
                    <a:bodyPr wrap="square"/>
                    <a:lstStyle/>
                    <a:p>
                      <a:r>
                        <a:rPr sz="1050">
                          <a:solidFill>
                            <a:srgbClr val="1A1A1A"/>
                          </a:solidFill>
                        </a:rPr>
                        <a:t>Family, religion, culture, upbringing, personal values</a:t>
                      </a:r>
                    </a:p>
                  </a:txBody>
                  <a:tcPr anchor="ctr" marL="73152" marR="54864" marT="27432" marB="27432">
                    <a:solidFill>
                      <a:srgbClr val="EEF3F8"/>
                    </a:solidFill>
                  </a:tcPr>
                </a:tc>
                <a:tc>
                  <a:txBody>
                    <a:bodyPr wrap="square"/>
                    <a:lstStyle/>
                    <a:p>
                      <a:r>
                        <a:rPr sz="1050">
                          <a:solidFill>
                            <a:srgbClr val="1A1A1A"/>
                          </a:solidFill>
                        </a:rPr>
                        <a:t>The individual</a:t>
                      </a:r>
                    </a:p>
                  </a:txBody>
                  <a:tcPr anchor="ctr" marL="73152" marR="54864" marT="27432" marB="27432">
                    <a:solidFill>
                      <a:srgbClr val="EEF3F8"/>
                    </a:solidFill>
                  </a:tcPr>
                </a:tc>
                <a:tc>
                  <a:txBody>
                    <a:bodyPr wrap="square"/>
                    <a:lstStyle/>
                    <a:p>
                      <a:r>
                        <a:rPr sz="1050">
                          <a:solidFill>
                            <a:srgbClr val="1A1A1A"/>
                          </a:solidFill>
                        </a:rPr>
                        <a:t>Personal guilt, regret, conflict with one's conscience</a:t>
                      </a:r>
                    </a:p>
                  </a:txBody>
                  <a:tcPr anchor="ctr" marL="73152" marR="54864" marT="27432" marB="27432">
                    <a:solidFill>
                      <a:srgbClr val="EEF3F8"/>
                    </a:solidFill>
                  </a:tcPr>
                </a:tc>
                <a:tc>
                  <a:txBody>
                    <a:bodyPr wrap="square"/>
                    <a:lstStyle/>
                    <a:p>
                      <a:r>
                        <a:rPr sz="1050">
                          <a:solidFill>
                            <a:srgbClr val="1A1A1A"/>
                          </a:solidFill>
                        </a:rPr>
                        <a:t>Returning a lost wallet because keeping it feels wrong, even if no one would know</a:t>
                      </a:r>
                    </a:p>
                  </a:txBody>
                  <a:tcPr anchor="ctr" marL="73152" marR="54864" marT="27432" marB="27432">
                    <a:solidFill>
                      <a:srgbClr val="EEF3F8"/>
                    </a:solidFill>
                  </a:tcPr>
                </a:tc>
              </a:tr>
              <a:tr h="883310">
                <a:tc>
                  <a:txBody>
                    <a:bodyPr wrap="square"/>
                    <a:lstStyle/>
                    <a:p>
                      <a:r>
                        <a:rPr sz="1050" b="1">
                          <a:solidFill>
                            <a:srgbClr val="0C2B4A"/>
                          </a:solidFill>
                        </a:rPr>
                        <a:t>Law</a:t>
                      </a:r>
                    </a:p>
                  </a:txBody>
                  <a:tcPr anchor="ctr" marL="73152" marR="54864" marT="27432" marB="27432">
                    <a:solidFill>
                      <a:srgbClr val="FFFFFF"/>
                    </a:solidFill>
                  </a:tcPr>
                </a:tc>
                <a:tc>
                  <a:txBody>
                    <a:bodyPr wrap="square"/>
                    <a:lstStyle/>
                    <a:p>
                      <a:r>
                        <a:rPr sz="1050">
                          <a:solidFill>
                            <a:srgbClr val="1A1A1A"/>
                          </a:solidFill>
                        </a:rPr>
                        <a:t>Official rules created and enforced by the government</a:t>
                      </a:r>
                    </a:p>
                  </a:txBody>
                  <a:tcPr anchor="ctr" marL="73152" marR="54864" marT="27432" marB="27432">
                    <a:solidFill>
                      <a:srgbClr val="FFFFFF"/>
                    </a:solidFill>
                  </a:tcPr>
                </a:tc>
                <a:tc>
                  <a:txBody>
                    <a:bodyPr wrap="square"/>
                    <a:lstStyle/>
                    <a:p>
                      <a:r>
                        <a:rPr sz="1050">
                          <a:solidFill>
                            <a:srgbClr val="1A1A1A"/>
                          </a:solidFill>
                        </a:rPr>
                        <a:t>Constitution, legislation, regulations, courts</a:t>
                      </a:r>
                    </a:p>
                  </a:txBody>
                  <a:tcPr anchor="ctr" marL="73152" marR="54864" marT="27432" marB="27432">
                    <a:solidFill>
                      <a:srgbClr val="FFFFFF"/>
                    </a:solidFill>
                  </a:tcPr>
                </a:tc>
                <a:tc>
                  <a:txBody>
                    <a:bodyPr wrap="square"/>
                    <a:lstStyle/>
                    <a:p>
                      <a:r>
                        <a:rPr sz="1050">
                          <a:solidFill>
                            <a:srgbClr val="1A1A1A"/>
                          </a:solidFill>
                        </a:rPr>
                        <a:t>Government (legislature and courts)</a:t>
                      </a:r>
                    </a:p>
                  </a:txBody>
                  <a:tcPr anchor="ctr" marL="73152" marR="54864" marT="27432" marB="27432">
                    <a:solidFill>
                      <a:srgbClr val="FFFFFF"/>
                    </a:solidFill>
                  </a:tcPr>
                </a:tc>
                <a:tc>
                  <a:txBody>
                    <a:bodyPr wrap="square"/>
                    <a:lstStyle/>
                    <a:p>
                      <a:r>
                        <a:rPr sz="1050">
                          <a:solidFill>
                            <a:srgbClr val="1A1A1A"/>
                          </a:solidFill>
                        </a:rPr>
                        <a:t>Fines, imprisonment, community service, legal penalties</a:t>
                      </a:r>
                    </a:p>
                  </a:txBody>
                  <a:tcPr anchor="ctr" marL="73152" marR="54864" marT="27432" marB="27432">
                    <a:solidFill>
                      <a:srgbClr val="FFFFFF"/>
                    </a:solidFill>
                  </a:tcPr>
                </a:tc>
                <a:tc>
                  <a:txBody>
                    <a:bodyPr wrap="square"/>
                    <a:lstStyle/>
                    <a:p>
                      <a:r>
                        <a:rPr sz="1050">
                          <a:solidFill>
                            <a:srgbClr val="1A1A1A"/>
                          </a:solidFill>
                        </a:rPr>
                        <a:t>Driving under the influence is illegal → arrest, fine, licence suspension</a:t>
                      </a:r>
                    </a:p>
                  </a:txBody>
                  <a:tcPr anchor="ctr" marL="73152" marR="54864" marT="27432" marB="27432">
                    <a:solidFill>
                      <a:srgbClr val="FFFFFF"/>
                    </a:solidFill>
                  </a:tcPr>
                </a:tc>
              </a:tr>
              <a:tr h="883312">
                <a:tc>
                  <a:txBody>
                    <a:bodyPr wrap="square"/>
                    <a:lstStyle/>
                    <a:p>
                      <a:r>
                        <a:rPr sz="1050" b="1">
                          <a:solidFill>
                            <a:srgbClr val="0C2B4A"/>
                          </a:solidFill>
                        </a:rPr>
                        <a:t>Etiquette</a:t>
                      </a:r>
                    </a:p>
                  </a:txBody>
                  <a:tcPr anchor="ctr" marL="73152" marR="54864" marT="27432" marB="27432">
                    <a:solidFill>
                      <a:srgbClr val="EEF3F8"/>
                    </a:solidFill>
                  </a:tcPr>
                </a:tc>
                <a:tc>
                  <a:txBody>
                    <a:bodyPr wrap="square"/>
                    <a:lstStyle/>
                    <a:p>
                      <a:r>
                        <a:rPr sz="1050">
                          <a:solidFill>
                            <a:srgbClr val="1A1A1A"/>
                          </a:solidFill>
                        </a:rPr>
                        <a:t>Social rules of politeness and good manners</a:t>
                      </a:r>
                    </a:p>
                  </a:txBody>
                  <a:tcPr anchor="ctr" marL="73152" marR="54864" marT="27432" marB="27432">
                    <a:solidFill>
                      <a:srgbClr val="EEF3F8"/>
                    </a:solidFill>
                  </a:tcPr>
                </a:tc>
                <a:tc>
                  <a:txBody>
                    <a:bodyPr wrap="square"/>
                    <a:lstStyle/>
                    <a:p>
                      <a:r>
                        <a:rPr sz="1050">
                          <a:solidFill>
                            <a:srgbClr val="1A1A1A"/>
                          </a:solidFill>
                        </a:rPr>
                        <a:t>Social customs, traditions, cultural norms</a:t>
                      </a:r>
                    </a:p>
                  </a:txBody>
                  <a:tcPr anchor="ctr" marL="73152" marR="54864" marT="27432" marB="27432">
                    <a:solidFill>
                      <a:srgbClr val="EEF3F8"/>
                    </a:solidFill>
                  </a:tcPr>
                </a:tc>
                <a:tc>
                  <a:txBody>
                    <a:bodyPr wrap="square"/>
                    <a:lstStyle/>
                    <a:p>
                      <a:r>
                        <a:rPr sz="1050">
                          <a:solidFill>
                            <a:srgbClr val="1A1A1A"/>
                          </a:solidFill>
                        </a:rPr>
                        <a:t>Society and culture</a:t>
                      </a:r>
                    </a:p>
                  </a:txBody>
                  <a:tcPr anchor="ctr" marL="73152" marR="54864" marT="27432" marB="27432">
                    <a:solidFill>
                      <a:srgbClr val="EEF3F8"/>
                    </a:solidFill>
                  </a:tcPr>
                </a:tc>
                <a:tc>
                  <a:txBody>
                    <a:bodyPr wrap="square"/>
                    <a:lstStyle/>
                    <a:p>
                      <a:r>
                        <a:rPr sz="1050">
                          <a:solidFill>
                            <a:srgbClr val="1A1A1A"/>
                          </a:solidFill>
                        </a:rPr>
                        <a:t>Seen as rude/impolite; usually no legal or professional penalty</a:t>
                      </a:r>
                    </a:p>
                  </a:txBody>
                  <a:tcPr anchor="ctr" marL="73152" marR="54864" marT="27432" marB="27432">
                    <a:solidFill>
                      <a:srgbClr val="EEF3F8"/>
                    </a:solidFill>
                  </a:tcPr>
                </a:tc>
                <a:tc>
                  <a:txBody>
                    <a:bodyPr wrap="square"/>
                    <a:lstStyle/>
                    <a:p>
                      <a:r>
                        <a:rPr sz="1050">
                          <a:solidFill>
                            <a:srgbClr val="1A1A1A"/>
                          </a:solidFill>
                        </a:rPr>
                        <a:t>Using your phone during a formal meeting is considered poor manners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Same situation can sit in several columns: a bribe is illegal AND unethical; queue-jumping is unethical but legal; left-hand at a feast is only etiquette.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 / 101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Ethics, Morals, Law &amp; Etiquette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Nepal: paying a bribe ('ghus') is illegal AND unethical; jumping a government-office queue via 'source-force' is unethical but not illegal; eating with the left hand at a feast is only an etiquette breach. The same three cases fall in three different places.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it's legal, it's ethical." The law is the FLOOR, not the ceiling — the minimum society tolerates, not the maximum you should aim for. History is full of things that were legal and deeply wrong.</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Ethics is a shared code of right/wrong owned by a group, profession, or society; morals are an individual's personal beliefs; law is the state's enforced rules with penalties; etiquette is social manners. They overlap, but the important cases are where they diverge — and 'legal' is never the end of an ethical question.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ethics (group code) · morals (personal) · law (state-enforced) · etiquette (manners) · 'law is the floor, not the ceiling'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 / 101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Ethical vs Unethical behaviour — by situation</a:t>
            </a:r>
          </a:p>
        </p:txBody>
      </p:sp>
      <p:graphicFrame>
        <p:nvGraphicFramePr>
          <p:cNvPr id="5" name="Table 4"/>
          <p:cNvGraphicFramePr>
            <a:graphicFrameLocks noGrp="1"/>
          </p:cNvGraphicFramePr>
          <p:nvPr/>
        </p:nvGraphicFramePr>
        <p:xfrm>
          <a:off x="384048" y="1572768"/>
          <a:ext cx="11429998" cy="4782312"/>
        </p:xfrm>
        <a:graphic>
          <a:graphicData uri="http://schemas.openxmlformats.org/drawingml/2006/table">
            <a:tbl>
              <a:tblPr>
                <a:tableStyleId>{5C22544A-7EE6-4342-B048-85BDC9FD1C3A}</a:tableStyleId>
              </a:tblPr>
              <a:tblGrid>
                <a:gridCol w="2449285"/>
                <a:gridCol w="4245428"/>
                <a:gridCol w="4735285"/>
              </a:tblGrid>
              <a:tr h="683187">
                <a:tc>
                  <a:txBody>
                    <a:bodyPr wrap="square"/>
                    <a:lstStyle/>
                    <a:p>
                      <a:r>
                        <a:rPr sz="1200" b="1">
                          <a:solidFill>
                            <a:srgbClr val="FFFFFF"/>
                          </a:solidFill>
                        </a:rPr>
                        <a:t>Situation</a:t>
                      </a:r>
                    </a:p>
                  </a:txBody>
                  <a:tcPr anchor="ctr" marL="73152" marR="54864" marT="27432" marB="27432">
                    <a:solidFill>
                      <a:srgbClr val="0C2B4A"/>
                    </a:solidFill>
                  </a:tcPr>
                </a:tc>
                <a:tc>
                  <a:txBody>
                    <a:bodyPr wrap="square"/>
                    <a:lstStyle/>
                    <a:p>
                      <a:r>
                        <a:rPr sz="1200" b="1">
                          <a:solidFill>
                            <a:srgbClr val="FFFFFF"/>
                          </a:solidFill>
                        </a:rPr>
                        <a:t>Ethical behaviour</a:t>
                      </a:r>
                    </a:p>
                  </a:txBody>
                  <a:tcPr anchor="ctr" marL="73152" marR="54864" marT="27432" marB="27432">
                    <a:solidFill>
                      <a:srgbClr val="0C2B4A"/>
                    </a:solidFill>
                  </a:tcPr>
                </a:tc>
                <a:tc>
                  <a:txBody>
                    <a:bodyPr wrap="square"/>
                    <a:lstStyle/>
                    <a:p>
                      <a:r>
                        <a:rPr sz="1200" b="1">
                          <a:solidFill>
                            <a:srgbClr val="FFFFFF"/>
                          </a:solidFill>
                        </a:rPr>
                        <a:t>Unethical behaviour</a:t>
                      </a:r>
                    </a:p>
                  </a:txBody>
                  <a:tcPr anchor="ctr" marL="73152" marR="54864" marT="27432" marB="27432">
                    <a:solidFill>
                      <a:srgbClr val="0C2B4A"/>
                    </a:solidFill>
                  </a:tcPr>
                </a:tc>
              </a:tr>
              <a:tr h="683187">
                <a:tc>
                  <a:txBody>
                    <a:bodyPr wrap="square"/>
                    <a:lstStyle/>
                    <a:p>
                      <a:r>
                        <a:rPr sz="1150" b="1">
                          <a:solidFill>
                            <a:srgbClr val="0C2B4A"/>
                          </a:solidFill>
                        </a:rPr>
                        <a:t>Patient confidentiality</a:t>
                      </a:r>
                    </a:p>
                  </a:txBody>
                  <a:tcPr anchor="ctr" marL="73152" marR="54864" marT="27432" marB="27432">
                    <a:solidFill>
                      <a:srgbClr val="FFFFFF"/>
                    </a:solidFill>
                  </a:tcPr>
                </a:tc>
                <a:tc>
                  <a:txBody>
                    <a:bodyPr wrap="square"/>
                    <a:lstStyle/>
                    <a:p>
                      <a:r>
                        <a:rPr sz="1150">
                          <a:solidFill>
                            <a:srgbClr val="1A1A1A"/>
                          </a:solidFill>
                        </a:rPr>
                        <a:t>A doctor keeps a patient's records private</a:t>
                      </a:r>
                    </a:p>
                  </a:txBody>
                  <a:tcPr anchor="ctr" marL="73152" marR="54864" marT="27432" marB="27432">
                    <a:solidFill>
                      <a:srgbClr val="FFFFFF"/>
                    </a:solidFill>
                  </a:tcPr>
                </a:tc>
                <a:tc>
                  <a:txBody>
                    <a:bodyPr wrap="square"/>
                    <a:lstStyle/>
                    <a:p>
                      <a:r>
                        <a:rPr sz="1150">
                          <a:solidFill>
                            <a:srgbClr val="1A1A1A"/>
                          </a:solidFill>
                        </a:rPr>
                        <a:t>A doctor shares patient information without permission</a:t>
                      </a:r>
                    </a:p>
                  </a:txBody>
                  <a:tcPr anchor="ctr" marL="73152" marR="54864" marT="27432" marB="27432">
                    <a:solidFill>
                      <a:srgbClr val="FFFFFF"/>
                    </a:solidFill>
                  </a:tcPr>
                </a:tc>
              </a:tr>
              <a:tr h="683187">
                <a:tc>
                  <a:txBody>
                    <a:bodyPr wrap="square"/>
                    <a:lstStyle/>
                    <a:p>
                      <a:r>
                        <a:rPr sz="1150" b="1">
                          <a:solidFill>
                            <a:srgbClr val="0C2B4A"/>
                          </a:solidFill>
                        </a:rPr>
                        <a:t>Academic research</a:t>
                      </a:r>
                    </a:p>
                  </a:txBody>
                  <a:tcPr anchor="ctr" marL="73152" marR="54864" marT="27432" marB="27432">
                    <a:solidFill>
                      <a:srgbClr val="EEF3F8"/>
                    </a:solidFill>
                  </a:tcPr>
                </a:tc>
                <a:tc>
                  <a:txBody>
                    <a:bodyPr wrap="square"/>
                    <a:lstStyle/>
                    <a:p>
                      <a:r>
                        <a:rPr sz="1150">
                          <a:solidFill>
                            <a:srgbClr val="1A1A1A"/>
                          </a:solidFill>
                        </a:rPr>
                        <a:t>A researcher reports accurate results</a:t>
                      </a:r>
                    </a:p>
                  </a:txBody>
                  <a:tcPr anchor="ctr" marL="73152" marR="54864" marT="27432" marB="27432">
                    <a:solidFill>
                      <a:srgbClr val="EEF3F8"/>
                    </a:solidFill>
                  </a:tcPr>
                </a:tc>
                <a:tc>
                  <a:txBody>
                    <a:bodyPr wrap="square"/>
                    <a:lstStyle/>
                    <a:p>
                      <a:r>
                        <a:rPr sz="1150">
                          <a:solidFill>
                            <a:srgbClr val="1A1A1A"/>
                          </a:solidFill>
                        </a:rPr>
                        <a:t>A researcher fabricates or falsifies data</a:t>
                      </a:r>
                    </a:p>
                  </a:txBody>
                  <a:tcPr anchor="ctr" marL="73152" marR="54864" marT="27432" marB="27432">
                    <a:solidFill>
                      <a:srgbClr val="EEF3F8"/>
                    </a:solidFill>
                  </a:tcPr>
                </a:tc>
              </a:tr>
              <a:tr h="683187">
                <a:tc>
                  <a:txBody>
                    <a:bodyPr wrap="square"/>
                    <a:lstStyle/>
                    <a:p>
                      <a:r>
                        <a:rPr sz="1150" b="1">
                          <a:solidFill>
                            <a:srgbClr val="0C2B4A"/>
                          </a:solidFill>
                        </a:rPr>
                        <a:t>Engineering</a:t>
                      </a:r>
                    </a:p>
                  </a:txBody>
                  <a:tcPr anchor="ctr" marL="73152" marR="54864" marT="27432" marB="27432">
                    <a:solidFill>
                      <a:srgbClr val="FFFFFF"/>
                    </a:solidFill>
                  </a:tcPr>
                </a:tc>
                <a:tc>
                  <a:txBody>
                    <a:bodyPr wrap="square"/>
                    <a:lstStyle/>
                    <a:p>
                      <a:r>
                        <a:rPr sz="1150">
                          <a:solidFill>
                            <a:srgbClr val="1A1A1A"/>
                          </a:solidFill>
                        </a:rPr>
                        <a:t>An engineer reports a safety flaw in a design</a:t>
                      </a:r>
                    </a:p>
                  </a:txBody>
                  <a:tcPr anchor="ctr" marL="73152" marR="54864" marT="27432" marB="27432">
                    <a:solidFill>
                      <a:srgbClr val="FFFFFF"/>
                    </a:solidFill>
                  </a:tcPr>
                </a:tc>
                <a:tc>
                  <a:txBody>
                    <a:bodyPr wrap="square"/>
                    <a:lstStyle/>
                    <a:p>
                      <a:r>
                        <a:rPr sz="1150">
                          <a:solidFill>
                            <a:srgbClr val="1A1A1A"/>
                          </a:solidFill>
                        </a:rPr>
                        <a:t>An engineer hides the flaw to save money or time</a:t>
                      </a:r>
                    </a:p>
                  </a:txBody>
                  <a:tcPr anchor="ctr" marL="73152" marR="54864" marT="27432" marB="27432">
                    <a:solidFill>
                      <a:srgbClr val="FFFFFF"/>
                    </a:solidFill>
                  </a:tcPr>
                </a:tc>
              </a:tr>
              <a:tr h="683187">
                <a:tc>
                  <a:txBody>
                    <a:bodyPr wrap="square"/>
                    <a:lstStyle/>
                    <a:p>
                      <a:r>
                        <a:rPr sz="1150" b="1">
                          <a:solidFill>
                            <a:srgbClr val="0C2B4A"/>
                          </a:solidFill>
                        </a:rPr>
                        <a:t>Accounting</a:t>
                      </a:r>
                    </a:p>
                  </a:txBody>
                  <a:tcPr anchor="ctr" marL="73152" marR="54864" marT="27432" marB="27432">
                    <a:solidFill>
                      <a:srgbClr val="EEF3F8"/>
                    </a:solidFill>
                  </a:tcPr>
                </a:tc>
                <a:tc>
                  <a:txBody>
                    <a:bodyPr wrap="square"/>
                    <a:lstStyle/>
                    <a:p>
                      <a:r>
                        <a:rPr sz="1150">
                          <a:solidFill>
                            <a:srgbClr val="1A1A1A"/>
                          </a:solidFill>
                        </a:rPr>
                        <a:t>An accountant reports records honestly</a:t>
                      </a:r>
                    </a:p>
                  </a:txBody>
                  <a:tcPr anchor="ctr" marL="73152" marR="54864" marT="27432" marB="27432">
                    <a:solidFill>
                      <a:srgbClr val="EEF3F8"/>
                    </a:solidFill>
                  </a:tcPr>
                </a:tc>
                <a:tc>
                  <a:txBody>
                    <a:bodyPr wrap="square"/>
                    <a:lstStyle/>
                    <a:p>
                      <a:r>
                        <a:rPr sz="1150">
                          <a:solidFill>
                            <a:srgbClr val="1A1A1A"/>
                          </a:solidFill>
                        </a:rPr>
                        <a:t>An accountant manipulates financial statements</a:t>
                      </a:r>
                    </a:p>
                  </a:txBody>
                  <a:tcPr anchor="ctr" marL="73152" marR="54864" marT="27432" marB="27432">
                    <a:solidFill>
                      <a:srgbClr val="EEF3F8"/>
                    </a:solidFill>
                  </a:tcPr>
                </a:tc>
              </a:tr>
              <a:tr h="683187">
                <a:tc>
                  <a:txBody>
                    <a:bodyPr wrap="square"/>
                    <a:lstStyle/>
                    <a:p>
                      <a:r>
                        <a:rPr sz="1150" b="1">
                          <a:solidFill>
                            <a:srgbClr val="0C2B4A"/>
                          </a:solidFill>
                        </a:rPr>
                        <a:t>Business</a:t>
                      </a:r>
                    </a:p>
                  </a:txBody>
                  <a:tcPr anchor="ctr" marL="73152" marR="54864" marT="27432" marB="27432">
                    <a:solidFill>
                      <a:srgbClr val="FFFFFF"/>
                    </a:solidFill>
                  </a:tcPr>
                </a:tc>
                <a:tc>
                  <a:txBody>
                    <a:bodyPr wrap="square"/>
                    <a:lstStyle/>
                    <a:p>
                      <a:r>
                        <a:rPr sz="1150">
                          <a:solidFill>
                            <a:srgbClr val="1A1A1A"/>
                          </a:solidFill>
                        </a:rPr>
                        <a:t>A company advertises products truthfully</a:t>
                      </a:r>
                    </a:p>
                  </a:txBody>
                  <a:tcPr anchor="ctr" marL="73152" marR="54864" marT="27432" marB="27432">
                    <a:solidFill>
                      <a:srgbClr val="FFFFFF"/>
                    </a:solidFill>
                  </a:tcPr>
                </a:tc>
                <a:tc>
                  <a:txBody>
                    <a:bodyPr wrap="square"/>
                    <a:lstStyle/>
                    <a:p>
                      <a:r>
                        <a:rPr sz="1150">
                          <a:solidFill>
                            <a:srgbClr val="1A1A1A"/>
                          </a:solidFill>
                        </a:rPr>
                        <a:t>A company uses misleading ads to deceive customers</a:t>
                      </a:r>
                    </a:p>
                  </a:txBody>
                  <a:tcPr anchor="ctr" marL="73152" marR="54864" marT="27432" marB="27432">
                    <a:solidFill>
                      <a:srgbClr val="FFFFFF"/>
                    </a:solidFill>
                  </a:tcPr>
                </a:tc>
              </a:tr>
              <a:tr h="683190">
                <a:tc>
                  <a:txBody>
                    <a:bodyPr wrap="square"/>
                    <a:lstStyle/>
                    <a:p>
                      <a:r>
                        <a:rPr sz="1150" b="1">
                          <a:solidFill>
                            <a:srgbClr val="0C2B4A"/>
                          </a:solidFill>
                        </a:rPr>
                        <a:t>Software development</a:t>
                      </a:r>
                    </a:p>
                  </a:txBody>
                  <a:tcPr anchor="ctr" marL="73152" marR="54864" marT="27432" marB="27432">
                    <a:solidFill>
                      <a:srgbClr val="EEF3F8"/>
                    </a:solidFill>
                  </a:tcPr>
                </a:tc>
                <a:tc>
                  <a:txBody>
                    <a:bodyPr wrap="square"/>
                    <a:lstStyle/>
                    <a:p>
                      <a:r>
                        <a:rPr sz="1150">
                          <a:solidFill>
                            <a:srgbClr val="1A1A1A"/>
                          </a:solidFill>
                        </a:rPr>
                        <a:t>A developer protects users' personal data</a:t>
                      </a:r>
                    </a:p>
                  </a:txBody>
                  <a:tcPr anchor="ctr" marL="73152" marR="54864" marT="27432" marB="27432">
                    <a:solidFill>
                      <a:srgbClr val="EEF3F8"/>
                    </a:solidFill>
                  </a:tcPr>
                </a:tc>
                <a:tc>
                  <a:txBody>
                    <a:bodyPr wrap="square"/>
                    <a:lstStyle/>
                    <a:p>
                      <a:r>
                        <a:rPr sz="1150">
                          <a:solidFill>
                            <a:srgbClr val="1A1A1A"/>
                          </a:solidFill>
                        </a:rPr>
                        <a:t>A developer secretly sells user data for profit</a:t>
                      </a:r>
                    </a:p>
                  </a:txBody>
                  <a:tcPr anchor="ctr" marL="73152" marR="54864" marT="27432" marB="27432">
                    <a:solidFill>
                      <a:srgbClr val="EEF3F8"/>
                    </a:solidFill>
                  </a:tcPr>
                </a:tc>
              </a:tr>
            </a:tbl>
          </a:graphicData>
        </a:graphic>
      </p:graphicFrame>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 / 101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Ethical vs Unethical behaviour — by situation  (cont.)</a:t>
            </a:r>
          </a:p>
        </p:txBody>
      </p:sp>
      <p:graphicFrame>
        <p:nvGraphicFramePr>
          <p:cNvPr id="5" name="Table 4"/>
          <p:cNvGraphicFramePr>
            <a:graphicFrameLocks noGrp="1"/>
          </p:cNvGraphicFramePr>
          <p:nvPr/>
        </p:nvGraphicFramePr>
        <p:xfrm>
          <a:off x="384048" y="1572768"/>
          <a:ext cx="11429998" cy="4782312"/>
        </p:xfrm>
        <a:graphic>
          <a:graphicData uri="http://schemas.openxmlformats.org/drawingml/2006/table">
            <a:tbl>
              <a:tblPr>
                <a:tableStyleId>{5C22544A-7EE6-4342-B048-85BDC9FD1C3A}</a:tableStyleId>
              </a:tblPr>
              <a:tblGrid>
                <a:gridCol w="2449285"/>
                <a:gridCol w="4245428"/>
                <a:gridCol w="4735285"/>
              </a:tblGrid>
              <a:tr h="956462">
                <a:tc>
                  <a:txBody>
                    <a:bodyPr wrap="square"/>
                    <a:lstStyle/>
                    <a:p>
                      <a:r>
                        <a:rPr sz="1200" b="1">
                          <a:solidFill>
                            <a:srgbClr val="FFFFFF"/>
                          </a:solidFill>
                        </a:rPr>
                        <a:t>Situation</a:t>
                      </a:r>
                    </a:p>
                  </a:txBody>
                  <a:tcPr anchor="ctr" marL="73152" marR="54864" marT="27432" marB="27432">
                    <a:solidFill>
                      <a:srgbClr val="0C2B4A"/>
                    </a:solidFill>
                  </a:tcPr>
                </a:tc>
                <a:tc>
                  <a:txBody>
                    <a:bodyPr wrap="square"/>
                    <a:lstStyle/>
                    <a:p>
                      <a:r>
                        <a:rPr sz="1200" b="1">
                          <a:solidFill>
                            <a:srgbClr val="FFFFFF"/>
                          </a:solidFill>
                        </a:rPr>
                        <a:t>Ethical behaviour</a:t>
                      </a:r>
                    </a:p>
                  </a:txBody>
                  <a:tcPr anchor="ctr" marL="73152" marR="54864" marT="27432" marB="27432">
                    <a:solidFill>
                      <a:srgbClr val="0C2B4A"/>
                    </a:solidFill>
                  </a:tcPr>
                </a:tc>
                <a:tc>
                  <a:txBody>
                    <a:bodyPr wrap="square"/>
                    <a:lstStyle/>
                    <a:p>
                      <a:r>
                        <a:rPr sz="1200" b="1">
                          <a:solidFill>
                            <a:srgbClr val="FFFFFF"/>
                          </a:solidFill>
                        </a:rPr>
                        <a:t>Unethical behaviour</a:t>
                      </a:r>
                    </a:p>
                  </a:txBody>
                  <a:tcPr anchor="ctr" marL="73152" marR="54864" marT="27432" marB="27432">
                    <a:solidFill>
                      <a:srgbClr val="0C2B4A"/>
                    </a:solidFill>
                  </a:tcPr>
                </a:tc>
              </a:tr>
              <a:tr h="956462">
                <a:tc>
                  <a:txBody>
                    <a:bodyPr wrap="square"/>
                    <a:lstStyle/>
                    <a:p>
                      <a:r>
                        <a:rPr sz="1150" b="1">
                          <a:solidFill>
                            <a:srgbClr val="0C2B4A"/>
                          </a:solidFill>
                        </a:rPr>
                        <a:t>Artificial intelligence</a:t>
                      </a:r>
                    </a:p>
                  </a:txBody>
                  <a:tcPr anchor="ctr" marL="73152" marR="54864" marT="27432" marB="27432">
                    <a:solidFill>
                      <a:srgbClr val="FFFFFF"/>
                    </a:solidFill>
                  </a:tcPr>
                </a:tc>
                <a:tc>
                  <a:txBody>
                    <a:bodyPr wrap="square"/>
                    <a:lstStyle/>
                    <a:p>
                      <a:r>
                        <a:rPr sz="1150">
                          <a:solidFill>
                            <a:srgbClr val="1A1A1A"/>
                          </a:solidFill>
                        </a:rPr>
                        <a:t>A developer works to reduce bias in AI</a:t>
                      </a:r>
                    </a:p>
                  </a:txBody>
                  <a:tcPr anchor="ctr" marL="73152" marR="54864" marT="27432" marB="27432">
                    <a:solidFill>
                      <a:srgbClr val="FFFFFF"/>
                    </a:solidFill>
                  </a:tcPr>
                </a:tc>
                <a:tc>
                  <a:txBody>
                    <a:bodyPr wrap="square"/>
                    <a:lstStyle/>
                    <a:p>
                      <a:r>
                        <a:rPr sz="1150">
                          <a:solidFill>
                            <a:srgbClr val="1A1A1A"/>
                          </a:solidFill>
                        </a:rPr>
                        <a:t>A developer knowingly ships a discriminatory system</a:t>
                      </a:r>
                    </a:p>
                  </a:txBody>
                  <a:tcPr anchor="ctr" marL="73152" marR="54864" marT="27432" marB="27432">
                    <a:solidFill>
                      <a:srgbClr val="FFFFFF"/>
                    </a:solidFill>
                  </a:tcPr>
                </a:tc>
              </a:tr>
              <a:tr h="956462">
                <a:tc>
                  <a:txBody>
                    <a:bodyPr wrap="square"/>
                    <a:lstStyle/>
                    <a:p>
                      <a:r>
                        <a:rPr sz="1150" b="1">
                          <a:solidFill>
                            <a:srgbClr val="0C2B4A"/>
                          </a:solidFill>
                        </a:rPr>
                        <a:t>Procurement</a:t>
                      </a:r>
                    </a:p>
                  </a:txBody>
                  <a:tcPr anchor="ctr" marL="73152" marR="54864" marT="27432" marB="27432">
                    <a:solidFill>
                      <a:srgbClr val="EEF3F8"/>
                    </a:solidFill>
                  </a:tcPr>
                </a:tc>
                <a:tc>
                  <a:txBody>
                    <a:bodyPr wrap="square"/>
                    <a:lstStyle/>
                    <a:p>
                      <a:r>
                        <a:rPr sz="1150">
                          <a:solidFill>
                            <a:srgbClr val="1A1A1A"/>
                          </a:solidFill>
                        </a:rPr>
                        <a:t>A purchasing officer selects suppliers fairly</a:t>
                      </a:r>
                    </a:p>
                  </a:txBody>
                  <a:tcPr anchor="ctr" marL="73152" marR="54864" marT="27432" marB="27432">
                    <a:solidFill>
                      <a:srgbClr val="EEF3F8"/>
                    </a:solidFill>
                  </a:tcPr>
                </a:tc>
                <a:tc>
                  <a:txBody>
                    <a:bodyPr wrap="square"/>
                    <a:lstStyle/>
                    <a:p>
                      <a:r>
                        <a:rPr sz="1150">
                          <a:solidFill>
                            <a:srgbClr val="1A1A1A"/>
                          </a:solidFill>
                        </a:rPr>
                        <a:t>A purchasing officer accepts bribes to award contracts</a:t>
                      </a:r>
                    </a:p>
                  </a:txBody>
                  <a:tcPr anchor="ctr" marL="73152" marR="54864" marT="27432" marB="27432">
                    <a:solidFill>
                      <a:srgbClr val="EEF3F8"/>
                    </a:solidFill>
                  </a:tcPr>
                </a:tc>
              </a:tr>
              <a:tr h="956462">
                <a:tc>
                  <a:txBody>
                    <a:bodyPr wrap="square"/>
                    <a:lstStyle/>
                    <a:p>
                      <a:r>
                        <a:rPr sz="1150" b="1">
                          <a:solidFill>
                            <a:srgbClr val="0C2B4A"/>
                          </a:solidFill>
                        </a:rPr>
                        <a:t>Public service</a:t>
                      </a:r>
                    </a:p>
                  </a:txBody>
                  <a:tcPr anchor="ctr" marL="73152" marR="54864" marT="27432" marB="27432">
                    <a:solidFill>
                      <a:srgbClr val="FFFFFF"/>
                    </a:solidFill>
                  </a:tcPr>
                </a:tc>
                <a:tc>
                  <a:txBody>
                    <a:bodyPr wrap="square"/>
                    <a:lstStyle/>
                    <a:p>
                      <a:r>
                        <a:rPr sz="1150">
                          <a:solidFill>
                            <a:srgbClr val="1A1A1A"/>
                          </a:solidFill>
                        </a:rPr>
                        <a:t>An officer serves citizens impartially</a:t>
                      </a:r>
                    </a:p>
                  </a:txBody>
                  <a:tcPr anchor="ctr" marL="73152" marR="54864" marT="27432" marB="27432">
                    <a:solidFill>
                      <a:srgbClr val="FFFFFF"/>
                    </a:solidFill>
                  </a:tcPr>
                </a:tc>
                <a:tc>
                  <a:txBody>
                    <a:bodyPr wrap="square"/>
                    <a:lstStyle/>
                    <a:p>
                      <a:r>
                        <a:rPr sz="1150">
                          <a:solidFill>
                            <a:srgbClr val="1A1A1A"/>
                          </a:solidFill>
                        </a:rPr>
                        <a:t>An officer demands a bribe for faster service</a:t>
                      </a:r>
                    </a:p>
                  </a:txBody>
                  <a:tcPr anchor="ctr" marL="73152" marR="54864" marT="27432" marB="27432">
                    <a:solidFill>
                      <a:srgbClr val="FFFFFF"/>
                    </a:solidFill>
                  </a:tcPr>
                </a:tc>
              </a:tr>
              <a:tr h="956464">
                <a:tc>
                  <a:txBody>
                    <a:bodyPr wrap="square"/>
                    <a:lstStyle/>
                    <a:p>
                      <a:r>
                        <a:rPr sz="1150" b="1">
                          <a:solidFill>
                            <a:srgbClr val="0C2B4A"/>
                          </a:solidFill>
                        </a:rPr>
                        <a:t>Recruitment</a:t>
                      </a:r>
                    </a:p>
                  </a:txBody>
                  <a:tcPr anchor="ctr" marL="73152" marR="54864" marT="27432" marB="27432">
                    <a:solidFill>
                      <a:srgbClr val="EEF3F8"/>
                    </a:solidFill>
                  </a:tcPr>
                </a:tc>
                <a:tc>
                  <a:txBody>
                    <a:bodyPr wrap="square"/>
                    <a:lstStyle/>
                    <a:p>
                      <a:r>
                        <a:rPr sz="1150">
                          <a:solidFill>
                            <a:srgbClr val="1A1A1A"/>
                          </a:solidFill>
                        </a:rPr>
                        <a:t>An HR manager hires on qualifications</a:t>
                      </a:r>
                    </a:p>
                  </a:txBody>
                  <a:tcPr anchor="ctr" marL="73152" marR="54864" marT="27432" marB="27432">
                    <a:solidFill>
                      <a:srgbClr val="EEF3F8"/>
                    </a:solidFill>
                  </a:tcPr>
                </a:tc>
                <a:tc>
                  <a:txBody>
                    <a:bodyPr wrap="square"/>
                    <a:lstStyle/>
                    <a:p>
                      <a:r>
                        <a:rPr sz="1150">
                          <a:solidFill>
                            <a:srgbClr val="1A1A1A"/>
                          </a:solidFill>
                        </a:rPr>
                        <a:t>An HR manager hires relatives regardless of merit (nepotism)</a:t>
                      </a:r>
                    </a:p>
                  </a:txBody>
                  <a:tcPr anchor="ctr" marL="73152" marR="54864" marT="27432" marB="27432">
                    <a:solidFill>
                      <a:srgbClr val="EEF3F8"/>
                    </a:solidFill>
                  </a:tcPr>
                </a:tc>
              </a:tr>
            </a:tbl>
          </a:graphicData>
        </a:graphic>
      </p:graphicFrame>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 / 101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Moral vs Immoral behaviour (personal beliefs)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612571"/>
                <a:gridCol w="4408714"/>
                <a:gridCol w="4408714"/>
              </a:tblGrid>
              <a:tr h="630936">
                <a:tc>
                  <a:txBody>
                    <a:bodyPr wrap="square"/>
                    <a:lstStyle/>
                    <a:p>
                      <a:r>
                        <a:rPr sz="1200" b="1">
                          <a:solidFill>
                            <a:srgbClr val="FFFFFF"/>
                          </a:solidFill>
                        </a:rPr>
                        <a:t>Situation</a:t>
                      </a:r>
                    </a:p>
                  </a:txBody>
                  <a:tcPr anchor="ctr" marL="73152" marR="54864" marT="27432" marB="27432">
                    <a:solidFill>
                      <a:srgbClr val="0C2B4A"/>
                    </a:solidFill>
                  </a:tcPr>
                </a:tc>
                <a:tc>
                  <a:txBody>
                    <a:bodyPr wrap="square"/>
                    <a:lstStyle/>
                    <a:p>
                      <a:r>
                        <a:rPr sz="1200" b="1">
                          <a:solidFill>
                            <a:srgbClr val="FFFFFF"/>
                          </a:solidFill>
                        </a:rPr>
                        <a:t>Moral behaviour</a:t>
                      </a:r>
                    </a:p>
                  </a:txBody>
                  <a:tcPr anchor="ctr" marL="73152" marR="54864" marT="27432" marB="27432">
                    <a:solidFill>
                      <a:srgbClr val="0C2B4A"/>
                    </a:solidFill>
                  </a:tcPr>
                </a:tc>
                <a:tc>
                  <a:txBody>
                    <a:bodyPr wrap="square"/>
                    <a:lstStyle/>
                    <a:p>
                      <a:r>
                        <a:rPr sz="1200" b="1">
                          <a:solidFill>
                            <a:srgbClr val="FFFFFF"/>
                          </a:solidFill>
                        </a:rPr>
                        <a:t>Immoral behaviour</a:t>
                      </a:r>
                    </a:p>
                  </a:txBody>
                  <a:tcPr anchor="ctr" marL="73152" marR="54864" marT="27432" marB="27432">
                    <a:solidFill>
                      <a:srgbClr val="0C2B4A"/>
                    </a:solidFill>
                  </a:tcPr>
                </a:tc>
              </a:tr>
              <a:tr h="630936">
                <a:tc>
                  <a:txBody>
                    <a:bodyPr wrap="square"/>
                    <a:lstStyle/>
                    <a:p>
                      <a:r>
                        <a:rPr sz="1150" b="1">
                          <a:solidFill>
                            <a:srgbClr val="0C2B4A"/>
                          </a:solidFill>
                        </a:rPr>
                        <a:t>Finding a lost wallet</a:t>
                      </a:r>
                    </a:p>
                  </a:txBody>
                  <a:tcPr anchor="ctr" marL="73152" marR="54864" marT="27432" marB="27432">
                    <a:solidFill>
                      <a:srgbClr val="FFFFFF"/>
                    </a:solidFill>
                  </a:tcPr>
                </a:tc>
                <a:tc>
                  <a:txBody>
                    <a:bodyPr wrap="square"/>
                    <a:lstStyle/>
                    <a:p>
                      <a:r>
                        <a:rPr sz="1150">
                          <a:solidFill>
                            <a:srgbClr val="1A1A1A"/>
                          </a:solidFill>
                        </a:rPr>
                        <a:t>Return it with the money inside</a:t>
                      </a:r>
                    </a:p>
                  </a:txBody>
                  <a:tcPr anchor="ctr" marL="73152" marR="54864" marT="27432" marB="27432">
                    <a:solidFill>
                      <a:srgbClr val="FFFFFF"/>
                    </a:solidFill>
                  </a:tcPr>
                </a:tc>
                <a:tc>
                  <a:txBody>
                    <a:bodyPr wrap="square"/>
                    <a:lstStyle/>
                    <a:p>
                      <a:r>
                        <a:rPr sz="1150">
                          <a:solidFill>
                            <a:srgbClr val="1A1A1A"/>
                          </a:solidFill>
                        </a:rPr>
                        <a:t>Keep it because no one is watching</a:t>
                      </a:r>
                    </a:p>
                  </a:txBody>
                  <a:tcPr anchor="ctr" marL="73152" marR="54864" marT="27432" marB="27432">
                    <a:solidFill>
                      <a:srgbClr val="FFFFFF"/>
                    </a:solidFill>
                  </a:tcPr>
                </a:tc>
              </a:tr>
              <a:tr h="630936">
                <a:tc>
                  <a:txBody>
                    <a:bodyPr wrap="square"/>
                    <a:lstStyle/>
                    <a:p>
                      <a:r>
                        <a:rPr sz="1150" b="1">
                          <a:solidFill>
                            <a:srgbClr val="0C2B4A"/>
                          </a:solidFill>
                        </a:rPr>
                        <a:t>Telling the truth</a:t>
                      </a:r>
                    </a:p>
                  </a:txBody>
                  <a:tcPr anchor="ctr" marL="73152" marR="54864" marT="27432" marB="27432">
                    <a:solidFill>
                      <a:srgbClr val="EEF3F8"/>
                    </a:solidFill>
                  </a:tcPr>
                </a:tc>
                <a:tc>
                  <a:txBody>
                    <a:bodyPr wrap="square"/>
                    <a:lstStyle/>
                    <a:p>
                      <a:r>
                        <a:rPr sz="1150">
                          <a:solidFill>
                            <a:srgbClr val="1A1A1A"/>
                          </a:solidFill>
                        </a:rPr>
                        <a:t>Admit a mistake even if punished</a:t>
                      </a:r>
                    </a:p>
                  </a:txBody>
                  <a:tcPr anchor="ctr" marL="73152" marR="54864" marT="27432" marB="27432">
                    <a:solidFill>
                      <a:srgbClr val="EEF3F8"/>
                    </a:solidFill>
                  </a:tcPr>
                </a:tc>
                <a:tc>
                  <a:txBody>
                    <a:bodyPr wrap="square"/>
                    <a:lstStyle/>
                    <a:p>
                      <a:r>
                        <a:rPr sz="1150">
                          <a:solidFill>
                            <a:srgbClr val="1A1A1A"/>
                          </a:solidFill>
                        </a:rPr>
                        <a:t>Lie to avoid trouble</a:t>
                      </a:r>
                    </a:p>
                  </a:txBody>
                  <a:tcPr anchor="ctr" marL="73152" marR="54864" marT="27432" marB="27432">
                    <a:solidFill>
                      <a:srgbClr val="EEF3F8"/>
                    </a:solidFill>
                  </a:tcPr>
                </a:tc>
              </a:tr>
              <a:tr h="630936">
                <a:tc>
                  <a:txBody>
                    <a:bodyPr wrap="square"/>
                    <a:lstStyle/>
                    <a:p>
                      <a:r>
                        <a:rPr sz="1150" b="1">
                          <a:solidFill>
                            <a:srgbClr val="0C2B4A"/>
                          </a:solidFill>
                        </a:rPr>
                        <a:t>Cheating in an exam</a:t>
                      </a:r>
                    </a:p>
                  </a:txBody>
                  <a:tcPr anchor="ctr" marL="73152" marR="54864" marT="27432" marB="27432">
                    <a:solidFill>
                      <a:srgbClr val="FFFFFF"/>
                    </a:solidFill>
                  </a:tcPr>
                </a:tc>
                <a:tc>
                  <a:txBody>
                    <a:bodyPr wrap="square"/>
                    <a:lstStyle/>
                    <a:p>
                      <a:r>
                        <a:rPr sz="1150">
                          <a:solidFill>
                            <a:srgbClr val="1A1A1A"/>
                          </a:solidFill>
                        </a:rPr>
                        <a:t>Study honestly and earn your grade</a:t>
                      </a:r>
                    </a:p>
                  </a:txBody>
                  <a:tcPr anchor="ctr" marL="73152" marR="54864" marT="27432" marB="27432">
                    <a:solidFill>
                      <a:srgbClr val="FFFFFF"/>
                    </a:solidFill>
                  </a:tcPr>
                </a:tc>
                <a:tc>
                  <a:txBody>
                    <a:bodyPr wrap="square"/>
                    <a:lstStyle/>
                    <a:p>
                      <a:r>
                        <a:rPr sz="1150">
                          <a:solidFill>
                            <a:srgbClr val="1A1A1A"/>
                          </a:solidFill>
                        </a:rPr>
                        <a:t>Cheat to get higher marks</a:t>
                      </a:r>
                    </a:p>
                  </a:txBody>
                  <a:tcPr anchor="ctr" marL="73152" marR="54864" marT="27432" marB="27432">
                    <a:solidFill>
                      <a:srgbClr val="FFFFFF"/>
                    </a:solidFill>
                  </a:tcPr>
                </a:tc>
              </a:tr>
              <a:tr h="630936">
                <a:tc>
                  <a:txBody>
                    <a:bodyPr wrap="square"/>
                    <a:lstStyle/>
                    <a:p>
                      <a:r>
                        <a:rPr sz="1150" b="1">
                          <a:solidFill>
                            <a:srgbClr val="0C2B4A"/>
                          </a:solidFill>
                        </a:rPr>
                        <a:t>Returning extra change</a:t>
                      </a:r>
                    </a:p>
                  </a:txBody>
                  <a:tcPr anchor="ctr" marL="73152" marR="54864" marT="27432" marB="27432">
                    <a:solidFill>
                      <a:srgbClr val="EEF3F8"/>
                    </a:solidFill>
                  </a:tcPr>
                </a:tc>
                <a:tc>
                  <a:txBody>
                    <a:bodyPr wrap="square"/>
                    <a:lstStyle/>
                    <a:p>
                      <a:r>
                        <a:rPr sz="1150">
                          <a:solidFill>
                            <a:srgbClr val="1A1A1A"/>
                          </a:solidFill>
                        </a:rPr>
                        <a:t>Give back money handed to you by mistake</a:t>
                      </a:r>
                    </a:p>
                  </a:txBody>
                  <a:tcPr anchor="ctr" marL="73152" marR="54864" marT="27432" marB="27432">
                    <a:solidFill>
                      <a:srgbClr val="EEF3F8"/>
                    </a:solidFill>
                  </a:tcPr>
                </a:tc>
                <a:tc>
                  <a:txBody>
                    <a:bodyPr wrap="square"/>
                    <a:lstStyle/>
                    <a:p>
                      <a:r>
                        <a:rPr sz="1150">
                          <a:solidFill>
                            <a:srgbClr val="1A1A1A"/>
                          </a:solidFill>
                        </a:rPr>
                        <a:t>Keep it knowing it was an error</a:t>
                      </a:r>
                    </a:p>
                  </a:txBody>
                  <a:tcPr anchor="ctr" marL="73152" marR="54864" marT="27432" marB="27432">
                    <a:solidFill>
                      <a:srgbClr val="EEF3F8"/>
                    </a:solidFill>
                  </a:tcPr>
                </a:tc>
              </a:tr>
              <a:tr h="630936">
                <a:tc>
                  <a:txBody>
                    <a:bodyPr wrap="square"/>
                    <a:lstStyle/>
                    <a:p>
                      <a:r>
                        <a:rPr sz="1150" b="1">
                          <a:solidFill>
                            <a:srgbClr val="0C2B4A"/>
                          </a:solidFill>
                        </a:rPr>
                        <a:t>Standing up for others</a:t>
                      </a:r>
                    </a:p>
                  </a:txBody>
                  <a:tcPr anchor="ctr" marL="73152" marR="54864" marT="27432" marB="27432">
                    <a:solidFill>
                      <a:srgbClr val="FFFFFF"/>
                    </a:solidFill>
                  </a:tcPr>
                </a:tc>
                <a:tc>
                  <a:txBody>
                    <a:bodyPr wrap="square"/>
                    <a:lstStyle/>
                    <a:p>
                      <a:r>
                        <a:rPr sz="1150">
                          <a:solidFill>
                            <a:srgbClr val="1A1A1A"/>
                          </a:solidFill>
                        </a:rPr>
                        <a:t>Defend someone being bullied</a:t>
                      </a:r>
                    </a:p>
                  </a:txBody>
                  <a:tcPr anchor="ctr" marL="73152" marR="54864" marT="27432" marB="27432">
                    <a:solidFill>
                      <a:srgbClr val="FFFFFF"/>
                    </a:solidFill>
                  </a:tcPr>
                </a:tc>
                <a:tc>
                  <a:txBody>
                    <a:bodyPr wrap="square"/>
                    <a:lstStyle/>
                    <a:p>
                      <a:r>
                        <a:rPr sz="1150">
                          <a:solidFill>
                            <a:srgbClr val="1A1A1A"/>
                          </a:solidFill>
                        </a:rPr>
                        <a:t>Stay silent because it's easier</a:t>
                      </a:r>
                    </a:p>
                  </a:txBody>
                  <a:tcPr anchor="ctr" marL="73152" marR="54864" marT="27432" marB="27432">
                    <a:solidFill>
                      <a:srgbClr val="FFFFFF"/>
                    </a:solidFill>
                  </a:tcPr>
                </a:tc>
              </a:tr>
              <a:tr h="630936">
                <a:tc>
                  <a:txBody>
                    <a:bodyPr wrap="square"/>
                    <a:lstStyle/>
                    <a:p>
                      <a:r>
                        <a:rPr sz="1150" b="1">
                          <a:solidFill>
                            <a:srgbClr val="0C2B4A"/>
                          </a:solidFill>
                        </a:rPr>
                        <a:t>Keeping promises</a:t>
                      </a:r>
                    </a:p>
                  </a:txBody>
                  <a:tcPr anchor="ctr" marL="73152" marR="54864" marT="27432" marB="27432">
                    <a:solidFill>
                      <a:srgbClr val="EEF3F8"/>
                    </a:solidFill>
                  </a:tcPr>
                </a:tc>
                <a:tc>
                  <a:txBody>
                    <a:bodyPr wrap="square"/>
                    <a:lstStyle/>
                    <a:p>
                      <a:r>
                        <a:rPr sz="1150">
                          <a:solidFill>
                            <a:srgbClr val="1A1A1A"/>
                          </a:solidFill>
                        </a:rPr>
                        <a:t>Fulfil a promise to a friend</a:t>
                      </a:r>
                    </a:p>
                  </a:txBody>
                  <a:tcPr anchor="ctr" marL="73152" marR="54864" marT="27432" marB="27432">
                    <a:solidFill>
                      <a:srgbClr val="EEF3F8"/>
                    </a:solidFill>
                  </a:tcPr>
                </a:tc>
                <a:tc>
                  <a:txBody>
                    <a:bodyPr wrap="square"/>
                    <a:lstStyle/>
                    <a:p>
                      <a:r>
                        <a:rPr sz="1150">
                          <a:solidFill>
                            <a:srgbClr val="1A1A1A"/>
                          </a:solidFill>
                        </a:rPr>
                        <a:t>Break it for personal convenience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Morals are personal — driven by individual values, not by a group's code or the state's law.</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101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Moral vs Immoral behaviour (personal beliefs)  (cont.)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612571"/>
                <a:gridCol w="4408714"/>
                <a:gridCol w="4408714"/>
              </a:tblGrid>
              <a:tr h="1472184">
                <a:tc>
                  <a:txBody>
                    <a:bodyPr wrap="square"/>
                    <a:lstStyle/>
                    <a:p>
                      <a:r>
                        <a:rPr sz="1200" b="1">
                          <a:solidFill>
                            <a:srgbClr val="FFFFFF"/>
                          </a:solidFill>
                        </a:rPr>
                        <a:t>Situation</a:t>
                      </a:r>
                    </a:p>
                  </a:txBody>
                  <a:tcPr anchor="ctr" marL="73152" marR="54864" marT="27432" marB="27432">
                    <a:solidFill>
                      <a:srgbClr val="0C2B4A"/>
                    </a:solidFill>
                  </a:tcPr>
                </a:tc>
                <a:tc>
                  <a:txBody>
                    <a:bodyPr wrap="square"/>
                    <a:lstStyle/>
                    <a:p>
                      <a:r>
                        <a:rPr sz="1200" b="1">
                          <a:solidFill>
                            <a:srgbClr val="FFFFFF"/>
                          </a:solidFill>
                        </a:rPr>
                        <a:t>Moral behaviour</a:t>
                      </a:r>
                    </a:p>
                  </a:txBody>
                  <a:tcPr anchor="ctr" marL="73152" marR="54864" marT="27432" marB="27432">
                    <a:solidFill>
                      <a:srgbClr val="0C2B4A"/>
                    </a:solidFill>
                  </a:tcPr>
                </a:tc>
                <a:tc>
                  <a:txBody>
                    <a:bodyPr wrap="square"/>
                    <a:lstStyle/>
                    <a:p>
                      <a:r>
                        <a:rPr sz="1200" b="1">
                          <a:solidFill>
                            <a:srgbClr val="FFFFFF"/>
                          </a:solidFill>
                        </a:rPr>
                        <a:t>Immoral behaviour</a:t>
                      </a:r>
                    </a:p>
                  </a:txBody>
                  <a:tcPr anchor="ctr" marL="73152" marR="54864" marT="27432" marB="27432">
                    <a:solidFill>
                      <a:srgbClr val="0C2B4A"/>
                    </a:solidFill>
                  </a:tcPr>
                </a:tc>
              </a:tr>
              <a:tr h="1472184">
                <a:tc>
                  <a:txBody>
                    <a:bodyPr wrap="square"/>
                    <a:lstStyle/>
                    <a:p>
                      <a:r>
                        <a:rPr sz="1150" b="1">
                          <a:solidFill>
                            <a:srgbClr val="0C2B4A"/>
                          </a:solidFill>
                        </a:rPr>
                        <a:t>Helping others</a:t>
                      </a:r>
                    </a:p>
                  </a:txBody>
                  <a:tcPr anchor="ctr" marL="73152" marR="54864" marT="27432" marB="27432">
                    <a:solidFill>
                      <a:srgbClr val="FFFFFF"/>
                    </a:solidFill>
                  </a:tcPr>
                </a:tc>
                <a:tc>
                  <a:txBody>
                    <a:bodyPr wrap="square"/>
                    <a:lstStyle/>
                    <a:p>
                      <a:r>
                        <a:rPr sz="1150">
                          <a:solidFill>
                            <a:srgbClr val="1A1A1A"/>
                          </a:solidFill>
                        </a:rPr>
                        <a:t>Help an elderly person cross the road</a:t>
                      </a:r>
                    </a:p>
                  </a:txBody>
                  <a:tcPr anchor="ctr" marL="73152" marR="54864" marT="27432" marB="27432">
                    <a:solidFill>
                      <a:srgbClr val="FFFFFF"/>
                    </a:solidFill>
                  </a:tcPr>
                </a:tc>
                <a:tc>
                  <a:txBody>
                    <a:bodyPr wrap="square"/>
                    <a:lstStyle/>
                    <a:p>
                      <a:r>
                        <a:rPr sz="1150">
                          <a:solidFill>
                            <a:srgbClr val="1A1A1A"/>
                          </a:solidFill>
                        </a:rPr>
                        <a:t>Ignore someone who clearly needs help</a:t>
                      </a:r>
                    </a:p>
                  </a:txBody>
                  <a:tcPr anchor="ctr" marL="73152" marR="54864" marT="27432" marB="27432">
                    <a:solidFill>
                      <a:srgbClr val="FFFFFF"/>
                    </a:solidFill>
                  </a:tcPr>
                </a:tc>
              </a:tr>
              <a:tr h="1472184">
                <a:tc>
                  <a:txBody>
                    <a:bodyPr wrap="square"/>
                    <a:lstStyle/>
                    <a:p>
                      <a:r>
                        <a:rPr sz="1150" b="1">
                          <a:solidFill>
                            <a:srgbClr val="0C2B4A"/>
                          </a:solidFill>
                        </a:rPr>
                        <a:t>Environmental care</a:t>
                      </a:r>
                    </a:p>
                  </a:txBody>
                  <a:tcPr anchor="ctr" marL="73152" marR="54864" marT="27432" marB="27432">
                    <a:solidFill>
                      <a:srgbClr val="EEF3F8"/>
                    </a:solidFill>
                  </a:tcPr>
                </a:tc>
                <a:tc>
                  <a:txBody>
                    <a:bodyPr wrap="square"/>
                    <a:lstStyle/>
                    <a:p>
                      <a:r>
                        <a:rPr sz="1150">
                          <a:solidFill>
                            <a:srgbClr val="1A1A1A"/>
                          </a:solidFill>
                        </a:rPr>
                        <a:t>Avoid littering because nature matters</a:t>
                      </a:r>
                    </a:p>
                  </a:txBody>
                  <a:tcPr anchor="ctr" marL="73152" marR="54864" marT="27432" marB="27432">
                    <a:solidFill>
                      <a:srgbClr val="EEF3F8"/>
                    </a:solidFill>
                  </a:tcPr>
                </a:tc>
                <a:tc>
                  <a:txBody>
                    <a:bodyPr wrap="square"/>
                    <a:lstStyle/>
                    <a:p>
                      <a:r>
                        <a:rPr sz="1150">
                          <a:solidFill>
                            <a:srgbClr val="1A1A1A"/>
                          </a:solidFill>
                        </a:rPr>
                        <a:t>Litter because you don't think it matters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Morals are personal — driven by individual values, not by a group's code or the state's law.</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101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Lawful vs Illegal behaviour — and the consequence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1812073"/>
                <a:gridCol w="3205975"/>
                <a:gridCol w="3205975"/>
                <a:gridCol w="3205975"/>
              </a:tblGrid>
              <a:tr h="630936">
                <a:tc>
                  <a:txBody>
                    <a:bodyPr wrap="square"/>
                    <a:lstStyle/>
                    <a:p>
                      <a:r>
                        <a:rPr sz="1150" b="1">
                          <a:solidFill>
                            <a:srgbClr val="FFFFFF"/>
                          </a:solidFill>
                        </a:rPr>
                        <a:t>Situation</a:t>
                      </a:r>
                    </a:p>
                  </a:txBody>
                  <a:tcPr anchor="ctr" marL="73152" marR="54864" marT="27432" marB="27432">
                    <a:solidFill>
                      <a:srgbClr val="0C2B4A"/>
                    </a:solidFill>
                  </a:tcPr>
                </a:tc>
                <a:tc>
                  <a:txBody>
                    <a:bodyPr wrap="square"/>
                    <a:lstStyle/>
                    <a:p>
                      <a:r>
                        <a:rPr sz="1150" b="1">
                          <a:solidFill>
                            <a:srgbClr val="FFFFFF"/>
                          </a:solidFill>
                        </a:rPr>
                        <a:t>Lawful</a:t>
                      </a:r>
                    </a:p>
                  </a:txBody>
                  <a:tcPr anchor="ctr" marL="73152" marR="54864" marT="27432" marB="27432">
                    <a:solidFill>
                      <a:srgbClr val="0C2B4A"/>
                    </a:solidFill>
                  </a:tcPr>
                </a:tc>
                <a:tc>
                  <a:txBody>
                    <a:bodyPr wrap="square"/>
                    <a:lstStyle/>
                    <a:p>
                      <a:r>
                        <a:rPr sz="1150" b="1">
                          <a:solidFill>
                            <a:srgbClr val="FFFFFF"/>
                          </a:solidFill>
                        </a:rPr>
                        <a:t>Illegal</a:t>
                      </a:r>
                    </a:p>
                  </a:txBody>
                  <a:tcPr anchor="ctr" marL="73152" marR="54864" marT="27432" marB="27432">
                    <a:solidFill>
                      <a:srgbClr val="0C2B4A"/>
                    </a:solidFill>
                  </a:tcPr>
                </a:tc>
                <a:tc>
                  <a:txBody>
                    <a:bodyPr wrap="square"/>
                    <a:lstStyle/>
                    <a:p>
                      <a:r>
                        <a:rPr sz="1150" b="1">
                          <a:solidFill>
                            <a:srgbClr val="FFFFFF"/>
                          </a:solidFill>
                        </a:rPr>
                        <a:t>Possible consequence</a:t>
                      </a:r>
                    </a:p>
                  </a:txBody>
                  <a:tcPr anchor="ctr" marL="73152" marR="54864" marT="27432" marB="27432">
                    <a:solidFill>
                      <a:srgbClr val="0C2B4A"/>
                    </a:solidFill>
                  </a:tcPr>
                </a:tc>
              </a:tr>
              <a:tr h="630936">
                <a:tc>
                  <a:txBody>
                    <a:bodyPr wrap="square"/>
                    <a:lstStyle/>
                    <a:p>
                      <a:r>
                        <a:rPr sz="1100" b="1">
                          <a:solidFill>
                            <a:srgbClr val="0C2B4A"/>
                          </a:solidFill>
                        </a:rPr>
                        <a:t>Traffic</a:t>
                      </a:r>
                    </a:p>
                  </a:txBody>
                  <a:tcPr anchor="ctr" marL="73152" marR="54864" marT="27432" marB="27432">
                    <a:solidFill>
                      <a:srgbClr val="FFFFFF"/>
                    </a:solidFill>
                  </a:tcPr>
                </a:tc>
                <a:tc>
                  <a:txBody>
                    <a:bodyPr wrap="square"/>
                    <a:lstStyle/>
                    <a:p>
                      <a:r>
                        <a:rPr sz="1100">
                          <a:solidFill>
                            <a:srgbClr val="1A1A1A"/>
                          </a:solidFill>
                        </a:rPr>
                        <a:t>Stop at a red light</a:t>
                      </a:r>
                    </a:p>
                  </a:txBody>
                  <a:tcPr anchor="ctr" marL="73152" marR="54864" marT="27432" marB="27432">
                    <a:solidFill>
                      <a:srgbClr val="FFFFFF"/>
                    </a:solidFill>
                  </a:tcPr>
                </a:tc>
                <a:tc>
                  <a:txBody>
                    <a:bodyPr wrap="square"/>
                    <a:lstStyle/>
                    <a:p>
                      <a:r>
                        <a:rPr sz="1100">
                          <a:solidFill>
                            <a:srgbClr val="1A1A1A"/>
                          </a:solidFill>
                        </a:rPr>
                        <a:t>Drive through a red light</a:t>
                      </a:r>
                    </a:p>
                  </a:txBody>
                  <a:tcPr anchor="ctr" marL="73152" marR="54864" marT="27432" marB="27432">
                    <a:solidFill>
                      <a:srgbClr val="FFFFFF"/>
                    </a:solidFill>
                  </a:tcPr>
                </a:tc>
                <a:tc>
                  <a:txBody>
                    <a:bodyPr wrap="square"/>
                    <a:lstStyle/>
                    <a:p>
                      <a:r>
                        <a:rPr sz="1100">
                          <a:solidFill>
                            <a:srgbClr val="1A1A1A"/>
                          </a:solidFill>
                        </a:rPr>
                        <a:t>Fine, licence points/suspension</a:t>
                      </a:r>
                    </a:p>
                  </a:txBody>
                  <a:tcPr anchor="ctr" marL="73152" marR="54864" marT="27432" marB="27432">
                    <a:solidFill>
                      <a:srgbClr val="FFFFFF"/>
                    </a:solidFill>
                  </a:tcPr>
                </a:tc>
              </a:tr>
              <a:tr h="630936">
                <a:tc>
                  <a:txBody>
                    <a:bodyPr wrap="square"/>
                    <a:lstStyle/>
                    <a:p>
                      <a:r>
                        <a:rPr sz="1100" b="1">
                          <a:solidFill>
                            <a:srgbClr val="0C2B4A"/>
                          </a:solidFill>
                        </a:rPr>
                        <a:t>Taxation</a:t>
                      </a:r>
                    </a:p>
                  </a:txBody>
                  <a:tcPr anchor="ctr" marL="73152" marR="54864" marT="27432" marB="27432">
                    <a:solidFill>
                      <a:srgbClr val="EEF3F8"/>
                    </a:solidFill>
                  </a:tcPr>
                </a:tc>
                <a:tc>
                  <a:txBody>
                    <a:bodyPr wrap="square"/>
                    <a:lstStyle/>
                    <a:p>
                      <a:r>
                        <a:rPr sz="1100">
                          <a:solidFill>
                            <a:srgbClr val="1A1A1A"/>
                          </a:solidFill>
                        </a:rPr>
                        <a:t>Pay taxes as required</a:t>
                      </a:r>
                    </a:p>
                  </a:txBody>
                  <a:tcPr anchor="ctr" marL="73152" marR="54864" marT="27432" marB="27432">
                    <a:solidFill>
                      <a:srgbClr val="EEF3F8"/>
                    </a:solidFill>
                  </a:tcPr>
                </a:tc>
                <a:tc>
                  <a:txBody>
                    <a:bodyPr wrap="square"/>
                    <a:lstStyle/>
                    <a:p>
                      <a:r>
                        <a:rPr sz="1100">
                          <a:solidFill>
                            <a:srgbClr val="1A1A1A"/>
                          </a:solidFill>
                        </a:rPr>
                        <a:t>Evade taxes / file false returns</a:t>
                      </a:r>
                    </a:p>
                  </a:txBody>
                  <a:tcPr anchor="ctr" marL="73152" marR="54864" marT="27432" marB="27432">
                    <a:solidFill>
                      <a:srgbClr val="EEF3F8"/>
                    </a:solidFill>
                  </a:tcPr>
                </a:tc>
                <a:tc>
                  <a:txBody>
                    <a:bodyPr wrap="square"/>
                    <a:lstStyle/>
                    <a:p>
                      <a:r>
                        <a:rPr sz="1100">
                          <a:solidFill>
                            <a:srgbClr val="1A1A1A"/>
                          </a:solidFill>
                        </a:rPr>
                        <a:t>Fines, penalties, imprisonment</a:t>
                      </a:r>
                    </a:p>
                  </a:txBody>
                  <a:tcPr anchor="ctr" marL="73152" marR="54864" marT="27432" marB="27432">
                    <a:solidFill>
                      <a:srgbClr val="EEF3F8"/>
                    </a:solidFill>
                  </a:tcPr>
                </a:tc>
              </a:tr>
              <a:tr h="630936">
                <a:tc>
                  <a:txBody>
                    <a:bodyPr wrap="square"/>
                    <a:lstStyle/>
                    <a:p>
                      <a:r>
                        <a:rPr sz="1100" b="1">
                          <a:solidFill>
                            <a:srgbClr val="0C2B4A"/>
                          </a:solidFill>
                        </a:rPr>
                        <a:t>Theft</a:t>
                      </a:r>
                    </a:p>
                  </a:txBody>
                  <a:tcPr anchor="ctr" marL="73152" marR="54864" marT="27432" marB="27432">
                    <a:solidFill>
                      <a:srgbClr val="FFFFFF"/>
                    </a:solidFill>
                  </a:tcPr>
                </a:tc>
                <a:tc>
                  <a:txBody>
                    <a:bodyPr wrap="square"/>
                    <a:lstStyle/>
                    <a:p>
                      <a:r>
                        <a:rPr sz="1100">
                          <a:solidFill>
                            <a:srgbClr val="1A1A1A"/>
                          </a:solidFill>
                        </a:rPr>
                        <a:t>Respect others' property</a:t>
                      </a:r>
                    </a:p>
                  </a:txBody>
                  <a:tcPr anchor="ctr" marL="73152" marR="54864" marT="27432" marB="27432">
                    <a:solidFill>
                      <a:srgbClr val="FFFFFF"/>
                    </a:solidFill>
                  </a:tcPr>
                </a:tc>
                <a:tc>
                  <a:txBody>
                    <a:bodyPr wrap="square"/>
                    <a:lstStyle/>
                    <a:p>
                      <a:r>
                        <a:rPr sz="1100">
                          <a:solidFill>
                            <a:srgbClr val="1A1A1A"/>
                          </a:solidFill>
                        </a:rPr>
                        <a:t>Steal money or belongings</a:t>
                      </a:r>
                    </a:p>
                  </a:txBody>
                  <a:tcPr anchor="ctr" marL="73152" marR="54864" marT="27432" marB="27432">
                    <a:solidFill>
                      <a:srgbClr val="FFFFFF"/>
                    </a:solidFill>
                  </a:tcPr>
                </a:tc>
                <a:tc>
                  <a:txBody>
                    <a:bodyPr wrap="square"/>
                    <a:lstStyle/>
                    <a:p>
                      <a:r>
                        <a:rPr sz="1100">
                          <a:solidFill>
                            <a:srgbClr val="1A1A1A"/>
                          </a:solidFill>
                        </a:rPr>
                        <a:t>Arrest, fine, imprisonment</a:t>
                      </a:r>
                    </a:p>
                  </a:txBody>
                  <a:tcPr anchor="ctr" marL="73152" marR="54864" marT="27432" marB="27432">
                    <a:solidFill>
                      <a:srgbClr val="FFFFFF"/>
                    </a:solidFill>
                  </a:tcPr>
                </a:tc>
              </a:tr>
              <a:tr h="630936">
                <a:tc>
                  <a:txBody>
                    <a:bodyPr wrap="square"/>
                    <a:lstStyle/>
                    <a:p>
                      <a:r>
                        <a:rPr sz="1100" b="1">
                          <a:solidFill>
                            <a:srgbClr val="0C2B4A"/>
                          </a:solidFill>
                        </a:rPr>
                        <a:t>Copyright</a:t>
                      </a:r>
                    </a:p>
                  </a:txBody>
                  <a:tcPr anchor="ctr" marL="73152" marR="54864" marT="27432" marB="27432">
                    <a:solidFill>
                      <a:srgbClr val="EEF3F8"/>
                    </a:solidFill>
                  </a:tcPr>
                </a:tc>
                <a:tc>
                  <a:txBody>
                    <a:bodyPr wrap="square"/>
                    <a:lstStyle/>
                    <a:p>
                      <a:r>
                        <a:rPr sz="1100">
                          <a:solidFill>
                            <a:srgbClr val="1A1A1A"/>
                          </a:solidFill>
                        </a:rPr>
                        <a:t>Use content with a licence</a:t>
                      </a:r>
                    </a:p>
                  </a:txBody>
                  <a:tcPr anchor="ctr" marL="73152" marR="54864" marT="27432" marB="27432">
                    <a:solidFill>
                      <a:srgbClr val="EEF3F8"/>
                    </a:solidFill>
                  </a:tcPr>
                </a:tc>
                <a:tc>
                  <a:txBody>
                    <a:bodyPr wrap="square"/>
                    <a:lstStyle/>
                    <a:p>
                      <a:r>
                        <a:rPr sz="1100">
                          <a:solidFill>
                            <a:srgbClr val="1A1A1A"/>
                          </a:solidFill>
                        </a:rPr>
                        <a:t>Distribute pirated media/software</a:t>
                      </a:r>
                    </a:p>
                  </a:txBody>
                  <a:tcPr anchor="ctr" marL="73152" marR="54864" marT="27432" marB="27432">
                    <a:solidFill>
                      <a:srgbClr val="EEF3F8"/>
                    </a:solidFill>
                  </a:tcPr>
                </a:tc>
                <a:tc>
                  <a:txBody>
                    <a:bodyPr wrap="square"/>
                    <a:lstStyle/>
                    <a:p>
                      <a:r>
                        <a:rPr sz="1100">
                          <a:solidFill>
                            <a:srgbClr val="1A1A1A"/>
                          </a:solidFill>
                        </a:rPr>
                        <a:t>Fines, lawsuits, criminal penalties</a:t>
                      </a:r>
                    </a:p>
                  </a:txBody>
                  <a:tcPr anchor="ctr" marL="73152" marR="54864" marT="27432" marB="27432">
                    <a:solidFill>
                      <a:srgbClr val="EEF3F8"/>
                    </a:solidFill>
                  </a:tcPr>
                </a:tc>
              </a:tr>
              <a:tr h="630936">
                <a:tc>
                  <a:txBody>
                    <a:bodyPr wrap="square"/>
                    <a:lstStyle/>
                    <a:p>
                      <a:r>
                        <a:rPr sz="1100" b="1">
                          <a:solidFill>
                            <a:srgbClr val="0C2B4A"/>
                          </a:solidFill>
                        </a:rPr>
                        <a:t>Cybercrime</a:t>
                      </a:r>
                    </a:p>
                  </a:txBody>
                  <a:tcPr anchor="ctr" marL="73152" marR="54864" marT="27432" marB="27432">
                    <a:solidFill>
                      <a:srgbClr val="FFFFFF"/>
                    </a:solidFill>
                  </a:tcPr>
                </a:tc>
                <a:tc>
                  <a:txBody>
                    <a:bodyPr wrap="square"/>
                    <a:lstStyle/>
                    <a:p>
                      <a:r>
                        <a:rPr sz="1100">
                          <a:solidFill>
                            <a:srgbClr val="1A1A1A"/>
                          </a:solidFill>
                        </a:rPr>
                        <a:t>Access only authorized systems</a:t>
                      </a:r>
                    </a:p>
                  </a:txBody>
                  <a:tcPr anchor="ctr" marL="73152" marR="54864" marT="27432" marB="27432">
                    <a:solidFill>
                      <a:srgbClr val="FFFFFF"/>
                    </a:solidFill>
                  </a:tcPr>
                </a:tc>
                <a:tc>
                  <a:txBody>
                    <a:bodyPr wrap="square"/>
                    <a:lstStyle/>
                    <a:p>
                      <a:r>
                        <a:rPr sz="1100">
                          <a:solidFill>
                            <a:srgbClr val="1A1A1A"/>
                          </a:solidFill>
                        </a:rPr>
                        <a:t>Hack an account or network</a:t>
                      </a:r>
                    </a:p>
                  </a:txBody>
                  <a:tcPr anchor="ctr" marL="73152" marR="54864" marT="27432" marB="27432">
                    <a:solidFill>
                      <a:srgbClr val="FFFFFF"/>
                    </a:solidFill>
                  </a:tcPr>
                </a:tc>
                <a:tc>
                  <a:txBody>
                    <a:bodyPr wrap="square"/>
                    <a:lstStyle/>
                    <a:p>
                      <a:r>
                        <a:rPr sz="1100">
                          <a:solidFill>
                            <a:srgbClr val="1A1A1A"/>
                          </a:solidFill>
                        </a:rPr>
                        <a:t>Criminal charges, fines, imprisonment</a:t>
                      </a:r>
                    </a:p>
                  </a:txBody>
                  <a:tcPr anchor="ctr" marL="73152" marR="54864" marT="27432" marB="27432">
                    <a:solidFill>
                      <a:srgbClr val="FFFFFF"/>
                    </a:solidFill>
                  </a:tcPr>
                </a:tc>
              </a:tr>
              <a:tr h="630936">
                <a:tc>
                  <a:txBody>
                    <a:bodyPr wrap="square"/>
                    <a:lstStyle/>
                    <a:p>
                      <a:r>
                        <a:rPr sz="1100" b="1">
                          <a:solidFill>
                            <a:srgbClr val="0C2B4A"/>
                          </a:solidFill>
                        </a:rPr>
                        <a:t>Environment</a:t>
                      </a:r>
                    </a:p>
                  </a:txBody>
                  <a:tcPr anchor="ctr" marL="73152" marR="54864" marT="27432" marB="27432">
                    <a:solidFill>
                      <a:srgbClr val="EEF3F8"/>
                    </a:solidFill>
                  </a:tcPr>
                </a:tc>
                <a:tc>
                  <a:txBody>
                    <a:bodyPr wrap="square"/>
                    <a:lstStyle/>
                    <a:p>
                      <a:r>
                        <a:rPr sz="1100">
                          <a:solidFill>
                            <a:srgbClr val="1A1A1A"/>
                          </a:solidFill>
                        </a:rPr>
                        <a:t>Dispose of hazardous waste legally</a:t>
                      </a:r>
                    </a:p>
                  </a:txBody>
                  <a:tcPr anchor="ctr" marL="73152" marR="54864" marT="27432" marB="27432">
                    <a:solidFill>
                      <a:srgbClr val="EEF3F8"/>
                    </a:solidFill>
                  </a:tcPr>
                </a:tc>
                <a:tc>
                  <a:txBody>
                    <a:bodyPr wrap="square"/>
                    <a:lstStyle/>
                    <a:p>
                      <a:r>
                        <a:rPr sz="1100">
                          <a:solidFill>
                            <a:srgbClr val="1A1A1A"/>
                          </a:solidFill>
                        </a:rPr>
                        <a:t>Dump toxic waste into rivers</a:t>
                      </a:r>
                    </a:p>
                  </a:txBody>
                  <a:tcPr anchor="ctr" marL="73152" marR="54864" marT="27432" marB="27432">
                    <a:solidFill>
                      <a:srgbClr val="EEF3F8"/>
                    </a:solidFill>
                  </a:tcPr>
                </a:tc>
                <a:tc>
                  <a:txBody>
                    <a:bodyPr wrap="square"/>
                    <a:lstStyle/>
                    <a:p>
                      <a:r>
                        <a:rPr sz="1100">
                          <a:solidFill>
                            <a:srgbClr val="1A1A1A"/>
                          </a:solidFill>
                        </a:rPr>
                        <a:t>Heavy fines, cleanup costs, jail</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Law adds a distinctive feature the other three lack: state-enforced penalties.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101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Lawful vs Illegal behaviour — and the consequence  (cont.)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1812073"/>
                <a:gridCol w="3205975"/>
                <a:gridCol w="3205975"/>
                <a:gridCol w="3205975"/>
              </a:tblGrid>
              <a:tr h="1472184">
                <a:tc>
                  <a:txBody>
                    <a:bodyPr wrap="square"/>
                    <a:lstStyle/>
                    <a:p>
                      <a:r>
                        <a:rPr sz="1150" b="1">
                          <a:solidFill>
                            <a:srgbClr val="FFFFFF"/>
                          </a:solidFill>
                        </a:rPr>
                        <a:t>Situation</a:t>
                      </a:r>
                    </a:p>
                  </a:txBody>
                  <a:tcPr anchor="ctr" marL="73152" marR="54864" marT="27432" marB="27432">
                    <a:solidFill>
                      <a:srgbClr val="0C2B4A"/>
                    </a:solidFill>
                  </a:tcPr>
                </a:tc>
                <a:tc>
                  <a:txBody>
                    <a:bodyPr wrap="square"/>
                    <a:lstStyle/>
                    <a:p>
                      <a:r>
                        <a:rPr sz="1150" b="1">
                          <a:solidFill>
                            <a:srgbClr val="FFFFFF"/>
                          </a:solidFill>
                        </a:rPr>
                        <a:t>Lawful</a:t>
                      </a:r>
                    </a:p>
                  </a:txBody>
                  <a:tcPr anchor="ctr" marL="73152" marR="54864" marT="27432" marB="27432">
                    <a:solidFill>
                      <a:srgbClr val="0C2B4A"/>
                    </a:solidFill>
                  </a:tcPr>
                </a:tc>
                <a:tc>
                  <a:txBody>
                    <a:bodyPr wrap="square"/>
                    <a:lstStyle/>
                    <a:p>
                      <a:r>
                        <a:rPr sz="1150" b="1">
                          <a:solidFill>
                            <a:srgbClr val="FFFFFF"/>
                          </a:solidFill>
                        </a:rPr>
                        <a:t>Illegal</a:t>
                      </a:r>
                    </a:p>
                  </a:txBody>
                  <a:tcPr anchor="ctr" marL="73152" marR="54864" marT="27432" marB="27432">
                    <a:solidFill>
                      <a:srgbClr val="0C2B4A"/>
                    </a:solidFill>
                  </a:tcPr>
                </a:tc>
                <a:tc>
                  <a:txBody>
                    <a:bodyPr wrap="square"/>
                    <a:lstStyle/>
                    <a:p>
                      <a:r>
                        <a:rPr sz="1150" b="1">
                          <a:solidFill>
                            <a:srgbClr val="FFFFFF"/>
                          </a:solidFill>
                        </a:rPr>
                        <a:t>Possible consequence</a:t>
                      </a:r>
                    </a:p>
                  </a:txBody>
                  <a:tcPr anchor="ctr" marL="73152" marR="54864" marT="27432" marB="27432">
                    <a:solidFill>
                      <a:srgbClr val="0C2B4A"/>
                    </a:solidFill>
                  </a:tcPr>
                </a:tc>
              </a:tr>
              <a:tr h="1472184">
                <a:tc>
                  <a:txBody>
                    <a:bodyPr wrap="square"/>
                    <a:lstStyle/>
                    <a:p>
                      <a:r>
                        <a:rPr sz="1100" b="1">
                          <a:solidFill>
                            <a:srgbClr val="0C2B4A"/>
                          </a:solidFill>
                        </a:rPr>
                        <a:t>Fraud</a:t>
                      </a:r>
                    </a:p>
                  </a:txBody>
                  <a:tcPr anchor="ctr" marL="73152" marR="54864" marT="27432" marB="27432">
                    <a:solidFill>
                      <a:srgbClr val="FFFFFF"/>
                    </a:solidFill>
                  </a:tcPr>
                </a:tc>
                <a:tc>
                  <a:txBody>
                    <a:bodyPr wrap="square"/>
                    <a:lstStyle/>
                    <a:p>
                      <a:r>
                        <a:rPr sz="1100">
                          <a:solidFill>
                            <a:srgbClr val="1A1A1A"/>
                          </a:solidFill>
                        </a:rPr>
                        <a:t>Provide truthful information</a:t>
                      </a:r>
                    </a:p>
                  </a:txBody>
                  <a:tcPr anchor="ctr" marL="73152" marR="54864" marT="27432" marB="27432">
                    <a:solidFill>
                      <a:srgbClr val="FFFFFF"/>
                    </a:solidFill>
                  </a:tcPr>
                </a:tc>
                <a:tc>
                  <a:txBody>
                    <a:bodyPr wrap="square"/>
                    <a:lstStyle/>
                    <a:p>
                      <a:r>
                        <a:rPr sz="1100">
                          <a:solidFill>
                            <a:srgbClr val="1A1A1A"/>
                          </a:solidFill>
                        </a:rPr>
                        <a:t>Use deception for financial gain</a:t>
                      </a:r>
                    </a:p>
                  </a:txBody>
                  <a:tcPr anchor="ctr" marL="73152" marR="54864" marT="27432" marB="27432">
                    <a:solidFill>
                      <a:srgbClr val="FFFFFF"/>
                    </a:solidFill>
                  </a:tcPr>
                </a:tc>
                <a:tc>
                  <a:txBody>
                    <a:bodyPr wrap="square"/>
                    <a:lstStyle/>
                    <a:p>
                      <a:r>
                        <a:rPr sz="1100">
                          <a:solidFill>
                            <a:srgbClr val="1A1A1A"/>
                          </a:solidFill>
                        </a:rPr>
                        <a:t>Prosecution and imprisonment</a:t>
                      </a:r>
                    </a:p>
                  </a:txBody>
                  <a:tcPr anchor="ctr" marL="73152" marR="54864" marT="27432" marB="27432">
                    <a:solidFill>
                      <a:srgbClr val="FFFFFF"/>
                    </a:solidFill>
                  </a:tcPr>
                </a:tc>
              </a:tr>
              <a:tr h="1472184">
                <a:tc>
                  <a:txBody>
                    <a:bodyPr wrap="square"/>
                    <a:lstStyle/>
                    <a:p>
                      <a:r>
                        <a:rPr sz="1100" b="1">
                          <a:solidFill>
                            <a:srgbClr val="0C2B4A"/>
                          </a:solidFill>
                        </a:rPr>
                        <a:t>Employment</a:t>
                      </a:r>
                    </a:p>
                  </a:txBody>
                  <a:tcPr anchor="ctr" marL="73152" marR="54864" marT="27432" marB="27432">
                    <a:solidFill>
                      <a:srgbClr val="EEF3F8"/>
                    </a:solidFill>
                  </a:tcPr>
                </a:tc>
                <a:tc>
                  <a:txBody>
                    <a:bodyPr wrap="square"/>
                    <a:lstStyle/>
                    <a:p>
                      <a:r>
                        <a:rPr sz="1100">
                          <a:solidFill>
                            <a:srgbClr val="1A1A1A"/>
                          </a:solidFill>
                        </a:rPr>
                        <a:t>Pay at least the legal minimum wage</a:t>
                      </a:r>
                    </a:p>
                  </a:txBody>
                  <a:tcPr anchor="ctr" marL="73152" marR="54864" marT="27432" marB="27432">
                    <a:solidFill>
                      <a:srgbClr val="EEF3F8"/>
                    </a:solidFill>
                  </a:tcPr>
                </a:tc>
                <a:tc>
                  <a:txBody>
                    <a:bodyPr wrap="square"/>
                    <a:lstStyle/>
                    <a:p>
                      <a:r>
                        <a:rPr sz="1100">
                          <a:solidFill>
                            <a:srgbClr val="1A1A1A"/>
                          </a:solidFill>
                        </a:rPr>
                        <a:t>Refuse legally required wages</a:t>
                      </a:r>
                    </a:p>
                  </a:txBody>
                  <a:tcPr anchor="ctr" marL="73152" marR="54864" marT="27432" marB="27432">
                    <a:solidFill>
                      <a:srgbClr val="EEF3F8"/>
                    </a:solidFill>
                  </a:tcPr>
                </a:tc>
                <a:tc>
                  <a:txBody>
                    <a:bodyPr wrap="square"/>
                    <a:lstStyle/>
                    <a:p>
                      <a:r>
                        <a:rPr sz="1100">
                          <a:solidFill>
                            <a:srgbClr val="1A1A1A"/>
                          </a:solidFill>
                        </a:rPr>
                        <a:t>Government penalties, legal action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Law adds a distinctive feature the other three lack: state-enforced penalties.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101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Good vs Poor Etiquette — and the social cost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1927951"/>
                <a:gridCol w="3167349"/>
                <a:gridCol w="3305060"/>
                <a:gridCol w="3029638"/>
              </a:tblGrid>
              <a:tr h="630936">
                <a:tc>
                  <a:txBody>
                    <a:bodyPr wrap="square"/>
                    <a:lstStyle/>
                    <a:p>
                      <a:r>
                        <a:rPr sz="1150" b="1">
                          <a:solidFill>
                            <a:srgbClr val="FFFFFF"/>
                          </a:solidFill>
                        </a:rPr>
                        <a:t>Situation</a:t>
                      </a:r>
                    </a:p>
                  </a:txBody>
                  <a:tcPr anchor="ctr" marL="73152" marR="54864" marT="27432" marB="27432">
                    <a:solidFill>
                      <a:srgbClr val="0C2B4A"/>
                    </a:solidFill>
                  </a:tcPr>
                </a:tc>
                <a:tc>
                  <a:txBody>
                    <a:bodyPr wrap="square"/>
                    <a:lstStyle/>
                    <a:p>
                      <a:r>
                        <a:rPr sz="1150" b="1">
                          <a:solidFill>
                            <a:srgbClr val="FFFFFF"/>
                          </a:solidFill>
                        </a:rPr>
                        <a:t>Good etiquette</a:t>
                      </a:r>
                    </a:p>
                  </a:txBody>
                  <a:tcPr anchor="ctr" marL="73152" marR="54864" marT="27432" marB="27432">
                    <a:solidFill>
                      <a:srgbClr val="0C2B4A"/>
                    </a:solidFill>
                  </a:tcPr>
                </a:tc>
                <a:tc>
                  <a:txBody>
                    <a:bodyPr wrap="square"/>
                    <a:lstStyle/>
                    <a:p>
                      <a:r>
                        <a:rPr sz="1150" b="1">
                          <a:solidFill>
                            <a:srgbClr val="FFFFFF"/>
                          </a:solidFill>
                        </a:rPr>
                        <a:t>Poor etiquette</a:t>
                      </a:r>
                    </a:p>
                  </a:txBody>
                  <a:tcPr anchor="ctr" marL="73152" marR="54864" marT="27432" marB="27432">
                    <a:solidFill>
                      <a:srgbClr val="0C2B4A"/>
                    </a:solidFill>
                  </a:tcPr>
                </a:tc>
                <a:tc>
                  <a:txBody>
                    <a:bodyPr wrap="square"/>
                    <a:lstStyle/>
                    <a:p>
                      <a:r>
                        <a:rPr sz="1150" b="1">
                          <a:solidFill>
                            <a:srgbClr val="FFFFFF"/>
                          </a:solidFill>
                        </a:rPr>
                        <a:t>Possible cost</a:t>
                      </a:r>
                    </a:p>
                  </a:txBody>
                  <a:tcPr anchor="ctr" marL="73152" marR="54864" marT="27432" marB="27432">
                    <a:solidFill>
                      <a:srgbClr val="0C2B4A"/>
                    </a:solidFill>
                  </a:tcPr>
                </a:tc>
              </a:tr>
              <a:tr h="630936">
                <a:tc>
                  <a:txBody>
                    <a:bodyPr wrap="square"/>
                    <a:lstStyle/>
                    <a:p>
                      <a:r>
                        <a:rPr sz="1100" b="1">
                          <a:solidFill>
                            <a:srgbClr val="0C2B4A"/>
                          </a:solidFill>
                        </a:rPr>
                        <a:t>Greeting</a:t>
                      </a:r>
                    </a:p>
                  </a:txBody>
                  <a:tcPr anchor="ctr" marL="73152" marR="54864" marT="27432" marB="27432">
                    <a:solidFill>
                      <a:srgbClr val="FFFFFF"/>
                    </a:solidFill>
                  </a:tcPr>
                </a:tc>
                <a:tc>
                  <a:txBody>
                    <a:bodyPr wrap="square"/>
                    <a:lstStyle/>
                    <a:p>
                      <a:r>
                        <a:rPr sz="1100">
                          <a:solidFill>
                            <a:srgbClr val="1A1A1A"/>
                          </a:solidFill>
                        </a:rPr>
                        <a:t>Greet people politely</a:t>
                      </a:r>
                    </a:p>
                  </a:txBody>
                  <a:tcPr anchor="ctr" marL="73152" marR="54864" marT="27432" marB="27432">
                    <a:solidFill>
                      <a:srgbClr val="FFFFFF"/>
                    </a:solidFill>
                  </a:tcPr>
                </a:tc>
                <a:tc>
                  <a:txBody>
                    <a:bodyPr wrap="square"/>
                    <a:lstStyle/>
                    <a:p>
                      <a:r>
                        <a:rPr sz="1100">
                          <a:solidFill>
                            <a:srgbClr val="1A1A1A"/>
                          </a:solidFill>
                        </a:rPr>
                        <a:t>Ignore someone who greets you</a:t>
                      </a:r>
                    </a:p>
                  </a:txBody>
                  <a:tcPr anchor="ctr" marL="73152" marR="54864" marT="27432" marB="27432">
                    <a:solidFill>
                      <a:srgbClr val="FFFFFF"/>
                    </a:solidFill>
                  </a:tcPr>
                </a:tc>
                <a:tc>
                  <a:txBody>
                    <a:bodyPr wrap="square"/>
                    <a:lstStyle/>
                    <a:p>
                      <a:r>
                        <a:rPr sz="1100">
                          <a:solidFill>
                            <a:srgbClr val="1A1A1A"/>
                          </a:solidFill>
                        </a:rPr>
                        <a:t>Seen as rude/unfriendly</a:t>
                      </a:r>
                    </a:p>
                  </a:txBody>
                  <a:tcPr anchor="ctr" marL="73152" marR="54864" marT="27432" marB="27432">
                    <a:solidFill>
                      <a:srgbClr val="FFFFFF"/>
                    </a:solidFill>
                  </a:tcPr>
                </a:tc>
              </a:tr>
              <a:tr h="630936">
                <a:tc>
                  <a:txBody>
                    <a:bodyPr wrap="square"/>
                    <a:lstStyle/>
                    <a:p>
                      <a:r>
                        <a:rPr sz="1100" b="1">
                          <a:solidFill>
                            <a:srgbClr val="0C2B4A"/>
                          </a:solidFill>
                        </a:rPr>
                        <a:t>Queueing</a:t>
                      </a:r>
                    </a:p>
                  </a:txBody>
                  <a:tcPr anchor="ctr" marL="73152" marR="54864" marT="27432" marB="27432">
                    <a:solidFill>
                      <a:srgbClr val="EEF3F8"/>
                    </a:solidFill>
                  </a:tcPr>
                </a:tc>
                <a:tc>
                  <a:txBody>
                    <a:bodyPr wrap="square"/>
                    <a:lstStyle/>
                    <a:p>
                      <a:r>
                        <a:rPr sz="1100">
                          <a:solidFill>
                            <a:srgbClr val="1A1A1A"/>
                          </a:solidFill>
                        </a:rPr>
                        <a:t>Wait your turn</a:t>
                      </a:r>
                    </a:p>
                  </a:txBody>
                  <a:tcPr anchor="ctr" marL="73152" marR="54864" marT="27432" marB="27432">
                    <a:solidFill>
                      <a:srgbClr val="EEF3F8"/>
                    </a:solidFill>
                  </a:tcPr>
                </a:tc>
                <a:tc>
                  <a:txBody>
                    <a:bodyPr wrap="square"/>
                    <a:lstStyle/>
                    <a:p>
                      <a:r>
                        <a:rPr sz="1100">
                          <a:solidFill>
                            <a:srgbClr val="1A1A1A"/>
                          </a:solidFill>
                        </a:rPr>
                        <a:t>Cut in front of others</a:t>
                      </a:r>
                    </a:p>
                  </a:txBody>
                  <a:tcPr anchor="ctr" marL="73152" marR="54864" marT="27432" marB="27432">
                    <a:solidFill>
                      <a:srgbClr val="EEF3F8"/>
                    </a:solidFill>
                  </a:tcPr>
                </a:tc>
                <a:tc>
                  <a:txBody>
                    <a:bodyPr wrap="square"/>
                    <a:lstStyle/>
                    <a:p>
                      <a:r>
                        <a:rPr sz="1100">
                          <a:solidFill>
                            <a:srgbClr val="1A1A1A"/>
                          </a:solidFill>
                        </a:rPr>
                        <a:t>Annoyance, embarrassment</a:t>
                      </a:r>
                    </a:p>
                  </a:txBody>
                  <a:tcPr anchor="ctr" marL="73152" marR="54864" marT="27432" marB="27432">
                    <a:solidFill>
                      <a:srgbClr val="EEF3F8"/>
                    </a:solidFill>
                  </a:tcPr>
                </a:tc>
              </a:tr>
              <a:tr h="630936">
                <a:tc>
                  <a:txBody>
                    <a:bodyPr wrap="square"/>
                    <a:lstStyle/>
                    <a:p>
                      <a:r>
                        <a:rPr sz="1100" b="1">
                          <a:solidFill>
                            <a:srgbClr val="0C2B4A"/>
                          </a:solidFill>
                        </a:rPr>
                        <a:t>Phone use</a:t>
                      </a:r>
                    </a:p>
                  </a:txBody>
                  <a:tcPr anchor="ctr" marL="73152" marR="54864" marT="27432" marB="27432">
                    <a:solidFill>
                      <a:srgbClr val="FFFFFF"/>
                    </a:solidFill>
                  </a:tcPr>
                </a:tc>
                <a:tc>
                  <a:txBody>
                    <a:bodyPr wrap="square"/>
                    <a:lstStyle/>
                    <a:p>
                      <a:r>
                        <a:rPr sz="1100">
                          <a:solidFill>
                            <a:srgbClr val="1A1A1A"/>
                          </a:solidFill>
                        </a:rPr>
                        <a:t>Silence it in meetings/class</a:t>
                      </a:r>
                    </a:p>
                  </a:txBody>
                  <a:tcPr anchor="ctr" marL="73152" marR="54864" marT="27432" marB="27432">
                    <a:solidFill>
                      <a:srgbClr val="FFFFFF"/>
                    </a:solidFill>
                  </a:tcPr>
                </a:tc>
                <a:tc>
                  <a:txBody>
                    <a:bodyPr wrap="square"/>
                    <a:lstStyle/>
                    <a:p>
                      <a:r>
                        <a:rPr sz="1100">
                          <a:solidFill>
                            <a:srgbClr val="1A1A1A"/>
                          </a:solidFill>
                        </a:rPr>
                        <a:t>Take loud calls during a lecture</a:t>
                      </a:r>
                    </a:p>
                  </a:txBody>
                  <a:tcPr anchor="ctr" marL="73152" marR="54864" marT="27432" marB="27432">
                    <a:solidFill>
                      <a:srgbClr val="FFFFFF"/>
                    </a:solidFill>
                  </a:tcPr>
                </a:tc>
                <a:tc>
                  <a:txBody>
                    <a:bodyPr wrap="square"/>
                    <a:lstStyle/>
                    <a:p>
                      <a:r>
                        <a:rPr sz="1100">
                          <a:solidFill>
                            <a:srgbClr val="1A1A1A"/>
                          </a:solidFill>
                        </a:rPr>
                        <a:t>Disturbs others, appears disrespectful</a:t>
                      </a:r>
                    </a:p>
                  </a:txBody>
                  <a:tcPr anchor="ctr" marL="73152" marR="54864" marT="27432" marB="27432">
                    <a:solidFill>
                      <a:srgbClr val="FFFFFF"/>
                    </a:solidFill>
                  </a:tcPr>
                </a:tc>
              </a:tr>
              <a:tr h="630936">
                <a:tc>
                  <a:txBody>
                    <a:bodyPr wrap="square"/>
                    <a:lstStyle/>
                    <a:p>
                      <a:r>
                        <a:rPr sz="1100" b="1">
                          <a:solidFill>
                            <a:srgbClr val="0C2B4A"/>
                          </a:solidFill>
                        </a:rPr>
                        <a:t>Interrupting</a:t>
                      </a:r>
                    </a:p>
                  </a:txBody>
                  <a:tcPr anchor="ctr" marL="73152" marR="54864" marT="27432" marB="27432">
                    <a:solidFill>
                      <a:srgbClr val="EEF3F8"/>
                    </a:solidFill>
                  </a:tcPr>
                </a:tc>
                <a:tc>
                  <a:txBody>
                    <a:bodyPr wrap="square"/>
                    <a:lstStyle/>
                    <a:p>
                      <a:r>
                        <a:rPr sz="1100">
                          <a:solidFill>
                            <a:srgbClr val="1A1A1A"/>
                          </a:solidFill>
                        </a:rPr>
                        <a:t>Let people finish speaking</a:t>
                      </a:r>
                    </a:p>
                  </a:txBody>
                  <a:tcPr anchor="ctr" marL="73152" marR="54864" marT="27432" marB="27432">
                    <a:solidFill>
                      <a:srgbClr val="EEF3F8"/>
                    </a:solidFill>
                  </a:tcPr>
                </a:tc>
                <a:tc>
                  <a:txBody>
                    <a:bodyPr wrap="square"/>
                    <a:lstStyle/>
                    <a:p>
                      <a:r>
                        <a:rPr sz="1100">
                          <a:solidFill>
                            <a:srgbClr val="1A1A1A"/>
                          </a:solidFill>
                        </a:rPr>
                        <a:t>Cut people off mid-sentence</a:t>
                      </a:r>
                    </a:p>
                  </a:txBody>
                  <a:tcPr anchor="ctr" marL="73152" marR="54864" marT="27432" marB="27432">
                    <a:solidFill>
                      <a:srgbClr val="EEF3F8"/>
                    </a:solidFill>
                  </a:tcPr>
                </a:tc>
                <a:tc>
                  <a:txBody>
                    <a:bodyPr wrap="square"/>
                    <a:lstStyle/>
                    <a:p>
                      <a:r>
                        <a:rPr sz="1100">
                          <a:solidFill>
                            <a:srgbClr val="1A1A1A"/>
                          </a:solidFill>
                        </a:rPr>
                        <a:t>Others feel disrespected</a:t>
                      </a:r>
                    </a:p>
                  </a:txBody>
                  <a:tcPr anchor="ctr" marL="73152" marR="54864" marT="27432" marB="27432">
                    <a:solidFill>
                      <a:srgbClr val="EEF3F8"/>
                    </a:solidFill>
                  </a:tcPr>
                </a:tc>
              </a:tr>
              <a:tr h="630936">
                <a:tc>
                  <a:txBody>
                    <a:bodyPr wrap="square"/>
                    <a:lstStyle/>
                    <a:p>
                      <a:r>
                        <a:rPr sz="1100" b="1">
                          <a:solidFill>
                            <a:srgbClr val="0C2B4A"/>
                          </a:solidFill>
                        </a:rPr>
                        <a:t>Punctuality</a:t>
                      </a:r>
                    </a:p>
                  </a:txBody>
                  <a:tcPr anchor="ctr" marL="73152" marR="54864" marT="27432" marB="27432">
                    <a:solidFill>
                      <a:srgbClr val="FFFFFF"/>
                    </a:solidFill>
                  </a:tcPr>
                </a:tc>
                <a:tc>
                  <a:txBody>
                    <a:bodyPr wrap="square"/>
                    <a:lstStyle/>
                    <a:p>
                      <a:r>
                        <a:rPr sz="1100">
                          <a:solidFill>
                            <a:srgbClr val="1A1A1A"/>
                          </a:solidFill>
                        </a:rPr>
                        <a:t>Arrive on time</a:t>
                      </a:r>
                    </a:p>
                  </a:txBody>
                  <a:tcPr anchor="ctr" marL="73152" marR="54864" marT="27432" marB="27432">
                    <a:solidFill>
                      <a:srgbClr val="FFFFFF"/>
                    </a:solidFill>
                  </a:tcPr>
                </a:tc>
                <a:tc>
                  <a:txBody>
                    <a:bodyPr wrap="square"/>
                    <a:lstStyle/>
                    <a:p>
                      <a:r>
                        <a:rPr sz="1100">
                          <a:solidFill>
                            <a:srgbClr val="1A1A1A"/>
                          </a:solidFill>
                        </a:rPr>
                        <a:t>Arrive late without informing</a:t>
                      </a:r>
                    </a:p>
                  </a:txBody>
                  <a:tcPr anchor="ctr" marL="73152" marR="54864" marT="27432" marB="27432">
                    <a:solidFill>
                      <a:srgbClr val="FFFFFF"/>
                    </a:solidFill>
                  </a:tcPr>
                </a:tc>
                <a:tc>
                  <a:txBody>
                    <a:bodyPr wrap="square"/>
                    <a:lstStyle/>
                    <a:p>
                      <a:r>
                        <a:rPr sz="1100">
                          <a:solidFill>
                            <a:srgbClr val="1A1A1A"/>
                          </a:solidFill>
                        </a:rPr>
                        <a:t>Seen as unreliable</a:t>
                      </a:r>
                    </a:p>
                  </a:txBody>
                  <a:tcPr anchor="ctr" marL="73152" marR="54864" marT="27432" marB="27432">
                    <a:solidFill>
                      <a:srgbClr val="FFFFFF"/>
                    </a:solidFill>
                  </a:tcPr>
                </a:tc>
              </a:tr>
              <a:tr h="630936">
                <a:tc>
                  <a:txBody>
                    <a:bodyPr wrap="square"/>
                    <a:lstStyle/>
                    <a:p>
                      <a:r>
                        <a:rPr sz="1100" b="1">
                          <a:solidFill>
                            <a:srgbClr val="0C2B4A"/>
                          </a:solidFill>
                        </a:rPr>
                        <a:t>Public transport</a:t>
                      </a:r>
                    </a:p>
                  </a:txBody>
                  <a:tcPr anchor="ctr" marL="73152" marR="54864" marT="27432" marB="27432">
                    <a:solidFill>
                      <a:srgbClr val="EEF3F8"/>
                    </a:solidFill>
                  </a:tcPr>
                </a:tc>
                <a:tc>
                  <a:txBody>
                    <a:bodyPr wrap="square"/>
                    <a:lstStyle/>
                    <a:p>
                      <a:r>
                        <a:rPr sz="1100">
                          <a:solidFill>
                            <a:srgbClr val="1A1A1A"/>
                          </a:solidFill>
                        </a:rPr>
                        <a:t>Offer your seat to those in need</a:t>
                      </a:r>
                    </a:p>
                  </a:txBody>
                  <a:tcPr anchor="ctr" marL="73152" marR="54864" marT="27432" marB="27432">
                    <a:solidFill>
                      <a:srgbClr val="EEF3F8"/>
                    </a:solidFill>
                  </a:tcPr>
                </a:tc>
                <a:tc>
                  <a:txBody>
                    <a:bodyPr wrap="square"/>
                    <a:lstStyle/>
                    <a:p>
                      <a:r>
                        <a:rPr sz="1100">
                          <a:solidFill>
                            <a:srgbClr val="1A1A1A"/>
                          </a:solidFill>
                        </a:rPr>
                        <a:t>Refuse when someone clearly needs it</a:t>
                      </a:r>
                    </a:p>
                  </a:txBody>
                  <a:tcPr anchor="ctr" marL="73152" marR="54864" marT="27432" marB="27432">
                    <a:solidFill>
                      <a:srgbClr val="EEF3F8"/>
                    </a:solidFill>
                  </a:tcPr>
                </a:tc>
                <a:tc>
                  <a:txBody>
                    <a:bodyPr wrap="square"/>
                    <a:lstStyle/>
                    <a:p>
                      <a:r>
                        <a:rPr sz="1100">
                          <a:solidFill>
                            <a:srgbClr val="1A1A1A"/>
                          </a:solidFill>
                        </a:rPr>
                        <a:t>Seen as inconsiderate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Breaking etiquette is rude, not deeply wrong — usually no legal or professional penalty, only a social one.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101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Good vs Poor Etiquette — and the social cost  (cont.)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1927951"/>
                <a:gridCol w="3167349"/>
                <a:gridCol w="3305060"/>
                <a:gridCol w="3029638"/>
              </a:tblGrid>
              <a:tr h="1472184">
                <a:tc>
                  <a:txBody>
                    <a:bodyPr wrap="square"/>
                    <a:lstStyle/>
                    <a:p>
                      <a:r>
                        <a:rPr sz="1150" b="1">
                          <a:solidFill>
                            <a:srgbClr val="FFFFFF"/>
                          </a:solidFill>
                        </a:rPr>
                        <a:t>Situation</a:t>
                      </a:r>
                    </a:p>
                  </a:txBody>
                  <a:tcPr anchor="ctr" marL="73152" marR="54864" marT="27432" marB="27432">
                    <a:solidFill>
                      <a:srgbClr val="0C2B4A"/>
                    </a:solidFill>
                  </a:tcPr>
                </a:tc>
                <a:tc>
                  <a:txBody>
                    <a:bodyPr wrap="square"/>
                    <a:lstStyle/>
                    <a:p>
                      <a:r>
                        <a:rPr sz="1150" b="1">
                          <a:solidFill>
                            <a:srgbClr val="FFFFFF"/>
                          </a:solidFill>
                        </a:rPr>
                        <a:t>Good etiquette</a:t>
                      </a:r>
                    </a:p>
                  </a:txBody>
                  <a:tcPr anchor="ctr" marL="73152" marR="54864" marT="27432" marB="27432">
                    <a:solidFill>
                      <a:srgbClr val="0C2B4A"/>
                    </a:solidFill>
                  </a:tcPr>
                </a:tc>
                <a:tc>
                  <a:txBody>
                    <a:bodyPr wrap="square"/>
                    <a:lstStyle/>
                    <a:p>
                      <a:r>
                        <a:rPr sz="1150" b="1">
                          <a:solidFill>
                            <a:srgbClr val="FFFFFF"/>
                          </a:solidFill>
                        </a:rPr>
                        <a:t>Poor etiquette</a:t>
                      </a:r>
                    </a:p>
                  </a:txBody>
                  <a:tcPr anchor="ctr" marL="73152" marR="54864" marT="27432" marB="27432">
                    <a:solidFill>
                      <a:srgbClr val="0C2B4A"/>
                    </a:solidFill>
                  </a:tcPr>
                </a:tc>
                <a:tc>
                  <a:txBody>
                    <a:bodyPr wrap="square"/>
                    <a:lstStyle/>
                    <a:p>
                      <a:r>
                        <a:rPr sz="1150" b="1">
                          <a:solidFill>
                            <a:srgbClr val="FFFFFF"/>
                          </a:solidFill>
                        </a:rPr>
                        <a:t>Possible cost</a:t>
                      </a:r>
                    </a:p>
                  </a:txBody>
                  <a:tcPr anchor="ctr" marL="73152" marR="54864" marT="27432" marB="27432">
                    <a:solidFill>
                      <a:srgbClr val="0C2B4A"/>
                    </a:solidFill>
                  </a:tcPr>
                </a:tc>
              </a:tr>
              <a:tr h="1472184">
                <a:tc>
                  <a:txBody>
                    <a:bodyPr wrap="square"/>
                    <a:lstStyle/>
                    <a:p>
                      <a:r>
                        <a:rPr sz="1100" b="1">
                          <a:solidFill>
                            <a:srgbClr val="0C2B4A"/>
                          </a:solidFill>
                        </a:rPr>
                        <a:t>Online</a:t>
                      </a:r>
                    </a:p>
                  </a:txBody>
                  <a:tcPr anchor="ctr" marL="73152" marR="54864" marT="27432" marB="27432">
                    <a:solidFill>
                      <a:srgbClr val="FFFFFF"/>
                    </a:solidFill>
                  </a:tcPr>
                </a:tc>
                <a:tc>
                  <a:txBody>
                    <a:bodyPr wrap="square"/>
                    <a:lstStyle/>
                    <a:p>
                      <a:r>
                        <a:rPr sz="1100">
                          <a:solidFill>
                            <a:srgbClr val="1A1A1A"/>
                          </a:solidFill>
                        </a:rPr>
                        <a:t>Be respectful in comments</a:t>
                      </a:r>
                    </a:p>
                  </a:txBody>
                  <a:tcPr anchor="ctr" marL="73152" marR="54864" marT="27432" marB="27432">
                    <a:solidFill>
                      <a:srgbClr val="FFFFFF"/>
                    </a:solidFill>
                  </a:tcPr>
                </a:tc>
                <a:tc>
                  <a:txBody>
                    <a:bodyPr wrap="square"/>
                    <a:lstStyle/>
                    <a:p>
                      <a:r>
                        <a:rPr sz="1100">
                          <a:solidFill>
                            <a:srgbClr val="1A1A1A"/>
                          </a:solidFill>
                        </a:rPr>
                        <a:t>Use insults, offensive language, spam</a:t>
                      </a:r>
                    </a:p>
                  </a:txBody>
                  <a:tcPr anchor="ctr" marL="73152" marR="54864" marT="27432" marB="27432">
                    <a:solidFill>
                      <a:srgbClr val="FFFFFF"/>
                    </a:solidFill>
                  </a:tcPr>
                </a:tc>
                <a:tc>
                  <a:txBody>
                    <a:bodyPr wrap="square"/>
                    <a:lstStyle/>
                    <a:p>
                      <a:r>
                        <a:rPr sz="1100">
                          <a:solidFill>
                            <a:srgbClr val="1A1A1A"/>
                          </a:solidFill>
                        </a:rPr>
                        <a:t>Others block or report you</a:t>
                      </a:r>
                    </a:p>
                  </a:txBody>
                  <a:tcPr anchor="ctr" marL="73152" marR="54864" marT="27432" marB="27432">
                    <a:solidFill>
                      <a:srgbClr val="FFFFFF"/>
                    </a:solidFill>
                  </a:tcPr>
                </a:tc>
              </a:tr>
              <a:tr h="1472184">
                <a:tc>
                  <a:txBody>
                    <a:bodyPr wrap="square"/>
                    <a:lstStyle/>
                    <a:p>
                      <a:r>
                        <a:rPr sz="1100" b="1">
                          <a:solidFill>
                            <a:srgbClr val="0C2B4A"/>
                          </a:solidFill>
                        </a:rPr>
                        <a:t>Workplace</a:t>
                      </a:r>
                    </a:p>
                  </a:txBody>
                  <a:tcPr anchor="ctr" marL="73152" marR="54864" marT="27432" marB="27432">
                    <a:solidFill>
                      <a:srgbClr val="EEF3F8"/>
                    </a:solidFill>
                  </a:tcPr>
                </a:tc>
                <a:tc>
                  <a:txBody>
                    <a:bodyPr wrap="square"/>
                    <a:lstStyle/>
                    <a:p>
                      <a:r>
                        <a:rPr sz="1100">
                          <a:solidFill>
                            <a:srgbClr val="1A1A1A"/>
                          </a:solidFill>
                        </a:rPr>
                        <a:t>Respect others' space/belongings</a:t>
                      </a:r>
                    </a:p>
                  </a:txBody>
                  <a:tcPr anchor="ctr" marL="73152" marR="54864" marT="27432" marB="27432">
                    <a:solidFill>
                      <a:srgbClr val="EEF3F8"/>
                    </a:solidFill>
                  </a:tcPr>
                </a:tc>
                <a:tc>
                  <a:txBody>
                    <a:bodyPr wrap="square"/>
                    <a:lstStyle/>
                    <a:p>
                      <a:r>
                        <a:rPr sz="1100">
                          <a:solidFill>
                            <a:srgbClr val="1A1A1A"/>
                          </a:solidFill>
                        </a:rPr>
                        <a:t>Borrow things without asking</a:t>
                      </a:r>
                    </a:p>
                  </a:txBody>
                  <a:tcPr anchor="ctr" marL="73152" marR="54864" marT="27432" marB="27432">
                    <a:solidFill>
                      <a:srgbClr val="EEF3F8"/>
                    </a:solidFill>
                  </a:tcPr>
                </a:tc>
                <a:tc>
                  <a:txBody>
                    <a:bodyPr wrap="square"/>
                    <a:lstStyle/>
                    <a:p>
                      <a:r>
                        <a:rPr sz="1100">
                          <a:solidFill>
                            <a:srgbClr val="1A1A1A"/>
                          </a:solidFill>
                        </a:rPr>
                        <a:t>Tension, loss of trust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Breaking etiquette is rude, not deeply wrong — usually no legal or professional penalty, only a social one.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101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2 ·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Legal / Ethical Grid — two axes, four quadrants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Because legal and ethical are separate questions, every action sits on a 2×2 grid: Legal↔Illegal on one axis, Ethical↔Unethical on the other. Four quadrants result.</a:t>
            </a:r>
          </a:p>
          <a:p>
            <a:pPr>
              <a:spcAft>
                <a:spcPts val="500"/>
              </a:spcAft>
            </a:pPr>
            <a:r>
              <a:rPr sz="1200" b="1">
                <a:solidFill>
                  <a:srgbClr val="185FA5"/>
                </a:solidFill>
              </a:rPr>
              <a:t>HOW IT WORKS</a:t>
            </a:r>
          </a:p>
          <a:p>
            <a:pPr>
              <a:spcAft>
                <a:spcPts val="600"/>
              </a:spcAft>
            </a:pPr>
            <a:r>
              <a:rPr sz="1400">
                <a:solidFill>
                  <a:srgbClr val="1A1A1A"/>
                </a:solidFill>
              </a:rPr>
              <a:t>•  Legal + Ethical — the easy quadrant (pay taxes honestly; keep a promise).</a:t>
            </a:r>
          </a:p>
          <a:p>
            <a:pPr>
              <a:spcAft>
                <a:spcPts val="600"/>
              </a:spcAft>
            </a:pPr>
            <a:r>
              <a:rPr sz="1400">
                <a:solidFill>
                  <a:srgbClr val="1A1A1A"/>
                </a:solidFill>
              </a:rPr>
              <a:t>•  Legal + Unethical — technically allowed, clearly wrong (tax loophole; queue-jumping). MOST scandals live here.</a:t>
            </a:r>
          </a:p>
          <a:p>
            <a:pPr>
              <a:spcAft>
                <a:spcPts val="600"/>
              </a:spcAft>
            </a:pPr>
            <a:r>
              <a:rPr sz="1400">
                <a:solidFill>
                  <a:srgbClr val="1A1A1A"/>
                </a:solidFill>
              </a:rPr>
              <a:t>•  Illegal + Ethical — rare and debated (justified civil disobedience; whistle-blowing that breaks an NDA).</a:t>
            </a:r>
          </a:p>
          <a:p>
            <a:pPr>
              <a:spcAft>
                <a:spcPts val="600"/>
              </a:spcAft>
            </a:pPr>
            <a:r>
              <a:rPr sz="1400">
                <a:solidFill>
                  <a:srgbClr val="1A1A1A"/>
                </a:solidFill>
              </a:rPr>
              <a:t>•  Illegal + Unethical — the obvious-wrong quadrant (a bribe; leaking private data).</a:t>
            </a:r>
          </a:p>
        </p:txBody>
      </p:sp>
      <p:pic>
        <p:nvPicPr>
          <p:cNvPr id="6" name="Picture 5" descr="s1_grid.png"/>
          <p:cNvPicPr>
            <a:picLocks noChangeAspect="1"/>
          </p:cNvPicPr>
          <p:nvPr/>
        </p:nvPicPr>
        <p:blipFill>
          <a:blip r:embed="rId2"/>
          <a:stretch>
            <a:fillRect/>
          </a:stretch>
        </p:blipFill>
        <p:spPr>
          <a:xfrm>
            <a:off x="6355080" y="2507174"/>
            <a:ext cx="5532120" cy="2620891"/>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The dangerous quadrant is legal-but-unethical — only your judgment stops you.</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101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2 ·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Legal / Ethical Grid</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Place the hook's shared streaming login: it's arguably legal-but-unethical (a grey contract violation) — let the class argue which quadrant. The 'chiya kharcha' bribe is clearly illegal-and-unethical (bottom-right).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"Wrong things are always illegal." No — the legal-but-unethical quadrant is full of everyday, perfectly-legal harm. That quadrant is exactly what this course trains you to handle.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legal/ethical grid plots an action on two independent axes (legal↔illegal, ethical↔unethical), giving four quadrants. The critical one is legal-but-unethical — technically allowed but clearly wrong — because nothing external stops you there; only your own judgment does.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legal/ethical grid · four quadrants · legal-but-unethical (the danger zone) · judgment call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17 / 101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Real instances placed on the legal/ethical grid</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318000"/>
                <a:gridCol w="2159000"/>
                <a:gridCol w="2159000"/>
                <a:gridCol w="2794000"/>
              </a:tblGrid>
              <a:tr h="490728">
                <a:tc>
                  <a:txBody>
                    <a:bodyPr wrap="square"/>
                    <a:lstStyle/>
                    <a:p>
                      <a:r>
                        <a:rPr sz="1150" b="1">
                          <a:solidFill>
                            <a:srgbClr val="FFFFFF"/>
                          </a:solidFill>
                        </a:rPr>
                        <a:t>Instance</a:t>
                      </a:r>
                    </a:p>
                  </a:txBody>
                  <a:tcPr anchor="ctr" marL="73152" marR="54864" marT="27432" marB="27432">
                    <a:solidFill>
                      <a:srgbClr val="0C2B4A"/>
                    </a:solidFill>
                  </a:tcPr>
                </a:tc>
                <a:tc>
                  <a:txBody>
                    <a:bodyPr wrap="square"/>
                    <a:lstStyle/>
                    <a:p>
                      <a:r>
                        <a:rPr sz="1150" b="1">
                          <a:solidFill>
                            <a:srgbClr val="FFFFFF"/>
                          </a:solidFill>
                        </a:rPr>
                        <a:t>Legal?</a:t>
                      </a:r>
                    </a:p>
                  </a:txBody>
                  <a:tcPr anchor="ctr" marL="73152" marR="54864" marT="27432" marB="27432">
                    <a:solidFill>
                      <a:srgbClr val="0C2B4A"/>
                    </a:solidFill>
                  </a:tcPr>
                </a:tc>
                <a:tc>
                  <a:txBody>
                    <a:bodyPr wrap="square"/>
                    <a:lstStyle/>
                    <a:p>
                      <a:r>
                        <a:rPr sz="1150" b="1">
                          <a:solidFill>
                            <a:srgbClr val="FFFFFF"/>
                          </a:solidFill>
                        </a:rPr>
                        <a:t>Ethical?</a:t>
                      </a:r>
                    </a:p>
                  </a:txBody>
                  <a:tcPr anchor="ctr" marL="73152" marR="54864" marT="27432" marB="27432">
                    <a:solidFill>
                      <a:srgbClr val="0C2B4A"/>
                    </a:solidFill>
                  </a:tcPr>
                </a:tc>
                <a:tc>
                  <a:txBody>
                    <a:bodyPr wrap="square"/>
                    <a:lstStyle/>
                    <a:p>
                      <a:r>
                        <a:rPr sz="1150" b="1">
                          <a:solidFill>
                            <a:srgbClr val="FFFFFF"/>
                          </a:solidFill>
                        </a:rPr>
                        <a:t>Quadrant</a:t>
                      </a:r>
                    </a:p>
                  </a:txBody>
                  <a:tcPr anchor="ctr" marL="73152" marR="54864" marT="27432" marB="27432">
                    <a:solidFill>
                      <a:srgbClr val="0C2B4A"/>
                    </a:solidFill>
                  </a:tcPr>
                </a:tc>
              </a:tr>
              <a:tr h="490728">
                <a:tc>
                  <a:txBody>
                    <a:bodyPr wrap="square"/>
                    <a:lstStyle/>
                    <a:p>
                      <a:r>
                        <a:rPr sz="1100" b="1">
                          <a:solidFill>
                            <a:srgbClr val="0C2B4A"/>
                          </a:solidFill>
                        </a:rPr>
                        <a:t>Paying 'chiya kharcha' to push your file up the pile</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Illegal + Unethical</a:t>
                      </a:r>
                    </a:p>
                  </a:txBody>
                  <a:tcPr anchor="ctr" marL="73152" marR="54864" marT="27432" marB="27432">
                    <a:solidFill>
                      <a:srgbClr val="FFFFFF"/>
                    </a:solidFill>
                  </a:tcPr>
                </a:tc>
              </a:tr>
              <a:tr h="490728">
                <a:tc>
                  <a:txBody>
                    <a:bodyPr wrap="square"/>
                    <a:lstStyle/>
                    <a:p>
                      <a:r>
                        <a:rPr sz="1100" b="1">
                          <a:solidFill>
                            <a:srgbClr val="0C2B4A"/>
                          </a:solidFill>
                        </a:rPr>
                        <a:t>Sharing one paid Netflix/Canva login among 8 friends</a:t>
                      </a:r>
                    </a:p>
                  </a:txBody>
                  <a:tcPr anchor="ctr" marL="73152" marR="54864" marT="27432" marB="27432">
                    <a:solidFill>
                      <a:srgbClr val="EEF3F8"/>
                    </a:solidFill>
                  </a:tcPr>
                </a:tc>
                <a:tc>
                  <a:txBody>
                    <a:bodyPr wrap="square"/>
                    <a:lstStyle/>
                    <a:p>
                      <a:r>
                        <a:rPr sz="1100">
                          <a:solidFill>
                            <a:srgbClr val="1A1A1A"/>
                          </a:solidFill>
                        </a:rPr>
                        <a:t>Grey (contract breach)</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Legal-ish + Unethical</a:t>
                      </a:r>
                    </a:p>
                  </a:txBody>
                  <a:tcPr anchor="ctr" marL="73152" marR="54864" marT="27432" marB="27432">
                    <a:solidFill>
                      <a:srgbClr val="EEF3F8"/>
                    </a:solidFill>
                  </a:tcPr>
                </a:tc>
              </a:tr>
              <a:tr h="490728">
                <a:tc>
                  <a:txBody>
                    <a:bodyPr wrap="square"/>
                    <a:lstStyle/>
                    <a:p>
                      <a:r>
                        <a:rPr sz="1100" b="1">
                          <a:solidFill>
                            <a:srgbClr val="0C2B4A"/>
                          </a:solidFill>
                        </a:rPr>
                        <a:t>Using 'source-force' to skip a government-office queue</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Legal + Unethical</a:t>
                      </a:r>
                    </a:p>
                  </a:txBody>
                  <a:tcPr anchor="ctr" marL="73152" marR="54864" marT="27432" marB="27432">
                    <a:solidFill>
                      <a:srgbClr val="FFFFFF"/>
                    </a:solidFill>
                  </a:tcPr>
                </a:tc>
              </a:tr>
              <a:tr h="490728">
                <a:tc>
                  <a:txBody>
                    <a:bodyPr wrap="square"/>
                    <a:lstStyle/>
                    <a:p>
                      <a:r>
                        <a:rPr sz="1100" b="1">
                          <a:solidFill>
                            <a:srgbClr val="0C2B4A"/>
                          </a:solidFill>
                        </a:rPr>
                        <a:t>Selling legally-collected customer data without consent</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Legal + Unethical</a:t>
                      </a:r>
                    </a:p>
                  </a:txBody>
                  <a:tcPr anchor="ctr" marL="73152" marR="54864" marT="27432" marB="27432">
                    <a:solidFill>
                      <a:srgbClr val="EEF3F8"/>
                    </a:solidFill>
                  </a:tcPr>
                </a:tc>
              </a:tr>
              <a:tr h="490728">
                <a:tc>
                  <a:txBody>
                    <a:bodyPr wrap="square"/>
                    <a:lstStyle/>
                    <a:p>
                      <a:r>
                        <a:rPr sz="1100" b="1">
                          <a:solidFill>
                            <a:srgbClr val="0C2B4A"/>
                          </a:solidFill>
                        </a:rPr>
                        <a:t>Paying your taxes honestly and on time</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Legal + Ethical</a:t>
                      </a:r>
                    </a:p>
                  </a:txBody>
                  <a:tcPr anchor="ctr" marL="73152" marR="54864" marT="27432" marB="27432">
                    <a:solidFill>
                      <a:srgbClr val="FFFFFF"/>
                    </a:solidFill>
                  </a:tcPr>
                </a:tc>
              </a:tr>
              <a:tr h="490728">
                <a:tc>
                  <a:txBody>
                    <a:bodyPr wrap="square"/>
                    <a:lstStyle/>
                    <a:p>
                      <a:r>
                        <a:rPr sz="1100" b="1">
                          <a:solidFill>
                            <a:srgbClr val="0C2B4A"/>
                          </a:solidFill>
                        </a:rPr>
                        <a:t>Whistle-blowing on employer fraud, breaking an NDA</a:t>
                      </a:r>
                    </a:p>
                  </a:txBody>
                  <a:tcPr anchor="ctr" marL="73152" marR="54864" marT="27432" marB="27432">
                    <a:solidFill>
                      <a:srgbClr val="EEF3F8"/>
                    </a:solidFill>
                  </a:tcPr>
                </a:tc>
                <a:tc>
                  <a:txBody>
                    <a:bodyPr wrap="square"/>
                    <a:lstStyle/>
                    <a:p>
                      <a:r>
                        <a:rPr sz="1100">
                          <a:solidFill>
                            <a:srgbClr val="1A1A1A"/>
                          </a:solidFill>
                        </a:rPr>
                        <a:t>No (breach)</a:t>
                      </a:r>
                    </a:p>
                  </a:txBody>
                  <a:tcPr anchor="ctr" marL="73152" marR="54864" marT="27432" marB="27432">
                    <a:solidFill>
                      <a:srgbClr val="EEF3F8"/>
                    </a:solidFill>
                  </a:tcPr>
                </a:tc>
                <a:tc>
                  <a:txBody>
                    <a:bodyPr wrap="square"/>
                    <a:lstStyle/>
                    <a:p>
                      <a:r>
                        <a:rPr sz="1100">
                          <a:solidFill>
                            <a:srgbClr val="1A1A1A"/>
                          </a:solidFill>
                        </a:rPr>
                        <a:t>Yes (debated)</a:t>
                      </a:r>
                    </a:p>
                  </a:txBody>
                  <a:tcPr anchor="ctr" marL="73152" marR="54864" marT="27432" marB="27432">
                    <a:solidFill>
                      <a:srgbClr val="EEF3F8"/>
                    </a:solidFill>
                  </a:tcPr>
                </a:tc>
                <a:tc>
                  <a:txBody>
                    <a:bodyPr wrap="square"/>
                    <a:lstStyle/>
                    <a:p>
                      <a:r>
                        <a:rPr sz="1100">
                          <a:solidFill>
                            <a:srgbClr val="1A1A1A"/>
                          </a:solidFill>
                        </a:rPr>
                        <a:t>Illegal + Ethical</a:t>
                      </a:r>
                    </a:p>
                  </a:txBody>
                  <a:tcPr anchor="ctr" marL="73152" marR="54864" marT="27432" marB="27432">
                    <a:solidFill>
                      <a:srgbClr val="EEF3F8"/>
                    </a:solidFill>
                  </a:tcPr>
                </a:tc>
              </a:tr>
              <a:tr h="490728">
                <a:tc>
                  <a:txBody>
                    <a:bodyPr wrap="square"/>
                    <a:lstStyle/>
                    <a:p>
                      <a:r>
                        <a:rPr sz="1100" b="1">
                          <a:solidFill>
                            <a:srgbClr val="0C2B4A"/>
                          </a:solidFill>
                        </a:rPr>
                        <a:t>A student pirating software they cannot afford</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Debated</a:t>
                      </a:r>
                    </a:p>
                  </a:txBody>
                  <a:tcPr anchor="ctr" marL="73152" marR="54864" marT="27432" marB="27432">
                    <a:solidFill>
                      <a:srgbClr val="FFFFFF"/>
                    </a:solidFill>
                  </a:tcPr>
                </a:tc>
                <a:tc>
                  <a:txBody>
                    <a:bodyPr wrap="square"/>
                    <a:lstStyle/>
                    <a:p>
                      <a:r>
                        <a:rPr sz="1100">
                          <a:solidFill>
                            <a:srgbClr val="1A1A1A"/>
                          </a:solidFill>
                        </a:rPr>
                        <a:t>Illegal + (arguably) Ethical</a:t>
                      </a:r>
                    </a:p>
                  </a:txBody>
                  <a:tcPr anchor="ctr" marL="73152" marR="54864" marT="27432" marB="27432">
                    <a:solidFill>
                      <a:srgbClr val="FFFFFF"/>
                    </a:solidFill>
                  </a:tcPr>
                </a:tc>
              </a:tr>
              <a:tr h="490728">
                <a:tc>
                  <a:txBody>
                    <a:bodyPr wrap="square"/>
                    <a:lstStyle/>
                    <a:p>
                      <a:r>
                        <a:rPr sz="1100" b="1">
                          <a:solidFill>
                            <a:srgbClr val="0C2B4A"/>
                          </a:solidFill>
                        </a:rPr>
                        <a:t>Leaking a customer's private photos from a database</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Illegal + Unethical</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danger zone is legal-but-unethical: nothing external stops you there — only your own judgment. Most everyday harm lives in that quadrant.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18 / 101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RECALL</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concepts — one-line recall table</a:t>
            </a:r>
          </a:p>
        </p:txBody>
      </p:sp>
      <p:graphicFrame>
        <p:nvGraphicFramePr>
          <p:cNvPr id="5" name="Table 4"/>
          <p:cNvGraphicFramePr>
            <a:graphicFrameLocks noGrp="1"/>
          </p:cNvGraphicFramePr>
          <p:nvPr/>
        </p:nvGraphicFramePr>
        <p:xfrm>
          <a:off x="384048" y="1572768"/>
          <a:ext cx="11430000" cy="4782312"/>
        </p:xfrm>
        <a:graphic>
          <a:graphicData uri="http://schemas.openxmlformats.org/drawingml/2006/table">
            <a:tbl>
              <a:tblPr>
                <a:tableStyleId>{5C22544A-7EE6-4342-B048-85BDC9FD1C3A}</a:tableStyleId>
              </a:tblPr>
              <a:tblGrid>
                <a:gridCol w="1905000"/>
                <a:gridCol w="4762500"/>
                <a:gridCol w="4762500"/>
              </a:tblGrid>
              <a:tr h="956462">
                <a:tc>
                  <a:txBody>
                    <a:bodyPr wrap="square"/>
                    <a:lstStyle/>
                    <a:p>
                      <a:r>
                        <a:rPr sz="1300" b="1">
                          <a:solidFill>
                            <a:srgbClr val="FFFFFF"/>
                          </a:solidFill>
                        </a:rPr>
                        <a:t>Concept</a:t>
                      </a:r>
                    </a:p>
                  </a:txBody>
                  <a:tcPr anchor="ctr" marL="73152" marR="54864" marT="27432" marB="27432">
                    <a:solidFill>
                      <a:srgbClr val="0C2B4A"/>
                    </a:solidFill>
                  </a:tcPr>
                </a:tc>
                <a:tc>
                  <a:txBody>
                    <a:bodyPr wrap="square"/>
                    <a:lstStyle/>
                    <a:p>
                      <a:r>
                        <a:rPr sz="1300" b="1">
                          <a:solidFill>
                            <a:srgbClr val="FFFFFF"/>
                          </a:solidFill>
                        </a:rPr>
                        <a:t>Main focus</a:t>
                      </a:r>
                    </a:p>
                  </a:txBody>
                  <a:tcPr anchor="ctr" marL="73152" marR="54864" marT="27432" marB="27432">
                    <a:solidFill>
                      <a:srgbClr val="0C2B4A"/>
                    </a:solidFill>
                  </a:tcPr>
                </a:tc>
                <a:tc>
                  <a:txBody>
                    <a:bodyPr wrap="square"/>
                    <a:lstStyle/>
                    <a:p>
                      <a:r>
                        <a:rPr sz="1300" b="1">
                          <a:solidFill>
                            <a:srgbClr val="FFFFFF"/>
                          </a:solidFill>
                        </a:rPr>
                        <a:t>Example question it answers</a:t>
                      </a:r>
                    </a:p>
                  </a:txBody>
                  <a:tcPr anchor="ctr" marL="73152" marR="54864" marT="27432" marB="27432">
                    <a:solidFill>
                      <a:srgbClr val="0C2B4A"/>
                    </a:solidFill>
                  </a:tcPr>
                </a:tc>
              </a:tr>
              <a:tr h="956462">
                <a:tc>
                  <a:txBody>
                    <a:bodyPr wrap="square"/>
                    <a:lstStyle/>
                    <a:p>
                      <a:r>
                        <a:rPr sz="1250" b="1">
                          <a:solidFill>
                            <a:srgbClr val="0C2B4A"/>
                          </a:solidFill>
                        </a:rPr>
                        <a:t>Ethics</a:t>
                      </a:r>
                    </a:p>
                  </a:txBody>
                  <a:tcPr anchor="ctr" marL="73152" marR="54864" marT="27432" marB="27432">
                    <a:solidFill>
                      <a:srgbClr val="FFFFFF"/>
                    </a:solidFill>
                  </a:tcPr>
                </a:tc>
                <a:tc>
                  <a:txBody>
                    <a:bodyPr wrap="square"/>
                    <a:lstStyle/>
                    <a:p>
                      <a:r>
                        <a:rPr sz="1250">
                          <a:solidFill>
                            <a:srgbClr val="1A1A1A"/>
                          </a:solidFill>
                        </a:rPr>
                        <a:t>What should members of this profession/group do?</a:t>
                      </a:r>
                    </a:p>
                  </a:txBody>
                  <a:tcPr anchor="ctr" marL="73152" marR="54864" marT="27432" marB="27432">
                    <a:solidFill>
                      <a:srgbClr val="FFFFFF"/>
                    </a:solidFill>
                  </a:tcPr>
                </a:tc>
                <a:tc>
                  <a:txBody>
                    <a:bodyPr wrap="square"/>
                    <a:lstStyle/>
                    <a:p>
                      <a:r>
                        <a:rPr sz="1250">
                          <a:solidFill>
                            <a:srgbClr val="1A1A1A"/>
                          </a:solidFill>
                        </a:rPr>
                        <a:t>Is this professionally acceptable?</a:t>
                      </a:r>
                    </a:p>
                  </a:txBody>
                  <a:tcPr anchor="ctr" marL="73152" marR="54864" marT="27432" marB="27432">
                    <a:solidFill>
                      <a:srgbClr val="FFFFFF"/>
                    </a:solidFill>
                  </a:tcPr>
                </a:tc>
              </a:tr>
              <a:tr h="956462">
                <a:tc>
                  <a:txBody>
                    <a:bodyPr wrap="square"/>
                    <a:lstStyle/>
                    <a:p>
                      <a:r>
                        <a:rPr sz="1250" b="1">
                          <a:solidFill>
                            <a:srgbClr val="0C2B4A"/>
                          </a:solidFill>
                        </a:rPr>
                        <a:t>Morals</a:t>
                      </a:r>
                    </a:p>
                  </a:txBody>
                  <a:tcPr anchor="ctr" marL="73152" marR="54864" marT="27432" marB="27432">
                    <a:solidFill>
                      <a:srgbClr val="EEF3F8"/>
                    </a:solidFill>
                  </a:tcPr>
                </a:tc>
                <a:tc>
                  <a:txBody>
                    <a:bodyPr wrap="square"/>
                    <a:lstStyle/>
                    <a:p>
                      <a:r>
                        <a:rPr sz="1250">
                          <a:solidFill>
                            <a:srgbClr val="1A1A1A"/>
                          </a:solidFill>
                        </a:rPr>
                        <a:t>What do I personally believe is right or wrong?</a:t>
                      </a:r>
                    </a:p>
                  </a:txBody>
                  <a:tcPr anchor="ctr" marL="73152" marR="54864" marT="27432" marB="27432">
                    <a:solidFill>
                      <a:srgbClr val="EEF3F8"/>
                    </a:solidFill>
                  </a:tcPr>
                </a:tc>
                <a:tc>
                  <a:txBody>
                    <a:bodyPr wrap="square"/>
                    <a:lstStyle/>
                    <a:p>
                      <a:r>
                        <a:rPr sz="1250">
                          <a:solidFill>
                            <a:srgbClr val="1A1A1A"/>
                          </a:solidFill>
                        </a:rPr>
                        <a:t>Does this align with my values?</a:t>
                      </a:r>
                    </a:p>
                  </a:txBody>
                  <a:tcPr anchor="ctr" marL="73152" marR="54864" marT="27432" marB="27432">
                    <a:solidFill>
                      <a:srgbClr val="EEF3F8"/>
                    </a:solidFill>
                  </a:tcPr>
                </a:tc>
              </a:tr>
              <a:tr h="956462">
                <a:tc>
                  <a:txBody>
                    <a:bodyPr wrap="square"/>
                    <a:lstStyle/>
                    <a:p>
                      <a:r>
                        <a:rPr sz="1250" b="1">
                          <a:solidFill>
                            <a:srgbClr val="0C2B4A"/>
                          </a:solidFill>
                        </a:rPr>
                        <a:t>Law</a:t>
                      </a:r>
                    </a:p>
                  </a:txBody>
                  <a:tcPr anchor="ctr" marL="73152" marR="54864" marT="27432" marB="27432">
                    <a:solidFill>
                      <a:srgbClr val="FFFFFF"/>
                    </a:solidFill>
                  </a:tcPr>
                </a:tc>
                <a:tc>
                  <a:txBody>
                    <a:bodyPr wrap="square"/>
                    <a:lstStyle/>
                    <a:p>
                      <a:r>
                        <a:rPr sz="1250">
                          <a:solidFill>
                            <a:srgbClr val="1A1A1A"/>
                          </a:solidFill>
                        </a:rPr>
                        <a:t>What does the government require or prohibit?</a:t>
                      </a:r>
                    </a:p>
                  </a:txBody>
                  <a:tcPr anchor="ctr" marL="73152" marR="54864" marT="27432" marB="27432">
                    <a:solidFill>
                      <a:srgbClr val="FFFFFF"/>
                    </a:solidFill>
                  </a:tcPr>
                </a:tc>
                <a:tc>
                  <a:txBody>
                    <a:bodyPr wrap="square"/>
                    <a:lstStyle/>
                    <a:p>
                      <a:r>
                        <a:rPr sz="1250">
                          <a:solidFill>
                            <a:srgbClr val="1A1A1A"/>
                          </a:solidFill>
                        </a:rPr>
                        <a:t>Is this legal?</a:t>
                      </a:r>
                    </a:p>
                  </a:txBody>
                  <a:tcPr anchor="ctr" marL="73152" marR="54864" marT="27432" marB="27432">
                    <a:solidFill>
                      <a:srgbClr val="FFFFFF"/>
                    </a:solidFill>
                  </a:tcPr>
                </a:tc>
              </a:tr>
              <a:tr h="956464">
                <a:tc>
                  <a:txBody>
                    <a:bodyPr wrap="square"/>
                    <a:lstStyle/>
                    <a:p>
                      <a:r>
                        <a:rPr sz="1250" b="1">
                          <a:solidFill>
                            <a:srgbClr val="0C2B4A"/>
                          </a:solidFill>
                        </a:rPr>
                        <a:t>Etiquette</a:t>
                      </a:r>
                    </a:p>
                  </a:txBody>
                  <a:tcPr anchor="ctr" marL="73152" marR="54864" marT="27432" marB="27432">
                    <a:solidFill>
                      <a:srgbClr val="EEF3F8"/>
                    </a:solidFill>
                  </a:tcPr>
                </a:tc>
                <a:tc>
                  <a:txBody>
                    <a:bodyPr wrap="square"/>
                    <a:lstStyle/>
                    <a:p>
                      <a:r>
                        <a:rPr sz="1250">
                          <a:solidFill>
                            <a:srgbClr val="1A1A1A"/>
                          </a:solidFill>
                        </a:rPr>
                        <a:t>What is considered polite and socially appropriate?</a:t>
                      </a:r>
                    </a:p>
                  </a:txBody>
                  <a:tcPr anchor="ctr" marL="73152" marR="54864" marT="27432" marB="27432">
                    <a:solidFill>
                      <a:srgbClr val="EEF3F8"/>
                    </a:solidFill>
                  </a:tcPr>
                </a:tc>
                <a:tc>
                  <a:txBody>
                    <a:bodyPr wrap="square"/>
                    <a:lstStyle/>
                    <a:p>
                      <a:r>
                        <a:rPr sz="1250">
                          <a:solidFill>
                            <a:srgbClr val="1A1A1A"/>
                          </a:solidFill>
                        </a:rPr>
                        <a:t>Is this good manners?</a:t>
                      </a:r>
                    </a:p>
                  </a:txBody>
                  <a:tcPr anchor="ctr" marL="73152" marR="54864" marT="27432" marB="27432">
                    <a:solidFill>
                      <a:srgbClr val="EEF3F8"/>
                    </a:solidFill>
                  </a:tcPr>
                </a:tc>
              </a:tr>
            </a:tbl>
          </a:graphicData>
        </a:graphic>
      </p:graphicFrame>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101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Ethics in the Business World</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Business ethics = applying ethical standards to commercial conduct. Business is special because it serves MANY stakeholders at once (customers, staff, society, owners) whose interests conflict — so the central tension is short-term profit vs long-term trust.</a:t>
            </a:r>
          </a:p>
          <a:p>
            <a:pPr>
              <a:spcAft>
                <a:spcPts val="500"/>
              </a:spcAft>
            </a:pPr>
            <a:r>
              <a:rPr sz="1200" b="1">
                <a:solidFill>
                  <a:srgbClr val="185FA5"/>
                </a:solidFill>
              </a:rPr>
              <a:t>HOW IT WORKS</a:t>
            </a:r>
          </a:p>
          <a:p>
            <a:pPr>
              <a:spcAft>
                <a:spcPts val="600"/>
              </a:spcAft>
            </a:pPr>
            <a:r>
              <a:rPr sz="1400">
                <a:solidFill>
                  <a:srgbClr val="1A1A1A"/>
                </a:solidFill>
              </a:rPr>
              <a:t>•  Customers can't verify most claims (does the medicine work? is my data safe?) → business runs on TRUST.</a:t>
            </a:r>
          </a:p>
          <a:p>
            <a:pPr>
              <a:spcAft>
                <a:spcPts val="600"/>
              </a:spcAft>
            </a:pPr>
            <a:r>
              <a:rPr sz="1400">
                <a:solidFill>
                  <a:srgbClr val="1A1A1A"/>
                </a:solidFill>
              </a:rPr>
              <a:t>•  Trust is slow to build, instant to lose — unethical shortcuts spend a years-long reserve.</a:t>
            </a:r>
          </a:p>
          <a:p>
            <a:pPr>
              <a:spcAft>
                <a:spcPts val="600"/>
              </a:spcAft>
            </a:pPr>
            <a:r>
              <a:rPr sz="1400">
                <a:solidFill>
                  <a:srgbClr val="1A1A1A"/>
                </a:solidFill>
              </a:rPr>
              <a:t>•  Nepal: in a festival shortage, Shop A triples prices (wins today); Shop B holds (longer queue every Dashain after).</a:t>
            </a:r>
          </a:p>
          <a:p>
            <a:pPr>
              <a:spcAft>
                <a:spcPts val="600"/>
              </a:spcAft>
            </a:pPr>
            <a:r>
              <a:rPr sz="1400">
                <a:solidFill>
                  <a:srgbClr val="1A1A1A"/>
                </a:solidFill>
              </a:rPr>
              <a:t>•  Good ethics is often good business — just on a longer clock.</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Profit is quarterly; trust compounds for years.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20 / 101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 business serves many stakeholders — who wants what</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3048000"/>
                <a:gridCol w="8382000"/>
              </a:tblGrid>
              <a:tr h="630936">
                <a:tc>
                  <a:txBody>
                    <a:bodyPr wrap="square"/>
                    <a:lstStyle/>
                    <a:p>
                      <a:r>
                        <a:rPr sz="1350" b="1">
                          <a:solidFill>
                            <a:srgbClr val="FFFFFF"/>
                          </a:solidFill>
                        </a:rPr>
                        <a:t>Stakeholder</a:t>
                      </a:r>
                    </a:p>
                  </a:txBody>
                  <a:tcPr anchor="ctr" marL="73152" marR="54864" marT="27432" marB="27432">
                    <a:solidFill>
                      <a:srgbClr val="0C2B4A"/>
                    </a:solidFill>
                  </a:tcPr>
                </a:tc>
                <a:tc>
                  <a:txBody>
                    <a:bodyPr wrap="square"/>
                    <a:lstStyle/>
                    <a:p>
                      <a:r>
                        <a:rPr sz="1350" b="1">
                          <a:solidFill>
                            <a:srgbClr val="FFFFFF"/>
                          </a:solidFill>
                        </a:rPr>
                        <a:t>What they want from the business</a:t>
                      </a:r>
                    </a:p>
                  </a:txBody>
                  <a:tcPr anchor="ctr" marL="73152" marR="54864" marT="27432" marB="27432">
                    <a:solidFill>
                      <a:srgbClr val="0C2B4A"/>
                    </a:solidFill>
                  </a:tcPr>
                </a:tc>
              </a:tr>
              <a:tr h="630936">
                <a:tc>
                  <a:txBody>
                    <a:bodyPr wrap="square"/>
                    <a:lstStyle/>
                    <a:p>
                      <a:r>
                        <a:rPr sz="1300" b="1">
                          <a:solidFill>
                            <a:srgbClr val="0C2B4A"/>
                          </a:solidFill>
                        </a:rPr>
                        <a:t>Customers</a:t>
                      </a:r>
                    </a:p>
                  </a:txBody>
                  <a:tcPr anchor="ctr" marL="73152" marR="54864" marT="27432" marB="27432">
                    <a:solidFill>
                      <a:srgbClr val="FFFFFF"/>
                    </a:solidFill>
                  </a:tcPr>
                </a:tc>
                <a:tc>
                  <a:txBody>
                    <a:bodyPr wrap="square"/>
                    <a:lstStyle/>
                    <a:p>
                      <a:r>
                        <a:rPr sz="1300">
                          <a:solidFill>
                            <a:srgbClr val="1A1A1A"/>
                          </a:solidFill>
                        </a:rPr>
                        <a:t>Quality products, fair prices, safety, honesty</a:t>
                      </a:r>
                    </a:p>
                  </a:txBody>
                  <a:tcPr anchor="ctr" marL="73152" marR="54864" marT="27432" marB="27432">
                    <a:solidFill>
                      <a:srgbClr val="FFFFFF"/>
                    </a:solidFill>
                  </a:tcPr>
                </a:tc>
              </a:tr>
              <a:tr h="630936">
                <a:tc>
                  <a:txBody>
                    <a:bodyPr wrap="square"/>
                    <a:lstStyle/>
                    <a:p>
                      <a:r>
                        <a:rPr sz="1300" b="1">
                          <a:solidFill>
                            <a:srgbClr val="0C2B4A"/>
                          </a:solidFill>
                        </a:rPr>
                        <a:t>Employees</a:t>
                      </a:r>
                    </a:p>
                  </a:txBody>
                  <a:tcPr anchor="ctr" marL="73152" marR="54864" marT="27432" marB="27432">
                    <a:solidFill>
                      <a:srgbClr val="EEF3F8"/>
                    </a:solidFill>
                  </a:tcPr>
                </a:tc>
                <a:tc>
                  <a:txBody>
                    <a:bodyPr wrap="square"/>
                    <a:lstStyle/>
                    <a:p>
                      <a:r>
                        <a:rPr sz="1300">
                          <a:solidFill>
                            <a:srgbClr val="1A1A1A"/>
                          </a:solidFill>
                        </a:rPr>
                        <a:t>Fair wages, safe working conditions, respect</a:t>
                      </a:r>
                    </a:p>
                  </a:txBody>
                  <a:tcPr anchor="ctr" marL="73152" marR="54864" marT="27432" marB="27432">
                    <a:solidFill>
                      <a:srgbClr val="EEF3F8"/>
                    </a:solidFill>
                  </a:tcPr>
                </a:tc>
              </a:tr>
              <a:tr h="630936">
                <a:tc>
                  <a:txBody>
                    <a:bodyPr wrap="square"/>
                    <a:lstStyle/>
                    <a:p>
                      <a:r>
                        <a:rPr sz="1300" b="1">
                          <a:solidFill>
                            <a:srgbClr val="0C2B4A"/>
                          </a:solidFill>
                        </a:rPr>
                        <a:t>Owners / shareholders</a:t>
                      </a:r>
                    </a:p>
                  </a:txBody>
                  <a:tcPr anchor="ctr" marL="73152" marR="54864" marT="27432" marB="27432">
                    <a:solidFill>
                      <a:srgbClr val="FFFFFF"/>
                    </a:solidFill>
                  </a:tcPr>
                </a:tc>
                <a:tc>
                  <a:txBody>
                    <a:bodyPr wrap="square"/>
                    <a:lstStyle/>
                    <a:p>
                      <a:r>
                        <a:rPr sz="1300">
                          <a:solidFill>
                            <a:srgbClr val="1A1A1A"/>
                          </a:solidFill>
                        </a:rPr>
                        <a:t>Profit, business growth, return on investment</a:t>
                      </a:r>
                    </a:p>
                  </a:txBody>
                  <a:tcPr anchor="ctr" marL="73152" marR="54864" marT="27432" marB="27432">
                    <a:solidFill>
                      <a:srgbClr val="FFFFFF"/>
                    </a:solidFill>
                  </a:tcPr>
                </a:tc>
              </a:tr>
              <a:tr h="630936">
                <a:tc>
                  <a:txBody>
                    <a:bodyPr wrap="square"/>
                    <a:lstStyle/>
                    <a:p>
                      <a:r>
                        <a:rPr sz="1300" b="1">
                          <a:solidFill>
                            <a:srgbClr val="0C2B4A"/>
                          </a:solidFill>
                        </a:rPr>
                        <a:t>Suppliers</a:t>
                      </a:r>
                    </a:p>
                  </a:txBody>
                  <a:tcPr anchor="ctr" marL="73152" marR="54864" marT="27432" marB="27432">
                    <a:solidFill>
                      <a:srgbClr val="EEF3F8"/>
                    </a:solidFill>
                  </a:tcPr>
                </a:tc>
                <a:tc>
                  <a:txBody>
                    <a:bodyPr wrap="square"/>
                    <a:lstStyle/>
                    <a:p>
                      <a:r>
                        <a:rPr sz="1300">
                          <a:solidFill>
                            <a:srgbClr val="1A1A1A"/>
                          </a:solidFill>
                        </a:rPr>
                        <a:t>Fair contracts and timely payments</a:t>
                      </a:r>
                    </a:p>
                  </a:txBody>
                  <a:tcPr anchor="ctr" marL="73152" marR="54864" marT="27432" marB="27432">
                    <a:solidFill>
                      <a:srgbClr val="EEF3F8"/>
                    </a:solidFill>
                  </a:tcPr>
                </a:tc>
              </a:tr>
              <a:tr h="630936">
                <a:tc>
                  <a:txBody>
                    <a:bodyPr wrap="square"/>
                    <a:lstStyle/>
                    <a:p>
                      <a:r>
                        <a:rPr sz="1300" b="1">
                          <a:solidFill>
                            <a:srgbClr val="0C2B4A"/>
                          </a:solidFill>
                        </a:rPr>
                        <a:t>Government</a:t>
                      </a:r>
                    </a:p>
                  </a:txBody>
                  <a:tcPr anchor="ctr" marL="73152" marR="54864" marT="27432" marB="27432">
                    <a:solidFill>
                      <a:srgbClr val="FFFFFF"/>
                    </a:solidFill>
                  </a:tcPr>
                </a:tc>
                <a:tc>
                  <a:txBody>
                    <a:bodyPr wrap="square"/>
                    <a:lstStyle/>
                    <a:p>
                      <a:r>
                        <a:rPr sz="1300">
                          <a:solidFill>
                            <a:srgbClr val="1A1A1A"/>
                          </a:solidFill>
                        </a:rPr>
                        <a:t>Compliance with laws and payment of taxes</a:t>
                      </a:r>
                    </a:p>
                  </a:txBody>
                  <a:tcPr anchor="ctr" marL="73152" marR="54864" marT="27432" marB="27432">
                    <a:solidFill>
                      <a:srgbClr val="FFFFFF"/>
                    </a:solidFill>
                  </a:tcPr>
                </a:tc>
              </a:tr>
              <a:tr h="630936">
                <a:tc>
                  <a:txBody>
                    <a:bodyPr wrap="square"/>
                    <a:lstStyle/>
                    <a:p>
                      <a:r>
                        <a:rPr sz="1300" b="1">
                          <a:solidFill>
                            <a:srgbClr val="0C2B4A"/>
                          </a:solidFill>
                        </a:rPr>
                        <a:t>Society &amp; community</a:t>
                      </a:r>
                    </a:p>
                  </a:txBody>
                  <a:tcPr anchor="ctr" marL="73152" marR="54864" marT="27432" marB="27432">
                    <a:solidFill>
                      <a:srgbClr val="EEF3F8"/>
                    </a:solidFill>
                  </a:tcPr>
                </a:tc>
                <a:tc>
                  <a:txBody>
                    <a:bodyPr wrap="square"/>
                    <a:lstStyle/>
                    <a:p>
                      <a:r>
                        <a:rPr sz="1300">
                          <a:solidFill>
                            <a:srgbClr val="1A1A1A"/>
                          </a:solidFill>
                        </a:rPr>
                        <a:t>Environmental responsibility, ethical behaviour, contribution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These wants conflict — maximising this quarter's profit can harm customers or staff. Business ethics is managing that conflict.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101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central tension: short-term profit vs long-term trust</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5715000"/>
                <a:gridCol w="5715000"/>
              </a:tblGrid>
              <a:tr h="1104138">
                <a:tc>
                  <a:txBody>
                    <a:bodyPr wrap="square"/>
                    <a:lstStyle/>
                    <a:p>
                      <a:r>
                        <a:rPr sz="1400" b="1">
                          <a:solidFill>
                            <a:srgbClr val="FFFFFF"/>
                          </a:solidFill>
                        </a:rPr>
                        <a:t>Short-term profit</a:t>
                      </a:r>
                    </a:p>
                  </a:txBody>
                  <a:tcPr anchor="ctr" marL="73152" marR="54864" marT="27432" marB="27432">
                    <a:solidFill>
                      <a:srgbClr val="0C2B4A"/>
                    </a:solidFill>
                  </a:tcPr>
                </a:tc>
                <a:tc>
                  <a:txBody>
                    <a:bodyPr wrap="square"/>
                    <a:lstStyle/>
                    <a:p>
                      <a:r>
                        <a:rPr sz="1400" b="1">
                          <a:solidFill>
                            <a:srgbClr val="FFFFFF"/>
                          </a:solidFill>
                        </a:rPr>
                        <a:t>Long-term trust</a:t>
                      </a:r>
                    </a:p>
                  </a:txBody>
                  <a:tcPr anchor="ctr" marL="73152" marR="54864" marT="27432" marB="27432">
                    <a:solidFill>
                      <a:srgbClr val="0C2B4A"/>
                    </a:solidFill>
                  </a:tcPr>
                </a:tc>
              </a:tr>
              <a:tr h="1104138">
                <a:tc>
                  <a:txBody>
                    <a:bodyPr wrap="square"/>
                    <a:lstStyle/>
                    <a:p>
                      <a:r>
                        <a:rPr sz="1350" b="1">
                          <a:solidFill>
                            <a:srgbClr val="0C2B4A"/>
                          </a:solidFill>
                        </a:rPr>
                        <a:t>Increase revenue quickly</a:t>
                      </a:r>
                    </a:p>
                  </a:txBody>
                  <a:tcPr anchor="ctr" marL="73152" marR="54864" marT="27432" marB="27432">
                    <a:solidFill>
                      <a:srgbClr val="FFFFFF"/>
                    </a:solidFill>
                  </a:tcPr>
                </a:tc>
                <a:tc>
                  <a:txBody>
                    <a:bodyPr wrap="square"/>
                    <a:lstStyle/>
                    <a:p>
                      <a:r>
                        <a:rPr sz="1350">
                          <a:solidFill>
                            <a:srgbClr val="1A1A1A"/>
                          </a:solidFill>
                        </a:rPr>
                        <a:t>Build lasting customer relationships</a:t>
                      </a:r>
                    </a:p>
                  </a:txBody>
                  <a:tcPr anchor="ctr" marL="73152" marR="54864" marT="27432" marB="27432">
                    <a:solidFill>
                      <a:srgbClr val="FFFFFF"/>
                    </a:solidFill>
                  </a:tcPr>
                </a:tc>
              </a:tr>
              <a:tr h="1104138">
                <a:tc>
                  <a:txBody>
                    <a:bodyPr wrap="square"/>
                    <a:lstStyle/>
                    <a:p>
                      <a:r>
                        <a:rPr sz="1350" b="1">
                          <a:solidFill>
                            <a:srgbClr val="0C2B4A"/>
                          </a:solidFill>
                        </a:rPr>
                        <a:t>Maximise immediate gains</a:t>
                      </a:r>
                    </a:p>
                  </a:txBody>
                  <a:tcPr anchor="ctr" marL="73152" marR="54864" marT="27432" marB="27432">
                    <a:solidFill>
                      <a:srgbClr val="EEF3F8"/>
                    </a:solidFill>
                  </a:tcPr>
                </a:tc>
                <a:tc>
                  <a:txBody>
                    <a:bodyPr wrap="square"/>
                    <a:lstStyle/>
                    <a:p>
                      <a:r>
                        <a:rPr sz="1350">
                          <a:solidFill>
                            <a:srgbClr val="1A1A1A"/>
                          </a:solidFill>
                        </a:rPr>
                        <a:t>Earn customer loyalty and reputation</a:t>
                      </a:r>
                    </a:p>
                  </a:txBody>
                  <a:tcPr anchor="ctr" marL="73152" marR="54864" marT="27432" marB="27432">
                    <a:solidFill>
                      <a:srgbClr val="EEF3F8"/>
                    </a:solidFill>
                  </a:tcPr>
                </a:tc>
              </a:tr>
              <a:tr h="1104138">
                <a:tc>
                  <a:txBody>
                    <a:bodyPr wrap="square"/>
                    <a:lstStyle/>
                    <a:p>
                      <a:r>
                        <a:rPr sz="1350" b="1">
                          <a:solidFill>
                            <a:srgbClr val="0C2B4A"/>
                          </a:solidFill>
                        </a:rPr>
                        <a:t>May involve ethical shortcuts</a:t>
                      </a:r>
                    </a:p>
                  </a:txBody>
                  <a:tcPr anchor="ctr" marL="73152" marR="54864" marT="27432" marB="27432">
                    <a:solidFill>
                      <a:srgbClr val="FFFFFF"/>
                    </a:solidFill>
                  </a:tcPr>
                </a:tc>
                <a:tc>
                  <a:txBody>
                    <a:bodyPr wrap="square"/>
                    <a:lstStyle/>
                    <a:p>
                      <a:r>
                        <a:rPr sz="1350">
                          <a:solidFill>
                            <a:srgbClr val="1A1A1A"/>
                          </a:solidFill>
                        </a:rPr>
                        <a:t>Requires honesty and fairness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Shop A vs Shop B: the price-gouger wins the festival; the fair shop wins the decade.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101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3 · PAYOFF</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ethics pays — practice → business benefit</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5334000"/>
                <a:gridCol w="6096000"/>
              </a:tblGrid>
              <a:tr h="552069">
                <a:tc>
                  <a:txBody>
                    <a:bodyPr wrap="square"/>
                    <a:lstStyle/>
                    <a:p>
                      <a:r>
                        <a:rPr sz="1350" b="1">
                          <a:solidFill>
                            <a:srgbClr val="FFFFFF"/>
                          </a:solidFill>
                        </a:rPr>
                        <a:t>Ethical practice</a:t>
                      </a:r>
                    </a:p>
                  </a:txBody>
                  <a:tcPr anchor="ctr" marL="73152" marR="54864" marT="27432" marB="27432">
                    <a:solidFill>
                      <a:srgbClr val="0C2B4A"/>
                    </a:solidFill>
                  </a:tcPr>
                </a:tc>
                <a:tc>
                  <a:txBody>
                    <a:bodyPr wrap="square"/>
                    <a:lstStyle/>
                    <a:p>
                      <a:r>
                        <a:rPr sz="1350" b="1">
                          <a:solidFill>
                            <a:srgbClr val="FFFFFF"/>
                          </a:solidFill>
                        </a:rPr>
                        <a:t>Business benefit</a:t>
                      </a:r>
                    </a:p>
                  </a:txBody>
                  <a:tcPr anchor="ctr" marL="73152" marR="54864" marT="27432" marB="27432">
                    <a:solidFill>
                      <a:srgbClr val="0C2B4A"/>
                    </a:solidFill>
                  </a:tcPr>
                </a:tc>
              </a:tr>
              <a:tr h="552069">
                <a:tc>
                  <a:txBody>
                    <a:bodyPr wrap="square"/>
                    <a:lstStyle/>
                    <a:p>
                      <a:r>
                        <a:rPr sz="1300" b="1">
                          <a:solidFill>
                            <a:srgbClr val="0C2B4A"/>
                          </a:solidFill>
                        </a:rPr>
                        <a:t>Honest advertising</a:t>
                      </a:r>
                    </a:p>
                  </a:txBody>
                  <a:tcPr anchor="ctr" marL="73152" marR="54864" marT="27432" marB="27432">
                    <a:solidFill>
                      <a:srgbClr val="FFFFFF"/>
                    </a:solidFill>
                  </a:tcPr>
                </a:tc>
                <a:tc>
                  <a:txBody>
                    <a:bodyPr wrap="square"/>
                    <a:lstStyle/>
                    <a:p>
                      <a:r>
                        <a:rPr sz="1300">
                          <a:solidFill>
                            <a:srgbClr val="1A1A1A"/>
                          </a:solidFill>
                        </a:rPr>
                        <a:t>Builds customer confidence</a:t>
                      </a:r>
                    </a:p>
                  </a:txBody>
                  <a:tcPr anchor="ctr" marL="73152" marR="54864" marT="27432" marB="27432">
                    <a:solidFill>
                      <a:srgbClr val="FFFFFF"/>
                    </a:solidFill>
                  </a:tcPr>
                </a:tc>
              </a:tr>
              <a:tr h="552069">
                <a:tc>
                  <a:txBody>
                    <a:bodyPr wrap="square"/>
                    <a:lstStyle/>
                    <a:p>
                      <a:r>
                        <a:rPr sz="1300" b="1">
                          <a:solidFill>
                            <a:srgbClr val="0C2B4A"/>
                          </a:solidFill>
                        </a:rPr>
                        <a:t>Fair pricing</a:t>
                      </a:r>
                    </a:p>
                  </a:txBody>
                  <a:tcPr anchor="ctr" marL="73152" marR="54864" marT="27432" marB="27432">
                    <a:solidFill>
                      <a:srgbClr val="EEF3F8"/>
                    </a:solidFill>
                  </a:tcPr>
                </a:tc>
                <a:tc>
                  <a:txBody>
                    <a:bodyPr wrap="square"/>
                    <a:lstStyle/>
                    <a:p>
                      <a:r>
                        <a:rPr sz="1300">
                          <a:solidFill>
                            <a:srgbClr val="1A1A1A"/>
                          </a:solidFill>
                        </a:rPr>
                        <a:t>Encourages customer loyalty</a:t>
                      </a:r>
                    </a:p>
                  </a:txBody>
                  <a:tcPr anchor="ctr" marL="73152" marR="54864" marT="27432" marB="27432">
                    <a:solidFill>
                      <a:srgbClr val="EEF3F8"/>
                    </a:solidFill>
                  </a:tcPr>
                </a:tc>
              </a:tr>
              <a:tr h="552069">
                <a:tc>
                  <a:txBody>
                    <a:bodyPr wrap="square"/>
                    <a:lstStyle/>
                    <a:p>
                      <a:r>
                        <a:rPr sz="1300" b="1">
                          <a:solidFill>
                            <a:srgbClr val="0C2B4A"/>
                          </a:solidFill>
                        </a:rPr>
                        <a:t>Paying employees fairly</a:t>
                      </a:r>
                    </a:p>
                  </a:txBody>
                  <a:tcPr anchor="ctr" marL="73152" marR="54864" marT="27432" marB="27432">
                    <a:solidFill>
                      <a:srgbClr val="FFFFFF"/>
                    </a:solidFill>
                  </a:tcPr>
                </a:tc>
                <a:tc>
                  <a:txBody>
                    <a:bodyPr wrap="square"/>
                    <a:lstStyle/>
                    <a:p>
                      <a:r>
                        <a:rPr sz="1300">
                          <a:solidFill>
                            <a:srgbClr val="1A1A1A"/>
                          </a:solidFill>
                        </a:rPr>
                        <a:t>Increases motivation and retention</a:t>
                      </a:r>
                    </a:p>
                  </a:txBody>
                  <a:tcPr anchor="ctr" marL="73152" marR="54864" marT="27432" marB="27432">
                    <a:solidFill>
                      <a:srgbClr val="FFFFFF"/>
                    </a:solidFill>
                  </a:tcPr>
                </a:tc>
              </a:tr>
              <a:tr h="552069">
                <a:tc>
                  <a:txBody>
                    <a:bodyPr wrap="square"/>
                    <a:lstStyle/>
                    <a:p>
                      <a:r>
                        <a:rPr sz="1300" b="1">
                          <a:solidFill>
                            <a:srgbClr val="0C2B4A"/>
                          </a:solidFill>
                        </a:rPr>
                        <a:t>Protecting customer data</a:t>
                      </a:r>
                    </a:p>
                  </a:txBody>
                  <a:tcPr anchor="ctr" marL="73152" marR="54864" marT="27432" marB="27432">
                    <a:solidFill>
                      <a:srgbClr val="EEF3F8"/>
                    </a:solidFill>
                  </a:tcPr>
                </a:tc>
                <a:tc>
                  <a:txBody>
                    <a:bodyPr wrap="square"/>
                    <a:lstStyle/>
                    <a:p>
                      <a:r>
                        <a:rPr sz="1300">
                          <a:solidFill>
                            <a:srgbClr val="1A1A1A"/>
                          </a:solidFill>
                        </a:rPr>
                        <a:t>Strengthens trust and privacy</a:t>
                      </a:r>
                    </a:p>
                  </a:txBody>
                  <a:tcPr anchor="ctr" marL="73152" marR="54864" marT="27432" marB="27432">
                    <a:solidFill>
                      <a:srgbClr val="EEF3F8"/>
                    </a:solidFill>
                  </a:tcPr>
                </a:tc>
              </a:tr>
              <a:tr h="552069">
                <a:tc>
                  <a:txBody>
                    <a:bodyPr wrap="square"/>
                    <a:lstStyle/>
                    <a:p>
                      <a:r>
                        <a:rPr sz="1300" b="1">
                          <a:solidFill>
                            <a:srgbClr val="0C2B4A"/>
                          </a:solidFill>
                        </a:rPr>
                        <a:t>Selling safe, quality products</a:t>
                      </a:r>
                    </a:p>
                  </a:txBody>
                  <a:tcPr anchor="ctr" marL="73152" marR="54864" marT="27432" marB="27432">
                    <a:solidFill>
                      <a:srgbClr val="FFFFFF"/>
                    </a:solidFill>
                  </a:tcPr>
                </a:tc>
                <a:tc>
                  <a:txBody>
                    <a:bodyPr wrap="square"/>
                    <a:lstStyle/>
                    <a:p>
                      <a:r>
                        <a:rPr sz="1300">
                          <a:solidFill>
                            <a:srgbClr val="1A1A1A"/>
                          </a:solidFill>
                        </a:rPr>
                        <a:t>Improves reputation</a:t>
                      </a:r>
                    </a:p>
                  </a:txBody>
                  <a:tcPr anchor="ctr" marL="73152" marR="54864" marT="27432" marB="27432">
                    <a:solidFill>
                      <a:srgbClr val="FFFFFF"/>
                    </a:solidFill>
                  </a:tcPr>
                </a:tc>
              </a:tr>
              <a:tr h="552069">
                <a:tc>
                  <a:txBody>
                    <a:bodyPr wrap="square"/>
                    <a:lstStyle/>
                    <a:p>
                      <a:r>
                        <a:rPr sz="1300" b="1">
                          <a:solidFill>
                            <a:srgbClr val="0C2B4A"/>
                          </a:solidFill>
                        </a:rPr>
                        <a:t>Environmental responsibility</a:t>
                      </a:r>
                    </a:p>
                  </a:txBody>
                  <a:tcPr anchor="ctr" marL="73152" marR="54864" marT="27432" marB="27432">
                    <a:solidFill>
                      <a:srgbClr val="EEF3F8"/>
                    </a:solidFill>
                  </a:tcPr>
                </a:tc>
                <a:tc>
                  <a:txBody>
                    <a:bodyPr wrap="square"/>
                    <a:lstStyle/>
                    <a:p>
                      <a:r>
                        <a:rPr sz="1300">
                          <a:solidFill>
                            <a:srgbClr val="1A1A1A"/>
                          </a:solidFill>
                        </a:rPr>
                        <a:t>Supports sustainable growth</a:t>
                      </a:r>
                    </a:p>
                  </a:txBody>
                  <a:tcPr anchor="ctr" marL="73152" marR="54864" marT="27432" marB="27432">
                    <a:solidFill>
                      <a:srgbClr val="EEF3F8"/>
                    </a:solidFill>
                  </a:tcPr>
                </a:tc>
              </a:tr>
              <a:tr h="552069">
                <a:tc>
                  <a:txBody>
                    <a:bodyPr wrap="square"/>
                    <a:lstStyle/>
                    <a:p>
                      <a:r>
                        <a:rPr sz="1300" b="1">
                          <a:solidFill>
                            <a:srgbClr val="0C2B4A"/>
                          </a:solidFill>
                        </a:rPr>
                        <a:t>Transparent communication</a:t>
                      </a:r>
                    </a:p>
                  </a:txBody>
                  <a:tcPr anchor="ctr" marL="73152" marR="54864" marT="27432" marB="27432">
                    <a:solidFill>
                      <a:srgbClr val="FFFFFF"/>
                    </a:solidFill>
                  </a:tcPr>
                </a:tc>
                <a:tc>
                  <a:txBody>
                    <a:bodyPr wrap="square"/>
                    <a:lstStyle/>
                    <a:p>
                      <a:r>
                        <a:rPr sz="1300">
                          <a:solidFill>
                            <a:srgbClr val="1A1A1A"/>
                          </a:solidFill>
                        </a:rPr>
                        <a:t>Reduces disputes, builds credibility</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Good ethics is not a cost centre — each practice buys a concrete, compounding return.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101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Ethics in the Business World</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trekking agency hides a current route safety risk to keep a booking. The hidden cost lands on the client (safety), the agency (reputation, lawsuits), AND the whole Nepali tourism sector (one accident scares off thousands of future tourists). One shortcut, an industry's loss.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"Ethics slows business down." Ethics is the brakes that let a business move FAST safely — spend the trust reserve on shortcuts and you don't speed, you crash (reputation collapse).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Business ethics applies ethical standards to commercial conduct. Because a business serves conflicting stakeholders, its core tension is short-term profit vs long-term trust; since customers can't verify most claims, business runs on trust, which is slow to build and instant to lose. Ethical conduct is usually good business on a longer horizon.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business ethics · stakeholders · profit vs trust · trust is slow to build, instant to lose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101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Profit vs trust — real Nepali business choices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377045"/>
                <a:gridCol w="2597727"/>
                <a:gridCol w="3766704"/>
                <a:gridCol w="1688522"/>
              </a:tblGrid>
              <a:tr h="552069">
                <a:tc>
                  <a:txBody>
                    <a:bodyPr wrap="square"/>
                    <a:lstStyle/>
                    <a:p>
                      <a:r>
                        <a:rPr sz="1100" b="1">
                          <a:solidFill>
                            <a:srgbClr val="FFFFFF"/>
                          </a:solidFill>
                        </a:rPr>
                        <a:t>Business scenario</a:t>
                      </a:r>
                    </a:p>
                  </a:txBody>
                  <a:tcPr anchor="ctr" marL="73152" marR="54864" marT="27432" marB="27432">
                    <a:solidFill>
                      <a:srgbClr val="0C2B4A"/>
                    </a:solidFill>
                  </a:tcPr>
                </a:tc>
                <a:tc>
                  <a:txBody>
                    <a:bodyPr wrap="square"/>
                    <a:lstStyle/>
                    <a:p>
                      <a:r>
                        <a:rPr sz="1100" b="1">
                          <a:solidFill>
                            <a:srgbClr val="FFFFFF"/>
                          </a:solidFill>
                        </a:rPr>
                        <a:t>Short-term profit move</a:t>
                      </a:r>
                    </a:p>
                  </a:txBody>
                  <a:tcPr anchor="ctr" marL="73152" marR="54864" marT="27432" marB="27432">
                    <a:solidFill>
                      <a:srgbClr val="0C2B4A"/>
                    </a:solidFill>
                  </a:tcPr>
                </a:tc>
                <a:tc>
                  <a:txBody>
                    <a:bodyPr wrap="square"/>
                    <a:lstStyle/>
                    <a:p>
                      <a:r>
                        <a:rPr sz="1100" b="1">
                          <a:solidFill>
                            <a:srgbClr val="FFFFFF"/>
                          </a:solidFill>
                        </a:rPr>
                        <a:t>Long-term trust cost</a:t>
                      </a:r>
                    </a:p>
                  </a:txBody>
                  <a:tcPr anchor="ctr" marL="73152" marR="54864" marT="27432" marB="27432">
                    <a:solidFill>
                      <a:srgbClr val="0C2B4A"/>
                    </a:solidFill>
                  </a:tcPr>
                </a:tc>
                <a:tc>
                  <a:txBody>
                    <a:bodyPr wrap="square"/>
                    <a:lstStyle/>
                    <a:p>
                      <a:r>
                        <a:rPr sz="1100" b="1">
                          <a:solidFill>
                            <a:srgbClr val="FFFFFF"/>
                          </a:solidFill>
                        </a:rPr>
                        <a:t>Verdict</a:t>
                      </a:r>
                    </a:p>
                  </a:txBody>
                  <a:tcPr anchor="ctr" marL="73152" marR="54864" marT="27432" marB="27432">
                    <a:solidFill>
                      <a:srgbClr val="0C2B4A"/>
                    </a:solidFill>
                  </a:tcPr>
                </a:tc>
              </a:tr>
              <a:tr h="552069">
                <a:tc>
                  <a:txBody>
                    <a:bodyPr wrap="square"/>
                    <a:lstStyle/>
                    <a:p>
                      <a:r>
                        <a:rPr sz="1050" b="1">
                          <a:solidFill>
                            <a:srgbClr val="0C2B4A"/>
                          </a:solidFill>
                        </a:rPr>
                        <a:t>Festival shop triples oil/sugar price in a Dashain shortage</a:t>
                      </a:r>
                    </a:p>
                  </a:txBody>
                  <a:tcPr anchor="ctr" marL="73152" marR="54864" marT="27432" marB="27432">
                    <a:solidFill>
                      <a:srgbClr val="FFFFFF"/>
                    </a:solidFill>
                  </a:tcPr>
                </a:tc>
                <a:tc>
                  <a:txBody>
                    <a:bodyPr wrap="square"/>
                    <a:lstStyle/>
                    <a:p>
                      <a:r>
                        <a:rPr sz="1050">
                          <a:solidFill>
                            <a:srgbClr val="1A1A1A"/>
                          </a:solidFill>
                        </a:rPr>
                        <a:t>One-time fat margin</a:t>
                      </a:r>
                    </a:p>
                  </a:txBody>
                  <a:tcPr anchor="ctr" marL="73152" marR="54864" marT="27432" marB="27432">
                    <a:solidFill>
                      <a:srgbClr val="FFFFFF"/>
                    </a:solidFill>
                  </a:tcPr>
                </a:tc>
                <a:tc>
                  <a:txBody>
                    <a:bodyPr wrap="square"/>
                    <a:lstStyle/>
                    <a:p>
                      <a:r>
                        <a:rPr sz="1050">
                          <a:solidFill>
                            <a:srgbClr val="1A1A1A"/>
                          </a:solidFill>
                        </a:rPr>
                        <a:t>Customers desert it every Dashain after</a:t>
                      </a:r>
                    </a:p>
                  </a:txBody>
                  <a:tcPr anchor="ctr" marL="73152" marR="54864" marT="27432" marB="27432">
                    <a:solidFill>
                      <a:srgbClr val="FFFFFF"/>
                    </a:solidFill>
                  </a:tcPr>
                </a:tc>
                <a:tc>
                  <a:txBody>
                    <a:bodyPr wrap="square"/>
                    <a:lstStyle/>
                    <a:p>
                      <a:r>
                        <a:rPr sz="1050">
                          <a:solidFill>
                            <a:srgbClr val="1A1A1A"/>
                          </a:solidFill>
                        </a:rPr>
                        <a:t>Trust lost</a:t>
                      </a:r>
                    </a:p>
                  </a:txBody>
                  <a:tcPr anchor="ctr" marL="73152" marR="54864" marT="27432" marB="27432">
                    <a:solidFill>
                      <a:srgbClr val="FFFFFF"/>
                    </a:solidFill>
                  </a:tcPr>
                </a:tc>
              </a:tr>
              <a:tr h="552069">
                <a:tc>
                  <a:txBody>
                    <a:bodyPr wrap="square"/>
                    <a:lstStyle/>
                    <a:p>
                      <a:r>
                        <a:rPr sz="1050" b="1">
                          <a:solidFill>
                            <a:srgbClr val="0C2B4A"/>
                          </a:solidFill>
                        </a:rPr>
                        <a:t>Trekking agency hides a route safety risk to keep a booking</a:t>
                      </a:r>
                    </a:p>
                  </a:txBody>
                  <a:tcPr anchor="ctr" marL="73152" marR="54864" marT="27432" marB="27432">
                    <a:solidFill>
                      <a:srgbClr val="EEF3F8"/>
                    </a:solidFill>
                  </a:tcPr>
                </a:tc>
                <a:tc>
                  <a:txBody>
                    <a:bodyPr wrap="square"/>
                    <a:lstStyle/>
                    <a:p>
                      <a:r>
                        <a:rPr sz="1050">
                          <a:solidFill>
                            <a:srgbClr val="1A1A1A"/>
                          </a:solidFill>
                        </a:rPr>
                        <a:t>Keeps one deposit</a:t>
                      </a:r>
                    </a:p>
                  </a:txBody>
                  <a:tcPr anchor="ctr" marL="73152" marR="54864" marT="27432" marB="27432">
                    <a:solidFill>
                      <a:srgbClr val="EEF3F8"/>
                    </a:solidFill>
                  </a:tcPr>
                </a:tc>
                <a:tc>
                  <a:txBody>
                    <a:bodyPr wrap="square"/>
                    <a:lstStyle/>
                    <a:p>
                      <a:r>
                        <a:rPr sz="1050">
                          <a:solidFill>
                            <a:srgbClr val="1A1A1A"/>
                          </a:solidFill>
                        </a:rPr>
                        <a:t>Client harmed; lawsuits; scares off future tourists</a:t>
                      </a:r>
                    </a:p>
                  </a:txBody>
                  <a:tcPr anchor="ctr" marL="73152" marR="54864" marT="27432" marB="27432">
                    <a:solidFill>
                      <a:srgbClr val="EEF3F8"/>
                    </a:solidFill>
                  </a:tcPr>
                </a:tc>
                <a:tc>
                  <a:txBody>
                    <a:bodyPr wrap="square"/>
                    <a:lstStyle/>
                    <a:p>
                      <a:r>
                        <a:rPr sz="1050">
                          <a:solidFill>
                            <a:srgbClr val="1A1A1A"/>
                          </a:solidFill>
                        </a:rPr>
                        <a:t>Sector loses</a:t>
                      </a:r>
                    </a:p>
                  </a:txBody>
                  <a:tcPr anchor="ctr" marL="73152" marR="54864" marT="27432" marB="27432">
                    <a:solidFill>
                      <a:srgbClr val="EEF3F8"/>
                    </a:solidFill>
                  </a:tcPr>
                </a:tc>
              </a:tr>
              <a:tr h="552069">
                <a:tc>
                  <a:txBody>
                    <a:bodyPr wrap="square"/>
                    <a:lstStyle/>
                    <a:p>
                      <a:r>
                        <a:rPr sz="1050" b="1">
                          <a:solidFill>
                            <a:srgbClr val="0C2B4A"/>
                          </a:solidFill>
                        </a:rPr>
                        <a:t>A wallet (eSewa/Khalti-style) quietly reuses data for ads</a:t>
                      </a:r>
                    </a:p>
                  </a:txBody>
                  <a:tcPr anchor="ctr" marL="73152" marR="54864" marT="27432" marB="27432">
                    <a:solidFill>
                      <a:srgbClr val="FFFFFF"/>
                    </a:solidFill>
                  </a:tcPr>
                </a:tc>
                <a:tc>
                  <a:txBody>
                    <a:bodyPr wrap="square"/>
                    <a:lstStyle/>
                    <a:p>
                      <a:r>
                        <a:rPr sz="1050">
                          <a:solidFill>
                            <a:srgbClr val="1A1A1A"/>
                          </a:solidFill>
                        </a:rPr>
                        <a:t>Extra ad revenue</a:t>
                      </a:r>
                    </a:p>
                  </a:txBody>
                  <a:tcPr anchor="ctr" marL="73152" marR="54864" marT="27432" marB="27432">
                    <a:solidFill>
                      <a:srgbClr val="FFFFFF"/>
                    </a:solidFill>
                  </a:tcPr>
                </a:tc>
                <a:tc>
                  <a:txBody>
                    <a:bodyPr wrap="square"/>
                    <a:lstStyle/>
                    <a:p>
                      <a:r>
                        <a:rPr sz="1050">
                          <a:solidFill>
                            <a:srgbClr val="1A1A1A"/>
                          </a:solidFill>
                        </a:rPr>
                        <a:t>Users switch wallets once they find out</a:t>
                      </a:r>
                    </a:p>
                  </a:txBody>
                  <a:tcPr anchor="ctr" marL="73152" marR="54864" marT="27432" marB="27432">
                    <a:solidFill>
                      <a:srgbClr val="FFFFFF"/>
                    </a:solidFill>
                  </a:tcPr>
                </a:tc>
                <a:tc>
                  <a:txBody>
                    <a:bodyPr wrap="square"/>
                    <a:lstStyle/>
                    <a:p>
                      <a:r>
                        <a:rPr sz="1050">
                          <a:solidFill>
                            <a:srgbClr val="1A1A1A"/>
                          </a:solidFill>
                        </a:rPr>
                        <a:t>Trust lost</a:t>
                      </a:r>
                    </a:p>
                  </a:txBody>
                  <a:tcPr anchor="ctr" marL="73152" marR="54864" marT="27432" marB="27432">
                    <a:solidFill>
                      <a:srgbClr val="FFFFFF"/>
                    </a:solidFill>
                  </a:tcPr>
                </a:tc>
              </a:tr>
              <a:tr h="552069">
                <a:tc>
                  <a:txBody>
                    <a:bodyPr wrap="square"/>
                    <a:lstStyle/>
                    <a:p>
                      <a:r>
                        <a:rPr sz="1050" b="1">
                          <a:solidFill>
                            <a:srgbClr val="0C2B4A"/>
                          </a:solidFill>
                        </a:rPr>
                        <a:t>A Daraz seller ships a counterfeit as genuine</a:t>
                      </a:r>
                    </a:p>
                  </a:txBody>
                  <a:tcPr anchor="ctr" marL="73152" marR="54864" marT="27432" marB="27432">
                    <a:solidFill>
                      <a:srgbClr val="EEF3F8"/>
                    </a:solidFill>
                  </a:tcPr>
                </a:tc>
                <a:tc>
                  <a:txBody>
                    <a:bodyPr wrap="square"/>
                    <a:lstStyle/>
                    <a:p>
                      <a:r>
                        <a:rPr sz="1050">
                          <a:solidFill>
                            <a:srgbClr val="1A1A1A"/>
                          </a:solidFill>
                        </a:rPr>
                        <a:t>One quick sale</a:t>
                      </a:r>
                    </a:p>
                  </a:txBody>
                  <a:tcPr anchor="ctr" marL="73152" marR="54864" marT="27432" marB="27432">
                    <a:solidFill>
                      <a:srgbClr val="EEF3F8"/>
                    </a:solidFill>
                  </a:tcPr>
                </a:tc>
                <a:tc>
                  <a:txBody>
                    <a:bodyPr wrap="square"/>
                    <a:lstStyle/>
                    <a:p>
                      <a:r>
                        <a:rPr sz="1050">
                          <a:solidFill>
                            <a:srgbClr val="1A1A1A"/>
                          </a:solidFill>
                        </a:rPr>
                        <a:t>Bad reviews, returns, delisting</a:t>
                      </a:r>
                    </a:p>
                  </a:txBody>
                  <a:tcPr anchor="ctr" marL="73152" marR="54864" marT="27432" marB="27432">
                    <a:solidFill>
                      <a:srgbClr val="EEF3F8"/>
                    </a:solidFill>
                  </a:tcPr>
                </a:tc>
                <a:tc>
                  <a:txBody>
                    <a:bodyPr wrap="square"/>
                    <a:lstStyle/>
                    <a:p>
                      <a:r>
                        <a:rPr sz="1050">
                          <a:solidFill>
                            <a:srgbClr val="1A1A1A"/>
                          </a:solidFill>
                        </a:rPr>
                        <a:t>Reputation crash</a:t>
                      </a:r>
                    </a:p>
                  </a:txBody>
                  <a:tcPr anchor="ctr" marL="73152" marR="54864" marT="27432" marB="27432">
                    <a:solidFill>
                      <a:srgbClr val="EEF3F8"/>
                    </a:solidFill>
                  </a:tcPr>
                </a:tc>
              </a:tr>
              <a:tr h="552069">
                <a:tc>
                  <a:txBody>
                    <a:bodyPr wrap="square"/>
                    <a:lstStyle/>
                    <a:p>
                      <a:r>
                        <a:rPr sz="1050" b="1">
                          <a:solidFill>
                            <a:srgbClr val="0C2B4A"/>
                          </a:solidFill>
                        </a:rPr>
                        <a:t>A bank buries fees in the fine print</a:t>
                      </a:r>
                    </a:p>
                  </a:txBody>
                  <a:tcPr anchor="ctr" marL="73152" marR="54864" marT="27432" marB="27432">
                    <a:solidFill>
                      <a:srgbClr val="FFFFFF"/>
                    </a:solidFill>
                  </a:tcPr>
                </a:tc>
                <a:tc>
                  <a:txBody>
                    <a:bodyPr wrap="square"/>
                    <a:lstStyle/>
                    <a:p>
                      <a:r>
                        <a:rPr sz="1050">
                          <a:solidFill>
                            <a:srgbClr val="1A1A1A"/>
                          </a:solidFill>
                        </a:rPr>
                        <a:t>More fee income now</a:t>
                      </a:r>
                    </a:p>
                  </a:txBody>
                  <a:tcPr anchor="ctr" marL="73152" marR="54864" marT="27432" marB="27432">
                    <a:solidFill>
                      <a:srgbClr val="FFFFFF"/>
                    </a:solidFill>
                  </a:tcPr>
                </a:tc>
                <a:tc>
                  <a:txBody>
                    <a:bodyPr wrap="square"/>
                    <a:lstStyle/>
                    <a:p>
                      <a:r>
                        <a:rPr sz="1050">
                          <a:solidFill>
                            <a:srgbClr val="1A1A1A"/>
                          </a:solidFill>
                        </a:rPr>
                        <a:t>Complaints, NRB scrutiny, churn</a:t>
                      </a:r>
                    </a:p>
                  </a:txBody>
                  <a:tcPr anchor="ctr" marL="73152" marR="54864" marT="27432" marB="27432">
                    <a:solidFill>
                      <a:srgbClr val="FFFFFF"/>
                    </a:solidFill>
                  </a:tcPr>
                </a:tc>
                <a:tc>
                  <a:txBody>
                    <a:bodyPr wrap="square"/>
                    <a:lstStyle/>
                    <a:p>
                      <a:r>
                        <a:rPr sz="1050">
                          <a:solidFill>
                            <a:srgbClr val="1A1A1A"/>
                          </a:solidFill>
                        </a:rPr>
                        <a:t>Trust lost</a:t>
                      </a:r>
                    </a:p>
                  </a:txBody>
                  <a:tcPr anchor="ctr" marL="73152" marR="54864" marT="27432" marB="27432">
                    <a:solidFill>
                      <a:srgbClr val="FFFFFF"/>
                    </a:solidFill>
                  </a:tcPr>
                </a:tc>
              </a:tr>
              <a:tr h="552069">
                <a:tc>
                  <a:txBody>
                    <a:bodyPr wrap="square"/>
                    <a:lstStyle/>
                    <a:p>
                      <a:r>
                        <a:rPr sz="1050" b="1">
                          <a:solidFill>
                            <a:srgbClr val="0C2B4A"/>
                          </a:solidFill>
                        </a:rPr>
                        <a:t>A college promises placements it cannot deliver</a:t>
                      </a:r>
                    </a:p>
                  </a:txBody>
                  <a:tcPr anchor="ctr" marL="73152" marR="54864" marT="27432" marB="27432">
                    <a:solidFill>
                      <a:srgbClr val="EEF3F8"/>
                    </a:solidFill>
                  </a:tcPr>
                </a:tc>
                <a:tc>
                  <a:txBody>
                    <a:bodyPr wrap="square"/>
                    <a:lstStyle/>
                    <a:p>
                      <a:r>
                        <a:rPr sz="1050">
                          <a:solidFill>
                            <a:srgbClr val="1A1A1A"/>
                          </a:solidFill>
                        </a:rPr>
                        <a:t>Higher admissions this year</a:t>
                      </a:r>
                    </a:p>
                  </a:txBody>
                  <a:tcPr anchor="ctr" marL="73152" marR="54864" marT="27432" marB="27432">
                    <a:solidFill>
                      <a:srgbClr val="EEF3F8"/>
                    </a:solidFill>
                  </a:tcPr>
                </a:tc>
                <a:tc>
                  <a:txBody>
                    <a:bodyPr wrap="square"/>
                    <a:lstStyle/>
                    <a:p>
                      <a:r>
                        <a:rPr sz="1050">
                          <a:solidFill>
                            <a:srgbClr val="1A1A1A"/>
                          </a:solidFill>
                        </a:rPr>
                        <a:t>Angry students, falling reputation</a:t>
                      </a:r>
                    </a:p>
                  </a:txBody>
                  <a:tcPr anchor="ctr" marL="73152" marR="54864" marT="27432" marB="27432">
                    <a:solidFill>
                      <a:srgbClr val="EEF3F8"/>
                    </a:solidFill>
                  </a:tcPr>
                </a:tc>
                <a:tc>
                  <a:txBody>
                    <a:bodyPr wrap="square"/>
                    <a:lstStyle/>
                    <a:p>
                      <a:r>
                        <a:rPr sz="1050">
                          <a:solidFill>
                            <a:srgbClr val="1A1A1A"/>
                          </a:solidFill>
                        </a:rPr>
                        <a:t>Enrolment falls</a:t>
                      </a:r>
                    </a:p>
                  </a:txBody>
                  <a:tcPr anchor="ctr" marL="73152" marR="54864" marT="27432" marB="27432">
                    <a:solidFill>
                      <a:srgbClr val="EEF3F8"/>
                    </a:solidFill>
                  </a:tcPr>
                </a:tc>
              </a:tr>
              <a:tr h="552069">
                <a:tc>
                  <a:txBody>
                    <a:bodyPr wrap="square"/>
                    <a:lstStyle/>
                    <a:p>
                      <a:r>
                        <a:rPr sz="1050" b="1">
                          <a:solidFill>
                            <a:srgbClr val="0C2B4A"/>
                          </a:solidFill>
                        </a:rPr>
                        <a:t>A momo restaurant reuses stale ingredients to cut cost</a:t>
                      </a:r>
                    </a:p>
                  </a:txBody>
                  <a:tcPr anchor="ctr" marL="73152" marR="54864" marT="27432" marB="27432">
                    <a:solidFill>
                      <a:srgbClr val="FFFFFF"/>
                    </a:solidFill>
                  </a:tcPr>
                </a:tc>
                <a:tc>
                  <a:txBody>
                    <a:bodyPr wrap="square"/>
                    <a:lstStyle/>
                    <a:p>
                      <a:r>
                        <a:rPr sz="1050">
                          <a:solidFill>
                            <a:srgbClr val="1A1A1A"/>
                          </a:solidFill>
                        </a:rPr>
                        <a:t>Saves on stock</a:t>
                      </a:r>
                    </a:p>
                  </a:txBody>
                  <a:tcPr anchor="ctr" marL="73152" marR="54864" marT="27432" marB="27432">
                    <a:solidFill>
                      <a:srgbClr val="FFFFFF"/>
                    </a:solidFill>
                  </a:tcPr>
                </a:tc>
                <a:tc>
                  <a:txBody>
                    <a:bodyPr wrap="square"/>
                    <a:lstStyle/>
                    <a:p>
                      <a:r>
                        <a:rPr sz="1050">
                          <a:solidFill>
                            <a:srgbClr val="1A1A1A"/>
                          </a:solidFill>
                        </a:rPr>
                        <a:t>One food-poisoning post ends it</a:t>
                      </a:r>
                    </a:p>
                  </a:txBody>
                  <a:tcPr anchor="ctr" marL="73152" marR="54864" marT="27432" marB="27432">
                    <a:solidFill>
                      <a:srgbClr val="FFFFFF"/>
                    </a:solidFill>
                  </a:tcPr>
                </a:tc>
                <a:tc>
                  <a:txBody>
                    <a:bodyPr wrap="square"/>
                    <a:lstStyle/>
                    <a:p>
                      <a:r>
                        <a:rPr sz="1050">
                          <a:solidFill>
                            <a:srgbClr val="1A1A1A"/>
                          </a:solidFill>
                        </a:rPr>
                        <a:t>Business closes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Trust is slow to build and instant to lose — each shortcut spends a years-long reserve. Good ethics is usually good business on a longer clock.</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101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Good People &amp; Businesses Still Go Wrong</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Most misbehaviour comes from ordinary people under predictable PRESSURE — not 'bad people'. Because it is situational, good systems and culture can prevent it (which is what S2 and S3 build).</a:t>
            </a:r>
          </a:p>
          <a:p>
            <a:pPr>
              <a:spcAft>
                <a:spcPts val="500"/>
              </a:spcAft>
            </a:pPr>
            <a:r>
              <a:rPr sz="1200" b="1">
                <a:solidFill>
                  <a:srgbClr val="185FA5"/>
                </a:solidFill>
              </a:rPr>
              <a:t>HOW IT WORKS</a:t>
            </a:r>
          </a:p>
          <a:p>
            <a:pPr>
              <a:spcAft>
                <a:spcPts val="600"/>
              </a:spcAft>
            </a:pPr>
            <a:r>
              <a:rPr sz="1400">
                <a:solidFill>
                  <a:srgbClr val="1A1A1A"/>
                </a:solidFill>
              </a:rPr>
              <a:t>•  Results pressure — 'hit the target or you're out' crowds out the ethics.</a:t>
            </a:r>
          </a:p>
          <a:p>
            <a:pPr>
              <a:spcAft>
                <a:spcPts val="600"/>
              </a:spcAft>
            </a:pPr>
            <a:r>
              <a:rPr sz="1400">
                <a:solidFill>
                  <a:srgbClr val="1A1A1A"/>
                </a:solidFill>
              </a:rPr>
              <a:t>•  'Everyone does it' — normalization makes wrong feel normal.</a:t>
            </a:r>
          </a:p>
          <a:p>
            <a:pPr>
              <a:spcAft>
                <a:spcPts val="600"/>
              </a:spcAft>
            </a:pPr>
            <a:r>
              <a:rPr sz="1400">
                <a:solidFill>
                  <a:srgbClr val="1A1A1A"/>
                </a:solidFill>
              </a:rPr>
              <a:t>•  Weak oversight — nobody watching, so cutting corners feels free.</a:t>
            </a:r>
          </a:p>
          <a:p>
            <a:pPr>
              <a:spcAft>
                <a:spcPts val="600"/>
              </a:spcAft>
            </a:pPr>
            <a:r>
              <a:rPr sz="1400">
                <a:solidFill>
                  <a:srgbClr val="1A1A1A"/>
                </a:solidFill>
              </a:rPr>
              <a:t>•  Diffusion of responsibility — 'I just followed the process / my manager decided.'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Ethics fails are usually situational, not personal — so fix the situation.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101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Good People &amp; Businesses Still Go Wrong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junior employee fudges one report under a manager's 'just this once' pressure, in an office where 'everyone rounds the numbers'. No villain — just results pressure + normalization + diffusion of responsibility. Change those conditions and the behaviour changes.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"We just need to hire good people." Good people misbehave under bad systems. You don't only hire virtue — you build conditions where the ethical choice is the easy default.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Unethical behaviour is mostly situational, driven by results pressure, normalization ('everyone does it'), weak oversight, and diffusion of responsibility — not by inherently bad people. Because it is situational, ethical systems and culture (leadership, codes, reporting, consequences) prevent it.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situational (not 'bad apples') · results pressure · normalization · weak oversight · diffusion of responsibility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101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4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Ordinary people, predictable pressure — name the cause</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429125"/>
                <a:gridCol w="2714625"/>
                <a:gridCol w="4286250"/>
              </a:tblGrid>
              <a:tr h="552069">
                <a:tc>
                  <a:txBody>
                    <a:bodyPr wrap="square"/>
                    <a:lstStyle/>
                    <a:p>
                      <a:r>
                        <a:rPr sz="1150" b="1">
                          <a:solidFill>
                            <a:srgbClr val="FFFFFF"/>
                          </a:solidFill>
                        </a:rPr>
                        <a:t>Scenario</a:t>
                      </a:r>
                    </a:p>
                  </a:txBody>
                  <a:tcPr anchor="ctr" marL="73152" marR="54864" marT="27432" marB="27432">
                    <a:solidFill>
                      <a:srgbClr val="0C2B4A"/>
                    </a:solidFill>
                  </a:tcPr>
                </a:tc>
                <a:tc>
                  <a:txBody>
                    <a:bodyPr wrap="square"/>
                    <a:lstStyle/>
                    <a:p>
                      <a:r>
                        <a:rPr sz="1150" b="1">
                          <a:solidFill>
                            <a:srgbClr val="FFFFFF"/>
                          </a:solidFill>
                        </a:rPr>
                        <a:t>Pressure at work</a:t>
                      </a:r>
                    </a:p>
                  </a:txBody>
                  <a:tcPr anchor="ctr" marL="73152" marR="54864" marT="27432" marB="27432">
                    <a:solidFill>
                      <a:srgbClr val="0C2B4A"/>
                    </a:solidFill>
                  </a:tcPr>
                </a:tc>
                <a:tc>
                  <a:txBody>
                    <a:bodyPr wrap="square"/>
                    <a:lstStyle/>
                    <a:p>
                      <a:r>
                        <a:rPr sz="1150" b="1">
                          <a:solidFill>
                            <a:srgbClr val="FFFFFF"/>
                          </a:solidFill>
                        </a:rPr>
                        <a:t>Why the person went wrong</a:t>
                      </a:r>
                    </a:p>
                  </a:txBody>
                  <a:tcPr anchor="ctr" marL="73152" marR="54864" marT="27432" marB="27432">
                    <a:solidFill>
                      <a:srgbClr val="0C2B4A"/>
                    </a:solidFill>
                  </a:tcPr>
                </a:tc>
              </a:tr>
              <a:tr h="552069">
                <a:tc>
                  <a:txBody>
                    <a:bodyPr wrap="square"/>
                    <a:lstStyle/>
                    <a:p>
                      <a:r>
                        <a:rPr sz="1100" b="1">
                          <a:solidFill>
                            <a:srgbClr val="0C2B4A"/>
                          </a:solidFill>
                        </a:rPr>
                        <a:t>Junior accountant rounds up numbers because 'everyone here does'</a:t>
                      </a:r>
                    </a:p>
                  </a:txBody>
                  <a:tcPr anchor="ctr" marL="73152" marR="54864" marT="27432" marB="27432">
                    <a:solidFill>
                      <a:srgbClr val="FFFFFF"/>
                    </a:solidFill>
                  </a:tcPr>
                </a:tc>
                <a:tc>
                  <a:txBody>
                    <a:bodyPr wrap="square"/>
                    <a:lstStyle/>
                    <a:p>
                      <a:r>
                        <a:rPr sz="1100">
                          <a:solidFill>
                            <a:srgbClr val="1A1A1A"/>
                          </a:solidFill>
                        </a:rPr>
                        <a:t>Normalization</a:t>
                      </a:r>
                    </a:p>
                  </a:txBody>
                  <a:tcPr anchor="ctr" marL="73152" marR="54864" marT="27432" marB="27432">
                    <a:solidFill>
                      <a:srgbClr val="FFFFFF"/>
                    </a:solidFill>
                  </a:tcPr>
                </a:tc>
                <a:tc>
                  <a:txBody>
                    <a:bodyPr wrap="square"/>
                    <a:lstStyle/>
                    <a:p>
                      <a:r>
                        <a:rPr sz="1100">
                          <a:solidFill>
                            <a:srgbClr val="1A1A1A"/>
                          </a:solidFill>
                        </a:rPr>
                        <a:t>Wrong feels normal</a:t>
                      </a:r>
                    </a:p>
                  </a:txBody>
                  <a:tcPr anchor="ctr" marL="73152" marR="54864" marT="27432" marB="27432">
                    <a:solidFill>
                      <a:srgbClr val="FFFFFF"/>
                    </a:solidFill>
                  </a:tcPr>
                </a:tc>
              </a:tr>
              <a:tr h="552069">
                <a:tc>
                  <a:txBody>
                    <a:bodyPr wrap="square"/>
                    <a:lstStyle/>
                    <a:p>
                      <a:r>
                        <a:rPr sz="1100" b="1">
                          <a:solidFill>
                            <a:srgbClr val="0C2B4A"/>
                          </a:solidFill>
                        </a:rPr>
                        <a:t>Sales rep oversells a policy to hit target or lose the job</a:t>
                      </a:r>
                    </a:p>
                  </a:txBody>
                  <a:tcPr anchor="ctr" marL="73152" marR="54864" marT="27432" marB="27432">
                    <a:solidFill>
                      <a:srgbClr val="EEF3F8"/>
                    </a:solidFill>
                  </a:tcPr>
                </a:tc>
                <a:tc>
                  <a:txBody>
                    <a:bodyPr wrap="square"/>
                    <a:lstStyle/>
                    <a:p>
                      <a:r>
                        <a:rPr sz="1100">
                          <a:solidFill>
                            <a:srgbClr val="1A1A1A"/>
                          </a:solidFill>
                        </a:rPr>
                        <a:t>Results pressure</a:t>
                      </a:r>
                    </a:p>
                  </a:txBody>
                  <a:tcPr anchor="ctr" marL="73152" marR="54864" marT="27432" marB="27432">
                    <a:solidFill>
                      <a:srgbClr val="EEF3F8"/>
                    </a:solidFill>
                  </a:tcPr>
                </a:tc>
                <a:tc>
                  <a:txBody>
                    <a:bodyPr wrap="square"/>
                    <a:lstStyle/>
                    <a:p>
                      <a:r>
                        <a:rPr sz="1100">
                          <a:solidFill>
                            <a:srgbClr val="1A1A1A"/>
                          </a:solidFill>
                        </a:rPr>
                        <a:t>The target crowds out ethics</a:t>
                      </a:r>
                    </a:p>
                  </a:txBody>
                  <a:tcPr anchor="ctr" marL="73152" marR="54864" marT="27432" marB="27432">
                    <a:solidFill>
                      <a:srgbClr val="EEF3F8"/>
                    </a:solidFill>
                  </a:tcPr>
                </a:tc>
              </a:tr>
              <a:tr h="552069">
                <a:tc>
                  <a:txBody>
                    <a:bodyPr wrap="square"/>
                    <a:lstStyle/>
                    <a:p>
                      <a:r>
                        <a:rPr sz="1100" b="1">
                          <a:solidFill>
                            <a:srgbClr val="0C2B4A"/>
                          </a:solidFill>
                        </a:rPr>
                        <a:t>Clerk approves a shortcut because 'no one audits this desk'</a:t>
                      </a:r>
                    </a:p>
                  </a:txBody>
                  <a:tcPr anchor="ctr" marL="73152" marR="54864" marT="27432" marB="27432">
                    <a:solidFill>
                      <a:srgbClr val="FFFFFF"/>
                    </a:solidFill>
                  </a:tcPr>
                </a:tc>
                <a:tc>
                  <a:txBody>
                    <a:bodyPr wrap="square"/>
                    <a:lstStyle/>
                    <a:p>
                      <a:r>
                        <a:rPr sz="1100">
                          <a:solidFill>
                            <a:srgbClr val="1A1A1A"/>
                          </a:solidFill>
                        </a:rPr>
                        <a:t>Weak oversight</a:t>
                      </a:r>
                    </a:p>
                  </a:txBody>
                  <a:tcPr anchor="ctr" marL="73152" marR="54864" marT="27432" marB="27432">
                    <a:solidFill>
                      <a:srgbClr val="FFFFFF"/>
                    </a:solidFill>
                  </a:tcPr>
                </a:tc>
                <a:tc>
                  <a:txBody>
                    <a:bodyPr wrap="square"/>
                    <a:lstStyle/>
                    <a:p>
                      <a:r>
                        <a:rPr sz="1100">
                          <a:solidFill>
                            <a:srgbClr val="1A1A1A"/>
                          </a:solidFill>
                        </a:rPr>
                        <a:t>Cutting corners feels free</a:t>
                      </a:r>
                    </a:p>
                  </a:txBody>
                  <a:tcPr anchor="ctr" marL="73152" marR="54864" marT="27432" marB="27432">
                    <a:solidFill>
                      <a:srgbClr val="FFFFFF"/>
                    </a:solidFill>
                  </a:tcPr>
                </a:tc>
              </a:tr>
              <a:tr h="552069">
                <a:tc>
                  <a:txBody>
                    <a:bodyPr wrap="square"/>
                    <a:lstStyle/>
                    <a:p>
                      <a:r>
                        <a:rPr sz="1100" b="1">
                          <a:solidFill>
                            <a:srgbClr val="0C2B4A"/>
                          </a:solidFill>
                        </a:rPr>
                        <a:t>Staffer follows a manager's 'just do it' on a dodgy file</a:t>
                      </a:r>
                    </a:p>
                  </a:txBody>
                  <a:tcPr anchor="ctr" marL="73152" marR="54864" marT="27432" marB="27432">
                    <a:solidFill>
                      <a:srgbClr val="EEF3F8"/>
                    </a:solidFill>
                  </a:tcPr>
                </a:tc>
                <a:tc>
                  <a:txBody>
                    <a:bodyPr wrap="square"/>
                    <a:lstStyle/>
                    <a:p>
                      <a:r>
                        <a:rPr sz="1100">
                          <a:solidFill>
                            <a:srgbClr val="1A1A1A"/>
                          </a:solidFill>
                        </a:rPr>
                        <a:t>Diffusion of responsibility</a:t>
                      </a:r>
                    </a:p>
                  </a:txBody>
                  <a:tcPr anchor="ctr" marL="73152" marR="54864" marT="27432" marB="27432">
                    <a:solidFill>
                      <a:srgbClr val="EEF3F8"/>
                    </a:solidFill>
                  </a:tcPr>
                </a:tc>
                <a:tc>
                  <a:txBody>
                    <a:bodyPr wrap="square"/>
                    <a:lstStyle/>
                    <a:p>
                      <a:r>
                        <a:rPr sz="1100">
                          <a:solidFill>
                            <a:srgbClr val="1A1A1A"/>
                          </a:solidFill>
                        </a:rPr>
                        <a:t>'The boss decided, not me'</a:t>
                      </a:r>
                    </a:p>
                  </a:txBody>
                  <a:tcPr anchor="ctr" marL="73152" marR="54864" marT="27432" marB="27432">
                    <a:solidFill>
                      <a:srgbClr val="EEF3F8"/>
                    </a:solidFill>
                  </a:tcPr>
                </a:tc>
              </a:tr>
              <a:tr h="552069">
                <a:tc>
                  <a:txBody>
                    <a:bodyPr wrap="square"/>
                    <a:lstStyle/>
                    <a:p>
                      <a:r>
                        <a:rPr sz="1100" b="1">
                          <a:solidFill>
                            <a:srgbClr val="0C2B4A"/>
                          </a:solidFill>
                        </a:rPr>
                        <a:t>IT admin skips a security patch because the team never bothers</a:t>
                      </a:r>
                    </a:p>
                  </a:txBody>
                  <a:tcPr anchor="ctr" marL="73152" marR="54864" marT="27432" marB="27432">
                    <a:solidFill>
                      <a:srgbClr val="FFFFFF"/>
                    </a:solidFill>
                  </a:tcPr>
                </a:tc>
                <a:tc>
                  <a:txBody>
                    <a:bodyPr wrap="square"/>
                    <a:lstStyle/>
                    <a:p>
                      <a:r>
                        <a:rPr sz="1100">
                          <a:solidFill>
                            <a:srgbClr val="1A1A1A"/>
                          </a:solidFill>
                        </a:rPr>
                        <a:t>Normalization</a:t>
                      </a:r>
                    </a:p>
                  </a:txBody>
                  <a:tcPr anchor="ctr" marL="73152" marR="54864" marT="27432" marB="27432">
                    <a:solidFill>
                      <a:srgbClr val="FFFFFF"/>
                    </a:solidFill>
                  </a:tcPr>
                </a:tc>
                <a:tc>
                  <a:txBody>
                    <a:bodyPr wrap="square"/>
                    <a:lstStyle/>
                    <a:p>
                      <a:r>
                        <a:rPr sz="1100">
                          <a:solidFill>
                            <a:srgbClr val="1A1A1A"/>
                          </a:solidFill>
                        </a:rPr>
                        <a:t>Everyone else skips it too</a:t>
                      </a:r>
                    </a:p>
                  </a:txBody>
                  <a:tcPr anchor="ctr" marL="73152" marR="54864" marT="27432" marB="27432">
                    <a:solidFill>
                      <a:srgbClr val="FFFFFF"/>
                    </a:solidFill>
                  </a:tcPr>
                </a:tc>
              </a:tr>
              <a:tr h="552069">
                <a:tc>
                  <a:txBody>
                    <a:bodyPr wrap="square"/>
                    <a:lstStyle/>
                    <a:p>
                      <a:r>
                        <a:rPr sz="1100" b="1">
                          <a:solidFill>
                            <a:srgbClr val="0C2B4A"/>
                          </a:solidFill>
                        </a:rPr>
                        <a:t>Bank teller waives KYC for a VIP under branch-target pressure</a:t>
                      </a:r>
                    </a:p>
                  </a:txBody>
                  <a:tcPr anchor="ctr" marL="73152" marR="54864" marT="27432" marB="27432">
                    <a:solidFill>
                      <a:srgbClr val="EEF3F8"/>
                    </a:solidFill>
                  </a:tcPr>
                </a:tc>
                <a:tc>
                  <a:txBody>
                    <a:bodyPr wrap="square"/>
                    <a:lstStyle/>
                    <a:p>
                      <a:r>
                        <a:rPr sz="1100">
                          <a:solidFill>
                            <a:srgbClr val="1A1A1A"/>
                          </a:solidFill>
                        </a:rPr>
                        <a:t>Results pressure + weak oversight</a:t>
                      </a:r>
                    </a:p>
                  </a:txBody>
                  <a:tcPr anchor="ctr" marL="73152" marR="54864" marT="27432" marB="27432">
                    <a:solidFill>
                      <a:srgbClr val="EEF3F8"/>
                    </a:solidFill>
                  </a:tcPr>
                </a:tc>
                <a:tc>
                  <a:txBody>
                    <a:bodyPr wrap="square"/>
                    <a:lstStyle/>
                    <a:p>
                      <a:r>
                        <a:rPr sz="1100">
                          <a:solidFill>
                            <a:srgbClr val="1A1A1A"/>
                          </a:solidFill>
                        </a:rPr>
                        <a:t>Targets plus nobody checking</a:t>
                      </a:r>
                    </a:p>
                  </a:txBody>
                  <a:tcPr anchor="ctr" marL="73152" marR="54864" marT="27432" marB="27432">
                    <a:solidFill>
                      <a:srgbClr val="EEF3F8"/>
                    </a:solidFill>
                  </a:tcPr>
                </a:tc>
              </a:tr>
              <a:tr h="552069">
                <a:tc>
                  <a:txBody>
                    <a:bodyPr wrap="square"/>
                    <a:lstStyle/>
                    <a:p>
                      <a:r>
                        <a:rPr sz="1100" b="1">
                          <a:solidFill>
                            <a:srgbClr val="0C2B4A"/>
                          </a:solidFill>
                        </a:rPr>
                        <a:t>Team member stays silent though the plan clearly feels wrong</a:t>
                      </a:r>
                    </a:p>
                  </a:txBody>
                  <a:tcPr anchor="ctr" marL="73152" marR="54864" marT="27432" marB="27432">
                    <a:solidFill>
                      <a:srgbClr val="FFFFFF"/>
                    </a:solidFill>
                  </a:tcPr>
                </a:tc>
                <a:tc>
                  <a:txBody>
                    <a:bodyPr wrap="square"/>
                    <a:lstStyle/>
                    <a:p>
                      <a:r>
                        <a:rPr sz="1100">
                          <a:solidFill>
                            <a:srgbClr val="1A1A1A"/>
                          </a:solidFill>
                        </a:rPr>
                        <a:t>Diffusion / groupthink</a:t>
                      </a:r>
                    </a:p>
                  </a:txBody>
                  <a:tcPr anchor="ctr" marL="73152" marR="54864" marT="27432" marB="27432">
                    <a:solidFill>
                      <a:srgbClr val="FFFFFF"/>
                    </a:solidFill>
                  </a:tcPr>
                </a:tc>
                <a:tc>
                  <a:txBody>
                    <a:bodyPr wrap="square"/>
                    <a:lstStyle/>
                    <a:p>
                      <a:r>
                        <a:rPr sz="1100">
                          <a:solidFill>
                            <a:srgbClr val="1A1A1A"/>
                          </a:solidFill>
                        </a:rPr>
                        <a:t>'Not my call to object'</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No villains here — the failures are situational. Change the conditions (leadership, oversight, consequences) and the behaviour changes. Fix the situation, not just the person.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101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 — 'Find the grey area'  ·  ~6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invent ONE act that is legal-but-unethical and ONE illegal-but-arguably-ethical.</a:t>
            </a:r>
          </a:p>
          <a:p>
            <a:pPr>
              <a:spcAft>
                <a:spcPts val="700"/>
              </a:spcAft>
            </a:pPr>
            <a:r>
              <a:rPr sz="1550">
                <a:solidFill>
                  <a:srgbClr val="1A1A1A"/>
                </a:solidFill>
              </a:rPr>
              <a:t>•  Draw from Nepali daily life or IT.</a:t>
            </a:r>
          </a:p>
          <a:p>
            <a:pPr>
              <a:spcAft>
                <a:spcPts val="700"/>
              </a:spcAft>
            </a:pPr>
            <a:r>
              <a:rPr sz="1550">
                <a:solidFill>
                  <a:srgbClr val="1A1A1A"/>
                </a:solidFill>
              </a:rPr>
              <a:t>•  Take 4–5 answers aloud (3 min); place each on the 2×2 grid.</a:t>
            </a:r>
          </a:p>
          <a:p>
            <a:pPr>
              <a:spcAft>
                <a:spcPts val="700"/>
              </a:spcAft>
            </a:pPr>
            <a:r>
              <a:rPr sz="1550">
                <a:solidFill>
                  <a:srgbClr val="1A1A1A"/>
                </a:solidFill>
              </a:rPr>
              <a:t>•  Close (1 min): notice how EASY legal-but-unethical was to find — that's the quadrant this course trains.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if stuck: selling legally-collected user data (legal, unethical); a politician's legal conflict of interest; pirating unaffordable software (illegal, students argue ethical). The ease of finding legal-but-unethical cases is the point.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101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An action that is legal but still wrong is best described as:</a:t>
            </a:r>
          </a:p>
          <a:p>
            <a:pPr lvl="1"/>
            <a:r>
              <a:rPr sz="1500" b="1">
                <a:solidFill>
                  <a:srgbClr val="0F6E56"/>
                </a:solidFill>
              </a:rPr>
              <a:t>a) illegal   b) ✅ unethical   c) good etiquette   d) a moral duty</a:t>
            </a:r>
          </a:p>
          <a:p>
            <a:pPr>
              <a:spcBef>
                <a:spcPts val="900"/>
              </a:spcBef>
            </a:pPr>
            <a:r>
              <a:rPr sz="1700" b="1">
                <a:solidFill>
                  <a:srgbClr val="0C2B4A"/>
                </a:solidFill>
              </a:rPr>
              <a:t>Q2.  A profession's written code of conduct is an example of:</a:t>
            </a:r>
          </a:p>
          <a:p>
            <a:pPr lvl="1"/>
            <a:r>
              <a:rPr sz="1500" b="1">
                <a:solidFill>
                  <a:srgbClr val="0F6E56"/>
                </a:solidFill>
              </a:rPr>
              <a:t>a) personal morals   b) etiquette   c) ✅ ethics (a group code)   d) law</a:t>
            </a:r>
          </a:p>
          <a:p>
            <a:pPr lvl="1">
              <a:spcBef>
                <a:spcPts val="600"/>
              </a:spcBef>
            </a:pPr>
            <a:r>
              <a:rPr sz="1500" i="1">
                <a:solidFill>
                  <a:srgbClr val="1A1A1A"/>
                </a:solidFill>
              </a:rPr>
              <a:t>Discussion: name one thing legal in Nepal you consider unethical — which grid quadrant is it in?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30 / 101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Ethics = a group's code of right/wrong; distinct from morals (personal), law (state-enforced), etiquette (manners).</a:t>
            </a:r>
          </a:p>
          <a:p>
            <a:pPr>
              <a:spcAft>
                <a:spcPts val="800"/>
              </a:spcAft>
            </a:pPr>
            <a:r>
              <a:rPr sz="1500">
                <a:solidFill>
                  <a:srgbClr val="1A1A1A"/>
                </a:solidFill>
              </a:rPr>
              <a:t>2.  Legal ≠ ethical — the law is the floor, not the ceiling; watch the legal-but-unethical quadrant.</a:t>
            </a:r>
          </a:p>
          <a:p>
            <a:pPr>
              <a:spcAft>
                <a:spcPts val="800"/>
              </a:spcAft>
            </a:pPr>
            <a:r>
              <a:rPr sz="1500">
                <a:solidFill>
                  <a:srgbClr val="1A1A1A"/>
                </a:solidFill>
              </a:rPr>
              <a:t>3.  Business ethics trades short-term profit against long-term trust; misbehaviour is situational, so systems and culture fix it.</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job offer comes with a code of conduct, and employers check your online reputation before the interview. Recruiters literally ask 'tell me about an ethical dilemma' — the grey-area judgment you practised today is a tested professional skill.</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 — when companies act for society's benefit: Corporate Social Responsibility (CSR).</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31 / 101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 · LECTURE HOUR 2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Corporate Social Responsibility (CSR)</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When Ncell funds a rural school, a bank runs a tree-planting drive, or a company sponsors flood relief — is that generosity, clever marketing, or a responsibility they actually OWE society? What if it's all three — and what if society can legitimately expect it?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32 / 101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CSR Means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Corporate Social Responsibility (CSR) = a company's DUTY to act for the benefit of society, not only its shareholders. The key word is duty: a business owes something to the society that lets it operate (using public infrastructure, workers, resources, and trust).</a:t>
            </a:r>
          </a:p>
          <a:p>
            <a:pPr>
              <a:spcAft>
                <a:spcPts val="500"/>
              </a:spcAft>
            </a:pPr>
            <a:r>
              <a:rPr sz="1200" b="1">
                <a:solidFill>
                  <a:srgbClr val="185FA5"/>
                </a:solidFill>
              </a:rPr>
              <a:t>HOW IT WORKS</a:t>
            </a:r>
          </a:p>
          <a:p>
            <a:pPr>
              <a:spcAft>
                <a:spcPts val="600"/>
              </a:spcAft>
            </a:pPr>
            <a:r>
              <a:rPr sz="1400">
                <a:solidFill>
                  <a:srgbClr val="1A1A1A"/>
                </a:solidFill>
              </a:rPr>
              <a:t>•  Contrast the old view — 'the only job of business is profit'.</a:t>
            </a:r>
          </a:p>
          <a:p>
            <a:pPr>
              <a:spcAft>
                <a:spcPts val="600"/>
              </a:spcAft>
            </a:pPr>
            <a:r>
              <a:rPr sz="1400">
                <a:solidFill>
                  <a:srgbClr val="1A1A1A"/>
                </a:solidFill>
              </a:rPr>
              <a:t>•  Modern consensus: profit AND responsibility, together.</a:t>
            </a:r>
          </a:p>
          <a:p>
            <a:pPr>
              <a:spcAft>
                <a:spcPts val="600"/>
              </a:spcAft>
            </a:pPr>
            <a:r>
              <a:rPr sz="1400">
                <a:solidFill>
                  <a:srgbClr val="1A1A1A"/>
                </a:solidFill>
              </a:rPr>
              <a:t>•  In Nepal, part of CSR is regulated, not optional (see the pyramid slide).</a:t>
            </a:r>
          </a:p>
          <a:p>
            <a:pPr>
              <a:spcAft>
                <a:spcPts val="600"/>
              </a:spcAft>
            </a:pPr>
            <a:r>
              <a:rPr sz="1400">
                <a:solidFill>
                  <a:srgbClr val="1A1A1A"/>
                </a:solidFill>
              </a:rPr>
              <a:t>•  CSR is embedded in daily operations, not just donations.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CSR = a duty owed to society, not optional charity.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101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Carroll's CSR Pyramid — four levels of responsibility</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Carroll's pyramid stacks a company's responsibilities in order: Economic → Legal → Ethical → Philanthropic. Lower layers must hold before upper ones mean anything.</a:t>
            </a:r>
          </a:p>
          <a:p>
            <a:pPr>
              <a:spcAft>
                <a:spcPts val="500"/>
              </a:spcAft>
            </a:pPr>
            <a:r>
              <a:rPr sz="1200" b="1">
                <a:solidFill>
                  <a:srgbClr val="185FA5"/>
                </a:solidFill>
              </a:rPr>
              <a:t>HOW IT WORKS</a:t>
            </a:r>
          </a:p>
          <a:p>
            <a:pPr>
              <a:spcAft>
                <a:spcPts val="600"/>
              </a:spcAft>
            </a:pPr>
            <a:r>
              <a:rPr sz="1400">
                <a:solidFill>
                  <a:srgbClr val="1A1A1A"/>
                </a:solidFill>
              </a:rPr>
              <a:t>•  Economic (base) — be profitable; survival funds everything above.</a:t>
            </a:r>
          </a:p>
          <a:p>
            <a:pPr>
              <a:spcAft>
                <a:spcPts val="600"/>
              </a:spcAft>
            </a:pPr>
            <a:r>
              <a:rPr sz="1400">
                <a:solidFill>
                  <a:srgbClr val="1A1A1A"/>
                </a:solidFill>
              </a:rPr>
              <a:t>•  Legal — obey the law (society's codified minimum).</a:t>
            </a:r>
          </a:p>
          <a:p>
            <a:pPr>
              <a:spcAft>
                <a:spcPts val="600"/>
              </a:spcAft>
            </a:pPr>
            <a:r>
              <a:rPr sz="1400">
                <a:solidFill>
                  <a:srgbClr val="1A1A1A"/>
                </a:solidFill>
              </a:rPr>
              <a:t>•  Ethical — do what's right beyond the law (the S1 'above the floor' idea).</a:t>
            </a:r>
          </a:p>
          <a:p>
            <a:pPr>
              <a:spcAft>
                <a:spcPts val="600"/>
              </a:spcAft>
            </a:pPr>
            <a:r>
              <a:rPr sz="1400">
                <a:solidFill>
                  <a:srgbClr val="1A1A1A"/>
                </a:solidFill>
              </a:rPr>
              <a:t>•  Philanthropic (top) — give back (donations, community programs).</a:t>
            </a:r>
          </a:p>
        </p:txBody>
      </p:sp>
      <p:pic>
        <p:nvPicPr>
          <p:cNvPr id="6" name="Picture 5" descr="s2_pyramid.png"/>
          <p:cNvPicPr>
            <a:picLocks noChangeAspect="1"/>
          </p:cNvPicPr>
          <p:nvPr/>
        </p:nvPicPr>
        <p:blipFill>
          <a:blip r:embed="rId2"/>
          <a:stretch>
            <a:fillRect/>
          </a:stretch>
        </p:blipFill>
        <p:spPr>
          <a:xfrm>
            <a:off x="6355080" y="2364762"/>
            <a:ext cx="5532120" cy="2905714"/>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Be profitable → legal → ethical → give back — in that order.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101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Carroll's four levels — meaning, example, Nepal</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1727790"/>
                <a:gridCol w="2923953"/>
                <a:gridCol w="3322674"/>
                <a:gridCol w="3455581"/>
              </a:tblGrid>
              <a:tr h="883310">
                <a:tc>
                  <a:txBody>
                    <a:bodyPr wrap="square"/>
                    <a:lstStyle/>
                    <a:p>
                      <a:r>
                        <a:rPr sz="1200" b="1">
                          <a:solidFill>
                            <a:srgbClr val="FFFFFF"/>
                          </a:solidFill>
                        </a:rPr>
                        <a:t>Level</a:t>
                      </a:r>
                    </a:p>
                  </a:txBody>
                  <a:tcPr anchor="ctr" marL="73152" marR="54864" marT="27432" marB="27432">
                    <a:solidFill>
                      <a:srgbClr val="0C2B4A"/>
                    </a:solidFill>
                  </a:tcPr>
                </a:tc>
                <a:tc>
                  <a:txBody>
                    <a:bodyPr wrap="square"/>
                    <a:lstStyle/>
                    <a:p>
                      <a:r>
                        <a:rPr sz="1200" b="1">
                          <a:solidFill>
                            <a:srgbClr val="FFFFFF"/>
                          </a:solidFill>
                        </a:rPr>
                        <a:t>What it means</a:t>
                      </a:r>
                    </a:p>
                  </a:txBody>
                  <a:tcPr anchor="ctr" marL="73152" marR="54864" marT="27432" marB="27432">
                    <a:solidFill>
                      <a:srgbClr val="0C2B4A"/>
                    </a:solidFill>
                  </a:tcPr>
                </a:tc>
                <a:tc>
                  <a:txBody>
                    <a:bodyPr wrap="square"/>
                    <a:lstStyle/>
                    <a:p>
                      <a:r>
                        <a:rPr sz="1200" b="1">
                          <a:solidFill>
                            <a:srgbClr val="FFFFFF"/>
                          </a:solidFill>
                        </a:rPr>
                        <a:t>Example</a:t>
                      </a:r>
                    </a:p>
                  </a:txBody>
                  <a:tcPr anchor="ctr" marL="73152" marR="54864" marT="27432" marB="27432">
                    <a:solidFill>
                      <a:srgbClr val="0C2B4A"/>
                    </a:solidFill>
                  </a:tcPr>
                </a:tc>
                <a:tc>
                  <a:txBody>
                    <a:bodyPr wrap="square"/>
                    <a:lstStyle/>
                    <a:p>
                      <a:r>
                        <a:rPr sz="1200" b="1">
                          <a:solidFill>
                            <a:srgbClr val="FFFFFF"/>
                          </a:solidFill>
                        </a:rPr>
                        <a:t>Nepal context</a:t>
                      </a:r>
                    </a:p>
                  </a:txBody>
                  <a:tcPr anchor="ctr" marL="73152" marR="54864" marT="27432" marB="27432">
                    <a:solidFill>
                      <a:srgbClr val="0C2B4A"/>
                    </a:solidFill>
                  </a:tcPr>
                </a:tc>
              </a:tr>
              <a:tr h="883310">
                <a:tc>
                  <a:txBody>
                    <a:bodyPr wrap="square"/>
                    <a:lstStyle/>
                    <a:p>
                      <a:r>
                        <a:rPr sz="1150" b="1">
                          <a:solidFill>
                            <a:srgbClr val="0C2B4A"/>
                          </a:solidFill>
                        </a:rPr>
                        <a:t>Economic (base)</a:t>
                      </a:r>
                    </a:p>
                  </a:txBody>
                  <a:tcPr anchor="ctr" marL="73152" marR="54864" marT="27432" marB="27432">
                    <a:solidFill>
                      <a:srgbClr val="FFFFFF"/>
                    </a:solidFill>
                  </a:tcPr>
                </a:tc>
                <a:tc>
                  <a:txBody>
                    <a:bodyPr wrap="square"/>
                    <a:lstStyle/>
                    <a:p>
                      <a:r>
                        <a:rPr sz="1150">
                          <a:solidFill>
                            <a:srgbClr val="1A1A1A"/>
                          </a:solidFill>
                        </a:rPr>
                        <a:t>Be profitable and viable</a:t>
                      </a:r>
                    </a:p>
                  </a:txBody>
                  <a:tcPr anchor="ctr" marL="73152" marR="54864" marT="27432" marB="27432">
                    <a:solidFill>
                      <a:srgbClr val="FFFFFF"/>
                    </a:solidFill>
                  </a:tcPr>
                </a:tc>
                <a:tc>
                  <a:txBody>
                    <a:bodyPr wrap="square"/>
                    <a:lstStyle/>
                    <a:p>
                      <a:r>
                        <a:rPr sz="1150">
                          <a:solidFill>
                            <a:srgbClr val="1A1A1A"/>
                          </a:solidFill>
                        </a:rPr>
                        <a:t>Earn enough to pay staff and reinvest</a:t>
                      </a:r>
                    </a:p>
                  </a:txBody>
                  <a:tcPr anchor="ctr" marL="73152" marR="54864" marT="27432" marB="27432">
                    <a:solidFill>
                      <a:srgbClr val="FFFFFF"/>
                    </a:solidFill>
                  </a:tcPr>
                </a:tc>
                <a:tc>
                  <a:txBody>
                    <a:bodyPr wrap="square"/>
                    <a:lstStyle/>
                    <a:p>
                      <a:r>
                        <a:rPr sz="1150">
                          <a:solidFill>
                            <a:srgbClr val="1A1A1A"/>
                          </a:solidFill>
                        </a:rPr>
                        <a:t>A bank must be solvent before it can fund anything</a:t>
                      </a:r>
                    </a:p>
                  </a:txBody>
                  <a:tcPr anchor="ctr" marL="73152" marR="54864" marT="27432" marB="27432">
                    <a:solidFill>
                      <a:srgbClr val="FFFFFF"/>
                    </a:solidFill>
                  </a:tcPr>
                </a:tc>
              </a:tr>
              <a:tr h="883310">
                <a:tc>
                  <a:txBody>
                    <a:bodyPr wrap="square"/>
                    <a:lstStyle/>
                    <a:p>
                      <a:r>
                        <a:rPr sz="1150" b="1">
                          <a:solidFill>
                            <a:srgbClr val="0C2B4A"/>
                          </a:solidFill>
                        </a:rPr>
                        <a:t>Legal</a:t>
                      </a:r>
                    </a:p>
                  </a:txBody>
                  <a:tcPr anchor="ctr" marL="73152" marR="54864" marT="27432" marB="27432">
                    <a:solidFill>
                      <a:srgbClr val="EEF3F8"/>
                    </a:solidFill>
                  </a:tcPr>
                </a:tc>
                <a:tc>
                  <a:txBody>
                    <a:bodyPr wrap="square"/>
                    <a:lstStyle/>
                    <a:p>
                      <a:r>
                        <a:rPr sz="1150">
                          <a:solidFill>
                            <a:srgbClr val="1A1A1A"/>
                          </a:solidFill>
                        </a:rPr>
                        <a:t>Obey all laws and regulations</a:t>
                      </a:r>
                    </a:p>
                  </a:txBody>
                  <a:tcPr anchor="ctr" marL="73152" marR="54864" marT="27432" marB="27432">
                    <a:solidFill>
                      <a:srgbClr val="EEF3F8"/>
                    </a:solidFill>
                  </a:tcPr>
                </a:tc>
                <a:tc>
                  <a:txBody>
                    <a:bodyPr wrap="square"/>
                    <a:lstStyle/>
                    <a:p>
                      <a:r>
                        <a:rPr sz="1150">
                          <a:solidFill>
                            <a:srgbClr val="1A1A1A"/>
                          </a:solidFill>
                        </a:rPr>
                        <a:t>Follow labour, tax, environmental law</a:t>
                      </a:r>
                    </a:p>
                  </a:txBody>
                  <a:tcPr anchor="ctr" marL="73152" marR="54864" marT="27432" marB="27432">
                    <a:solidFill>
                      <a:srgbClr val="EEF3F8"/>
                    </a:solidFill>
                  </a:tcPr>
                </a:tc>
                <a:tc>
                  <a:txBody>
                    <a:bodyPr wrap="square"/>
                    <a:lstStyle/>
                    <a:p>
                      <a:r>
                        <a:rPr sz="1150">
                          <a:solidFill>
                            <a:srgbClr val="1A1A1A"/>
                          </a:solidFill>
                        </a:rPr>
                        <a:t>Comply with Nepal Rastra Bank / government rules</a:t>
                      </a:r>
                    </a:p>
                  </a:txBody>
                  <a:tcPr anchor="ctr" marL="73152" marR="54864" marT="27432" marB="27432">
                    <a:solidFill>
                      <a:srgbClr val="EEF3F8"/>
                    </a:solidFill>
                  </a:tcPr>
                </a:tc>
              </a:tr>
              <a:tr h="883310">
                <a:tc>
                  <a:txBody>
                    <a:bodyPr wrap="square"/>
                    <a:lstStyle/>
                    <a:p>
                      <a:r>
                        <a:rPr sz="1150" b="1">
                          <a:solidFill>
                            <a:srgbClr val="0C2B4A"/>
                          </a:solidFill>
                        </a:rPr>
                        <a:t>Ethical</a:t>
                      </a:r>
                    </a:p>
                  </a:txBody>
                  <a:tcPr anchor="ctr" marL="73152" marR="54864" marT="27432" marB="27432">
                    <a:solidFill>
                      <a:srgbClr val="FFFFFF"/>
                    </a:solidFill>
                  </a:tcPr>
                </a:tc>
                <a:tc>
                  <a:txBody>
                    <a:bodyPr wrap="square"/>
                    <a:lstStyle/>
                    <a:p>
                      <a:r>
                        <a:rPr sz="1150">
                          <a:solidFill>
                            <a:srgbClr val="1A1A1A"/>
                          </a:solidFill>
                        </a:rPr>
                        <a:t>Do what's right beyond the law</a:t>
                      </a:r>
                    </a:p>
                  </a:txBody>
                  <a:tcPr anchor="ctr" marL="73152" marR="54864" marT="27432" marB="27432">
                    <a:solidFill>
                      <a:srgbClr val="FFFFFF"/>
                    </a:solidFill>
                  </a:tcPr>
                </a:tc>
                <a:tc>
                  <a:txBody>
                    <a:bodyPr wrap="square"/>
                    <a:lstStyle/>
                    <a:p>
                      <a:r>
                        <a:rPr sz="1150">
                          <a:solidFill>
                            <a:srgbClr val="1A1A1A"/>
                          </a:solidFill>
                        </a:rPr>
                        <a:t>Fair wages, honest marketing, safe products</a:t>
                      </a:r>
                    </a:p>
                  </a:txBody>
                  <a:tcPr anchor="ctr" marL="73152" marR="54864" marT="27432" marB="27432">
                    <a:solidFill>
                      <a:srgbClr val="FFFFFF"/>
                    </a:solidFill>
                  </a:tcPr>
                </a:tc>
                <a:tc>
                  <a:txBody>
                    <a:bodyPr wrap="square"/>
                    <a:lstStyle/>
                    <a:p>
                      <a:r>
                        <a:rPr sz="1150">
                          <a:solidFill>
                            <a:srgbClr val="1A1A1A"/>
                          </a:solidFill>
                        </a:rPr>
                        <a:t>Not exploiting a legal loophole that harms customers</a:t>
                      </a:r>
                    </a:p>
                  </a:txBody>
                  <a:tcPr anchor="ctr" marL="73152" marR="54864" marT="27432" marB="27432">
                    <a:solidFill>
                      <a:srgbClr val="FFFFFF"/>
                    </a:solidFill>
                  </a:tcPr>
                </a:tc>
              </a:tr>
              <a:tr h="883312">
                <a:tc>
                  <a:txBody>
                    <a:bodyPr wrap="square"/>
                    <a:lstStyle/>
                    <a:p>
                      <a:r>
                        <a:rPr sz="1150" b="1">
                          <a:solidFill>
                            <a:srgbClr val="0C2B4A"/>
                          </a:solidFill>
                        </a:rPr>
                        <a:t>Philanthropic (top)</a:t>
                      </a:r>
                    </a:p>
                  </a:txBody>
                  <a:tcPr anchor="ctr" marL="73152" marR="54864" marT="27432" marB="27432">
                    <a:solidFill>
                      <a:srgbClr val="EEF3F8"/>
                    </a:solidFill>
                  </a:tcPr>
                </a:tc>
                <a:tc>
                  <a:txBody>
                    <a:bodyPr wrap="square"/>
                    <a:lstStyle/>
                    <a:p>
                      <a:r>
                        <a:rPr sz="1150">
                          <a:solidFill>
                            <a:srgbClr val="1A1A1A"/>
                          </a:solidFill>
                        </a:rPr>
                        <a:t>Give back to the community</a:t>
                      </a:r>
                    </a:p>
                  </a:txBody>
                  <a:tcPr anchor="ctr" marL="73152" marR="54864" marT="27432" marB="27432">
                    <a:solidFill>
                      <a:srgbClr val="EEF3F8"/>
                    </a:solidFill>
                  </a:tcPr>
                </a:tc>
                <a:tc>
                  <a:txBody>
                    <a:bodyPr wrap="square"/>
                    <a:lstStyle/>
                    <a:p>
                      <a:r>
                        <a:rPr sz="1150">
                          <a:solidFill>
                            <a:srgbClr val="1A1A1A"/>
                          </a:solidFill>
                        </a:rPr>
                        <a:t>Donations, scholarships, relief, tree-planting</a:t>
                      </a:r>
                    </a:p>
                  </a:txBody>
                  <a:tcPr anchor="ctr" marL="73152" marR="54864" marT="27432" marB="27432">
                    <a:solidFill>
                      <a:srgbClr val="EEF3F8"/>
                    </a:solidFill>
                  </a:tcPr>
                </a:tc>
                <a:tc>
                  <a:txBody>
                    <a:bodyPr wrap="square"/>
                    <a:lstStyle/>
                    <a:p>
                      <a:r>
                        <a:rPr sz="1150">
                          <a:solidFill>
                            <a:srgbClr val="1A1A1A"/>
                          </a:solidFill>
                        </a:rPr>
                        <a:t>Telecom rural-coverage &amp; education programs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Nepal Rastra Bank directs commercial banks to allocate part of profit to CSR — so here, CSR is partly built into regulation, not just goodwill.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101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Carroll's CSR Pyramid</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 Rastra Bank directs commercial banks to allocate a portion of profit to CSR activities — so part of Nepali CSR isn't optional charity, it's built into how the banking sector is regulated. Telecoms similarly run rural-coverage and education programs.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"CSR is just charity / a PR stunt." Real CSR is responsibility embedded in operations — fair wages, clean production, honest marketing, safe products. Donations are the visible tip; the base is how you run the business every day.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CSR is a company's duty to act for society's benefit, not only shareholders'. Carroll's pyramid orders four responsibilities — economic (be profitable), legal (obey the law), ethical (do right beyond the law), and philanthropic (give back) — with lower layers foundational to the upper ones.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CSR · duty to society · Carroll's pyramid (economic→legal→ethical→philanthropic) · embedded-not-decorative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36 / 101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Real Nepali activities sorted onto Carroll's four levels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429125"/>
                <a:gridCol w="2286000"/>
                <a:gridCol w="4714875"/>
              </a:tblGrid>
              <a:tr h="552069">
                <a:tc>
                  <a:txBody>
                    <a:bodyPr wrap="square"/>
                    <a:lstStyle/>
                    <a:p>
                      <a:r>
                        <a:rPr sz="1150" b="1">
                          <a:solidFill>
                            <a:srgbClr val="FFFFFF"/>
                          </a:solidFill>
                        </a:rPr>
                        <a:t>Real activity</a:t>
                      </a:r>
                    </a:p>
                  </a:txBody>
                  <a:tcPr anchor="ctr" marL="73152" marR="54864" marT="27432" marB="27432">
                    <a:solidFill>
                      <a:srgbClr val="0C2B4A"/>
                    </a:solidFill>
                  </a:tcPr>
                </a:tc>
                <a:tc>
                  <a:txBody>
                    <a:bodyPr wrap="square"/>
                    <a:lstStyle/>
                    <a:p>
                      <a:r>
                        <a:rPr sz="1150" b="1">
                          <a:solidFill>
                            <a:srgbClr val="FFFFFF"/>
                          </a:solidFill>
                        </a:rPr>
                        <a:t>Carroll level</a:t>
                      </a:r>
                    </a:p>
                  </a:txBody>
                  <a:tcPr anchor="ctr" marL="73152" marR="54864" marT="27432" marB="27432">
                    <a:solidFill>
                      <a:srgbClr val="0C2B4A"/>
                    </a:solidFill>
                  </a:tcPr>
                </a:tc>
                <a:tc>
                  <a:txBody>
                    <a:bodyPr wrap="square"/>
                    <a:lstStyle/>
                    <a:p>
                      <a:r>
                        <a:rPr sz="1150" b="1">
                          <a:solidFill>
                            <a:srgbClr val="FFFFFF"/>
                          </a:solidFill>
                        </a:rPr>
                        <a:t>Why it sits there</a:t>
                      </a:r>
                    </a:p>
                  </a:txBody>
                  <a:tcPr anchor="ctr" marL="73152" marR="54864" marT="27432" marB="27432">
                    <a:solidFill>
                      <a:srgbClr val="0C2B4A"/>
                    </a:solidFill>
                  </a:tcPr>
                </a:tc>
              </a:tr>
              <a:tr h="552069">
                <a:tc>
                  <a:txBody>
                    <a:bodyPr wrap="square"/>
                    <a:lstStyle/>
                    <a:p>
                      <a:r>
                        <a:rPr sz="1100" b="1">
                          <a:solidFill>
                            <a:srgbClr val="0C2B4A"/>
                          </a:solidFill>
                        </a:rPr>
                        <a:t>A commercial bank staying solvent and profitable</a:t>
                      </a:r>
                    </a:p>
                  </a:txBody>
                  <a:tcPr anchor="ctr" marL="73152" marR="54864" marT="27432" marB="27432">
                    <a:solidFill>
                      <a:srgbClr val="FFFFFF"/>
                    </a:solidFill>
                  </a:tcPr>
                </a:tc>
                <a:tc>
                  <a:txBody>
                    <a:bodyPr wrap="square"/>
                    <a:lstStyle/>
                    <a:p>
                      <a:r>
                        <a:rPr sz="1100">
                          <a:solidFill>
                            <a:srgbClr val="1A1A1A"/>
                          </a:solidFill>
                        </a:rPr>
                        <a:t>Economic (base)</a:t>
                      </a:r>
                    </a:p>
                  </a:txBody>
                  <a:tcPr anchor="ctr" marL="73152" marR="54864" marT="27432" marB="27432">
                    <a:solidFill>
                      <a:srgbClr val="FFFFFF"/>
                    </a:solidFill>
                  </a:tcPr>
                </a:tc>
                <a:tc>
                  <a:txBody>
                    <a:bodyPr wrap="square"/>
                    <a:lstStyle/>
                    <a:p>
                      <a:r>
                        <a:rPr sz="1100">
                          <a:solidFill>
                            <a:srgbClr val="1A1A1A"/>
                          </a:solidFill>
                        </a:rPr>
                        <a:t>Survival funds everything above it</a:t>
                      </a:r>
                    </a:p>
                  </a:txBody>
                  <a:tcPr anchor="ctr" marL="73152" marR="54864" marT="27432" marB="27432">
                    <a:solidFill>
                      <a:srgbClr val="FFFFFF"/>
                    </a:solidFill>
                  </a:tcPr>
                </a:tc>
              </a:tr>
              <a:tr h="552069">
                <a:tc>
                  <a:txBody>
                    <a:bodyPr wrap="square"/>
                    <a:lstStyle/>
                    <a:p>
                      <a:r>
                        <a:rPr sz="1100" b="1">
                          <a:solidFill>
                            <a:srgbClr val="0C2B4A"/>
                          </a:solidFill>
                        </a:rPr>
                        <a:t>A bank allocating a share of profit to CSR as NRB directs</a:t>
                      </a:r>
                    </a:p>
                  </a:txBody>
                  <a:tcPr anchor="ctr" marL="73152" marR="54864" marT="27432" marB="27432">
                    <a:solidFill>
                      <a:srgbClr val="EEF3F8"/>
                    </a:solidFill>
                  </a:tcPr>
                </a:tc>
                <a:tc>
                  <a:txBody>
                    <a:bodyPr wrap="square"/>
                    <a:lstStyle/>
                    <a:p>
                      <a:r>
                        <a:rPr sz="1100">
                          <a:solidFill>
                            <a:srgbClr val="1A1A1A"/>
                          </a:solidFill>
                        </a:rPr>
                        <a:t>Legal</a:t>
                      </a:r>
                    </a:p>
                  </a:txBody>
                  <a:tcPr anchor="ctr" marL="73152" marR="54864" marT="27432" marB="27432">
                    <a:solidFill>
                      <a:srgbClr val="EEF3F8"/>
                    </a:solidFill>
                  </a:tcPr>
                </a:tc>
                <a:tc>
                  <a:txBody>
                    <a:bodyPr wrap="square"/>
                    <a:lstStyle/>
                    <a:p>
                      <a:r>
                        <a:rPr sz="1100">
                          <a:solidFill>
                            <a:srgbClr val="1A1A1A"/>
                          </a:solidFill>
                        </a:rPr>
                        <a:t>A regulatory requirement, not charity</a:t>
                      </a:r>
                    </a:p>
                  </a:txBody>
                  <a:tcPr anchor="ctr" marL="73152" marR="54864" marT="27432" marB="27432">
                    <a:solidFill>
                      <a:srgbClr val="EEF3F8"/>
                    </a:solidFill>
                  </a:tcPr>
                </a:tc>
              </a:tr>
              <a:tr h="552069">
                <a:tc>
                  <a:txBody>
                    <a:bodyPr wrap="square"/>
                    <a:lstStyle/>
                    <a:p>
                      <a:r>
                        <a:rPr sz="1100" b="1">
                          <a:solidFill>
                            <a:srgbClr val="0C2B4A"/>
                          </a:solidFill>
                        </a:rPr>
                        <a:t>A firm paying all taxes and following labour law</a:t>
                      </a:r>
                    </a:p>
                  </a:txBody>
                  <a:tcPr anchor="ctr" marL="73152" marR="54864" marT="27432" marB="27432">
                    <a:solidFill>
                      <a:srgbClr val="FFFFFF"/>
                    </a:solidFill>
                  </a:tcPr>
                </a:tc>
                <a:tc>
                  <a:txBody>
                    <a:bodyPr wrap="square"/>
                    <a:lstStyle/>
                    <a:p>
                      <a:r>
                        <a:rPr sz="1100">
                          <a:solidFill>
                            <a:srgbClr val="1A1A1A"/>
                          </a:solidFill>
                        </a:rPr>
                        <a:t>Legal</a:t>
                      </a:r>
                    </a:p>
                  </a:txBody>
                  <a:tcPr anchor="ctr" marL="73152" marR="54864" marT="27432" marB="27432">
                    <a:solidFill>
                      <a:srgbClr val="FFFFFF"/>
                    </a:solidFill>
                  </a:tcPr>
                </a:tc>
                <a:tc>
                  <a:txBody>
                    <a:bodyPr wrap="square"/>
                    <a:lstStyle/>
                    <a:p>
                      <a:r>
                        <a:rPr sz="1100">
                          <a:solidFill>
                            <a:srgbClr val="1A1A1A"/>
                          </a:solidFill>
                        </a:rPr>
                        <a:t>Society's codified minimum</a:t>
                      </a:r>
                    </a:p>
                  </a:txBody>
                  <a:tcPr anchor="ctr" marL="73152" marR="54864" marT="27432" marB="27432">
                    <a:solidFill>
                      <a:srgbClr val="FFFFFF"/>
                    </a:solidFill>
                  </a:tcPr>
                </a:tc>
              </a:tr>
              <a:tr h="552069">
                <a:tc>
                  <a:txBody>
                    <a:bodyPr wrap="square"/>
                    <a:lstStyle/>
                    <a:p>
                      <a:r>
                        <a:rPr sz="1100" b="1">
                          <a:solidFill>
                            <a:srgbClr val="0C2B4A"/>
                          </a:solidFill>
                        </a:rPr>
                        <a:t>A company paying fair wages and advertising honestly</a:t>
                      </a:r>
                    </a:p>
                  </a:txBody>
                  <a:tcPr anchor="ctr" marL="73152" marR="54864" marT="27432" marB="27432">
                    <a:solidFill>
                      <a:srgbClr val="EEF3F8"/>
                    </a:solidFill>
                  </a:tcPr>
                </a:tc>
                <a:tc>
                  <a:txBody>
                    <a:bodyPr wrap="square"/>
                    <a:lstStyle/>
                    <a:p>
                      <a:r>
                        <a:rPr sz="1100">
                          <a:solidFill>
                            <a:srgbClr val="1A1A1A"/>
                          </a:solidFill>
                        </a:rPr>
                        <a:t>Ethical</a:t>
                      </a:r>
                    </a:p>
                  </a:txBody>
                  <a:tcPr anchor="ctr" marL="73152" marR="54864" marT="27432" marB="27432">
                    <a:solidFill>
                      <a:srgbClr val="EEF3F8"/>
                    </a:solidFill>
                  </a:tcPr>
                </a:tc>
                <a:tc>
                  <a:txBody>
                    <a:bodyPr wrap="square"/>
                    <a:lstStyle/>
                    <a:p>
                      <a:r>
                        <a:rPr sz="1100">
                          <a:solidFill>
                            <a:srgbClr val="1A1A1A"/>
                          </a:solidFill>
                        </a:rPr>
                        <a:t>Right beyond what the law forces</a:t>
                      </a:r>
                    </a:p>
                  </a:txBody>
                  <a:tcPr anchor="ctr" marL="73152" marR="54864" marT="27432" marB="27432">
                    <a:solidFill>
                      <a:srgbClr val="EEF3F8"/>
                    </a:solidFill>
                  </a:tcPr>
                </a:tc>
              </a:tr>
              <a:tr h="552069">
                <a:tc>
                  <a:txBody>
                    <a:bodyPr wrap="square"/>
                    <a:lstStyle/>
                    <a:p>
                      <a:r>
                        <a:rPr sz="1100" b="1">
                          <a:solidFill>
                            <a:srgbClr val="0C2B4A"/>
                          </a:solidFill>
                        </a:rPr>
                        <a:t>A telecom NOT exploiting a billing loophole that overcharges</a:t>
                      </a:r>
                    </a:p>
                  </a:txBody>
                  <a:tcPr anchor="ctr" marL="73152" marR="54864" marT="27432" marB="27432">
                    <a:solidFill>
                      <a:srgbClr val="FFFFFF"/>
                    </a:solidFill>
                  </a:tcPr>
                </a:tc>
                <a:tc>
                  <a:txBody>
                    <a:bodyPr wrap="square"/>
                    <a:lstStyle/>
                    <a:p>
                      <a:r>
                        <a:rPr sz="1100">
                          <a:solidFill>
                            <a:srgbClr val="1A1A1A"/>
                          </a:solidFill>
                        </a:rPr>
                        <a:t>Ethical</a:t>
                      </a:r>
                    </a:p>
                  </a:txBody>
                  <a:tcPr anchor="ctr" marL="73152" marR="54864" marT="27432" marB="27432">
                    <a:solidFill>
                      <a:srgbClr val="FFFFFF"/>
                    </a:solidFill>
                  </a:tcPr>
                </a:tc>
                <a:tc>
                  <a:txBody>
                    <a:bodyPr wrap="square"/>
                    <a:lstStyle/>
                    <a:p>
                      <a:r>
                        <a:rPr sz="1100">
                          <a:solidFill>
                            <a:srgbClr val="1A1A1A"/>
                          </a:solidFill>
                        </a:rPr>
                        <a:t>Above the legal floor</a:t>
                      </a:r>
                    </a:p>
                  </a:txBody>
                  <a:tcPr anchor="ctr" marL="73152" marR="54864" marT="27432" marB="27432">
                    <a:solidFill>
                      <a:srgbClr val="FFFFFF"/>
                    </a:solidFill>
                  </a:tcPr>
                </a:tc>
              </a:tr>
              <a:tr h="552069">
                <a:tc>
                  <a:txBody>
                    <a:bodyPr wrap="square"/>
                    <a:lstStyle/>
                    <a:p>
                      <a:r>
                        <a:rPr sz="1100" b="1">
                          <a:solidFill>
                            <a:srgbClr val="0C2B4A"/>
                          </a:solidFill>
                        </a:rPr>
                        <a:t>Ncell/NTC extending coverage to remote villages</a:t>
                      </a:r>
                    </a:p>
                  </a:txBody>
                  <a:tcPr anchor="ctr" marL="73152" marR="54864" marT="27432" marB="27432">
                    <a:solidFill>
                      <a:srgbClr val="EEF3F8"/>
                    </a:solidFill>
                  </a:tcPr>
                </a:tc>
                <a:tc>
                  <a:txBody>
                    <a:bodyPr wrap="square"/>
                    <a:lstStyle/>
                    <a:p>
                      <a:r>
                        <a:rPr sz="1100">
                          <a:solidFill>
                            <a:srgbClr val="1A1A1A"/>
                          </a:solidFill>
                        </a:rPr>
                        <a:t>Philanthropic</a:t>
                      </a:r>
                    </a:p>
                  </a:txBody>
                  <a:tcPr anchor="ctr" marL="73152" marR="54864" marT="27432" marB="27432">
                    <a:solidFill>
                      <a:srgbClr val="EEF3F8"/>
                    </a:solidFill>
                  </a:tcPr>
                </a:tc>
                <a:tc>
                  <a:txBody>
                    <a:bodyPr wrap="square"/>
                    <a:lstStyle/>
                    <a:p>
                      <a:r>
                        <a:rPr sz="1100">
                          <a:solidFill>
                            <a:srgbClr val="1A1A1A"/>
                          </a:solidFill>
                        </a:rPr>
                        <a:t>Serves society beyond pure profit</a:t>
                      </a:r>
                    </a:p>
                  </a:txBody>
                  <a:tcPr anchor="ctr" marL="73152" marR="54864" marT="27432" marB="27432">
                    <a:solidFill>
                      <a:srgbClr val="EEF3F8"/>
                    </a:solidFill>
                  </a:tcPr>
                </a:tc>
              </a:tr>
              <a:tr h="552069">
                <a:tc>
                  <a:txBody>
                    <a:bodyPr wrap="square"/>
                    <a:lstStyle/>
                    <a:p>
                      <a:r>
                        <a:rPr sz="1100" b="1">
                          <a:solidFill>
                            <a:srgbClr val="0C2B4A"/>
                          </a:solidFill>
                        </a:rPr>
                        <a:t>A bank funding scholarships and flood relief</a:t>
                      </a:r>
                    </a:p>
                  </a:txBody>
                  <a:tcPr anchor="ctr" marL="73152" marR="54864" marT="27432" marB="27432">
                    <a:solidFill>
                      <a:srgbClr val="FFFFFF"/>
                    </a:solidFill>
                  </a:tcPr>
                </a:tc>
                <a:tc>
                  <a:txBody>
                    <a:bodyPr wrap="square"/>
                    <a:lstStyle/>
                    <a:p>
                      <a:r>
                        <a:rPr sz="1100">
                          <a:solidFill>
                            <a:srgbClr val="1A1A1A"/>
                          </a:solidFill>
                        </a:rPr>
                        <a:t>Philanthropic (top)</a:t>
                      </a:r>
                    </a:p>
                  </a:txBody>
                  <a:tcPr anchor="ctr" marL="73152" marR="54864" marT="27432" marB="27432">
                    <a:solidFill>
                      <a:srgbClr val="FFFFFF"/>
                    </a:solidFill>
                  </a:tcPr>
                </a:tc>
                <a:tc>
                  <a:txBody>
                    <a:bodyPr wrap="square"/>
                    <a:lstStyle/>
                    <a:p>
                      <a:r>
                        <a:rPr sz="1100">
                          <a:solidFill>
                            <a:srgbClr val="1A1A1A"/>
                          </a:solidFill>
                        </a:rPr>
                        <a:t>Giving back to the community</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company donating to charity (top) while underpaying staff (skipping the ethical layer) is doing CSR backwards — image without foundation.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101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Stakeholder Theory — who is a business accountable to?</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Central question: to whom does a company answer? The narrow answer is shareholders (owners). Stakeholder theory widens it to EVERYONE materially affected — customers, employees, suppliers, community, environment, government, and owners.</a:t>
            </a:r>
          </a:p>
          <a:p>
            <a:pPr>
              <a:spcAft>
                <a:spcPts val="500"/>
              </a:spcAft>
            </a:pPr>
            <a:r>
              <a:rPr sz="1200" b="1">
                <a:solidFill>
                  <a:srgbClr val="185FA5"/>
                </a:solidFill>
              </a:rPr>
              <a:t>HOW IT WORKS</a:t>
            </a:r>
          </a:p>
          <a:p>
            <a:pPr>
              <a:spcAft>
                <a:spcPts val="600"/>
              </a:spcAft>
            </a:pPr>
            <a:r>
              <a:rPr sz="1400">
                <a:solidFill>
                  <a:srgbClr val="1A1A1A"/>
                </a:solidFill>
              </a:rPr>
              <a:t>•  Under a stakeholder view, a decision great for owners but harmful to the community is a FAILURE.</a:t>
            </a:r>
          </a:p>
          <a:p>
            <a:pPr>
              <a:spcAft>
                <a:spcPts val="600"/>
              </a:spcAft>
            </a:pPr>
            <a:r>
              <a:rPr sz="1400">
                <a:solidFill>
                  <a:srgbClr val="1A1A1A"/>
                </a:solidFill>
              </a:rPr>
              <a:t>•  Costs pushed onto stakeholders are hidden, not absent (health costs, lawsuits, lost social licence).</a:t>
            </a:r>
          </a:p>
          <a:p>
            <a:pPr>
              <a:spcAft>
                <a:spcPts val="600"/>
              </a:spcAft>
            </a:pPr>
            <a:r>
              <a:rPr sz="1400">
                <a:solidFill>
                  <a:srgbClr val="1A1A1A"/>
                </a:solidFill>
              </a:rPr>
              <a:t>•  Two lenses give opposite verdicts on the same decision (see the table).</a:t>
            </a:r>
          </a:p>
          <a:p>
            <a:pPr>
              <a:spcAft>
                <a:spcPts val="600"/>
              </a:spcAft>
            </a:pPr>
            <a:r>
              <a:rPr sz="1400">
                <a:solidFill>
                  <a:srgbClr val="1A1A1A"/>
                </a:solidFill>
              </a:rPr>
              <a:t>•  'Ethics fails when we count only the stakeholders who show up on the balance sheet.'</a:t>
            </a:r>
          </a:p>
        </p:txBody>
      </p:sp>
      <p:pic>
        <p:nvPicPr>
          <p:cNvPr id="6" name="Picture 5" descr="s2_stakeholders.png"/>
          <p:cNvPicPr>
            <a:picLocks noChangeAspect="1"/>
          </p:cNvPicPr>
          <p:nvPr/>
        </p:nvPicPr>
        <p:blipFill>
          <a:blip r:embed="rId2"/>
          <a:stretch>
            <a:fillRect/>
          </a:stretch>
        </p:blipFill>
        <p:spPr>
          <a:xfrm>
            <a:off x="6355080" y="2425959"/>
            <a:ext cx="5532120" cy="2783321"/>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Count everyone affected — not just those on the balance sheet.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101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 decision, two lenses — the polluting factory</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165230"/>
                <a:gridCol w="3692769"/>
                <a:gridCol w="4572000"/>
              </a:tblGrid>
              <a:tr h="883310">
                <a:tc>
                  <a:txBody>
                    <a:bodyPr wrap="square"/>
                    <a:lstStyle/>
                    <a:p>
                      <a:r>
                        <a:rPr sz="1200" b="1">
                          <a:solidFill>
                            <a:srgbClr val="FFFFFF"/>
                          </a:solidFill>
                        </a:rPr>
                        <a:t>Question</a:t>
                      </a:r>
                    </a:p>
                  </a:txBody>
                  <a:tcPr anchor="ctr" marL="73152" marR="54864" marT="27432" marB="27432">
                    <a:solidFill>
                      <a:srgbClr val="0C2B4A"/>
                    </a:solidFill>
                  </a:tcPr>
                </a:tc>
                <a:tc>
                  <a:txBody>
                    <a:bodyPr wrap="square"/>
                    <a:lstStyle/>
                    <a:p>
                      <a:r>
                        <a:rPr sz="1200" b="1">
                          <a:solidFill>
                            <a:srgbClr val="FFFFFF"/>
                          </a:solidFill>
                        </a:rPr>
                        <a:t>Shareholder lens</a:t>
                      </a:r>
                    </a:p>
                  </a:txBody>
                  <a:tcPr anchor="ctr" marL="73152" marR="54864" marT="27432" marB="27432">
                    <a:solidFill>
                      <a:srgbClr val="0C2B4A"/>
                    </a:solidFill>
                  </a:tcPr>
                </a:tc>
                <a:tc>
                  <a:txBody>
                    <a:bodyPr wrap="square"/>
                    <a:lstStyle/>
                    <a:p>
                      <a:r>
                        <a:rPr sz="1200" b="1">
                          <a:solidFill>
                            <a:srgbClr val="FFFFFF"/>
                          </a:solidFill>
                        </a:rPr>
                        <a:t>Stakeholder lens</a:t>
                      </a:r>
                    </a:p>
                  </a:txBody>
                  <a:tcPr anchor="ctr" marL="73152" marR="54864" marT="27432" marB="27432">
                    <a:solidFill>
                      <a:srgbClr val="0C2B4A"/>
                    </a:solidFill>
                  </a:tcPr>
                </a:tc>
              </a:tr>
              <a:tr h="883310">
                <a:tc>
                  <a:txBody>
                    <a:bodyPr wrap="square"/>
                    <a:lstStyle/>
                    <a:p>
                      <a:r>
                        <a:rPr sz="1150" b="1">
                          <a:solidFill>
                            <a:srgbClr val="0C2B4A"/>
                          </a:solidFill>
                        </a:rPr>
                        <a:t>Who counts?</a:t>
                      </a:r>
                    </a:p>
                  </a:txBody>
                  <a:tcPr anchor="ctr" marL="73152" marR="54864" marT="27432" marB="27432">
                    <a:solidFill>
                      <a:srgbClr val="FFFFFF"/>
                    </a:solidFill>
                  </a:tcPr>
                </a:tc>
                <a:tc>
                  <a:txBody>
                    <a:bodyPr wrap="square"/>
                    <a:lstStyle/>
                    <a:p>
                      <a:r>
                        <a:rPr sz="1150">
                          <a:solidFill>
                            <a:srgbClr val="1A1A1A"/>
                          </a:solidFill>
                        </a:rPr>
                        <a:t>The owners</a:t>
                      </a:r>
                    </a:p>
                  </a:txBody>
                  <a:tcPr anchor="ctr" marL="73152" marR="54864" marT="27432" marB="27432">
                    <a:solidFill>
                      <a:srgbClr val="FFFFFF"/>
                    </a:solidFill>
                  </a:tcPr>
                </a:tc>
                <a:tc>
                  <a:txBody>
                    <a:bodyPr wrap="square"/>
                    <a:lstStyle/>
                    <a:p>
                      <a:r>
                        <a:rPr sz="1150">
                          <a:solidFill>
                            <a:srgbClr val="1A1A1A"/>
                          </a:solidFill>
                        </a:rPr>
                        <a:t>Everyone materially affected</a:t>
                      </a:r>
                    </a:p>
                  </a:txBody>
                  <a:tcPr anchor="ctr" marL="73152" marR="54864" marT="27432" marB="27432">
                    <a:solidFill>
                      <a:srgbClr val="FFFFFF"/>
                    </a:solidFill>
                  </a:tcPr>
                </a:tc>
              </a:tr>
              <a:tr h="883310">
                <a:tc>
                  <a:txBody>
                    <a:bodyPr wrap="square"/>
                    <a:lstStyle/>
                    <a:p>
                      <a:r>
                        <a:rPr sz="1150" b="1">
                          <a:solidFill>
                            <a:srgbClr val="0C2B4A"/>
                          </a:solidFill>
                        </a:rPr>
                        <a:t>Factory is profitable but pollutes a village's water</a:t>
                      </a:r>
                    </a:p>
                  </a:txBody>
                  <a:tcPr anchor="ctr" marL="73152" marR="54864" marT="27432" marB="27432">
                    <a:solidFill>
                      <a:srgbClr val="EEF3F8"/>
                    </a:solidFill>
                  </a:tcPr>
                </a:tc>
                <a:tc>
                  <a:txBody>
                    <a:bodyPr wrap="square"/>
                    <a:lstStyle/>
                    <a:p>
                      <a:r>
                        <a:rPr sz="1150">
                          <a:solidFill>
                            <a:srgbClr val="1A1A1A"/>
                          </a:solidFill>
                        </a:rPr>
                        <a:t>Success — profits are up</a:t>
                      </a:r>
                    </a:p>
                  </a:txBody>
                  <a:tcPr anchor="ctr" marL="73152" marR="54864" marT="27432" marB="27432">
                    <a:solidFill>
                      <a:srgbClr val="EEF3F8"/>
                    </a:solidFill>
                  </a:tcPr>
                </a:tc>
                <a:tc>
                  <a:txBody>
                    <a:bodyPr wrap="square"/>
                    <a:lstStyle/>
                    <a:p>
                      <a:r>
                        <a:rPr sz="1150">
                          <a:solidFill>
                            <a:srgbClr val="1A1A1A"/>
                          </a:solidFill>
                        </a:rPr>
                        <a:t>Failure — the village is harmed</a:t>
                      </a:r>
                    </a:p>
                  </a:txBody>
                  <a:tcPr anchor="ctr" marL="73152" marR="54864" marT="27432" marB="27432">
                    <a:solidFill>
                      <a:srgbClr val="EEF3F8"/>
                    </a:solidFill>
                  </a:tcPr>
                </a:tc>
              </a:tr>
              <a:tr h="883310">
                <a:tc>
                  <a:txBody>
                    <a:bodyPr wrap="square"/>
                    <a:lstStyle/>
                    <a:p>
                      <a:r>
                        <a:rPr sz="1150" b="1">
                          <a:solidFill>
                            <a:srgbClr val="0C2B4A"/>
                          </a:solidFill>
                        </a:rPr>
                        <a:t>Are the costs real?</a:t>
                      </a:r>
                    </a:p>
                  </a:txBody>
                  <a:tcPr anchor="ctr" marL="73152" marR="54864" marT="27432" marB="27432">
                    <a:solidFill>
                      <a:srgbClr val="FFFFFF"/>
                    </a:solidFill>
                  </a:tcPr>
                </a:tc>
                <a:tc>
                  <a:txBody>
                    <a:bodyPr wrap="square"/>
                    <a:lstStyle/>
                    <a:p>
                      <a:r>
                        <a:rPr sz="1150">
                          <a:solidFill>
                            <a:srgbClr val="1A1A1A"/>
                          </a:solidFill>
                        </a:rPr>
                        <a:t>Ignored — off the balance sheet</a:t>
                      </a:r>
                    </a:p>
                  </a:txBody>
                  <a:tcPr anchor="ctr" marL="73152" marR="54864" marT="27432" marB="27432">
                    <a:solidFill>
                      <a:srgbClr val="FFFFFF"/>
                    </a:solidFill>
                  </a:tcPr>
                </a:tc>
                <a:tc>
                  <a:txBody>
                    <a:bodyPr wrap="square"/>
                    <a:lstStyle/>
                    <a:p>
                      <a:r>
                        <a:rPr sz="1150">
                          <a:solidFill>
                            <a:srgbClr val="1A1A1A"/>
                          </a:solidFill>
                        </a:rPr>
                        <a:t>Real but hidden: health costs, lawsuits, lost licence</a:t>
                      </a:r>
                    </a:p>
                  </a:txBody>
                  <a:tcPr anchor="ctr" marL="73152" marR="54864" marT="27432" marB="27432">
                    <a:solidFill>
                      <a:srgbClr val="FFFFFF"/>
                    </a:solidFill>
                  </a:tcPr>
                </a:tc>
              </a:tr>
              <a:tr h="883312">
                <a:tc>
                  <a:txBody>
                    <a:bodyPr wrap="square"/>
                    <a:lstStyle/>
                    <a:p>
                      <a:r>
                        <a:rPr sz="1150" b="1">
                          <a:solidFill>
                            <a:srgbClr val="0C2B4A"/>
                          </a:solidFill>
                        </a:rPr>
                        <a:t>Verdict</a:t>
                      </a:r>
                    </a:p>
                  </a:txBody>
                  <a:tcPr anchor="ctr" marL="73152" marR="54864" marT="27432" marB="27432">
                    <a:solidFill>
                      <a:srgbClr val="EEF3F8"/>
                    </a:solidFill>
                  </a:tcPr>
                </a:tc>
                <a:tc>
                  <a:txBody>
                    <a:bodyPr wrap="square"/>
                    <a:lstStyle/>
                    <a:p>
                      <a:r>
                        <a:rPr sz="1150">
                          <a:solidFill>
                            <a:srgbClr val="1A1A1A"/>
                          </a:solidFill>
                        </a:rPr>
                        <a:t>Great result</a:t>
                      </a:r>
                    </a:p>
                  </a:txBody>
                  <a:tcPr anchor="ctr" marL="73152" marR="54864" marT="27432" marB="27432">
                    <a:solidFill>
                      <a:srgbClr val="EEF3F8"/>
                    </a:solidFill>
                  </a:tcPr>
                </a:tc>
                <a:tc>
                  <a:txBody>
                    <a:bodyPr wrap="square"/>
                    <a:lstStyle/>
                    <a:p>
                      <a:r>
                        <a:rPr sz="1150">
                          <a:solidFill>
                            <a:srgbClr val="1A1A1A"/>
                          </a:solidFill>
                        </a:rPr>
                        <a:t>Ethical failure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Same facts, opposite conclusions — which is why 'whose interests count?' is the first ethical question in business.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101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Stakeholder Theory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factory highly profitable for owners but quietly polluting a village's drinking water is a shareholder-lens success and a stakeholder-lens failure. The health costs and future lawsuits are real — just not yet on the balance sheet.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company only answers to its owners." Stakeholder theory: it answers to everyone it materially affects. Ignoring non-owner stakeholders doesn't remove the cost — it hides it until it returns as lawsuits, boycotts, or lost licence to operate.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Stakeholder theory holds that a business is accountable to all groups materially affected by it — customers, employees, suppliers, community, environment, government, and owners — not shareholders alone. A decision that profits owners while harming another stakeholder is an ethical failure, because the cost is hidden, not absent.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stakeholder theory · shareholder vs stakeholder lens · social licence to operate · hidden costs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101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 decision, two lenses — real Nepali cases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3857625"/>
                <a:gridCol w="2286000"/>
                <a:gridCol w="2286000"/>
                <a:gridCol w="3000375"/>
              </a:tblGrid>
              <a:tr h="630936">
                <a:tc>
                  <a:txBody>
                    <a:bodyPr wrap="square"/>
                    <a:lstStyle/>
                    <a:p>
                      <a:r>
                        <a:rPr sz="1100" b="1">
                          <a:solidFill>
                            <a:srgbClr val="FFFFFF"/>
                          </a:solidFill>
                        </a:rPr>
                        <a:t>Business decision</a:t>
                      </a:r>
                    </a:p>
                  </a:txBody>
                  <a:tcPr anchor="ctr" marL="73152" marR="54864" marT="27432" marB="27432">
                    <a:solidFill>
                      <a:srgbClr val="0C2B4A"/>
                    </a:solidFill>
                  </a:tcPr>
                </a:tc>
                <a:tc>
                  <a:txBody>
                    <a:bodyPr wrap="square"/>
                    <a:lstStyle/>
                    <a:p>
                      <a:r>
                        <a:rPr sz="1100" b="1">
                          <a:solidFill>
                            <a:srgbClr val="FFFFFF"/>
                          </a:solidFill>
                        </a:rPr>
                        <a:t>Shareholder lens</a:t>
                      </a:r>
                    </a:p>
                  </a:txBody>
                  <a:tcPr anchor="ctr" marL="73152" marR="54864" marT="27432" marB="27432">
                    <a:solidFill>
                      <a:srgbClr val="0C2B4A"/>
                    </a:solidFill>
                  </a:tcPr>
                </a:tc>
                <a:tc>
                  <a:txBody>
                    <a:bodyPr wrap="square"/>
                    <a:lstStyle/>
                    <a:p>
                      <a:r>
                        <a:rPr sz="1100" b="1">
                          <a:solidFill>
                            <a:srgbClr val="FFFFFF"/>
                          </a:solidFill>
                        </a:rPr>
                        <a:t>Stakeholder lens</a:t>
                      </a:r>
                    </a:p>
                  </a:txBody>
                  <a:tcPr anchor="ctr" marL="73152" marR="54864" marT="27432" marB="27432">
                    <a:solidFill>
                      <a:srgbClr val="0C2B4A"/>
                    </a:solidFill>
                  </a:tcPr>
                </a:tc>
                <a:tc>
                  <a:txBody>
                    <a:bodyPr wrap="square"/>
                    <a:lstStyle/>
                    <a:p>
                      <a:r>
                        <a:rPr sz="1100" b="1">
                          <a:solidFill>
                            <a:srgbClr val="FFFFFF"/>
                          </a:solidFill>
                        </a:rPr>
                        <a:t>Hidden cost</a:t>
                      </a:r>
                    </a:p>
                  </a:txBody>
                  <a:tcPr anchor="ctr" marL="73152" marR="54864" marT="27432" marB="27432">
                    <a:solidFill>
                      <a:srgbClr val="0C2B4A"/>
                    </a:solidFill>
                  </a:tcPr>
                </a:tc>
              </a:tr>
              <a:tr h="630936">
                <a:tc>
                  <a:txBody>
                    <a:bodyPr wrap="square"/>
                    <a:lstStyle/>
                    <a:p>
                      <a:r>
                        <a:rPr sz="1050" b="1">
                          <a:solidFill>
                            <a:srgbClr val="0C2B4A"/>
                          </a:solidFill>
                        </a:rPr>
                        <a:t>A brick/cement factory profitable but polluting a village's water</a:t>
                      </a:r>
                    </a:p>
                  </a:txBody>
                  <a:tcPr anchor="ctr" marL="73152" marR="54864" marT="27432" marB="27432">
                    <a:solidFill>
                      <a:srgbClr val="FFFFFF"/>
                    </a:solidFill>
                  </a:tcPr>
                </a:tc>
                <a:tc>
                  <a:txBody>
                    <a:bodyPr wrap="square"/>
                    <a:lstStyle/>
                    <a:p>
                      <a:r>
                        <a:rPr sz="1050">
                          <a:solidFill>
                            <a:srgbClr val="1A1A1A"/>
                          </a:solidFill>
                        </a:rPr>
                        <a:t>Success — profit up</a:t>
                      </a:r>
                    </a:p>
                  </a:txBody>
                  <a:tcPr anchor="ctr" marL="73152" marR="54864" marT="27432" marB="27432">
                    <a:solidFill>
                      <a:srgbClr val="FFFFFF"/>
                    </a:solidFill>
                  </a:tcPr>
                </a:tc>
                <a:tc>
                  <a:txBody>
                    <a:bodyPr wrap="square"/>
                    <a:lstStyle/>
                    <a:p>
                      <a:r>
                        <a:rPr sz="1050">
                          <a:solidFill>
                            <a:srgbClr val="1A1A1A"/>
                          </a:solidFill>
                        </a:rPr>
                        <a:t>Failure — village harmed</a:t>
                      </a:r>
                    </a:p>
                  </a:txBody>
                  <a:tcPr anchor="ctr" marL="73152" marR="54864" marT="27432" marB="27432">
                    <a:solidFill>
                      <a:srgbClr val="FFFFFF"/>
                    </a:solidFill>
                  </a:tcPr>
                </a:tc>
                <a:tc>
                  <a:txBody>
                    <a:bodyPr wrap="square"/>
                    <a:lstStyle/>
                    <a:p>
                      <a:r>
                        <a:rPr sz="1050">
                          <a:solidFill>
                            <a:srgbClr val="1A1A1A"/>
                          </a:solidFill>
                        </a:rPr>
                        <a:t>Health costs, lawsuits, lost licence</a:t>
                      </a:r>
                    </a:p>
                  </a:txBody>
                  <a:tcPr anchor="ctr" marL="73152" marR="54864" marT="27432" marB="27432">
                    <a:solidFill>
                      <a:srgbClr val="FFFFFF"/>
                    </a:solidFill>
                  </a:tcPr>
                </a:tc>
              </a:tr>
              <a:tr h="630936">
                <a:tc>
                  <a:txBody>
                    <a:bodyPr wrap="square"/>
                    <a:lstStyle/>
                    <a:p>
                      <a:r>
                        <a:rPr sz="1050" b="1">
                          <a:solidFill>
                            <a:srgbClr val="0C2B4A"/>
                          </a:solidFill>
                        </a:rPr>
                        <a:t>A wallet firm sells user location data to advertisers</a:t>
                      </a:r>
                    </a:p>
                  </a:txBody>
                  <a:tcPr anchor="ctr" marL="73152" marR="54864" marT="27432" marB="27432">
                    <a:solidFill>
                      <a:srgbClr val="EEF3F8"/>
                    </a:solidFill>
                  </a:tcPr>
                </a:tc>
                <a:tc>
                  <a:txBody>
                    <a:bodyPr wrap="square"/>
                    <a:lstStyle/>
                    <a:p>
                      <a:r>
                        <a:rPr sz="1050">
                          <a:solidFill>
                            <a:srgbClr val="1A1A1A"/>
                          </a:solidFill>
                        </a:rPr>
                        <a:t>Revenue up</a:t>
                      </a:r>
                    </a:p>
                  </a:txBody>
                  <a:tcPr anchor="ctr" marL="73152" marR="54864" marT="27432" marB="27432">
                    <a:solidFill>
                      <a:srgbClr val="EEF3F8"/>
                    </a:solidFill>
                  </a:tcPr>
                </a:tc>
                <a:tc>
                  <a:txBody>
                    <a:bodyPr wrap="square"/>
                    <a:lstStyle/>
                    <a:p>
                      <a:r>
                        <a:rPr sz="1050">
                          <a:solidFill>
                            <a:srgbClr val="1A1A1A"/>
                          </a:solidFill>
                        </a:rPr>
                        <a:t>Privacy violated</a:t>
                      </a:r>
                    </a:p>
                  </a:txBody>
                  <a:tcPr anchor="ctr" marL="73152" marR="54864" marT="27432" marB="27432">
                    <a:solidFill>
                      <a:srgbClr val="EEF3F8"/>
                    </a:solidFill>
                  </a:tcPr>
                </a:tc>
                <a:tc>
                  <a:txBody>
                    <a:bodyPr wrap="square"/>
                    <a:lstStyle/>
                    <a:p>
                      <a:r>
                        <a:rPr sz="1050">
                          <a:solidFill>
                            <a:srgbClr val="1A1A1A"/>
                          </a:solidFill>
                        </a:rPr>
                        <a:t>Churn, regulator action</a:t>
                      </a:r>
                    </a:p>
                  </a:txBody>
                  <a:tcPr anchor="ctr" marL="73152" marR="54864" marT="27432" marB="27432">
                    <a:solidFill>
                      <a:srgbClr val="EEF3F8"/>
                    </a:solidFill>
                  </a:tcPr>
                </a:tc>
              </a:tr>
              <a:tr h="630936">
                <a:tc>
                  <a:txBody>
                    <a:bodyPr wrap="square"/>
                    <a:lstStyle/>
                    <a:p>
                      <a:r>
                        <a:rPr sz="1050" b="1">
                          <a:solidFill>
                            <a:srgbClr val="0C2B4A"/>
                          </a:solidFill>
                        </a:rPr>
                        <a:t>A garment exporter underpays workers to win a contract</a:t>
                      </a:r>
                    </a:p>
                  </a:txBody>
                  <a:tcPr anchor="ctr" marL="73152" marR="54864" marT="27432" marB="27432">
                    <a:solidFill>
                      <a:srgbClr val="FFFFFF"/>
                    </a:solidFill>
                  </a:tcPr>
                </a:tc>
                <a:tc>
                  <a:txBody>
                    <a:bodyPr wrap="square"/>
                    <a:lstStyle/>
                    <a:p>
                      <a:r>
                        <a:rPr sz="1050">
                          <a:solidFill>
                            <a:srgbClr val="1A1A1A"/>
                          </a:solidFill>
                        </a:rPr>
                        <a:t>Lower cost, more orders</a:t>
                      </a:r>
                    </a:p>
                  </a:txBody>
                  <a:tcPr anchor="ctr" marL="73152" marR="54864" marT="27432" marB="27432">
                    <a:solidFill>
                      <a:srgbClr val="FFFFFF"/>
                    </a:solidFill>
                  </a:tcPr>
                </a:tc>
                <a:tc>
                  <a:txBody>
                    <a:bodyPr wrap="square"/>
                    <a:lstStyle/>
                    <a:p>
                      <a:r>
                        <a:rPr sz="1050">
                          <a:solidFill>
                            <a:srgbClr val="1A1A1A"/>
                          </a:solidFill>
                        </a:rPr>
                        <a:t>Workers exploited</a:t>
                      </a:r>
                    </a:p>
                  </a:txBody>
                  <a:tcPr anchor="ctr" marL="73152" marR="54864" marT="27432" marB="27432">
                    <a:solidFill>
                      <a:srgbClr val="FFFFFF"/>
                    </a:solidFill>
                  </a:tcPr>
                </a:tc>
                <a:tc>
                  <a:txBody>
                    <a:bodyPr wrap="square"/>
                    <a:lstStyle/>
                    <a:p>
                      <a:r>
                        <a:rPr sz="1050">
                          <a:solidFill>
                            <a:srgbClr val="1A1A1A"/>
                          </a:solidFill>
                        </a:rPr>
                        <a:t>Strikes, boycotts, reputation</a:t>
                      </a:r>
                    </a:p>
                  </a:txBody>
                  <a:tcPr anchor="ctr" marL="73152" marR="54864" marT="27432" marB="27432">
                    <a:solidFill>
                      <a:srgbClr val="FFFFFF"/>
                    </a:solidFill>
                  </a:tcPr>
                </a:tc>
              </a:tr>
              <a:tr h="630936">
                <a:tc>
                  <a:txBody>
                    <a:bodyPr wrap="square"/>
                    <a:lstStyle/>
                    <a:p>
                      <a:r>
                        <a:rPr sz="1050" b="1">
                          <a:solidFill>
                            <a:srgbClr val="0C2B4A"/>
                          </a:solidFill>
                        </a:rPr>
                        <a:t>A bank pushes loans farmers can't repay</a:t>
                      </a:r>
                    </a:p>
                  </a:txBody>
                  <a:tcPr anchor="ctr" marL="73152" marR="54864" marT="27432" marB="27432">
                    <a:solidFill>
                      <a:srgbClr val="EEF3F8"/>
                    </a:solidFill>
                  </a:tcPr>
                </a:tc>
                <a:tc>
                  <a:txBody>
                    <a:bodyPr wrap="square"/>
                    <a:lstStyle/>
                    <a:p>
                      <a:r>
                        <a:rPr sz="1050">
                          <a:solidFill>
                            <a:srgbClr val="1A1A1A"/>
                          </a:solidFill>
                        </a:rPr>
                        <a:t>Loan-book growth</a:t>
                      </a:r>
                    </a:p>
                  </a:txBody>
                  <a:tcPr anchor="ctr" marL="73152" marR="54864" marT="27432" marB="27432">
                    <a:solidFill>
                      <a:srgbClr val="EEF3F8"/>
                    </a:solidFill>
                  </a:tcPr>
                </a:tc>
                <a:tc>
                  <a:txBody>
                    <a:bodyPr wrap="square"/>
                    <a:lstStyle/>
                    <a:p>
                      <a:r>
                        <a:rPr sz="1050">
                          <a:solidFill>
                            <a:srgbClr val="1A1A1A"/>
                          </a:solidFill>
                        </a:rPr>
                        <a:t>Farmers trapped in debt</a:t>
                      </a:r>
                    </a:p>
                  </a:txBody>
                  <a:tcPr anchor="ctr" marL="73152" marR="54864" marT="27432" marB="27432">
                    <a:solidFill>
                      <a:srgbClr val="EEF3F8"/>
                    </a:solidFill>
                  </a:tcPr>
                </a:tc>
                <a:tc>
                  <a:txBody>
                    <a:bodyPr wrap="square"/>
                    <a:lstStyle/>
                    <a:p>
                      <a:r>
                        <a:rPr sz="1050">
                          <a:solidFill>
                            <a:srgbClr val="1A1A1A"/>
                          </a:solidFill>
                        </a:rPr>
                        <a:t>Defaults, social backlash</a:t>
                      </a:r>
                    </a:p>
                  </a:txBody>
                  <a:tcPr anchor="ctr" marL="73152" marR="54864" marT="27432" marB="27432">
                    <a:solidFill>
                      <a:srgbClr val="EEF3F8"/>
                    </a:solidFill>
                  </a:tcPr>
                </a:tc>
              </a:tr>
              <a:tr h="630936">
                <a:tc>
                  <a:txBody>
                    <a:bodyPr wrap="square"/>
                    <a:lstStyle/>
                    <a:p>
                      <a:r>
                        <a:rPr sz="1050" b="1">
                          <a:solidFill>
                            <a:srgbClr val="0C2B4A"/>
                          </a:solidFill>
                        </a:rPr>
                        <a:t>A college over-enrols far beyond capacity</a:t>
                      </a:r>
                    </a:p>
                  </a:txBody>
                  <a:tcPr anchor="ctr" marL="73152" marR="54864" marT="27432" marB="27432">
                    <a:solidFill>
                      <a:srgbClr val="FFFFFF"/>
                    </a:solidFill>
                  </a:tcPr>
                </a:tc>
                <a:tc>
                  <a:txBody>
                    <a:bodyPr wrap="square"/>
                    <a:lstStyle/>
                    <a:p>
                      <a:r>
                        <a:rPr sz="1050">
                          <a:solidFill>
                            <a:srgbClr val="1A1A1A"/>
                          </a:solidFill>
                        </a:rPr>
                        <a:t>More fee income</a:t>
                      </a:r>
                    </a:p>
                  </a:txBody>
                  <a:tcPr anchor="ctr" marL="73152" marR="54864" marT="27432" marB="27432">
                    <a:solidFill>
                      <a:srgbClr val="FFFFFF"/>
                    </a:solidFill>
                  </a:tcPr>
                </a:tc>
                <a:tc>
                  <a:txBody>
                    <a:bodyPr wrap="square"/>
                    <a:lstStyle/>
                    <a:p>
                      <a:r>
                        <a:rPr sz="1050">
                          <a:solidFill>
                            <a:srgbClr val="1A1A1A"/>
                          </a:solidFill>
                        </a:rPr>
                        <a:t>Students get poor teaching</a:t>
                      </a:r>
                    </a:p>
                  </a:txBody>
                  <a:tcPr anchor="ctr" marL="73152" marR="54864" marT="27432" marB="27432">
                    <a:solidFill>
                      <a:srgbClr val="FFFFFF"/>
                    </a:solidFill>
                  </a:tcPr>
                </a:tc>
                <a:tc>
                  <a:txBody>
                    <a:bodyPr wrap="square"/>
                    <a:lstStyle/>
                    <a:p>
                      <a:r>
                        <a:rPr sz="1050">
                          <a:solidFill>
                            <a:srgbClr val="1A1A1A"/>
                          </a:solidFill>
                        </a:rPr>
                        <a:t>Falling reputation, dropouts</a:t>
                      </a:r>
                    </a:p>
                  </a:txBody>
                  <a:tcPr anchor="ctr" marL="73152" marR="54864" marT="27432" marB="27432">
                    <a:solidFill>
                      <a:srgbClr val="FFFFFF"/>
                    </a:solidFill>
                  </a:tcPr>
                </a:tc>
              </a:tr>
              <a:tr h="630936">
                <a:tc>
                  <a:txBody>
                    <a:bodyPr wrap="square"/>
                    <a:lstStyle/>
                    <a:p>
                      <a:r>
                        <a:rPr sz="1050" b="1">
                          <a:solidFill>
                            <a:srgbClr val="0C2B4A"/>
                          </a:solidFill>
                        </a:rPr>
                        <a:t>A hydropower project skips community consultation</a:t>
                      </a:r>
                    </a:p>
                  </a:txBody>
                  <a:tcPr anchor="ctr" marL="73152" marR="54864" marT="27432" marB="27432">
                    <a:solidFill>
                      <a:srgbClr val="EEF3F8"/>
                    </a:solidFill>
                  </a:tcPr>
                </a:tc>
                <a:tc>
                  <a:txBody>
                    <a:bodyPr wrap="square"/>
                    <a:lstStyle/>
                    <a:p>
                      <a:r>
                        <a:rPr sz="1050">
                          <a:solidFill>
                            <a:srgbClr val="1A1A1A"/>
                          </a:solidFill>
                        </a:rPr>
                        <a:t>Faster build</a:t>
                      </a:r>
                    </a:p>
                  </a:txBody>
                  <a:tcPr anchor="ctr" marL="73152" marR="54864" marT="27432" marB="27432">
                    <a:solidFill>
                      <a:srgbClr val="EEF3F8"/>
                    </a:solidFill>
                  </a:tcPr>
                </a:tc>
                <a:tc>
                  <a:txBody>
                    <a:bodyPr wrap="square"/>
                    <a:lstStyle/>
                    <a:p>
                      <a:r>
                        <a:rPr sz="1050">
                          <a:solidFill>
                            <a:srgbClr val="1A1A1A"/>
                          </a:solidFill>
                        </a:rPr>
                        <a:t>Locals displaced and angry</a:t>
                      </a:r>
                    </a:p>
                  </a:txBody>
                  <a:tcPr anchor="ctr" marL="73152" marR="54864" marT="27432" marB="27432">
                    <a:solidFill>
                      <a:srgbClr val="EEF3F8"/>
                    </a:solidFill>
                  </a:tcPr>
                </a:tc>
                <a:tc>
                  <a:txBody>
                    <a:bodyPr wrap="square"/>
                    <a:lstStyle/>
                    <a:p>
                      <a:r>
                        <a:rPr sz="1050">
                          <a:solidFill>
                            <a:srgbClr val="1A1A1A"/>
                          </a:solidFill>
                        </a:rPr>
                        <a:t>Protests, delays, lawsuits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costs pushed onto non-owner stakeholders are hidden, not absent — they return as lawsuits, boycotts, or a lost social licence to operate.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101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Fostering CSR &amp; an Ethical Culture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Good ethics is BUILT, not wished. Four levers turn CSR from a slogan into practice.</a:t>
            </a:r>
          </a:p>
          <a:p>
            <a:pPr>
              <a:spcAft>
                <a:spcPts val="500"/>
              </a:spcAft>
            </a:pPr>
            <a:r>
              <a:rPr sz="1200" b="1">
                <a:solidFill>
                  <a:srgbClr val="185FA5"/>
                </a:solidFill>
              </a:rPr>
              <a:t>HOW IT WORKS</a:t>
            </a:r>
          </a:p>
          <a:p>
            <a:pPr>
              <a:spcAft>
                <a:spcPts val="600"/>
              </a:spcAft>
            </a:pPr>
            <a:r>
              <a:rPr sz="1400">
                <a:solidFill>
                  <a:srgbClr val="1A1A1A"/>
                </a:solidFill>
              </a:rPr>
              <a:t>•  Tone from the top — staff copy what leaders DO, not what posters say.</a:t>
            </a:r>
          </a:p>
          <a:p>
            <a:pPr>
              <a:spcAft>
                <a:spcPts val="600"/>
              </a:spcAft>
            </a:pPr>
            <a:r>
              <a:rPr sz="1400">
                <a:solidFill>
                  <a:srgbClr val="1A1A1A"/>
                </a:solidFill>
              </a:rPr>
              <a:t>•  A clear, public code of ethics — turns vague values into specific expectations.</a:t>
            </a:r>
          </a:p>
          <a:p>
            <a:pPr>
              <a:spcAft>
                <a:spcPts val="600"/>
              </a:spcAft>
            </a:pPr>
            <a:r>
              <a:rPr sz="1400">
                <a:solidFill>
                  <a:srgbClr val="1A1A1A"/>
                </a:solidFill>
              </a:rPr>
              <a:t>•  An ethical culture — raising a concern is rewarded, not punished; doing right is the easy path.</a:t>
            </a:r>
          </a:p>
          <a:p>
            <a:pPr>
              <a:spcAft>
                <a:spcPts val="600"/>
              </a:spcAft>
            </a:pPr>
            <a:r>
              <a:rPr sz="1400">
                <a:solidFill>
                  <a:srgbClr val="1A1A1A"/>
                </a:solidFill>
              </a:rPr>
              <a:t>•  Social-responsibility reporting — publishing your impact creates accountability you can't quietly walk back.</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Trust compounds like interest; one scandal is a withdrawal that empties the account.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101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4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Genuine CSR vs Greenwashing — apply the test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592285"/>
                <a:gridCol w="3918857"/>
                <a:gridCol w="3918857"/>
              </a:tblGrid>
              <a:tr h="883310">
                <a:tc>
                  <a:txBody>
                    <a:bodyPr wrap="square"/>
                    <a:lstStyle/>
                    <a:p>
                      <a:r>
                        <a:rPr sz="1200" b="1">
                          <a:solidFill>
                            <a:srgbClr val="FFFFFF"/>
                          </a:solidFill>
                        </a:rPr>
                        <a:t>Test question</a:t>
                      </a:r>
                    </a:p>
                  </a:txBody>
                  <a:tcPr anchor="ctr" marL="73152" marR="54864" marT="27432" marB="27432">
                    <a:solidFill>
                      <a:srgbClr val="0C2B4A"/>
                    </a:solidFill>
                  </a:tcPr>
                </a:tc>
                <a:tc>
                  <a:txBody>
                    <a:bodyPr wrap="square"/>
                    <a:lstStyle/>
                    <a:p>
                      <a:r>
                        <a:rPr sz="1200" b="1">
                          <a:solidFill>
                            <a:srgbClr val="FFFFFF"/>
                          </a:solidFill>
                        </a:rPr>
                        <a:t>Genuine CSR</a:t>
                      </a:r>
                    </a:p>
                  </a:txBody>
                  <a:tcPr anchor="ctr" marL="73152" marR="54864" marT="27432" marB="27432">
                    <a:solidFill>
                      <a:srgbClr val="0C2B4A"/>
                    </a:solidFill>
                  </a:tcPr>
                </a:tc>
                <a:tc>
                  <a:txBody>
                    <a:bodyPr wrap="square"/>
                    <a:lstStyle/>
                    <a:p>
                      <a:r>
                        <a:rPr sz="1200" b="1">
                          <a:solidFill>
                            <a:srgbClr val="FFFFFF"/>
                          </a:solidFill>
                        </a:rPr>
                        <a:t>Greenwashing</a:t>
                      </a:r>
                    </a:p>
                  </a:txBody>
                  <a:tcPr anchor="ctr" marL="73152" marR="54864" marT="27432" marB="27432">
                    <a:solidFill>
                      <a:srgbClr val="0C2B4A"/>
                    </a:solidFill>
                  </a:tcPr>
                </a:tc>
              </a:tr>
              <a:tr h="883310">
                <a:tc>
                  <a:txBody>
                    <a:bodyPr wrap="square"/>
                    <a:lstStyle/>
                    <a:p>
                      <a:r>
                        <a:rPr sz="1150" b="1">
                          <a:solidFill>
                            <a:srgbClr val="0C2B4A"/>
                          </a:solidFill>
                        </a:rPr>
                        <a:t>Does daily operation match the message?</a:t>
                      </a:r>
                    </a:p>
                  </a:txBody>
                  <a:tcPr anchor="ctr" marL="73152" marR="54864" marT="27432" marB="27432">
                    <a:solidFill>
                      <a:srgbClr val="FFFFFF"/>
                    </a:solidFill>
                  </a:tcPr>
                </a:tc>
                <a:tc>
                  <a:txBody>
                    <a:bodyPr wrap="square"/>
                    <a:lstStyle/>
                    <a:p>
                      <a:r>
                        <a:rPr sz="1150">
                          <a:solidFill>
                            <a:srgbClr val="1A1A1A"/>
                          </a:solidFill>
                        </a:rPr>
                        <a:t>Yes — the ad reflects how they actually run</a:t>
                      </a:r>
                    </a:p>
                  </a:txBody>
                  <a:tcPr anchor="ctr" marL="73152" marR="54864" marT="27432" marB="27432">
                    <a:solidFill>
                      <a:srgbClr val="FFFFFF"/>
                    </a:solidFill>
                  </a:tcPr>
                </a:tc>
                <a:tc>
                  <a:txBody>
                    <a:bodyPr wrap="square"/>
                    <a:lstStyle/>
                    <a:p>
                      <a:r>
                        <a:rPr sz="1150">
                          <a:solidFill>
                            <a:srgbClr val="1A1A1A"/>
                          </a:solidFill>
                        </a:rPr>
                        <a:t>No — the ad contradicts the behaviour</a:t>
                      </a:r>
                    </a:p>
                  </a:txBody>
                  <a:tcPr anchor="ctr" marL="73152" marR="54864" marT="27432" marB="27432">
                    <a:solidFill>
                      <a:srgbClr val="FFFFFF"/>
                    </a:solidFill>
                  </a:tcPr>
                </a:tc>
              </a:tr>
              <a:tr h="883310">
                <a:tc>
                  <a:txBody>
                    <a:bodyPr wrap="square"/>
                    <a:lstStyle/>
                    <a:p>
                      <a:r>
                        <a:rPr sz="1150" b="1">
                          <a:solidFill>
                            <a:srgbClr val="0C2B4A"/>
                          </a:solidFill>
                        </a:rPr>
                        <a:t>Where does the responsibility live?</a:t>
                      </a:r>
                    </a:p>
                  </a:txBody>
                  <a:tcPr anchor="ctr" marL="73152" marR="54864" marT="27432" marB="27432">
                    <a:solidFill>
                      <a:srgbClr val="EEF3F8"/>
                    </a:solidFill>
                  </a:tcPr>
                </a:tc>
                <a:tc>
                  <a:txBody>
                    <a:bodyPr wrap="square"/>
                    <a:lstStyle/>
                    <a:p>
                      <a:r>
                        <a:rPr sz="1150">
                          <a:solidFill>
                            <a:srgbClr val="1A1A1A"/>
                          </a:solidFill>
                        </a:rPr>
                        <a:t>Embedded in wages, production, products</a:t>
                      </a:r>
                    </a:p>
                  </a:txBody>
                  <a:tcPr anchor="ctr" marL="73152" marR="54864" marT="27432" marB="27432">
                    <a:solidFill>
                      <a:srgbClr val="EEF3F8"/>
                    </a:solidFill>
                  </a:tcPr>
                </a:tc>
                <a:tc>
                  <a:txBody>
                    <a:bodyPr wrap="square"/>
                    <a:lstStyle/>
                    <a:p>
                      <a:r>
                        <a:rPr sz="1150">
                          <a:solidFill>
                            <a:srgbClr val="1A1A1A"/>
                          </a:solidFill>
                        </a:rPr>
                        <a:t>Only in the marketing / a one-off donation</a:t>
                      </a:r>
                    </a:p>
                  </a:txBody>
                  <a:tcPr anchor="ctr" marL="73152" marR="54864" marT="27432" marB="27432">
                    <a:solidFill>
                      <a:srgbClr val="EEF3F8"/>
                    </a:solidFill>
                  </a:tcPr>
                </a:tc>
              </a:tr>
              <a:tr h="883310">
                <a:tc>
                  <a:txBody>
                    <a:bodyPr wrap="square"/>
                    <a:lstStyle/>
                    <a:p>
                      <a:r>
                        <a:rPr sz="1150" b="1">
                          <a:solidFill>
                            <a:srgbClr val="0C2B4A"/>
                          </a:solidFill>
                        </a:rPr>
                        <a:t>Bank: 'we care about farmers'</a:t>
                      </a:r>
                    </a:p>
                  </a:txBody>
                  <a:tcPr anchor="ctr" marL="73152" marR="54864" marT="27432" marB="27432">
                    <a:solidFill>
                      <a:srgbClr val="FFFFFF"/>
                    </a:solidFill>
                  </a:tcPr>
                </a:tc>
                <a:tc>
                  <a:txBody>
                    <a:bodyPr wrap="square"/>
                    <a:lstStyle/>
                    <a:p>
                      <a:r>
                        <a:rPr sz="1150">
                          <a:solidFill>
                            <a:srgbClr val="1A1A1A"/>
                          </a:solidFill>
                        </a:rPr>
                        <a:t>Loan terms are genuinely fair to farmers</a:t>
                      </a:r>
                    </a:p>
                  </a:txBody>
                  <a:tcPr anchor="ctr" marL="73152" marR="54864" marT="27432" marB="27432">
                    <a:solidFill>
                      <a:srgbClr val="FFFFFF"/>
                    </a:solidFill>
                  </a:tcPr>
                </a:tc>
                <a:tc>
                  <a:txBody>
                    <a:bodyPr wrap="square"/>
                    <a:lstStyle/>
                    <a:p>
                      <a:r>
                        <a:rPr sz="1150">
                          <a:solidFill>
                            <a:srgbClr val="1A1A1A"/>
                          </a:solidFill>
                        </a:rPr>
                        <a:t>Loan terms quietly crush the same farmers</a:t>
                      </a:r>
                    </a:p>
                  </a:txBody>
                  <a:tcPr anchor="ctr" marL="73152" marR="54864" marT="27432" marB="27432">
                    <a:solidFill>
                      <a:srgbClr val="FFFFFF"/>
                    </a:solidFill>
                  </a:tcPr>
                </a:tc>
              </a:tr>
              <a:tr h="883312">
                <a:tc>
                  <a:txBody>
                    <a:bodyPr wrap="square"/>
                    <a:lstStyle/>
                    <a:p>
                      <a:r>
                        <a:rPr sz="1150" b="1">
                          <a:solidFill>
                            <a:srgbClr val="0C2B4A"/>
                          </a:solidFill>
                        </a:rPr>
                        <a:t>What survives scrutiny?</a:t>
                      </a:r>
                    </a:p>
                  </a:txBody>
                  <a:tcPr anchor="ctr" marL="73152" marR="54864" marT="27432" marB="27432">
                    <a:solidFill>
                      <a:srgbClr val="EEF3F8"/>
                    </a:solidFill>
                  </a:tcPr>
                </a:tc>
                <a:tc>
                  <a:txBody>
                    <a:bodyPr wrap="square"/>
                    <a:lstStyle/>
                    <a:p>
                      <a:r>
                        <a:rPr sz="1150">
                          <a:solidFill>
                            <a:srgbClr val="1A1A1A"/>
                          </a:solidFill>
                        </a:rPr>
                        <a:t>Consistent record over years</a:t>
                      </a:r>
                    </a:p>
                  </a:txBody>
                  <a:tcPr anchor="ctr" marL="73152" marR="54864" marT="27432" marB="27432">
                    <a:solidFill>
                      <a:srgbClr val="EEF3F8"/>
                    </a:solidFill>
                  </a:tcPr>
                </a:tc>
                <a:tc>
                  <a:txBody>
                    <a:bodyPr wrap="square"/>
                    <a:lstStyle/>
                    <a:p>
                      <a:r>
                        <a:rPr sz="1150">
                          <a:solidFill>
                            <a:srgbClr val="1A1A1A"/>
                          </a:solidFill>
                        </a:rPr>
                        <a:t>A campaign that falls apart on a closer look</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one-line test: does the company's everyday operation match its CSR message, or does the ad contradict the behaviour?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43 / 101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Fostering CSR &amp; an Ethical Culture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bank advertising 'we care about farmers' while its loan terms crush them is greenwashing — the message contradicts the operation. A genuine CSR claim survives the test: daily practice matches the ad.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good CSR campaign proves a company is ethical." The ad is not the evidence — the operation is. Apply the test: does everyday behaviour match the message?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CSR and an ethical culture are built through tone from the top (leaders' actions), a clear public code, a culture that rewards raising concerns, and social-responsibility reporting. Genuine CSR is embedded in operations; greenwashing lives only in marketing and fails the 'does daily operation match the message?' test.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tone from the top · code of ethics · ethical culture · CSR reporting · greenwashing test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44 / 101</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4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Genuine CSR or greenwashing? Apply the test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6204857"/>
                <a:gridCol w="3102428"/>
                <a:gridCol w="2122714"/>
              </a:tblGrid>
              <a:tr h="552069">
                <a:tc>
                  <a:txBody>
                    <a:bodyPr wrap="square"/>
                    <a:lstStyle/>
                    <a:p>
                      <a:r>
                        <a:rPr sz="1150" b="1">
                          <a:solidFill>
                            <a:srgbClr val="FFFFFF"/>
                          </a:solidFill>
                        </a:rPr>
                        <a:t>CSR claim / activity</a:t>
                      </a:r>
                    </a:p>
                  </a:txBody>
                  <a:tcPr anchor="ctr" marL="73152" marR="54864" marT="27432" marB="27432">
                    <a:solidFill>
                      <a:srgbClr val="0C2B4A"/>
                    </a:solidFill>
                  </a:tcPr>
                </a:tc>
                <a:tc>
                  <a:txBody>
                    <a:bodyPr wrap="square"/>
                    <a:lstStyle/>
                    <a:p>
                      <a:r>
                        <a:rPr sz="1150" b="1">
                          <a:solidFill>
                            <a:srgbClr val="FFFFFF"/>
                          </a:solidFill>
                        </a:rPr>
                        <a:t>Does daily operation match?</a:t>
                      </a:r>
                    </a:p>
                  </a:txBody>
                  <a:tcPr anchor="ctr" marL="73152" marR="54864" marT="27432" marB="27432">
                    <a:solidFill>
                      <a:srgbClr val="0C2B4A"/>
                    </a:solidFill>
                  </a:tcPr>
                </a:tc>
                <a:tc>
                  <a:txBody>
                    <a:bodyPr wrap="square"/>
                    <a:lstStyle/>
                    <a:p>
                      <a:r>
                        <a:rPr sz="1150" b="1">
                          <a:solidFill>
                            <a:srgbClr val="FFFFFF"/>
                          </a:solidFill>
                        </a:rPr>
                        <a:t>Verdict</a:t>
                      </a:r>
                    </a:p>
                  </a:txBody>
                  <a:tcPr anchor="ctr" marL="73152" marR="54864" marT="27432" marB="27432">
                    <a:solidFill>
                      <a:srgbClr val="0C2B4A"/>
                    </a:solidFill>
                  </a:tcPr>
                </a:tc>
              </a:tr>
              <a:tr h="552069">
                <a:tc>
                  <a:txBody>
                    <a:bodyPr wrap="square"/>
                    <a:lstStyle/>
                    <a:p>
                      <a:r>
                        <a:rPr sz="1100" b="1">
                          <a:solidFill>
                            <a:srgbClr val="0C2B4A"/>
                          </a:solidFill>
                        </a:rPr>
                        <a:t>Bank ad 'we care about farmers' while loan terms crush them</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Greenwashing</a:t>
                      </a:r>
                    </a:p>
                  </a:txBody>
                  <a:tcPr anchor="ctr" marL="73152" marR="54864" marT="27432" marB="27432">
                    <a:solidFill>
                      <a:srgbClr val="FFFFFF"/>
                    </a:solidFill>
                  </a:tcPr>
                </a:tc>
              </a:tr>
              <a:tr h="552069">
                <a:tc>
                  <a:txBody>
                    <a:bodyPr wrap="square"/>
                    <a:lstStyle/>
                    <a:p>
                      <a:r>
                        <a:rPr sz="1100" b="1">
                          <a:solidFill>
                            <a:srgbClr val="0C2B4A"/>
                          </a:solidFill>
                        </a:rPr>
                        <a:t>A firm plants trees for a photo op but pollutes a river daily</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Greenwashing</a:t>
                      </a:r>
                    </a:p>
                  </a:txBody>
                  <a:tcPr anchor="ctr" marL="73152" marR="54864" marT="27432" marB="27432">
                    <a:solidFill>
                      <a:srgbClr val="EEF3F8"/>
                    </a:solidFill>
                  </a:tcPr>
                </a:tc>
              </a:tr>
              <a:tr h="552069">
                <a:tc>
                  <a:txBody>
                    <a:bodyPr wrap="square"/>
                    <a:lstStyle/>
                    <a:p>
                      <a:r>
                        <a:rPr sz="1100" b="1">
                          <a:solidFill>
                            <a:srgbClr val="0C2B4A"/>
                          </a:solidFill>
                        </a:rPr>
                        <a:t>'Eco-friendly' labels added with no change to the packaging</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Greenwashing</a:t>
                      </a:r>
                    </a:p>
                  </a:txBody>
                  <a:tcPr anchor="ctr" marL="73152" marR="54864" marT="27432" marB="27432">
                    <a:solidFill>
                      <a:srgbClr val="FFFFFF"/>
                    </a:solidFill>
                  </a:tcPr>
                </a:tc>
              </a:tr>
              <a:tr h="552069">
                <a:tc>
                  <a:txBody>
                    <a:bodyPr wrap="square"/>
                    <a:lstStyle/>
                    <a:p>
                      <a:r>
                        <a:rPr sz="1100" b="1">
                          <a:solidFill>
                            <a:srgbClr val="0C2B4A"/>
                          </a:solidFill>
                        </a:rPr>
                        <a:t>A one-off Dashain donation heavily used in ads by a low-wage employer</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Greenwashing</a:t>
                      </a:r>
                    </a:p>
                  </a:txBody>
                  <a:tcPr anchor="ctr" marL="73152" marR="54864" marT="27432" marB="27432">
                    <a:solidFill>
                      <a:srgbClr val="EEF3F8"/>
                    </a:solidFill>
                  </a:tcPr>
                </a:tc>
              </a:tr>
              <a:tr h="552069">
                <a:tc>
                  <a:txBody>
                    <a:bodyPr wrap="square"/>
                    <a:lstStyle/>
                    <a:p>
                      <a:r>
                        <a:rPr sz="1100" b="1">
                          <a:solidFill>
                            <a:srgbClr val="0C2B4A"/>
                          </a:solidFill>
                        </a:rPr>
                        <a:t>A firm with years of fair wages runs a modest 'we treat staff well' campaign</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Genuine CSR</a:t>
                      </a:r>
                    </a:p>
                  </a:txBody>
                  <a:tcPr anchor="ctr" marL="73152" marR="54864" marT="27432" marB="27432">
                    <a:solidFill>
                      <a:srgbClr val="FFFFFF"/>
                    </a:solidFill>
                  </a:tcPr>
                </a:tc>
              </a:tr>
              <a:tr h="552069">
                <a:tc>
                  <a:txBody>
                    <a:bodyPr wrap="square"/>
                    <a:lstStyle/>
                    <a:p>
                      <a:r>
                        <a:rPr sz="1100" b="1">
                          <a:solidFill>
                            <a:srgbClr val="0C2B4A"/>
                          </a:solidFill>
                        </a:rPr>
                        <a:t>Telecom runs real rural-coverage &amp; digital-literacy programs</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Genuine CSR</a:t>
                      </a:r>
                    </a:p>
                  </a:txBody>
                  <a:tcPr anchor="ctr" marL="73152" marR="54864" marT="27432" marB="27432">
                    <a:solidFill>
                      <a:srgbClr val="EEF3F8"/>
                    </a:solidFill>
                  </a:tcPr>
                </a:tc>
              </a:tr>
              <a:tr h="552069">
                <a:tc>
                  <a:txBody>
                    <a:bodyPr wrap="square"/>
                    <a:lstStyle/>
                    <a:p>
                      <a:r>
                        <a:rPr sz="1100" b="1">
                          <a:solidFill>
                            <a:srgbClr val="0C2B4A"/>
                          </a:solidFill>
                        </a:rPr>
                        <a:t>A bank publishes an audited social-responsibility report matching practice</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Genuine CSR</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ad is never the evidence — the operation is. One-line test: does the company's everyday behaviour match its CSR message?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101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 — 'Genuine or greenwashing?'  ·  ~6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name ONE Nepali company's CSR activity you've seen.</a:t>
            </a:r>
          </a:p>
          <a:p>
            <a:pPr>
              <a:spcAft>
                <a:spcPts val="700"/>
              </a:spcAft>
            </a:pPr>
            <a:r>
              <a:rPr sz="1550">
                <a:solidFill>
                  <a:srgbClr val="1A1A1A"/>
                </a:solidFill>
              </a:rPr>
              <a:t>•  For 2–3 examples aloud (4 min), the class judges: genuine responsibility or image-building?</a:t>
            </a:r>
          </a:p>
          <a:p>
            <a:pPr>
              <a:spcAft>
                <a:spcPts val="700"/>
              </a:spcAft>
            </a:pPr>
            <a:r>
              <a:rPr sz="1550">
                <a:solidFill>
                  <a:srgbClr val="1A1A1A"/>
                </a:solidFill>
              </a:rPr>
              <a:t>•  Apply the test: does the company's everyday operation match the CSR message?</a:t>
            </a:r>
          </a:p>
          <a:p>
            <a:pPr>
              <a:spcAft>
                <a:spcPts val="700"/>
              </a:spcAft>
            </a:pPr>
            <a:r>
              <a:rPr sz="1550">
                <a:solidFill>
                  <a:srgbClr val="1A1A1A"/>
                </a:solidFill>
              </a:rPr>
              <a:t>•  Flag contradictions (e.g. 'we care about farmers' vs crushing loan terms).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The test to apply every time: match the message against the daily operation. A tree-planting ad from a firm that pollutes is greenwashing; consistent fair practice backing a modest claim is genuine.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46 / 101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BASE of Carroll's CSR pyramid is:</a:t>
            </a:r>
          </a:p>
          <a:p>
            <a:pPr lvl="1"/>
            <a:r>
              <a:rPr sz="1500" b="1">
                <a:solidFill>
                  <a:srgbClr val="0F6E56"/>
                </a:solidFill>
              </a:rPr>
              <a:t>a) philanthropic   b) ethical   c) legal   d) ✅ economic responsibility</a:t>
            </a:r>
          </a:p>
          <a:p>
            <a:pPr>
              <a:spcBef>
                <a:spcPts val="900"/>
              </a:spcBef>
            </a:pPr>
            <a:r>
              <a:rPr sz="1700" b="1">
                <a:solidFill>
                  <a:srgbClr val="0C2B4A"/>
                </a:solidFill>
              </a:rPr>
              <a:t>Q2.  Stakeholders of a company include all of these EXCEPT:</a:t>
            </a:r>
          </a:p>
          <a:p>
            <a:pPr lvl="1"/>
            <a:r>
              <a:rPr sz="1500" b="1">
                <a:solidFill>
                  <a:srgbClr val="0F6E56"/>
                </a:solidFill>
              </a:rPr>
              <a:t>a) employees   b) customers   c) ✅ only the shareholders   d) the local community</a:t>
            </a:r>
          </a:p>
          <a:p>
            <a:pPr lvl="1">
              <a:spcBef>
                <a:spcPts val="600"/>
              </a:spcBef>
            </a:pPr>
            <a:r>
              <a:rPr sz="1500" i="1">
                <a:solidFill>
                  <a:srgbClr val="1A1A1A"/>
                </a:solidFill>
              </a:rPr>
              <a:t>Discussion: a Nepali company doing visible CSR — genuine or image-building? Apply the test.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101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CSR = a company's duty to society (Carroll: economic → legal → ethical → philanthropic).</a:t>
            </a:r>
          </a:p>
          <a:p>
            <a:pPr>
              <a:spcAft>
                <a:spcPts val="800"/>
              </a:spcAft>
            </a:pPr>
            <a:r>
              <a:rPr sz="1500">
                <a:solidFill>
                  <a:srgbClr val="1A1A1A"/>
                </a:solidFill>
              </a:rPr>
              <a:t>2.  Stakeholders are everyone affected, not just owners; count the costs that don't show on the balance sheet.</a:t>
            </a:r>
          </a:p>
          <a:p>
            <a:pPr>
              <a:spcAft>
                <a:spcPts val="800"/>
              </a:spcAft>
            </a:pPr>
            <a:r>
              <a:rPr sz="1500">
                <a:solidFill>
                  <a:srgbClr val="1A1A1A"/>
                </a:solidFill>
              </a:rPr>
              <a:t>3.  Good ethics is built through leadership, culture, codes, and transparency — genuine CSR beats greenwashing.</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CSR shapes which companies attract talent and investment and which face boycotts. As employee, consumer, and future manager you'll make and judge these choices — the pyramid lets you build CSR that's real, not decorative.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 — the systems that turn ethical values into actual behaviour: improving business ethics.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101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 · LECTURE HOUR 3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Improving Business Ethics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company hires consultants, writes an inspiring 'Code of Ethics', prints it on glossy paper, frames it in reception… and behaves exactly as before. Why didn't the document change anything?</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49 / 101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From Values to Behaviour</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An ethics program = the set of SYSTEMS that turn stated values into actual behaviour. Every company says it values integrity; the program is what makes that true on a normal Tuesday under deadline pressure.</a:t>
            </a:r>
          </a:p>
          <a:p>
            <a:pPr>
              <a:spcAft>
                <a:spcPts val="500"/>
              </a:spcAft>
            </a:pPr>
            <a:r>
              <a:rPr sz="1200" b="1">
                <a:solidFill>
                  <a:srgbClr val="185FA5"/>
                </a:solidFill>
              </a:rPr>
              <a:t>HOW IT WORKS</a:t>
            </a:r>
          </a:p>
          <a:p>
            <a:pPr>
              <a:spcAft>
                <a:spcPts val="600"/>
              </a:spcAft>
            </a:pPr>
            <a:r>
              <a:rPr sz="1400">
                <a:solidFill>
                  <a:srgbClr val="1A1A1A"/>
                </a:solidFill>
              </a:rPr>
              <a:t>•  Take two companies with the IDENTICAL code.</a:t>
            </a:r>
          </a:p>
          <a:p>
            <a:pPr>
              <a:spcAft>
                <a:spcPts val="600"/>
              </a:spcAft>
            </a:pPr>
            <a:r>
              <a:rPr sz="1400">
                <a:solidFill>
                  <a:srgbClr val="1A1A1A"/>
                </a:solidFill>
              </a:rPr>
              <a:t>•  In one, leaders visibly follow it and violations have consequences.</a:t>
            </a:r>
          </a:p>
          <a:p>
            <a:pPr>
              <a:spcAft>
                <a:spcPts val="600"/>
              </a:spcAft>
            </a:pPr>
            <a:r>
              <a:rPr sz="1400">
                <a:solidFill>
                  <a:srgbClr val="1A1A1A"/>
                </a:solidFill>
              </a:rPr>
              <a:t>•  In the other, leaders quietly break it.</a:t>
            </a:r>
          </a:p>
          <a:p>
            <a:pPr>
              <a:spcAft>
                <a:spcPts val="600"/>
              </a:spcAft>
            </a:pPr>
            <a:r>
              <a:rPr sz="1400">
                <a:solidFill>
                  <a:srgbClr val="1A1A1A"/>
                </a:solidFill>
              </a:rPr>
              <a:t>•  Same document, opposite cultures — the document was never the cause; the system around it was.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framed code changes nothing; the system around it changes everything.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101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Same code, opposite outcomes — values written vs practised</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770909"/>
                <a:gridCol w="4329545"/>
                <a:gridCol w="4329545"/>
              </a:tblGrid>
              <a:tr h="736092">
                <a:tc>
                  <a:txBody>
                    <a:bodyPr wrap="square"/>
                    <a:lstStyle/>
                    <a:p>
                      <a:r>
                        <a:rPr sz="1200" b="1">
                          <a:solidFill>
                            <a:srgbClr val="FFFFFF"/>
                          </a:solidFill>
                        </a:rPr>
                        <a:t>Aspect</a:t>
                      </a:r>
                    </a:p>
                  </a:txBody>
                  <a:tcPr anchor="ctr" marL="73152" marR="54864" marT="27432" marB="27432">
                    <a:solidFill>
                      <a:srgbClr val="0C2B4A"/>
                    </a:solidFill>
                  </a:tcPr>
                </a:tc>
                <a:tc>
                  <a:txBody>
                    <a:bodyPr wrap="square"/>
                    <a:lstStyle/>
                    <a:p>
                      <a:r>
                        <a:rPr sz="1200" b="1">
                          <a:solidFill>
                            <a:srgbClr val="FFFFFF"/>
                          </a:solidFill>
                        </a:rPr>
                        <a:t>Company A (values practised)</a:t>
                      </a:r>
                    </a:p>
                  </a:txBody>
                  <a:tcPr anchor="ctr" marL="73152" marR="54864" marT="27432" marB="27432">
                    <a:solidFill>
                      <a:srgbClr val="0C2B4A"/>
                    </a:solidFill>
                  </a:tcPr>
                </a:tc>
                <a:tc>
                  <a:txBody>
                    <a:bodyPr wrap="square"/>
                    <a:lstStyle/>
                    <a:p>
                      <a:r>
                        <a:rPr sz="1200" b="1">
                          <a:solidFill>
                            <a:srgbClr val="FFFFFF"/>
                          </a:solidFill>
                        </a:rPr>
                        <a:t>Company B (values on the wall)</a:t>
                      </a:r>
                    </a:p>
                  </a:txBody>
                  <a:tcPr anchor="ctr" marL="73152" marR="54864" marT="27432" marB="27432">
                    <a:solidFill>
                      <a:srgbClr val="0C2B4A"/>
                    </a:solidFill>
                  </a:tcPr>
                </a:tc>
              </a:tr>
              <a:tr h="736092">
                <a:tc>
                  <a:txBody>
                    <a:bodyPr wrap="square"/>
                    <a:lstStyle/>
                    <a:p>
                      <a:r>
                        <a:rPr sz="1150" b="1">
                          <a:solidFill>
                            <a:srgbClr val="0C2B4A"/>
                          </a:solidFill>
                        </a:rPr>
                        <a:t>The code</a:t>
                      </a:r>
                    </a:p>
                  </a:txBody>
                  <a:tcPr anchor="ctr" marL="73152" marR="54864" marT="27432" marB="27432">
                    <a:solidFill>
                      <a:srgbClr val="FFFFFF"/>
                    </a:solidFill>
                  </a:tcPr>
                </a:tc>
                <a:tc>
                  <a:txBody>
                    <a:bodyPr wrap="square"/>
                    <a:lstStyle/>
                    <a:p>
                      <a:r>
                        <a:rPr sz="1150">
                          <a:solidFill>
                            <a:srgbClr val="1A1A1A"/>
                          </a:solidFill>
                        </a:rPr>
                        <a:t>Specific and enforced</a:t>
                      </a:r>
                    </a:p>
                  </a:txBody>
                  <a:tcPr anchor="ctr" marL="73152" marR="54864" marT="27432" marB="27432">
                    <a:solidFill>
                      <a:srgbClr val="FFFFFF"/>
                    </a:solidFill>
                  </a:tcPr>
                </a:tc>
                <a:tc>
                  <a:txBody>
                    <a:bodyPr wrap="square"/>
                    <a:lstStyle/>
                    <a:p>
                      <a:r>
                        <a:rPr sz="1150">
                          <a:solidFill>
                            <a:srgbClr val="1A1A1A"/>
                          </a:solidFill>
                        </a:rPr>
                        <a:t>Glossy but ignored</a:t>
                      </a:r>
                    </a:p>
                  </a:txBody>
                  <a:tcPr anchor="ctr" marL="73152" marR="54864" marT="27432" marB="27432">
                    <a:solidFill>
                      <a:srgbClr val="FFFFFF"/>
                    </a:solidFill>
                  </a:tcPr>
                </a:tc>
              </a:tr>
              <a:tr h="736092">
                <a:tc>
                  <a:txBody>
                    <a:bodyPr wrap="square"/>
                    <a:lstStyle/>
                    <a:p>
                      <a:r>
                        <a:rPr sz="1150" b="1">
                          <a:solidFill>
                            <a:srgbClr val="0C2B4A"/>
                          </a:solidFill>
                        </a:rPr>
                        <a:t>Leaders</a:t>
                      </a:r>
                    </a:p>
                  </a:txBody>
                  <a:tcPr anchor="ctr" marL="73152" marR="54864" marT="27432" marB="27432">
                    <a:solidFill>
                      <a:srgbClr val="EEF3F8"/>
                    </a:solidFill>
                  </a:tcPr>
                </a:tc>
                <a:tc>
                  <a:txBody>
                    <a:bodyPr wrap="square"/>
                    <a:lstStyle/>
                    <a:p>
                      <a:r>
                        <a:rPr sz="1150">
                          <a:solidFill>
                            <a:srgbClr val="1A1A1A"/>
                          </a:solidFill>
                        </a:rPr>
                        <a:t>Visibly follow it</a:t>
                      </a:r>
                    </a:p>
                  </a:txBody>
                  <a:tcPr anchor="ctr" marL="73152" marR="54864" marT="27432" marB="27432">
                    <a:solidFill>
                      <a:srgbClr val="EEF3F8"/>
                    </a:solidFill>
                  </a:tcPr>
                </a:tc>
                <a:tc>
                  <a:txBody>
                    <a:bodyPr wrap="square"/>
                    <a:lstStyle/>
                    <a:p>
                      <a:r>
                        <a:rPr sz="1150">
                          <a:solidFill>
                            <a:srgbClr val="1A1A1A"/>
                          </a:solidFill>
                        </a:rPr>
                        <a:t>Quietly break it</a:t>
                      </a:r>
                    </a:p>
                  </a:txBody>
                  <a:tcPr anchor="ctr" marL="73152" marR="54864" marT="27432" marB="27432">
                    <a:solidFill>
                      <a:srgbClr val="EEF3F8"/>
                    </a:solidFill>
                  </a:tcPr>
                </a:tc>
              </a:tr>
              <a:tr h="736092">
                <a:tc>
                  <a:txBody>
                    <a:bodyPr wrap="square"/>
                    <a:lstStyle/>
                    <a:p>
                      <a:r>
                        <a:rPr sz="1150" b="1">
                          <a:solidFill>
                            <a:srgbClr val="0C2B4A"/>
                          </a:solidFill>
                        </a:rPr>
                        <a:t>Violations</a:t>
                      </a:r>
                    </a:p>
                  </a:txBody>
                  <a:tcPr anchor="ctr" marL="73152" marR="54864" marT="27432" marB="27432">
                    <a:solidFill>
                      <a:srgbClr val="FFFFFF"/>
                    </a:solidFill>
                  </a:tcPr>
                </a:tc>
                <a:tc>
                  <a:txBody>
                    <a:bodyPr wrap="square"/>
                    <a:lstStyle/>
                    <a:p>
                      <a:r>
                        <a:rPr sz="1150">
                          <a:solidFill>
                            <a:srgbClr val="1A1A1A"/>
                          </a:solidFill>
                        </a:rPr>
                        <a:t>Have real consequences</a:t>
                      </a:r>
                    </a:p>
                  </a:txBody>
                  <a:tcPr anchor="ctr" marL="73152" marR="54864" marT="27432" marB="27432">
                    <a:solidFill>
                      <a:srgbClr val="FFFFFF"/>
                    </a:solidFill>
                  </a:tcPr>
                </a:tc>
                <a:tc>
                  <a:txBody>
                    <a:bodyPr wrap="square"/>
                    <a:lstStyle/>
                    <a:p>
                      <a:r>
                        <a:rPr sz="1150">
                          <a:solidFill>
                            <a:srgbClr val="1A1A1A"/>
                          </a:solidFill>
                        </a:rPr>
                        <a:t>Overlooked, especially at the top</a:t>
                      </a:r>
                    </a:p>
                  </a:txBody>
                  <a:tcPr anchor="ctr" marL="73152" marR="54864" marT="27432" marB="27432">
                    <a:solidFill>
                      <a:srgbClr val="FFFFFF"/>
                    </a:solidFill>
                  </a:tcPr>
                </a:tc>
              </a:tr>
              <a:tr h="736092">
                <a:tc>
                  <a:txBody>
                    <a:bodyPr wrap="square"/>
                    <a:lstStyle/>
                    <a:p>
                      <a:r>
                        <a:rPr sz="1150" b="1">
                          <a:solidFill>
                            <a:srgbClr val="0C2B4A"/>
                          </a:solidFill>
                        </a:rPr>
                        <a:t>Reporting a concern</a:t>
                      </a:r>
                    </a:p>
                  </a:txBody>
                  <a:tcPr anchor="ctr" marL="73152" marR="54864" marT="27432" marB="27432">
                    <a:solidFill>
                      <a:srgbClr val="EEF3F8"/>
                    </a:solidFill>
                  </a:tcPr>
                </a:tc>
                <a:tc>
                  <a:txBody>
                    <a:bodyPr wrap="square"/>
                    <a:lstStyle/>
                    <a:p>
                      <a:r>
                        <a:rPr sz="1150">
                          <a:solidFill>
                            <a:srgbClr val="1A1A1A"/>
                          </a:solidFill>
                        </a:rPr>
                        <a:t>Safe and rewarded</a:t>
                      </a:r>
                    </a:p>
                  </a:txBody>
                  <a:tcPr anchor="ctr" marL="73152" marR="54864" marT="27432" marB="27432">
                    <a:solidFill>
                      <a:srgbClr val="EEF3F8"/>
                    </a:solidFill>
                  </a:tcPr>
                </a:tc>
                <a:tc>
                  <a:txBody>
                    <a:bodyPr wrap="square"/>
                    <a:lstStyle/>
                    <a:p>
                      <a:r>
                        <a:rPr sz="1150">
                          <a:solidFill>
                            <a:srgbClr val="1A1A1A"/>
                          </a:solidFill>
                        </a:rPr>
                        <a:t>Risky — you stay quiet</a:t>
                      </a:r>
                    </a:p>
                  </a:txBody>
                  <a:tcPr anchor="ctr" marL="73152" marR="54864" marT="27432" marB="27432">
                    <a:solidFill>
                      <a:srgbClr val="EEF3F8"/>
                    </a:solidFill>
                  </a:tcPr>
                </a:tc>
              </a:tr>
              <a:tr h="736092">
                <a:tc>
                  <a:txBody>
                    <a:bodyPr wrap="square"/>
                    <a:lstStyle/>
                    <a:p>
                      <a:r>
                        <a:rPr sz="1150" b="1">
                          <a:solidFill>
                            <a:srgbClr val="0C2B4A"/>
                          </a:solidFill>
                        </a:rPr>
                        <a:t>Result</a:t>
                      </a:r>
                    </a:p>
                  </a:txBody>
                  <a:tcPr anchor="ctr" marL="73152" marR="54864" marT="27432" marB="27432">
                    <a:solidFill>
                      <a:srgbClr val="FFFFFF"/>
                    </a:solidFill>
                  </a:tcPr>
                </a:tc>
                <a:tc>
                  <a:txBody>
                    <a:bodyPr wrap="square"/>
                    <a:lstStyle/>
                    <a:p>
                      <a:r>
                        <a:rPr sz="1150">
                          <a:solidFill>
                            <a:srgbClr val="1A1A1A"/>
                          </a:solidFill>
                        </a:rPr>
                        <a:t>Ethical behaviour is the default</a:t>
                      </a:r>
                    </a:p>
                  </a:txBody>
                  <a:tcPr anchor="ctr" marL="73152" marR="54864" marT="27432" marB="27432">
                    <a:solidFill>
                      <a:srgbClr val="FFFFFF"/>
                    </a:solidFill>
                  </a:tcPr>
                </a:tc>
                <a:tc>
                  <a:txBody>
                    <a:bodyPr wrap="square"/>
                    <a:lstStyle/>
                    <a:p>
                      <a:r>
                        <a:rPr sz="1150">
                          <a:solidFill>
                            <a:srgbClr val="1A1A1A"/>
                          </a:solidFill>
                        </a:rPr>
                        <a:t>The code is decoration; people ignore it</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An unenforced code can be WORSE than none — it signals the rules are for show, teaching everyone to ignore them.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101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From Values to Behaviour</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Two Nepali offices adopt the same 'integrity' code. In one, a manager who takes a kickback is dismissed; in the other, seniors are quietly excused. Within months the second office's staff have learned the code is theatre — same words, opposite behaviour.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"Writing a good code makes a company ethical." The document is not the cause. Enforcement and culture make values real; an unenforced code actively teaches people that rules don't matter.</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An ethics program is the system of practices that converts stated values into real behaviour. Its power is shown by the fact that two companies with the identical code can have opposite cultures — the difference is leadership, enforcement, and culture, not the document.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ethics program · values vs behaviour · enforcement · culture · unenforced code (worse than none)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101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Same code, opposite lessons — what staff actually learn</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3714750"/>
                <a:gridCol w="4143375"/>
                <a:gridCol w="3571875"/>
              </a:tblGrid>
              <a:tr h="490728">
                <a:tc>
                  <a:txBody>
                    <a:bodyPr wrap="square"/>
                    <a:lstStyle/>
                    <a:p>
                      <a:r>
                        <a:rPr sz="1100" b="1">
                          <a:solidFill>
                            <a:srgbClr val="FFFFFF"/>
                          </a:solidFill>
                        </a:rPr>
                        <a:t>Value the code states</a:t>
                      </a:r>
                    </a:p>
                  </a:txBody>
                  <a:tcPr anchor="ctr" marL="73152" marR="54864" marT="27432" marB="27432">
                    <a:solidFill>
                      <a:srgbClr val="0C2B4A"/>
                    </a:solidFill>
                  </a:tcPr>
                </a:tc>
                <a:tc>
                  <a:txBody>
                    <a:bodyPr wrap="square"/>
                    <a:lstStyle/>
                    <a:p>
                      <a:r>
                        <a:rPr sz="1100" b="1">
                          <a:solidFill>
                            <a:srgbClr val="FFFFFF"/>
                          </a:solidFill>
                        </a:rPr>
                        <a:t>What actually happens</a:t>
                      </a:r>
                    </a:p>
                  </a:txBody>
                  <a:tcPr anchor="ctr" marL="73152" marR="54864" marT="27432" marB="27432">
                    <a:solidFill>
                      <a:srgbClr val="0C2B4A"/>
                    </a:solidFill>
                  </a:tcPr>
                </a:tc>
                <a:tc>
                  <a:txBody>
                    <a:bodyPr wrap="square"/>
                    <a:lstStyle/>
                    <a:p>
                      <a:r>
                        <a:rPr sz="1100" b="1">
                          <a:solidFill>
                            <a:srgbClr val="FFFFFF"/>
                          </a:solidFill>
                        </a:rPr>
                        <a:t>What staff learn</a:t>
                      </a:r>
                    </a:p>
                  </a:txBody>
                  <a:tcPr anchor="ctr" marL="73152" marR="54864" marT="27432" marB="27432">
                    <a:solidFill>
                      <a:srgbClr val="0C2B4A"/>
                    </a:solidFill>
                  </a:tcPr>
                </a:tc>
              </a:tr>
              <a:tr h="490728">
                <a:tc>
                  <a:txBody>
                    <a:bodyPr wrap="square"/>
                    <a:lstStyle/>
                    <a:p>
                      <a:r>
                        <a:rPr sz="1050" b="1">
                          <a:solidFill>
                            <a:srgbClr val="0C2B4A"/>
                          </a:solidFill>
                        </a:rPr>
                        <a:t>'Zero tolerance for bribery'</a:t>
                      </a:r>
                    </a:p>
                  </a:txBody>
                  <a:tcPr anchor="ctr" marL="73152" marR="54864" marT="27432" marB="27432">
                    <a:solidFill>
                      <a:srgbClr val="FFFFFF"/>
                    </a:solidFill>
                  </a:tcPr>
                </a:tc>
                <a:tc>
                  <a:txBody>
                    <a:bodyPr wrap="square"/>
                    <a:lstStyle/>
                    <a:p>
                      <a:r>
                        <a:rPr sz="1050">
                          <a:solidFill>
                            <a:srgbClr val="1A1A1A"/>
                          </a:solidFill>
                        </a:rPr>
                        <a:t>A manager who takes a kickback is dismissed</a:t>
                      </a:r>
                    </a:p>
                  </a:txBody>
                  <a:tcPr anchor="ctr" marL="73152" marR="54864" marT="27432" marB="27432">
                    <a:solidFill>
                      <a:srgbClr val="FFFFFF"/>
                    </a:solidFill>
                  </a:tcPr>
                </a:tc>
                <a:tc>
                  <a:txBody>
                    <a:bodyPr wrap="square"/>
                    <a:lstStyle/>
                    <a:p>
                      <a:r>
                        <a:rPr sz="1050">
                          <a:solidFill>
                            <a:srgbClr val="1A1A1A"/>
                          </a:solidFill>
                        </a:rPr>
                        <a:t>The rules are real — follow them</a:t>
                      </a:r>
                    </a:p>
                  </a:txBody>
                  <a:tcPr anchor="ctr" marL="73152" marR="54864" marT="27432" marB="27432">
                    <a:solidFill>
                      <a:srgbClr val="FFFFFF"/>
                    </a:solidFill>
                  </a:tcPr>
                </a:tc>
              </a:tr>
              <a:tr h="490728">
                <a:tc>
                  <a:txBody>
                    <a:bodyPr wrap="square"/>
                    <a:lstStyle/>
                    <a:p>
                      <a:r>
                        <a:rPr sz="1050" b="1">
                          <a:solidFill>
                            <a:srgbClr val="0C2B4A"/>
                          </a:solidFill>
                        </a:rPr>
                        <a:t>'Zero tolerance for bribery'</a:t>
                      </a:r>
                    </a:p>
                  </a:txBody>
                  <a:tcPr anchor="ctr" marL="73152" marR="54864" marT="27432" marB="27432">
                    <a:solidFill>
                      <a:srgbClr val="EEF3F8"/>
                    </a:solidFill>
                  </a:tcPr>
                </a:tc>
                <a:tc>
                  <a:txBody>
                    <a:bodyPr wrap="square"/>
                    <a:lstStyle/>
                    <a:p>
                      <a:r>
                        <a:rPr sz="1050">
                          <a:solidFill>
                            <a:srgbClr val="1A1A1A"/>
                          </a:solidFill>
                        </a:rPr>
                        <a:t>A senior is quietly excused</a:t>
                      </a:r>
                    </a:p>
                  </a:txBody>
                  <a:tcPr anchor="ctr" marL="73152" marR="54864" marT="27432" marB="27432">
                    <a:solidFill>
                      <a:srgbClr val="EEF3F8"/>
                    </a:solidFill>
                  </a:tcPr>
                </a:tc>
                <a:tc>
                  <a:txBody>
                    <a:bodyPr wrap="square"/>
                    <a:lstStyle/>
                    <a:p>
                      <a:r>
                        <a:rPr sz="1050">
                          <a:solidFill>
                            <a:srgbClr val="1A1A1A"/>
                          </a:solidFill>
                        </a:rPr>
                        <a:t>The code is theatre</a:t>
                      </a:r>
                    </a:p>
                  </a:txBody>
                  <a:tcPr anchor="ctr" marL="73152" marR="54864" marT="27432" marB="27432">
                    <a:solidFill>
                      <a:srgbClr val="EEF3F8"/>
                    </a:solidFill>
                  </a:tcPr>
                </a:tc>
              </a:tr>
              <a:tr h="490728">
                <a:tc>
                  <a:txBody>
                    <a:bodyPr wrap="square"/>
                    <a:lstStyle/>
                    <a:p>
                      <a:r>
                        <a:rPr sz="1050" b="1">
                          <a:solidFill>
                            <a:srgbClr val="0C2B4A"/>
                          </a:solidFill>
                        </a:rPr>
                        <a:t>'Report concerns safely'</a:t>
                      </a:r>
                    </a:p>
                  </a:txBody>
                  <a:tcPr anchor="ctr" marL="73152" marR="54864" marT="27432" marB="27432">
                    <a:solidFill>
                      <a:srgbClr val="FFFFFF"/>
                    </a:solidFill>
                  </a:tcPr>
                </a:tc>
                <a:tc>
                  <a:txBody>
                    <a:bodyPr wrap="square"/>
                    <a:lstStyle/>
                    <a:p>
                      <a:r>
                        <a:rPr sz="1050">
                          <a:solidFill>
                            <a:srgbClr val="1A1A1A"/>
                          </a:solidFill>
                        </a:rPr>
                        <a:t>A whistle-blower is thanked and protected</a:t>
                      </a:r>
                    </a:p>
                  </a:txBody>
                  <a:tcPr anchor="ctr" marL="73152" marR="54864" marT="27432" marB="27432">
                    <a:solidFill>
                      <a:srgbClr val="FFFFFF"/>
                    </a:solidFill>
                  </a:tcPr>
                </a:tc>
                <a:tc>
                  <a:txBody>
                    <a:bodyPr wrap="square"/>
                    <a:lstStyle/>
                    <a:p>
                      <a:r>
                        <a:rPr sz="1050">
                          <a:solidFill>
                            <a:srgbClr val="1A1A1A"/>
                          </a:solidFill>
                        </a:rPr>
                        <a:t>Speaking up is safe</a:t>
                      </a:r>
                    </a:p>
                  </a:txBody>
                  <a:tcPr anchor="ctr" marL="73152" marR="54864" marT="27432" marB="27432">
                    <a:solidFill>
                      <a:srgbClr val="FFFFFF"/>
                    </a:solidFill>
                  </a:tcPr>
                </a:tc>
              </a:tr>
              <a:tr h="490728">
                <a:tc>
                  <a:txBody>
                    <a:bodyPr wrap="square"/>
                    <a:lstStyle/>
                    <a:p>
                      <a:r>
                        <a:rPr sz="1050" b="1">
                          <a:solidFill>
                            <a:srgbClr val="0C2B4A"/>
                          </a:solidFill>
                        </a:rPr>
                        <a:t>'Report concerns safely'</a:t>
                      </a:r>
                    </a:p>
                  </a:txBody>
                  <a:tcPr anchor="ctr" marL="73152" marR="54864" marT="27432" marB="27432">
                    <a:solidFill>
                      <a:srgbClr val="EEF3F8"/>
                    </a:solidFill>
                  </a:tcPr>
                </a:tc>
                <a:tc>
                  <a:txBody>
                    <a:bodyPr wrap="square"/>
                    <a:lstStyle/>
                    <a:p>
                      <a:r>
                        <a:rPr sz="1050">
                          <a:solidFill>
                            <a:srgbClr val="1A1A1A"/>
                          </a:solidFill>
                        </a:rPr>
                        <a:t>A reporter is sidelined and punished</a:t>
                      </a:r>
                    </a:p>
                  </a:txBody>
                  <a:tcPr anchor="ctr" marL="73152" marR="54864" marT="27432" marB="27432">
                    <a:solidFill>
                      <a:srgbClr val="EEF3F8"/>
                    </a:solidFill>
                  </a:tcPr>
                </a:tc>
                <a:tc>
                  <a:txBody>
                    <a:bodyPr wrap="square"/>
                    <a:lstStyle/>
                    <a:p>
                      <a:r>
                        <a:rPr sz="1050">
                          <a:solidFill>
                            <a:srgbClr val="1A1A1A"/>
                          </a:solidFill>
                        </a:rPr>
                        <a:t>Stay quiet</a:t>
                      </a:r>
                    </a:p>
                  </a:txBody>
                  <a:tcPr anchor="ctr" marL="73152" marR="54864" marT="27432" marB="27432">
                    <a:solidFill>
                      <a:srgbClr val="EEF3F8"/>
                    </a:solidFill>
                  </a:tcPr>
                </a:tc>
              </a:tr>
              <a:tr h="490728">
                <a:tc>
                  <a:txBody>
                    <a:bodyPr wrap="square"/>
                    <a:lstStyle/>
                    <a:p>
                      <a:r>
                        <a:rPr sz="1050" b="1">
                          <a:solidFill>
                            <a:srgbClr val="0C2B4A"/>
                          </a:solidFill>
                        </a:rPr>
                        <a:t>'We respect data privacy'</a:t>
                      </a:r>
                    </a:p>
                  </a:txBody>
                  <a:tcPr anchor="ctr" marL="73152" marR="54864" marT="27432" marB="27432">
                    <a:solidFill>
                      <a:srgbClr val="FFFFFF"/>
                    </a:solidFill>
                  </a:tcPr>
                </a:tc>
                <a:tc>
                  <a:txBody>
                    <a:bodyPr wrap="square"/>
                    <a:lstStyle/>
                    <a:p>
                      <a:r>
                        <a:rPr sz="1050">
                          <a:solidFill>
                            <a:srgbClr val="1A1A1A"/>
                          </a:solidFill>
                        </a:rPr>
                        <a:t>Staff who peek at accounts are disciplined</a:t>
                      </a:r>
                    </a:p>
                  </a:txBody>
                  <a:tcPr anchor="ctr" marL="73152" marR="54864" marT="27432" marB="27432">
                    <a:solidFill>
                      <a:srgbClr val="FFFFFF"/>
                    </a:solidFill>
                  </a:tcPr>
                </a:tc>
                <a:tc>
                  <a:txBody>
                    <a:bodyPr wrap="square"/>
                    <a:lstStyle/>
                    <a:p>
                      <a:r>
                        <a:rPr sz="1050">
                          <a:solidFill>
                            <a:srgbClr val="1A1A1A"/>
                          </a:solidFill>
                        </a:rPr>
                        <a:t>Privacy is enforced</a:t>
                      </a:r>
                    </a:p>
                  </a:txBody>
                  <a:tcPr anchor="ctr" marL="73152" marR="54864" marT="27432" marB="27432">
                    <a:solidFill>
                      <a:srgbClr val="FFFFFF"/>
                    </a:solidFill>
                  </a:tcPr>
                </a:tc>
              </a:tr>
              <a:tr h="490728">
                <a:tc>
                  <a:txBody>
                    <a:bodyPr wrap="square"/>
                    <a:lstStyle/>
                    <a:p>
                      <a:r>
                        <a:rPr sz="1050" b="1">
                          <a:solidFill>
                            <a:srgbClr val="0C2B4A"/>
                          </a:solidFill>
                        </a:rPr>
                        <a:t>'We respect data privacy'</a:t>
                      </a:r>
                    </a:p>
                  </a:txBody>
                  <a:tcPr anchor="ctr" marL="73152" marR="54864" marT="27432" marB="27432">
                    <a:solidFill>
                      <a:srgbClr val="EEF3F8"/>
                    </a:solidFill>
                  </a:tcPr>
                </a:tc>
                <a:tc>
                  <a:txBody>
                    <a:bodyPr wrap="square"/>
                    <a:lstStyle/>
                    <a:p>
                      <a:r>
                        <a:rPr sz="1050">
                          <a:solidFill>
                            <a:srgbClr val="1A1A1A"/>
                          </a:solidFill>
                        </a:rPr>
                        <a:t>Snooping is ignored</a:t>
                      </a:r>
                    </a:p>
                  </a:txBody>
                  <a:tcPr anchor="ctr" marL="73152" marR="54864" marT="27432" marB="27432">
                    <a:solidFill>
                      <a:srgbClr val="EEF3F8"/>
                    </a:solidFill>
                  </a:tcPr>
                </a:tc>
                <a:tc>
                  <a:txBody>
                    <a:bodyPr wrap="square"/>
                    <a:lstStyle/>
                    <a:p>
                      <a:r>
                        <a:rPr sz="1050">
                          <a:solidFill>
                            <a:srgbClr val="1A1A1A"/>
                          </a:solidFill>
                        </a:rPr>
                        <a:t>Privacy is just a poster</a:t>
                      </a:r>
                    </a:p>
                  </a:txBody>
                  <a:tcPr anchor="ctr" marL="73152" marR="54864" marT="27432" marB="27432">
                    <a:solidFill>
                      <a:srgbClr val="EEF3F8"/>
                    </a:solidFill>
                  </a:tcPr>
                </a:tc>
              </a:tr>
              <a:tr h="490728">
                <a:tc>
                  <a:txBody>
                    <a:bodyPr wrap="square"/>
                    <a:lstStyle/>
                    <a:p>
                      <a:r>
                        <a:rPr sz="1050" b="1">
                          <a:solidFill>
                            <a:srgbClr val="0C2B4A"/>
                          </a:solidFill>
                        </a:rPr>
                        <a:t>'Deadlines never justify cutting corners'</a:t>
                      </a:r>
                    </a:p>
                  </a:txBody>
                  <a:tcPr anchor="ctr" marL="73152" marR="54864" marT="27432" marB="27432">
                    <a:solidFill>
                      <a:srgbClr val="FFFFFF"/>
                    </a:solidFill>
                  </a:tcPr>
                </a:tc>
                <a:tc>
                  <a:txBody>
                    <a:bodyPr wrap="square"/>
                    <a:lstStyle/>
                    <a:p>
                      <a:r>
                        <a:rPr sz="1050">
                          <a:solidFill>
                            <a:srgbClr val="1A1A1A"/>
                          </a:solidFill>
                        </a:rPr>
                        <a:t>A rushed, unsafe release is rolled back</a:t>
                      </a:r>
                    </a:p>
                  </a:txBody>
                  <a:tcPr anchor="ctr" marL="73152" marR="54864" marT="27432" marB="27432">
                    <a:solidFill>
                      <a:srgbClr val="FFFFFF"/>
                    </a:solidFill>
                  </a:tcPr>
                </a:tc>
                <a:tc>
                  <a:txBody>
                    <a:bodyPr wrap="square"/>
                    <a:lstStyle/>
                    <a:p>
                      <a:r>
                        <a:rPr sz="1050">
                          <a:solidFill>
                            <a:srgbClr val="1A1A1A"/>
                          </a:solidFill>
                        </a:rPr>
                        <a:t>Quality genuinely matters</a:t>
                      </a:r>
                    </a:p>
                  </a:txBody>
                  <a:tcPr anchor="ctr" marL="73152" marR="54864" marT="27432" marB="27432">
                    <a:solidFill>
                      <a:srgbClr val="FFFFFF"/>
                    </a:solidFill>
                  </a:tcPr>
                </a:tc>
              </a:tr>
              <a:tr h="490728">
                <a:tc>
                  <a:txBody>
                    <a:bodyPr wrap="square"/>
                    <a:lstStyle/>
                    <a:p>
                      <a:r>
                        <a:rPr sz="1050" b="1">
                          <a:solidFill>
                            <a:srgbClr val="0C2B4A"/>
                          </a:solidFill>
                        </a:rPr>
                        <a:t>'Deadlines never justify cutting corners'</a:t>
                      </a:r>
                    </a:p>
                  </a:txBody>
                  <a:tcPr anchor="ctr" marL="73152" marR="54864" marT="27432" marB="27432">
                    <a:solidFill>
                      <a:srgbClr val="EEF3F8"/>
                    </a:solidFill>
                  </a:tcPr>
                </a:tc>
                <a:tc>
                  <a:txBody>
                    <a:bodyPr wrap="square"/>
                    <a:lstStyle/>
                    <a:p>
                      <a:r>
                        <a:rPr sz="1050">
                          <a:solidFill>
                            <a:srgbClr val="1A1A1A"/>
                          </a:solidFill>
                        </a:rPr>
                        <a:t>Corners cut to ship on time, and praised</a:t>
                      </a:r>
                    </a:p>
                  </a:txBody>
                  <a:tcPr anchor="ctr" marL="73152" marR="54864" marT="27432" marB="27432">
                    <a:solidFill>
                      <a:srgbClr val="EEF3F8"/>
                    </a:solidFill>
                  </a:tcPr>
                </a:tc>
                <a:tc>
                  <a:txBody>
                    <a:bodyPr wrap="square"/>
                    <a:lstStyle/>
                    <a:p>
                      <a:r>
                        <a:rPr sz="1050">
                          <a:solidFill>
                            <a:srgbClr val="1A1A1A"/>
                          </a:solidFill>
                        </a:rPr>
                        <a:t>The code doesn't apply under pressure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document is never the cause. An unenforced code is worse than none — it teaches everyone that the rules are for show.</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53 / 101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Components of an Effective Program</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machinery that actually works — a cycle of mutually-reinforcing parts, not a single document.</a:t>
            </a:r>
          </a:p>
          <a:p>
            <a:pPr>
              <a:spcAft>
                <a:spcPts val="500"/>
              </a:spcAft>
            </a:pPr>
            <a:r>
              <a:rPr sz="1200" b="1">
                <a:solidFill>
                  <a:srgbClr val="185FA5"/>
                </a:solidFill>
              </a:rPr>
              <a:t>HOW IT WORKS</a:t>
            </a:r>
          </a:p>
          <a:p>
            <a:pPr>
              <a:spcAft>
                <a:spcPts val="600"/>
              </a:spcAft>
            </a:pPr>
            <a:r>
              <a:rPr sz="1400">
                <a:solidFill>
                  <a:srgbClr val="1A1A1A"/>
                </a:solidFill>
              </a:rPr>
              <a:t>•  An ethics officer/committee with real authority (not a side duty everyone ignores).</a:t>
            </a:r>
          </a:p>
          <a:p>
            <a:pPr>
              <a:spcAft>
                <a:spcPts val="600"/>
              </a:spcAft>
            </a:pPr>
            <a:r>
              <a:rPr sz="1400">
                <a:solidFill>
                  <a:srgbClr val="1A1A1A"/>
                </a:solidFill>
              </a:rPr>
              <a:t>•  Board-level oversight so ethics can't be buried by middle management.</a:t>
            </a:r>
          </a:p>
          <a:p>
            <a:pPr>
              <a:spcAft>
                <a:spcPts val="600"/>
              </a:spcAft>
            </a:pPr>
            <a:r>
              <a:rPr sz="1400">
                <a:solidFill>
                  <a:srgbClr val="1A1A1A"/>
                </a:solidFill>
              </a:rPr>
              <a:t>•  A specific code of conduct ('no gifts over X; no unlicensed software; report conflicts').</a:t>
            </a:r>
          </a:p>
          <a:p>
            <a:pPr>
              <a:spcAft>
                <a:spcPts val="600"/>
              </a:spcAft>
            </a:pPr>
            <a:r>
              <a:rPr sz="1400">
                <a:solidFill>
                  <a:srgbClr val="1A1A1A"/>
                </a:solidFill>
              </a:rPr>
              <a:t>•  Ongoing training, safe (anonymous, retaliation-free) reporting channels, and periodic audits.</a:t>
            </a:r>
          </a:p>
        </p:txBody>
      </p:sp>
      <p:pic>
        <p:nvPicPr>
          <p:cNvPr id="6" name="Picture 5" descr="s3_cycle.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Code → train → report → audit → consequences → repeat.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101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Ethics-program components — part → purpose → Nepal example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117272"/>
                <a:gridCol w="4156363"/>
                <a:gridCol w="4156363"/>
              </a:tblGrid>
              <a:tr h="630936">
                <a:tc>
                  <a:txBody>
                    <a:bodyPr wrap="square"/>
                    <a:lstStyle/>
                    <a:p>
                      <a:r>
                        <a:rPr sz="1200" b="1">
                          <a:solidFill>
                            <a:srgbClr val="FFFFFF"/>
                          </a:solidFill>
                        </a:rPr>
                        <a:t>Component</a:t>
                      </a:r>
                    </a:p>
                  </a:txBody>
                  <a:tcPr anchor="ctr" marL="73152" marR="54864" marT="27432" marB="27432">
                    <a:solidFill>
                      <a:srgbClr val="0C2B4A"/>
                    </a:solidFill>
                  </a:tcPr>
                </a:tc>
                <a:tc>
                  <a:txBody>
                    <a:bodyPr wrap="square"/>
                    <a:lstStyle/>
                    <a:p>
                      <a:r>
                        <a:rPr sz="1200" b="1">
                          <a:solidFill>
                            <a:srgbClr val="FFFFFF"/>
                          </a:solidFill>
                        </a:rPr>
                        <a:t>What it does</a:t>
                      </a:r>
                    </a:p>
                  </a:txBody>
                  <a:tcPr anchor="ctr" marL="73152" marR="54864" marT="27432" marB="27432">
                    <a:solidFill>
                      <a:srgbClr val="0C2B4A"/>
                    </a:solidFill>
                  </a:tcPr>
                </a:tc>
                <a:tc>
                  <a:txBody>
                    <a:bodyPr wrap="square"/>
                    <a:lstStyle/>
                    <a:p>
                      <a:r>
                        <a:rPr sz="1200" b="1">
                          <a:solidFill>
                            <a:srgbClr val="FFFFFF"/>
                          </a:solidFill>
                        </a:rPr>
                        <a:t>Nepal example</a:t>
                      </a:r>
                    </a:p>
                  </a:txBody>
                  <a:tcPr anchor="ctr" marL="73152" marR="54864" marT="27432" marB="27432">
                    <a:solidFill>
                      <a:srgbClr val="0C2B4A"/>
                    </a:solidFill>
                  </a:tcPr>
                </a:tc>
              </a:tr>
              <a:tr h="630936">
                <a:tc>
                  <a:txBody>
                    <a:bodyPr wrap="square"/>
                    <a:lstStyle/>
                    <a:p>
                      <a:r>
                        <a:rPr sz="1150" b="1">
                          <a:solidFill>
                            <a:srgbClr val="0C2B4A"/>
                          </a:solidFill>
                        </a:rPr>
                        <a:t>Ethics officer / committee</a:t>
                      </a:r>
                    </a:p>
                  </a:txBody>
                  <a:tcPr anchor="ctr" marL="73152" marR="54864" marT="27432" marB="27432">
                    <a:solidFill>
                      <a:srgbClr val="FFFFFF"/>
                    </a:solidFill>
                  </a:tcPr>
                </a:tc>
                <a:tc>
                  <a:txBody>
                    <a:bodyPr wrap="square"/>
                    <a:lstStyle/>
                    <a:p>
                      <a:r>
                        <a:rPr sz="1150">
                          <a:solidFill>
                            <a:srgbClr val="1A1A1A"/>
                          </a:solidFill>
                        </a:rPr>
                        <a:t>Gives ethics a real owner with authority</a:t>
                      </a:r>
                    </a:p>
                  </a:txBody>
                  <a:tcPr anchor="ctr" marL="73152" marR="54864" marT="27432" marB="27432">
                    <a:solidFill>
                      <a:srgbClr val="FFFFFF"/>
                    </a:solidFill>
                  </a:tcPr>
                </a:tc>
                <a:tc>
                  <a:txBody>
                    <a:bodyPr wrap="square"/>
                    <a:lstStyle/>
                    <a:p>
                      <a:r>
                        <a:rPr sz="1150">
                          <a:solidFill>
                            <a:srgbClr val="1A1A1A"/>
                          </a:solidFill>
                        </a:rPr>
                        <a:t>A compliance officer at a commercial bank</a:t>
                      </a:r>
                    </a:p>
                  </a:txBody>
                  <a:tcPr anchor="ctr" marL="73152" marR="54864" marT="27432" marB="27432">
                    <a:solidFill>
                      <a:srgbClr val="FFFFFF"/>
                    </a:solidFill>
                  </a:tcPr>
                </a:tc>
              </a:tr>
              <a:tr h="630936">
                <a:tc>
                  <a:txBody>
                    <a:bodyPr wrap="square"/>
                    <a:lstStyle/>
                    <a:p>
                      <a:r>
                        <a:rPr sz="1150" b="1">
                          <a:solidFill>
                            <a:srgbClr val="0C2B4A"/>
                          </a:solidFill>
                        </a:rPr>
                        <a:t>Board-level oversight</a:t>
                      </a:r>
                    </a:p>
                  </a:txBody>
                  <a:tcPr anchor="ctr" marL="73152" marR="54864" marT="27432" marB="27432">
                    <a:solidFill>
                      <a:srgbClr val="EEF3F8"/>
                    </a:solidFill>
                  </a:tcPr>
                </a:tc>
                <a:tc>
                  <a:txBody>
                    <a:bodyPr wrap="square"/>
                    <a:lstStyle/>
                    <a:p>
                      <a:r>
                        <a:rPr sz="1150">
                          <a:solidFill>
                            <a:srgbClr val="1A1A1A"/>
                          </a:solidFill>
                        </a:rPr>
                        <a:t>Reports ethics to the top so it can't be buried</a:t>
                      </a:r>
                    </a:p>
                  </a:txBody>
                  <a:tcPr anchor="ctr" marL="73152" marR="54864" marT="27432" marB="27432">
                    <a:solidFill>
                      <a:srgbClr val="EEF3F8"/>
                    </a:solidFill>
                  </a:tcPr>
                </a:tc>
                <a:tc>
                  <a:txBody>
                    <a:bodyPr wrap="square"/>
                    <a:lstStyle/>
                    <a:p>
                      <a:r>
                        <a:rPr sz="1150">
                          <a:solidFill>
                            <a:srgbClr val="1A1A1A"/>
                          </a:solidFill>
                        </a:rPr>
                        <a:t>Board audit/compliance committee</a:t>
                      </a:r>
                    </a:p>
                  </a:txBody>
                  <a:tcPr anchor="ctr" marL="73152" marR="54864" marT="27432" marB="27432">
                    <a:solidFill>
                      <a:srgbClr val="EEF3F8"/>
                    </a:solidFill>
                  </a:tcPr>
                </a:tc>
              </a:tr>
              <a:tr h="630936">
                <a:tc>
                  <a:txBody>
                    <a:bodyPr wrap="square"/>
                    <a:lstStyle/>
                    <a:p>
                      <a:r>
                        <a:rPr sz="1150" b="1">
                          <a:solidFill>
                            <a:srgbClr val="0C2B4A"/>
                          </a:solidFill>
                        </a:rPr>
                        <a:t>Specific code of conduct</a:t>
                      </a:r>
                    </a:p>
                  </a:txBody>
                  <a:tcPr anchor="ctr" marL="73152" marR="54864" marT="27432" marB="27432">
                    <a:solidFill>
                      <a:srgbClr val="FFFFFF"/>
                    </a:solidFill>
                  </a:tcPr>
                </a:tc>
                <a:tc>
                  <a:txBody>
                    <a:bodyPr wrap="square"/>
                    <a:lstStyle/>
                    <a:p>
                      <a:r>
                        <a:rPr sz="1150">
                          <a:solidFill>
                            <a:srgbClr val="1A1A1A"/>
                          </a:solidFill>
                        </a:rPr>
                        <a:t>Turns 'be good' into concrete rules</a:t>
                      </a:r>
                    </a:p>
                  </a:txBody>
                  <a:tcPr anchor="ctr" marL="73152" marR="54864" marT="27432" marB="27432">
                    <a:solidFill>
                      <a:srgbClr val="FFFFFF"/>
                    </a:solidFill>
                  </a:tcPr>
                </a:tc>
                <a:tc>
                  <a:txBody>
                    <a:bodyPr wrap="square"/>
                    <a:lstStyle/>
                    <a:p>
                      <a:r>
                        <a:rPr sz="1150">
                          <a:solidFill>
                            <a:srgbClr val="1A1A1A"/>
                          </a:solidFill>
                        </a:rPr>
                        <a:t>'No gifts over Rs X; report conflicts of interest'</a:t>
                      </a:r>
                    </a:p>
                  </a:txBody>
                  <a:tcPr anchor="ctr" marL="73152" marR="54864" marT="27432" marB="27432">
                    <a:solidFill>
                      <a:srgbClr val="FFFFFF"/>
                    </a:solidFill>
                  </a:tcPr>
                </a:tc>
              </a:tr>
              <a:tr h="630936">
                <a:tc>
                  <a:txBody>
                    <a:bodyPr wrap="square"/>
                    <a:lstStyle/>
                    <a:p>
                      <a:r>
                        <a:rPr sz="1150" b="1">
                          <a:solidFill>
                            <a:srgbClr val="0C2B4A"/>
                          </a:solidFill>
                        </a:rPr>
                        <a:t>Ongoing training</a:t>
                      </a:r>
                    </a:p>
                  </a:txBody>
                  <a:tcPr anchor="ctr" marL="73152" marR="54864" marT="27432" marB="27432">
                    <a:solidFill>
                      <a:srgbClr val="EEF3F8"/>
                    </a:solidFill>
                  </a:tcPr>
                </a:tc>
                <a:tc>
                  <a:txBody>
                    <a:bodyPr wrap="square"/>
                    <a:lstStyle/>
                    <a:p>
                      <a:r>
                        <a:rPr sz="1150">
                          <a:solidFill>
                            <a:srgbClr val="1A1A1A"/>
                          </a:solidFill>
                        </a:rPr>
                        <a:t>Keeps rules alive with real scenarios</a:t>
                      </a:r>
                    </a:p>
                  </a:txBody>
                  <a:tcPr anchor="ctr" marL="73152" marR="54864" marT="27432" marB="27432">
                    <a:solidFill>
                      <a:srgbClr val="EEF3F8"/>
                    </a:solidFill>
                  </a:tcPr>
                </a:tc>
                <a:tc>
                  <a:txBody>
                    <a:bodyPr wrap="square"/>
                    <a:lstStyle/>
                    <a:p>
                      <a:r>
                        <a:rPr sz="1150">
                          <a:solidFill>
                            <a:srgbClr val="1A1A1A"/>
                          </a:solidFill>
                        </a:rPr>
                        <a:t>AML / anti-money-laundering staff training</a:t>
                      </a:r>
                    </a:p>
                  </a:txBody>
                  <a:tcPr anchor="ctr" marL="73152" marR="54864" marT="27432" marB="27432">
                    <a:solidFill>
                      <a:srgbClr val="EEF3F8"/>
                    </a:solidFill>
                  </a:tcPr>
                </a:tc>
              </a:tr>
              <a:tr h="630936">
                <a:tc>
                  <a:txBody>
                    <a:bodyPr wrap="square"/>
                    <a:lstStyle/>
                    <a:p>
                      <a:r>
                        <a:rPr sz="1150" b="1">
                          <a:solidFill>
                            <a:srgbClr val="0C2B4A"/>
                          </a:solidFill>
                        </a:rPr>
                        <a:t>Safe reporting channel</a:t>
                      </a:r>
                    </a:p>
                  </a:txBody>
                  <a:tcPr anchor="ctr" marL="73152" marR="54864" marT="27432" marB="27432">
                    <a:solidFill>
                      <a:srgbClr val="FFFFFF"/>
                    </a:solidFill>
                  </a:tcPr>
                </a:tc>
                <a:tc>
                  <a:txBody>
                    <a:bodyPr wrap="square"/>
                    <a:lstStyle/>
                    <a:p>
                      <a:r>
                        <a:rPr sz="1150">
                          <a:solidFill>
                            <a:srgbClr val="1A1A1A"/>
                          </a:solidFill>
                        </a:rPr>
                        <a:t>Lets staff report without fear</a:t>
                      </a:r>
                    </a:p>
                  </a:txBody>
                  <a:tcPr anchor="ctr" marL="73152" marR="54864" marT="27432" marB="27432">
                    <a:solidFill>
                      <a:srgbClr val="FFFFFF"/>
                    </a:solidFill>
                  </a:tcPr>
                </a:tc>
                <a:tc>
                  <a:txBody>
                    <a:bodyPr wrap="square"/>
                    <a:lstStyle/>
                    <a:p>
                      <a:r>
                        <a:rPr sz="1150">
                          <a:solidFill>
                            <a:srgbClr val="1A1A1A"/>
                          </a:solidFill>
                        </a:rPr>
                        <a:t>Anonymous whistle-blower / grievance hotline</a:t>
                      </a:r>
                    </a:p>
                  </a:txBody>
                  <a:tcPr anchor="ctr" marL="73152" marR="54864" marT="27432" marB="27432">
                    <a:solidFill>
                      <a:srgbClr val="FFFFFF"/>
                    </a:solidFill>
                  </a:tcPr>
                </a:tc>
              </a:tr>
              <a:tr h="630936">
                <a:tc>
                  <a:txBody>
                    <a:bodyPr wrap="square"/>
                    <a:lstStyle/>
                    <a:p>
                      <a:r>
                        <a:rPr sz="1150" b="1">
                          <a:solidFill>
                            <a:srgbClr val="0C2B4A"/>
                          </a:solidFill>
                        </a:rPr>
                        <a:t>Periodic audits</a:t>
                      </a:r>
                    </a:p>
                  </a:txBody>
                  <a:tcPr anchor="ctr" marL="73152" marR="54864" marT="27432" marB="27432">
                    <a:solidFill>
                      <a:srgbClr val="EEF3F8"/>
                    </a:solidFill>
                  </a:tcPr>
                </a:tc>
                <a:tc>
                  <a:txBody>
                    <a:bodyPr wrap="square"/>
                    <a:lstStyle/>
                    <a:p>
                      <a:r>
                        <a:rPr sz="1150">
                          <a:solidFill>
                            <a:srgbClr val="1A1A1A"/>
                          </a:solidFill>
                        </a:rPr>
                        <a:t>Checks rules are followed, not just posted</a:t>
                      </a:r>
                    </a:p>
                  </a:txBody>
                  <a:tcPr anchor="ctr" marL="73152" marR="54864" marT="27432" marB="27432">
                    <a:solidFill>
                      <a:srgbClr val="EEF3F8"/>
                    </a:solidFill>
                  </a:tcPr>
                </a:tc>
                <a:tc>
                  <a:txBody>
                    <a:bodyPr wrap="square"/>
                    <a:lstStyle/>
                    <a:p>
                      <a:r>
                        <a:rPr sz="1150">
                          <a:solidFill>
                            <a:srgbClr val="1A1A1A"/>
                          </a:solidFill>
                        </a:rPr>
                        <a:t>Internal compliance audit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Nepali banks are regulated to have AML training and a grievance/whistle-blower hotline — the concrete machinery of 'we value integrity'.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101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Components of an Effective Program</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commercial bank's anti-money-laundering training plus an anonymous grievance/whistle-blower hotline is the concrete machinery that turns 'we value integrity' into measurable daily practice — and Nepali banks are regulated to have 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"Having a code of conduct guarantees ethical behaviour." Enforcement and culture matter far more than the document. A safe reporting channel that staff are scared to use is no channel at all.</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An effective ethics program combines an ethics officer/committee with authority, board-level oversight, a specific code of conduct, ongoing training, safe (anonymous, retaliation-free) reporting channels, and periodic audits — a reinforcing cycle, not a single document.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ethics officer · board oversight · specific code · training · whistle-blower hotline · audits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56 / 101</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Measuring &amp; Sustaining Ethics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program isn't 'set and forget'. It is maintained with audits, surveys, and — above all — CONSISTENT consequences at every level.</a:t>
            </a:r>
          </a:p>
          <a:p>
            <a:pPr>
              <a:spcAft>
                <a:spcPts val="500"/>
              </a:spcAft>
            </a:pPr>
            <a:r>
              <a:rPr sz="1200" b="1">
                <a:solidFill>
                  <a:srgbClr val="185FA5"/>
                </a:solidFill>
              </a:rPr>
              <a:t>HOW IT WORKS</a:t>
            </a:r>
          </a:p>
          <a:p>
            <a:pPr>
              <a:spcAft>
                <a:spcPts val="600"/>
              </a:spcAft>
            </a:pPr>
            <a:r>
              <a:rPr sz="1400">
                <a:solidFill>
                  <a:srgbClr val="1A1A1A"/>
                </a:solidFill>
              </a:rPr>
              <a:t>•  Ethics audits and anonymous culture surveys surface problems before they become scandals.</a:t>
            </a:r>
          </a:p>
          <a:p>
            <a:pPr>
              <a:spcAft>
                <a:spcPts val="600"/>
              </a:spcAft>
            </a:pPr>
            <a:r>
              <a:rPr sz="1400">
                <a:solidFill>
                  <a:srgbClr val="1A1A1A"/>
                </a:solidFill>
              </a:rPr>
              <a:t>•  Consistent consequences for violations — especially at the top.</a:t>
            </a:r>
          </a:p>
          <a:p>
            <a:pPr>
              <a:spcAft>
                <a:spcPts val="600"/>
              </a:spcAft>
            </a:pPr>
            <a:r>
              <a:rPr sz="1400">
                <a:solidFill>
                  <a:srgbClr val="1A1A1A"/>
                </a:solidFill>
              </a:rPr>
              <a:t>•  Track reported concerns and act on them, so reporting feels worthwhile.</a:t>
            </a:r>
          </a:p>
          <a:p>
            <a:pPr>
              <a:spcAft>
                <a:spcPts val="600"/>
              </a:spcAft>
            </a:pPr>
            <a:r>
              <a:rPr sz="1400">
                <a:solidFill>
                  <a:srgbClr val="1A1A1A"/>
                </a:solidFill>
              </a:rPr>
              <a:t>•  The fastest way to destroy a program is to punish violations SELECTIVELY.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Selective punishment destroys trust faster than having no code at all.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101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Consistent vs selective enforcement — what everyone learns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341076"/>
                <a:gridCol w="4044461"/>
                <a:gridCol w="4044461"/>
              </a:tblGrid>
              <a:tr h="883310">
                <a:tc>
                  <a:txBody>
                    <a:bodyPr wrap="square"/>
                    <a:lstStyle/>
                    <a:p>
                      <a:r>
                        <a:rPr sz="1200" b="1">
                          <a:solidFill>
                            <a:srgbClr val="FFFFFF"/>
                          </a:solidFill>
                        </a:rPr>
                        <a:t>Situation</a:t>
                      </a:r>
                    </a:p>
                  </a:txBody>
                  <a:tcPr anchor="ctr" marL="73152" marR="54864" marT="27432" marB="27432">
                    <a:solidFill>
                      <a:srgbClr val="0C2B4A"/>
                    </a:solidFill>
                  </a:tcPr>
                </a:tc>
                <a:tc>
                  <a:txBody>
                    <a:bodyPr wrap="square"/>
                    <a:lstStyle/>
                    <a:p>
                      <a:r>
                        <a:rPr sz="1200" b="1">
                          <a:solidFill>
                            <a:srgbClr val="FFFFFF"/>
                          </a:solidFill>
                        </a:rPr>
                        <a:t>Consistent enforcement</a:t>
                      </a:r>
                    </a:p>
                  </a:txBody>
                  <a:tcPr anchor="ctr" marL="73152" marR="54864" marT="27432" marB="27432">
                    <a:solidFill>
                      <a:srgbClr val="0C2B4A"/>
                    </a:solidFill>
                  </a:tcPr>
                </a:tc>
                <a:tc>
                  <a:txBody>
                    <a:bodyPr wrap="square"/>
                    <a:lstStyle/>
                    <a:p>
                      <a:r>
                        <a:rPr sz="1200" b="1">
                          <a:solidFill>
                            <a:srgbClr val="FFFFFF"/>
                          </a:solidFill>
                        </a:rPr>
                        <a:t>Selective enforcement</a:t>
                      </a:r>
                    </a:p>
                  </a:txBody>
                  <a:tcPr anchor="ctr" marL="73152" marR="54864" marT="27432" marB="27432">
                    <a:solidFill>
                      <a:srgbClr val="0C2B4A"/>
                    </a:solidFill>
                  </a:tcPr>
                </a:tc>
              </a:tr>
              <a:tr h="883310">
                <a:tc>
                  <a:txBody>
                    <a:bodyPr wrap="square"/>
                    <a:lstStyle/>
                    <a:p>
                      <a:r>
                        <a:rPr sz="1150" b="1">
                          <a:solidFill>
                            <a:srgbClr val="0C2B4A"/>
                          </a:solidFill>
                        </a:rPr>
                        <a:t>Two staff break the same rule</a:t>
                      </a:r>
                    </a:p>
                  </a:txBody>
                  <a:tcPr anchor="ctr" marL="73152" marR="54864" marT="27432" marB="27432">
                    <a:solidFill>
                      <a:srgbClr val="FFFFFF"/>
                    </a:solidFill>
                  </a:tcPr>
                </a:tc>
                <a:tc>
                  <a:txBody>
                    <a:bodyPr wrap="square"/>
                    <a:lstStyle/>
                    <a:p>
                      <a:r>
                        <a:rPr sz="1150">
                          <a:solidFill>
                            <a:srgbClr val="1A1A1A"/>
                          </a:solidFill>
                        </a:rPr>
                        <a:t>Both face the same consequence</a:t>
                      </a:r>
                    </a:p>
                  </a:txBody>
                  <a:tcPr anchor="ctr" marL="73152" marR="54864" marT="27432" marB="27432">
                    <a:solidFill>
                      <a:srgbClr val="FFFFFF"/>
                    </a:solidFill>
                  </a:tcPr>
                </a:tc>
                <a:tc>
                  <a:txBody>
                    <a:bodyPr wrap="square"/>
                    <a:lstStyle/>
                    <a:p>
                      <a:r>
                        <a:rPr sz="1150">
                          <a:solidFill>
                            <a:srgbClr val="1A1A1A"/>
                          </a:solidFill>
                        </a:rPr>
                        <a:t>Senior excused, junior punished</a:t>
                      </a:r>
                    </a:p>
                  </a:txBody>
                  <a:tcPr anchor="ctr" marL="73152" marR="54864" marT="27432" marB="27432">
                    <a:solidFill>
                      <a:srgbClr val="FFFFFF"/>
                    </a:solidFill>
                  </a:tcPr>
                </a:tc>
              </a:tr>
              <a:tr h="883310">
                <a:tc>
                  <a:txBody>
                    <a:bodyPr wrap="square"/>
                    <a:lstStyle/>
                    <a:p>
                      <a:r>
                        <a:rPr sz="1150" b="1">
                          <a:solidFill>
                            <a:srgbClr val="0C2B4A"/>
                          </a:solidFill>
                        </a:rPr>
                        <a:t>What the code signals</a:t>
                      </a:r>
                    </a:p>
                  </a:txBody>
                  <a:tcPr anchor="ctr" marL="73152" marR="54864" marT="27432" marB="27432">
                    <a:solidFill>
                      <a:srgbClr val="EEF3F8"/>
                    </a:solidFill>
                  </a:tcPr>
                </a:tc>
                <a:tc>
                  <a:txBody>
                    <a:bodyPr wrap="square"/>
                    <a:lstStyle/>
                    <a:p>
                      <a:r>
                        <a:rPr sz="1150">
                          <a:solidFill>
                            <a:srgbClr val="1A1A1A"/>
                          </a:solidFill>
                        </a:rPr>
                        <a:t>Rules apply to everyone</a:t>
                      </a:r>
                    </a:p>
                  </a:txBody>
                  <a:tcPr anchor="ctr" marL="73152" marR="54864" marT="27432" marB="27432">
                    <a:solidFill>
                      <a:srgbClr val="EEF3F8"/>
                    </a:solidFill>
                  </a:tcPr>
                </a:tc>
                <a:tc>
                  <a:txBody>
                    <a:bodyPr wrap="square"/>
                    <a:lstStyle/>
                    <a:p>
                      <a:r>
                        <a:rPr sz="1150">
                          <a:solidFill>
                            <a:srgbClr val="1A1A1A"/>
                          </a:solidFill>
                        </a:rPr>
                        <a:t>The code is power-dependent</a:t>
                      </a:r>
                    </a:p>
                  </a:txBody>
                  <a:tcPr anchor="ctr" marL="73152" marR="54864" marT="27432" marB="27432">
                    <a:solidFill>
                      <a:srgbClr val="EEF3F8"/>
                    </a:solidFill>
                  </a:tcPr>
                </a:tc>
              </a:tr>
              <a:tr h="883310">
                <a:tc>
                  <a:txBody>
                    <a:bodyPr wrap="square"/>
                    <a:lstStyle/>
                    <a:p>
                      <a:r>
                        <a:rPr sz="1150" b="1">
                          <a:solidFill>
                            <a:srgbClr val="0C2B4A"/>
                          </a:solidFill>
                        </a:rPr>
                        <a:t>Effect on trust</a:t>
                      </a:r>
                    </a:p>
                  </a:txBody>
                  <a:tcPr anchor="ctr" marL="73152" marR="54864" marT="27432" marB="27432">
                    <a:solidFill>
                      <a:srgbClr val="FFFFFF"/>
                    </a:solidFill>
                  </a:tcPr>
                </a:tc>
                <a:tc>
                  <a:txBody>
                    <a:bodyPr wrap="square"/>
                    <a:lstStyle/>
                    <a:p>
                      <a:r>
                        <a:rPr sz="1150">
                          <a:solidFill>
                            <a:srgbClr val="1A1A1A"/>
                          </a:solidFill>
                        </a:rPr>
                        <a:t>Trust is reinforced</a:t>
                      </a:r>
                    </a:p>
                  </a:txBody>
                  <a:tcPr anchor="ctr" marL="73152" marR="54864" marT="27432" marB="27432">
                    <a:solidFill>
                      <a:srgbClr val="FFFFFF"/>
                    </a:solidFill>
                  </a:tcPr>
                </a:tc>
                <a:tc>
                  <a:txBody>
                    <a:bodyPr wrap="square"/>
                    <a:lstStyle/>
                    <a:p>
                      <a:r>
                        <a:rPr sz="1150">
                          <a:solidFill>
                            <a:srgbClr val="1A1A1A"/>
                          </a:solidFill>
                        </a:rPr>
                        <a:t>Trust collapses — visible hypocrisy</a:t>
                      </a:r>
                    </a:p>
                  </a:txBody>
                  <a:tcPr anchor="ctr" marL="73152" marR="54864" marT="27432" marB="27432">
                    <a:solidFill>
                      <a:srgbClr val="FFFFFF"/>
                    </a:solidFill>
                  </a:tcPr>
                </a:tc>
              </a:tr>
              <a:tr h="883312">
                <a:tc>
                  <a:txBody>
                    <a:bodyPr wrap="square"/>
                    <a:lstStyle/>
                    <a:p>
                      <a:r>
                        <a:rPr sz="1150" b="1">
                          <a:solidFill>
                            <a:srgbClr val="0C2B4A"/>
                          </a:solidFill>
                        </a:rPr>
                        <a:t>Net result</a:t>
                      </a:r>
                    </a:p>
                  </a:txBody>
                  <a:tcPr anchor="ctr" marL="73152" marR="54864" marT="27432" marB="27432">
                    <a:solidFill>
                      <a:srgbClr val="EEF3F8"/>
                    </a:solidFill>
                  </a:tcPr>
                </a:tc>
                <a:tc>
                  <a:txBody>
                    <a:bodyPr wrap="square"/>
                    <a:lstStyle/>
                    <a:p>
                      <a:r>
                        <a:rPr sz="1150">
                          <a:solidFill>
                            <a:srgbClr val="1A1A1A"/>
                          </a:solidFill>
                        </a:rPr>
                        <a:t>Ethical culture strengthens</a:t>
                      </a:r>
                    </a:p>
                  </a:txBody>
                  <a:tcPr anchor="ctr" marL="73152" marR="54864" marT="27432" marB="27432">
                    <a:solidFill>
                      <a:srgbClr val="EEF3F8"/>
                    </a:solidFill>
                  </a:tcPr>
                </a:tc>
                <a:tc>
                  <a:txBody>
                    <a:bodyPr wrap="square"/>
                    <a:lstStyle/>
                    <a:p>
                      <a:r>
                        <a:rPr sz="1150">
                          <a:solidFill>
                            <a:srgbClr val="1A1A1A"/>
                          </a:solidFill>
                        </a:rPr>
                        <a:t>Worse than having no code at all</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Consistency is the make-or-break factor — a code applied only to the powerless teaches everyone that ethics is negotiable.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101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Measuring &amp; Sustaining Ethics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Two employees break the same rule: the senior manager is quietly let off, the junior is publicly punished. Everyone watching now believes the code is power-dependent — which destroys trust faster than having no code at all, because the hypocrisy is visible.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"As long as we have rules, we're fine." Rules enforced selectively are worse than none. Consistency — especially punishing seniors — is what keeps a program credible.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Ethics programs are sustained through audits, anonymous culture surveys, tracking of reported concerns, and — most importantly — consistent consequences applied at every level. Selective enforcement (excusing seniors) destroys trust faster than having no code, because it exposes visible hypocrisy.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ethics audit · culture survey · consistent consequences · selective enforcement (the killer)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101</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a violation is handled — and what everyone learns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143375"/>
                <a:gridCol w="3286125"/>
                <a:gridCol w="4000500"/>
              </a:tblGrid>
              <a:tr h="552069">
                <a:tc>
                  <a:txBody>
                    <a:bodyPr wrap="square"/>
                    <a:lstStyle/>
                    <a:p>
                      <a:r>
                        <a:rPr sz="1150" b="1">
                          <a:solidFill>
                            <a:srgbClr val="FFFFFF"/>
                          </a:solidFill>
                        </a:rPr>
                        <a:t>Situation</a:t>
                      </a:r>
                    </a:p>
                  </a:txBody>
                  <a:tcPr anchor="ctr" marL="73152" marR="54864" marT="27432" marB="27432">
                    <a:solidFill>
                      <a:srgbClr val="0C2B4A"/>
                    </a:solidFill>
                  </a:tcPr>
                </a:tc>
                <a:tc>
                  <a:txBody>
                    <a:bodyPr wrap="square"/>
                    <a:lstStyle/>
                    <a:p>
                      <a:r>
                        <a:rPr sz="1150" b="1">
                          <a:solidFill>
                            <a:srgbClr val="FFFFFF"/>
                          </a:solidFill>
                        </a:rPr>
                        <a:t>How it was handled</a:t>
                      </a:r>
                    </a:p>
                  </a:txBody>
                  <a:tcPr anchor="ctr" marL="73152" marR="54864" marT="27432" marB="27432">
                    <a:solidFill>
                      <a:srgbClr val="0C2B4A"/>
                    </a:solidFill>
                  </a:tcPr>
                </a:tc>
                <a:tc>
                  <a:txBody>
                    <a:bodyPr wrap="square"/>
                    <a:lstStyle/>
                    <a:p>
                      <a:r>
                        <a:rPr sz="1150" b="1">
                          <a:solidFill>
                            <a:srgbClr val="FFFFFF"/>
                          </a:solidFill>
                        </a:rPr>
                        <a:t>What everyone learned</a:t>
                      </a:r>
                    </a:p>
                  </a:txBody>
                  <a:tcPr anchor="ctr" marL="73152" marR="54864" marT="27432" marB="27432">
                    <a:solidFill>
                      <a:srgbClr val="0C2B4A"/>
                    </a:solidFill>
                  </a:tcPr>
                </a:tc>
              </a:tr>
              <a:tr h="552069">
                <a:tc>
                  <a:txBody>
                    <a:bodyPr wrap="square"/>
                    <a:lstStyle/>
                    <a:p>
                      <a:r>
                        <a:rPr sz="1100" b="1">
                          <a:solidFill>
                            <a:srgbClr val="0C2B4A"/>
                          </a:solidFill>
                        </a:rPr>
                        <a:t>A senior and a junior both take a kickback</a:t>
                      </a:r>
                    </a:p>
                  </a:txBody>
                  <a:tcPr anchor="ctr" marL="73152" marR="54864" marT="27432" marB="27432">
                    <a:solidFill>
                      <a:srgbClr val="FFFFFF"/>
                    </a:solidFill>
                  </a:tcPr>
                </a:tc>
                <a:tc>
                  <a:txBody>
                    <a:bodyPr wrap="square"/>
                    <a:lstStyle/>
                    <a:p>
                      <a:r>
                        <a:rPr sz="1100">
                          <a:solidFill>
                            <a:srgbClr val="1A1A1A"/>
                          </a:solidFill>
                        </a:rPr>
                        <a:t>Both dismissed</a:t>
                      </a:r>
                    </a:p>
                  </a:txBody>
                  <a:tcPr anchor="ctr" marL="73152" marR="54864" marT="27432" marB="27432">
                    <a:solidFill>
                      <a:srgbClr val="FFFFFF"/>
                    </a:solidFill>
                  </a:tcPr>
                </a:tc>
                <a:tc>
                  <a:txBody>
                    <a:bodyPr wrap="square"/>
                    <a:lstStyle/>
                    <a:p>
                      <a:r>
                        <a:rPr sz="1100">
                          <a:solidFill>
                            <a:srgbClr val="1A1A1A"/>
                          </a:solidFill>
                        </a:rPr>
                        <a:t>Rules apply to everyone</a:t>
                      </a:r>
                    </a:p>
                  </a:txBody>
                  <a:tcPr anchor="ctr" marL="73152" marR="54864" marT="27432" marB="27432">
                    <a:solidFill>
                      <a:srgbClr val="FFFFFF"/>
                    </a:solidFill>
                  </a:tcPr>
                </a:tc>
              </a:tr>
              <a:tr h="552069">
                <a:tc>
                  <a:txBody>
                    <a:bodyPr wrap="square"/>
                    <a:lstStyle/>
                    <a:p>
                      <a:r>
                        <a:rPr sz="1100" b="1">
                          <a:solidFill>
                            <a:srgbClr val="0C2B4A"/>
                          </a:solidFill>
                        </a:rPr>
                        <a:t>Senior excused, junior fired for the same breach</a:t>
                      </a:r>
                    </a:p>
                  </a:txBody>
                  <a:tcPr anchor="ctr" marL="73152" marR="54864" marT="27432" marB="27432">
                    <a:solidFill>
                      <a:srgbClr val="EEF3F8"/>
                    </a:solidFill>
                  </a:tcPr>
                </a:tc>
                <a:tc>
                  <a:txBody>
                    <a:bodyPr wrap="square"/>
                    <a:lstStyle/>
                    <a:p>
                      <a:r>
                        <a:rPr sz="1100">
                          <a:solidFill>
                            <a:srgbClr val="1A1A1A"/>
                          </a:solidFill>
                        </a:rPr>
                        <a:t>Selective</a:t>
                      </a:r>
                    </a:p>
                  </a:txBody>
                  <a:tcPr anchor="ctr" marL="73152" marR="54864" marT="27432" marB="27432">
                    <a:solidFill>
                      <a:srgbClr val="EEF3F8"/>
                    </a:solidFill>
                  </a:tcPr>
                </a:tc>
                <a:tc>
                  <a:txBody>
                    <a:bodyPr wrap="square"/>
                    <a:lstStyle/>
                    <a:p>
                      <a:r>
                        <a:rPr sz="1100">
                          <a:solidFill>
                            <a:srgbClr val="1A1A1A"/>
                          </a:solidFill>
                        </a:rPr>
                        <a:t>The code is power-dependent</a:t>
                      </a:r>
                    </a:p>
                  </a:txBody>
                  <a:tcPr anchor="ctr" marL="73152" marR="54864" marT="27432" marB="27432">
                    <a:solidFill>
                      <a:srgbClr val="EEF3F8"/>
                    </a:solidFill>
                  </a:tcPr>
                </a:tc>
              </a:tr>
              <a:tr h="552069">
                <a:tc>
                  <a:txBody>
                    <a:bodyPr wrap="square"/>
                    <a:lstStyle/>
                    <a:p>
                      <a:r>
                        <a:rPr sz="1100" b="1">
                          <a:solidFill>
                            <a:srgbClr val="0C2B4A"/>
                          </a:solidFill>
                        </a:rPr>
                        <a:t>A culture survey flags a bullying manager</a:t>
                      </a:r>
                    </a:p>
                  </a:txBody>
                  <a:tcPr anchor="ctr" marL="73152" marR="54864" marT="27432" marB="27432">
                    <a:solidFill>
                      <a:srgbClr val="FFFFFF"/>
                    </a:solidFill>
                  </a:tcPr>
                </a:tc>
                <a:tc>
                  <a:txBody>
                    <a:bodyPr wrap="square"/>
                    <a:lstStyle/>
                    <a:p>
                      <a:r>
                        <a:rPr sz="1100">
                          <a:solidFill>
                            <a:srgbClr val="1A1A1A"/>
                          </a:solidFill>
                        </a:rPr>
                        <a:t>Acted on quickly</a:t>
                      </a:r>
                    </a:p>
                  </a:txBody>
                  <a:tcPr anchor="ctr" marL="73152" marR="54864" marT="27432" marB="27432">
                    <a:solidFill>
                      <a:srgbClr val="FFFFFF"/>
                    </a:solidFill>
                  </a:tcPr>
                </a:tc>
                <a:tc>
                  <a:txBody>
                    <a:bodyPr wrap="square"/>
                    <a:lstStyle/>
                    <a:p>
                      <a:r>
                        <a:rPr sz="1100">
                          <a:solidFill>
                            <a:srgbClr val="1A1A1A"/>
                          </a:solidFill>
                        </a:rPr>
                        <a:t>Reporting is worthwhile</a:t>
                      </a:r>
                    </a:p>
                  </a:txBody>
                  <a:tcPr anchor="ctr" marL="73152" marR="54864" marT="27432" marB="27432">
                    <a:solidFill>
                      <a:srgbClr val="FFFFFF"/>
                    </a:solidFill>
                  </a:tcPr>
                </a:tc>
              </a:tr>
              <a:tr h="552069">
                <a:tc>
                  <a:txBody>
                    <a:bodyPr wrap="square"/>
                    <a:lstStyle/>
                    <a:p>
                      <a:r>
                        <a:rPr sz="1100" b="1">
                          <a:solidFill>
                            <a:srgbClr val="0C2B4A"/>
                          </a:solidFill>
                        </a:rPr>
                        <a:t>Reported concerns are collected but never acted on</a:t>
                      </a:r>
                    </a:p>
                  </a:txBody>
                  <a:tcPr anchor="ctr" marL="73152" marR="54864" marT="27432" marB="27432">
                    <a:solidFill>
                      <a:srgbClr val="EEF3F8"/>
                    </a:solidFill>
                  </a:tcPr>
                </a:tc>
                <a:tc>
                  <a:txBody>
                    <a:bodyPr wrap="square"/>
                    <a:lstStyle/>
                    <a:p>
                      <a:r>
                        <a:rPr sz="1100">
                          <a:solidFill>
                            <a:srgbClr val="1A1A1A"/>
                          </a:solidFill>
                        </a:rPr>
                        <a:t>Ignored</a:t>
                      </a:r>
                    </a:p>
                  </a:txBody>
                  <a:tcPr anchor="ctr" marL="73152" marR="54864" marT="27432" marB="27432">
                    <a:solidFill>
                      <a:srgbClr val="EEF3F8"/>
                    </a:solidFill>
                  </a:tcPr>
                </a:tc>
                <a:tc>
                  <a:txBody>
                    <a:bodyPr wrap="square"/>
                    <a:lstStyle/>
                    <a:p>
                      <a:r>
                        <a:rPr sz="1100">
                          <a:solidFill>
                            <a:srgbClr val="1A1A1A"/>
                          </a:solidFill>
                        </a:rPr>
                        <a:t>Reporting is pointless — people stop</a:t>
                      </a:r>
                    </a:p>
                  </a:txBody>
                  <a:tcPr anchor="ctr" marL="73152" marR="54864" marT="27432" marB="27432">
                    <a:solidFill>
                      <a:srgbClr val="EEF3F8"/>
                    </a:solidFill>
                  </a:tcPr>
                </a:tc>
              </a:tr>
              <a:tr h="552069">
                <a:tc>
                  <a:txBody>
                    <a:bodyPr wrap="square"/>
                    <a:lstStyle/>
                    <a:p>
                      <a:r>
                        <a:rPr sz="1100" b="1">
                          <a:solidFill>
                            <a:srgbClr val="0C2B4A"/>
                          </a:solidFill>
                        </a:rPr>
                        <a:t>An ethics audit finds a compliance gap</a:t>
                      </a:r>
                    </a:p>
                  </a:txBody>
                  <a:tcPr anchor="ctr" marL="73152" marR="54864" marT="27432" marB="27432">
                    <a:solidFill>
                      <a:srgbClr val="FFFFFF"/>
                    </a:solidFill>
                  </a:tcPr>
                </a:tc>
                <a:tc>
                  <a:txBody>
                    <a:bodyPr wrap="square"/>
                    <a:lstStyle/>
                    <a:p>
                      <a:r>
                        <a:rPr sz="1100">
                          <a:solidFill>
                            <a:srgbClr val="1A1A1A"/>
                          </a:solidFill>
                        </a:rPr>
                        <a:t>Fixed before it became a scandal</a:t>
                      </a:r>
                    </a:p>
                  </a:txBody>
                  <a:tcPr anchor="ctr" marL="73152" marR="54864" marT="27432" marB="27432">
                    <a:solidFill>
                      <a:srgbClr val="FFFFFF"/>
                    </a:solidFill>
                  </a:tcPr>
                </a:tc>
                <a:tc>
                  <a:txBody>
                    <a:bodyPr wrap="square"/>
                    <a:lstStyle/>
                    <a:p>
                      <a:r>
                        <a:rPr sz="1100">
                          <a:solidFill>
                            <a:srgbClr val="1A1A1A"/>
                          </a:solidFill>
                        </a:rPr>
                        <a:t>Audits protect the firm</a:t>
                      </a:r>
                    </a:p>
                  </a:txBody>
                  <a:tcPr anchor="ctr" marL="73152" marR="54864" marT="27432" marB="27432">
                    <a:solidFill>
                      <a:srgbClr val="FFFFFF"/>
                    </a:solidFill>
                  </a:tcPr>
                </a:tc>
              </a:tr>
              <a:tr h="552069">
                <a:tc>
                  <a:txBody>
                    <a:bodyPr wrap="square"/>
                    <a:lstStyle/>
                    <a:p>
                      <a:r>
                        <a:rPr sz="1100" b="1">
                          <a:solidFill>
                            <a:srgbClr val="0C2B4A"/>
                          </a:solidFill>
                        </a:rPr>
                        <a:t>A branch skips the mandated AML training</a:t>
                      </a:r>
                    </a:p>
                  </a:txBody>
                  <a:tcPr anchor="ctr" marL="73152" marR="54864" marT="27432" marB="27432">
                    <a:solidFill>
                      <a:srgbClr val="EEF3F8"/>
                    </a:solidFill>
                  </a:tcPr>
                </a:tc>
                <a:tc>
                  <a:txBody>
                    <a:bodyPr wrap="square"/>
                    <a:lstStyle/>
                    <a:p>
                      <a:r>
                        <a:rPr sz="1100">
                          <a:solidFill>
                            <a:srgbClr val="1A1A1A"/>
                          </a:solidFill>
                        </a:rPr>
                        <a:t>Overlooked, no consequence</a:t>
                      </a:r>
                    </a:p>
                  </a:txBody>
                  <a:tcPr anchor="ctr" marL="73152" marR="54864" marT="27432" marB="27432">
                    <a:solidFill>
                      <a:srgbClr val="EEF3F8"/>
                    </a:solidFill>
                  </a:tcPr>
                </a:tc>
                <a:tc>
                  <a:txBody>
                    <a:bodyPr wrap="square"/>
                    <a:lstStyle/>
                    <a:p>
                      <a:r>
                        <a:rPr sz="1100">
                          <a:solidFill>
                            <a:srgbClr val="1A1A1A"/>
                          </a:solidFill>
                        </a:rPr>
                        <a:t>Rules are optional here</a:t>
                      </a:r>
                    </a:p>
                  </a:txBody>
                  <a:tcPr anchor="ctr" marL="73152" marR="54864" marT="27432" marB="27432">
                    <a:solidFill>
                      <a:srgbClr val="EEF3F8"/>
                    </a:solidFill>
                  </a:tcPr>
                </a:tc>
              </a:tr>
              <a:tr h="552069">
                <a:tc>
                  <a:txBody>
                    <a:bodyPr wrap="square"/>
                    <a:lstStyle/>
                    <a:p>
                      <a:r>
                        <a:rPr sz="1100" b="1">
                          <a:solidFill>
                            <a:srgbClr val="0C2B4A"/>
                          </a:solidFill>
                        </a:rPr>
                        <a:t>A director's conflict of interest is disclosed</a:t>
                      </a:r>
                    </a:p>
                  </a:txBody>
                  <a:tcPr anchor="ctr" marL="73152" marR="54864" marT="27432" marB="27432">
                    <a:solidFill>
                      <a:srgbClr val="FFFFFF"/>
                    </a:solidFill>
                  </a:tcPr>
                </a:tc>
                <a:tc>
                  <a:txBody>
                    <a:bodyPr wrap="square"/>
                    <a:lstStyle/>
                    <a:p>
                      <a:r>
                        <a:rPr sz="1100">
                          <a:solidFill>
                            <a:srgbClr val="1A1A1A"/>
                          </a:solidFill>
                        </a:rPr>
                        <a:t>Managed openly</a:t>
                      </a:r>
                    </a:p>
                  </a:txBody>
                  <a:tcPr anchor="ctr" marL="73152" marR="54864" marT="27432" marB="27432">
                    <a:solidFill>
                      <a:srgbClr val="FFFFFF"/>
                    </a:solidFill>
                  </a:tcPr>
                </a:tc>
                <a:tc>
                  <a:txBody>
                    <a:bodyPr wrap="square"/>
                    <a:lstStyle/>
                    <a:p>
                      <a:r>
                        <a:rPr sz="1100">
                          <a:solidFill>
                            <a:srgbClr val="1A1A1A"/>
                          </a:solidFill>
                        </a:rPr>
                        <a:t>Ethics applies at the top too</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Consistency is make-or-break. Selective punishment — excusing seniors — destroys trust faster than having no code at all, because the hypocrisy is visible.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101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 — 'Design one enforceable rule'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design ONE concrete rule to make the college exam process more ethical.</a:t>
            </a:r>
          </a:p>
          <a:p>
            <a:pPr>
              <a:spcAft>
                <a:spcPts val="700"/>
              </a:spcAft>
            </a:pPr>
            <a:r>
              <a:rPr sz="1550">
                <a:solidFill>
                  <a:srgbClr val="1A1A1A"/>
                </a:solidFill>
              </a:rPr>
              <a:t>•  State HOW it would be enforced — a rule with no enforcement is a poster.</a:t>
            </a:r>
          </a:p>
          <a:p>
            <a:pPr>
              <a:spcAft>
                <a:spcPts val="700"/>
              </a:spcAft>
            </a:pPr>
            <a:r>
              <a:rPr sz="1550">
                <a:solidFill>
                  <a:srgbClr val="1A1A1A"/>
                </a:solidFill>
              </a:rPr>
              <a:t>•  Take 3 answers aloud (3 min).</a:t>
            </a:r>
          </a:p>
          <a:p>
            <a:pPr>
              <a:spcAft>
                <a:spcPts val="700"/>
              </a:spcAft>
            </a:pPr>
            <a:r>
              <a:rPr sz="1550">
                <a:solidFill>
                  <a:srgbClr val="1A1A1A"/>
                </a:solidFill>
              </a:rPr>
              <a:t>•  Pressure-test each: Who checks it? What's the consequence? Could a senior person dodge it?</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answers pair a specific rule with a specific enforcer and consequence, and survive the 'could a senior dodge it?' test — tying straight back to the consistency point.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101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single most important driver of an ethical culture is:</a:t>
            </a:r>
          </a:p>
          <a:p>
            <a:pPr lvl="1"/>
            <a:r>
              <a:rPr sz="1500" b="1">
                <a:solidFill>
                  <a:srgbClr val="0F6E56"/>
                </a:solidFill>
              </a:rPr>
              <a:t>a) a long code document   b) ✅ leadership / tone at the top   c) the company logo   d) annual profit</a:t>
            </a:r>
          </a:p>
          <a:p>
            <a:pPr>
              <a:spcBef>
                <a:spcPts val="900"/>
              </a:spcBef>
            </a:pPr>
            <a:r>
              <a:rPr sz="1700" b="1">
                <a:solidFill>
                  <a:srgbClr val="0C2B4A"/>
                </a:solidFill>
              </a:rPr>
              <a:t>Q2.  A safe, retaliation-free way for staff to report wrongdoing is a:</a:t>
            </a:r>
          </a:p>
          <a:p>
            <a:pPr lvl="1"/>
            <a:r>
              <a:rPr sz="1500" b="1">
                <a:solidFill>
                  <a:srgbClr val="0F6E56"/>
                </a:solidFill>
              </a:rPr>
              <a:t>a) marketing channel   b) ✅ whistle-blower / reporting hotline   c) sales funnel   d) press release</a:t>
            </a:r>
          </a:p>
          <a:p>
            <a:pPr lvl="1">
              <a:spcBef>
                <a:spcPts val="600"/>
              </a:spcBef>
            </a:pPr>
            <a:r>
              <a:rPr sz="1500" i="1">
                <a:solidFill>
                  <a:srgbClr val="1A1A1A"/>
                </a:solidFill>
              </a:rPr>
              <a:t>Discussion: which single component would do the most good in a typical Nepali office —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62 / 101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Values need systems, not posters — a framed code changes nothing on its own.</a:t>
            </a:r>
          </a:p>
          <a:p>
            <a:pPr>
              <a:spcAft>
                <a:spcPts val="800"/>
              </a:spcAft>
            </a:pPr>
            <a:r>
              <a:rPr sz="1500">
                <a:solidFill>
                  <a:srgbClr val="1A1A1A"/>
                </a:solidFill>
              </a:rPr>
              <a:t>2.  Effective programs combine leadership, a specific code, training, safe reporting, and audits.</a:t>
            </a:r>
          </a:p>
          <a:p>
            <a:pPr>
              <a:spcAft>
                <a:spcPts val="800"/>
              </a:spcAft>
            </a:pPr>
            <a:r>
              <a:rPr sz="1500">
                <a:solidFill>
                  <a:srgbClr val="1A1A1A"/>
                </a:solidFill>
              </a:rPr>
              <a:t>3.  Consistent enforcement beats any document — selective punishment is worse than none.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In your first weeks at any job these signals reveal a healthy vs toxic employer: is there a real reporting channel? Are rules applied to seniors too? Is training genuine or a checkbox? You'll use this to read a workplace — and later to build a good one.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 — a repeatable process for making the tough calls: ethical decision making.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101</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 · LECTURE HOUR 4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Ethical Considerations in Decision Making</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The night before the exam, a classmate accidentally shares a Drive folder — and inside are tomorrow's answers. You have them now. Don't ask 'what's right' yet — ask 'how would you even DECIDE?'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64 / 101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5-Step Decision Process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repeatable method you'll reuse in every later unit and every workplace dilemma: Facts → Stakeholders &amp; options → Evaluate → Choose &amp; act → Reflect.</a:t>
            </a:r>
          </a:p>
          <a:p>
            <a:pPr>
              <a:spcAft>
                <a:spcPts val="500"/>
              </a:spcAft>
            </a:pPr>
            <a:r>
              <a:rPr sz="1200" b="1">
                <a:solidFill>
                  <a:srgbClr val="185FA5"/>
                </a:solidFill>
              </a:rPr>
              <a:t>HOW IT WORKS</a:t>
            </a:r>
          </a:p>
          <a:p>
            <a:pPr>
              <a:spcAft>
                <a:spcPts val="600"/>
              </a:spcAft>
            </a:pPr>
            <a:r>
              <a:rPr sz="1400">
                <a:solidFill>
                  <a:srgbClr val="1A1A1A"/>
                </a:solidFill>
              </a:rPr>
              <a:t>•  1 Get the facts — most 'dilemmas' dissolve once you have them; never reason on assumptions.</a:t>
            </a:r>
          </a:p>
          <a:p>
            <a:pPr>
              <a:spcAft>
                <a:spcPts val="600"/>
              </a:spcAft>
            </a:pPr>
            <a:r>
              <a:rPr sz="1400">
                <a:solidFill>
                  <a:srgbClr val="1A1A1A"/>
                </a:solidFill>
              </a:rPr>
              <a:t>•  2 Identify stakeholders &amp; realistic options (not just two extremes).</a:t>
            </a:r>
          </a:p>
          <a:p>
            <a:pPr>
              <a:spcAft>
                <a:spcPts val="600"/>
              </a:spcAft>
            </a:pPr>
            <a:r>
              <a:rPr sz="1400">
                <a:solidFill>
                  <a:srgbClr val="1A1A1A"/>
                </a:solidFill>
              </a:rPr>
              <a:t>•  3 Evaluate options using ethical lenses (next concept).</a:t>
            </a:r>
          </a:p>
          <a:p>
            <a:pPr>
              <a:spcAft>
                <a:spcPts val="600"/>
              </a:spcAft>
            </a:pPr>
            <a:r>
              <a:rPr sz="1400">
                <a:solidFill>
                  <a:srgbClr val="1A1A1A"/>
                </a:solidFill>
              </a:rPr>
              <a:t>•  4 Choose and act — and own it.   5 Reflect — what would you do differently? (judgment improves)</a:t>
            </a:r>
          </a:p>
        </p:txBody>
      </p:sp>
      <p:pic>
        <p:nvPicPr>
          <p:cNvPr id="6" name="Picture 5" descr="s4_5step.png"/>
          <p:cNvPicPr>
            <a:picLocks noChangeAspect="1"/>
          </p:cNvPicPr>
          <p:nvPr/>
        </p:nvPicPr>
        <p:blipFill>
          <a:blip r:embed="rId2"/>
          <a:stretch>
            <a:fillRect/>
          </a:stretch>
        </p:blipFill>
        <p:spPr>
          <a:xfrm>
            <a:off x="6355080" y="2550319"/>
            <a:ext cx="5532120" cy="253460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Facts → stakeholders/options → evaluate → act → reflect.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101</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1 · WORKED EXAMPLE</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5 steps on the leaked-exam-answers dilemma</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900149"/>
                <a:gridCol w="4094328"/>
                <a:gridCol w="4435522"/>
              </a:tblGrid>
              <a:tr h="736092">
                <a:tc>
                  <a:txBody>
                    <a:bodyPr wrap="square"/>
                    <a:lstStyle/>
                    <a:p>
                      <a:r>
                        <a:rPr sz="1200" b="1">
                          <a:solidFill>
                            <a:srgbClr val="FFFFFF"/>
                          </a:solidFill>
                        </a:rPr>
                        <a:t>Step</a:t>
                      </a:r>
                    </a:p>
                  </a:txBody>
                  <a:tcPr anchor="ctr" marL="73152" marR="54864" marT="27432" marB="27432">
                    <a:solidFill>
                      <a:srgbClr val="0C2B4A"/>
                    </a:solidFill>
                  </a:tcPr>
                </a:tc>
                <a:tc>
                  <a:txBody>
                    <a:bodyPr wrap="square"/>
                    <a:lstStyle/>
                    <a:p>
                      <a:r>
                        <a:rPr sz="1200" b="1">
                          <a:solidFill>
                            <a:srgbClr val="FFFFFF"/>
                          </a:solidFill>
                        </a:rPr>
                        <a:t>What it involves</a:t>
                      </a:r>
                    </a:p>
                  </a:txBody>
                  <a:tcPr anchor="ctr" marL="73152" marR="54864" marT="27432" marB="27432">
                    <a:solidFill>
                      <a:srgbClr val="0C2B4A"/>
                    </a:solidFill>
                  </a:tcPr>
                </a:tc>
                <a:tc>
                  <a:txBody>
                    <a:bodyPr wrap="square"/>
                    <a:lstStyle/>
                    <a:p>
                      <a:r>
                        <a:rPr sz="1200" b="1">
                          <a:solidFill>
                            <a:srgbClr val="FFFFFF"/>
                          </a:solidFill>
                        </a:rPr>
                        <a:t>On this dilemma</a:t>
                      </a:r>
                    </a:p>
                  </a:txBody>
                  <a:tcPr anchor="ctr" marL="73152" marR="54864" marT="27432" marB="27432">
                    <a:solidFill>
                      <a:srgbClr val="0C2B4A"/>
                    </a:solidFill>
                  </a:tcPr>
                </a:tc>
              </a:tr>
              <a:tr h="736092">
                <a:tc>
                  <a:txBody>
                    <a:bodyPr wrap="square"/>
                    <a:lstStyle/>
                    <a:p>
                      <a:r>
                        <a:rPr sz="1150" b="1">
                          <a:solidFill>
                            <a:srgbClr val="0C2B4A"/>
                          </a:solidFill>
                        </a:rPr>
                        <a:t>1. Get the facts</a:t>
                      </a:r>
                    </a:p>
                  </a:txBody>
                  <a:tcPr anchor="ctr" marL="73152" marR="54864" marT="27432" marB="27432">
                    <a:solidFill>
                      <a:srgbClr val="FFFFFF"/>
                    </a:solidFill>
                  </a:tcPr>
                </a:tc>
                <a:tc>
                  <a:txBody>
                    <a:bodyPr wrap="square"/>
                    <a:lstStyle/>
                    <a:p>
                      <a:r>
                        <a:rPr sz="1150">
                          <a:solidFill>
                            <a:srgbClr val="1A1A1A"/>
                          </a:solidFill>
                        </a:rPr>
                        <a:t>Establish what's actually true</a:t>
                      </a:r>
                    </a:p>
                  </a:txBody>
                  <a:tcPr anchor="ctr" marL="73152" marR="54864" marT="27432" marB="27432">
                    <a:solidFill>
                      <a:srgbClr val="FFFFFF"/>
                    </a:solidFill>
                  </a:tcPr>
                </a:tc>
                <a:tc>
                  <a:txBody>
                    <a:bodyPr wrap="square"/>
                    <a:lstStyle/>
                    <a:p>
                      <a:r>
                        <a:rPr sz="1150">
                          <a:solidFill>
                            <a:srgbClr val="1A1A1A"/>
                          </a:solidFill>
                        </a:rPr>
                        <a:t>Are these really tomorrow's answers? How did I get them?</a:t>
                      </a:r>
                    </a:p>
                  </a:txBody>
                  <a:tcPr anchor="ctr" marL="73152" marR="54864" marT="27432" marB="27432">
                    <a:solidFill>
                      <a:srgbClr val="FFFFFF"/>
                    </a:solidFill>
                  </a:tcPr>
                </a:tc>
              </a:tr>
              <a:tr h="736092">
                <a:tc>
                  <a:txBody>
                    <a:bodyPr wrap="square"/>
                    <a:lstStyle/>
                    <a:p>
                      <a:r>
                        <a:rPr sz="1150" b="1">
                          <a:solidFill>
                            <a:srgbClr val="0C2B4A"/>
                          </a:solidFill>
                        </a:rPr>
                        <a:t>2. Stakeholders &amp; options</a:t>
                      </a:r>
                    </a:p>
                  </a:txBody>
                  <a:tcPr anchor="ctr" marL="73152" marR="54864" marT="27432" marB="27432">
                    <a:solidFill>
                      <a:srgbClr val="EEF3F8"/>
                    </a:solidFill>
                  </a:tcPr>
                </a:tc>
                <a:tc>
                  <a:txBody>
                    <a:bodyPr wrap="square"/>
                    <a:lstStyle/>
                    <a:p>
                      <a:r>
                        <a:rPr sz="1150">
                          <a:solidFill>
                            <a:srgbClr val="1A1A1A"/>
                          </a:solidFill>
                        </a:rPr>
                        <a:t>Who's affected; realistic choices</a:t>
                      </a:r>
                    </a:p>
                  </a:txBody>
                  <a:tcPr anchor="ctr" marL="73152" marR="54864" marT="27432" marB="27432">
                    <a:solidFill>
                      <a:srgbClr val="EEF3F8"/>
                    </a:solidFill>
                  </a:tcPr>
                </a:tc>
                <a:tc>
                  <a:txBody>
                    <a:bodyPr wrap="square"/>
                    <a:lstStyle/>
                    <a:p>
                      <a:r>
                        <a:rPr sz="1150">
                          <a:solidFill>
                            <a:srgbClr val="1A1A1A"/>
                          </a:solidFill>
                        </a:rPr>
                        <a:t>You, honest classmates, the teacher, the institution; options beyond just use/ignore</a:t>
                      </a:r>
                    </a:p>
                  </a:txBody>
                  <a:tcPr anchor="ctr" marL="73152" marR="54864" marT="27432" marB="27432">
                    <a:solidFill>
                      <a:srgbClr val="EEF3F8"/>
                    </a:solidFill>
                  </a:tcPr>
                </a:tc>
              </a:tr>
              <a:tr h="736092">
                <a:tc>
                  <a:txBody>
                    <a:bodyPr wrap="square"/>
                    <a:lstStyle/>
                    <a:p>
                      <a:r>
                        <a:rPr sz="1150" b="1">
                          <a:solidFill>
                            <a:srgbClr val="0C2B4A"/>
                          </a:solidFill>
                        </a:rPr>
                        <a:t>3. Evaluate</a:t>
                      </a:r>
                    </a:p>
                  </a:txBody>
                  <a:tcPr anchor="ctr" marL="73152" marR="54864" marT="27432" marB="27432">
                    <a:solidFill>
                      <a:srgbClr val="FFFFFF"/>
                    </a:solidFill>
                  </a:tcPr>
                </a:tc>
                <a:tc>
                  <a:txBody>
                    <a:bodyPr wrap="square"/>
                    <a:lstStyle/>
                    <a:p>
                      <a:r>
                        <a:rPr sz="1150">
                          <a:solidFill>
                            <a:srgbClr val="1A1A1A"/>
                          </a:solidFill>
                        </a:rPr>
                        <a:t>Test options through the four lenses</a:t>
                      </a:r>
                    </a:p>
                  </a:txBody>
                  <a:tcPr anchor="ctr" marL="73152" marR="54864" marT="27432" marB="27432">
                    <a:solidFill>
                      <a:srgbClr val="FFFFFF"/>
                    </a:solidFill>
                  </a:tcPr>
                </a:tc>
                <a:tc>
                  <a:txBody>
                    <a:bodyPr wrap="square"/>
                    <a:lstStyle/>
                    <a:p>
                      <a:r>
                        <a:rPr sz="1150">
                          <a:solidFill>
                            <a:srgbClr val="1A1A1A"/>
                          </a:solidFill>
                        </a:rPr>
                        <a:t>Fairness: using them cheats honest students</a:t>
                      </a:r>
                    </a:p>
                  </a:txBody>
                  <a:tcPr anchor="ctr" marL="73152" marR="54864" marT="27432" marB="27432">
                    <a:solidFill>
                      <a:srgbClr val="FFFFFF"/>
                    </a:solidFill>
                  </a:tcPr>
                </a:tc>
              </a:tr>
              <a:tr h="736092">
                <a:tc>
                  <a:txBody>
                    <a:bodyPr wrap="square"/>
                    <a:lstStyle/>
                    <a:p>
                      <a:r>
                        <a:rPr sz="1150" b="1">
                          <a:solidFill>
                            <a:srgbClr val="0C2B4A"/>
                          </a:solidFill>
                        </a:rPr>
                        <a:t>4. Choose &amp; act</a:t>
                      </a:r>
                    </a:p>
                  </a:txBody>
                  <a:tcPr anchor="ctr" marL="73152" marR="54864" marT="27432" marB="27432">
                    <a:solidFill>
                      <a:srgbClr val="EEF3F8"/>
                    </a:solidFill>
                  </a:tcPr>
                </a:tc>
                <a:tc>
                  <a:txBody>
                    <a:bodyPr wrap="square"/>
                    <a:lstStyle/>
                    <a:p>
                      <a:r>
                        <a:rPr sz="1150">
                          <a:solidFill>
                            <a:srgbClr val="1A1A1A"/>
                          </a:solidFill>
                        </a:rPr>
                        <a:t>Decide and own it</a:t>
                      </a:r>
                    </a:p>
                  </a:txBody>
                  <a:tcPr anchor="ctr" marL="73152" marR="54864" marT="27432" marB="27432">
                    <a:solidFill>
                      <a:srgbClr val="EEF3F8"/>
                    </a:solidFill>
                  </a:tcPr>
                </a:tc>
                <a:tc>
                  <a:txBody>
                    <a:bodyPr wrap="square"/>
                    <a:lstStyle/>
                    <a:p>
                      <a:r>
                        <a:rPr sz="1150">
                          <a:solidFill>
                            <a:srgbClr val="1A1A1A"/>
                          </a:solidFill>
                        </a:rPr>
                        <a:t>Report the leak / delete without looking</a:t>
                      </a:r>
                    </a:p>
                  </a:txBody>
                  <a:tcPr anchor="ctr" marL="73152" marR="54864" marT="27432" marB="27432">
                    <a:solidFill>
                      <a:srgbClr val="EEF3F8"/>
                    </a:solidFill>
                  </a:tcPr>
                </a:tc>
              </a:tr>
              <a:tr h="736092">
                <a:tc>
                  <a:txBody>
                    <a:bodyPr wrap="square"/>
                    <a:lstStyle/>
                    <a:p>
                      <a:r>
                        <a:rPr sz="1150" b="1">
                          <a:solidFill>
                            <a:srgbClr val="0C2B4A"/>
                          </a:solidFill>
                        </a:rPr>
                        <a:t>5. Reflect</a:t>
                      </a:r>
                    </a:p>
                  </a:txBody>
                  <a:tcPr anchor="ctr" marL="73152" marR="54864" marT="27432" marB="27432">
                    <a:solidFill>
                      <a:srgbClr val="FFFFFF"/>
                    </a:solidFill>
                  </a:tcPr>
                </a:tc>
                <a:tc>
                  <a:txBody>
                    <a:bodyPr wrap="square"/>
                    <a:lstStyle/>
                    <a:p>
                      <a:r>
                        <a:rPr sz="1150">
                          <a:solidFill>
                            <a:srgbClr val="1A1A1A"/>
                          </a:solidFill>
                        </a:rPr>
                        <a:t>Review outcome; improve judgment</a:t>
                      </a:r>
                    </a:p>
                  </a:txBody>
                  <a:tcPr anchor="ctr" marL="73152" marR="54864" marT="27432" marB="27432">
                    <a:solidFill>
                      <a:srgbClr val="FFFFFF"/>
                    </a:solidFill>
                  </a:tcPr>
                </a:tc>
                <a:tc>
                  <a:txBody>
                    <a:bodyPr wrap="square"/>
                    <a:lstStyle/>
                    <a:p>
                      <a:r>
                        <a:rPr sz="1150">
                          <a:solidFill>
                            <a:srgbClr val="1A1A1A"/>
                          </a:solidFill>
                        </a:rPr>
                        <a:t>What pressure made it tempting? What next time?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method matters more than instant agreement — everyone should be able to defend their choice.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101</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5-Step Decision Process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Applied to the leaked answers: get the facts (is it really the exam?), name stakeholders (honest classmates, teacher, institution) and real options, evaluate (fairness lens: using them cheats others), act (report/delete), reflect. The process turns a gut reaction into a defensible choice.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"You either know the right thing or you don't." People skip steps 1–2 (facts, stakeholders) and jump to an answer — that's where bad decisions are born. The method forces those steps.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5-step ethical decision process is: (1) get the facts; (2) identify stakeholders and realistic options; (3) evaluate options through ethical lenses; (4) choose and act, owning it; (5) reflect to improve future judgment. Steps 1–2 are the most-skipped and most important.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5-step process · facts · stakeholders &amp; options · evaluate · act · reflect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101</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process on six everyday dilemmas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3175000"/>
                <a:gridCol w="3048000"/>
                <a:gridCol w="2667000"/>
                <a:gridCol w="2540000"/>
              </a:tblGrid>
              <a:tr h="630936">
                <a:tc>
                  <a:txBody>
                    <a:bodyPr wrap="square"/>
                    <a:lstStyle/>
                    <a:p>
                      <a:r>
                        <a:rPr sz="1100" b="1">
                          <a:solidFill>
                            <a:srgbClr val="FFFFFF"/>
                          </a:solidFill>
                        </a:rPr>
                        <a:t>Dilemma</a:t>
                      </a:r>
                    </a:p>
                  </a:txBody>
                  <a:tcPr anchor="ctr" marL="73152" marR="54864" marT="27432" marB="27432">
                    <a:solidFill>
                      <a:srgbClr val="0C2B4A"/>
                    </a:solidFill>
                  </a:tcPr>
                </a:tc>
                <a:tc>
                  <a:txBody>
                    <a:bodyPr wrap="square"/>
                    <a:lstStyle/>
                    <a:p>
                      <a:r>
                        <a:rPr sz="1100" b="1">
                          <a:solidFill>
                            <a:srgbClr val="FFFFFF"/>
                          </a:solidFill>
                        </a:rPr>
                        <a:t>First fact to get</a:t>
                      </a:r>
                    </a:p>
                  </a:txBody>
                  <a:tcPr anchor="ctr" marL="73152" marR="54864" marT="27432" marB="27432">
                    <a:solidFill>
                      <a:srgbClr val="0C2B4A"/>
                    </a:solidFill>
                  </a:tcPr>
                </a:tc>
                <a:tc>
                  <a:txBody>
                    <a:bodyPr wrap="square"/>
                    <a:lstStyle/>
                    <a:p>
                      <a:r>
                        <a:rPr sz="1100" b="1">
                          <a:solidFill>
                            <a:srgbClr val="FFFFFF"/>
                          </a:solidFill>
                        </a:rPr>
                        <a:t>Key stakeholders</a:t>
                      </a:r>
                    </a:p>
                  </a:txBody>
                  <a:tcPr anchor="ctr" marL="73152" marR="54864" marT="27432" marB="27432">
                    <a:solidFill>
                      <a:srgbClr val="0C2B4A"/>
                    </a:solidFill>
                  </a:tcPr>
                </a:tc>
                <a:tc>
                  <a:txBody>
                    <a:bodyPr wrap="square"/>
                    <a:lstStyle/>
                    <a:p>
                      <a:r>
                        <a:rPr sz="1100" b="1">
                          <a:solidFill>
                            <a:srgbClr val="FFFFFF"/>
                          </a:solidFill>
                        </a:rPr>
                        <a:t>Defensible action</a:t>
                      </a:r>
                    </a:p>
                  </a:txBody>
                  <a:tcPr anchor="ctr" marL="73152" marR="54864" marT="27432" marB="27432">
                    <a:solidFill>
                      <a:srgbClr val="0C2B4A"/>
                    </a:solidFill>
                  </a:tcPr>
                </a:tc>
              </a:tr>
              <a:tr h="630936">
                <a:tc>
                  <a:txBody>
                    <a:bodyPr wrap="square"/>
                    <a:lstStyle/>
                    <a:p>
                      <a:r>
                        <a:rPr sz="1050" b="1">
                          <a:solidFill>
                            <a:srgbClr val="0C2B4A"/>
                          </a:solidFill>
                        </a:rPr>
                        <a:t>Classmate shares a Drive with tomorrow's exam answers</a:t>
                      </a:r>
                    </a:p>
                  </a:txBody>
                  <a:tcPr anchor="ctr" marL="73152" marR="54864" marT="27432" marB="27432">
                    <a:solidFill>
                      <a:srgbClr val="FFFFFF"/>
                    </a:solidFill>
                  </a:tcPr>
                </a:tc>
                <a:tc>
                  <a:txBody>
                    <a:bodyPr wrap="square"/>
                    <a:lstStyle/>
                    <a:p>
                      <a:r>
                        <a:rPr sz="1050">
                          <a:solidFill>
                            <a:srgbClr val="1A1A1A"/>
                          </a:solidFill>
                        </a:rPr>
                        <a:t>Are these really the exam? How did I get them?</a:t>
                      </a:r>
                    </a:p>
                  </a:txBody>
                  <a:tcPr anchor="ctr" marL="73152" marR="54864" marT="27432" marB="27432">
                    <a:solidFill>
                      <a:srgbClr val="FFFFFF"/>
                    </a:solidFill>
                  </a:tcPr>
                </a:tc>
                <a:tc>
                  <a:txBody>
                    <a:bodyPr wrap="square"/>
                    <a:lstStyle/>
                    <a:p>
                      <a:r>
                        <a:rPr sz="1050">
                          <a:solidFill>
                            <a:srgbClr val="1A1A1A"/>
                          </a:solidFill>
                        </a:rPr>
                        <a:t>Honest students, teacher, institution</a:t>
                      </a:r>
                    </a:p>
                  </a:txBody>
                  <a:tcPr anchor="ctr" marL="73152" marR="54864" marT="27432" marB="27432">
                    <a:solidFill>
                      <a:srgbClr val="FFFFFF"/>
                    </a:solidFill>
                  </a:tcPr>
                </a:tc>
                <a:tc>
                  <a:txBody>
                    <a:bodyPr wrap="square"/>
                    <a:lstStyle/>
                    <a:p>
                      <a:r>
                        <a:rPr sz="1050">
                          <a:solidFill>
                            <a:srgbClr val="1A1A1A"/>
                          </a:solidFill>
                        </a:rPr>
                        <a:t>Report / delete without looking</a:t>
                      </a:r>
                    </a:p>
                  </a:txBody>
                  <a:tcPr anchor="ctr" marL="73152" marR="54864" marT="27432" marB="27432">
                    <a:solidFill>
                      <a:srgbClr val="FFFFFF"/>
                    </a:solidFill>
                  </a:tcPr>
                </a:tc>
              </a:tr>
              <a:tr h="630936">
                <a:tc>
                  <a:txBody>
                    <a:bodyPr wrap="square"/>
                    <a:lstStyle/>
                    <a:p>
                      <a:r>
                        <a:rPr sz="1050" b="1">
                          <a:solidFill>
                            <a:srgbClr val="0C2B4A"/>
                          </a:solidFill>
                        </a:rPr>
                        <a:t>A vendor offers your procurement officer a 'gift' before a tender</a:t>
                      </a:r>
                    </a:p>
                  </a:txBody>
                  <a:tcPr anchor="ctr" marL="73152" marR="54864" marT="27432" marB="27432">
                    <a:solidFill>
                      <a:srgbClr val="EEF3F8"/>
                    </a:solidFill>
                  </a:tcPr>
                </a:tc>
                <a:tc>
                  <a:txBody>
                    <a:bodyPr wrap="square"/>
                    <a:lstStyle/>
                    <a:p>
                      <a:r>
                        <a:rPr sz="1050">
                          <a:solidFill>
                            <a:srgbClr val="1A1A1A"/>
                          </a:solidFill>
                        </a:rPr>
                        <a:t>Gift or bribe? What's the policy limit?</a:t>
                      </a:r>
                    </a:p>
                  </a:txBody>
                  <a:tcPr anchor="ctr" marL="73152" marR="54864" marT="27432" marB="27432">
                    <a:solidFill>
                      <a:srgbClr val="EEF3F8"/>
                    </a:solidFill>
                  </a:tcPr>
                </a:tc>
                <a:tc>
                  <a:txBody>
                    <a:bodyPr wrap="square"/>
                    <a:lstStyle/>
                    <a:p>
                      <a:r>
                        <a:rPr sz="1050">
                          <a:solidFill>
                            <a:srgbClr val="1A1A1A"/>
                          </a:solidFill>
                        </a:rPr>
                        <a:t>Other bidders, employer, public</a:t>
                      </a:r>
                    </a:p>
                  </a:txBody>
                  <a:tcPr anchor="ctr" marL="73152" marR="54864" marT="27432" marB="27432">
                    <a:solidFill>
                      <a:srgbClr val="EEF3F8"/>
                    </a:solidFill>
                  </a:tcPr>
                </a:tc>
                <a:tc>
                  <a:txBody>
                    <a:bodyPr wrap="square"/>
                    <a:lstStyle/>
                    <a:p>
                      <a:r>
                        <a:rPr sz="1050">
                          <a:solidFill>
                            <a:srgbClr val="1A1A1A"/>
                          </a:solidFill>
                        </a:rPr>
                        <a:t>Decline and disclose</a:t>
                      </a:r>
                    </a:p>
                  </a:txBody>
                  <a:tcPr anchor="ctr" marL="73152" marR="54864" marT="27432" marB="27432">
                    <a:solidFill>
                      <a:srgbClr val="EEF3F8"/>
                    </a:solidFill>
                  </a:tcPr>
                </a:tc>
              </a:tr>
              <a:tr h="630936">
                <a:tc>
                  <a:txBody>
                    <a:bodyPr wrap="square"/>
                    <a:lstStyle/>
                    <a:p>
                      <a:r>
                        <a:rPr sz="1050" b="1">
                          <a:solidFill>
                            <a:srgbClr val="0C2B4A"/>
                          </a:solidFill>
                        </a:rPr>
                        <a:t>Boss asks you to backdate an invoice</a:t>
                      </a:r>
                    </a:p>
                  </a:txBody>
                  <a:tcPr anchor="ctr" marL="73152" marR="54864" marT="27432" marB="27432">
                    <a:solidFill>
                      <a:srgbClr val="FFFFFF"/>
                    </a:solidFill>
                  </a:tcPr>
                </a:tc>
                <a:tc>
                  <a:txBody>
                    <a:bodyPr wrap="square"/>
                    <a:lstStyle/>
                    <a:p>
                      <a:r>
                        <a:rPr sz="1050">
                          <a:solidFill>
                            <a:srgbClr val="1A1A1A"/>
                          </a:solidFill>
                        </a:rPr>
                        <a:t>Is this legal? Why is it needed?</a:t>
                      </a:r>
                    </a:p>
                  </a:txBody>
                  <a:tcPr anchor="ctr" marL="73152" marR="54864" marT="27432" marB="27432">
                    <a:solidFill>
                      <a:srgbClr val="FFFFFF"/>
                    </a:solidFill>
                  </a:tcPr>
                </a:tc>
                <a:tc>
                  <a:txBody>
                    <a:bodyPr wrap="square"/>
                    <a:lstStyle/>
                    <a:p>
                      <a:r>
                        <a:rPr sz="1050">
                          <a:solidFill>
                            <a:srgbClr val="1A1A1A"/>
                          </a:solidFill>
                        </a:rPr>
                        <a:t>Auditors, tax office, firm</a:t>
                      </a:r>
                    </a:p>
                  </a:txBody>
                  <a:tcPr anchor="ctr" marL="73152" marR="54864" marT="27432" marB="27432">
                    <a:solidFill>
                      <a:srgbClr val="FFFFFF"/>
                    </a:solidFill>
                  </a:tcPr>
                </a:tc>
                <a:tc>
                  <a:txBody>
                    <a:bodyPr wrap="square"/>
                    <a:lstStyle/>
                    <a:p>
                      <a:r>
                        <a:rPr sz="1050">
                          <a:solidFill>
                            <a:srgbClr val="1A1A1A"/>
                          </a:solidFill>
                        </a:rPr>
                        <a:t>Refuse and escalate</a:t>
                      </a:r>
                    </a:p>
                  </a:txBody>
                  <a:tcPr anchor="ctr" marL="73152" marR="54864" marT="27432" marB="27432">
                    <a:solidFill>
                      <a:srgbClr val="FFFFFF"/>
                    </a:solidFill>
                  </a:tcPr>
                </a:tc>
              </a:tr>
              <a:tr h="630936">
                <a:tc>
                  <a:txBody>
                    <a:bodyPr wrap="square"/>
                    <a:lstStyle/>
                    <a:p>
                      <a:r>
                        <a:rPr sz="1050" b="1">
                          <a:solidFill>
                            <a:srgbClr val="0C2B4A"/>
                          </a:solidFill>
                        </a:rPr>
                        <a:t>A user's data was leaked from your app</a:t>
                      </a:r>
                    </a:p>
                  </a:txBody>
                  <a:tcPr anchor="ctr" marL="73152" marR="54864" marT="27432" marB="27432">
                    <a:solidFill>
                      <a:srgbClr val="EEF3F8"/>
                    </a:solidFill>
                  </a:tcPr>
                </a:tc>
                <a:tc>
                  <a:txBody>
                    <a:bodyPr wrap="square"/>
                    <a:lstStyle/>
                    <a:p>
                      <a:r>
                        <a:rPr sz="1050">
                          <a:solidFill>
                            <a:srgbClr val="1A1A1A"/>
                          </a:solidFill>
                        </a:rPr>
                        <a:t>What leaked, to whom, when?</a:t>
                      </a:r>
                    </a:p>
                  </a:txBody>
                  <a:tcPr anchor="ctr" marL="73152" marR="54864" marT="27432" marB="27432">
                    <a:solidFill>
                      <a:srgbClr val="EEF3F8"/>
                    </a:solidFill>
                  </a:tcPr>
                </a:tc>
                <a:tc>
                  <a:txBody>
                    <a:bodyPr wrap="square"/>
                    <a:lstStyle/>
                    <a:p>
                      <a:r>
                        <a:rPr sz="1050">
                          <a:solidFill>
                            <a:srgbClr val="1A1A1A"/>
                          </a:solidFill>
                        </a:rPr>
                        <a:t>Affected users, the regulator</a:t>
                      </a:r>
                    </a:p>
                  </a:txBody>
                  <a:tcPr anchor="ctr" marL="73152" marR="54864" marT="27432" marB="27432">
                    <a:solidFill>
                      <a:srgbClr val="EEF3F8"/>
                    </a:solidFill>
                  </a:tcPr>
                </a:tc>
                <a:tc>
                  <a:txBody>
                    <a:bodyPr wrap="square"/>
                    <a:lstStyle/>
                    <a:p>
                      <a:r>
                        <a:rPr sz="1050">
                          <a:solidFill>
                            <a:srgbClr val="1A1A1A"/>
                          </a:solidFill>
                        </a:rPr>
                        <a:t>Contain, disclose, notify</a:t>
                      </a:r>
                    </a:p>
                  </a:txBody>
                  <a:tcPr anchor="ctr" marL="73152" marR="54864" marT="27432" marB="27432">
                    <a:solidFill>
                      <a:srgbClr val="EEF3F8"/>
                    </a:solidFill>
                  </a:tcPr>
                </a:tc>
              </a:tr>
              <a:tr h="630936">
                <a:tc>
                  <a:txBody>
                    <a:bodyPr wrap="square"/>
                    <a:lstStyle/>
                    <a:p>
                      <a:r>
                        <a:rPr sz="1050" b="1">
                          <a:solidFill>
                            <a:srgbClr val="0C2B4A"/>
                          </a:solidFill>
                        </a:rPr>
                        <a:t>Friend asks you to share paid software licence keys</a:t>
                      </a:r>
                    </a:p>
                  </a:txBody>
                  <a:tcPr anchor="ctr" marL="73152" marR="54864" marT="27432" marB="27432">
                    <a:solidFill>
                      <a:srgbClr val="FFFFFF"/>
                    </a:solidFill>
                  </a:tcPr>
                </a:tc>
                <a:tc>
                  <a:txBody>
                    <a:bodyPr wrap="square"/>
                    <a:lstStyle/>
                    <a:p>
                      <a:r>
                        <a:rPr sz="1050">
                          <a:solidFill>
                            <a:srgbClr val="1A1A1A"/>
                          </a:solidFill>
                        </a:rPr>
                        <a:t>Is the licence transferable?</a:t>
                      </a:r>
                    </a:p>
                  </a:txBody>
                  <a:tcPr anchor="ctr" marL="73152" marR="54864" marT="27432" marB="27432">
                    <a:solidFill>
                      <a:srgbClr val="FFFFFF"/>
                    </a:solidFill>
                  </a:tcPr>
                </a:tc>
                <a:tc>
                  <a:txBody>
                    <a:bodyPr wrap="square"/>
                    <a:lstStyle/>
                    <a:p>
                      <a:r>
                        <a:rPr sz="1050">
                          <a:solidFill>
                            <a:srgbClr val="1A1A1A"/>
                          </a:solidFill>
                        </a:rPr>
                        <a:t>Vendor, your employer</a:t>
                      </a:r>
                    </a:p>
                  </a:txBody>
                  <a:tcPr anchor="ctr" marL="73152" marR="54864" marT="27432" marB="27432">
                    <a:solidFill>
                      <a:srgbClr val="FFFFFF"/>
                    </a:solidFill>
                  </a:tcPr>
                </a:tc>
                <a:tc>
                  <a:txBody>
                    <a:bodyPr wrap="square"/>
                    <a:lstStyle/>
                    <a:p>
                      <a:r>
                        <a:rPr sz="1050">
                          <a:solidFill>
                            <a:srgbClr val="1A1A1A"/>
                          </a:solidFill>
                        </a:rPr>
                        <a:t>Decline, suggest a legal option</a:t>
                      </a:r>
                    </a:p>
                  </a:txBody>
                  <a:tcPr anchor="ctr" marL="73152" marR="54864" marT="27432" marB="27432">
                    <a:solidFill>
                      <a:srgbClr val="FFFFFF"/>
                    </a:solidFill>
                  </a:tcPr>
                </a:tc>
              </a:tr>
              <a:tr h="630936">
                <a:tc>
                  <a:txBody>
                    <a:bodyPr wrap="square"/>
                    <a:lstStyle/>
                    <a:p>
                      <a:r>
                        <a:rPr sz="1050" b="1">
                          <a:solidFill>
                            <a:srgbClr val="0C2B4A"/>
                          </a:solidFill>
                        </a:rPr>
                        <a:t>You spot a bug that overcharges some customers</a:t>
                      </a:r>
                    </a:p>
                  </a:txBody>
                  <a:tcPr anchor="ctr" marL="73152" marR="54864" marT="27432" marB="27432">
                    <a:solidFill>
                      <a:srgbClr val="EEF3F8"/>
                    </a:solidFill>
                  </a:tcPr>
                </a:tc>
                <a:tc>
                  <a:txBody>
                    <a:bodyPr wrap="square"/>
                    <a:lstStyle/>
                    <a:p>
                      <a:r>
                        <a:rPr sz="1050">
                          <a:solidFill>
                            <a:srgbClr val="1A1A1A"/>
                          </a:solidFill>
                        </a:rPr>
                        <a:t>How many affected, and by how much?</a:t>
                      </a:r>
                    </a:p>
                  </a:txBody>
                  <a:tcPr anchor="ctr" marL="73152" marR="54864" marT="27432" marB="27432">
                    <a:solidFill>
                      <a:srgbClr val="EEF3F8"/>
                    </a:solidFill>
                  </a:tcPr>
                </a:tc>
                <a:tc>
                  <a:txBody>
                    <a:bodyPr wrap="square"/>
                    <a:lstStyle/>
                    <a:p>
                      <a:r>
                        <a:rPr sz="1050">
                          <a:solidFill>
                            <a:srgbClr val="1A1A1A"/>
                          </a:solidFill>
                        </a:rPr>
                        <a:t>Overcharged customers, firm</a:t>
                      </a:r>
                    </a:p>
                  </a:txBody>
                  <a:tcPr anchor="ctr" marL="73152" marR="54864" marT="27432" marB="27432">
                    <a:solidFill>
                      <a:srgbClr val="EEF3F8"/>
                    </a:solidFill>
                  </a:tcPr>
                </a:tc>
                <a:tc>
                  <a:txBody>
                    <a:bodyPr wrap="square"/>
                    <a:lstStyle/>
                    <a:p>
                      <a:r>
                        <a:rPr sz="1050">
                          <a:solidFill>
                            <a:srgbClr val="1A1A1A"/>
                          </a:solidFill>
                        </a:rPr>
                        <a:t>Report and refund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Steps 1-2 (get the facts, name the stakeholders) are the most-skipped and most important — that is where most bad decisions are born.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68 / 101</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Four Ethical Lenses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Four complementary ways to TEST an option in step 3. Each asks a different question; on hard cases they disagree, and naming the disagreement is half the work.</a:t>
            </a:r>
          </a:p>
          <a:p>
            <a:pPr>
              <a:spcAft>
                <a:spcPts val="500"/>
              </a:spcAft>
            </a:pPr>
            <a:r>
              <a:rPr sz="1200" b="1">
                <a:solidFill>
                  <a:srgbClr val="185FA5"/>
                </a:solidFill>
              </a:rPr>
              <a:t>HOW IT WORKS</a:t>
            </a:r>
          </a:p>
          <a:p>
            <a:pPr>
              <a:spcAft>
                <a:spcPts val="600"/>
              </a:spcAft>
            </a:pPr>
            <a:r>
              <a:rPr sz="1400">
                <a:solidFill>
                  <a:srgbClr val="1A1A1A"/>
                </a:solidFill>
              </a:rPr>
              <a:t>•  Utilitarian — 'Which option does the most good for the most people?' (weighs consequences).</a:t>
            </a:r>
          </a:p>
          <a:p>
            <a:pPr>
              <a:spcAft>
                <a:spcPts val="600"/>
              </a:spcAft>
            </a:pPr>
            <a:r>
              <a:rPr sz="1400">
                <a:solidFill>
                  <a:srgbClr val="1A1A1A"/>
                </a:solidFill>
              </a:rPr>
              <a:t>•  Rights / duty (deontology) — 'Does this respect basic rights and my duties, regardless of outcome?'</a:t>
            </a:r>
          </a:p>
          <a:p>
            <a:pPr>
              <a:spcAft>
                <a:spcPts val="600"/>
              </a:spcAft>
            </a:pPr>
            <a:r>
              <a:rPr sz="1400">
                <a:solidFill>
                  <a:srgbClr val="1A1A1A"/>
                </a:solidFill>
              </a:rPr>
              <a:t>•  Fairness / justice — 'Am I treating similar people alike? Is this fair?'</a:t>
            </a:r>
          </a:p>
          <a:p>
            <a:pPr>
              <a:spcAft>
                <a:spcPts val="600"/>
              </a:spcAft>
            </a:pPr>
            <a:r>
              <a:rPr sz="1400">
                <a:solidFill>
                  <a:srgbClr val="1A1A1A"/>
                </a:solidFill>
              </a:rPr>
              <a:t>•  Virtue / common good — 'What would a person of good character do? What serves the community?'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Consequences · rights · fairness · character — four questions, one decision.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69 / 101</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lenses — test question &amp; the ambulance-jumps-the-fuel-queue case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558955"/>
                <a:gridCol w="4606119"/>
                <a:gridCol w="4264925"/>
              </a:tblGrid>
              <a:tr h="883310">
                <a:tc>
                  <a:txBody>
                    <a:bodyPr wrap="square"/>
                    <a:lstStyle/>
                    <a:p>
                      <a:r>
                        <a:rPr sz="1200" b="1">
                          <a:solidFill>
                            <a:srgbClr val="FFFFFF"/>
                          </a:solidFill>
                        </a:rPr>
                        <a:t>Lens</a:t>
                      </a:r>
                    </a:p>
                  </a:txBody>
                  <a:tcPr anchor="ctr" marL="73152" marR="54864" marT="27432" marB="27432">
                    <a:solidFill>
                      <a:srgbClr val="0C2B4A"/>
                    </a:solidFill>
                  </a:tcPr>
                </a:tc>
                <a:tc>
                  <a:txBody>
                    <a:bodyPr wrap="square"/>
                    <a:lstStyle/>
                    <a:p>
                      <a:r>
                        <a:rPr sz="1200" b="1">
                          <a:solidFill>
                            <a:srgbClr val="FFFFFF"/>
                          </a:solidFill>
                        </a:rPr>
                        <a:t>Its test question</a:t>
                      </a:r>
                    </a:p>
                  </a:txBody>
                  <a:tcPr anchor="ctr" marL="73152" marR="54864" marT="27432" marB="27432">
                    <a:solidFill>
                      <a:srgbClr val="0C2B4A"/>
                    </a:solidFill>
                  </a:tcPr>
                </a:tc>
                <a:tc>
                  <a:txBody>
                    <a:bodyPr wrap="square"/>
                    <a:lstStyle/>
                    <a:p>
                      <a:r>
                        <a:rPr sz="1200" b="1">
                          <a:solidFill>
                            <a:srgbClr val="FFFFFF"/>
                          </a:solidFill>
                        </a:rPr>
                        <a:t>Verdict on the ambulance</a:t>
                      </a:r>
                    </a:p>
                  </a:txBody>
                  <a:tcPr anchor="ctr" marL="73152" marR="54864" marT="27432" marB="27432">
                    <a:solidFill>
                      <a:srgbClr val="0C2B4A"/>
                    </a:solidFill>
                  </a:tcPr>
                </a:tc>
              </a:tr>
              <a:tr h="883310">
                <a:tc>
                  <a:txBody>
                    <a:bodyPr wrap="square"/>
                    <a:lstStyle/>
                    <a:p>
                      <a:r>
                        <a:rPr sz="1150" b="1">
                          <a:solidFill>
                            <a:srgbClr val="0C2B4A"/>
                          </a:solidFill>
                        </a:rPr>
                        <a:t>Utilitarian</a:t>
                      </a:r>
                    </a:p>
                  </a:txBody>
                  <a:tcPr anchor="ctr" marL="73152" marR="54864" marT="27432" marB="27432">
                    <a:solidFill>
                      <a:srgbClr val="FFFFFF"/>
                    </a:solidFill>
                  </a:tcPr>
                </a:tc>
                <a:tc>
                  <a:txBody>
                    <a:bodyPr wrap="square"/>
                    <a:lstStyle/>
                    <a:p>
                      <a:r>
                        <a:rPr sz="1150">
                          <a:solidFill>
                            <a:srgbClr val="1A1A1A"/>
                          </a:solidFill>
                        </a:rPr>
                        <a:t>Which option does the most good for the most people?</a:t>
                      </a:r>
                    </a:p>
                  </a:txBody>
                  <a:tcPr anchor="ctr" marL="73152" marR="54864" marT="27432" marB="27432">
                    <a:solidFill>
                      <a:srgbClr val="FFFFFF"/>
                    </a:solidFill>
                  </a:tcPr>
                </a:tc>
                <a:tc>
                  <a:txBody>
                    <a:bodyPr wrap="square"/>
                    <a:lstStyle/>
                    <a:p>
                      <a:r>
                        <a:rPr sz="1150">
                          <a:solidFill>
                            <a:srgbClr val="1A1A1A"/>
                          </a:solidFill>
                        </a:rPr>
                        <a:t>Let it pass — a life outweighs everyone's wait</a:t>
                      </a:r>
                    </a:p>
                  </a:txBody>
                  <a:tcPr anchor="ctr" marL="73152" marR="54864" marT="27432" marB="27432">
                    <a:solidFill>
                      <a:srgbClr val="FFFFFF"/>
                    </a:solidFill>
                  </a:tcPr>
                </a:tc>
              </a:tr>
              <a:tr h="883310">
                <a:tc>
                  <a:txBody>
                    <a:bodyPr wrap="square"/>
                    <a:lstStyle/>
                    <a:p>
                      <a:r>
                        <a:rPr sz="1150" b="1">
                          <a:solidFill>
                            <a:srgbClr val="0C2B4A"/>
                          </a:solidFill>
                        </a:rPr>
                        <a:t>Rights / duty</a:t>
                      </a:r>
                    </a:p>
                  </a:txBody>
                  <a:tcPr anchor="ctr" marL="73152" marR="54864" marT="27432" marB="27432">
                    <a:solidFill>
                      <a:srgbClr val="EEF3F8"/>
                    </a:solidFill>
                  </a:tcPr>
                </a:tc>
                <a:tc>
                  <a:txBody>
                    <a:bodyPr wrap="square"/>
                    <a:lstStyle/>
                    <a:p>
                      <a:r>
                        <a:rPr sz="1150">
                          <a:solidFill>
                            <a:srgbClr val="1A1A1A"/>
                          </a:solidFill>
                        </a:rPr>
                        <a:t>Does this respect basic rights and duties, regardless of outcome?</a:t>
                      </a:r>
                    </a:p>
                  </a:txBody>
                  <a:tcPr anchor="ctr" marL="73152" marR="54864" marT="27432" marB="27432">
                    <a:solidFill>
                      <a:srgbClr val="EEF3F8"/>
                    </a:solidFill>
                  </a:tcPr>
                </a:tc>
                <a:tc>
                  <a:txBody>
                    <a:bodyPr wrap="square"/>
                    <a:lstStyle/>
                    <a:p>
                      <a:r>
                        <a:rPr sz="1150">
                          <a:solidFill>
                            <a:srgbClr val="1A1A1A"/>
                          </a:solidFill>
                        </a:rPr>
                        <a:t>The patient's right to life takes priority</a:t>
                      </a:r>
                    </a:p>
                  </a:txBody>
                  <a:tcPr anchor="ctr" marL="73152" marR="54864" marT="27432" marB="27432">
                    <a:solidFill>
                      <a:srgbClr val="EEF3F8"/>
                    </a:solidFill>
                  </a:tcPr>
                </a:tc>
              </a:tr>
              <a:tr h="883310">
                <a:tc>
                  <a:txBody>
                    <a:bodyPr wrap="square"/>
                    <a:lstStyle/>
                    <a:p>
                      <a:r>
                        <a:rPr sz="1150" b="1">
                          <a:solidFill>
                            <a:srgbClr val="0C2B4A"/>
                          </a:solidFill>
                        </a:rPr>
                        <a:t>Fairness / justice</a:t>
                      </a:r>
                    </a:p>
                  </a:txBody>
                  <a:tcPr anchor="ctr" marL="73152" marR="54864" marT="27432" marB="27432">
                    <a:solidFill>
                      <a:srgbClr val="FFFFFF"/>
                    </a:solidFill>
                  </a:tcPr>
                </a:tc>
                <a:tc>
                  <a:txBody>
                    <a:bodyPr wrap="square"/>
                    <a:lstStyle/>
                    <a:p>
                      <a:r>
                        <a:rPr sz="1150">
                          <a:solidFill>
                            <a:srgbClr val="1A1A1A"/>
                          </a:solidFill>
                        </a:rPr>
                        <a:t>Am I treating similar cases alike? Is it fair?</a:t>
                      </a:r>
                    </a:p>
                  </a:txBody>
                  <a:tcPr anchor="ctr" marL="73152" marR="54864" marT="27432" marB="27432">
                    <a:solidFill>
                      <a:srgbClr val="FFFFFF"/>
                    </a:solidFill>
                  </a:tcPr>
                </a:tc>
                <a:tc>
                  <a:txBody>
                    <a:bodyPr wrap="square"/>
                    <a:lstStyle/>
                    <a:p>
                      <a:r>
                        <a:rPr sz="1150">
                          <a:solidFill>
                            <a:srgbClr val="1A1A1A"/>
                          </a:solidFill>
                        </a:rPr>
                        <a:t>A medical emergency is a genuinely different case — not unfair</a:t>
                      </a:r>
                    </a:p>
                  </a:txBody>
                  <a:tcPr anchor="ctr" marL="73152" marR="54864" marT="27432" marB="27432">
                    <a:solidFill>
                      <a:srgbClr val="FFFFFF"/>
                    </a:solidFill>
                  </a:tcPr>
                </a:tc>
              </a:tr>
              <a:tr h="883312">
                <a:tc>
                  <a:txBody>
                    <a:bodyPr wrap="square"/>
                    <a:lstStyle/>
                    <a:p>
                      <a:r>
                        <a:rPr sz="1150" b="1">
                          <a:solidFill>
                            <a:srgbClr val="0C2B4A"/>
                          </a:solidFill>
                        </a:rPr>
                        <a:t>Virtue / common good</a:t>
                      </a:r>
                    </a:p>
                  </a:txBody>
                  <a:tcPr anchor="ctr" marL="73152" marR="54864" marT="27432" marB="27432">
                    <a:solidFill>
                      <a:srgbClr val="EEF3F8"/>
                    </a:solidFill>
                  </a:tcPr>
                </a:tc>
                <a:tc>
                  <a:txBody>
                    <a:bodyPr wrap="square"/>
                    <a:lstStyle/>
                    <a:p>
                      <a:r>
                        <a:rPr sz="1150">
                          <a:solidFill>
                            <a:srgbClr val="1A1A1A"/>
                          </a:solidFill>
                        </a:rPr>
                        <a:t>What would a person of good character do?</a:t>
                      </a:r>
                    </a:p>
                  </a:txBody>
                  <a:tcPr anchor="ctr" marL="73152" marR="54864" marT="27432" marB="27432">
                    <a:solidFill>
                      <a:srgbClr val="EEF3F8"/>
                    </a:solidFill>
                  </a:tcPr>
                </a:tc>
                <a:tc>
                  <a:txBody>
                    <a:bodyPr wrap="square"/>
                    <a:lstStyle/>
                    <a:p>
                      <a:r>
                        <a:rPr sz="1150">
                          <a:solidFill>
                            <a:srgbClr val="1A1A1A"/>
                          </a:solidFill>
                        </a:rPr>
                        <a:t>A decent person waves them through</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All four CONVERGE here — which is why it feels obviously right. The hard cases are where the lenses disagree.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70 / 101</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Four Ethical Lenses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During a fuel shortage an ambulance asks to jump the queue: utilitarian (a life outweighs the wait), rights (right to life), fairness (an emergency is a different case), and virtue (a decent person waves it through) all agree — which is exactly why it feels obviously right.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"Ethics is just personal opinion — anything goes." Structured reasoning gives defensible, comparable answers. Two people using the lenses can disagree, but they can explain and compare their reasoning — the opposite of 'just opinion'.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four ethical lenses test an option from complementary angles: utilitarian (greatest good for the greatest number), rights/duty (respect rights and duties regardless of outcome), fairness/justice (treat like cases alike), and virtue/common good (what a person of good character would do). On easy cases they converge; naming their disagreement is the work on hard cases.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utilitarian · rights/duty (deontology) · fairness/justice · virtue/common good · lenses converge vs disagree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71 / 101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Which lens fits — and what it decides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286250"/>
                <a:gridCol w="2714625"/>
                <a:gridCol w="4429125"/>
              </a:tblGrid>
              <a:tr h="552069">
                <a:tc>
                  <a:txBody>
                    <a:bodyPr wrap="square"/>
                    <a:lstStyle/>
                    <a:p>
                      <a:r>
                        <a:rPr sz="1150" b="1">
                          <a:solidFill>
                            <a:srgbClr val="FFFFFF"/>
                          </a:solidFill>
                        </a:rPr>
                        <a:t>Situation</a:t>
                      </a:r>
                    </a:p>
                  </a:txBody>
                  <a:tcPr anchor="ctr" marL="73152" marR="54864" marT="27432" marB="27432">
                    <a:solidFill>
                      <a:srgbClr val="0C2B4A"/>
                    </a:solidFill>
                  </a:tcPr>
                </a:tc>
                <a:tc>
                  <a:txBody>
                    <a:bodyPr wrap="square"/>
                    <a:lstStyle/>
                    <a:p>
                      <a:r>
                        <a:rPr sz="1150" b="1">
                          <a:solidFill>
                            <a:srgbClr val="FFFFFF"/>
                          </a:solidFill>
                        </a:rPr>
                        <a:t>Lens that fits best</a:t>
                      </a:r>
                    </a:p>
                  </a:txBody>
                  <a:tcPr anchor="ctr" marL="73152" marR="54864" marT="27432" marB="27432">
                    <a:solidFill>
                      <a:srgbClr val="0C2B4A"/>
                    </a:solidFill>
                  </a:tcPr>
                </a:tc>
                <a:tc>
                  <a:txBody>
                    <a:bodyPr wrap="square"/>
                    <a:lstStyle/>
                    <a:p>
                      <a:r>
                        <a:rPr sz="1150" b="1">
                          <a:solidFill>
                            <a:srgbClr val="FFFFFF"/>
                          </a:solidFill>
                        </a:rPr>
                        <a:t>What it decides</a:t>
                      </a:r>
                    </a:p>
                  </a:txBody>
                  <a:tcPr anchor="ctr" marL="73152" marR="54864" marT="27432" marB="27432">
                    <a:solidFill>
                      <a:srgbClr val="0C2B4A"/>
                    </a:solidFill>
                  </a:tcPr>
                </a:tc>
              </a:tr>
              <a:tr h="552069">
                <a:tc>
                  <a:txBody>
                    <a:bodyPr wrap="square"/>
                    <a:lstStyle/>
                    <a:p>
                      <a:r>
                        <a:rPr sz="1100" b="1">
                          <a:solidFill>
                            <a:srgbClr val="0C2B4A"/>
                          </a:solidFill>
                        </a:rPr>
                        <a:t>Ambulance asks to jump the fuel queue in a shortage</a:t>
                      </a:r>
                    </a:p>
                  </a:txBody>
                  <a:tcPr anchor="ctr" marL="73152" marR="54864" marT="27432" marB="27432">
                    <a:solidFill>
                      <a:srgbClr val="FFFFFF"/>
                    </a:solidFill>
                  </a:tcPr>
                </a:tc>
                <a:tc>
                  <a:txBody>
                    <a:bodyPr wrap="square"/>
                    <a:lstStyle/>
                    <a:p>
                      <a:r>
                        <a:rPr sz="1100">
                          <a:solidFill>
                            <a:srgbClr val="1A1A1A"/>
                          </a:solidFill>
                        </a:rPr>
                        <a:t>All four converge</a:t>
                      </a:r>
                    </a:p>
                  </a:txBody>
                  <a:tcPr anchor="ctr" marL="73152" marR="54864" marT="27432" marB="27432">
                    <a:solidFill>
                      <a:srgbClr val="FFFFFF"/>
                    </a:solidFill>
                  </a:tcPr>
                </a:tc>
                <a:tc>
                  <a:txBody>
                    <a:bodyPr wrap="square"/>
                    <a:lstStyle/>
                    <a:p>
                      <a:r>
                        <a:rPr sz="1100">
                          <a:solidFill>
                            <a:srgbClr val="1A1A1A"/>
                          </a:solidFill>
                        </a:rPr>
                        <a:t>Let it pass</a:t>
                      </a:r>
                    </a:p>
                  </a:txBody>
                  <a:tcPr anchor="ctr" marL="73152" marR="54864" marT="27432" marB="27432">
                    <a:solidFill>
                      <a:srgbClr val="FFFFFF"/>
                    </a:solidFill>
                  </a:tcPr>
                </a:tc>
              </a:tr>
              <a:tr h="552069">
                <a:tc>
                  <a:txBody>
                    <a:bodyPr wrap="square"/>
                    <a:lstStyle/>
                    <a:p>
                      <a:r>
                        <a:rPr sz="1100" b="1">
                          <a:solidFill>
                            <a:srgbClr val="0C2B4A"/>
                          </a:solidFill>
                        </a:rPr>
                        <a:t>Lay off 10 staff to save 200 jobs</a:t>
                      </a:r>
                    </a:p>
                  </a:txBody>
                  <a:tcPr anchor="ctr" marL="73152" marR="54864" marT="27432" marB="27432">
                    <a:solidFill>
                      <a:srgbClr val="EEF3F8"/>
                    </a:solidFill>
                  </a:tcPr>
                </a:tc>
                <a:tc>
                  <a:txBody>
                    <a:bodyPr wrap="square"/>
                    <a:lstStyle/>
                    <a:p>
                      <a:r>
                        <a:rPr sz="1100">
                          <a:solidFill>
                            <a:srgbClr val="1A1A1A"/>
                          </a:solidFill>
                        </a:rPr>
                        <a:t>Utilitarian</a:t>
                      </a:r>
                    </a:p>
                  </a:txBody>
                  <a:tcPr anchor="ctr" marL="73152" marR="54864" marT="27432" marB="27432">
                    <a:solidFill>
                      <a:srgbClr val="EEF3F8"/>
                    </a:solidFill>
                  </a:tcPr>
                </a:tc>
                <a:tc>
                  <a:txBody>
                    <a:bodyPr wrap="square"/>
                    <a:lstStyle/>
                    <a:p>
                      <a:r>
                        <a:rPr sz="1100">
                          <a:solidFill>
                            <a:srgbClr val="1A1A1A"/>
                          </a:solidFill>
                        </a:rPr>
                        <a:t>Greatest good for the greatest number</a:t>
                      </a:r>
                    </a:p>
                  </a:txBody>
                  <a:tcPr anchor="ctr" marL="73152" marR="54864" marT="27432" marB="27432">
                    <a:solidFill>
                      <a:srgbClr val="EEF3F8"/>
                    </a:solidFill>
                  </a:tcPr>
                </a:tc>
              </a:tr>
              <a:tr h="552069">
                <a:tc>
                  <a:txBody>
                    <a:bodyPr wrap="square"/>
                    <a:lstStyle/>
                    <a:p>
                      <a:r>
                        <a:rPr sz="1100" b="1">
                          <a:solidFill>
                            <a:srgbClr val="0C2B4A"/>
                          </a:solidFill>
                        </a:rPr>
                        <a:t>Read a subordinate's private chats 'for the company'</a:t>
                      </a:r>
                    </a:p>
                  </a:txBody>
                  <a:tcPr anchor="ctr" marL="73152" marR="54864" marT="27432" marB="27432">
                    <a:solidFill>
                      <a:srgbClr val="FFFFFF"/>
                    </a:solidFill>
                  </a:tcPr>
                </a:tc>
                <a:tc>
                  <a:txBody>
                    <a:bodyPr wrap="square"/>
                    <a:lstStyle/>
                    <a:p>
                      <a:r>
                        <a:rPr sz="1100">
                          <a:solidFill>
                            <a:srgbClr val="1A1A1A"/>
                          </a:solidFill>
                        </a:rPr>
                        <a:t>Rights / duty</a:t>
                      </a:r>
                    </a:p>
                  </a:txBody>
                  <a:tcPr anchor="ctr" marL="73152" marR="54864" marT="27432" marB="27432">
                    <a:solidFill>
                      <a:srgbClr val="FFFFFF"/>
                    </a:solidFill>
                  </a:tcPr>
                </a:tc>
                <a:tc>
                  <a:txBody>
                    <a:bodyPr wrap="square"/>
                    <a:lstStyle/>
                    <a:p>
                      <a:r>
                        <a:rPr sz="1100">
                          <a:solidFill>
                            <a:srgbClr val="1A1A1A"/>
                          </a:solidFill>
                        </a:rPr>
                        <a:t>No — it violates their privacy</a:t>
                      </a:r>
                    </a:p>
                  </a:txBody>
                  <a:tcPr anchor="ctr" marL="73152" marR="54864" marT="27432" marB="27432">
                    <a:solidFill>
                      <a:srgbClr val="FFFFFF"/>
                    </a:solidFill>
                  </a:tcPr>
                </a:tc>
              </a:tr>
              <a:tr h="552069">
                <a:tc>
                  <a:txBody>
                    <a:bodyPr wrap="square"/>
                    <a:lstStyle/>
                    <a:p>
                      <a:r>
                        <a:rPr sz="1100" b="1">
                          <a:solidFill>
                            <a:srgbClr val="0C2B4A"/>
                          </a:solidFill>
                        </a:rPr>
                        <a:t>Pay two equally-qualified interns the same</a:t>
                      </a:r>
                    </a:p>
                  </a:txBody>
                  <a:tcPr anchor="ctr" marL="73152" marR="54864" marT="27432" marB="27432">
                    <a:solidFill>
                      <a:srgbClr val="EEF3F8"/>
                    </a:solidFill>
                  </a:tcPr>
                </a:tc>
                <a:tc>
                  <a:txBody>
                    <a:bodyPr wrap="square"/>
                    <a:lstStyle/>
                    <a:p>
                      <a:r>
                        <a:rPr sz="1100">
                          <a:solidFill>
                            <a:srgbClr val="1A1A1A"/>
                          </a:solidFill>
                        </a:rPr>
                        <a:t>Fairness / justice</a:t>
                      </a:r>
                    </a:p>
                  </a:txBody>
                  <a:tcPr anchor="ctr" marL="73152" marR="54864" marT="27432" marB="27432">
                    <a:solidFill>
                      <a:srgbClr val="EEF3F8"/>
                    </a:solidFill>
                  </a:tcPr>
                </a:tc>
                <a:tc>
                  <a:txBody>
                    <a:bodyPr wrap="square"/>
                    <a:lstStyle/>
                    <a:p>
                      <a:r>
                        <a:rPr sz="1100">
                          <a:solidFill>
                            <a:srgbClr val="1A1A1A"/>
                          </a:solidFill>
                        </a:rPr>
                        <a:t>Treat like cases alike</a:t>
                      </a:r>
                    </a:p>
                  </a:txBody>
                  <a:tcPr anchor="ctr" marL="73152" marR="54864" marT="27432" marB="27432">
                    <a:solidFill>
                      <a:srgbClr val="EEF3F8"/>
                    </a:solidFill>
                  </a:tcPr>
                </a:tc>
              </a:tr>
              <a:tr h="552069">
                <a:tc>
                  <a:txBody>
                    <a:bodyPr wrap="square"/>
                    <a:lstStyle/>
                    <a:p>
                      <a:r>
                        <a:rPr sz="1100" b="1">
                          <a:solidFill>
                            <a:srgbClr val="0C2B4A"/>
                          </a:solidFill>
                        </a:rPr>
                        <a:t>Report a friend who is stealing from the till</a:t>
                      </a:r>
                    </a:p>
                  </a:txBody>
                  <a:tcPr anchor="ctr" marL="73152" marR="54864" marT="27432" marB="27432">
                    <a:solidFill>
                      <a:srgbClr val="FFFFFF"/>
                    </a:solidFill>
                  </a:tcPr>
                </a:tc>
                <a:tc>
                  <a:txBody>
                    <a:bodyPr wrap="square"/>
                    <a:lstStyle/>
                    <a:p>
                      <a:r>
                        <a:rPr sz="1100">
                          <a:solidFill>
                            <a:srgbClr val="1A1A1A"/>
                          </a:solidFill>
                        </a:rPr>
                        <a:t>Virtue / common good</a:t>
                      </a:r>
                    </a:p>
                  </a:txBody>
                  <a:tcPr anchor="ctr" marL="73152" marR="54864" marT="27432" marB="27432">
                    <a:solidFill>
                      <a:srgbClr val="FFFFFF"/>
                    </a:solidFill>
                  </a:tcPr>
                </a:tc>
                <a:tc>
                  <a:txBody>
                    <a:bodyPr wrap="square"/>
                    <a:lstStyle/>
                    <a:p>
                      <a:r>
                        <a:rPr sz="1100">
                          <a:solidFill>
                            <a:srgbClr val="1A1A1A"/>
                          </a:solidFill>
                        </a:rPr>
                        <a:t>What a person of good character does</a:t>
                      </a:r>
                    </a:p>
                  </a:txBody>
                  <a:tcPr anchor="ctr" marL="73152" marR="54864" marT="27432" marB="27432">
                    <a:solidFill>
                      <a:srgbClr val="FFFFFF"/>
                    </a:solidFill>
                  </a:tcPr>
                </a:tc>
              </a:tr>
              <a:tr h="552069">
                <a:tc>
                  <a:txBody>
                    <a:bodyPr wrap="square"/>
                    <a:lstStyle/>
                    <a:p>
                      <a:r>
                        <a:rPr sz="1100" b="1">
                          <a:solidFill>
                            <a:srgbClr val="0C2B4A"/>
                          </a:solidFill>
                        </a:rPr>
                        <a:t>Promote strictly on merit, not on 'source-force'</a:t>
                      </a:r>
                    </a:p>
                  </a:txBody>
                  <a:tcPr anchor="ctr" marL="73152" marR="54864" marT="27432" marB="27432">
                    <a:solidFill>
                      <a:srgbClr val="EEF3F8"/>
                    </a:solidFill>
                  </a:tcPr>
                </a:tc>
                <a:tc>
                  <a:txBody>
                    <a:bodyPr wrap="square"/>
                    <a:lstStyle/>
                    <a:p>
                      <a:r>
                        <a:rPr sz="1100">
                          <a:solidFill>
                            <a:srgbClr val="1A1A1A"/>
                          </a:solidFill>
                        </a:rPr>
                        <a:t>Fairness / justice</a:t>
                      </a:r>
                    </a:p>
                  </a:txBody>
                  <a:tcPr anchor="ctr" marL="73152" marR="54864" marT="27432" marB="27432">
                    <a:solidFill>
                      <a:srgbClr val="EEF3F8"/>
                    </a:solidFill>
                  </a:tcPr>
                </a:tc>
                <a:tc>
                  <a:txBody>
                    <a:bodyPr wrap="square"/>
                    <a:lstStyle/>
                    <a:p>
                      <a:r>
                        <a:rPr sz="1100">
                          <a:solidFill>
                            <a:srgbClr val="1A1A1A"/>
                          </a:solidFill>
                        </a:rPr>
                        <a:t>Fair to all candidates</a:t>
                      </a:r>
                    </a:p>
                  </a:txBody>
                  <a:tcPr anchor="ctr" marL="73152" marR="54864" marT="27432" marB="27432">
                    <a:solidFill>
                      <a:srgbClr val="EEF3F8"/>
                    </a:solidFill>
                  </a:tcPr>
                </a:tc>
              </a:tr>
              <a:tr h="552069">
                <a:tc>
                  <a:txBody>
                    <a:bodyPr wrap="square"/>
                    <a:lstStyle/>
                    <a:p>
                      <a:r>
                        <a:rPr sz="1100" b="1">
                          <a:solidFill>
                            <a:srgbClr val="0C2B4A"/>
                          </a:solidFill>
                        </a:rPr>
                        <a:t>Use user data in a profitable way most would object to</a:t>
                      </a:r>
                    </a:p>
                  </a:txBody>
                  <a:tcPr anchor="ctr" marL="73152" marR="54864" marT="27432" marB="27432">
                    <a:solidFill>
                      <a:srgbClr val="FFFFFF"/>
                    </a:solidFill>
                  </a:tcPr>
                </a:tc>
                <a:tc>
                  <a:txBody>
                    <a:bodyPr wrap="square"/>
                    <a:lstStyle/>
                    <a:p>
                      <a:r>
                        <a:rPr sz="1100">
                          <a:solidFill>
                            <a:srgbClr val="1A1A1A"/>
                          </a:solidFill>
                        </a:rPr>
                        <a:t>Rights/duty vs utilitarian</a:t>
                      </a:r>
                    </a:p>
                  </a:txBody>
                  <a:tcPr anchor="ctr" marL="73152" marR="54864" marT="27432" marB="27432">
                    <a:solidFill>
                      <a:srgbClr val="FFFFFF"/>
                    </a:solidFill>
                  </a:tcPr>
                </a:tc>
                <a:tc>
                  <a:txBody>
                    <a:bodyPr wrap="square"/>
                    <a:lstStyle/>
                    <a:p>
                      <a:r>
                        <a:rPr sz="1100">
                          <a:solidFill>
                            <a:srgbClr val="1A1A1A"/>
                          </a:solidFill>
                        </a:rPr>
                        <a:t>Lenses disagree — name it, decide on merits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On easy cases the four lenses converge (which is why it feels obvious). The hard cases are exactly where they disagree — naming the disagreement is half the work.</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101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Common Decision Traps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Four predictable pressures that derail good people — learn to name them in the moment.</a:t>
            </a:r>
          </a:p>
          <a:p>
            <a:pPr>
              <a:spcAft>
                <a:spcPts val="500"/>
              </a:spcAft>
            </a:pPr>
            <a:r>
              <a:rPr sz="1200" b="1">
                <a:solidFill>
                  <a:srgbClr val="185FA5"/>
                </a:solidFill>
              </a:rPr>
              <a:t>HOW IT WORKS</a:t>
            </a:r>
          </a:p>
          <a:p>
            <a:pPr>
              <a:spcAft>
                <a:spcPts val="600"/>
              </a:spcAft>
            </a:pPr>
            <a:r>
              <a:rPr sz="1400">
                <a:solidFill>
                  <a:srgbClr val="1A1A1A"/>
                </a:solidFill>
              </a:rPr>
              <a:t>•  Rationalization — 'It's not really cheating, everyone uses these notes.'</a:t>
            </a:r>
          </a:p>
          <a:p>
            <a:pPr>
              <a:spcAft>
                <a:spcPts val="600"/>
              </a:spcAft>
            </a:pPr>
            <a:r>
              <a:rPr sz="1400">
                <a:solidFill>
                  <a:srgbClr val="1A1A1A"/>
                </a:solidFill>
              </a:rPr>
              <a:t>•  Groupthink — going along because the whole team is, even when it feels wrong.</a:t>
            </a:r>
          </a:p>
          <a:p>
            <a:pPr>
              <a:spcAft>
                <a:spcPts val="600"/>
              </a:spcAft>
            </a:pPr>
            <a:r>
              <a:rPr sz="1400">
                <a:solidFill>
                  <a:srgbClr val="1A1A1A"/>
                </a:solidFill>
              </a:rPr>
              <a:t>•  Slippery slope — one small compromise ('just this once') that lowers the bar for next time.</a:t>
            </a:r>
          </a:p>
          <a:p>
            <a:pPr>
              <a:spcAft>
                <a:spcPts val="600"/>
              </a:spcAft>
            </a:pPr>
            <a:r>
              <a:rPr sz="1400">
                <a:solidFill>
                  <a:srgbClr val="1A1A1A"/>
                </a:solidFill>
              </a:rPr>
              <a:t>•  Blind obedience to authority — 'My manager told me to, so it's on them.' (It isn't — you're still responsible.)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Name the trap out loud and it loses half its power.</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73 / 101</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Decision traps — how it sounds &amp; how to counter it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484782"/>
                <a:gridCol w="4969565"/>
                <a:gridCol w="3975652"/>
              </a:tblGrid>
              <a:tr h="883310">
                <a:tc>
                  <a:txBody>
                    <a:bodyPr wrap="square"/>
                    <a:lstStyle/>
                    <a:p>
                      <a:r>
                        <a:rPr sz="1200" b="1">
                          <a:solidFill>
                            <a:srgbClr val="FFFFFF"/>
                          </a:solidFill>
                        </a:rPr>
                        <a:t>Trap</a:t>
                      </a:r>
                    </a:p>
                  </a:txBody>
                  <a:tcPr anchor="ctr" marL="73152" marR="54864" marT="27432" marB="27432">
                    <a:solidFill>
                      <a:srgbClr val="0C2B4A"/>
                    </a:solidFill>
                  </a:tcPr>
                </a:tc>
                <a:tc>
                  <a:txBody>
                    <a:bodyPr wrap="square"/>
                    <a:lstStyle/>
                    <a:p>
                      <a:r>
                        <a:rPr sz="1200" b="1">
                          <a:solidFill>
                            <a:srgbClr val="FFFFFF"/>
                          </a:solidFill>
                        </a:rPr>
                        <a:t>How it sounds in real life</a:t>
                      </a:r>
                    </a:p>
                  </a:txBody>
                  <a:tcPr anchor="ctr" marL="73152" marR="54864" marT="27432" marB="27432">
                    <a:solidFill>
                      <a:srgbClr val="0C2B4A"/>
                    </a:solidFill>
                  </a:tcPr>
                </a:tc>
                <a:tc>
                  <a:txBody>
                    <a:bodyPr wrap="square"/>
                    <a:lstStyle/>
                    <a:p>
                      <a:r>
                        <a:rPr sz="1200" b="1">
                          <a:solidFill>
                            <a:srgbClr val="FFFFFF"/>
                          </a:solidFill>
                        </a:rPr>
                        <a:t>Counter</a:t>
                      </a:r>
                    </a:p>
                  </a:txBody>
                  <a:tcPr anchor="ctr" marL="73152" marR="54864" marT="27432" marB="27432">
                    <a:solidFill>
                      <a:srgbClr val="0C2B4A"/>
                    </a:solidFill>
                  </a:tcPr>
                </a:tc>
              </a:tr>
              <a:tr h="883310">
                <a:tc>
                  <a:txBody>
                    <a:bodyPr wrap="square"/>
                    <a:lstStyle/>
                    <a:p>
                      <a:r>
                        <a:rPr sz="1150" b="1">
                          <a:solidFill>
                            <a:srgbClr val="0C2B4A"/>
                          </a:solidFill>
                        </a:rPr>
                        <a:t>Rationalization</a:t>
                      </a:r>
                    </a:p>
                  </a:txBody>
                  <a:tcPr anchor="ctr" marL="73152" marR="54864" marT="27432" marB="27432">
                    <a:solidFill>
                      <a:srgbClr val="FFFFFF"/>
                    </a:solidFill>
                  </a:tcPr>
                </a:tc>
                <a:tc>
                  <a:txBody>
                    <a:bodyPr wrap="square"/>
                    <a:lstStyle/>
                    <a:p>
                      <a:r>
                        <a:rPr sz="1150">
                          <a:solidFill>
                            <a:srgbClr val="1A1A1A"/>
                          </a:solidFill>
                        </a:rPr>
                        <a:t>'It's not really cheating — everyone uses these notes'</a:t>
                      </a:r>
                    </a:p>
                  </a:txBody>
                  <a:tcPr anchor="ctr" marL="73152" marR="54864" marT="27432" marB="27432">
                    <a:solidFill>
                      <a:srgbClr val="FFFFFF"/>
                    </a:solidFill>
                  </a:tcPr>
                </a:tc>
                <a:tc>
                  <a:txBody>
                    <a:bodyPr wrap="square"/>
                    <a:lstStyle/>
                    <a:p>
                      <a:r>
                        <a:rPr sz="1150">
                          <a:solidFill>
                            <a:srgbClr val="1A1A1A"/>
                          </a:solidFill>
                        </a:rPr>
                        <a:t>Name the act plainly; would you defend it openly?</a:t>
                      </a:r>
                    </a:p>
                  </a:txBody>
                  <a:tcPr anchor="ctr" marL="73152" marR="54864" marT="27432" marB="27432">
                    <a:solidFill>
                      <a:srgbClr val="FFFFFF"/>
                    </a:solidFill>
                  </a:tcPr>
                </a:tc>
              </a:tr>
              <a:tr h="883310">
                <a:tc>
                  <a:txBody>
                    <a:bodyPr wrap="square"/>
                    <a:lstStyle/>
                    <a:p>
                      <a:r>
                        <a:rPr sz="1150" b="1">
                          <a:solidFill>
                            <a:srgbClr val="0C2B4A"/>
                          </a:solidFill>
                        </a:rPr>
                        <a:t>Groupthink</a:t>
                      </a:r>
                    </a:p>
                  </a:txBody>
                  <a:tcPr anchor="ctr" marL="73152" marR="54864" marT="27432" marB="27432">
                    <a:solidFill>
                      <a:srgbClr val="EEF3F8"/>
                    </a:solidFill>
                  </a:tcPr>
                </a:tc>
                <a:tc>
                  <a:txBody>
                    <a:bodyPr wrap="square"/>
                    <a:lstStyle/>
                    <a:p>
                      <a:r>
                        <a:rPr sz="1150">
                          <a:solidFill>
                            <a:srgbClr val="1A1A1A"/>
                          </a:solidFill>
                        </a:rPr>
                        <a:t>'The whole team agreed, so it must be fine'</a:t>
                      </a:r>
                    </a:p>
                  </a:txBody>
                  <a:tcPr anchor="ctr" marL="73152" marR="54864" marT="27432" marB="27432">
                    <a:solidFill>
                      <a:srgbClr val="EEF3F8"/>
                    </a:solidFill>
                  </a:tcPr>
                </a:tc>
                <a:tc>
                  <a:txBody>
                    <a:bodyPr wrap="square"/>
                    <a:lstStyle/>
                    <a:p>
                      <a:r>
                        <a:rPr sz="1150">
                          <a:solidFill>
                            <a:srgbClr val="1A1A1A"/>
                          </a:solidFill>
                        </a:rPr>
                        <a:t>Ask for one dissenting view; decide on merits</a:t>
                      </a:r>
                    </a:p>
                  </a:txBody>
                  <a:tcPr anchor="ctr" marL="73152" marR="54864" marT="27432" marB="27432">
                    <a:solidFill>
                      <a:srgbClr val="EEF3F8"/>
                    </a:solidFill>
                  </a:tcPr>
                </a:tc>
              </a:tr>
              <a:tr h="883310">
                <a:tc>
                  <a:txBody>
                    <a:bodyPr wrap="square"/>
                    <a:lstStyle/>
                    <a:p>
                      <a:r>
                        <a:rPr sz="1150" b="1">
                          <a:solidFill>
                            <a:srgbClr val="0C2B4A"/>
                          </a:solidFill>
                        </a:rPr>
                        <a:t>Slippery slope</a:t>
                      </a:r>
                    </a:p>
                  </a:txBody>
                  <a:tcPr anchor="ctr" marL="73152" marR="54864" marT="27432" marB="27432">
                    <a:solidFill>
                      <a:srgbClr val="FFFFFF"/>
                    </a:solidFill>
                  </a:tcPr>
                </a:tc>
                <a:tc>
                  <a:txBody>
                    <a:bodyPr wrap="square"/>
                    <a:lstStyle/>
                    <a:p>
                      <a:r>
                        <a:rPr sz="1150">
                          <a:solidFill>
                            <a:srgbClr val="1A1A1A"/>
                          </a:solidFill>
                        </a:rPr>
                        <a:t>'Just this once, it won't happen again'</a:t>
                      </a:r>
                    </a:p>
                  </a:txBody>
                  <a:tcPr anchor="ctr" marL="73152" marR="54864" marT="27432" marB="27432">
                    <a:solidFill>
                      <a:srgbClr val="FFFFFF"/>
                    </a:solidFill>
                  </a:tcPr>
                </a:tc>
                <a:tc>
                  <a:txBody>
                    <a:bodyPr wrap="square"/>
                    <a:lstStyle/>
                    <a:p>
                      <a:r>
                        <a:rPr sz="1150">
                          <a:solidFill>
                            <a:srgbClr val="1A1A1A"/>
                          </a:solidFill>
                        </a:rPr>
                        <a:t>Set the bright line before the pressure, not during</a:t>
                      </a:r>
                    </a:p>
                  </a:txBody>
                  <a:tcPr anchor="ctr" marL="73152" marR="54864" marT="27432" marB="27432">
                    <a:solidFill>
                      <a:srgbClr val="FFFFFF"/>
                    </a:solidFill>
                  </a:tcPr>
                </a:tc>
              </a:tr>
              <a:tr h="883312">
                <a:tc>
                  <a:txBody>
                    <a:bodyPr wrap="square"/>
                    <a:lstStyle/>
                    <a:p>
                      <a:r>
                        <a:rPr sz="1150" b="1">
                          <a:solidFill>
                            <a:srgbClr val="0C2B4A"/>
                          </a:solidFill>
                        </a:rPr>
                        <a:t>Blind obedience</a:t>
                      </a:r>
                    </a:p>
                  </a:txBody>
                  <a:tcPr anchor="ctr" marL="73152" marR="54864" marT="27432" marB="27432">
                    <a:solidFill>
                      <a:srgbClr val="EEF3F8"/>
                    </a:solidFill>
                  </a:tcPr>
                </a:tc>
                <a:tc>
                  <a:txBody>
                    <a:bodyPr wrap="square"/>
                    <a:lstStyle/>
                    <a:p>
                      <a:r>
                        <a:rPr sz="1150">
                          <a:solidFill>
                            <a:srgbClr val="1A1A1A"/>
                          </a:solidFill>
                        </a:rPr>
                        <a:t>'My manager told me to, so it's on them'</a:t>
                      </a:r>
                    </a:p>
                  </a:txBody>
                  <a:tcPr anchor="ctr" marL="73152" marR="54864" marT="27432" marB="27432">
                    <a:solidFill>
                      <a:srgbClr val="EEF3F8"/>
                    </a:solidFill>
                  </a:tcPr>
                </a:tc>
                <a:tc>
                  <a:txBody>
                    <a:bodyPr wrap="square"/>
                    <a:lstStyle/>
                    <a:p>
                      <a:r>
                        <a:rPr sz="1150">
                          <a:solidFill>
                            <a:srgbClr val="1A1A1A"/>
                          </a:solidFill>
                        </a:rPr>
                        <a:t>You remain responsible — run it through the 5 steps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'Just fudge this one report' uses TWO traps at once — blind obedience + slippery slope.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74 / 101</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Common Decision Traps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manager says 'just fudge this one report — only this once.' Two traps are being used to pressure you: blind obedience ('the boss decided') and slippery slope ('just once'). Recognising them by name lets you resist and run the 5 steps instead.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my boss told me to, it's not my fault." Blind obedience doesn't transfer responsibility — you're still accountable. 'Just this once' is a slippery slope that lowers the bar for the next time.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Common decision traps are rationalization ('everyone does it'), groupthink (going along with the team), slippery slope ('just this once'), and blind obedience to authority ('the boss decided'). They pressure ordinary people into wrong choices; naming the trap in the moment is the defence.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rationalization · groupthink · slippery slope · blind obedience · you remain responsible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75 / 101</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the traps sound in real life — and the counter</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429125"/>
                <a:gridCol w="2714625"/>
                <a:gridCol w="4286250"/>
              </a:tblGrid>
              <a:tr h="552069">
                <a:tc>
                  <a:txBody>
                    <a:bodyPr wrap="square"/>
                    <a:lstStyle/>
                    <a:p>
                      <a:r>
                        <a:rPr sz="1150" b="1">
                          <a:solidFill>
                            <a:srgbClr val="FFFFFF"/>
                          </a:solidFill>
                        </a:rPr>
                        <a:t>What you hear in real life</a:t>
                      </a:r>
                    </a:p>
                  </a:txBody>
                  <a:tcPr anchor="ctr" marL="73152" marR="54864" marT="27432" marB="27432">
                    <a:solidFill>
                      <a:srgbClr val="0C2B4A"/>
                    </a:solidFill>
                  </a:tcPr>
                </a:tc>
                <a:tc>
                  <a:txBody>
                    <a:bodyPr wrap="square"/>
                    <a:lstStyle/>
                    <a:p>
                      <a:r>
                        <a:rPr sz="1150" b="1">
                          <a:solidFill>
                            <a:srgbClr val="FFFFFF"/>
                          </a:solidFill>
                        </a:rPr>
                        <a:t>Trap being used</a:t>
                      </a:r>
                    </a:p>
                  </a:txBody>
                  <a:tcPr anchor="ctr" marL="73152" marR="54864" marT="27432" marB="27432">
                    <a:solidFill>
                      <a:srgbClr val="0C2B4A"/>
                    </a:solidFill>
                  </a:tcPr>
                </a:tc>
                <a:tc>
                  <a:txBody>
                    <a:bodyPr wrap="square"/>
                    <a:lstStyle/>
                    <a:p>
                      <a:r>
                        <a:rPr sz="1150" b="1">
                          <a:solidFill>
                            <a:srgbClr val="FFFFFF"/>
                          </a:solidFill>
                        </a:rPr>
                        <a:t>How to counter it</a:t>
                      </a:r>
                    </a:p>
                  </a:txBody>
                  <a:tcPr anchor="ctr" marL="73152" marR="54864" marT="27432" marB="27432">
                    <a:solidFill>
                      <a:srgbClr val="0C2B4A"/>
                    </a:solidFill>
                  </a:tcPr>
                </a:tc>
              </a:tr>
              <a:tr h="552069">
                <a:tc>
                  <a:txBody>
                    <a:bodyPr wrap="square"/>
                    <a:lstStyle/>
                    <a:p>
                      <a:r>
                        <a:rPr sz="1100" b="1">
                          <a:solidFill>
                            <a:srgbClr val="0C2B4A"/>
                          </a:solidFill>
                        </a:rPr>
                        <a:t>'Everyone in this office rounds the numbers'</a:t>
                      </a:r>
                    </a:p>
                  </a:txBody>
                  <a:tcPr anchor="ctr" marL="73152" marR="54864" marT="27432" marB="27432">
                    <a:solidFill>
                      <a:srgbClr val="FFFFFF"/>
                    </a:solidFill>
                  </a:tcPr>
                </a:tc>
                <a:tc>
                  <a:txBody>
                    <a:bodyPr wrap="square"/>
                    <a:lstStyle/>
                    <a:p>
                      <a:r>
                        <a:rPr sz="1100">
                          <a:solidFill>
                            <a:srgbClr val="1A1A1A"/>
                          </a:solidFill>
                        </a:rPr>
                        <a:t>Rationalization</a:t>
                      </a:r>
                    </a:p>
                  </a:txBody>
                  <a:tcPr anchor="ctr" marL="73152" marR="54864" marT="27432" marB="27432">
                    <a:solidFill>
                      <a:srgbClr val="FFFFFF"/>
                    </a:solidFill>
                  </a:tcPr>
                </a:tc>
                <a:tc>
                  <a:txBody>
                    <a:bodyPr wrap="square"/>
                    <a:lstStyle/>
                    <a:p>
                      <a:r>
                        <a:rPr sz="1100">
                          <a:solidFill>
                            <a:srgbClr val="1A1A1A"/>
                          </a:solidFill>
                        </a:rPr>
                        <a:t>Name the act — would you defend it openly?</a:t>
                      </a:r>
                    </a:p>
                  </a:txBody>
                  <a:tcPr anchor="ctr" marL="73152" marR="54864" marT="27432" marB="27432">
                    <a:solidFill>
                      <a:srgbClr val="FFFFFF"/>
                    </a:solidFill>
                  </a:tcPr>
                </a:tc>
              </a:tr>
              <a:tr h="552069">
                <a:tc>
                  <a:txBody>
                    <a:bodyPr wrap="square"/>
                    <a:lstStyle/>
                    <a:p>
                      <a:r>
                        <a:rPr sz="1100" b="1">
                          <a:solidFill>
                            <a:srgbClr val="0C2B4A"/>
                          </a:solidFill>
                        </a:rPr>
                        <a:t>'The whole team agreed, so it must be fine'</a:t>
                      </a:r>
                    </a:p>
                  </a:txBody>
                  <a:tcPr anchor="ctr" marL="73152" marR="54864" marT="27432" marB="27432">
                    <a:solidFill>
                      <a:srgbClr val="EEF3F8"/>
                    </a:solidFill>
                  </a:tcPr>
                </a:tc>
                <a:tc>
                  <a:txBody>
                    <a:bodyPr wrap="square"/>
                    <a:lstStyle/>
                    <a:p>
                      <a:r>
                        <a:rPr sz="1100">
                          <a:solidFill>
                            <a:srgbClr val="1A1A1A"/>
                          </a:solidFill>
                        </a:rPr>
                        <a:t>Groupthink</a:t>
                      </a:r>
                    </a:p>
                  </a:txBody>
                  <a:tcPr anchor="ctr" marL="73152" marR="54864" marT="27432" marB="27432">
                    <a:solidFill>
                      <a:srgbClr val="EEF3F8"/>
                    </a:solidFill>
                  </a:tcPr>
                </a:tc>
                <a:tc>
                  <a:txBody>
                    <a:bodyPr wrap="square"/>
                    <a:lstStyle/>
                    <a:p>
                      <a:r>
                        <a:rPr sz="1100">
                          <a:solidFill>
                            <a:srgbClr val="1A1A1A"/>
                          </a:solidFill>
                        </a:rPr>
                        <a:t>Ask for one dissenting view; decide on merits</a:t>
                      </a:r>
                    </a:p>
                  </a:txBody>
                  <a:tcPr anchor="ctr" marL="73152" marR="54864" marT="27432" marB="27432">
                    <a:solidFill>
                      <a:srgbClr val="EEF3F8"/>
                    </a:solidFill>
                  </a:tcPr>
                </a:tc>
              </a:tr>
              <a:tr h="552069">
                <a:tc>
                  <a:txBody>
                    <a:bodyPr wrap="square"/>
                    <a:lstStyle/>
                    <a:p>
                      <a:r>
                        <a:rPr sz="1100" b="1">
                          <a:solidFill>
                            <a:srgbClr val="0C2B4A"/>
                          </a:solidFill>
                        </a:rPr>
                        <a:t>'Just fudge this one report, only this once'</a:t>
                      </a:r>
                    </a:p>
                  </a:txBody>
                  <a:tcPr anchor="ctr" marL="73152" marR="54864" marT="27432" marB="27432">
                    <a:solidFill>
                      <a:srgbClr val="FFFFFF"/>
                    </a:solidFill>
                  </a:tcPr>
                </a:tc>
                <a:tc>
                  <a:txBody>
                    <a:bodyPr wrap="square"/>
                    <a:lstStyle/>
                    <a:p>
                      <a:r>
                        <a:rPr sz="1100">
                          <a:solidFill>
                            <a:srgbClr val="1A1A1A"/>
                          </a:solidFill>
                        </a:rPr>
                        <a:t>Slippery slope (+ obedience)</a:t>
                      </a:r>
                    </a:p>
                  </a:txBody>
                  <a:tcPr anchor="ctr" marL="73152" marR="54864" marT="27432" marB="27432">
                    <a:solidFill>
                      <a:srgbClr val="FFFFFF"/>
                    </a:solidFill>
                  </a:tcPr>
                </a:tc>
                <a:tc>
                  <a:txBody>
                    <a:bodyPr wrap="square"/>
                    <a:lstStyle/>
                    <a:p>
                      <a:r>
                        <a:rPr sz="1100">
                          <a:solidFill>
                            <a:srgbClr val="1A1A1A"/>
                          </a:solidFill>
                        </a:rPr>
                        <a:t>Set the bright line before the pressure</a:t>
                      </a:r>
                    </a:p>
                  </a:txBody>
                  <a:tcPr anchor="ctr" marL="73152" marR="54864" marT="27432" marB="27432">
                    <a:solidFill>
                      <a:srgbClr val="FFFFFF"/>
                    </a:solidFill>
                  </a:tcPr>
                </a:tc>
              </a:tr>
              <a:tr h="552069">
                <a:tc>
                  <a:txBody>
                    <a:bodyPr wrap="square"/>
                    <a:lstStyle/>
                    <a:p>
                      <a:r>
                        <a:rPr sz="1100" b="1">
                          <a:solidFill>
                            <a:srgbClr val="0C2B4A"/>
                          </a:solidFill>
                        </a:rPr>
                        <a:t>'The manager told me to, so it's on him'</a:t>
                      </a:r>
                    </a:p>
                  </a:txBody>
                  <a:tcPr anchor="ctr" marL="73152" marR="54864" marT="27432" marB="27432">
                    <a:solidFill>
                      <a:srgbClr val="EEF3F8"/>
                    </a:solidFill>
                  </a:tcPr>
                </a:tc>
                <a:tc>
                  <a:txBody>
                    <a:bodyPr wrap="square"/>
                    <a:lstStyle/>
                    <a:p>
                      <a:r>
                        <a:rPr sz="1100">
                          <a:solidFill>
                            <a:srgbClr val="1A1A1A"/>
                          </a:solidFill>
                        </a:rPr>
                        <a:t>Blind obedience</a:t>
                      </a:r>
                    </a:p>
                  </a:txBody>
                  <a:tcPr anchor="ctr" marL="73152" marR="54864" marT="27432" marB="27432">
                    <a:solidFill>
                      <a:srgbClr val="EEF3F8"/>
                    </a:solidFill>
                  </a:tcPr>
                </a:tc>
                <a:tc>
                  <a:txBody>
                    <a:bodyPr wrap="square"/>
                    <a:lstStyle/>
                    <a:p>
                      <a:r>
                        <a:rPr sz="1100">
                          <a:solidFill>
                            <a:srgbClr val="1A1A1A"/>
                          </a:solidFill>
                        </a:rPr>
                        <a:t>You remain responsible; run the 5 steps</a:t>
                      </a:r>
                    </a:p>
                  </a:txBody>
                  <a:tcPr anchor="ctr" marL="73152" marR="54864" marT="27432" marB="27432">
                    <a:solidFill>
                      <a:srgbClr val="EEF3F8"/>
                    </a:solidFill>
                  </a:tcPr>
                </a:tc>
              </a:tr>
              <a:tr h="552069">
                <a:tc>
                  <a:txBody>
                    <a:bodyPr wrap="square"/>
                    <a:lstStyle/>
                    <a:p>
                      <a:r>
                        <a:rPr sz="1100" b="1">
                          <a:solidFill>
                            <a:srgbClr val="0C2B4A"/>
                          </a:solidFill>
                        </a:rPr>
                        <a:t>'It's not really piracy — students do it all the time'</a:t>
                      </a:r>
                    </a:p>
                  </a:txBody>
                  <a:tcPr anchor="ctr" marL="73152" marR="54864" marT="27432" marB="27432">
                    <a:solidFill>
                      <a:srgbClr val="FFFFFF"/>
                    </a:solidFill>
                  </a:tcPr>
                </a:tc>
                <a:tc>
                  <a:txBody>
                    <a:bodyPr wrap="square"/>
                    <a:lstStyle/>
                    <a:p>
                      <a:r>
                        <a:rPr sz="1100">
                          <a:solidFill>
                            <a:srgbClr val="1A1A1A"/>
                          </a:solidFill>
                        </a:rPr>
                        <a:t>Rationalization</a:t>
                      </a:r>
                    </a:p>
                  </a:txBody>
                  <a:tcPr anchor="ctr" marL="73152" marR="54864" marT="27432" marB="27432">
                    <a:solidFill>
                      <a:srgbClr val="FFFFFF"/>
                    </a:solidFill>
                  </a:tcPr>
                </a:tc>
                <a:tc>
                  <a:txBody>
                    <a:bodyPr wrap="square"/>
                    <a:lstStyle/>
                    <a:p>
                      <a:r>
                        <a:rPr sz="1100">
                          <a:solidFill>
                            <a:srgbClr val="1A1A1A"/>
                          </a:solidFill>
                        </a:rPr>
                        <a:t>Would it survive open scrutiny?</a:t>
                      </a:r>
                    </a:p>
                  </a:txBody>
                  <a:tcPr anchor="ctr" marL="73152" marR="54864" marT="27432" marB="27432">
                    <a:solidFill>
                      <a:srgbClr val="FFFFFF"/>
                    </a:solidFill>
                  </a:tcPr>
                </a:tc>
              </a:tr>
              <a:tr h="552069">
                <a:tc>
                  <a:txBody>
                    <a:bodyPr wrap="square"/>
                    <a:lstStyle/>
                    <a:p>
                      <a:r>
                        <a:rPr sz="1100" b="1">
                          <a:solidFill>
                            <a:srgbClr val="0C2B4A"/>
                          </a:solidFill>
                        </a:rPr>
                        <a:t>'Nobody will notice one skipped KYC check'</a:t>
                      </a:r>
                    </a:p>
                  </a:txBody>
                  <a:tcPr anchor="ctr" marL="73152" marR="54864" marT="27432" marB="27432">
                    <a:solidFill>
                      <a:srgbClr val="EEF3F8"/>
                    </a:solidFill>
                  </a:tcPr>
                </a:tc>
                <a:tc>
                  <a:txBody>
                    <a:bodyPr wrap="square"/>
                    <a:lstStyle/>
                    <a:p>
                      <a:r>
                        <a:rPr sz="1100">
                          <a:solidFill>
                            <a:srgbClr val="1A1A1A"/>
                          </a:solidFill>
                        </a:rPr>
                        <a:t>Rationalization / slippery slope</a:t>
                      </a:r>
                    </a:p>
                  </a:txBody>
                  <a:tcPr anchor="ctr" marL="73152" marR="54864" marT="27432" marB="27432">
                    <a:solidFill>
                      <a:srgbClr val="EEF3F8"/>
                    </a:solidFill>
                  </a:tcPr>
                </a:tc>
                <a:tc>
                  <a:txBody>
                    <a:bodyPr wrap="square"/>
                    <a:lstStyle/>
                    <a:p>
                      <a:r>
                        <a:rPr sz="1100">
                          <a:solidFill>
                            <a:srgbClr val="1A1A1A"/>
                          </a:solidFill>
                        </a:rPr>
                        <a:t>One exception lowers the bar for next time</a:t>
                      </a:r>
                    </a:p>
                  </a:txBody>
                  <a:tcPr anchor="ctr" marL="73152" marR="54864" marT="27432" marB="27432">
                    <a:solidFill>
                      <a:srgbClr val="EEF3F8"/>
                    </a:solidFill>
                  </a:tcPr>
                </a:tc>
              </a:tr>
              <a:tr h="552069">
                <a:tc>
                  <a:txBody>
                    <a:bodyPr wrap="square"/>
                    <a:lstStyle/>
                    <a:p>
                      <a:r>
                        <a:rPr sz="1100" b="1">
                          <a:solidFill>
                            <a:srgbClr val="0C2B4A"/>
                          </a:solidFill>
                        </a:rPr>
                        <a:t>'Don't rock the boat, the seniors already decided'</a:t>
                      </a:r>
                    </a:p>
                  </a:txBody>
                  <a:tcPr anchor="ctr" marL="73152" marR="54864" marT="27432" marB="27432">
                    <a:solidFill>
                      <a:srgbClr val="FFFFFF"/>
                    </a:solidFill>
                  </a:tcPr>
                </a:tc>
                <a:tc>
                  <a:txBody>
                    <a:bodyPr wrap="square"/>
                    <a:lstStyle/>
                    <a:p>
                      <a:r>
                        <a:rPr sz="1100">
                          <a:solidFill>
                            <a:srgbClr val="1A1A1A"/>
                          </a:solidFill>
                        </a:rPr>
                        <a:t>Groupthink / obedience</a:t>
                      </a:r>
                    </a:p>
                  </a:txBody>
                  <a:tcPr anchor="ctr" marL="73152" marR="54864" marT="27432" marB="27432">
                    <a:solidFill>
                      <a:srgbClr val="FFFFFF"/>
                    </a:solidFill>
                  </a:tcPr>
                </a:tc>
                <a:tc>
                  <a:txBody>
                    <a:bodyPr wrap="square"/>
                    <a:lstStyle/>
                    <a:p>
                      <a:r>
                        <a:rPr sz="1100">
                          <a:solidFill>
                            <a:srgbClr val="1A1A1A"/>
                          </a:solidFill>
                        </a:rPr>
                        <a:t>Decide on merits, not seniority</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'Just fudge this one report' uses two traps at once — blind obedience plus slippery slope. Naming the trap out loud strips half its power.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76 / 101</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 — 'Run the dilemma'  ·  ~6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take the leaked-exam-answers hook and work it through ALL 5 steps explicitly.</a:t>
            </a:r>
          </a:p>
          <a:p>
            <a:pPr>
              <a:spcAft>
                <a:spcPts val="700"/>
              </a:spcAft>
            </a:pPr>
            <a:r>
              <a:rPr sz="1550">
                <a:solidFill>
                  <a:srgbClr val="1A1A1A"/>
                </a:solidFill>
              </a:rPr>
              <a:t>•  Name at least ONE lens used in step 3.</a:t>
            </a:r>
          </a:p>
          <a:p>
            <a:pPr>
              <a:spcAft>
                <a:spcPts val="700"/>
              </a:spcAft>
            </a:pPr>
            <a:r>
              <a:rPr sz="1550">
                <a:solidFill>
                  <a:srgbClr val="1A1A1A"/>
                </a:solidFill>
              </a:rPr>
              <a:t>•  Take 2 pairs' walkthroughs aloud (3 min).</a:t>
            </a:r>
          </a:p>
          <a:p>
            <a:pPr>
              <a:spcAft>
                <a:spcPts val="700"/>
              </a:spcAft>
            </a:pPr>
            <a:r>
              <a:rPr sz="1550">
                <a:solidFill>
                  <a:srgbClr val="1A1A1A"/>
                </a:solidFill>
              </a:rPr>
              <a:t>•  The goal isn't unanimity — it's that everyone USED the method and can defend their choice.</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A good walkthrough gets the facts, names stakeholders (honest classmates, teacher), evaluates via fairness/rights, acts (report or delete), and reflects. Different final choices are fine if the method is used.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77 / 101</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FIRST step in ethical decision making is to:</a:t>
            </a:r>
          </a:p>
          <a:p>
            <a:pPr lvl="1"/>
            <a:r>
              <a:rPr sz="1500" b="1">
                <a:solidFill>
                  <a:srgbClr val="0F6E56"/>
                </a:solidFill>
              </a:rPr>
              <a:t>a) pick an option   b) ✅ gather the facts   c) punish someone   d) write a report</a:t>
            </a:r>
          </a:p>
          <a:p>
            <a:pPr>
              <a:spcBef>
                <a:spcPts val="900"/>
              </a:spcBef>
            </a:pPr>
            <a:r>
              <a:rPr sz="1700" b="1">
                <a:solidFill>
                  <a:srgbClr val="0C2B4A"/>
                </a:solidFill>
              </a:rPr>
              <a:t>Q2.  'The greatest good for the greatest number' describes which lens?</a:t>
            </a:r>
          </a:p>
          <a:p>
            <a:pPr lvl="1"/>
            <a:r>
              <a:rPr sz="1500" b="1">
                <a:solidFill>
                  <a:srgbClr val="0F6E56"/>
                </a:solidFill>
              </a:rPr>
              <a:t>a) rights/duty   b) fairness   c) ✅ utilitarian   d) virtue</a:t>
            </a:r>
          </a:p>
          <a:p>
            <a:pPr lvl="1">
              <a:spcBef>
                <a:spcPts val="600"/>
              </a:spcBef>
            </a:pPr>
            <a:r>
              <a:rPr sz="1500" i="1">
                <a:solidFill>
                  <a:srgbClr val="1A1A1A"/>
                </a:solidFill>
              </a:rPr>
              <a:t>Discussion: give a workplace example where two lenses would disagree — how would you decide?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78 / 101</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Use the 5-step process: facts → stakeholders/options → evaluate → act → reflect.</a:t>
            </a:r>
          </a:p>
          <a:p>
            <a:pPr>
              <a:spcAft>
                <a:spcPts val="800"/>
              </a:spcAft>
            </a:pPr>
            <a:r>
              <a:rPr sz="1500">
                <a:solidFill>
                  <a:srgbClr val="1A1A1A"/>
                </a:solidFill>
              </a:rPr>
              <a:t>2.  Test options through four lenses: utilitarian, rights/duty, fairness, virtue.</a:t>
            </a:r>
          </a:p>
          <a:p>
            <a:pPr>
              <a:spcAft>
                <a:spcPts val="800"/>
              </a:spcAft>
            </a:pPr>
            <a:r>
              <a:rPr sz="1500">
                <a:solidFill>
                  <a:srgbClr val="1A1A1A"/>
                </a:solidFill>
              </a:rPr>
              <a:t>3.  Watch for traps: rationalization, groupthink, slippery slope, blind obedience.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You'll face grey-area calls constantly — a vendor's gift, a boss bending a rule, a deadline shortcut. A repeatable process protects you (your choices are defensible) and everyone affected. Interviewers literally ask: 'walk me through a hard decision you made.'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S5 — why all of this gets sharper and bigger in Information Technology.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79 / 101</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5 · LECTURE HOUR 5 (OF 5) — CLOSES UNIT 1</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Ethics in Information Technology</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An app quietly sells your location data. A loan algorithm rejects applicants by neighbourhood (digital redlining). A deepfake of a politician goes viral the night before an election. A dishonest shopkeeper cheats one customer at a time — a bad line of code can harm millions in seconds, permanently.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80 / 101</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IT Raises Distinct Ethical Challenges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IT amplifies ethical impact along five dimensions, so ordinary ethics gets sharper and bigger — and the law is often missing, leaving your own ethics as all that holds.</a:t>
            </a:r>
          </a:p>
          <a:p>
            <a:pPr>
              <a:spcAft>
                <a:spcPts val="500"/>
              </a:spcAft>
            </a:pPr>
            <a:r>
              <a:rPr sz="1200" b="1">
                <a:solidFill>
                  <a:srgbClr val="185FA5"/>
                </a:solidFill>
              </a:rPr>
              <a:t>HOW IT WORKS</a:t>
            </a:r>
          </a:p>
          <a:p>
            <a:pPr>
              <a:spcAft>
                <a:spcPts val="600"/>
              </a:spcAft>
            </a:pPr>
            <a:r>
              <a:rPr sz="1400">
                <a:solidFill>
                  <a:srgbClr val="1A1A1A"/>
                </a:solidFill>
              </a:rPr>
              <a:t>•  Scale — one decision (a default, an algorithm) affects millions at once.</a:t>
            </a:r>
          </a:p>
          <a:p>
            <a:pPr>
              <a:spcAft>
                <a:spcPts val="600"/>
              </a:spcAft>
            </a:pPr>
            <a:r>
              <a:rPr sz="1400">
                <a:solidFill>
                  <a:srgbClr val="1A1A1A"/>
                </a:solidFill>
              </a:rPr>
              <a:t>•  Speed — harm spreads in seconds, before anyone can intervene.</a:t>
            </a:r>
          </a:p>
          <a:p>
            <a:pPr>
              <a:spcAft>
                <a:spcPts val="600"/>
              </a:spcAft>
            </a:pPr>
            <a:r>
              <a:rPr sz="1400">
                <a:solidFill>
                  <a:srgbClr val="1A1A1A"/>
                </a:solidFill>
              </a:rPr>
              <a:t>•  Anonymity — wrongdoers hide; victims can be targeted from a distance, across borders.</a:t>
            </a:r>
          </a:p>
          <a:p>
            <a:pPr>
              <a:spcAft>
                <a:spcPts val="600"/>
              </a:spcAft>
            </a:pPr>
            <a:r>
              <a:rPr sz="1400">
                <a:solidFill>
                  <a:srgbClr val="1A1A1A"/>
                </a:solidFill>
              </a:rPr>
              <a:t>•  Permanence — leaked/posted data is almost impossible to fully erase. Plus a capability–regulation gap: tech outruns the law.</a:t>
            </a:r>
          </a:p>
        </p:txBody>
      </p:sp>
      <p:pic>
        <p:nvPicPr>
          <p:cNvPr id="6" name="Picture 5" descr="s5_scale.png"/>
          <p:cNvPicPr>
            <a:picLocks noChangeAspect="1"/>
          </p:cNvPicPr>
          <p:nvPr/>
        </p:nvPicPr>
        <p:blipFill>
          <a:blip r:embed="rId2"/>
          <a:stretch>
            <a:fillRect/>
          </a:stretch>
        </p:blipFill>
        <p:spPr>
          <a:xfrm>
            <a:off x="6355080" y="2635525"/>
            <a:ext cx="5532120" cy="236419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IT makes ethical mistakes scale to millions — instantly and permanently.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81 / 101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makes IT ethics distinct — offline vs at IT scale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1693333"/>
                <a:gridCol w="2681111"/>
                <a:gridCol w="3668888"/>
                <a:gridCol w="3386666"/>
              </a:tblGrid>
              <a:tr h="736092">
                <a:tc>
                  <a:txBody>
                    <a:bodyPr wrap="square"/>
                    <a:lstStyle/>
                    <a:p>
                      <a:r>
                        <a:rPr sz="1150" b="1">
                          <a:solidFill>
                            <a:srgbClr val="FFFFFF"/>
                          </a:solidFill>
                        </a:rPr>
                        <a:t>Factor</a:t>
                      </a:r>
                    </a:p>
                  </a:txBody>
                  <a:tcPr anchor="ctr" marL="73152" marR="54864" marT="27432" marB="27432">
                    <a:solidFill>
                      <a:srgbClr val="0C2B4A"/>
                    </a:solidFill>
                  </a:tcPr>
                </a:tc>
                <a:tc>
                  <a:txBody>
                    <a:bodyPr wrap="square"/>
                    <a:lstStyle/>
                    <a:p>
                      <a:r>
                        <a:rPr sz="1150" b="1">
                          <a:solidFill>
                            <a:srgbClr val="FFFFFF"/>
                          </a:solidFill>
                        </a:rPr>
                        <a:t>Offline</a:t>
                      </a:r>
                    </a:p>
                  </a:txBody>
                  <a:tcPr anchor="ctr" marL="73152" marR="54864" marT="27432" marB="27432">
                    <a:solidFill>
                      <a:srgbClr val="0C2B4A"/>
                    </a:solidFill>
                  </a:tcPr>
                </a:tc>
                <a:tc>
                  <a:txBody>
                    <a:bodyPr wrap="square"/>
                    <a:lstStyle/>
                    <a:p>
                      <a:r>
                        <a:rPr sz="1150" b="1">
                          <a:solidFill>
                            <a:srgbClr val="FFFFFF"/>
                          </a:solidFill>
                        </a:rPr>
                        <a:t>At IT scale</a:t>
                      </a:r>
                    </a:p>
                  </a:txBody>
                  <a:tcPr anchor="ctr" marL="73152" marR="54864" marT="27432" marB="27432">
                    <a:solidFill>
                      <a:srgbClr val="0C2B4A"/>
                    </a:solidFill>
                  </a:tcPr>
                </a:tc>
                <a:tc>
                  <a:txBody>
                    <a:bodyPr wrap="square"/>
                    <a:lstStyle/>
                    <a:p>
                      <a:r>
                        <a:rPr sz="1150" b="1">
                          <a:solidFill>
                            <a:srgbClr val="FFFFFF"/>
                          </a:solidFill>
                        </a:rPr>
                        <a:t>Consequence</a:t>
                      </a:r>
                    </a:p>
                  </a:txBody>
                  <a:tcPr anchor="ctr" marL="73152" marR="54864" marT="27432" marB="27432">
                    <a:solidFill>
                      <a:srgbClr val="0C2B4A"/>
                    </a:solidFill>
                  </a:tcPr>
                </a:tc>
              </a:tr>
              <a:tr h="736092">
                <a:tc>
                  <a:txBody>
                    <a:bodyPr wrap="square"/>
                    <a:lstStyle/>
                    <a:p>
                      <a:r>
                        <a:rPr sz="1100" b="1">
                          <a:solidFill>
                            <a:srgbClr val="0C2B4A"/>
                          </a:solidFill>
                        </a:rPr>
                        <a:t>Scale</a:t>
                      </a:r>
                    </a:p>
                  </a:txBody>
                  <a:tcPr anchor="ctr" marL="73152" marR="54864" marT="27432" marB="27432">
                    <a:solidFill>
                      <a:srgbClr val="FFFFFF"/>
                    </a:solidFill>
                  </a:tcPr>
                </a:tc>
                <a:tc>
                  <a:txBody>
                    <a:bodyPr wrap="square"/>
                    <a:lstStyle/>
                    <a:p>
                      <a:r>
                        <a:rPr sz="1100">
                          <a:solidFill>
                            <a:srgbClr val="1A1A1A"/>
                          </a:solidFill>
                        </a:rPr>
                        <a:t>One person at a time</a:t>
                      </a:r>
                    </a:p>
                  </a:txBody>
                  <a:tcPr anchor="ctr" marL="73152" marR="54864" marT="27432" marB="27432">
                    <a:solidFill>
                      <a:srgbClr val="FFFFFF"/>
                    </a:solidFill>
                  </a:tcPr>
                </a:tc>
                <a:tc>
                  <a:txBody>
                    <a:bodyPr wrap="square"/>
                    <a:lstStyle/>
                    <a:p>
                      <a:r>
                        <a:rPr sz="1100">
                          <a:solidFill>
                            <a:srgbClr val="1A1A1A"/>
                          </a:solidFill>
                        </a:rPr>
                        <a:t>Millions at once (one setting/algorithm)</a:t>
                      </a:r>
                    </a:p>
                  </a:txBody>
                  <a:tcPr anchor="ctr" marL="73152" marR="54864" marT="27432" marB="27432">
                    <a:solidFill>
                      <a:srgbClr val="FFFFFF"/>
                    </a:solidFill>
                  </a:tcPr>
                </a:tc>
                <a:tc>
                  <a:txBody>
                    <a:bodyPr wrap="square"/>
                    <a:lstStyle/>
                    <a:p>
                      <a:r>
                        <a:rPr sz="1100">
                          <a:solidFill>
                            <a:srgbClr val="1A1A1A"/>
                          </a:solidFill>
                        </a:rPr>
                        <a:t>A single choice harms a whole population</a:t>
                      </a:r>
                    </a:p>
                  </a:txBody>
                  <a:tcPr anchor="ctr" marL="73152" marR="54864" marT="27432" marB="27432">
                    <a:solidFill>
                      <a:srgbClr val="FFFFFF"/>
                    </a:solidFill>
                  </a:tcPr>
                </a:tc>
              </a:tr>
              <a:tr h="736092">
                <a:tc>
                  <a:txBody>
                    <a:bodyPr wrap="square"/>
                    <a:lstStyle/>
                    <a:p>
                      <a:r>
                        <a:rPr sz="1100" b="1">
                          <a:solidFill>
                            <a:srgbClr val="0C2B4A"/>
                          </a:solidFill>
                        </a:rPr>
                        <a:t>Speed</a:t>
                      </a:r>
                    </a:p>
                  </a:txBody>
                  <a:tcPr anchor="ctr" marL="73152" marR="54864" marT="27432" marB="27432">
                    <a:solidFill>
                      <a:srgbClr val="EEF3F8"/>
                    </a:solidFill>
                  </a:tcPr>
                </a:tc>
                <a:tc>
                  <a:txBody>
                    <a:bodyPr wrap="square"/>
                    <a:lstStyle/>
                    <a:p>
                      <a:r>
                        <a:rPr sz="1100">
                          <a:solidFill>
                            <a:srgbClr val="1A1A1A"/>
                          </a:solidFill>
                        </a:rPr>
                        <a:t>Slow to spread</a:t>
                      </a:r>
                    </a:p>
                  </a:txBody>
                  <a:tcPr anchor="ctr" marL="73152" marR="54864" marT="27432" marB="27432">
                    <a:solidFill>
                      <a:srgbClr val="EEF3F8"/>
                    </a:solidFill>
                  </a:tcPr>
                </a:tc>
                <a:tc>
                  <a:txBody>
                    <a:bodyPr wrap="square"/>
                    <a:lstStyle/>
                    <a:p>
                      <a:r>
                        <a:rPr sz="1100">
                          <a:solidFill>
                            <a:srgbClr val="1A1A1A"/>
                          </a:solidFill>
                        </a:rPr>
                        <a:t>Seconds</a:t>
                      </a:r>
                    </a:p>
                  </a:txBody>
                  <a:tcPr anchor="ctr" marL="73152" marR="54864" marT="27432" marB="27432">
                    <a:solidFill>
                      <a:srgbClr val="EEF3F8"/>
                    </a:solidFill>
                  </a:tcPr>
                </a:tc>
                <a:tc>
                  <a:txBody>
                    <a:bodyPr wrap="square"/>
                    <a:lstStyle/>
                    <a:p>
                      <a:r>
                        <a:rPr sz="1100">
                          <a:solidFill>
                            <a:srgbClr val="1A1A1A"/>
                          </a:solidFill>
                        </a:rPr>
                        <a:t>Harm is done before anyone can react</a:t>
                      </a:r>
                    </a:p>
                  </a:txBody>
                  <a:tcPr anchor="ctr" marL="73152" marR="54864" marT="27432" marB="27432">
                    <a:solidFill>
                      <a:srgbClr val="EEF3F8"/>
                    </a:solidFill>
                  </a:tcPr>
                </a:tc>
              </a:tr>
              <a:tr h="736092">
                <a:tc>
                  <a:txBody>
                    <a:bodyPr wrap="square"/>
                    <a:lstStyle/>
                    <a:p>
                      <a:r>
                        <a:rPr sz="1100" b="1">
                          <a:solidFill>
                            <a:srgbClr val="0C2B4A"/>
                          </a:solidFill>
                        </a:rPr>
                        <a:t>Anonymity</a:t>
                      </a:r>
                    </a:p>
                  </a:txBody>
                  <a:tcPr anchor="ctr" marL="73152" marR="54864" marT="27432" marB="27432">
                    <a:solidFill>
                      <a:srgbClr val="FFFFFF"/>
                    </a:solidFill>
                  </a:tcPr>
                </a:tc>
                <a:tc>
                  <a:txBody>
                    <a:bodyPr wrap="square"/>
                    <a:lstStyle/>
                    <a:p>
                      <a:r>
                        <a:rPr sz="1100">
                          <a:solidFill>
                            <a:srgbClr val="1A1A1A"/>
                          </a:solidFill>
                        </a:rPr>
                        <a:t>Wrongdoer is visible</a:t>
                      </a:r>
                    </a:p>
                  </a:txBody>
                  <a:tcPr anchor="ctr" marL="73152" marR="54864" marT="27432" marB="27432">
                    <a:solidFill>
                      <a:srgbClr val="FFFFFF"/>
                    </a:solidFill>
                  </a:tcPr>
                </a:tc>
                <a:tc>
                  <a:txBody>
                    <a:bodyPr wrap="square"/>
                    <a:lstStyle/>
                    <a:p>
                      <a:r>
                        <a:rPr sz="1100">
                          <a:solidFill>
                            <a:srgbClr val="1A1A1A"/>
                          </a:solidFill>
                        </a:rPr>
                        <a:t>Wrongdoer can hide, across borders</a:t>
                      </a:r>
                    </a:p>
                  </a:txBody>
                  <a:tcPr anchor="ctr" marL="73152" marR="54864" marT="27432" marB="27432">
                    <a:solidFill>
                      <a:srgbClr val="FFFFFF"/>
                    </a:solidFill>
                  </a:tcPr>
                </a:tc>
                <a:tc>
                  <a:txBody>
                    <a:bodyPr wrap="square"/>
                    <a:lstStyle/>
                    <a:p>
                      <a:r>
                        <a:rPr sz="1100">
                          <a:solidFill>
                            <a:srgbClr val="1A1A1A"/>
                          </a:solidFill>
                        </a:rPr>
                        <a:t>Hard to catch or hold accountable</a:t>
                      </a:r>
                    </a:p>
                  </a:txBody>
                  <a:tcPr anchor="ctr" marL="73152" marR="54864" marT="27432" marB="27432">
                    <a:solidFill>
                      <a:srgbClr val="FFFFFF"/>
                    </a:solidFill>
                  </a:tcPr>
                </a:tc>
              </a:tr>
              <a:tr h="736092">
                <a:tc>
                  <a:txBody>
                    <a:bodyPr wrap="square"/>
                    <a:lstStyle/>
                    <a:p>
                      <a:r>
                        <a:rPr sz="1100" b="1">
                          <a:solidFill>
                            <a:srgbClr val="0C2B4A"/>
                          </a:solidFill>
                        </a:rPr>
                        <a:t>Permanence</a:t>
                      </a:r>
                    </a:p>
                  </a:txBody>
                  <a:tcPr anchor="ctr" marL="73152" marR="54864" marT="27432" marB="27432">
                    <a:solidFill>
                      <a:srgbClr val="EEF3F8"/>
                    </a:solidFill>
                  </a:tcPr>
                </a:tc>
                <a:tc>
                  <a:txBody>
                    <a:bodyPr wrap="square"/>
                    <a:lstStyle/>
                    <a:p>
                      <a:r>
                        <a:rPr sz="1100">
                          <a:solidFill>
                            <a:srgbClr val="1A1A1A"/>
                          </a:solidFill>
                        </a:rPr>
                        <a:t>A rumour fades</a:t>
                      </a:r>
                    </a:p>
                  </a:txBody>
                  <a:tcPr anchor="ctr" marL="73152" marR="54864" marT="27432" marB="27432">
                    <a:solidFill>
                      <a:srgbClr val="EEF3F8"/>
                    </a:solidFill>
                  </a:tcPr>
                </a:tc>
                <a:tc>
                  <a:txBody>
                    <a:bodyPr wrap="square"/>
                    <a:lstStyle/>
                    <a:p>
                      <a:r>
                        <a:rPr sz="1100">
                          <a:solidFill>
                            <a:srgbClr val="1A1A1A"/>
                          </a:solidFill>
                        </a:rPr>
                        <a:t>A screenshot is forever</a:t>
                      </a:r>
                    </a:p>
                  </a:txBody>
                  <a:tcPr anchor="ctr" marL="73152" marR="54864" marT="27432" marB="27432">
                    <a:solidFill>
                      <a:srgbClr val="EEF3F8"/>
                    </a:solidFill>
                  </a:tcPr>
                </a:tc>
                <a:tc>
                  <a:txBody>
                    <a:bodyPr wrap="square"/>
                    <a:lstStyle/>
                    <a:p>
                      <a:r>
                        <a:rPr sz="1100">
                          <a:solidFill>
                            <a:srgbClr val="1A1A1A"/>
                          </a:solidFill>
                        </a:rPr>
                        <a:t>Leaked data can't be fully erased</a:t>
                      </a:r>
                    </a:p>
                  </a:txBody>
                  <a:tcPr anchor="ctr" marL="73152" marR="54864" marT="27432" marB="27432">
                    <a:solidFill>
                      <a:srgbClr val="EEF3F8"/>
                    </a:solidFill>
                  </a:tcPr>
                </a:tc>
              </a:tr>
              <a:tr h="736092">
                <a:tc>
                  <a:txBody>
                    <a:bodyPr wrap="square"/>
                    <a:lstStyle/>
                    <a:p>
                      <a:r>
                        <a:rPr sz="1100" b="1">
                          <a:solidFill>
                            <a:srgbClr val="0C2B4A"/>
                          </a:solidFill>
                        </a:rPr>
                        <a:t>Regulation</a:t>
                      </a:r>
                    </a:p>
                  </a:txBody>
                  <a:tcPr anchor="ctr" marL="73152" marR="54864" marT="27432" marB="27432">
                    <a:solidFill>
                      <a:srgbClr val="FFFFFF"/>
                    </a:solidFill>
                  </a:tcPr>
                </a:tc>
                <a:tc>
                  <a:txBody>
                    <a:bodyPr wrap="square"/>
                    <a:lstStyle/>
                    <a:p>
                      <a:r>
                        <a:rPr sz="1100">
                          <a:solidFill>
                            <a:srgbClr val="1A1A1A"/>
                          </a:solidFill>
                        </a:rPr>
                        <a:t>Law usually exists</a:t>
                      </a:r>
                    </a:p>
                  </a:txBody>
                  <a:tcPr anchor="ctr" marL="73152" marR="54864" marT="27432" marB="27432">
                    <a:solidFill>
                      <a:srgbClr val="FFFFFF"/>
                    </a:solidFill>
                  </a:tcPr>
                </a:tc>
                <a:tc>
                  <a:txBody>
                    <a:bodyPr wrap="square"/>
                    <a:lstStyle/>
                    <a:p>
                      <a:r>
                        <a:rPr sz="1100">
                          <a:solidFill>
                            <a:srgbClr val="1A1A1A"/>
                          </a:solidFill>
                        </a:rPr>
                        <a:t>Capability outruns the law</a:t>
                      </a:r>
                    </a:p>
                  </a:txBody>
                  <a:tcPr anchor="ctr" marL="73152" marR="54864" marT="27432" marB="27432">
                    <a:solidFill>
                      <a:srgbClr val="FFFFFF"/>
                    </a:solidFill>
                  </a:tcPr>
                </a:tc>
                <a:tc>
                  <a:txBody>
                    <a:bodyPr wrap="square"/>
                    <a:lstStyle/>
                    <a:p>
                      <a:r>
                        <a:rPr sz="1100">
                          <a:solidFill>
                            <a:srgbClr val="1A1A1A"/>
                          </a:solidFill>
                        </a:rPr>
                        <a:t>'Is it legal?' often has no answer yet</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Because the legal 'floor' is often missing in IT, your own ethics is frequently the only thing holding.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82 / 101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IT Raises Distinct Ethical Challenges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Personal data leaked from a Nepali online service spreads instantly and can never be fully recalled (scale + speed + permanence); viral election misinformation outruns the fact-checkers (speed). Both are everyday failures happening at machine scale.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"IT ethics is the same as normal ethics." The scale, speed, anonymity, and permanence of IT make the stakes and irreversibility far higher — and the law often hasn't caught up, so you can't lean on 'is it legal?'.</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IT raises distinct ethical challenges because of scale (millions affected at once), speed (harm spreads in seconds), anonymity (wrongdoers hide), permanence (data can't be erased), and a capability–regulation gap (technology outruns the law). This is why 'the law is only the floor' matters most in IT.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scale · speed · anonymity · permanence · capability–regulation gap</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83 / 101</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Real IT incidents — the factor that makes each worse</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286250"/>
                <a:gridCol w="2714625"/>
                <a:gridCol w="4429125"/>
              </a:tblGrid>
              <a:tr h="552069">
                <a:tc>
                  <a:txBody>
                    <a:bodyPr wrap="square"/>
                    <a:lstStyle/>
                    <a:p>
                      <a:r>
                        <a:rPr sz="1150" b="1">
                          <a:solidFill>
                            <a:srgbClr val="FFFFFF"/>
                          </a:solidFill>
                        </a:rPr>
                        <a:t>IT incident</a:t>
                      </a:r>
                    </a:p>
                  </a:txBody>
                  <a:tcPr anchor="ctr" marL="73152" marR="54864" marT="27432" marB="27432">
                    <a:solidFill>
                      <a:srgbClr val="0C2B4A"/>
                    </a:solidFill>
                  </a:tcPr>
                </a:tc>
                <a:tc>
                  <a:txBody>
                    <a:bodyPr wrap="square"/>
                    <a:lstStyle/>
                    <a:p>
                      <a:r>
                        <a:rPr sz="1150" b="1">
                          <a:solidFill>
                            <a:srgbClr val="FFFFFF"/>
                          </a:solidFill>
                        </a:rPr>
                        <a:t>Amplifying factor</a:t>
                      </a:r>
                    </a:p>
                  </a:txBody>
                  <a:tcPr anchor="ctr" marL="73152" marR="54864" marT="27432" marB="27432">
                    <a:solidFill>
                      <a:srgbClr val="0C2B4A"/>
                    </a:solidFill>
                  </a:tcPr>
                </a:tc>
                <a:tc>
                  <a:txBody>
                    <a:bodyPr wrap="square"/>
                    <a:lstStyle/>
                    <a:p>
                      <a:r>
                        <a:rPr sz="1150" b="1">
                          <a:solidFill>
                            <a:srgbClr val="FFFFFF"/>
                          </a:solidFill>
                        </a:rPr>
                        <a:t>Why it's worse than offline</a:t>
                      </a:r>
                    </a:p>
                  </a:txBody>
                  <a:tcPr anchor="ctr" marL="73152" marR="54864" marT="27432" marB="27432">
                    <a:solidFill>
                      <a:srgbClr val="0C2B4A"/>
                    </a:solidFill>
                  </a:tcPr>
                </a:tc>
              </a:tr>
              <a:tr h="552069">
                <a:tc>
                  <a:txBody>
                    <a:bodyPr wrap="square"/>
                    <a:lstStyle/>
                    <a:p>
                      <a:r>
                        <a:rPr sz="1100" b="1">
                          <a:solidFill>
                            <a:srgbClr val="0C2B4A"/>
                          </a:solidFill>
                        </a:rPr>
                        <a:t>Personal data leaked from a Nepali online service</a:t>
                      </a:r>
                    </a:p>
                  </a:txBody>
                  <a:tcPr anchor="ctr" marL="73152" marR="54864" marT="27432" marB="27432">
                    <a:solidFill>
                      <a:srgbClr val="FFFFFF"/>
                    </a:solidFill>
                  </a:tcPr>
                </a:tc>
                <a:tc>
                  <a:txBody>
                    <a:bodyPr wrap="square"/>
                    <a:lstStyle/>
                    <a:p>
                      <a:r>
                        <a:rPr sz="1100">
                          <a:solidFill>
                            <a:srgbClr val="1A1A1A"/>
                          </a:solidFill>
                        </a:rPr>
                        <a:t>Permanence + speed</a:t>
                      </a:r>
                    </a:p>
                  </a:txBody>
                  <a:tcPr anchor="ctr" marL="73152" marR="54864" marT="27432" marB="27432">
                    <a:solidFill>
                      <a:srgbClr val="FFFFFF"/>
                    </a:solidFill>
                  </a:tcPr>
                </a:tc>
                <a:tc>
                  <a:txBody>
                    <a:bodyPr wrap="square"/>
                    <a:lstStyle/>
                    <a:p>
                      <a:r>
                        <a:rPr sz="1100">
                          <a:solidFill>
                            <a:srgbClr val="1A1A1A"/>
                          </a:solidFill>
                        </a:rPr>
                        <a:t>It can never be fully recalled</a:t>
                      </a:r>
                    </a:p>
                  </a:txBody>
                  <a:tcPr anchor="ctr" marL="73152" marR="54864" marT="27432" marB="27432">
                    <a:solidFill>
                      <a:srgbClr val="FFFFFF"/>
                    </a:solidFill>
                  </a:tcPr>
                </a:tc>
              </a:tr>
              <a:tr h="552069">
                <a:tc>
                  <a:txBody>
                    <a:bodyPr wrap="square"/>
                    <a:lstStyle/>
                    <a:p>
                      <a:r>
                        <a:rPr sz="1100" b="1">
                          <a:solidFill>
                            <a:srgbClr val="0C2B4A"/>
                          </a:solidFill>
                        </a:rPr>
                        <a:t>A default privacy setting exposes millions of accounts</a:t>
                      </a:r>
                    </a:p>
                  </a:txBody>
                  <a:tcPr anchor="ctr" marL="73152" marR="54864" marT="27432" marB="27432">
                    <a:solidFill>
                      <a:srgbClr val="EEF3F8"/>
                    </a:solidFill>
                  </a:tcPr>
                </a:tc>
                <a:tc>
                  <a:txBody>
                    <a:bodyPr wrap="square"/>
                    <a:lstStyle/>
                    <a:p>
                      <a:r>
                        <a:rPr sz="1100">
                          <a:solidFill>
                            <a:srgbClr val="1A1A1A"/>
                          </a:solidFill>
                        </a:rPr>
                        <a:t>Scale</a:t>
                      </a:r>
                    </a:p>
                  </a:txBody>
                  <a:tcPr anchor="ctr" marL="73152" marR="54864" marT="27432" marB="27432">
                    <a:solidFill>
                      <a:srgbClr val="EEF3F8"/>
                    </a:solidFill>
                  </a:tcPr>
                </a:tc>
                <a:tc>
                  <a:txBody>
                    <a:bodyPr wrap="square"/>
                    <a:lstStyle/>
                    <a:p>
                      <a:r>
                        <a:rPr sz="1100">
                          <a:solidFill>
                            <a:srgbClr val="1A1A1A"/>
                          </a:solidFill>
                        </a:rPr>
                        <a:t>One choice harms a whole population</a:t>
                      </a:r>
                    </a:p>
                  </a:txBody>
                  <a:tcPr anchor="ctr" marL="73152" marR="54864" marT="27432" marB="27432">
                    <a:solidFill>
                      <a:srgbClr val="EEF3F8"/>
                    </a:solidFill>
                  </a:tcPr>
                </a:tc>
              </a:tr>
              <a:tr h="552069">
                <a:tc>
                  <a:txBody>
                    <a:bodyPr wrap="square"/>
                    <a:lstStyle/>
                    <a:p>
                      <a:r>
                        <a:rPr sz="1100" b="1">
                          <a:solidFill>
                            <a:srgbClr val="0C2B4A"/>
                          </a:solidFill>
                        </a:rPr>
                        <a:t>A viral election deepfake the night before voting</a:t>
                      </a:r>
                    </a:p>
                  </a:txBody>
                  <a:tcPr anchor="ctr" marL="73152" marR="54864" marT="27432" marB="27432">
                    <a:solidFill>
                      <a:srgbClr val="FFFFFF"/>
                    </a:solidFill>
                  </a:tcPr>
                </a:tc>
                <a:tc>
                  <a:txBody>
                    <a:bodyPr wrap="square"/>
                    <a:lstStyle/>
                    <a:p>
                      <a:r>
                        <a:rPr sz="1100">
                          <a:solidFill>
                            <a:srgbClr val="1A1A1A"/>
                          </a:solidFill>
                        </a:rPr>
                        <a:t>Speed</a:t>
                      </a:r>
                    </a:p>
                  </a:txBody>
                  <a:tcPr anchor="ctr" marL="73152" marR="54864" marT="27432" marB="27432">
                    <a:solidFill>
                      <a:srgbClr val="FFFFFF"/>
                    </a:solidFill>
                  </a:tcPr>
                </a:tc>
                <a:tc>
                  <a:txBody>
                    <a:bodyPr wrap="square"/>
                    <a:lstStyle/>
                    <a:p>
                      <a:r>
                        <a:rPr sz="1100">
                          <a:solidFill>
                            <a:srgbClr val="1A1A1A"/>
                          </a:solidFill>
                        </a:rPr>
                        <a:t>Outruns fact-checkers before anyone reacts</a:t>
                      </a:r>
                    </a:p>
                  </a:txBody>
                  <a:tcPr anchor="ctr" marL="73152" marR="54864" marT="27432" marB="27432">
                    <a:solidFill>
                      <a:srgbClr val="FFFFFF"/>
                    </a:solidFill>
                  </a:tcPr>
                </a:tc>
              </a:tr>
              <a:tr h="552069">
                <a:tc>
                  <a:txBody>
                    <a:bodyPr wrap="square"/>
                    <a:lstStyle/>
                    <a:p>
                      <a:r>
                        <a:rPr sz="1100" b="1">
                          <a:solidFill>
                            <a:srgbClr val="0C2B4A"/>
                          </a:solidFill>
                        </a:rPr>
                        <a:t>An anonymous account harasses a victim across borders</a:t>
                      </a:r>
                    </a:p>
                  </a:txBody>
                  <a:tcPr anchor="ctr" marL="73152" marR="54864" marT="27432" marB="27432">
                    <a:solidFill>
                      <a:srgbClr val="EEF3F8"/>
                    </a:solidFill>
                  </a:tcPr>
                </a:tc>
                <a:tc>
                  <a:txBody>
                    <a:bodyPr wrap="square"/>
                    <a:lstStyle/>
                    <a:p>
                      <a:r>
                        <a:rPr sz="1100">
                          <a:solidFill>
                            <a:srgbClr val="1A1A1A"/>
                          </a:solidFill>
                        </a:rPr>
                        <a:t>Anonymity</a:t>
                      </a:r>
                    </a:p>
                  </a:txBody>
                  <a:tcPr anchor="ctr" marL="73152" marR="54864" marT="27432" marB="27432">
                    <a:solidFill>
                      <a:srgbClr val="EEF3F8"/>
                    </a:solidFill>
                  </a:tcPr>
                </a:tc>
                <a:tc>
                  <a:txBody>
                    <a:bodyPr wrap="square"/>
                    <a:lstStyle/>
                    <a:p>
                      <a:r>
                        <a:rPr sz="1100">
                          <a:solidFill>
                            <a:srgbClr val="1A1A1A"/>
                          </a:solidFill>
                        </a:rPr>
                        <a:t>Hard to catch or hold accountable</a:t>
                      </a:r>
                    </a:p>
                  </a:txBody>
                  <a:tcPr anchor="ctr" marL="73152" marR="54864" marT="27432" marB="27432">
                    <a:solidFill>
                      <a:srgbClr val="EEF3F8"/>
                    </a:solidFill>
                  </a:tcPr>
                </a:tc>
              </a:tr>
              <a:tr h="552069">
                <a:tc>
                  <a:txBody>
                    <a:bodyPr wrap="square"/>
                    <a:lstStyle/>
                    <a:p>
                      <a:r>
                        <a:rPr sz="1100" b="1">
                          <a:solidFill>
                            <a:srgbClr val="0C2B4A"/>
                          </a:solidFill>
                        </a:rPr>
                        <a:t>A loan algorithm rejects an entire neighbourhood</a:t>
                      </a:r>
                    </a:p>
                  </a:txBody>
                  <a:tcPr anchor="ctr" marL="73152" marR="54864" marT="27432" marB="27432">
                    <a:solidFill>
                      <a:srgbClr val="FFFFFF"/>
                    </a:solidFill>
                  </a:tcPr>
                </a:tc>
                <a:tc>
                  <a:txBody>
                    <a:bodyPr wrap="square"/>
                    <a:lstStyle/>
                    <a:p>
                      <a:r>
                        <a:rPr sz="1100">
                          <a:solidFill>
                            <a:srgbClr val="1A1A1A"/>
                          </a:solidFill>
                        </a:rPr>
                        <a:t>Scale + accuracy</a:t>
                      </a:r>
                    </a:p>
                  </a:txBody>
                  <a:tcPr anchor="ctr" marL="73152" marR="54864" marT="27432" marB="27432">
                    <a:solidFill>
                      <a:srgbClr val="FFFFFF"/>
                    </a:solidFill>
                  </a:tcPr>
                </a:tc>
                <a:tc>
                  <a:txBody>
                    <a:bodyPr wrap="square"/>
                    <a:lstStyle/>
                    <a:p>
                      <a:r>
                        <a:rPr sz="1100">
                          <a:solidFill>
                            <a:srgbClr val="1A1A1A"/>
                          </a:solidFill>
                        </a:rPr>
                        <a:t>One model discriminates automatically</a:t>
                      </a:r>
                    </a:p>
                  </a:txBody>
                  <a:tcPr anchor="ctr" marL="73152" marR="54864" marT="27432" marB="27432">
                    <a:solidFill>
                      <a:srgbClr val="FFFFFF"/>
                    </a:solidFill>
                  </a:tcPr>
                </a:tc>
              </a:tr>
              <a:tr h="552069">
                <a:tc>
                  <a:txBody>
                    <a:bodyPr wrap="square"/>
                    <a:lstStyle/>
                    <a:p>
                      <a:r>
                        <a:rPr sz="1100" b="1">
                          <a:solidFill>
                            <a:srgbClr val="0C2B4A"/>
                          </a:solidFill>
                        </a:rPr>
                        <a:t>A leaked private photo re-shared across many groups</a:t>
                      </a:r>
                    </a:p>
                  </a:txBody>
                  <a:tcPr anchor="ctr" marL="73152" marR="54864" marT="27432" marB="27432">
                    <a:solidFill>
                      <a:srgbClr val="EEF3F8"/>
                    </a:solidFill>
                  </a:tcPr>
                </a:tc>
                <a:tc>
                  <a:txBody>
                    <a:bodyPr wrap="square"/>
                    <a:lstStyle/>
                    <a:p>
                      <a:r>
                        <a:rPr sz="1100">
                          <a:solidFill>
                            <a:srgbClr val="1A1A1A"/>
                          </a:solidFill>
                        </a:rPr>
                        <a:t>Permanence</a:t>
                      </a:r>
                    </a:p>
                  </a:txBody>
                  <a:tcPr anchor="ctr" marL="73152" marR="54864" marT="27432" marB="27432">
                    <a:solidFill>
                      <a:srgbClr val="EEF3F8"/>
                    </a:solidFill>
                  </a:tcPr>
                </a:tc>
                <a:tc>
                  <a:txBody>
                    <a:bodyPr wrap="square"/>
                    <a:lstStyle/>
                    <a:p>
                      <a:r>
                        <a:rPr sz="1100">
                          <a:solidFill>
                            <a:srgbClr val="1A1A1A"/>
                          </a:solidFill>
                        </a:rPr>
                        <a:t>A screenshot is forever</a:t>
                      </a:r>
                    </a:p>
                  </a:txBody>
                  <a:tcPr anchor="ctr" marL="73152" marR="54864" marT="27432" marB="27432">
                    <a:solidFill>
                      <a:srgbClr val="EEF3F8"/>
                    </a:solidFill>
                  </a:tcPr>
                </a:tc>
              </a:tr>
              <a:tr h="552069">
                <a:tc>
                  <a:txBody>
                    <a:bodyPr wrap="square"/>
                    <a:lstStyle/>
                    <a:p>
                      <a:r>
                        <a:rPr sz="1100" b="1">
                          <a:solidFill>
                            <a:srgbClr val="0C2B4A"/>
                          </a:solidFill>
                        </a:rPr>
                        <a:t>A new AI tool with no law yet governing its use</a:t>
                      </a:r>
                    </a:p>
                  </a:txBody>
                  <a:tcPr anchor="ctr" marL="73152" marR="54864" marT="27432" marB="27432">
                    <a:solidFill>
                      <a:srgbClr val="FFFFFF"/>
                    </a:solidFill>
                  </a:tcPr>
                </a:tc>
                <a:tc>
                  <a:txBody>
                    <a:bodyPr wrap="square"/>
                    <a:lstStyle/>
                    <a:p>
                      <a:r>
                        <a:rPr sz="1100">
                          <a:solidFill>
                            <a:srgbClr val="1A1A1A"/>
                          </a:solidFill>
                        </a:rPr>
                        <a:t>Capability-regulation gap</a:t>
                      </a:r>
                    </a:p>
                  </a:txBody>
                  <a:tcPr anchor="ctr" marL="73152" marR="54864" marT="27432" marB="27432">
                    <a:solidFill>
                      <a:srgbClr val="FFFFFF"/>
                    </a:solidFill>
                  </a:tcPr>
                </a:tc>
                <a:tc>
                  <a:txBody>
                    <a:bodyPr wrap="square"/>
                    <a:lstStyle/>
                    <a:p>
                      <a:r>
                        <a:rPr sz="1100">
                          <a:solidFill>
                            <a:srgbClr val="1A1A1A"/>
                          </a:solidFill>
                        </a:rPr>
                        <a:t>'Is it legal?' has no answer yet</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Because the legal 'floor' is often missing in IT, your own ethics is frequently the only thing holding — this is where 'law is only the floor' matters most.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84 / 101</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Pillars — 'PAPA'</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PAPA names the four core IT-ethics themes — Privacy, Accuracy, Property, Access — and doubles as a map of the whole IT 246 course.</a:t>
            </a:r>
          </a:p>
          <a:p>
            <a:pPr>
              <a:spcAft>
                <a:spcPts val="500"/>
              </a:spcAft>
            </a:pPr>
            <a:r>
              <a:rPr sz="1200" b="1">
                <a:solidFill>
                  <a:srgbClr val="185FA5"/>
                </a:solidFill>
              </a:rPr>
              <a:t>HOW IT WORKS</a:t>
            </a:r>
          </a:p>
          <a:p>
            <a:pPr>
              <a:spcAft>
                <a:spcPts val="600"/>
              </a:spcAft>
            </a:pPr>
            <a:r>
              <a:rPr sz="1400">
                <a:solidFill>
                  <a:srgbClr val="1A1A1A"/>
                </a:solidFill>
              </a:rPr>
              <a:t>•  Privacy — who can collect and see your data? (→ Unit 2 privacy, Unit 9 law).</a:t>
            </a:r>
          </a:p>
          <a:p>
            <a:pPr>
              <a:spcAft>
                <a:spcPts val="600"/>
              </a:spcAft>
            </a:pPr>
            <a:r>
              <a:rPr sz="1400">
                <a:solidFill>
                  <a:srgbClr val="1A1A1A"/>
                </a:solidFill>
              </a:rPr>
              <a:t>•  Accuracy — who's responsible when data or an algorithm is WRONG and someone is harmed?</a:t>
            </a:r>
          </a:p>
          <a:p>
            <a:pPr>
              <a:spcAft>
                <a:spcPts val="600"/>
              </a:spcAft>
            </a:pPr>
            <a:r>
              <a:rPr sz="1400">
                <a:solidFill>
                  <a:srgbClr val="1A1A1A"/>
                </a:solidFill>
              </a:rPr>
              <a:t>•  Property — who OWNS information and software? (→ Unit 3 intellectual property).</a:t>
            </a:r>
          </a:p>
          <a:p>
            <a:pPr>
              <a:spcAft>
                <a:spcPts val="600"/>
              </a:spcAft>
            </a:pPr>
            <a:r>
              <a:rPr sz="1400">
                <a:solidFill>
                  <a:srgbClr val="1A1A1A"/>
                </a:solidFill>
              </a:rPr>
              <a:t>•  Access — who gets to use technology, and who's left out (the digital divide)? Security threads through all four (→ Units 5–8).</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Privacy · Accuracy · Property · Access — the map of the whole course.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85 / 101</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PAPA — the four pillars mapped to examples &amp; course units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1571625"/>
                <a:gridCol w="3429000"/>
                <a:gridCol w="3429000"/>
                <a:gridCol w="3000375"/>
              </a:tblGrid>
              <a:tr h="883310">
                <a:tc>
                  <a:txBody>
                    <a:bodyPr wrap="square"/>
                    <a:lstStyle/>
                    <a:p>
                      <a:r>
                        <a:rPr sz="1150" b="1">
                          <a:solidFill>
                            <a:srgbClr val="FFFFFF"/>
                          </a:solidFill>
                        </a:rPr>
                        <a:t>Pillar</a:t>
                      </a:r>
                    </a:p>
                  </a:txBody>
                  <a:tcPr anchor="ctr" marL="73152" marR="54864" marT="27432" marB="27432">
                    <a:solidFill>
                      <a:srgbClr val="0C2B4A"/>
                    </a:solidFill>
                  </a:tcPr>
                </a:tc>
                <a:tc>
                  <a:txBody>
                    <a:bodyPr wrap="square"/>
                    <a:lstStyle/>
                    <a:p>
                      <a:r>
                        <a:rPr sz="1150" b="1">
                          <a:solidFill>
                            <a:srgbClr val="FFFFFF"/>
                          </a:solidFill>
                        </a:rPr>
                        <a:t>The question it raises</a:t>
                      </a:r>
                    </a:p>
                  </a:txBody>
                  <a:tcPr anchor="ctr" marL="73152" marR="54864" marT="27432" marB="27432">
                    <a:solidFill>
                      <a:srgbClr val="0C2B4A"/>
                    </a:solidFill>
                  </a:tcPr>
                </a:tc>
                <a:tc>
                  <a:txBody>
                    <a:bodyPr wrap="square"/>
                    <a:lstStyle/>
                    <a:p>
                      <a:r>
                        <a:rPr sz="1150" b="1">
                          <a:solidFill>
                            <a:srgbClr val="FFFFFF"/>
                          </a:solidFill>
                        </a:rPr>
                        <a:t>Example</a:t>
                      </a:r>
                    </a:p>
                  </a:txBody>
                  <a:tcPr anchor="ctr" marL="73152" marR="54864" marT="27432" marB="27432">
                    <a:solidFill>
                      <a:srgbClr val="0C2B4A"/>
                    </a:solidFill>
                  </a:tcPr>
                </a:tc>
                <a:tc>
                  <a:txBody>
                    <a:bodyPr wrap="square"/>
                    <a:lstStyle/>
                    <a:p>
                      <a:r>
                        <a:rPr sz="1150" b="1">
                          <a:solidFill>
                            <a:srgbClr val="FFFFFF"/>
                          </a:solidFill>
                        </a:rPr>
                        <a:t>Where in this course</a:t>
                      </a:r>
                    </a:p>
                  </a:txBody>
                  <a:tcPr anchor="ctr" marL="73152" marR="54864" marT="27432" marB="27432">
                    <a:solidFill>
                      <a:srgbClr val="0C2B4A"/>
                    </a:solidFill>
                  </a:tcPr>
                </a:tc>
              </a:tr>
              <a:tr h="883310">
                <a:tc>
                  <a:txBody>
                    <a:bodyPr wrap="square"/>
                    <a:lstStyle/>
                    <a:p>
                      <a:r>
                        <a:rPr sz="1100" b="1">
                          <a:solidFill>
                            <a:srgbClr val="0C2B4A"/>
                          </a:solidFill>
                        </a:rPr>
                        <a:t>Privacy</a:t>
                      </a:r>
                    </a:p>
                  </a:txBody>
                  <a:tcPr anchor="ctr" marL="73152" marR="54864" marT="27432" marB="27432">
                    <a:solidFill>
                      <a:srgbClr val="FFFFFF"/>
                    </a:solidFill>
                  </a:tcPr>
                </a:tc>
                <a:tc>
                  <a:txBody>
                    <a:bodyPr wrap="square"/>
                    <a:lstStyle/>
                    <a:p>
                      <a:r>
                        <a:rPr sz="1100">
                          <a:solidFill>
                            <a:srgbClr val="1A1A1A"/>
                          </a:solidFill>
                        </a:rPr>
                        <a:t>Who can collect and see your data?</a:t>
                      </a:r>
                    </a:p>
                  </a:txBody>
                  <a:tcPr anchor="ctr" marL="73152" marR="54864" marT="27432" marB="27432">
                    <a:solidFill>
                      <a:srgbClr val="FFFFFF"/>
                    </a:solidFill>
                  </a:tcPr>
                </a:tc>
                <a:tc>
                  <a:txBody>
                    <a:bodyPr wrap="square"/>
                    <a:lstStyle/>
                    <a:p>
                      <a:r>
                        <a:rPr sz="1100">
                          <a:solidFill>
                            <a:srgbClr val="1A1A1A"/>
                          </a:solidFill>
                        </a:rPr>
                        <a:t>An app sells your location data</a:t>
                      </a:r>
                    </a:p>
                  </a:txBody>
                  <a:tcPr anchor="ctr" marL="73152" marR="54864" marT="27432" marB="27432">
                    <a:solidFill>
                      <a:srgbClr val="FFFFFF"/>
                    </a:solidFill>
                  </a:tcPr>
                </a:tc>
                <a:tc>
                  <a:txBody>
                    <a:bodyPr wrap="square"/>
                    <a:lstStyle/>
                    <a:p>
                      <a:r>
                        <a:rPr sz="1100">
                          <a:solidFill>
                            <a:srgbClr val="1A1A1A"/>
                          </a:solidFill>
                        </a:rPr>
                        <a:t>Unit 2 (privacy), Unit 9 (law)</a:t>
                      </a:r>
                    </a:p>
                  </a:txBody>
                  <a:tcPr anchor="ctr" marL="73152" marR="54864" marT="27432" marB="27432">
                    <a:solidFill>
                      <a:srgbClr val="FFFFFF"/>
                    </a:solidFill>
                  </a:tcPr>
                </a:tc>
              </a:tr>
              <a:tr h="883310">
                <a:tc>
                  <a:txBody>
                    <a:bodyPr wrap="square"/>
                    <a:lstStyle/>
                    <a:p>
                      <a:r>
                        <a:rPr sz="1100" b="1">
                          <a:solidFill>
                            <a:srgbClr val="0C2B4A"/>
                          </a:solidFill>
                        </a:rPr>
                        <a:t>Accuracy</a:t>
                      </a:r>
                    </a:p>
                  </a:txBody>
                  <a:tcPr anchor="ctr" marL="73152" marR="54864" marT="27432" marB="27432">
                    <a:solidFill>
                      <a:srgbClr val="EEF3F8"/>
                    </a:solidFill>
                  </a:tcPr>
                </a:tc>
                <a:tc>
                  <a:txBody>
                    <a:bodyPr wrap="square"/>
                    <a:lstStyle/>
                    <a:p>
                      <a:r>
                        <a:rPr sz="1100">
                          <a:solidFill>
                            <a:srgbClr val="1A1A1A"/>
                          </a:solidFill>
                        </a:rPr>
                        <a:t>Who's responsible when data/an algorithm is wrong?</a:t>
                      </a:r>
                    </a:p>
                  </a:txBody>
                  <a:tcPr anchor="ctr" marL="73152" marR="54864" marT="27432" marB="27432">
                    <a:solidFill>
                      <a:srgbClr val="EEF3F8"/>
                    </a:solidFill>
                  </a:tcPr>
                </a:tc>
                <a:tc>
                  <a:txBody>
                    <a:bodyPr wrap="square"/>
                    <a:lstStyle/>
                    <a:p>
                      <a:r>
                        <a:rPr sz="1100">
                          <a:solidFill>
                            <a:srgbClr val="1A1A1A"/>
                          </a:solidFill>
                        </a:rPr>
                        <a:t>A biased loan algorithm wrongly rejects you</a:t>
                      </a:r>
                    </a:p>
                  </a:txBody>
                  <a:tcPr anchor="ctr" marL="73152" marR="54864" marT="27432" marB="27432">
                    <a:solidFill>
                      <a:srgbClr val="EEF3F8"/>
                    </a:solidFill>
                  </a:tcPr>
                </a:tc>
                <a:tc>
                  <a:txBody>
                    <a:bodyPr wrap="square"/>
                    <a:lstStyle/>
                    <a:p>
                      <a:r>
                        <a:rPr sz="1100">
                          <a:solidFill>
                            <a:srgbClr val="1A1A1A"/>
                          </a:solidFill>
                        </a:rPr>
                        <a:t>This unit; cybersecurity units</a:t>
                      </a:r>
                    </a:p>
                  </a:txBody>
                  <a:tcPr anchor="ctr" marL="73152" marR="54864" marT="27432" marB="27432">
                    <a:solidFill>
                      <a:srgbClr val="EEF3F8"/>
                    </a:solidFill>
                  </a:tcPr>
                </a:tc>
              </a:tr>
              <a:tr h="883310">
                <a:tc>
                  <a:txBody>
                    <a:bodyPr wrap="square"/>
                    <a:lstStyle/>
                    <a:p>
                      <a:r>
                        <a:rPr sz="1100" b="1">
                          <a:solidFill>
                            <a:srgbClr val="0C2B4A"/>
                          </a:solidFill>
                        </a:rPr>
                        <a:t>Property</a:t>
                      </a:r>
                    </a:p>
                  </a:txBody>
                  <a:tcPr anchor="ctr" marL="73152" marR="54864" marT="27432" marB="27432">
                    <a:solidFill>
                      <a:srgbClr val="FFFFFF"/>
                    </a:solidFill>
                  </a:tcPr>
                </a:tc>
                <a:tc>
                  <a:txBody>
                    <a:bodyPr wrap="square"/>
                    <a:lstStyle/>
                    <a:p>
                      <a:r>
                        <a:rPr sz="1100">
                          <a:solidFill>
                            <a:srgbClr val="1A1A1A"/>
                          </a:solidFill>
                        </a:rPr>
                        <a:t>Who owns information and software?</a:t>
                      </a:r>
                    </a:p>
                  </a:txBody>
                  <a:tcPr anchor="ctr" marL="73152" marR="54864" marT="27432" marB="27432">
                    <a:solidFill>
                      <a:srgbClr val="FFFFFF"/>
                    </a:solidFill>
                  </a:tcPr>
                </a:tc>
                <a:tc>
                  <a:txBody>
                    <a:bodyPr wrap="square"/>
                    <a:lstStyle/>
                    <a:p>
                      <a:r>
                        <a:rPr sz="1100">
                          <a:solidFill>
                            <a:srgbClr val="1A1A1A"/>
                          </a:solidFill>
                        </a:rPr>
                        <a:t>Pirating software; stealing a code repo</a:t>
                      </a:r>
                    </a:p>
                  </a:txBody>
                  <a:tcPr anchor="ctr" marL="73152" marR="54864" marT="27432" marB="27432">
                    <a:solidFill>
                      <a:srgbClr val="FFFFFF"/>
                    </a:solidFill>
                  </a:tcPr>
                </a:tc>
                <a:tc>
                  <a:txBody>
                    <a:bodyPr wrap="square"/>
                    <a:lstStyle/>
                    <a:p>
                      <a:r>
                        <a:rPr sz="1100">
                          <a:solidFill>
                            <a:srgbClr val="1A1A1A"/>
                          </a:solidFill>
                        </a:rPr>
                        <a:t>Unit 3 (intellectual property)</a:t>
                      </a:r>
                    </a:p>
                  </a:txBody>
                  <a:tcPr anchor="ctr" marL="73152" marR="54864" marT="27432" marB="27432">
                    <a:solidFill>
                      <a:srgbClr val="FFFFFF"/>
                    </a:solidFill>
                  </a:tcPr>
                </a:tc>
              </a:tr>
              <a:tr h="883312">
                <a:tc>
                  <a:txBody>
                    <a:bodyPr wrap="square"/>
                    <a:lstStyle/>
                    <a:p>
                      <a:r>
                        <a:rPr sz="1100" b="1">
                          <a:solidFill>
                            <a:srgbClr val="0C2B4A"/>
                          </a:solidFill>
                        </a:rPr>
                        <a:t>Access</a:t>
                      </a:r>
                    </a:p>
                  </a:txBody>
                  <a:tcPr anchor="ctr" marL="73152" marR="54864" marT="27432" marB="27432">
                    <a:solidFill>
                      <a:srgbClr val="EEF3F8"/>
                    </a:solidFill>
                  </a:tcPr>
                </a:tc>
                <a:tc>
                  <a:txBody>
                    <a:bodyPr wrap="square"/>
                    <a:lstStyle/>
                    <a:p>
                      <a:r>
                        <a:rPr sz="1100">
                          <a:solidFill>
                            <a:srgbClr val="1A1A1A"/>
                          </a:solidFill>
                        </a:rPr>
                        <a:t>Who gets to use tech — and who's left out?</a:t>
                      </a:r>
                    </a:p>
                  </a:txBody>
                  <a:tcPr anchor="ctr" marL="73152" marR="54864" marT="27432" marB="27432">
                    <a:solidFill>
                      <a:srgbClr val="EEF3F8"/>
                    </a:solidFill>
                  </a:tcPr>
                </a:tc>
                <a:tc>
                  <a:txBody>
                    <a:bodyPr wrap="square"/>
                    <a:lstStyle/>
                    <a:p>
                      <a:r>
                        <a:rPr sz="1100">
                          <a:solidFill>
                            <a:srgbClr val="1A1A1A"/>
                          </a:solidFill>
                        </a:rPr>
                        <a:t>The rural digital divide</a:t>
                      </a:r>
                    </a:p>
                  </a:txBody>
                  <a:tcPr anchor="ctr" marL="73152" marR="54864" marT="27432" marB="27432">
                    <a:solidFill>
                      <a:srgbClr val="EEF3F8"/>
                    </a:solidFill>
                  </a:tcPr>
                </a:tc>
                <a:tc>
                  <a:txBody>
                    <a:bodyPr wrap="square"/>
                    <a:lstStyle/>
                    <a:p>
                      <a:r>
                        <a:rPr sz="1100">
                          <a:solidFill>
                            <a:srgbClr val="1A1A1A"/>
                          </a:solidFill>
                        </a:rPr>
                        <a:t>Course-wide; policy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Security threads through all four pillars (Units 5–8) — so this single table is a map of the entire IT 246 course.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86 / 101</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Pillars — 'PAPA'</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service leaking personal data is a Privacy + security failure; viral misinformation after a disaster is an Accuracy failure; pirating software is a Property issue; the rural digital divide is an Access issue. PAPA lets you name any IT-ethics concern precisely.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"It's just technology — the tool is neutral." Technology is NOT value-neutral: what you build, what data you collect, and how an algorithm decides all encode human values and bias. A model trained on biased data discriminates automatically, at scale.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PAPA framework names four core IT-ethics themes: Privacy (who sees your data), Accuracy (responsibility for wrong data/algorithms), Property (who owns information/software), and Access (who can use technology and who is excluded). Security runs through all four; together they map the whole course.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PAPA · Privacy · Accuracy · Property · Access · technology is not value-neutral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87 / 101</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Name the pillar — real IT / Nepal concerns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857750"/>
                <a:gridCol w="2000250"/>
                <a:gridCol w="4572000"/>
              </a:tblGrid>
              <a:tr h="552069">
                <a:tc>
                  <a:txBody>
                    <a:bodyPr wrap="square"/>
                    <a:lstStyle/>
                    <a:p>
                      <a:r>
                        <a:rPr sz="1150" b="1">
                          <a:solidFill>
                            <a:srgbClr val="FFFFFF"/>
                          </a:solidFill>
                        </a:rPr>
                        <a:t>Real concern</a:t>
                      </a:r>
                    </a:p>
                  </a:txBody>
                  <a:tcPr anchor="ctr" marL="73152" marR="54864" marT="27432" marB="27432">
                    <a:solidFill>
                      <a:srgbClr val="0C2B4A"/>
                    </a:solidFill>
                  </a:tcPr>
                </a:tc>
                <a:tc>
                  <a:txBody>
                    <a:bodyPr wrap="square"/>
                    <a:lstStyle/>
                    <a:p>
                      <a:r>
                        <a:rPr sz="1150" b="1">
                          <a:solidFill>
                            <a:srgbClr val="FFFFFF"/>
                          </a:solidFill>
                        </a:rPr>
                        <a:t>PAPA pillar</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552069">
                <a:tc>
                  <a:txBody>
                    <a:bodyPr wrap="square"/>
                    <a:lstStyle/>
                    <a:p>
                      <a:r>
                        <a:rPr sz="1100" b="1">
                          <a:solidFill>
                            <a:srgbClr val="0C2B4A"/>
                          </a:solidFill>
                        </a:rPr>
                        <a:t>An app sells your location data to advertisers</a:t>
                      </a:r>
                    </a:p>
                  </a:txBody>
                  <a:tcPr anchor="ctr" marL="73152" marR="54864" marT="27432" marB="27432">
                    <a:solidFill>
                      <a:srgbClr val="FFFFFF"/>
                    </a:solidFill>
                  </a:tcPr>
                </a:tc>
                <a:tc>
                  <a:txBody>
                    <a:bodyPr wrap="square"/>
                    <a:lstStyle/>
                    <a:p>
                      <a:r>
                        <a:rPr sz="1100">
                          <a:solidFill>
                            <a:srgbClr val="1A1A1A"/>
                          </a:solidFill>
                        </a:rPr>
                        <a:t>Privacy</a:t>
                      </a:r>
                    </a:p>
                  </a:txBody>
                  <a:tcPr anchor="ctr" marL="73152" marR="54864" marT="27432" marB="27432">
                    <a:solidFill>
                      <a:srgbClr val="FFFFFF"/>
                    </a:solidFill>
                  </a:tcPr>
                </a:tc>
                <a:tc>
                  <a:txBody>
                    <a:bodyPr wrap="square"/>
                    <a:lstStyle/>
                    <a:p>
                      <a:r>
                        <a:rPr sz="1100">
                          <a:solidFill>
                            <a:srgbClr val="1A1A1A"/>
                          </a:solidFill>
                        </a:rPr>
                        <a:t>Who can collect and see your data</a:t>
                      </a:r>
                    </a:p>
                  </a:txBody>
                  <a:tcPr anchor="ctr" marL="73152" marR="54864" marT="27432" marB="27432">
                    <a:solidFill>
                      <a:srgbClr val="FFFFFF"/>
                    </a:solidFill>
                  </a:tcPr>
                </a:tc>
              </a:tr>
              <a:tr h="552069">
                <a:tc>
                  <a:txBody>
                    <a:bodyPr wrap="square"/>
                    <a:lstStyle/>
                    <a:p>
                      <a:r>
                        <a:rPr sz="1100" b="1">
                          <a:solidFill>
                            <a:srgbClr val="0C2B4A"/>
                          </a:solidFill>
                        </a:rPr>
                        <a:t>A wallet reuses your transaction history without consent</a:t>
                      </a:r>
                    </a:p>
                  </a:txBody>
                  <a:tcPr anchor="ctr" marL="73152" marR="54864" marT="27432" marB="27432">
                    <a:solidFill>
                      <a:srgbClr val="EEF3F8"/>
                    </a:solidFill>
                  </a:tcPr>
                </a:tc>
                <a:tc>
                  <a:txBody>
                    <a:bodyPr wrap="square"/>
                    <a:lstStyle/>
                    <a:p>
                      <a:r>
                        <a:rPr sz="1100">
                          <a:solidFill>
                            <a:srgbClr val="1A1A1A"/>
                          </a:solidFill>
                        </a:rPr>
                        <a:t>Privacy</a:t>
                      </a:r>
                    </a:p>
                  </a:txBody>
                  <a:tcPr anchor="ctr" marL="73152" marR="54864" marT="27432" marB="27432">
                    <a:solidFill>
                      <a:srgbClr val="EEF3F8"/>
                    </a:solidFill>
                  </a:tcPr>
                </a:tc>
                <a:tc>
                  <a:txBody>
                    <a:bodyPr wrap="square"/>
                    <a:lstStyle/>
                    <a:p>
                      <a:r>
                        <a:rPr sz="1100">
                          <a:solidFill>
                            <a:srgbClr val="1A1A1A"/>
                          </a:solidFill>
                        </a:rPr>
                        <a:t>Data used beyond what you agreed to</a:t>
                      </a:r>
                    </a:p>
                  </a:txBody>
                  <a:tcPr anchor="ctr" marL="73152" marR="54864" marT="27432" marB="27432">
                    <a:solidFill>
                      <a:srgbClr val="EEF3F8"/>
                    </a:solidFill>
                  </a:tcPr>
                </a:tc>
              </a:tr>
              <a:tr h="552069">
                <a:tc>
                  <a:txBody>
                    <a:bodyPr wrap="square"/>
                    <a:lstStyle/>
                    <a:p>
                      <a:r>
                        <a:rPr sz="1100" b="1">
                          <a:solidFill>
                            <a:srgbClr val="0C2B4A"/>
                          </a:solidFill>
                        </a:rPr>
                        <a:t>A biased loan algorithm wrongly rejects you</a:t>
                      </a:r>
                    </a:p>
                  </a:txBody>
                  <a:tcPr anchor="ctr" marL="73152" marR="54864" marT="27432" marB="27432">
                    <a:solidFill>
                      <a:srgbClr val="FFFFFF"/>
                    </a:solidFill>
                  </a:tcPr>
                </a:tc>
                <a:tc>
                  <a:txBody>
                    <a:bodyPr wrap="square"/>
                    <a:lstStyle/>
                    <a:p>
                      <a:r>
                        <a:rPr sz="1100">
                          <a:solidFill>
                            <a:srgbClr val="1A1A1A"/>
                          </a:solidFill>
                        </a:rPr>
                        <a:t>Accuracy</a:t>
                      </a:r>
                    </a:p>
                  </a:txBody>
                  <a:tcPr anchor="ctr" marL="73152" marR="54864" marT="27432" marB="27432">
                    <a:solidFill>
                      <a:srgbClr val="FFFFFF"/>
                    </a:solidFill>
                  </a:tcPr>
                </a:tc>
                <a:tc>
                  <a:txBody>
                    <a:bodyPr wrap="square"/>
                    <a:lstStyle/>
                    <a:p>
                      <a:r>
                        <a:rPr sz="1100">
                          <a:solidFill>
                            <a:srgbClr val="1A1A1A"/>
                          </a:solidFill>
                        </a:rPr>
                        <a:t>Responsibility when the algorithm is wrong</a:t>
                      </a:r>
                    </a:p>
                  </a:txBody>
                  <a:tcPr anchor="ctr" marL="73152" marR="54864" marT="27432" marB="27432">
                    <a:solidFill>
                      <a:srgbClr val="FFFFFF"/>
                    </a:solidFill>
                  </a:tcPr>
                </a:tc>
              </a:tr>
              <a:tr h="552069">
                <a:tc>
                  <a:txBody>
                    <a:bodyPr wrap="square"/>
                    <a:lstStyle/>
                    <a:p>
                      <a:r>
                        <a:rPr sz="1100" b="1">
                          <a:solidFill>
                            <a:srgbClr val="0C2B4A"/>
                          </a:solidFill>
                        </a:rPr>
                        <a:t>Wrong info on a government portal blocks your service</a:t>
                      </a:r>
                    </a:p>
                  </a:txBody>
                  <a:tcPr anchor="ctr" marL="73152" marR="54864" marT="27432" marB="27432">
                    <a:solidFill>
                      <a:srgbClr val="EEF3F8"/>
                    </a:solidFill>
                  </a:tcPr>
                </a:tc>
                <a:tc>
                  <a:txBody>
                    <a:bodyPr wrap="square"/>
                    <a:lstStyle/>
                    <a:p>
                      <a:r>
                        <a:rPr sz="1100">
                          <a:solidFill>
                            <a:srgbClr val="1A1A1A"/>
                          </a:solidFill>
                        </a:rPr>
                        <a:t>Accuracy</a:t>
                      </a:r>
                    </a:p>
                  </a:txBody>
                  <a:tcPr anchor="ctr" marL="73152" marR="54864" marT="27432" marB="27432">
                    <a:solidFill>
                      <a:srgbClr val="EEF3F8"/>
                    </a:solidFill>
                  </a:tcPr>
                </a:tc>
                <a:tc>
                  <a:txBody>
                    <a:bodyPr wrap="square"/>
                    <a:lstStyle/>
                    <a:p>
                      <a:r>
                        <a:rPr sz="1100">
                          <a:solidFill>
                            <a:srgbClr val="1A1A1A"/>
                          </a:solidFill>
                        </a:rPr>
                        <a:t>Harm from incorrect data</a:t>
                      </a:r>
                    </a:p>
                  </a:txBody>
                  <a:tcPr anchor="ctr" marL="73152" marR="54864" marT="27432" marB="27432">
                    <a:solidFill>
                      <a:srgbClr val="EEF3F8"/>
                    </a:solidFill>
                  </a:tcPr>
                </a:tc>
              </a:tr>
              <a:tr h="552069">
                <a:tc>
                  <a:txBody>
                    <a:bodyPr wrap="square"/>
                    <a:lstStyle/>
                    <a:p>
                      <a:r>
                        <a:rPr sz="1100" b="1">
                          <a:solidFill>
                            <a:srgbClr val="0C2B4A"/>
                          </a:solidFill>
                        </a:rPr>
                        <a:t>Pirating Windows/Adobe or copying a code repo</a:t>
                      </a:r>
                    </a:p>
                  </a:txBody>
                  <a:tcPr anchor="ctr" marL="73152" marR="54864" marT="27432" marB="27432">
                    <a:solidFill>
                      <a:srgbClr val="FFFFFF"/>
                    </a:solidFill>
                  </a:tcPr>
                </a:tc>
                <a:tc>
                  <a:txBody>
                    <a:bodyPr wrap="square"/>
                    <a:lstStyle/>
                    <a:p>
                      <a:r>
                        <a:rPr sz="1100">
                          <a:solidFill>
                            <a:srgbClr val="1A1A1A"/>
                          </a:solidFill>
                        </a:rPr>
                        <a:t>Property</a:t>
                      </a:r>
                    </a:p>
                  </a:txBody>
                  <a:tcPr anchor="ctr" marL="73152" marR="54864" marT="27432" marB="27432">
                    <a:solidFill>
                      <a:srgbClr val="FFFFFF"/>
                    </a:solidFill>
                  </a:tcPr>
                </a:tc>
                <a:tc>
                  <a:txBody>
                    <a:bodyPr wrap="square"/>
                    <a:lstStyle/>
                    <a:p>
                      <a:r>
                        <a:rPr sz="1100">
                          <a:solidFill>
                            <a:srgbClr val="1A1A1A"/>
                          </a:solidFill>
                        </a:rPr>
                        <a:t>Who owns software and information</a:t>
                      </a:r>
                    </a:p>
                  </a:txBody>
                  <a:tcPr anchor="ctr" marL="73152" marR="54864" marT="27432" marB="27432">
                    <a:solidFill>
                      <a:srgbClr val="FFFFFF"/>
                    </a:solidFill>
                  </a:tcPr>
                </a:tc>
              </a:tr>
              <a:tr h="552069">
                <a:tc>
                  <a:txBody>
                    <a:bodyPr wrap="square"/>
                    <a:lstStyle/>
                    <a:p>
                      <a:r>
                        <a:rPr sz="1100" b="1">
                          <a:solidFill>
                            <a:srgbClr val="0C2B4A"/>
                          </a:solidFill>
                        </a:rPr>
                        <a:t>Villages with no internet miss e-services (Nagarik App)</a:t>
                      </a:r>
                    </a:p>
                  </a:txBody>
                  <a:tcPr anchor="ctr" marL="73152" marR="54864" marT="27432" marB="27432">
                    <a:solidFill>
                      <a:srgbClr val="EEF3F8"/>
                    </a:solidFill>
                  </a:tcPr>
                </a:tc>
                <a:tc>
                  <a:txBody>
                    <a:bodyPr wrap="square"/>
                    <a:lstStyle/>
                    <a:p>
                      <a:r>
                        <a:rPr sz="1100">
                          <a:solidFill>
                            <a:srgbClr val="1A1A1A"/>
                          </a:solidFill>
                        </a:rPr>
                        <a:t>Access</a:t>
                      </a:r>
                    </a:p>
                  </a:txBody>
                  <a:tcPr anchor="ctr" marL="73152" marR="54864" marT="27432" marB="27432">
                    <a:solidFill>
                      <a:srgbClr val="EEF3F8"/>
                    </a:solidFill>
                  </a:tcPr>
                </a:tc>
                <a:tc>
                  <a:txBody>
                    <a:bodyPr wrap="square"/>
                    <a:lstStyle/>
                    <a:p>
                      <a:r>
                        <a:rPr sz="1100">
                          <a:solidFill>
                            <a:srgbClr val="1A1A1A"/>
                          </a:solidFill>
                        </a:rPr>
                        <a:t>Who is left out — the digital divide</a:t>
                      </a:r>
                    </a:p>
                  </a:txBody>
                  <a:tcPr anchor="ctr" marL="73152" marR="54864" marT="27432" marB="27432">
                    <a:solidFill>
                      <a:srgbClr val="EEF3F8"/>
                    </a:solidFill>
                  </a:tcPr>
                </a:tc>
              </a:tr>
              <a:tr h="552069">
                <a:tc>
                  <a:txBody>
                    <a:bodyPr wrap="square"/>
                    <a:lstStyle/>
                    <a:p>
                      <a:r>
                        <a:rPr sz="1100" b="1">
                          <a:solidFill>
                            <a:srgbClr val="0C2B4A"/>
                          </a:solidFill>
                        </a:rPr>
                        <a:t>Only smartphone owners can use a digital-ID system</a:t>
                      </a:r>
                    </a:p>
                  </a:txBody>
                  <a:tcPr anchor="ctr" marL="73152" marR="54864" marT="27432" marB="27432">
                    <a:solidFill>
                      <a:srgbClr val="FFFFFF"/>
                    </a:solidFill>
                  </a:tcPr>
                </a:tc>
                <a:tc>
                  <a:txBody>
                    <a:bodyPr wrap="square"/>
                    <a:lstStyle/>
                    <a:p>
                      <a:r>
                        <a:rPr sz="1100">
                          <a:solidFill>
                            <a:srgbClr val="1A1A1A"/>
                          </a:solidFill>
                        </a:rPr>
                        <a:t>Access</a:t>
                      </a:r>
                    </a:p>
                  </a:txBody>
                  <a:tcPr anchor="ctr" marL="73152" marR="54864" marT="27432" marB="27432">
                    <a:solidFill>
                      <a:srgbClr val="FFFFFF"/>
                    </a:solidFill>
                  </a:tcPr>
                </a:tc>
                <a:tc>
                  <a:txBody>
                    <a:bodyPr wrap="square"/>
                    <a:lstStyle/>
                    <a:p>
                      <a:r>
                        <a:rPr sz="1100">
                          <a:solidFill>
                            <a:srgbClr val="1A1A1A"/>
                          </a:solidFill>
                        </a:rPr>
                        <a:t>The divide excludes people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Security threads through all four pillars (Units 5-8). PAPA lets you name any IT-ethics concern precisely.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88 / 101</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IT Professional's Responsibility — 'Can' vs 'Should'</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defining question of IT ethics: just because you CAN build or do something, does that mean you SHOULD? As a BIM graduate, you'll be the one choosing what data to collect, how an algorithm treats people, what to log, what to expose.</a:t>
            </a:r>
          </a:p>
          <a:p>
            <a:pPr>
              <a:spcAft>
                <a:spcPts val="500"/>
              </a:spcAft>
            </a:pPr>
            <a:r>
              <a:rPr sz="1200" b="1">
                <a:solidFill>
                  <a:srgbClr val="185FA5"/>
                </a:solidFill>
              </a:rPr>
              <a:t>HOW IT WORKS</a:t>
            </a:r>
          </a:p>
          <a:p>
            <a:pPr>
              <a:spcAft>
                <a:spcPts val="600"/>
              </a:spcAft>
            </a:pPr>
            <a:r>
              <a:rPr sz="1400">
                <a:solidFill>
                  <a:srgbClr val="1A1A1A"/>
                </a:solidFill>
              </a:rPr>
              <a:t>•  'Public' data is not the same as 'consented' data.</a:t>
            </a:r>
          </a:p>
          <a:p>
            <a:pPr>
              <a:spcAft>
                <a:spcPts val="600"/>
              </a:spcAft>
            </a:pPr>
            <a:r>
              <a:rPr sz="1400">
                <a:solidFill>
                  <a:srgbClr val="1A1A1A"/>
                </a:solidFill>
              </a:rPr>
              <a:t>•  Professional codes (ACM, IEEE) put your duty to users and the public above an employer's convenience.</a:t>
            </a:r>
          </a:p>
          <a:p>
            <a:pPr>
              <a:spcAft>
                <a:spcPts val="600"/>
              </a:spcAft>
            </a:pPr>
            <a:r>
              <a:rPr sz="1400">
                <a:solidFill>
                  <a:srgbClr val="1A1A1A"/>
                </a:solidFill>
              </a:rPr>
              <a:t>•  The 5-step process (S4) is exactly how you answer a 'can vs should' question.</a:t>
            </a:r>
          </a:p>
          <a:p>
            <a:pPr>
              <a:spcAft>
                <a:spcPts val="600"/>
              </a:spcAft>
            </a:pPr>
            <a:r>
              <a:rPr sz="1400">
                <a:solidFill>
                  <a:srgbClr val="1A1A1A"/>
                </a:solidFill>
              </a:rPr>
              <a:t>•  This is where every later unit — IP, security, forensics, cyber law — plugs in.</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'Can' is an engineering question; 'should' is an ethics question — you own both.</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89 / 101</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'Can' vs 'Should' — scraping 100,000 public posts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989384"/>
                <a:gridCol w="3868615"/>
                <a:gridCol w="4572000"/>
              </a:tblGrid>
              <a:tr h="736092">
                <a:tc>
                  <a:txBody>
                    <a:bodyPr wrap="square"/>
                    <a:lstStyle/>
                    <a:p>
                      <a:r>
                        <a:rPr sz="1200" b="1">
                          <a:solidFill>
                            <a:srgbClr val="FFFFFF"/>
                          </a:solidFill>
                        </a:rPr>
                        <a:t>Question</a:t>
                      </a:r>
                    </a:p>
                  </a:txBody>
                  <a:tcPr anchor="ctr" marL="73152" marR="54864" marT="27432" marB="27432">
                    <a:solidFill>
                      <a:srgbClr val="0C2B4A"/>
                    </a:solidFill>
                  </a:tcPr>
                </a:tc>
                <a:tc>
                  <a:txBody>
                    <a:bodyPr wrap="square"/>
                    <a:lstStyle/>
                    <a:p>
                      <a:r>
                        <a:rPr sz="1200" b="1">
                          <a:solidFill>
                            <a:srgbClr val="FFFFFF"/>
                          </a:solidFill>
                        </a:rPr>
                        <a:t>'Can' (engineering)</a:t>
                      </a:r>
                    </a:p>
                  </a:txBody>
                  <a:tcPr anchor="ctr" marL="73152" marR="54864" marT="27432" marB="27432">
                    <a:solidFill>
                      <a:srgbClr val="0C2B4A"/>
                    </a:solidFill>
                  </a:tcPr>
                </a:tc>
                <a:tc>
                  <a:txBody>
                    <a:bodyPr wrap="square"/>
                    <a:lstStyle/>
                    <a:p>
                      <a:r>
                        <a:rPr sz="1200" b="1">
                          <a:solidFill>
                            <a:srgbClr val="FFFFFF"/>
                          </a:solidFill>
                        </a:rPr>
                        <a:t>'Should' (ethics)</a:t>
                      </a:r>
                    </a:p>
                  </a:txBody>
                  <a:tcPr anchor="ctr" marL="73152" marR="54864" marT="27432" marB="27432">
                    <a:solidFill>
                      <a:srgbClr val="0C2B4A"/>
                    </a:solidFill>
                  </a:tcPr>
                </a:tc>
              </a:tr>
              <a:tr h="736092">
                <a:tc>
                  <a:txBody>
                    <a:bodyPr wrap="square"/>
                    <a:lstStyle/>
                    <a:p>
                      <a:r>
                        <a:rPr sz="1150" b="1">
                          <a:solidFill>
                            <a:srgbClr val="0C2B4A"/>
                          </a:solidFill>
                        </a:rPr>
                        <a:t>Is it possible?</a:t>
                      </a:r>
                    </a:p>
                  </a:txBody>
                  <a:tcPr anchor="ctr" marL="73152" marR="54864" marT="27432" marB="27432">
                    <a:solidFill>
                      <a:srgbClr val="FFFFFF"/>
                    </a:solidFill>
                  </a:tcPr>
                </a:tc>
                <a:tc>
                  <a:txBody>
                    <a:bodyPr wrap="square"/>
                    <a:lstStyle/>
                    <a:p>
                      <a:r>
                        <a:rPr sz="1150">
                          <a:solidFill>
                            <a:srgbClr val="1A1A1A"/>
                          </a:solidFill>
                        </a:rPr>
                        <a:t>Yes — technically easy</a:t>
                      </a:r>
                    </a:p>
                  </a:txBody>
                  <a:tcPr anchor="ctr" marL="73152" marR="54864" marT="27432" marB="27432">
                    <a:solidFill>
                      <a:srgbClr val="FFFFFF"/>
                    </a:solidFill>
                  </a:tcPr>
                </a:tc>
                <a:tc>
                  <a:txBody>
                    <a:bodyPr wrap="square"/>
                    <a:lstStyle/>
                    <a:p>
                      <a:r>
                        <a:rPr sz="1150">
                          <a:solidFill>
                            <a:srgbClr val="1A1A1A"/>
                          </a:solidFill>
                        </a:rPr>
                        <a:t>Not the right question</a:t>
                      </a:r>
                    </a:p>
                  </a:txBody>
                  <a:tcPr anchor="ctr" marL="73152" marR="54864" marT="27432" marB="27432">
                    <a:solidFill>
                      <a:srgbClr val="FFFFFF"/>
                    </a:solidFill>
                  </a:tcPr>
                </a:tc>
              </a:tr>
              <a:tr h="736092">
                <a:tc>
                  <a:txBody>
                    <a:bodyPr wrap="square"/>
                    <a:lstStyle/>
                    <a:p>
                      <a:r>
                        <a:rPr sz="1150" b="1">
                          <a:solidFill>
                            <a:srgbClr val="0C2B4A"/>
                          </a:solidFill>
                        </a:rPr>
                        <a:t>Is the data 'public'?</a:t>
                      </a:r>
                    </a:p>
                  </a:txBody>
                  <a:tcPr anchor="ctr" marL="73152" marR="54864" marT="27432" marB="27432">
                    <a:solidFill>
                      <a:srgbClr val="EEF3F8"/>
                    </a:solidFill>
                  </a:tcPr>
                </a:tc>
                <a:tc>
                  <a:txBody>
                    <a:bodyPr wrap="square"/>
                    <a:lstStyle/>
                    <a:p>
                      <a:r>
                        <a:rPr sz="1150">
                          <a:solidFill>
                            <a:srgbClr val="1A1A1A"/>
                          </a:solidFill>
                        </a:rPr>
                        <a:t>Yes, visible to anyone</a:t>
                      </a:r>
                    </a:p>
                  </a:txBody>
                  <a:tcPr anchor="ctr" marL="73152" marR="54864" marT="27432" marB="27432">
                    <a:solidFill>
                      <a:srgbClr val="EEF3F8"/>
                    </a:solidFill>
                  </a:tcPr>
                </a:tc>
                <a:tc>
                  <a:txBody>
                    <a:bodyPr wrap="square"/>
                    <a:lstStyle/>
                    <a:p>
                      <a:r>
                        <a:rPr sz="1150">
                          <a:solidFill>
                            <a:srgbClr val="1A1A1A"/>
                          </a:solidFill>
                        </a:rPr>
                        <a:t>Public ≠ consented to THIS use</a:t>
                      </a:r>
                    </a:p>
                  </a:txBody>
                  <a:tcPr anchor="ctr" marL="73152" marR="54864" marT="27432" marB="27432">
                    <a:solidFill>
                      <a:srgbClr val="EEF3F8"/>
                    </a:solidFill>
                  </a:tcPr>
                </a:tc>
              </a:tr>
              <a:tr h="736092">
                <a:tc>
                  <a:txBody>
                    <a:bodyPr wrap="square"/>
                    <a:lstStyle/>
                    <a:p>
                      <a:r>
                        <a:rPr sz="1150" b="1">
                          <a:solidFill>
                            <a:srgbClr val="0C2B4A"/>
                          </a:solidFill>
                        </a:rPr>
                        <a:t>Who's affected?</a:t>
                      </a:r>
                    </a:p>
                  </a:txBody>
                  <a:tcPr anchor="ctr" marL="73152" marR="54864" marT="27432" marB="27432">
                    <a:solidFill>
                      <a:srgbClr val="FFFFFF"/>
                    </a:solidFill>
                  </a:tcPr>
                </a:tc>
                <a:tc>
                  <a:txBody>
                    <a:bodyPr wrap="square"/>
                    <a:lstStyle/>
                    <a:p>
                      <a:r>
                        <a:rPr sz="1150">
                          <a:solidFill>
                            <a:srgbClr val="1A1A1A"/>
                          </a:solidFill>
                        </a:rPr>
                        <a:t>(ignored)</a:t>
                      </a:r>
                    </a:p>
                  </a:txBody>
                  <a:tcPr anchor="ctr" marL="73152" marR="54864" marT="27432" marB="27432">
                    <a:solidFill>
                      <a:srgbClr val="FFFFFF"/>
                    </a:solidFill>
                  </a:tcPr>
                </a:tc>
                <a:tc>
                  <a:txBody>
                    <a:bodyPr wrap="square"/>
                    <a:lstStyle/>
                    <a:p>
                      <a:r>
                        <a:rPr sz="1150">
                          <a:solidFill>
                            <a:srgbClr val="1A1A1A"/>
                          </a:solidFill>
                        </a:rPr>
                        <a:t>The 100,000 people whose posts they are</a:t>
                      </a:r>
                    </a:p>
                  </a:txBody>
                  <a:tcPr anchor="ctr" marL="73152" marR="54864" marT="27432" marB="27432">
                    <a:solidFill>
                      <a:srgbClr val="FFFFFF"/>
                    </a:solidFill>
                  </a:tcPr>
                </a:tc>
              </a:tr>
              <a:tr h="736092">
                <a:tc>
                  <a:txBody>
                    <a:bodyPr wrap="square"/>
                    <a:lstStyle/>
                    <a:p>
                      <a:r>
                        <a:rPr sz="1150" b="1">
                          <a:solidFill>
                            <a:srgbClr val="0C2B4A"/>
                          </a:solidFill>
                        </a:rPr>
                        <a:t>Rights/duty lens</a:t>
                      </a:r>
                    </a:p>
                  </a:txBody>
                  <a:tcPr anchor="ctr" marL="73152" marR="54864" marT="27432" marB="27432">
                    <a:solidFill>
                      <a:srgbClr val="EEF3F8"/>
                    </a:solidFill>
                  </a:tcPr>
                </a:tc>
                <a:tc>
                  <a:txBody>
                    <a:bodyPr wrap="square"/>
                    <a:lstStyle/>
                    <a:p>
                      <a:r>
                        <a:rPr sz="1150">
                          <a:solidFill>
                            <a:srgbClr val="1A1A1A"/>
                          </a:solidFill>
                        </a:rPr>
                        <a:t>(ignored)</a:t>
                      </a:r>
                    </a:p>
                  </a:txBody>
                  <a:tcPr anchor="ctr" marL="73152" marR="54864" marT="27432" marB="27432">
                    <a:solidFill>
                      <a:srgbClr val="EEF3F8"/>
                    </a:solidFill>
                  </a:tcPr>
                </a:tc>
                <a:tc>
                  <a:txBody>
                    <a:bodyPr wrap="square"/>
                    <a:lstStyle/>
                    <a:p>
                      <a:r>
                        <a:rPr sz="1150">
                          <a:solidFill>
                            <a:srgbClr val="1A1A1A"/>
                          </a:solidFill>
                        </a:rPr>
                        <a:t>Did they agree to be scraped for this?</a:t>
                      </a:r>
                    </a:p>
                  </a:txBody>
                  <a:tcPr anchor="ctr" marL="73152" marR="54864" marT="27432" marB="27432">
                    <a:solidFill>
                      <a:srgbClr val="EEF3F8"/>
                    </a:solidFill>
                  </a:tcPr>
                </a:tc>
              </a:tr>
              <a:tr h="736092">
                <a:tc>
                  <a:txBody>
                    <a:bodyPr wrap="square"/>
                    <a:lstStyle/>
                    <a:p>
                      <a:r>
                        <a:rPr sz="1150" b="1">
                          <a:solidFill>
                            <a:srgbClr val="0C2B4A"/>
                          </a:solidFill>
                        </a:rPr>
                        <a:t>Verdict</a:t>
                      </a:r>
                    </a:p>
                  </a:txBody>
                  <a:tcPr anchor="ctr" marL="73152" marR="54864" marT="27432" marB="27432">
                    <a:solidFill>
                      <a:srgbClr val="FFFFFF"/>
                    </a:solidFill>
                  </a:tcPr>
                </a:tc>
                <a:tc>
                  <a:txBody>
                    <a:bodyPr wrap="square"/>
                    <a:lstStyle/>
                    <a:p>
                      <a:r>
                        <a:rPr sz="1150">
                          <a:solidFill>
                            <a:srgbClr val="1A1A1A"/>
                          </a:solidFill>
                        </a:rPr>
                        <a:t>'We can, so let's'</a:t>
                      </a:r>
                    </a:p>
                  </a:txBody>
                  <a:tcPr anchor="ctr" marL="73152" marR="54864" marT="27432" marB="27432">
                    <a:solidFill>
                      <a:srgbClr val="FFFFFF"/>
                    </a:solidFill>
                  </a:tcPr>
                </a:tc>
                <a:tc>
                  <a:txBody>
                    <a:bodyPr wrap="square"/>
                    <a:lstStyle/>
                    <a:p>
                      <a:r>
                        <a:rPr sz="1150">
                          <a:solidFill>
                            <a:srgbClr val="1A1A1A"/>
                          </a:solidFill>
                        </a:rPr>
                        <a:t>Often: don't — or seek consent / anonymise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'Can' and 'should' give different answers — professional codes (ACM, IEEE) exist to keep 'should' in front.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90 / 101</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IT Professional's Responsibility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For a class project you CAN scrape 100,000 users' public posts — easy, and the data is 'public'. SHOULD you? Run the S4 process: facts (public ≠ consented), stakeholders (those 100,000 people), rights lens (did they agree to this use?). 'Can' and 'should' diverge.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the data is public, using it is fine." Public visibility isn't consent to any use. The professional's duty (per ACM/IEEE codes) is to the people in the data, not just to what's technically allowed.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IT-ethics responsibility centres on 'can vs should': technical possibility does not settle whether an action is right. IT professionals decide what data to collect and how algorithms treat people, so professional codes (ACM, IEEE) place their duty to users and the public above an employer's short-term convenience.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can vs should · public ≠ consented · professional codes (ACM/IEEE) · duty to users &amp; public</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91 / 101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'Can' vs 'Should' — you can, but should you?</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572000"/>
                <a:gridCol w="2000250"/>
                <a:gridCol w="4857750"/>
              </a:tblGrid>
              <a:tr h="552069">
                <a:tc>
                  <a:txBody>
                    <a:bodyPr wrap="square"/>
                    <a:lstStyle/>
                    <a:p>
                      <a:r>
                        <a:rPr sz="1150" b="1">
                          <a:solidFill>
                            <a:srgbClr val="FFFFFF"/>
                          </a:solidFill>
                        </a:rPr>
                        <a:t>You CAN...</a:t>
                      </a:r>
                    </a:p>
                  </a:txBody>
                  <a:tcPr anchor="ctr" marL="73152" marR="54864" marT="27432" marB="27432">
                    <a:solidFill>
                      <a:srgbClr val="0C2B4A"/>
                    </a:solidFill>
                  </a:tcPr>
                </a:tc>
                <a:tc>
                  <a:txBody>
                    <a:bodyPr wrap="square"/>
                    <a:lstStyle/>
                    <a:p>
                      <a:r>
                        <a:rPr sz="1150" b="1">
                          <a:solidFill>
                            <a:srgbClr val="FFFFFF"/>
                          </a:solidFill>
                        </a:rPr>
                        <a:t>SHOULD you?</a:t>
                      </a:r>
                    </a:p>
                  </a:txBody>
                  <a:tcPr anchor="ctr" marL="73152" marR="54864" marT="27432" marB="27432">
                    <a:solidFill>
                      <a:srgbClr val="0C2B4A"/>
                    </a:solidFill>
                  </a:tcPr>
                </a:tc>
                <a:tc>
                  <a:txBody>
                    <a:bodyPr wrap="square"/>
                    <a:lstStyle/>
                    <a:p>
                      <a:r>
                        <a:rPr sz="1150" b="1">
                          <a:solidFill>
                            <a:srgbClr val="FFFFFF"/>
                          </a:solidFill>
                        </a:rPr>
                        <a:t>The ethical catch</a:t>
                      </a:r>
                    </a:p>
                  </a:txBody>
                  <a:tcPr anchor="ctr" marL="73152" marR="54864" marT="27432" marB="27432">
                    <a:solidFill>
                      <a:srgbClr val="0C2B4A"/>
                    </a:solidFill>
                  </a:tcPr>
                </a:tc>
              </a:tr>
              <a:tr h="552069">
                <a:tc>
                  <a:txBody>
                    <a:bodyPr wrap="square"/>
                    <a:lstStyle/>
                    <a:p>
                      <a:r>
                        <a:rPr sz="1100" b="1">
                          <a:solidFill>
                            <a:srgbClr val="0C2B4A"/>
                          </a:solidFill>
                        </a:rPr>
                        <a:t>Scrape 100,000 users' public posts for a project</a:t>
                      </a:r>
                    </a:p>
                  </a:txBody>
                  <a:tcPr anchor="ctr" marL="73152" marR="54864" marT="27432" marB="27432">
                    <a:solidFill>
                      <a:srgbClr val="FFFFFF"/>
                    </a:solidFill>
                  </a:tcPr>
                </a:tc>
                <a:tc>
                  <a:txBody>
                    <a:bodyPr wrap="square"/>
                    <a:lstStyle/>
                    <a:p>
                      <a:r>
                        <a:rPr sz="1100">
                          <a:solidFill>
                            <a:srgbClr val="1A1A1A"/>
                          </a:solidFill>
                        </a:rPr>
                        <a:t>Usually no</a:t>
                      </a:r>
                    </a:p>
                  </a:txBody>
                  <a:tcPr anchor="ctr" marL="73152" marR="54864" marT="27432" marB="27432">
                    <a:solidFill>
                      <a:srgbClr val="FFFFFF"/>
                    </a:solidFill>
                  </a:tcPr>
                </a:tc>
                <a:tc>
                  <a:txBody>
                    <a:bodyPr wrap="square"/>
                    <a:lstStyle/>
                    <a:p>
                      <a:r>
                        <a:rPr sz="1100">
                          <a:solidFill>
                            <a:srgbClr val="1A1A1A"/>
                          </a:solidFill>
                        </a:rPr>
                        <a:t>Public is not consent to THIS use</a:t>
                      </a:r>
                    </a:p>
                  </a:txBody>
                  <a:tcPr anchor="ctr" marL="73152" marR="54864" marT="27432" marB="27432">
                    <a:solidFill>
                      <a:srgbClr val="FFFFFF"/>
                    </a:solidFill>
                  </a:tcPr>
                </a:tc>
              </a:tr>
              <a:tr h="552069">
                <a:tc>
                  <a:txBody>
                    <a:bodyPr wrap="square"/>
                    <a:lstStyle/>
                    <a:p>
                      <a:r>
                        <a:rPr sz="1100" b="1">
                          <a:solidFill>
                            <a:srgbClr val="0C2B4A"/>
                          </a:solidFill>
                        </a:rPr>
                        <a:t>Log every keystroke of staff 'for productivity'</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Violates reasonable privacy</a:t>
                      </a:r>
                    </a:p>
                  </a:txBody>
                  <a:tcPr anchor="ctr" marL="73152" marR="54864" marT="27432" marB="27432">
                    <a:solidFill>
                      <a:srgbClr val="EEF3F8"/>
                    </a:solidFill>
                  </a:tcPr>
                </a:tc>
              </a:tr>
              <a:tr h="552069">
                <a:tc>
                  <a:txBody>
                    <a:bodyPr wrap="square"/>
                    <a:lstStyle/>
                    <a:p>
                      <a:r>
                        <a:rPr sz="1100" b="1">
                          <a:solidFill>
                            <a:srgbClr val="0C2B4A"/>
                          </a:solidFill>
                        </a:rPr>
                        <a:t>Sell 'anonymised' data that can be re-identified</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'Anonymised' often isn't</a:t>
                      </a:r>
                    </a:p>
                  </a:txBody>
                  <a:tcPr anchor="ctr" marL="73152" marR="54864" marT="27432" marB="27432">
                    <a:solidFill>
                      <a:srgbClr val="FFFFFF"/>
                    </a:solidFill>
                  </a:tcPr>
                </a:tc>
              </a:tr>
              <a:tr h="552069">
                <a:tc>
                  <a:txBody>
                    <a:bodyPr wrap="square"/>
                    <a:lstStyle/>
                    <a:p>
                      <a:r>
                        <a:rPr sz="1100" b="1">
                          <a:solidFill>
                            <a:srgbClr val="0C2B4A"/>
                          </a:solidFill>
                        </a:rPr>
                        <a:t>Build a face-recognition tool from public photos</a:t>
                      </a:r>
                    </a:p>
                  </a:txBody>
                  <a:tcPr anchor="ctr" marL="73152" marR="54864" marT="27432" marB="27432">
                    <a:solidFill>
                      <a:srgbClr val="EEF3F8"/>
                    </a:solidFill>
                  </a:tcPr>
                </a:tc>
                <a:tc>
                  <a:txBody>
                    <a:bodyPr wrap="square"/>
                    <a:lstStyle/>
                    <a:p>
                      <a:r>
                        <a:rPr sz="1100">
                          <a:solidFill>
                            <a:srgbClr val="1A1A1A"/>
                          </a:solidFill>
                        </a:rPr>
                        <a:t>Rarely</a:t>
                      </a:r>
                    </a:p>
                  </a:txBody>
                  <a:tcPr anchor="ctr" marL="73152" marR="54864" marT="27432" marB="27432">
                    <a:solidFill>
                      <a:srgbClr val="EEF3F8"/>
                    </a:solidFill>
                  </a:tcPr>
                </a:tc>
                <a:tc>
                  <a:txBody>
                    <a:bodyPr wrap="square"/>
                    <a:lstStyle/>
                    <a:p>
                      <a:r>
                        <a:rPr sz="1100">
                          <a:solidFill>
                            <a:srgbClr val="1A1A1A"/>
                          </a:solidFill>
                        </a:rPr>
                        <a:t>People didn't consent to be identified</a:t>
                      </a:r>
                    </a:p>
                  </a:txBody>
                  <a:tcPr anchor="ctr" marL="73152" marR="54864" marT="27432" marB="27432">
                    <a:solidFill>
                      <a:srgbClr val="EEF3F8"/>
                    </a:solidFill>
                  </a:tcPr>
                </a:tc>
              </a:tr>
              <a:tr h="552069">
                <a:tc>
                  <a:txBody>
                    <a:bodyPr wrap="square"/>
                    <a:lstStyle/>
                    <a:p>
                      <a:r>
                        <a:rPr sz="1100" b="1">
                          <a:solidFill>
                            <a:srgbClr val="0C2B4A"/>
                          </a:solidFill>
                        </a:rPr>
                        <a:t>Read user DMs because you have admin access</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Access is not permission</a:t>
                      </a:r>
                    </a:p>
                  </a:txBody>
                  <a:tcPr anchor="ctr" marL="73152" marR="54864" marT="27432" marB="27432">
                    <a:solidFill>
                      <a:srgbClr val="FFFFFF"/>
                    </a:solidFill>
                  </a:tcPr>
                </a:tc>
              </a:tr>
              <a:tr h="552069">
                <a:tc>
                  <a:txBody>
                    <a:bodyPr wrap="square"/>
                    <a:lstStyle/>
                    <a:p>
                      <a:r>
                        <a:rPr sz="1100" b="1">
                          <a:solidFill>
                            <a:srgbClr val="0C2B4A"/>
                          </a:solidFill>
                        </a:rPr>
                        <a:t>A/B test a dark pattern that tricks users into paying</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Deception harms the user</a:t>
                      </a:r>
                    </a:p>
                  </a:txBody>
                  <a:tcPr anchor="ctr" marL="73152" marR="54864" marT="27432" marB="27432">
                    <a:solidFill>
                      <a:srgbClr val="EEF3F8"/>
                    </a:solidFill>
                  </a:tcPr>
                </a:tc>
              </a:tr>
              <a:tr h="552069">
                <a:tc>
                  <a:txBody>
                    <a:bodyPr wrap="square"/>
                    <a:lstStyle/>
                    <a:p>
                      <a:r>
                        <a:rPr sz="1100" b="1">
                          <a:solidFill>
                            <a:srgbClr val="0C2B4A"/>
                          </a:solidFill>
                        </a:rPr>
                        <a:t>Deploy an untested medical-advice chatbot because it 'works'</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Accuracy failures can harm people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Professional codes (ACM, IEEE) exist to keep 'should' in front of 'can' — your duty is to the people in the data, not just to what is technically allowed.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92 / 101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S5 — 'Can vs Should audit'  ·  ~6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pick ONE app you use daily.</a:t>
            </a:r>
          </a:p>
          <a:p>
            <a:pPr>
              <a:spcAft>
                <a:spcPts val="700"/>
              </a:spcAft>
            </a:pPr>
            <a:r>
              <a:rPr sz="1550">
                <a:solidFill>
                  <a:srgbClr val="1A1A1A"/>
                </a:solidFill>
              </a:rPr>
              <a:t>•  Identify one PAPA theme it raises a concern about (Privacy / Accuracy / Property / Access).</a:t>
            </a:r>
          </a:p>
          <a:p>
            <a:pPr>
              <a:spcAft>
                <a:spcPts val="700"/>
              </a:spcAft>
            </a:pPr>
            <a:r>
              <a:rPr sz="1550">
                <a:solidFill>
                  <a:srgbClr val="1A1A1A"/>
                </a:solidFill>
              </a:rPr>
              <a:t>•  Identify one 'can but maybe shouldn't' thing it does with your data.</a:t>
            </a:r>
          </a:p>
          <a:p>
            <a:pPr>
              <a:spcAft>
                <a:spcPts val="700"/>
              </a:spcAft>
            </a:pPr>
            <a:r>
              <a:rPr sz="1550">
                <a:solidFill>
                  <a:srgbClr val="1A1A1A"/>
                </a:solidFill>
              </a:rPr>
              <a:t>•  Take 3 answers aloud (4 min) — makes the framework personal and closes the unit on your real digital life.</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Strong answers name a specific PAPA theme (e.g. Privacy: the app tracks location in the background) and a concrete 'can-but-shouldn't' (e.g. it CAN sell that data; it probably SHOULDN'T without clear consent).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93 / 101</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S5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Which factor most makes IT ethics DISTINCT from everyday ethics?</a:t>
            </a:r>
          </a:p>
          <a:p>
            <a:pPr lvl="1"/>
            <a:r>
              <a:rPr sz="1500" b="1">
                <a:solidFill>
                  <a:srgbClr val="0F6E56"/>
                </a:solidFill>
              </a:rPr>
              <a:t>a) it's cheaper   b) ✅ the scale, speed, and permanence of impact   c) it's always legal   d) it needs no rules</a:t>
            </a:r>
          </a:p>
          <a:p>
            <a:pPr>
              <a:spcBef>
                <a:spcPts val="900"/>
              </a:spcBef>
            </a:pPr>
            <a:r>
              <a:rPr sz="1700" b="1">
                <a:solidFill>
                  <a:srgbClr val="0C2B4A"/>
                </a:solidFill>
              </a:rPr>
              <a:t>Q2.  In 'PAPA', the four themes are Privacy, Accuracy, Property, and:</a:t>
            </a:r>
          </a:p>
          <a:p>
            <a:pPr lvl="1"/>
            <a:r>
              <a:rPr sz="1500" b="1">
                <a:solidFill>
                  <a:srgbClr val="0F6E56"/>
                </a:solidFill>
              </a:rPr>
              <a:t>a) Advertising   b) Authority   c) ✅ Access   d) Automation</a:t>
            </a:r>
          </a:p>
          <a:p>
            <a:pPr lvl="1">
              <a:spcBef>
                <a:spcPts val="600"/>
              </a:spcBef>
            </a:pPr>
            <a:r>
              <a:rPr sz="1500" i="1">
                <a:solidFill>
                  <a:srgbClr val="1A1A1A"/>
                </a:solidFill>
              </a:rPr>
              <a:t>Discussion: name one IT product you use that raises an ethical concern — which PAPA theme,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94 / 101</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S5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IT amplifies ethical impact through scale, speed, anonymity, and permanence.</a:t>
            </a:r>
          </a:p>
          <a:p>
            <a:pPr>
              <a:spcAft>
                <a:spcPts val="800"/>
              </a:spcAft>
            </a:pPr>
            <a:r>
              <a:rPr sz="1500">
                <a:solidFill>
                  <a:srgbClr val="1A1A1A"/>
                </a:solidFill>
              </a:rPr>
              <a:t>2.  Technology is value-laden, not neutral; the four pillars are PAPA (Privacy, Accuracy, Property, Access).</a:t>
            </a:r>
          </a:p>
          <a:p>
            <a:pPr>
              <a:spcAft>
                <a:spcPts val="800"/>
              </a:spcAft>
            </a:pPr>
            <a:r>
              <a:rPr sz="1500">
                <a:solidFill>
                  <a:srgbClr val="1A1A1A"/>
                </a:solidFill>
              </a:rPr>
              <a:t>3.  Professionals own the 'can vs should' question — guided by professional codes (ACM, IEEE).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As BIM graduates you'll build, manage, or buy information systems — deciding what data to collect, how algorithms treat people, and what to do when things go wrong. Every later unit (IP, cybersecurity, forensics, cyber law) is a tool for the 'can vs should' question you met today.</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Unit 2 — ethics specifically for IT workers and IT users: professional duties, privacy, and social-networking issues.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95 / 101</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1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Ethics vs morals vs law vs etiquette</a:t>
            </a:r>
          </a:p>
          <a:p>
            <a:pPr>
              <a:spcBef>
                <a:spcPts val="300"/>
              </a:spcBef>
            </a:pPr>
            <a:r>
              <a:rPr sz="1200">
                <a:solidFill>
                  <a:srgbClr val="1A1A1A"/>
                </a:solidFill>
              </a:rPr>
              <a:t>Group code · personal belief · state-enforced · manners. Law is the FLOOR, not the ceiling.</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Legal/ethical grid</a:t>
            </a:r>
          </a:p>
          <a:p>
            <a:pPr>
              <a:spcBef>
                <a:spcPts val="300"/>
              </a:spcBef>
            </a:pPr>
            <a:r>
              <a:rPr sz="1200">
                <a:solidFill>
                  <a:srgbClr val="1A1A1A"/>
                </a:solidFill>
              </a:rPr>
              <a:t>Two axes → 4 quadrants. The danger zone is legal-but-unethical (only judgment stops you).</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Business ethics</a:t>
            </a:r>
          </a:p>
          <a:p>
            <a:pPr>
              <a:spcBef>
                <a:spcPts val="300"/>
              </a:spcBef>
            </a:pPr>
            <a:r>
              <a:rPr sz="1200">
                <a:solidFill>
                  <a:srgbClr val="1A1A1A"/>
                </a:solidFill>
              </a:rPr>
              <a:t>Serves conflicting stakeholders; core tension = short-term profit vs long-term trust.</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CSR (Carroll)</a:t>
            </a:r>
          </a:p>
          <a:p>
            <a:pPr>
              <a:spcBef>
                <a:spcPts val="300"/>
              </a:spcBef>
            </a:pPr>
            <a:r>
              <a:rPr sz="1200">
                <a:solidFill>
                  <a:srgbClr val="1A1A1A"/>
                </a:solidFill>
              </a:rPr>
              <a:t>Duty to society: economic → legal → ethical → philanthropic. Stakeholders = all affected, not just owners.</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Improving ethics</a:t>
            </a:r>
          </a:p>
          <a:p>
            <a:pPr>
              <a:spcBef>
                <a:spcPts val="300"/>
              </a:spcBef>
            </a:pPr>
            <a:r>
              <a:rPr sz="1200">
                <a:solidFill>
                  <a:srgbClr val="1A1A1A"/>
                </a:solidFill>
              </a:rPr>
              <a:t>Systems, not posters: leadership, specific code, training, safe reporting, audits, CONSISTENT consequences.</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Decisions &amp; IT</a:t>
            </a:r>
          </a:p>
          <a:p>
            <a:pPr>
              <a:spcBef>
                <a:spcPts val="300"/>
              </a:spcBef>
            </a:pPr>
            <a:r>
              <a:rPr sz="1200">
                <a:solidFill>
                  <a:srgbClr val="1A1A1A"/>
                </a:solidFill>
              </a:rPr>
              <a:t>5 steps (facts→stakeholders→evaluate→act→reflect); 4 lenses; IT = scale/speed/permanence; PAPA; can vs should.</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96 / 101</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1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Ethics — </a:t>
            </a:r>
            <a:r>
              <a:rPr sz="1150">
                <a:solidFill>
                  <a:srgbClr val="1A1A1A"/>
                </a:solidFill>
              </a:rPr>
              <a:t>a group/profession/society's shared code of right and wrong.</a:t>
            </a:r>
          </a:p>
          <a:p>
            <a:pPr>
              <a:spcAft>
                <a:spcPts val="600"/>
              </a:spcAft>
            </a:pPr>
            <a:r>
              <a:rPr sz="1150" b="1">
                <a:solidFill>
                  <a:srgbClr val="0C2B4A"/>
                </a:solidFill>
              </a:rPr>
              <a:t>Morals — </a:t>
            </a:r>
            <a:r>
              <a:rPr sz="1150">
                <a:solidFill>
                  <a:srgbClr val="1A1A1A"/>
                </a:solidFill>
              </a:rPr>
              <a:t>an individual's personal beliefs about right and wrong.</a:t>
            </a:r>
          </a:p>
          <a:p>
            <a:pPr>
              <a:spcAft>
                <a:spcPts val="600"/>
              </a:spcAft>
            </a:pPr>
            <a:r>
              <a:rPr sz="1150" b="1">
                <a:solidFill>
                  <a:srgbClr val="0C2B4A"/>
                </a:solidFill>
              </a:rPr>
              <a:t>Law — </a:t>
            </a:r>
            <a:r>
              <a:rPr sz="1150">
                <a:solidFill>
                  <a:srgbClr val="1A1A1A"/>
                </a:solidFill>
              </a:rPr>
              <a:t>rules the state enforces, with penalties.</a:t>
            </a:r>
          </a:p>
          <a:p>
            <a:pPr>
              <a:spcAft>
                <a:spcPts val="600"/>
              </a:spcAft>
            </a:pPr>
            <a:r>
              <a:rPr sz="1150" b="1">
                <a:solidFill>
                  <a:srgbClr val="0C2B4A"/>
                </a:solidFill>
              </a:rPr>
              <a:t>Etiquette — </a:t>
            </a:r>
            <a:r>
              <a:rPr sz="1150">
                <a:solidFill>
                  <a:srgbClr val="1A1A1A"/>
                </a:solidFill>
              </a:rPr>
              <a:t>social manners; breaking them is rude, not deeply wrong.</a:t>
            </a:r>
          </a:p>
          <a:p>
            <a:pPr>
              <a:spcAft>
                <a:spcPts val="600"/>
              </a:spcAft>
            </a:pPr>
            <a:r>
              <a:rPr sz="1150" b="1">
                <a:solidFill>
                  <a:srgbClr val="0C2B4A"/>
                </a:solidFill>
              </a:rPr>
              <a:t>Legal ≠ ethical — </a:t>
            </a:r>
            <a:r>
              <a:rPr sz="1150">
                <a:solidFill>
                  <a:srgbClr val="1A1A1A"/>
                </a:solidFill>
              </a:rPr>
              <a:t>law is the floor, not the ceiling.</a:t>
            </a:r>
          </a:p>
          <a:p>
            <a:pPr>
              <a:spcAft>
                <a:spcPts val="600"/>
              </a:spcAft>
            </a:pPr>
            <a:r>
              <a:rPr sz="1150" b="1">
                <a:solidFill>
                  <a:srgbClr val="0C2B4A"/>
                </a:solidFill>
              </a:rPr>
              <a:t>Business ethics — </a:t>
            </a:r>
            <a:r>
              <a:rPr sz="1150">
                <a:solidFill>
                  <a:srgbClr val="1A1A1A"/>
                </a:solidFill>
              </a:rPr>
              <a:t>applying ethical standards to commercial conduct.</a:t>
            </a:r>
          </a:p>
          <a:p>
            <a:pPr>
              <a:spcAft>
                <a:spcPts val="600"/>
              </a:spcAft>
            </a:pPr>
            <a:r>
              <a:rPr sz="1150" b="1">
                <a:solidFill>
                  <a:srgbClr val="0C2B4A"/>
                </a:solidFill>
              </a:rPr>
              <a:t>CSR — </a:t>
            </a:r>
            <a:r>
              <a:rPr sz="1150">
                <a:solidFill>
                  <a:srgbClr val="1A1A1A"/>
                </a:solidFill>
              </a:rPr>
              <a:t>a company's duty to act for society's benefit.</a:t>
            </a:r>
          </a:p>
          <a:p>
            <a:pPr>
              <a:spcAft>
                <a:spcPts val="600"/>
              </a:spcAft>
            </a:pPr>
            <a:r>
              <a:rPr sz="1150" b="1">
                <a:solidFill>
                  <a:srgbClr val="0C2B4A"/>
                </a:solidFill>
              </a:rPr>
              <a:t>Carroll's pyramid — </a:t>
            </a:r>
            <a:r>
              <a:rPr sz="1150">
                <a:solidFill>
                  <a:srgbClr val="1A1A1A"/>
                </a:solidFill>
              </a:rPr>
              <a:t>economic → legal → ethical → philanthropic.</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Stakeholder theory — </a:t>
            </a:r>
            <a:r>
              <a:rPr sz="1150">
                <a:solidFill>
                  <a:srgbClr val="1A1A1A"/>
                </a:solidFill>
              </a:rPr>
              <a:t>accountable to all affected, not just owners.</a:t>
            </a:r>
          </a:p>
          <a:p>
            <a:pPr>
              <a:spcAft>
                <a:spcPts val="600"/>
              </a:spcAft>
            </a:pPr>
            <a:r>
              <a:rPr sz="1150" b="1">
                <a:solidFill>
                  <a:srgbClr val="0C2B4A"/>
                </a:solidFill>
              </a:rPr>
              <a:t>Greenwashing — </a:t>
            </a:r>
            <a:r>
              <a:rPr sz="1150">
                <a:solidFill>
                  <a:srgbClr val="1A1A1A"/>
                </a:solidFill>
              </a:rPr>
              <a:t>a CSR message the daily operation contradicts.</a:t>
            </a:r>
          </a:p>
          <a:p>
            <a:pPr>
              <a:spcAft>
                <a:spcPts val="600"/>
              </a:spcAft>
            </a:pPr>
            <a:r>
              <a:rPr sz="1150" b="1">
                <a:solidFill>
                  <a:srgbClr val="0C2B4A"/>
                </a:solidFill>
              </a:rPr>
              <a:t>Ethics program — </a:t>
            </a:r>
            <a:r>
              <a:rPr sz="1150">
                <a:solidFill>
                  <a:srgbClr val="1A1A1A"/>
                </a:solidFill>
              </a:rPr>
              <a:t>the systems that turn values into behaviour.</a:t>
            </a:r>
          </a:p>
          <a:p>
            <a:pPr>
              <a:spcAft>
                <a:spcPts val="600"/>
              </a:spcAft>
            </a:pPr>
            <a:r>
              <a:rPr sz="1150" b="1">
                <a:solidFill>
                  <a:srgbClr val="0C2B4A"/>
                </a:solidFill>
              </a:rPr>
              <a:t>Whistle-blower hotline — </a:t>
            </a:r>
            <a:r>
              <a:rPr sz="1150">
                <a:solidFill>
                  <a:srgbClr val="1A1A1A"/>
                </a:solidFill>
              </a:rPr>
              <a:t>a safe, retaliation-free reporting channel.</a:t>
            </a:r>
          </a:p>
          <a:p>
            <a:pPr>
              <a:spcAft>
                <a:spcPts val="600"/>
              </a:spcAft>
            </a:pPr>
            <a:r>
              <a:rPr sz="1150" b="1">
                <a:solidFill>
                  <a:srgbClr val="0C2B4A"/>
                </a:solidFill>
              </a:rPr>
              <a:t>5-step process — </a:t>
            </a:r>
            <a:r>
              <a:rPr sz="1150">
                <a:solidFill>
                  <a:srgbClr val="1A1A1A"/>
                </a:solidFill>
              </a:rPr>
              <a:t>facts → stakeholders/options → evaluate → act → reflect.</a:t>
            </a:r>
          </a:p>
          <a:p>
            <a:pPr>
              <a:spcAft>
                <a:spcPts val="600"/>
              </a:spcAft>
            </a:pPr>
            <a:r>
              <a:rPr sz="1150" b="1">
                <a:solidFill>
                  <a:srgbClr val="0C2B4A"/>
                </a:solidFill>
              </a:rPr>
              <a:t>Four lenses — </a:t>
            </a:r>
            <a:r>
              <a:rPr sz="1150">
                <a:solidFill>
                  <a:srgbClr val="1A1A1A"/>
                </a:solidFill>
              </a:rPr>
              <a:t>utilitarian · rights/duty · fairness · virtue.</a:t>
            </a:r>
          </a:p>
          <a:p>
            <a:pPr>
              <a:spcAft>
                <a:spcPts val="600"/>
              </a:spcAft>
            </a:pPr>
            <a:r>
              <a:rPr sz="1150" b="1">
                <a:solidFill>
                  <a:srgbClr val="0C2B4A"/>
                </a:solidFill>
              </a:rPr>
              <a:t>Decision traps — </a:t>
            </a:r>
            <a:r>
              <a:rPr sz="1150">
                <a:solidFill>
                  <a:srgbClr val="1A1A1A"/>
                </a:solidFill>
              </a:rPr>
              <a:t>rationalization · groupthink · slippery slope · blind obedience.</a:t>
            </a:r>
          </a:p>
          <a:p>
            <a:pPr>
              <a:spcAft>
                <a:spcPts val="600"/>
              </a:spcAft>
            </a:pPr>
            <a:r>
              <a:rPr sz="1150" b="1">
                <a:solidFill>
                  <a:srgbClr val="0C2B4A"/>
                </a:solidFill>
              </a:rPr>
              <a:t>PAPA — </a:t>
            </a:r>
            <a:r>
              <a:rPr sz="1150">
                <a:solidFill>
                  <a:srgbClr val="1A1A1A"/>
                </a:solidFill>
              </a:rPr>
              <a:t>Privacy · Accuracy · Property · Access (IT ethics pillars).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97 / 101</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1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Twelve MCQs across the whole unit (answers shown), then short-answer, applied-case, and discussion questions to work from the concept slides and Unit1_material.md.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98 / 101</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 A — Multiple choice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Ethics is best defined as   →  ✅ a group/society's code of right and wrong</a:t>
            </a:r>
          </a:p>
          <a:p>
            <a:pPr lvl="1"/>
            <a:r>
              <a:rPr sz="1250" b="1">
                <a:solidFill>
                  <a:srgbClr val="0F6E56"/>
                </a:solidFill>
              </a:rPr>
              <a:t>2.  An action legal but widely considered wrong is   →  ✅ unethical</a:t>
            </a:r>
          </a:p>
          <a:p>
            <a:pPr lvl="1"/>
            <a:r>
              <a:rPr sz="1250" b="1">
                <a:solidFill>
                  <a:srgbClr val="0F6E56"/>
                </a:solidFill>
              </a:rPr>
              <a:t>3.  'Floor, not the ceiling' describes ethics' relation to   →  ✅ law</a:t>
            </a:r>
          </a:p>
          <a:p>
            <a:pPr lvl="1"/>
            <a:r>
              <a:rPr sz="1250" b="1">
                <a:solidFill>
                  <a:srgbClr val="0F6E56"/>
                </a:solidFill>
              </a:rPr>
              <a:t>4.  The base of Carroll's CSR pyramid is   →  ✅ economic</a:t>
            </a:r>
          </a:p>
          <a:p>
            <a:pPr lvl="1"/>
            <a:r>
              <a:rPr sz="1250" b="1">
                <a:solidFill>
                  <a:srgbClr val="0F6E56"/>
                </a:solidFill>
              </a:rPr>
              <a:t>5.  Stakeholder theory: a business is accountable to   →  ✅ all affected groups, not just owners</a:t>
            </a:r>
          </a:p>
          <a:p>
            <a:pPr lvl="1"/>
            <a:r>
              <a:rPr sz="1250" b="1">
                <a:solidFill>
                  <a:srgbClr val="0F6E56"/>
                </a:solidFill>
              </a:rPr>
              <a:t>6.  The most important driver of an ethical culture is   →  ✅ leadership / tone at the top</a:t>
            </a:r>
          </a:p>
          <a:p>
            <a:pPr lvl="1"/>
            <a:r>
              <a:rPr sz="1250" b="1">
                <a:solidFill>
                  <a:srgbClr val="0F6E56"/>
                </a:solidFill>
              </a:rPr>
              <a:t>7.  A retaliation-free channel to report wrongdoing is a   →  ✅ whistle-blower hotline</a:t>
            </a:r>
          </a:p>
          <a:p>
            <a:pPr lvl="1"/>
            <a:r>
              <a:rPr sz="1250" b="1">
                <a:solidFill>
                  <a:srgbClr val="0F6E56"/>
                </a:solidFill>
              </a:rPr>
              <a:t>8.  The first step in ethical decision making is to   →  ✅ gather the facts</a:t>
            </a:r>
          </a:p>
          <a:p>
            <a:pPr lvl="1"/>
            <a:r>
              <a:rPr sz="1250" b="1">
                <a:solidFill>
                  <a:srgbClr val="0F6E56"/>
                </a:solidFill>
              </a:rPr>
              <a:t>9.  'Greatest good for the greatest number' is the   →  ✅ utilitarian lens</a:t>
            </a:r>
          </a:p>
          <a:p>
            <a:pPr lvl="1"/>
            <a:r>
              <a:rPr sz="1250" b="1">
                <a:solidFill>
                  <a:srgbClr val="0F6E56"/>
                </a:solidFill>
              </a:rPr>
              <a:t>10.  Going along with a bad team decision is   →  ✅ groupthink</a:t>
            </a:r>
          </a:p>
          <a:p>
            <a:pPr lvl="1"/>
            <a:r>
              <a:rPr sz="1250" b="1">
                <a:solidFill>
                  <a:srgbClr val="0F6E56"/>
                </a:solidFill>
              </a:rPr>
              <a:t>11.  What most makes IT ethics distinct is the   →  ✅ scale, speed &amp; permanence of impact</a:t>
            </a:r>
          </a:p>
          <a:p>
            <a:pPr lvl="1"/>
            <a:r>
              <a:rPr sz="1250" b="1">
                <a:solidFill>
                  <a:srgbClr val="0F6E56"/>
                </a:solidFill>
              </a:rPr>
              <a:t>12.  In 'PAPA' the four themes are Privacy, Accuracy, Property and   →  ✅ Access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99 / 101</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Sections B–D — short answer, applied case &amp; discussion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Section B — Short answer</a:t>
            </a:r>
          </a:p>
          <a:p>
            <a:pPr lvl="1">
              <a:spcBef>
                <a:spcPts val="200"/>
              </a:spcBef>
            </a:pPr>
            <a:r>
              <a:rPr sz="1250" i="1">
                <a:solidFill>
                  <a:srgbClr val="1A1A1A"/>
                </a:solidFill>
              </a:rPr>
              <a:t>13. Define CSR + Carroll's four levels in order.   14. Four components of an effective ethics program.</a:t>
            </a:r>
          </a:p>
          <a:p>
            <a:pPr lvl="1">
              <a:spcBef>
                <a:spcPts val="200"/>
              </a:spcBef>
            </a:pPr>
            <a:r>
              <a:rPr sz="1250" i="1">
                <a:solidFill>
                  <a:srgbClr val="1A1A1A"/>
                </a:solidFill>
              </a:rPr>
              <a:t>15. Three ethical lenses + a test question each.   16. Explain 'tone at the top'.   17. Two reasons technology is not value-neutral.</a:t>
            </a:r>
          </a:p>
          <a:p>
            <a:pPr>
              <a:spcBef>
                <a:spcPts val="500"/>
              </a:spcBef>
            </a:pPr>
            <a:r>
              <a:rPr sz="1400" b="1">
                <a:solidFill>
                  <a:srgbClr val="0C2B4A"/>
                </a:solidFill>
              </a:rPr>
              <a:t>Section C — Applied case</a:t>
            </a:r>
          </a:p>
          <a:p>
            <a:pPr lvl="1">
              <a:spcBef>
                <a:spcPts val="200"/>
              </a:spcBef>
            </a:pPr>
            <a:r>
              <a:rPr sz="1250" i="1">
                <a:solidFill>
                  <a:srgbClr val="1A1A1A"/>
                </a:solidFill>
              </a:rPr>
              <a:t>18. Apply the 5-step process: a vendor offers your procurement officer a 'gift' to win a tender.</a:t>
            </a:r>
          </a:p>
          <a:p>
            <a:pPr lvl="1">
              <a:spcBef>
                <a:spcPts val="200"/>
              </a:spcBef>
            </a:pPr>
            <a:r>
              <a:rPr sz="1250" i="1">
                <a:solidFill>
                  <a:srgbClr val="1A1A1A"/>
                </a:solidFill>
              </a:rPr>
              <a:t>19. Place on the legal/ethical grid, with a reason: (a) a bribe (b) a tax loophole (c) whistle-blowing on fraud (d) sharing one paid login.</a:t>
            </a:r>
          </a:p>
          <a:p>
            <a:pPr>
              <a:spcBef>
                <a:spcPts val="500"/>
              </a:spcBef>
            </a:pPr>
            <a:r>
              <a:rPr sz="1400" b="1">
                <a:solidFill>
                  <a:srgbClr val="0C2B4A"/>
                </a:solidFill>
              </a:rPr>
              <a:t>Section D — Discussion</a:t>
            </a:r>
          </a:p>
          <a:p>
            <a:pPr lvl="1">
              <a:spcBef>
                <a:spcPts val="200"/>
              </a:spcBef>
            </a:pPr>
            <a:r>
              <a:rPr sz="1250" i="1">
                <a:solidFill>
                  <a:srgbClr val="1A1A1A"/>
                </a:solidFill>
              </a:rPr>
              <a:t>20. 'Sharing one paid streaming/Canva account among friends is unethical.' Argue both sides, then take a position using one lens.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100 / 101</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End of Unit 1  ·  IT 246</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S1–S5 complete: ethics vs law/morals/etiquette · the legal/ethical grid · business ethics &amp; CSR · improving ethics · 5-step decisions &amp; 4 lenses · ethics in IT (PAPA, can vs should)</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Built to COURSE_MATERIAL_STANDARD.md incl. the §7A depth rule · comparison &amp; concrete-example tables throughout · self-contained, PDF-safe · Next: Unit 2 — Ethics for IT Workers &amp; Users.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101 / 101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