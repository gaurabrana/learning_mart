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HOOK [~5 min]. Draw out that 'quality' is more than 'no crash on the demo'. Agenda: what quality is → the cost of poor quality → safety-critical software &amp; famous failures.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Users abandon a wallet app that drops transactions or double-charges, however slick the demo was. Quality is judged in production, not in the pitch.</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min. Work the Dashain fintech bug: the refund is trivial next to the lost customers, support surge, and reputation hit. That's the real cost.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min. Therac-25 (radiation overdoses), 737 MAX (MCAS), Ariane 5 (unit-conversion overflow) — each a software failure that killed or cost hugely. The rigour is proportional to the stakes.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[~5 min].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QUIZ [~5 min]. Draw out the hidden-cost point and the safety-critical distinction — some failures are annoyances, some are dangers.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REAL-LIFE APPLICATION [~3 min] + SUMMARY [~2 min].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HOOK [~5 min]. Draw out that quality is engineered by process, not hoped for. Agenda: testing → QA vs QC → standards &amp; process models → risk management.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min. A Nepali QA/BPO firm runs test cycles for foreign clients; UAT with NRB/the bank precedes a digital-banking go-live. Ad-hoc clicking is not testing.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The 'heroic tester at the end' has no safety net — one sick day and defects ship. QA makes quality repeatable, not dependent on a hero.</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min. Certification is often the ticket to a foreign contract — quality becomes a business asset, not just an ethical one. Bust the 'Agile = no docs' myth.</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Risk management is checking the weather and carrying a torch BEFORE the trek, not after you're stuck on the pass. Plan the rollback before you need it.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[~5 min].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QUIZ [~5 min]. Reward answers that hold a quality floor for safety-critical paths and document who owns the accepted risk.</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REAL-LIFE APPLICATION [~3 min] + SUMMARY [~2 min].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HOOK [~5 min]. Note that most students here will BE the contingent/offshore worker. Agenda: contingent workers → outsourcing &amp; offshoring → the ethical balance (both sides).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min. Many Nepali developers ARE contingent workers (Upwork/Fiverr, contract-to-foreign-firm): flexible income, but no job security, benefits, or paid leave. Make it personal.</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min. Nepal both receives outsourcing (as a destination) and sometimes outsources pieces onward. The cross-border data question is the ethical/security crux.</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 Analogy: outsourcing is hiring a kitchen across town — cheaper and scalable, but if hygiene slips there, YOUR customers get sick and YOUR name takes the blame.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[~5 min].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QUIZ [~5 min]. Push for stakeholder reasoning — the point is that outsourcing helps some and harms others simultaneously.</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REAL-LIFE APPLICATION [~3 min] + SUMMARY [~2 min].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HOOK [~5 min]. Hold the tension: loyalty to employer vs duty to the public. Agenda: what whistle-blowing is → when/how to do it responsibly → the risks, protections &amp; famous cases.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Snowden (NSA surveillance) and Frances Haugen (the Facebook/Meta files) are the canonical public-interest disclosures — note the very different fallout each faced.</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min. A developer at a Nepali bank/gov project escalates to the compliance officer / internal audit before considering the CIAA or the press. The order matters — and protects you.</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In a small market like Nepal's, blacklisting is a real threat. Be honest that courage here costs more because the legal net is thinner.</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[~5 min].</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QUIZ [~5 min]. Draw out the honest tension between the ethical ideal and the real personal risk under weak protection.</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REAL-LIFE APPLICATION [~3 min] + SUMMARY [~2 min].</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HOOK [~5 min]. Bust the 'digital = clean' myth up front. Agenda: what green computing is → energy &amp; sustainable IT → e-waste → corporate responsibility (links to Unit 1 CSR).</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The key myth to kill: 'digital has no footprint'. Every search and transaction runs on a physical data centre consuming real electricity.</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min. Work the always-on-desktops case: 50 machines left on overnight 'for convenience' is a measurable, avoidable energy and emissions cost.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min. E-waste piles up in Kathmandu with little formal recycling; informal dumping/burning in the valley releases toxins. Weak e-waste regulation makes personal/organizational responsibility matter more.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 Analogy: ignoring e-waste is like trekkers leaving plastic on the trail to Everest — invisible once you've moved on, but it piles up and poisons the place for everyone after.</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[~5 min].</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QUIZ [~5 min]. Connect to Unit 1 CSR and Unit 2 data-privacy (wipe before disposal) — green computing ties the whole course together.</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REAL-LIFE APPLICATION [~3 min] + SUMMARY [~2 min].</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as a 15–20 min in-class quiz or take-home review.</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Consolidated quiz Section A.</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Consolidated quiz Sections B–D. Model answers on the concept slides and in Unit4_material.md.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25.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3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C2B4A"/>
        </a:solidFill>
        <a:effectLst/>
      </p:bgPr>
    </p:bg>
    <p:spTree>
      <p:nvGrpSpPr>
        <p:cNvPr id="1" name=""/>
        <p:cNvGrpSpPr/>
        <p:nvPr/>
      </p:nvGrpSpPr>
      <p:grpSpPr/>
      <p:sp>
        <p:nvSpPr>
          <p:cNvPr id="2" name="Rectangle 1"/>
          <p:cNvSpPr/>
          <p:nvPr/>
        </p:nvSpPr>
        <p:spPr>
          <a:xfrm>
            <a:off x="822960" y="2788920"/>
            <a:ext cx="1463040" cy="91440"/>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828800"/>
            <a:ext cx="10515600" cy="1005840"/>
          </a:xfrm>
          <a:prstGeom prst="rect">
            <a:avLst/>
          </a:prstGeom>
          <a:noFill/>
        </p:spPr>
        <p:txBody>
          <a:bodyPr wrap="square">
            <a:spAutoFit/>
          </a:bodyPr>
          <a:lstStyle/>
          <a:p>
            <a:r>
              <a:rPr sz="3300" b="1">
                <a:solidFill>
                  <a:srgbClr val="FFFFFF"/>
                </a:solidFill>
              </a:rPr>
              <a:t>Unit 4 — Ethical Decisions in Software Development &amp; IT Organizations</a:t>
            </a:r>
          </a:p>
        </p:txBody>
      </p:sp>
      <p:sp>
        <p:nvSpPr>
          <p:cNvPr id="4" name="TextBox 3"/>
          <p:cNvSpPr txBox="1"/>
          <p:nvPr/>
        </p:nvSpPr>
        <p:spPr>
          <a:xfrm>
            <a:off x="822960" y="3017520"/>
            <a:ext cx="10515600" cy="1097280"/>
          </a:xfrm>
          <a:prstGeom prst="rect">
            <a:avLst/>
          </a:prstGeom>
          <a:noFill/>
        </p:spPr>
        <p:txBody>
          <a:bodyPr wrap="square">
            <a:spAutoFit/>
          </a:bodyPr>
          <a:lstStyle/>
          <a:p>
            <a:r>
              <a:rPr sz="1800">
                <a:solidFill>
                  <a:srgbClr val="CFDDEA"/>
                </a:solidFill>
              </a:rPr>
              <a:t>IT 246: IT Ethics &amp; Cybersecurity  ·  BIM 6th Semester  ·  Sessions S17–S21</a:t>
            </a:r>
          </a:p>
        </p:txBody>
      </p:sp>
      <p:sp>
        <p:nvSpPr>
          <p:cNvPr id="5" name="TextBox 4"/>
          <p:cNvSpPr txBox="1"/>
          <p:nvPr/>
        </p:nvSpPr>
        <p:spPr>
          <a:xfrm>
            <a:off x="822960" y="5852160"/>
            <a:ext cx="10515600" cy="731520"/>
          </a:xfrm>
          <a:prstGeom prst="rect">
            <a:avLst/>
          </a:prstGeom>
          <a:noFill/>
        </p:spPr>
        <p:txBody>
          <a:bodyPr wrap="square">
            <a:spAutoFit/>
          </a:bodyPr>
          <a:lstStyle/>
          <a:p>
            <a:r>
              <a:rPr sz="1300">
                <a:solidFill>
                  <a:srgbClr val="9AB2C6"/>
                </a:solidFill>
              </a:rPr>
              <a:t>Self-contained slides with depth: every concept grounded in comparison &amp; concrete-example TABLES (Nepal / IT localised) — no abstraction without instances. Exports to PDF with no information lost.</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E8F0F7"/>
                </a:solidFill>
              </a:rPr>
              <a:t>1 / 94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SOFTWARE &amp; ORGANIZATIONS  ·  S17–S21</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Unit 4 — Learning Outcomes</a:t>
            </a:r>
          </a:p>
        </p:txBody>
      </p:sp>
      <p:sp>
        <p:nvSpPr>
          <p:cNvPr id="5" name="TextBox 4"/>
          <p:cNvSpPr txBox="1"/>
          <p:nvPr/>
        </p:nvSpPr>
        <p:spPr>
          <a:xfrm>
            <a:off x="640080" y="1600200"/>
            <a:ext cx="10972800" cy="4206240"/>
          </a:xfrm>
          <a:prstGeom prst="rect">
            <a:avLst/>
          </a:prstGeom>
          <a:noFill/>
        </p:spPr>
        <p:txBody>
          <a:bodyPr wrap="square">
            <a:spAutoFit/>
          </a:bodyPr>
          <a:lstStyle/>
          <a:p>
            <a:pPr>
              <a:spcAft>
                <a:spcPts val="800"/>
              </a:spcAft>
            </a:pPr>
            <a:r>
              <a:rPr sz="1600" b="1">
                <a:solidFill>
                  <a:srgbClr val="0C2B4A"/>
                </a:solidFill>
              </a:rPr>
              <a:t>By the end of this unit, you will be able to:</a:t>
            </a:r>
          </a:p>
          <a:p>
            <a:pPr>
              <a:spcAft>
                <a:spcPts val="500"/>
              </a:spcAft>
            </a:pPr>
            <a:r>
              <a:rPr sz="1450">
                <a:solidFill>
                  <a:srgbClr val="1A1A1A"/>
                </a:solidFill>
              </a:rPr>
              <a:t>•  Define software quality and explain why poor quality is costly and sometimes deadly (S17)</a:t>
            </a:r>
          </a:p>
          <a:p>
            <a:pPr>
              <a:spcAft>
                <a:spcPts val="500"/>
              </a:spcAft>
            </a:pPr>
            <a:r>
              <a:rPr sz="1450">
                <a:solidFill>
                  <a:srgbClr val="1A1A1A"/>
                </a:solidFill>
              </a:rPr>
              <a:t>•  Describe concrete strategies — testing, QA, standards, risk management — for quality software (S18)</a:t>
            </a:r>
          </a:p>
          <a:p>
            <a:pPr>
              <a:spcAft>
                <a:spcPts val="500"/>
              </a:spcAft>
            </a:pPr>
            <a:r>
              <a:rPr sz="1450">
                <a:solidFill>
                  <a:srgbClr val="1A1A1A"/>
                </a:solidFill>
              </a:rPr>
              <a:t>•  Evaluate the ethical pros and cons of contingent workers and offshore outsourcing (S19)</a:t>
            </a:r>
          </a:p>
          <a:p>
            <a:pPr>
              <a:spcAft>
                <a:spcPts val="500"/>
              </a:spcAft>
            </a:pPr>
            <a:r>
              <a:rPr sz="1450">
                <a:solidFill>
                  <a:srgbClr val="1A1A1A"/>
                </a:solidFill>
              </a:rPr>
              <a:t>•  Explain when, how, and at what risk to blow the whistle, and what protections exist (S20)</a:t>
            </a:r>
          </a:p>
          <a:p>
            <a:pPr>
              <a:spcAft>
                <a:spcPts val="500"/>
              </a:spcAft>
            </a:pPr>
            <a:r>
              <a:rPr sz="1450">
                <a:solidFill>
                  <a:srgbClr val="1A1A1A"/>
                </a:solidFill>
              </a:rPr>
              <a:t>•  Explain green computing — energy, e-waste, sustainable IT — and the IT org's responsibility (S21)</a:t>
            </a:r>
          </a:p>
        </p:txBody>
      </p:sp>
      <p:sp>
        <p:nvSpPr>
          <p:cNvPr id="6" name="Rounded Rectangle 5"/>
          <p:cNvSpPr/>
          <p:nvPr/>
        </p:nvSpPr>
        <p:spPr>
          <a:xfrm>
            <a:off x="640080" y="5806440"/>
            <a:ext cx="10972800" cy="77724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Course context</a:t>
            </a:r>
          </a:p>
          <a:p>
            <a:pPr>
              <a:spcBef>
                <a:spcPts val="300"/>
              </a:spcBef>
            </a:pPr>
            <a:r>
              <a:rPr sz="1300">
                <a:solidFill>
                  <a:srgbClr val="1A1A1A"/>
                </a:solidFill>
              </a:rPr>
              <a:t>This is Unit 4 of IT 246. It turns Unit 1's ethical reasoning and Unit 2's professional duties toward how software is actually BUILT and how IT organizations behave — quality, labour, courage, and sustainability.</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2 / 94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UNIT 4 — ROADMAP</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Where each session fits (S17–S21)</a:t>
            </a:r>
          </a:p>
        </p:txBody>
      </p:sp>
      <p:sp>
        <p:nvSpPr>
          <p:cNvPr id="5" name="Rounded Rectangle 4"/>
          <p:cNvSpPr/>
          <p:nvPr/>
        </p:nvSpPr>
        <p:spPr>
          <a:xfrm>
            <a:off x="640080" y="1645920"/>
            <a:ext cx="5349240" cy="4160520"/>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THIS UNIT  ·  S1–S5</a:t>
            </a:r>
          </a:p>
          <a:p>
            <a:pPr>
              <a:spcBef>
                <a:spcPts val="300"/>
              </a:spcBef>
            </a:pPr>
            <a:r>
              <a:rPr sz="1400">
                <a:solidFill>
                  <a:srgbClr val="1A1A1A"/>
                </a:solidFill>
              </a:rPr>
              <a:t>S17  Software quality &amp; its importance (incl. safety-critical)
S18  Strategies for quality (testing · QA/QC · standards · risk)
S19  Contingent workers &amp; outsourcing (the ethics)
S20  Whistle-blowing (when, how, at what risk)
S21  Green computing (energy · e-waste · CSR) — closes unit</a:t>
            </a:r>
          </a:p>
        </p:txBody>
      </p:sp>
      <p:sp>
        <p:nvSpPr>
          <p:cNvPr id="6" name="Rounded Rectangle 5"/>
          <p:cNvSpPr/>
          <p:nvPr/>
        </p:nvSpPr>
        <p:spPr>
          <a:xfrm>
            <a:off x="6199632" y="1645920"/>
            <a:ext cx="5349240" cy="4160520"/>
          </a:xfrm>
          <a:prstGeom prst="roundRect">
            <a:avLst/>
          </a:prstGeom>
          <a:solidFill>
            <a:srgbClr val="F2F5F8"/>
          </a:solidFill>
          <a:ln w="12700">
            <a:solidFill>
              <a:srgbClr val="55606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55606B"/>
                </a:solidFill>
              </a:rPr>
              <a:t>⏭️  LATER UNITS</a:t>
            </a:r>
          </a:p>
          <a:p>
            <a:pPr>
              <a:spcBef>
                <a:spcPts val="300"/>
              </a:spcBef>
            </a:pPr>
            <a:r>
              <a:rPr sz="1400">
                <a:solidFill>
                  <a:srgbClr val="1A1A1A"/>
                </a:solidFill>
              </a:rPr>
              <a:t>Units 5–8   Cybersecurity &amp; digital forensics
Unit 9   Cyber law in Nepal (ETA, Privacy Act)</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3 / 94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85FA5"/>
        </a:solidFill>
        <a:effectLst/>
      </p:bgPr>
    </p:bg>
    <p:spTree>
      <p:nvGrpSpPr>
        <p:cNvPr id="1" name=""/>
        <p:cNvGrpSpPr/>
        <p:nvPr/>
      </p:nvGrpSpPr>
      <p:grpSpPr/>
      <p:sp>
        <p:nvSpPr>
          <p:cNvPr id="2" name="TextBox 1"/>
          <p:cNvSpPr txBox="1"/>
          <p:nvPr/>
        </p:nvSpPr>
        <p:spPr>
          <a:xfrm>
            <a:off x="822960" y="1737360"/>
            <a:ext cx="10515600" cy="548640"/>
          </a:xfrm>
          <a:prstGeom prst="rect">
            <a:avLst/>
          </a:prstGeom>
          <a:noFill/>
        </p:spPr>
        <p:txBody>
          <a:bodyPr wrap="none">
            <a:spAutoFit/>
          </a:bodyPr>
          <a:lstStyle/>
          <a:p>
            <a:r>
              <a:rPr sz="1500" b="1">
                <a:solidFill>
                  <a:srgbClr val="BFDCF2"/>
                </a:solidFill>
              </a:rPr>
              <a:t>SESSION 17 · LECTURE HOUR 1 (OF 5)</a:t>
            </a:r>
          </a:p>
        </p:txBody>
      </p:sp>
      <p:sp>
        <p:nvSpPr>
          <p:cNvPr id="3" name="TextBox 2"/>
          <p:cNvSpPr txBox="1"/>
          <p:nvPr/>
        </p:nvSpPr>
        <p:spPr>
          <a:xfrm>
            <a:off x="822960" y="2286000"/>
            <a:ext cx="10515600" cy="1280160"/>
          </a:xfrm>
          <a:prstGeom prst="rect">
            <a:avLst/>
          </a:prstGeom>
          <a:noFill/>
        </p:spPr>
        <p:txBody>
          <a:bodyPr wrap="square">
            <a:spAutoFit/>
          </a:bodyPr>
          <a:lstStyle/>
          <a:p>
            <a:r>
              <a:rPr sz="3000" b="1">
                <a:solidFill>
                  <a:srgbClr val="FFFFFF"/>
                </a:solidFill>
              </a:rPr>
              <a:t>Software Quality and its Importance</a:t>
            </a:r>
          </a:p>
        </p:txBody>
      </p:sp>
      <p:sp>
        <p:nvSpPr>
          <p:cNvPr id="4" name="Rectangle 3"/>
          <p:cNvSpPr/>
          <p:nvPr/>
        </p:nvSpPr>
        <p:spPr>
          <a:xfrm>
            <a:off x="822960" y="3703320"/>
            <a:ext cx="1280160" cy="82296"/>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3886200"/>
            <a:ext cx="10515600" cy="2194560"/>
          </a:xfrm>
          <a:prstGeom prst="rect">
            <a:avLst/>
          </a:prstGeom>
          <a:noFill/>
        </p:spPr>
        <p:txBody>
          <a:bodyPr wrap="square">
            <a:spAutoFit/>
          </a:bodyPr>
          <a:lstStyle/>
          <a:p>
            <a:r>
              <a:rPr sz="1800" i="1">
                <a:solidFill>
                  <a:srgbClr val="E8F1F9"/>
                </a:solidFill>
              </a:rPr>
              <a:t>🎣  A banking app rounds every transaction down by 1 paisa and quietly pockets the difference; a hospital system shows the wrong patient's blood group. One bug annoys, one kills. So what exactly IS 'quality' software — and who pays when it's missing?</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E8F0F7"/>
                </a:solidFill>
              </a:rPr>
              <a:t>4 / 94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S17 · CONCEPT 1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What Is Software Quality</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Software quality = the degree to which software meets its stated requirements AND users' real expectations — reliably and safely. A working slogan: quality = conformance to requirements + fitness for use. It has functional and non-functional dimensions.</a:t>
            </a:r>
          </a:p>
          <a:p>
            <a:pPr>
              <a:spcAft>
                <a:spcPts val="500"/>
              </a:spcAft>
            </a:pPr>
            <a:r>
              <a:rPr sz="1200" b="1">
                <a:solidFill>
                  <a:srgbClr val="185FA5"/>
                </a:solidFill>
              </a:rPr>
              <a:t>HOW IT WORKS</a:t>
            </a:r>
          </a:p>
          <a:p>
            <a:pPr>
              <a:spcAft>
                <a:spcPts val="600"/>
              </a:spcAft>
            </a:pPr>
            <a:r>
              <a:rPr sz="1400">
                <a:solidFill>
                  <a:srgbClr val="1A1A1A"/>
                </a:solidFill>
              </a:rPr>
              <a:t>•  Functional quality: it does what the spec says (correctness).</a:t>
            </a:r>
          </a:p>
          <a:p>
            <a:pPr>
              <a:spcAft>
                <a:spcPts val="600"/>
              </a:spcAft>
            </a:pPr>
            <a:r>
              <a:rPr sz="1400">
                <a:solidFill>
                  <a:srgbClr val="1A1A1A"/>
                </a:solidFill>
              </a:rPr>
              <a:t>•  Non-functional quality: reliability over time, usability, security, maintainability.</a:t>
            </a:r>
          </a:p>
          <a:p>
            <a:pPr>
              <a:spcAft>
                <a:spcPts val="600"/>
              </a:spcAft>
            </a:pPr>
            <a:r>
              <a:rPr sz="1400">
                <a:solidFill>
                  <a:srgbClr val="1A1A1A"/>
                </a:solidFill>
              </a:rPr>
              <a:t>•  'Passes the demo' is not quality — it must hold up under real load, over time, for real users.</a:t>
            </a:r>
          </a:p>
          <a:p>
            <a:pPr>
              <a:spcAft>
                <a:spcPts val="600"/>
              </a:spcAft>
            </a:pPr>
            <a:r>
              <a:rPr sz="1400">
                <a:solidFill>
                  <a:srgbClr val="1A1A1A"/>
                </a:solidFill>
              </a:rPr>
              <a:t>•  Fitness for use means it works in the user's actual context, not just the developer's laptop.</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Quality = does what's required + fit for real use, reliably and safely.</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5 / 94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S17 · CONCEPT 1 · SCAFFOLDING</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attributes that make up software quality</a:t>
            </a:r>
          </a:p>
        </p:txBody>
      </p:sp>
      <p:graphicFrame>
        <p:nvGraphicFramePr>
          <p:cNvPr id="5" name="Table 4"/>
          <p:cNvGraphicFramePr>
            <a:graphicFrameLocks noGrp="1"/>
          </p:cNvGraphicFramePr>
          <p:nvPr/>
        </p:nvGraphicFramePr>
        <p:xfrm>
          <a:off x="384048" y="1572768"/>
          <a:ext cx="11429999" cy="4416552"/>
        </p:xfrm>
        <a:graphic>
          <a:graphicData uri="http://schemas.openxmlformats.org/drawingml/2006/table">
            <a:tbl>
              <a:tblPr>
                <a:tableStyleId>{5C22544A-7EE6-4342-B048-85BDC9FD1C3A}</a:tableStyleId>
              </a:tblPr>
              <a:tblGrid>
                <a:gridCol w="2612571"/>
                <a:gridCol w="4245428"/>
                <a:gridCol w="4572000"/>
              </a:tblGrid>
              <a:tr h="630936">
                <a:tc>
                  <a:txBody>
                    <a:bodyPr wrap="square"/>
                    <a:lstStyle/>
                    <a:p>
                      <a:r>
                        <a:rPr sz="1150" b="1">
                          <a:solidFill>
                            <a:srgbClr val="FFFFFF"/>
                          </a:solidFill>
                        </a:rPr>
                        <a:t>Attribute</a:t>
                      </a:r>
                    </a:p>
                  </a:txBody>
                  <a:tcPr anchor="ctr" marL="73152" marR="54864" marT="27432" marB="27432">
                    <a:solidFill>
                      <a:srgbClr val="0C2B4A"/>
                    </a:solidFill>
                  </a:tcPr>
                </a:tc>
                <a:tc>
                  <a:txBody>
                    <a:bodyPr wrap="square"/>
                    <a:lstStyle/>
                    <a:p>
                      <a:r>
                        <a:rPr sz="1150" b="1">
                          <a:solidFill>
                            <a:srgbClr val="FFFFFF"/>
                          </a:solidFill>
                        </a:rPr>
                        <a:t>What it means</a:t>
                      </a:r>
                    </a:p>
                  </a:txBody>
                  <a:tcPr anchor="ctr" marL="73152" marR="54864" marT="27432" marB="27432">
                    <a:solidFill>
                      <a:srgbClr val="0C2B4A"/>
                    </a:solidFill>
                  </a:tcPr>
                </a:tc>
                <a:tc>
                  <a:txBody>
                    <a:bodyPr wrap="square"/>
                    <a:lstStyle/>
                    <a:p>
                      <a:r>
                        <a:rPr sz="1150" b="1">
                          <a:solidFill>
                            <a:srgbClr val="FFFFFF"/>
                          </a:solidFill>
                        </a:rPr>
                        <a:t>Failure example (Nepal / IT)</a:t>
                      </a:r>
                    </a:p>
                  </a:txBody>
                  <a:tcPr anchor="ctr" marL="73152" marR="54864" marT="27432" marB="27432">
                    <a:solidFill>
                      <a:srgbClr val="0C2B4A"/>
                    </a:solidFill>
                  </a:tcPr>
                </a:tc>
              </a:tr>
              <a:tr h="630936">
                <a:tc>
                  <a:txBody>
                    <a:bodyPr wrap="square"/>
                    <a:lstStyle/>
                    <a:p>
                      <a:r>
                        <a:rPr sz="1100" b="1">
                          <a:solidFill>
                            <a:srgbClr val="0C2B4A"/>
                          </a:solidFill>
                        </a:rPr>
                        <a:t>Correctness</a:t>
                      </a:r>
                    </a:p>
                  </a:txBody>
                  <a:tcPr anchor="ctr" marL="73152" marR="54864" marT="27432" marB="27432">
                    <a:solidFill>
                      <a:srgbClr val="FFFFFF"/>
                    </a:solidFill>
                  </a:tcPr>
                </a:tc>
                <a:tc>
                  <a:txBody>
                    <a:bodyPr wrap="square"/>
                    <a:lstStyle/>
                    <a:p>
                      <a:r>
                        <a:rPr sz="1100">
                          <a:solidFill>
                            <a:srgbClr val="1A1A1A"/>
                          </a:solidFill>
                        </a:rPr>
                        <a:t>Does what the requirements say</a:t>
                      </a:r>
                    </a:p>
                  </a:txBody>
                  <a:tcPr anchor="ctr" marL="73152" marR="54864" marT="27432" marB="27432">
                    <a:solidFill>
                      <a:srgbClr val="FFFFFF"/>
                    </a:solidFill>
                  </a:tcPr>
                </a:tc>
                <a:tc>
                  <a:txBody>
                    <a:bodyPr wrap="square"/>
                    <a:lstStyle/>
                    <a:p>
                      <a:r>
                        <a:rPr sz="1100">
                          <a:solidFill>
                            <a:srgbClr val="1A1A1A"/>
                          </a:solidFill>
                        </a:rPr>
                        <a:t>A wallet that miscalculates a balance</a:t>
                      </a:r>
                    </a:p>
                  </a:txBody>
                  <a:tcPr anchor="ctr" marL="73152" marR="54864" marT="27432" marB="27432">
                    <a:solidFill>
                      <a:srgbClr val="FFFFFF"/>
                    </a:solidFill>
                  </a:tcPr>
                </a:tc>
              </a:tr>
              <a:tr h="630936">
                <a:tc>
                  <a:txBody>
                    <a:bodyPr wrap="square"/>
                    <a:lstStyle/>
                    <a:p>
                      <a:r>
                        <a:rPr sz="1100" b="1">
                          <a:solidFill>
                            <a:srgbClr val="0C2B4A"/>
                          </a:solidFill>
                        </a:rPr>
                        <a:t>Reliability</a:t>
                      </a:r>
                    </a:p>
                  </a:txBody>
                  <a:tcPr anchor="ctr" marL="73152" marR="54864" marT="27432" marB="27432">
                    <a:solidFill>
                      <a:srgbClr val="EEF3F8"/>
                    </a:solidFill>
                  </a:tcPr>
                </a:tc>
                <a:tc>
                  <a:txBody>
                    <a:bodyPr wrap="square"/>
                    <a:lstStyle/>
                    <a:p>
                      <a:r>
                        <a:rPr sz="1100">
                          <a:solidFill>
                            <a:srgbClr val="1A1A1A"/>
                          </a:solidFill>
                        </a:rPr>
                        <a:t>Works consistently over time &amp; load</a:t>
                      </a:r>
                    </a:p>
                  </a:txBody>
                  <a:tcPr anchor="ctr" marL="73152" marR="54864" marT="27432" marB="27432">
                    <a:solidFill>
                      <a:srgbClr val="EEF3F8"/>
                    </a:solidFill>
                  </a:tcPr>
                </a:tc>
                <a:tc>
                  <a:txBody>
                    <a:bodyPr wrap="square"/>
                    <a:lstStyle/>
                    <a:p>
                      <a:r>
                        <a:rPr sz="1100">
                          <a:solidFill>
                            <a:srgbClr val="1A1A1A"/>
                          </a:solidFill>
                        </a:rPr>
                        <a:t>A banking app that crashes every Dashain rush</a:t>
                      </a:r>
                    </a:p>
                  </a:txBody>
                  <a:tcPr anchor="ctr" marL="73152" marR="54864" marT="27432" marB="27432">
                    <a:solidFill>
                      <a:srgbClr val="EEF3F8"/>
                    </a:solidFill>
                  </a:tcPr>
                </a:tc>
              </a:tr>
              <a:tr h="630936">
                <a:tc>
                  <a:txBody>
                    <a:bodyPr wrap="square"/>
                    <a:lstStyle/>
                    <a:p>
                      <a:r>
                        <a:rPr sz="1100" b="1">
                          <a:solidFill>
                            <a:srgbClr val="0C2B4A"/>
                          </a:solidFill>
                        </a:rPr>
                        <a:t>Usability</a:t>
                      </a:r>
                    </a:p>
                  </a:txBody>
                  <a:tcPr anchor="ctr" marL="73152" marR="54864" marT="27432" marB="27432">
                    <a:solidFill>
                      <a:srgbClr val="FFFFFF"/>
                    </a:solidFill>
                  </a:tcPr>
                </a:tc>
                <a:tc>
                  <a:txBody>
                    <a:bodyPr wrap="square"/>
                    <a:lstStyle/>
                    <a:p>
                      <a:r>
                        <a:rPr sz="1100">
                          <a:solidFill>
                            <a:srgbClr val="1A1A1A"/>
                          </a:solidFill>
                        </a:rPr>
                        <a:t>Real users can actually use it</a:t>
                      </a:r>
                    </a:p>
                  </a:txBody>
                  <a:tcPr anchor="ctr" marL="73152" marR="54864" marT="27432" marB="27432">
                    <a:solidFill>
                      <a:srgbClr val="FFFFFF"/>
                    </a:solidFill>
                  </a:tcPr>
                </a:tc>
                <a:tc>
                  <a:txBody>
                    <a:bodyPr wrap="square"/>
                    <a:lstStyle/>
                    <a:p>
                      <a:r>
                        <a:rPr sz="1100">
                          <a:solidFill>
                            <a:srgbClr val="1A1A1A"/>
                          </a:solidFill>
                        </a:rPr>
                        <a:t>A govt e-service no ordinary citizen can navigate</a:t>
                      </a:r>
                    </a:p>
                  </a:txBody>
                  <a:tcPr anchor="ctr" marL="73152" marR="54864" marT="27432" marB="27432">
                    <a:solidFill>
                      <a:srgbClr val="FFFFFF"/>
                    </a:solidFill>
                  </a:tcPr>
                </a:tc>
              </a:tr>
              <a:tr h="630936">
                <a:tc>
                  <a:txBody>
                    <a:bodyPr wrap="square"/>
                    <a:lstStyle/>
                    <a:p>
                      <a:r>
                        <a:rPr sz="1100" b="1">
                          <a:solidFill>
                            <a:srgbClr val="0C2B4A"/>
                          </a:solidFill>
                        </a:rPr>
                        <a:t>Security</a:t>
                      </a:r>
                    </a:p>
                  </a:txBody>
                  <a:tcPr anchor="ctr" marL="73152" marR="54864" marT="27432" marB="27432">
                    <a:solidFill>
                      <a:srgbClr val="EEF3F8"/>
                    </a:solidFill>
                  </a:tcPr>
                </a:tc>
                <a:tc>
                  <a:txBody>
                    <a:bodyPr wrap="square"/>
                    <a:lstStyle/>
                    <a:p>
                      <a:r>
                        <a:rPr sz="1100">
                          <a:solidFill>
                            <a:srgbClr val="1A1A1A"/>
                          </a:solidFill>
                        </a:rPr>
                        <a:t>Protects data &amp; resists attack</a:t>
                      </a:r>
                    </a:p>
                  </a:txBody>
                  <a:tcPr anchor="ctr" marL="73152" marR="54864" marT="27432" marB="27432">
                    <a:solidFill>
                      <a:srgbClr val="EEF3F8"/>
                    </a:solidFill>
                  </a:tcPr>
                </a:tc>
                <a:tc>
                  <a:txBody>
                    <a:bodyPr wrap="square"/>
                    <a:lstStyle/>
                    <a:p>
                      <a:r>
                        <a:rPr sz="1100">
                          <a:solidFill>
                            <a:srgbClr val="1A1A1A"/>
                          </a:solidFill>
                        </a:rPr>
                        <a:t>An app that leaks KYC data (Unit 2/9)</a:t>
                      </a:r>
                    </a:p>
                  </a:txBody>
                  <a:tcPr anchor="ctr" marL="73152" marR="54864" marT="27432" marB="27432">
                    <a:solidFill>
                      <a:srgbClr val="EEF3F8"/>
                    </a:solidFill>
                  </a:tcPr>
                </a:tc>
              </a:tr>
              <a:tr h="630936">
                <a:tc>
                  <a:txBody>
                    <a:bodyPr wrap="square"/>
                    <a:lstStyle/>
                    <a:p>
                      <a:r>
                        <a:rPr sz="1100" b="1">
                          <a:solidFill>
                            <a:srgbClr val="0C2B4A"/>
                          </a:solidFill>
                        </a:rPr>
                        <a:t>Maintainability</a:t>
                      </a:r>
                    </a:p>
                  </a:txBody>
                  <a:tcPr anchor="ctr" marL="73152" marR="54864" marT="27432" marB="27432">
                    <a:solidFill>
                      <a:srgbClr val="FFFFFF"/>
                    </a:solidFill>
                  </a:tcPr>
                </a:tc>
                <a:tc>
                  <a:txBody>
                    <a:bodyPr wrap="square"/>
                    <a:lstStyle/>
                    <a:p>
                      <a:r>
                        <a:rPr sz="1100">
                          <a:solidFill>
                            <a:srgbClr val="1A1A1A"/>
                          </a:solidFill>
                        </a:rPr>
                        <a:t>Can be fixed &amp; extended safely</a:t>
                      </a:r>
                    </a:p>
                  </a:txBody>
                  <a:tcPr anchor="ctr" marL="73152" marR="54864" marT="27432" marB="27432">
                    <a:solidFill>
                      <a:srgbClr val="FFFFFF"/>
                    </a:solidFill>
                  </a:tcPr>
                </a:tc>
                <a:tc>
                  <a:txBody>
                    <a:bodyPr wrap="square"/>
                    <a:lstStyle/>
                    <a:p>
                      <a:r>
                        <a:rPr sz="1100">
                          <a:solidFill>
                            <a:srgbClr val="1A1A1A"/>
                          </a:solidFill>
                        </a:rPr>
                        <a:t>Spaghetti code where each fix breaks two things</a:t>
                      </a:r>
                    </a:p>
                  </a:txBody>
                  <a:tcPr anchor="ctr" marL="73152" marR="54864" marT="27432" marB="27432">
                    <a:solidFill>
                      <a:srgbClr val="FFFFFF"/>
                    </a:solidFill>
                  </a:tcPr>
                </a:tc>
              </a:tr>
              <a:tr h="630936">
                <a:tc>
                  <a:txBody>
                    <a:bodyPr wrap="square"/>
                    <a:lstStyle/>
                    <a:p>
                      <a:r>
                        <a:rPr sz="1100" b="1">
                          <a:solidFill>
                            <a:srgbClr val="0C2B4A"/>
                          </a:solidFill>
                        </a:rPr>
                        <a:t>Performance</a:t>
                      </a:r>
                    </a:p>
                  </a:txBody>
                  <a:tcPr anchor="ctr" marL="73152" marR="54864" marT="27432" marB="27432">
                    <a:solidFill>
                      <a:srgbClr val="EEF3F8"/>
                    </a:solidFill>
                  </a:tcPr>
                </a:tc>
                <a:tc>
                  <a:txBody>
                    <a:bodyPr wrap="square"/>
                    <a:lstStyle/>
                    <a:p>
                      <a:r>
                        <a:rPr sz="1100">
                          <a:solidFill>
                            <a:srgbClr val="1A1A1A"/>
                          </a:solidFill>
                        </a:rPr>
                        <a:t>Fast enough under real conditions</a:t>
                      </a:r>
                    </a:p>
                  </a:txBody>
                  <a:tcPr anchor="ctr" marL="73152" marR="54864" marT="27432" marB="27432">
                    <a:solidFill>
                      <a:srgbClr val="EEF3F8"/>
                    </a:solidFill>
                  </a:tcPr>
                </a:tc>
                <a:tc>
                  <a:txBody>
                    <a:bodyPr wrap="square"/>
                    <a:lstStyle/>
                    <a:p>
                      <a:r>
                        <a:rPr sz="1100">
                          <a:solidFill>
                            <a:srgbClr val="1A1A1A"/>
                          </a:solidFill>
                        </a:rPr>
                        <a:t>A tax portal that times out on the deadline day</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Quality is the WHOLE set, not just 'no visible bug'. A correct app that's insecure or unusable still fails its users.</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6 / 94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S17 · CONCEPT 1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What Is Software Quality</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An eSewa/Khalti or NIC Asia mobile-banking release is judged on quality in the real world: users abandon a wallet that drops transactions, double-charges, or can't be navigated — no matter how good the launch demo looked. Fitness for the user's actual context (poor network, low-end phones) is part of quality.</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"Quality just means no bugs / it passed the demo." Quality includes reliability over time, security, usability, and maintainability — fitness for the user's real context, not a one-off green demo. An app that works once for the developer can still be low-quality for thousands of users on weak networks.</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Software quality is the degree to which software meets its stated requirements and users' real expectations, reliably and safely — captured as conformance to requirements plus fitness for use. It spans functional correctness and non-functional attributes (reliability, usability, security, maintainability, performance), and is judged in real production use, not in a demo.</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software quality · conformance + fitness for use · functional vs non-functional · reliability · fitness for context</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7 / 94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S17 · CONCEPT 1 · CONCRETE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Real Nepali apps — which quality attribute failed</a:t>
            </a:r>
          </a:p>
        </p:txBody>
      </p:sp>
      <p:graphicFrame>
        <p:nvGraphicFramePr>
          <p:cNvPr id="5" name="Table 4"/>
          <p:cNvGraphicFramePr>
            <a:graphicFrameLocks noGrp="1"/>
          </p:cNvGraphicFramePr>
          <p:nvPr/>
        </p:nvGraphicFramePr>
        <p:xfrm>
          <a:off x="384048" y="1572768"/>
          <a:ext cx="11429999" cy="4416552"/>
        </p:xfrm>
        <a:graphic>
          <a:graphicData uri="http://schemas.openxmlformats.org/drawingml/2006/table">
            <a:tbl>
              <a:tblPr>
                <a:tableStyleId>{5C22544A-7EE6-4342-B048-85BDC9FD1C3A}</a:tableStyleId>
              </a:tblPr>
              <a:tblGrid>
                <a:gridCol w="3962399"/>
                <a:gridCol w="2895600"/>
                <a:gridCol w="4572000"/>
              </a:tblGrid>
              <a:tr h="630936">
                <a:tc>
                  <a:txBody>
                    <a:bodyPr wrap="square"/>
                    <a:lstStyle/>
                    <a:p>
                      <a:r>
                        <a:rPr sz="1150" b="1">
                          <a:solidFill>
                            <a:srgbClr val="FFFFFF"/>
                          </a:solidFill>
                        </a:rPr>
                        <a:t>Real case (Nepal / IT)</a:t>
                      </a:r>
                    </a:p>
                  </a:txBody>
                  <a:tcPr anchor="ctr" marL="73152" marR="54864" marT="27432" marB="27432">
                    <a:solidFill>
                      <a:srgbClr val="0C2B4A"/>
                    </a:solidFill>
                  </a:tcPr>
                </a:tc>
                <a:tc>
                  <a:txBody>
                    <a:bodyPr wrap="square"/>
                    <a:lstStyle/>
                    <a:p>
                      <a:r>
                        <a:rPr sz="1150" b="1">
                          <a:solidFill>
                            <a:srgbClr val="FFFFFF"/>
                          </a:solidFill>
                        </a:rPr>
                        <a:t>Attribute that failed</a:t>
                      </a:r>
                    </a:p>
                  </a:txBody>
                  <a:tcPr anchor="ctr" marL="73152" marR="54864" marT="27432" marB="27432">
                    <a:solidFill>
                      <a:srgbClr val="0C2B4A"/>
                    </a:solidFill>
                  </a:tcPr>
                </a:tc>
                <a:tc>
                  <a:txBody>
                    <a:bodyPr wrap="square"/>
                    <a:lstStyle/>
                    <a:p>
                      <a:r>
                        <a:rPr sz="1150" b="1">
                          <a:solidFill>
                            <a:srgbClr val="FFFFFF"/>
                          </a:solidFill>
                        </a:rPr>
                        <a:t>Why it's a quality failure (verdict)</a:t>
                      </a:r>
                    </a:p>
                  </a:txBody>
                  <a:tcPr anchor="ctr" marL="73152" marR="54864" marT="27432" marB="27432">
                    <a:solidFill>
                      <a:srgbClr val="0C2B4A"/>
                    </a:solidFill>
                  </a:tcPr>
                </a:tc>
              </a:tr>
              <a:tr h="630936">
                <a:tc>
                  <a:txBody>
                    <a:bodyPr wrap="square"/>
                    <a:lstStyle/>
                    <a:p>
                      <a:r>
                        <a:rPr sz="1100" b="1">
                          <a:solidFill>
                            <a:srgbClr val="0C2B4A"/>
                          </a:solidFill>
                        </a:rPr>
                        <a:t>eSewa/Khalti wallet crashes in the Dashain rush</a:t>
                      </a:r>
                    </a:p>
                  </a:txBody>
                  <a:tcPr anchor="ctr" marL="73152" marR="54864" marT="27432" marB="27432">
                    <a:solidFill>
                      <a:srgbClr val="FFFFFF"/>
                    </a:solidFill>
                  </a:tcPr>
                </a:tc>
                <a:tc>
                  <a:txBody>
                    <a:bodyPr wrap="square"/>
                    <a:lstStyle/>
                    <a:p>
                      <a:r>
                        <a:rPr sz="1100">
                          <a:solidFill>
                            <a:srgbClr val="1A1A1A"/>
                          </a:solidFill>
                        </a:rPr>
                        <a:t>Reliability</a:t>
                      </a:r>
                    </a:p>
                  </a:txBody>
                  <a:tcPr anchor="ctr" marL="73152" marR="54864" marT="27432" marB="27432">
                    <a:solidFill>
                      <a:srgbClr val="FFFFFF"/>
                    </a:solidFill>
                  </a:tcPr>
                </a:tc>
                <a:tc>
                  <a:txBody>
                    <a:bodyPr wrap="square"/>
                    <a:lstStyle/>
                    <a:p>
                      <a:r>
                        <a:rPr sz="1100">
                          <a:solidFill>
                            <a:srgbClr val="1A1A1A"/>
                          </a:solidFill>
                        </a:rPr>
                        <a:t>Passed the demo but can't hold real festival load → users abandon it</a:t>
                      </a:r>
                    </a:p>
                  </a:txBody>
                  <a:tcPr anchor="ctr" marL="73152" marR="54864" marT="27432" marB="27432">
                    <a:solidFill>
                      <a:srgbClr val="FFFFFF"/>
                    </a:solidFill>
                  </a:tcPr>
                </a:tc>
              </a:tr>
              <a:tr h="630936">
                <a:tc>
                  <a:txBody>
                    <a:bodyPr wrap="square"/>
                    <a:lstStyle/>
                    <a:p>
                      <a:r>
                        <a:rPr sz="1100" b="1">
                          <a:solidFill>
                            <a:srgbClr val="0C2B4A"/>
                          </a:solidFill>
                        </a:rPr>
                        <a:t>Tax/PAN portal times out on filing-deadline day</a:t>
                      </a:r>
                    </a:p>
                  </a:txBody>
                  <a:tcPr anchor="ctr" marL="73152" marR="54864" marT="27432" marB="27432">
                    <a:solidFill>
                      <a:srgbClr val="EEF3F8"/>
                    </a:solidFill>
                  </a:tcPr>
                </a:tc>
                <a:tc>
                  <a:txBody>
                    <a:bodyPr wrap="square"/>
                    <a:lstStyle/>
                    <a:p>
                      <a:r>
                        <a:rPr sz="1100">
                          <a:solidFill>
                            <a:srgbClr val="1A1A1A"/>
                          </a:solidFill>
                        </a:rPr>
                        <a:t>Performance</a:t>
                      </a:r>
                    </a:p>
                  </a:txBody>
                  <a:tcPr anchor="ctr" marL="73152" marR="54864" marT="27432" marB="27432">
                    <a:solidFill>
                      <a:srgbClr val="EEF3F8"/>
                    </a:solidFill>
                  </a:tcPr>
                </a:tc>
                <a:tc>
                  <a:txBody>
                    <a:bodyPr wrap="square"/>
                    <a:lstStyle/>
                    <a:p>
                      <a:r>
                        <a:rPr sz="1100">
                          <a:solidFill>
                            <a:srgbClr val="1A1A1A"/>
                          </a:solidFill>
                        </a:rPr>
                        <a:t>Logic is correct, but too slow under peak → citizens miss deadlines</a:t>
                      </a:r>
                    </a:p>
                  </a:txBody>
                  <a:tcPr anchor="ctr" marL="73152" marR="54864" marT="27432" marB="27432">
                    <a:solidFill>
                      <a:srgbClr val="EEF3F8"/>
                    </a:solidFill>
                  </a:tcPr>
                </a:tc>
              </a:tr>
              <a:tr h="630936">
                <a:tc>
                  <a:txBody>
                    <a:bodyPr wrap="square"/>
                    <a:lstStyle/>
                    <a:p>
                      <a:r>
                        <a:rPr sz="1100" b="1">
                          <a:solidFill>
                            <a:srgbClr val="0C2B4A"/>
                          </a:solidFill>
                        </a:rPr>
                        <a:t>Govt e-service no ordinary citizen can navigate</a:t>
                      </a:r>
                    </a:p>
                  </a:txBody>
                  <a:tcPr anchor="ctr" marL="73152" marR="54864" marT="27432" marB="27432">
                    <a:solidFill>
                      <a:srgbClr val="FFFFFF"/>
                    </a:solidFill>
                  </a:tcPr>
                </a:tc>
                <a:tc>
                  <a:txBody>
                    <a:bodyPr wrap="square"/>
                    <a:lstStyle/>
                    <a:p>
                      <a:r>
                        <a:rPr sz="1100">
                          <a:solidFill>
                            <a:srgbClr val="1A1A1A"/>
                          </a:solidFill>
                        </a:rPr>
                        <a:t>Usability</a:t>
                      </a:r>
                    </a:p>
                  </a:txBody>
                  <a:tcPr anchor="ctr" marL="73152" marR="54864" marT="27432" marB="27432">
                    <a:solidFill>
                      <a:srgbClr val="FFFFFF"/>
                    </a:solidFill>
                  </a:tcPr>
                </a:tc>
                <a:tc>
                  <a:txBody>
                    <a:bodyPr wrap="square"/>
                    <a:lstStyle/>
                    <a:p>
                      <a:r>
                        <a:rPr sz="1100">
                          <a:solidFill>
                            <a:srgbClr val="1A1A1A"/>
                          </a:solidFill>
                        </a:rPr>
                        <a:t>Works for the developer, not the real user → fails fitness-for-use</a:t>
                      </a:r>
                    </a:p>
                  </a:txBody>
                  <a:tcPr anchor="ctr" marL="73152" marR="54864" marT="27432" marB="27432">
                    <a:solidFill>
                      <a:srgbClr val="FFFFFF"/>
                    </a:solidFill>
                  </a:tcPr>
                </a:tc>
              </a:tr>
              <a:tr h="630936">
                <a:tc>
                  <a:txBody>
                    <a:bodyPr wrap="square"/>
                    <a:lstStyle/>
                    <a:p>
                      <a:r>
                        <a:rPr sz="1100" b="1">
                          <a:solidFill>
                            <a:srgbClr val="0C2B4A"/>
                          </a:solidFill>
                        </a:rPr>
                        <a:t>Mobile-banking app leaks KYC data</a:t>
                      </a:r>
                    </a:p>
                  </a:txBody>
                  <a:tcPr anchor="ctr" marL="73152" marR="54864" marT="27432" marB="27432">
                    <a:solidFill>
                      <a:srgbClr val="EEF3F8"/>
                    </a:solidFill>
                  </a:tcPr>
                </a:tc>
                <a:tc>
                  <a:txBody>
                    <a:bodyPr wrap="square"/>
                    <a:lstStyle/>
                    <a:p>
                      <a:r>
                        <a:rPr sz="1100">
                          <a:solidFill>
                            <a:srgbClr val="1A1A1A"/>
                          </a:solidFill>
                        </a:rPr>
                        <a:t>Security</a:t>
                      </a:r>
                    </a:p>
                  </a:txBody>
                  <a:tcPr anchor="ctr" marL="73152" marR="54864" marT="27432" marB="27432">
                    <a:solidFill>
                      <a:srgbClr val="EEF3F8"/>
                    </a:solidFill>
                  </a:tcPr>
                </a:tc>
                <a:tc>
                  <a:txBody>
                    <a:bodyPr wrap="square"/>
                    <a:lstStyle/>
                    <a:p>
                      <a:r>
                        <a:rPr sz="1100">
                          <a:solidFill>
                            <a:srgbClr val="1A1A1A"/>
                          </a:solidFill>
                        </a:rPr>
                        <a:t>Functionally 'works' yet exposes data → still low quality</a:t>
                      </a:r>
                    </a:p>
                  </a:txBody>
                  <a:tcPr anchor="ctr" marL="73152" marR="54864" marT="27432" marB="27432">
                    <a:solidFill>
                      <a:srgbClr val="EEF3F8"/>
                    </a:solidFill>
                  </a:tcPr>
                </a:tc>
              </a:tr>
              <a:tr h="630936">
                <a:tc>
                  <a:txBody>
                    <a:bodyPr wrap="square"/>
                    <a:lstStyle/>
                    <a:p>
                      <a:r>
                        <a:rPr sz="1100" b="1">
                          <a:solidFill>
                            <a:srgbClr val="0C2B4A"/>
                          </a:solidFill>
                        </a:rPr>
                        <a:t>Wallet miscalculates a balance by a paisa</a:t>
                      </a:r>
                    </a:p>
                  </a:txBody>
                  <a:tcPr anchor="ctr" marL="73152" marR="54864" marT="27432" marB="27432">
                    <a:solidFill>
                      <a:srgbClr val="FFFFFF"/>
                    </a:solidFill>
                  </a:tcPr>
                </a:tc>
                <a:tc>
                  <a:txBody>
                    <a:bodyPr wrap="square"/>
                    <a:lstStyle/>
                    <a:p>
                      <a:r>
                        <a:rPr sz="1100">
                          <a:solidFill>
                            <a:srgbClr val="1A1A1A"/>
                          </a:solidFill>
                        </a:rPr>
                        <a:t>Correctness</a:t>
                      </a:r>
                    </a:p>
                  </a:txBody>
                  <a:tcPr anchor="ctr" marL="73152" marR="54864" marT="27432" marB="27432">
                    <a:solidFill>
                      <a:srgbClr val="FFFFFF"/>
                    </a:solidFill>
                  </a:tcPr>
                </a:tc>
                <a:tc>
                  <a:txBody>
                    <a:bodyPr wrap="square"/>
                    <a:lstStyle/>
                    <a:p>
                      <a:r>
                        <a:rPr sz="1100">
                          <a:solidFill>
                            <a:srgbClr val="1A1A1A"/>
                          </a:solidFill>
                        </a:rPr>
                        <a:t>Doesn't meet the spec at all → the most basic failure</a:t>
                      </a:r>
                    </a:p>
                  </a:txBody>
                  <a:tcPr anchor="ctr" marL="73152" marR="54864" marT="27432" marB="27432">
                    <a:solidFill>
                      <a:srgbClr val="FFFFFF"/>
                    </a:solidFill>
                  </a:tcPr>
                </a:tc>
              </a:tr>
              <a:tr h="630936">
                <a:tc>
                  <a:txBody>
                    <a:bodyPr wrap="square"/>
                    <a:lstStyle/>
                    <a:p>
                      <a:r>
                        <a:rPr sz="1100" b="1">
                          <a:solidFill>
                            <a:srgbClr val="0C2B4A"/>
                          </a:solidFill>
                        </a:rPr>
                        <a:t>Each bug fix quietly breaks two other features</a:t>
                      </a:r>
                    </a:p>
                  </a:txBody>
                  <a:tcPr anchor="ctr" marL="73152" marR="54864" marT="27432" marB="27432">
                    <a:solidFill>
                      <a:srgbClr val="EEF3F8"/>
                    </a:solidFill>
                  </a:tcPr>
                </a:tc>
                <a:tc>
                  <a:txBody>
                    <a:bodyPr wrap="square"/>
                    <a:lstStyle/>
                    <a:p>
                      <a:r>
                        <a:rPr sz="1100">
                          <a:solidFill>
                            <a:srgbClr val="1A1A1A"/>
                          </a:solidFill>
                        </a:rPr>
                        <a:t>Maintainability</a:t>
                      </a:r>
                    </a:p>
                  </a:txBody>
                  <a:tcPr anchor="ctr" marL="73152" marR="54864" marT="27432" marB="27432">
                    <a:solidFill>
                      <a:srgbClr val="EEF3F8"/>
                    </a:solidFill>
                  </a:tcPr>
                </a:tc>
                <a:tc>
                  <a:txBody>
                    <a:bodyPr wrap="square"/>
                    <a:lstStyle/>
                    <a:p>
                      <a:r>
                        <a:rPr sz="1100">
                          <a:solidFill>
                            <a:srgbClr val="1A1A1A"/>
                          </a:solidFill>
                        </a:rPr>
                        <a:t>Spaghetti code → cannot be changed safely</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First column is a real instance, not an abstract attribute: quality is judged in production. A correct app that is insecure, slow, or unusable still fails its users.</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8 / 94</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S17 · CONCEPT 2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Cost of Poor Quality</a:t>
            </a:r>
          </a:p>
        </p:txBody>
      </p:sp>
      <p:sp>
        <p:nvSpPr>
          <p:cNvPr id="5" name="TextBox 4"/>
          <p:cNvSpPr txBox="1"/>
          <p:nvPr/>
        </p:nvSpPr>
        <p:spPr>
          <a:xfrm>
            <a:off x="640080" y="1572768"/>
            <a:ext cx="5669280" cy="4617720"/>
          </a:xfrm>
          <a:prstGeom prst="rect">
            <a:avLst/>
          </a:prstGeom>
          <a:noFill/>
        </p:spPr>
        <p:txBody>
          <a:bodyPr wrap="square">
            <a:spAutoFit/>
          </a:bodyPr>
          <a:lstStyle/>
          <a:p>
            <a:pPr>
              <a:spcAft>
                <a:spcPts val="1000"/>
              </a:spcAft>
            </a:pPr>
            <a:r>
              <a:rPr sz="1500" b="1">
                <a:solidFill>
                  <a:srgbClr val="0C2B4A"/>
                </a:solidFill>
              </a:rPr>
              <a:t>The cost of poor quality is every cost caused by defects — rework, downtime, lost customers, lawsuits, and reputation damage. The key rule: the cost to fix a defect rises roughly 10× at each later stage (requirements → design → code → release → post-release). Prevention is far cheaper than cure.</a:t>
            </a:r>
          </a:p>
          <a:p>
            <a:pPr>
              <a:spcAft>
                <a:spcPts val="500"/>
              </a:spcAft>
            </a:pPr>
            <a:r>
              <a:rPr sz="1200" b="1">
                <a:solidFill>
                  <a:srgbClr val="185FA5"/>
                </a:solidFill>
              </a:rPr>
              <a:t>HOW IT WORKS</a:t>
            </a:r>
          </a:p>
          <a:p>
            <a:pPr>
              <a:spcAft>
                <a:spcPts val="600"/>
              </a:spcAft>
            </a:pPr>
            <a:r>
              <a:rPr sz="1400">
                <a:solidFill>
                  <a:srgbClr val="1A1A1A"/>
                </a:solidFill>
              </a:rPr>
              <a:t>•  A bug caught while writing requirements is trivial; the same bug found after release is enormously expensive.</a:t>
            </a:r>
          </a:p>
          <a:p>
            <a:pPr>
              <a:spcAft>
                <a:spcPts val="600"/>
              </a:spcAft>
            </a:pPr>
            <a:r>
              <a:rPr sz="1400">
                <a:solidFill>
                  <a:srgbClr val="1A1A1A"/>
                </a:solidFill>
              </a:rPr>
              <a:t>•  The visible cost (a refund, a patch) is the small part; hidden costs (lost trust, support load) dwarf it.</a:t>
            </a:r>
          </a:p>
          <a:p>
            <a:pPr>
              <a:spcAft>
                <a:spcPts val="600"/>
              </a:spcAft>
            </a:pPr>
            <a:r>
              <a:rPr sz="1400">
                <a:solidFill>
                  <a:srgbClr val="1A1A1A"/>
                </a:solidFill>
              </a:rPr>
              <a:t>•  This is why testing and QA (S18) pay for themselves — they move defect-finding earlier.</a:t>
            </a:r>
          </a:p>
          <a:p>
            <a:pPr>
              <a:spcAft>
                <a:spcPts val="600"/>
              </a:spcAft>
            </a:pPr>
            <a:r>
              <a:rPr sz="1400">
                <a:solidFill>
                  <a:srgbClr val="1A1A1A"/>
                </a:solidFill>
              </a:rPr>
              <a:t>•  'We'll fix it in production' is usually the most expensive plan available.</a:t>
            </a:r>
          </a:p>
        </p:txBody>
      </p:sp>
      <p:pic>
        <p:nvPicPr>
          <p:cNvPr id="6" name="Picture 5" descr="s17_costcurve.png"/>
          <p:cNvPicPr>
            <a:picLocks noChangeAspect="1"/>
          </p:cNvPicPr>
          <p:nvPr/>
        </p:nvPicPr>
        <p:blipFill>
          <a:blip r:embed="rId2"/>
          <a:stretch>
            <a:fillRect/>
          </a:stretch>
        </p:blipFill>
        <p:spPr>
          <a:xfrm>
            <a:off x="6355080" y="2596640"/>
            <a:ext cx="5532120" cy="2441960"/>
          </a:xfrm>
          <a:prstGeom prst="rect">
            <a:avLst/>
          </a:prstGeom>
        </p:spPr>
      </p:pic>
      <p:sp>
        <p:nvSpPr>
          <p:cNvPr id="7" name="Rectangle 6"/>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Fix it in requirements = 1×; fix it after release = 1000×+.</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9 / 94</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S17 · CONCEPT 2 ·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real cost of a defect — visible vs hidden</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4015945"/>
                <a:gridCol w="3398108"/>
                <a:gridCol w="4015945"/>
              </a:tblGrid>
              <a:tr h="630936">
                <a:tc>
                  <a:txBody>
                    <a:bodyPr wrap="square"/>
                    <a:lstStyle/>
                    <a:p>
                      <a:r>
                        <a:rPr sz="1150" b="1">
                          <a:solidFill>
                            <a:srgbClr val="FFFFFF"/>
                          </a:solidFill>
                        </a:rPr>
                        <a:t>Cost</a:t>
                      </a:r>
                    </a:p>
                  </a:txBody>
                  <a:tcPr anchor="ctr" marL="73152" marR="54864" marT="27432" marB="27432">
                    <a:solidFill>
                      <a:srgbClr val="0C2B4A"/>
                    </a:solidFill>
                  </a:tcPr>
                </a:tc>
                <a:tc>
                  <a:txBody>
                    <a:bodyPr wrap="square"/>
                    <a:lstStyle/>
                    <a:p>
                      <a:r>
                        <a:rPr sz="1150" b="1">
                          <a:solidFill>
                            <a:srgbClr val="FFFFFF"/>
                          </a:solidFill>
                        </a:rPr>
                        <a:t>Visible / obvious part</a:t>
                      </a:r>
                    </a:p>
                  </a:txBody>
                  <a:tcPr anchor="ctr" marL="73152" marR="54864" marT="27432" marB="27432">
                    <a:solidFill>
                      <a:srgbClr val="0C2B4A"/>
                    </a:solidFill>
                  </a:tcPr>
                </a:tc>
                <a:tc>
                  <a:txBody>
                    <a:bodyPr wrap="square"/>
                    <a:lstStyle/>
                    <a:p>
                      <a:r>
                        <a:rPr sz="1150" b="1">
                          <a:solidFill>
                            <a:srgbClr val="FFFFFF"/>
                          </a:solidFill>
                        </a:rPr>
                        <a:t>Hidden / larger part</a:t>
                      </a:r>
                    </a:p>
                  </a:txBody>
                  <a:tcPr anchor="ctr" marL="73152" marR="54864" marT="27432" marB="27432">
                    <a:solidFill>
                      <a:srgbClr val="0C2B4A"/>
                    </a:solidFill>
                  </a:tcPr>
                </a:tc>
              </a:tr>
              <a:tr h="630936">
                <a:tc>
                  <a:txBody>
                    <a:bodyPr wrap="square"/>
                    <a:lstStyle/>
                    <a:p>
                      <a:r>
                        <a:rPr sz="1100" b="1">
                          <a:solidFill>
                            <a:srgbClr val="0C2B4A"/>
                          </a:solidFill>
                        </a:rPr>
                        <a:t>A payment bug refunds the wrong users</a:t>
                      </a:r>
                    </a:p>
                  </a:txBody>
                  <a:tcPr anchor="ctr" marL="73152" marR="54864" marT="27432" marB="27432">
                    <a:solidFill>
                      <a:srgbClr val="FFFFFF"/>
                    </a:solidFill>
                  </a:tcPr>
                </a:tc>
                <a:tc>
                  <a:txBody>
                    <a:bodyPr wrap="square"/>
                    <a:lstStyle/>
                    <a:p>
                      <a:r>
                        <a:rPr sz="1100">
                          <a:solidFill>
                            <a:srgbClr val="1A1A1A"/>
                          </a:solidFill>
                        </a:rPr>
                        <a:t>The refunded amount</a:t>
                      </a:r>
                    </a:p>
                  </a:txBody>
                  <a:tcPr anchor="ctr" marL="73152" marR="54864" marT="27432" marB="27432">
                    <a:solidFill>
                      <a:srgbClr val="FFFFFF"/>
                    </a:solidFill>
                  </a:tcPr>
                </a:tc>
                <a:tc>
                  <a:txBody>
                    <a:bodyPr wrap="square"/>
                    <a:lstStyle/>
                    <a:p>
                      <a:r>
                        <a:rPr sz="1100">
                          <a:solidFill>
                            <a:srgbClr val="1A1A1A"/>
                          </a:solidFill>
                        </a:rPr>
                        <a:t>Support surge, manual reconciliation, audit</a:t>
                      </a:r>
                    </a:p>
                  </a:txBody>
                  <a:tcPr anchor="ctr" marL="73152" marR="54864" marT="27432" marB="27432">
                    <a:solidFill>
                      <a:srgbClr val="FFFFFF"/>
                    </a:solidFill>
                  </a:tcPr>
                </a:tc>
              </a:tr>
              <a:tr h="630936">
                <a:tc>
                  <a:txBody>
                    <a:bodyPr wrap="square"/>
                    <a:lstStyle/>
                    <a:p>
                      <a:r>
                        <a:rPr sz="1100" b="1">
                          <a:solidFill>
                            <a:srgbClr val="0C2B4A"/>
                          </a:solidFill>
                        </a:rPr>
                        <a:t>An app crashes at peak (Dashain rush)</a:t>
                      </a:r>
                    </a:p>
                  </a:txBody>
                  <a:tcPr anchor="ctr" marL="73152" marR="54864" marT="27432" marB="27432">
                    <a:solidFill>
                      <a:srgbClr val="EEF3F8"/>
                    </a:solidFill>
                  </a:tcPr>
                </a:tc>
                <a:tc>
                  <a:txBody>
                    <a:bodyPr wrap="square"/>
                    <a:lstStyle/>
                    <a:p>
                      <a:r>
                        <a:rPr sz="1100">
                          <a:solidFill>
                            <a:srgbClr val="1A1A1A"/>
                          </a:solidFill>
                        </a:rPr>
                        <a:t>A patch release</a:t>
                      </a:r>
                    </a:p>
                  </a:txBody>
                  <a:tcPr anchor="ctr" marL="73152" marR="54864" marT="27432" marB="27432">
                    <a:solidFill>
                      <a:srgbClr val="EEF3F8"/>
                    </a:solidFill>
                  </a:tcPr>
                </a:tc>
                <a:tc>
                  <a:txBody>
                    <a:bodyPr wrap="square"/>
                    <a:lstStyle/>
                    <a:p>
                      <a:r>
                        <a:rPr sz="1100">
                          <a:solidFill>
                            <a:srgbClr val="1A1A1A"/>
                          </a:solidFill>
                        </a:rPr>
                        <a:t>Lost transactions, users switch to a rival</a:t>
                      </a:r>
                    </a:p>
                  </a:txBody>
                  <a:tcPr anchor="ctr" marL="73152" marR="54864" marT="27432" marB="27432">
                    <a:solidFill>
                      <a:srgbClr val="EEF3F8"/>
                    </a:solidFill>
                  </a:tcPr>
                </a:tc>
              </a:tr>
              <a:tr h="630936">
                <a:tc>
                  <a:txBody>
                    <a:bodyPr wrap="square"/>
                    <a:lstStyle/>
                    <a:p>
                      <a:r>
                        <a:rPr sz="1100" b="1">
                          <a:solidFill>
                            <a:srgbClr val="0C2B4A"/>
                          </a:solidFill>
                        </a:rPr>
                        <a:t>A data field is wrong (blood group)</a:t>
                      </a:r>
                    </a:p>
                  </a:txBody>
                  <a:tcPr anchor="ctr" marL="73152" marR="54864" marT="27432" marB="27432">
                    <a:solidFill>
                      <a:srgbClr val="FFFFFF"/>
                    </a:solidFill>
                  </a:tcPr>
                </a:tc>
                <a:tc>
                  <a:txBody>
                    <a:bodyPr wrap="square"/>
                    <a:lstStyle/>
                    <a:p>
                      <a:r>
                        <a:rPr sz="1100">
                          <a:solidFill>
                            <a:srgbClr val="1A1A1A"/>
                          </a:solidFill>
                        </a:rPr>
                        <a:t>The correction</a:t>
                      </a:r>
                    </a:p>
                  </a:txBody>
                  <a:tcPr anchor="ctr" marL="73152" marR="54864" marT="27432" marB="27432">
                    <a:solidFill>
                      <a:srgbClr val="FFFFFF"/>
                    </a:solidFill>
                  </a:tcPr>
                </a:tc>
                <a:tc>
                  <a:txBody>
                    <a:bodyPr wrap="square"/>
                    <a:lstStyle/>
                    <a:p>
                      <a:r>
                        <a:rPr sz="1100">
                          <a:solidFill>
                            <a:srgbClr val="1A1A1A"/>
                          </a:solidFill>
                        </a:rPr>
                        <a:t>Possible harm, liability, loss of trust</a:t>
                      </a:r>
                    </a:p>
                  </a:txBody>
                  <a:tcPr anchor="ctr" marL="73152" marR="54864" marT="27432" marB="27432">
                    <a:solidFill>
                      <a:srgbClr val="FFFFFF"/>
                    </a:solidFill>
                  </a:tcPr>
                </a:tc>
              </a:tr>
              <a:tr h="630936">
                <a:tc>
                  <a:txBody>
                    <a:bodyPr wrap="square"/>
                    <a:lstStyle/>
                    <a:p>
                      <a:r>
                        <a:rPr sz="1100" b="1">
                          <a:solidFill>
                            <a:srgbClr val="0C2B4A"/>
                          </a:solidFill>
                        </a:rPr>
                        <a:t>A government e-service glitches on deadline</a:t>
                      </a:r>
                    </a:p>
                  </a:txBody>
                  <a:tcPr anchor="ctr" marL="73152" marR="54864" marT="27432" marB="27432">
                    <a:solidFill>
                      <a:srgbClr val="EEF3F8"/>
                    </a:solidFill>
                  </a:tcPr>
                </a:tc>
                <a:tc>
                  <a:txBody>
                    <a:bodyPr wrap="square"/>
                    <a:lstStyle/>
                    <a:p>
                      <a:r>
                        <a:rPr sz="1100">
                          <a:solidFill>
                            <a:srgbClr val="1A1A1A"/>
                          </a:solidFill>
                        </a:rPr>
                        <a:t>A hotfix</a:t>
                      </a:r>
                    </a:p>
                  </a:txBody>
                  <a:tcPr anchor="ctr" marL="73152" marR="54864" marT="27432" marB="27432">
                    <a:solidFill>
                      <a:srgbClr val="EEF3F8"/>
                    </a:solidFill>
                  </a:tcPr>
                </a:tc>
                <a:tc>
                  <a:txBody>
                    <a:bodyPr wrap="square"/>
                    <a:lstStyle/>
                    <a:p>
                      <a:r>
                        <a:rPr sz="1100">
                          <a:solidFill>
                            <a:srgbClr val="1A1A1A"/>
                          </a:solidFill>
                        </a:rPr>
                        <a:t>Citizens flood help desks; trust in e-gov drops</a:t>
                      </a:r>
                    </a:p>
                  </a:txBody>
                  <a:tcPr anchor="ctr" marL="73152" marR="54864" marT="27432" marB="27432">
                    <a:solidFill>
                      <a:srgbClr val="EEF3F8"/>
                    </a:solidFill>
                  </a:tcPr>
                </a:tc>
              </a:tr>
              <a:tr h="630936">
                <a:tc>
                  <a:txBody>
                    <a:bodyPr wrap="square"/>
                    <a:lstStyle/>
                    <a:p>
                      <a:r>
                        <a:rPr sz="1100" b="1">
                          <a:solidFill>
                            <a:srgbClr val="0C2B4A"/>
                          </a:solidFill>
                        </a:rPr>
                        <a:t>A security defect leaks data</a:t>
                      </a:r>
                    </a:p>
                  </a:txBody>
                  <a:tcPr anchor="ctr" marL="73152" marR="54864" marT="27432" marB="27432">
                    <a:solidFill>
                      <a:srgbClr val="FFFFFF"/>
                    </a:solidFill>
                  </a:tcPr>
                </a:tc>
                <a:tc>
                  <a:txBody>
                    <a:bodyPr wrap="square"/>
                    <a:lstStyle/>
                    <a:p>
                      <a:r>
                        <a:rPr sz="1100">
                          <a:solidFill>
                            <a:srgbClr val="1A1A1A"/>
                          </a:solidFill>
                        </a:rPr>
                        <a:t>The fix + disclosure</a:t>
                      </a:r>
                    </a:p>
                  </a:txBody>
                  <a:tcPr anchor="ctr" marL="73152" marR="54864" marT="27432" marB="27432">
                    <a:solidFill>
                      <a:srgbClr val="FFFFFF"/>
                    </a:solidFill>
                  </a:tcPr>
                </a:tc>
                <a:tc>
                  <a:txBody>
                    <a:bodyPr wrap="square"/>
                    <a:lstStyle/>
                    <a:p>
                      <a:r>
                        <a:rPr sz="1100">
                          <a:solidFill>
                            <a:srgbClr val="1A1A1A"/>
                          </a:solidFill>
                        </a:rPr>
                        <a:t>Lawsuits, regulatory penalty, brand damage</a:t>
                      </a:r>
                    </a:p>
                  </a:txBody>
                  <a:tcPr anchor="ctr" marL="73152" marR="54864" marT="27432" marB="27432">
                    <a:solidFill>
                      <a:srgbClr val="FFFFFF"/>
                    </a:solidFill>
                  </a:tcPr>
                </a:tc>
              </a:tr>
              <a:tr h="630936">
                <a:tc>
                  <a:txBody>
                    <a:bodyPr wrap="square"/>
                    <a:lstStyle/>
                    <a:p>
                      <a:r>
                        <a:rPr sz="1100" b="1">
                          <a:solidFill>
                            <a:srgbClr val="0C2B4A"/>
                          </a:solidFill>
                        </a:rPr>
                        <a:t>Rushed release with no tests</a:t>
                      </a:r>
                    </a:p>
                  </a:txBody>
                  <a:tcPr anchor="ctr" marL="73152" marR="54864" marT="27432" marB="27432">
                    <a:solidFill>
                      <a:srgbClr val="EEF3F8"/>
                    </a:solidFill>
                  </a:tcPr>
                </a:tc>
                <a:tc>
                  <a:txBody>
                    <a:bodyPr wrap="square"/>
                    <a:lstStyle/>
                    <a:p>
                      <a:r>
                        <a:rPr sz="1100">
                          <a:solidFill>
                            <a:srgbClr val="1A1A1A"/>
                          </a:solidFill>
                        </a:rPr>
                        <a:t>The rework</a:t>
                      </a:r>
                    </a:p>
                  </a:txBody>
                  <a:tcPr anchor="ctr" marL="73152" marR="54864" marT="27432" marB="27432">
                    <a:solidFill>
                      <a:srgbClr val="EEF3F8"/>
                    </a:solidFill>
                  </a:tcPr>
                </a:tc>
                <a:tc>
                  <a:txBody>
                    <a:bodyPr wrap="square"/>
                    <a:lstStyle/>
                    <a:p>
                      <a:r>
                        <a:rPr sz="1100">
                          <a:solidFill>
                            <a:srgbClr val="1A1A1A"/>
                          </a:solidFill>
                        </a:rPr>
                        <a:t>Cascading bugs, missed deadline, burnt-out team</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The visible cost is the tip; the hidden costs (trust, churn, liability, rework) are the iceberg — and they land later, when the fix is 10×–1000× dearer.</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10 / 94</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S17 · CONCEPT 2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Cost of Poor Quality</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A Kathmandu fintech rushes a Dashain release to beat a rival; a payment bug refunds the wrong users. The refund is the smallest cost: the real bill is the support surge, manual reconciliation, an emergency audit, and — worst — customers who lose trust and switch to a competitor during the busiest season of the year.</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"We'll ship now and fix it in production — it's cheaper." The cost to fix rises ~10× per stage, so 'fix it later' is usually the most expensive option. Prevention (early testing, QA) is cheaper than cure, and the hidden costs of a live defect (lost trust, churn) dwarf the visible patch.</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The cost of poor quality includes rework, downtime, lost customers, lawsuits, and reputation damage — and it escalates roughly 10× at each later stage of development. Because the hidden costs of a released defect dwarf the visible fix, prevention through early testing and QA is far cheaper than cure. 'Fix it in production' is typically the costliest plan.</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cost of poor quality · 10× escalation · prevention vs cure · hidden costs · fix-it-early</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11 / 94</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S17 · CONCEPT 3 · [THEORY] [EXAMPLE]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Safety-Critical Software &amp; Famous Failures</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Safety-critical software is software whose failure can cause death, injury, or major loss — medical, aviation, transport, power. It ethically demands higher rigour: redundancy, formal verification, and clear accountability. Here 'quality' is not a preference; it is a duty.</a:t>
            </a:r>
          </a:p>
          <a:p>
            <a:pPr>
              <a:spcAft>
                <a:spcPts val="500"/>
              </a:spcAft>
            </a:pPr>
            <a:r>
              <a:rPr sz="1200" b="1">
                <a:solidFill>
                  <a:srgbClr val="185FA5"/>
                </a:solidFill>
              </a:rPr>
              <a:t>HOW IT WORKS</a:t>
            </a:r>
          </a:p>
          <a:p>
            <a:pPr>
              <a:spcAft>
                <a:spcPts val="600"/>
              </a:spcAft>
            </a:pPr>
            <a:r>
              <a:rPr sz="1400">
                <a:solidFill>
                  <a:srgbClr val="1A1A1A"/>
                </a:solidFill>
              </a:rPr>
              <a:t>•  The stakes change the ethics: a bug is no longer 'inconvenient', it is dangerous.</a:t>
            </a:r>
          </a:p>
          <a:p>
            <a:pPr>
              <a:spcAft>
                <a:spcPts val="600"/>
              </a:spcAft>
            </a:pPr>
            <a:r>
              <a:rPr sz="1400">
                <a:solidFill>
                  <a:srgbClr val="1A1A1A"/>
                </a:solidFill>
              </a:rPr>
              <a:t>•  Higher rigour: independent review, redundancy, formal methods, exhaustive testing.</a:t>
            </a:r>
          </a:p>
          <a:p>
            <a:pPr>
              <a:spcAft>
                <a:spcPts val="600"/>
              </a:spcAft>
            </a:pPr>
            <a:r>
              <a:rPr sz="1400">
                <a:solidFill>
                  <a:srgbClr val="1A1A1A"/>
                </a:solidFill>
              </a:rPr>
              <a:t>•  Famous failures show what's at stake: Therac-25, the Boeing 737 MAX MCAS crashes, Ariane 5.</a:t>
            </a:r>
          </a:p>
          <a:p>
            <a:pPr>
              <a:spcAft>
                <a:spcPts val="600"/>
              </a:spcAft>
            </a:pPr>
            <a:r>
              <a:rPr sz="1400">
                <a:solidFill>
                  <a:srgbClr val="1A1A1A"/>
                </a:solidFill>
              </a:rPr>
              <a:t>•  Nepal has safety-critical systems too: power-grid/load-dispatch control, aviation serving TIA, ICU monitoring.</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Shipping untested safety-critical code = opening a bridge without checking the cables.</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12 / 94</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S17 · CONCEPT 3 ·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Famous safety-critical software failures — cause &amp; consequence</a:t>
            </a:r>
          </a:p>
        </p:txBody>
      </p:sp>
      <p:graphicFrame>
        <p:nvGraphicFramePr>
          <p:cNvPr id="5" name="Table 4"/>
          <p:cNvGraphicFramePr>
            <a:graphicFrameLocks noGrp="1"/>
          </p:cNvGraphicFramePr>
          <p:nvPr/>
        </p:nvGraphicFramePr>
        <p:xfrm>
          <a:off x="384048" y="1572768"/>
          <a:ext cx="11429999" cy="4416552"/>
        </p:xfrm>
        <a:graphic>
          <a:graphicData uri="http://schemas.openxmlformats.org/drawingml/2006/table">
            <a:tbl>
              <a:tblPr>
                <a:tableStyleId>{5C22544A-7EE6-4342-B048-85BDC9FD1C3A}</a:tableStyleId>
              </a:tblPr>
              <a:tblGrid>
                <a:gridCol w="2974931"/>
                <a:gridCol w="4697260"/>
                <a:gridCol w="3757808"/>
              </a:tblGrid>
              <a:tr h="736092">
                <a:tc>
                  <a:txBody>
                    <a:bodyPr wrap="square"/>
                    <a:lstStyle/>
                    <a:p>
                      <a:r>
                        <a:rPr sz="1150" b="1">
                          <a:solidFill>
                            <a:srgbClr val="FFFFFF"/>
                          </a:solidFill>
                        </a:rPr>
                        <a:t>System</a:t>
                      </a:r>
                    </a:p>
                  </a:txBody>
                  <a:tcPr anchor="ctr" marL="73152" marR="54864" marT="27432" marB="27432">
                    <a:solidFill>
                      <a:srgbClr val="0C2B4A"/>
                    </a:solidFill>
                  </a:tcPr>
                </a:tc>
                <a:tc>
                  <a:txBody>
                    <a:bodyPr wrap="square"/>
                    <a:lstStyle/>
                    <a:p>
                      <a:r>
                        <a:rPr sz="1150" b="1">
                          <a:solidFill>
                            <a:srgbClr val="FFFFFF"/>
                          </a:solidFill>
                        </a:rPr>
                        <a:t>What went wrong</a:t>
                      </a:r>
                    </a:p>
                  </a:txBody>
                  <a:tcPr anchor="ctr" marL="73152" marR="54864" marT="27432" marB="27432">
                    <a:solidFill>
                      <a:srgbClr val="0C2B4A"/>
                    </a:solidFill>
                  </a:tcPr>
                </a:tc>
                <a:tc>
                  <a:txBody>
                    <a:bodyPr wrap="square"/>
                    <a:lstStyle/>
                    <a:p>
                      <a:r>
                        <a:rPr sz="1150" b="1">
                          <a:solidFill>
                            <a:srgbClr val="FFFFFF"/>
                          </a:solidFill>
                        </a:rPr>
                        <a:t>Consequence</a:t>
                      </a:r>
                    </a:p>
                  </a:txBody>
                  <a:tcPr anchor="ctr" marL="73152" marR="54864" marT="27432" marB="27432">
                    <a:solidFill>
                      <a:srgbClr val="0C2B4A"/>
                    </a:solidFill>
                  </a:tcPr>
                </a:tc>
              </a:tr>
              <a:tr h="736092">
                <a:tc>
                  <a:txBody>
                    <a:bodyPr wrap="square"/>
                    <a:lstStyle/>
                    <a:p>
                      <a:r>
                        <a:rPr sz="1100" b="1">
                          <a:solidFill>
                            <a:srgbClr val="0C2B4A"/>
                          </a:solidFill>
                        </a:rPr>
                        <a:t>Therac-25 (medical)</a:t>
                      </a:r>
                    </a:p>
                  </a:txBody>
                  <a:tcPr anchor="ctr" marL="73152" marR="54864" marT="27432" marB="27432">
                    <a:solidFill>
                      <a:srgbClr val="FFFFFF"/>
                    </a:solidFill>
                  </a:tcPr>
                </a:tc>
                <a:tc>
                  <a:txBody>
                    <a:bodyPr wrap="square"/>
                    <a:lstStyle/>
                    <a:p>
                      <a:r>
                        <a:rPr sz="1100">
                          <a:solidFill>
                            <a:srgbClr val="1A1A1A"/>
                          </a:solidFill>
                        </a:rPr>
                        <a:t>A race-condition bug + removed hardware interlocks</a:t>
                      </a:r>
                    </a:p>
                  </a:txBody>
                  <a:tcPr anchor="ctr" marL="73152" marR="54864" marT="27432" marB="27432">
                    <a:solidFill>
                      <a:srgbClr val="FFFFFF"/>
                    </a:solidFill>
                  </a:tcPr>
                </a:tc>
                <a:tc>
                  <a:txBody>
                    <a:bodyPr wrap="square"/>
                    <a:lstStyle/>
                    <a:p>
                      <a:r>
                        <a:rPr sz="1100">
                          <a:solidFill>
                            <a:srgbClr val="1A1A1A"/>
                          </a:solidFill>
                        </a:rPr>
                        <a:t>Patients received massive radiation overdoses; deaths</a:t>
                      </a:r>
                    </a:p>
                  </a:txBody>
                  <a:tcPr anchor="ctr" marL="73152" marR="54864" marT="27432" marB="27432">
                    <a:solidFill>
                      <a:srgbClr val="FFFFFF"/>
                    </a:solidFill>
                  </a:tcPr>
                </a:tc>
              </a:tr>
              <a:tr h="736092">
                <a:tc>
                  <a:txBody>
                    <a:bodyPr wrap="square"/>
                    <a:lstStyle/>
                    <a:p>
                      <a:r>
                        <a:rPr sz="1100" b="1">
                          <a:solidFill>
                            <a:srgbClr val="0C2B4A"/>
                          </a:solidFill>
                        </a:rPr>
                        <a:t>Boeing 737 MAX (aviation)</a:t>
                      </a:r>
                    </a:p>
                  </a:txBody>
                  <a:tcPr anchor="ctr" marL="73152" marR="54864" marT="27432" marB="27432">
                    <a:solidFill>
                      <a:srgbClr val="EEF3F8"/>
                    </a:solidFill>
                  </a:tcPr>
                </a:tc>
                <a:tc>
                  <a:txBody>
                    <a:bodyPr wrap="square"/>
                    <a:lstStyle/>
                    <a:p>
                      <a:r>
                        <a:rPr sz="1100">
                          <a:solidFill>
                            <a:srgbClr val="1A1A1A"/>
                          </a:solidFill>
                        </a:rPr>
                        <a:t>MCAS acted on one faulty sensor; poor disclosure</a:t>
                      </a:r>
                    </a:p>
                  </a:txBody>
                  <a:tcPr anchor="ctr" marL="73152" marR="54864" marT="27432" marB="27432">
                    <a:solidFill>
                      <a:srgbClr val="EEF3F8"/>
                    </a:solidFill>
                  </a:tcPr>
                </a:tc>
                <a:tc>
                  <a:txBody>
                    <a:bodyPr wrap="square"/>
                    <a:lstStyle/>
                    <a:p>
                      <a:r>
                        <a:rPr sz="1100">
                          <a:solidFill>
                            <a:srgbClr val="1A1A1A"/>
                          </a:solidFill>
                        </a:rPr>
                        <a:t>Two crashes; 346 deaths; global grounding</a:t>
                      </a:r>
                    </a:p>
                  </a:txBody>
                  <a:tcPr anchor="ctr" marL="73152" marR="54864" marT="27432" marB="27432">
                    <a:solidFill>
                      <a:srgbClr val="EEF3F8"/>
                    </a:solidFill>
                  </a:tcPr>
                </a:tc>
              </a:tr>
              <a:tr h="736092">
                <a:tc>
                  <a:txBody>
                    <a:bodyPr wrap="square"/>
                    <a:lstStyle/>
                    <a:p>
                      <a:r>
                        <a:rPr sz="1100" b="1">
                          <a:solidFill>
                            <a:srgbClr val="0C2B4A"/>
                          </a:solidFill>
                        </a:rPr>
                        <a:t>Ariane 5 (space)</a:t>
                      </a:r>
                    </a:p>
                  </a:txBody>
                  <a:tcPr anchor="ctr" marL="73152" marR="54864" marT="27432" marB="27432">
                    <a:solidFill>
                      <a:srgbClr val="FFFFFF"/>
                    </a:solidFill>
                  </a:tcPr>
                </a:tc>
                <a:tc>
                  <a:txBody>
                    <a:bodyPr wrap="square"/>
                    <a:lstStyle/>
                    <a:p>
                      <a:r>
                        <a:rPr sz="1100">
                          <a:solidFill>
                            <a:srgbClr val="1A1A1A"/>
                          </a:solidFill>
                        </a:rPr>
                        <a:t>A 64-bit value forced into 16 bits → overflow</a:t>
                      </a:r>
                    </a:p>
                  </a:txBody>
                  <a:tcPr anchor="ctr" marL="73152" marR="54864" marT="27432" marB="27432">
                    <a:solidFill>
                      <a:srgbClr val="FFFFFF"/>
                    </a:solidFill>
                  </a:tcPr>
                </a:tc>
                <a:tc>
                  <a:txBody>
                    <a:bodyPr wrap="square"/>
                    <a:lstStyle/>
                    <a:p>
                      <a:r>
                        <a:rPr sz="1100">
                          <a:solidFill>
                            <a:srgbClr val="1A1A1A"/>
                          </a:solidFill>
                        </a:rPr>
                        <a:t>Rocket self-destructed seconds after launch</a:t>
                      </a:r>
                    </a:p>
                  </a:txBody>
                  <a:tcPr anchor="ctr" marL="73152" marR="54864" marT="27432" marB="27432">
                    <a:solidFill>
                      <a:srgbClr val="FFFFFF"/>
                    </a:solidFill>
                  </a:tcPr>
                </a:tc>
              </a:tr>
              <a:tr h="736092">
                <a:tc>
                  <a:txBody>
                    <a:bodyPr wrap="square"/>
                    <a:lstStyle/>
                    <a:p>
                      <a:r>
                        <a:rPr sz="1100" b="1">
                          <a:solidFill>
                            <a:srgbClr val="0C2B4A"/>
                          </a:solidFill>
                        </a:rPr>
                        <a:t>Power-grid control (general)</a:t>
                      </a:r>
                    </a:p>
                  </a:txBody>
                  <a:tcPr anchor="ctr" marL="73152" marR="54864" marT="27432" marB="27432">
                    <a:solidFill>
                      <a:srgbClr val="EEF3F8"/>
                    </a:solidFill>
                  </a:tcPr>
                </a:tc>
                <a:tc>
                  <a:txBody>
                    <a:bodyPr wrap="square"/>
                    <a:lstStyle/>
                    <a:p>
                      <a:r>
                        <a:rPr sz="1100">
                          <a:solidFill>
                            <a:srgbClr val="1A1A1A"/>
                          </a:solidFill>
                        </a:rPr>
                        <a:t>Control-software failure / mis-configuration</a:t>
                      </a:r>
                    </a:p>
                  </a:txBody>
                  <a:tcPr anchor="ctr" marL="73152" marR="54864" marT="27432" marB="27432">
                    <a:solidFill>
                      <a:srgbClr val="EEF3F8"/>
                    </a:solidFill>
                  </a:tcPr>
                </a:tc>
                <a:tc>
                  <a:txBody>
                    <a:bodyPr wrap="square"/>
                    <a:lstStyle/>
                    <a:p>
                      <a:r>
                        <a:rPr sz="1100">
                          <a:solidFill>
                            <a:srgbClr val="1A1A1A"/>
                          </a:solidFill>
                        </a:rPr>
                        <a:t>Cascading blackouts across regions</a:t>
                      </a:r>
                    </a:p>
                  </a:txBody>
                  <a:tcPr anchor="ctr" marL="73152" marR="54864" marT="27432" marB="27432">
                    <a:solidFill>
                      <a:srgbClr val="EEF3F8"/>
                    </a:solidFill>
                  </a:tcPr>
                </a:tc>
              </a:tr>
              <a:tr h="736092">
                <a:tc>
                  <a:txBody>
                    <a:bodyPr wrap="square"/>
                    <a:lstStyle/>
                    <a:p>
                      <a:r>
                        <a:rPr sz="1100" b="1">
                          <a:solidFill>
                            <a:srgbClr val="0C2B4A"/>
                          </a:solidFill>
                        </a:rPr>
                        <a:t>ICU / patient monitoring</a:t>
                      </a:r>
                    </a:p>
                  </a:txBody>
                  <a:tcPr anchor="ctr" marL="73152" marR="54864" marT="27432" marB="27432">
                    <a:solidFill>
                      <a:srgbClr val="FFFFFF"/>
                    </a:solidFill>
                  </a:tcPr>
                </a:tc>
                <a:tc>
                  <a:txBody>
                    <a:bodyPr wrap="square"/>
                    <a:lstStyle/>
                    <a:p>
                      <a:r>
                        <a:rPr sz="1100">
                          <a:solidFill>
                            <a:srgbClr val="1A1A1A"/>
                          </a:solidFill>
                        </a:rPr>
                        <a:t>Wrong data shown or alarm missed</a:t>
                      </a:r>
                    </a:p>
                  </a:txBody>
                  <a:tcPr anchor="ctr" marL="73152" marR="54864" marT="27432" marB="27432">
                    <a:solidFill>
                      <a:srgbClr val="FFFFFF"/>
                    </a:solidFill>
                  </a:tcPr>
                </a:tc>
                <a:tc>
                  <a:txBody>
                    <a:bodyPr wrap="square"/>
                    <a:lstStyle/>
                    <a:p>
                      <a:r>
                        <a:rPr sz="1100">
                          <a:solidFill>
                            <a:srgbClr val="1A1A1A"/>
                          </a:solidFill>
                        </a:rPr>
                        <a:t>Direct risk to patient life</a:t>
                      </a:r>
                    </a:p>
                  </a:txBody>
                  <a:tcPr anchor="ctr" marL="73152" marR="54864" marT="27432" marB="27432">
                    <a:solidFill>
                      <a:srgbClr val="FFFFFF"/>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Each was a SOFTWARE decision with a physical, sometimes fatal, consequence — the reason safety-critical systems demand redundancy, formal verification, and accountability.</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13 / 94</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S17 · CONCEPT 3 · [THEORY] [EXAMPLE]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Safety-Critical Software &amp; Famous Failures</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Nepal's safety-critical systems include power load-dispatch/grid control, aviation systems serving TIA, and hospital ICU monitoring. A failure here isn't 'inconvenient' — it's dangerous, exactly like Therac-25 or the 737 MAX. That's why such software ethically requires redundancy, independent verification, and someone accountable for sign-off.</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"A bug is just a bug — we can always patch it." In safety-critical software a bug can kill before any patch ships. Shipping untested safety-critical code is like opening a Himalayan bridge without checking the cables because 'it looked fine' — the rigour must match the stakes.</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Safety-critical software is software whose failure can cause death, injury, or major loss (medical, aviation, transport, power). It ethically demands higher rigour — redundancy, formal verification, exhaustive testing, and clear accountability — because a defect is dangerous, not merely inconvenient. Famous failures (Therac-25, 737 MAX, Ariane 5) show the human cost of getting it wrong.</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safety-critical · redundancy · formal verification · accountability · Therac-25 · 737 MAX · rigour matches stakes</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14 / 94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E1F5EE"/>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F6E56"/>
                </a:solidFill>
              </a:rPr>
              <a:t>🛠  IN-CLASS ACTIVITY  ·  THINK–PAIR–SHARE</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S17 — 'Name the cost'  ·  ~5 min</a:t>
            </a:r>
          </a:p>
        </p:txBody>
      </p:sp>
      <p:sp>
        <p:nvSpPr>
          <p:cNvPr id="5" name="TextBox 4"/>
          <p:cNvSpPr txBox="1"/>
          <p:nvPr/>
        </p:nvSpPr>
        <p:spPr>
          <a:xfrm>
            <a:off x="640080" y="1600200"/>
            <a:ext cx="10881360" cy="3291840"/>
          </a:xfrm>
          <a:prstGeom prst="rect">
            <a:avLst/>
          </a:prstGeom>
          <a:noFill/>
        </p:spPr>
        <p:txBody>
          <a:bodyPr wrap="square">
            <a:spAutoFit/>
          </a:bodyPr>
          <a:lstStyle/>
          <a:p>
            <a:pPr>
              <a:spcAft>
                <a:spcPts val="700"/>
              </a:spcAft>
            </a:pPr>
            <a:r>
              <a:rPr sz="1550">
                <a:solidFill>
                  <a:srgbClr val="1A1A1A"/>
                </a:solidFill>
              </a:rPr>
              <a:t>•  In pairs (2 min): name one Nepali app or e-service whose poor quality frustrated you.</a:t>
            </a:r>
          </a:p>
          <a:p>
            <a:pPr>
              <a:spcAft>
                <a:spcPts val="700"/>
              </a:spcAft>
            </a:pPr>
            <a:r>
              <a:rPr sz="1550">
                <a:solidFill>
                  <a:srgbClr val="1A1A1A"/>
                </a:solidFill>
              </a:rPr>
              <a:t>•  List what it cost YOU (time, money, trust) and what it likely cost the PROVIDER.</a:t>
            </a:r>
          </a:p>
          <a:p>
            <a:pPr>
              <a:spcAft>
                <a:spcPts val="700"/>
              </a:spcAft>
            </a:pPr>
            <a:r>
              <a:rPr sz="1550">
                <a:solidFill>
                  <a:srgbClr val="1A1A1A"/>
                </a:solidFill>
              </a:rPr>
              <a:t>•  Take 3–4 answers aloud (3 min); separate visible cost from hidden cost.</a:t>
            </a:r>
          </a:p>
          <a:p>
            <a:pPr>
              <a:spcAft>
                <a:spcPts val="700"/>
              </a:spcAft>
            </a:pPr>
            <a:r>
              <a:rPr sz="1550">
                <a:solidFill>
                  <a:srgbClr val="1A1A1A"/>
                </a:solidFill>
              </a:rPr>
              <a:t>•  Close: notice the hidden costs (lost trust, churn, support load) almost always exceed the visible one.</a:t>
            </a:r>
          </a:p>
        </p:txBody>
      </p:sp>
      <p:sp>
        <p:nvSpPr>
          <p:cNvPr id="6" name="Rounded Rectangle 5"/>
          <p:cNvSpPr/>
          <p:nvPr/>
        </p:nvSpPr>
        <p:spPr>
          <a:xfrm>
            <a:off x="640080" y="5029200"/>
            <a:ext cx="10881360" cy="1554480"/>
          </a:xfrm>
          <a:prstGeom prst="roundRect">
            <a:avLst/>
          </a:prstGeom>
          <a:solidFill>
            <a:srgbClr val="FFFFFF"/>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Expected answer / what to draw out</a:t>
            </a:r>
          </a:p>
          <a:p>
            <a:pPr>
              <a:spcBef>
                <a:spcPts val="300"/>
              </a:spcBef>
            </a:pPr>
            <a:r>
              <a:rPr sz="1400">
                <a:solidFill>
                  <a:srgbClr val="1A1A1A"/>
                </a:solidFill>
              </a:rPr>
              <a:t>Seeds: a wallet that double-charged; a tax/PAN portal that timed out on deadline day; a banking app down during a festival. Push students to quantify the hidden cost, not just the visible glitch.</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15 / 94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2F5F8"/>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854F0B"/>
                </a:solidFill>
              </a:rPr>
              <a:t>CHECK FOR UNDERSTANDING</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S17 — Quick Check  ·  ~5 min</a:t>
            </a:r>
          </a:p>
        </p:txBody>
      </p:sp>
      <p:sp>
        <p:nvSpPr>
          <p:cNvPr id="5" name="TextBox 4"/>
          <p:cNvSpPr txBox="1"/>
          <p:nvPr/>
        </p:nvSpPr>
        <p:spPr>
          <a:xfrm>
            <a:off x="640080" y="1600200"/>
            <a:ext cx="10881360" cy="4846320"/>
          </a:xfrm>
          <a:prstGeom prst="rect">
            <a:avLst/>
          </a:prstGeom>
          <a:noFill/>
        </p:spPr>
        <p:txBody>
          <a:bodyPr wrap="square">
            <a:spAutoFit/>
          </a:bodyPr>
          <a:lstStyle/>
          <a:p>
            <a:pPr>
              <a:spcBef>
                <a:spcPts val="900"/>
              </a:spcBef>
            </a:pPr>
            <a:r>
              <a:rPr sz="1700" b="1">
                <a:solidFill>
                  <a:srgbClr val="0C2B4A"/>
                </a:solidFill>
              </a:rPr>
              <a:t>Q1.  Software quality is best defined as:</a:t>
            </a:r>
          </a:p>
          <a:p>
            <a:pPr lvl="1"/>
            <a:r>
              <a:rPr sz="1500" b="1">
                <a:solidFill>
                  <a:srgbClr val="0F6E56"/>
                </a:solidFill>
              </a:rPr>
              <a:t>a) no visible bugs   b) ✅ meeting requirements AND fitness for the user's real use   c) a fast demo   d) nice UI</a:t>
            </a:r>
          </a:p>
          <a:p>
            <a:pPr lvl="1">
              <a:spcBef>
                <a:spcPts val="600"/>
              </a:spcBef>
            </a:pPr>
            <a:r>
              <a:rPr sz="1500" i="1">
                <a:solidFill>
                  <a:srgbClr val="1A1A1A"/>
                </a:solidFill>
              </a:rPr>
              <a:t>     Why: quality spans correctness plus reliability, security, usability — fitness for real use, not just a clean demo.</a:t>
            </a:r>
          </a:p>
          <a:p>
            <a:pPr>
              <a:spcBef>
                <a:spcPts val="900"/>
              </a:spcBef>
            </a:pPr>
            <a:r>
              <a:rPr sz="1700" b="1">
                <a:solidFill>
                  <a:srgbClr val="0C2B4A"/>
                </a:solidFill>
              </a:rPr>
              <a:t>Q2.  The cost to fix a defect is generally lowest when found:</a:t>
            </a:r>
          </a:p>
          <a:p>
            <a:pPr lvl="1"/>
            <a:r>
              <a:rPr sz="1500" b="1">
                <a:solidFill>
                  <a:srgbClr val="0F6E56"/>
                </a:solidFill>
              </a:rPr>
              <a:t>a) after release   b) during the festival rush   c) ✅ early, in requirements/design   d) by users</a:t>
            </a:r>
          </a:p>
          <a:p>
            <a:pPr lvl="1">
              <a:spcBef>
                <a:spcPts val="600"/>
              </a:spcBef>
            </a:pPr>
            <a:r>
              <a:rPr sz="1500" i="1">
                <a:solidFill>
                  <a:srgbClr val="1A1A1A"/>
                </a:solidFill>
              </a:rPr>
              <a:t>     Why: fix-cost rises ~10× per stage, so catching it early is far cheaper — prevention beats cure.</a:t>
            </a:r>
          </a:p>
          <a:p>
            <a:pPr lvl="1">
              <a:spcBef>
                <a:spcPts val="600"/>
              </a:spcBef>
            </a:pPr>
            <a:r>
              <a:rPr sz="1500" i="1">
                <a:solidFill>
                  <a:srgbClr val="1A1A1A"/>
                </a:solidFill>
              </a:rPr>
              <a:t>Discussion: name one Nepali app/e-service whose poor quality frustrated you — what did it cost you and the provider?</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55606B"/>
                </a:solidFill>
              </a:rPr>
              <a:t>16 / 94</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C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C2B4A"/>
                </a:solidFill>
              </a:rPr>
              <a:t>S17 · SUMMARY  ·  [~2 MIN]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Summary &amp; Key Takeaways</a:t>
            </a:r>
          </a:p>
        </p:txBody>
      </p:sp>
      <p:sp>
        <p:nvSpPr>
          <p:cNvPr id="5" name="TextBox 4"/>
          <p:cNvSpPr txBox="1"/>
          <p:nvPr/>
        </p:nvSpPr>
        <p:spPr>
          <a:xfrm>
            <a:off x="640080" y="1554480"/>
            <a:ext cx="10972800" cy="2468880"/>
          </a:xfrm>
          <a:prstGeom prst="rect">
            <a:avLst/>
          </a:prstGeom>
          <a:noFill/>
        </p:spPr>
        <p:txBody>
          <a:bodyPr wrap="square">
            <a:spAutoFit/>
          </a:bodyPr>
          <a:lstStyle/>
          <a:p>
            <a:pPr>
              <a:spcAft>
                <a:spcPts val="800"/>
              </a:spcAft>
            </a:pPr>
            <a:r>
              <a:rPr sz="1500">
                <a:solidFill>
                  <a:srgbClr val="1A1A1A"/>
                </a:solidFill>
              </a:rPr>
              <a:t>1.  Quality = conformance to requirements + fitness for real use, reliably and safely (not just 'no demo crash').</a:t>
            </a:r>
          </a:p>
          <a:p>
            <a:pPr>
              <a:spcAft>
                <a:spcPts val="800"/>
              </a:spcAft>
            </a:pPr>
            <a:r>
              <a:rPr sz="1500">
                <a:solidFill>
                  <a:srgbClr val="1A1A1A"/>
                </a:solidFill>
              </a:rPr>
              <a:t>2.  Poor quality is expensive and the cost rises ~10× per later stage — prevention beats cure.</a:t>
            </a:r>
          </a:p>
          <a:p>
            <a:pPr>
              <a:spcAft>
                <a:spcPts val="800"/>
              </a:spcAft>
            </a:pPr>
            <a:r>
              <a:rPr sz="1500">
                <a:solidFill>
                  <a:srgbClr val="1A1A1A"/>
                </a:solidFill>
              </a:rPr>
              <a:t>3.  Safety-critical software (medical, aviation, power) demands extra rigour: failure can kill, not just annoy.</a:t>
            </a:r>
          </a:p>
        </p:txBody>
      </p:sp>
      <p:sp>
        <p:nvSpPr>
          <p:cNvPr id="6" name="Rounded Rectangle 5"/>
          <p:cNvSpPr/>
          <p:nvPr/>
        </p:nvSpPr>
        <p:spPr>
          <a:xfrm>
            <a:off x="640080" y="4160520"/>
            <a:ext cx="10972800" cy="1234440"/>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Why this matters</a:t>
            </a:r>
          </a:p>
          <a:p>
            <a:pPr>
              <a:spcBef>
                <a:spcPts val="300"/>
              </a:spcBef>
            </a:pPr>
            <a:r>
              <a:rPr sz="1350">
                <a:solidFill>
                  <a:srgbClr val="1A1A1A"/>
                </a:solidFill>
              </a:rPr>
              <a:t>As future developers and PMs in Nepali software houses and BPOs, your name is attached to releases — quality is your professional reputation and, in some systems, someone's safety. The habits you build now decide whether your releases are trusted.</a:t>
            </a:r>
          </a:p>
        </p:txBody>
      </p:sp>
      <p:sp>
        <p:nvSpPr>
          <p:cNvPr id="7" name="Rounded Rectangle 6"/>
          <p:cNvSpPr/>
          <p:nvPr/>
        </p:nvSpPr>
        <p:spPr>
          <a:xfrm>
            <a:off x="640080" y="5504688"/>
            <a:ext cx="10972800" cy="105156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Next</a:t>
            </a:r>
          </a:p>
          <a:p>
            <a:pPr>
              <a:spcBef>
                <a:spcPts val="300"/>
              </a:spcBef>
            </a:pPr>
            <a:r>
              <a:rPr sz="1350">
                <a:solidFill>
                  <a:srgbClr val="1A1A1A"/>
                </a:solidFill>
              </a:rPr>
              <a:t>S18 — the concrete strategies that actually produce quality software.</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17 / 94</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85FA5"/>
        </a:solidFill>
        <a:effectLst/>
      </p:bgPr>
    </p:bg>
    <p:spTree>
      <p:nvGrpSpPr>
        <p:cNvPr id="1" name=""/>
        <p:cNvGrpSpPr/>
        <p:nvPr/>
      </p:nvGrpSpPr>
      <p:grpSpPr/>
      <p:sp>
        <p:nvSpPr>
          <p:cNvPr id="2" name="TextBox 1"/>
          <p:cNvSpPr txBox="1"/>
          <p:nvPr/>
        </p:nvSpPr>
        <p:spPr>
          <a:xfrm>
            <a:off x="822960" y="1737360"/>
            <a:ext cx="10515600" cy="548640"/>
          </a:xfrm>
          <a:prstGeom prst="rect">
            <a:avLst/>
          </a:prstGeom>
          <a:noFill/>
        </p:spPr>
        <p:txBody>
          <a:bodyPr wrap="none">
            <a:spAutoFit/>
          </a:bodyPr>
          <a:lstStyle/>
          <a:p>
            <a:r>
              <a:rPr sz="1500" b="1">
                <a:solidFill>
                  <a:srgbClr val="BFDCF2"/>
                </a:solidFill>
              </a:rPr>
              <a:t>SESSION 18 · LECTURE HOUR 2 (OF 5)</a:t>
            </a:r>
          </a:p>
        </p:txBody>
      </p:sp>
      <p:sp>
        <p:nvSpPr>
          <p:cNvPr id="3" name="TextBox 2"/>
          <p:cNvSpPr txBox="1"/>
          <p:nvPr/>
        </p:nvSpPr>
        <p:spPr>
          <a:xfrm>
            <a:off x="822960" y="2286000"/>
            <a:ext cx="10515600" cy="1280160"/>
          </a:xfrm>
          <a:prstGeom prst="rect">
            <a:avLst/>
          </a:prstGeom>
          <a:noFill/>
        </p:spPr>
        <p:txBody>
          <a:bodyPr wrap="square">
            <a:spAutoFit/>
          </a:bodyPr>
          <a:lstStyle/>
          <a:p>
            <a:r>
              <a:rPr sz="3000" b="1">
                <a:solidFill>
                  <a:srgbClr val="FFFFFF"/>
                </a:solidFill>
              </a:rPr>
              <a:t>Strategies for Developing Quality Software</a:t>
            </a:r>
          </a:p>
        </p:txBody>
      </p:sp>
      <p:sp>
        <p:nvSpPr>
          <p:cNvPr id="4" name="Rectangle 3"/>
          <p:cNvSpPr/>
          <p:nvPr/>
        </p:nvSpPr>
        <p:spPr>
          <a:xfrm>
            <a:off x="822960" y="3703320"/>
            <a:ext cx="1280160" cy="82296"/>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3886200"/>
            <a:ext cx="10515600" cy="2194560"/>
          </a:xfrm>
          <a:prstGeom prst="rect">
            <a:avLst/>
          </a:prstGeom>
          <a:noFill/>
        </p:spPr>
        <p:txBody>
          <a:bodyPr wrap="square">
            <a:spAutoFit/>
          </a:bodyPr>
          <a:lstStyle/>
          <a:p>
            <a:r>
              <a:rPr sz="1800" i="1">
                <a:solidFill>
                  <a:srgbClr val="E8F1F9"/>
                </a:solidFill>
              </a:rPr>
              <a:t>🎣  Two Kathmandu startups build the same app. One 'tests by clicking around before the demo'; the other writes automated tests, has a QA gate, and a release checklist. Six months later only one still has clients. What did the survivor do differently?</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E8F0F7"/>
                </a:solidFill>
              </a:rPr>
              <a:t>18 / 94</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S18 · CONCEPT 1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Testing</a:t>
            </a:r>
          </a:p>
        </p:txBody>
      </p:sp>
      <p:sp>
        <p:nvSpPr>
          <p:cNvPr id="5" name="TextBox 4"/>
          <p:cNvSpPr txBox="1"/>
          <p:nvPr/>
        </p:nvSpPr>
        <p:spPr>
          <a:xfrm>
            <a:off x="640080" y="1572768"/>
            <a:ext cx="5669280" cy="4617720"/>
          </a:xfrm>
          <a:prstGeom prst="rect">
            <a:avLst/>
          </a:prstGeom>
          <a:noFill/>
        </p:spPr>
        <p:txBody>
          <a:bodyPr wrap="square">
            <a:spAutoFit/>
          </a:bodyPr>
          <a:lstStyle/>
          <a:p>
            <a:pPr>
              <a:spcAft>
                <a:spcPts val="1000"/>
              </a:spcAft>
            </a:pPr>
            <a:r>
              <a:rPr sz="1500" b="1">
                <a:solidFill>
                  <a:srgbClr val="0C2B4A"/>
                </a:solidFill>
              </a:rPr>
              <a:t>Testing is systematically running software to find defects before users do. It has levels — unit → integration → system → acceptance — and can be manual or automated, black-box or white-box. A key truth: testing shows the PRESENCE of bugs, not their absence.</a:t>
            </a:r>
          </a:p>
          <a:p>
            <a:pPr>
              <a:spcAft>
                <a:spcPts val="500"/>
              </a:spcAft>
            </a:pPr>
            <a:r>
              <a:rPr sz="1200" b="1">
                <a:solidFill>
                  <a:srgbClr val="185FA5"/>
                </a:solidFill>
              </a:rPr>
              <a:t>HOW IT WORKS</a:t>
            </a:r>
          </a:p>
          <a:p>
            <a:pPr>
              <a:spcAft>
                <a:spcPts val="600"/>
              </a:spcAft>
            </a:pPr>
            <a:r>
              <a:rPr sz="1400">
                <a:solidFill>
                  <a:srgbClr val="1A1A1A"/>
                </a:solidFill>
              </a:rPr>
              <a:t>•  Unit (each function) → integration (modules together) → system (whole app) → acceptance (user signs off).</a:t>
            </a:r>
          </a:p>
          <a:p>
            <a:pPr>
              <a:spcAft>
                <a:spcPts val="600"/>
              </a:spcAft>
            </a:pPr>
            <a:r>
              <a:rPr sz="1400">
                <a:solidFill>
                  <a:srgbClr val="1A1A1A"/>
                </a:solidFill>
              </a:rPr>
              <a:t>•  Automated tests run on every change (continuous integration), catching regressions instantly.</a:t>
            </a:r>
          </a:p>
          <a:p>
            <a:pPr>
              <a:spcAft>
                <a:spcPts val="600"/>
              </a:spcAft>
            </a:pPr>
            <a:r>
              <a:rPr sz="1400">
                <a:solidFill>
                  <a:srgbClr val="1A1A1A"/>
                </a:solidFill>
              </a:rPr>
              <a:t>•  Black-box tests behaviour (no code view); white-box tests internal logic.</a:t>
            </a:r>
          </a:p>
          <a:p>
            <a:pPr>
              <a:spcAft>
                <a:spcPts val="600"/>
              </a:spcAft>
            </a:pPr>
            <a:r>
              <a:rPr sz="1400">
                <a:solidFill>
                  <a:srgbClr val="1A1A1A"/>
                </a:solidFill>
              </a:rPr>
              <a:t>•  Regression testing re-checks old features so a new fix doesn't silently break them.</a:t>
            </a:r>
          </a:p>
        </p:txBody>
      </p:sp>
      <p:pic>
        <p:nvPicPr>
          <p:cNvPr id="6" name="Picture 5" descr="s18_pyramid.png"/>
          <p:cNvPicPr>
            <a:picLocks noChangeAspect="1"/>
          </p:cNvPicPr>
          <p:nvPr/>
        </p:nvPicPr>
        <p:blipFill>
          <a:blip r:embed="rId2"/>
          <a:stretch>
            <a:fillRect/>
          </a:stretch>
        </p:blipFill>
        <p:spPr>
          <a:xfrm>
            <a:off x="6355080" y="2503265"/>
            <a:ext cx="5532120" cy="2628708"/>
          </a:xfrm>
          <a:prstGeom prst="rect">
            <a:avLst/>
          </a:prstGeom>
        </p:spPr>
      </p:pic>
      <p:sp>
        <p:nvSpPr>
          <p:cNvPr id="7" name="Rectangle 6"/>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Unit → integration → system → acceptance; automate the base.</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19 / 94</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S18 · CONCEPT 1 · SCAFFOLDING</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levels of testing</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2348630"/>
                <a:gridCol w="4540684"/>
                <a:gridCol w="4540684"/>
              </a:tblGrid>
              <a:tr h="883310">
                <a:tc>
                  <a:txBody>
                    <a:bodyPr wrap="square"/>
                    <a:lstStyle/>
                    <a:p>
                      <a:r>
                        <a:rPr sz="1200" b="1">
                          <a:solidFill>
                            <a:srgbClr val="FFFFFF"/>
                          </a:solidFill>
                        </a:rPr>
                        <a:t>Level</a:t>
                      </a:r>
                    </a:p>
                  </a:txBody>
                  <a:tcPr anchor="ctr" marL="73152" marR="54864" marT="27432" marB="27432">
                    <a:solidFill>
                      <a:srgbClr val="0C2B4A"/>
                    </a:solidFill>
                  </a:tcPr>
                </a:tc>
                <a:tc>
                  <a:txBody>
                    <a:bodyPr wrap="square"/>
                    <a:lstStyle/>
                    <a:p>
                      <a:r>
                        <a:rPr sz="1200" b="1">
                          <a:solidFill>
                            <a:srgbClr val="FFFFFF"/>
                          </a:solidFill>
                        </a:rPr>
                        <a:t>What it checks</a:t>
                      </a:r>
                    </a:p>
                  </a:txBody>
                  <a:tcPr anchor="ctr" marL="73152" marR="54864" marT="27432" marB="27432">
                    <a:solidFill>
                      <a:srgbClr val="0C2B4A"/>
                    </a:solidFill>
                  </a:tcPr>
                </a:tc>
                <a:tc>
                  <a:txBody>
                    <a:bodyPr wrap="square"/>
                    <a:lstStyle/>
                    <a:p>
                      <a:r>
                        <a:rPr sz="1200" b="1">
                          <a:solidFill>
                            <a:srgbClr val="FFFFFF"/>
                          </a:solidFill>
                        </a:rPr>
                        <a:t>Who / when</a:t>
                      </a:r>
                    </a:p>
                  </a:txBody>
                  <a:tcPr anchor="ctr" marL="73152" marR="54864" marT="27432" marB="27432">
                    <a:solidFill>
                      <a:srgbClr val="0C2B4A"/>
                    </a:solidFill>
                  </a:tcPr>
                </a:tc>
              </a:tr>
              <a:tr h="883310">
                <a:tc>
                  <a:txBody>
                    <a:bodyPr wrap="square"/>
                    <a:lstStyle/>
                    <a:p>
                      <a:r>
                        <a:rPr sz="1150" b="1">
                          <a:solidFill>
                            <a:srgbClr val="0C2B4A"/>
                          </a:solidFill>
                        </a:rPr>
                        <a:t>Unit</a:t>
                      </a:r>
                    </a:p>
                  </a:txBody>
                  <a:tcPr anchor="ctr" marL="73152" marR="54864" marT="27432" marB="27432">
                    <a:solidFill>
                      <a:srgbClr val="FFFFFF"/>
                    </a:solidFill>
                  </a:tcPr>
                </a:tc>
                <a:tc>
                  <a:txBody>
                    <a:bodyPr wrap="square"/>
                    <a:lstStyle/>
                    <a:p>
                      <a:r>
                        <a:rPr sz="1150">
                          <a:solidFill>
                            <a:srgbClr val="1A1A1A"/>
                          </a:solidFill>
                        </a:rPr>
                        <a:t>Each function/module in isolation</a:t>
                      </a:r>
                    </a:p>
                  </a:txBody>
                  <a:tcPr anchor="ctr" marL="73152" marR="54864" marT="27432" marB="27432">
                    <a:solidFill>
                      <a:srgbClr val="FFFFFF"/>
                    </a:solidFill>
                  </a:tcPr>
                </a:tc>
                <a:tc>
                  <a:txBody>
                    <a:bodyPr wrap="square"/>
                    <a:lstStyle/>
                    <a:p>
                      <a:r>
                        <a:rPr sz="1150">
                          <a:solidFill>
                            <a:srgbClr val="1A1A1A"/>
                          </a:solidFill>
                        </a:rPr>
                        <a:t>Developer, continuously (often automated)</a:t>
                      </a:r>
                    </a:p>
                  </a:txBody>
                  <a:tcPr anchor="ctr" marL="73152" marR="54864" marT="27432" marB="27432">
                    <a:solidFill>
                      <a:srgbClr val="FFFFFF"/>
                    </a:solidFill>
                  </a:tcPr>
                </a:tc>
              </a:tr>
              <a:tr h="883310">
                <a:tc>
                  <a:txBody>
                    <a:bodyPr wrap="square"/>
                    <a:lstStyle/>
                    <a:p>
                      <a:r>
                        <a:rPr sz="1150" b="1">
                          <a:solidFill>
                            <a:srgbClr val="0C2B4A"/>
                          </a:solidFill>
                        </a:rPr>
                        <a:t>Integration</a:t>
                      </a:r>
                    </a:p>
                  </a:txBody>
                  <a:tcPr anchor="ctr" marL="73152" marR="54864" marT="27432" marB="27432">
                    <a:solidFill>
                      <a:srgbClr val="EEF3F8"/>
                    </a:solidFill>
                  </a:tcPr>
                </a:tc>
                <a:tc>
                  <a:txBody>
                    <a:bodyPr wrap="square"/>
                    <a:lstStyle/>
                    <a:p>
                      <a:r>
                        <a:rPr sz="1150">
                          <a:solidFill>
                            <a:srgbClr val="1A1A1A"/>
                          </a:solidFill>
                        </a:rPr>
                        <a:t>Modules working together correctly</a:t>
                      </a:r>
                    </a:p>
                  </a:txBody>
                  <a:tcPr anchor="ctr" marL="73152" marR="54864" marT="27432" marB="27432">
                    <a:solidFill>
                      <a:srgbClr val="EEF3F8"/>
                    </a:solidFill>
                  </a:tcPr>
                </a:tc>
                <a:tc>
                  <a:txBody>
                    <a:bodyPr wrap="square"/>
                    <a:lstStyle/>
                    <a:p>
                      <a:r>
                        <a:rPr sz="1150">
                          <a:solidFill>
                            <a:srgbClr val="1A1A1A"/>
                          </a:solidFill>
                        </a:rPr>
                        <a:t>Developers/QA as parts are joined</a:t>
                      </a:r>
                    </a:p>
                  </a:txBody>
                  <a:tcPr anchor="ctr" marL="73152" marR="54864" marT="27432" marB="27432">
                    <a:solidFill>
                      <a:srgbClr val="EEF3F8"/>
                    </a:solidFill>
                  </a:tcPr>
                </a:tc>
              </a:tr>
              <a:tr h="883310">
                <a:tc>
                  <a:txBody>
                    <a:bodyPr wrap="square"/>
                    <a:lstStyle/>
                    <a:p>
                      <a:r>
                        <a:rPr sz="1150" b="1">
                          <a:solidFill>
                            <a:srgbClr val="0C2B4A"/>
                          </a:solidFill>
                        </a:rPr>
                        <a:t>System</a:t>
                      </a:r>
                    </a:p>
                  </a:txBody>
                  <a:tcPr anchor="ctr" marL="73152" marR="54864" marT="27432" marB="27432">
                    <a:solidFill>
                      <a:srgbClr val="FFFFFF"/>
                    </a:solidFill>
                  </a:tcPr>
                </a:tc>
                <a:tc>
                  <a:txBody>
                    <a:bodyPr wrap="square"/>
                    <a:lstStyle/>
                    <a:p>
                      <a:r>
                        <a:rPr sz="1150">
                          <a:solidFill>
                            <a:srgbClr val="1A1A1A"/>
                          </a:solidFill>
                        </a:rPr>
                        <a:t>The whole application end-to-end</a:t>
                      </a:r>
                    </a:p>
                  </a:txBody>
                  <a:tcPr anchor="ctr" marL="73152" marR="54864" marT="27432" marB="27432">
                    <a:solidFill>
                      <a:srgbClr val="FFFFFF"/>
                    </a:solidFill>
                  </a:tcPr>
                </a:tc>
                <a:tc>
                  <a:txBody>
                    <a:bodyPr wrap="square"/>
                    <a:lstStyle/>
                    <a:p>
                      <a:r>
                        <a:rPr sz="1150">
                          <a:solidFill>
                            <a:srgbClr val="1A1A1A"/>
                          </a:solidFill>
                        </a:rPr>
                        <a:t>QA team before release</a:t>
                      </a:r>
                    </a:p>
                  </a:txBody>
                  <a:tcPr anchor="ctr" marL="73152" marR="54864" marT="27432" marB="27432">
                    <a:solidFill>
                      <a:srgbClr val="FFFFFF"/>
                    </a:solidFill>
                  </a:tcPr>
                </a:tc>
              </a:tr>
              <a:tr h="883312">
                <a:tc>
                  <a:txBody>
                    <a:bodyPr wrap="square"/>
                    <a:lstStyle/>
                    <a:p>
                      <a:r>
                        <a:rPr sz="1150" b="1">
                          <a:solidFill>
                            <a:srgbClr val="0C2B4A"/>
                          </a:solidFill>
                        </a:rPr>
                        <a:t>Acceptance (UAT)</a:t>
                      </a:r>
                    </a:p>
                  </a:txBody>
                  <a:tcPr anchor="ctr" marL="73152" marR="54864" marT="27432" marB="27432">
                    <a:solidFill>
                      <a:srgbClr val="EEF3F8"/>
                    </a:solidFill>
                  </a:tcPr>
                </a:tc>
                <a:tc>
                  <a:txBody>
                    <a:bodyPr wrap="square"/>
                    <a:lstStyle/>
                    <a:p>
                      <a:r>
                        <a:rPr sz="1150">
                          <a:solidFill>
                            <a:srgbClr val="1A1A1A"/>
                          </a:solidFill>
                        </a:rPr>
                        <a:t>Meets the user's real needs</a:t>
                      </a:r>
                    </a:p>
                  </a:txBody>
                  <a:tcPr anchor="ctr" marL="73152" marR="54864" marT="27432" marB="27432">
                    <a:solidFill>
                      <a:srgbClr val="EEF3F8"/>
                    </a:solidFill>
                  </a:tcPr>
                </a:tc>
                <a:tc>
                  <a:txBody>
                    <a:bodyPr wrap="square"/>
                    <a:lstStyle/>
                    <a:p>
                      <a:r>
                        <a:rPr sz="1150">
                          <a:solidFill>
                            <a:srgbClr val="1A1A1A"/>
                          </a:solidFill>
                        </a:rPr>
                        <a:t>The client/user signs off (e.g. NRB/bank UAT)</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Automate the base (many fast unit tests); reserve slow manual effort for higher levels. 'It works on my machine' is not any of these levels.</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20 / 94</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S18 · CONCEPT 1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Testing</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A Nepali software/QA outsourcing firm in Kathmandu/Lalitpur runs structured test cycles — defined test cases, edge cases, regression suites — for foreign clients, and a bank runs UAT with NRB before a digital-banking go-live. This discipline is exactly what turns 'seems to work' into 'verified to work'.</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"If it works on my machine / passed the demo, it's tested." Ad-hoc clicking is not testing: you need defined test cases, edge cases, and regression coverage. A demo exercises the happy path once; real testing hunts the failures users will hit — and proves you looked.</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Testing is systematically running software to find defects before users do, across levels (unit, integration, system, acceptance), manual or automated, black-box or white-box, with regression testing guarding old features. Because testing shows the presence of bugs (never proves their absence), it must be structured — defined cases and edge cases — not ad-hoc clicking.</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testing · unit/integration/system/acceptance · automated · regression · presence not absence of bugs</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21 / 94</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S18 · CONCEPT 1 · CONCRETE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Testing levels in practice — real Nepali test scenarios</a:t>
            </a:r>
          </a:p>
        </p:txBody>
      </p:sp>
      <p:graphicFrame>
        <p:nvGraphicFramePr>
          <p:cNvPr id="5" name="Table 4"/>
          <p:cNvGraphicFramePr>
            <a:graphicFrameLocks noGrp="1"/>
          </p:cNvGraphicFramePr>
          <p:nvPr/>
        </p:nvGraphicFramePr>
        <p:xfrm>
          <a:off x="384048" y="1572768"/>
          <a:ext cx="11430000" cy="4416552"/>
        </p:xfrm>
        <a:graphic>
          <a:graphicData uri="http://schemas.openxmlformats.org/drawingml/2006/table">
            <a:tbl>
              <a:tblPr>
                <a:tableStyleId>{5C22544A-7EE6-4342-B048-85BDC9FD1C3A}</a:tableStyleId>
              </a:tblPr>
              <a:tblGrid>
                <a:gridCol w="4572000"/>
                <a:gridCol w="2743200"/>
                <a:gridCol w="4114800"/>
              </a:tblGrid>
              <a:tr h="630936">
                <a:tc>
                  <a:txBody>
                    <a:bodyPr wrap="square"/>
                    <a:lstStyle/>
                    <a:p>
                      <a:r>
                        <a:rPr sz="1150" b="1">
                          <a:solidFill>
                            <a:srgbClr val="FFFFFF"/>
                          </a:solidFill>
                        </a:rPr>
                        <a:t>Concrete test scenario</a:t>
                      </a:r>
                    </a:p>
                  </a:txBody>
                  <a:tcPr anchor="ctr" marL="73152" marR="54864" marT="27432" marB="27432">
                    <a:solidFill>
                      <a:srgbClr val="0C2B4A"/>
                    </a:solidFill>
                  </a:tcPr>
                </a:tc>
                <a:tc>
                  <a:txBody>
                    <a:bodyPr wrap="square"/>
                    <a:lstStyle/>
                    <a:p>
                      <a:r>
                        <a:rPr sz="1150" b="1">
                          <a:solidFill>
                            <a:srgbClr val="FFFFFF"/>
                          </a:solidFill>
                        </a:rPr>
                        <a:t>Testing level</a:t>
                      </a:r>
                    </a:p>
                  </a:txBody>
                  <a:tcPr anchor="ctr" marL="73152" marR="54864" marT="27432" marB="27432">
                    <a:solidFill>
                      <a:srgbClr val="0C2B4A"/>
                    </a:solidFill>
                  </a:tcPr>
                </a:tc>
                <a:tc>
                  <a:txBody>
                    <a:bodyPr wrap="square"/>
                    <a:lstStyle/>
                    <a:p>
                      <a:r>
                        <a:rPr sz="1150" b="1">
                          <a:solidFill>
                            <a:srgbClr val="FFFFFF"/>
                          </a:solidFill>
                        </a:rPr>
                        <a:t>What it catches (verdict)</a:t>
                      </a:r>
                    </a:p>
                  </a:txBody>
                  <a:tcPr anchor="ctr" marL="73152" marR="54864" marT="27432" marB="27432">
                    <a:solidFill>
                      <a:srgbClr val="0C2B4A"/>
                    </a:solidFill>
                  </a:tcPr>
                </a:tc>
              </a:tr>
              <a:tr h="630936">
                <a:tc>
                  <a:txBody>
                    <a:bodyPr wrap="square"/>
                    <a:lstStyle/>
                    <a:p>
                      <a:r>
                        <a:rPr sz="1100" b="1">
                          <a:solidFill>
                            <a:srgbClr val="0C2B4A"/>
                          </a:solidFill>
                        </a:rPr>
                        <a:t>Check one interest-calc function returns the right paisa</a:t>
                      </a:r>
                    </a:p>
                  </a:txBody>
                  <a:tcPr anchor="ctr" marL="73152" marR="54864" marT="27432" marB="27432">
                    <a:solidFill>
                      <a:srgbClr val="FFFFFF"/>
                    </a:solidFill>
                  </a:tcPr>
                </a:tc>
                <a:tc>
                  <a:txBody>
                    <a:bodyPr wrap="square"/>
                    <a:lstStyle/>
                    <a:p>
                      <a:r>
                        <a:rPr sz="1100">
                          <a:solidFill>
                            <a:srgbClr val="1A1A1A"/>
                          </a:solidFill>
                        </a:rPr>
                        <a:t>Unit</a:t>
                      </a:r>
                    </a:p>
                  </a:txBody>
                  <a:tcPr anchor="ctr" marL="73152" marR="54864" marT="27432" marB="27432">
                    <a:solidFill>
                      <a:srgbClr val="FFFFFF"/>
                    </a:solidFill>
                  </a:tcPr>
                </a:tc>
                <a:tc>
                  <a:txBody>
                    <a:bodyPr wrap="square"/>
                    <a:lstStyle/>
                    <a:p>
                      <a:r>
                        <a:rPr sz="1100">
                          <a:solidFill>
                            <a:srgbClr val="1A1A1A"/>
                          </a:solidFill>
                        </a:rPr>
                        <a:t>Catches math bugs early; automated on every commit</a:t>
                      </a:r>
                    </a:p>
                  </a:txBody>
                  <a:tcPr anchor="ctr" marL="73152" marR="54864" marT="27432" marB="27432">
                    <a:solidFill>
                      <a:srgbClr val="FFFFFF"/>
                    </a:solidFill>
                  </a:tcPr>
                </a:tc>
              </a:tr>
              <a:tr h="630936">
                <a:tc>
                  <a:txBody>
                    <a:bodyPr wrap="square"/>
                    <a:lstStyle/>
                    <a:p>
                      <a:r>
                        <a:rPr sz="1100" b="1">
                          <a:solidFill>
                            <a:srgbClr val="0C2B4A"/>
                          </a:solidFill>
                        </a:rPr>
                        <a:t>Verify wallet + bank API talk correctly during a top-up</a:t>
                      </a:r>
                    </a:p>
                  </a:txBody>
                  <a:tcPr anchor="ctr" marL="73152" marR="54864" marT="27432" marB="27432">
                    <a:solidFill>
                      <a:srgbClr val="EEF3F8"/>
                    </a:solidFill>
                  </a:tcPr>
                </a:tc>
                <a:tc>
                  <a:txBody>
                    <a:bodyPr wrap="square"/>
                    <a:lstStyle/>
                    <a:p>
                      <a:r>
                        <a:rPr sz="1100">
                          <a:solidFill>
                            <a:srgbClr val="1A1A1A"/>
                          </a:solidFill>
                        </a:rPr>
                        <a:t>Integration</a:t>
                      </a:r>
                    </a:p>
                  </a:txBody>
                  <a:tcPr anchor="ctr" marL="73152" marR="54864" marT="27432" marB="27432">
                    <a:solidFill>
                      <a:srgbClr val="EEF3F8"/>
                    </a:solidFill>
                  </a:tcPr>
                </a:tc>
                <a:tc>
                  <a:txBody>
                    <a:bodyPr wrap="square"/>
                    <a:lstStyle/>
                    <a:p>
                      <a:r>
                        <a:rPr sz="1100">
                          <a:solidFill>
                            <a:srgbClr val="1A1A1A"/>
                          </a:solidFill>
                        </a:rPr>
                        <a:t>Catches broken hand-offs between modules</a:t>
                      </a:r>
                    </a:p>
                  </a:txBody>
                  <a:tcPr anchor="ctr" marL="73152" marR="54864" marT="27432" marB="27432">
                    <a:solidFill>
                      <a:srgbClr val="EEF3F8"/>
                    </a:solidFill>
                  </a:tcPr>
                </a:tc>
              </a:tr>
              <a:tr h="630936">
                <a:tc>
                  <a:txBody>
                    <a:bodyPr wrap="square"/>
                    <a:lstStyle/>
                    <a:p>
                      <a:r>
                        <a:rPr sz="1100" b="1">
                          <a:solidFill>
                            <a:srgbClr val="0C2B4A"/>
                          </a:solidFill>
                        </a:rPr>
                        <a:t>Run the full eSewa payment flow end-to-end pre-release</a:t>
                      </a:r>
                    </a:p>
                  </a:txBody>
                  <a:tcPr anchor="ctr" marL="73152" marR="54864" marT="27432" marB="27432">
                    <a:solidFill>
                      <a:srgbClr val="FFFFFF"/>
                    </a:solidFill>
                  </a:tcPr>
                </a:tc>
                <a:tc>
                  <a:txBody>
                    <a:bodyPr wrap="square"/>
                    <a:lstStyle/>
                    <a:p>
                      <a:r>
                        <a:rPr sz="1100">
                          <a:solidFill>
                            <a:srgbClr val="1A1A1A"/>
                          </a:solidFill>
                        </a:rPr>
                        <a:t>System</a:t>
                      </a:r>
                    </a:p>
                  </a:txBody>
                  <a:tcPr anchor="ctr" marL="73152" marR="54864" marT="27432" marB="27432">
                    <a:solidFill>
                      <a:srgbClr val="FFFFFF"/>
                    </a:solidFill>
                  </a:tcPr>
                </a:tc>
                <a:tc>
                  <a:txBody>
                    <a:bodyPr wrap="square"/>
                    <a:lstStyle/>
                    <a:p>
                      <a:r>
                        <a:rPr sz="1100">
                          <a:solidFill>
                            <a:srgbClr val="1A1A1A"/>
                          </a:solidFill>
                        </a:rPr>
                        <a:t>Catches whole-journey failures the QA team runs before release</a:t>
                      </a:r>
                    </a:p>
                  </a:txBody>
                  <a:tcPr anchor="ctr" marL="73152" marR="54864" marT="27432" marB="27432">
                    <a:solidFill>
                      <a:srgbClr val="FFFFFF"/>
                    </a:solidFill>
                  </a:tcPr>
                </a:tc>
              </a:tr>
              <a:tr h="630936">
                <a:tc>
                  <a:txBody>
                    <a:bodyPr wrap="square"/>
                    <a:lstStyle/>
                    <a:p>
                      <a:r>
                        <a:rPr sz="1100" b="1">
                          <a:solidFill>
                            <a:srgbClr val="0C2B4A"/>
                          </a:solidFill>
                        </a:rPr>
                        <a:t>NRB/bank signs off a digital-banking go-live</a:t>
                      </a:r>
                    </a:p>
                  </a:txBody>
                  <a:tcPr anchor="ctr" marL="73152" marR="54864" marT="27432" marB="27432">
                    <a:solidFill>
                      <a:srgbClr val="EEF3F8"/>
                    </a:solidFill>
                  </a:tcPr>
                </a:tc>
                <a:tc>
                  <a:txBody>
                    <a:bodyPr wrap="square"/>
                    <a:lstStyle/>
                    <a:p>
                      <a:r>
                        <a:rPr sz="1100">
                          <a:solidFill>
                            <a:srgbClr val="1A1A1A"/>
                          </a:solidFill>
                        </a:rPr>
                        <a:t>Acceptance (UAT)</a:t>
                      </a:r>
                    </a:p>
                  </a:txBody>
                  <a:tcPr anchor="ctr" marL="73152" marR="54864" marT="27432" marB="27432">
                    <a:solidFill>
                      <a:srgbClr val="EEF3F8"/>
                    </a:solidFill>
                  </a:tcPr>
                </a:tc>
                <a:tc>
                  <a:txBody>
                    <a:bodyPr wrap="square"/>
                    <a:lstStyle/>
                    <a:p>
                      <a:r>
                        <a:rPr sz="1100">
                          <a:solidFill>
                            <a:srgbClr val="1A1A1A"/>
                          </a:solidFill>
                        </a:rPr>
                        <a:t>Confirms it meets the client's real need</a:t>
                      </a:r>
                    </a:p>
                  </a:txBody>
                  <a:tcPr anchor="ctr" marL="73152" marR="54864" marT="27432" marB="27432">
                    <a:solidFill>
                      <a:srgbClr val="EEF3F8"/>
                    </a:solidFill>
                  </a:tcPr>
                </a:tc>
              </a:tr>
              <a:tr h="630936">
                <a:tc>
                  <a:txBody>
                    <a:bodyPr wrap="square"/>
                    <a:lstStyle/>
                    <a:p>
                      <a:r>
                        <a:rPr sz="1100" b="1">
                          <a:solidFill>
                            <a:srgbClr val="0C2B4A"/>
                          </a:solidFill>
                        </a:rPr>
                        <a:t>Re-run old tests after a Dashain hotfix</a:t>
                      </a:r>
                    </a:p>
                  </a:txBody>
                  <a:tcPr anchor="ctr" marL="73152" marR="54864" marT="27432" marB="27432">
                    <a:solidFill>
                      <a:srgbClr val="FFFFFF"/>
                    </a:solidFill>
                  </a:tcPr>
                </a:tc>
                <a:tc>
                  <a:txBody>
                    <a:bodyPr wrap="square"/>
                    <a:lstStyle/>
                    <a:p>
                      <a:r>
                        <a:rPr sz="1100">
                          <a:solidFill>
                            <a:srgbClr val="1A1A1A"/>
                          </a:solidFill>
                        </a:rPr>
                        <a:t>Regression</a:t>
                      </a:r>
                    </a:p>
                  </a:txBody>
                  <a:tcPr anchor="ctr" marL="73152" marR="54864" marT="27432" marB="27432">
                    <a:solidFill>
                      <a:srgbClr val="FFFFFF"/>
                    </a:solidFill>
                  </a:tcPr>
                </a:tc>
                <a:tc>
                  <a:txBody>
                    <a:bodyPr wrap="square"/>
                    <a:lstStyle/>
                    <a:p>
                      <a:r>
                        <a:rPr sz="1100">
                          <a:solidFill>
                            <a:srgbClr val="1A1A1A"/>
                          </a:solidFill>
                        </a:rPr>
                        <a:t>Ensures the fix didn't silently break paid features</a:t>
                      </a:r>
                    </a:p>
                  </a:txBody>
                  <a:tcPr anchor="ctr" marL="73152" marR="54864" marT="27432" marB="27432">
                    <a:solidFill>
                      <a:srgbClr val="FFFFFF"/>
                    </a:solidFill>
                  </a:tcPr>
                </a:tc>
              </a:tr>
              <a:tr h="630936">
                <a:tc>
                  <a:txBody>
                    <a:bodyPr wrap="square"/>
                    <a:lstStyle/>
                    <a:p>
                      <a:r>
                        <a:rPr sz="1100" b="1">
                          <a:solidFill>
                            <a:srgbClr val="0C2B4A"/>
                          </a:solidFill>
                        </a:rPr>
                        <a:t>Enter a negative amount / retry on a weak network</a:t>
                      </a:r>
                    </a:p>
                  </a:txBody>
                  <a:tcPr anchor="ctr" marL="73152" marR="54864" marT="27432" marB="27432">
                    <a:solidFill>
                      <a:srgbClr val="EEF3F8"/>
                    </a:solidFill>
                  </a:tcPr>
                </a:tc>
                <a:tc>
                  <a:txBody>
                    <a:bodyPr wrap="square"/>
                    <a:lstStyle/>
                    <a:p>
                      <a:r>
                        <a:rPr sz="1100">
                          <a:solidFill>
                            <a:srgbClr val="1A1A1A"/>
                          </a:solidFill>
                        </a:rPr>
                        <a:t>Edge-case (black-box)</a:t>
                      </a:r>
                    </a:p>
                  </a:txBody>
                  <a:tcPr anchor="ctr" marL="73152" marR="54864" marT="27432" marB="27432">
                    <a:solidFill>
                      <a:srgbClr val="EEF3F8"/>
                    </a:solidFill>
                  </a:tcPr>
                </a:tc>
                <a:tc>
                  <a:txBody>
                    <a:bodyPr wrap="square"/>
                    <a:lstStyle/>
                    <a:p>
                      <a:r>
                        <a:rPr sz="1100">
                          <a:solidFill>
                            <a:srgbClr val="1A1A1A"/>
                          </a:solidFill>
                        </a:rPr>
                        <a:t>Hunts the failures real users hit, not the happy path</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Ad-hoc clicking is none of these. Testing shows the presence of bugs, not their absence — so it must be structured across levels, with edge cases and regression coverage.</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22 / 94</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S18 · CONCEPT 2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Quality Assurance (QA) vs Quality Control (QC)</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QA and QC are different jobs. QA builds the PROCESS that prevents defects (proactive: standards, reviews, audits). QC inspects the PRODUCT to catch defects (reactive: testing, inspection). You need both — one stops defects being made, the other stops them shipping.</a:t>
            </a:r>
          </a:p>
          <a:p>
            <a:pPr>
              <a:spcAft>
                <a:spcPts val="500"/>
              </a:spcAft>
            </a:pPr>
            <a:r>
              <a:rPr sz="1200" b="1">
                <a:solidFill>
                  <a:srgbClr val="185FA5"/>
                </a:solidFill>
              </a:rPr>
              <a:t>HOW IT WORKS</a:t>
            </a:r>
          </a:p>
          <a:p>
            <a:pPr>
              <a:spcAft>
                <a:spcPts val="600"/>
              </a:spcAft>
            </a:pPr>
            <a:r>
              <a:rPr sz="1400">
                <a:solidFill>
                  <a:srgbClr val="1A1A1A"/>
                </a:solidFill>
              </a:rPr>
              <a:t>•  QA is proactive and about the process: coding standards, code reviews, checklists, audits.</a:t>
            </a:r>
          </a:p>
          <a:p>
            <a:pPr>
              <a:spcAft>
                <a:spcPts val="600"/>
              </a:spcAft>
            </a:pPr>
            <a:r>
              <a:rPr sz="1400">
                <a:solidFill>
                  <a:srgbClr val="1A1A1A"/>
                </a:solidFill>
              </a:rPr>
              <a:t>•  QC is reactive and about the product: running tests, inspecting outputs, finding actual defects.</a:t>
            </a:r>
          </a:p>
          <a:p>
            <a:pPr>
              <a:spcAft>
                <a:spcPts val="600"/>
              </a:spcAft>
            </a:pPr>
            <a:r>
              <a:rPr sz="1400">
                <a:solidFill>
                  <a:srgbClr val="1A1A1A"/>
                </a:solidFill>
              </a:rPr>
              <a:t>•  QA reduces how many defects are created; QC catches those that slip through anyway.</a:t>
            </a:r>
          </a:p>
          <a:p>
            <a:pPr>
              <a:spcAft>
                <a:spcPts val="600"/>
              </a:spcAft>
            </a:pPr>
            <a:r>
              <a:rPr sz="1400">
                <a:solidFill>
                  <a:srgbClr val="1A1A1A"/>
                </a:solidFill>
              </a:rPr>
              <a:t>•  Relying on a single heroic manual tester at the end (QC only, no QA) is fragile and unethical.</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QA prevents defects (process); QC catches them (product). Need both.</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23 / 94</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S18 · CONCEPT 2 · COMPARISON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QA vs QC — process vs product</a:t>
            </a:r>
          </a:p>
        </p:txBody>
      </p:sp>
      <p:graphicFrame>
        <p:nvGraphicFramePr>
          <p:cNvPr id="5" name="Table 4"/>
          <p:cNvGraphicFramePr>
            <a:graphicFrameLocks noGrp="1"/>
          </p:cNvGraphicFramePr>
          <p:nvPr/>
        </p:nvGraphicFramePr>
        <p:xfrm>
          <a:off x="384048" y="1572768"/>
          <a:ext cx="11429999" cy="4416552"/>
        </p:xfrm>
        <a:graphic>
          <a:graphicData uri="http://schemas.openxmlformats.org/drawingml/2006/table">
            <a:tbl>
              <a:tblPr>
                <a:tableStyleId>{5C22544A-7EE6-4342-B048-85BDC9FD1C3A}</a:tableStyleId>
              </a:tblPr>
              <a:tblGrid>
                <a:gridCol w="2612571"/>
                <a:gridCol w="4408714"/>
                <a:gridCol w="4408714"/>
              </a:tblGrid>
              <a:tr h="736092">
                <a:tc>
                  <a:txBody>
                    <a:bodyPr wrap="square"/>
                    <a:lstStyle/>
                    <a:p>
                      <a:r>
                        <a:rPr sz="1150" b="1">
                          <a:solidFill>
                            <a:srgbClr val="FFFFFF"/>
                          </a:solidFill>
                        </a:rPr>
                        <a:t>Question</a:t>
                      </a:r>
                    </a:p>
                  </a:txBody>
                  <a:tcPr anchor="ctr" marL="73152" marR="54864" marT="27432" marB="27432">
                    <a:solidFill>
                      <a:srgbClr val="0C2B4A"/>
                    </a:solidFill>
                  </a:tcPr>
                </a:tc>
                <a:tc>
                  <a:txBody>
                    <a:bodyPr wrap="square"/>
                    <a:lstStyle/>
                    <a:p>
                      <a:r>
                        <a:rPr sz="1150" b="1">
                          <a:solidFill>
                            <a:srgbClr val="FFFFFF"/>
                          </a:solidFill>
                        </a:rPr>
                        <a:t>Quality Assurance (QA)</a:t>
                      </a:r>
                    </a:p>
                  </a:txBody>
                  <a:tcPr anchor="ctr" marL="73152" marR="54864" marT="27432" marB="27432">
                    <a:solidFill>
                      <a:srgbClr val="0C2B4A"/>
                    </a:solidFill>
                  </a:tcPr>
                </a:tc>
                <a:tc>
                  <a:txBody>
                    <a:bodyPr wrap="square"/>
                    <a:lstStyle/>
                    <a:p>
                      <a:r>
                        <a:rPr sz="1150" b="1">
                          <a:solidFill>
                            <a:srgbClr val="FFFFFF"/>
                          </a:solidFill>
                        </a:rPr>
                        <a:t>Quality Control (QC)</a:t>
                      </a:r>
                    </a:p>
                  </a:txBody>
                  <a:tcPr anchor="ctr" marL="73152" marR="54864" marT="27432" marB="27432">
                    <a:solidFill>
                      <a:srgbClr val="0C2B4A"/>
                    </a:solidFill>
                  </a:tcPr>
                </a:tc>
              </a:tr>
              <a:tr h="736092">
                <a:tc>
                  <a:txBody>
                    <a:bodyPr wrap="square"/>
                    <a:lstStyle/>
                    <a:p>
                      <a:r>
                        <a:rPr sz="1100" b="1">
                          <a:solidFill>
                            <a:srgbClr val="0C2B4A"/>
                          </a:solidFill>
                        </a:rPr>
                        <a:t>Focus</a:t>
                      </a:r>
                    </a:p>
                  </a:txBody>
                  <a:tcPr anchor="ctr" marL="73152" marR="54864" marT="27432" marB="27432">
                    <a:solidFill>
                      <a:srgbClr val="FFFFFF"/>
                    </a:solidFill>
                  </a:tcPr>
                </a:tc>
                <a:tc>
                  <a:txBody>
                    <a:bodyPr wrap="square"/>
                    <a:lstStyle/>
                    <a:p>
                      <a:r>
                        <a:rPr sz="1100">
                          <a:solidFill>
                            <a:srgbClr val="1A1A1A"/>
                          </a:solidFill>
                        </a:rPr>
                        <a:t>The process that builds software</a:t>
                      </a:r>
                    </a:p>
                  </a:txBody>
                  <a:tcPr anchor="ctr" marL="73152" marR="54864" marT="27432" marB="27432">
                    <a:solidFill>
                      <a:srgbClr val="FFFFFF"/>
                    </a:solidFill>
                  </a:tcPr>
                </a:tc>
                <a:tc>
                  <a:txBody>
                    <a:bodyPr wrap="square"/>
                    <a:lstStyle/>
                    <a:p>
                      <a:r>
                        <a:rPr sz="1100">
                          <a:solidFill>
                            <a:srgbClr val="1A1A1A"/>
                          </a:solidFill>
                        </a:rPr>
                        <a:t>The finished product</a:t>
                      </a:r>
                    </a:p>
                  </a:txBody>
                  <a:tcPr anchor="ctr" marL="73152" marR="54864" marT="27432" marB="27432">
                    <a:solidFill>
                      <a:srgbClr val="FFFFFF"/>
                    </a:solidFill>
                  </a:tcPr>
                </a:tc>
              </a:tr>
              <a:tr h="736092">
                <a:tc>
                  <a:txBody>
                    <a:bodyPr wrap="square"/>
                    <a:lstStyle/>
                    <a:p>
                      <a:r>
                        <a:rPr sz="1100" b="1">
                          <a:solidFill>
                            <a:srgbClr val="0C2B4A"/>
                          </a:solidFill>
                        </a:rPr>
                        <a:t>Stance</a:t>
                      </a:r>
                    </a:p>
                  </a:txBody>
                  <a:tcPr anchor="ctr" marL="73152" marR="54864" marT="27432" marB="27432">
                    <a:solidFill>
                      <a:srgbClr val="EEF3F8"/>
                    </a:solidFill>
                  </a:tcPr>
                </a:tc>
                <a:tc>
                  <a:txBody>
                    <a:bodyPr wrap="square"/>
                    <a:lstStyle/>
                    <a:p>
                      <a:r>
                        <a:rPr sz="1100">
                          <a:solidFill>
                            <a:srgbClr val="1A1A1A"/>
                          </a:solidFill>
                        </a:rPr>
                        <a:t>Proactive — prevent defects</a:t>
                      </a:r>
                    </a:p>
                  </a:txBody>
                  <a:tcPr anchor="ctr" marL="73152" marR="54864" marT="27432" marB="27432">
                    <a:solidFill>
                      <a:srgbClr val="EEF3F8"/>
                    </a:solidFill>
                  </a:tcPr>
                </a:tc>
                <a:tc>
                  <a:txBody>
                    <a:bodyPr wrap="square"/>
                    <a:lstStyle/>
                    <a:p>
                      <a:r>
                        <a:rPr sz="1100">
                          <a:solidFill>
                            <a:srgbClr val="1A1A1A"/>
                          </a:solidFill>
                        </a:rPr>
                        <a:t>Reactive — catch defects</a:t>
                      </a:r>
                    </a:p>
                  </a:txBody>
                  <a:tcPr anchor="ctr" marL="73152" marR="54864" marT="27432" marB="27432">
                    <a:solidFill>
                      <a:srgbClr val="EEF3F8"/>
                    </a:solidFill>
                  </a:tcPr>
                </a:tc>
              </a:tr>
              <a:tr h="736092">
                <a:tc>
                  <a:txBody>
                    <a:bodyPr wrap="square"/>
                    <a:lstStyle/>
                    <a:p>
                      <a:r>
                        <a:rPr sz="1100" b="1">
                          <a:solidFill>
                            <a:srgbClr val="0C2B4A"/>
                          </a:solidFill>
                        </a:rPr>
                        <a:t>Activities</a:t>
                      </a:r>
                    </a:p>
                  </a:txBody>
                  <a:tcPr anchor="ctr" marL="73152" marR="54864" marT="27432" marB="27432">
                    <a:solidFill>
                      <a:srgbClr val="FFFFFF"/>
                    </a:solidFill>
                  </a:tcPr>
                </a:tc>
                <a:tc>
                  <a:txBody>
                    <a:bodyPr wrap="square"/>
                    <a:lstStyle/>
                    <a:p>
                      <a:r>
                        <a:rPr sz="1100">
                          <a:solidFill>
                            <a:srgbClr val="1A1A1A"/>
                          </a:solidFill>
                        </a:rPr>
                        <a:t>Standards, code reviews, audits, checklists</a:t>
                      </a:r>
                    </a:p>
                  </a:txBody>
                  <a:tcPr anchor="ctr" marL="73152" marR="54864" marT="27432" marB="27432">
                    <a:solidFill>
                      <a:srgbClr val="FFFFFF"/>
                    </a:solidFill>
                  </a:tcPr>
                </a:tc>
                <a:tc>
                  <a:txBody>
                    <a:bodyPr wrap="square"/>
                    <a:lstStyle/>
                    <a:p>
                      <a:r>
                        <a:rPr sz="1100">
                          <a:solidFill>
                            <a:srgbClr val="1A1A1A"/>
                          </a:solidFill>
                        </a:rPr>
                        <a:t>Testing, inspection, defect logging</a:t>
                      </a:r>
                    </a:p>
                  </a:txBody>
                  <a:tcPr anchor="ctr" marL="73152" marR="54864" marT="27432" marB="27432">
                    <a:solidFill>
                      <a:srgbClr val="FFFFFF"/>
                    </a:solidFill>
                  </a:tcPr>
                </a:tc>
              </a:tr>
              <a:tr h="736092">
                <a:tc>
                  <a:txBody>
                    <a:bodyPr wrap="square"/>
                    <a:lstStyle/>
                    <a:p>
                      <a:r>
                        <a:rPr sz="1100" b="1">
                          <a:solidFill>
                            <a:srgbClr val="0C2B4A"/>
                          </a:solidFill>
                        </a:rPr>
                        <a:t>Goal</a:t>
                      </a:r>
                    </a:p>
                  </a:txBody>
                  <a:tcPr anchor="ctr" marL="73152" marR="54864" marT="27432" marB="27432">
                    <a:solidFill>
                      <a:srgbClr val="EEF3F8"/>
                    </a:solidFill>
                  </a:tcPr>
                </a:tc>
                <a:tc>
                  <a:txBody>
                    <a:bodyPr wrap="square"/>
                    <a:lstStyle/>
                    <a:p>
                      <a:r>
                        <a:rPr sz="1100">
                          <a:solidFill>
                            <a:srgbClr val="1A1A1A"/>
                          </a:solidFill>
                        </a:rPr>
                        <a:t>Fewer defects are created</a:t>
                      </a:r>
                    </a:p>
                  </a:txBody>
                  <a:tcPr anchor="ctr" marL="73152" marR="54864" marT="27432" marB="27432">
                    <a:solidFill>
                      <a:srgbClr val="EEF3F8"/>
                    </a:solidFill>
                  </a:tcPr>
                </a:tc>
                <a:tc>
                  <a:txBody>
                    <a:bodyPr wrap="square"/>
                    <a:lstStyle/>
                    <a:p>
                      <a:r>
                        <a:rPr sz="1100">
                          <a:solidFill>
                            <a:srgbClr val="1A1A1A"/>
                          </a:solidFill>
                        </a:rPr>
                        <a:t>Defects don't reach the user</a:t>
                      </a:r>
                    </a:p>
                  </a:txBody>
                  <a:tcPr anchor="ctr" marL="73152" marR="54864" marT="27432" marB="27432">
                    <a:solidFill>
                      <a:srgbClr val="EEF3F8"/>
                    </a:solidFill>
                  </a:tcPr>
                </a:tc>
              </a:tr>
              <a:tr h="736092">
                <a:tc>
                  <a:txBody>
                    <a:bodyPr wrap="square"/>
                    <a:lstStyle/>
                    <a:p>
                      <a:r>
                        <a:rPr sz="1100" b="1">
                          <a:solidFill>
                            <a:srgbClr val="0C2B4A"/>
                          </a:solidFill>
                        </a:rPr>
                        <a:t>Analogy</a:t>
                      </a:r>
                    </a:p>
                  </a:txBody>
                  <a:tcPr anchor="ctr" marL="73152" marR="54864" marT="27432" marB="27432">
                    <a:solidFill>
                      <a:srgbClr val="FFFFFF"/>
                    </a:solidFill>
                  </a:tcPr>
                </a:tc>
                <a:tc>
                  <a:txBody>
                    <a:bodyPr wrap="square"/>
                    <a:lstStyle/>
                    <a:p>
                      <a:r>
                        <a:rPr sz="1100">
                          <a:solidFill>
                            <a:srgbClr val="1A1A1A"/>
                          </a:solidFill>
                        </a:rPr>
                        <a:t>Designing a clean kitchen &amp; recipes</a:t>
                      </a:r>
                    </a:p>
                  </a:txBody>
                  <a:tcPr anchor="ctr" marL="73152" marR="54864" marT="27432" marB="27432">
                    <a:solidFill>
                      <a:srgbClr val="FFFFFF"/>
                    </a:solidFill>
                  </a:tcPr>
                </a:tc>
                <a:tc>
                  <a:txBody>
                    <a:bodyPr wrap="square"/>
                    <a:lstStyle/>
                    <a:p>
                      <a:r>
                        <a:rPr sz="1100">
                          <a:solidFill>
                            <a:srgbClr val="1A1A1A"/>
                          </a:solidFill>
                        </a:rPr>
                        <a:t>Tasting each dish before it leaves</a:t>
                      </a:r>
                    </a:p>
                  </a:txBody>
                  <a:tcPr anchor="ctr" marL="73152" marR="54864" marT="27432" marB="27432">
                    <a:solidFill>
                      <a:srgbClr val="FFFFFF"/>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They are complementary, not alternatives: QA shrinks the defect stream; QC filters what's left. A team with only QC (a heroic end-of-line tester) has no prevention and no safety net.</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24 / 94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S18 · CONCEPT 2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Quality Assurance vs Quality Control</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A team with zero QA process but one heroic tester who finds everything manually at the end is dangerously fragile: there's no prevention, no documentation, and the whole quality story collapses the day that person is on leave or leaves the company. It's also unethical to rest users' safety on one unsupported individual.</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"We have a great tester, so we have quality covered." That's QC only — catching defects, not preventing them. Without QA (standards, reviews, repeatable process), quality is a lottery dependent on one person. Real quality is engineered into the process so it survives any single person leaving.</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Quality Assurance (QA) is the proactive process that prevents defects — standards, reviews, audits, checklists — while Quality Control (QC) is the reactive inspection of the product to catch defects through testing and inspection. Both are needed: QA reduces defects created, QC stops those that slip through from reaching users. Relying on QC alone is fragile.</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QA (process, preventive) · QC (product, reactive) · both needed · repeatable not heroic</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25 / 94</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S18 · CONCEPT 2 · CONCRETE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QA or QC? — activities in a Kathmandu software house</a:t>
            </a:r>
          </a:p>
        </p:txBody>
      </p:sp>
      <p:graphicFrame>
        <p:nvGraphicFramePr>
          <p:cNvPr id="5" name="Table 4"/>
          <p:cNvGraphicFramePr>
            <a:graphicFrameLocks noGrp="1"/>
          </p:cNvGraphicFramePr>
          <p:nvPr/>
        </p:nvGraphicFramePr>
        <p:xfrm>
          <a:off x="384048" y="1572768"/>
          <a:ext cx="11429999" cy="4416552"/>
        </p:xfrm>
        <a:graphic>
          <a:graphicData uri="http://schemas.openxmlformats.org/drawingml/2006/table">
            <a:tbl>
              <a:tblPr>
                <a:tableStyleId>{5C22544A-7EE6-4342-B048-85BDC9FD1C3A}</a:tableStyleId>
              </a:tblPr>
              <a:tblGrid>
                <a:gridCol w="4697260"/>
                <a:gridCol w="2035479"/>
                <a:gridCol w="4697260"/>
              </a:tblGrid>
              <a:tr h="630936">
                <a:tc>
                  <a:txBody>
                    <a:bodyPr wrap="square"/>
                    <a:lstStyle/>
                    <a:p>
                      <a:r>
                        <a:rPr sz="1150" b="1">
                          <a:solidFill>
                            <a:srgbClr val="FFFFFF"/>
                          </a:solidFill>
                        </a:rPr>
                        <a:t>Activity</a:t>
                      </a:r>
                    </a:p>
                  </a:txBody>
                  <a:tcPr anchor="ctr" marL="73152" marR="54864" marT="27432" marB="27432">
                    <a:solidFill>
                      <a:srgbClr val="0C2B4A"/>
                    </a:solidFill>
                  </a:tcPr>
                </a:tc>
                <a:tc>
                  <a:txBody>
                    <a:bodyPr wrap="square"/>
                    <a:lstStyle/>
                    <a:p>
                      <a:r>
                        <a:rPr sz="1150" b="1">
                          <a:solidFill>
                            <a:srgbClr val="FFFFFF"/>
                          </a:solidFill>
                        </a:rPr>
                        <a:t>QA or QC?</a:t>
                      </a:r>
                    </a:p>
                  </a:txBody>
                  <a:tcPr anchor="ctr" marL="73152" marR="54864" marT="27432" marB="27432">
                    <a:solidFill>
                      <a:srgbClr val="0C2B4A"/>
                    </a:solidFill>
                  </a:tcPr>
                </a:tc>
                <a:tc>
                  <a:txBody>
                    <a:bodyPr wrap="square"/>
                    <a:lstStyle/>
                    <a:p>
                      <a:r>
                        <a:rPr sz="1150" b="1">
                          <a:solidFill>
                            <a:srgbClr val="FFFFFF"/>
                          </a:solidFill>
                        </a:rPr>
                        <a:t>Why (prevents vs catches)</a:t>
                      </a:r>
                    </a:p>
                  </a:txBody>
                  <a:tcPr anchor="ctr" marL="73152" marR="54864" marT="27432" marB="27432">
                    <a:solidFill>
                      <a:srgbClr val="0C2B4A"/>
                    </a:solidFill>
                  </a:tcPr>
                </a:tc>
              </a:tr>
              <a:tr h="630936">
                <a:tc>
                  <a:txBody>
                    <a:bodyPr wrap="square"/>
                    <a:lstStyle/>
                    <a:p>
                      <a:r>
                        <a:rPr sz="1100" b="1">
                          <a:solidFill>
                            <a:srgbClr val="0C2B4A"/>
                          </a:solidFill>
                        </a:rPr>
                        <a:t>Writing a coding-standards + code-review policy</a:t>
                      </a:r>
                    </a:p>
                  </a:txBody>
                  <a:tcPr anchor="ctr" marL="73152" marR="54864" marT="27432" marB="27432">
                    <a:solidFill>
                      <a:srgbClr val="FFFFFF"/>
                    </a:solidFill>
                  </a:tcPr>
                </a:tc>
                <a:tc>
                  <a:txBody>
                    <a:bodyPr wrap="square"/>
                    <a:lstStyle/>
                    <a:p>
                      <a:r>
                        <a:rPr sz="1100">
                          <a:solidFill>
                            <a:srgbClr val="1A1A1A"/>
                          </a:solidFill>
                        </a:rPr>
                        <a:t>QA</a:t>
                      </a:r>
                    </a:p>
                  </a:txBody>
                  <a:tcPr anchor="ctr" marL="73152" marR="54864" marT="27432" marB="27432">
                    <a:solidFill>
                      <a:srgbClr val="FFFFFF"/>
                    </a:solidFill>
                  </a:tcPr>
                </a:tc>
                <a:tc>
                  <a:txBody>
                    <a:bodyPr wrap="square"/>
                    <a:lstStyle/>
                    <a:p>
                      <a:r>
                        <a:rPr sz="1100">
                          <a:solidFill>
                            <a:srgbClr val="1A1A1A"/>
                          </a:solidFill>
                        </a:rPr>
                        <a:t>Prevents defects being created (shapes the process)</a:t>
                      </a:r>
                    </a:p>
                  </a:txBody>
                  <a:tcPr anchor="ctr" marL="73152" marR="54864" marT="27432" marB="27432">
                    <a:solidFill>
                      <a:srgbClr val="FFFFFF"/>
                    </a:solidFill>
                  </a:tcPr>
                </a:tc>
              </a:tr>
              <a:tr h="630936">
                <a:tc>
                  <a:txBody>
                    <a:bodyPr wrap="square"/>
                    <a:lstStyle/>
                    <a:p>
                      <a:r>
                        <a:rPr sz="1100" b="1">
                          <a:solidFill>
                            <a:srgbClr val="0C2B4A"/>
                          </a:solidFill>
                        </a:rPr>
                        <a:t>A senior reviews every merge request</a:t>
                      </a:r>
                    </a:p>
                  </a:txBody>
                  <a:tcPr anchor="ctr" marL="73152" marR="54864" marT="27432" marB="27432">
                    <a:solidFill>
                      <a:srgbClr val="EEF3F8"/>
                    </a:solidFill>
                  </a:tcPr>
                </a:tc>
                <a:tc>
                  <a:txBody>
                    <a:bodyPr wrap="square"/>
                    <a:lstStyle/>
                    <a:p>
                      <a:r>
                        <a:rPr sz="1100">
                          <a:solidFill>
                            <a:srgbClr val="1A1A1A"/>
                          </a:solidFill>
                        </a:rPr>
                        <a:t>QA</a:t>
                      </a:r>
                    </a:p>
                  </a:txBody>
                  <a:tcPr anchor="ctr" marL="73152" marR="54864" marT="27432" marB="27432">
                    <a:solidFill>
                      <a:srgbClr val="EEF3F8"/>
                    </a:solidFill>
                  </a:tcPr>
                </a:tc>
                <a:tc>
                  <a:txBody>
                    <a:bodyPr wrap="square"/>
                    <a:lstStyle/>
                    <a:p>
                      <a:r>
                        <a:rPr sz="1100">
                          <a:solidFill>
                            <a:srgbClr val="1A1A1A"/>
                          </a:solidFill>
                        </a:rPr>
                        <a:t>Stops bad code entering — proactive</a:t>
                      </a:r>
                    </a:p>
                  </a:txBody>
                  <a:tcPr anchor="ctr" marL="73152" marR="54864" marT="27432" marB="27432">
                    <a:solidFill>
                      <a:srgbClr val="EEF3F8"/>
                    </a:solidFill>
                  </a:tcPr>
                </a:tc>
              </a:tr>
              <a:tr h="630936">
                <a:tc>
                  <a:txBody>
                    <a:bodyPr wrap="square"/>
                    <a:lstStyle/>
                    <a:p>
                      <a:r>
                        <a:rPr sz="1100" b="1">
                          <a:solidFill>
                            <a:srgbClr val="0C2B4A"/>
                          </a:solidFill>
                        </a:rPr>
                        <a:t>Running the system test suite before release</a:t>
                      </a:r>
                    </a:p>
                  </a:txBody>
                  <a:tcPr anchor="ctr" marL="73152" marR="54864" marT="27432" marB="27432">
                    <a:solidFill>
                      <a:srgbClr val="FFFFFF"/>
                    </a:solidFill>
                  </a:tcPr>
                </a:tc>
                <a:tc>
                  <a:txBody>
                    <a:bodyPr wrap="square"/>
                    <a:lstStyle/>
                    <a:p>
                      <a:r>
                        <a:rPr sz="1100">
                          <a:solidFill>
                            <a:srgbClr val="1A1A1A"/>
                          </a:solidFill>
                        </a:rPr>
                        <a:t>QC</a:t>
                      </a:r>
                    </a:p>
                  </a:txBody>
                  <a:tcPr anchor="ctr" marL="73152" marR="54864" marT="27432" marB="27432">
                    <a:solidFill>
                      <a:srgbClr val="FFFFFF"/>
                    </a:solidFill>
                  </a:tcPr>
                </a:tc>
                <a:tc>
                  <a:txBody>
                    <a:bodyPr wrap="square"/>
                    <a:lstStyle/>
                    <a:p>
                      <a:r>
                        <a:rPr sz="1100">
                          <a:solidFill>
                            <a:srgbClr val="1A1A1A"/>
                          </a:solidFill>
                        </a:rPr>
                        <a:t>Catches defects in the finished product</a:t>
                      </a:r>
                    </a:p>
                  </a:txBody>
                  <a:tcPr anchor="ctr" marL="73152" marR="54864" marT="27432" marB="27432">
                    <a:solidFill>
                      <a:srgbClr val="FFFFFF"/>
                    </a:solidFill>
                  </a:tcPr>
                </a:tc>
              </a:tr>
              <a:tr h="630936">
                <a:tc>
                  <a:txBody>
                    <a:bodyPr wrap="square"/>
                    <a:lstStyle/>
                    <a:p>
                      <a:r>
                        <a:rPr sz="1100" b="1">
                          <a:solidFill>
                            <a:srgbClr val="0C2B4A"/>
                          </a:solidFill>
                        </a:rPr>
                        <a:t>A tester logs bugs from a release candidate</a:t>
                      </a:r>
                    </a:p>
                  </a:txBody>
                  <a:tcPr anchor="ctr" marL="73152" marR="54864" marT="27432" marB="27432">
                    <a:solidFill>
                      <a:srgbClr val="EEF3F8"/>
                    </a:solidFill>
                  </a:tcPr>
                </a:tc>
                <a:tc>
                  <a:txBody>
                    <a:bodyPr wrap="square"/>
                    <a:lstStyle/>
                    <a:p>
                      <a:r>
                        <a:rPr sz="1100">
                          <a:solidFill>
                            <a:srgbClr val="1A1A1A"/>
                          </a:solidFill>
                        </a:rPr>
                        <a:t>QC</a:t>
                      </a:r>
                    </a:p>
                  </a:txBody>
                  <a:tcPr anchor="ctr" marL="73152" marR="54864" marT="27432" marB="27432">
                    <a:solidFill>
                      <a:srgbClr val="EEF3F8"/>
                    </a:solidFill>
                  </a:tcPr>
                </a:tc>
                <a:tc>
                  <a:txBody>
                    <a:bodyPr wrap="square"/>
                    <a:lstStyle/>
                    <a:p>
                      <a:r>
                        <a:rPr sz="1100">
                          <a:solidFill>
                            <a:srgbClr val="1A1A1A"/>
                          </a:solidFill>
                        </a:rPr>
                        <a:t>Finds defects that slipped through</a:t>
                      </a:r>
                    </a:p>
                  </a:txBody>
                  <a:tcPr anchor="ctr" marL="73152" marR="54864" marT="27432" marB="27432">
                    <a:solidFill>
                      <a:srgbClr val="EEF3F8"/>
                    </a:solidFill>
                  </a:tcPr>
                </a:tc>
              </a:tr>
              <a:tr h="630936">
                <a:tc>
                  <a:txBody>
                    <a:bodyPr wrap="square"/>
                    <a:lstStyle/>
                    <a:p>
                      <a:r>
                        <a:rPr sz="1100" b="1">
                          <a:solidFill>
                            <a:srgbClr val="0C2B4A"/>
                          </a:solidFill>
                        </a:rPr>
                        <a:t>Maintaining an ISO/CMMI-aligned checklist</a:t>
                      </a:r>
                    </a:p>
                  </a:txBody>
                  <a:tcPr anchor="ctr" marL="73152" marR="54864" marT="27432" marB="27432">
                    <a:solidFill>
                      <a:srgbClr val="FFFFFF"/>
                    </a:solidFill>
                  </a:tcPr>
                </a:tc>
                <a:tc>
                  <a:txBody>
                    <a:bodyPr wrap="square"/>
                    <a:lstStyle/>
                    <a:p>
                      <a:r>
                        <a:rPr sz="1100">
                          <a:solidFill>
                            <a:srgbClr val="1A1A1A"/>
                          </a:solidFill>
                        </a:rPr>
                        <a:t>QA</a:t>
                      </a:r>
                    </a:p>
                  </a:txBody>
                  <a:tcPr anchor="ctr" marL="73152" marR="54864" marT="27432" marB="27432">
                    <a:solidFill>
                      <a:srgbClr val="FFFFFF"/>
                    </a:solidFill>
                  </a:tcPr>
                </a:tc>
                <a:tc>
                  <a:txBody>
                    <a:bodyPr wrap="square"/>
                    <a:lstStyle/>
                    <a:p>
                      <a:r>
                        <a:rPr sz="1100">
                          <a:solidFill>
                            <a:srgbClr val="1A1A1A"/>
                          </a:solidFill>
                        </a:rPr>
                        <a:t>Makes quality repeatable, not person-dependent</a:t>
                      </a:r>
                    </a:p>
                  </a:txBody>
                  <a:tcPr anchor="ctr" marL="73152" marR="54864" marT="27432" marB="27432">
                    <a:solidFill>
                      <a:srgbClr val="FFFFFF"/>
                    </a:solidFill>
                  </a:tcPr>
                </a:tc>
              </a:tr>
              <a:tr h="630936">
                <a:tc>
                  <a:txBody>
                    <a:bodyPr wrap="square"/>
                    <a:lstStyle/>
                    <a:p>
                      <a:r>
                        <a:rPr sz="1100" b="1">
                          <a:solidFill>
                            <a:srgbClr val="0C2B4A"/>
                          </a:solidFill>
                        </a:rPr>
                        <a:t>Inspecting a generated report for wrong totals</a:t>
                      </a:r>
                    </a:p>
                  </a:txBody>
                  <a:tcPr anchor="ctr" marL="73152" marR="54864" marT="27432" marB="27432">
                    <a:solidFill>
                      <a:srgbClr val="EEF3F8"/>
                    </a:solidFill>
                  </a:tcPr>
                </a:tc>
                <a:tc>
                  <a:txBody>
                    <a:bodyPr wrap="square"/>
                    <a:lstStyle/>
                    <a:p>
                      <a:r>
                        <a:rPr sz="1100">
                          <a:solidFill>
                            <a:srgbClr val="1A1A1A"/>
                          </a:solidFill>
                        </a:rPr>
                        <a:t>QC</a:t>
                      </a:r>
                    </a:p>
                  </a:txBody>
                  <a:tcPr anchor="ctr" marL="73152" marR="54864" marT="27432" marB="27432">
                    <a:solidFill>
                      <a:srgbClr val="EEF3F8"/>
                    </a:solidFill>
                  </a:tcPr>
                </a:tc>
                <a:tc>
                  <a:txBody>
                    <a:bodyPr wrap="square"/>
                    <a:lstStyle/>
                    <a:p>
                      <a:r>
                        <a:rPr sz="1100">
                          <a:solidFill>
                            <a:srgbClr val="1A1A1A"/>
                          </a:solidFill>
                        </a:rPr>
                        <a:t>Reactive check on the actual output</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QA and QC are complementary: QA shrinks the defect stream (process), QC filters what's left (product). A team with only QC — one heroic end-of-line tester — has no prevention and no safety net.</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26 / 94</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S18 · CONCEPT 3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Software Development Standards &amp; Process Models</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Standards and process models are agreed frameworks guiding how software is built and assessed. Quality standards: ISO 9001, ISO/IEC 25010 (a quality model), CMMI maturity levels, IEEE standards. Process models: Waterfall vs Agile/Scrum. Code reviews and documentation run through all of them.</a:t>
            </a:r>
          </a:p>
          <a:p>
            <a:pPr>
              <a:spcAft>
                <a:spcPts val="500"/>
              </a:spcAft>
            </a:pPr>
            <a:r>
              <a:rPr sz="1200" b="1">
                <a:solidFill>
                  <a:srgbClr val="185FA5"/>
                </a:solidFill>
              </a:rPr>
              <a:t>HOW IT WORKS</a:t>
            </a:r>
          </a:p>
          <a:p>
            <a:pPr>
              <a:spcAft>
                <a:spcPts val="600"/>
              </a:spcAft>
            </a:pPr>
            <a:r>
              <a:rPr sz="1400">
                <a:solidFill>
                  <a:srgbClr val="1A1A1A"/>
                </a:solidFill>
              </a:rPr>
              <a:t>•  ISO/IEC 25010 defines the quality attributes; CMMI rates how mature/repeatable your process is.</a:t>
            </a:r>
          </a:p>
          <a:p>
            <a:pPr>
              <a:spcAft>
                <a:spcPts val="600"/>
              </a:spcAft>
            </a:pPr>
            <a:r>
              <a:rPr sz="1400">
                <a:solidFill>
                  <a:srgbClr val="1A1A1A"/>
                </a:solidFill>
              </a:rPr>
              <a:t>•  Waterfall plans everything up front; Agile/Scrum builds in short iterations with continuous feedback.</a:t>
            </a:r>
          </a:p>
          <a:p>
            <a:pPr>
              <a:spcAft>
                <a:spcPts val="600"/>
              </a:spcAft>
            </a:pPr>
            <a:r>
              <a:rPr sz="1400">
                <a:solidFill>
                  <a:srgbClr val="1A1A1A"/>
                </a:solidFill>
              </a:rPr>
              <a:t>•  For Nepali outsourcing firms, ISO/CMMI certification is a BUSINESS requirement to win Western contracts.</a:t>
            </a:r>
          </a:p>
          <a:p>
            <a:pPr>
              <a:spcAft>
                <a:spcPts val="600"/>
              </a:spcAft>
            </a:pPr>
            <a:r>
              <a:rPr sz="1400">
                <a:solidFill>
                  <a:srgbClr val="1A1A1A"/>
                </a:solidFill>
              </a:rPr>
              <a:t>•  Agile changes HOW quality is built in — it does not remove standards, reviews, or documentation.</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Standards make quality repeatable; certification makes it sellable.</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27 / 94</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S18 · CONCEPT 3 · SCAFFOLDING</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Standards &amp; models that guide quality</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2939142"/>
                <a:gridCol w="4408714"/>
                <a:gridCol w="4082142"/>
              </a:tblGrid>
              <a:tr h="630936">
                <a:tc>
                  <a:txBody>
                    <a:bodyPr wrap="square"/>
                    <a:lstStyle/>
                    <a:p>
                      <a:r>
                        <a:rPr sz="1150" b="1">
                          <a:solidFill>
                            <a:srgbClr val="FFFFFF"/>
                          </a:solidFill>
                        </a:rPr>
                        <a:t>Standard / model</a:t>
                      </a:r>
                    </a:p>
                  </a:txBody>
                  <a:tcPr anchor="ctr" marL="73152" marR="54864" marT="27432" marB="27432">
                    <a:solidFill>
                      <a:srgbClr val="0C2B4A"/>
                    </a:solidFill>
                  </a:tcPr>
                </a:tc>
                <a:tc>
                  <a:txBody>
                    <a:bodyPr wrap="square"/>
                    <a:lstStyle/>
                    <a:p>
                      <a:r>
                        <a:rPr sz="1150" b="1">
                          <a:solidFill>
                            <a:srgbClr val="FFFFFF"/>
                          </a:solidFill>
                        </a:rPr>
                        <a:t>What it does</a:t>
                      </a:r>
                    </a:p>
                  </a:txBody>
                  <a:tcPr anchor="ctr" marL="73152" marR="54864" marT="27432" marB="27432">
                    <a:solidFill>
                      <a:srgbClr val="0C2B4A"/>
                    </a:solidFill>
                  </a:tcPr>
                </a:tc>
                <a:tc>
                  <a:txBody>
                    <a:bodyPr wrap="square"/>
                    <a:lstStyle/>
                    <a:p>
                      <a:r>
                        <a:rPr sz="1150" b="1">
                          <a:solidFill>
                            <a:srgbClr val="FFFFFF"/>
                          </a:solidFill>
                        </a:rPr>
                        <a:t>Why it matters</a:t>
                      </a:r>
                    </a:p>
                  </a:txBody>
                  <a:tcPr anchor="ctr" marL="73152" marR="54864" marT="27432" marB="27432">
                    <a:solidFill>
                      <a:srgbClr val="0C2B4A"/>
                    </a:solidFill>
                  </a:tcPr>
                </a:tc>
              </a:tr>
              <a:tr h="630936">
                <a:tc>
                  <a:txBody>
                    <a:bodyPr wrap="square"/>
                    <a:lstStyle/>
                    <a:p>
                      <a:r>
                        <a:rPr sz="1100" b="1">
                          <a:solidFill>
                            <a:srgbClr val="0C2B4A"/>
                          </a:solidFill>
                        </a:rPr>
                        <a:t>ISO 9001</a:t>
                      </a:r>
                    </a:p>
                  </a:txBody>
                  <a:tcPr anchor="ctr" marL="73152" marR="54864" marT="27432" marB="27432">
                    <a:solidFill>
                      <a:srgbClr val="FFFFFF"/>
                    </a:solidFill>
                  </a:tcPr>
                </a:tc>
                <a:tc>
                  <a:txBody>
                    <a:bodyPr wrap="square"/>
                    <a:lstStyle/>
                    <a:p>
                      <a:r>
                        <a:rPr sz="1100">
                          <a:solidFill>
                            <a:srgbClr val="1A1A1A"/>
                          </a:solidFill>
                        </a:rPr>
                        <a:t>General quality-management system</a:t>
                      </a:r>
                    </a:p>
                  </a:txBody>
                  <a:tcPr anchor="ctr" marL="73152" marR="54864" marT="27432" marB="27432">
                    <a:solidFill>
                      <a:srgbClr val="FFFFFF"/>
                    </a:solidFill>
                  </a:tcPr>
                </a:tc>
                <a:tc>
                  <a:txBody>
                    <a:bodyPr wrap="square"/>
                    <a:lstStyle/>
                    <a:p>
                      <a:r>
                        <a:rPr sz="1100">
                          <a:solidFill>
                            <a:srgbClr val="1A1A1A"/>
                          </a:solidFill>
                        </a:rPr>
                        <a:t>Signals a disciplined organization</a:t>
                      </a:r>
                    </a:p>
                  </a:txBody>
                  <a:tcPr anchor="ctr" marL="73152" marR="54864" marT="27432" marB="27432">
                    <a:solidFill>
                      <a:srgbClr val="FFFFFF"/>
                    </a:solidFill>
                  </a:tcPr>
                </a:tc>
              </a:tr>
              <a:tr h="630936">
                <a:tc>
                  <a:txBody>
                    <a:bodyPr wrap="square"/>
                    <a:lstStyle/>
                    <a:p>
                      <a:r>
                        <a:rPr sz="1100" b="1">
                          <a:solidFill>
                            <a:srgbClr val="0C2B4A"/>
                          </a:solidFill>
                        </a:rPr>
                        <a:t>ISO/IEC 25010</a:t>
                      </a:r>
                    </a:p>
                  </a:txBody>
                  <a:tcPr anchor="ctr" marL="73152" marR="54864" marT="27432" marB="27432">
                    <a:solidFill>
                      <a:srgbClr val="EEF3F8"/>
                    </a:solidFill>
                  </a:tcPr>
                </a:tc>
                <a:tc>
                  <a:txBody>
                    <a:bodyPr wrap="square"/>
                    <a:lstStyle/>
                    <a:p>
                      <a:r>
                        <a:rPr sz="1100">
                          <a:solidFill>
                            <a:srgbClr val="1A1A1A"/>
                          </a:solidFill>
                        </a:rPr>
                        <a:t>A software product-quality model</a:t>
                      </a:r>
                    </a:p>
                  </a:txBody>
                  <a:tcPr anchor="ctr" marL="73152" marR="54864" marT="27432" marB="27432">
                    <a:solidFill>
                      <a:srgbClr val="EEF3F8"/>
                    </a:solidFill>
                  </a:tcPr>
                </a:tc>
                <a:tc>
                  <a:txBody>
                    <a:bodyPr wrap="square"/>
                    <a:lstStyle/>
                    <a:p>
                      <a:r>
                        <a:rPr sz="1100">
                          <a:solidFill>
                            <a:srgbClr val="1A1A1A"/>
                          </a:solidFill>
                        </a:rPr>
                        <a:t>Defines the quality attributes to measure</a:t>
                      </a:r>
                    </a:p>
                  </a:txBody>
                  <a:tcPr anchor="ctr" marL="73152" marR="54864" marT="27432" marB="27432">
                    <a:solidFill>
                      <a:srgbClr val="EEF3F8"/>
                    </a:solidFill>
                  </a:tcPr>
                </a:tc>
              </a:tr>
              <a:tr h="630936">
                <a:tc>
                  <a:txBody>
                    <a:bodyPr wrap="square"/>
                    <a:lstStyle/>
                    <a:p>
                      <a:r>
                        <a:rPr sz="1100" b="1">
                          <a:solidFill>
                            <a:srgbClr val="0C2B4A"/>
                          </a:solidFill>
                        </a:rPr>
                        <a:t>CMMI</a:t>
                      </a:r>
                    </a:p>
                  </a:txBody>
                  <a:tcPr anchor="ctr" marL="73152" marR="54864" marT="27432" marB="27432">
                    <a:solidFill>
                      <a:srgbClr val="FFFFFF"/>
                    </a:solidFill>
                  </a:tcPr>
                </a:tc>
                <a:tc>
                  <a:txBody>
                    <a:bodyPr wrap="square"/>
                    <a:lstStyle/>
                    <a:p>
                      <a:r>
                        <a:rPr sz="1100">
                          <a:solidFill>
                            <a:srgbClr val="1A1A1A"/>
                          </a:solidFill>
                        </a:rPr>
                        <a:t>Rates process maturity (levels 1–5)</a:t>
                      </a:r>
                    </a:p>
                  </a:txBody>
                  <a:tcPr anchor="ctr" marL="73152" marR="54864" marT="27432" marB="27432">
                    <a:solidFill>
                      <a:srgbClr val="FFFFFF"/>
                    </a:solidFill>
                  </a:tcPr>
                </a:tc>
                <a:tc>
                  <a:txBody>
                    <a:bodyPr wrap="square"/>
                    <a:lstStyle/>
                    <a:p>
                      <a:r>
                        <a:rPr sz="1100">
                          <a:solidFill>
                            <a:srgbClr val="1A1A1A"/>
                          </a:solidFill>
                        </a:rPr>
                        <a:t>Western clients often require a CMMI level</a:t>
                      </a:r>
                    </a:p>
                  </a:txBody>
                  <a:tcPr anchor="ctr" marL="73152" marR="54864" marT="27432" marB="27432">
                    <a:solidFill>
                      <a:srgbClr val="FFFFFF"/>
                    </a:solidFill>
                  </a:tcPr>
                </a:tc>
              </a:tr>
              <a:tr h="630936">
                <a:tc>
                  <a:txBody>
                    <a:bodyPr wrap="square"/>
                    <a:lstStyle/>
                    <a:p>
                      <a:r>
                        <a:rPr sz="1100" b="1">
                          <a:solidFill>
                            <a:srgbClr val="0C2B4A"/>
                          </a:solidFill>
                        </a:rPr>
                        <a:t>IEEE standards</a:t>
                      </a:r>
                    </a:p>
                  </a:txBody>
                  <a:tcPr anchor="ctr" marL="73152" marR="54864" marT="27432" marB="27432">
                    <a:solidFill>
                      <a:srgbClr val="EEF3F8"/>
                    </a:solidFill>
                  </a:tcPr>
                </a:tc>
                <a:tc>
                  <a:txBody>
                    <a:bodyPr wrap="square"/>
                    <a:lstStyle/>
                    <a:p>
                      <a:r>
                        <a:rPr sz="1100">
                          <a:solidFill>
                            <a:srgbClr val="1A1A1A"/>
                          </a:solidFill>
                        </a:rPr>
                        <a:t>Engineering practices &amp; documentation</a:t>
                      </a:r>
                    </a:p>
                  </a:txBody>
                  <a:tcPr anchor="ctr" marL="73152" marR="54864" marT="27432" marB="27432">
                    <a:solidFill>
                      <a:srgbClr val="EEF3F8"/>
                    </a:solidFill>
                  </a:tcPr>
                </a:tc>
                <a:tc>
                  <a:txBody>
                    <a:bodyPr wrap="square"/>
                    <a:lstStyle/>
                    <a:p>
                      <a:r>
                        <a:rPr sz="1100">
                          <a:solidFill>
                            <a:srgbClr val="1A1A1A"/>
                          </a:solidFill>
                        </a:rPr>
                        <a:t>Shared professional baseline</a:t>
                      </a:r>
                    </a:p>
                  </a:txBody>
                  <a:tcPr anchor="ctr" marL="73152" marR="54864" marT="27432" marB="27432">
                    <a:solidFill>
                      <a:srgbClr val="EEF3F8"/>
                    </a:solidFill>
                  </a:tcPr>
                </a:tc>
              </a:tr>
              <a:tr h="630936">
                <a:tc>
                  <a:txBody>
                    <a:bodyPr wrap="square"/>
                    <a:lstStyle/>
                    <a:p>
                      <a:r>
                        <a:rPr sz="1100" b="1">
                          <a:solidFill>
                            <a:srgbClr val="0C2B4A"/>
                          </a:solidFill>
                        </a:rPr>
                        <a:t>Waterfall</a:t>
                      </a:r>
                    </a:p>
                  </a:txBody>
                  <a:tcPr anchor="ctr" marL="73152" marR="54864" marT="27432" marB="27432">
                    <a:solidFill>
                      <a:srgbClr val="FFFFFF"/>
                    </a:solidFill>
                  </a:tcPr>
                </a:tc>
                <a:tc>
                  <a:txBody>
                    <a:bodyPr wrap="square"/>
                    <a:lstStyle/>
                    <a:p>
                      <a:r>
                        <a:rPr sz="1100">
                          <a:solidFill>
                            <a:srgbClr val="1A1A1A"/>
                          </a:solidFill>
                        </a:rPr>
                        <a:t>Sequential, plan-everything-up-front</a:t>
                      </a:r>
                    </a:p>
                  </a:txBody>
                  <a:tcPr anchor="ctr" marL="73152" marR="54864" marT="27432" marB="27432">
                    <a:solidFill>
                      <a:srgbClr val="FFFFFF"/>
                    </a:solidFill>
                  </a:tcPr>
                </a:tc>
                <a:tc>
                  <a:txBody>
                    <a:bodyPr wrap="square"/>
                    <a:lstStyle/>
                    <a:p>
                      <a:r>
                        <a:rPr sz="1100">
                          <a:solidFill>
                            <a:srgbClr val="1A1A1A"/>
                          </a:solidFill>
                        </a:rPr>
                        <a:t>Suits stable, well-known requirements</a:t>
                      </a:r>
                    </a:p>
                  </a:txBody>
                  <a:tcPr anchor="ctr" marL="73152" marR="54864" marT="27432" marB="27432">
                    <a:solidFill>
                      <a:srgbClr val="FFFFFF"/>
                    </a:solidFill>
                  </a:tcPr>
                </a:tc>
              </a:tr>
              <a:tr h="630936">
                <a:tc>
                  <a:txBody>
                    <a:bodyPr wrap="square"/>
                    <a:lstStyle/>
                    <a:p>
                      <a:r>
                        <a:rPr sz="1100" b="1">
                          <a:solidFill>
                            <a:srgbClr val="0C2B4A"/>
                          </a:solidFill>
                        </a:rPr>
                        <a:t>Agile / Scrum</a:t>
                      </a:r>
                    </a:p>
                  </a:txBody>
                  <a:tcPr anchor="ctr" marL="73152" marR="54864" marT="27432" marB="27432">
                    <a:solidFill>
                      <a:srgbClr val="EEF3F8"/>
                    </a:solidFill>
                  </a:tcPr>
                </a:tc>
                <a:tc>
                  <a:txBody>
                    <a:bodyPr wrap="square"/>
                    <a:lstStyle/>
                    <a:p>
                      <a:r>
                        <a:rPr sz="1100">
                          <a:solidFill>
                            <a:srgbClr val="1A1A1A"/>
                          </a:solidFill>
                        </a:rPr>
                        <a:t>Short iterations, continuous feedback</a:t>
                      </a:r>
                    </a:p>
                  </a:txBody>
                  <a:tcPr anchor="ctr" marL="73152" marR="54864" marT="27432" marB="27432">
                    <a:solidFill>
                      <a:srgbClr val="EEF3F8"/>
                    </a:solidFill>
                  </a:tcPr>
                </a:tc>
                <a:tc>
                  <a:txBody>
                    <a:bodyPr wrap="square"/>
                    <a:lstStyle/>
                    <a:p>
                      <a:r>
                        <a:rPr sz="1100">
                          <a:solidFill>
                            <a:srgbClr val="1A1A1A"/>
                          </a:solidFill>
                        </a:rPr>
                        <a:t>Suits changing requirements; still needs quality practices</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For Nepali IT-outsourcing firms, ISO/CMMI certification is how you win and keep international contracts — quality becomes a business requirement, not just an ethical one.</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28 / 94</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S18 · CONCEPT 3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Standards &amp; Process Models</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Nepali outsourcing firms pursue ISO / CMMI certification specifically to win Western contracts — foreign clients often won't sign without it. Here quality standards become a business requirement: certification is the entry ticket to higher-value work, and the disciplined process it forces genuinely raises the software's quality.</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"Agile means no documentation and no standards." Agile changes HOW quality is built in (short iterations, continuous feedback) but does not remove the need for it — Agile teams still write tests, review code, and document. 'Move fast' is not 'skip quality'; the best Agile teams are rigorous.</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Software standards and process models are agreed frameworks for building and assessing software: quality standards (ISO 9001, ISO/IEC 25010, CMMI, IEEE) and process models (Waterfall vs Agile/Scrum), with code reviews and documentation throughout. They make quality repeatable, and for Nepali outsourcing firms ISO/CMMI certification is a business requirement to win international work.</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ISO 9001 · ISO/IEC 25010 · CMMI · Waterfall vs Agile · certification as a business asset</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29 / 94</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S18 · CONCEPT 3 · CONCRETE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Which standard/model fits — real Nepali IT scenarios</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3962399"/>
                <a:gridCol w="3352800"/>
                <a:gridCol w="4114799"/>
              </a:tblGrid>
              <a:tr h="630936">
                <a:tc>
                  <a:txBody>
                    <a:bodyPr wrap="square"/>
                    <a:lstStyle/>
                    <a:p>
                      <a:r>
                        <a:rPr sz="1150" b="1">
                          <a:solidFill>
                            <a:srgbClr val="FFFFFF"/>
                          </a:solidFill>
                        </a:rPr>
                        <a:t>Nepali IT scenario</a:t>
                      </a:r>
                    </a:p>
                  </a:txBody>
                  <a:tcPr anchor="ctr" marL="73152" marR="54864" marT="27432" marB="27432">
                    <a:solidFill>
                      <a:srgbClr val="0C2B4A"/>
                    </a:solidFill>
                  </a:tcPr>
                </a:tc>
                <a:tc>
                  <a:txBody>
                    <a:bodyPr wrap="square"/>
                    <a:lstStyle/>
                    <a:p>
                      <a:r>
                        <a:rPr sz="1150" b="1">
                          <a:solidFill>
                            <a:srgbClr val="FFFFFF"/>
                          </a:solidFill>
                        </a:rPr>
                        <a:t>Standard / model that fits</a:t>
                      </a:r>
                    </a:p>
                  </a:txBody>
                  <a:tcPr anchor="ctr" marL="73152" marR="54864" marT="27432" marB="27432">
                    <a:solidFill>
                      <a:srgbClr val="0C2B4A"/>
                    </a:solidFill>
                  </a:tcPr>
                </a:tc>
                <a:tc>
                  <a:txBody>
                    <a:bodyPr wrap="square"/>
                    <a:lstStyle/>
                    <a:p>
                      <a:r>
                        <a:rPr sz="1150" b="1">
                          <a:solidFill>
                            <a:srgbClr val="FFFFFF"/>
                          </a:solidFill>
                        </a:rPr>
                        <a:t>Why (verdict)</a:t>
                      </a:r>
                    </a:p>
                  </a:txBody>
                  <a:tcPr anchor="ctr" marL="73152" marR="54864" marT="27432" marB="27432">
                    <a:solidFill>
                      <a:srgbClr val="0C2B4A"/>
                    </a:solidFill>
                  </a:tcPr>
                </a:tc>
              </a:tr>
              <a:tr h="630936">
                <a:tc>
                  <a:txBody>
                    <a:bodyPr wrap="square"/>
                    <a:lstStyle/>
                    <a:p>
                      <a:r>
                        <a:rPr sz="1100" b="1">
                          <a:solidFill>
                            <a:srgbClr val="0C2B4A"/>
                          </a:solidFill>
                        </a:rPr>
                        <a:t>BPO bidding for a US bank contract</a:t>
                      </a:r>
                    </a:p>
                  </a:txBody>
                  <a:tcPr anchor="ctr" marL="73152" marR="54864" marT="27432" marB="27432">
                    <a:solidFill>
                      <a:srgbClr val="FFFFFF"/>
                    </a:solidFill>
                  </a:tcPr>
                </a:tc>
                <a:tc>
                  <a:txBody>
                    <a:bodyPr wrap="square"/>
                    <a:lstStyle/>
                    <a:p>
                      <a:r>
                        <a:rPr sz="1100">
                          <a:solidFill>
                            <a:srgbClr val="1A1A1A"/>
                          </a:solidFill>
                        </a:rPr>
                        <a:t>CMMI level + ISO 9001</a:t>
                      </a:r>
                    </a:p>
                  </a:txBody>
                  <a:tcPr anchor="ctr" marL="73152" marR="54864" marT="27432" marB="27432">
                    <a:solidFill>
                      <a:srgbClr val="FFFFFF"/>
                    </a:solidFill>
                  </a:tcPr>
                </a:tc>
                <a:tc>
                  <a:txBody>
                    <a:bodyPr wrap="square"/>
                    <a:lstStyle/>
                    <a:p>
                      <a:r>
                        <a:rPr sz="1100">
                          <a:solidFill>
                            <a:srgbClr val="1A1A1A"/>
                          </a:solidFill>
                        </a:rPr>
                        <a:t>Client won't sign without a maturity rating</a:t>
                      </a:r>
                    </a:p>
                  </a:txBody>
                  <a:tcPr anchor="ctr" marL="73152" marR="54864" marT="27432" marB="27432">
                    <a:solidFill>
                      <a:srgbClr val="FFFFFF"/>
                    </a:solidFill>
                  </a:tcPr>
                </a:tc>
              </a:tr>
              <a:tr h="630936">
                <a:tc>
                  <a:txBody>
                    <a:bodyPr wrap="square"/>
                    <a:lstStyle/>
                    <a:p>
                      <a:r>
                        <a:rPr sz="1100" b="1">
                          <a:solidFill>
                            <a:srgbClr val="0C2B4A"/>
                          </a:solidFill>
                        </a:rPr>
                        <a:t>Measuring a product's security &amp; usability</a:t>
                      </a:r>
                    </a:p>
                  </a:txBody>
                  <a:tcPr anchor="ctr" marL="73152" marR="54864" marT="27432" marB="27432">
                    <a:solidFill>
                      <a:srgbClr val="EEF3F8"/>
                    </a:solidFill>
                  </a:tcPr>
                </a:tc>
                <a:tc>
                  <a:txBody>
                    <a:bodyPr wrap="square"/>
                    <a:lstStyle/>
                    <a:p>
                      <a:r>
                        <a:rPr sz="1100">
                          <a:solidFill>
                            <a:srgbClr val="1A1A1A"/>
                          </a:solidFill>
                        </a:rPr>
                        <a:t>ISO/IEC 25010</a:t>
                      </a:r>
                    </a:p>
                  </a:txBody>
                  <a:tcPr anchor="ctr" marL="73152" marR="54864" marT="27432" marB="27432">
                    <a:solidFill>
                      <a:srgbClr val="EEF3F8"/>
                    </a:solidFill>
                  </a:tcPr>
                </a:tc>
                <a:tc>
                  <a:txBody>
                    <a:bodyPr wrap="square"/>
                    <a:lstStyle/>
                    <a:p>
                      <a:r>
                        <a:rPr sz="1100">
                          <a:solidFill>
                            <a:srgbClr val="1A1A1A"/>
                          </a:solidFill>
                        </a:rPr>
                        <a:t>Defines the quality attributes to score against</a:t>
                      </a:r>
                    </a:p>
                  </a:txBody>
                  <a:tcPr anchor="ctr" marL="73152" marR="54864" marT="27432" marB="27432">
                    <a:solidFill>
                      <a:srgbClr val="EEF3F8"/>
                    </a:solidFill>
                  </a:tcPr>
                </a:tc>
              </a:tr>
              <a:tr h="630936">
                <a:tc>
                  <a:txBody>
                    <a:bodyPr wrap="square"/>
                    <a:lstStyle/>
                    <a:p>
                      <a:r>
                        <a:rPr sz="1100" b="1">
                          <a:solidFill>
                            <a:srgbClr val="0C2B4A"/>
                          </a:solidFill>
                        </a:rPr>
                        <a:t>Govt project with fixed, well-known requirements</a:t>
                      </a:r>
                    </a:p>
                  </a:txBody>
                  <a:tcPr anchor="ctr" marL="73152" marR="54864" marT="27432" marB="27432">
                    <a:solidFill>
                      <a:srgbClr val="FFFFFF"/>
                    </a:solidFill>
                  </a:tcPr>
                </a:tc>
                <a:tc>
                  <a:txBody>
                    <a:bodyPr wrap="square"/>
                    <a:lstStyle/>
                    <a:p>
                      <a:r>
                        <a:rPr sz="1100">
                          <a:solidFill>
                            <a:srgbClr val="1A1A1A"/>
                          </a:solidFill>
                        </a:rPr>
                        <a:t>Waterfall</a:t>
                      </a:r>
                    </a:p>
                  </a:txBody>
                  <a:tcPr anchor="ctr" marL="73152" marR="54864" marT="27432" marB="27432">
                    <a:solidFill>
                      <a:srgbClr val="FFFFFF"/>
                    </a:solidFill>
                  </a:tcPr>
                </a:tc>
                <a:tc>
                  <a:txBody>
                    <a:bodyPr wrap="square"/>
                    <a:lstStyle/>
                    <a:p>
                      <a:r>
                        <a:rPr sz="1100">
                          <a:solidFill>
                            <a:srgbClr val="1A1A1A"/>
                          </a:solidFill>
                        </a:rPr>
                        <a:t>Stable scope suits plan-everything-up-front</a:t>
                      </a:r>
                    </a:p>
                  </a:txBody>
                  <a:tcPr anchor="ctr" marL="73152" marR="54864" marT="27432" marB="27432">
                    <a:solidFill>
                      <a:srgbClr val="FFFFFF"/>
                    </a:solidFill>
                  </a:tcPr>
                </a:tc>
              </a:tr>
              <a:tr h="630936">
                <a:tc>
                  <a:txBody>
                    <a:bodyPr wrap="square"/>
                    <a:lstStyle/>
                    <a:p>
                      <a:r>
                        <a:rPr sz="1100" b="1">
                          <a:solidFill>
                            <a:srgbClr val="0C2B4A"/>
                          </a:solidFill>
                        </a:rPr>
                        <a:t>Startup MVP with fast-changing requirements</a:t>
                      </a:r>
                    </a:p>
                  </a:txBody>
                  <a:tcPr anchor="ctr" marL="73152" marR="54864" marT="27432" marB="27432">
                    <a:solidFill>
                      <a:srgbClr val="EEF3F8"/>
                    </a:solidFill>
                  </a:tcPr>
                </a:tc>
                <a:tc>
                  <a:txBody>
                    <a:bodyPr wrap="square"/>
                    <a:lstStyle/>
                    <a:p>
                      <a:r>
                        <a:rPr sz="1100">
                          <a:solidFill>
                            <a:srgbClr val="1A1A1A"/>
                          </a:solidFill>
                        </a:rPr>
                        <a:t>Agile / Scrum</a:t>
                      </a:r>
                    </a:p>
                  </a:txBody>
                  <a:tcPr anchor="ctr" marL="73152" marR="54864" marT="27432" marB="27432">
                    <a:solidFill>
                      <a:srgbClr val="EEF3F8"/>
                    </a:solidFill>
                  </a:tcPr>
                </a:tc>
                <a:tc>
                  <a:txBody>
                    <a:bodyPr wrap="square"/>
                    <a:lstStyle/>
                    <a:p>
                      <a:r>
                        <a:rPr sz="1100">
                          <a:solidFill>
                            <a:srgbClr val="1A1A1A"/>
                          </a:solidFill>
                        </a:rPr>
                        <a:t>Short iterations absorb constant change (still tests + reviews)</a:t>
                      </a:r>
                    </a:p>
                  </a:txBody>
                  <a:tcPr anchor="ctr" marL="73152" marR="54864" marT="27432" marB="27432">
                    <a:solidFill>
                      <a:srgbClr val="EEF3F8"/>
                    </a:solidFill>
                  </a:tcPr>
                </a:tc>
              </a:tr>
              <a:tr h="630936">
                <a:tc>
                  <a:txBody>
                    <a:bodyPr wrap="square"/>
                    <a:lstStyle/>
                    <a:p>
                      <a:r>
                        <a:rPr sz="1100" b="1">
                          <a:solidFill>
                            <a:srgbClr val="0C2B4A"/>
                          </a:solidFill>
                        </a:rPr>
                        <a:t>Team wants a shared engineering baseline</a:t>
                      </a:r>
                    </a:p>
                  </a:txBody>
                  <a:tcPr anchor="ctr" marL="73152" marR="54864" marT="27432" marB="27432">
                    <a:solidFill>
                      <a:srgbClr val="FFFFFF"/>
                    </a:solidFill>
                  </a:tcPr>
                </a:tc>
                <a:tc>
                  <a:txBody>
                    <a:bodyPr wrap="square"/>
                    <a:lstStyle/>
                    <a:p>
                      <a:r>
                        <a:rPr sz="1100">
                          <a:solidFill>
                            <a:srgbClr val="1A1A1A"/>
                          </a:solidFill>
                        </a:rPr>
                        <a:t>IEEE standards</a:t>
                      </a:r>
                    </a:p>
                  </a:txBody>
                  <a:tcPr anchor="ctr" marL="73152" marR="54864" marT="27432" marB="27432">
                    <a:solidFill>
                      <a:srgbClr val="FFFFFF"/>
                    </a:solidFill>
                  </a:tcPr>
                </a:tc>
                <a:tc>
                  <a:txBody>
                    <a:bodyPr wrap="square"/>
                    <a:lstStyle/>
                    <a:p>
                      <a:r>
                        <a:rPr sz="1100">
                          <a:solidFill>
                            <a:srgbClr val="1A1A1A"/>
                          </a:solidFill>
                        </a:rPr>
                        <a:t>Common professional practices &amp; documentation</a:t>
                      </a:r>
                    </a:p>
                  </a:txBody>
                  <a:tcPr anchor="ctr" marL="73152" marR="54864" marT="27432" marB="27432">
                    <a:solidFill>
                      <a:srgbClr val="FFFFFF"/>
                    </a:solidFill>
                  </a:tcPr>
                </a:tc>
              </a:tr>
              <a:tr h="630936">
                <a:tc>
                  <a:txBody>
                    <a:bodyPr wrap="square"/>
                    <a:lstStyle/>
                    <a:p>
                      <a:r>
                        <a:rPr sz="1100" b="1">
                          <a:solidFill>
                            <a:srgbClr val="0C2B4A"/>
                          </a:solidFill>
                        </a:rPr>
                        <a:t>Firm signalling overall disciplined quality mgmt</a:t>
                      </a:r>
                    </a:p>
                  </a:txBody>
                  <a:tcPr anchor="ctr" marL="73152" marR="54864" marT="27432" marB="27432">
                    <a:solidFill>
                      <a:srgbClr val="EEF3F8"/>
                    </a:solidFill>
                  </a:tcPr>
                </a:tc>
                <a:tc>
                  <a:txBody>
                    <a:bodyPr wrap="square"/>
                    <a:lstStyle/>
                    <a:p>
                      <a:r>
                        <a:rPr sz="1100">
                          <a:solidFill>
                            <a:srgbClr val="1A1A1A"/>
                          </a:solidFill>
                        </a:rPr>
                        <a:t>ISO 9001</a:t>
                      </a:r>
                    </a:p>
                  </a:txBody>
                  <a:tcPr anchor="ctr" marL="73152" marR="54864" marT="27432" marB="27432">
                    <a:solidFill>
                      <a:srgbClr val="EEF3F8"/>
                    </a:solidFill>
                  </a:tcPr>
                </a:tc>
                <a:tc>
                  <a:txBody>
                    <a:bodyPr wrap="square"/>
                    <a:lstStyle/>
                    <a:p>
                      <a:r>
                        <a:rPr sz="1100">
                          <a:solidFill>
                            <a:srgbClr val="1A1A1A"/>
                          </a:solidFill>
                        </a:rPr>
                        <a:t>General QMS badge that reassures clients</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For Nepali outsourcing firms certification is a business requirement, not just an ethical one. Agile changes HOW quality is built in — it never removes tests, reviews, or documentation.</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30 / 94</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S18 · CONCEPT 4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Risk Management</a:t>
            </a:r>
          </a:p>
        </p:txBody>
      </p:sp>
      <p:sp>
        <p:nvSpPr>
          <p:cNvPr id="5" name="TextBox 4"/>
          <p:cNvSpPr txBox="1"/>
          <p:nvPr/>
        </p:nvSpPr>
        <p:spPr>
          <a:xfrm>
            <a:off x="640080" y="1572768"/>
            <a:ext cx="5669280" cy="4617720"/>
          </a:xfrm>
          <a:prstGeom prst="rect">
            <a:avLst/>
          </a:prstGeom>
          <a:noFill/>
        </p:spPr>
        <p:txBody>
          <a:bodyPr wrap="square">
            <a:spAutoFit/>
          </a:bodyPr>
          <a:lstStyle/>
          <a:p>
            <a:pPr>
              <a:spcAft>
                <a:spcPts val="1000"/>
              </a:spcAft>
            </a:pPr>
            <a:r>
              <a:rPr sz="1500" b="1">
                <a:solidFill>
                  <a:srgbClr val="0C2B4A"/>
                </a:solidFill>
              </a:rPr>
              <a:t>Risk management is identifying, assessing, and mitigating things that could cause failure. Risk is assessed as likelihood × impact; you keep a risk register, plan mitigation and contingency, and prioritise safety-critical risks. It forces the honest ethical question: 'how good is good enough?'</a:t>
            </a:r>
          </a:p>
          <a:p>
            <a:pPr>
              <a:spcAft>
                <a:spcPts val="500"/>
              </a:spcAft>
            </a:pPr>
            <a:r>
              <a:rPr sz="1200" b="1">
                <a:solidFill>
                  <a:srgbClr val="185FA5"/>
                </a:solidFill>
              </a:rPr>
              <a:t>HOW IT WORKS</a:t>
            </a:r>
          </a:p>
          <a:p>
            <a:pPr>
              <a:spcAft>
                <a:spcPts val="600"/>
              </a:spcAft>
            </a:pPr>
            <a:r>
              <a:rPr sz="1400">
                <a:solidFill>
                  <a:srgbClr val="1A1A1A"/>
                </a:solidFill>
              </a:rPr>
              <a:t>•  List risks, score each by likelihood × impact, and rank them (a risk matrix).</a:t>
            </a:r>
          </a:p>
          <a:p>
            <a:pPr>
              <a:spcAft>
                <a:spcPts val="600"/>
              </a:spcAft>
            </a:pPr>
            <a:r>
              <a:rPr sz="1400">
                <a:solidFill>
                  <a:srgbClr val="1A1A1A"/>
                </a:solidFill>
              </a:rPr>
              <a:t>•  For each high risk: a mitigation (reduce it) and a contingency/rollback (if it happens anyway).</a:t>
            </a:r>
          </a:p>
          <a:p>
            <a:pPr>
              <a:spcAft>
                <a:spcPts val="600"/>
              </a:spcAft>
            </a:pPr>
            <a:r>
              <a:rPr sz="1400">
                <a:solidFill>
                  <a:srgbClr val="1A1A1A"/>
                </a:solidFill>
              </a:rPr>
              <a:t>•  Safety-critical risks jump the queue — impact is catastrophic even at low likelihood.</a:t>
            </a:r>
          </a:p>
          <a:p>
            <a:pPr>
              <a:spcAft>
                <a:spcPts val="600"/>
              </a:spcAft>
            </a:pPr>
            <a:r>
              <a:rPr sz="1400">
                <a:solidFill>
                  <a:srgbClr val="1A1A1A"/>
                </a:solidFill>
              </a:rPr>
              <a:t>•  Timing is a mitigation: a bank defers a risky migration off peak festival/remittance days.</a:t>
            </a:r>
          </a:p>
        </p:txBody>
      </p:sp>
      <p:pic>
        <p:nvPicPr>
          <p:cNvPr id="6" name="Picture 5" descr="s18_riskmatrix.png"/>
          <p:cNvPicPr>
            <a:picLocks noChangeAspect="1"/>
          </p:cNvPicPr>
          <p:nvPr/>
        </p:nvPicPr>
        <p:blipFill>
          <a:blip r:embed="rId2"/>
          <a:stretch>
            <a:fillRect/>
          </a:stretch>
        </p:blipFill>
        <p:spPr>
          <a:xfrm>
            <a:off x="6355080" y="2494166"/>
            <a:ext cx="5532120" cy="2646907"/>
          </a:xfrm>
          <a:prstGeom prst="rect">
            <a:avLst/>
          </a:prstGeom>
        </p:spPr>
      </p:pic>
      <p:sp>
        <p:nvSpPr>
          <p:cNvPr id="7" name="Rectangle 6"/>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Risk = likelihood × impact; mitigate the top-right first.</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31 / 94</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S18 · CONCEPT 4 · SCAFFOLDING</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A risk register in action (likelihood × impact → mitigation)</a:t>
            </a:r>
          </a:p>
        </p:txBody>
      </p:sp>
      <p:graphicFrame>
        <p:nvGraphicFramePr>
          <p:cNvPr id="5" name="Table 4"/>
          <p:cNvGraphicFramePr>
            <a:graphicFrameLocks noGrp="1"/>
          </p:cNvGraphicFramePr>
          <p:nvPr/>
        </p:nvGraphicFramePr>
        <p:xfrm>
          <a:off x="384048" y="1572768"/>
          <a:ext cx="11430000" cy="4416552"/>
        </p:xfrm>
        <a:graphic>
          <a:graphicData uri="http://schemas.openxmlformats.org/drawingml/2006/table">
            <a:tbl>
              <a:tblPr>
                <a:tableStyleId>{5C22544A-7EE6-4342-B048-85BDC9FD1C3A}</a:tableStyleId>
              </a:tblPr>
              <a:tblGrid>
                <a:gridCol w="4127500"/>
                <a:gridCol w="2698750"/>
                <a:gridCol w="4603750"/>
              </a:tblGrid>
              <a:tr h="736092">
                <a:tc>
                  <a:txBody>
                    <a:bodyPr wrap="square"/>
                    <a:lstStyle/>
                    <a:p>
                      <a:r>
                        <a:rPr sz="1150" b="1">
                          <a:solidFill>
                            <a:srgbClr val="FFFFFF"/>
                          </a:solidFill>
                        </a:rPr>
                        <a:t>Risk</a:t>
                      </a:r>
                    </a:p>
                  </a:txBody>
                  <a:tcPr anchor="ctr" marL="73152" marR="54864" marT="27432" marB="27432">
                    <a:solidFill>
                      <a:srgbClr val="0C2B4A"/>
                    </a:solidFill>
                  </a:tcPr>
                </a:tc>
                <a:tc>
                  <a:txBody>
                    <a:bodyPr wrap="square"/>
                    <a:lstStyle/>
                    <a:p>
                      <a:r>
                        <a:rPr sz="1150" b="1">
                          <a:solidFill>
                            <a:srgbClr val="FFFFFF"/>
                          </a:solidFill>
                        </a:rPr>
                        <a:t>Likelihood × impact</a:t>
                      </a:r>
                    </a:p>
                  </a:txBody>
                  <a:tcPr anchor="ctr" marL="73152" marR="54864" marT="27432" marB="27432">
                    <a:solidFill>
                      <a:srgbClr val="0C2B4A"/>
                    </a:solidFill>
                  </a:tcPr>
                </a:tc>
                <a:tc>
                  <a:txBody>
                    <a:bodyPr wrap="square"/>
                    <a:lstStyle/>
                    <a:p>
                      <a:r>
                        <a:rPr sz="1150" b="1">
                          <a:solidFill>
                            <a:srgbClr val="FFFFFF"/>
                          </a:solidFill>
                        </a:rPr>
                        <a:t>Mitigation / contingency</a:t>
                      </a:r>
                    </a:p>
                  </a:txBody>
                  <a:tcPr anchor="ctr" marL="73152" marR="54864" marT="27432" marB="27432">
                    <a:solidFill>
                      <a:srgbClr val="0C2B4A"/>
                    </a:solidFill>
                  </a:tcPr>
                </a:tc>
              </a:tr>
              <a:tr h="736092">
                <a:tc>
                  <a:txBody>
                    <a:bodyPr wrap="square"/>
                    <a:lstStyle/>
                    <a:p>
                      <a:r>
                        <a:rPr sz="1100" b="1">
                          <a:solidFill>
                            <a:srgbClr val="0C2B4A"/>
                          </a:solidFill>
                        </a:rPr>
                        <a:t>Core-system migration corrupts data</a:t>
                      </a:r>
                    </a:p>
                  </a:txBody>
                  <a:tcPr anchor="ctr" marL="73152" marR="54864" marT="27432" marB="27432">
                    <a:solidFill>
                      <a:srgbClr val="FFFFFF"/>
                    </a:solidFill>
                  </a:tcPr>
                </a:tc>
                <a:tc>
                  <a:txBody>
                    <a:bodyPr wrap="square"/>
                    <a:lstStyle/>
                    <a:p>
                      <a:r>
                        <a:rPr sz="1100">
                          <a:solidFill>
                            <a:srgbClr val="1A1A1A"/>
                          </a:solidFill>
                        </a:rPr>
                        <a:t>Low × Critical</a:t>
                      </a:r>
                    </a:p>
                  </a:txBody>
                  <a:tcPr anchor="ctr" marL="73152" marR="54864" marT="27432" marB="27432">
                    <a:solidFill>
                      <a:srgbClr val="FFFFFF"/>
                    </a:solidFill>
                  </a:tcPr>
                </a:tc>
                <a:tc>
                  <a:txBody>
                    <a:bodyPr wrap="square"/>
                    <a:lstStyle/>
                    <a:p>
                      <a:r>
                        <a:rPr sz="1100">
                          <a:solidFill>
                            <a:srgbClr val="1A1A1A"/>
                          </a:solidFill>
                        </a:rPr>
                        <a:t>Test on a copy; schedule off-peak; rollback plan ready</a:t>
                      </a:r>
                    </a:p>
                  </a:txBody>
                  <a:tcPr anchor="ctr" marL="73152" marR="54864" marT="27432" marB="27432">
                    <a:solidFill>
                      <a:srgbClr val="FFFFFF"/>
                    </a:solidFill>
                  </a:tcPr>
                </a:tc>
              </a:tr>
              <a:tr h="736092">
                <a:tc>
                  <a:txBody>
                    <a:bodyPr wrap="square"/>
                    <a:lstStyle/>
                    <a:p>
                      <a:r>
                        <a:rPr sz="1100" b="1">
                          <a:solidFill>
                            <a:srgbClr val="0C2B4A"/>
                          </a:solidFill>
                        </a:rPr>
                        <a:t>Festival-day traffic spike crashes the app</a:t>
                      </a:r>
                    </a:p>
                  </a:txBody>
                  <a:tcPr anchor="ctr" marL="73152" marR="54864" marT="27432" marB="27432">
                    <a:solidFill>
                      <a:srgbClr val="EEF3F8"/>
                    </a:solidFill>
                  </a:tcPr>
                </a:tc>
                <a:tc>
                  <a:txBody>
                    <a:bodyPr wrap="square"/>
                    <a:lstStyle/>
                    <a:p>
                      <a:r>
                        <a:rPr sz="1100">
                          <a:solidFill>
                            <a:srgbClr val="1A1A1A"/>
                          </a:solidFill>
                        </a:rPr>
                        <a:t>High × High</a:t>
                      </a:r>
                    </a:p>
                  </a:txBody>
                  <a:tcPr anchor="ctr" marL="73152" marR="54864" marT="27432" marB="27432">
                    <a:solidFill>
                      <a:srgbClr val="EEF3F8"/>
                    </a:solidFill>
                  </a:tcPr>
                </a:tc>
                <a:tc>
                  <a:txBody>
                    <a:bodyPr wrap="square"/>
                    <a:lstStyle/>
                    <a:p>
                      <a:r>
                        <a:rPr sz="1100">
                          <a:solidFill>
                            <a:srgbClr val="1A1A1A"/>
                          </a:solidFill>
                        </a:rPr>
                        <a:t>Load-test early; auto-scale; a caching fallback</a:t>
                      </a:r>
                    </a:p>
                  </a:txBody>
                  <a:tcPr anchor="ctr" marL="73152" marR="54864" marT="27432" marB="27432">
                    <a:solidFill>
                      <a:srgbClr val="EEF3F8"/>
                    </a:solidFill>
                  </a:tcPr>
                </a:tc>
              </a:tr>
              <a:tr h="736092">
                <a:tc>
                  <a:txBody>
                    <a:bodyPr wrap="square"/>
                    <a:lstStyle/>
                    <a:p>
                      <a:r>
                        <a:rPr sz="1100" b="1">
                          <a:solidFill>
                            <a:srgbClr val="0C2B4A"/>
                          </a:solidFill>
                        </a:rPr>
                        <a:t>A third-party payment API goes down</a:t>
                      </a:r>
                    </a:p>
                  </a:txBody>
                  <a:tcPr anchor="ctr" marL="73152" marR="54864" marT="27432" marB="27432">
                    <a:solidFill>
                      <a:srgbClr val="FFFFFF"/>
                    </a:solidFill>
                  </a:tcPr>
                </a:tc>
                <a:tc>
                  <a:txBody>
                    <a:bodyPr wrap="square"/>
                    <a:lstStyle/>
                    <a:p>
                      <a:r>
                        <a:rPr sz="1100">
                          <a:solidFill>
                            <a:srgbClr val="1A1A1A"/>
                          </a:solidFill>
                        </a:rPr>
                        <a:t>Medium × High</a:t>
                      </a:r>
                    </a:p>
                  </a:txBody>
                  <a:tcPr anchor="ctr" marL="73152" marR="54864" marT="27432" marB="27432">
                    <a:solidFill>
                      <a:srgbClr val="FFFFFF"/>
                    </a:solidFill>
                  </a:tcPr>
                </a:tc>
                <a:tc>
                  <a:txBody>
                    <a:bodyPr wrap="square"/>
                    <a:lstStyle/>
                    <a:p>
                      <a:r>
                        <a:rPr sz="1100">
                          <a:solidFill>
                            <a:srgbClr val="1A1A1A"/>
                          </a:solidFill>
                        </a:rPr>
                        <a:t>Retry + queue; a secondary provider; user messaging</a:t>
                      </a:r>
                    </a:p>
                  </a:txBody>
                  <a:tcPr anchor="ctr" marL="73152" marR="54864" marT="27432" marB="27432">
                    <a:solidFill>
                      <a:srgbClr val="FFFFFF"/>
                    </a:solidFill>
                  </a:tcPr>
                </a:tc>
              </a:tr>
              <a:tr h="736092">
                <a:tc>
                  <a:txBody>
                    <a:bodyPr wrap="square"/>
                    <a:lstStyle/>
                    <a:p>
                      <a:r>
                        <a:rPr sz="1100" b="1">
                          <a:solidFill>
                            <a:srgbClr val="0C2B4A"/>
                          </a:solidFill>
                        </a:rPr>
                        <a:t>Key developer leaves mid-project</a:t>
                      </a:r>
                    </a:p>
                  </a:txBody>
                  <a:tcPr anchor="ctr" marL="73152" marR="54864" marT="27432" marB="27432">
                    <a:solidFill>
                      <a:srgbClr val="EEF3F8"/>
                    </a:solidFill>
                  </a:tcPr>
                </a:tc>
                <a:tc>
                  <a:txBody>
                    <a:bodyPr wrap="square"/>
                    <a:lstStyle/>
                    <a:p>
                      <a:r>
                        <a:rPr sz="1100">
                          <a:solidFill>
                            <a:srgbClr val="1A1A1A"/>
                          </a:solidFill>
                        </a:rPr>
                        <a:t>Medium × High</a:t>
                      </a:r>
                    </a:p>
                  </a:txBody>
                  <a:tcPr anchor="ctr" marL="73152" marR="54864" marT="27432" marB="27432">
                    <a:solidFill>
                      <a:srgbClr val="EEF3F8"/>
                    </a:solidFill>
                  </a:tcPr>
                </a:tc>
                <a:tc>
                  <a:txBody>
                    <a:bodyPr wrap="square"/>
                    <a:lstStyle/>
                    <a:p>
                      <a:r>
                        <a:rPr sz="1100">
                          <a:solidFill>
                            <a:srgbClr val="1A1A1A"/>
                          </a:solidFill>
                        </a:rPr>
                        <a:t>Documentation; pairing; no single point of knowledge</a:t>
                      </a:r>
                    </a:p>
                  </a:txBody>
                  <a:tcPr anchor="ctr" marL="73152" marR="54864" marT="27432" marB="27432">
                    <a:solidFill>
                      <a:srgbClr val="EEF3F8"/>
                    </a:solidFill>
                  </a:tcPr>
                </a:tc>
              </a:tr>
              <a:tr h="736092">
                <a:tc>
                  <a:txBody>
                    <a:bodyPr wrap="square"/>
                    <a:lstStyle/>
                    <a:p>
                      <a:r>
                        <a:rPr sz="1100" b="1">
                          <a:solidFill>
                            <a:srgbClr val="0C2B4A"/>
                          </a:solidFill>
                        </a:rPr>
                        <a:t>Security defect ships to production</a:t>
                      </a:r>
                    </a:p>
                  </a:txBody>
                  <a:tcPr anchor="ctr" marL="73152" marR="54864" marT="27432" marB="27432">
                    <a:solidFill>
                      <a:srgbClr val="FFFFFF"/>
                    </a:solidFill>
                  </a:tcPr>
                </a:tc>
                <a:tc>
                  <a:txBody>
                    <a:bodyPr wrap="square"/>
                    <a:lstStyle/>
                    <a:p>
                      <a:r>
                        <a:rPr sz="1100">
                          <a:solidFill>
                            <a:srgbClr val="1A1A1A"/>
                          </a:solidFill>
                        </a:rPr>
                        <a:t>Low × Critical</a:t>
                      </a:r>
                    </a:p>
                  </a:txBody>
                  <a:tcPr anchor="ctr" marL="73152" marR="54864" marT="27432" marB="27432">
                    <a:solidFill>
                      <a:srgbClr val="FFFFFF"/>
                    </a:solidFill>
                  </a:tcPr>
                </a:tc>
                <a:tc>
                  <a:txBody>
                    <a:bodyPr wrap="square"/>
                    <a:lstStyle/>
                    <a:p>
                      <a:r>
                        <a:rPr sz="1100">
                          <a:solidFill>
                            <a:srgbClr val="1A1A1A"/>
                          </a:solidFill>
                        </a:rPr>
                        <a:t>Security review + pen-test gate before release</a:t>
                      </a:r>
                    </a:p>
                  </a:txBody>
                  <a:tcPr anchor="ctr" marL="73152" marR="54864" marT="27432" marB="27432">
                    <a:solidFill>
                      <a:srgbClr val="FFFFFF"/>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Prioritise by likelihood × impact, but let safety-critical/high-impact risks jump the queue. Every high risk needs BOTH a mitigation and a contingency (rollback).</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32 / 94</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S18 · CONCEPT 4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Risk Management</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A Nepali bank defers a risky core-system migration off peak festival and remittance days, and plans a tested rollback for a Nagarik App update before shipping it. That's risk management: they scored the risk (low likelihood, critical impact), mitigated it (timing, testing), and prepared a contingency in case it fails anyway.</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"We'll deal with problems if they come up." Risk management is deciding what could fail BEFORE it does — scoring likelihood × impact, mitigating the worst, and planning rollback in advance. Reacting after a live failure (during the festival rush) is exactly the expensive, dangerous position it exists to avoid.</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Risk management identifies, assesses (likelihood × impact), and mitigates things that could cause failure, using a risk register with mitigation and contingency plans and prioritising safety-critical risks. It answers the ethical question 'how good is good enough?' deliberately, before release — for example deferring a risky migration off peak days and preparing a rollback.</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risk management · likelihood × impact · risk register · mitigation + contingency · rollback · plan before, not after</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33 / 94</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S18 · CONCEPT 4 · CONCRETE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Real release-risk decisions — score, then act</a:t>
            </a:r>
          </a:p>
        </p:txBody>
      </p:sp>
      <p:graphicFrame>
        <p:nvGraphicFramePr>
          <p:cNvPr id="5" name="Table 4"/>
          <p:cNvGraphicFramePr>
            <a:graphicFrameLocks noGrp="1"/>
          </p:cNvGraphicFramePr>
          <p:nvPr/>
        </p:nvGraphicFramePr>
        <p:xfrm>
          <a:off x="384048" y="1572768"/>
          <a:ext cx="11430000" cy="4416552"/>
        </p:xfrm>
        <a:graphic>
          <a:graphicData uri="http://schemas.openxmlformats.org/drawingml/2006/table">
            <a:tbl>
              <a:tblPr>
                <a:tableStyleId>{5C22544A-7EE6-4342-B048-85BDC9FD1C3A}</a:tableStyleId>
              </a:tblPr>
              <a:tblGrid>
                <a:gridCol w="4267200"/>
                <a:gridCol w="2590800"/>
                <a:gridCol w="4572000"/>
              </a:tblGrid>
              <a:tr h="630936">
                <a:tc>
                  <a:txBody>
                    <a:bodyPr wrap="square"/>
                    <a:lstStyle/>
                    <a:p>
                      <a:r>
                        <a:rPr sz="1150" b="1">
                          <a:solidFill>
                            <a:srgbClr val="FFFFFF"/>
                          </a:solidFill>
                        </a:rPr>
                        <a:t>Real decision (Nepal)</a:t>
                      </a:r>
                    </a:p>
                  </a:txBody>
                  <a:tcPr anchor="ctr" marL="73152" marR="54864" marT="27432" marB="27432">
                    <a:solidFill>
                      <a:srgbClr val="0C2B4A"/>
                    </a:solidFill>
                  </a:tcPr>
                </a:tc>
                <a:tc>
                  <a:txBody>
                    <a:bodyPr wrap="square"/>
                    <a:lstStyle/>
                    <a:p>
                      <a:r>
                        <a:rPr sz="1150" b="1">
                          <a:solidFill>
                            <a:srgbClr val="FFFFFF"/>
                          </a:solidFill>
                        </a:rPr>
                        <a:t>Likelihood × impact</a:t>
                      </a:r>
                    </a:p>
                  </a:txBody>
                  <a:tcPr anchor="ctr" marL="73152" marR="54864" marT="27432" marB="27432">
                    <a:solidFill>
                      <a:srgbClr val="0C2B4A"/>
                    </a:solidFill>
                  </a:tcPr>
                </a:tc>
                <a:tc>
                  <a:txBody>
                    <a:bodyPr wrap="square"/>
                    <a:lstStyle/>
                    <a:p>
                      <a:r>
                        <a:rPr sz="1150" b="1">
                          <a:solidFill>
                            <a:srgbClr val="FFFFFF"/>
                          </a:solidFill>
                        </a:rPr>
                        <a:t>Action taken (verdict)</a:t>
                      </a:r>
                    </a:p>
                  </a:txBody>
                  <a:tcPr anchor="ctr" marL="73152" marR="54864" marT="27432" marB="27432">
                    <a:solidFill>
                      <a:srgbClr val="0C2B4A"/>
                    </a:solidFill>
                  </a:tcPr>
                </a:tc>
              </a:tr>
              <a:tr h="630936">
                <a:tc>
                  <a:txBody>
                    <a:bodyPr wrap="square"/>
                    <a:lstStyle/>
                    <a:p>
                      <a:r>
                        <a:rPr sz="1100" b="1">
                          <a:solidFill>
                            <a:srgbClr val="0C2B4A"/>
                          </a:solidFill>
                        </a:rPr>
                        <a:t>Core-banking migration on a remittance-peak day</a:t>
                      </a:r>
                    </a:p>
                  </a:txBody>
                  <a:tcPr anchor="ctr" marL="73152" marR="54864" marT="27432" marB="27432">
                    <a:solidFill>
                      <a:srgbClr val="FFFFFF"/>
                    </a:solidFill>
                  </a:tcPr>
                </a:tc>
                <a:tc>
                  <a:txBody>
                    <a:bodyPr wrap="square"/>
                    <a:lstStyle/>
                    <a:p>
                      <a:r>
                        <a:rPr sz="1100">
                          <a:solidFill>
                            <a:srgbClr val="1A1A1A"/>
                          </a:solidFill>
                        </a:rPr>
                        <a:t>Low × Critical</a:t>
                      </a:r>
                    </a:p>
                  </a:txBody>
                  <a:tcPr anchor="ctr" marL="73152" marR="54864" marT="27432" marB="27432">
                    <a:solidFill>
                      <a:srgbClr val="FFFFFF"/>
                    </a:solidFill>
                  </a:tcPr>
                </a:tc>
                <a:tc>
                  <a:txBody>
                    <a:bodyPr wrap="square"/>
                    <a:lstStyle/>
                    <a:p>
                      <a:r>
                        <a:rPr sz="1100">
                          <a:solidFill>
                            <a:srgbClr val="1A1A1A"/>
                          </a:solidFill>
                        </a:rPr>
                        <a:t>Deferred off-peak + tested rollback ready → good call</a:t>
                      </a:r>
                    </a:p>
                  </a:txBody>
                  <a:tcPr anchor="ctr" marL="73152" marR="54864" marT="27432" marB="27432">
                    <a:solidFill>
                      <a:srgbClr val="FFFFFF"/>
                    </a:solidFill>
                  </a:tcPr>
                </a:tc>
              </a:tr>
              <a:tr h="630936">
                <a:tc>
                  <a:txBody>
                    <a:bodyPr wrap="square"/>
                    <a:lstStyle/>
                    <a:p>
                      <a:r>
                        <a:rPr sz="1100" b="1">
                          <a:solidFill>
                            <a:srgbClr val="0C2B4A"/>
                          </a:solidFill>
                        </a:rPr>
                        <a:t>Nagarik App update shipped with no rollback plan</a:t>
                      </a:r>
                    </a:p>
                  </a:txBody>
                  <a:tcPr anchor="ctr" marL="73152" marR="54864" marT="27432" marB="27432">
                    <a:solidFill>
                      <a:srgbClr val="EEF3F8"/>
                    </a:solidFill>
                  </a:tcPr>
                </a:tc>
                <a:tc>
                  <a:txBody>
                    <a:bodyPr wrap="square"/>
                    <a:lstStyle/>
                    <a:p>
                      <a:r>
                        <a:rPr sz="1100">
                          <a:solidFill>
                            <a:srgbClr val="1A1A1A"/>
                          </a:solidFill>
                        </a:rPr>
                        <a:t>Medium × High</a:t>
                      </a:r>
                    </a:p>
                  </a:txBody>
                  <a:tcPr anchor="ctr" marL="73152" marR="54864" marT="27432" marB="27432">
                    <a:solidFill>
                      <a:srgbClr val="EEF3F8"/>
                    </a:solidFill>
                  </a:tcPr>
                </a:tc>
                <a:tc>
                  <a:txBody>
                    <a:bodyPr wrap="square"/>
                    <a:lstStyle/>
                    <a:p>
                      <a:r>
                        <a:rPr sz="1100">
                          <a:solidFill>
                            <a:srgbClr val="1A1A1A"/>
                          </a:solidFill>
                        </a:rPr>
                        <a:t>Bad call — prepare a rollback BEFORE shipping</a:t>
                      </a:r>
                    </a:p>
                  </a:txBody>
                  <a:tcPr anchor="ctr" marL="73152" marR="54864" marT="27432" marB="27432">
                    <a:solidFill>
                      <a:srgbClr val="EEF3F8"/>
                    </a:solidFill>
                  </a:tcPr>
                </a:tc>
              </a:tr>
              <a:tr h="630936">
                <a:tc>
                  <a:txBody>
                    <a:bodyPr wrap="square"/>
                    <a:lstStyle/>
                    <a:p>
                      <a:r>
                        <a:rPr sz="1100" b="1">
                          <a:solidFill>
                            <a:srgbClr val="0C2B4A"/>
                          </a:solidFill>
                        </a:rPr>
                        <a:t>One developer holds all deployment knowledge</a:t>
                      </a:r>
                    </a:p>
                  </a:txBody>
                  <a:tcPr anchor="ctr" marL="73152" marR="54864" marT="27432" marB="27432">
                    <a:solidFill>
                      <a:srgbClr val="FFFFFF"/>
                    </a:solidFill>
                  </a:tcPr>
                </a:tc>
                <a:tc>
                  <a:txBody>
                    <a:bodyPr wrap="square"/>
                    <a:lstStyle/>
                    <a:p>
                      <a:r>
                        <a:rPr sz="1100">
                          <a:solidFill>
                            <a:srgbClr val="1A1A1A"/>
                          </a:solidFill>
                        </a:rPr>
                        <a:t>Medium × High</a:t>
                      </a:r>
                    </a:p>
                  </a:txBody>
                  <a:tcPr anchor="ctr" marL="73152" marR="54864" marT="27432" marB="27432">
                    <a:solidFill>
                      <a:srgbClr val="FFFFFF"/>
                    </a:solidFill>
                  </a:tcPr>
                </a:tc>
                <a:tc>
                  <a:txBody>
                    <a:bodyPr wrap="square"/>
                    <a:lstStyle/>
                    <a:p>
                      <a:r>
                        <a:rPr sz="1100">
                          <a:solidFill>
                            <a:srgbClr val="1A1A1A"/>
                          </a:solidFill>
                        </a:rPr>
                        <a:t>Document + pair to remove the single point of failure</a:t>
                      </a:r>
                    </a:p>
                  </a:txBody>
                  <a:tcPr anchor="ctr" marL="73152" marR="54864" marT="27432" marB="27432">
                    <a:solidFill>
                      <a:srgbClr val="FFFFFF"/>
                    </a:solidFill>
                  </a:tcPr>
                </a:tc>
              </a:tr>
              <a:tr h="630936">
                <a:tc>
                  <a:txBody>
                    <a:bodyPr wrap="square"/>
                    <a:lstStyle/>
                    <a:p>
                      <a:r>
                        <a:rPr sz="1100" b="1">
                          <a:solidFill>
                            <a:srgbClr val="0C2B4A"/>
                          </a:solidFill>
                        </a:rPr>
                        <a:t>Payment gateway may go down on Dashain</a:t>
                      </a:r>
                    </a:p>
                  </a:txBody>
                  <a:tcPr anchor="ctr" marL="73152" marR="54864" marT="27432" marB="27432">
                    <a:solidFill>
                      <a:srgbClr val="EEF3F8"/>
                    </a:solidFill>
                  </a:tcPr>
                </a:tc>
                <a:tc>
                  <a:txBody>
                    <a:bodyPr wrap="square"/>
                    <a:lstStyle/>
                    <a:p>
                      <a:r>
                        <a:rPr sz="1100">
                          <a:solidFill>
                            <a:srgbClr val="1A1A1A"/>
                          </a:solidFill>
                        </a:rPr>
                        <a:t>Medium × High</a:t>
                      </a:r>
                    </a:p>
                  </a:txBody>
                  <a:tcPr anchor="ctr" marL="73152" marR="54864" marT="27432" marB="27432">
                    <a:solidFill>
                      <a:srgbClr val="EEF3F8"/>
                    </a:solidFill>
                  </a:tcPr>
                </a:tc>
                <a:tc>
                  <a:txBody>
                    <a:bodyPr wrap="square"/>
                    <a:lstStyle/>
                    <a:p>
                      <a:r>
                        <a:rPr sz="1100">
                          <a:solidFill>
                            <a:srgbClr val="1A1A1A"/>
                          </a:solidFill>
                        </a:rPr>
                        <a:t>Retry queue + a secondary provider mitigates it</a:t>
                      </a:r>
                    </a:p>
                  </a:txBody>
                  <a:tcPr anchor="ctr" marL="73152" marR="54864" marT="27432" marB="27432">
                    <a:solidFill>
                      <a:srgbClr val="EEF3F8"/>
                    </a:solidFill>
                  </a:tcPr>
                </a:tc>
              </a:tr>
              <a:tr h="630936">
                <a:tc>
                  <a:txBody>
                    <a:bodyPr wrap="square"/>
                    <a:lstStyle/>
                    <a:p>
                      <a:r>
                        <a:rPr sz="1100" b="1">
                          <a:solidFill>
                            <a:srgbClr val="0C2B4A"/>
                          </a:solidFill>
                        </a:rPr>
                        <a:t>Skipping the security review to hit a deadline</a:t>
                      </a:r>
                    </a:p>
                  </a:txBody>
                  <a:tcPr anchor="ctr" marL="73152" marR="54864" marT="27432" marB="27432">
                    <a:solidFill>
                      <a:srgbClr val="FFFFFF"/>
                    </a:solidFill>
                  </a:tcPr>
                </a:tc>
                <a:tc>
                  <a:txBody>
                    <a:bodyPr wrap="square"/>
                    <a:lstStyle/>
                    <a:p>
                      <a:r>
                        <a:rPr sz="1100">
                          <a:solidFill>
                            <a:srgbClr val="1A1A1A"/>
                          </a:solidFill>
                        </a:rPr>
                        <a:t>Low × Critical</a:t>
                      </a:r>
                    </a:p>
                  </a:txBody>
                  <a:tcPr anchor="ctr" marL="73152" marR="54864" marT="27432" marB="27432">
                    <a:solidFill>
                      <a:srgbClr val="FFFFFF"/>
                    </a:solidFill>
                  </a:tcPr>
                </a:tc>
                <a:tc>
                  <a:txBody>
                    <a:bodyPr wrap="square"/>
                    <a:lstStyle/>
                    <a:p>
                      <a:r>
                        <a:rPr sz="1100">
                          <a:solidFill>
                            <a:srgbClr val="1A1A1A"/>
                          </a:solidFill>
                        </a:rPr>
                        <a:t>Hold a security gate — the impact is too severe</a:t>
                      </a:r>
                    </a:p>
                  </a:txBody>
                  <a:tcPr anchor="ctr" marL="73152" marR="54864" marT="27432" marB="27432">
                    <a:solidFill>
                      <a:srgbClr val="FFFFFF"/>
                    </a:solidFill>
                  </a:tcPr>
                </a:tc>
              </a:tr>
              <a:tr h="630936">
                <a:tc>
                  <a:txBody>
                    <a:bodyPr wrap="square"/>
                    <a:lstStyle/>
                    <a:p>
                      <a:r>
                        <a:rPr sz="1100" b="1">
                          <a:solidFill>
                            <a:srgbClr val="0C2B4A"/>
                          </a:solidFill>
                        </a:rPr>
                        <a:t>Festival-day traffic spike left untested</a:t>
                      </a:r>
                    </a:p>
                  </a:txBody>
                  <a:tcPr anchor="ctr" marL="73152" marR="54864" marT="27432" marB="27432">
                    <a:solidFill>
                      <a:srgbClr val="EEF3F8"/>
                    </a:solidFill>
                  </a:tcPr>
                </a:tc>
                <a:tc>
                  <a:txBody>
                    <a:bodyPr wrap="square"/>
                    <a:lstStyle/>
                    <a:p>
                      <a:r>
                        <a:rPr sz="1100">
                          <a:solidFill>
                            <a:srgbClr val="1A1A1A"/>
                          </a:solidFill>
                        </a:rPr>
                        <a:t>High × High</a:t>
                      </a:r>
                    </a:p>
                  </a:txBody>
                  <a:tcPr anchor="ctr" marL="73152" marR="54864" marT="27432" marB="27432">
                    <a:solidFill>
                      <a:srgbClr val="EEF3F8"/>
                    </a:solidFill>
                  </a:tcPr>
                </a:tc>
                <a:tc>
                  <a:txBody>
                    <a:bodyPr wrap="square"/>
                    <a:lstStyle/>
                    <a:p>
                      <a:r>
                        <a:rPr sz="1100">
                          <a:solidFill>
                            <a:srgbClr val="1A1A1A"/>
                          </a:solidFill>
                        </a:rPr>
                        <a:t>Load-test early + auto-scale before the rush</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Every high risk needs BOTH a mitigation and a contingency (rollback). Safety-critical/high-impact risks jump the queue even at low likelihood — decide before release, not after a live failure.</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34 / 94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E1F5EE"/>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F6E56"/>
                </a:solidFill>
              </a:rPr>
              <a:t>🛠  IN-CLASS ACTIVITY  ·  THINK–PAIR–SHARE</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S18 — 'Skip testing to hit the deadline?'  ·  ~5 min</a:t>
            </a:r>
          </a:p>
        </p:txBody>
      </p:sp>
      <p:sp>
        <p:nvSpPr>
          <p:cNvPr id="5" name="TextBox 4"/>
          <p:cNvSpPr txBox="1"/>
          <p:nvPr/>
        </p:nvSpPr>
        <p:spPr>
          <a:xfrm>
            <a:off x="640080" y="1600200"/>
            <a:ext cx="10881360" cy="3291840"/>
          </a:xfrm>
          <a:prstGeom prst="rect">
            <a:avLst/>
          </a:prstGeom>
          <a:noFill/>
        </p:spPr>
        <p:txBody>
          <a:bodyPr wrap="square">
            <a:spAutoFit/>
          </a:bodyPr>
          <a:lstStyle/>
          <a:p>
            <a:pPr>
              <a:spcAft>
                <a:spcPts val="700"/>
              </a:spcAft>
            </a:pPr>
            <a:r>
              <a:rPr sz="1550">
                <a:solidFill>
                  <a:srgbClr val="1A1A1A"/>
                </a:solidFill>
              </a:rPr>
              <a:t>•  In pairs (2 min): your client demands you skip testing to hit a deadline. Decide the three things you do.</a:t>
            </a:r>
          </a:p>
          <a:p>
            <a:pPr>
              <a:spcAft>
                <a:spcPts val="700"/>
              </a:spcAft>
            </a:pPr>
            <a:r>
              <a:rPr sz="1550">
                <a:solidFill>
                  <a:srgbClr val="1A1A1A"/>
                </a:solidFill>
              </a:rPr>
              <a:t>•  Consider: what you say to the client, what you refuse, and what minimum quality gate you hold.</a:t>
            </a:r>
          </a:p>
          <a:p>
            <a:pPr>
              <a:spcAft>
                <a:spcPts val="700"/>
              </a:spcAft>
            </a:pPr>
            <a:r>
              <a:rPr sz="1550">
                <a:solidFill>
                  <a:srgbClr val="1A1A1A"/>
                </a:solidFill>
              </a:rPr>
              <a:t>•  Take 3 answers aloud (3 min).</a:t>
            </a:r>
          </a:p>
          <a:p>
            <a:pPr>
              <a:spcAft>
                <a:spcPts val="700"/>
              </a:spcAft>
            </a:pPr>
            <a:r>
              <a:rPr sz="1550">
                <a:solidFill>
                  <a:srgbClr val="1A1A1A"/>
                </a:solidFill>
              </a:rPr>
              <a:t>•  Close: link to Unit 1/2 — 'the client told me to' does not transfer the responsibility for a harmful release.</a:t>
            </a:r>
          </a:p>
        </p:txBody>
      </p:sp>
      <p:sp>
        <p:nvSpPr>
          <p:cNvPr id="6" name="Rounded Rectangle 5"/>
          <p:cNvSpPr/>
          <p:nvPr/>
        </p:nvSpPr>
        <p:spPr>
          <a:xfrm>
            <a:off x="640080" y="5029200"/>
            <a:ext cx="10881360" cy="1554480"/>
          </a:xfrm>
          <a:prstGeom prst="roundRect">
            <a:avLst/>
          </a:prstGeom>
          <a:solidFill>
            <a:srgbClr val="FFFFFF"/>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Expected answer / what to draw out</a:t>
            </a:r>
          </a:p>
          <a:p>
            <a:pPr>
              <a:spcBef>
                <a:spcPts val="300"/>
              </a:spcBef>
            </a:pPr>
            <a:r>
              <a:rPr sz="1400">
                <a:solidFill>
                  <a:srgbClr val="1A1A1A"/>
                </a:solidFill>
              </a:rPr>
              <a:t>Strong answers: (1) explain the real cost/risk (10× later, possible harm), (2) propose a risk-based minimum (test the critical paths, defer low-risk features), (3) document the decision and who owns the risk. Refusing to skip safety-critical testing is the ethical floor.</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35 / 94</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2F5F8"/>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854F0B"/>
                </a:solidFill>
              </a:rPr>
              <a:t>CHECK FOR UNDERSTANDING</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S18 — Quick Check  ·  ~5 min</a:t>
            </a:r>
          </a:p>
        </p:txBody>
      </p:sp>
      <p:sp>
        <p:nvSpPr>
          <p:cNvPr id="5" name="TextBox 4"/>
          <p:cNvSpPr txBox="1"/>
          <p:nvPr/>
        </p:nvSpPr>
        <p:spPr>
          <a:xfrm>
            <a:off x="640080" y="1600200"/>
            <a:ext cx="10881360" cy="4846320"/>
          </a:xfrm>
          <a:prstGeom prst="rect">
            <a:avLst/>
          </a:prstGeom>
          <a:noFill/>
        </p:spPr>
        <p:txBody>
          <a:bodyPr wrap="square">
            <a:spAutoFit/>
          </a:bodyPr>
          <a:lstStyle/>
          <a:p>
            <a:pPr>
              <a:spcBef>
                <a:spcPts val="900"/>
              </a:spcBef>
            </a:pPr>
            <a:r>
              <a:rPr sz="1700" b="1">
                <a:solidFill>
                  <a:srgbClr val="0C2B4A"/>
                </a:solidFill>
              </a:rPr>
              <a:t>Q1.  QA differs from QC in that QA is:</a:t>
            </a:r>
          </a:p>
          <a:p>
            <a:pPr lvl="1"/>
            <a:r>
              <a:rPr sz="1500" b="1">
                <a:solidFill>
                  <a:srgbClr val="0F6E56"/>
                </a:solidFill>
              </a:rPr>
              <a:t>a) product inspection   b) ✅ process-focused / preventive (QC is product/inspection)   c) only testing   d) the same thing</a:t>
            </a:r>
          </a:p>
          <a:p>
            <a:pPr lvl="1">
              <a:spcBef>
                <a:spcPts val="600"/>
              </a:spcBef>
            </a:pPr>
            <a:r>
              <a:rPr sz="1500" i="1">
                <a:solidFill>
                  <a:srgbClr val="1A1A1A"/>
                </a:solidFill>
              </a:rPr>
              <a:t>     Why: QA prevents defects by shaping the process; QC catches them by inspecting the product.</a:t>
            </a:r>
          </a:p>
          <a:p>
            <a:pPr>
              <a:spcBef>
                <a:spcPts val="900"/>
              </a:spcBef>
            </a:pPr>
            <a:r>
              <a:rPr sz="1700" b="1">
                <a:solidFill>
                  <a:srgbClr val="0C2B4A"/>
                </a:solidFill>
              </a:rPr>
              <a:t>Q2.  'Risk' in risk management is usually assessed as:</a:t>
            </a:r>
          </a:p>
          <a:p>
            <a:pPr lvl="1"/>
            <a:r>
              <a:rPr sz="1500" b="1">
                <a:solidFill>
                  <a:srgbClr val="0F6E56"/>
                </a:solidFill>
              </a:rPr>
              <a:t>a) cost only   b) ✅ likelihood × impact   c) number of bugs   d) team size</a:t>
            </a:r>
          </a:p>
          <a:p>
            <a:pPr lvl="1">
              <a:spcBef>
                <a:spcPts val="600"/>
              </a:spcBef>
            </a:pPr>
            <a:r>
              <a:rPr sz="1500" i="1">
                <a:solidFill>
                  <a:srgbClr val="1A1A1A"/>
                </a:solidFill>
              </a:rPr>
              <a:t>     Why: scoring likelihood × impact ranks risks so you mitigate the most dangerous first.</a:t>
            </a:r>
          </a:p>
          <a:p>
            <a:pPr lvl="1">
              <a:spcBef>
                <a:spcPts val="600"/>
              </a:spcBef>
            </a:pPr>
            <a:r>
              <a:rPr sz="1500" i="1">
                <a:solidFill>
                  <a:srgbClr val="1A1A1A"/>
                </a:solidFill>
              </a:rPr>
              <a:t>Discussion: your client demands you skip testing to hit a deadline — what three things do you do?</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55606B"/>
                </a:solidFill>
              </a:rPr>
              <a:t>36 / 94</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C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C2B4A"/>
                </a:solidFill>
              </a:rPr>
              <a:t>S18 · SUMMARY  ·  [~2 MIN]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Summary &amp; Key Takeaways</a:t>
            </a:r>
          </a:p>
        </p:txBody>
      </p:sp>
      <p:sp>
        <p:nvSpPr>
          <p:cNvPr id="5" name="TextBox 4"/>
          <p:cNvSpPr txBox="1"/>
          <p:nvPr/>
        </p:nvSpPr>
        <p:spPr>
          <a:xfrm>
            <a:off x="640080" y="1554480"/>
            <a:ext cx="10972800" cy="2468880"/>
          </a:xfrm>
          <a:prstGeom prst="rect">
            <a:avLst/>
          </a:prstGeom>
          <a:noFill/>
        </p:spPr>
        <p:txBody>
          <a:bodyPr wrap="square">
            <a:spAutoFit/>
          </a:bodyPr>
          <a:lstStyle/>
          <a:p>
            <a:pPr>
              <a:spcAft>
                <a:spcPts val="800"/>
              </a:spcAft>
            </a:pPr>
            <a:r>
              <a:rPr sz="1500">
                <a:solidFill>
                  <a:srgbClr val="1A1A1A"/>
                </a:solidFill>
              </a:rPr>
              <a:t>1.  Layered testing (unit→integration→system→acceptance) finds defects early; automate the base.</a:t>
            </a:r>
          </a:p>
          <a:p>
            <a:pPr>
              <a:spcAft>
                <a:spcPts val="800"/>
              </a:spcAft>
            </a:pPr>
            <a:r>
              <a:rPr sz="1500">
                <a:solidFill>
                  <a:srgbClr val="1A1A1A"/>
                </a:solidFill>
              </a:rPr>
              <a:t>2.  QA prevents defects (process); QC catches them (product) — you need both, not a lone hero.</a:t>
            </a:r>
          </a:p>
          <a:p>
            <a:pPr>
              <a:spcAft>
                <a:spcPts val="800"/>
              </a:spcAft>
            </a:pPr>
            <a:r>
              <a:rPr sz="1500">
                <a:solidFill>
                  <a:srgbClr val="1A1A1A"/>
                </a:solidFill>
              </a:rPr>
              <a:t>3.  Standards (ISO/CMMI) + risk management (likelihood × impact, mitigation + rollback) make quality repeatable.</a:t>
            </a:r>
          </a:p>
        </p:txBody>
      </p:sp>
      <p:sp>
        <p:nvSpPr>
          <p:cNvPr id="6" name="Rounded Rectangle 5"/>
          <p:cNvSpPr/>
          <p:nvPr/>
        </p:nvSpPr>
        <p:spPr>
          <a:xfrm>
            <a:off x="640080" y="4160520"/>
            <a:ext cx="10972800" cy="1234440"/>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Why this matters</a:t>
            </a:r>
          </a:p>
          <a:p>
            <a:pPr>
              <a:spcBef>
                <a:spcPts val="300"/>
              </a:spcBef>
            </a:pPr>
            <a:r>
              <a:rPr sz="1350">
                <a:solidFill>
                  <a:srgbClr val="1A1A1A"/>
                </a:solidFill>
              </a:rPr>
              <a:t>These are the exact practices Nepali IT-outsourcing firms use to land and keep international clients — knowing them makes you employable, not just ethical. A candidate who can talk testing, QA, and risk stands out immediately.</a:t>
            </a:r>
          </a:p>
        </p:txBody>
      </p:sp>
      <p:sp>
        <p:nvSpPr>
          <p:cNvPr id="7" name="Rounded Rectangle 6"/>
          <p:cNvSpPr/>
          <p:nvPr/>
        </p:nvSpPr>
        <p:spPr>
          <a:xfrm>
            <a:off x="640080" y="5504688"/>
            <a:ext cx="10972800" cy="105156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Next</a:t>
            </a:r>
          </a:p>
          <a:p>
            <a:pPr>
              <a:spcBef>
                <a:spcPts val="300"/>
              </a:spcBef>
            </a:pPr>
            <a:r>
              <a:rPr sz="1350">
                <a:solidFill>
                  <a:srgbClr val="1A1A1A"/>
                </a:solidFill>
              </a:rPr>
              <a:t>S19 — the people who build software: contingent workers and outsourcing.</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37 / 94</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185FA5"/>
        </a:solidFill>
        <a:effectLst/>
      </p:bgPr>
    </p:bg>
    <p:spTree>
      <p:nvGrpSpPr>
        <p:cNvPr id="1" name=""/>
        <p:cNvGrpSpPr/>
        <p:nvPr/>
      </p:nvGrpSpPr>
      <p:grpSpPr/>
      <p:sp>
        <p:nvSpPr>
          <p:cNvPr id="2" name="TextBox 1"/>
          <p:cNvSpPr txBox="1"/>
          <p:nvPr/>
        </p:nvSpPr>
        <p:spPr>
          <a:xfrm>
            <a:off x="822960" y="1737360"/>
            <a:ext cx="10515600" cy="548640"/>
          </a:xfrm>
          <a:prstGeom prst="rect">
            <a:avLst/>
          </a:prstGeom>
          <a:noFill/>
        </p:spPr>
        <p:txBody>
          <a:bodyPr wrap="none">
            <a:spAutoFit/>
          </a:bodyPr>
          <a:lstStyle/>
          <a:p>
            <a:r>
              <a:rPr sz="1500" b="1">
                <a:solidFill>
                  <a:srgbClr val="BFDCF2"/>
                </a:solidFill>
              </a:rPr>
              <a:t>SESSION 19 · LECTURE HOUR 3 (OF 5)</a:t>
            </a:r>
          </a:p>
        </p:txBody>
      </p:sp>
      <p:sp>
        <p:nvSpPr>
          <p:cNvPr id="3" name="TextBox 2"/>
          <p:cNvSpPr txBox="1"/>
          <p:nvPr/>
        </p:nvSpPr>
        <p:spPr>
          <a:xfrm>
            <a:off x="822960" y="2286000"/>
            <a:ext cx="10515600" cy="1280160"/>
          </a:xfrm>
          <a:prstGeom prst="rect">
            <a:avLst/>
          </a:prstGeom>
          <a:noFill/>
        </p:spPr>
        <p:txBody>
          <a:bodyPr wrap="square">
            <a:spAutoFit/>
          </a:bodyPr>
          <a:lstStyle/>
          <a:p>
            <a:r>
              <a:rPr sz="3000" b="1">
                <a:solidFill>
                  <a:srgbClr val="FFFFFF"/>
                </a:solidFill>
              </a:rPr>
              <a:t>Use of Contingent Workers · Outsourcing</a:t>
            </a:r>
          </a:p>
        </p:txBody>
      </p:sp>
      <p:sp>
        <p:nvSpPr>
          <p:cNvPr id="4" name="Rectangle 3"/>
          <p:cNvSpPr/>
          <p:nvPr/>
        </p:nvSpPr>
        <p:spPr>
          <a:xfrm>
            <a:off x="822960" y="3703320"/>
            <a:ext cx="1280160" cy="82296"/>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3886200"/>
            <a:ext cx="10515600" cy="2194560"/>
          </a:xfrm>
          <a:prstGeom prst="rect">
            <a:avLst/>
          </a:prstGeom>
          <a:noFill/>
        </p:spPr>
        <p:txBody>
          <a:bodyPr wrap="square">
            <a:spAutoFit/>
          </a:bodyPr>
          <a:lstStyle/>
          <a:p>
            <a:r>
              <a:rPr sz="1800" i="1">
                <a:solidFill>
                  <a:srgbClr val="E8F1F9"/>
                </a:solidFill>
              </a:rPr>
              <a:t>🎣  A US company posts a job. It's filled by a contractor in Bangalore at one-third the cost, a 'temp' on a 3-month renewable contract in New York, and a small Kathmandu firm doing the back-end. Everyone saved money — but who carries the risk, and is anyone treated unfairly?</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E8F0F7"/>
                </a:solidFill>
              </a:rPr>
              <a:t>38 / 94</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S19 · CONCEPT 1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Contingent Workers</a:t>
            </a:r>
          </a:p>
        </p:txBody>
      </p:sp>
      <p:sp>
        <p:nvSpPr>
          <p:cNvPr id="5" name="TextBox 4"/>
          <p:cNvSpPr txBox="1"/>
          <p:nvPr/>
        </p:nvSpPr>
        <p:spPr>
          <a:xfrm>
            <a:off x="640080" y="1572768"/>
            <a:ext cx="5669280" cy="4617720"/>
          </a:xfrm>
          <a:prstGeom prst="rect">
            <a:avLst/>
          </a:prstGeom>
          <a:noFill/>
        </p:spPr>
        <p:txBody>
          <a:bodyPr wrap="square">
            <a:spAutoFit/>
          </a:bodyPr>
          <a:lstStyle/>
          <a:p>
            <a:pPr>
              <a:spcAft>
                <a:spcPts val="1000"/>
              </a:spcAft>
            </a:pPr>
            <a:r>
              <a:rPr sz="1500" b="1">
                <a:solidFill>
                  <a:srgbClr val="0C2B4A"/>
                </a:solidFill>
              </a:rPr>
              <a:t>Contingent workers are hired on a non-permanent basis — contractors, temps, consultants, gig/freelance, and visa-based (e.g. H-1B) staff. Firms use them for flexibility, cost, and scarce skills. The trade-offs: less loyalty, knowledge loss, under-investment in training, and weaker benefits/protections.</a:t>
            </a:r>
          </a:p>
          <a:p>
            <a:pPr>
              <a:spcAft>
                <a:spcPts val="500"/>
              </a:spcAft>
            </a:pPr>
            <a:r>
              <a:rPr sz="1200" b="1">
                <a:solidFill>
                  <a:srgbClr val="185FA5"/>
                </a:solidFill>
              </a:rPr>
              <a:t>HOW IT WORKS</a:t>
            </a:r>
          </a:p>
          <a:p>
            <a:pPr>
              <a:spcAft>
                <a:spcPts val="600"/>
              </a:spcAft>
            </a:pPr>
            <a:r>
              <a:rPr sz="1400">
                <a:solidFill>
                  <a:srgbClr val="1A1A1A"/>
                </a:solidFill>
              </a:rPr>
              <a:t>•  Why firms like them: scale up/down fast, pay only for what's needed, buy rare skills on demand.</a:t>
            </a:r>
          </a:p>
          <a:p>
            <a:pPr>
              <a:spcAft>
                <a:spcPts val="600"/>
              </a:spcAft>
            </a:pPr>
            <a:r>
              <a:rPr sz="1400">
                <a:solidFill>
                  <a:srgbClr val="1A1A1A"/>
                </a:solidFill>
              </a:rPr>
              <a:t>•  The costs: the worker has little security, few benefits, and no paid leave — the risk shifts to them.</a:t>
            </a:r>
          </a:p>
          <a:p>
            <a:pPr>
              <a:spcAft>
                <a:spcPts val="600"/>
              </a:spcAft>
            </a:pPr>
            <a:r>
              <a:rPr sz="1400">
                <a:solidFill>
                  <a:srgbClr val="1A1A1A"/>
                </a:solidFill>
              </a:rPr>
              <a:t>•  The firm loses too: lower commitment, and institutional knowledge walks out when the contract ends.</a:t>
            </a:r>
          </a:p>
          <a:p>
            <a:pPr>
              <a:spcAft>
                <a:spcPts val="600"/>
              </a:spcAft>
            </a:pPr>
            <a:r>
              <a:rPr sz="1400">
                <a:solidFill>
                  <a:srgbClr val="1A1A1A"/>
                </a:solidFill>
              </a:rPr>
              <a:t>•  There's an ethical duty to treat contingent workers fairly, not just as a cheaper input.</a:t>
            </a:r>
          </a:p>
        </p:txBody>
      </p:sp>
      <p:pic>
        <p:nvPicPr>
          <p:cNvPr id="6" name="Picture 5" descr="s19_spectrum.png"/>
          <p:cNvPicPr>
            <a:picLocks noChangeAspect="1"/>
          </p:cNvPicPr>
          <p:nvPr/>
        </p:nvPicPr>
        <p:blipFill>
          <a:blip r:embed="rId2"/>
          <a:stretch>
            <a:fillRect/>
          </a:stretch>
        </p:blipFill>
        <p:spPr>
          <a:xfrm>
            <a:off x="6355080" y="2603028"/>
            <a:ext cx="5532120" cy="2429183"/>
          </a:xfrm>
          <a:prstGeom prst="rect">
            <a:avLst/>
          </a:prstGeom>
        </p:spPr>
      </p:pic>
      <p:sp>
        <p:nvSpPr>
          <p:cNvPr id="7" name="Rectangle 6"/>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Permanent → contractor → freelancer → offshore: security ↓, flexibility ↑.</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39 / 94</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S19 · CONCEPT 1 · COMPARISON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Permanent vs contingent — what each side gains and loses</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3102428"/>
                <a:gridCol w="4082142"/>
                <a:gridCol w="4245428"/>
              </a:tblGrid>
              <a:tr h="630936">
                <a:tc>
                  <a:txBody>
                    <a:bodyPr wrap="square"/>
                    <a:lstStyle/>
                    <a:p>
                      <a:r>
                        <a:rPr sz="1150" b="1">
                          <a:solidFill>
                            <a:srgbClr val="FFFFFF"/>
                          </a:solidFill>
                        </a:rPr>
                        <a:t>Dimension</a:t>
                      </a:r>
                    </a:p>
                  </a:txBody>
                  <a:tcPr anchor="ctr" marL="73152" marR="54864" marT="27432" marB="27432">
                    <a:solidFill>
                      <a:srgbClr val="0C2B4A"/>
                    </a:solidFill>
                  </a:tcPr>
                </a:tc>
                <a:tc>
                  <a:txBody>
                    <a:bodyPr wrap="square"/>
                    <a:lstStyle/>
                    <a:p>
                      <a:r>
                        <a:rPr sz="1150" b="1">
                          <a:solidFill>
                            <a:srgbClr val="FFFFFF"/>
                          </a:solidFill>
                        </a:rPr>
                        <a:t>Permanent employee</a:t>
                      </a:r>
                    </a:p>
                  </a:txBody>
                  <a:tcPr anchor="ctr" marL="73152" marR="54864" marT="27432" marB="27432">
                    <a:solidFill>
                      <a:srgbClr val="0C2B4A"/>
                    </a:solidFill>
                  </a:tcPr>
                </a:tc>
                <a:tc>
                  <a:txBody>
                    <a:bodyPr wrap="square"/>
                    <a:lstStyle/>
                    <a:p>
                      <a:r>
                        <a:rPr sz="1150" b="1">
                          <a:solidFill>
                            <a:srgbClr val="FFFFFF"/>
                          </a:solidFill>
                        </a:rPr>
                        <a:t>Contingent worker</a:t>
                      </a:r>
                    </a:p>
                  </a:txBody>
                  <a:tcPr anchor="ctr" marL="73152" marR="54864" marT="27432" marB="27432">
                    <a:solidFill>
                      <a:srgbClr val="0C2B4A"/>
                    </a:solidFill>
                  </a:tcPr>
                </a:tc>
              </a:tr>
              <a:tr h="630936">
                <a:tc>
                  <a:txBody>
                    <a:bodyPr wrap="square"/>
                    <a:lstStyle/>
                    <a:p>
                      <a:r>
                        <a:rPr sz="1100" b="1">
                          <a:solidFill>
                            <a:srgbClr val="0C2B4A"/>
                          </a:solidFill>
                        </a:rPr>
                        <a:t>Job security</a:t>
                      </a:r>
                    </a:p>
                  </a:txBody>
                  <a:tcPr anchor="ctr" marL="73152" marR="54864" marT="27432" marB="27432">
                    <a:solidFill>
                      <a:srgbClr val="FFFFFF"/>
                    </a:solidFill>
                  </a:tcPr>
                </a:tc>
                <a:tc>
                  <a:txBody>
                    <a:bodyPr wrap="square"/>
                    <a:lstStyle/>
                    <a:p>
                      <a:r>
                        <a:rPr sz="1100">
                          <a:solidFill>
                            <a:srgbClr val="1A1A1A"/>
                          </a:solidFill>
                        </a:rPr>
                        <a:t>High — ongoing role</a:t>
                      </a:r>
                    </a:p>
                  </a:txBody>
                  <a:tcPr anchor="ctr" marL="73152" marR="54864" marT="27432" marB="27432">
                    <a:solidFill>
                      <a:srgbClr val="FFFFFF"/>
                    </a:solidFill>
                  </a:tcPr>
                </a:tc>
                <a:tc>
                  <a:txBody>
                    <a:bodyPr wrap="square"/>
                    <a:lstStyle/>
                    <a:p>
                      <a:r>
                        <a:rPr sz="1100">
                          <a:solidFill>
                            <a:srgbClr val="1A1A1A"/>
                          </a:solidFill>
                        </a:rPr>
                        <a:t>Low — ends with the contract/gig</a:t>
                      </a:r>
                    </a:p>
                  </a:txBody>
                  <a:tcPr anchor="ctr" marL="73152" marR="54864" marT="27432" marB="27432">
                    <a:solidFill>
                      <a:srgbClr val="FFFFFF"/>
                    </a:solidFill>
                  </a:tcPr>
                </a:tc>
              </a:tr>
              <a:tr h="630936">
                <a:tc>
                  <a:txBody>
                    <a:bodyPr wrap="square"/>
                    <a:lstStyle/>
                    <a:p>
                      <a:r>
                        <a:rPr sz="1100" b="1">
                          <a:solidFill>
                            <a:srgbClr val="0C2B4A"/>
                          </a:solidFill>
                        </a:rPr>
                        <a:t>Benefits / paid leave</a:t>
                      </a:r>
                    </a:p>
                  </a:txBody>
                  <a:tcPr anchor="ctr" marL="73152" marR="54864" marT="27432" marB="27432">
                    <a:solidFill>
                      <a:srgbClr val="EEF3F8"/>
                    </a:solidFill>
                  </a:tcPr>
                </a:tc>
                <a:tc>
                  <a:txBody>
                    <a:bodyPr wrap="square"/>
                    <a:lstStyle/>
                    <a:p>
                      <a:r>
                        <a:rPr sz="1100">
                          <a:solidFill>
                            <a:srgbClr val="1A1A1A"/>
                          </a:solidFill>
                        </a:rPr>
                        <a:t>Usually provided</a:t>
                      </a:r>
                    </a:p>
                  </a:txBody>
                  <a:tcPr anchor="ctr" marL="73152" marR="54864" marT="27432" marB="27432">
                    <a:solidFill>
                      <a:srgbClr val="EEF3F8"/>
                    </a:solidFill>
                  </a:tcPr>
                </a:tc>
                <a:tc>
                  <a:txBody>
                    <a:bodyPr wrap="square"/>
                    <a:lstStyle/>
                    <a:p>
                      <a:r>
                        <a:rPr sz="1100">
                          <a:solidFill>
                            <a:srgbClr val="1A1A1A"/>
                          </a:solidFill>
                        </a:rPr>
                        <a:t>Usually none</a:t>
                      </a:r>
                    </a:p>
                  </a:txBody>
                  <a:tcPr anchor="ctr" marL="73152" marR="54864" marT="27432" marB="27432">
                    <a:solidFill>
                      <a:srgbClr val="EEF3F8"/>
                    </a:solidFill>
                  </a:tcPr>
                </a:tc>
              </a:tr>
              <a:tr h="630936">
                <a:tc>
                  <a:txBody>
                    <a:bodyPr wrap="square"/>
                    <a:lstStyle/>
                    <a:p>
                      <a:r>
                        <a:rPr sz="1100" b="1">
                          <a:solidFill>
                            <a:srgbClr val="0C2B4A"/>
                          </a:solidFill>
                        </a:rPr>
                        <a:t>Pay rate</a:t>
                      </a:r>
                    </a:p>
                  </a:txBody>
                  <a:tcPr anchor="ctr" marL="73152" marR="54864" marT="27432" marB="27432">
                    <a:solidFill>
                      <a:srgbClr val="FFFFFF"/>
                    </a:solidFill>
                  </a:tcPr>
                </a:tc>
                <a:tc>
                  <a:txBody>
                    <a:bodyPr wrap="square"/>
                    <a:lstStyle/>
                    <a:p>
                      <a:r>
                        <a:rPr sz="1100">
                          <a:solidFill>
                            <a:srgbClr val="1A1A1A"/>
                          </a:solidFill>
                        </a:rPr>
                        <a:t>Steady salary</a:t>
                      </a:r>
                    </a:p>
                  </a:txBody>
                  <a:tcPr anchor="ctr" marL="73152" marR="54864" marT="27432" marB="27432">
                    <a:solidFill>
                      <a:srgbClr val="FFFFFF"/>
                    </a:solidFill>
                  </a:tcPr>
                </a:tc>
                <a:tc>
                  <a:txBody>
                    <a:bodyPr wrap="square"/>
                    <a:lstStyle/>
                    <a:p>
                      <a:r>
                        <a:rPr sz="1100">
                          <a:solidFill>
                            <a:srgbClr val="1A1A1A"/>
                          </a:solidFill>
                        </a:rPr>
                        <a:t>Often higher hourly, but no safety net</a:t>
                      </a:r>
                    </a:p>
                  </a:txBody>
                  <a:tcPr anchor="ctr" marL="73152" marR="54864" marT="27432" marB="27432">
                    <a:solidFill>
                      <a:srgbClr val="FFFFFF"/>
                    </a:solidFill>
                  </a:tcPr>
                </a:tc>
              </a:tr>
              <a:tr h="630936">
                <a:tc>
                  <a:txBody>
                    <a:bodyPr wrap="square"/>
                    <a:lstStyle/>
                    <a:p>
                      <a:r>
                        <a:rPr sz="1100" b="1">
                          <a:solidFill>
                            <a:srgbClr val="0C2B4A"/>
                          </a:solidFill>
                        </a:rPr>
                        <a:t>Loyalty / commitment</a:t>
                      </a:r>
                    </a:p>
                  </a:txBody>
                  <a:tcPr anchor="ctr" marL="73152" marR="54864" marT="27432" marB="27432">
                    <a:solidFill>
                      <a:srgbClr val="EEF3F8"/>
                    </a:solidFill>
                  </a:tcPr>
                </a:tc>
                <a:tc>
                  <a:txBody>
                    <a:bodyPr wrap="square"/>
                    <a:lstStyle/>
                    <a:p>
                      <a:r>
                        <a:rPr sz="1100">
                          <a:solidFill>
                            <a:srgbClr val="1A1A1A"/>
                          </a:solidFill>
                        </a:rPr>
                        <a:t>Higher</a:t>
                      </a:r>
                    </a:p>
                  </a:txBody>
                  <a:tcPr anchor="ctr" marL="73152" marR="54864" marT="27432" marB="27432">
                    <a:solidFill>
                      <a:srgbClr val="EEF3F8"/>
                    </a:solidFill>
                  </a:tcPr>
                </a:tc>
                <a:tc>
                  <a:txBody>
                    <a:bodyPr wrap="square"/>
                    <a:lstStyle/>
                    <a:p>
                      <a:r>
                        <a:rPr sz="1100">
                          <a:solidFill>
                            <a:srgbClr val="1A1A1A"/>
                          </a:solidFill>
                        </a:rPr>
                        <a:t>Lower — no long-term stake</a:t>
                      </a:r>
                    </a:p>
                  </a:txBody>
                  <a:tcPr anchor="ctr" marL="73152" marR="54864" marT="27432" marB="27432">
                    <a:solidFill>
                      <a:srgbClr val="EEF3F8"/>
                    </a:solidFill>
                  </a:tcPr>
                </a:tc>
              </a:tr>
              <a:tr h="630936">
                <a:tc>
                  <a:txBody>
                    <a:bodyPr wrap="square"/>
                    <a:lstStyle/>
                    <a:p>
                      <a:r>
                        <a:rPr sz="1100" b="1">
                          <a:solidFill>
                            <a:srgbClr val="0C2B4A"/>
                          </a:solidFill>
                        </a:rPr>
                        <a:t>Institutional knowledge</a:t>
                      </a:r>
                    </a:p>
                  </a:txBody>
                  <a:tcPr anchor="ctr" marL="73152" marR="54864" marT="27432" marB="27432">
                    <a:solidFill>
                      <a:srgbClr val="FFFFFF"/>
                    </a:solidFill>
                  </a:tcPr>
                </a:tc>
                <a:tc>
                  <a:txBody>
                    <a:bodyPr wrap="square"/>
                    <a:lstStyle/>
                    <a:p>
                      <a:r>
                        <a:rPr sz="1100">
                          <a:solidFill>
                            <a:srgbClr val="1A1A1A"/>
                          </a:solidFill>
                        </a:rPr>
                        <a:t>Retained</a:t>
                      </a:r>
                    </a:p>
                  </a:txBody>
                  <a:tcPr anchor="ctr" marL="73152" marR="54864" marT="27432" marB="27432">
                    <a:solidFill>
                      <a:srgbClr val="FFFFFF"/>
                    </a:solidFill>
                  </a:tcPr>
                </a:tc>
                <a:tc>
                  <a:txBody>
                    <a:bodyPr wrap="square"/>
                    <a:lstStyle/>
                    <a:p>
                      <a:r>
                        <a:rPr sz="1100">
                          <a:solidFill>
                            <a:srgbClr val="1A1A1A"/>
                          </a:solidFill>
                        </a:rPr>
                        <a:t>Walks out when the contract ends</a:t>
                      </a:r>
                    </a:p>
                  </a:txBody>
                  <a:tcPr anchor="ctr" marL="73152" marR="54864" marT="27432" marB="27432">
                    <a:solidFill>
                      <a:srgbClr val="FFFFFF"/>
                    </a:solidFill>
                  </a:tcPr>
                </a:tc>
              </a:tr>
              <a:tr h="630936">
                <a:tc>
                  <a:txBody>
                    <a:bodyPr wrap="square"/>
                    <a:lstStyle/>
                    <a:p>
                      <a:r>
                        <a:rPr sz="1100" b="1">
                          <a:solidFill>
                            <a:srgbClr val="0C2B4A"/>
                          </a:solidFill>
                        </a:rPr>
                        <a:t>Who carries the risk</a:t>
                      </a:r>
                    </a:p>
                  </a:txBody>
                  <a:tcPr anchor="ctr" marL="73152" marR="54864" marT="27432" marB="27432">
                    <a:solidFill>
                      <a:srgbClr val="EEF3F8"/>
                    </a:solidFill>
                  </a:tcPr>
                </a:tc>
                <a:tc>
                  <a:txBody>
                    <a:bodyPr wrap="square"/>
                    <a:lstStyle/>
                    <a:p>
                      <a:r>
                        <a:rPr sz="1100">
                          <a:solidFill>
                            <a:srgbClr val="1A1A1A"/>
                          </a:solidFill>
                        </a:rPr>
                        <a:t>Shared with employer</a:t>
                      </a:r>
                    </a:p>
                  </a:txBody>
                  <a:tcPr anchor="ctr" marL="73152" marR="54864" marT="27432" marB="27432">
                    <a:solidFill>
                      <a:srgbClr val="EEF3F8"/>
                    </a:solidFill>
                  </a:tcPr>
                </a:tc>
                <a:tc>
                  <a:txBody>
                    <a:bodyPr wrap="square"/>
                    <a:lstStyle/>
                    <a:p>
                      <a:r>
                        <a:rPr sz="1100">
                          <a:solidFill>
                            <a:srgbClr val="1A1A1A"/>
                          </a:solidFill>
                        </a:rPr>
                        <a:t>Mostly the worker</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The model shifts risk from the firm to the worker. That shift is the ethical heart of the debate — flexibility for the firm, insecurity for the person.</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40 / 94</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S19 · CONCEPT 1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Contingent Workers</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Many Nepali developers work as remote contractors or freelancers (Upwork, Fiverr, or contract-to-a-foreign-firm): the income is flexible and often good by local standards, but there's no job security, no benefits, no paid leave, and no protection if the client vanishes. The flexibility the client enjoys is the insecurity the worker absorbs.</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"Contractors are cheaper, so a firm should always use them." The hidden costs bite: lost institutional knowledge, lower commitment, constant re-hiring/onboarding, and an ethical duty to treat contingent workers fairly. 'Cheaper per hour' is not 'cheaper overall', and it externalises risk onto people.</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Contingent workers are hired non-permanently (contractors, temps, consultants, gig/freelance, visa-based). Firms use them for flexibility, cost, and scarce skills, but the model shifts risk to the worker (weak security, few benefits) and costs the firm loyalty and institutional knowledge. There is an ethical duty to treat them fairly, not merely as a cheaper input.</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contingent workers · flexibility vs security · hidden costs · lost institutional knowledge · fair treatment</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41 / 94</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S19 · CONCEPT 1 · CONCRETE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Contingent-work situations Nepali developers actually face</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4114799"/>
                <a:gridCol w="3962399"/>
                <a:gridCol w="3352800"/>
              </a:tblGrid>
              <a:tr h="630936">
                <a:tc>
                  <a:txBody>
                    <a:bodyPr wrap="square"/>
                    <a:lstStyle/>
                    <a:p>
                      <a:r>
                        <a:rPr sz="1150" b="1">
                          <a:solidFill>
                            <a:srgbClr val="FFFFFF"/>
                          </a:solidFill>
                        </a:rPr>
                        <a:t>Situation (Nepal)</a:t>
                      </a:r>
                    </a:p>
                  </a:txBody>
                  <a:tcPr anchor="ctr" marL="73152" marR="54864" marT="27432" marB="27432">
                    <a:solidFill>
                      <a:srgbClr val="0C2B4A"/>
                    </a:solidFill>
                  </a:tcPr>
                </a:tc>
                <a:tc>
                  <a:txBody>
                    <a:bodyPr wrap="square"/>
                    <a:lstStyle/>
                    <a:p>
                      <a:r>
                        <a:rPr sz="1150" b="1">
                          <a:solidFill>
                            <a:srgbClr val="FFFFFF"/>
                          </a:solidFill>
                        </a:rPr>
                        <a:t>What the worker gains / loses</a:t>
                      </a:r>
                    </a:p>
                  </a:txBody>
                  <a:tcPr anchor="ctr" marL="73152" marR="54864" marT="27432" marB="27432">
                    <a:solidFill>
                      <a:srgbClr val="0C2B4A"/>
                    </a:solidFill>
                  </a:tcPr>
                </a:tc>
                <a:tc>
                  <a:txBody>
                    <a:bodyPr wrap="square"/>
                    <a:lstStyle/>
                    <a:p>
                      <a:r>
                        <a:rPr sz="1150" b="1">
                          <a:solidFill>
                            <a:srgbClr val="FFFFFF"/>
                          </a:solidFill>
                        </a:rPr>
                        <a:t>Verdict</a:t>
                      </a:r>
                    </a:p>
                  </a:txBody>
                  <a:tcPr anchor="ctr" marL="73152" marR="54864" marT="27432" marB="27432">
                    <a:solidFill>
                      <a:srgbClr val="0C2B4A"/>
                    </a:solidFill>
                  </a:tcPr>
                </a:tc>
              </a:tr>
              <a:tr h="630936">
                <a:tc>
                  <a:txBody>
                    <a:bodyPr wrap="square"/>
                    <a:lstStyle/>
                    <a:p>
                      <a:r>
                        <a:rPr sz="1100" b="1">
                          <a:solidFill>
                            <a:srgbClr val="0C2B4A"/>
                          </a:solidFill>
                        </a:rPr>
                        <a:t>Kathmandu dev on Upwork paid per project</a:t>
                      </a:r>
                    </a:p>
                  </a:txBody>
                  <a:tcPr anchor="ctr" marL="73152" marR="54864" marT="27432" marB="27432">
                    <a:solidFill>
                      <a:srgbClr val="FFFFFF"/>
                    </a:solidFill>
                  </a:tcPr>
                </a:tc>
                <a:tc>
                  <a:txBody>
                    <a:bodyPr wrap="square"/>
                    <a:lstStyle/>
                    <a:p>
                      <a:r>
                        <a:rPr sz="1100">
                          <a:solidFill>
                            <a:srgbClr val="1A1A1A"/>
                          </a:solidFill>
                        </a:rPr>
                        <a:t>Good hourly rate, zero job security</a:t>
                      </a:r>
                    </a:p>
                  </a:txBody>
                  <a:tcPr anchor="ctr" marL="73152" marR="54864" marT="27432" marB="27432">
                    <a:solidFill>
                      <a:srgbClr val="FFFFFF"/>
                    </a:solidFill>
                  </a:tcPr>
                </a:tc>
                <a:tc>
                  <a:txBody>
                    <a:bodyPr wrap="square"/>
                    <a:lstStyle/>
                    <a:p>
                      <a:r>
                        <a:rPr sz="1100">
                          <a:solidFill>
                            <a:srgbClr val="1A1A1A"/>
                          </a:solidFill>
                        </a:rPr>
                        <a:t>The risk sits entirely on the worker</a:t>
                      </a:r>
                    </a:p>
                  </a:txBody>
                  <a:tcPr anchor="ctr" marL="73152" marR="54864" marT="27432" marB="27432">
                    <a:solidFill>
                      <a:srgbClr val="FFFFFF"/>
                    </a:solidFill>
                  </a:tcPr>
                </a:tc>
              </a:tr>
              <a:tr h="630936">
                <a:tc>
                  <a:txBody>
                    <a:bodyPr wrap="square"/>
                    <a:lstStyle/>
                    <a:p>
                      <a:r>
                        <a:rPr sz="1100" b="1">
                          <a:solidFill>
                            <a:srgbClr val="0C2B4A"/>
                          </a:solidFill>
                        </a:rPr>
                        <a:t>3-month renewable contract, no benefits</a:t>
                      </a:r>
                    </a:p>
                  </a:txBody>
                  <a:tcPr anchor="ctr" marL="73152" marR="54864" marT="27432" marB="27432">
                    <a:solidFill>
                      <a:srgbClr val="EEF3F8"/>
                    </a:solidFill>
                  </a:tcPr>
                </a:tc>
                <a:tc>
                  <a:txBody>
                    <a:bodyPr wrap="square"/>
                    <a:lstStyle/>
                    <a:p>
                      <a:r>
                        <a:rPr sz="1100">
                          <a:solidFill>
                            <a:srgbClr val="1A1A1A"/>
                          </a:solidFill>
                        </a:rPr>
                        <a:t>Flexible, but no paid leave or insurance</a:t>
                      </a:r>
                    </a:p>
                  </a:txBody>
                  <a:tcPr anchor="ctr" marL="73152" marR="54864" marT="27432" marB="27432">
                    <a:solidFill>
                      <a:srgbClr val="EEF3F8"/>
                    </a:solidFill>
                  </a:tcPr>
                </a:tc>
                <a:tc>
                  <a:txBody>
                    <a:bodyPr wrap="square"/>
                    <a:lstStyle/>
                    <a:p>
                      <a:r>
                        <a:rPr sz="1100">
                          <a:solidFill>
                            <a:srgbClr val="1A1A1A"/>
                          </a:solidFill>
                        </a:rPr>
                        <a:t>Firm's flexibility = worker's insecurity</a:t>
                      </a:r>
                    </a:p>
                  </a:txBody>
                  <a:tcPr anchor="ctr" marL="73152" marR="54864" marT="27432" marB="27432">
                    <a:solidFill>
                      <a:srgbClr val="EEF3F8"/>
                    </a:solidFill>
                  </a:tcPr>
                </a:tc>
              </a:tr>
              <a:tr h="630936">
                <a:tc>
                  <a:txBody>
                    <a:bodyPr wrap="square"/>
                    <a:lstStyle/>
                    <a:p>
                      <a:r>
                        <a:rPr sz="1100" b="1">
                          <a:solidFill>
                            <a:srgbClr val="0C2B4A"/>
                          </a:solidFill>
                        </a:rPr>
                        <a:t>Fiverr freelancer whose client vanishes mid-job</a:t>
                      </a:r>
                    </a:p>
                  </a:txBody>
                  <a:tcPr anchor="ctr" marL="73152" marR="54864" marT="27432" marB="27432">
                    <a:solidFill>
                      <a:srgbClr val="FFFFFF"/>
                    </a:solidFill>
                  </a:tcPr>
                </a:tc>
                <a:tc>
                  <a:txBody>
                    <a:bodyPr wrap="square"/>
                    <a:lstStyle/>
                    <a:p>
                      <a:r>
                        <a:rPr sz="1100">
                          <a:solidFill>
                            <a:srgbClr val="1A1A1A"/>
                          </a:solidFill>
                        </a:rPr>
                        <a:t>Fast income, no protection if unpaid</a:t>
                      </a:r>
                    </a:p>
                  </a:txBody>
                  <a:tcPr anchor="ctr" marL="73152" marR="54864" marT="27432" marB="27432">
                    <a:solidFill>
                      <a:srgbClr val="FFFFFF"/>
                    </a:solidFill>
                  </a:tcPr>
                </a:tc>
                <a:tc>
                  <a:txBody>
                    <a:bodyPr wrap="square"/>
                    <a:lstStyle/>
                    <a:p>
                      <a:r>
                        <a:rPr sz="1100">
                          <a:solidFill>
                            <a:srgbClr val="1A1A1A"/>
                          </a:solidFill>
                        </a:rPr>
                        <a:t>No safety net when the client disappears</a:t>
                      </a:r>
                    </a:p>
                  </a:txBody>
                  <a:tcPr anchor="ctr" marL="73152" marR="54864" marT="27432" marB="27432">
                    <a:solidFill>
                      <a:srgbClr val="FFFFFF"/>
                    </a:solidFill>
                  </a:tcPr>
                </a:tc>
              </a:tr>
              <a:tr h="630936">
                <a:tc>
                  <a:txBody>
                    <a:bodyPr wrap="square"/>
                    <a:lstStyle/>
                    <a:p>
                      <a:r>
                        <a:rPr sz="1100" b="1">
                          <a:solidFill>
                            <a:srgbClr val="0C2B4A"/>
                          </a:solidFill>
                        </a:rPr>
                        <a:t>Foreign firm's contractor, no onboarding invested</a:t>
                      </a:r>
                    </a:p>
                  </a:txBody>
                  <a:tcPr anchor="ctr" marL="73152" marR="54864" marT="27432" marB="27432">
                    <a:solidFill>
                      <a:srgbClr val="EEF3F8"/>
                    </a:solidFill>
                  </a:tcPr>
                </a:tc>
                <a:tc>
                  <a:txBody>
                    <a:bodyPr wrap="square"/>
                    <a:lstStyle/>
                    <a:p>
                      <a:r>
                        <a:rPr sz="1100">
                          <a:solidFill>
                            <a:srgbClr val="1A1A1A"/>
                          </a:solidFill>
                        </a:rPr>
                        <a:t>Rare-skill pay, little training</a:t>
                      </a:r>
                    </a:p>
                  </a:txBody>
                  <a:tcPr anchor="ctr" marL="73152" marR="54864" marT="27432" marB="27432">
                    <a:solidFill>
                      <a:srgbClr val="EEF3F8"/>
                    </a:solidFill>
                  </a:tcPr>
                </a:tc>
                <a:tc>
                  <a:txBody>
                    <a:bodyPr wrap="square"/>
                    <a:lstStyle/>
                    <a:p>
                      <a:r>
                        <a:rPr sz="1100">
                          <a:solidFill>
                            <a:srgbClr val="1A1A1A"/>
                          </a:solidFill>
                        </a:rPr>
                        <a:t>Firm under-invests in the temporary worker</a:t>
                      </a:r>
                    </a:p>
                  </a:txBody>
                  <a:tcPr anchor="ctr" marL="73152" marR="54864" marT="27432" marB="27432">
                    <a:solidFill>
                      <a:srgbClr val="EEF3F8"/>
                    </a:solidFill>
                  </a:tcPr>
                </a:tc>
              </a:tr>
              <a:tr h="630936">
                <a:tc>
                  <a:txBody>
                    <a:bodyPr wrap="square"/>
                    <a:lstStyle/>
                    <a:p>
                      <a:r>
                        <a:rPr sz="1100" b="1">
                          <a:solidFill>
                            <a:srgbClr val="0C2B4A"/>
                          </a:solidFill>
                        </a:rPr>
                        <a:t>Consultant hired for a one-off migration</a:t>
                      </a:r>
                    </a:p>
                  </a:txBody>
                  <a:tcPr anchor="ctr" marL="73152" marR="54864" marT="27432" marB="27432">
                    <a:solidFill>
                      <a:srgbClr val="FFFFFF"/>
                    </a:solidFill>
                  </a:tcPr>
                </a:tc>
                <a:tc>
                  <a:txBody>
                    <a:bodyPr wrap="square"/>
                    <a:lstStyle/>
                    <a:p>
                      <a:r>
                        <a:rPr sz="1100">
                          <a:solidFill>
                            <a:srgbClr val="1A1A1A"/>
                          </a:solidFill>
                        </a:rPr>
                        <a:t>Scarce skill on demand</a:t>
                      </a:r>
                    </a:p>
                  </a:txBody>
                  <a:tcPr anchor="ctr" marL="73152" marR="54864" marT="27432" marB="27432">
                    <a:solidFill>
                      <a:srgbClr val="FFFFFF"/>
                    </a:solidFill>
                  </a:tcPr>
                </a:tc>
                <a:tc>
                  <a:txBody>
                    <a:bodyPr wrap="square"/>
                    <a:lstStyle/>
                    <a:p>
                      <a:r>
                        <a:rPr sz="1100">
                          <a:solidFill>
                            <a:srgbClr val="1A1A1A"/>
                          </a:solidFill>
                        </a:rPr>
                        <a:t>Institutional knowledge walks out when it ends</a:t>
                      </a:r>
                    </a:p>
                  </a:txBody>
                  <a:tcPr anchor="ctr" marL="73152" marR="54864" marT="27432" marB="27432">
                    <a:solidFill>
                      <a:srgbClr val="FFFFFF"/>
                    </a:solidFill>
                  </a:tcPr>
                </a:tc>
              </a:tr>
              <a:tr h="630936">
                <a:tc>
                  <a:txBody>
                    <a:bodyPr wrap="square"/>
                    <a:lstStyle/>
                    <a:p>
                      <a:r>
                        <a:rPr sz="1100" b="1">
                          <a:solidFill>
                            <a:srgbClr val="0C2B4A"/>
                          </a:solidFill>
                        </a:rPr>
                        <a:t>Gig developer juggling several small clients</a:t>
                      </a:r>
                    </a:p>
                  </a:txBody>
                  <a:tcPr anchor="ctr" marL="73152" marR="54864" marT="27432" marB="27432">
                    <a:solidFill>
                      <a:srgbClr val="EEF3F8"/>
                    </a:solidFill>
                  </a:tcPr>
                </a:tc>
                <a:tc>
                  <a:txBody>
                    <a:bodyPr wrap="square"/>
                    <a:lstStyle/>
                    <a:p>
                      <a:r>
                        <a:rPr sz="1100">
                          <a:solidFill>
                            <a:srgbClr val="1A1A1A"/>
                          </a:solidFill>
                        </a:rPr>
                        <a:t>Autonomy, but unstable monthly income</a:t>
                      </a:r>
                    </a:p>
                  </a:txBody>
                  <a:tcPr anchor="ctr" marL="73152" marR="54864" marT="27432" marB="27432">
                    <a:solidFill>
                      <a:srgbClr val="EEF3F8"/>
                    </a:solidFill>
                  </a:tcPr>
                </a:tc>
                <a:tc>
                  <a:txBody>
                    <a:bodyPr wrap="square"/>
                    <a:lstStyle/>
                    <a:p>
                      <a:r>
                        <a:rPr sz="1100">
                          <a:solidFill>
                            <a:srgbClr val="1A1A1A"/>
                          </a:solidFill>
                        </a:rPr>
                        <a:t>Income volatility is the hidden cost</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The model shifts risk from the firm to the person. 'Cheaper per hour' is not 'cheaper overall' — lost knowledge, low commitment, and constant re-hiring bite, alongside an ethical duty to treat contingent workers fairly.</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42 / 94</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S19 · CONCEPT 2 · [THEORY] [EXAMPLE]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Outsourcing &amp; Offshore Outsourcing</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Outsourcing is contracting work to an outside firm; offshoring is doing so in another (often lower-cost) country. Benefits: cost savings, 24/7 follow-the-sun work, access to talent. Risks: quality control, communication/timezone gaps, data-security and confidentiality across borders, and dependency.</a:t>
            </a:r>
          </a:p>
          <a:p>
            <a:pPr>
              <a:spcAft>
                <a:spcPts val="500"/>
              </a:spcAft>
            </a:pPr>
            <a:r>
              <a:rPr sz="1200" b="1">
                <a:solidFill>
                  <a:srgbClr val="185FA5"/>
                </a:solidFill>
              </a:rPr>
              <a:t>HOW IT WORKS</a:t>
            </a:r>
          </a:p>
          <a:p>
            <a:pPr>
              <a:spcAft>
                <a:spcPts val="600"/>
              </a:spcAft>
            </a:pPr>
            <a:r>
              <a:rPr sz="1400">
                <a:solidFill>
                  <a:srgbClr val="1A1A1A"/>
                </a:solidFill>
              </a:rPr>
              <a:t>•  Nepal is an outsourcing DESTINATION: Kathmandu IT/BPO/KPO firms serve Western clients — the 'IT export' story.</a:t>
            </a:r>
          </a:p>
          <a:p>
            <a:pPr>
              <a:spcAft>
                <a:spcPts val="600"/>
              </a:spcAft>
            </a:pPr>
            <a:r>
              <a:rPr sz="1400">
                <a:solidFill>
                  <a:srgbClr val="1A1A1A"/>
                </a:solidFill>
              </a:rPr>
              <a:t>•  Follow-the-sun: work continues across time zones, but coordination and quality control get harder.</a:t>
            </a:r>
          </a:p>
          <a:p>
            <a:pPr>
              <a:spcAft>
                <a:spcPts val="600"/>
              </a:spcAft>
            </a:pPr>
            <a:r>
              <a:rPr sz="1400">
                <a:solidFill>
                  <a:srgbClr val="1A1A1A"/>
                </a:solidFill>
              </a:rPr>
              <a:t>•  The sharp risk is data: sending customer data to a country with weaker data-protection law.</a:t>
            </a:r>
          </a:p>
          <a:p>
            <a:pPr>
              <a:spcAft>
                <a:spcPts val="600"/>
              </a:spcAft>
            </a:pPr>
            <a:r>
              <a:rPr sz="1400">
                <a:solidFill>
                  <a:srgbClr val="1A1A1A"/>
                </a:solidFill>
              </a:rPr>
              <a:t>•  Over-dependency on one vendor or client is itself a business risk.</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Offshoring trades cost for control — and sends your data across a legal border.</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43 / 94</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S19 · CONCEPT 2 · SCAFFOLDING</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Offshore outsourcing — benefits vs risks</a:t>
            </a:r>
          </a:p>
        </p:txBody>
      </p:sp>
      <p:graphicFrame>
        <p:nvGraphicFramePr>
          <p:cNvPr id="5" name="Table 4"/>
          <p:cNvGraphicFramePr>
            <a:graphicFrameLocks noGrp="1"/>
          </p:cNvGraphicFramePr>
          <p:nvPr/>
        </p:nvGraphicFramePr>
        <p:xfrm>
          <a:off x="384048" y="1572768"/>
          <a:ext cx="11430000" cy="4416552"/>
        </p:xfrm>
        <a:graphic>
          <a:graphicData uri="http://schemas.openxmlformats.org/drawingml/2006/table">
            <a:tbl>
              <a:tblPr>
                <a:tableStyleId>{5C22544A-7EE6-4342-B048-85BDC9FD1C3A}</a:tableStyleId>
              </a:tblPr>
              <a:tblGrid>
                <a:gridCol w="5715000"/>
                <a:gridCol w="5715000"/>
              </a:tblGrid>
              <a:tr h="736092">
                <a:tc>
                  <a:txBody>
                    <a:bodyPr wrap="square"/>
                    <a:lstStyle/>
                    <a:p>
                      <a:r>
                        <a:rPr sz="1250" b="1">
                          <a:solidFill>
                            <a:srgbClr val="FFFFFF"/>
                          </a:solidFill>
                        </a:rPr>
                        <a:t>Benefit</a:t>
                      </a:r>
                    </a:p>
                  </a:txBody>
                  <a:tcPr anchor="ctr" marL="73152" marR="54864" marT="27432" marB="27432">
                    <a:solidFill>
                      <a:srgbClr val="0C2B4A"/>
                    </a:solidFill>
                  </a:tcPr>
                </a:tc>
                <a:tc>
                  <a:txBody>
                    <a:bodyPr wrap="square"/>
                    <a:lstStyle/>
                    <a:p>
                      <a:r>
                        <a:rPr sz="1250" b="1">
                          <a:solidFill>
                            <a:srgbClr val="FFFFFF"/>
                          </a:solidFill>
                        </a:rPr>
                        <a:t>Matching risk</a:t>
                      </a:r>
                    </a:p>
                  </a:txBody>
                  <a:tcPr anchor="ctr" marL="73152" marR="54864" marT="27432" marB="27432">
                    <a:solidFill>
                      <a:srgbClr val="0C2B4A"/>
                    </a:solidFill>
                  </a:tcPr>
                </a:tc>
              </a:tr>
              <a:tr h="736092">
                <a:tc>
                  <a:txBody>
                    <a:bodyPr wrap="square"/>
                    <a:lstStyle/>
                    <a:p>
                      <a:r>
                        <a:rPr sz="1200" b="1">
                          <a:solidFill>
                            <a:srgbClr val="0C2B4A"/>
                          </a:solidFill>
                        </a:rPr>
                        <a:t>Lower cost</a:t>
                      </a:r>
                    </a:p>
                  </a:txBody>
                  <a:tcPr anchor="ctr" marL="73152" marR="54864" marT="27432" marB="27432">
                    <a:solidFill>
                      <a:srgbClr val="FFFFFF"/>
                    </a:solidFill>
                  </a:tcPr>
                </a:tc>
                <a:tc>
                  <a:txBody>
                    <a:bodyPr wrap="square"/>
                    <a:lstStyle/>
                    <a:p>
                      <a:r>
                        <a:rPr sz="1200">
                          <a:solidFill>
                            <a:srgbClr val="1A1A1A"/>
                          </a:solidFill>
                        </a:rPr>
                        <a:t>Quality control is harder at a distance</a:t>
                      </a:r>
                    </a:p>
                  </a:txBody>
                  <a:tcPr anchor="ctr" marL="73152" marR="54864" marT="27432" marB="27432">
                    <a:solidFill>
                      <a:srgbClr val="FFFFFF"/>
                    </a:solidFill>
                  </a:tcPr>
                </a:tc>
              </a:tr>
              <a:tr h="736092">
                <a:tc>
                  <a:txBody>
                    <a:bodyPr wrap="square"/>
                    <a:lstStyle/>
                    <a:p>
                      <a:r>
                        <a:rPr sz="1200" b="1">
                          <a:solidFill>
                            <a:srgbClr val="0C2B4A"/>
                          </a:solidFill>
                        </a:rPr>
                        <a:t>24/7 follow-the-sun work</a:t>
                      </a:r>
                    </a:p>
                  </a:txBody>
                  <a:tcPr anchor="ctr" marL="73152" marR="54864" marT="27432" marB="27432">
                    <a:solidFill>
                      <a:srgbClr val="EEF3F8"/>
                    </a:solidFill>
                  </a:tcPr>
                </a:tc>
                <a:tc>
                  <a:txBody>
                    <a:bodyPr wrap="square"/>
                    <a:lstStyle/>
                    <a:p>
                      <a:r>
                        <a:rPr sz="1200">
                          <a:solidFill>
                            <a:srgbClr val="1A1A1A"/>
                          </a:solidFill>
                        </a:rPr>
                        <a:t>Timezone &amp; communication gaps</a:t>
                      </a:r>
                    </a:p>
                  </a:txBody>
                  <a:tcPr anchor="ctr" marL="73152" marR="54864" marT="27432" marB="27432">
                    <a:solidFill>
                      <a:srgbClr val="EEF3F8"/>
                    </a:solidFill>
                  </a:tcPr>
                </a:tc>
              </a:tr>
              <a:tr h="736092">
                <a:tc>
                  <a:txBody>
                    <a:bodyPr wrap="square"/>
                    <a:lstStyle/>
                    <a:p>
                      <a:r>
                        <a:rPr sz="1200" b="1">
                          <a:solidFill>
                            <a:srgbClr val="0C2B4A"/>
                          </a:solidFill>
                        </a:rPr>
                        <a:t>Access to global talent</a:t>
                      </a:r>
                    </a:p>
                  </a:txBody>
                  <a:tcPr anchor="ctr" marL="73152" marR="54864" marT="27432" marB="27432">
                    <a:solidFill>
                      <a:srgbClr val="FFFFFF"/>
                    </a:solidFill>
                  </a:tcPr>
                </a:tc>
                <a:tc>
                  <a:txBody>
                    <a:bodyPr wrap="square"/>
                    <a:lstStyle/>
                    <a:p>
                      <a:r>
                        <a:rPr sz="1200">
                          <a:solidFill>
                            <a:srgbClr val="1A1A1A"/>
                          </a:solidFill>
                        </a:rPr>
                        <a:t>Data security/confidentiality across borders</a:t>
                      </a:r>
                    </a:p>
                  </a:txBody>
                  <a:tcPr anchor="ctr" marL="73152" marR="54864" marT="27432" marB="27432">
                    <a:solidFill>
                      <a:srgbClr val="FFFFFF"/>
                    </a:solidFill>
                  </a:tcPr>
                </a:tc>
              </a:tr>
              <a:tr h="736092">
                <a:tc>
                  <a:txBody>
                    <a:bodyPr wrap="square"/>
                    <a:lstStyle/>
                    <a:p>
                      <a:r>
                        <a:rPr sz="1200" b="1">
                          <a:solidFill>
                            <a:srgbClr val="0C2B4A"/>
                          </a:solidFill>
                        </a:rPr>
                        <a:t>Scale up/down quickly</a:t>
                      </a:r>
                    </a:p>
                  </a:txBody>
                  <a:tcPr anchor="ctr" marL="73152" marR="54864" marT="27432" marB="27432">
                    <a:solidFill>
                      <a:srgbClr val="EEF3F8"/>
                    </a:solidFill>
                  </a:tcPr>
                </a:tc>
                <a:tc>
                  <a:txBody>
                    <a:bodyPr wrap="square"/>
                    <a:lstStyle/>
                    <a:p>
                      <a:r>
                        <a:rPr sz="1200">
                          <a:solidFill>
                            <a:srgbClr val="1A1A1A"/>
                          </a:solidFill>
                        </a:rPr>
                        <a:t>Dependency on one vendor/client</a:t>
                      </a:r>
                    </a:p>
                  </a:txBody>
                  <a:tcPr anchor="ctr" marL="73152" marR="54864" marT="27432" marB="27432">
                    <a:solidFill>
                      <a:srgbClr val="EEF3F8"/>
                    </a:solidFill>
                  </a:tcPr>
                </a:tc>
              </a:tr>
              <a:tr h="736092">
                <a:tc>
                  <a:txBody>
                    <a:bodyPr wrap="square"/>
                    <a:lstStyle/>
                    <a:p>
                      <a:r>
                        <a:rPr sz="1200" b="1">
                          <a:solidFill>
                            <a:srgbClr val="0C2B4A"/>
                          </a:solidFill>
                        </a:rPr>
                        <a:t>Jobs &amp; forex for Nepal</a:t>
                      </a:r>
                    </a:p>
                  </a:txBody>
                  <a:tcPr anchor="ctr" marL="73152" marR="54864" marT="27432" marB="27432">
                    <a:solidFill>
                      <a:srgbClr val="FFFFFF"/>
                    </a:solidFill>
                  </a:tcPr>
                </a:tc>
                <a:tc>
                  <a:txBody>
                    <a:bodyPr wrap="square"/>
                    <a:lstStyle/>
                    <a:p>
                      <a:r>
                        <a:rPr sz="1200">
                          <a:solidFill>
                            <a:srgbClr val="1A1A1A"/>
                          </a:solidFill>
                        </a:rPr>
                        <a:t>Night shifts, burnout in BPOs</a:t>
                      </a:r>
                    </a:p>
                  </a:txBody>
                  <a:tcPr anchor="ctr" marL="73152" marR="54864" marT="27432" marB="27432">
                    <a:solidFill>
                      <a:srgbClr val="FFFFFF"/>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Every benefit has a matching risk. The cross-border DATA risk is the sharpest: obligations to protect customer data don't stop at the border, even if the destination's law is weaker.</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44 / 94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S19 · CONCEPT 2 · [THEORY] [EXAMPLE]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Outsourcing &amp; Offshore Outsourcing</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A Western client offshores customer data to a Kathmandu BPO operating under weaker data-protection law. Ethical and security obligations cross the border WITH that data: the client still owes its customers protection, and the Nepali firm inherits a duty to handle KYC/personal data as carefully as if it were local — regardless of what the weaker local law strictly requires.</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"Once we offshore it, the risk and responsibility are the vendor's problem." Responsibility travels with the data. If a Kathmandu BPO leaks a Western client's customer data, the client's name and liability are on the line too — outsourcing the work does not outsource the duty of care (echoing S6's client relationship).</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Outsourcing contracts work to an outside firm; offshoring does so in another country for cost, follow-the-sun coverage, and talent — with risks of weaker quality control, timezone/communication gaps, cross-border data-security exposure, and dependency. Nepal is a major destination (IT/BPO/KPO export). Crucially, obligations to protect data cross the border with it.</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outsourcing · offshoring · follow-the-sun · cross-border data risk · Nepal as destination · duty travels with data</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45 / 94</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S19 · CONCEPT 2 · CONCRETE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Offshore-outsourcing cases — what crosses the border with the work</a:t>
            </a:r>
          </a:p>
        </p:txBody>
      </p:sp>
      <p:graphicFrame>
        <p:nvGraphicFramePr>
          <p:cNvPr id="5" name="Table 4"/>
          <p:cNvGraphicFramePr>
            <a:graphicFrameLocks noGrp="1"/>
          </p:cNvGraphicFramePr>
          <p:nvPr/>
        </p:nvGraphicFramePr>
        <p:xfrm>
          <a:off x="384048" y="1572768"/>
          <a:ext cx="11429999" cy="4416552"/>
        </p:xfrm>
        <a:graphic>
          <a:graphicData uri="http://schemas.openxmlformats.org/drawingml/2006/table">
            <a:tbl>
              <a:tblPr>
                <a:tableStyleId>{5C22544A-7EE6-4342-B048-85BDC9FD1C3A}</a:tableStyleId>
              </a:tblPr>
              <a:tblGrid>
                <a:gridCol w="3910263"/>
                <a:gridCol w="3609473"/>
                <a:gridCol w="3910263"/>
              </a:tblGrid>
              <a:tr h="630936">
                <a:tc>
                  <a:txBody>
                    <a:bodyPr wrap="square"/>
                    <a:lstStyle/>
                    <a:p>
                      <a:r>
                        <a:rPr sz="1150" b="1">
                          <a:solidFill>
                            <a:srgbClr val="FFFFFF"/>
                          </a:solidFill>
                        </a:rPr>
                        <a:t>Offshore-outsourcing case</a:t>
                      </a:r>
                    </a:p>
                  </a:txBody>
                  <a:tcPr anchor="ctr" marL="73152" marR="54864" marT="27432" marB="27432">
                    <a:solidFill>
                      <a:srgbClr val="0C2B4A"/>
                    </a:solidFill>
                  </a:tcPr>
                </a:tc>
                <a:tc>
                  <a:txBody>
                    <a:bodyPr wrap="square"/>
                    <a:lstStyle/>
                    <a:p>
                      <a:r>
                        <a:rPr sz="1150" b="1">
                          <a:solidFill>
                            <a:srgbClr val="FFFFFF"/>
                          </a:solidFill>
                        </a:rPr>
                        <a:t>What crosses the border with it</a:t>
                      </a:r>
                    </a:p>
                  </a:txBody>
                  <a:tcPr anchor="ctr" marL="73152" marR="54864" marT="27432" marB="27432">
                    <a:solidFill>
                      <a:srgbClr val="0C2B4A"/>
                    </a:solidFill>
                  </a:tcPr>
                </a:tc>
                <a:tc>
                  <a:txBody>
                    <a:bodyPr wrap="square"/>
                    <a:lstStyle/>
                    <a:p>
                      <a:r>
                        <a:rPr sz="1150" b="1">
                          <a:solidFill>
                            <a:srgbClr val="FFFFFF"/>
                          </a:solidFill>
                        </a:rPr>
                        <a:t>Verdict / duty</a:t>
                      </a:r>
                    </a:p>
                  </a:txBody>
                  <a:tcPr anchor="ctr" marL="73152" marR="54864" marT="27432" marB="27432">
                    <a:solidFill>
                      <a:srgbClr val="0C2B4A"/>
                    </a:solidFill>
                  </a:tcPr>
                </a:tc>
              </a:tr>
              <a:tr h="630936">
                <a:tc>
                  <a:txBody>
                    <a:bodyPr wrap="square"/>
                    <a:lstStyle/>
                    <a:p>
                      <a:r>
                        <a:rPr sz="1100" b="1">
                          <a:solidFill>
                            <a:srgbClr val="0C2B4A"/>
                          </a:solidFill>
                        </a:rPr>
                        <a:t>US client sends KYC data to a Kathmandu BPO</a:t>
                      </a:r>
                    </a:p>
                  </a:txBody>
                  <a:tcPr anchor="ctr" marL="73152" marR="54864" marT="27432" marB="27432">
                    <a:solidFill>
                      <a:srgbClr val="FFFFFF"/>
                    </a:solidFill>
                  </a:tcPr>
                </a:tc>
                <a:tc>
                  <a:txBody>
                    <a:bodyPr wrap="square"/>
                    <a:lstStyle/>
                    <a:p>
                      <a:r>
                        <a:rPr sz="1100">
                          <a:solidFill>
                            <a:srgbClr val="1A1A1A"/>
                          </a:solidFill>
                        </a:rPr>
                        <a:t>Customer data + the duty of care</a:t>
                      </a:r>
                    </a:p>
                  </a:txBody>
                  <a:tcPr anchor="ctr" marL="73152" marR="54864" marT="27432" marB="27432">
                    <a:solidFill>
                      <a:srgbClr val="FFFFFF"/>
                    </a:solidFill>
                  </a:tcPr>
                </a:tc>
                <a:tc>
                  <a:txBody>
                    <a:bodyPr wrap="square"/>
                    <a:lstStyle/>
                    <a:p>
                      <a:r>
                        <a:rPr sz="1100">
                          <a:solidFill>
                            <a:srgbClr val="1A1A1A"/>
                          </a:solidFill>
                        </a:rPr>
                        <a:t>Client stays liable; the BPO must protect the data</a:t>
                      </a:r>
                    </a:p>
                  </a:txBody>
                  <a:tcPr anchor="ctr" marL="73152" marR="54864" marT="27432" marB="27432">
                    <a:solidFill>
                      <a:srgbClr val="FFFFFF"/>
                    </a:solidFill>
                  </a:tcPr>
                </a:tc>
              </a:tr>
              <a:tr h="630936">
                <a:tc>
                  <a:txBody>
                    <a:bodyPr wrap="square"/>
                    <a:lstStyle/>
                    <a:p>
                      <a:r>
                        <a:rPr sz="1100" b="1">
                          <a:solidFill>
                            <a:srgbClr val="0C2B4A"/>
                          </a:solidFill>
                        </a:rPr>
                        <a:t>Follow-the-sun support across NP/US time zones</a:t>
                      </a:r>
                    </a:p>
                  </a:txBody>
                  <a:tcPr anchor="ctr" marL="73152" marR="54864" marT="27432" marB="27432">
                    <a:solidFill>
                      <a:srgbClr val="EEF3F8"/>
                    </a:solidFill>
                  </a:tcPr>
                </a:tc>
                <a:tc>
                  <a:txBody>
                    <a:bodyPr wrap="square"/>
                    <a:lstStyle/>
                    <a:p>
                      <a:r>
                        <a:rPr sz="1100">
                          <a:solidFill>
                            <a:srgbClr val="1A1A1A"/>
                          </a:solidFill>
                        </a:rPr>
                        <a:t>24/7 coverage + coordination gaps</a:t>
                      </a:r>
                    </a:p>
                  </a:txBody>
                  <a:tcPr anchor="ctr" marL="73152" marR="54864" marT="27432" marB="27432">
                    <a:solidFill>
                      <a:srgbClr val="EEF3F8"/>
                    </a:solidFill>
                  </a:tcPr>
                </a:tc>
                <a:tc>
                  <a:txBody>
                    <a:bodyPr wrap="square"/>
                    <a:lstStyle/>
                    <a:p>
                      <a:r>
                        <a:rPr sz="1100">
                          <a:solidFill>
                            <a:srgbClr val="1A1A1A"/>
                          </a:solidFill>
                        </a:rPr>
                        <a:t>Gain in speed, but a risk to quality control</a:t>
                      </a:r>
                    </a:p>
                  </a:txBody>
                  <a:tcPr anchor="ctr" marL="73152" marR="54864" marT="27432" marB="27432">
                    <a:solidFill>
                      <a:srgbClr val="EEF3F8"/>
                    </a:solidFill>
                  </a:tcPr>
                </a:tc>
              </a:tr>
              <a:tr h="630936">
                <a:tc>
                  <a:txBody>
                    <a:bodyPr wrap="square"/>
                    <a:lstStyle/>
                    <a:p>
                      <a:r>
                        <a:rPr sz="1100" b="1">
                          <a:solidFill>
                            <a:srgbClr val="0C2B4A"/>
                          </a:solidFill>
                        </a:rPr>
                        <a:t>Back-end built by a small Lalitpur firm</a:t>
                      </a:r>
                    </a:p>
                  </a:txBody>
                  <a:tcPr anchor="ctr" marL="73152" marR="54864" marT="27432" marB="27432">
                    <a:solidFill>
                      <a:srgbClr val="FFFFFF"/>
                    </a:solidFill>
                  </a:tcPr>
                </a:tc>
                <a:tc>
                  <a:txBody>
                    <a:bodyPr wrap="square"/>
                    <a:lstStyle/>
                    <a:p>
                      <a:r>
                        <a:rPr sz="1100">
                          <a:solidFill>
                            <a:srgbClr val="1A1A1A"/>
                          </a:solidFill>
                        </a:rPr>
                        <a:t>Cost saving + distance to oversight</a:t>
                      </a:r>
                    </a:p>
                  </a:txBody>
                  <a:tcPr anchor="ctr" marL="73152" marR="54864" marT="27432" marB="27432">
                    <a:solidFill>
                      <a:srgbClr val="FFFFFF"/>
                    </a:solidFill>
                  </a:tcPr>
                </a:tc>
                <a:tc>
                  <a:txBody>
                    <a:bodyPr wrap="square"/>
                    <a:lstStyle/>
                    <a:p>
                      <a:r>
                        <a:rPr sz="1100">
                          <a:solidFill>
                            <a:srgbClr val="1A1A1A"/>
                          </a:solidFill>
                        </a:rPr>
                        <a:t>Harder to control quality at a distance</a:t>
                      </a:r>
                    </a:p>
                  </a:txBody>
                  <a:tcPr anchor="ctr" marL="73152" marR="54864" marT="27432" marB="27432">
                    <a:solidFill>
                      <a:srgbClr val="FFFFFF"/>
                    </a:solidFill>
                  </a:tcPr>
                </a:tc>
              </a:tr>
              <a:tr h="630936">
                <a:tc>
                  <a:txBody>
                    <a:bodyPr wrap="square"/>
                    <a:lstStyle/>
                    <a:p>
                      <a:r>
                        <a:rPr sz="1100" b="1">
                          <a:solidFill>
                            <a:srgbClr val="0C2B4A"/>
                          </a:solidFill>
                        </a:rPr>
                        <a:t>A BPO leaks a foreign client's records</a:t>
                      </a:r>
                    </a:p>
                  </a:txBody>
                  <a:tcPr anchor="ctr" marL="73152" marR="54864" marT="27432" marB="27432">
                    <a:solidFill>
                      <a:srgbClr val="EEF3F8"/>
                    </a:solidFill>
                  </a:tcPr>
                </a:tc>
                <a:tc>
                  <a:txBody>
                    <a:bodyPr wrap="square"/>
                    <a:lstStyle/>
                    <a:p>
                      <a:r>
                        <a:rPr sz="1100">
                          <a:solidFill>
                            <a:srgbClr val="1A1A1A"/>
                          </a:solidFill>
                        </a:rPr>
                        <a:t>Reputational + legal fallout</a:t>
                      </a:r>
                    </a:p>
                  </a:txBody>
                  <a:tcPr anchor="ctr" marL="73152" marR="54864" marT="27432" marB="27432">
                    <a:solidFill>
                      <a:srgbClr val="EEF3F8"/>
                    </a:solidFill>
                  </a:tcPr>
                </a:tc>
                <a:tc>
                  <a:txBody>
                    <a:bodyPr wrap="square"/>
                    <a:lstStyle/>
                    <a:p>
                      <a:r>
                        <a:rPr sz="1100">
                          <a:solidFill>
                            <a:srgbClr val="1A1A1A"/>
                          </a:solidFill>
                        </a:rPr>
                        <a:t>Outsourcing the work never outsourced the duty</a:t>
                      </a:r>
                    </a:p>
                  </a:txBody>
                  <a:tcPr anchor="ctr" marL="73152" marR="54864" marT="27432" marB="27432">
                    <a:solidFill>
                      <a:srgbClr val="EEF3F8"/>
                    </a:solidFill>
                  </a:tcPr>
                </a:tc>
              </a:tr>
              <a:tr h="630936">
                <a:tc>
                  <a:txBody>
                    <a:bodyPr wrap="square"/>
                    <a:lstStyle/>
                    <a:p>
                      <a:r>
                        <a:rPr sz="1100" b="1">
                          <a:solidFill>
                            <a:srgbClr val="0C2B4A"/>
                          </a:solidFill>
                        </a:rPr>
                        <a:t>Client depends on one Nepali vendor</a:t>
                      </a:r>
                    </a:p>
                  </a:txBody>
                  <a:tcPr anchor="ctr" marL="73152" marR="54864" marT="27432" marB="27432">
                    <a:solidFill>
                      <a:srgbClr val="FFFFFF"/>
                    </a:solidFill>
                  </a:tcPr>
                </a:tc>
                <a:tc>
                  <a:txBody>
                    <a:bodyPr wrap="square"/>
                    <a:lstStyle/>
                    <a:p>
                      <a:r>
                        <a:rPr sz="1100">
                          <a:solidFill>
                            <a:srgbClr val="1A1A1A"/>
                          </a:solidFill>
                        </a:rPr>
                        <a:t>Low cost + dependency risk</a:t>
                      </a:r>
                    </a:p>
                  </a:txBody>
                  <a:tcPr anchor="ctr" marL="73152" marR="54864" marT="27432" marB="27432">
                    <a:solidFill>
                      <a:srgbClr val="FFFFFF"/>
                    </a:solidFill>
                  </a:tcPr>
                </a:tc>
                <a:tc>
                  <a:txBody>
                    <a:bodyPr wrap="square"/>
                    <a:lstStyle/>
                    <a:p>
                      <a:r>
                        <a:rPr sz="1100">
                          <a:solidFill>
                            <a:srgbClr val="1A1A1A"/>
                          </a:solidFill>
                        </a:rPr>
                        <a:t>Single-vendor reliance is itself a business risk</a:t>
                      </a:r>
                    </a:p>
                  </a:txBody>
                  <a:tcPr anchor="ctr" marL="73152" marR="54864" marT="27432" marB="27432">
                    <a:solidFill>
                      <a:srgbClr val="FFFFFF"/>
                    </a:solidFill>
                  </a:tcPr>
                </a:tc>
              </a:tr>
              <a:tr h="630936">
                <a:tc>
                  <a:txBody>
                    <a:bodyPr wrap="square"/>
                    <a:lstStyle/>
                    <a:p>
                      <a:r>
                        <a:rPr sz="1100" b="1">
                          <a:solidFill>
                            <a:srgbClr val="0C2B4A"/>
                          </a:solidFill>
                        </a:rPr>
                        <a:t>Data sent to a weaker-data-law jurisdiction</a:t>
                      </a:r>
                    </a:p>
                  </a:txBody>
                  <a:tcPr anchor="ctr" marL="73152" marR="54864" marT="27432" marB="27432">
                    <a:solidFill>
                      <a:srgbClr val="EEF3F8"/>
                    </a:solidFill>
                  </a:tcPr>
                </a:tc>
                <a:tc>
                  <a:txBody>
                    <a:bodyPr wrap="square"/>
                    <a:lstStyle/>
                    <a:p>
                      <a:r>
                        <a:rPr sz="1100">
                          <a:solidFill>
                            <a:srgbClr val="1A1A1A"/>
                          </a:solidFill>
                        </a:rPr>
                        <a:t>Legal exposure for the client</a:t>
                      </a:r>
                    </a:p>
                  </a:txBody>
                  <a:tcPr anchor="ctr" marL="73152" marR="54864" marT="27432" marB="27432">
                    <a:solidFill>
                      <a:srgbClr val="EEF3F8"/>
                    </a:solidFill>
                  </a:tcPr>
                </a:tc>
                <a:tc>
                  <a:txBody>
                    <a:bodyPr wrap="square"/>
                    <a:lstStyle/>
                    <a:p>
                      <a:r>
                        <a:rPr sz="1100">
                          <a:solidFill>
                            <a:srgbClr val="1A1A1A"/>
                          </a:solidFill>
                        </a:rPr>
                        <a:t>The obligation to protect data doesn't stop at the border</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Nepal is a major outsourcing destination (IT/BPO/KPO export). Every benefit has a matching risk — and the sharpest is cross-border data: the duty of care travels with the data, whatever the local law requires.</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46 / 94</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S19 · CONCEPT 3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Ethical Balance — both sides</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The ethics of outsourcing means weighing benefits and harms to ALL stakeholders — home-country workers, offshore workers, clients, and end-users. Pros: jobs and income for developing economies like Nepal, lower prices, efficiency. Cons: home-country job loss, worker exploitation, race-to-the-bottom wages, accountability gaps.</a:t>
            </a:r>
          </a:p>
          <a:p>
            <a:pPr>
              <a:spcAft>
                <a:spcPts val="500"/>
              </a:spcAft>
            </a:pPr>
            <a:r>
              <a:rPr sz="1200" b="1">
                <a:solidFill>
                  <a:srgbClr val="185FA5"/>
                </a:solidFill>
              </a:rPr>
              <a:t>HOW IT WORKS</a:t>
            </a:r>
          </a:p>
          <a:p>
            <a:pPr>
              <a:spcAft>
                <a:spcPts val="600"/>
              </a:spcAft>
            </a:pPr>
            <a:r>
              <a:rPr sz="1400">
                <a:solidFill>
                  <a:srgbClr val="1A1A1A"/>
                </a:solidFill>
              </a:rPr>
              <a:t>•  For Nepal, outsourcing brings genuine high-value jobs and foreign exchange — a real development good.</a:t>
            </a:r>
          </a:p>
          <a:p>
            <a:pPr>
              <a:spcAft>
                <a:spcPts val="600"/>
              </a:spcAft>
            </a:pPr>
            <a:r>
              <a:rPr sz="1400">
                <a:solidFill>
                  <a:srgbClr val="1A1A1A"/>
                </a:solidFill>
              </a:rPr>
              <a:t>•  But it can also mean long night-shift hours for foreign time zones, low pay, and BPO burnout.</a:t>
            </a:r>
          </a:p>
          <a:p>
            <a:pPr>
              <a:spcAft>
                <a:spcPts val="600"/>
              </a:spcAft>
            </a:pPr>
            <a:r>
              <a:rPr sz="1400">
                <a:solidFill>
                  <a:srgbClr val="1A1A1A"/>
                </a:solidFill>
              </a:rPr>
              <a:t>•  For the home country, it can mean job losses and downward wage pressure.</a:t>
            </a:r>
          </a:p>
          <a:p>
            <a:pPr>
              <a:spcAft>
                <a:spcPts val="600"/>
              </a:spcAft>
            </a:pPr>
            <a:r>
              <a:rPr sz="1400">
                <a:solidFill>
                  <a:srgbClr val="1A1A1A"/>
                </a:solidFill>
              </a:rPr>
              <a:t>•  The honest answer isn't 'good' or 'bad' — it's 'good for whom, at what cost, and is it fair?'</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Outsourcing is good for whom, at what cost — and is it fair to everyone affected?</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47 / 94</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S19 · CONCEPT 3 · COMPARISON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Outsourcing — who benefits and who bears the cost</a:t>
            </a:r>
          </a:p>
        </p:txBody>
      </p:sp>
      <p:graphicFrame>
        <p:nvGraphicFramePr>
          <p:cNvPr id="5" name="Table 4"/>
          <p:cNvGraphicFramePr>
            <a:graphicFrameLocks noGrp="1"/>
          </p:cNvGraphicFramePr>
          <p:nvPr/>
        </p:nvGraphicFramePr>
        <p:xfrm>
          <a:off x="384048" y="1572768"/>
          <a:ext cx="11429999" cy="4416552"/>
        </p:xfrm>
        <a:graphic>
          <a:graphicData uri="http://schemas.openxmlformats.org/drawingml/2006/table">
            <a:tbl>
              <a:tblPr>
                <a:tableStyleId>{5C22544A-7EE6-4342-B048-85BDC9FD1C3A}</a:tableStyleId>
              </a:tblPr>
              <a:tblGrid>
                <a:gridCol w="3265714"/>
                <a:gridCol w="3755571"/>
                <a:gridCol w="4408714"/>
              </a:tblGrid>
              <a:tr h="736092">
                <a:tc>
                  <a:txBody>
                    <a:bodyPr wrap="square"/>
                    <a:lstStyle/>
                    <a:p>
                      <a:r>
                        <a:rPr sz="1150" b="1">
                          <a:solidFill>
                            <a:srgbClr val="FFFFFF"/>
                          </a:solidFill>
                        </a:rPr>
                        <a:t>Stakeholder</a:t>
                      </a:r>
                    </a:p>
                  </a:txBody>
                  <a:tcPr anchor="ctr" marL="73152" marR="54864" marT="27432" marB="27432">
                    <a:solidFill>
                      <a:srgbClr val="0C2B4A"/>
                    </a:solidFill>
                  </a:tcPr>
                </a:tc>
                <a:tc>
                  <a:txBody>
                    <a:bodyPr wrap="square"/>
                    <a:lstStyle/>
                    <a:p>
                      <a:r>
                        <a:rPr sz="1150" b="1">
                          <a:solidFill>
                            <a:srgbClr val="FFFFFF"/>
                          </a:solidFill>
                        </a:rPr>
                        <a:t>Benefit</a:t>
                      </a:r>
                    </a:p>
                  </a:txBody>
                  <a:tcPr anchor="ctr" marL="73152" marR="54864" marT="27432" marB="27432">
                    <a:solidFill>
                      <a:srgbClr val="0C2B4A"/>
                    </a:solidFill>
                  </a:tcPr>
                </a:tc>
                <a:tc>
                  <a:txBody>
                    <a:bodyPr wrap="square"/>
                    <a:lstStyle/>
                    <a:p>
                      <a:r>
                        <a:rPr sz="1150" b="1">
                          <a:solidFill>
                            <a:srgbClr val="FFFFFF"/>
                          </a:solidFill>
                        </a:rPr>
                        <a:t>Cost / harm</a:t>
                      </a:r>
                    </a:p>
                  </a:txBody>
                  <a:tcPr anchor="ctr" marL="73152" marR="54864" marT="27432" marB="27432">
                    <a:solidFill>
                      <a:srgbClr val="0C2B4A"/>
                    </a:solidFill>
                  </a:tcPr>
                </a:tc>
              </a:tr>
              <a:tr h="736092">
                <a:tc>
                  <a:txBody>
                    <a:bodyPr wrap="square"/>
                    <a:lstStyle/>
                    <a:p>
                      <a:r>
                        <a:rPr sz="1100" b="1">
                          <a:solidFill>
                            <a:srgbClr val="0C2B4A"/>
                          </a:solidFill>
                        </a:rPr>
                        <a:t>Offshore worker (Nepal)</a:t>
                      </a:r>
                    </a:p>
                  </a:txBody>
                  <a:tcPr anchor="ctr" marL="73152" marR="54864" marT="27432" marB="27432">
                    <a:solidFill>
                      <a:srgbClr val="FFFFFF"/>
                    </a:solidFill>
                  </a:tcPr>
                </a:tc>
                <a:tc>
                  <a:txBody>
                    <a:bodyPr wrap="square"/>
                    <a:lstStyle/>
                    <a:p>
                      <a:r>
                        <a:rPr sz="1100">
                          <a:solidFill>
                            <a:srgbClr val="1A1A1A"/>
                          </a:solidFill>
                        </a:rPr>
                        <a:t>High-value jobs, forex, skills</a:t>
                      </a:r>
                    </a:p>
                  </a:txBody>
                  <a:tcPr anchor="ctr" marL="73152" marR="54864" marT="27432" marB="27432">
                    <a:solidFill>
                      <a:srgbClr val="FFFFFF"/>
                    </a:solidFill>
                  </a:tcPr>
                </a:tc>
                <a:tc>
                  <a:txBody>
                    <a:bodyPr wrap="square"/>
                    <a:lstStyle/>
                    <a:p>
                      <a:r>
                        <a:rPr sz="1100">
                          <a:solidFill>
                            <a:srgbClr val="1A1A1A"/>
                          </a:solidFill>
                        </a:rPr>
                        <a:t>Night shifts, burnout, lower pay than the client's country</a:t>
                      </a:r>
                    </a:p>
                  </a:txBody>
                  <a:tcPr anchor="ctr" marL="73152" marR="54864" marT="27432" marB="27432">
                    <a:solidFill>
                      <a:srgbClr val="FFFFFF"/>
                    </a:solidFill>
                  </a:tcPr>
                </a:tc>
              </a:tr>
              <a:tr h="736092">
                <a:tc>
                  <a:txBody>
                    <a:bodyPr wrap="square"/>
                    <a:lstStyle/>
                    <a:p>
                      <a:r>
                        <a:rPr sz="1100" b="1">
                          <a:solidFill>
                            <a:srgbClr val="0C2B4A"/>
                          </a:solidFill>
                        </a:rPr>
                        <a:t>Home-country worker</a:t>
                      </a:r>
                    </a:p>
                  </a:txBody>
                  <a:tcPr anchor="ctr" marL="73152" marR="54864" marT="27432" marB="27432">
                    <a:solidFill>
                      <a:srgbClr val="EEF3F8"/>
                    </a:solidFill>
                  </a:tcPr>
                </a:tc>
                <a:tc>
                  <a:txBody>
                    <a:bodyPr wrap="square"/>
                    <a:lstStyle/>
                    <a:p>
                      <a:r>
                        <a:rPr sz="1100">
                          <a:solidFill>
                            <a:srgbClr val="1A1A1A"/>
                          </a:solidFill>
                        </a:rPr>
                        <a:t>(few)</a:t>
                      </a:r>
                    </a:p>
                  </a:txBody>
                  <a:tcPr anchor="ctr" marL="73152" marR="54864" marT="27432" marB="27432">
                    <a:solidFill>
                      <a:srgbClr val="EEF3F8"/>
                    </a:solidFill>
                  </a:tcPr>
                </a:tc>
                <a:tc>
                  <a:txBody>
                    <a:bodyPr wrap="square"/>
                    <a:lstStyle/>
                    <a:p>
                      <a:r>
                        <a:rPr sz="1100">
                          <a:solidFill>
                            <a:srgbClr val="1A1A1A"/>
                          </a:solidFill>
                        </a:rPr>
                        <a:t>Job loss, downward wage pressure</a:t>
                      </a:r>
                    </a:p>
                  </a:txBody>
                  <a:tcPr anchor="ctr" marL="73152" marR="54864" marT="27432" marB="27432">
                    <a:solidFill>
                      <a:srgbClr val="EEF3F8"/>
                    </a:solidFill>
                  </a:tcPr>
                </a:tc>
              </a:tr>
              <a:tr h="736092">
                <a:tc>
                  <a:txBody>
                    <a:bodyPr wrap="square"/>
                    <a:lstStyle/>
                    <a:p>
                      <a:r>
                        <a:rPr sz="1100" b="1">
                          <a:solidFill>
                            <a:srgbClr val="0C2B4A"/>
                          </a:solidFill>
                        </a:rPr>
                        <a:t>Client / company</a:t>
                      </a:r>
                    </a:p>
                  </a:txBody>
                  <a:tcPr anchor="ctr" marL="73152" marR="54864" marT="27432" marB="27432">
                    <a:solidFill>
                      <a:srgbClr val="FFFFFF"/>
                    </a:solidFill>
                  </a:tcPr>
                </a:tc>
                <a:tc>
                  <a:txBody>
                    <a:bodyPr wrap="square"/>
                    <a:lstStyle/>
                    <a:p>
                      <a:r>
                        <a:rPr sz="1100">
                          <a:solidFill>
                            <a:srgbClr val="1A1A1A"/>
                          </a:solidFill>
                        </a:rPr>
                        <a:t>Lower cost, scale, 24/7 coverage</a:t>
                      </a:r>
                    </a:p>
                  </a:txBody>
                  <a:tcPr anchor="ctr" marL="73152" marR="54864" marT="27432" marB="27432">
                    <a:solidFill>
                      <a:srgbClr val="FFFFFF"/>
                    </a:solidFill>
                  </a:tcPr>
                </a:tc>
                <a:tc>
                  <a:txBody>
                    <a:bodyPr wrap="square"/>
                    <a:lstStyle/>
                    <a:p>
                      <a:r>
                        <a:rPr sz="1100">
                          <a:solidFill>
                            <a:srgbClr val="1A1A1A"/>
                          </a:solidFill>
                        </a:rPr>
                        <a:t>Quality/control risk, accountability gaps</a:t>
                      </a:r>
                    </a:p>
                  </a:txBody>
                  <a:tcPr anchor="ctr" marL="73152" marR="54864" marT="27432" marB="27432">
                    <a:solidFill>
                      <a:srgbClr val="FFFFFF"/>
                    </a:solidFill>
                  </a:tcPr>
                </a:tc>
              </a:tr>
              <a:tr h="736092">
                <a:tc>
                  <a:txBody>
                    <a:bodyPr wrap="square"/>
                    <a:lstStyle/>
                    <a:p>
                      <a:r>
                        <a:rPr sz="1100" b="1">
                          <a:solidFill>
                            <a:srgbClr val="0C2B4A"/>
                          </a:solidFill>
                        </a:rPr>
                        <a:t>End-user / customer</a:t>
                      </a:r>
                    </a:p>
                  </a:txBody>
                  <a:tcPr anchor="ctr" marL="73152" marR="54864" marT="27432" marB="27432">
                    <a:solidFill>
                      <a:srgbClr val="EEF3F8"/>
                    </a:solidFill>
                  </a:tcPr>
                </a:tc>
                <a:tc>
                  <a:txBody>
                    <a:bodyPr wrap="square"/>
                    <a:lstStyle/>
                    <a:p>
                      <a:r>
                        <a:rPr sz="1100">
                          <a:solidFill>
                            <a:srgbClr val="1A1A1A"/>
                          </a:solidFill>
                        </a:rPr>
                        <a:t>Cheaper products</a:t>
                      </a:r>
                    </a:p>
                  </a:txBody>
                  <a:tcPr anchor="ctr" marL="73152" marR="54864" marT="27432" marB="27432">
                    <a:solidFill>
                      <a:srgbClr val="EEF3F8"/>
                    </a:solidFill>
                  </a:tcPr>
                </a:tc>
                <a:tc>
                  <a:txBody>
                    <a:bodyPr wrap="square"/>
                    <a:lstStyle/>
                    <a:p>
                      <a:r>
                        <a:rPr sz="1100">
                          <a:solidFill>
                            <a:srgbClr val="1A1A1A"/>
                          </a:solidFill>
                        </a:rPr>
                        <a:t>Their data crosses borders; support quality varies</a:t>
                      </a:r>
                    </a:p>
                  </a:txBody>
                  <a:tcPr anchor="ctr" marL="73152" marR="54864" marT="27432" marB="27432">
                    <a:solidFill>
                      <a:srgbClr val="EEF3F8"/>
                    </a:solidFill>
                  </a:tcPr>
                </a:tc>
              </a:tr>
              <a:tr h="736092">
                <a:tc>
                  <a:txBody>
                    <a:bodyPr wrap="square"/>
                    <a:lstStyle/>
                    <a:p>
                      <a:r>
                        <a:rPr sz="1100" b="1">
                          <a:solidFill>
                            <a:srgbClr val="0C2B4A"/>
                          </a:solidFill>
                        </a:rPr>
                        <a:t>Developing economy</a:t>
                      </a:r>
                    </a:p>
                  </a:txBody>
                  <a:tcPr anchor="ctr" marL="73152" marR="54864" marT="27432" marB="27432">
                    <a:solidFill>
                      <a:srgbClr val="FFFFFF"/>
                    </a:solidFill>
                  </a:tcPr>
                </a:tc>
                <a:tc>
                  <a:txBody>
                    <a:bodyPr wrap="square"/>
                    <a:lstStyle/>
                    <a:p>
                      <a:r>
                        <a:rPr sz="1100">
                          <a:solidFill>
                            <a:srgbClr val="1A1A1A"/>
                          </a:solidFill>
                        </a:rPr>
                        <a:t>Growth, forex, IT-export industry</a:t>
                      </a:r>
                    </a:p>
                  </a:txBody>
                  <a:tcPr anchor="ctr" marL="73152" marR="54864" marT="27432" marB="27432">
                    <a:solidFill>
                      <a:srgbClr val="FFFFFF"/>
                    </a:solidFill>
                  </a:tcPr>
                </a:tc>
                <a:tc>
                  <a:txBody>
                    <a:bodyPr wrap="square"/>
                    <a:lstStyle/>
                    <a:p>
                      <a:r>
                        <a:rPr sz="1100">
                          <a:solidFill>
                            <a:srgbClr val="1A1A1A"/>
                          </a:solidFill>
                        </a:rPr>
                        <a:t>Race-to-the-bottom wage pressure</a:t>
                      </a:r>
                    </a:p>
                  </a:txBody>
                  <a:tcPr anchor="ctr" marL="73152" marR="54864" marT="27432" marB="27432">
                    <a:solidFill>
                      <a:srgbClr val="FFFFFF"/>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A stakeholder view (Unit 1) shows there's no single verdict — outsourcing genuinely helps some and harms others. The ethics is making the trade fair, not pretending there's no cost.</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48 / 94</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S19 · CONCEPT 3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Ethical Balance</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Nepal's IT-outsourcing industry brings genuine high-value jobs and foreign exchange — a real good for the economy and for individual developers. But it also raises hard questions: fair pay relative to the client's country, long night-shift hours to match foreign time zones, and burnout in BPOs. Both truths hold at once.</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"Outsourcing is simply exploitation" OR "outsourcing is simply opportunity." Neither is the whole truth. A stakeholder analysis shows it helps some (Nepali developers, clients, the economy) and can harm others (home-country workers, over-worked BPO staff). The ethical task is to make the arrangement fair, not to pick one slogan.</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The ethics of outsourcing requires weighing all stakeholders: it brings jobs, income, and forex to developing economies like Nepal and lower prices to clients, while risking home-country job loss, worker exploitation, race-to-the-bottom wages, and accountability gaps. The honest question is not 'good or bad?' but 'good for whom, at what cost, and is it fair?'</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ethical balance · stakeholders · jobs + forex vs exploitation · race to the bottom · fairness to all sides</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49 / 94</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S19 · CONCEPT 3 · CONCRETE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Outsourcing situations — who gains, who pays, is it fair?</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3910263"/>
                <a:gridCol w="4060657"/>
                <a:gridCol w="3459078"/>
              </a:tblGrid>
              <a:tr h="630936">
                <a:tc>
                  <a:txBody>
                    <a:bodyPr wrap="square"/>
                    <a:lstStyle/>
                    <a:p>
                      <a:r>
                        <a:rPr sz="1150" b="1">
                          <a:solidFill>
                            <a:srgbClr val="FFFFFF"/>
                          </a:solidFill>
                        </a:rPr>
                        <a:t>Concrete situation</a:t>
                      </a:r>
                    </a:p>
                  </a:txBody>
                  <a:tcPr anchor="ctr" marL="73152" marR="54864" marT="27432" marB="27432">
                    <a:solidFill>
                      <a:srgbClr val="0C2B4A"/>
                    </a:solidFill>
                  </a:tcPr>
                </a:tc>
                <a:tc>
                  <a:txBody>
                    <a:bodyPr wrap="square"/>
                    <a:lstStyle/>
                    <a:p>
                      <a:r>
                        <a:rPr sz="1150" b="1">
                          <a:solidFill>
                            <a:srgbClr val="FFFFFF"/>
                          </a:solidFill>
                        </a:rPr>
                        <a:t>Who gains / who pays</a:t>
                      </a:r>
                    </a:p>
                  </a:txBody>
                  <a:tcPr anchor="ctr" marL="73152" marR="54864" marT="27432" marB="27432">
                    <a:solidFill>
                      <a:srgbClr val="0C2B4A"/>
                    </a:solidFill>
                  </a:tcPr>
                </a:tc>
                <a:tc>
                  <a:txBody>
                    <a:bodyPr wrap="square"/>
                    <a:lstStyle/>
                    <a:p>
                      <a:r>
                        <a:rPr sz="1150" b="1">
                          <a:solidFill>
                            <a:srgbClr val="FFFFFF"/>
                          </a:solidFill>
                        </a:rPr>
                        <a:t>Is it fair? (verdict)</a:t>
                      </a:r>
                    </a:p>
                  </a:txBody>
                  <a:tcPr anchor="ctr" marL="73152" marR="54864" marT="27432" marB="27432">
                    <a:solidFill>
                      <a:srgbClr val="0C2B4A"/>
                    </a:solidFill>
                  </a:tcPr>
                </a:tc>
              </a:tr>
              <a:tr h="630936">
                <a:tc>
                  <a:txBody>
                    <a:bodyPr wrap="square"/>
                    <a:lstStyle/>
                    <a:p>
                      <a:r>
                        <a:rPr sz="1100" b="1">
                          <a:solidFill>
                            <a:srgbClr val="0C2B4A"/>
                          </a:solidFill>
                        </a:rPr>
                        <a:t>Kathmandu BPO runs night shifts for US hours</a:t>
                      </a:r>
                    </a:p>
                  </a:txBody>
                  <a:tcPr anchor="ctr" marL="73152" marR="54864" marT="27432" marB="27432">
                    <a:solidFill>
                      <a:srgbClr val="FFFFFF"/>
                    </a:solidFill>
                  </a:tcPr>
                </a:tc>
                <a:tc>
                  <a:txBody>
                    <a:bodyPr wrap="square"/>
                    <a:lstStyle/>
                    <a:p>
                      <a:r>
                        <a:rPr sz="1100">
                          <a:solidFill>
                            <a:srgbClr val="1A1A1A"/>
                          </a:solidFill>
                        </a:rPr>
                        <a:t>Worker: forex &amp; a job / burnout &amp; lost sleep</a:t>
                      </a:r>
                    </a:p>
                  </a:txBody>
                  <a:tcPr anchor="ctr" marL="73152" marR="54864" marT="27432" marB="27432">
                    <a:solidFill>
                      <a:srgbClr val="FFFFFF"/>
                    </a:solidFill>
                  </a:tcPr>
                </a:tc>
                <a:tc>
                  <a:txBody>
                    <a:bodyPr wrap="square"/>
                    <a:lstStyle/>
                    <a:p>
                      <a:r>
                        <a:rPr sz="1100">
                          <a:solidFill>
                            <a:srgbClr val="1A1A1A"/>
                          </a:solidFill>
                        </a:rPr>
                        <a:t>Fair only if pay + rest match the strain</a:t>
                      </a:r>
                    </a:p>
                  </a:txBody>
                  <a:tcPr anchor="ctr" marL="73152" marR="54864" marT="27432" marB="27432">
                    <a:solidFill>
                      <a:srgbClr val="FFFFFF"/>
                    </a:solidFill>
                  </a:tcPr>
                </a:tc>
              </a:tr>
              <a:tr h="630936">
                <a:tc>
                  <a:txBody>
                    <a:bodyPr wrap="square"/>
                    <a:lstStyle/>
                    <a:p>
                      <a:r>
                        <a:rPr sz="1100" b="1">
                          <a:solidFill>
                            <a:srgbClr val="0C2B4A"/>
                          </a:solidFill>
                        </a:rPr>
                        <a:t>Nepali dev paid one-third of the US rate</a:t>
                      </a:r>
                    </a:p>
                  </a:txBody>
                  <a:tcPr anchor="ctr" marL="73152" marR="54864" marT="27432" marB="27432">
                    <a:solidFill>
                      <a:srgbClr val="EEF3F8"/>
                    </a:solidFill>
                  </a:tcPr>
                </a:tc>
                <a:tc>
                  <a:txBody>
                    <a:bodyPr wrap="square"/>
                    <a:lstStyle/>
                    <a:p>
                      <a:r>
                        <a:rPr sz="1100">
                          <a:solidFill>
                            <a:srgbClr val="1A1A1A"/>
                          </a:solidFill>
                        </a:rPr>
                        <a:t>Client saves / worker underpaid vs peers</a:t>
                      </a:r>
                    </a:p>
                  </a:txBody>
                  <a:tcPr anchor="ctr" marL="73152" marR="54864" marT="27432" marB="27432">
                    <a:solidFill>
                      <a:srgbClr val="EEF3F8"/>
                    </a:solidFill>
                  </a:tcPr>
                </a:tc>
                <a:tc>
                  <a:txBody>
                    <a:bodyPr wrap="square"/>
                    <a:lstStyle/>
                    <a:p>
                      <a:r>
                        <a:rPr sz="1100">
                          <a:solidFill>
                            <a:srgbClr val="1A1A1A"/>
                          </a:solidFill>
                        </a:rPr>
                        <a:t>Race-to-the-bottom risk — check the fairness</a:t>
                      </a:r>
                    </a:p>
                  </a:txBody>
                  <a:tcPr anchor="ctr" marL="73152" marR="54864" marT="27432" marB="27432">
                    <a:solidFill>
                      <a:srgbClr val="EEF3F8"/>
                    </a:solidFill>
                  </a:tcPr>
                </a:tc>
              </a:tr>
              <a:tr h="630936">
                <a:tc>
                  <a:txBody>
                    <a:bodyPr wrap="square"/>
                    <a:lstStyle/>
                    <a:p>
                      <a:r>
                        <a:rPr sz="1100" b="1">
                          <a:solidFill>
                            <a:srgbClr val="0C2B4A"/>
                          </a:solidFill>
                        </a:rPr>
                        <a:t>US roles cut and moved to Nepal</a:t>
                      </a:r>
                    </a:p>
                  </a:txBody>
                  <a:tcPr anchor="ctr" marL="73152" marR="54864" marT="27432" marB="27432">
                    <a:solidFill>
                      <a:srgbClr val="FFFFFF"/>
                    </a:solidFill>
                  </a:tcPr>
                </a:tc>
                <a:tc>
                  <a:txBody>
                    <a:bodyPr wrap="square"/>
                    <a:lstStyle/>
                    <a:p>
                      <a:r>
                        <a:rPr sz="1100">
                          <a:solidFill>
                            <a:srgbClr val="1A1A1A"/>
                          </a:solidFill>
                        </a:rPr>
                        <a:t>Nepal gains jobs / US worker loses one</a:t>
                      </a:r>
                    </a:p>
                  </a:txBody>
                  <a:tcPr anchor="ctr" marL="73152" marR="54864" marT="27432" marB="27432">
                    <a:solidFill>
                      <a:srgbClr val="FFFFFF"/>
                    </a:solidFill>
                  </a:tcPr>
                </a:tc>
                <a:tc>
                  <a:txBody>
                    <a:bodyPr wrap="square"/>
                    <a:lstStyle/>
                    <a:p>
                      <a:r>
                        <a:rPr sz="1100">
                          <a:solidFill>
                            <a:srgbClr val="1A1A1A"/>
                          </a:solidFill>
                        </a:rPr>
                        <a:t>Good for one economy, harm to another</a:t>
                      </a:r>
                    </a:p>
                  </a:txBody>
                  <a:tcPr anchor="ctr" marL="73152" marR="54864" marT="27432" marB="27432">
                    <a:solidFill>
                      <a:srgbClr val="FFFFFF"/>
                    </a:solidFill>
                  </a:tcPr>
                </a:tc>
              </a:tr>
              <a:tr h="630936">
                <a:tc>
                  <a:txBody>
                    <a:bodyPr wrap="square"/>
                    <a:lstStyle/>
                    <a:p>
                      <a:r>
                        <a:rPr sz="1100" b="1">
                          <a:solidFill>
                            <a:srgbClr val="0C2B4A"/>
                          </a:solidFill>
                        </a:rPr>
                        <a:t>A high-value IT-export contract lands in KTM</a:t>
                      </a:r>
                    </a:p>
                  </a:txBody>
                  <a:tcPr anchor="ctr" marL="73152" marR="54864" marT="27432" marB="27432">
                    <a:solidFill>
                      <a:srgbClr val="EEF3F8"/>
                    </a:solidFill>
                  </a:tcPr>
                </a:tc>
                <a:tc>
                  <a:txBody>
                    <a:bodyPr wrap="square"/>
                    <a:lstStyle/>
                    <a:p>
                      <a:r>
                        <a:rPr sz="1100">
                          <a:solidFill>
                            <a:srgbClr val="1A1A1A"/>
                          </a:solidFill>
                        </a:rPr>
                        <a:t>Economy: forex, skills, careers</a:t>
                      </a:r>
                    </a:p>
                  </a:txBody>
                  <a:tcPr anchor="ctr" marL="73152" marR="54864" marT="27432" marB="27432">
                    <a:solidFill>
                      <a:srgbClr val="EEF3F8"/>
                    </a:solidFill>
                  </a:tcPr>
                </a:tc>
                <a:tc>
                  <a:txBody>
                    <a:bodyPr wrap="square"/>
                    <a:lstStyle/>
                    <a:p>
                      <a:r>
                        <a:rPr sz="1100">
                          <a:solidFill>
                            <a:srgbClr val="1A1A1A"/>
                          </a:solidFill>
                        </a:rPr>
                        <a:t>A genuine development good</a:t>
                      </a:r>
                    </a:p>
                  </a:txBody>
                  <a:tcPr anchor="ctr" marL="73152" marR="54864" marT="27432" marB="27432">
                    <a:solidFill>
                      <a:srgbClr val="EEF3F8"/>
                    </a:solidFill>
                  </a:tcPr>
                </a:tc>
              </a:tr>
              <a:tr h="630936">
                <a:tc>
                  <a:txBody>
                    <a:bodyPr wrap="square"/>
                    <a:lstStyle/>
                    <a:p>
                      <a:r>
                        <a:rPr sz="1100" b="1">
                          <a:solidFill>
                            <a:srgbClr val="0C2B4A"/>
                          </a:solidFill>
                        </a:rPr>
                        <a:t>End-users get a cheaper app</a:t>
                      </a:r>
                    </a:p>
                  </a:txBody>
                  <a:tcPr anchor="ctr" marL="73152" marR="54864" marT="27432" marB="27432">
                    <a:solidFill>
                      <a:srgbClr val="FFFFFF"/>
                    </a:solidFill>
                  </a:tcPr>
                </a:tc>
                <a:tc>
                  <a:txBody>
                    <a:bodyPr wrap="square"/>
                    <a:lstStyle/>
                    <a:p>
                      <a:r>
                        <a:rPr sz="1100">
                          <a:solidFill>
                            <a:srgbClr val="1A1A1A"/>
                          </a:solidFill>
                        </a:rPr>
                        <a:t>Users save / their data crosses borders</a:t>
                      </a:r>
                    </a:p>
                  </a:txBody>
                  <a:tcPr anchor="ctr" marL="73152" marR="54864" marT="27432" marB="27432">
                    <a:solidFill>
                      <a:srgbClr val="FFFFFF"/>
                    </a:solidFill>
                  </a:tcPr>
                </a:tc>
                <a:tc>
                  <a:txBody>
                    <a:bodyPr wrap="square"/>
                    <a:lstStyle/>
                    <a:p>
                      <a:r>
                        <a:rPr sz="1100">
                          <a:solidFill>
                            <a:srgbClr val="1A1A1A"/>
                          </a:solidFill>
                        </a:rPr>
                        <a:t>The benefit carries a hidden data cost</a:t>
                      </a:r>
                    </a:p>
                  </a:txBody>
                  <a:tcPr anchor="ctr" marL="73152" marR="54864" marT="27432" marB="27432">
                    <a:solidFill>
                      <a:srgbClr val="FFFFFF"/>
                    </a:solidFill>
                  </a:tcPr>
                </a:tc>
              </a:tr>
              <a:tr h="630936">
                <a:tc>
                  <a:txBody>
                    <a:bodyPr wrap="square"/>
                    <a:lstStyle/>
                    <a:p>
                      <a:r>
                        <a:rPr sz="1100" b="1">
                          <a:solidFill>
                            <a:srgbClr val="0C2B4A"/>
                          </a:solidFill>
                        </a:rPr>
                        <a:t>Firm scales a team up, then drops it fast</a:t>
                      </a:r>
                    </a:p>
                  </a:txBody>
                  <a:tcPr anchor="ctr" marL="73152" marR="54864" marT="27432" marB="27432">
                    <a:solidFill>
                      <a:srgbClr val="EEF3F8"/>
                    </a:solidFill>
                  </a:tcPr>
                </a:tc>
                <a:tc>
                  <a:txBody>
                    <a:bodyPr wrap="square"/>
                    <a:lstStyle/>
                    <a:p>
                      <a:r>
                        <a:rPr sz="1100">
                          <a:solidFill>
                            <a:srgbClr val="1A1A1A"/>
                          </a:solidFill>
                        </a:rPr>
                        <a:t>Firm: flexibility / workers: sudden job loss</a:t>
                      </a:r>
                    </a:p>
                  </a:txBody>
                  <a:tcPr anchor="ctr" marL="73152" marR="54864" marT="27432" marB="27432">
                    <a:solidFill>
                      <a:srgbClr val="EEF3F8"/>
                    </a:solidFill>
                  </a:tcPr>
                </a:tc>
                <a:tc>
                  <a:txBody>
                    <a:bodyPr wrap="square"/>
                    <a:lstStyle/>
                    <a:p>
                      <a:r>
                        <a:rPr sz="1100">
                          <a:solidFill>
                            <a:srgbClr val="1A1A1A"/>
                          </a:solidFill>
                        </a:rPr>
                        <a:t>Flexibility externalised onto people</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A stakeholder view (Unit 1) shows no single verdict: outsourcing genuinely helps some and harms others at once. The ethical task is 'good for whom, at what cost, and is it fair?' — not a one-word slogan.</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50 / 94</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E1F5EE"/>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F6E56"/>
                </a:solidFill>
              </a:rPr>
              <a:t>🛠  IN-CLASS ACTIVITY  ·  THINK–PAIR–SHARE</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S19 — 'Net good or exploitative?'  ·  ~5 min</a:t>
            </a:r>
          </a:p>
        </p:txBody>
      </p:sp>
      <p:sp>
        <p:nvSpPr>
          <p:cNvPr id="5" name="TextBox 4"/>
          <p:cNvSpPr txBox="1"/>
          <p:nvPr/>
        </p:nvSpPr>
        <p:spPr>
          <a:xfrm>
            <a:off x="640080" y="1600200"/>
            <a:ext cx="10881360" cy="3291840"/>
          </a:xfrm>
          <a:prstGeom prst="rect">
            <a:avLst/>
          </a:prstGeom>
          <a:noFill/>
        </p:spPr>
        <p:txBody>
          <a:bodyPr wrap="square">
            <a:spAutoFit/>
          </a:bodyPr>
          <a:lstStyle/>
          <a:p>
            <a:pPr>
              <a:spcAft>
                <a:spcPts val="700"/>
              </a:spcAft>
            </a:pPr>
            <a:r>
              <a:rPr sz="1550">
                <a:solidFill>
                  <a:srgbClr val="1A1A1A"/>
                </a:solidFill>
              </a:rPr>
              <a:t>•  In pairs (2 min): is Nepal being an IT-outsourcing hub mostly good or mostly exploitative for Nepali workers?</a:t>
            </a:r>
          </a:p>
          <a:p>
            <a:pPr>
              <a:spcAft>
                <a:spcPts val="700"/>
              </a:spcAft>
            </a:pPr>
            <a:r>
              <a:rPr sz="1550">
                <a:solidFill>
                  <a:srgbClr val="1A1A1A"/>
                </a:solidFill>
              </a:rPr>
              <a:t>•  List one concrete benefit and one concrete harm, with a real example.</a:t>
            </a:r>
          </a:p>
          <a:p>
            <a:pPr>
              <a:spcAft>
                <a:spcPts val="700"/>
              </a:spcAft>
            </a:pPr>
            <a:r>
              <a:rPr sz="1550">
                <a:solidFill>
                  <a:srgbClr val="1A1A1A"/>
                </a:solidFill>
              </a:rPr>
              <a:t>•  Take 3–4 answers aloud (3 min); place each on a stakeholder map.</a:t>
            </a:r>
          </a:p>
          <a:p>
            <a:pPr>
              <a:spcAft>
                <a:spcPts val="700"/>
              </a:spcAft>
            </a:pPr>
            <a:r>
              <a:rPr sz="1550">
                <a:solidFill>
                  <a:srgbClr val="1A1A1A"/>
                </a:solidFill>
              </a:rPr>
              <a:t>•  Close: the strongest answers name WHO benefits and WHO pays, rather than a one-word verdict.</a:t>
            </a:r>
          </a:p>
        </p:txBody>
      </p:sp>
      <p:sp>
        <p:nvSpPr>
          <p:cNvPr id="6" name="Rounded Rectangle 5"/>
          <p:cNvSpPr/>
          <p:nvPr/>
        </p:nvSpPr>
        <p:spPr>
          <a:xfrm>
            <a:off x="640080" y="5029200"/>
            <a:ext cx="10881360" cy="1554480"/>
          </a:xfrm>
          <a:prstGeom prst="roundRect">
            <a:avLst/>
          </a:prstGeom>
          <a:solidFill>
            <a:srgbClr val="FFFFFF"/>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Expected answer / what to draw out</a:t>
            </a:r>
          </a:p>
          <a:p>
            <a:pPr>
              <a:spcBef>
                <a:spcPts val="300"/>
              </a:spcBef>
            </a:pPr>
            <a:r>
              <a:rPr sz="1400">
                <a:solidFill>
                  <a:srgbClr val="1A1A1A"/>
                </a:solidFill>
              </a:rPr>
              <a:t>Benefits: high-value jobs, forex, skills transfer, remote careers from Kathmandu. Harms: night shifts, burnout, pay below the client's country, weak worker protections. Reward stakeholder-aware, both-sides reasoning.</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51 / 94</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2F5F8"/>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854F0B"/>
                </a:solidFill>
              </a:rPr>
              <a:t>CHECK FOR UNDERSTANDING</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S19 — Quick Check  ·  ~5 min</a:t>
            </a:r>
          </a:p>
        </p:txBody>
      </p:sp>
      <p:sp>
        <p:nvSpPr>
          <p:cNvPr id="5" name="TextBox 4"/>
          <p:cNvSpPr txBox="1"/>
          <p:nvPr/>
        </p:nvSpPr>
        <p:spPr>
          <a:xfrm>
            <a:off x="640080" y="1600200"/>
            <a:ext cx="10881360" cy="4846320"/>
          </a:xfrm>
          <a:prstGeom prst="rect">
            <a:avLst/>
          </a:prstGeom>
          <a:noFill/>
        </p:spPr>
        <p:txBody>
          <a:bodyPr wrap="square">
            <a:spAutoFit/>
          </a:bodyPr>
          <a:lstStyle/>
          <a:p>
            <a:pPr>
              <a:spcBef>
                <a:spcPts val="900"/>
              </a:spcBef>
            </a:pPr>
            <a:r>
              <a:rPr sz="1700" b="1">
                <a:solidFill>
                  <a:srgbClr val="0C2B4A"/>
                </a:solidFill>
              </a:rPr>
              <a:t>Q1.  A key ETHICAL downside of relying on contingent workers is:</a:t>
            </a:r>
          </a:p>
          <a:p>
            <a:pPr lvl="1"/>
            <a:r>
              <a:rPr sz="1500" b="1">
                <a:solidFill>
                  <a:srgbClr val="0F6E56"/>
                </a:solidFill>
              </a:rPr>
              <a:t>a) they cost more   b) ✅ weaker protections/benefits + lost institutional knowledge   c) they're too loyal   d) none</a:t>
            </a:r>
          </a:p>
          <a:p>
            <a:pPr lvl="1">
              <a:spcBef>
                <a:spcPts val="600"/>
              </a:spcBef>
            </a:pPr>
            <a:r>
              <a:rPr sz="1500" i="1">
                <a:solidFill>
                  <a:srgbClr val="1A1A1A"/>
                </a:solidFill>
              </a:rPr>
              <a:t>     Why: the model shifts risk to the worker (no security/benefits) and drains the firm's retained knowledge.</a:t>
            </a:r>
          </a:p>
          <a:p>
            <a:pPr>
              <a:spcBef>
                <a:spcPts val="900"/>
              </a:spcBef>
            </a:pPr>
            <a:r>
              <a:rPr sz="1700" b="1">
                <a:solidFill>
                  <a:srgbClr val="0C2B4A"/>
                </a:solidFill>
              </a:rPr>
              <a:t>Q2.  A major risk specific to OFFSHORE outsourcing is:</a:t>
            </a:r>
          </a:p>
          <a:p>
            <a:pPr lvl="1"/>
            <a:r>
              <a:rPr sz="1500" b="1">
                <a:solidFill>
                  <a:srgbClr val="0F6E56"/>
                </a:solidFill>
              </a:rPr>
              <a:t>a) higher taxes   b) ✅ data security/confidentiality across borders (+ timezone/quality gaps)   c) too much control   d) none</a:t>
            </a:r>
          </a:p>
          <a:p>
            <a:pPr lvl="1">
              <a:spcBef>
                <a:spcPts val="600"/>
              </a:spcBef>
            </a:pPr>
            <a:r>
              <a:rPr sz="1500" i="1">
                <a:solidFill>
                  <a:srgbClr val="1A1A1A"/>
                </a:solidFill>
              </a:rPr>
              <a:t>     Why: data crosses into a jurisdiction with possibly weaker law, and distance strains quality/coordination.</a:t>
            </a:r>
          </a:p>
          <a:p>
            <a:pPr lvl="1">
              <a:spcBef>
                <a:spcPts val="600"/>
              </a:spcBef>
            </a:pPr>
            <a:r>
              <a:rPr sz="1500" i="1">
                <a:solidFill>
                  <a:srgbClr val="1A1A1A"/>
                </a:solidFill>
              </a:rPr>
              <a:t>Discussion: is Nepal being an IT-outsourcing hub mostly good or mostly exploitative? Argue with examples.</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55606B"/>
                </a:solidFill>
              </a:rPr>
              <a:t>52 / 94</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C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C2B4A"/>
                </a:solidFill>
              </a:rPr>
              <a:t>S19 · SUMMARY  ·  [~2 MIN]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Summary &amp; Key Takeaways</a:t>
            </a:r>
          </a:p>
        </p:txBody>
      </p:sp>
      <p:sp>
        <p:nvSpPr>
          <p:cNvPr id="5" name="TextBox 4"/>
          <p:cNvSpPr txBox="1"/>
          <p:nvPr/>
        </p:nvSpPr>
        <p:spPr>
          <a:xfrm>
            <a:off x="640080" y="1554480"/>
            <a:ext cx="10972800" cy="2468880"/>
          </a:xfrm>
          <a:prstGeom prst="rect">
            <a:avLst/>
          </a:prstGeom>
          <a:noFill/>
        </p:spPr>
        <p:txBody>
          <a:bodyPr wrap="square">
            <a:spAutoFit/>
          </a:bodyPr>
          <a:lstStyle/>
          <a:p>
            <a:pPr>
              <a:spcAft>
                <a:spcPts val="800"/>
              </a:spcAft>
            </a:pPr>
            <a:r>
              <a:rPr sz="1500">
                <a:solidFill>
                  <a:srgbClr val="1A1A1A"/>
                </a:solidFill>
              </a:rPr>
              <a:t>1.  Contingent work trades the worker's security for the firm's flexibility — and shifts risk onto the worker.</a:t>
            </a:r>
          </a:p>
          <a:p>
            <a:pPr>
              <a:spcAft>
                <a:spcPts val="800"/>
              </a:spcAft>
            </a:pPr>
            <a:r>
              <a:rPr sz="1500">
                <a:solidFill>
                  <a:srgbClr val="1A1A1A"/>
                </a:solidFill>
              </a:rPr>
              <a:t>2.  Offshore outsourcing trades cost for control and data-security risk; the duty of care travels with the data.</a:t>
            </a:r>
          </a:p>
          <a:p>
            <a:pPr>
              <a:spcAft>
                <a:spcPts val="800"/>
              </a:spcAft>
            </a:pPr>
            <a:r>
              <a:rPr sz="1500">
                <a:solidFill>
                  <a:srgbClr val="1A1A1A"/>
                </a:solidFill>
              </a:rPr>
              <a:t>3.  The ethics means weighing ALL stakeholders — including the offshore worker — not a one-word verdict.</a:t>
            </a:r>
          </a:p>
        </p:txBody>
      </p:sp>
      <p:sp>
        <p:nvSpPr>
          <p:cNvPr id="6" name="Rounded Rectangle 5"/>
          <p:cNvSpPr/>
          <p:nvPr/>
        </p:nvSpPr>
        <p:spPr>
          <a:xfrm>
            <a:off x="640080" y="4160520"/>
            <a:ext cx="10972800" cy="1234440"/>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Why this matters</a:t>
            </a:r>
          </a:p>
          <a:p>
            <a:pPr>
              <a:spcBef>
                <a:spcPts val="300"/>
              </a:spcBef>
            </a:pPr>
            <a:r>
              <a:rPr sz="1350">
                <a:solidFill>
                  <a:srgbClr val="1A1A1A"/>
                </a:solidFill>
              </a:rPr>
              <a:t>Most of you will BE the contingent or offshore worker — knowing your rights, the risks you carry, and the ethics of the model protects you and shapes how you treat others when you're the one hiring. This is your own career, not an abstraction.</a:t>
            </a:r>
          </a:p>
        </p:txBody>
      </p:sp>
      <p:sp>
        <p:nvSpPr>
          <p:cNvPr id="7" name="Rounded Rectangle 6"/>
          <p:cNvSpPr/>
          <p:nvPr/>
        </p:nvSpPr>
        <p:spPr>
          <a:xfrm>
            <a:off x="640080" y="5504688"/>
            <a:ext cx="10972800" cy="105156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Next</a:t>
            </a:r>
          </a:p>
          <a:p>
            <a:pPr>
              <a:spcBef>
                <a:spcPts val="300"/>
              </a:spcBef>
            </a:pPr>
            <a:r>
              <a:rPr sz="1350">
                <a:solidFill>
                  <a:srgbClr val="1A1A1A"/>
                </a:solidFill>
              </a:rPr>
              <a:t>S20 — what to do when you see your organization doing wrong: whistle-blowing.</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53 / 94</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185FA5"/>
        </a:solidFill>
        <a:effectLst/>
      </p:bgPr>
    </p:bg>
    <p:spTree>
      <p:nvGrpSpPr>
        <p:cNvPr id="1" name=""/>
        <p:cNvGrpSpPr/>
        <p:nvPr/>
      </p:nvGrpSpPr>
      <p:grpSpPr/>
      <p:sp>
        <p:nvSpPr>
          <p:cNvPr id="2" name="TextBox 1"/>
          <p:cNvSpPr txBox="1"/>
          <p:nvPr/>
        </p:nvSpPr>
        <p:spPr>
          <a:xfrm>
            <a:off x="822960" y="1737360"/>
            <a:ext cx="10515600" cy="548640"/>
          </a:xfrm>
          <a:prstGeom prst="rect">
            <a:avLst/>
          </a:prstGeom>
          <a:noFill/>
        </p:spPr>
        <p:txBody>
          <a:bodyPr wrap="none">
            <a:spAutoFit/>
          </a:bodyPr>
          <a:lstStyle/>
          <a:p>
            <a:r>
              <a:rPr sz="1500" b="1">
                <a:solidFill>
                  <a:srgbClr val="BFDCF2"/>
                </a:solidFill>
              </a:rPr>
              <a:t>SESSION 20 · LECTURE HOUR 4 (OF 5)</a:t>
            </a:r>
          </a:p>
        </p:txBody>
      </p:sp>
      <p:sp>
        <p:nvSpPr>
          <p:cNvPr id="3" name="TextBox 2"/>
          <p:cNvSpPr txBox="1"/>
          <p:nvPr/>
        </p:nvSpPr>
        <p:spPr>
          <a:xfrm>
            <a:off x="822960" y="2286000"/>
            <a:ext cx="10515600" cy="1280160"/>
          </a:xfrm>
          <a:prstGeom prst="rect">
            <a:avLst/>
          </a:prstGeom>
          <a:noFill/>
        </p:spPr>
        <p:txBody>
          <a:bodyPr wrap="square">
            <a:spAutoFit/>
          </a:bodyPr>
          <a:lstStyle/>
          <a:p>
            <a:r>
              <a:rPr sz="3000" b="1">
                <a:solidFill>
                  <a:srgbClr val="FFFFFF"/>
                </a:solidFill>
              </a:rPr>
              <a:t>Whistle-Blowing</a:t>
            </a:r>
          </a:p>
        </p:txBody>
      </p:sp>
      <p:sp>
        <p:nvSpPr>
          <p:cNvPr id="4" name="Rectangle 3"/>
          <p:cNvSpPr/>
          <p:nvPr/>
        </p:nvSpPr>
        <p:spPr>
          <a:xfrm>
            <a:off x="822960" y="3703320"/>
            <a:ext cx="1280160" cy="82296"/>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3886200"/>
            <a:ext cx="10515600" cy="2194560"/>
          </a:xfrm>
          <a:prstGeom prst="rect">
            <a:avLst/>
          </a:prstGeom>
          <a:noFill/>
        </p:spPr>
        <p:txBody>
          <a:bodyPr wrap="square">
            <a:spAutoFit/>
          </a:bodyPr>
          <a:lstStyle/>
          <a:p>
            <a:r>
              <a:rPr sz="1800" i="1">
                <a:solidFill>
                  <a:srgbClr val="E8F1F9"/>
                </a:solidFill>
              </a:rPr>
              <a:t>🎣  You discover your company is shipping software you KNOW will leak customers' national-ID data, and management says 'ship it anyway.' Do you stay quiet, quit, or go public — and what happens to YOU if you speak up?</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E8F0F7"/>
                </a:solidFill>
              </a:rPr>
              <a:t>54 / 94</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S20 · CONCEPT 1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What Whistle-Blowing Is</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Whistle-blowing is an insider revealing wrongdoing — illegal, unethical, or dangerous conduct — within an organization. It can be INTERNAL (report up the chain or to an ethics officer) or EXTERNAL (regulator, press, public). At its core is a clash: the duty of loyalty to your employer vs the duty to protect the public.</a:t>
            </a:r>
          </a:p>
          <a:p>
            <a:pPr>
              <a:spcAft>
                <a:spcPts val="500"/>
              </a:spcAft>
            </a:pPr>
            <a:r>
              <a:rPr sz="1200" b="1">
                <a:solidFill>
                  <a:srgbClr val="185FA5"/>
                </a:solidFill>
              </a:rPr>
              <a:t>HOW IT WORKS</a:t>
            </a:r>
          </a:p>
          <a:p>
            <a:pPr>
              <a:spcAft>
                <a:spcPts val="600"/>
              </a:spcAft>
            </a:pPr>
            <a:r>
              <a:rPr sz="1400">
                <a:solidFill>
                  <a:srgbClr val="1A1A1A"/>
                </a:solidFill>
              </a:rPr>
              <a:t>•  Internal first: manager, ethics officer, internal audit — give the organization a chance to fix it.</a:t>
            </a:r>
          </a:p>
          <a:p>
            <a:pPr>
              <a:spcAft>
                <a:spcPts val="600"/>
              </a:spcAft>
            </a:pPr>
            <a:r>
              <a:rPr sz="1400">
                <a:solidFill>
                  <a:srgbClr val="1A1A1A"/>
                </a:solidFill>
              </a:rPr>
              <a:t>•  External: a regulator, the press, or the public — when internal channels fail or are the problem.</a:t>
            </a:r>
          </a:p>
          <a:p>
            <a:pPr>
              <a:spcAft>
                <a:spcPts val="600"/>
              </a:spcAft>
            </a:pPr>
            <a:r>
              <a:rPr sz="1400">
                <a:solidFill>
                  <a:srgbClr val="1A1A1A"/>
                </a:solidFill>
              </a:rPr>
              <a:t>•  It resolves the Unit 2 tension: loyalty has a LIMIT — it never requires covering up harm.</a:t>
            </a:r>
          </a:p>
          <a:p>
            <a:pPr>
              <a:spcAft>
                <a:spcPts val="600"/>
              </a:spcAft>
            </a:pPr>
            <a:r>
              <a:rPr sz="1400">
                <a:solidFill>
                  <a:srgbClr val="1A1A1A"/>
                </a:solidFill>
              </a:rPr>
              <a:t>•  It is a considered act to protect stakeholders, not an impulsive betrayal.</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Whistle-blowing = an insider exposing wrongdoing when loyalty would mean covering up harm.</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55 / 94</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S20 · CONCEPT 1 · COMPARISON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Internal vs external whistle-blowing — and the 'snitch' myth</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3058732"/>
                <a:gridCol w="4185633"/>
                <a:gridCol w="4185633"/>
              </a:tblGrid>
              <a:tr h="883310">
                <a:tc>
                  <a:txBody>
                    <a:bodyPr wrap="square"/>
                    <a:lstStyle/>
                    <a:p>
                      <a:r>
                        <a:rPr sz="1200" b="1">
                          <a:solidFill>
                            <a:srgbClr val="FFFFFF"/>
                          </a:solidFill>
                        </a:rPr>
                        <a:t>Question</a:t>
                      </a:r>
                    </a:p>
                  </a:txBody>
                  <a:tcPr anchor="ctr" marL="73152" marR="54864" marT="27432" marB="27432">
                    <a:solidFill>
                      <a:srgbClr val="0C2B4A"/>
                    </a:solidFill>
                  </a:tcPr>
                </a:tc>
                <a:tc>
                  <a:txBody>
                    <a:bodyPr wrap="square"/>
                    <a:lstStyle/>
                    <a:p>
                      <a:r>
                        <a:rPr sz="1200" b="1">
                          <a:solidFill>
                            <a:srgbClr val="FFFFFF"/>
                          </a:solidFill>
                        </a:rPr>
                        <a:t>Internal whistle-blowing</a:t>
                      </a:r>
                    </a:p>
                  </a:txBody>
                  <a:tcPr anchor="ctr" marL="73152" marR="54864" marT="27432" marB="27432">
                    <a:solidFill>
                      <a:srgbClr val="0C2B4A"/>
                    </a:solidFill>
                  </a:tcPr>
                </a:tc>
                <a:tc>
                  <a:txBody>
                    <a:bodyPr wrap="square"/>
                    <a:lstStyle/>
                    <a:p>
                      <a:r>
                        <a:rPr sz="1200" b="1">
                          <a:solidFill>
                            <a:srgbClr val="FFFFFF"/>
                          </a:solidFill>
                        </a:rPr>
                        <a:t>External whistle-blowing</a:t>
                      </a:r>
                    </a:p>
                  </a:txBody>
                  <a:tcPr anchor="ctr" marL="73152" marR="54864" marT="27432" marB="27432">
                    <a:solidFill>
                      <a:srgbClr val="0C2B4A"/>
                    </a:solidFill>
                  </a:tcPr>
                </a:tc>
              </a:tr>
              <a:tr h="883310">
                <a:tc>
                  <a:txBody>
                    <a:bodyPr wrap="square"/>
                    <a:lstStyle/>
                    <a:p>
                      <a:r>
                        <a:rPr sz="1150" b="1">
                          <a:solidFill>
                            <a:srgbClr val="0C2B4A"/>
                          </a:solidFill>
                        </a:rPr>
                        <a:t>Who do you tell?</a:t>
                      </a:r>
                    </a:p>
                  </a:txBody>
                  <a:tcPr anchor="ctr" marL="73152" marR="54864" marT="27432" marB="27432">
                    <a:solidFill>
                      <a:srgbClr val="FFFFFF"/>
                    </a:solidFill>
                  </a:tcPr>
                </a:tc>
                <a:tc>
                  <a:txBody>
                    <a:bodyPr wrap="square"/>
                    <a:lstStyle/>
                    <a:p>
                      <a:r>
                        <a:rPr sz="1150">
                          <a:solidFill>
                            <a:srgbClr val="1A1A1A"/>
                          </a:solidFill>
                        </a:rPr>
                        <a:t>Manager, ethics officer, internal audit</a:t>
                      </a:r>
                    </a:p>
                  </a:txBody>
                  <a:tcPr anchor="ctr" marL="73152" marR="54864" marT="27432" marB="27432">
                    <a:solidFill>
                      <a:srgbClr val="FFFFFF"/>
                    </a:solidFill>
                  </a:tcPr>
                </a:tc>
                <a:tc>
                  <a:txBody>
                    <a:bodyPr wrap="square"/>
                    <a:lstStyle/>
                    <a:p>
                      <a:r>
                        <a:rPr sz="1150">
                          <a:solidFill>
                            <a:srgbClr val="1A1A1A"/>
                          </a:solidFill>
                        </a:rPr>
                        <a:t>Regulator, press, or the public</a:t>
                      </a:r>
                    </a:p>
                  </a:txBody>
                  <a:tcPr anchor="ctr" marL="73152" marR="54864" marT="27432" marB="27432">
                    <a:solidFill>
                      <a:srgbClr val="FFFFFF"/>
                    </a:solidFill>
                  </a:tcPr>
                </a:tc>
              </a:tr>
              <a:tr h="883310">
                <a:tc>
                  <a:txBody>
                    <a:bodyPr wrap="square"/>
                    <a:lstStyle/>
                    <a:p>
                      <a:r>
                        <a:rPr sz="1150" b="1">
                          <a:solidFill>
                            <a:srgbClr val="0C2B4A"/>
                          </a:solidFill>
                        </a:rPr>
                        <a:t>When?</a:t>
                      </a:r>
                    </a:p>
                  </a:txBody>
                  <a:tcPr anchor="ctr" marL="73152" marR="54864" marT="27432" marB="27432">
                    <a:solidFill>
                      <a:srgbClr val="EEF3F8"/>
                    </a:solidFill>
                  </a:tcPr>
                </a:tc>
                <a:tc>
                  <a:txBody>
                    <a:bodyPr wrap="square"/>
                    <a:lstStyle/>
                    <a:p>
                      <a:r>
                        <a:rPr sz="1150">
                          <a:solidFill>
                            <a:srgbClr val="1A1A1A"/>
                          </a:solidFill>
                        </a:rPr>
                        <a:t>First — give the org a chance to fix it</a:t>
                      </a:r>
                    </a:p>
                  </a:txBody>
                  <a:tcPr anchor="ctr" marL="73152" marR="54864" marT="27432" marB="27432">
                    <a:solidFill>
                      <a:srgbClr val="EEF3F8"/>
                    </a:solidFill>
                  </a:tcPr>
                </a:tc>
                <a:tc>
                  <a:txBody>
                    <a:bodyPr wrap="square"/>
                    <a:lstStyle/>
                    <a:p>
                      <a:r>
                        <a:rPr sz="1150">
                          <a:solidFill>
                            <a:srgbClr val="1A1A1A"/>
                          </a:solidFill>
                        </a:rPr>
                        <a:t>When internal channels fail or are complicit</a:t>
                      </a:r>
                    </a:p>
                  </a:txBody>
                  <a:tcPr anchor="ctr" marL="73152" marR="54864" marT="27432" marB="27432">
                    <a:solidFill>
                      <a:srgbClr val="EEF3F8"/>
                    </a:solidFill>
                  </a:tcPr>
                </a:tc>
              </a:tr>
              <a:tr h="883310">
                <a:tc>
                  <a:txBody>
                    <a:bodyPr wrap="square"/>
                    <a:lstStyle/>
                    <a:p>
                      <a:r>
                        <a:rPr sz="1150" b="1">
                          <a:solidFill>
                            <a:srgbClr val="0C2B4A"/>
                          </a:solidFill>
                        </a:rPr>
                        <a:t>Risk to you</a:t>
                      </a:r>
                    </a:p>
                  </a:txBody>
                  <a:tcPr anchor="ctr" marL="73152" marR="54864" marT="27432" marB="27432">
                    <a:solidFill>
                      <a:srgbClr val="FFFFFF"/>
                    </a:solidFill>
                  </a:tcPr>
                </a:tc>
                <a:tc>
                  <a:txBody>
                    <a:bodyPr wrap="square"/>
                    <a:lstStyle/>
                    <a:p>
                      <a:r>
                        <a:rPr sz="1150">
                          <a:solidFill>
                            <a:srgbClr val="1A1A1A"/>
                          </a:solidFill>
                        </a:rPr>
                        <a:t>Lower, but retaliation still possible</a:t>
                      </a:r>
                    </a:p>
                  </a:txBody>
                  <a:tcPr anchor="ctr" marL="73152" marR="54864" marT="27432" marB="27432">
                    <a:solidFill>
                      <a:srgbClr val="FFFFFF"/>
                    </a:solidFill>
                  </a:tcPr>
                </a:tc>
                <a:tc>
                  <a:txBody>
                    <a:bodyPr wrap="square"/>
                    <a:lstStyle/>
                    <a:p>
                      <a:r>
                        <a:rPr sz="1150">
                          <a:solidFill>
                            <a:srgbClr val="1A1A1A"/>
                          </a:solidFill>
                        </a:rPr>
                        <a:t>Higher — public exposure, legal risk</a:t>
                      </a:r>
                    </a:p>
                  </a:txBody>
                  <a:tcPr anchor="ctr" marL="73152" marR="54864" marT="27432" marB="27432">
                    <a:solidFill>
                      <a:srgbClr val="FFFFFF"/>
                    </a:solidFill>
                  </a:tcPr>
                </a:tc>
              </a:tr>
              <a:tr h="883312">
                <a:tc>
                  <a:txBody>
                    <a:bodyPr wrap="square"/>
                    <a:lstStyle/>
                    <a:p>
                      <a:r>
                        <a:rPr sz="1150" b="1">
                          <a:solidFill>
                            <a:srgbClr val="0C2B4A"/>
                          </a:solidFill>
                        </a:rPr>
                        <a:t>Is it disloyalty?</a:t>
                      </a:r>
                    </a:p>
                  </a:txBody>
                  <a:tcPr anchor="ctr" marL="73152" marR="54864" marT="27432" marB="27432">
                    <a:solidFill>
                      <a:srgbClr val="EEF3F8"/>
                    </a:solidFill>
                  </a:tcPr>
                </a:tc>
                <a:tc>
                  <a:txBody>
                    <a:bodyPr wrap="square"/>
                    <a:lstStyle/>
                    <a:p>
                      <a:r>
                        <a:rPr sz="1150">
                          <a:solidFill>
                            <a:srgbClr val="1A1A1A"/>
                          </a:solidFill>
                        </a:rPr>
                        <a:t>No — it protects the org too</a:t>
                      </a:r>
                    </a:p>
                  </a:txBody>
                  <a:tcPr anchor="ctr" marL="73152" marR="54864" marT="27432" marB="27432">
                    <a:solidFill>
                      <a:srgbClr val="EEF3F8"/>
                    </a:solidFill>
                  </a:tcPr>
                </a:tc>
                <a:tc>
                  <a:txBody>
                    <a:bodyPr wrap="square"/>
                    <a:lstStyle/>
                    <a:p>
                      <a:r>
                        <a:rPr sz="1150">
                          <a:solidFill>
                            <a:srgbClr val="1A1A1A"/>
                          </a:solidFill>
                        </a:rPr>
                        <a:t>No — it protects the public when the org won't</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A whistle-blower is not a disloyal 'snitch' — ethical whistle-blowing protects the public and stakeholders precisely when internal channels have failed.</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56 / 94</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S20 · CONCEPT 1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What Whistle-Blowing Is</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Edward Snowden (NSA mass surveillance) and Frances Haugen (leaking internal Facebook/Meta research on known harms) are the defining public-interest disclosures of the era — insiders who judged that the public's right to know outweighed their duty of loyalty. Their very different receptions show how contested and personally costly the act is.</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"A whistle-blower is just a disloyal snitch." Ethical whistle-blowing protects the public and stakeholders when internal channels have failed — it's an act of responsibility, not betrayal. Loyalty to an employer never extends to helping it conceal serious harm (the Unit 2 'loyalty has a limit' idea).</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Whistle-blowing is an insider revealing illegal, unethical, or dangerous conduct within an organization — internally (up the chain or to an ethics officer) or externally (regulator, press, public). It resolves the clash between loyalty to the employer and duty to the public: loyalty has a limit and never requires covering up harm, so responsible whistle-blowing is protection, not betrayal.</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whistle-blowing · internal vs external · loyalty vs public interest · not a 'snitch' · Snowden · Haugen</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57 / 94</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S20 · CONCEPT 1 · CONCRETE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Whistle-blowing cases — internal, external, or neither</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4697260"/>
                <a:gridCol w="2661780"/>
                <a:gridCol w="4070958"/>
              </a:tblGrid>
              <a:tr h="630936">
                <a:tc>
                  <a:txBody>
                    <a:bodyPr wrap="square"/>
                    <a:lstStyle/>
                    <a:p>
                      <a:r>
                        <a:rPr sz="1150" b="1">
                          <a:solidFill>
                            <a:srgbClr val="FFFFFF"/>
                          </a:solidFill>
                        </a:rPr>
                        <a:t>Case</a:t>
                      </a:r>
                    </a:p>
                  </a:txBody>
                  <a:tcPr anchor="ctr" marL="73152" marR="54864" marT="27432" marB="27432">
                    <a:solidFill>
                      <a:srgbClr val="0C2B4A"/>
                    </a:solidFill>
                  </a:tcPr>
                </a:tc>
                <a:tc>
                  <a:txBody>
                    <a:bodyPr wrap="square"/>
                    <a:lstStyle/>
                    <a:p>
                      <a:r>
                        <a:rPr sz="1150" b="1">
                          <a:solidFill>
                            <a:srgbClr val="FFFFFF"/>
                          </a:solidFill>
                        </a:rPr>
                        <a:t>Internal / external?</a:t>
                      </a:r>
                    </a:p>
                  </a:txBody>
                  <a:tcPr anchor="ctr" marL="73152" marR="54864" marT="27432" marB="27432">
                    <a:solidFill>
                      <a:srgbClr val="0C2B4A"/>
                    </a:solidFill>
                  </a:tcPr>
                </a:tc>
                <a:tc>
                  <a:txBody>
                    <a:bodyPr wrap="square"/>
                    <a:lstStyle/>
                    <a:p>
                      <a:r>
                        <a:rPr sz="1150" b="1">
                          <a:solidFill>
                            <a:srgbClr val="FFFFFF"/>
                          </a:solidFill>
                        </a:rPr>
                        <a:t>Verdict (loyalty vs public)</a:t>
                      </a:r>
                    </a:p>
                  </a:txBody>
                  <a:tcPr anchor="ctr" marL="73152" marR="54864" marT="27432" marB="27432">
                    <a:solidFill>
                      <a:srgbClr val="0C2B4A"/>
                    </a:solidFill>
                  </a:tcPr>
                </a:tc>
              </a:tr>
              <a:tr h="630936">
                <a:tc>
                  <a:txBody>
                    <a:bodyPr wrap="square"/>
                    <a:lstStyle/>
                    <a:p>
                      <a:r>
                        <a:rPr sz="1100" b="1">
                          <a:solidFill>
                            <a:srgbClr val="0C2B4A"/>
                          </a:solidFill>
                        </a:rPr>
                        <a:t>Report a data-leak bug to your ethics officer</a:t>
                      </a:r>
                    </a:p>
                  </a:txBody>
                  <a:tcPr anchor="ctr" marL="73152" marR="54864" marT="27432" marB="27432">
                    <a:solidFill>
                      <a:srgbClr val="FFFFFF"/>
                    </a:solidFill>
                  </a:tcPr>
                </a:tc>
                <a:tc>
                  <a:txBody>
                    <a:bodyPr wrap="square"/>
                    <a:lstStyle/>
                    <a:p>
                      <a:r>
                        <a:rPr sz="1100">
                          <a:solidFill>
                            <a:srgbClr val="1A1A1A"/>
                          </a:solidFill>
                        </a:rPr>
                        <a:t>Internal</a:t>
                      </a:r>
                    </a:p>
                  </a:txBody>
                  <a:tcPr anchor="ctr" marL="73152" marR="54864" marT="27432" marB="27432">
                    <a:solidFill>
                      <a:srgbClr val="FFFFFF"/>
                    </a:solidFill>
                  </a:tcPr>
                </a:tc>
                <a:tc>
                  <a:txBody>
                    <a:bodyPr wrap="square"/>
                    <a:lstStyle/>
                    <a:p>
                      <a:r>
                        <a:rPr sz="1100">
                          <a:solidFill>
                            <a:srgbClr val="1A1A1A"/>
                          </a:solidFill>
                        </a:rPr>
                        <a:t>Gives the org a chance to fix it — not disloyal</a:t>
                      </a:r>
                    </a:p>
                  </a:txBody>
                  <a:tcPr anchor="ctr" marL="73152" marR="54864" marT="27432" marB="27432">
                    <a:solidFill>
                      <a:srgbClr val="FFFFFF"/>
                    </a:solidFill>
                  </a:tcPr>
                </a:tc>
              </a:tr>
              <a:tr h="630936">
                <a:tc>
                  <a:txBody>
                    <a:bodyPr wrap="square"/>
                    <a:lstStyle/>
                    <a:p>
                      <a:r>
                        <a:rPr sz="1100" b="1">
                          <a:solidFill>
                            <a:srgbClr val="0C2B4A"/>
                          </a:solidFill>
                        </a:rPr>
                        <a:t>Snowden exposes NSA mass surveillance</a:t>
                      </a:r>
                    </a:p>
                  </a:txBody>
                  <a:tcPr anchor="ctr" marL="73152" marR="54864" marT="27432" marB="27432">
                    <a:solidFill>
                      <a:srgbClr val="EEF3F8"/>
                    </a:solidFill>
                  </a:tcPr>
                </a:tc>
                <a:tc>
                  <a:txBody>
                    <a:bodyPr wrap="square"/>
                    <a:lstStyle/>
                    <a:p>
                      <a:r>
                        <a:rPr sz="1100">
                          <a:solidFill>
                            <a:srgbClr val="1A1A1A"/>
                          </a:solidFill>
                        </a:rPr>
                        <a:t>External</a:t>
                      </a:r>
                    </a:p>
                  </a:txBody>
                  <a:tcPr anchor="ctr" marL="73152" marR="54864" marT="27432" marB="27432">
                    <a:solidFill>
                      <a:srgbClr val="EEF3F8"/>
                    </a:solidFill>
                  </a:tcPr>
                </a:tc>
                <a:tc>
                  <a:txBody>
                    <a:bodyPr wrap="square"/>
                    <a:lstStyle/>
                    <a:p>
                      <a:r>
                        <a:rPr sz="1100">
                          <a:solidFill>
                            <a:srgbClr val="1A1A1A"/>
                          </a:solidFill>
                        </a:rPr>
                        <a:t>Public interest over loyalty; huge personal cost</a:t>
                      </a:r>
                    </a:p>
                  </a:txBody>
                  <a:tcPr anchor="ctr" marL="73152" marR="54864" marT="27432" marB="27432">
                    <a:solidFill>
                      <a:srgbClr val="EEF3F8"/>
                    </a:solidFill>
                  </a:tcPr>
                </a:tc>
              </a:tr>
              <a:tr h="630936">
                <a:tc>
                  <a:txBody>
                    <a:bodyPr wrap="square"/>
                    <a:lstStyle/>
                    <a:p>
                      <a:r>
                        <a:rPr sz="1100" b="1">
                          <a:solidFill>
                            <a:srgbClr val="0C2B4A"/>
                          </a:solidFill>
                        </a:rPr>
                        <a:t>Frances Haugen leaks Meta's harm research</a:t>
                      </a:r>
                    </a:p>
                  </a:txBody>
                  <a:tcPr anchor="ctr" marL="73152" marR="54864" marT="27432" marB="27432">
                    <a:solidFill>
                      <a:srgbClr val="FFFFFF"/>
                    </a:solidFill>
                  </a:tcPr>
                </a:tc>
                <a:tc>
                  <a:txBody>
                    <a:bodyPr wrap="square"/>
                    <a:lstStyle/>
                    <a:p>
                      <a:r>
                        <a:rPr sz="1100">
                          <a:solidFill>
                            <a:srgbClr val="1A1A1A"/>
                          </a:solidFill>
                        </a:rPr>
                        <a:t>External</a:t>
                      </a:r>
                    </a:p>
                  </a:txBody>
                  <a:tcPr anchor="ctr" marL="73152" marR="54864" marT="27432" marB="27432">
                    <a:solidFill>
                      <a:srgbClr val="FFFFFF"/>
                    </a:solidFill>
                  </a:tcPr>
                </a:tc>
                <a:tc>
                  <a:txBody>
                    <a:bodyPr wrap="square"/>
                    <a:lstStyle/>
                    <a:p>
                      <a:r>
                        <a:rPr sz="1100">
                          <a:solidFill>
                            <a:srgbClr val="1A1A1A"/>
                          </a:solidFill>
                        </a:rPr>
                        <a:t>Insider judged the public's right to know won</a:t>
                      </a:r>
                    </a:p>
                  </a:txBody>
                  <a:tcPr anchor="ctr" marL="73152" marR="54864" marT="27432" marB="27432">
                    <a:solidFill>
                      <a:srgbClr val="FFFFFF"/>
                    </a:solidFill>
                  </a:tcPr>
                </a:tc>
              </a:tr>
              <a:tr h="630936">
                <a:tc>
                  <a:txBody>
                    <a:bodyPr wrap="square"/>
                    <a:lstStyle/>
                    <a:p>
                      <a:r>
                        <a:rPr sz="1100" b="1">
                          <a:solidFill>
                            <a:srgbClr val="0C2B4A"/>
                          </a:solidFill>
                        </a:rPr>
                        <a:t>Tell internal audit KYC data is being sold</a:t>
                      </a:r>
                    </a:p>
                  </a:txBody>
                  <a:tcPr anchor="ctr" marL="73152" marR="54864" marT="27432" marB="27432">
                    <a:solidFill>
                      <a:srgbClr val="EEF3F8"/>
                    </a:solidFill>
                  </a:tcPr>
                </a:tc>
                <a:tc>
                  <a:txBody>
                    <a:bodyPr wrap="square"/>
                    <a:lstStyle/>
                    <a:p>
                      <a:r>
                        <a:rPr sz="1100">
                          <a:solidFill>
                            <a:srgbClr val="1A1A1A"/>
                          </a:solidFill>
                        </a:rPr>
                        <a:t>Internal</a:t>
                      </a:r>
                    </a:p>
                  </a:txBody>
                  <a:tcPr anchor="ctr" marL="73152" marR="54864" marT="27432" marB="27432">
                    <a:solidFill>
                      <a:srgbClr val="EEF3F8"/>
                    </a:solidFill>
                  </a:tcPr>
                </a:tc>
                <a:tc>
                  <a:txBody>
                    <a:bodyPr wrap="square"/>
                    <a:lstStyle/>
                    <a:p>
                      <a:r>
                        <a:rPr sz="1100">
                          <a:solidFill>
                            <a:srgbClr val="1A1A1A"/>
                          </a:solidFill>
                        </a:rPr>
                        <a:t>Protects the org too — the first step</a:t>
                      </a:r>
                    </a:p>
                  </a:txBody>
                  <a:tcPr anchor="ctr" marL="73152" marR="54864" marT="27432" marB="27432">
                    <a:solidFill>
                      <a:srgbClr val="EEF3F8"/>
                    </a:solidFill>
                  </a:tcPr>
                </a:tc>
              </a:tr>
              <a:tr h="630936">
                <a:tc>
                  <a:txBody>
                    <a:bodyPr wrap="square"/>
                    <a:lstStyle/>
                    <a:p>
                      <a:r>
                        <a:rPr sz="1100" b="1">
                          <a:solidFill>
                            <a:srgbClr val="0C2B4A"/>
                          </a:solidFill>
                        </a:rPr>
                        <a:t>Go to the press after management ignores you</a:t>
                      </a:r>
                    </a:p>
                  </a:txBody>
                  <a:tcPr anchor="ctr" marL="73152" marR="54864" marT="27432" marB="27432">
                    <a:solidFill>
                      <a:srgbClr val="FFFFFF"/>
                    </a:solidFill>
                  </a:tcPr>
                </a:tc>
                <a:tc>
                  <a:txBody>
                    <a:bodyPr wrap="square"/>
                    <a:lstStyle/>
                    <a:p>
                      <a:r>
                        <a:rPr sz="1100">
                          <a:solidFill>
                            <a:srgbClr val="1A1A1A"/>
                          </a:solidFill>
                        </a:rPr>
                        <a:t>External</a:t>
                      </a:r>
                    </a:p>
                  </a:txBody>
                  <a:tcPr anchor="ctr" marL="73152" marR="54864" marT="27432" marB="27432">
                    <a:solidFill>
                      <a:srgbClr val="FFFFFF"/>
                    </a:solidFill>
                  </a:tcPr>
                </a:tc>
                <a:tc>
                  <a:txBody>
                    <a:bodyPr wrap="square"/>
                    <a:lstStyle/>
                    <a:p>
                      <a:r>
                        <a:rPr sz="1100">
                          <a:solidFill>
                            <a:srgbClr val="1A1A1A"/>
                          </a:solidFill>
                        </a:rPr>
                        <a:t>Justified when internal channels are complicit</a:t>
                      </a:r>
                    </a:p>
                  </a:txBody>
                  <a:tcPr anchor="ctr" marL="73152" marR="54864" marT="27432" marB="27432">
                    <a:solidFill>
                      <a:srgbClr val="FFFFFF"/>
                    </a:solidFill>
                  </a:tcPr>
                </a:tc>
              </a:tr>
              <a:tr h="630936">
                <a:tc>
                  <a:txBody>
                    <a:bodyPr wrap="square"/>
                    <a:lstStyle/>
                    <a:p>
                      <a:r>
                        <a:rPr sz="1100" b="1">
                          <a:solidFill>
                            <a:srgbClr val="0C2B4A"/>
                          </a:solidFill>
                        </a:rPr>
                        <a:t>Stay silent to 'stay loyal' while harm ships</a:t>
                      </a:r>
                    </a:p>
                  </a:txBody>
                  <a:tcPr anchor="ctr" marL="73152" marR="54864" marT="27432" marB="27432">
                    <a:solidFill>
                      <a:srgbClr val="EEF3F8"/>
                    </a:solidFill>
                  </a:tcPr>
                </a:tc>
                <a:tc>
                  <a:txBody>
                    <a:bodyPr wrap="square"/>
                    <a:lstStyle/>
                    <a:p>
                      <a:r>
                        <a:rPr sz="1100">
                          <a:solidFill>
                            <a:srgbClr val="1A1A1A"/>
                          </a:solidFill>
                        </a:rPr>
                        <a:t>Neither</a:t>
                      </a:r>
                    </a:p>
                  </a:txBody>
                  <a:tcPr anchor="ctr" marL="73152" marR="54864" marT="27432" marB="27432">
                    <a:solidFill>
                      <a:srgbClr val="EEF3F8"/>
                    </a:solidFill>
                  </a:tcPr>
                </a:tc>
                <a:tc>
                  <a:txBody>
                    <a:bodyPr wrap="square"/>
                    <a:lstStyle/>
                    <a:p>
                      <a:r>
                        <a:rPr sz="1100">
                          <a:solidFill>
                            <a:srgbClr val="1A1A1A"/>
                          </a:solidFill>
                        </a:rPr>
                        <a:t>Loyalty has a limit — silence enables the harm</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A whistle-blower is not a disloyal 'snitch': ethical whistle-blowing protects the public and stakeholders precisely when internal channels have failed. Loyalty never requires covering up serious harm.</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58 / 94</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S20 · CONCEPT 2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When and How to Blow the Whistle — responsibly</a:t>
            </a:r>
          </a:p>
        </p:txBody>
      </p:sp>
      <p:sp>
        <p:nvSpPr>
          <p:cNvPr id="5" name="TextBox 4"/>
          <p:cNvSpPr txBox="1"/>
          <p:nvPr/>
        </p:nvSpPr>
        <p:spPr>
          <a:xfrm>
            <a:off x="640080" y="1572768"/>
            <a:ext cx="5669280" cy="4617720"/>
          </a:xfrm>
          <a:prstGeom prst="rect">
            <a:avLst/>
          </a:prstGeom>
          <a:noFill/>
        </p:spPr>
        <p:txBody>
          <a:bodyPr wrap="square">
            <a:spAutoFit/>
          </a:bodyPr>
          <a:lstStyle/>
          <a:p>
            <a:pPr>
              <a:spcAft>
                <a:spcPts val="1000"/>
              </a:spcAft>
            </a:pPr>
            <a:r>
              <a:rPr sz="1500" b="1">
                <a:solidFill>
                  <a:srgbClr val="0C2B4A"/>
                </a:solidFill>
              </a:rPr>
              <a:t>Responsible whistle-blowing is a disciplined, last-resort process — not an impulsive leak. The steps: be sure of the facts and have evidence; confirm the harm is serious; exhaust internal channels first; keep records; seek advice; and go external only when internal routes fail.</a:t>
            </a:r>
          </a:p>
          <a:p>
            <a:pPr>
              <a:spcAft>
                <a:spcPts val="500"/>
              </a:spcAft>
            </a:pPr>
            <a:r>
              <a:rPr sz="1200" b="1">
                <a:solidFill>
                  <a:srgbClr val="185FA5"/>
                </a:solidFill>
              </a:rPr>
              <a:t>HOW IT WORKS</a:t>
            </a:r>
          </a:p>
          <a:p>
            <a:pPr>
              <a:spcAft>
                <a:spcPts val="600"/>
              </a:spcAft>
            </a:pPr>
            <a:r>
              <a:rPr sz="1400">
                <a:solidFill>
                  <a:srgbClr val="1A1A1A"/>
                </a:solidFill>
              </a:rPr>
              <a:t>•  Be sure of the FACTS — reason on evidence, not suspicion; keep dated records.</a:t>
            </a:r>
          </a:p>
          <a:p>
            <a:pPr>
              <a:spcAft>
                <a:spcPts val="600"/>
              </a:spcAft>
            </a:pPr>
            <a:r>
              <a:rPr sz="1400">
                <a:solidFill>
                  <a:srgbClr val="1A1A1A"/>
                </a:solidFill>
              </a:rPr>
              <a:t>•  Confirm the harm is SERIOUS (illegal, dangerous) — not a minor grievance.</a:t>
            </a:r>
          </a:p>
          <a:p>
            <a:pPr>
              <a:spcAft>
                <a:spcPts val="600"/>
              </a:spcAft>
            </a:pPr>
            <a:r>
              <a:rPr sz="1400">
                <a:solidFill>
                  <a:srgbClr val="1A1A1A"/>
                </a:solidFill>
              </a:rPr>
              <a:t>•  Report INTERNALLY first — manager, ethics officer, compliance/audit.</a:t>
            </a:r>
          </a:p>
          <a:p>
            <a:pPr>
              <a:spcAft>
                <a:spcPts val="600"/>
              </a:spcAft>
            </a:pPr>
            <a:r>
              <a:rPr sz="1400">
                <a:solidFill>
                  <a:srgbClr val="1A1A1A"/>
                </a:solidFill>
              </a:rPr>
              <a:t>•  Escalate externally (regulator, then press) only as a last resort when internal routes fail.</a:t>
            </a:r>
          </a:p>
        </p:txBody>
      </p:sp>
      <p:pic>
        <p:nvPicPr>
          <p:cNvPr id="6" name="Picture 5" descr="s20_flow.png"/>
          <p:cNvPicPr>
            <a:picLocks noChangeAspect="1"/>
          </p:cNvPicPr>
          <p:nvPr/>
        </p:nvPicPr>
        <p:blipFill>
          <a:blip r:embed="rId2"/>
          <a:stretch>
            <a:fillRect/>
          </a:stretch>
        </p:blipFill>
        <p:spPr>
          <a:xfrm>
            <a:off x="6355080" y="2339485"/>
            <a:ext cx="5532120" cy="2956270"/>
          </a:xfrm>
          <a:prstGeom prst="rect">
            <a:avLst/>
          </a:prstGeom>
        </p:spPr>
      </p:pic>
      <p:sp>
        <p:nvSpPr>
          <p:cNvPr id="7" name="Rectangle 6"/>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Evidence-first, internal-first; external is the last step, not the first.</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59 / 94</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S20 · CONCEPT 2 · SCAFFOLDING</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responsible whistle-blowing process</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3058732"/>
                <a:gridCol w="4185633"/>
                <a:gridCol w="4185633"/>
              </a:tblGrid>
              <a:tr h="736092">
                <a:tc>
                  <a:txBody>
                    <a:bodyPr wrap="square"/>
                    <a:lstStyle/>
                    <a:p>
                      <a:r>
                        <a:rPr sz="1150" b="1">
                          <a:solidFill>
                            <a:srgbClr val="FFFFFF"/>
                          </a:solidFill>
                        </a:rPr>
                        <a:t>Step</a:t>
                      </a:r>
                    </a:p>
                  </a:txBody>
                  <a:tcPr anchor="ctr" marL="73152" marR="54864" marT="27432" marB="27432">
                    <a:solidFill>
                      <a:srgbClr val="0C2B4A"/>
                    </a:solidFill>
                  </a:tcPr>
                </a:tc>
                <a:tc>
                  <a:txBody>
                    <a:bodyPr wrap="square"/>
                    <a:lstStyle/>
                    <a:p>
                      <a:r>
                        <a:rPr sz="1150" b="1">
                          <a:solidFill>
                            <a:srgbClr val="FFFFFF"/>
                          </a:solidFill>
                        </a:rPr>
                        <a:t>What you do</a:t>
                      </a:r>
                    </a:p>
                  </a:txBody>
                  <a:tcPr anchor="ctr" marL="73152" marR="54864" marT="27432" marB="27432">
                    <a:solidFill>
                      <a:srgbClr val="0C2B4A"/>
                    </a:solidFill>
                  </a:tcPr>
                </a:tc>
                <a:tc>
                  <a:txBody>
                    <a:bodyPr wrap="square"/>
                    <a:lstStyle/>
                    <a:p>
                      <a:r>
                        <a:rPr sz="1150" b="1">
                          <a:solidFill>
                            <a:srgbClr val="FFFFFF"/>
                          </a:solidFill>
                        </a:rPr>
                        <a:t>Why this order</a:t>
                      </a:r>
                    </a:p>
                  </a:txBody>
                  <a:tcPr anchor="ctr" marL="73152" marR="54864" marT="27432" marB="27432">
                    <a:solidFill>
                      <a:srgbClr val="0C2B4A"/>
                    </a:solidFill>
                  </a:tcPr>
                </a:tc>
              </a:tr>
              <a:tr h="736092">
                <a:tc>
                  <a:txBody>
                    <a:bodyPr wrap="square"/>
                    <a:lstStyle/>
                    <a:p>
                      <a:r>
                        <a:rPr sz="1100" b="1">
                          <a:solidFill>
                            <a:srgbClr val="0C2B4A"/>
                          </a:solidFill>
                        </a:rPr>
                        <a:t>1. Get the facts</a:t>
                      </a:r>
                    </a:p>
                  </a:txBody>
                  <a:tcPr anchor="ctr" marL="73152" marR="54864" marT="27432" marB="27432">
                    <a:solidFill>
                      <a:srgbClr val="FFFFFF"/>
                    </a:solidFill>
                  </a:tcPr>
                </a:tc>
                <a:tc>
                  <a:txBody>
                    <a:bodyPr wrap="square"/>
                    <a:lstStyle/>
                    <a:p>
                      <a:r>
                        <a:rPr sz="1100">
                          <a:solidFill>
                            <a:srgbClr val="1A1A1A"/>
                          </a:solidFill>
                        </a:rPr>
                        <a:t>Gather evidence; keep dated records</a:t>
                      </a:r>
                    </a:p>
                  </a:txBody>
                  <a:tcPr anchor="ctr" marL="73152" marR="54864" marT="27432" marB="27432">
                    <a:solidFill>
                      <a:srgbClr val="FFFFFF"/>
                    </a:solidFill>
                  </a:tcPr>
                </a:tc>
                <a:tc>
                  <a:txBody>
                    <a:bodyPr wrap="square"/>
                    <a:lstStyle/>
                    <a:p>
                      <a:r>
                        <a:rPr sz="1100">
                          <a:solidFill>
                            <a:srgbClr val="1A1A1A"/>
                          </a:solidFill>
                        </a:rPr>
                        <a:t>Acting on suspicion alone can be wrong and unprovable</a:t>
                      </a:r>
                    </a:p>
                  </a:txBody>
                  <a:tcPr anchor="ctr" marL="73152" marR="54864" marT="27432" marB="27432">
                    <a:solidFill>
                      <a:srgbClr val="FFFFFF"/>
                    </a:solidFill>
                  </a:tcPr>
                </a:tc>
              </a:tr>
              <a:tr h="736092">
                <a:tc>
                  <a:txBody>
                    <a:bodyPr wrap="square"/>
                    <a:lstStyle/>
                    <a:p>
                      <a:r>
                        <a:rPr sz="1100" b="1">
                          <a:solidFill>
                            <a:srgbClr val="0C2B4A"/>
                          </a:solidFill>
                        </a:rPr>
                        <a:t>2. Weigh the harm</a:t>
                      </a:r>
                    </a:p>
                  </a:txBody>
                  <a:tcPr anchor="ctr" marL="73152" marR="54864" marT="27432" marB="27432">
                    <a:solidFill>
                      <a:srgbClr val="EEF3F8"/>
                    </a:solidFill>
                  </a:tcPr>
                </a:tc>
                <a:tc>
                  <a:txBody>
                    <a:bodyPr wrap="square"/>
                    <a:lstStyle/>
                    <a:p>
                      <a:r>
                        <a:rPr sz="1100">
                          <a:solidFill>
                            <a:srgbClr val="1A1A1A"/>
                          </a:solidFill>
                        </a:rPr>
                        <a:t>Confirm it's serious (illegal/dangerous)</a:t>
                      </a:r>
                    </a:p>
                  </a:txBody>
                  <a:tcPr anchor="ctr" marL="73152" marR="54864" marT="27432" marB="27432">
                    <a:solidFill>
                      <a:srgbClr val="EEF3F8"/>
                    </a:solidFill>
                  </a:tcPr>
                </a:tc>
                <a:tc>
                  <a:txBody>
                    <a:bodyPr wrap="square"/>
                    <a:lstStyle/>
                    <a:p>
                      <a:r>
                        <a:rPr sz="1100">
                          <a:solidFill>
                            <a:srgbClr val="1A1A1A"/>
                          </a:solidFill>
                        </a:rPr>
                        <a:t>Whistle-blowing is for real harm, not minor gripes</a:t>
                      </a:r>
                    </a:p>
                  </a:txBody>
                  <a:tcPr anchor="ctr" marL="73152" marR="54864" marT="27432" marB="27432">
                    <a:solidFill>
                      <a:srgbClr val="EEF3F8"/>
                    </a:solidFill>
                  </a:tcPr>
                </a:tc>
              </a:tr>
              <a:tr h="736092">
                <a:tc>
                  <a:txBody>
                    <a:bodyPr wrap="square"/>
                    <a:lstStyle/>
                    <a:p>
                      <a:r>
                        <a:rPr sz="1100" b="1">
                          <a:solidFill>
                            <a:srgbClr val="0C2B4A"/>
                          </a:solidFill>
                        </a:rPr>
                        <a:t>3. Report internally</a:t>
                      </a:r>
                    </a:p>
                  </a:txBody>
                  <a:tcPr anchor="ctr" marL="73152" marR="54864" marT="27432" marB="27432">
                    <a:solidFill>
                      <a:srgbClr val="FFFFFF"/>
                    </a:solidFill>
                  </a:tcPr>
                </a:tc>
                <a:tc>
                  <a:txBody>
                    <a:bodyPr wrap="square"/>
                    <a:lstStyle/>
                    <a:p>
                      <a:r>
                        <a:rPr sz="1100">
                          <a:solidFill>
                            <a:srgbClr val="1A1A1A"/>
                          </a:solidFill>
                        </a:rPr>
                        <a:t>Manager, ethics officer, internal audit</a:t>
                      </a:r>
                    </a:p>
                  </a:txBody>
                  <a:tcPr anchor="ctr" marL="73152" marR="54864" marT="27432" marB="27432">
                    <a:solidFill>
                      <a:srgbClr val="FFFFFF"/>
                    </a:solidFill>
                  </a:tcPr>
                </a:tc>
                <a:tc>
                  <a:txBody>
                    <a:bodyPr wrap="square"/>
                    <a:lstStyle/>
                    <a:p>
                      <a:r>
                        <a:rPr sz="1100">
                          <a:solidFill>
                            <a:srgbClr val="1A1A1A"/>
                          </a:solidFill>
                        </a:rPr>
                        <a:t>Give the org a chance to fix it; builds your record</a:t>
                      </a:r>
                    </a:p>
                  </a:txBody>
                  <a:tcPr anchor="ctr" marL="73152" marR="54864" marT="27432" marB="27432">
                    <a:solidFill>
                      <a:srgbClr val="FFFFFF"/>
                    </a:solidFill>
                  </a:tcPr>
                </a:tc>
              </a:tr>
              <a:tr h="736092">
                <a:tc>
                  <a:txBody>
                    <a:bodyPr wrap="square"/>
                    <a:lstStyle/>
                    <a:p>
                      <a:r>
                        <a:rPr sz="1100" b="1">
                          <a:solidFill>
                            <a:srgbClr val="0C2B4A"/>
                          </a:solidFill>
                        </a:rPr>
                        <a:t>4. Escalate to a regulator</a:t>
                      </a:r>
                    </a:p>
                  </a:txBody>
                  <a:tcPr anchor="ctr" marL="73152" marR="54864" marT="27432" marB="27432">
                    <a:solidFill>
                      <a:srgbClr val="EEF3F8"/>
                    </a:solidFill>
                  </a:tcPr>
                </a:tc>
                <a:tc>
                  <a:txBody>
                    <a:bodyPr wrap="square"/>
                    <a:lstStyle/>
                    <a:p>
                      <a:r>
                        <a:rPr sz="1100">
                          <a:solidFill>
                            <a:srgbClr val="1A1A1A"/>
                          </a:solidFill>
                        </a:rPr>
                        <a:t>e.g. CIAA / the relevant authority</a:t>
                      </a:r>
                    </a:p>
                  </a:txBody>
                  <a:tcPr anchor="ctr" marL="73152" marR="54864" marT="27432" marB="27432">
                    <a:solidFill>
                      <a:srgbClr val="EEF3F8"/>
                    </a:solidFill>
                  </a:tcPr>
                </a:tc>
                <a:tc>
                  <a:txBody>
                    <a:bodyPr wrap="square"/>
                    <a:lstStyle/>
                    <a:p>
                      <a:r>
                        <a:rPr sz="1100">
                          <a:solidFill>
                            <a:srgbClr val="1A1A1A"/>
                          </a:solidFill>
                        </a:rPr>
                        <a:t>When internal routes are ignored or complicit</a:t>
                      </a:r>
                    </a:p>
                  </a:txBody>
                  <a:tcPr anchor="ctr" marL="73152" marR="54864" marT="27432" marB="27432">
                    <a:solidFill>
                      <a:srgbClr val="EEF3F8"/>
                    </a:solidFill>
                  </a:tcPr>
                </a:tc>
              </a:tr>
              <a:tr h="736092">
                <a:tc>
                  <a:txBody>
                    <a:bodyPr wrap="square"/>
                    <a:lstStyle/>
                    <a:p>
                      <a:r>
                        <a:rPr sz="1100" b="1">
                          <a:solidFill>
                            <a:srgbClr val="0C2B4A"/>
                          </a:solidFill>
                        </a:rPr>
                        <a:t>5. Go public</a:t>
                      </a:r>
                    </a:p>
                  </a:txBody>
                  <a:tcPr anchor="ctr" marL="73152" marR="54864" marT="27432" marB="27432">
                    <a:solidFill>
                      <a:srgbClr val="FFFFFF"/>
                    </a:solidFill>
                  </a:tcPr>
                </a:tc>
                <a:tc>
                  <a:txBody>
                    <a:bodyPr wrap="square"/>
                    <a:lstStyle/>
                    <a:p>
                      <a:r>
                        <a:rPr sz="1100">
                          <a:solidFill>
                            <a:srgbClr val="1A1A1A"/>
                          </a:solidFill>
                        </a:rPr>
                        <a:t>Press / public — last resort</a:t>
                      </a:r>
                    </a:p>
                  </a:txBody>
                  <a:tcPr anchor="ctr" marL="73152" marR="54864" marT="27432" marB="27432">
                    <a:solidFill>
                      <a:srgbClr val="FFFFFF"/>
                    </a:solidFill>
                  </a:tcPr>
                </a:tc>
                <a:tc>
                  <a:txBody>
                    <a:bodyPr wrap="square"/>
                    <a:lstStyle/>
                    <a:p>
                      <a:r>
                        <a:rPr sz="1100">
                          <a:solidFill>
                            <a:srgbClr val="1A1A1A"/>
                          </a:solidFill>
                        </a:rPr>
                        <a:t>Highest risk; use only when all else fails</a:t>
                      </a:r>
                    </a:p>
                  </a:txBody>
                  <a:tcPr anchor="ctr" marL="73152" marR="54864" marT="27432" marB="27432">
                    <a:solidFill>
                      <a:srgbClr val="FFFFFF"/>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Following the order protects both the public AND you — a documented, internal-first attempt is what distinguishes a responsible whistle-blower from a reckless leaker.</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60 / 94</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S20 · CONCEPT 2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When and How to Blow the Whistle</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You suspect, but can't yet prove, that customer data is being sold. The responsible path: gather concrete evidence and keep dated records; confirm the harm is serious; report to your manager, then the ethics/compliance officer or internal audit; if ignored, escalate to a regulator such as the CIAA; and only as a last resort go to the press.</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"If something's wrong, I should immediately post it online / tell the media." An impulsive public leak can be legally dangerous, unprovable, and can let the wrongdoer escape on a technicality. Evidence-first and internal-first is both more effective and more defensible — external disclosure is the final step, not the first.</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Responsible whistle-blowing is a disciplined, last-resort process: be sure of the facts with evidence, confirm the harm is serious, exhaust internal channels (manager, ethics officer, audit) first, keep records and seek advice, and go external (regulator, then press) only when internal routes fail. The order protects the public and the whistle-blower alike.</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responsible process · evidence-first · internal-first · escalate · CIAA · external as last resort</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61 / 94</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S20 · CONCEPT 2 · CONCRETE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One case (data being sold) — right vs wrong moves, in order</a:t>
            </a:r>
          </a:p>
        </p:txBody>
      </p:sp>
      <p:graphicFrame>
        <p:nvGraphicFramePr>
          <p:cNvPr id="5" name="Table 4"/>
          <p:cNvGraphicFramePr>
            <a:graphicFrameLocks noGrp="1"/>
          </p:cNvGraphicFramePr>
          <p:nvPr/>
        </p:nvGraphicFramePr>
        <p:xfrm>
          <a:off x="384048" y="1572768"/>
          <a:ext cx="11429999" cy="4416552"/>
        </p:xfrm>
        <a:graphic>
          <a:graphicData uri="http://schemas.openxmlformats.org/drawingml/2006/table">
            <a:tbl>
              <a:tblPr>
                <a:tableStyleId>{5C22544A-7EE6-4342-B048-85BDC9FD1C3A}</a:tableStyleId>
              </a:tblPr>
              <a:tblGrid>
                <a:gridCol w="4697260"/>
                <a:gridCol w="2818356"/>
                <a:gridCol w="3914383"/>
              </a:tblGrid>
              <a:tr h="630936">
                <a:tc>
                  <a:txBody>
                    <a:bodyPr wrap="square"/>
                    <a:lstStyle/>
                    <a:p>
                      <a:r>
                        <a:rPr sz="1150" b="1">
                          <a:solidFill>
                            <a:srgbClr val="FFFFFF"/>
                          </a:solidFill>
                        </a:rPr>
                        <a:t>Action on the case</a:t>
                      </a:r>
                    </a:p>
                  </a:txBody>
                  <a:tcPr anchor="ctr" marL="73152" marR="54864" marT="27432" marB="27432">
                    <a:solidFill>
                      <a:srgbClr val="0C2B4A"/>
                    </a:solidFill>
                  </a:tcPr>
                </a:tc>
                <a:tc>
                  <a:txBody>
                    <a:bodyPr wrap="square"/>
                    <a:lstStyle/>
                    <a:p>
                      <a:r>
                        <a:rPr sz="1150" b="1">
                          <a:solidFill>
                            <a:srgbClr val="FFFFFF"/>
                          </a:solidFill>
                        </a:rPr>
                        <a:t>Right or wrong move?</a:t>
                      </a:r>
                    </a:p>
                  </a:txBody>
                  <a:tcPr anchor="ctr" marL="73152" marR="54864" marT="27432" marB="27432">
                    <a:solidFill>
                      <a:srgbClr val="0C2B4A"/>
                    </a:solidFill>
                  </a:tcPr>
                </a:tc>
                <a:tc>
                  <a:txBody>
                    <a:bodyPr wrap="square"/>
                    <a:lstStyle/>
                    <a:p>
                      <a:r>
                        <a:rPr sz="1150" b="1">
                          <a:solidFill>
                            <a:srgbClr val="FFFFFF"/>
                          </a:solidFill>
                        </a:rPr>
                        <a:t>Why</a:t>
                      </a:r>
                    </a:p>
                  </a:txBody>
                  <a:tcPr anchor="ctr" marL="73152" marR="54864" marT="27432" marB="27432">
                    <a:solidFill>
                      <a:srgbClr val="0C2B4A"/>
                    </a:solidFill>
                  </a:tcPr>
                </a:tc>
              </a:tr>
              <a:tr h="630936">
                <a:tc>
                  <a:txBody>
                    <a:bodyPr wrap="square"/>
                    <a:lstStyle/>
                    <a:p>
                      <a:r>
                        <a:rPr sz="1100" b="1">
                          <a:solidFill>
                            <a:srgbClr val="0C2B4A"/>
                          </a:solidFill>
                        </a:rPr>
                        <a:t>Immediately tweet the accusation</a:t>
                      </a:r>
                    </a:p>
                  </a:txBody>
                  <a:tcPr anchor="ctr" marL="73152" marR="54864" marT="27432" marB="27432">
                    <a:solidFill>
                      <a:srgbClr val="FFFFFF"/>
                    </a:solidFill>
                  </a:tcPr>
                </a:tc>
                <a:tc>
                  <a:txBody>
                    <a:bodyPr wrap="square"/>
                    <a:lstStyle/>
                    <a:p>
                      <a:r>
                        <a:rPr sz="1100">
                          <a:solidFill>
                            <a:srgbClr val="1A1A1A"/>
                          </a:solidFill>
                        </a:rPr>
                        <a:t>Wrong</a:t>
                      </a:r>
                    </a:p>
                  </a:txBody>
                  <a:tcPr anchor="ctr" marL="73152" marR="54864" marT="27432" marB="27432">
                    <a:solidFill>
                      <a:srgbClr val="FFFFFF"/>
                    </a:solidFill>
                  </a:tcPr>
                </a:tc>
                <a:tc>
                  <a:txBody>
                    <a:bodyPr wrap="square"/>
                    <a:lstStyle/>
                    <a:p>
                      <a:r>
                        <a:rPr sz="1100">
                          <a:solidFill>
                            <a:srgbClr val="1A1A1A"/>
                          </a:solidFill>
                        </a:rPr>
                        <a:t>Unprovable, legally risky, and tips off the wrongdoer</a:t>
                      </a:r>
                    </a:p>
                  </a:txBody>
                  <a:tcPr anchor="ctr" marL="73152" marR="54864" marT="27432" marB="27432">
                    <a:solidFill>
                      <a:srgbClr val="FFFFFF"/>
                    </a:solidFill>
                  </a:tcPr>
                </a:tc>
              </a:tr>
              <a:tr h="630936">
                <a:tc>
                  <a:txBody>
                    <a:bodyPr wrap="square"/>
                    <a:lstStyle/>
                    <a:p>
                      <a:r>
                        <a:rPr sz="1100" b="1">
                          <a:solidFill>
                            <a:srgbClr val="0C2B4A"/>
                          </a:solidFill>
                        </a:rPr>
                        <a:t>Gather dated evidence and keep records</a:t>
                      </a:r>
                    </a:p>
                  </a:txBody>
                  <a:tcPr anchor="ctr" marL="73152" marR="54864" marT="27432" marB="27432">
                    <a:solidFill>
                      <a:srgbClr val="EEF3F8"/>
                    </a:solidFill>
                  </a:tcPr>
                </a:tc>
                <a:tc>
                  <a:txBody>
                    <a:bodyPr wrap="square"/>
                    <a:lstStyle/>
                    <a:p>
                      <a:r>
                        <a:rPr sz="1100">
                          <a:solidFill>
                            <a:srgbClr val="1A1A1A"/>
                          </a:solidFill>
                        </a:rPr>
                        <a:t>Right — step 1</a:t>
                      </a:r>
                    </a:p>
                  </a:txBody>
                  <a:tcPr anchor="ctr" marL="73152" marR="54864" marT="27432" marB="27432">
                    <a:solidFill>
                      <a:srgbClr val="EEF3F8"/>
                    </a:solidFill>
                  </a:tcPr>
                </a:tc>
                <a:tc>
                  <a:txBody>
                    <a:bodyPr wrap="square"/>
                    <a:lstStyle/>
                    <a:p>
                      <a:r>
                        <a:rPr sz="1100">
                          <a:solidFill>
                            <a:srgbClr val="1A1A1A"/>
                          </a:solidFill>
                        </a:rPr>
                        <a:t>Reason on evidence, not suspicion</a:t>
                      </a:r>
                    </a:p>
                  </a:txBody>
                  <a:tcPr anchor="ctr" marL="73152" marR="54864" marT="27432" marB="27432">
                    <a:solidFill>
                      <a:srgbClr val="EEF3F8"/>
                    </a:solidFill>
                  </a:tcPr>
                </a:tc>
              </a:tr>
              <a:tr h="630936">
                <a:tc>
                  <a:txBody>
                    <a:bodyPr wrap="square"/>
                    <a:lstStyle/>
                    <a:p>
                      <a:r>
                        <a:rPr sz="1100" b="1">
                          <a:solidFill>
                            <a:srgbClr val="0C2B4A"/>
                          </a:solidFill>
                        </a:rPr>
                        <a:t>Confirm the harm is serious, not a gripe</a:t>
                      </a:r>
                    </a:p>
                  </a:txBody>
                  <a:tcPr anchor="ctr" marL="73152" marR="54864" marT="27432" marB="27432">
                    <a:solidFill>
                      <a:srgbClr val="FFFFFF"/>
                    </a:solidFill>
                  </a:tcPr>
                </a:tc>
                <a:tc>
                  <a:txBody>
                    <a:bodyPr wrap="square"/>
                    <a:lstStyle/>
                    <a:p>
                      <a:r>
                        <a:rPr sz="1100">
                          <a:solidFill>
                            <a:srgbClr val="1A1A1A"/>
                          </a:solidFill>
                        </a:rPr>
                        <a:t>Right — step 2</a:t>
                      </a:r>
                    </a:p>
                  </a:txBody>
                  <a:tcPr anchor="ctr" marL="73152" marR="54864" marT="27432" marB="27432">
                    <a:solidFill>
                      <a:srgbClr val="FFFFFF"/>
                    </a:solidFill>
                  </a:tcPr>
                </a:tc>
                <a:tc>
                  <a:txBody>
                    <a:bodyPr wrap="square"/>
                    <a:lstStyle/>
                    <a:p>
                      <a:r>
                        <a:rPr sz="1100">
                          <a:solidFill>
                            <a:srgbClr val="1A1A1A"/>
                          </a:solidFill>
                        </a:rPr>
                        <a:t>Whistle-blowing is for real, serious harm</a:t>
                      </a:r>
                    </a:p>
                  </a:txBody>
                  <a:tcPr anchor="ctr" marL="73152" marR="54864" marT="27432" marB="27432">
                    <a:solidFill>
                      <a:srgbClr val="FFFFFF"/>
                    </a:solidFill>
                  </a:tcPr>
                </a:tc>
              </a:tr>
              <a:tr h="630936">
                <a:tc>
                  <a:txBody>
                    <a:bodyPr wrap="square"/>
                    <a:lstStyle/>
                    <a:p>
                      <a:r>
                        <a:rPr sz="1100" b="1">
                          <a:solidFill>
                            <a:srgbClr val="0C2B4A"/>
                          </a:solidFill>
                        </a:rPr>
                        <a:t>Report to your manager, then ethics/compliance</a:t>
                      </a:r>
                    </a:p>
                  </a:txBody>
                  <a:tcPr anchor="ctr" marL="73152" marR="54864" marT="27432" marB="27432">
                    <a:solidFill>
                      <a:srgbClr val="EEF3F8"/>
                    </a:solidFill>
                  </a:tcPr>
                </a:tc>
                <a:tc>
                  <a:txBody>
                    <a:bodyPr wrap="square"/>
                    <a:lstStyle/>
                    <a:p>
                      <a:r>
                        <a:rPr sz="1100">
                          <a:solidFill>
                            <a:srgbClr val="1A1A1A"/>
                          </a:solidFill>
                        </a:rPr>
                        <a:t>Right — step 3</a:t>
                      </a:r>
                    </a:p>
                  </a:txBody>
                  <a:tcPr anchor="ctr" marL="73152" marR="54864" marT="27432" marB="27432">
                    <a:solidFill>
                      <a:srgbClr val="EEF3F8"/>
                    </a:solidFill>
                  </a:tcPr>
                </a:tc>
                <a:tc>
                  <a:txBody>
                    <a:bodyPr wrap="square"/>
                    <a:lstStyle/>
                    <a:p>
                      <a:r>
                        <a:rPr sz="1100">
                          <a:solidFill>
                            <a:srgbClr val="1A1A1A"/>
                          </a:solidFill>
                        </a:rPr>
                        <a:t>Internal-first gives a chance to fix it + builds your record</a:t>
                      </a:r>
                    </a:p>
                  </a:txBody>
                  <a:tcPr anchor="ctr" marL="73152" marR="54864" marT="27432" marB="27432">
                    <a:solidFill>
                      <a:srgbClr val="EEF3F8"/>
                    </a:solidFill>
                  </a:tcPr>
                </a:tc>
              </a:tr>
              <a:tr h="630936">
                <a:tc>
                  <a:txBody>
                    <a:bodyPr wrap="square"/>
                    <a:lstStyle/>
                    <a:p>
                      <a:r>
                        <a:rPr sz="1100" b="1">
                          <a:solidFill>
                            <a:srgbClr val="0C2B4A"/>
                          </a:solidFill>
                        </a:rPr>
                        <a:t>Escalate to the CIAA when ignored</a:t>
                      </a:r>
                    </a:p>
                  </a:txBody>
                  <a:tcPr anchor="ctr" marL="73152" marR="54864" marT="27432" marB="27432">
                    <a:solidFill>
                      <a:srgbClr val="FFFFFF"/>
                    </a:solidFill>
                  </a:tcPr>
                </a:tc>
                <a:tc>
                  <a:txBody>
                    <a:bodyPr wrap="square"/>
                    <a:lstStyle/>
                    <a:p>
                      <a:r>
                        <a:rPr sz="1100">
                          <a:solidFill>
                            <a:srgbClr val="1A1A1A"/>
                          </a:solidFill>
                        </a:rPr>
                        <a:t>Right — step 4</a:t>
                      </a:r>
                    </a:p>
                  </a:txBody>
                  <a:tcPr anchor="ctr" marL="73152" marR="54864" marT="27432" marB="27432">
                    <a:solidFill>
                      <a:srgbClr val="FFFFFF"/>
                    </a:solidFill>
                  </a:tcPr>
                </a:tc>
                <a:tc>
                  <a:txBody>
                    <a:bodyPr wrap="square"/>
                    <a:lstStyle/>
                    <a:p>
                      <a:r>
                        <a:rPr sz="1100">
                          <a:solidFill>
                            <a:srgbClr val="1A1A1A"/>
                          </a:solidFill>
                        </a:rPr>
                        <a:t>A regulator, when internal routes fail or are complicit</a:t>
                      </a:r>
                    </a:p>
                  </a:txBody>
                  <a:tcPr anchor="ctr" marL="73152" marR="54864" marT="27432" marB="27432">
                    <a:solidFill>
                      <a:srgbClr val="FFFFFF"/>
                    </a:solidFill>
                  </a:tcPr>
                </a:tc>
              </a:tr>
              <a:tr h="630936">
                <a:tc>
                  <a:txBody>
                    <a:bodyPr wrap="square"/>
                    <a:lstStyle/>
                    <a:p>
                      <a:r>
                        <a:rPr sz="1100" b="1">
                          <a:solidFill>
                            <a:srgbClr val="0C2B4A"/>
                          </a:solidFill>
                        </a:rPr>
                        <a:t>Go to the press only as a last resort</a:t>
                      </a:r>
                    </a:p>
                  </a:txBody>
                  <a:tcPr anchor="ctr" marL="73152" marR="54864" marT="27432" marB="27432">
                    <a:solidFill>
                      <a:srgbClr val="EEF3F8"/>
                    </a:solidFill>
                  </a:tcPr>
                </a:tc>
                <a:tc>
                  <a:txBody>
                    <a:bodyPr wrap="square"/>
                    <a:lstStyle/>
                    <a:p>
                      <a:r>
                        <a:rPr sz="1100">
                          <a:solidFill>
                            <a:srgbClr val="1A1A1A"/>
                          </a:solidFill>
                        </a:rPr>
                        <a:t>Right — step 5</a:t>
                      </a:r>
                    </a:p>
                  </a:txBody>
                  <a:tcPr anchor="ctr" marL="73152" marR="54864" marT="27432" marB="27432">
                    <a:solidFill>
                      <a:srgbClr val="EEF3F8"/>
                    </a:solidFill>
                  </a:tcPr>
                </a:tc>
                <a:tc>
                  <a:txBody>
                    <a:bodyPr wrap="square"/>
                    <a:lstStyle/>
                    <a:p>
                      <a:r>
                        <a:rPr sz="1100">
                          <a:solidFill>
                            <a:srgbClr val="1A1A1A"/>
                          </a:solidFill>
                        </a:rPr>
                        <a:t>Highest risk — use only when all else fails</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Following the order protects both the public AND you. A documented, internal-first attempt is what distinguishes a responsible whistle-blower from a reckless leaker — external disclosure is the final step, not the first.</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62 / 94</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S20 · CONCEPT 3 · [THEORY] [EXAMPLE]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Risks, Protections &amp; Famous Cases</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Whistle-blowing carries real personal cost, and legal shields are limited. Risks: retaliation, firing, blacklisting, lawsuits, and severe stress. Protections: whistle-blower laws/policies, anonymous hotlines, and regulators — but their strength varies hugely by country.</a:t>
            </a:r>
          </a:p>
          <a:p>
            <a:pPr>
              <a:spcAft>
                <a:spcPts val="500"/>
              </a:spcAft>
            </a:pPr>
            <a:r>
              <a:rPr sz="1200" b="1">
                <a:solidFill>
                  <a:srgbClr val="185FA5"/>
                </a:solidFill>
              </a:rPr>
              <a:t>HOW IT WORKS</a:t>
            </a:r>
          </a:p>
          <a:p>
            <a:pPr>
              <a:spcAft>
                <a:spcPts val="600"/>
              </a:spcAft>
            </a:pPr>
            <a:r>
              <a:rPr sz="1400">
                <a:solidFill>
                  <a:srgbClr val="1A1A1A"/>
                </a:solidFill>
              </a:rPr>
              <a:t>•  Common retaliation: being fired, sidelined, blacklisted in a small industry, or sued.</a:t>
            </a:r>
          </a:p>
          <a:p>
            <a:pPr>
              <a:spcAft>
                <a:spcPts val="600"/>
              </a:spcAft>
            </a:pPr>
            <a:r>
              <a:rPr sz="1400">
                <a:solidFill>
                  <a:srgbClr val="1A1A1A"/>
                </a:solidFill>
              </a:rPr>
              <a:t>•  Protections where they exist: statutory whistle-blower laws, anonymous reporting hotlines, regulators.</a:t>
            </a:r>
          </a:p>
          <a:p>
            <a:pPr>
              <a:spcAft>
                <a:spcPts val="600"/>
              </a:spcAft>
            </a:pPr>
            <a:r>
              <a:rPr sz="1400">
                <a:solidFill>
                  <a:srgbClr val="1A1A1A"/>
                </a:solidFill>
              </a:rPr>
              <a:t>•  Nepal's protection is weaker (limited safeguards via anti-corruption/CIAA mechanisms) — real personal risk.</a:t>
            </a:r>
          </a:p>
          <a:p>
            <a:pPr>
              <a:spcAft>
                <a:spcPts val="600"/>
              </a:spcAft>
            </a:pPr>
            <a:r>
              <a:rPr sz="1400">
                <a:solidFill>
                  <a:srgbClr val="1A1A1A"/>
                </a:solidFill>
              </a:rPr>
              <a:t>•  Contrast with stronger US/EU statutes — the same act is far riskier in a weak-protection environment.</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A whistle-blower is a smoke alarm — annoying until there's a real fire.</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63 / 94</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S20 · CONCEPT 3 · COMPARISON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Whistle-blowing — the risks vs the (limited) protections</a:t>
            </a:r>
          </a:p>
        </p:txBody>
      </p:sp>
      <p:graphicFrame>
        <p:nvGraphicFramePr>
          <p:cNvPr id="5" name="Table 4"/>
          <p:cNvGraphicFramePr>
            <a:graphicFrameLocks noGrp="1"/>
          </p:cNvGraphicFramePr>
          <p:nvPr/>
        </p:nvGraphicFramePr>
        <p:xfrm>
          <a:off x="384048" y="1572768"/>
          <a:ext cx="11430000" cy="4416552"/>
        </p:xfrm>
        <a:graphic>
          <a:graphicData uri="http://schemas.openxmlformats.org/drawingml/2006/table">
            <a:tbl>
              <a:tblPr>
                <a:tableStyleId>{5C22544A-7EE6-4342-B048-85BDC9FD1C3A}</a:tableStyleId>
              </a:tblPr>
              <a:tblGrid>
                <a:gridCol w="5715000"/>
                <a:gridCol w="5715000"/>
              </a:tblGrid>
              <a:tr h="736092">
                <a:tc>
                  <a:txBody>
                    <a:bodyPr wrap="square"/>
                    <a:lstStyle/>
                    <a:p>
                      <a:r>
                        <a:rPr sz="1200" b="1">
                          <a:solidFill>
                            <a:srgbClr val="FFFFFF"/>
                          </a:solidFill>
                        </a:rPr>
                        <a:t>Risk to the whistle-blower</a:t>
                      </a:r>
                    </a:p>
                  </a:txBody>
                  <a:tcPr anchor="ctr" marL="73152" marR="54864" marT="27432" marB="27432">
                    <a:solidFill>
                      <a:srgbClr val="0C2B4A"/>
                    </a:solidFill>
                  </a:tcPr>
                </a:tc>
                <a:tc>
                  <a:txBody>
                    <a:bodyPr wrap="square"/>
                    <a:lstStyle/>
                    <a:p>
                      <a:r>
                        <a:rPr sz="1200" b="1">
                          <a:solidFill>
                            <a:srgbClr val="FFFFFF"/>
                          </a:solidFill>
                        </a:rPr>
                        <a:t>Protection that may help</a:t>
                      </a:r>
                    </a:p>
                  </a:txBody>
                  <a:tcPr anchor="ctr" marL="73152" marR="54864" marT="27432" marB="27432">
                    <a:solidFill>
                      <a:srgbClr val="0C2B4A"/>
                    </a:solidFill>
                  </a:tcPr>
                </a:tc>
              </a:tr>
              <a:tr h="736092">
                <a:tc>
                  <a:txBody>
                    <a:bodyPr wrap="square"/>
                    <a:lstStyle/>
                    <a:p>
                      <a:r>
                        <a:rPr sz="1150" b="1">
                          <a:solidFill>
                            <a:srgbClr val="0C2B4A"/>
                          </a:solidFill>
                        </a:rPr>
                        <a:t>Being fired or forced out</a:t>
                      </a:r>
                    </a:p>
                  </a:txBody>
                  <a:tcPr anchor="ctr" marL="73152" marR="54864" marT="27432" marB="27432">
                    <a:solidFill>
                      <a:srgbClr val="FFFFFF"/>
                    </a:solidFill>
                  </a:tcPr>
                </a:tc>
                <a:tc>
                  <a:txBody>
                    <a:bodyPr wrap="square"/>
                    <a:lstStyle/>
                    <a:p>
                      <a:r>
                        <a:rPr sz="1150">
                          <a:solidFill>
                            <a:srgbClr val="1A1A1A"/>
                          </a:solidFill>
                        </a:rPr>
                        <a:t>Whistle-blower laws / employment protections (where they exist)</a:t>
                      </a:r>
                    </a:p>
                  </a:txBody>
                  <a:tcPr anchor="ctr" marL="73152" marR="54864" marT="27432" marB="27432">
                    <a:solidFill>
                      <a:srgbClr val="FFFFFF"/>
                    </a:solidFill>
                  </a:tcPr>
                </a:tc>
              </a:tr>
              <a:tr h="736092">
                <a:tc>
                  <a:txBody>
                    <a:bodyPr wrap="square"/>
                    <a:lstStyle/>
                    <a:p>
                      <a:r>
                        <a:rPr sz="1150" b="1">
                          <a:solidFill>
                            <a:srgbClr val="0C2B4A"/>
                          </a:solidFill>
                        </a:rPr>
                        <a:t>Blacklisting in a small industry</a:t>
                      </a:r>
                    </a:p>
                  </a:txBody>
                  <a:tcPr anchor="ctr" marL="73152" marR="54864" marT="27432" marB="27432">
                    <a:solidFill>
                      <a:srgbClr val="EEF3F8"/>
                    </a:solidFill>
                  </a:tcPr>
                </a:tc>
                <a:tc>
                  <a:txBody>
                    <a:bodyPr wrap="square"/>
                    <a:lstStyle/>
                    <a:p>
                      <a:r>
                        <a:rPr sz="1150">
                          <a:solidFill>
                            <a:srgbClr val="1A1A1A"/>
                          </a:solidFill>
                        </a:rPr>
                        <a:t>Anonymous reporting hotlines</a:t>
                      </a:r>
                    </a:p>
                  </a:txBody>
                  <a:tcPr anchor="ctr" marL="73152" marR="54864" marT="27432" marB="27432">
                    <a:solidFill>
                      <a:srgbClr val="EEF3F8"/>
                    </a:solidFill>
                  </a:tcPr>
                </a:tc>
              </a:tr>
              <a:tr h="736092">
                <a:tc>
                  <a:txBody>
                    <a:bodyPr wrap="square"/>
                    <a:lstStyle/>
                    <a:p>
                      <a:r>
                        <a:rPr sz="1150" b="1">
                          <a:solidFill>
                            <a:srgbClr val="0C2B4A"/>
                          </a:solidFill>
                        </a:rPr>
                        <a:t>Lawsuits (e.g. defamation)</a:t>
                      </a:r>
                    </a:p>
                  </a:txBody>
                  <a:tcPr anchor="ctr" marL="73152" marR="54864" marT="27432" marB="27432">
                    <a:solidFill>
                      <a:srgbClr val="FFFFFF"/>
                    </a:solidFill>
                  </a:tcPr>
                </a:tc>
                <a:tc>
                  <a:txBody>
                    <a:bodyPr wrap="square"/>
                    <a:lstStyle/>
                    <a:p>
                      <a:r>
                        <a:rPr sz="1150">
                          <a:solidFill>
                            <a:srgbClr val="1A1A1A"/>
                          </a:solidFill>
                        </a:rPr>
                        <a:t>Solid evidence + legal advice beforehand</a:t>
                      </a:r>
                    </a:p>
                  </a:txBody>
                  <a:tcPr anchor="ctr" marL="73152" marR="54864" marT="27432" marB="27432">
                    <a:solidFill>
                      <a:srgbClr val="FFFFFF"/>
                    </a:solidFill>
                  </a:tcPr>
                </a:tc>
              </a:tr>
              <a:tr h="736092">
                <a:tc>
                  <a:txBody>
                    <a:bodyPr wrap="square"/>
                    <a:lstStyle/>
                    <a:p>
                      <a:r>
                        <a:rPr sz="1150" b="1">
                          <a:solidFill>
                            <a:srgbClr val="0C2B4A"/>
                          </a:solidFill>
                        </a:rPr>
                        <a:t>Retaliation from management</a:t>
                      </a:r>
                    </a:p>
                  </a:txBody>
                  <a:tcPr anchor="ctr" marL="73152" marR="54864" marT="27432" marB="27432">
                    <a:solidFill>
                      <a:srgbClr val="EEF3F8"/>
                    </a:solidFill>
                  </a:tcPr>
                </a:tc>
                <a:tc>
                  <a:txBody>
                    <a:bodyPr wrap="square"/>
                    <a:lstStyle/>
                    <a:p>
                      <a:r>
                        <a:rPr sz="1150">
                          <a:solidFill>
                            <a:srgbClr val="1A1A1A"/>
                          </a:solidFill>
                        </a:rPr>
                        <a:t>An independent regulator (e.g. CIAA)</a:t>
                      </a:r>
                    </a:p>
                  </a:txBody>
                  <a:tcPr anchor="ctr" marL="73152" marR="54864" marT="27432" marB="27432">
                    <a:solidFill>
                      <a:srgbClr val="EEF3F8"/>
                    </a:solidFill>
                  </a:tcPr>
                </a:tc>
              </a:tr>
              <a:tr h="736092">
                <a:tc>
                  <a:txBody>
                    <a:bodyPr wrap="square"/>
                    <a:lstStyle/>
                    <a:p>
                      <a:r>
                        <a:rPr sz="1150" b="1">
                          <a:solidFill>
                            <a:srgbClr val="0C2B4A"/>
                          </a:solidFill>
                        </a:rPr>
                        <a:t>Severe personal stress</a:t>
                      </a:r>
                    </a:p>
                  </a:txBody>
                  <a:tcPr anchor="ctr" marL="73152" marR="54864" marT="27432" marB="27432">
                    <a:solidFill>
                      <a:srgbClr val="FFFFFF"/>
                    </a:solidFill>
                  </a:tcPr>
                </a:tc>
                <a:tc>
                  <a:txBody>
                    <a:bodyPr wrap="square"/>
                    <a:lstStyle/>
                    <a:p>
                      <a:r>
                        <a:rPr sz="1150">
                          <a:solidFill>
                            <a:srgbClr val="1A1A1A"/>
                          </a:solidFill>
                        </a:rPr>
                        <a:t>Support networks; documented internal-first record</a:t>
                      </a:r>
                    </a:p>
                  </a:txBody>
                  <a:tcPr anchor="ctr" marL="73152" marR="54864" marT="27432" marB="27432">
                    <a:solidFill>
                      <a:srgbClr val="FFFFFF"/>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Nepal's protections are limited (anti-corruption/CIAA mechanisms) versus stronger US/EU statutes — so the personal risk is real. Evidence + an internal-first record are your best practical shield.</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64 / 94</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S20 · CONCEPT 3 · [THEORY] [EXAMPLE]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Risks, Protections &amp; Famous Cases</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In Nepal, whistle-blower protection is limited — safeguards run mainly through anti-corruption/CIAA mechanisms — so a Nepali employee exposing wrongdoing faces real risk of firing and blacklisting, with a thinner legal net than a counterpart in the US or EU. That doesn't make the act wrong; it makes documentation, evidence, and internal-first steps even more important.</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"Whistle-blowers are always protected by law." Protection is limited and varies by country — in Nepal it is weak, so retaliation (firing, blacklisting) is a genuine risk. Knowing this lets you act with both courage AND care: strong evidence, an internal-first record, and advice reduce (not eliminate) the danger.</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Whistle-blowing carries real risks — retaliation, firing, blacklisting, lawsuits, stress — against limited protections (whistle-blower laws, anonymous hotlines, regulators) whose strength varies by country. Nepal's protections are weaker than US/EU statutes, so the personal risk is significant; evidence and a documented internal-first process are the most reliable practical safeguards.</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retaliation · blacklisting · whistle-blower laws · anonymous hotline · weak Nepal protection · courage + care</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65 / 94</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S20 · CONCEPT 3 · CONCRETE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Retaliation vs protection — concrete situations</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4060657"/>
                <a:gridCol w="4060657"/>
                <a:gridCol w="3308684"/>
              </a:tblGrid>
              <a:tr h="630936">
                <a:tc>
                  <a:txBody>
                    <a:bodyPr wrap="square"/>
                    <a:lstStyle/>
                    <a:p>
                      <a:r>
                        <a:rPr sz="1150" b="1">
                          <a:solidFill>
                            <a:srgbClr val="FFFFFF"/>
                          </a:solidFill>
                        </a:rPr>
                        <a:t>Concrete situation</a:t>
                      </a:r>
                    </a:p>
                  </a:txBody>
                  <a:tcPr anchor="ctr" marL="73152" marR="54864" marT="27432" marB="27432">
                    <a:solidFill>
                      <a:srgbClr val="0C2B4A"/>
                    </a:solidFill>
                  </a:tcPr>
                </a:tc>
                <a:tc>
                  <a:txBody>
                    <a:bodyPr wrap="square"/>
                    <a:lstStyle/>
                    <a:p>
                      <a:r>
                        <a:rPr sz="1150" b="1">
                          <a:solidFill>
                            <a:srgbClr val="FFFFFF"/>
                          </a:solidFill>
                        </a:rPr>
                        <a:t>Risk faced / protection available</a:t>
                      </a:r>
                    </a:p>
                  </a:txBody>
                  <a:tcPr anchor="ctr" marL="73152" marR="54864" marT="27432" marB="27432">
                    <a:solidFill>
                      <a:srgbClr val="0C2B4A"/>
                    </a:solidFill>
                  </a:tcPr>
                </a:tc>
                <a:tc>
                  <a:txBody>
                    <a:bodyPr wrap="square"/>
                    <a:lstStyle/>
                    <a:p>
                      <a:r>
                        <a:rPr sz="1150" b="1">
                          <a:solidFill>
                            <a:srgbClr val="FFFFFF"/>
                          </a:solidFill>
                        </a:rPr>
                        <a:t>Verdict</a:t>
                      </a:r>
                    </a:p>
                  </a:txBody>
                  <a:tcPr anchor="ctr" marL="73152" marR="54864" marT="27432" marB="27432">
                    <a:solidFill>
                      <a:srgbClr val="0C2B4A"/>
                    </a:solidFill>
                  </a:tcPr>
                </a:tc>
              </a:tr>
              <a:tr h="630936">
                <a:tc>
                  <a:txBody>
                    <a:bodyPr wrap="square"/>
                    <a:lstStyle/>
                    <a:p>
                      <a:r>
                        <a:rPr sz="1100" b="1">
                          <a:solidFill>
                            <a:srgbClr val="0C2B4A"/>
                          </a:solidFill>
                        </a:rPr>
                        <a:t>Nepali employee exposes an employer's wrongdoing</a:t>
                      </a:r>
                    </a:p>
                  </a:txBody>
                  <a:tcPr anchor="ctr" marL="73152" marR="54864" marT="27432" marB="27432">
                    <a:solidFill>
                      <a:srgbClr val="FFFFFF"/>
                    </a:solidFill>
                  </a:tcPr>
                </a:tc>
                <a:tc>
                  <a:txBody>
                    <a:bodyPr wrap="square"/>
                    <a:lstStyle/>
                    <a:p>
                      <a:r>
                        <a:rPr sz="1100">
                          <a:solidFill>
                            <a:srgbClr val="1A1A1A"/>
                          </a:solidFill>
                        </a:rPr>
                        <a:t>Firing + blacklisting in a small market</a:t>
                      </a:r>
                    </a:p>
                  </a:txBody>
                  <a:tcPr anchor="ctr" marL="73152" marR="54864" marT="27432" marB="27432">
                    <a:solidFill>
                      <a:srgbClr val="FFFFFF"/>
                    </a:solidFill>
                  </a:tcPr>
                </a:tc>
                <a:tc>
                  <a:txBody>
                    <a:bodyPr wrap="square"/>
                    <a:lstStyle/>
                    <a:p>
                      <a:r>
                        <a:rPr sz="1100">
                          <a:solidFill>
                            <a:srgbClr val="1A1A1A"/>
                          </a:solidFill>
                        </a:rPr>
                        <a:t>Real risk — the legal net is thin</a:t>
                      </a:r>
                    </a:p>
                  </a:txBody>
                  <a:tcPr anchor="ctr" marL="73152" marR="54864" marT="27432" marB="27432">
                    <a:solidFill>
                      <a:srgbClr val="FFFFFF"/>
                    </a:solidFill>
                  </a:tcPr>
                </a:tc>
              </a:tr>
              <a:tr h="630936">
                <a:tc>
                  <a:txBody>
                    <a:bodyPr wrap="square"/>
                    <a:lstStyle/>
                    <a:p>
                      <a:r>
                        <a:rPr sz="1100" b="1">
                          <a:solidFill>
                            <a:srgbClr val="0C2B4A"/>
                          </a:solidFill>
                        </a:rPr>
                        <a:t>Whistle-blower sued for defamation</a:t>
                      </a:r>
                    </a:p>
                  </a:txBody>
                  <a:tcPr anchor="ctr" marL="73152" marR="54864" marT="27432" marB="27432">
                    <a:solidFill>
                      <a:srgbClr val="EEF3F8"/>
                    </a:solidFill>
                  </a:tcPr>
                </a:tc>
                <a:tc>
                  <a:txBody>
                    <a:bodyPr wrap="square"/>
                    <a:lstStyle/>
                    <a:p>
                      <a:r>
                        <a:rPr sz="1100">
                          <a:solidFill>
                            <a:srgbClr val="1A1A1A"/>
                          </a:solidFill>
                        </a:rPr>
                        <a:t>Solid evidence + prior legal advice</a:t>
                      </a:r>
                    </a:p>
                  </a:txBody>
                  <a:tcPr anchor="ctr" marL="73152" marR="54864" marT="27432" marB="27432">
                    <a:solidFill>
                      <a:srgbClr val="EEF3F8"/>
                    </a:solidFill>
                  </a:tcPr>
                </a:tc>
                <a:tc>
                  <a:txBody>
                    <a:bodyPr wrap="square"/>
                    <a:lstStyle/>
                    <a:p>
                      <a:r>
                        <a:rPr sz="1100">
                          <a:solidFill>
                            <a:srgbClr val="1A1A1A"/>
                          </a:solidFill>
                        </a:rPr>
                        <a:t>Documentation is the practical shield</a:t>
                      </a:r>
                    </a:p>
                  </a:txBody>
                  <a:tcPr anchor="ctr" marL="73152" marR="54864" marT="27432" marB="27432">
                    <a:solidFill>
                      <a:srgbClr val="EEF3F8"/>
                    </a:solidFill>
                  </a:tcPr>
                </a:tc>
              </a:tr>
              <a:tr h="630936">
                <a:tc>
                  <a:txBody>
                    <a:bodyPr wrap="square"/>
                    <a:lstStyle/>
                    <a:p>
                      <a:r>
                        <a:rPr sz="1100" b="1">
                          <a:solidFill>
                            <a:srgbClr val="0C2B4A"/>
                          </a:solidFill>
                        </a:rPr>
                        <a:t>Anonymous hotline used to report internally</a:t>
                      </a:r>
                    </a:p>
                  </a:txBody>
                  <a:tcPr anchor="ctr" marL="73152" marR="54864" marT="27432" marB="27432">
                    <a:solidFill>
                      <a:srgbClr val="FFFFFF"/>
                    </a:solidFill>
                  </a:tcPr>
                </a:tc>
                <a:tc>
                  <a:txBody>
                    <a:bodyPr wrap="square"/>
                    <a:lstStyle/>
                    <a:p>
                      <a:r>
                        <a:rPr sz="1100">
                          <a:solidFill>
                            <a:srgbClr val="1A1A1A"/>
                          </a:solidFill>
                        </a:rPr>
                        <a:t>Some protection of identity</a:t>
                      </a:r>
                    </a:p>
                  </a:txBody>
                  <a:tcPr anchor="ctr" marL="73152" marR="54864" marT="27432" marB="27432">
                    <a:solidFill>
                      <a:srgbClr val="FFFFFF"/>
                    </a:solidFill>
                  </a:tcPr>
                </a:tc>
                <a:tc>
                  <a:txBody>
                    <a:bodyPr wrap="square"/>
                    <a:lstStyle/>
                    <a:p>
                      <a:r>
                        <a:rPr sz="1100">
                          <a:solidFill>
                            <a:srgbClr val="1A1A1A"/>
                          </a:solidFill>
                        </a:rPr>
                        <a:t>Lowers, but does not remove, retaliation risk</a:t>
                      </a:r>
                    </a:p>
                  </a:txBody>
                  <a:tcPr anchor="ctr" marL="73152" marR="54864" marT="27432" marB="27432">
                    <a:solidFill>
                      <a:srgbClr val="FFFFFF"/>
                    </a:solidFill>
                  </a:tcPr>
                </a:tc>
              </a:tr>
              <a:tr h="630936">
                <a:tc>
                  <a:txBody>
                    <a:bodyPr wrap="square"/>
                    <a:lstStyle/>
                    <a:p>
                      <a:r>
                        <a:rPr sz="1100" b="1">
                          <a:solidFill>
                            <a:srgbClr val="0C2B4A"/>
                          </a:solidFill>
                        </a:rPr>
                        <a:t>CIAA / anti-corruption route in Nepal</a:t>
                      </a:r>
                    </a:p>
                  </a:txBody>
                  <a:tcPr anchor="ctr" marL="73152" marR="54864" marT="27432" marB="27432">
                    <a:solidFill>
                      <a:srgbClr val="EEF3F8"/>
                    </a:solidFill>
                  </a:tcPr>
                </a:tc>
                <a:tc>
                  <a:txBody>
                    <a:bodyPr wrap="square"/>
                    <a:lstStyle/>
                    <a:p>
                      <a:r>
                        <a:rPr sz="1100">
                          <a:solidFill>
                            <a:srgbClr val="1A1A1A"/>
                          </a:solidFill>
                        </a:rPr>
                        <a:t>Limited statutory protection</a:t>
                      </a:r>
                    </a:p>
                  </a:txBody>
                  <a:tcPr anchor="ctr" marL="73152" marR="54864" marT="27432" marB="27432">
                    <a:solidFill>
                      <a:srgbClr val="EEF3F8"/>
                    </a:solidFill>
                  </a:tcPr>
                </a:tc>
                <a:tc>
                  <a:txBody>
                    <a:bodyPr wrap="square"/>
                    <a:lstStyle/>
                    <a:p>
                      <a:r>
                        <a:rPr sz="1100">
                          <a:solidFill>
                            <a:srgbClr val="1A1A1A"/>
                          </a:solidFill>
                        </a:rPr>
                        <a:t>A thinner net than US/EU statutes</a:t>
                      </a:r>
                    </a:p>
                  </a:txBody>
                  <a:tcPr anchor="ctr" marL="73152" marR="54864" marT="27432" marB="27432">
                    <a:solidFill>
                      <a:srgbClr val="EEF3F8"/>
                    </a:solidFill>
                  </a:tcPr>
                </a:tc>
              </a:tr>
              <a:tr h="630936">
                <a:tc>
                  <a:txBody>
                    <a:bodyPr wrap="square"/>
                    <a:lstStyle/>
                    <a:p>
                      <a:r>
                        <a:rPr sz="1100" b="1">
                          <a:solidFill>
                            <a:srgbClr val="0C2B4A"/>
                          </a:solidFill>
                        </a:rPr>
                        <a:t>US/EU worker under a whistle-blower statute</a:t>
                      </a:r>
                    </a:p>
                  </a:txBody>
                  <a:tcPr anchor="ctr" marL="73152" marR="54864" marT="27432" marB="27432">
                    <a:solidFill>
                      <a:srgbClr val="FFFFFF"/>
                    </a:solidFill>
                  </a:tcPr>
                </a:tc>
                <a:tc>
                  <a:txBody>
                    <a:bodyPr wrap="square"/>
                    <a:lstStyle/>
                    <a:p>
                      <a:r>
                        <a:rPr sz="1100">
                          <a:solidFill>
                            <a:srgbClr val="1A1A1A"/>
                          </a:solidFill>
                        </a:rPr>
                        <a:t>Stronger legal protection</a:t>
                      </a:r>
                    </a:p>
                  </a:txBody>
                  <a:tcPr anchor="ctr" marL="73152" marR="54864" marT="27432" marB="27432">
                    <a:solidFill>
                      <a:srgbClr val="FFFFFF"/>
                    </a:solidFill>
                  </a:tcPr>
                </a:tc>
                <a:tc>
                  <a:txBody>
                    <a:bodyPr wrap="square"/>
                    <a:lstStyle/>
                    <a:p>
                      <a:r>
                        <a:rPr sz="1100">
                          <a:solidFill>
                            <a:srgbClr val="1A1A1A"/>
                          </a:solidFill>
                        </a:rPr>
                        <a:t>Same act, far less personal risk</a:t>
                      </a:r>
                    </a:p>
                  </a:txBody>
                  <a:tcPr anchor="ctr" marL="73152" marR="54864" marT="27432" marB="27432">
                    <a:solidFill>
                      <a:srgbClr val="FFFFFF"/>
                    </a:solidFill>
                  </a:tcPr>
                </a:tc>
              </a:tr>
              <a:tr h="630936">
                <a:tc>
                  <a:txBody>
                    <a:bodyPr wrap="square"/>
                    <a:lstStyle/>
                    <a:p>
                      <a:r>
                        <a:rPr sz="1100" b="1">
                          <a:solidFill>
                            <a:srgbClr val="0C2B4A"/>
                          </a:solidFill>
                        </a:rPr>
                        <a:t>A documented internal-first attempt on record</a:t>
                      </a:r>
                    </a:p>
                  </a:txBody>
                  <a:tcPr anchor="ctr" marL="73152" marR="54864" marT="27432" marB="27432">
                    <a:solidFill>
                      <a:srgbClr val="EEF3F8"/>
                    </a:solidFill>
                  </a:tcPr>
                </a:tc>
                <a:tc>
                  <a:txBody>
                    <a:bodyPr wrap="square"/>
                    <a:lstStyle/>
                    <a:p>
                      <a:r>
                        <a:rPr sz="1100">
                          <a:solidFill>
                            <a:srgbClr val="1A1A1A"/>
                          </a:solidFill>
                        </a:rPr>
                        <a:t>Best defensible position</a:t>
                      </a:r>
                    </a:p>
                  </a:txBody>
                  <a:tcPr anchor="ctr" marL="73152" marR="54864" marT="27432" marB="27432">
                    <a:solidFill>
                      <a:srgbClr val="EEF3F8"/>
                    </a:solidFill>
                  </a:tcPr>
                </a:tc>
                <a:tc>
                  <a:txBody>
                    <a:bodyPr wrap="square"/>
                    <a:lstStyle/>
                    <a:p>
                      <a:r>
                        <a:rPr sz="1100">
                          <a:solidFill>
                            <a:srgbClr val="1A1A1A"/>
                          </a:solidFill>
                        </a:rPr>
                        <a:t>Distinguishes responsible from reckless</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Protection varies hugely by country and is weak in Nepal, so retaliation is a genuine risk. Evidence and an internal-first record are the most reliable practical safeguard — courage AND care.</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66 / 94</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E1F5EE"/>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F6E56"/>
                </a:solidFill>
              </a:rPr>
              <a:t>🛠  IN-CLASS ACTIVITY  ·  THINK–PAIR–SHARE</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S20 — 'Would weak protection change your choice?'  ·  ~5 min</a:t>
            </a:r>
          </a:p>
        </p:txBody>
      </p:sp>
      <p:sp>
        <p:nvSpPr>
          <p:cNvPr id="5" name="TextBox 4"/>
          <p:cNvSpPr txBox="1"/>
          <p:nvPr/>
        </p:nvSpPr>
        <p:spPr>
          <a:xfrm>
            <a:off x="640080" y="1600200"/>
            <a:ext cx="10881360" cy="3291840"/>
          </a:xfrm>
          <a:prstGeom prst="rect">
            <a:avLst/>
          </a:prstGeom>
          <a:noFill/>
        </p:spPr>
        <p:txBody>
          <a:bodyPr wrap="square">
            <a:spAutoFit/>
          </a:bodyPr>
          <a:lstStyle/>
          <a:p>
            <a:pPr>
              <a:spcAft>
                <a:spcPts val="700"/>
              </a:spcAft>
            </a:pPr>
            <a:r>
              <a:rPr sz="1550">
                <a:solidFill>
                  <a:srgbClr val="1A1A1A"/>
                </a:solidFill>
              </a:rPr>
              <a:t>•  In pairs (2 min): if you found serious wrongdoing at a Nepali employer, would weak legal protection change what you'd do? Be honest.</a:t>
            </a:r>
          </a:p>
          <a:p>
            <a:pPr>
              <a:spcAft>
                <a:spcPts val="700"/>
              </a:spcAft>
            </a:pPr>
            <a:r>
              <a:rPr sz="1550">
                <a:solidFill>
                  <a:srgbClr val="1A1A1A"/>
                </a:solidFill>
              </a:rPr>
              <a:t>•  Map the responsible steps you'd take before going public.</a:t>
            </a:r>
          </a:p>
          <a:p>
            <a:pPr>
              <a:spcAft>
                <a:spcPts val="700"/>
              </a:spcAft>
            </a:pPr>
            <a:r>
              <a:rPr sz="1550">
                <a:solidFill>
                  <a:srgbClr val="1A1A1A"/>
                </a:solidFill>
              </a:rPr>
              <a:t>•  Take 3–4 answers aloud (3 min); discuss the gap between the ideal and the real personal cost.</a:t>
            </a:r>
          </a:p>
          <a:p>
            <a:pPr>
              <a:spcAft>
                <a:spcPts val="700"/>
              </a:spcAft>
            </a:pPr>
            <a:r>
              <a:rPr sz="1550">
                <a:solidFill>
                  <a:srgbClr val="1A1A1A"/>
                </a:solidFill>
              </a:rPr>
              <a:t>•  Close: courage and care aren't opposites — evidence and internal-first steps let you have both.</a:t>
            </a:r>
          </a:p>
        </p:txBody>
      </p:sp>
      <p:sp>
        <p:nvSpPr>
          <p:cNvPr id="6" name="Rounded Rectangle 5"/>
          <p:cNvSpPr/>
          <p:nvPr/>
        </p:nvSpPr>
        <p:spPr>
          <a:xfrm>
            <a:off x="640080" y="5029200"/>
            <a:ext cx="10881360" cy="1554480"/>
          </a:xfrm>
          <a:prstGeom prst="roundRect">
            <a:avLst/>
          </a:prstGeom>
          <a:solidFill>
            <a:srgbClr val="FFFFFF"/>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Expected answer / what to draw out</a:t>
            </a:r>
          </a:p>
          <a:p>
            <a:pPr>
              <a:spcBef>
                <a:spcPts val="300"/>
              </a:spcBef>
            </a:pPr>
            <a:r>
              <a:rPr sz="1400">
                <a:solidFill>
                  <a:srgbClr val="1A1A1A"/>
                </a:solidFill>
              </a:rPr>
              <a:t>There's no 'right' answer — reward honesty about the real risk plus a responsible process (evidence, internal-first, seek advice). The point is to think it through BEFORE you're ever in the moment.</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67 / 94</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2F5F8"/>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854F0B"/>
                </a:solidFill>
              </a:rPr>
              <a:t>CHECK FOR UNDERSTANDING</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S20 — Quick Check  ·  ~5 min</a:t>
            </a:r>
          </a:p>
        </p:txBody>
      </p:sp>
      <p:sp>
        <p:nvSpPr>
          <p:cNvPr id="5" name="TextBox 4"/>
          <p:cNvSpPr txBox="1"/>
          <p:nvPr/>
        </p:nvSpPr>
        <p:spPr>
          <a:xfrm>
            <a:off x="640080" y="1600200"/>
            <a:ext cx="10881360" cy="4846320"/>
          </a:xfrm>
          <a:prstGeom prst="rect">
            <a:avLst/>
          </a:prstGeom>
          <a:noFill/>
        </p:spPr>
        <p:txBody>
          <a:bodyPr wrap="square">
            <a:spAutoFit/>
          </a:bodyPr>
          <a:lstStyle/>
          <a:p>
            <a:pPr>
              <a:spcBef>
                <a:spcPts val="900"/>
              </a:spcBef>
            </a:pPr>
            <a:r>
              <a:rPr sz="1700" b="1">
                <a:solidFill>
                  <a:srgbClr val="0C2B4A"/>
                </a:solidFill>
              </a:rPr>
              <a:t>Q1.  The recommended FIRST step before external whistle-blowing is usually:</a:t>
            </a:r>
          </a:p>
          <a:p>
            <a:pPr lvl="1"/>
            <a:r>
              <a:rPr sz="1500" b="1">
                <a:solidFill>
                  <a:srgbClr val="0F6E56"/>
                </a:solidFill>
              </a:rPr>
              <a:t>a) call the press   b) ✅ exhaust internal reporting channels with evidence   c) post online   d) quit quietly</a:t>
            </a:r>
          </a:p>
          <a:p>
            <a:pPr lvl="1">
              <a:spcBef>
                <a:spcPts val="600"/>
              </a:spcBef>
            </a:pPr>
            <a:r>
              <a:rPr sz="1500" i="1">
                <a:solidFill>
                  <a:srgbClr val="1A1A1A"/>
                </a:solidFill>
              </a:rPr>
              <a:t>     Why: internal-first (with evidence) gives the org a chance to fix it and builds a defensible record.</a:t>
            </a:r>
          </a:p>
          <a:p>
            <a:pPr>
              <a:spcBef>
                <a:spcPts val="900"/>
              </a:spcBef>
            </a:pPr>
            <a:r>
              <a:rPr sz="1700" b="1">
                <a:solidFill>
                  <a:srgbClr val="0C2B4A"/>
                </a:solidFill>
              </a:rPr>
              <a:t>Q2.  A common consequence whistle-blowers face is:</a:t>
            </a:r>
          </a:p>
          <a:p>
            <a:pPr lvl="1"/>
            <a:r>
              <a:rPr sz="1500" b="1">
                <a:solidFill>
                  <a:srgbClr val="0F6E56"/>
                </a:solidFill>
              </a:rPr>
              <a:t>a) a promotion   b) ✅ retaliation (firing / blacklisting)   c) legal immunity   d) nothing</a:t>
            </a:r>
          </a:p>
          <a:p>
            <a:pPr lvl="1">
              <a:spcBef>
                <a:spcPts val="600"/>
              </a:spcBef>
            </a:pPr>
            <a:r>
              <a:rPr sz="1500" i="1">
                <a:solidFill>
                  <a:srgbClr val="1A1A1A"/>
                </a:solidFill>
              </a:rPr>
              <a:t>     Why: retaliation is the typical cost, and protections are limited — especially in Nepal.</a:t>
            </a:r>
          </a:p>
          <a:p>
            <a:pPr lvl="1">
              <a:spcBef>
                <a:spcPts val="600"/>
              </a:spcBef>
            </a:pPr>
            <a:r>
              <a:rPr sz="1500" i="1">
                <a:solidFill>
                  <a:srgbClr val="1A1A1A"/>
                </a:solidFill>
              </a:rPr>
              <a:t>Discussion: if you found serious wrongdoing at a Nepali employer, would weak legal protection change what you'd do?</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55606B"/>
                </a:solidFill>
              </a:rPr>
              <a:t>68 / 94</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C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C2B4A"/>
                </a:solidFill>
              </a:rPr>
              <a:t>S20 · SUMMARY  ·  [~2 MIN]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Summary &amp; Key Takeaways</a:t>
            </a:r>
          </a:p>
        </p:txBody>
      </p:sp>
      <p:sp>
        <p:nvSpPr>
          <p:cNvPr id="5" name="TextBox 4"/>
          <p:cNvSpPr txBox="1"/>
          <p:nvPr/>
        </p:nvSpPr>
        <p:spPr>
          <a:xfrm>
            <a:off x="640080" y="1554480"/>
            <a:ext cx="10972800" cy="2468880"/>
          </a:xfrm>
          <a:prstGeom prst="rect">
            <a:avLst/>
          </a:prstGeom>
          <a:noFill/>
        </p:spPr>
        <p:txBody>
          <a:bodyPr wrap="square">
            <a:spAutoFit/>
          </a:bodyPr>
          <a:lstStyle/>
          <a:p>
            <a:pPr>
              <a:spcAft>
                <a:spcPts val="800"/>
              </a:spcAft>
            </a:pPr>
            <a:r>
              <a:rPr sz="1500">
                <a:solidFill>
                  <a:srgbClr val="1A1A1A"/>
                </a:solidFill>
              </a:rPr>
              <a:t>1.  Whistle-blowing = an insider exposing wrongdoing, internal or external; loyalty has a limit (never cover up harm).</a:t>
            </a:r>
          </a:p>
          <a:p>
            <a:pPr>
              <a:spcAft>
                <a:spcPts val="800"/>
              </a:spcAft>
            </a:pPr>
            <a:r>
              <a:rPr sz="1500">
                <a:solidFill>
                  <a:srgbClr val="1A1A1A"/>
                </a:solidFill>
              </a:rPr>
              <a:t>2.  Do it responsibly: evidence-first, internal-first, escalate to a regulator, go public only as a last resort.</a:t>
            </a:r>
          </a:p>
          <a:p>
            <a:pPr>
              <a:spcAft>
                <a:spcPts val="800"/>
              </a:spcAft>
            </a:pPr>
            <a:r>
              <a:rPr sz="1500">
                <a:solidFill>
                  <a:srgbClr val="1A1A1A"/>
                </a:solidFill>
              </a:rPr>
              <a:t>3.  Expect real personal risk (retaliation, blacklisting) and know the (limited) protections — weaker in Nepal.</a:t>
            </a:r>
          </a:p>
        </p:txBody>
      </p:sp>
      <p:sp>
        <p:nvSpPr>
          <p:cNvPr id="6" name="Rounded Rectangle 5"/>
          <p:cNvSpPr/>
          <p:nvPr/>
        </p:nvSpPr>
        <p:spPr>
          <a:xfrm>
            <a:off x="640080" y="4160520"/>
            <a:ext cx="10972800" cy="1234440"/>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Why this matters</a:t>
            </a:r>
          </a:p>
          <a:p>
            <a:pPr>
              <a:spcBef>
                <a:spcPts val="300"/>
              </a:spcBef>
            </a:pPr>
            <a:r>
              <a:rPr sz="1350">
                <a:solidFill>
                  <a:srgbClr val="1A1A1A"/>
                </a:solidFill>
              </a:rPr>
              <a:t>You may one day be the only person who KNOWS — understanding the responsible process and the real risks helps you act with both courage and care, instead of freezing or leaking recklessly. Thinking it through now is what lets you act well later.</a:t>
            </a:r>
          </a:p>
        </p:txBody>
      </p:sp>
      <p:sp>
        <p:nvSpPr>
          <p:cNvPr id="7" name="Rounded Rectangle 6"/>
          <p:cNvSpPr/>
          <p:nvPr/>
        </p:nvSpPr>
        <p:spPr>
          <a:xfrm>
            <a:off x="640080" y="5504688"/>
            <a:ext cx="10972800" cy="105156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Next</a:t>
            </a:r>
          </a:p>
          <a:p>
            <a:pPr>
              <a:spcBef>
                <a:spcPts val="300"/>
              </a:spcBef>
            </a:pPr>
            <a:r>
              <a:rPr sz="1350">
                <a:solidFill>
                  <a:srgbClr val="1A1A1A"/>
                </a:solidFill>
              </a:rPr>
              <a:t>S21 — the organization's responsibility to the planet: green computing.</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69 / 94</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185FA5"/>
        </a:solidFill>
        <a:effectLst/>
      </p:bgPr>
    </p:bg>
    <p:spTree>
      <p:nvGrpSpPr>
        <p:cNvPr id="1" name=""/>
        <p:cNvGrpSpPr/>
        <p:nvPr/>
      </p:nvGrpSpPr>
      <p:grpSpPr/>
      <p:sp>
        <p:nvSpPr>
          <p:cNvPr id="2" name="TextBox 1"/>
          <p:cNvSpPr txBox="1"/>
          <p:nvPr/>
        </p:nvSpPr>
        <p:spPr>
          <a:xfrm>
            <a:off x="822960" y="1737360"/>
            <a:ext cx="10515600" cy="548640"/>
          </a:xfrm>
          <a:prstGeom prst="rect">
            <a:avLst/>
          </a:prstGeom>
          <a:noFill/>
        </p:spPr>
        <p:txBody>
          <a:bodyPr wrap="none">
            <a:spAutoFit/>
          </a:bodyPr>
          <a:lstStyle/>
          <a:p>
            <a:r>
              <a:rPr sz="1500" b="1">
                <a:solidFill>
                  <a:srgbClr val="BFDCF2"/>
                </a:solidFill>
              </a:rPr>
              <a:t>SESSION 21 · LECTURE HOUR 5 (OF 5) — CLOSES UNIT 4</a:t>
            </a:r>
          </a:p>
        </p:txBody>
      </p:sp>
      <p:sp>
        <p:nvSpPr>
          <p:cNvPr id="3" name="TextBox 2"/>
          <p:cNvSpPr txBox="1"/>
          <p:nvPr/>
        </p:nvSpPr>
        <p:spPr>
          <a:xfrm>
            <a:off x="822960" y="2286000"/>
            <a:ext cx="10515600" cy="1280160"/>
          </a:xfrm>
          <a:prstGeom prst="rect">
            <a:avLst/>
          </a:prstGeom>
          <a:noFill/>
        </p:spPr>
        <p:txBody>
          <a:bodyPr wrap="square">
            <a:spAutoFit/>
          </a:bodyPr>
          <a:lstStyle/>
          <a:p>
            <a:r>
              <a:rPr sz="3000" b="1">
                <a:solidFill>
                  <a:srgbClr val="FFFFFF"/>
                </a:solidFill>
              </a:rPr>
              <a:t>Green Computing</a:t>
            </a:r>
          </a:p>
        </p:txBody>
      </p:sp>
      <p:sp>
        <p:nvSpPr>
          <p:cNvPr id="4" name="Rectangle 3"/>
          <p:cNvSpPr/>
          <p:nvPr/>
        </p:nvSpPr>
        <p:spPr>
          <a:xfrm>
            <a:off x="822960" y="3703320"/>
            <a:ext cx="1280160" cy="82296"/>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3886200"/>
            <a:ext cx="10515600" cy="2194560"/>
          </a:xfrm>
          <a:prstGeom prst="rect">
            <a:avLst/>
          </a:prstGeom>
          <a:noFill/>
        </p:spPr>
        <p:txBody>
          <a:bodyPr wrap="square">
            <a:spAutoFit/>
          </a:bodyPr>
          <a:lstStyle/>
          <a:p>
            <a:r>
              <a:rPr sz="1800" i="1">
                <a:solidFill>
                  <a:srgbClr val="E8F1F9"/>
                </a:solidFill>
              </a:rPr>
              <a:t>🎣  Every Google search, every crypto transaction, every old laptop dumped behind a shop in New Road — IT runs on electricity and leaves behind toxic waste. Is 'going digital' actually green, or are we just hiding the smoke?</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E8F0F7"/>
                </a:solidFill>
              </a:rPr>
              <a:t>70 / 94</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S21 · CONCEPT 1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What Green Computing Is</a:t>
            </a:r>
          </a:p>
        </p:txBody>
      </p:sp>
      <p:sp>
        <p:nvSpPr>
          <p:cNvPr id="5" name="TextBox 4"/>
          <p:cNvSpPr txBox="1"/>
          <p:nvPr/>
        </p:nvSpPr>
        <p:spPr>
          <a:xfrm>
            <a:off x="640080" y="1572768"/>
            <a:ext cx="5669280" cy="4617720"/>
          </a:xfrm>
          <a:prstGeom prst="rect">
            <a:avLst/>
          </a:prstGeom>
          <a:noFill/>
        </p:spPr>
        <p:txBody>
          <a:bodyPr wrap="square">
            <a:spAutoFit/>
          </a:bodyPr>
          <a:lstStyle/>
          <a:p>
            <a:pPr>
              <a:spcAft>
                <a:spcPts val="1000"/>
              </a:spcAft>
            </a:pPr>
            <a:r>
              <a:rPr sz="1500" b="1">
                <a:solidFill>
                  <a:srgbClr val="0C2B4A"/>
                </a:solidFill>
              </a:rPr>
              <a:t>Green computing is designing, using, and disposing of IT in environmentally responsible, energy-efficient ways. It covers the FULL lifecycle — manufacture → use (energy) → disposal — with the goals of lower energy, lower emissions, and less waste.</a:t>
            </a:r>
          </a:p>
          <a:p>
            <a:pPr>
              <a:spcAft>
                <a:spcPts val="500"/>
              </a:spcAft>
            </a:pPr>
            <a:r>
              <a:rPr sz="1200" b="1">
                <a:solidFill>
                  <a:srgbClr val="185FA5"/>
                </a:solidFill>
              </a:rPr>
              <a:t>HOW IT WORKS</a:t>
            </a:r>
          </a:p>
          <a:p>
            <a:pPr>
              <a:spcAft>
                <a:spcPts val="600"/>
              </a:spcAft>
            </a:pPr>
            <a:r>
              <a:rPr sz="1400">
                <a:solidFill>
                  <a:srgbClr val="1A1A1A"/>
                </a:solidFill>
              </a:rPr>
              <a:t>•  It's not just 'buy an efficient laptop' — it spans making, running, and retiring every device.</a:t>
            </a:r>
          </a:p>
          <a:p>
            <a:pPr>
              <a:spcAft>
                <a:spcPts val="600"/>
              </a:spcAft>
            </a:pPr>
            <a:r>
              <a:rPr sz="1400">
                <a:solidFill>
                  <a:srgbClr val="1A1A1A"/>
                </a:solidFill>
              </a:rPr>
              <a:t>•  Manufacture consumes materials and energy; use consumes power; disposal creates e-waste.</a:t>
            </a:r>
          </a:p>
          <a:p>
            <a:pPr>
              <a:spcAft>
                <a:spcPts val="600"/>
              </a:spcAft>
            </a:pPr>
            <a:r>
              <a:rPr sz="1400">
                <a:solidFill>
                  <a:srgbClr val="1A1A1A"/>
                </a:solidFill>
              </a:rPr>
              <a:t>•  Global practice: efficient data centres (good PUE), renewable-powered cloud, ENERGY STAR / EPEAT devices.</a:t>
            </a:r>
          </a:p>
          <a:p>
            <a:pPr>
              <a:spcAft>
                <a:spcPts val="600"/>
              </a:spcAft>
            </a:pPr>
            <a:r>
              <a:rPr sz="1400">
                <a:solidFill>
                  <a:srgbClr val="1A1A1A"/>
                </a:solidFill>
              </a:rPr>
              <a:t>•  'The cloud' is not weightless — it's physical data centres burning real power and water somewhere.</a:t>
            </a:r>
          </a:p>
        </p:txBody>
      </p:sp>
      <p:pic>
        <p:nvPicPr>
          <p:cNvPr id="6" name="Picture 5" descr="s21_lifecycle.png"/>
          <p:cNvPicPr>
            <a:picLocks noChangeAspect="1"/>
          </p:cNvPicPr>
          <p:nvPr/>
        </p:nvPicPr>
        <p:blipFill>
          <a:blip r:embed="rId2"/>
          <a:stretch>
            <a:fillRect/>
          </a:stretch>
        </p:blipFill>
        <p:spPr>
          <a:xfrm>
            <a:off x="6355080" y="2408538"/>
            <a:ext cx="5532120" cy="2818164"/>
          </a:xfrm>
          <a:prstGeom prst="rect">
            <a:avLst/>
          </a:prstGeom>
        </p:spPr>
      </p:pic>
      <p:sp>
        <p:nvSpPr>
          <p:cNvPr id="7" name="Rectangle 6"/>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Green IT spans the whole lifecycle: make → use → dispose → recycle.</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71 / 94</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S21 · CONCEPT 1 · SCAFFOLDING</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IT lifecycle — environmental impact at each stage</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2661780"/>
                <a:gridCol w="4540684"/>
                <a:gridCol w="4227534"/>
              </a:tblGrid>
              <a:tr h="883310">
                <a:tc>
                  <a:txBody>
                    <a:bodyPr wrap="square"/>
                    <a:lstStyle/>
                    <a:p>
                      <a:r>
                        <a:rPr sz="1200" b="1">
                          <a:solidFill>
                            <a:srgbClr val="FFFFFF"/>
                          </a:solidFill>
                        </a:rPr>
                        <a:t>Lifecycle stage</a:t>
                      </a:r>
                    </a:p>
                  </a:txBody>
                  <a:tcPr anchor="ctr" marL="73152" marR="54864" marT="27432" marB="27432">
                    <a:solidFill>
                      <a:srgbClr val="0C2B4A"/>
                    </a:solidFill>
                  </a:tcPr>
                </a:tc>
                <a:tc>
                  <a:txBody>
                    <a:bodyPr wrap="square"/>
                    <a:lstStyle/>
                    <a:p>
                      <a:r>
                        <a:rPr sz="1200" b="1">
                          <a:solidFill>
                            <a:srgbClr val="FFFFFF"/>
                          </a:solidFill>
                        </a:rPr>
                        <a:t>Environmental impact</a:t>
                      </a:r>
                    </a:p>
                  </a:txBody>
                  <a:tcPr anchor="ctr" marL="73152" marR="54864" marT="27432" marB="27432">
                    <a:solidFill>
                      <a:srgbClr val="0C2B4A"/>
                    </a:solidFill>
                  </a:tcPr>
                </a:tc>
                <a:tc>
                  <a:txBody>
                    <a:bodyPr wrap="square"/>
                    <a:lstStyle/>
                    <a:p>
                      <a:r>
                        <a:rPr sz="1200" b="1">
                          <a:solidFill>
                            <a:srgbClr val="FFFFFF"/>
                          </a:solidFill>
                        </a:rPr>
                        <a:t>Green response</a:t>
                      </a:r>
                    </a:p>
                  </a:txBody>
                  <a:tcPr anchor="ctr" marL="73152" marR="54864" marT="27432" marB="27432">
                    <a:solidFill>
                      <a:srgbClr val="0C2B4A"/>
                    </a:solidFill>
                  </a:tcPr>
                </a:tc>
              </a:tr>
              <a:tr h="883310">
                <a:tc>
                  <a:txBody>
                    <a:bodyPr wrap="square"/>
                    <a:lstStyle/>
                    <a:p>
                      <a:r>
                        <a:rPr sz="1150" b="1">
                          <a:solidFill>
                            <a:srgbClr val="0C2B4A"/>
                          </a:solidFill>
                        </a:rPr>
                        <a:t>Manufacture</a:t>
                      </a:r>
                    </a:p>
                  </a:txBody>
                  <a:tcPr anchor="ctr" marL="73152" marR="54864" marT="27432" marB="27432">
                    <a:solidFill>
                      <a:srgbClr val="FFFFFF"/>
                    </a:solidFill>
                  </a:tcPr>
                </a:tc>
                <a:tc>
                  <a:txBody>
                    <a:bodyPr wrap="square"/>
                    <a:lstStyle/>
                    <a:p>
                      <a:r>
                        <a:rPr sz="1150">
                          <a:solidFill>
                            <a:srgbClr val="1A1A1A"/>
                          </a:solidFill>
                        </a:rPr>
                        <a:t>Raw materials, water, energy, mining</a:t>
                      </a:r>
                    </a:p>
                  </a:txBody>
                  <a:tcPr anchor="ctr" marL="73152" marR="54864" marT="27432" marB="27432">
                    <a:solidFill>
                      <a:srgbClr val="FFFFFF"/>
                    </a:solidFill>
                  </a:tcPr>
                </a:tc>
                <a:tc>
                  <a:txBody>
                    <a:bodyPr wrap="square"/>
                    <a:lstStyle/>
                    <a:p>
                      <a:r>
                        <a:rPr sz="1150">
                          <a:solidFill>
                            <a:srgbClr val="1A1A1A"/>
                          </a:solidFill>
                        </a:rPr>
                        <a:t>Durable design; buy only what's needed</a:t>
                      </a:r>
                    </a:p>
                  </a:txBody>
                  <a:tcPr anchor="ctr" marL="73152" marR="54864" marT="27432" marB="27432">
                    <a:solidFill>
                      <a:srgbClr val="FFFFFF"/>
                    </a:solidFill>
                  </a:tcPr>
                </a:tc>
              </a:tr>
              <a:tr h="883310">
                <a:tc>
                  <a:txBody>
                    <a:bodyPr wrap="square"/>
                    <a:lstStyle/>
                    <a:p>
                      <a:r>
                        <a:rPr sz="1150" b="1">
                          <a:solidFill>
                            <a:srgbClr val="0C2B4A"/>
                          </a:solidFill>
                        </a:rPr>
                        <a:t>Use</a:t>
                      </a:r>
                    </a:p>
                  </a:txBody>
                  <a:tcPr anchor="ctr" marL="73152" marR="54864" marT="27432" marB="27432">
                    <a:solidFill>
                      <a:srgbClr val="EEF3F8"/>
                    </a:solidFill>
                  </a:tcPr>
                </a:tc>
                <a:tc>
                  <a:txBody>
                    <a:bodyPr wrap="square"/>
                    <a:lstStyle/>
                    <a:p>
                      <a:r>
                        <a:rPr sz="1150">
                          <a:solidFill>
                            <a:srgbClr val="1A1A1A"/>
                          </a:solidFill>
                        </a:rPr>
                        <a:t>Electricity for devices, servers, cooling</a:t>
                      </a:r>
                    </a:p>
                  </a:txBody>
                  <a:tcPr anchor="ctr" marL="73152" marR="54864" marT="27432" marB="27432">
                    <a:solidFill>
                      <a:srgbClr val="EEF3F8"/>
                    </a:solidFill>
                  </a:tcPr>
                </a:tc>
                <a:tc>
                  <a:txBody>
                    <a:bodyPr wrap="square"/>
                    <a:lstStyle/>
                    <a:p>
                      <a:r>
                        <a:rPr sz="1150">
                          <a:solidFill>
                            <a:srgbClr val="1A1A1A"/>
                          </a:solidFill>
                        </a:rPr>
                        <a:t>Efficient hardware, power management, renewables</a:t>
                      </a:r>
                    </a:p>
                  </a:txBody>
                  <a:tcPr anchor="ctr" marL="73152" marR="54864" marT="27432" marB="27432">
                    <a:solidFill>
                      <a:srgbClr val="EEF3F8"/>
                    </a:solidFill>
                  </a:tcPr>
                </a:tc>
              </a:tr>
              <a:tr h="883310">
                <a:tc>
                  <a:txBody>
                    <a:bodyPr wrap="square"/>
                    <a:lstStyle/>
                    <a:p>
                      <a:r>
                        <a:rPr sz="1150" b="1">
                          <a:solidFill>
                            <a:srgbClr val="0C2B4A"/>
                          </a:solidFill>
                        </a:rPr>
                        <a:t>Disposal</a:t>
                      </a:r>
                    </a:p>
                  </a:txBody>
                  <a:tcPr anchor="ctr" marL="73152" marR="54864" marT="27432" marB="27432">
                    <a:solidFill>
                      <a:srgbClr val="FFFFFF"/>
                    </a:solidFill>
                  </a:tcPr>
                </a:tc>
                <a:tc>
                  <a:txBody>
                    <a:bodyPr wrap="square"/>
                    <a:lstStyle/>
                    <a:p>
                      <a:r>
                        <a:rPr sz="1150">
                          <a:solidFill>
                            <a:srgbClr val="1A1A1A"/>
                          </a:solidFill>
                        </a:rPr>
                        <a:t>Toxic e-waste (lead, mercury, cadmium)</a:t>
                      </a:r>
                    </a:p>
                  </a:txBody>
                  <a:tcPr anchor="ctr" marL="73152" marR="54864" marT="27432" marB="27432">
                    <a:solidFill>
                      <a:srgbClr val="FFFFFF"/>
                    </a:solidFill>
                  </a:tcPr>
                </a:tc>
                <a:tc>
                  <a:txBody>
                    <a:bodyPr wrap="square"/>
                    <a:lstStyle/>
                    <a:p>
                      <a:r>
                        <a:rPr sz="1150">
                          <a:solidFill>
                            <a:srgbClr val="1A1A1A"/>
                          </a:solidFill>
                        </a:rPr>
                        <a:t>Reduce, reuse, refurbish, recycle safely</a:t>
                      </a:r>
                    </a:p>
                  </a:txBody>
                  <a:tcPr anchor="ctr" marL="73152" marR="54864" marT="27432" marB="27432">
                    <a:solidFill>
                      <a:srgbClr val="FFFFFF"/>
                    </a:solidFill>
                  </a:tcPr>
                </a:tc>
              </a:tr>
              <a:tr h="883312">
                <a:tc>
                  <a:txBody>
                    <a:bodyPr wrap="square"/>
                    <a:lstStyle/>
                    <a:p>
                      <a:r>
                        <a:rPr sz="1150" b="1">
                          <a:solidFill>
                            <a:srgbClr val="0C2B4A"/>
                          </a:solidFill>
                        </a:rPr>
                        <a:t>Recycle / reuse</a:t>
                      </a:r>
                    </a:p>
                  </a:txBody>
                  <a:tcPr anchor="ctr" marL="73152" marR="54864" marT="27432" marB="27432">
                    <a:solidFill>
                      <a:srgbClr val="EEF3F8"/>
                    </a:solidFill>
                  </a:tcPr>
                </a:tc>
                <a:tc>
                  <a:txBody>
                    <a:bodyPr wrap="square"/>
                    <a:lstStyle/>
                    <a:p>
                      <a:r>
                        <a:rPr sz="1150">
                          <a:solidFill>
                            <a:srgbClr val="1A1A1A"/>
                          </a:solidFill>
                        </a:rPr>
                        <a:t>(closes the loop)</a:t>
                      </a:r>
                    </a:p>
                  </a:txBody>
                  <a:tcPr anchor="ctr" marL="73152" marR="54864" marT="27432" marB="27432">
                    <a:solidFill>
                      <a:srgbClr val="EEF3F8"/>
                    </a:solidFill>
                  </a:tcPr>
                </a:tc>
                <a:tc>
                  <a:txBody>
                    <a:bodyPr wrap="square"/>
                    <a:lstStyle/>
                    <a:p>
                      <a:r>
                        <a:rPr sz="1150">
                          <a:solidFill>
                            <a:srgbClr val="1A1A1A"/>
                          </a:solidFill>
                        </a:rPr>
                        <a:t>Recover materials; refurbish for a second life</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Green computing addresses ALL stages, not just energy in use. Ignoring manufacture and disposal just hides the footprint elsewhere.</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72 / 94</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S21 · CONCEPT 1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What Green Computing Is</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Nepal has a genuine green-IT opportunity: data centres powered by clean hydro-electricity could be a real 'green data center' selling point for attracting international clients. But the gain is erased if diesel generators kick in during load-shedding — showing green computing must be measured across the real, full lifecycle, not claimed on paper.</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"Software / digital has no environmental footprint — it's 'in the cloud'." The cloud is physical data centres burning real electricity and water somewhere. A crypto transaction or an always-on server has a measurable energy and carbon cost. 'Digital' relocates the footprint; it doesn't remove it.</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Green computing is designing, using, and disposing of IT in environmentally responsible, energy-efficient ways across the full lifecycle — manufacture, use, and disposal — aiming for lower energy, emissions, and waste. Its foundational point is that IT (including 'the cloud') has a real physical footprint, so responsibility spans making, running, and retiring every device.</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green computing · full lifecycle · manufacture/use/disposal · the cloud is physical · lower energy/emissions/waste</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73 / 94</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S21 · CONCEPT 1 · CONCRETE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Is this action actually green? — across the lifecycle</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4227534"/>
                <a:gridCol w="2661780"/>
                <a:gridCol w="4540684"/>
              </a:tblGrid>
              <a:tr h="630936">
                <a:tc>
                  <a:txBody>
                    <a:bodyPr wrap="square"/>
                    <a:lstStyle/>
                    <a:p>
                      <a:r>
                        <a:rPr sz="1150" b="1">
                          <a:solidFill>
                            <a:srgbClr val="FFFFFF"/>
                          </a:solidFill>
                        </a:rPr>
                        <a:t>Claim / action</a:t>
                      </a:r>
                    </a:p>
                  </a:txBody>
                  <a:tcPr anchor="ctr" marL="73152" marR="54864" marT="27432" marB="27432">
                    <a:solidFill>
                      <a:srgbClr val="0C2B4A"/>
                    </a:solidFill>
                  </a:tcPr>
                </a:tc>
                <a:tc>
                  <a:txBody>
                    <a:bodyPr wrap="square"/>
                    <a:lstStyle/>
                    <a:p>
                      <a:r>
                        <a:rPr sz="1150" b="1">
                          <a:solidFill>
                            <a:srgbClr val="FFFFFF"/>
                          </a:solidFill>
                        </a:rPr>
                        <a:t>Really green?</a:t>
                      </a:r>
                    </a:p>
                  </a:txBody>
                  <a:tcPr anchor="ctr" marL="73152" marR="54864" marT="27432" marB="27432">
                    <a:solidFill>
                      <a:srgbClr val="0C2B4A"/>
                    </a:solidFill>
                  </a:tcPr>
                </a:tc>
                <a:tc>
                  <a:txBody>
                    <a:bodyPr wrap="square"/>
                    <a:lstStyle/>
                    <a:p>
                      <a:r>
                        <a:rPr sz="1150" b="1">
                          <a:solidFill>
                            <a:srgbClr val="FFFFFF"/>
                          </a:solidFill>
                        </a:rPr>
                        <a:t>Why (lifecycle verdict)</a:t>
                      </a:r>
                    </a:p>
                  </a:txBody>
                  <a:tcPr anchor="ctr" marL="73152" marR="54864" marT="27432" marB="27432">
                    <a:solidFill>
                      <a:srgbClr val="0C2B4A"/>
                    </a:solidFill>
                  </a:tcPr>
                </a:tc>
              </a:tr>
              <a:tr h="630936">
                <a:tc>
                  <a:txBody>
                    <a:bodyPr wrap="square"/>
                    <a:lstStyle/>
                    <a:p>
                      <a:r>
                        <a:rPr sz="1100" b="1">
                          <a:solidFill>
                            <a:srgbClr val="0C2B4A"/>
                          </a:solidFill>
                        </a:rPr>
                        <a:t>'It's in the cloud, so it has no footprint'</a:t>
                      </a:r>
                    </a:p>
                  </a:txBody>
                  <a:tcPr anchor="ctr" marL="73152" marR="54864" marT="27432" marB="27432">
                    <a:solidFill>
                      <a:srgbClr val="FFFFFF"/>
                    </a:solidFill>
                  </a:tcPr>
                </a:tc>
                <a:tc>
                  <a:txBody>
                    <a:bodyPr wrap="square"/>
                    <a:lstStyle/>
                    <a:p>
                      <a:r>
                        <a:rPr sz="1100">
                          <a:solidFill>
                            <a:srgbClr val="1A1A1A"/>
                          </a:solidFill>
                        </a:rPr>
                        <a:t>No</a:t>
                      </a:r>
                    </a:p>
                  </a:txBody>
                  <a:tcPr anchor="ctr" marL="73152" marR="54864" marT="27432" marB="27432">
                    <a:solidFill>
                      <a:srgbClr val="FFFFFF"/>
                    </a:solidFill>
                  </a:tcPr>
                </a:tc>
                <a:tc>
                  <a:txBody>
                    <a:bodyPr wrap="square"/>
                    <a:lstStyle/>
                    <a:p>
                      <a:r>
                        <a:rPr sz="1100">
                          <a:solidFill>
                            <a:srgbClr val="1A1A1A"/>
                          </a:solidFill>
                        </a:rPr>
                        <a:t>The cloud = physical data centres burning power &amp; water</a:t>
                      </a:r>
                    </a:p>
                  </a:txBody>
                  <a:tcPr anchor="ctr" marL="73152" marR="54864" marT="27432" marB="27432">
                    <a:solidFill>
                      <a:srgbClr val="FFFFFF"/>
                    </a:solidFill>
                  </a:tcPr>
                </a:tc>
              </a:tr>
              <a:tr h="630936">
                <a:tc>
                  <a:txBody>
                    <a:bodyPr wrap="square"/>
                    <a:lstStyle/>
                    <a:p>
                      <a:r>
                        <a:rPr sz="1100" b="1">
                          <a:solidFill>
                            <a:srgbClr val="0C2B4A"/>
                          </a:solidFill>
                        </a:rPr>
                        <a:t>Hydro-powered data centre in Nepal</a:t>
                      </a:r>
                    </a:p>
                  </a:txBody>
                  <a:tcPr anchor="ctr" marL="73152" marR="54864" marT="27432" marB="27432">
                    <a:solidFill>
                      <a:srgbClr val="EEF3F8"/>
                    </a:solidFill>
                  </a:tcPr>
                </a:tc>
                <a:tc>
                  <a:txBody>
                    <a:bodyPr wrap="square"/>
                    <a:lstStyle/>
                    <a:p>
                      <a:r>
                        <a:rPr sz="1100">
                          <a:solidFill>
                            <a:srgbClr val="1A1A1A"/>
                          </a:solidFill>
                        </a:rPr>
                        <a:t>Yes — if consistent</a:t>
                      </a:r>
                    </a:p>
                  </a:txBody>
                  <a:tcPr anchor="ctr" marL="73152" marR="54864" marT="27432" marB="27432">
                    <a:solidFill>
                      <a:srgbClr val="EEF3F8"/>
                    </a:solidFill>
                  </a:tcPr>
                </a:tc>
                <a:tc>
                  <a:txBody>
                    <a:bodyPr wrap="square"/>
                    <a:lstStyle/>
                    <a:p>
                      <a:r>
                        <a:rPr sz="1100">
                          <a:solidFill>
                            <a:srgbClr val="1A1A1A"/>
                          </a:solidFill>
                        </a:rPr>
                        <a:t>Clean power, but only if no diesel backup kicks in</a:t>
                      </a:r>
                    </a:p>
                  </a:txBody>
                  <a:tcPr anchor="ctr" marL="73152" marR="54864" marT="27432" marB="27432">
                    <a:solidFill>
                      <a:srgbClr val="EEF3F8"/>
                    </a:solidFill>
                  </a:tcPr>
                </a:tc>
              </a:tr>
              <a:tr h="630936">
                <a:tc>
                  <a:txBody>
                    <a:bodyPr wrap="square"/>
                    <a:lstStyle/>
                    <a:p>
                      <a:r>
                        <a:rPr sz="1100" b="1">
                          <a:solidFill>
                            <a:srgbClr val="0C2B4A"/>
                          </a:solidFill>
                        </a:rPr>
                        <a:t>Diesel generator running during load-shedding</a:t>
                      </a:r>
                    </a:p>
                  </a:txBody>
                  <a:tcPr anchor="ctr" marL="73152" marR="54864" marT="27432" marB="27432">
                    <a:solidFill>
                      <a:srgbClr val="FFFFFF"/>
                    </a:solidFill>
                  </a:tcPr>
                </a:tc>
                <a:tc>
                  <a:txBody>
                    <a:bodyPr wrap="square"/>
                    <a:lstStyle/>
                    <a:p>
                      <a:r>
                        <a:rPr sz="1100">
                          <a:solidFill>
                            <a:srgbClr val="1A1A1A"/>
                          </a:solidFill>
                        </a:rPr>
                        <a:t>No</a:t>
                      </a:r>
                    </a:p>
                  </a:txBody>
                  <a:tcPr anchor="ctr" marL="73152" marR="54864" marT="27432" marB="27432">
                    <a:solidFill>
                      <a:srgbClr val="FFFFFF"/>
                    </a:solidFill>
                  </a:tcPr>
                </a:tc>
                <a:tc>
                  <a:txBody>
                    <a:bodyPr wrap="square"/>
                    <a:lstStyle/>
                    <a:p>
                      <a:r>
                        <a:rPr sz="1100">
                          <a:solidFill>
                            <a:srgbClr val="1A1A1A"/>
                          </a:solidFill>
                        </a:rPr>
                        <a:t>Erases the hydro gain — measure the real energy mix</a:t>
                      </a:r>
                    </a:p>
                  </a:txBody>
                  <a:tcPr anchor="ctr" marL="73152" marR="54864" marT="27432" marB="27432">
                    <a:solidFill>
                      <a:srgbClr val="FFFFFF"/>
                    </a:solidFill>
                  </a:tcPr>
                </a:tc>
              </a:tr>
              <a:tr h="630936">
                <a:tc>
                  <a:txBody>
                    <a:bodyPr wrap="square"/>
                    <a:lstStyle/>
                    <a:p>
                      <a:r>
                        <a:rPr sz="1100" b="1">
                          <a:solidFill>
                            <a:srgbClr val="0C2B4A"/>
                          </a:solidFill>
                        </a:rPr>
                        <a:t>Buying a brand-new laptop every year</a:t>
                      </a:r>
                    </a:p>
                  </a:txBody>
                  <a:tcPr anchor="ctr" marL="73152" marR="54864" marT="27432" marB="27432">
                    <a:solidFill>
                      <a:srgbClr val="EEF3F8"/>
                    </a:solidFill>
                  </a:tcPr>
                </a:tc>
                <a:tc>
                  <a:txBody>
                    <a:bodyPr wrap="square"/>
                    <a:lstStyle/>
                    <a:p>
                      <a:r>
                        <a:rPr sz="1100">
                          <a:solidFill>
                            <a:srgbClr val="1A1A1A"/>
                          </a:solidFill>
                        </a:rPr>
                        <a:t>No</a:t>
                      </a:r>
                    </a:p>
                  </a:txBody>
                  <a:tcPr anchor="ctr" marL="73152" marR="54864" marT="27432" marB="27432">
                    <a:solidFill>
                      <a:srgbClr val="EEF3F8"/>
                    </a:solidFill>
                  </a:tcPr>
                </a:tc>
                <a:tc>
                  <a:txBody>
                    <a:bodyPr wrap="square"/>
                    <a:lstStyle/>
                    <a:p>
                      <a:r>
                        <a:rPr sz="1100">
                          <a:solidFill>
                            <a:srgbClr val="1A1A1A"/>
                          </a:solidFill>
                        </a:rPr>
                        <a:t>Ignores the manufacture + disposal footprint</a:t>
                      </a:r>
                    </a:p>
                  </a:txBody>
                  <a:tcPr anchor="ctr" marL="73152" marR="54864" marT="27432" marB="27432">
                    <a:solidFill>
                      <a:srgbClr val="EEF3F8"/>
                    </a:solidFill>
                  </a:tcPr>
                </a:tc>
              </a:tr>
              <a:tr h="630936">
                <a:tc>
                  <a:txBody>
                    <a:bodyPr wrap="square"/>
                    <a:lstStyle/>
                    <a:p>
                      <a:r>
                        <a:rPr sz="1100" b="1">
                          <a:solidFill>
                            <a:srgbClr val="0C2B4A"/>
                          </a:solidFill>
                        </a:rPr>
                        <a:t>ENERGY STAR / EPEAT-rated device</a:t>
                      </a:r>
                    </a:p>
                  </a:txBody>
                  <a:tcPr anchor="ctr" marL="73152" marR="54864" marT="27432" marB="27432">
                    <a:solidFill>
                      <a:srgbClr val="FFFFFF"/>
                    </a:solidFill>
                  </a:tcPr>
                </a:tc>
                <a:tc>
                  <a:txBody>
                    <a:bodyPr wrap="square"/>
                    <a:lstStyle/>
                    <a:p>
                      <a:r>
                        <a:rPr sz="1100">
                          <a:solidFill>
                            <a:srgbClr val="1A1A1A"/>
                          </a:solidFill>
                        </a:rPr>
                        <a:t>Partly</a:t>
                      </a:r>
                    </a:p>
                  </a:txBody>
                  <a:tcPr anchor="ctr" marL="73152" marR="54864" marT="27432" marB="27432">
                    <a:solidFill>
                      <a:srgbClr val="FFFFFF"/>
                    </a:solidFill>
                  </a:tcPr>
                </a:tc>
                <a:tc>
                  <a:txBody>
                    <a:bodyPr wrap="square"/>
                    <a:lstStyle/>
                    <a:p>
                      <a:r>
                        <a:rPr sz="1100">
                          <a:solidFill>
                            <a:srgbClr val="1A1A1A"/>
                          </a:solidFill>
                        </a:rPr>
                        <a:t>Cuts use-phase energy — only one of three stages</a:t>
                      </a:r>
                    </a:p>
                  </a:txBody>
                  <a:tcPr anchor="ctr" marL="73152" marR="54864" marT="27432" marB="27432">
                    <a:solidFill>
                      <a:srgbClr val="FFFFFF"/>
                    </a:solidFill>
                  </a:tcPr>
                </a:tc>
              </a:tr>
              <a:tr h="630936">
                <a:tc>
                  <a:txBody>
                    <a:bodyPr wrap="square"/>
                    <a:lstStyle/>
                    <a:p>
                      <a:r>
                        <a:rPr sz="1100" b="1">
                          <a:solidFill>
                            <a:srgbClr val="0C2B4A"/>
                          </a:solidFill>
                        </a:rPr>
                        <a:t>Recycling old servers responsibly</a:t>
                      </a:r>
                    </a:p>
                  </a:txBody>
                  <a:tcPr anchor="ctr" marL="73152" marR="54864" marT="27432" marB="27432">
                    <a:solidFill>
                      <a:srgbClr val="EEF3F8"/>
                    </a:solidFill>
                  </a:tcPr>
                </a:tc>
                <a:tc>
                  <a:txBody>
                    <a:bodyPr wrap="square"/>
                    <a:lstStyle/>
                    <a:p>
                      <a:r>
                        <a:rPr sz="1100">
                          <a:solidFill>
                            <a:srgbClr val="1A1A1A"/>
                          </a:solidFill>
                        </a:rPr>
                        <a:t>Yes</a:t>
                      </a:r>
                    </a:p>
                  </a:txBody>
                  <a:tcPr anchor="ctr" marL="73152" marR="54864" marT="27432" marB="27432">
                    <a:solidFill>
                      <a:srgbClr val="EEF3F8"/>
                    </a:solidFill>
                  </a:tcPr>
                </a:tc>
                <a:tc>
                  <a:txBody>
                    <a:bodyPr wrap="square"/>
                    <a:lstStyle/>
                    <a:p>
                      <a:r>
                        <a:rPr sz="1100">
                          <a:solidFill>
                            <a:srgbClr val="1A1A1A"/>
                          </a:solidFill>
                        </a:rPr>
                        <a:t>Closes the disposal loop and recovers materials</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Green computing spans the WHOLE lifecycle (make → use → dispose). 'Digital' relocates the footprint; it never removes it — so green must be measured across the real, full lifecycle, not claimed on paper.</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74 / 94</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S21 · CONCEPT 2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Energy Use &amp; Sustainable IT</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Sustainable IT means reducing the power consumed by devices, servers, and data centres. The levers: energy-efficient hardware, virtualization/consolidation, sleep/power management, efficient code, renewable energy, and cooling efficiency.</a:t>
            </a:r>
          </a:p>
          <a:p>
            <a:pPr>
              <a:spcAft>
                <a:spcPts val="500"/>
              </a:spcAft>
            </a:pPr>
            <a:r>
              <a:rPr sz="1200" b="1">
                <a:solidFill>
                  <a:srgbClr val="185FA5"/>
                </a:solidFill>
              </a:rPr>
              <a:t>HOW IT WORKS</a:t>
            </a:r>
          </a:p>
          <a:p>
            <a:pPr>
              <a:spcAft>
                <a:spcPts val="600"/>
              </a:spcAft>
            </a:pPr>
            <a:r>
              <a:rPr sz="1400">
                <a:solidFill>
                  <a:srgbClr val="1A1A1A"/>
                </a:solidFill>
              </a:rPr>
              <a:t>•  Virtualization/consolidation runs many workloads on fewer physical servers — big energy savings.</a:t>
            </a:r>
          </a:p>
          <a:p>
            <a:pPr>
              <a:spcAft>
                <a:spcPts val="600"/>
              </a:spcAft>
            </a:pPr>
            <a:r>
              <a:rPr sz="1400">
                <a:solidFill>
                  <a:srgbClr val="1A1A1A"/>
                </a:solidFill>
              </a:rPr>
              <a:t>•  Power management (sleep, auto-shutdown) cuts the waste of always-on idle machines.</a:t>
            </a:r>
          </a:p>
          <a:p>
            <a:pPr>
              <a:spcAft>
                <a:spcPts val="600"/>
              </a:spcAft>
            </a:pPr>
            <a:r>
              <a:rPr sz="1400">
                <a:solidFill>
                  <a:srgbClr val="1A1A1A"/>
                </a:solidFill>
              </a:rPr>
              <a:t>•  Even efficient code helps: less compute per task means less energy at data-centre scale.</a:t>
            </a:r>
          </a:p>
          <a:p>
            <a:pPr>
              <a:spcAft>
                <a:spcPts val="600"/>
              </a:spcAft>
            </a:pPr>
            <a:r>
              <a:rPr sz="1400">
                <a:solidFill>
                  <a:srgbClr val="1A1A1A"/>
                </a:solidFill>
              </a:rPr>
              <a:t>•  Renewable power and efficient cooling shrink the footprint of the energy that is used.</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Consolidate servers, sleep idle machines, use clean power, write efficient code.</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75 / 94</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S21 · CONCEPT 2 · SCAFFOLDING</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Ways to cut IT energy use</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3102428"/>
                <a:gridCol w="4082142"/>
                <a:gridCol w="4245428"/>
              </a:tblGrid>
              <a:tr h="630936">
                <a:tc>
                  <a:txBody>
                    <a:bodyPr wrap="square"/>
                    <a:lstStyle/>
                    <a:p>
                      <a:r>
                        <a:rPr sz="1150" b="1">
                          <a:solidFill>
                            <a:srgbClr val="FFFFFF"/>
                          </a:solidFill>
                        </a:rPr>
                        <a:t>Measure</a:t>
                      </a:r>
                    </a:p>
                  </a:txBody>
                  <a:tcPr anchor="ctr" marL="73152" marR="54864" marT="27432" marB="27432">
                    <a:solidFill>
                      <a:srgbClr val="0C2B4A"/>
                    </a:solidFill>
                  </a:tcPr>
                </a:tc>
                <a:tc>
                  <a:txBody>
                    <a:bodyPr wrap="square"/>
                    <a:lstStyle/>
                    <a:p>
                      <a:r>
                        <a:rPr sz="1150" b="1">
                          <a:solidFill>
                            <a:srgbClr val="FFFFFF"/>
                          </a:solidFill>
                        </a:rPr>
                        <a:t>How it saves energy</a:t>
                      </a:r>
                    </a:p>
                  </a:txBody>
                  <a:tcPr anchor="ctr" marL="73152" marR="54864" marT="27432" marB="27432">
                    <a:solidFill>
                      <a:srgbClr val="0C2B4A"/>
                    </a:solidFill>
                  </a:tcPr>
                </a:tc>
                <a:tc>
                  <a:txBody>
                    <a:bodyPr wrap="square"/>
                    <a:lstStyle/>
                    <a:p>
                      <a:r>
                        <a:rPr sz="1150" b="1">
                          <a:solidFill>
                            <a:srgbClr val="FFFFFF"/>
                          </a:solidFill>
                        </a:rPr>
                        <a:t>Example</a:t>
                      </a:r>
                    </a:p>
                  </a:txBody>
                  <a:tcPr anchor="ctr" marL="73152" marR="54864" marT="27432" marB="27432">
                    <a:solidFill>
                      <a:srgbClr val="0C2B4A"/>
                    </a:solidFill>
                  </a:tcPr>
                </a:tc>
              </a:tr>
              <a:tr h="630936">
                <a:tc>
                  <a:txBody>
                    <a:bodyPr wrap="square"/>
                    <a:lstStyle/>
                    <a:p>
                      <a:r>
                        <a:rPr sz="1100" b="1">
                          <a:solidFill>
                            <a:srgbClr val="0C2B4A"/>
                          </a:solidFill>
                        </a:rPr>
                        <a:t>Efficient hardware</a:t>
                      </a:r>
                    </a:p>
                  </a:txBody>
                  <a:tcPr anchor="ctr" marL="73152" marR="54864" marT="27432" marB="27432">
                    <a:solidFill>
                      <a:srgbClr val="FFFFFF"/>
                    </a:solidFill>
                  </a:tcPr>
                </a:tc>
                <a:tc>
                  <a:txBody>
                    <a:bodyPr wrap="square"/>
                    <a:lstStyle/>
                    <a:p>
                      <a:r>
                        <a:rPr sz="1100">
                          <a:solidFill>
                            <a:srgbClr val="1A1A1A"/>
                          </a:solidFill>
                        </a:rPr>
                        <a:t>Less power per unit of work</a:t>
                      </a:r>
                    </a:p>
                  </a:txBody>
                  <a:tcPr anchor="ctr" marL="73152" marR="54864" marT="27432" marB="27432">
                    <a:solidFill>
                      <a:srgbClr val="FFFFFF"/>
                    </a:solidFill>
                  </a:tcPr>
                </a:tc>
                <a:tc>
                  <a:txBody>
                    <a:bodyPr wrap="square"/>
                    <a:lstStyle/>
                    <a:p>
                      <a:r>
                        <a:rPr sz="1100">
                          <a:solidFill>
                            <a:srgbClr val="1A1A1A"/>
                          </a:solidFill>
                        </a:rPr>
                        <a:t>ENERGY STAR / EPEAT-rated devices</a:t>
                      </a:r>
                    </a:p>
                  </a:txBody>
                  <a:tcPr anchor="ctr" marL="73152" marR="54864" marT="27432" marB="27432">
                    <a:solidFill>
                      <a:srgbClr val="FFFFFF"/>
                    </a:solidFill>
                  </a:tcPr>
                </a:tc>
              </a:tr>
              <a:tr h="630936">
                <a:tc>
                  <a:txBody>
                    <a:bodyPr wrap="square"/>
                    <a:lstStyle/>
                    <a:p>
                      <a:r>
                        <a:rPr sz="1100" b="1">
                          <a:solidFill>
                            <a:srgbClr val="0C2B4A"/>
                          </a:solidFill>
                        </a:rPr>
                        <a:t>Virtualization / consolidation</a:t>
                      </a:r>
                    </a:p>
                  </a:txBody>
                  <a:tcPr anchor="ctr" marL="73152" marR="54864" marT="27432" marB="27432">
                    <a:solidFill>
                      <a:srgbClr val="EEF3F8"/>
                    </a:solidFill>
                  </a:tcPr>
                </a:tc>
                <a:tc>
                  <a:txBody>
                    <a:bodyPr wrap="square"/>
                    <a:lstStyle/>
                    <a:p>
                      <a:r>
                        <a:rPr sz="1100">
                          <a:solidFill>
                            <a:srgbClr val="1A1A1A"/>
                          </a:solidFill>
                        </a:rPr>
                        <a:t>Fewer physical servers running</a:t>
                      </a:r>
                    </a:p>
                  </a:txBody>
                  <a:tcPr anchor="ctr" marL="73152" marR="54864" marT="27432" marB="27432">
                    <a:solidFill>
                      <a:srgbClr val="EEF3F8"/>
                    </a:solidFill>
                  </a:tcPr>
                </a:tc>
                <a:tc>
                  <a:txBody>
                    <a:bodyPr wrap="square"/>
                    <a:lstStyle/>
                    <a:p>
                      <a:r>
                        <a:rPr sz="1100">
                          <a:solidFill>
                            <a:srgbClr val="1A1A1A"/>
                          </a:solidFill>
                        </a:rPr>
                        <a:t>10 VMs on 1 server instead of 10 boxes</a:t>
                      </a:r>
                    </a:p>
                  </a:txBody>
                  <a:tcPr anchor="ctr" marL="73152" marR="54864" marT="27432" marB="27432">
                    <a:solidFill>
                      <a:srgbClr val="EEF3F8"/>
                    </a:solidFill>
                  </a:tcPr>
                </a:tc>
              </a:tr>
              <a:tr h="630936">
                <a:tc>
                  <a:txBody>
                    <a:bodyPr wrap="square"/>
                    <a:lstStyle/>
                    <a:p>
                      <a:r>
                        <a:rPr sz="1100" b="1">
                          <a:solidFill>
                            <a:srgbClr val="0C2B4A"/>
                          </a:solidFill>
                        </a:rPr>
                        <a:t>Power management</a:t>
                      </a:r>
                    </a:p>
                  </a:txBody>
                  <a:tcPr anchor="ctr" marL="73152" marR="54864" marT="27432" marB="27432">
                    <a:solidFill>
                      <a:srgbClr val="FFFFFF"/>
                    </a:solidFill>
                  </a:tcPr>
                </a:tc>
                <a:tc>
                  <a:txBody>
                    <a:bodyPr wrap="square"/>
                    <a:lstStyle/>
                    <a:p>
                      <a:r>
                        <a:rPr sz="1100">
                          <a:solidFill>
                            <a:srgbClr val="1A1A1A"/>
                          </a:solidFill>
                        </a:rPr>
                        <a:t>No power wasted on idle machines</a:t>
                      </a:r>
                    </a:p>
                  </a:txBody>
                  <a:tcPr anchor="ctr" marL="73152" marR="54864" marT="27432" marB="27432">
                    <a:solidFill>
                      <a:srgbClr val="FFFFFF"/>
                    </a:solidFill>
                  </a:tcPr>
                </a:tc>
                <a:tc>
                  <a:txBody>
                    <a:bodyPr wrap="square"/>
                    <a:lstStyle/>
                    <a:p>
                      <a:r>
                        <a:rPr sz="1100">
                          <a:solidFill>
                            <a:srgbClr val="1A1A1A"/>
                          </a:solidFill>
                        </a:rPr>
                        <a:t>Auto-sleep/shutdown of overnight desktops</a:t>
                      </a:r>
                    </a:p>
                  </a:txBody>
                  <a:tcPr anchor="ctr" marL="73152" marR="54864" marT="27432" marB="27432">
                    <a:solidFill>
                      <a:srgbClr val="FFFFFF"/>
                    </a:solidFill>
                  </a:tcPr>
                </a:tc>
              </a:tr>
              <a:tr h="630936">
                <a:tc>
                  <a:txBody>
                    <a:bodyPr wrap="square"/>
                    <a:lstStyle/>
                    <a:p>
                      <a:r>
                        <a:rPr sz="1100" b="1">
                          <a:solidFill>
                            <a:srgbClr val="0C2B4A"/>
                          </a:solidFill>
                        </a:rPr>
                        <a:t>Efficient code</a:t>
                      </a:r>
                    </a:p>
                  </a:txBody>
                  <a:tcPr anchor="ctr" marL="73152" marR="54864" marT="27432" marB="27432">
                    <a:solidFill>
                      <a:srgbClr val="EEF3F8"/>
                    </a:solidFill>
                  </a:tcPr>
                </a:tc>
                <a:tc>
                  <a:txBody>
                    <a:bodyPr wrap="square"/>
                    <a:lstStyle/>
                    <a:p>
                      <a:r>
                        <a:rPr sz="1100">
                          <a:solidFill>
                            <a:srgbClr val="1A1A1A"/>
                          </a:solidFill>
                        </a:rPr>
                        <a:t>Less compute per task</a:t>
                      </a:r>
                    </a:p>
                  </a:txBody>
                  <a:tcPr anchor="ctr" marL="73152" marR="54864" marT="27432" marB="27432">
                    <a:solidFill>
                      <a:srgbClr val="EEF3F8"/>
                    </a:solidFill>
                  </a:tcPr>
                </a:tc>
                <a:tc>
                  <a:txBody>
                    <a:bodyPr wrap="square"/>
                    <a:lstStyle/>
                    <a:p>
                      <a:r>
                        <a:rPr sz="1100">
                          <a:solidFill>
                            <a:srgbClr val="1A1A1A"/>
                          </a:solidFill>
                        </a:rPr>
                        <a:t>Optimising a hot query at data-centre scale</a:t>
                      </a:r>
                    </a:p>
                  </a:txBody>
                  <a:tcPr anchor="ctr" marL="73152" marR="54864" marT="27432" marB="27432">
                    <a:solidFill>
                      <a:srgbClr val="EEF3F8"/>
                    </a:solidFill>
                  </a:tcPr>
                </a:tc>
              </a:tr>
              <a:tr h="630936">
                <a:tc>
                  <a:txBody>
                    <a:bodyPr wrap="square"/>
                    <a:lstStyle/>
                    <a:p>
                      <a:r>
                        <a:rPr sz="1100" b="1">
                          <a:solidFill>
                            <a:srgbClr val="0C2B4A"/>
                          </a:solidFill>
                        </a:rPr>
                        <a:t>Renewable energy</a:t>
                      </a:r>
                    </a:p>
                  </a:txBody>
                  <a:tcPr anchor="ctr" marL="73152" marR="54864" marT="27432" marB="27432">
                    <a:solidFill>
                      <a:srgbClr val="FFFFFF"/>
                    </a:solidFill>
                  </a:tcPr>
                </a:tc>
                <a:tc>
                  <a:txBody>
                    <a:bodyPr wrap="square"/>
                    <a:lstStyle/>
                    <a:p>
                      <a:r>
                        <a:rPr sz="1100">
                          <a:solidFill>
                            <a:srgbClr val="1A1A1A"/>
                          </a:solidFill>
                        </a:rPr>
                        <a:t>Cleaner power for the same use</a:t>
                      </a:r>
                    </a:p>
                  </a:txBody>
                  <a:tcPr anchor="ctr" marL="73152" marR="54864" marT="27432" marB="27432">
                    <a:solidFill>
                      <a:srgbClr val="FFFFFF"/>
                    </a:solidFill>
                  </a:tcPr>
                </a:tc>
                <a:tc>
                  <a:txBody>
                    <a:bodyPr wrap="square"/>
                    <a:lstStyle/>
                    <a:p>
                      <a:r>
                        <a:rPr sz="1100">
                          <a:solidFill>
                            <a:srgbClr val="1A1A1A"/>
                          </a:solidFill>
                        </a:rPr>
                        <a:t>Hydro-powered data centre (Nepal)</a:t>
                      </a:r>
                    </a:p>
                  </a:txBody>
                  <a:tcPr anchor="ctr" marL="73152" marR="54864" marT="27432" marB="27432">
                    <a:solidFill>
                      <a:srgbClr val="FFFFFF"/>
                    </a:solidFill>
                  </a:tcPr>
                </a:tc>
              </a:tr>
              <a:tr h="630936">
                <a:tc>
                  <a:txBody>
                    <a:bodyPr wrap="square"/>
                    <a:lstStyle/>
                    <a:p>
                      <a:r>
                        <a:rPr sz="1100" b="1">
                          <a:solidFill>
                            <a:srgbClr val="0C2B4A"/>
                          </a:solidFill>
                        </a:rPr>
                        <a:t>Cooling efficiency</a:t>
                      </a:r>
                    </a:p>
                  </a:txBody>
                  <a:tcPr anchor="ctr" marL="73152" marR="54864" marT="27432" marB="27432">
                    <a:solidFill>
                      <a:srgbClr val="EEF3F8"/>
                    </a:solidFill>
                  </a:tcPr>
                </a:tc>
                <a:tc>
                  <a:txBody>
                    <a:bodyPr wrap="square"/>
                    <a:lstStyle/>
                    <a:p>
                      <a:r>
                        <a:rPr sz="1100">
                          <a:solidFill>
                            <a:srgbClr val="1A1A1A"/>
                          </a:solidFill>
                        </a:rPr>
                        <a:t>Less energy spent removing heat</a:t>
                      </a:r>
                    </a:p>
                  </a:txBody>
                  <a:tcPr anchor="ctr" marL="73152" marR="54864" marT="27432" marB="27432">
                    <a:solidFill>
                      <a:srgbClr val="EEF3F8"/>
                    </a:solidFill>
                  </a:tcPr>
                </a:tc>
                <a:tc>
                  <a:txBody>
                    <a:bodyPr wrap="square"/>
                    <a:lstStyle/>
                    <a:p>
                      <a:r>
                        <a:rPr sz="1100">
                          <a:solidFill>
                            <a:srgbClr val="1A1A1A"/>
                          </a:solidFill>
                        </a:rPr>
                        <a:t>Better airflow / free-cooling design</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Nepal's hydropower is a real advantage — but only if backup diesel generators during outages don't erase the gain. Measure the whole picture.</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76 / 94</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S21 · CONCEPT 2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Energy Use &amp; Sustainable IT</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A Kathmandu firm runs 50 always-on desktops overnight 'for convenience'. That's a measurable, needless energy and emissions cost — three easy fixes: enable auto-sleep/shutdown, consolidate what must stay on onto fewer machines/VMs, and switch to efficient (ENERGY STAR) hardware on the next refresh. Convenience was quietly buying a yearly power bill nobody looked at.</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"One office's computers can't matter to the environment." At scale, defaults matter enormously — 50 idle machines overnight, multiplied across every office, is real power and real emissions. As the IT decision-maker, your default settings (sleep, consolidation, efficient hardware) shape an organization's whole energy footprint.</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Sustainable IT reduces the power consumed by devices, servers, and data centres through efficient hardware, virtualization/consolidation, power management, efficient code, renewable energy, and cooling efficiency. Small defaults scale: idle machines and unoptimised systems waste measurable energy, so an IT decision-maker's choices materially shape an organization's energy and emissions.</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sustainable IT · efficient hardware · virtualization · power management · efficient code · renewables · defaults scale</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77 / 94</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S21 · CONCEPT 2 · CONCRETE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Energy waste and the fix — real Nepali office cases</a:t>
            </a:r>
          </a:p>
        </p:txBody>
      </p:sp>
      <p:graphicFrame>
        <p:nvGraphicFramePr>
          <p:cNvPr id="5" name="Table 4"/>
          <p:cNvGraphicFramePr>
            <a:graphicFrameLocks noGrp="1"/>
          </p:cNvGraphicFramePr>
          <p:nvPr/>
        </p:nvGraphicFramePr>
        <p:xfrm>
          <a:off x="384048" y="1572768"/>
          <a:ext cx="11429999" cy="4416552"/>
        </p:xfrm>
        <a:graphic>
          <a:graphicData uri="http://schemas.openxmlformats.org/drawingml/2006/table">
            <a:tbl>
              <a:tblPr>
                <a:tableStyleId>{5C22544A-7EE6-4342-B048-85BDC9FD1C3A}</a:tableStyleId>
              </a:tblPr>
              <a:tblGrid>
                <a:gridCol w="4114800"/>
                <a:gridCol w="3505199"/>
                <a:gridCol w="3810000"/>
              </a:tblGrid>
              <a:tr h="630936">
                <a:tc>
                  <a:txBody>
                    <a:bodyPr wrap="square"/>
                    <a:lstStyle/>
                    <a:p>
                      <a:r>
                        <a:rPr sz="1150" b="1">
                          <a:solidFill>
                            <a:srgbClr val="FFFFFF"/>
                          </a:solidFill>
                        </a:rPr>
                        <a:t>IT energy situation</a:t>
                      </a:r>
                    </a:p>
                  </a:txBody>
                  <a:tcPr anchor="ctr" marL="73152" marR="54864" marT="27432" marB="27432">
                    <a:solidFill>
                      <a:srgbClr val="0C2B4A"/>
                    </a:solidFill>
                  </a:tcPr>
                </a:tc>
                <a:tc>
                  <a:txBody>
                    <a:bodyPr wrap="square"/>
                    <a:lstStyle/>
                    <a:p>
                      <a:r>
                        <a:rPr sz="1150" b="1">
                          <a:solidFill>
                            <a:srgbClr val="FFFFFF"/>
                          </a:solidFill>
                        </a:rPr>
                        <a:t>Fix applied</a:t>
                      </a:r>
                    </a:p>
                  </a:txBody>
                  <a:tcPr anchor="ctr" marL="73152" marR="54864" marT="27432" marB="27432">
                    <a:solidFill>
                      <a:srgbClr val="0C2B4A"/>
                    </a:solidFill>
                  </a:tcPr>
                </a:tc>
                <a:tc>
                  <a:txBody>
                    <a:bodyPr wrap="square"/>
                    <a:lstStyle/>
                    <a:p>
                      <a:r>
                        <a:rPr sz="1150" b="1">
                          <a:solidFill>
                            <a:srgbClr val="FFFFFF"/>
                          </a:solidFill>
                        </a:rPr>
                        <a:t>Energy verdict</a:t>
                      </a:r>
                    </a:p>
                  </a:txBody>
                  <a:tcPr anchor="ctr" marL="73152" marR="54864" marT="27432" marB="27432">
                    <a:solidFill>
                      <a:srgbClr val="0C2B4A"/>
                    </a:solidFill>
                  </a:tcPr>
                </a:tc>
              </a:tr>
              <a:tr h="630936">
                <a:tc>
                  <a:txBody>
                    <a:bodyPr wrap="square"/>
                    <a:lstStyle/>
                    <a:p>
                      <a:r>
                        <a:rPr sz="1100" b="1">
                          <a:solidFill>
                            <a:srgbClr val="0C2B4A"/>
                          </a:solidFill>
                        </a:rPr>
                        <a:t>50 desktops left on overnight 'for convenience'</a:t>
                      </a:r>
                    </a:p>
                  </a:txBody>
                  <a:tcPr anchor="ctr" marL="73152" marR="54864" marT="27432" marB="27432">
                    <a:solidFill>
                      <a:srgbClr val="FFFFFF"/>
                    </a:solidFill>
                  </a:tcPr>
                </a:tc>
                <a:tc>
                  <a:txBody>
                    <a:bodyPr wrap="square"/>
                    <a:lstStyle/>
                    <a:p>
                      <a:r>
                        <a:rPr sz="1100">
                          <a:solidFill>
                            <a:srgbClr val="1A1A1A"/>
                          </a:solidFill>
                        </a:rPr>
                        <a:t>Enable auto-sleep / shutdown</a:t>
                      </a:r>
                    </a:p>
                  </a:txBody>
                  <a:tcPr anchor="ctr" marL="73152" marR="54864" marT="27432" marB="27432">
                    <a:solidFill>
                      <a:srgbClr val="FFFFFF"/>
                    </a:solidFill>
                  </a:tcPr>
                </a:tc>
                <a:tc>
                  <a:txBody>
                    <a:bodyPr wrap="square"/>
                    <a:lstStyle/>
                    <a:p>
                      <a:r>
                        <a:rPr sz="1100">
                          <a:solidFill>
                            <a:srgbClr val="1A1A1A"/>
                          </a:solidFill>
                        </a:rPr>
                        <a:t>Cuts a needless yearly power bill</a:t>
                      </a:r>
                    </a:p>
                  </a:txBody>
                  <a:tcPr anchor="ctr" marL="73152" marR="54864" marT="27432" marB="27432">
                    <a:solidFill>
                      <a:srgbClr val="FFFFFF"/>
                    </a:solidFill>
                  </a:tcPr>
                </a:tc>
              </a:tr>
              <a:tr h="630936">
                <a:tc>
                  <a:txBody>
                    <a:bodyPr wrap="square"/>
                    <a:lstStyle/>
                    <a:p>
                      <a:r>
                        <a:rPr sz="1100" b="1">
                          <a:solidFill>
                            <a:srgbClr val="0C2B4A"/>
                          </a:solidFill>
                        </a:rPr>
                        <a:t>10 physical servers barely used</a:t>
                      </a:r>
                    </a:p>
                  </a:txBody>
                  <a:tcPr anchor="ctr" marL="73152" marR="54864" marT="27432" marB="27432">
                    <a:solidFill>
                      <a:srgbClr val="EEF3F8"/>
                    </a:solidFill>
                  </a:tcPr>
                </a:tc>
                <a:tc>
                  <a:txBody>
                    <a:bodyPr wrap="square"/>
                    <a:lstStyle/>
                    <a:p>
                      <a:r>
                        <a:rPr sz="1100">
                          <a:solidFill>
                            <a:srgbClr val="1A1A1A"/>
                          </a:solidFill>
                        </a:rPr>
                        <a:t>Consolidate to VMs on 1–2 hosts</a:t>
                      </a:r>
                    </a:p>
                  </a:txBody>
                  <a:tcPr anchor="ctr" marL="73152" marR="54864" marT="27432" marB="27432">
                    <a:solidFill>
                      <a:srgbClr val="EEF3F8"/>
                    </a:solidFill>
                  </a:tcPr>
                </a:tc>
                <a:tc>
                  <a:txBody>
                    <a:bodyPr wrap="square"/>
                    <a:lstStyle/>
                    <a:p>
                      <a:r>
                        <a:rPr sz="1100">
                          <a:solidFill>
                            <a:srgbClr val="1A1A1A"/>
                          </a:solidFill>
                        </a:rPr>
                        <a:t>Big drop in power + cooling</a:t>
                      </a:r>
                    </a:p>
                  </a:txBody>
                  <a:tcPr anchor="ctr" marL="73152" marR="54864" marT="27432" marB="27432">
                    <a:solidFill>
                      <a:srgbClr val="EEF3F8"/>
                    </a:solidFill>
                  </a:tcPr>
                </a:tc>
              </a:tr>
              <a:tr h="630936">
                <a:tc>
                  <a:txBody>
                    <a:bodyPr wrap="square"/>
                    <a:lstStyle/>
                    <a:p>
                      <a:r>
                        <a:rPr sz="1100" b="1">
                          <a:solidFill>
                            <a:srgbClr val="0C2B4A"/>
                          </a:solidFill>
                        </a:rPr>
                        <a:t>A slow, unoptimised hot query at scale</a:t>
                      </a:r>
                    </a:p>
                  </a:txBody>
                  <a:tcPr anchor="ctr" marL="73152" marR="54864" marT="27432" marB="27432">
                    <a:solidFill>
                      <a:srgbClr val="FFFFFF"/>
                    </a:solidFill>
                  </a:tcPr>
                </a:tc>
                <a:tc>
                  <a:txBody>
                    <a:bodyPr wrap="square"/>
                    <a:lstStyle/>
                    <a:p>
                      <a:r>
                        <a:rPr sz="1100">
                          <a:solidFill>
                            <a:srgbClr val="1A1A1A"/>
                          </a:solidFill>
                        </a:rPr>
                        <a:t>Optimise the code</a:t>
                      </a:r>
                    </a:p>
                  </a:txBody>
                  <a:tcPr anchor="ctr" marL="73152" marR="54864" marT="27432" marB="27432">
                    <a:solidFill>
                      <a:srgbClr val="FFFFFF"/>
                    </a:solidFill>
                  </a:tcPr>
                </a:tc>
                <a:tc>
                  <a:txBody>
                    <a:bodyPr wrap="square"/>
                    <a:lstStyle/>
                    <a:p>
                      <a:r>
                        <a:rPr sz="1100">
                          <a:solidFill>
                            <a:srgbClr val="1A1A1A"/>
                          </a:solidFill>
                        </a:rPr>
                        <a:t>Less compute = less energy per task</a:t>
                      </a:r>
                    </a:p>
                  </a:txBody>
                  <a:tcPr anchor="ctr" marL="73152" marR="54864" marT="27432" marB="27432">
                    <a:solidFill>
                      <a:srgbClr val="FFFFFF"/>
                    </a:solidFill>
                  </a:tcPr>
                </a:tc>
              </a:tr>
              <a:tr h="630936">
                <a:tc>
                  <a:txBody>
                    <a:bodyPr wrap="square"/>
                    <a:lstStyle/>
                    <a:p>
                      <a:r>
                        <a:rPr sz="1100" b="1">
                          <a:solidFill>
                            <a:srgbClr val="0C2B4A"/>
                          </a:solidFill>
                        </a:rPr>
                        <a:t>Old power-hungry PCs due for refresh</a:t>
                      </a:r>
                    </a:p>
                  </a:txBody>
                  <a:tcPr anchor="ctr" marL="73152" marR="54864" marT="27432" marB="27432">
                    <a:solidFill>
                      <a:srgbClr val="EEF3F8"/>
                    </a:solidFill>
                  </a:tcPr>
                </a:tc>
                <a:tc>
                  <a:txBody>
                    <a:bodyPr wrap="square"/>
                    <a:lstStyle/>
                    <a:p>
                      <a:r>
                        <a:rPr sz="1100">
                          <a:solidFill>
                            <a:srgbClr val="1A1A1A"/>
                          </a:solidFill>
                        </a:rPr>
                        <a:t>Buy ENERGY STAR / EPEAT devices</a:t>
                      </a:r>
                    </a:p>
                  </a:txBody>
                  <a:tcPr anchor="ctr" marL="73152" marR="54864" marT="27432" marB="27432">
                    <a:solidFill>
                      <a:srgbClr val="EEF3F8"/>
                    </a:solidFill>
                  </a:tcPr>
                </a:tc>
                <a:tc>
                  <a:txBody>
                    <a:bodyPr wrap="square"/>
                    <a:lstStyle/>
                    <a:p>
                      <a:r>
                        <a:rPr sz="1100">
                          <a:solidFill>
                            <a:srgbClr val="1A1A1A"/>
                          </a:solidFill>
                        </a:rPr>
                        <a:t>Less power per unit of work</a:t>
                      </a:r>
                    </a:p>
                  </a:txBody>
                  <a:tcPr anchor="ctr" marL="73152" marR="54864" marT="27432" marB="27432">
                    <a:solidFill>
                      <a:srgbClr val="EEF3F8"/>
                    </a:solidFill>
                  </a:tcPr>
                </a:tc>
              </a:tr>
              <a:tr h="630936">
                <a:tc>
                  <a:txBody>
                    <a:bodyPr wrap="square"/>
                    <a:lstStyle/>
                    <a:p>
                      <a:r>
                        <a:rPr sz="1100" b="1">
                          <a:solidFill>
                            <a:srgbClr val="0C2B4A"/>
                          </a:solidFill>
                        </a:rPr>
                        <a:t>Data centre on grid + diesel</a:t>
                      </a:r>
                    </a:p>
                  </a:txBody>
                  <a:tcPr anchor="ctr" marL="73152" marR="54864" marT="27432" marB="27432">
                    <a:solidFill>
                      <a:srgbClr val="FFFFFF"/>
                    </a:solidFill>
                  </a:tcPr>
                </a:tc>
                <a:tc>
                  <a:txBody>
                    <a:bodyPr wrap="square"/>
                    <a:lstStyle/>
                    <a:p>
                      <a:r>
                        <a:rPr sz="1100">
                          <a:solidFill>
                            <a:srgbClr val="1A1A1A"/>
                          </a:solidFill>
                        </a:rPr>
                        <a:t>Shift to hydro / renewable supply</a:t>
                      </a:r>
                    </a:p>
                  </a:txBody>
                  <a:tcPr anchor="ctr" marL="73152" marR="54864" marT="27432" marB="27432">
                    <a:solidFill>
                      <a:srgbClr val="FFFFFF"/>
                    </a:solidFill>
                  </a:tcPr>
                </a:tc>
                <a:tc>
                  <a:txBody>
                    <a:bodyPr wrap="square"/>
                    <a:lstStyle/>
                    <a:p>
                      <a:r>
                        <a:rPr sz="1100">
                          <a:solidFill>
                            <a:srgbClr val="1A1A1A"/>
                          </a:solidFill>
                        </a:rPr>
                        <a:t>Cleaner energy for the same use</a:t>
                      </a:r>
                    </a:p>
                  </a:txBody>
                  <a:tcPr anchor="ctr" marL="73152" marR="54864" marT="27432" marB="27432">
                    <a:solidFill>
                      <a:srgbClr val="FFFFFF"/>
                    </a:solidFill>
                  </a:tcPr>
                </a:tc>
              </a:tr>
              <a:tr h="630936">
                <a:tc>
                  <a:txBody>
                    <a:bodyPr wrap="square"/>
                    <a:lstStyle/>
                    <a:p>
                      <a:r>
                        <a:rPr sz="1100" b="1">
                          <a:solidFill>
                            <a:srgbClr val="0C2B4A"/>
                          </a:solidFill>
                        </a:rPr>
                        <a:t>Server room over-cooled 24/7</a:t>
                      </a:r>
                    </a:p>
                  </a:txBody>
                  <a:tcPr anchor="ctr" marL="73152" marR="54864" marT="27432" marB="27432">
                    <a:solidFill>
                      <a:srgbClr val="EEF3F8"/>
                    </a:solidFill>
                  </a:tcPr>
                </a:tc>
                <a:tc>
                  <a:txBody>
                    <a:bodyPr wrap="square"/>
                    <a:lstStyle/>
                    <a:p>
                      <a:r>
                        <a:rPr sz="1100">
                          <a:solidFill>
                            <a:srgbClr val="1A1A1A"/>
                          </a:solidFill>
                        </a:rPr>
                        <a:t>Improve airflow / free-cooling</a:t>
                      </a:r>
                    </a:p>
                  </a:txBody>
                  <a:tcPr anchor="ctr" marL="73152" marR="54864" marT="27432" marB="27432">
                    <a:solidFill>
                      <a:srgbClr val="EEF3F8"/>
                    </a:solidFill>
                  </a:tcPr>
                </a:tc>
                <a:tc>
                  <a:txBody>
                    <a:bodyPr wrap="square"/>
                    <a:lstStyle/>
                    <a:p>
                      <a:r>
                        <a:rPr sz="1100">
                          <a:solidFill>
                            <a:srgbClr val="1A1A1A"/>
                          </a:solidFill>
                        </a:rPr>
                        <a:t>Less energy spent removing heat</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Small defaults scale: idle machines multiplied across every office are real power and real emissions. As the IT decision-maker, your defaults shape the whole organization's energy footprint.</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78 / 94</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S21 · CONCEPT 3 · [THEORY] [EXAMPLE]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E-Waste &amp; Responsible Disposal</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E-waste is discarded electronics containing toxic materials — lead, mercury, cadmium — that harm health and the environment. Responsible handling follows a ladder: reduce → reuse → refurbish → recycle, plus safe disposal, extended producer responsibility, and data-wiping before disposal.</a:t>
            </a:r>
          </a:p>
          <a:p>
            <a:pPr>
              <a:spcAft>
                <a:spcPts val="500"/>
              </a:spcAft>
            </a:pPr>
            <a:r>
              <a:rPr sz="1200" b="1">
                <a:solidFill>
                  <a:srgbClr val="185FA5"/>
                </a:solidFill>
              </a:rPr>
              <a:t>HOW IT WORKS</a:t>
            </a:r>
          </a:p>
          <a:p>
            <a:pPr>
              <a:spcAft>
                <a:spcPts val="600"/>
              </a:spcAft>
            </a:pPr>
            <a:r>
              <a:rPr sz="1400">
                <a:solidFill>
                  <a:srgbClr val="1A1A1A"/>
                </a:solidFill>
              </a:rPr>
              <a:t>•  Toxins (lead, mercury, cadmium) leach into soil and water when e-waste is dumped or burned.</a:t>
            </a:r>
          </a:p>
          <a:p>
            <a:pPr>
              <a:spcAft>
                <a:spcPts val="600"/>
              </a:spcAft>
            </a:pPr>
            <a:r>
              <a:rPr sz="1400">
                <a:solidFill>
                  <a:srgbClr val="1A1A1A"/>
                </a:solidFill>
              </a:rPr>
              <a:t>•  The ladder: first reduce and reuse/refurbish (extend life), then recycle to recover materials.</a:t>
            </a:r>
          </a:p>
          <a:p>
            <a:pPr>
              <a:spcAft>
                <a:spcPts val="600"/>
              </a:spcAft>
            </a:pPr>
            <a:r>
              <a:rPr sz="1400">
                <a:solidFill>
                  <a:srgbClr val="1A1A1A"/>
                </a:solidFill>
              </a:rPr>
              <a:t>•  Extended producer responsibility: makers take back and handle end-of-life devices.</a:t>
            </a:r>
          </a:p>
          <a:p>
            <a:pPr>
              <a:spcAft>
                <a:spcPts val="600"/>
              </a:spcAft>
            </a:pPr>
            <a:r>
              <a:rPr sz="1400">
                <a:solidFill>
                  <a:srgbClr val="1A1A1A"/>
                </a:solidFill>
              </a:rPr>
              <a:t>•  Wipe data before disposal — a discarded device is also a data-privacy risk (Unit 2).</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Reduce → reuse → refurbish → recycle — and wipe your data first.</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79 / 94</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S21 · CONCEPT 3 ·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E-waste — the toxins and the responsible-disposal ladder</a:t>
            </a:r>
          </a:p>
        </p:txBody>
      </p:sp>
      <p:graphicFrame>
        <p:nvGraphicFramePr>
          <p:cNvPr id="5" name="Table 4"/>
          <p:cNvGraphicFramePr>
            <a:graphicFrameLocks noGrp="1"/>
          </p:cNvGraphicFramePr>
          <p:nvPr/>
        </p:nvGraphicFramePr>
        <p:xfrm>
          <a:off x="384048" y="1572768"/>
          <a:ext cx="11429999" cy="4416552"/>
        </p:xfrm>
        <a:graphic>
          <a:graphicData uri="http://schemas.openxmlformats.org/drawingml/2006/table">
            <a:tbl>
              <a:tblPr>
                <a:tableStyleId>{5C22544A-7EE6-4342-B048-85BDC9FD1C3A}</a:tableStyleId>
              </a:tblPr>
              <a:tblGrid>
                <a:gridCol w="3755571"/>
                <a:gridCol w="3755571"/>
                <a:gridCol w="3918857"/>
              </a:tblGrid>
              <a:tr h="630936">
                <a:tc>
                  <a:txBody>
                    <a:bodyPr wrap="square"/>
                    <a:lstStyle/>
                    <a:p>
                      <a:r>
                        <a:rPr sz="1150" b="1">
                          <a:solidFill>
                            <a:srgbClr val="FFFFFF"/>
                          </a:solidFill>
                        </a:rPr>
                        <a:t>Item</a:t>
                      </a:r>
                    </a:p>
                  </a:txBody>
                  <a:tcPr anchor="ctr" marL="73152" marR="54864" marT="27432" marB="27432">
                    <a:solidFill>
                      <a:srgbClr val="0C2B4A"/>
                    </a:solidFill>
                  </a:tcPr>
                </a:tc>
                <a:tc>
                  <a:txBody>
                    <a:bodyPr wrap="square"/>
                    <a:lstStyle/>
                    <a:p>
                      <a:r>
                        <a:rPr sz="1150" b="1">
                          <a:solidFill>
                            <a:srgbClr val="FFFFFF"/>
                          </a:solidFill>
                        </a:rPr>
                        <a:t>Why it's hazardous</a:t>
                      </a:r>
                    </a:p>
                  </a:txBody>
                  <a:tcPr anchor="ctr" marL="73152" marR="54864" marT="27432" marB="27432">
                    <a:solidFill>
                      <a:srgbClr val="0C2B4A"/>
                    </a:solidFill>
                  </a:tcPr>
                </a:tc>
                <a:tc>
                  <a:txBody>
                    <a:bodyPr wrap="square"/>
                    <a:lstStyle/>
                    <a:p>
                      <a:r>
                        <a:rPr sz="1150" b="1">
                          <a:solidFill>
                            <a:srgbClr val="FFFFFF"/>
                          </a:solidFill>
                        </a:rPr>
                        <a:t>Responsible handling</a:t>
                      </a:r>
                    </a:p>
                  </a:txBody>
                  <a:tcPr anchor="ctr" marL="73152" marR="54864" marT="27432" marB="27432">
                    <a:solidFill>
                      <a:srgbClr val="0C2B4A"/>
                    </a:solidFill>
                  </a:tcPr>
                </a:tc>
              </a:tr>
              <a:tr h="630936">
                <a:tc>
                  <a:txBody>
                    <a:bodyPr wrap="square"/>
                    <a:lstStyle/>
                    <a:p>
                      <a:r>
                        <a:rPr sz="1100" b="1">
                          <a:solidFill>
                            <a:srgbClr val="0C2B4A"/>
                          </a:solidFill>
                        </a:rPr>
                        <a:t>Old laptop / phone battery</a:t>
                      </a:r>
                    </a:p>
                  </a:txBody>
                  <a:tcPr anchor="ctr" marL="73152" marR="54864" marT="27432" marB="27432">
                    <a:solidFill>
                      <a:srgbClr val="FFFFFF"/>
                    </a:solidFill>
                  </a:tcPr>
                </a:tc>
                <a:tc>
                  <a:txBody>
                    <a:bodyPr wrap="square"/>
                    <a:lstStyle/>
                    <a:p>
                      <a:r>
                        <a:rPr sz="1100">
                          <a:solidFill>
                            <a:srgbClr val="1A1A1A"/>
                          </a:solidFill>
                        </a:rPr>
                        <a:t>Lead, cadmium, lithium — toxic &amp; fire risk</a:t>
                      </a:r>
                    </a:p>
                  </a:txBody>
                  <a:tcPr anchor="ctr" marL="73152" marR="54864" marT="27432" marB="27432">
                    <a:solidFill>
                      <a:srgbClr val="FFFFFF"/>
                    </a:solidFill>
                  </a:tcPr>
                </a:tc>
                <a:tc>
                  <a:txBody>
                    <a:bodyPr wrap="square"/>
                    <a:lstStyle/>
                    <a:p>
                      <a:r>
                        <a:rPr sz="1100">
                          <a:solidFill>
                            <a:srgbClr val="1A1A1A"/>
                          </a:solidFill>
                        </a:rPr>
                        <a:t>Reuse/refurbish; recycle via proper handler</a:t>
                      </a:r>
                    </a:p>
                  </a:txBody>
                  <a:tcPr anchor="ctr" marL="73152" marR="54864" marT="27432" marB="27432">
                    <a:solidFill>
                      <a:srgbClr val="FFFFFF"/>
                    </a:solidFill>
                  </a:tcPr>
                </a:tc>
              </a:tr>
              <a:tr h="630936">
                <a:tc>
                  <a:txBody>
                    <a:bodyPr wrap="square"/>
                    <a:lstStyle/>
                    <a:p>
                      <a:r>
                        <a:rPr sz="1100" b="1">
                          <a:solidFill>
                            <a:srgbClr val="0C2B4A"/>
                          </a:solidFill>
                        </a:rPr>
                        <a:t>CRT / old monitor</a:t>
                      </a:r>
                    </a:p>
                  </a:txBody>
                  <a:tcPr anchor="ctr" marL="73152" marR="54864" marT="27432" marB="27432">
                    <a:solidFill>
                      <a:srgbClr val="EEF3F8"/>
                    </a:solidFill>
                  </a:tcPr>
                </a:tc>
                <a:tc>
                  <a:txBody>
                    <a:bodyPr wrap="square"/>
                    <a:lstStyle/>
                    <a:p>
                      <a:r>
                        <a:rPr sz="1100">
                          <a:solidFill>
                            <a:srgbClr val="1A1A1A"/>
                          </a:solidFill>
                        </a:rPr>
                        <a:t>Contains lead</a:t>
                      </a:r>
                    </a:p>
                  </a:txBody>
                  <a:tcPr anchor="ctr" marL="73152" marR="54864" marT="27432" marB="27432">
                    <a:solidFill>
                      <a:srgbClr val="EEF3F8"/>
                    </a:solidFill>
                  </a:tcPr>
                </a:tc>
                <a:tc>
                  <a:txBody>
                    <a:bodyPr wrap="square"/>
                    <a:lstStyle/>
                    <a:p>
                      <a:r>
                        <a:rPr sz="1100">
                          <a:solidFill>
                            <a:srgbClr val="1A1A1A"/>
                          </a:solidFill>
                        </a:rPr>
                        <a:t>Never bin/burn; dedicated e-waste recycler</a:t>
                      </a:r>
                    </a:p>
                  </a:txBody>
                  <a:tcPr anchor="ctr" marL="73152" marR="54864" marT="27432" marB="27432">
                    <a:solidFill>
                      <a:srgbClr val="EEF3F8"/>
                    </a:solidFill>
                  </a:tcPr>
                </a:tc>
              </a:tr>
              <a:tr h="630936">
                <a:tc>
                  <a:txBody>
                    <a:bodyPr wrap="square"/>
                    <a:lstStyle/>
                    <a:p>
                      <a:r>
                        <a:rPr sz="1100" b="1">
                          <a:solidFill>
                            <a:srgbClr val="0C2B4A"/>
                          </a:solidFill>
                        </a:rPr>
                        <a:t>Circuit boards</a:t>
                      </a:r>
                    </a:p>
                  </a:txBody>
                  <a:tcPr anchor="ctr" marL="73152" marR="54864" marT="27432" marB="27432">
                    <a:solidFill>
                      <a:srgbClr val="FFFFFF"/>
                    </a:solidFill>
                  </a:tcPr>
                </a:tc>
                <a:tc>
                  <a:txBody>
                    <a:bodyPr wrap="square"/>
                    <a:lstStyle/>
                    <a:p>
                      <a:r>
                        <a:rPr sz="1100">
                          <a:solidFill>
                            <a:srgbClr val="1A1A1A"/>
                          </a:solidFill>
                        </a:rPr>
                        <a:t>Mercury, heavy metals</a:t>
                      </a:r>
                    </a:p>
                  </a:txBody>
                  <a:tcPr anchor="ctr" marL="73152" marR="54864" marT="27432" marB="27432">
                    <a:solidFill>
                      <a:srgbClr val="FFFFFF"/>
                    </a:solidFill>
                  </a:tcPr>
                </a:tc>
                <a:tc>
                  <a:txBody>
                    <a:bodyPr wrap="square"/>
                    <a:lstStyle/>
                    <a:p>
                      <a:r>
                        <a:rPr sz="1100">
                          <a:solidFill>
                            <a:srgbClr val="1A1A1A"/>
                          </a:solidFill>
                        </a:rPr>
                        <a:t>Recover materials; specialist recycling</a:t>
                      </a:r>
                    </a:p>
                  </a:txBody>
                  <a:tcPr anchor="ctr" marL="73152" marR="54864" marT="27432" marB="27432">
                    <a:solidFill>
                      <a:srgbClr val="FFFFFF"/>
                    </a:solidFill>
                  </a:tcPr>
                </a:tc>
              </a:tr>
              <a:tr h="630936">
                <a:tc>
                  <a:txBody>
                    <a:bodyPr wrap="square"/>
                    <a:lstStyle/>
                    <a:p>
                      <a:r>
                        <a:rPr sz="1100" b="1">
                          <a:solidFill>
                            <a:srgbClr val="0C2B4A"/>
                          </a:solidFill>
                        </a:rPr>
                        <a:t>Any device with your data</a:t>
                      </a:r>
                    </a:p>
                  </a:txBody>
                  <a:tcPr anchor="ctr" marL="73152" marR="54864" marT="27432" marB="27432">
                    <a:solidFill>
                      <a:srgbClr val="EEF3F8"/>
                    </a:solidFill>
                  </a:tcPr>
                </a:tc>
                <a:tc>
                  <a:txBody>
                    <a:bodyPr wrap="square"/>
                    <a:lstStyle/>
                    <a:p>
                      <a:r>
                        <a:rPr sz="1100">
                          <a:solidFill>
                            <a:srgbClr val="1A1A1A"/>
                          </a:solidFill>
                        </a:rPr>
                        <a:t>Data-privacy risk on disposal</a:t>
                      </a:r>
                    </a:p>
                  </a:txBody>
                  <a:tcPr anchor="ctr" marL="73152" marR="54864" marT="27432" marB="27432">
                    <a:solidFill>
                      <a:srgbClr val="EEF3F8"/>
                    </a:solidFill>
                  </a:tcPr>
                </a:tc>
                <a:tc>
                  <a:txBody>
                    <a:bodyPr wrap="square"/>
                    <a:lstStyle/>
                    <a:p>
                      <a:r>
                        <a:rPr sz="1100">
                          <a:solidFill>
                            <a:srgbClr val="1A1A1A"/>
                          </a:solidFill>
                        </a:rPr>
                        <a:t>Wipe/destroy data BEFORE disposal (Unit 2)</a:t>
                      </a:r>
                    </a:p>
                  </a:txBody>
                  <a:tcPr anchor="ctr" marL="73152" marR="54864" marT="27432" marB="27432">
                    <a:solidFill>
                      <a:srgbClr val="EEF3F8"/>
                    </a:solidFill>
                  </a:tcPr>
                </a:tc>
              </a:tr>
              <a:tr h="630936">
                <a:tc>
                  <a:txBody>
                    <a:bodyPr wrap="square"/>
                    <a:lstStyle/>
                    <a:p>
                      <a:r>
                        <a:rPr sz="1100" b="1">
                          <a:solidFill>
                            <a:srgbClr val="0C2B4A"/>
                          </a:solidFill>
                        </a:rPr>
                        <a:t>Still-working old PC</a:t>
                      </a:r>
                    </a:p>
                  </a:txBody>
                  <a:tcPr anchor="ctr" marL="73152" marR="54864" marT="27432" marB="27432">
                    <a:solidFill>
                      <a:srgbClr val="FFFFFF"/>
                    </a:solidFill>
                  </a:tcPr>
                </a:tc>
                <a:tc>
                  <a:txBody>
                    <a:bodyPr wrap="square"/>
                    <a:lstStyle/>
                    <a:p>
                      <a:r>
                        <a:rPr sz="1100">
                          <a:solidFill>
                            <a:srgbClr val="1A1A1A"/>
                          </a:solidFill>
                        </a:rPr>
                        <a:t>Wasted embodied energy if binned</a:t>
                      </a:r>
                    </a:p>
                  </a:txBody>
                  <a:tcPr anchor="ctr" marL="73152" marR="54864" marT="27432" marB="27432">
                    <a:solidFill>
                      <a:srgbClr val="FFFFFF"/>
                    </a:solidFill>
                  </a:tcPr>
                </a:tc>
                <a:tc>
                  <a:txBody>
                    <a:bodyPr wrap="square"/>
                    <a:lstStyle/>
                    <a:p>
                      <a:r>
                        <a:rPr sz="1100">
                          <a:solidFill>
                            <a:srgbClr val="1A1A1A"/>
                          </a:solidFill>
                        </a:rPr>
                        <a:t>Donate / refurbish for a second life</a:t>
                      </a:r>
                    </a:p>
                  </a:txBody>
                  <a:tcPr anchor="ctr" marL="73152" marR="54864" marT="27432" marB="27432">
                    <a:solidFill>
                      <a:srgbClr val="FFFFFF"/>
                    </a:solidFill>
                  </a:tcPr>
                </a:tc>
              </a:tr>
              <a:tr h="630936">
                <a:tc>
                  <a:txBody>
                    <a:bodyPr wrap="square"/>
                    <a:lstStyle/>
                    <a:p>
                      <a:r>
                        <a:rPr sz="1100" b="1">
                          <a:solidFill>
                            <a:srgbClr val="0C2B4A"/>
                          </a:solidFill>
                        </a:rPr>
                        <a:t>Imported second-hand device near end-of-life</a:t>
                      </a:r>
                    </a:p>
                  </a:txBody>
                  <a:tcPr anchor="ctr" marL="73152" marR="54864" marT="27432" marB="27432">
                    <a:solidFill>
                      <a:srgbClr val="EEF3F8"/>
                    </a:solidFill>
                  </a:tcPr>
                </a:tc>
                <a:tc>
                  <a:txBody>
                    <a:bodyPr wrap="square"/>
                    <a:lstStyle/>
                    <a:p>
                      <a:r>
                        <a:rPr sz="1100">
                          <a:solidFill>
                            <a:srgbClr val="1A1A1A"/>
                          </a:solidFill>
                        </a:rPr>
                        <a:t>Becomes junk fast → local e-waste</a:t>
                      </a:r>
                    </a:p>
                  </a:txBody>
                  <a:tcPr anchor="ctr" marL="73152" marR="54864" marT="27432" marB="27432">
                    <a:solidFill>
                      <a:srgbClr val="EEF3F8"/>
                    </a:solidFill>
                  </a:tcPr>
                </a:tc>
                <a:tc>
                  <a:txBody>
                    <a:bodyPr wrap="square"/>
                    <a:lstStyle/>
                    <a:p>
                      <a:r>
                        <a:rPr sz="1100">
                          <a:solidFill>
                            <a:srgbClr val="1A1A1A"/>
                          </a:solidFill>
                        </a:rPr>
                        <a:t>Reduce imports; plan for disposal</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The ladder is ordered: reduce → reuse → refurbish → recycle. Dumping or burning e-waste (common in Kathmandu) leaches toxins into soil and water and wastes recoverable materials.</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80 / 94</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S21 · CONCEPT 3 · [THEORY] [EXAMPLE]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E-Waste &amp; Responsible Disposal</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E-waste accumulates in Kathmandu with little formal recycling — informal dumping and burning in the valley releases lead, mercury, and cadmium into soil and air, and imported second-hand electronics quickly become junk. With weak e-waste regulation in Nepal, responsible disposal falls heavily on organizations and individuals doing the right thing voluntarily.</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"Throwing old electronics in the regular bin is fine." E-waste leaches toxins (lead, mercury, cadmium) into soil and water and wastes recoverable materials — it needs dedicated handling. And a binned device is a data-privacy leak too; wipe or destroy the data first, then reduce/reuse/refurbish/recycle.</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E-waste is discarded electronics containing toxic materials (lead, mercury, cadmium) that harm health and the environment. Responsible handling follows the ladder reduce → reuse → refurbish → recycle, with safe disposal, extended producer responsibility, and data-wiping first. In Nepal, weak regulation and informal dumping/burning make organizational and individual responsibility especially important.</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e-waste · toxic materials · reduce/reuse/refurbish/recycle · extended producer responsibility · wipe data first</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81 / 94</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S21 · CONCEPT 4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Corporate Responsibility &amp; the IT Organization</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An IT organization has a duty to manage its IT footprint as part of CSR — the direct link back to Unit 1. The levers: green procurement policies, take-back/recycling programs, sustainability reporting, telecommuting to cut commute emissions, and cloud right-sizing.</a:t>
            </a:r>
          </a:p>
          <a:p>
            <a:pPr>
              <a:spcAft>
                <a:spcPts val="500"/>
              </a:spcAft>
            </a:pPr>
            <a:r>
              <a:rPr sz="1200" b="1">
                <a:solidFill>
                  <a:srgbClr val="185FA5"/>
                </a:solidFill>
              </a:rPr>
              <a:t>HOW IT WORKS</a:t>
            </a:r>
          </a:p>
          <a:p>
            <a:pPr>
              <a:spcAft>
                <a:spcPts val="600"/>
              </a:spcAft>
            </a:pPr>
            <a:r>
              <a:rPr sz="1400">
                <a:solidFill>
                  <a:srgbClr val="1A1A1A"/>
                </a:solidFill>
              </a:rPr>
              <a:t>•  Green procurement: buy efficient, certified hardware by default — a policy, not a one-off choice.</a:t>
            </a:r>
          </a:p>
          <a:p>
            <a:pPr>
              <a:spcAft>
                <a:spcPts val="600"/>
              </a:spcAft>
            </a:pPr>
            <a:r>
              <a:rPr sz="1400">
                <a:solidFill>
                  <a:srgbClr val="1A1A1A"/>
                </a:solidFill>
              </a:rPr>
              <a:t>•  Take-back/recycling programs give devices a responsible end-of-life.</a:t>
            </a:r>
          </a:p>
          <a:p>
            <a:pPr>
              <a:spcAft>
                <a:spcPts val="600"/>
              </a:spcAft>
            </a:pPr>
            <a:r>
              <a:rPr sz="1400">
                <a:solidFill>
                  <a:srgbClr val="1A1A1A"/>
                </a:solidFill>
              </a:rPr>
              <a:t>•  Sustainability reporting creates accountability you can't quietly walk back (Unit 1's CSR reporting).</a:t>
            </a:r>
          </a:p>
          <a:p>
            <a:pPr>
              <a:spcAft>
                <a:spcPts val="600"/>
              </a:spcAft>
            </a:pPr>
            <a:r>
              <a:rPr sz="1400">
                <a:solidFill>
                  <a:srgbClr val="1A1A1A"/>
                </a:solidFill>
              </a:rPr>
              <a:t>•  Telecommuting and cloud right-sizing cut emissions from commuting and over-provisioned servers.</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Green IT is CSR in action — policy and reporting, not a one-off gesture.</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82 / 94</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S21 · CONCEPT 4 · SCAFFOLDING</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How an IT organization acts green (CSR in practice)</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3265714"/>
                <a:gridCol w="4082142"/>
                <a:gridCol w="4082142"/>
              </a:tblGrid>
              <a:tr h="630936">
                <a:tc>
                  <a:txBody>
                    <a:bodyPr wrap="square"/>
                    <a:lstStyle/>
                    <a:p>
                      <a:r>
                        <a:rPr sz="1150" b="1">
                          <a:solidFill>
                            <a:srgbClr val="FFFFFF"/>
                          </a:solidFill>
                        </a:rPr>
                        <a:t>Measure</a:t>
                      </a:r>
                    </a:p>
                  </a:txBody>
                  <a:tcPr anchor="ctr" marL="73152" marR="54864" marT="27432" marB="27432">
                    <a:solidFill>
                      <a:srgbClr val="0C2B4A"/>
                    </a:solidFill>
                  </a:tcPr>
                </a:tc>
                <a:tc>
                  <a:txBody>
                    <a:bodyPr wrap="square"/>
                    <a:lstStyle/>
                    <a:p>
                      <a:r>
                        <a:rPr sz="1150" b="1">
                          <a:solidFill>
                            <a:srgbClr val="FFFFFF"/>
                          </a:solidFill>
                        </a:rPr>
                        <a:t>What it does</a:t>
                      </a:r>
                    </a:p>
                  </a:txBody>
                  <a:tcPr anchor="ctr" marL="73152" marR="54864" marT="27432" marB="27432">
                    <a:solidFill>
                      <a:srgbClr val="0C2B4A"/>
                    </a:solidFill>
                  </a:tcPr>
                </a:tc>
                <a:tc>
                  <a:txBody>
                    <a:bodyPr wrap="square"/>
                    <a:lstStyle/>
                    <a:p>
                      <a:r>
                        <a:rPr sz="1150" b="1">
                          <a:solidFill>
                            <a:srgbClr val="FFFFFF"/>
                          </a:solidFill>
                        </a:rPr>
                        <a:t>Nepal example</a:t>
                      </a:r>
                    </a:p>
                  </a:txBody>
                  <a:tcPr anchor="ctr" marL="73152" marR="54864" marT="27432" marB="27432">
                    <a:solidFill>
                      <a:srgbClr val="0C2B4A"/>
                    </a:solidFill>
                  </a:tcPr>
                </a:tc>
              </a:tr>
              <a:tr h="630936">
                <a:tc>
                  <a:txBody>
                    <a:bodyPr wrap="square"/>
                    <a:lstStyle/>
                    <a:p>
                      <a:r>
                        <a:rPr sz="1100" b="1">
                          <a:solidFill>
                            <a:srgbClr val="0C2B4A"/>
                          </a:solidFill>
                        </a:rPr>
                        <a:t>Green procurement policy</a:t>
                      </a:r>
                    </a:p>
                  </a:txBody>
                  <a:tcPr anchor="ctr" marL="73152" marR="54864" marT="27432" marB="27432">
                    <a:solidFill>
                      <a:srgbClr val="FFFFFF"/>
                    </a:solidFill>
                  </a:tcPr>
                </a:tc>
                <a:tc>
                  <a:txBody>
                    <a:bodyPr wrap="square"/>
                    <a:lstStyle/>
                    <a:p>
                      <a:r>
                        <a:rPr sz="1100">
                          <a:solidFill>
                            <a:srgbClr val="1A1A1A"/>
                          </a:solidFill>
                        </a:rPr>
                        <a:t>Buy efficient, certified hardware by default</a:t>
                      </a:r>
                    </a:p>
                  </a:txBody>
                  <a:tcPr anchor="ctr" marL="73152" marR="54864" marT="27432" marB="27432">
                    <a:solidFill>
                      <a:srgbClr val="FFFFFF"/>
                    </a:solidFill>
                  </a:tcPr>
                </a:tc>
                <a:tc>
                  <a:txBody>
                    <a:bodyPr wrap="square"/>
                    <a:lstStyle/>
                    <a:p>
                      <a:r>
                        <a:rPr sz="1100">
                          <a:solidFill>
                            <a:srgbClr val="1A1A1A"/>
                          </a:solidFill>
                        </a:rPr>
                        <a:t>Govt/bank IT tenders favouring efficient devices</a:t>
                      </a:r>
                    </a:p>
                  </a:txBody>
                  <a:tcPr anchor="ctr" marL="73152" marR="54864" marT="27432" marB="27432">
                    <a:solidFill>
                      <a:srgbClr val="FFFFFF"/>
                    </a:solidFill>
                  </a:tcPr>
                </a:tc>
              </a:tr>
              <a:tr h="630936">
                <a:tc>
                  <a:txBody>
                    <a:bodyPr wrap="square"/>
                    <a:lstStyle/>
                    <a:p>
                      <a:r>
                        <a:rPr sz="1100" b="1">
                          <a:solidFill>
                            <a:srgbClr val="0C2B4A"/>
                          </a:solidFill>
                        </a:rPr>
                        <a:t>Take-back / recycling program</a:t>
                      </a:r>
                    </a:p>
                  </a:txBody>
                  <a:tcPr anchor="ctr" marL="73152" marR="54864" marT="27432" marB="27432">
                    <a:solidFill>
                      <a:srgbClr val="EEF3F8"/>
                    </a:solidFill>
                  </a:tcPr>
                </a:tc>
                <a:tc>
                  <a:txBody>
                    <a:bodyPr wrap="square"/>
                    <a:lstStyle/>
                    <a:p>
                      <a:r>
                        <a:rPr sz="1100">
                          <a:solidFill>
                            <a:srgbClr val="1A1A1A"/>
                          </a:solidFill>
                        </a:rPr>
                        <a:t>Responsible end-of-life for devices</a:t>
                      </a:r>
                    </a:p>
                  </a:txBody>
                  <a:tcPr anchor="ctr" marL="73152" marR="54864" marT="27432" marB="27432">
                    <a:solidFill>
                      <a:srgbClr val="EEF3F8"/>
                    </a:solidFill>
                  </a:tcPr>
                </a:tc>
                <a:tc>
                  <a:txBody>
                    <a:bodyPr wrap="square"/>
                    <a:lstStyle/>
                    <a:p>
                      <a:r>
                        <a:rPr sz="1100">
                          <a:solidFill>
                            <a:srgbClr val="1A1A1A"/>
                          </a:solidFill>
                        </a:rPr>
                        <a:t>Telecoms' device take-back schemes</a:t>
                      </a:r>
                    </a:p>
                  </a:txBody>
                  <a:tcPr anchor="ctr" marL="73152" marR="54864" marT="27432" marB="27432">
                    <a:solidFill>
                      <a:srgbClr val="EEF3F8"/>
                    </a:solidFill>
                  </a:tcPr>
                </a:tc>
              </a:tr>
              <a:tr h="630936">
                <a:tc>
                  <a:txBody>
                    <a:bodyPr wrap="square"/>
                    <a:lstStyle/>
                    <a:p>
                      <a:r>
                        <a:rPr sz="1100" b="1">
                          <a:solidFill>
                            <a:srgbClr val="0C2B4A"/>
                          </a:solidFill>
                        </a:rPr>
                        <a:t>Sustainability reporting</a:t>
                      </a:r>
                    </a:p>
                  </a:txBody>
                  <a:tcPr anchor="ctr" marL="73152" marR="54864" marT="27432" marB="27432">
                    <a:solidFill>
                      <a:srgbClr val="FFFFFF"/>
                    </a:solidFill>
                  </a:tcPr>
                </a:tc>
                <a:tc>
                  <a:txBody>
                    <a:bodyPr wrap="square"/>
                    <a:lstStyle/>
                    <a:p>
                      <a:r>
                        <a:rPr sz="1100">
                          <a:solidFill>
                            <a:srgbClr val="1A1A1A"/>
                          </a:solidFill>
                        </a:rPr>
                        <a:t>Public accountability for the footprint</a:t>
                      </a:r>
                    </a:p>
                  </a:txBody>
                  <a:tcPr anchor="ctr" marL="73152" marR="54864" marT="27432" marB="27432">
                    <a:solidFill>
                      <a:srgbClr val="FFFFFF"/>
                    </a:solidFill>
                  </a:tcPr>
                </a:tc>
                <a:tc>
                  <a:txBody>
                    <a:bodyPr wrap="square"/>
                    <a:lstStyle/>
                    <a:p>
                      <a:r>
                        <a:rPr sz="1100">
                          <a:solidFill>
                            <a:srgbClr val="1A1A1A"/>
                          </a:solidFill>
                        </a:rPr>
                        <a:t>Reporting energy/e-waste as part of CSR</a:t>
                      </a:r>
                    </a:p>
                  </a:txBody>
                  <a:tcPr anchor="ctr" marL="73152" marR="54864" marT="27432" marB="27432">
                    <a:solidFill>
                      <a:srgbClr val="FFFFFF"/>
                    </a:solidFill>
                  </a:tcPr>
                </a:tc>
              </a:tr>
              <a:tr h="630936">
                <a:tc>
                  <a:txBody>
                    <a:bodyPr wrap="square"/>
                    <a:lstStyle/>
                    <a:p>
                      <a:r>
                        <a:rPr sz="1100" b="1">
                          <a:solidFill>
                            <a:srgbClr val="0C2B4A"/>
                          </a:solidFill>
                        </a:rPr>
                        <a:t>Telecommuting</a:t>
                      </a:r>
                    </a:p>
                  </a:txBody>
                  <a:tcPr anchor="ctr" marL="73152" marR="54864" marT="27432" marB="27432">
                    <a:solidFill>
                      <a:srgbClr val="EEF3F8"/>
                    </a:solidFill>
                  </a:tcPr>
                </a:tc>
                <a:tc>
                  <a:txBody>
                    <a:bodyPr wrap="square"/>
                    <a:lstStyle/>
                    <a:p>
                      <a:r>
                        <a:rPr sz="1100">
                          <a:solidFill>
                            <a:srgbClr val="1A1A1A"/>
                          </a:solidFill>
                        </a:rPr>
                        <a:t>Cuts commute emissions</a:t>
                      </a:r>
                    </a:p>
                  </a:txBody>
                  <a:tcPr anchor="ctr" marL="73152" marR="54864" marT="27432" marB="27432">
                    <a:solidFill>
                      <a:srgbClr val="EEF3F8"/>
                    </a:solidFill>
                  </a:tcPr>
                </a:tc>
                <a:tc>
                  <a:txBody>
                    <a:bodyPr wrap="square"/>
                    <a:lstStyle/>
                    <a:p>
                      <a:r>
                        <a:rPr sz="1100">
                          <a:solidFill>
                            <a:srgbClr val="1A1A1A"/>
                          </a:solidFill>
                        </a:rPr>
                        <a:t>Remote/hybrid work reducing daily travel</a:t>
                      </a:r>
                    </a:p>
                  </a:txBody>
                  <a:tcPr anchor="ctr" marL="73152" marR="54864" marT="27432" marB="27432">
                    <a:solidFill>
                      <a:srgbClr val="EEF3F8"/>
                    </a:solidFill>
                  </a:tcPr>
                </a:tc>
              </a:tr>
              <a:tr h="630936">
                <a:tc>
                  <a:txBody>
                    <a:bodyPr wrap="square"/>
                    <a:lstStyle/>
                    <a:p>
                      <a:r>
                        <a:rPr sz="1100" b="1">
                          <a:solidFill>
                            <a:srgbClr val="0C2B4A"/>
                          </a:solidFill>
                        </a:rPr>
                        <a:t>Cloud right-sizing</a:t>
                      </a:r>
                    </a:p>
                  </a:txBody>
                  <a:tcPr anchor="ctr" marL="73152" marR="54864" marT="27432" marB="27432">
                    <a:solidFill>
                      <a:srgbClr val="FFFFFF"/>
                    </a:solidFill>
                  </a:tcPr>
                </a:tc>
                <a:tc>
                  <a:txBody>
                    <a:bodyPr wrap="square"/>
                    <a:lstStyle/>
                    <a:p>
                      <a:r>
                        <a:rPr sz="1100">
                          <a:solidFill>
                            <a:srgbClr val="1A1A1A"/>
                          </a:solidFill>
                        </a:rPr>
                        <a:t>No paying/powering idle capacity</a:t>
                      </a:r>
                    </a:p>
                  </a:txBody>
                  <a:tcPr anchor="ctr" marL="73152" marR="54864" marT="27432" marB="27432">
                    <a:solidFill>
                      <a:srgbClr val="FFFFFF"/>
                    </a:solidFill>
                  </a:tcPr>
                </a:tc>
                <a:tc>
                  <a:txBody>
                    <a:bodyPr wrap="square"/>
                    <a:lstStyle/>
                    <a:p>
                      <a:r>
                        <a:rPr sz="1100">
                          <a:solidFill>
                            <a:srgbClr val="1A1A1A"/>
                          </a:solidFill>
                        </a:rPr>
                        <a:t>Scaling servers to actual demand</a:t>
                      </a:r>
                    </a:p>
                  </a:txBody>
                  <a:tcPr anchor="ctr" marL="73152" marR="54864" marT="27432" marB="27432">
                    <a:solidFill>
                      <a:srgbClr val="FFFFFF"/>
                    </a:solidFill>
                  </a:tcPr>
                </a:tc>
              </a:tr>
              <a:tr h="630936">
                <a:tc>
                  <a:txBody>
                    <a:bodyPr wrap="square"/>
                    <a:lstStyle/>
                    <a:p>
                      <a:r>
                        <a:rPr sz="1100" b="1">
                          <a:solidFill>
                            <a:srgbClr val="0C2B4A"/>
                          </a:solidFill>
                        </a:rPr>
                        <a:t>Renewable-powered facilities</a:t>
                      </a:r>
                    </a:p>
                  </a:txBody>
                  <a:tcPr anchor="ctr" marL="73152" marR="54864" marT="27432" marB="27432">
                    <a:solidFill>
                      <a:srgbClr val="EEF3F8"/>
                    </a:solidFill>
                  </a:tcPr>
                </a:tc>
                <a:tc>
                  <a:txBody>
                    <a:bodyPr wrap="square"/>
                    <a:lstStyle/>
                    <a:p>
                      <a:r>
                        <a:rPr sz="1100">
                          <a:solidFill>
                            <a:srgbClr val="1A1A1A"/>
                          </a:solidFill>
                        </a:rPr>
                        <a:t>Cleaner energy for operations</a:t>
                      </a:r>
                    </a:p>
                  </a:txBody>
                  <a:tcPr anchor="ctr" marL="73152" marR="54864" marT="27432" marB="27432">
                    <a:solidFill>
                      <a:srgbClr val="EEF3F8"/>
                    </a:solidFill>
                  </a:tcPr>
                </a:tc>
                <a:tc>
                  <a:txBody>
                    <a:bodyPr wrap="square"/>
                    <a:lstStyle/>
                    <a:p>
                      <a:r>
                        <a:rPr sz="1100">
                          <a:solidFill>
                            <a:srgbClr val="1A1A1A"/>
                          </a:solidFill>
                        </a:rPr>
                        <a:t>Solar/hydro-powered data centres</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This closes the loop to Unit 1: managing the IT footprint IS corporate social responsibility, made real through policy and public reporting rather than one-off gestures.</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83 / 94</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S21 · CONCEPT 4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Corporate Responsibility &amp; the IT Organization</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Telecoms and banks in Nepal adopting solar/energy-efficient data centres and device take-back schemes, and government IT procurement favouring efficient hardware, are green computing as CSR (Unit 1). These are policy-level commitments — defaults for the whole organization — not one-off gestures, which is exactly what makes them credible.</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"Going green is just marketing / a one-off gesture." Real green IT is embedded in operations — procurement policy, take-back programs, sustainability reporting, right-sized infrastructure — exactly the genuine-vs-greenwashing test from Unit 1. A single tree-planting photo op isn't green computing; changed defaults and public reporting are.</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An IT organization's environmental duty is part of its corporate social responsibility (Unit 1), enacted through green procurement policies, take-back/recycling programs, sustainability reporting, telecommuting, cloud right-sizing, and renewable-powered facilities. Like all CSR, it must be embedded in operations and reported publicly to be genuine rather than greenwashing.</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corporate responsibility · CSR · green procurement · take-back · sustainability reporting · embedded not gesture</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84 / 94</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S21 · CONCEPT 4 · CONCRETE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Real green IT or greenwashing? — organizational actions</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4156363"/>
                <a:gridCol w="3562597"/>
                <a:gridCol w="3711038"/>
              </a:tblGrid>
              <a:tr h="630936">
                <a:tc>
                  <a:txBody>
                    <a:bodyPr wrap="square"/>
                    <a:lstStyle/>
                    <a:p>
                      <a:r>
                        <a:rPr sz="1150" b="1">
                          <a:solidFill>
                            <a:srgbClr val="FFFFFF"/>
                          </a:solidFill>
                        </a:rPr>
                        <a:t>Action (Nepal)</a:t>
                      </a:r>
                    </a:p>
                  </a:txBody>
                  <a:tcPr anchor="ctr" marL="73152" marR="54864" marT="27432" marB="27432">
                    <a:solidFill>
                      <a:srgbClr val="0C2B4A"/>
                    </a:solidFill>
                  </a:tcPr>
                </a:tc>
                <a:tc>
                  <a:txBody>
                    <a:bodyPr wrap="square"/>
                    <a:lstStyle/>
                    <a:p>
                      <a:r>
                        <a:rPr sz="1150" b="1">
                          <a:solidFill>
                            <a:srgbClr val="FFFFFF"/>
                          </a:solidFill>
                        </a:rPr>
                        <a:t>Real green IT or greenwashing?</a:t>
                      </a:r>
                    </a:p>
                  </a:txBody>
                  <a:tcPr anchor="ctr" marL="73152" marR="54864" marT="27432" marB="27432">
                    <a:solidFill>
                      <a:srgbClr val="0C2B4A"/>
                    </a:solidFill>
                  </a:tcPr>
                </a:tc>
                <a:tc>
                  <a:txBody>
                    <a:bodyPr wrap="square"/>
                    <a:lstStyle/>
                    <a:p>
                      <a:r>
                        <a:rPr sz="1150" b="1">
                          <a:solidFill>
                            <a:srgbClr val="FFFFFF"/>
                          </a:solidFill>
                        </a:rPr>
                        <a:t>Why (verdict)</a:t>
                      </a:r>
                    </a:p>
                  </a:txBody>
                  <a:tcPr anchor="ctr" marL="73152" marR="54864" marT="27432" marB="27432">
                    <a:solidFill>
                      <a:srgbClr val="0C2B4A"/>
                    </a:solidFill>
                  </a:tcPr>
                </a:tc>
              </a:tr>
              <a:tr h="630936">
                <a:tc>
                  <a:txBody>
                    <a:bodyPr wrap="square"/>
                    <a:lstStyle/>
                    <a:p>
                      <a:r>
                        <a:rPr sz="1100" b="1">
                          <a:solidFill>
                            <a:srgbClr val="0C2B4A"/>
                          </a:solidFill>
                        </a:rPr>
                        <a:t>Bank adopts a solar-powered data centre</a:t>
                      </a:r>
                    </a:p>
                  </a:txBody>
                  <a:tcPr anchor="ctr" marL="73152" marR="54864" marT="27432" marB="27432">
                    <a:solidFill>
                      <a:srgbClr val="FFFFFF"/>
                    </a:solidFill>
                  </a:tcPr>
                </a:tc>
                <a:tc>
                  <a:txBody>
                    <a:bodyPr wrap="square"/>
                    <a:lstStyle/>
                    <a:p>
                      <a:r>
                        <a:rPr sz="1100">
                          <a:solidFill>
                            <a:srgbClr val="1A1A1A"/>
                          </a:solidFill>
                        </a:rPr>
                        <a:t>Real green IT</a:t>
                      </a:r>
                    </a:p>
                  </a:txBody>
                  <a:tcPr anchor="ctr" marL="73152" marR="54864" marT="27432" marB="27432">
                    <a:solidFill>
                      <a:srgbClr val="FFFFFF"/>
                    </a:solidFill>
                  </a:tcPr>
                </a:tc>
                <a:tc>
                  <a:txBody>
                    <a:bodyPr wrap="square"/>
                    <a:lstStyle/>
                    <a:p>
                      <a:r>
                        <a:rPr sz="1100">
                          <a:solidFill>
                            <a:srgbClr val="1A1A1A"/>
                          </a:solidFill>
                        </a:rPr>
                        <a:t>Embedded in operations, not a gesture</a:t>
                      </a:r>
                    </a:p>
                  </a:txBody>
                  <a:tcPr anchor="ctr" marL="73152" marR="54864" marT="27432" marB="27432">
                    <a:solidFill>
                      <a:srgbClr val="FFFFFF"/>
                    </a:solidFill>
                  </a:tcPr>
                </a:tc>
              </a:tr>
              <a:tr h="630936">
                <a:tc>
                  <a:txBody>
                    <a:bodyPr wrap="square"/>
                    <a:lstStyle/>
                    <a:p>
                      <a:r>
                        <a:rPr sz="1100" b="1">
                          <a:solidFill>
                            <a:srgbClr val="0C2B4A"/>
                          </a:solidFill>
                        </a:rPr>
                        <a:t>Telecom runs a device take-back scheme</a:t>
                      </a:r>
                    </a:p>
                  </a:txBody>
                  <a:tcPr anchor="ctr" marL="73152" marR="54864" marT="27432" marB="27432">
                    <a:solidFill>
                      <a:srgbClr val="EEF3F8"/>
                    </a:solidFill>
                  </a:tcPr>
                </a:tc>
                <a:tc>
                  <a:txBody>
                    <a:bodyPr wrap="square"/>
                    <a:lstStyle/>
                    <a:p>
                      <a:r>
                        <a:rPr sz="1100">
                          <a:solidFill>
                            <a:srgbClr val="1A1A1A"/>
                          </a:solidFill>
                        </a:rPr>
                        <a:t>Real green IT</a:t>
                      </a:r>
                    </a:p>
                  </a:txBody>
                  <a:tcPr anchor="ctr" marL="73152" marR="54864" marT="27432" marB="27432">
                    <a:solidFill>
                      <a:srgbClr val="EEF3F8"/>
                    </a:solidFill>
                  </a:tcPr>
                </a:tc>
                <a:tc>
                  <a:txBody>
                    <a:bodyPr wrap="square"/>
                    <a:lstStyle/>
                    <a:p>
                      <a:r>
                        <a:rPr sz="1100">
                          <a:solidFill>
                            <a:srgbClr val="1A1A1A"/>
                          </a:solidFill>
                        </a:rPr>
                        <a:t>Responsible end-of-life, at policy level</a:t>
                      </a:r>
                    </a:p>
                  </a:txBody>
                  <a:tcPr anchor="ctr" marL="73152" marR="54864" marT="27432" marB="27432">
                    <a:solidFill>
                      <a:srgbClr val="EEF3F8"/>
                    </a:solidFill>
                  </a:tcPr>
                </a:tc>
              </a:tr>
              <a:tr h="630936">
                <a:tc>
                  <a:txBody>
                    <a:bodyPr wrap="square"/>
                    <a:lstStyle/>
                    <a:p>
                      <a:r>
                        <a:rPr sz="1100" b="1">
                          <a:solidFill>
                            <a:srgbClr val="0C2B4A"/>
                          </a:solidFill>
                        </a:rPr>
                        <a:t>One tree-planting photo op, nothing changes</a:t>
                      </a:r>
                    </a:p>
                  </a:txBody>
                  <a:tcPr anchor="ctr" marL="73152" marR="54864" marT="27432" marB="27432">
                    <a:solidFill>
                      <a:srgbClr val="FFFFFF"/>
                    </a:solidFill>
                  </a:tcPr>
                </a:tc>
                <a:tc>
                  <a:txBody>
                    <a:bodyPr wrap="square"/>
                    <a:lstStyle/>
                    <a:p>
                      <a:r>
                        <a:rPr sz="1100">
                          <a:solidFill>
                            <a:srgbClr val="1A1A1A"/>
                          </a:solidFill>
                        </a:rPr>
                        <a:t>Greenwashing</a:t>
                      </a:r>
                    </a:p>
                  </a:txBody>
                  <a:tcPr anchor="ctr" marL="73152" marR="54864" marT="27432" marB="27432">
                    <a:solidFill>
                      <a:srgbClr val="FFFFFF"/>
                    </a:solidFill>
                  </a:tcPr>
                </a:tc>
                <a:tc>
                  <a:txBody>
                    <a:bodyPr wrap="square"/>
                    <a:lstStyle/>
                    <a:p>
                      <a:r>
                        <a:rPr sz="1100">
                          <a:solidFill>
                            <a:srgbClr val="1A1A1A"/>
                          </a:solidFill>
                        </a:rPr>
                        <a:t>No changed defaults, no reporting</a:t>
                      </a:r>
                    </a:p>
                  </a:txBody>
                  <a:tcPr anchor="ctr" marL="73152" marR="54864" marT="27432" marB="27432">
                    <a:solidFill>
                      <a:srgbClr val="FFFFFF"/>
                    </a:solidFill>
                  </a:tcPr>
                </a:tc>
              </a:tr>
              <a:tr h="630936">
                <a:tc>
                  <a:txBody>
                    <a:bodyPr wrap="square"/>
                    <a:lstStyle/>
                    <a:p>
                      <a:r>
                        <a:rPr sz="1100" b="1">
                          <a:solidFill>
                            <a:srgbClr val="0C2B4A"/>
                          </a:solidFill>
                        </a:rPr>
                        <a:t>Govt IT tender favours efficient hardware</a:t>
                      </a:r>
                    </a:p>
                  </a:txBody>
                  <a:tcPr anchor="ctr" marL="73152" marR="54864" marT="27432" marB="27432">
                    <a:solidFill>
                      <a:srgbClr val="EEF3F8"/>
                    </a:solidFill>
                  </a:tcPr>
                </a:tc>
                <a:tc>
                  <a:txBody>
                    <a:bodyPr wrap="square"/>
                    <a:lstStyle/>
                    <a:p>
                      <a:r>
                        <a:rPr sz="1100">
                          <a:solidFill>
                            <a:srgbClr val="1A1A1A"/>
                          </a:solidFill>
                        </a:rPr>
                        <a:t>Real green IT</a:t>
                      </a:r>
                    </a:p>
                  </a:txBody>
                  <a:tcPr anchor="ctr" marL="73152" marR="54864" marT="27432" marB="27432">
                    <a:solidFill>
                      <a:srgbClr val="EEF3F8"/>
                    </a:solidFill>
                  </a:tcPr>
                </a:tc>
                <a:tc>
                  <a:txBody>
                    <a:bodyPr wrap="square"/>
                    <a:lstStyle/>
                    <a:p>
                      <a:r>
                        <a:rPr sz="1100">
                          <a:solidFill>
                            <a:srgbClr val="1A1A1A"/>
                          </a:solidFill>
                        </a:rPr>
                        <a:t>Green procurement as a default policy</a:t>
                      </a:r>
                    </a:p>
                  </a:txBody>
                  <a:tcPr anchor="ctr" marL="73152" marR="54864" marT="27432" marB="27432">
                    <a:solidFill>
                      <a:srgbClr val="EEF3F8"/>
                    </a:solidFill>
                  </a:tcPr>
                </a:tc>
              </a:tr>
              <a:tr h="630936">
                <a:tc>
                  <a:txBody>
                    <a:bodyPr wrap="square"/>
                    <a:lstStyle/>
                    <a:p>
                      <a:r>
                        <a:rPr sz="1100" b="1">
                          <a:solidFill>
                            <a:srgbClr val="0C2B4A"/>
                          </a:solidFill>
                        </a:rPr>
                        <a:t>Publishing energy/e-waste in a CSR report</a:t>
                      </a:r>
                    </a:p>
                  </a:txBody>
                  <a:tcPr anchor="ctr" marL="73152" marR="54864" marT="27432" marB="27432">
                    <a:solidFill>
                      <a:srgbClr val="FFFFFF"/>
                    </a:solidFill>
                  </a:tcPr>
                </a:tc>
                <a:tc>
                  <a:txBody>
                    <a:bodyPr wrap="square"/>
                    <a:lstStyle/>
                    <a:p>
                      <a:r>
                        <a:rPr sz="1100">
                          <a:solidFill>
                            <a:srgbClr val="1A1A1A"/>
                          </a:solidFill>
                        </a:rPr>
                        <a:t>Real green IT</a:t>
                      </a:r>
                    </a:p>
                  </a:txBody>
                  <a:tcPr anchor="ctr" marL="73152" marR="54864" marT="27432" marB="27432">
                    <a:solidFill>
                      <a:srgbClr val="FFFFFF"/>
                    </a:solidFill>
                  </a:tcPr>
                </a:tc>
                <a:tc>
                  <a:txBody>
                    <a:bodyPr wrap="square"/>
                    <a:lstStyle/>
                    <a:p>
                      <a:r>
                        <a:rPr sz="1100">
                          <a:solidFill>
                            <a:srgbClr val="1A1A1A"/>
                          </a:solidFill>
                        </a:rPr>
                        <a:t>Public accountability you can't quietly walk back</a:t>
                      </a:r>
                    </a:p>
                  </a:txBody>
                  <a:tcPr anchor="ctr" marL="73152" marR="54864" marT="27432" marB="27432">
                    <a:solidFill>
                      <a:srgbClr val="FFFFFF"/>
                    </a:solidFill>
                  </a:tcPr>
                </a:tc>
              </a:tr>
              <a:tr h="630936">
                <a:tc>
                  <a:txBody>
                    <a:bodyPr wrap="square"/>
                    <a:lstStyle/>
                    <a:p>
                      <a:r>
                        <a:rPr sz="1100" b="1">
                          <a:solidFill>
                            <a:srgbClr val="0C2B4A"/>
                          </a:solidFill>
                        </a:rPr>
                        <a:t>'Eco-friendly' label, servers still over-provisioned</a:t>
                      </a:r>
                    </a:p>
                  </a:txBody>
                  <a:tcPr anchor="ctr" marL="73152" marR="54864" marT="27432" marB="27432">
                    <a:solidFill>
                      <a:srgbClr val="EEF3F8"/>
                    </a:solidFill>
                  </a:tcPr>
                </a:tc>
                <a:tc>
                  <a:txBody>
                    <a:bodyPr wrap="square"/>
                    <a:lstStyle/>
                    <a:p>
                      <a:r>
                        <a:rPr sz="1100">
                          <a:solidFill>
                            <a:srgbClr val="1A1A1A"/>
                          </a:solidFill>
                        </a:rPr>
                        <a:t>Greenwashing</a:t>
                      </a:r>
                    </a:p>
                  </a:txBody>
                  <a:tcPr anchor="ctr" marL="73152" marR="54864" marT="27432" marB="27432">
                    <a:solidFill>
                      <a:srgbClr val="EEF3F8"/>
                    </a:solidFill>
                  </a:tcPr>
                </a:tc>
                <a:tc>
                  <a:txBody>
                    <a:bodyPr wrap="square"/>
                    <a:lstStyle/>
                    <a:p>
                      <a:r>
                        <a:rPr sz="1100">
                          <a:solidFill>
                            <a:srgbClr val="1A1A1A"/>
                          </a:solidFill>
                        </a:rPr>
                        <a:t>Marketing without right-sizing the infrastructure</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This closes the loop to Unit 1: managing the IT footprint IS corporate social responsibility — genuine only when embedded in procurement policy, take-back, right-sizing, and public reporting, not a one-off gesture.</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85 / 94</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E1F5EE"/>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F6E56"/>
                </a:solidFill>
              </a:rPr>
              <a:t>🛠  IN-CLASS ACTIVITY  ·  THINK–PAIR–SHARE</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S21 — 'Trace one device'  ·  ~5 min</a:t>
            </a:r>
          </a:p>
        </p:txBody>
      </p:sp>
      <p:sp>
        <p:nvSpPr>
          <p:cNvPr id="5" name="TextBox 4"/>
          <p:cNvSpPr txBox="1"/>
          <p:nvPr/>
        </p:nvSpPr>
        <p:spPr>
          <a:xfrm>
            <a:off x="640080" y="1600200"/>
            <a:ext cx="10881360" cy="3291840"/>
          </a:xfrm>
          <a:prstGeom prst="rect">
            <a:avLst/>
          </a:prstGeom>
          <a:noFill/>
        </p:spPr>
        <p:txBody>
          <a:bodyPr wrap="square">
            <a:spAutoFit/>
          </a:bodyPr>
          <a:lstStyle/>
          <a:p>
            <a:pPr>
              <a:spcAft>
                <a:spcPts val="700"/>
              </a:spcAft>
            </a:pPr>
            <a:r>
              <a:rPr sz="1550">
                <a:solidFill>
                  <a:srgbClr val="1A1A1A"/>
                </a:solidFill>
              </a:rPr>
              <a:t>•  In pairs (2 min): where do your old phones and laptops go right now? Trace one device's likely end-of-life in Nepal.</a:t>
            </a:r>
          </a:p>
          <a:p>
            <a:pPr>
              <a:spcAft>
                <a:spcPts val="700"/>
              </a:spcAft>
            </a:pPr>
            <a:r>
              <a:rPr sz="1550">
                <a:solidFill>
                  <a:srgbClr val="1A1A1A"/>
                </a:solidFill>
              </a:rPr>
              <a:t>•  Note whether the data was wiped, and whether it was reused, recycled, dumped, or burned.</a:t>
            </a:r>
          </a:p>
          <a:p>
            <a:pPr>
              <a:spcAft>
                <a:spcPts val="700"/>
              </a:spcAft>
            </a:pPr>
            <a:r>
              <a:rPr sz="1550">
                <a:solidFill>
                  <a:srgbClr val="1A1A1A"/>
                </a:solidFill>
              </a:rPr>
              <a:t>•  Take 3–4 answers aloud (3 min).</a:t>
            </a:r>
          </a:p>
          <a:p>
            <a:pPr>
              <a:spcAft>
                <a:spcPts val="700"/>
              </a:spcAft>
            </a:pPr>
            <a:r>
              <a:rPr sz="1550">
                <a:solidFill>
                  <a:srgbClr val="1A1A1A"/>
                </a:solidFill>
              </a:rPr>
              <a:t>•  Close: propose one better step for the next device (donate/refurbish, use an e-waste handler, wipe data first).</a:t>
            </a:r>
          </a:p>
        </p:txBody>
      </p:sp>
      <p:sp>
        <p:nvSpPr>
          <p:cNvPr id="6" name="Rounded Rectangle 5"/>
          <p:cNvSpPr/>
          <p:nvPr/>
        </p:nvSpPr>
        <p:spPr>
          <a:xfrm>
            <a:off x="640080" y="5029200"/>
            <a:ext cx="10881360" cy="1554480"/>
          </a:xfrm>
          <a:prstGeom prst="roundRect">
            <a:avLst/>
          </a:prstGeom>
          <a:solidFill>
            <a:srgbClr val="FFFFFF"/>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Expected answer / what to draw out</a:t>
            </a:r>
          </a:p>
          <a:p>
            <a:pPr>
              <a:spcBef>
                <a:spcPts val="300"/>
              </a:spcBef>
            </a:pPr>
            <a:r>
              <a:rPr sz="1400">
                <a:solidFill>
                  <a:srgbClr val="1A1A1A"/>
                </a:solidFill>
              </a:rPr>
              <a:t>Most devices end up in a drawer, resold informally, or dumped — rarely properly recycled or data-wiped. Reward tracing the real path honestly and naming one concrete improvement.</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86 / 94</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2F5F8"/>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854F0B"/>
                </a:solidFill>
              </a:rPr>
              <a:t>CHECK FOR UNDERSTANDING</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S21 — Quick Check  ·  ~5 min</a:t>
            </a:r>
          </a:p>
        </p:txBody>
      </p:sp>
      <p:sp>
        <p:nvSpPr>
          <p:cNvPr id="5" name="TextBox 4"/>
          <p:cNvSpPr txBox="1"/>
          <p:nvPr/>
        </p:nvSpPr>
        <p:spPr>
          <a:xfrm>
            <a:off x="640080" y="1600200"/>
            <a:ext cx="10881360" cy="4846320"/>
          </a:xfrm>
          <a:prstGeom prst="rect">
            <a:avLst/>
          </a:prstGeom>
          <a:noFill/>
        </p:spPr>
        <p:txBody>
          <a:bodyPr wrap="square">
            <a:spAutoFit/>
          </a:bodyPr>
          <a:lstStyle/>
          <a:p>
            <a:pPr>
              <a:spcBef>
                <a:spcPts val="900"/>
              </a:spcBef>
            </a:pPr>
            <a:r>
              <a:rPr sz="1700" b="1">
                <a:solidFill>
                  <a:srgbClr val="0C2B4A"/>
                </a:solidFill>
              </a:rPr>
              <a:t>Q1.  Green computing covers a device's:</a:t>
            </a:r>
          </a:p>
          <a:p>
            <a:pPr lvl="1"/>
            <a:r>
              <a:rPr sz="1500" b="1">
                <a:solidFill>
                  <a:srgbClr val="0F6E56"/>
                </a:solidFill>
              </a:rPr>
              <a:t>a) use only   b) purchase only   c) ✅ entire lifecycle: manufacture, use, AND disposal   d) marketing</a:t>
            </a:r>
          </a:p>
          <a:p>
            <a:pPr lvl="1">
              <a:spcBef>
                <a:spcPts val="600"/>
              </a:spcBef>
            </a:pPr>
            <a:r>
              <a:rPr sz="1500" i="1">
                <a:solidFill>
                  <a:srgbClr val="1A1A1A"/>
                </a:solidFill>
              </a:rPr>
              <a:t>     Why: the footprint spans making, running, and retiring a device — not just the energy it uses.</a:t>
            </a:r>
          </a:p>
          <a:p>
            <a:pPr>
              <a:spcBef>
                <a:spcPts val="900"/>
              </a:spcBef>
            </a:pPr>
            <a:r>
              <a:rPr sz="1700" b="1">
                <a:solidFill>
                  <a:srgbClr val="0C2B4A"/>
                </a:solidFill>
              </a:rPr>
              <a:t>Q2.  The safest way to handle old electronics is:</a:t>
            </a:r>
          </a:p>
          <a:p>
            <a:pPr lvl="1"/>
            <a:r>
              <a:rPr sz="1500" b="1">
                <a:solidFill>
                  <a:srgbClr val="0F6E56"/>
                </a:solidFill>
              </a:rPr>
              <a:t>a) the regular bin   b) burn it   c) ✅ reduce/reuse/refurbish/recycle via proper e-waste handling   d) bury it</a:t>
            </a:r>
          </a:p>
          <a:p>
            <a:pPr lvl="1">
              <a:spcBef>
                <a:spcPts val="600"/>
              </a:spcBef>
            </a:pPr>
            <a:r>
              <a:rPr sz="1500" i="1">
                <a:solidFill>
                  <a:srgbClr val="1A1A1A"/>
                </a:solidFill>
              </a:rPr>
              <a:t>     Why: e-waste toxins (lead, mercury, cadmium) need dedicated handling; follow the disposal ladder.</a:t>
            </a:r>
          </a:p>
          <a:p>
            <a:pPr lvl="1">
              <a:spcBef>
                <a:spcPts val="600"/>
              </a:spcBef>
            </a:pPr>
            <a:r>
              <a:rPr sz="1500" i="1">
                <a:solidFill>
                  <a:srgbClr val="1A1A1A"/>
                </a:solidFill>
              </a:rPr>
              <a:t>Discussion: where do your old phones and laptops go right now? Trace one device's likely end-of-life in Nepal.</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55606B"/>
                </a:solidFill>
              </a:rPr>
              <a:t>87 / 94</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C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C2B4A"/>
                </a:solidFill>
              </a:rPr>
              <a:t>S21 · SUMMARY  ·  [~2 MIN]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Summary &amp; Key Takeaways</a:t>
            </a:r>
          </a:p>
        </p:txBody>
      </p:sp>
      <p:sp>
        <p:nvSpPr>
          <p:cNvPr id="5" name="TextBox 4"/>
          <p:cNvSpPr txBox="1"/>
          <p:nvPr/>
        </p:nvSpPr>
        <p:spPr>
          <a:xfrm>
            <a:off x="640080" y="1554480"/>
            <a:ext cx="10972800" cy="2468880"/>
          </a:xfrm>
          <a:prstGeom prst="rect">
            <a:avLst/>
          </a:prstGeom>
          <a:noFill/>
        </p:spPr>
        <p:txBody>
          <a:bodyPr wrap="square">
            <a:spAutoFit/>
          </a:bodyPr>
          <a:lstStyle/>
          <a:p>
            <a:pPr>
              <a:spcAft>
                <a:spcPts val="800"/>
              </a:spcAft>
            </a:pPr>
            <a:r>
              <a:rPr sz="1500">
                <a:solidFill>
                  <a:srgbClr val="1A1A1A"/>
                </a:solidFill>
              </a:rPr>
              <a:t>1.  Green computing spans the whole IT lifecycle (manufacture → use → disposal); 'the cloud' is physical.</a:t>
            </a:r>
          </a:p>
          <a:p>
            <a:pPr>
              <a:spcAft>
                <a:spcPts val="800"/>
              </a:spcAft>
            </a:pPr>
            <a:r>
              <a:rPr sz="1500">
                <a:solidFill>
                  <a:srgbClr val="1A1A1A"/>
                </a:solidFill>
              </a:rPr>
              <a:t>2.  Cut energy (efficient hardware, virtualization, power management, renewables) and handle e-waste responsibly.</a:t>
            </a:r>
          </a:p>
          <a:p>
            <a:pPr>
              <a:spcAft>
                <a:spcPts val="800"/>
              </a:spcAft>
            </a:pPr>
            <a:r>
              <a:rPr sz="1500">
                <a:solidFill>
                  <a:srgbClr val="1A1A1A"/>
                </a:solidFill>
              </a:rPr>
              <a:t>3.  It's part of an IT organization's CSR — embedded in policy and reporting, not a one-off gesture.</a:t>
            </a:r>
          </a:p>
        </p:txBody>
      </p:sp>
      <p:sp>
        <p:nvSpPr>
          <p:cNvPr id="6" name="Rounded Rectangle 5"/>
          <p:cNvSpPr/>
          <p:nvPr/>
        </p:nvSpPr>
        <p:spPr>
          <a:xfrm>
            <a:off x="640080" y="4160520"/>
            <a:ext cx="10972800" cy="1234440"/>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Why this matters</a:t>
            </a:r>
          </a:p>
          <a:p>
            <a:pPr>
              <a:spcBef>
                <a:spcPts val="300"/>
              </a:spcBef>
            </a:pPr>
            <a:r>
              <a:rPr sz="1350">
                <a:solidFill>
                  <a:srgbClr val="1A1A1A"/>
                </a:solidFill>
              </a:rPr>
              <a:t>As IT decision-makers you'll choose hardware, run servers, and dispose of devices for whole organizations — your defaults will shape real energy bills and real e-waste in Kathmandu. Green computing is where your professional choices meet the physical world.</a:t>
            </a:r>
          </a:p>
        </p:txBody>
      </p:sp>
      <p:sp>
        <p:nvSpPr>
          <p:cNvPr id="7" name="Rounded Rectangle 6"/>
          <p:cNvSpPr/>
          <p:nvPr/>
        </p:nvSpPr>
        <p:spPr>
          <a:xfrm>
            <a:off x="640080" y="5504688"/>
            <a:ext cx="10972800" cy="105156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Next</a:t>
            </a:r>
          </a:p>
          <a:p>
            <a:pPr>
              <a:spcBef>
                <a:spcPts val="300"/>
              </a:spcBef>
            </a:pPr>
            <a:r>
              <a:rPr sz="1350">
                <a:solidFill>
                  <a:srgbClr val="1A1A1A"/>
                </a:solidFill>
              </a:rPr>
              <a:t>Next unit — we shift from ethics to defence: the fundamentals of cybersecurity (Units 5–8).</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88 / 94</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UNIT 4 · CHEAT SHEET</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One-page revision reference</a:t>
            </a:r>
          </a:p>
        </p:txBody>
      </p:sp>
      <p:sp>
        <p:nvSpPr>
          <p:cNvPr id="5" name="Rounded Rectangle 4"/>
          <p:cNvSpPr/>
          <p:nvPr/>
        </p:nvSpPr>
        <p:spPr>
          <a:xfrm>
            <a:off x="640080" y="1572768"/>
            <a:ext cx="5349240" cy="141732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Software quality (S17)</a:t>
            </a:r>
          </a:p>
          <a:p>
            <a:pPr>
              <a:spcBef>
                <a:spcPts val="300"/>
              </a:spcBef>
            </a:pPr>
            <a:r>
              <a:rPr sz="1200">
                <a:solidFill>
                  <a:srgbClr val="1A1A1A"/>
                </a:solidFill>
              </a:rPr>
              <a:t>Quality = conformance to requirements + fitness for use (reliable, safe). Cost to fix rises ~10× per stage. Safety-critical software (medical/aviation/power) demands extra rigour.</a:t>
            </a:r>
          </a:p>
        </p:txBody>
      </p:sp>
      <p:sp>
        <p:nvSpPr>
          <p:cNvPr id="6" name="Rounded Rectangle 5"/>
          <p:cNvSpPr/>
          <p:nvPr/>
        </p:nvSpPr>
        <p:spPr>
          <a:xfrm>
            <a:off x="6199632" y="1572768"/>
            <a:ext cx="5349240" cy="141732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Quality strategies (S18)</a:t>
            </a:r>
          </a:p>
          <a:p>
            <a:pPr>
              <a:spcBef>
                <a:spcPts val="300"/>
              </a:spcBef>
            </a:pPr>
            <a:r>
              <a:rPr sz="1200">
                <a:solidFill>
                  <a:srgbClr val="1A1A1A"/>
                </a:solidFill>
              </a:rPr>
              <a:t>Testing: unit→integration→system→acceptance (automate base). QA = process/preventive; QC = product/reactive. Standards: ISO/CMMI. Risk = likelihood × impact + mitigation/rollback.</a:t>
            </a:r>
          </a:p>
        </p:txBody>
      </p:sp>
      <p:sp>
        <p:nvSpPr>
          <p:cNvPr id="7" name="Rounded Rectangle 6"/>
          <p:cNvSpPr/>
          <p:nvPr/>
        </p:nvSpPr>
        <p:spPr>
          <a:xfrm>
            <a:off x="640080" y="3072384"/>
            <a:ext cx="5349240" cy="141732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Contingent workers (S19)</a:t>
            </a:r>
          </a:p>
          <a:p>
            <a:pPr>
              <a:spcBef>
                <a:spcPts val="300"/>
              </a:spcBef>
            </a:pPr>
            <a:r>
              <a:rPr sz="1200">
                <a:solidFill>
                  <a:srgbClr val="1A1A1A"/>
                </a:solidFill>
              </a:rPr>
              <a:t>Contractors/temps/freelancers/offshore: flexibility for the firm, insecurity for the worker. Hidden costs: lost knowledge, weak protections.</a:t>
            </a:r>
          </a:p>
        </p:txBody>
      </p:sp>
      <p:sp>
        <p:nvSpPr>
          <p:cNvPr id="8" name="Rounded Rectangle 7"/>
          <p:cNvSpPr/>
          <p:nvPr/>
        </p:nvSpPr>
        <p:spPr>
          <a:xfrm>
            <a:off x="6199632" y="3072384"/>
            <a:ext cx="5349240" cy="141732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Outsourcing (S19)</a:t>
            </a:r>
          </a:p>
          <a:p>
            <a:pPr>
              <a:spcBef>
                <a:spcPts val="300"/>
              </a:spcBef>
            </a:pPr>
            <a:r>
              <a:rPr sz="1200">
                <a:solidFill>
                  <a:srgbClr val="1A1A1A"/>
                </a:solidFill>
              </a:rPr>
              <a:t>Offshoring trades cost for control + cross-border DATA risk. Duty of care travels with the data. Weigh ALL stakeholders — good for whom, at what cost?</a:t>
            </a:r>
          </a:p>
        </p:txBody>
      </p:sp>
      <p:sp>
        <p:nvSpPr>
          <p:cNvPr id="9" name="Rounded Rectangle 8"/>
          <p:cNvSpPr/>
          <p:nvPr/>
        </p:nvSpPr>
        <p:spPr>
          <a:xfrm>
            <a:off x="640080" y="4572000"/>
            <a:ext cx="5349240" cy="141732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Whistle-blowing (S20)</a:t>
            </a:r>
          </a:p>
          <a:p>
            <a:pPr>
              <a:spcBef>
                <a:spcPts val="300"/>
              </a:spcBef>
            </a:pPr>
            <a:r>
              <a:rPr sz="1200">
                <a:solidFill>
                  <a:srgbClr val="1A1A1A"/>
                </a:solidFill>
              </a:rPr>
              <a:t>Insider exposing wrongdoing; loyalty has a limit. Responsible = evidence-first, internal-first, escalate, public last. Real risk (retaliation); weak protection in Nepal.</a:t>
            </a:r>
          </a:p>
        </p:txBody>
      </p:sp>
      <p:sp>
        <p:nvSpPr>
          <p:cNvPr id="10" name="Rounded Rectangle 9"/>
          <p:cNvSpPr/>
          <p:nvPr/>
        </p:nvSpPr>
        <p:spPr>
          <a:xfrm>
            <a:off x="6199632" y="4572000"/>
            <a:ext cx="5349240" cy="141732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Green computing (S21)</a:t>
            </a:r>
          </a:p>
          <a:p>
            <a:pPr>
              <a:spcBef>
                <a:spcPts val="300"/>
              </a:spcBef>
            </a:pPr>
            <a:r>
              <a:rPr sz="1200">
                <a:solidFill>
                  <a:srgbClr val="1A1A1A"/>
                </a:solidFill>
              </a:rPr>
              <a:t>Whole lifecycle (make→use→dispose). Cut energy (efficient HW, virtualization, renewables); e-waste ladder reduce→reuse→refurbish→recycle (wipe data first). Part of CSR.</a:t>
            </a:r>
          </a:p>
        </p:txBody>
      </p:sp>
      <p:sp>
        <p:nvSpPr>
          <p:cNvPr id="11" name="TextBox 10"/>
          <p:cNvSpPr txBox="1"/>
          <p:nvPr/>
        </p:nvSpPr>
        <p:spPr>
          <a:xfrm>
            <a:off x="11292840" y="274320"/>
            <a:ext cx="822960" cy="320040"/>
          </a:xfrm>
          <a:prstGeom prst="rect">
            <a:avLst/>
          </a:prstGeom>
          <a:noFill/>
        </p:spPr>
        <p:txBody>
          <a:bodyPr wrap="none">
            <a:spAutoFit/>
          </a:bodyPr>
          <a:lstStyle/>
          <a:p>
            <a:pPr algn="r"/>
            <a:r>
              <a:rPr sz="1000">
                <a:solidFill>
                  <a:srgbClr val="55606B"/>
                </a:solidFill>
              </a:rPr>
              <a:t>89 / 94</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UNIT 4 · GLOSSARY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Key terms — quick reference</a:t>
            </a:r>
          </a:p>
        </p:txBody>
      </p:sp>
      <p:sp>
        <p:nvSpPr>
          <p:cNvPr id="5" name="TextBox 4"/>
          <p:cNvSpPr txBox="1"/>
          <p:nvPr/>
        </p:nvSpPr>
        <p:spPr>
          <a:xfrm>
            <a:off x="640080" y="1600200"/>
            <a:ext cx="5349240" cy="4846320"/>
          </a:xfrm>
          <a:prstGeom prst="rect">
            <a:avLst/>
          </a:prstGeom>
          <a:noFill/>
        </p:spPr>
        <p:txBody>
          <a:bodyPr wrap="square">
            <a:spAutoFit/>
          </a:bodyPr>
          <a:lstStyle/>
          <a:p>
            <a:pPr>
              <a:spcAft>
                <a:spcPts val="600"/>
              </a:spcAft>
            </a:pPr>
            <a:r>
              <a:rPr sz="1150" b="1">
                <a:solidFill>
                  <a:srgbClr val="0C2B4A"/>
                </a:solidFill>
              </a:rPr>
              <a:t>Software quality — </a:t>
            </a:r>
            <a:r>
              <a:rPr sz="1150">
                <a:solidFill>
                  <a:srgbClr val="1A1A1A"/>
                </a:solidFill>
              </a:rPr>
              <a:t>conformance to requirements + fitness for real use, reliably and safely.</a:t>
            </a:r>
          </a:p>
          <a:p>
            <a:pPr>
              <a:spcAft>
                <a:spcPts val="600"/>
              </a:spcAft>
            </a:pPr>
            <a:r>
              <a:rPr sz="1150" b="1">
                <a:solidFill>
                  <a:srgbClr val="0C2B4A"/>
                </a:solidFill>
              </a:rPr>
              <a:t>Functional vs non-functional — </a:t>
            </a:r>
            <a:r>
              <a:rPr sz="1150">
                <a:solidFill>
                  <a:srgbClr val="1A1A1A"/>
                </a:solidFill>
              </a:rPr>
              <a:t>does-what-it-should vs reliability/usability/security/maintainability.</a:t>
            </a:r>
          </a:p>
          <a:p>
            <a:pPr>
              <a:spcAft>
                <a:spcPts val="600"/>
              </a:spcAft>
            </a:pPr>
            <a:r>
              <a:rPr sz="1150" b="1">
                <a:solidFill>
                  <a:srgbClr val="0C2B4A"/>
                </a:solidFill>
              </a:rPr>
              <a:t>Cost-to-fix escalation — </a:t>
            </a:r>
            <a:r>
              <a:rPr sz="1150">
                <a:solidFill>
                  <a:srgbClr val="1A1A1A"/>
                </a:solidFill>
              </a:rPr>
              <a:t>defect cost rises ~10× at each later stage.</a:t>
            </a:r>
          </a:p>
          <a:p>
            <a:pPr>
              <a:spcAft>
                <a:spcPts val="600"/>
              </a:spcAft>
            </a:pPr>
            <a:r>
              <a:rPr sz="1150" b="1">
                <a:solidFill>
                  <a:srgbClr val="0C2B4A"/>
                </a:solidFill>
              </a:rPr>
              <a:t>Safety-critical software — </a:t>
            </a:r>
            <a:r>
              <a:rPr sz="1150">
                <a:solidFill>
                  <a:srgbClr val="1A1A1A"/>
                </a:solidFill>
              </a:rPr>
              <a:t>software whose failure can cause death, injury, or major loss.</a:t>
            </a:r>
          </a:p>
          <a:p>
            <a:pPr>
              <a:spcAft>
                <a:spcPts val="600"/>
              </a:spcAft>
            </a:pPr>
            <a:r>
              <a:rPr sz="1150" b="1">
                <a:solidFill>
                  <a:srgbClr val="0C2B4A"/>
                </a:solidFill>
              </a:rPr>
              <a:t>Testing — </a:t>
            </a:r>
            <a:r>
              <a:rPr sz="1150">
                <a:solidFill>
                  <a:srgbClr val="1A1A1A"/>
                </a:solidFill>
              </a:rPr>
              <a:t>systematically running software to find defects before users do.</a:t>
            </a:r>
          </a:p>
          <a:p>
            <a:pPr>
              <a:spcAft>
                <a:spcPts val="600"/>
              </a:spcAft>
            </a:pPr>
            <a:r>
              <a:rPr sz="1150" b="1">
                <a:solidFill>
                  <a:srgbClr val="0C2B4A"/>
                </a:solidFill>
              </a:rPr>
              <a:t>Testing levels — </a:t>
            </a:r>
            <a:r>
              <a:rPr sz="1150">
                <a:solidFill>
                  <a:srgbClr val="1A1A1A"/>
                </a:solidFill>
              </a:rPr>
              <a:t>unit → integration → system → acceptance (UAT).</a:t>
            </a:r>
          </a:p>
          <a:p>
            <a:pPr>
              <a:spcAft>
                <a:spcPts val="600"/>
              </a:spcAft>
            </a:pPr>
            <a:r>
              <a:rPr sz="1150" b="1">
                <a:solidFill>
                  <a:srgbClr val="0C2B4A"/>
                </a:solidFill>
              </a:rPr>
              <a:t>Regression testing — </a:t>
            </a:r>
            <a:r>
              <a:rPr sz="1150">
                <a:solidFill>
                  <a:srgbClr val="1A1A1A"/>
                </a:solidFill>
              </a:rPr>
              <a:t>re-checking old features so a fix doesn't break them.</a:t>
            </a:r>
          </a:p>
          <a:p>
            <a:pPr>
              <a:spcAft>
                <a:spcPts val="600"/>
              </a:spcAft>
            </a:pPr>
            <a:r>
              <a:rPr sz="1150" b="1">
                <a:solidFill>
                  <a:srgbClr val="0C2B4A"/>
                </a:solidFill>
              </a:rPr>
              <a:t>Quality Assurance (QA) — </a:t>
            </a:r>
            <a:r>
              <a:rPr sz="1150">
                <a:solidFill>
                  <a:srgbClr val="1A1A1A"/>
                </a:solidFill>
              </a:rPr>
              <a:t>the preventive PROCESS that stops defects being created.</a:t>
            </a:r>
          </a:p>
          <a:p>
            <a:pPr>
              <a:spcAft>
                <a:spcPts val="600"/>
              </a:spcAft>
            </a:pPr>
            <a:r>
              <a:rPr sz="1150" b="1">
                <a:solidFill>
                  <a:srgbClr val="0C2B4A"/>
                </a:solidFill>
              </a:rPr>
              <a:t>Quality Control (QC) — </a:t>
            </a:r>
            <a:r>
              <a:rPr sz="1150">
                <a:solidFill>
                  <a:srgbClr val="1A1A1A"/>
                </a:solidFill>
              </a:rPr>
              <a:t>the reactive INSPECTION that catches defects in the product.</a:t>
            </a:r>
          </a:p>
          <a:p>
            <a:pPr>
              <a:spcAft>
                <a:spcPts val="600"/>
              </a:spcAft>
            </a:pPr>
            <a:r>
              <a:rPr sz="1150" b="1">
                <a:solidFill>
                  <a:srgbClr val="0C2B4A"/>
                </a:solidFill>
              </a:rPr>
              <a:t>ISO/IEC 25010 — </a:t>
            </a:r>
            <a:r>
              <a:rPr sz="1150">
                <a:solidFill>
                  <a:srgbClr val="1A1A1A"/>
                </a:solidFill>
              </a:rPr>
              <a:t>a software product-quality model.</a:t>
            </a:r>
          </a:p>
          <a:p>
            <a:pPr>
              <a:spcAft>
                <a:spcPts val="600"/>
              </a:spcAft>
            </a:pPr>
            <a:r>
              <a:rPr sz="1150" b="1">
                <a:solidFill>
                  <a:srgbClr val="0C2B4A"/>
                </a:solidFill>
              </a:rPr>
              <a:t>CMMI — </a:t>
            </a:r>
            <a:r>
              <a:rPr sz="1150">
                <a:solidFill>
                  <a:srgbClr val="1A1A1A"/>
                </a:solidFill>
              </a:rPr>
              <a:t>a process-maturity rating (levels 1–5).</a:t>
            </a:r>
          </a:p>
          <a:p>
            <a:pPr>
              <a:spcAft>
                <a:spcPts val="600"/>
              </a:spcAft>
            </a:pPr>
            <a:r>
              <a:rPr sz="1150" b="1">
                <a:solidFill>
                  <a:srgbClr val="0C2B4A"/>
                </a:solidFill>
              </a:rPr>
              <a:t>Risk (in risk mgmt) — </a:t>
            </a:r>
            <a:r>
              <a:rPr sz="1150">
                <a:solidFill>
                  <a:srgbClr val="1A1A1A"/>
                </a:solidFill>
              </a:rPr>
              <a:t>likelihood × impact of something that could cause failure.</a:t>
            </a:r>
          </a:p>
          <a:p>
            <a:pPr>
              <a:spcAft>
                <a:spcPts val="600"/>
              </a:spcAft>
            </a:pPr>
            <a:r>
              <a:rPr sz="1150" b="1">
                <a:solidFill>
                  <a:srgbClr val="0C2B4A"/>
                </a:solidFill>
              </a:rPr>
              <a:t>Risk register — </a:t>
            </a:r>
            <a:r>
              <a:rPr sz="1150">
                <a:solidFill>
                  <a:srgbClr val="1A1A1A"/>
                </a:solidFill>
              </a:rPr>
              <a:t>a logged, ranked list of risks with mitigation &amp; contingency.</a:t>
            </a:r>
          </a:p>
        </p:txBody>
      </p:sp>
      <p:sp>
        <p:nvSpPr>
          <p:cNvPr id="6" name="TextBox 5"/>
          <p:cNvSpPr txBox="1"/>
          <p:nvPr/>
        </p:nvSpPr>
        <p:spPr>
          <a:xfrm>
            <a:off x="6199632" y="1600200"/>
            <a:ext cx="5349240" cy="4846320"/>
          </a:xfrm>
          <a:prstGeom prst="rect">
            <a:avLst/>
          </a:prstGeom>
          <a:noFill/>
        </p:spPr>
        <p:txBody>
          <a:bodyPr wrap="square">
            <a:spAutoFit/>
          </a:bodyPr>
          <a:lstStyle/>
          <a:p>
            <a:pPr>
              <a:spcAft>
                <a:spcPts val="600"/>
              </a:spcAft>
            </a:pPr>
            <a:r>
              <a:rPr sz="1150" b="1">
                <a:solidFill>
                  <a:srgbClr val="0C2B4A"/>
                </a:solidFill>
              </a:rPr>
              <a:t>Contingent worker — </a:t>
            </a:r>
            <a:r>
              <a:rPr sz="1150">
                <a:solidFill>
                  <a:srgbClr val="1A1A1A"/>
                </a:solidFill>
              </a:rPr>
              <a:t>a non-permanent worker (contractor, temp, freelancer, visa-based).</a:t>
            </a:r>
          </a:p>
          <a:p>
            <a:pPr>
              <a:spcAft>
                <a:spcPts val="600"/>
              </a:spcAft>
            </a:pPr>
            <a:r>
              <a:rPr sz="1150" b="1">
                <a:solidFill>
                  <a:srgbClr val="0C2B4A"/>
                </a:solidFill>
              </a:rPr>
              <a:t>Outsourcing / offshoring — </a:t>
            </a:r>
            <a:r>
              <a:rPr sz="1150">
                <a:solidFill>
                  <a:srgbClr val="1A1A1A"/>
                </a:solidFill>
              </a:rPr>
              <a:t>contracting work to an outside firm / in another country.</a:t>
            </a:r>
          </a:p>
          <a:p>
            <a:pPr>
              <a:spcAft>
                <a:spcPts val="600"/>
              </a:spcAft>
            </a:pPr>
            <a:r>
              <a:rPr sz="1150" b="1">
                <a:solidFill>
                  <a:srgbClr val="0C2B4A"/>
                </a:solidFill>
              </a:rPr>
              <a:t>Follow-the-sun — </a:t>
            </a:r>
            <a:r>
              <a:rPr sz="1150">
                <a:solidFill>
                  <a:srgbClr val="1A1A1A"/>
                </a:solidFill>
              </a:rPr>
              <a:t>work handed across time zones for 24/7 progress.</a:t>
            </a:r>
          </a:p>
          <a:p>
            <a:pPr>
              <a:spcAft>
                <a:spcPts val="600"/>
              </a:spcAft>
            </a:pPr>
            <a:r>
              <a:rPr sz="1150" b="1">
                <a:solidFill>
                  <a:srgbClr val="0C2B4A"/>
                </a:solidFill>
              </a:rPr>
              <a:t>Whistle-blowing — </a:t>
            </a:r>
            <a:r>
              <a:rPr sz="1150">
                <a:solidFill>
                  <a:srgbClr val="1A1A1A"/>
                </a:solidFill>
              </a:rPr>
              <a:t>an insider revealing wrongdoing, internally or externally.</a:t>
            </a:r>
          </a:p>
          <a:p>
            <a:pPr>
              <a:spcAft>
                <a:spcPts val="600"/>
              </a:spcAft>
            </a:pPr>
            <a:r>
              <a:rPr sz="1150" b="1">
                <a:solidFill>
                  <a:srgbClr val="0C2B4A"/>
                </a:solidFill>
              </a:rPr>
              <a:t>Internal vs external — </a:t>
            </a:r>
            <a:r>
              <a:rPr sz="1150">
                <a:solidFill>
                  <a:srgbClr val="1A1A1A"/>
                </a:solidFill>
              </a:rPr>
              <a:t>report up the chain / to an ethics officer vs to a regulator/press.</a:t>
            </a:r>
          </a:p>
          <a:p>
            <a:pPr>
              <a:spcAft>
                <a:spcPts val="600"/>
              </a:spcAft>
            </a:pPr>
            <a:r>
              <a:rPr sz="1150" b="1">
                <a:solidFill>
                  <a:srgbClr val="0C2B4A"/>
                </a:solidFill>
              </a:rPr>
              <a:t>Retaliation — </a:t>
            </a:r>
            <a:r>
              <a:rPr sz="1150">
                <a:solidFill>
                  <a:srgbClr val="1A1A1A"/>
                </a:solidFill>
              </a:rPr>
              <a:t>firing, blacklisting, or lawsuits against a whistle-blower.</a:t>
            </a:r>
          </a:p>
          <a:p>
            <a:pPr>
              <a:spcAft>
                <a:spcPts val="600"/>
              </a:spcAft>
            </a:pPr>
            <a:r>
              <a:rPr sz="1150" b="1">
                <a:solidFill>
                  <a:srgbClr val="0C2B4A"/>
                </a:solidFill>
              </a:rPr>
              <a:t>CIAA — </a:t>
            </a:r>
            <a:r>
              <a:rPr sz="1150">
                <a:solidFill>
                  <a:srgbClr val="1A1A1A"/>
                </a:solidFill>
              </a:rPr>
              <a:t>Nepal's Commission for Investigation of Abuse of Authority.</a:t>
            </a:r>
          </a:p>
          <a:p>
            <a:pPr>
              <a:spcAft>
                <a:spcPts val="600"/>
              </a:spcAft>
            </a:pPr>
            <a:r>
              <a:rPr sz="1150" b="1">
                <a:solidFill>
                  <a:srgbClr val="0C2B4A"/>
                </a:solidFill>
              </a:rPr>
              <a:t>Green computing — </a:t>
            </a:r>
            <a:r>
              <a:rPr sz="1150">
                <a:solidFill>
                  <a:srgbClr val="1A1A1A"/>
                </a:solidFill>
              </a:rPr>
              <a:t>environmentally responsible design/use/disposal of IT.</a:t>
            </a:r>
          </a:p>
          <a:p>
            <a:pPr>
              <a:spcAft>
                <a:spcPts val="600"/>
              </a:spcAft>
            </a:pPr>
            <a:r>
              <a:rPr sz="1150" b="1">
                <a:solidFill>
                  <a:srgbClr val="0C2B4A"/>
                </a:solidFill>
              </a:rPr>
              <a:t>IT lifecycle — </a:t>
            </a:r>
            <a:r>
              <a:rPr sz="1150">
                <a:solidFill>
                  <a:srgbClr val="1A1A1A"/>
                </a:solidFill>
              </a:rPr>
              <a:t>manufacture → use → disposal → recycle.</a:t>
            </a:r>
          </a:p>
          <a:p>
            <a:pPr>
              <a:spcAft>
                <a:spcPts val="600"/>
              </a:spcAft>
            </a:pPr>
            <a:r>
              <a:rPr sz="1150" b="1">
                <a:solidFill>
                  <a:srgbClr val="0C2B4A"/>
                </a:solidFill>
              </a:rPr>
              <a:t>E-waste — </a:t>
            </a:r>
            <a:r>
              <a:rPr sz="1150">
                <a:solidFill>
                  <a:srgbClr val="1A1A1A"/>
                </a:solidFill>
              </a:rPr>
              <a:t>discarded electronics with toxic materials (lead, mercury, cadmium).</a:t>
            </a:r>
          </a:p>
          <a:p>
            <a:pPr>
              <a:spcAft>
                <a:spcPts val="600"/>
              </a:spcAft>
            </a:pPr>
            <a:r>
              <a:rPr sz="1150" b="1">
                <a:solidFill>
                  <a:srgbClr val="0C2B4A"/>
                </a:solidFill>
              </a:rPr>
              <a:t>Disposal ladder — </a:t>
            </a:r>
            <a:r>
              <a:rPr sz="1150">
                <a:solidFill>
                  <a:srgbClr val="1A1A1A"/>
                </a:solidFill>
              </a:rPr>
              <a:t>reduce → reuse → refurbish → recycle.</a:t>
            </a:r>
          </a:p>
          <a:p>
            <a:pPr>
              <a:spcAft>
                <a:spcPts val="600"/>
              </a:spcAft>
            </a:pPr>
            <a:r>
              <a:rPr sz="1150" b="1">
                <a:solidFill>
                  <a:srgbClr val="0C2B4A"/>
                </a:solidFill>
              </a:rPr>
              <a:t>Extended producer responsibility — </a:t>
            </a:r>
            <a:r>
              <a:rPr sz="1150">
                <a:solidFill>
                  <a:srgbClr val="1A1A1A"/>
                </a:solidFill>
              </a:rPr>
              <a:t>makers handle their products' end-of-life.</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90 / 94</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185FA5"/>
        </a:solidFill>
        <a:effectLst/>
      </p:bgPr>
    </p:bg>
    <p:spTree>
      <p:nvGrpSpPr>
        <p:cNvPr id="1" name=""/>
        <p:cNvGrpSpPr/>
        <p:nvPr/>
      </p:nvGrpSpPr>
      <p:grpSpPr/>
      <p:sp>
        <p:nvSpPr>
          <p:cNvPr id="2" name="TextBox 1"/>
          <p:cNvSpPr txBox="1"/>
          <p:nvPr/>
        </p:nvSpPr>
        <p:spPr>
          <a:xfrm>
            <a:off x="822960" y="1737360"/>
            <a:ext cx="10515600" cy="548640"/>
          </a:xfrm>
          <a:prstGeom prst="rect">
            <a:avLst/>
          </a:prstGeom>
          <a:noFill/>
        </p:spPr>
        <p:txBody>
          <a:bodyPr wrap="none">
            <a:spAutoFit/>
          </a:bodyPr>
          <a:lstStyle/>
          <a:p>
            <a:r>
              <a:rPr sz="1500" b="1">
                <a:solidFill>
                  <a:srgbClr val="BFDCF2"/>
                </a:solidFill>
              </a:rPr>
              <a:t>UNIT 4 · REVISION</a:t>
            </a:r>
          </a:p>
        </p:txBody>
      </p:sp>
      <p:sp>
        <p:nvSpPr>
          <p:cNvPr id="3" name="TextBox 2"/>
          <p:cNvSpPr txBox="1"/>
          <p:nvPr/>
        </p:nvSpPr>
        <p:spPr>
          <a:xfrm>
            <a:off x="822960" y="2286000"/>
            <a:ext cx="10515600" cy="1280160"/>
          </a:xfrm>
          <a:prstGeom prst="rect">
            <a:avLst/>
          </a:prstGeom>
          <a:noFill/>
        </p:spPr>
        <p:txBody>
          <a:bodyPr wrap="square">
            <a:spAutoFit/>
          </a:bodyPr>
          <a:lstStyle/>
          <a:p>
            <a:r>
              <a:rPr sz="3000" b="1">
                <a:solidFill>
                  <a:srgbClr val="FFFFFF"/>
                </a:solidFill>
              </a:rPr>
              <a:t>Consolidated end-of-unit quiz</a:t>
            </a:r>
          </a:p>
        </p:txBody>
      </p:sp>
      <p:sp>
        <p:nvSpPr>
          <p:cNvPr id="4" name="Rectangle 3"/>
          <p:cNvSpPr/>
          <p:nvPr/>
        </p:nvSpPr>
        <p:spPr>
          <a:xfrm>
            <a:off x="822960" y="3703320"/>
            <a:ext cx="1280160" cy="82296"/>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3886200"/>
            <a:ext cx="10515600" cy="2194560"/>
          </a:xfrm>
          <a:prstGeom prst="rect">
            <a:avLst/>
          </a:prstGeom>
          <a:noFill/>
        </p:spPr>
        <p:txBody>
          <a:bodyPr wrap="square">
            <a:spAutoFit/>
          </a:bodyPr>
          <a:lstStyle/>
          <a:p>
            <a:r>
              <a:rPr sz="1800" i="1">
                <a:solidFill>
                  <a:srgbClr val="E8F1F9"/>
                </a:solidFill>
              </a:rPr>
              <a:t>🎣  Twelve MCQs across the whole unit (answers shown), then short-answer, applied-case, and discussion questions to work from the concept slides and Unit4_material.md.</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E8F0F7"/>
                </a:solidFill>
              </a:rPr>
              <a:t>91 / 94</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2F5F8"/>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854F0B"/>
                </a:solidFill>
              </a:rPr>
              <a:t>CHECK FOR UNDERSTANDING</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Section A — Multiple choice (answers shown)</a:t>
            </a:r>
          </a:p>
        </p:txBody>
      </p:sp>
      <p:sp>
        <p:nvSpPr>
          <p:cNvPr id="5" name="TextBox 4"/>
          <p:cNvSpPr txBox="1"/>
          <p:nvPr/>
        </p:nvSpPr>
        <p:spPr>
          <a:xfrm>
            <a:off x="640080" y="1600200"/>
            <a:ext cx="10881360" cy="4846320"/>
          </a:xfrm>
          <a:prstGeom prst="rect">
            <a:avLst/>
          </a:prstGeom>
          <a:noFill/>
        </p:spPr>
        <p:txBody>
          <a:bodyPr wrap="square">
            <a:spAutoFit/>
          </a:bodyPr>
          <a:lstStyle/>
          <a:p>
            <a:pPr lvl="1"/>
            <a:r>
              <a:rPr sz="1250" b="1">
                <a:solidFill>
                  <a:srgbClr val="0F6E56"/>
                </a:solidFill>
              </a:rPr>
              <a:t>1.  Software quality is best defined as   →  ✅ meeting requirements AND fitness for real use</a:t>
            </a:r>
          </a:p>
          <a:p>
            <a:pPr lvl="1"/>
            <a:r>
              <a:rPr sz="1250" b="1">
                <a:solidFill>
                  <a:srgbClr val="0F6E56"/>
                </a:solidFill>
              </a:rPr>
              <a:t>2.  The cost to fix a defect is lowest when found   →  ✅ early, in requirements/design</a:t>
            </a:r>
          </a:p>
          <a:p>
            <a:pPr lvl="1"/>
            <a:r>
              <a:rPr sz="1250" b="1">
                <a:solidFill>
                  <a:srgbClr val="0F6E56"/>
                </a:solidFill>
              </a:rPr>
              <a:t>3.  Software whose failure can kill/injure is   →  ✅ safety-critical software</a:t>
            </a:r>
          </a:p>
          <a:p>
            <a:pPr lvl="1"/>
            <a:r>
              <a:rPr sz="1250" b="1">
                <a:solidFill>
                  <a:srgbClr val="0F6E56"/>
                </a:solidFill>
              </a:rPr>
              <a:t>4.  The testing levels are   →  ✅ unit → integration → system → acceptance</a:t>
            </a:r>
          </a:p>
          <a:p>
            <a:pPr lvl="1"/>
            <a:r>
              <a:rPr sz="1250" b="1">
                <a:solidFill>
                  <a:srgbClr val="0F6E56"/>
                </a:solidFill>
              </a:rPr>
              <a:t>5.  QA vs QC: QA is   →  ✅ process-focused / preventive (QC is product/inspection)</a:t>
            </a:r>
          </a:p>
          <a:p>
            <a:pPr lvl="1"/>
            <a:r>
              <a:rPr sz="1250" b="1">
                <a:solidFill>
                  <a:srgbClr val="0F6E56"/>
                </a:solidFill>
              </a:rPr>
              <a:t>6.  In risk management, risk is assessed as   →  ✅ likelihood × impact</a:t>
            </a:r>
          </a:p>
          <a:p>
            <a:pPr lvl="1"/>
            <a:r>
              <a:rPr sz="1250" b="1">
                <a:solidFill>
                  <a:srgbClr val="0F6E56"/>
                </a:solidFill>
              </a:rPr>
              <a:t>7.  A key ethical downside of contingent workers is   →  ✅ weaker protections + lost knowledge</a:t>
            </a:r>
          </a:p>
          <a:p>
            <a:pPr lvl="1"/>
            <a:r>
              <a:rPr sz="1250" b="1">
                <a:solidFill>
                  <a:srgbClr val="0F6E56"/>
                </a:solidFill>
              </a:rPr>
              <a:t>8.  A major risk specific to offshore outsourcing is   →  ✅ cross-border data security/confidentiality</a:t>
            </a:r>
          </a:p>
          <a:p>
            <a:pPr lvl="1"/>
            <a:r>
              <a:rPr sz="1250" b="1">
                <a:solidFill>
                  <a:srgbClr val="0F6E56"/>
                </a:solidFill>
              </a:rPr>
              <a:t>9.  The recommended first step before external whistle-blowing is   →  ✅ exhaust internal channels with evidence</a:t>
            </a:r>
          </a:p>
          <a:p>
            <a:pPr lvl="1"/>
            <a:r>
              <a:rPr sz="1250" b="1">
                <a:solidFill>
                  <a:srgbClr val="0F6E56"/>
                </a:solidFill>
              </a:rPr>
              <a:t>10.  A common consequence whistle-blowers face is   →  ✅ retaliation (firing/blacklisting)</a:t>
            </a:r>
          </a:p>
          <a:p>
            <a:pPr lvl="1"/>
            <a:r>
              <a:rPr sz="1250" b="1">
                <a:solidFill>
                  <a:srgbClr val="0F6E56"/>
                </a:solidFill>
              </a:rPr>
              <a:t>11.  Green computing covers a device's   →  ✅ entire lifecycle (manufacture, use, disposal)</a:t>
            </a:r>
          </a:p>
          <a:p>
            <a:pPr lvl="1"/>
            <a:r>
              <a:rPr sz="1250" b="1">
                <a:solidFill>
                  <a:srgbClr val="0F6E56"/>
                </a:solidFill>
              </a:rPr>
              <a:t>12.  The safest way to handle old electronics is   →  ✅ reduce/reuse/refurbish/recycle via proper e-waste handling</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55606B"/>
                </a:solidFill>
              </a:rPr>
              <a:t>92 / 94</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2F5F8"/>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854F0B"/>
                </a:solidFill>
              </a:rPr>
              <a:t>CHECK FOR UNDERSTANDING</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Sections B–D — short answer, applied case &amp; discussion</a:t>
            </a:r>
          </a:p>
        </p:txBody>
      </p:sp>
      <p:sp>
        <p:nvSpPr>
          <p:cNvPr id="5" name="TextBox 4"/>
          <p:cNvSpPr txBox="1"/>
          <p:nvPr/>
        </p:nvSpPr>
        <p:spPr>
          <a:xfrm>
            <a:off x="640080" y="1600200"/>
            <a:ext cx="10881360" cy="4846320"/>
          </a:xfrm>
          <a:prstGeom prst="rect">
            <a:avLst/>
          </a:prstGeom>
          <a:noFill/>
        </p:spPr>
        <p:txBody>
          <a:bodyPr wrap="square">
            <a:spAutoFit/>
          </a:bodyPr>
          <a:lstStyle/>
          <a:p>
            <a:pPr>
              <a:spcBef>
                <a:spcPts val="500"/>
              </a:spcBef>
            </a:pPr>
            <a:r>
              <a:rPr sz="1400" b="1">
                <a:solidFill>
                  <a:srgbClr val="0C2B4A"/>
                </a:solidFill>
              </a:rPr>
              <a:t>Section B — Short answer</a:t>
            </a:r>
          </a:p>
          <a:p>
            <a:pPr lvl="1">
              <a:spcBef>
                <a:spcPts val="200"/>
              </a:spcBef>
            </a:pPr>
            <a:r>
              <a:rPr sz="1250" i="1">
                <a:solidFill>
                  <a:srgbClr val="1A1A1A"/>
                </a:solidFill>
              </a:rPr>
              <a:t>13. Define software quality + list 3 quality attributes.   14. QA vs QC with one example each.   15. 3 ethical pros + 3 cons of offshore outsourcing.</a:t>
            </a:r>
          </a:p>
          <a:p>
            <a:pPr lvl="1">
              <a:spcBef>
                <a:spcPts val="200"/>
              </a:spcBef>
            </a:pPr>
            <a:r>
              <a:rPr sz="1250" i="1">
                <a:solidFill>
                  <a:srgbClr val="1A1A1A"/>
                </a:solidFill>
              </a:rPr>
              <a:t>16. Outline the responsible steps for whistle-blowing.   17. Why does e-waste need special disposal?</a:t>
            </a:r>
          </a:p>
          <a:p>
            <a:pPr>
              <a:spcBef>
                <a:spcPts val="500"/>
              </a:spcBef>
            </a:pPr>
            <a:r>
              <a:rPr sz="1400" b="1">
                <a:solidFill>
                  <a:srgbClr val="0C2B4A"/>
                </a:solidFill>
              </a:rPr>
              <a:t>Section C — Applied case</a:t>
            </a:r>
          </a:p>
          <a:p>
            <a:pPr lvl="1">
              <a:spcBef>
                <a:spcPts val="200"/>
              </a:spcBef>
            </a:pPr>
            <a:r>
              <a:rPr sz="1250" i="1">
                <a:solidFill>
                  <a:srgbClr val="1A1A1A"/>
                </a:solidFill>
              </a:rPr>
              <a:t>18. A Nepali fintech rushes a Dashain release with no QA — identify the quality/risk failures and recommend strategies.</a:t>
            </a:r>
          </a:p>
          <a:p>
            <a:pPr lvl="1">
              <a:spcBef>
                <a:spcPts val="200"/>
              </a:spcBef>
            </a:pPr>
            <a:r>
              <a:rPr sz="1250" i="1">
                <a:solidFill>
                  <a:srgbClr val="1A1A1A"/>
                </a:solidFill>
              </a:rPr>
              <a:t>19. A developer discovers a national-ID data leak at their employer — map the responsible whistle-blowing path and the risks under Nepal's weak protections.</a:t>
            </a:r>
          </a:p>
          <a:p>
            <a:pPr>
              <a:spcBef>
                <a:spcPts val="500"/>
              </a:spcBef>
            </a:pPr>
            <a:r>
              <a:rPr sz="1400" b="1">
                <a:solidFill>
                  <a:srgbClr val="0C2B4A"/>
                </a:solidFill>
              </a:rPr>
              <a:t>Section D — Discussion</a:t>
            </a:r>
          </a:p>
          <a:p>
            <a:pPr lvl="1">
              <a:spcBef>
                <a:spcPts val="200"/>
              </a:spcBef>
            </a:pPr>
            <a:r>
              <a:rPr sz="1250" i="1">
                <a:solidFill>
                  <a:srgbClr val="1A1A1A"/>
                </a:solidFill>
              </a:rPr>
              <a:t>20. Is Nepal's growth as an IT-outsourcing destination a net good for Nepali workers AND the environment? Argue both sides, citing outsourcing ethics and green/e-waste concerns.</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55606B"/>
                </a:solidFill>
              </a:rPr>
              <a:t>93 / 94</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0C2B4A"/>
        </a:solidFill>
        <a:effectLst/>
      </p:bgPr>
    </p:bg>
    <p:spTree>
      <p:nvGrpSpPr>
        <p:cNvPr id="1" name=""/>
        <p:cNvGrpSpPr/>
        <p:nvPr/>
      </p:nvGrpSpPr>
      <p:grpSpPr/>
      <p:sp>
        <p:nvSpPr>
          <p:cNvPr id="2" name="Rectangle 1"/>
          <p:cNvSpPr/>
          <p:nvPr/>
        </p:nvSpPr>
        <p:spPr>
          <a:xfrm>
            <a:off x="822960" y="2788920"/>
            <a:ext cx="1463040" cy="91440"/>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828800"/>
            <a:ext cx="10515600" cy="1005840"/>
          </a:xfrm>
          <a:prstGeom prst="rect">
            <a:avLst/>
          </a:prstGeom>
          <a:noFill/>
        </p:spPr>
        <p:txBody>
          <a:bodyPr wrap="square">
            <a:spAutoFit/>
          </a:bodyPr>
          <a:lstStyle/>
          <a:p>
            <a:r>
              <a:rPr sz="3300" b="1">
                <a:solidFill>
                  <a:srgbClr val="FFFFFF"/>
                </a:solidFill>
              </a:rPr>
              <a:t>End of Unit 4  ·  IT 246</a:t>
            </a:r>
          </a:p>
        </p:txBody>
      </p:sp>
      <p:sp>
        <p:nvSpPr>
          <p:cNvPr id="4" name="TextBox 3"/>
          <p:cNvSpPr txBox="1"/>
          <p:nvPr/>
        </p:nvSpPr>
        <p:spPr>
          <a:xfrm>
            <a:off x="822960" y="3017520"/>
            <a:ext cx="10515600" cy="1097280"/>
          </a:xfrm>
          <a:prstGeom prst="rect">
            <a:avLst/>
          </a:prstGeom>
          <a:noFill/>
        </p:spPr>
        <p:txBody>
          <a:bodyPr wrap="square">
            <a:spAutoFit/>
          </a:bodyPr>
          <a:lstStyle/>
          <a:p>
            <a:r>
              <a:rPr sz="1800">
                <a:solidFill>
                  <a:srgbClr val="CFDDEA"/>
                </a:solidFill>
              </a:rPr>
              <a:t>S17–S21 complete: software quality &amp; its cost · strategies (testing, QA/QC, standards, risk) · contingent workers &amp; outsourcing · whistle-blowing · green computing</a:t>
            </a:r>
          </a:p>
        </p:txBody>
      </p:sp>
      <p:sp>
        <p:nvSpPr>
          <p:cNvPr id="5" name="TextBox 4"/>
          <p:cNvSpPr txBox="1"/>
          <p:nvPr/>
        </p:nvSpPr>
        <p:spPr>
          <a:xfrm>
            <a:off x="822960" y="5852160"/>
            <a:ext cx="10515600" cy="731520"/>
          </a:xfrm>
          <a:prstGeom prst="rect">
            <a:avLst/>
          </a:prstGeom>
          <a:noFill/>
        </p:spPr>
        <p:txBody>
          <a:bodyPr wrap="square">
            <a:spAutoFit/>
          </a:bodyPr>
          <a:lstStyle/>
          <a:p>
            <a:r>
              <a:rPr sz="1300">
                <a:solidFill>
                  <a:srgbClr val="9AB2C6"/>
                </a:solidFill>
              </a:rPr>
              <a:t>Built to COURSE_MATERIAL_STANDARD.md incl. the §7A depth rule · comparison &amp; concrete-example tables throughout · self-contained, PDF-safe · Next: Units 5–8 — Cybersecurity &amp; Digital Forensics.</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E8F0F7"/>
                </a:solidFill>
              </a:rPr>
              <a:t>94 / 94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