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95" r:id="rId8"/>
    <p:sldId id="297" r:id="rId9"/>
    <p:sldId id="304" r:id="rId10"/>
    <p:sldId id="298" r:id="rId11"/>
    <p:sldId id="299" r:id="rId12"/>
    <p:sldId id="300" r:id="rId13"/>
    <p:sldId id="296" r:id="rId14"/>
    <p:sldId id="260" r:id="rId15"/>
    <p:sldId id="261" r:id="rId16"/>
    <p:sldId id="302" r:id="rId17"/>
    <p:sldId id="303" r:id="rId18"/>
    <p:sldId id="30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sessions, one outcome each. This unit sets the reasoning toolkit reused across all 9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[~5 min]: Read 3 scenarios — sharing one paid login among 8; taking 'chiya kharcha' to push a file; dumping e-waste in the river. Run TWO votes: 'which are illegal?' then 'which are unethical?' The counts won't match — that mismatch IS the lesson. Don't resolve yet; cold-call a student who split their vote. Write agenda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Write the 4 words on the board. Define each, but spend the time on how they RELATE: must-do (law) vs should-do (ethics) vs personally-believe (morals) vs polite (etiquette). Nepal: bribe = illegal AND unethical; 'source-force' queue-jump = unethical not illegal; left-hand at a feast = etiquette only. Say aloud: 'the law is the minimum society tolerates, not the maximum you should aim for.' Transition: 'if legal ≠ ethical, we need to SEE the difference — the grid.'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whole point of S1: legal and ethical are SEPARATE axes. Walk each quadrant. The dangerous quadrant is legal+unethical — that's where most business scandals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business is special: customers can't verify most claims (does the medicine work? is my data safe?), so business runs on trust. Walk the two-shop example fully. Mini case (take 2–3 answers): a trekking agency hides a route safety risk to keep a booking — who bears the cost? Client (safety), agency (reputation/lawsuits), AND the whole tourism sector. One shortcut, an industry's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Correct the 'bad apples' assumption — misbehavior is mostly situational, which is exactly why S2/S3 (systems &amp; culture) matter. Deliver the brakes analogy with conviction: take the brakes off and you can't speed, you can only crash.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Seeds if pairs stall: selling legally-collected user data; a politician's legal conflict of interest; pirating unaffordable software (illegal, students argue ethical). Keep it moving — this activity is what fills the time and makes the grid stick.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[~3 min]: every job offer has a code of conduct; employers check your online reputation BEFORE the interview; recruiters ask 'tell me about an ethical dilemma'. SUMMARY [~2 min]: ethics = group code; legal ≠ ethical (watch the legal-but-unethical quadrant); business ethics = profit vs trust, misbehavior is situational so systems fix it. Next: CSR.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[~5 min]: Ncell funds a school; a bank plants trees; a firm sponsors flood relief — kindness, marketing, or duty? Show of hands for each. Most vote 'marketing' cynically — acknowledge it, then complicate: what if it's all three AND society can legitimately expect it? Nepal actually REQUIRES some CSR. Keep the cynicism alive for the closing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 the old Friedman 'only profit' view with the modern consensus. The crucial idea is that society GRANTS a business its licence to operate, so responsibility flows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Build bottom-up. NRB directs banks to spend on CSR — that sits in the ethical/philanthropic layers, but only works because the bank is profitable and legal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Evaluate the factory TWICE, out loud: shareholder lens = success (profit up); stakeholder lens = failure (village harmed; costs hidden not absent — health, lawsuits, lost social licence). Land it: 'ethics fails when we count only the stakeholders on the balance sheet.'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each lever WITH its why. NRB directs Nepali banks to allocate profit to CSR — so part of CSR here is regulated,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reuses the hook's cynicism productively. The 'does daily operation match the message' test is the takeaway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[~3 min]: CSR shapes which firms attract talent/investment and which face boycotts; as a manager you can build real vs decorative CSR. SUMMARY [~2 min]: CSR = duty to society (Carroll's 4 layers); stakeholders = all affected; good ethics is built via leadership/culture/codes/transparency. Next: the systems that turn values into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[~5 min]: a company hires consultants, writes a glossy Code of Ethics, frames it in reception… and behaves exactly as before. Ask: WHY did the document change nothing? Take 2–3 answers, then pull together: a value written down ≠ a value practiced. Ethics needs SYSTEMS, not posters.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identical-code contrast is the whole point: the document was never the cause, the system around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loop. The unequal-punishment mini case shows what happens when 'Consequences' is applied selectively — the whole cycle loses credibility.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each component WITH its purpose. Nepal: a bank's AML/compliance training + grievance/whistle-blower hotline is exactly this machinery, and it's regulated.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unequal-punishment case: visible hypocrisy destroys trust FASTER than having no code at all, because now the rule is openly power-dependent.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Ties straight back to the consistency point — push them on enforcement, not just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[~3 min]: in your first weeks these signals reveal a healthy vs toxic employer (real reporting channel? rules apply to seniors? genuine training?). SUMMARY [~2 min]: values need systems; effective programs = leadership+code+training+reporting+audits; consistent enforcement beats any document. Next: a repeatable decision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[~5 min]: a classmate accidentally shares a Drive folder with TOMORROW'S exam answers. You have them. Don't ask 'what's right' — ask 'HOW would you even decide?' Take gut reactions, then point out everyone jumped to an answer with no METHOD. Today we build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5-step spine returns in EVERY later unit (IP, security, forensics, cyber law). Emphasize that 'get the facts' alone resolves most apparent dilemmas.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5-step spine returns in every later unit. Run the leaked-exam-answers scenario through it live. Lenses can disagree — that's fine; the point is defensible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ambulance case through every lens (utilitarian: a life outweighs the wait; rights: right to life; fairness: an emergency genuinely IS a different case; virtue: a decent person waves them through). Then: the HARD cases are where lenses disagree — naming the disagreement is half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each trap as it SOUNDS in real life. The fudge-the-report case = obedience + slippery slope; have students spot which pressure is being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rehearses the process on a dilemma students actually feel. Don't force a 'correct' answer; reward defensible reasoning.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[~3 min]: grey-area calls happen constantly (a gift, a bent rule, a deadline shortcut); a repeatable process protects you and others; interviewers literally ask for it. SUMMARY [~2 min]: 5-step process; four lenses; four traps. Next: why this is sharper and bigger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HOOK [~5 min]: an app silently sells your location; a loan algorithm rejects applicants by neighborhood (digital redlining); a deepfake goes viral the night before an election. Framing line: a shopkeeper cheats one customer at a time; bad code harms MILLIONS in seconds, permanently. Ask: what makes the IT versions WORSE?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Deliver each factor with a concrete consequence. Tie back to S1: 'the law is the floor' matters MOST in IT because the floor is often missing — your own ethics is all that's holding.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PAPA = Privacy, Accuracy, Property, Access. This quadrant previews the whole course. End on 'can vs should' with the 100,000-user scraping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the scraping case through the S4 5-step process quickly: facts (is 'public' = 'consented'?), stakeholders (the 100,000), lens (rights: did they agree to THIS use?), act, reflect. Show 'can' and 'should' give different answers. A biased-data hiring algorithm discriminates automatically,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Makes the abstract PAPA framework personal. Good closer — students leave seeing their own apps through the unit's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[~3 min]: you'll build/manage/buy systems and decide what data to collect and how algorithms treat people; every later unit is a tool for 'can vs should'. SUMMARY [~2 min]: IT amplifies impact (scale/speed/anonymity/permanence); tech is value-laden; PAPA; professionals own can-vs-should. Next unit: ethics for IT workers &amp;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 MCQ + 5 short answer + 2 applied cases + 1 discussion. Full questions and answer key are in Unit1_material.md.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five lines map to the most common exam questions. Full quiz with answer key is in the markdown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Unit 1 — An Overview of Ethics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FDDEA"/>
                </a:solidFill>
              </a:rPr>
              <a:t>IT 246: IT Ethics and Cybersecurity  ·  BIM 6th Semester</a:t>
            </a:r>
            <a:endParaRPr sz="2000">
              <a:solidFill>
                <a:srgbClr val="CFDDE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5 lecture hours (S1–S5)  ·  50 min each  ·  Nepal / South Asia context</a:t>
            </a:r>
            <a:endParaRPr sz="1300">
              <a:solidFill>
                <a:srgbClr val="9AB2C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OVERVIEW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Unit 1 — Learning Outcomes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347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3600">
                <a:solidFill>
                  <a:srgbClr val="1A1A1A"/>
                </a:solidFill>
              </a:rPr>
              <a:t>By the end of this unit, you will be able to:</a:t>
            </a:r>
            <a:endParaRPr sz="3600">
              <a:solidFill>
                <a:srgbClr val="1A1A1A"/>
              </a:solidFill>
            </a:endParaRPr>
          </a:p>
          <a:p>
            <a:pPr lvl="1">
              <a:spcAft>
                <a:spcPts val="300"/>
              </a:spcAft>
            </a:pPr>
            <a:r>
              <a:rPr sz="2800">
                <a:solidFill>
                  <a:srgbClr val="55606B"/>
                </a:solidFill>
              </a:rPr>
              <a:t>Define ethics and distinguish it from morals, law, and etiquette</a:t>
            </a:r>
            <a:endParaRPr sz="2800">
              <a:solidFill>
                <a:srgbClr val="55606B"/>
              </a:solidFill>
            </a:endParaRPr>
          </a:p>
          <a:p>
            <a:pPr lvl="1">
              <a:spcAft>
                <a:spcPts val="300"/>
              </a:spcAft>
            </a:pPr>
            <a:r>
              <a:rPr sz="2800">
                <a:solidFill>
                  <a:srgbClr val="55606B"/>
                </a:solidFill>
              </a:rPr>
              <a:t>Explain ethics in the business world and Corporate Social Responsibility (CSR)</a:t>
            </a:r>
            <a:endParaRPr sz="2800">
              <a:solidFill>
                <a:srgbClr val="55606B"/>
              </a:solidFill>
            </a:endParaRPr>
          </a:p>
          <a:p>
            <a:pPr lvl="1">
              <a:spcAft>
                <a:spcPts val="300"/>
              </a:spcAft>
            </a:pPr>
            <a:r>
              <a:rPr sz="2800">
                <a:solidFill>
                  <a:srgbClr val="55606B"/>
                </a:solidFill>
              </a:rPr>
              <a:t>Describe how organizations foster CSR and improve business ethics</a:t>
            </a:r>
            <a:endParaRPr sz="2800">
              <a:solidFill>
                <a:srgbClr val="55606B"/>
              </a:solidFill>
            </a:endParaRPr>
          </a:p>
          <a:p>
            <a:pPr lvl="1">
              <a:spcAft>
                <a:spcPts val="300"/>
              </a:spcAft>
            </a:pPr>
            <a:r>
              <a:rPr sz="2800">
                <a:solidFill>
                  <a:srgbClr val="55606B"/>
                </a:solidFill>
              </a:rPr>
              <a:t>Apply a structured ethical decision-making process to a dilemma</a:t>
            </a:r>
            <a:endParaRPr sz="2800">
              <a:solidFill>
                <a:srgbClr val="55606B"/>
              </a:solidFill>
            </a:endParaRPr>
          </a:p>
          <a:p>
            <a:pPr lvl="1">
              <a:spcAft>
                <a:spcPts val="300"/>
              </a:spcAft>
            </a:pPr>
            <a:r>
              <a:rPr sz="2800">
                <a:solidFill>
                  <a:srgbClr val="55606B"/>
                </a:solidFill>
              </a:rPr>
              <a:t>Explain why ethics matters specifically in Information Technology</a:t>
            </a:r>
            <a:endParaRPr sz="280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1 · LECTURE HOUR 1</a:t>
            </a:r>
            <a:endParaRPr sz="1500" b="1">
              <a:solidFill>
                <a:srgbClr val="BFDC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</a:rPr>
              <a:t>What is Ethics? · Ethics in Business</a:t>
            </a:r>
            <a:endParaRPr sz="3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 · CONCEPT 1  [THEORY]  ·  ~8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Ethics, Morals, Law &amp; Etiquette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2427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Ethics — a code of right/wrong owned by a GROUP, profession, or society (it's shared)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Morals — an individual's PERSONAL beliefs (family, religion, upbringing)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Law — rules the STATE enforces, with penalties (codified, slow, can't cover everything)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Etiquette — social MANNERS; breaking it is rude, not deeply wrong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They usually overlap — the cases that matter are where they PULL APART</a:t>
            </a:r>
            <a:endParaRPr sz="1550" i="1">
              <a:solidFill>
                <a:srgbClr val="0F6E56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Misconception: 'if it's legal, it's ethical.' Law is the FLOOR, not the ceiling.</a:t>
            </a:r>
            <a:endParaRPr sz="1550" i="1">
              <a:solidFill>
                <a:srgbClr val="0F6E56"/>
              </a:solidFill>
            </a:endParaRPr>
          </a:p>
          <a:p>
            <a:pPr lvl="1">
              <a:spcAft>
                <a:spcPts val="600"/>
              </a:spcAft>
            </a:pP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424815" y="418465"/>
          <a:ext cx="11403330" cy="6028690"/>
        </p:xfrm>
        <a:graphic>
          <a:graphicData uri="http://schemas.openxmlformats.org/drawingml/2006/table">
            <a:tbl>
              <a:tblPr/>
              <a:tblGrid>
                <a:gridCol w="1064260"/>
                <a:gridCol w="2126615"/>
                <a:gridCol w="1565275"/>
                <a:gridCol w="1748155"/>
                <a:gridCol w="1959610"/>
                <a:gridCol w="2939415"/>
              </a:tblGrid>
              <a:tr h="301625">
                <a:tc>
                  <a:txBody>
                    <a:bodyPr/>
                    <a:p>
                      <a:r>
                        <a:rPr sz="1400" b="1"/>
                        <a:t>Concept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1"/>
                        <a:t>Meaning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1"/>
                        <a:t>Source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1"/>
                        <a:t>Who Decides?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1"/>
                        <a:t>Consequence if Broken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 b="1"/>
                        <a:t>Real-Life Example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07845">
                <a:tc>
                  <a:txBody>
                    <a:bodyPr/>
                    <a:p>
                      <a:r>
                        <a:rPr sz="1400"/>
                        <a:t>Ethics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Shared standards of right and wrong followed by a group, profession, or society.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Professional codes, organizations, society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Professional bodies, organizations, or society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Loss of trust, disciplinary action, suspension, loss of reputation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A doctor shares a patient's confidential medical records without permission. It may lead to professional disciplinary action and loss of medical license.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06500">
                <a:tc>
                  <a:txBody>
                    <a:bodyPr/>
                    <a:p>
                      <a:r>
                        <a:rPr sz="1400"/>
                        <a:t>Morals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An individual's personal beliefs about what is right and wrong.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Family, religion, culture, upbringing, personal values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The individual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Personal guilt, regret, or conflict with one's conscience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A person returns a lost wallet because they believe keeping it would be wrong, even if no one would know.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05865">
                <a:tc>
                  <a:txBody>
                    <a:bodyPr/>
                    <a:p>
                      <a:r>
                        <a:rPr sz="1400"/>
                        <a:t>Law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Official rules created and enforced by the government (the State).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Constitution, legislation, regulations, courts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Government (legislature and courts)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Fines, imprisonment, community service, or other legal penalties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Driving under the influence of alcohol is illegal and can result in arrest, fines, license suspension, or imprisonment.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506855">
                <a:tc>
                  <a:txBody>
                    <a:bodyPr/>
                    <a:p>
                      <a:r>
                        <a:rPr sz="1400"/>
                        <a:t>Etiquette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Social rules of politeness and good manners that make interactions respectful and pleasant.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Social customs, traditions, and cultural norms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Society and culture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Others may view you as rude, disrespectful, or impolite; usually no legal or professional penalty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400"/>
                        <a:t>Interrupting someone while they are speaking or using your phone during a formal meeting is considered poor etiquette.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142240" y="214630"/>
          <a:ext cx="11906250" cy="6429375"/>
        </p:xfrm>
        <a:graphic>
          <a:graphicData uri="http://schemas.openxmlformats.org/drawingml/2006/table">
            <a:tbl>
              <a:tblPr/>
              <a:tblGrid>
                <a:gridCol w="2594610"/>
                <a:gridCol w="4057015"/>
                <a:gridCol w="5254625"/>
              </a:tblGrid>
              <a:tr h="257175">
                <a:tc>
                  <a:txBody>
                    <a:bodyPr/>
                    <a:p>
                      <a:pPr algn="ctr"/>
                      <a:r>
                        <a:rPr sz="2800" b="1"/>
                        <a:t>Situation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800" b="1"/>
                        <a:t>Ethical Behavior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800" b="1"/>
                        <a:t>Unethical Behavior</a:t>
                      </a:r>
                      <a:endParaRPr sz="2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/>
                      <a:r>
                        <a:rPr sz="2000"/>
                        <a:t>Patient confidentiality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doctor keeps a patient's medical records private.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doctor shares patient information without permission.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/>
                      <a:r>
                        <a:rPr sz="2000"/>
                        <a:t>Academic research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researcher reports accurate results.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researcher fabricates or falsifies data.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/>
                      <a:r>
                        <a:rPr sz="2000"/>
                        <a:t>Engineering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An engineer reports a safety flaw in a bridge design.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An engineer hides the flaw to save money or time.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/>
                      <a:r>
                        <a:rPr sz="2000"/>
                        <a:t>Accounting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An accountant reports financial records honestly.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An accountant manipulates financial statements.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/>
                      <a:r>
                        <a:rPr sz="2000"/>
                        <a:t>Journalism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journalist verifies facts before publishing.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journalist publishes false or misleading information.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/>
                      <a:r>
                        <a:rPr sz="2000"/>
                        <a:t>Teaching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teacher grades all students fairly.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teacher gives higher grades based on favoritism.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4350">
                <a:tc>
                  <a:txBody>
                    <a:bodyPr/>
                    <a:p>
                      <a:pPr algn="ctr"/>
                      <a:r>
                        <a:rPr sz="2000"/>
                        <a:t>Business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company advertises products truthfully.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company uses misleading advertisements to deceive customers.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pPr algn="ctr"/>
                      <a:r>
                        <a:rPr sz="2000"/>
                        <a:t>Software Development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developer protects users' personal data.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 developer secretly sells user data for profit.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4350">
                <a:tc>
                  <a:txBody>
                    <a:bodyPr/>
                    <a:p>
                      <a:pPr algn="ctr"/>
                      <a:r>
                        <a:rPr sz="2000"/>
                        <a:t>Artificial Intelligence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An AI developer works to reduce bias in AI systems.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000"/>
                        <a:t>An AI developer knowingly releases a biased system that discriminates against users.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87630" y="24130"/>
          <a:ext cx="11906250" cy="6625590"/>
        </p:xfrm>
        <a:graphic>
          <a:graphicData uri="http://schemas.openxmlformats.org/drawingml/2006/table">
            <a:tbl>
              <a:tblPr/>
              <a:tblGrid>
                <a:gridCol w="3084195"/>
                <a:gridCol w="4084320"/>
                <a:gridCol w="4737735"/>
              </a:tblGrid>
              <a:tr h="398145">
                <a:tc>
                  <a:txBody>
                    <a:bodyPr/>
                    <a:p>
                      <a:pPr algn="ctr"/>
                      <a:r>
                        <a:rPr sz="1400" b="1"/>
                        <a:t>Situation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/>
                        <a:t>Ethical Behavior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/>
                        <a:t>Unethical Behavior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95655">
                <a:tc>
                  <a:txBody>
                    <a:bodyPr/>
                    <a:p>
                      <a:pPr algn="ctr"/>
                      <a:r>
                        <a:rPr sz="1800"/>
                        <a:t>Customer Service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employee treats every customer equally.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employee discriminates against customers based on race, gender, or religion.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/>
                        <a:t>Workplace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employee reports workplace harassment.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employee ignores harassment to avoid conflict.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/>
                        <a:t>Procurement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purchasing officer selects suppliers fairly.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purchasing officer accepts bribes to award contracts.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/>
                        <a:t>Environmental Responsibility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factory properly disposes of hazardous waste.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factory illegally dumps toxic waste into rivers.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8145">
                <a:tc>
                  <a:txBody>
                    <a:bodyPr/>
                    <a:p>
                      <a:pPr algn="ctr"/>
                      <a:r>
                        <a:rPr sz="1800"/>
                        <a:t>Legal Profession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lawyer maintains client confidentiality.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lawyer reveals confidential client information.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/>
                        <a:t>Nursing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nurse obtains informed consent before treatment.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nurse performs a procedure without proper consent.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/>
                        <a:t>Pharmacy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pharmacist dispenses the correct medication.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pharmacist knowingly provides the wrong medication.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/>
                        <a:t>Banking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banker protects customers' financial information.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banker leaks customer account information.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6875">
                <a:tc>
                  <a:txBody>
                    <a:bodyPr/>
                    <a:p>
                      <a:pPr algn="ctr"/>
                      <a:r>
                        <a:rPr sz="1800"/>
                        <a:t>Scientific Publishing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author cites all sources properly.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author plagiarizes another person's work.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96290">
                <a:tc>
                  <a:txBody>
                    <a:bodyPr/>
                    <a:p>
                      <a:pPr algn="ctr"/>
                      <a:r>
                        <a:rPr sz="1800"/>
                        <a:t>Recruitment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HR manager hires based on qualifications.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An HR manager hires relatives regardless of qualifications (nepotism).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/>
                      <a:r>
                        <a:rPr sz="1800"/>
                        <a:t>Public Service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government officer serves citizens impartially.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 government officer demands a bribe for faster service.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646430" y="558165"/>
          <a:ext cx="11104245" cy="5824220"/>
        </p:xfrm>
        <a:graphic>
          <a:graphicData uri="http://schemas.openxmlformats.org/drawingml/2006/table">
            <a:tbl>
              <a:tblPr/>
              <a:tblGrid>
                <a:gridCol w="2221865"/>
                <a:gridCol w="5180965"/>
                <a:gridCol w="3701415"/>
              </a:tblGrid>
              <a:tr h="342900">
                <a:tc>
                  <a:txBody>
                    <a:bodyPr/>
                    <a:p>
                      <a:pPr algn="ctr"/>
                      <a:r>
                        <a:rPr sz="1400" b="1"/>
                        <a:t>Situation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/>
                        <a:t>Moral Behavior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/>
                        <a:t>Immoral Behavior (According to Personal Beliefs)</a:t>
                      </a:r>
                      <a:endParaRPr sz="14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pPr algn="ctr"/>
                      <a:r>
                        <a:rPr sz="1400"/>
                        <a:t>Finding a lost wallet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Return the wallet with all the money inside.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Keep the wallet because no one is watching.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Telling the truth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Admit a mistake even if it leads to punishment.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Lie to avoid getting into trouble.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pPr algn="ctr"/>
                      <a:r>
                        <a:rPr sz="1400"/>
                        <a:t>Helping others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Help an elderly person cross the road.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Ignore someone who clearly needs help.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Keeping promises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Fulfill a promise made to a friend.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Break a promise for personal convenience.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Cheating in an exam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Study honestly and earn your grade.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Cheat to get higher marks.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pPr algn="ctr"/>
                      <a:r>
                        <a:rPr sz="1400"/>
                        <a:t>Respecting parents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Care for and respect your parents.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Neglect or mistreat your parents.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Charity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Donate to people in need because you believe it is right.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Refuse to help despite being able to.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1630">
                <a:tc>
                  <a:txBody>
                    <a:bodyPr/>
                    <a:p>
                      <a:pPr algn="ctr"/>
                      <a:r>
                        <a:rPr sz="1400"/>
                        <a:t>Returning extra change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Give back money a cashier accidentally gave you.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Keep the extra money knowing it was a mistake.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Standing up for others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Defend someone who is being bullied.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Stay silent because it is easier.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pPr algn="ctr"/>
                      <a:r>
                        <a:rPr sz="1400"/>
                        <a:t>Caring for animals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Treat animals kindly and responsibly.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Abuse or neglect animals.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Respecting others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Treat everyone with kindness and dignity.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Insult or humiliate others for personal satisfaction.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Honesty at work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Admit accidentally damaging company property.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Hide the mistake to avoid consequences.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265">
                <a:tc>
                  <a:txBody>
                    <a:bodyPr/>
                    <a:p>
                      <a:pPr algn="ctr"/>
                      <a:r>
                        <a:rPr sz="1400"/>
                        <a:t>Forgiveness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Forgive someone who sincerely apologizes.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Hold unnecessary grudges out of spite.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900">
                <a:tc>
                  <a:txBody>
                    <a:bodyPr/>
                    <a:p>
                      <a:pPr algn="ctr"/>
                      <a:r>
                        <a:rPr sz="1400"/>
                        <a:t>Gratitude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Thank people who help you.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Take others' kindness for granted.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5165">
                <a:tc>
                  <a:txBody>
                    <a:bodyPr/>
                    <a:p>
                      <a:pPr algn="ctr"/>
                      <a:r>
                        <a:rPr sz="1400"/>
                        <a:t>Environmental care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Avoid littering because you believe protecting nature is important.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Litter because you don't think it matters.</a:t>
                      </a:r>
                      <a:endParaRPr sz="14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/>
          <p:nvPr/>
        </p:nvGraphicFramePr>
        <p:xfrm>
          <a:off x="432435" y="413385"/>
          <a:ext cx="11417300" cy="6129655"/>
        </p:xfrm>
        <a:graphic>
          <a:graphicData uri="http://schemas.openxmlformats.org/drawingml/2006/table">
            <a:tbl>
              <a:tblPr/>
              <a:tblGrid>
                <a:gridCol w="1995170"/>
                <a:gridCol w="3423920"/>
                <a:gridCol w="3143885"/>
                <a:gridCol w="2854325"/>
              </a:tblGrid>
              <a:tr h="306070">
                <a:tc>
                  <a:txBody>
                    <a:bodyPr/>
                    <a:p>
                      <a:pPr algn="ctr"/>
                      <a:r>
                        <a:rPr sz="1200" b="1"/>
                        <a:t>Situation</a:t>
                      </a:r>
                      <a:endParaRPr sz="12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/>
                        <a:t>Lawful Behavior</a:t>
                      </a:r>
                      <a:endParaRPr sz="12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/>
                        <a:t>Illegal Behavior</a:t>
                      </a:r>
                      <a:endParaRPr sz="12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/>
                        <a:t>Possible Consequence</a:t>
                      </a:r>
                      <a:endParaRPr sz="12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705">
                <a:tc>
                  <a:txBody>
                    <a:bodyPr/>
                    <a:p>
                      <a:pPr algn="ctr"/>
                      <a:r>
                        <a:rPr sz="1200"/>
                        <a:t>Traffic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Stop at a red traffic light.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Drive through a red light.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Fine, license points, or license suspension.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070">
                <a:tc>
                  <a:txBody>
                    <a:bodyPr/>
                    <a:p>
                      <a:pPr algn="ctr"/>
                      <a:r>
                        <a:rPr sz="1200"/>
                        <a:t>Speed Limits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Drive within the speed limit.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Exceed the posted speed limit.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Fine or license suspension.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7340">
                <a:tc>
                  <a:txBody>
                    <a:bodyPr/>
                    <a:p>
                      <a:pPr algn="ctr"/>
                      <a:r>
                        <a:rPr sz="1200"/>
                        <a:t>Theft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Respect others' property.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Steal money or belongings.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Arrest, fine, or imprisonment.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070">
                <a:tc>
                  <a:txBody>
                    <a:bodyPr/>
                    <a:p>
                      <a:pPr algn="ctr"/>
                      <a:r>
                        <a:rPr sz="1200"/>
                        <a:t>Taxation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Pay taxes as required.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Evade taxes or submit false tax returns.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Fines, penalties, or imprisonment.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705">
                <a:tc>
                  <a:txBody>
                    <a:bodyPr/>
                    <a:p>
                      <a:pPr algn="ctr"/>
                      <a:r>
                        <a:rPr sz="1200"/>
                        <a:t>Driving Under the Influence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Drive sober.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Drive while intoxicated by alcohol or drugs.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Arrest, fine, license suspension, or jail.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070">
                <a:tc>
                  <a:txBody>
                    <a:bodyPr/>
                    <a:p>
                      <a:pPr algn="ctr"/>
                      <a:r>
                        <a:rPr sz="1200"/>
                        <a:t>Assault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Resolve conflicts peacefully.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Physically attack another person.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Criminal charges, fines, or imprisonment.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7340">
                <a:tc>
                  <a:txBody>
                    <a:bodyPr/>
                    <a:p>
                      <a:pPr algn="ctr"/>
                      <a:r>
                        <a:rPr sz="1200"/>
                        <a:t>Fraud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Provide truthful financial information.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Use deception for financial gain.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Criminal prosecution and imprisonment.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2775">
                <a:tc>
                  <a:txBody>
                    <a:bodyPr/>
                    <a:p>
                      <a:pPr algn="ctr"/>
                      <a:r>
                        <a:rPr sz="1200"/>
                        <a:t>Copyright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Use copyrighted material with permission or proper licensing.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Distribute copyrighted movies, music, or software illegally.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Fines, lawsuits, or criminal penalties.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070">
                <a:tc>
                  <a:txBody>
                    <a:bodyPr/>
                    <a:p>
                      <a:pPr algn="ctr"/>
                      <a:r>
                        <a:rPr sz="1200"/>
                        <a:t>Cybercrime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Access only authorized computer systems.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Hack into someone else's account or network.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Criminal charges, fines, or imprisonment.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3410">
                <a:tc>
                  <a:txBody>
                    <a:bodyPr/>
                    <a:p>
                      <a:pPr algn="ctr"/>
                      <a:r>
                        <a:rPr sz="1200"/>
                        <a:t>Environmental Protection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Dispose of hazardous waste legally.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Dump toxic waste into rivers or protected areas.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Heavy fines, cleanup costs, or imprisonment.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2775">
                <a:tc>
                  <a:txBody>
                    <a:bodyPr/>
                    <a:p>
                      <a:pPr algn="ctr"/>
                      <a:r>
                        <a:rPr sz="1200"/>
                        <a:t>Employment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Pay employees at least the legal minimum wage.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Refuse to pay legally required wages.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Government penalties or legal action.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070">
                <a:tc>
                  <a:txBody>
                    <a:bodyPr/>
                    <a:p>
                      <a:pPr algn="ctr"/>
                      <a:r>
                        <a:rPr sz="1200"/>
                        <a:t>Public Safety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Wear a seatbelt where required by law.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Drive without wearing a seatbelt.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Fine or penalty.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7340">
                <a:tc>
                  <a:txBody>
                    <a:bodyPr/>
                    <a:p>
                      <a:pPr algn="ctr"/>
                      <a:r>
                        <a:rPr sz="1200"/>
                        <a:t>Drug Laws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Possess or use drugs only as permitted by law.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Possess or sell illegal drugs.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Arrest, fines, or imprisonment.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2775">
                <a:tc>
                  <a:txBody>
                    <a:bodyPr/>
                    <a:p>
                      <a:pPr algn="ctr"/>
                      <a:r>
                        <a:rPr sz="1200"/>
                        <a:t>Building Regulations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Construct buildings according to approved codes.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Build without permits or ignore safety standards.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Fines, demolition orders, or legal action.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6070">
                <a:tc>
                  <a:txBody>
                    <a:bodyPr/>
                    <a:p>
                      <a:pPr algn="ctr"/>
                      <a:r>
                        <a:rPr sz="1200"/>
                        <a:t>Voting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Vote according to election laws.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Commit voter fraud or vote illegally.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Criminal charges and penalties.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366395" y="295275"/>
          <a:ext cx="11483340" cy="6313805"/>
        </p:xfrm>
        <a:graphic>
          <a:graphicData uri="http://schemas.openxmlformats.org/drawingml/2006/table">
            <a:tbl>
              <a:tblPr/>
              <a:tblGrid>
                <a:gridCol w="1697355"/>
                <a:gridCol w="3745865"/>
                <a:gridCol w="2870835"/>
                <a:gridCol w="2870835"/>
              </a:tblGrid>
              <a:tr h="345440">
                <a:tc>
                  <a:txBody>
                    <a:bodyPr/>
                    <a:p>
                      <a:pPr algn="ctr"/>
                      <a:r>
                        <a:rPr sz="1600" b="1"/>
                        <a:t>Situation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/>
                        <a:t>Good Etiquette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/>
                        <a:t>Poor Etiquette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600" b="1"/>
                        <a:t>Possible Consequence</a:t>
                      </a:r>
                      <a:endParaRPr sz="16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pPr algn="ctr"/>
                      <a:r>
                        <a:rPr sz="1200"/>
                        <a:t>Greeting Others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Say "Good morning" or greet people politely.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Ignore someone who greets you.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People may think you are rude or unfriendly.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pPr algn="ctr"/>
                      <a:r>
                        <a:rPr sz="1200"/>
                        <a:t>Saying Thank You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Thank someone after receiving help or a gift.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Accept help without expressing gratitude.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Others may view you as ungrateful.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pPr algn="ctr"/>
                      <a:r>
                        <a:rPr sz="1200"/>
                        <a:t>Queueing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Wait your turn in a line.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Cut in front of others.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Complaints, annoyance, or embarrassment.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/>
                      <a:r>
                        <a:rPr sz="1200"/>
                        <a:t>Phone Use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Silence your phone during meetings or classes.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Answer loud phone calls during a meeting or lecture.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You may disturb others and appear disrespectful.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/>
                      <a:r>
                        <a:rPr sz="1200"/>
                        <a:t>Dining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Chew with your mouth closed.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Talk while chewing or make loud eating noises.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Considered impolite at the table.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925">
                <a:tc>
                  <a:txBody>
                    <a:bodyPr/>
                    <a:p>
                      <a:pPr algn="ctr"/>
                      <a:r>
                        <a:rPr sz="1200"/>
                        <a:t>Interrupting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Wait until someone finishes speaking before responding.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Interrupt others while they are talking.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Others may feel disrespected.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/>
                      <a:r>
                        <a:rPr sz="1200"/>
                        <a:t>Public Transport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Offer your seat to elderly, pregnant, or disabled passengers.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Refuse to give up your seat when someone clearly needs it.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Seen as inconsiderate.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pPr algn="ctr"/>
                      <a:r>
                        <a:rPr sz="1200"/>
                        <a:t>Punctuality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Arrive on time for meetings or appointments.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Arrive late without informing anyone.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Others may think you are unreliable.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/>
                      <a:r>
                        <a:rPr sz="1200"/>
                        <a:t>Email Communication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Use polite language and a respectful tone.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Send rude or aggressive emails.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Damaged professional or personal relationships.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pPr algn="ctr"/>
                      <a:r>
                        <a:rPr sz="1200"/>
                        <a:t>Classroom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Raise your hand before speaking.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Shout out answers without permission.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Disrupts the class and appears disrespectful.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0510">
                <a:tc>
                  <a:txBody>
                    <a:bodyPr/>
                    <a:p>
                      <a:pPr algn="ctr"/>
                      <a:r>
                        <a:rPr sz="1200"/>
                        <a:t>Visiting Someone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Knock before entering a room.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Enter without knocking.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Invades others' privacy.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pPr algn="ctr"/>
                      <a:r>
                        <a:rPr sz="1200"/>
                        <a:t>Public Places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Keep your voice at a reasonable volume.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Speak or play music loudly in public.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Disturbs people around you.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/>
                      <a:r>
                        <a:rPr sz="1200"/>
                        <a:t>Sneezing or Coughing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Cover your mouth and nose with a tissue or elbow.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Cough or sneeze openly toward others.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Seen as unhygienic and rude.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1780">
                <a:tc>
                  <a:txBody>
                    <a:bodyPr/>
                    <a:p>
                      <a:pPr algn="ctr"/>
                      <a:r>
                        <a:rPr sz="1200"/>
                        <a:t>Online Communication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Be respectful in comments and messages.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Use insults, offensive language, or spam.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Others may block or report you.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2290">
                <a:tc>
                  <a:txBody>
                    <a:bodyPr/>
                    <a:p>
                      <a:pPr algn="ctr"/>
                      <a:r>
                        <a:rPr sz="1200"/>
                        <a:t>Workplace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Respect colleagues' personal space and workspace.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Borrow someone's belongings without asking.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/>
                        <a:t>Creates tension and loss of trust.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751205" y="392430"/>
          <a:ext cx="10586085" cy="5086350"/>
        </p:xfrm>
        <a:graphic>
          <a:graphicData uri="http://schemas.openxmlformats.org/drawingml/2006/table">
            <a:tbl>
              <a:tblPr/>
              <a:tblGrid>
                <a:gridCol w="2160270"/>
                <a:gridCol w="4897120"/>
                <a:gridCol w="3528695"/>
              </a:tblGrid>
              <a:tr h="565150">
                <a:tc>
                  <a:txBody>
                    <a:bodyPr/>
                    <a:p>
                      <a:r>
                        <a:rPr sz="1800" b="1"/>
                        <a:t>Concept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/>
                        <a:t>Main Focus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 b="1"/>
                        <a:t>Example Question It Answers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30300">
                <a:tc>
                  <a:txBody>
                    <a:bodyPr/>
                    <a:p>
                      <a:r>
                        <a:rPr sz="1800"/>
                        <a:t>Ethics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What should members of this profession or group do?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Is this professionally acceptable?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30300">
                <a:tc>
                  <a:txBody>
                    <a:bodyPr/>
                    <a:p>
                      <a:r>
                        <a:rPr sz="1800"/>
                        <a:t>Morals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What do I personally believe is right or wrong?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Does this align with my values?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30300">
                <a:tc>
                  <a:txBody>
                    <a:bodyPr/>
                    <a:p>
                      <a:r>
                        <a:rPr sz="1800"/>
                        <a:t>Law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What does the government require or prohibit?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Is this legal?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130300">
                <a:tc>
                  <a:txBody>
                    <a:bodyPr/>
                    <a:p>
                      <a:r>
                        <a:rPr sz="1800"/>
                        <a:t>Etiquette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What is considered polite and socially appropriate?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Is this good manners?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 · CONCEPT 1  ·  DIAGRAM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Legal vs Ethical — two different axes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C2B4A"/>
                </a:solidFill>
              </a:rPr>
              <a:t>LEGAL</a:t>
            </a:r>
            <a:endParaRPr sz="1500" b="1">
              <a:solidFill>
                <a:srgbClr val="0C2B4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6871" y="201168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C2B4A"/>
                </a:solidFill>
              </a:rPr>
              <a:t>ILLEGAL</a:t>
            </a:r>
            <a:endParaRPr sz="1500" b="1">
              <a:solidFill>
                <a:srgbClr val="0C2B4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0403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C2B4A"/>
                </a:solidFill>
              </a:rPr>
              <a:t>ETHICAL</a:t>
            </a:r>
            <a:endParaRPr sz="1500" b="1">
              <a:solidFill>
                <a:srgbClr val="0C2B4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896612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C2B4A"/>
                </a:solidFill>
              </a:rPr>
              <a:t>UNETHICAL</a:t>
            </a:r>
            <a:endParaRPr sz="1500" b="1">
              <a:solidFill>
                <a:srgbClr val="0C2B4A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40" y="2468880"/>
            <a:ext cx="3977639" cy="1691640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Paying taxes honestly</a:t>
            </a:r>
            <a:endParaRPr sz="1350" b="1">
              <a:solidFill>
                <a:srgbClr val="FFFFFF"/>
              </a:solidFill>
            </a:endParaRPr>
          </a:p>
          <a:p>
            <a:pPr algn="ctr"/>
            <a:r>
              <a:rPr sz="1350" b="1">
                <a:solidFill>
                  <a:srgbClr val="FFFFFF"/>
                </a:solidFill>
              </a:rPr>
              <a:t>Keeping a promise to a customer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76871" y="2468880"/>
            <a:ext cx="3977639" cy="1691640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Justified civil disobedience</a:t>
            </a:r>
            <a:endParaRPr sz="1350" b="1">
              <a:solidFill>
                <a:srgbClr val="FFFFFF"/>
              </a:solidFill>
            </a:endParaRPr>
          </a:p>
          <a:p>
            <a:pPr algn="ctr"/>
            <a:r>
              <a:rPr sz="1350" b="1">
                <a:solidFill>
                  <a:srgbClr val="FFFFFF"/>
                </a:solidFill>
              </a:rPr>
              <a:t>(rare — illegal but morally defended)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834640" y="4325112"/>
            <a:ext cx="3977639" cy="1691640"/>
          </a:xfrm>
          <a:prstGeom prst="round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Exploiting a tax loophole</a:t>
            </a:r>
            <a:endParaRPr sz="1350" b="1">
              <a:solidFill>
                <a:srgbClr val="FFFFFF"/>
              </a:solidFill>
            </a:endParaRPr>
          </a:p>
          <a:p>
            <a:pPr algn="ctr"/>
            <a:r>
              <a:rPr sz="1350" b="1">
                <a:solidFill>
                  <a:srgbClr val="FFFFFF"/>
                </a:solidFill>
              </a:rPr>
              <a:t>Queue-jumping via 'source-force'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76871" y="4325112"/>
            <a:ext cx="3977639" cy="1691640"/>
          </a:xfrm>
          <a:prstGeom prst="roundRect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Paying a bribe ('ghus')</a:t>
            </a:r>
            <a:endParaRPr sz="1350" b="1">
              <a:solidFill>
                <a:srgbClr val="FFFFFF"/>
              </a:solidFill>
            </a:endParaRPr>
          </a:p>
          <a:p>
            <a:pPr algn="ctr"/>
            <a:r>
              <a:rPr sz="1350" b="1">
                <a:solidFill>
                  <a:srgbClr val="FFFFFF"/>
                </a:solidFill>
              </a:rPr>
              <a:t>Leaking someone's private data</a:t>
            </a:r>
            <a:endParaRPr sz="13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 · CONCEPT 3  [THEORY]  ·  ~8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Ethics in the Business World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400">
                <a:solidFill>
                  <a:srgbClr val="1A1A1A"/>
                </a:solidFill>
              </a:rPr>
              <a:t>Business ethics = applying ethical standards to commercial conduct</a:t>
            </a:r>
            <a:endParaRPr sz="24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1A1A1A"/>
                </a:solidFill>
              </a:rPr>
              <a:t>A business serves MANY stakeholders at once (customers, staff, society, owners) — they conflict</a:t>
            </a:r>
            <a:endParaRPr sz="24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i="1">
                <a:solidFill>
                  <a:srgbClr val="0F6E56"/>
                </a:solidFill>
              </a:rPr>
              <a:t>Central tension: short-term profit vs long-term TRUST</a:t>
            </a:r>
            <a:endParaRPr i="1">
              <a:solidFill>
                <a:srgbClr val="0F6E56"/>
              </a:solidFill>
            </a:endParaRPr>
          </a:p>
          <a:p>
            <a:pPr>
              <a:spcAft>
                <a:spcPts val="700"/>
              </a:spcAft>
            </a:pPr>
            <a:r>
              <a:rPr sz="2400">
                <a:solidFill>
                  <a:srgbClr val="1A1A1A"/>
                </a:solidFill>
              </a:rPr>
              <a:t>Trust is slow to build, instant to lose — unethical shortcuts spend a years-long reserve</a:t>
            </a:r>
            <a:endParaRPr sz="2400">
              <a:solidFill>
                <a:srgbClr val="1A1A1A"/>
              </a:solidFill>
            </a:endParaRPr>
          </a:p>
          <a:p>
            <a:pPr lvl="1">
              <a:spcAft>
                <a:spcPts val="300"/>
              </a:spcAft>
            </a:pPr>
            <a:r>
              <a:rPr>
                <a:solidFill>
                  <a:srgbClr val="55606B"/>
                </a:solidFill>
              </a:rPr>
              <a:t>Nepal: festival shortage — Shop A triples prices (wins today); Shop B holds (longer queue every Dashain)</a:t>
            </a:r>
            <a:endParaRPr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457200" y="574040"/>
          <a:ext cx="11162030" cy="5340985"/>
        </p:xfrm>
        <a:graphic>
          <a:graphicData uri="http://schemas.openxmlformats.org/drawingml/2006/table">
            <a:tbl>
              <a:tblPr/>
              <a:tblGrid>
                <a:gridCol w="5581015"/>
                <a:gridCol w="5581015"/>
              </a:tblGrid>
              <a:tr h="667385">
                <a:tc>
                  <a:txBody>
                    <a:bodyPr/>
                    <a:p>
                      <a:r>
                        <a:rPr sz="2000" b="1"/>
                        <a:t>Stakeholder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 b="1"/>
                        <a:t>What They Want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7385">
                <a:tc>
                  <a:txBody>
                    <a:bodyPr/>
                    <a:p>
                      <a:r>
                        <a:rPr sz="2000"/>
                        <a:t>Customers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Quality products, fair prices, safety, honesty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020">
                <a:tc>
                  <a:txBody>
                    <a:bodyPr/>
                    <a:p>
                      <a:r>
                        <a:rPr sz="2000"/>
                        <a:t>Employees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Fair wages, safe working conditions, respect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020">
                <a:tc>
                  <a:txBody>
                    <a:bodyPr/>
                    <a:p>
                      <a:r>
                        <a:rPr sz="2000"/>
                        <a:t>Owners/Shareholders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Profit, business growth, return on investment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7385">
                <a:tc>
                  <a:txBody>
                    <a:bodyPr/>
                    <a:p>
                      <a:r>
                        <a:rPr sz="2000"/>
                        <a:t>Suppliers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Fair contracts, timely payments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8020">
                <a:tc>
                  <a:txBody>
                    <a:bodyPr/>
                    <a:p>
                      <a:r>
                        <a:rPr sz="2000"/>
                        <a:t>Government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Compliance with laws and payment of taxes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334770">
                <a:tc>
                  <a:txBody>
                    <a:bodyPr/>
                    <a:p>
                      <a:r>
                        <a:rPr sz="2000"/>
                        <a:t>Society &amp; Community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Environmental responsibility, ethical behavior, social contribution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92748" y="237807"/>
            <a:ext cx="5080000" cy="132905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sz="2800" b="1"/>
              <a:t>Central Tension: Profit vs. Trust</a:t>
            </a:r>
            <a:endParaRPr sz="2800" b="1"/>
          </a:p>
          <a:p>
            <a:r>
              <a:rPr sz="1600"/>
              <a:t>One of the biggest challenges in business ethics is balancing:</a:t>
            </a:r>
            <a:endParaRPr sz="1600"/>
          </a:p>
        </p:txBody>
      </p:sp>
      <p:graphicFrame>
        <p:nvGraphicFramePr>
          <p:cNvPr id="3" name="Table 2"/>
          <p:cNvGraphicFramePr/>
          <p:nvPr>
            <p:custDataLst>
              <p:tags r:id="rId1"/>
            </p:custDataLst>
          </p:nvPr>
        </p:nvGraphicFramePr>
        <p:xfrm>
          <a:off x="911225" y="1908175"/>
          <a:ext cx="9348470" cy="3375660"/>
        </p:xfrm>
        <a:graphic>
          <a:graphicData uri="http://schemas.openxmlformats.org/drawingml/2006/table">
            <a:tbl>
              <a:tblPr/>
              <a:tblGrid>
                <a:gridCol w="4674235"/>
                <a:gridCol w="4674235"/>
              </a:tblGrid>
              <a:tr h="843915">
                <a:tc>
                  <a:txBody>
                    <a:bodyPr/>
                    <a:p>
                      <a:r>
                        <a:rPr sz="2000" b="1"/>
                        <a:t>Short-Term Profit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 b="1"/>
                        <a:t>Long-Term Trust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3915">
                <a:tc>
                  <a:txBody>
                    <a:bodyPr/>
                    <a:p>
                      <a:r>
                        <a:rPr sz="2000"/>
                        <a:t>Increase revenue quickly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Build lasting customer relationships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3915">
                <a:tc>
                  <a:txBody>
                    <a:bodyPr/>
                    <a:p>
                      <a:r>
                        <a:rPr sz="2000"/>
                        <a:t>Maximize immediate gains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Earn customer loyalty and reputation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43915">
                <a:tc>
                  <a:txBody>
                    <a:bodyPr/>
                    <a:p>
                      <a:r>
                        <a:rPr sz="2000"/>
                        <a:t>May involve ethical shortcuts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Requires honesty and fairness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592455" y="792480"/>
          <a:ext cx="10948670" cy="4612640"/>
        </p:xfrm>
        <a:graphic>
          <a:graphicData uri="http://schemas.openxmlformats.org/drawingml/2006/table">
            <a:tbl>
              <a:tblPr/>
              <a:tblGrid>
                <a:gridCol w="5474335"/>
                <a:gridCol w="5474335"/>
              </a:tblGrid>
              <a:tr h="576580">
                <a:tc>
                  <a:txBody>
                    <a:bodyPr/>
                    <a:p>
                      <a:r>
                        <a:rPr sz="2000" b="1"/>
                        <a:t>Ethical Practice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 b="1"/>
                        <a:t>Benefit</a:t>
                      </a:r>
                      <a:endParaRPr sz="20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sz="2000"/>
                        <a:t>Honest advertising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Builds customer confidence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sz="2000"/>
                        <a:t>Fair pricing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Encourages customer loyalty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sz="2000"/>
                        <a:t>Paying employees fairly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Increases motivation and retention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sz="2000"/>
                        <a:t>Protecting customer data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Strengthens trust and privacy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sz="2000"/>
                        <a:t>Selling safe, quality products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Improves reputation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sz="2000"/>
                        <a:t>Environmental responsibility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Supports sustainable business growth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6580">
                <a:tc>
                  <a:txBody>
                    <a:bodyPr/>
                    <a:p>
                      <a:r>
                        <a:rPr sz="2000"/>
                        <a:t>Transparent communication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000"/>
                        <a:t>Reduces misunderstandings and builds credibility</a:t>
                      </a:r>
                      <a:endParaRPr sz="20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S1 · CONCEPT 4  [THEORY]  ·  ~7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Why Good People &amp; Businesses Still Go Wrong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22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3200">
                <a:solidFill>
                  <a:srgbClr val="1A1A1A"/>
                </a:solidFill>
              </a:rPr>
              <a:t>Most misbehavior comes from ordinary people under predictable pressure — not 'bad people'</a:t>
            </a:r>
            <a:endParaRPr sz="32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3200">
                <a:solidFill>
                  <a:srgbClr val="1A1A1A"/>
                </a:solidFill>
              </a:rPr>
              <a:t>Results pressure — the target crowds out the ethics</a:t>
            </a:r>
            <a:endParaRPr sz="32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3200">
                <a:solidFill>
                  <a:srgbClr val="1A1A1A"/>
                </a:solidFill>
              </a:rPr>
              <a:t>'Everyone does it' — normalization makes wrong feel normal</a:t>
            </a:r>
            <a:endParaRPr sz="32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3200">
                <a:solidFill>
                  <a:srgbClr val="1A1A1A"/>
                </a:solidFill>
              </a:rPr>
              <a:t>Weak oversight + diffusion of responsibility — 'I just followed the process'</a:t>
            </a:r>
            <a:endParaRPr sz="32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2400" i="1">
                <a:solidFill>
                  <a:srgbClr val="0F6E56"/>
                </a:solidFill>
              </a:rPr>
              <a:t>If misbehavior is SITUATIONAL, good systems &amp; culture prevent it (→ S2, S3)</a:t>
            </a:r>
            <a:endParaRPr sz="2400" i="1">
              <a:solidFill>
                <a:srgbClr val="0F6E56"/>
              </a:solidFill>
            </a:endParaRPr>
          </a:p>
          <a:p>
            <a:pPr lvl="1">
              <a:spcAft>
                <a:spcPts val="600"/>
              </a:spcAft>
            </a:pPr>
            <a:r>
              <a:rPr sz="2400" i="1">
                <a:solidFill>
                  <a:srgbClr val="0F6E56"/>
                </a:solidFill>
              </a:rPr>
              <a:t>Analogy: ethics = the BRAKES that let you drive fast safely — not a roadblock</a:t>
            </a:r>
            <a:endParaRPr sz="240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</a:t>
            </a:r>
            <a:endParaRPr sz="1200" b="1">
              <a:solidFill>
                <a:srgbClr val="0F6E5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S1 — 'Find the grey area'  ·  ~6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Think–Pair–Share (2 min in pairs, 3 min sharing, 1 min close)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Each pair invents ONE act that is legal-but-unethical and ONE illegal-but-arguably-ethical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Draw from Nepali daily life or IT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Take 4–5 answers aloud and place each on the 2×2 grid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Close: notice how EASY legal-but-unethical was to find — that's the quadrant this course trains</a:t>
            </a:r>
            <a:endParaRPr sz="155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  <a:endParaRPr sz="1200" b="1">
              <a:solidFill>
                <a:srgbClr val="854F0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S1 — Quick Check  ·  ~5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Q1. An action that is legal but still wrong is best called…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b) Unethical</a:t>
            </a:r>
            <a:endParaRPr sz="1600" b="1">
              <a:solidFill>
                <a:srgbClr val="0F6E56"/>
              </a:solidFill>
            </a:endParaRP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Q2. A profession's written code of conduct is an example of…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c) Ethics (a group code)</a:t>
            </a:r>
            <a:endParaRPr sz="1600" b="1">
              <a:solidFill>
                <a:srgbClr val="0F6E56"/>
              </a:solidFill>
            </a:endParaRPr>
          </a:p>
          <a:p>
            <a:pPr lvl="1"/>
            <a:r>
              <a:rPr sz="1600">
                <a:solidFill>
                  <a:srgbClr val="1A1A1A"/>
                </a:solidFill>
              </a:rPr>
              <a:t>Discussion: name one thing legal in Nepal you consider unethical — which grid quadrant?</a:t>
            </a:r>
            <a:endParaRPr sz="16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2 · LECTURE HOUR 2</a:t>
            </a:r>
            <a:endParaRPr sz="1500" b="1">
              <a:solidFill>
                <a:srgbClr val="BFDC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</a:rPr>
              <a:t>Corporate Social Responsibility (CSR)</a:t>
            </a:r>
            <a:endParaRPr sz="3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 · CONCEPT 1  [THEORY]  ·  ~7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What CSR Means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CSR = a company's DUTY to act for society's benefit, not only shareholders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Key word: DUTY — business owes the society that lets it operate (infrastructure, workers, trust)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Modern consensus shifted from 'business of business is only profit' → profit AND responsibility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 · CONCEPT 1  ·  DIAGRAM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Carroll's CSR Pyramid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98167" y="4800600"/>
            <a:ext cx="8595360" cy="960120"/>
          </a:xfrm>
          <a:prstGeom prst="rect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ECONOMIC — be profitable (the foundation)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12567" y="3803904"/>
            <a:ext cx="6766560" cy="96012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LEGAL — obey the law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26967" y="2807208"/>
            <a:ext cx="4937760" cy="9601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ETHICAL — do what is right, beyond the law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8" name="Trapezoid 7"/>
          <p:cNvSpPr/>
          <p:nvPr/>
        </p:nvSpPr>
        <p:spPr>
          <a:xfrm>
            <a:off x="4541367" y="1810512"/>
            <a:ext cx="3108960" cy="960120"/>
          </a:xfrm>
          <a:prstGeom prst="trapezoid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PHILANTHROPIC — give back to the community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i="1">
                <a:solidFill>
                  <a:srgbClr val="55606B"/>
                </a:solidFill>
              </a:rPr>
              <a:t>Lower layers must hold before the upper ones mean anything — you can't be philanthropic if you're not first viable and legal.</a:t>
            </a:r>
            <a:endParaRPr sz="1350" i="1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 · CONCEPT 3  [THEORY]  ·  ~8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Stakeholder Theory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To whom does a company answer? Narrow answer: shareholders (owners)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Stakeholder theory widens it: EVERYONE materially affected — customers, staff, suppliers,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300"/>
              </a:spcAft>
            </a:pPr>
            <a:r>
              <a:rPr sz="1550">
                <a:solidFill>
                  <a:srgbClr val="55606B"/>
                </a:solidFill>
              </a:rPr>
              <a:t>   community, environment, government, AND owners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Consequence: a decision great for owners but harmful to the community is a FAILURE</a:t>
            </a:r>
            <a:endParaRPr sz="1550" i="1">
              <a:solidFill>
                <a:srgbClr val="0F6E56"/>
              </a:solidFill>
            </a:endParaRPr>
          </a:p>
          <a:p>
            <a:pPr lvl="1">
              <a:spcAft>
                <a:spcPts val="300"/>
              </a:spcAft>
            </a:pPr>
            <a:r>
              <a:rPr sz="1550">
                <a:solidFill>
                  <a:srgbClr val="55606B"/>
                </a:solidFill>
              </a:rPr>
              <a:t>Mini case: a factory profitable for owners but polluting a village's water</a:t>
            </a:r>
            <a:endParaRPr sz="155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S2 · CONCEPT 4  [THEORY]  ·  ~7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Fostering CSR &amp; an Ethical Culture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Tone from the top — staff copy what leaders DO, not what posters say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A clear, public code of ethics — turns vague values into specific expectations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An ethical culture — raising a concern is rewarded, doing right is the easy path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Social-responsibility reporting — publishing impact creates accountability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'Good ethics is good business' — trust compounds like interest; a scandal is a withdrawal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</a:t>
            </a:r>
            <a:endParaRPr sz="1200" b="1">
              <a:solidFill>
                <a:srgbClr val="0F6E5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S2 — 'Genuine or greenwashing?'  ·  ~6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Think–Pair–Share (2 min pairs, 4 min sharing)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Each pair names ONE Nepali company's CSR activity they've seen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Class judges 2–3 examples: genuine responsibility or image-building?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Test to apply: does the company's EVERYDAY operation match the CSR message?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e.g. a bank advertising 'we care about farmers' while its loan terms crush them = greenwashing</a:t>
            </a:r>
            <a:endParaRPr sz="155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  <a:endParaRPr sz="1200" b="1">
              <a:solidFill>
                <a:srgbClr val="854F0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S2 — Quick Check  ·  ~5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Q1. The base of Carroll's CSR pyramid is…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d) Economic responsibility</a:t>
            </a:r>
            <a:endParaRPr sz="1600" b="1">
              <a:solidFill>
                <a:srgbClr val="0F6E56"/>
              </a:solidFill>
            </a:endParaRP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Q2. Stakeholders include all EXCEPT…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c) only the shareholders</a:t>
            </a:r>
            <a:endParaRPr sz="1600" b="1">
              <a:solidFill>
                <a:srgbClr val="0F6E56"/>
              </a:solidFill>
            </a:endParaRPr>
          </a:p>
          <a:p>
            <a:pPr lvl="1"/>
            <a:r>
              <a:rPr sz="1600">
                <a:solidFill>
                  <a:srgbClr val="1A1A1A"/>
                </a:solidFill>
              </a:rPr>
              <a:t>Discussion: a Nepali company doing visible CSR — genuine or image-building? Apply the test.</a:t>
            </a:r>
            <a:endParaRPr sz="16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3 · LECTURE HOUR 3</a:t>
            </a:r>
            <a:endParaRPr sz="1500" b="1">
              <a:solidFill>
                <a:srgbClr val="BFDC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</a:rPr>
              <a:t>Improving Business Ethics</a:t>
            </a:r>
            <a:endParaRPr sz="3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S3 · CONCEPT 1  [THEORY]  ·  ~7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From Values to Behavior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An ethics program = the SYSTEMS that turn stated values into actual behavior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It bridges the gap between what a firm SAYS and what it does on a deadline Tuesday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Two firms, identical code: one where leaders follow it + violations have consequences,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   one where leaders quietly break it → same document, OPPOSITE cultures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S3 · CONCEPT 2  ·  DIAGRAM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An Ethics Program is a Cycle, not a Poster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732891" y="2926080"/>
            <a:ext cx="2057400" cy="1371600"/>
          </a:xfrm>
          <a:prstGeom prst="homePlate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CODE</a:t>
            </a:r>
            <a:endParaRPr sz="1350" b="1">
              <a:solidFill>
                <a:srgbClr val="FFFFFF"/>
              </a:solidFill>
            </a:endParaRPr>
          </a:p>
          <a:p>
            <a:pPr algn="ctr"/>
            <a:r>
              <a:rPr sz="1350" b="1">
                <a:solidFill>
                  <a:srgbClr val="FFFFFF"/>
                </a:solidFill>
              </a:rPr>
              <a:t>of conduct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2900019" y="2926080"/>
            <a:ext cx="2057400" cy="1371600"/>
          </a:xfrm>
          <a:prstGeom prst="homePlate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TRAINING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Pentagon 6"/>
          <p:cNvSpPr/>
          <p:nvPr/>
        </p:nvSpPr>
        <p:spPr>
          <a:xfrm>
            <a:off x="5067147" y="2926080"/>
            <a:ext cx="2057400" cy="1371600"/>
          </a:xfrm>
          <a:prstGeom prst="homePlate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REPORTING</a:t>
            </a:r>
            <a:endParaRPr sz="1350" b="1">
              <a:solidFill>
                <a:srgbClr val="FFFFFF"/>
              </a:solidFill>
            </a:endParaRPr>
          </a:p>
          <a:p>
            <a:pPr algn="ctr"/>
            <a:r>
              <a:rPr sz="1350" b="1">
                <a:solidFill>
                  <a:srgbClr val="FFFFFF"/>
                </a:solidFill>
              </a:rPr>
              <a:t>(hotline)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7234275" y="2926080"/>
            <a:ext cx="2057400" cy="1371600"/>
          </a:xfrm>
          <a:prstGeom prst="homePlate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AUDIT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9" name="Pentagon 8"/>
          <p:cNvSpPr/>
          <p:nvPr/>
        </p:nvSpPr>
        <p:spPr>
          <a:xfrm>
            <a:off x="9401403" y="2926080"/>
            <a:ext cx="2057400" cy="1371600"/>
          </a:xfrm>
          <a:prstGeom prst="homePlate">
            <a:avLst/>
          </a:prstGeom>
          <a:solidFill>
            <a:srgbClr val="0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CONSEQUENCES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606B"/>
                </a:solidFill>
              </a:rPr>
              <a:t>↺  …and back to refining the Code. A document on the wall changes nothing — the cycle is what changes behavior.</a:t>
            </a:r>
            <a:endParaRPr sz="1400" i="1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S3 · CONCEPT 2  [THEORY]  ·  ~9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Components of an Effective Program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Ethics officer/committee with REAL authority (not an ignored side-duty)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Board-level oversight — so ethics can't be buried by middle management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A specific code of conduct — 'no gifts over X', not just 'be good'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Ongoing training — real scenarios, refreshed (not a one-time slideshow)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Safe reporting (whistle-blower) channels — anonymous &amp; retaliation-free or no one uses them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Periodic ethics audits — check rules are FOLLOWED, not just posted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Misconception: 'a code guarantees ethics.' Unenforced code is WORSE than none — signals rules are for show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S3 · CONCEPT 3  [THEORY]  ·  ~7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Measuring &amp; Sustaining Ethics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Ethics audits + anonymous culture surveys — surface problems before scandals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Consistent consequences for violations — at EVERY level, especially the top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Track reported concerns and act, so reporting feels worthwhile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Make-or-break factor: CONSISTENCY — selective punishment destroys the program</a:t>
            </a:r>
            <a:endParaRPr sz="1550" i="1">
              <a:solidFill>
                <a:srgbClr val="0F6E56"/>
              </a:solidFill>
            </a:endParaRPr>
          </a:p>
          <a:p>
            <a:pPr lvl="1">
              <a:spcAft>
                <a:spcPts val="300"/>
              </a:spcAft>
            </a:pPr>
            <a:r>
              <a:rPr sz="1550">
                <a:solidFill>
                  <a:srgbClr val="55606B"/>
                </a:solidFill>
              </a:rPr>
              <a:t>Mini case: senior let off, junior punished for the same rule — what does everyone learn?</a:t>
            </a:r>
            <a:endParaRPr sz="155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</a:t>
            </a:r>
            <a:endParaRPr sz="1200" b="1">
              <a:solidFill>
                <a:srgbClr val="0F6E5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S3 — 'Design one enforceable rule'  ·  ~5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In pairs (2 min), then 3 answers aloud (3 min)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Design ONE concrete rule to make the college exam process more ethical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AND state how it would be ENFORCED (a rule with no enforcement is a poster)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Pressure-test each: who checks it? what's the consequence? could a senior dodge it?</a:t>
            </a:r>
            <a:endParaRPr sz="155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  <a:endParaRPr sz="1200" b="1">
              <a:solidFill>
                <a:srgbClr val="854F0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S3 — Quick Check  ·  ~5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Q1. The most important driver of an ethical culture is…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b) Leadership / tone at the top</a:t>
            </a:r>
            <a:endParaRPr sz="1600" b="1">
              <a:solidFill>
                <a:srgbClr val="0F6E56"/>
              </a:solidFill>
            </a:endParaRP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Q2. A safe, retaliation-free way to report wrongdoing is a…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b) Whistle-blower / reporting hotline</a:t>
            </a:r>
            <a:endParaRPr sz="1600" b="1">
              <a:solidFill>
                <a:srgbClr val="0F6E56"/>
              </a:solidFill>
            </a:endParaRPr>
          </a:p>
          <a:p>
            <a:pPr lvl="1"/>
            <a:r>
              <a:rPr sz="1600">
                <a:solidFill>
                  <a:srgbClr val="1A1A1A"/>
                </a:solidFill>
              </a:rPr>
              <a:t>Discussion: which single component would do the most good in a typical Nepali office — why?</a:t>
            </a:r>
            <a:endParaRPr sz="16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4 · LECTURE HOUR 4</a:t>
            </a:r>
            <a:endParaRPr sz="1500" b="1">
              <a:solidFill>
                <a:srgbClr val="BFDC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</a:rPr>
              <a:t>Ethical Considerations in Decision Making</a:t>
            </a:r>
            <a:endParaRPr sz="3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S4 · CONCEPT 1  [THEORY]  ·  ~9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The 5-Step Decision Process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1. Get the facts — most 'dilemmas' dissolve with facts; never reason on assumptions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2. Identify stakeholders &amp; options — who's affected; what are the REALISTIC options?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3. Evaluate options using ethical lenses (next slide)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4. Choose and act — and own it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5. Reflect — outcome? what would I do differently? (this is how judgment improves)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Steps 1 &amp; 2 are the ones people skip — and where most bad decisions are born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S4 · CONCEPT 1  ·  DIAGRAM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The 5-Step Ethical Decision Process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5731" y="2377440"/>
            <a:ext cx="1965960" cy="1371600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Get the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facts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2579979" y="2916936"/>
            <a:ext cx="256032" cy="292608"/>
          </a:xfrm>
          <a:prstGeom prst="rightArrow">
            <a:avLst/>
          </a:prstGeom>
          <a:solidFill>
            <a:srgbClr val="C7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54299" y="2377440"/>
            <a:ext cx="1965960" cy="1371600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Stakeholders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&amp; options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838547" y="2916936"/>
            <a:ext cx="256032" cy="292608"/>
          </a:xfrm>
          <a:prstGeom prst="rightArrow">
            <a:avLst/>
          </a:prstGeom>
          <a:solidFill>
            <a:srgbClr val="C7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12867" y="2377440"/>
            <a:ext cx="1965960" cy="1371600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Evaluate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(lenses)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7097115" y="2916936"/>
            <a:ext cx="256032" cy="292608"/>
          </a:xfrm>
          <a:prstGeom prst="rightArrow">
            <a:avLst/>
          </a:prstGeom>
          <a:solidFill>
            <a:srgbClr val="C7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71435" y="2377440"/>
            <a:ext cx="1965960" cy="1371600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Choose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&amp; act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9355683" y="2916936"/>
            <a:ext cx="256032" cy="292608"/>
          </a:xfrm>
          <a:prstGeom prst="rightArrow">
            <a:avLst/>
          </a:prstGeom>
          <a:solidFill>
            <a:srgbClr val="C7C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30003" y="2377440"/>
            <a:ext cx="1965960" cy="1371600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Reflect</a:t>
            </a:r>
            <a:endParaRPr sz="14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6335" y="3886200"/>
            <a:ext cx="1047902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C2B4A"/>
                </a:solidFill>
              </a:rPr>
              <a:t>Step 3 — test each option through these lenses:</a:t>
            </a:r>
            <a:endParaRPr sz="1300" b="1">
              <a:solidFill>
                <a:srgbClr val="0C2B4A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56335" y="4297680"/>
            <a:ext cx="2468880" cy="868680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Utilitarian</a:t>
            </a:r>
            <a:endParaRPr sz="1250" b="1">
              <a:solidFill>
                <a:srgbClr val="FFFFFF"/>
              </a:solidFill>
            </a:endParaRPr>
          </a:p>
          <a:p>
            <a:pPr algn="ctr"/>
            <a:r>
              <a:rPr sz="1250" b="1">
                <a:solidFill>
                  <a:srgbClr val="FFFFFF"/>
                </a:solidFill>
              </a:rPr>
              <a:t>(greatest good)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526383" y="4297680"/>
            <a:ext cx="2468880" cy="868680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Rights / duty</a:t>
            </a:r>
            <a:endParaRPr sz="1250" b="1">
              <a:solidFill>
                <a:srgbClr val="FFFFFF"/>
              </a:solidFill>
            </a:endParaRPr>
          </a:p>
          <a:p>
            <a:pPr algn="ctr"/>
            <a:r>
              <a:rPr sz="1250" b="1">
                <a:solidFill>
                  <a:srgbClr val="FFFFFF"/>
                </a:solidFill>
              </a:rPr>
              <a:t>(respect rights)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96431" y="4297680"/>
            <a:ext cx="2468880" cy="868680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Fairness</a:t>
            </a:r>
            <a:endParaRPr sz="1250" b="1">
              <a:solidFill>
                <a:srgbClr val="FFFFFF"/>
              </a:solidFill>
            </a:endParaRPr>
          </a:p>
          <a:p>
            <a:pPr algn="ctr"/>
            <a:r>
              <a:rPr sz="1250" b="1">
                <a:solidFill>
                  <a:srgbClr val="FFFFFF"/>
                </a:solidFill>
              </a:rPr>
              <a:t>(treat alike)</a:t>
            </a:r>
            <a:endParaRPr sz="1250" b="1">
              <a:solidFill>
                <a:srgbClr val="FFFFFF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6479" y="4297680"/>
            <a:ext cx="2468880" cy="868680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Virtue / common good</a:t>
            </a:r>
            <a:endParaRPr sz="1250" b="1">
              <a:solidFill>
                <a:srgbClr val="FFFFFF"/>
              </a:solidFill>
            </a:endParaRPr>
          </a:p>
          <a:p>
            <a:pPr algn="ctr"/>
            <a:r>
              <a:rPr sz="1250" b="1">
                <a:solidFill>
                  <a:srgbClr val="FFFFFF"/>
                </a:solidFill>
              </a:rPr>
              <a:t>(good character)</a:t>
            </a:r>
            <a:endParaRPr sz="12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S4 · CONCEPT 2  [THEORY]  ·  ~9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Four Ethical Lenses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Utilitarian — 'which option does the most good for the most people?'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Rights/duty — 'does this respect everyone's rights &amp; my duties, regardless of outcome?'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Fairness/justice — 'am I treating similar people alike? is this fair?'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Virtue/common good — 'what would a person of good character do?'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300"/>
              </a:spcAft>
            </a:pPr>
            <a:r>
              <a:rPr sz="1550">
                <a:solidFill>
                  <a:srgbClr val="55606B"/>
                </a:solidFill>
              </a:rPr>
              <a:t>Nepal: fuel-queue + ambulance — all four lenses CONVERGE, which is why it feels obvious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Misconception: 'ethics is just opinion.' Lenses give defensible, comparable reasoning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S4 · CONCEPT 3  [THEORY]  ·  ~7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Common Decision Traps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Rationalization — 'it's not really cheating, everyone uses these notes'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Groupthink — going along because the whole team is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Slippery slope — 'just this once' lowers the bar for next time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Blind obedience — 'my manager told me to' (you're still responsible)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Mini case: manager says 'fudge this one report, only this once' — name the traps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</a:t>
            </a:r>
            <a:endParaRPr sz="1200" b="1">
              <a:solidFill>
                <a:srgbClr val="0F6E5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S4 — 'Run the dilemma'  ·  ~6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In pairs (3 min), then 2 pairs walk through aloud (3 min)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Take the leaked-exam-answers hook and work ALL 5 steps explicitly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Name at least one LENS used in step 3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Goal isn't unanimity — it's that everyone USED the method and can defend the choice</a:t>
            </a:r>
            <a:endParaRPr sz="155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  <a:endParaRPr sz="1200" b="1">
              <a:solidFill>
                <a:srgbClr val="854F0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S4 — Quick Check  ·  ~5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Q1. The first step in ethical decision making is to…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b) Gather the facts</a:t>
            </a:r>
            <a:endParaRPr sz="1600" b="1">
              <a:solidFill>
                <a:srgbClr val="0F6E56"/>
              </a:solidFill>
            </a:endParaRP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Q2. 'Greatest good for the greatest number' is which lens?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c) Utilitarian</a:t>
            </a:r>
            <a:endParaRPr sz="1600" b="1">
              <a:solidFill>
                <a:srgbClr val="0F6E56"/>
              </a:solidFill>
            </a:endParaRPr>
          </a:p>
          <a:p>
            <a:pPr lvl="1"/>
            <a:r>
              <a:rPr sz="1600">
                <a:solidFill>
                  <a:srgbClr val="1A1A1A"/>
                </a:solidFill>
              </a:rPr>
              <a:t>Discussion: a workplace example where two lenses DISAGREE — how would you decide?</a:t>
            </a:r>
            <a:endParaRPr sz="16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SESSION 5 · LECTURE HOUR 5 — CLOSES UNIT 1</a:t>
            </a:r>
            <a:endParaRPr sz="1500" b="1">
              <a:solidFill>
                <a:srgbClr val="BFDC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</a:rPr>
              <a:t>Ethics in Information Technology</a:t>
            </a:r>
            <a:endParaRPr sz="3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1  [THEORY]  ·  ~9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Why IT Ethics is Distinct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Scale — one decision (a default, an algorithm) affects millions at once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Speed — harm spreads in seconds, before anyone can intervene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Anonymity — wrongdoers hide; victims targeted from a distance, across borders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Permanence — leaked/posted data is almost impossible to erase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Capability–regulation gap — tech outruns the law, so 'is it legal?' often has no answer yet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'A rumor in a village fades; a screenshot online is forever.'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2  ·  DIAGRAM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The Four Pillars of IT Ethics — 'PAPA'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743200" y="2331720"/>
            <a:ext cx="3931920" cy="1600200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PRIVACY</a:t>
            </a:r>
            <a:endParaRPr sz="2000" b="1">
              <a:solidFill>
                <a:srgbClr val="FFFFFF"/>
              </a:solidFill>
            </a:endParaRPr>
          </a:p>
          <a:p>
            <a:pPr algn="ctr"/>
            <a:r>
              <a:rPr sz="1250">
                <a:solidFill>
                  <a:srgbClr val="FFFFFF"/>
                </a:solidFill>
              </a:rPr>
              <a:t>Who can collect &amp; see your data?  (Unit 2)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0" y="2331720"/>
            <a:ext cx="3931920" cy="1600200"/>
          </a:xfrm>
          <a:prstGeom prst="round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ACCURACY</a:t>
            </a:r>
            <a:endParaRPr sz="2000" b="1">
              <a:solidFill>
                <a:srgbClr val="FFFFFF"/>
              </a:solidFill>
            </a:endParaRPr>
          </a:p>
          <a:p>
            <a:pPr algn="ctr"/>
            <a:r>
              <a:rPr sz="1250">
                <a:solidFill>
                  <a:srgbClr val="FFFFFF"/>
                </a:solidFill>
              </a:rPr>
              <a:t>Who's liable when data / algorithms are wrong?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43200" y="4069080"/>
            <a:ext cx="3931920" cy="1600200"/>
          </a:xfrm>
          <a:prstGeom prst="round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PROPERTY</a:t>
            </a:r>
            <a:endParaRPr sz="2000" b="1">
              <a:solidFill>
                <a:srgbClr val="FFFFFF"/>
              </a:solidFill>
            </a:endParaRPr>
          </a:p>
          <a:p>
            <a:pPr algn="ctr"/>
            <a:r>
              <a:rPr sz="1250">
                <a:solidFill>
                  <a:srgbClr val="FFFFFF"/>
                </a:solidFill>
              </a:rPr>
              <a:t>Who owns information &amp; software?  (Unit 3)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858000" y="4069080"/>
            <a:ext cx="3931920" cy="1600200"/>
          </a:xfrm>
          <a:prstGeom prst="roundRect">
            <a:avLst/>
          </a:prstGeom>
          <a:solidFill>
            <a:srgbClr val="993C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ACCESS</a:t>
            </a:r>
            <a:endParaRPr sz="2000" b="1">
              <a:solidFill>
                <a:srgbClr val="FFFFFF"/>
              </a:solidFill>
            </a:endParaRPr>
          </a:p>
          <a:p>
            <a:pPr algn="ctr"/>
            <a:r>
              <a:rPr sz="1250">
                <a:solidFill>
                  <a:srgbClr val="FFFFFF"/>
                </a:solidFill>
              </a:rPr>
              <a:t>Who gets to use technology — and who's left out?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 i="1">
                <a:solidFill>
                  <a:srgbClr val="55606B"/>
                </a:solidFill>
              </a:rPr>
              <a:t>Security threads through all four (Units 5–8).  Core question of the course:  just because we CAN — should we?</a:t>
            </a:r>
            <a:endParaRPr sz="1350" i="1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S5 · CONCEPT 3  [THEORY]  ·  ~7 MIN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The IT Professional's Responsibility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Defining question of IT ethics: you CAN — but SHOULD you?</a:t>
            </a:r>
            <a:endParaRPr sz="1550" i="1">
              <a:solidFill>
                <a:srgbClr val="0F6E56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It lands on YOU: you'll choose what data to collect, how an algorithm treats people, what to log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Professional codes (ACM, IEEE) put duty to users &amp; public above employer convenience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300"/>
              </a:spcAft>
            </a:pPr>
            <a:r>
              <a:rPr sz="1550">
                <a:solidFill>
                  <a:srgbClr val="55606B"/>
                </a:solidFill>
              </a:rPr>
              <a:t>Mini case: you CAN scrape 100,000 users' public posts for a project — SHOULD you?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600"/>
              </a:spcAft>
            </a:pPr>
            <a:r>
              <a:rPr sz="1550" i="1">
                <a:solidFill>
                  <a:srgbClr val="0F6E56"/>
                </a:solidFill>
              </a:rPr>
              <a:t>Misconception: 'the tool is neutral.' What you build &amp; how an algorithm decides encodes values + bias</a:t>
            </a:r>
            <a:endParaRPr sz="1550" i="1">
              <a:solidFill>
                <a:srgbClr val="0F6E56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6E56"/>
                </a:solidFill>
              </a:rPr>
              <a:t>🛠  IN-CLASS ACTIVITY</a:t>
            </a:r>
            <a:endParaRPr sz="1200" b="1">
              <a:solidFill>
                <a:srgbClr val="0F6E5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S5 — 'Can vs Should audit'  ·  ~6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</a:rPr>
              <a:t>In pairs (2 min), then 3 answers aloud (4 min)</a:t>
            </a:r>
            <a:endParaRPr sz="1800">
              <a:solidFill>
                <a:srgbClr val="1A1A1A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Each pair picks ONE app they use daily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Identify (a) one PAPA theme it raises a concern about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and (b) one 'can but maybe shouldn't' thing it does with their data</a:t>
            </a:r>
            <a:endParaRPr sz="1550">
              <a:solidFill>
                <a:srgbClr val="55606B"/>
              </a:solidFill>
            </a:endParaRPr>
          </a:p>
          <a:p>
            <a:pPr lvl="1">
              <a:spcAft>
                <a:spcPts val="400"/>
              </a:spcAft>
            </a:pPr>
            <a:r>
              <a:rPr sz="1550">
                <a:solidFill>
                  <a:srgbClr val="55606B"/>
                </a:solidFill>
              </a:rPr>
              <a:t>Closes the unit on THEIR real digital life</a:t>
            </a:r>
            <a:endParaRPr sz="1550">
              <a:solidFill>
                <a:srgbClr val="55606B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54F0B"/>
                </a:solidFill>
              </a:rPr>
              <a:t>CHECK FOR UNDERSTANDING</a:t>
            </a:r>
            <a:endParaRPr sz="1200" b="1">
              <a:solidFill>
                <a:srgbClr val="854F0B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C2B4A"/>
                </a:solidFill>
              </a:rPr>
              <a:t>S5 — Quick Check  ·  ~5 min</a:t>
            </a:r>
            <a:endParaRPr sz="26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Q1. What most makes IT ethics distinct?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b) The scale, speed &amp; permanence of impact</a:t>
            </a:r>
            <a:endParaRPr sz="1600" b="1">
              <a:solidFill>
                <a:srgbClr val="0F6E56"/>
              </a:solidFill>
            </a:endParaRPr>
          </a:p>
          <a:p>
            <a:pPr>
              <a:spcBef>
                <a:spcPts val="800"/>
              </a:spcBef>
            </a:pPr>
            <a:r>
              <a:rPr sz="1800" b="1">
                <a:solidFill>
                  <a:srgbClr val="0C2B4A"/>
                </a:solidFill>
              </a:rPr>
              <a:t>Q2. 'PAPA' = Privacy, Accuracy, Property, and…</a:t>
            </a:r>
            <a:endParaRPr sz="1800" b="1">
              <a:solidFill>
                <a:srgbClr val="0C2B4A"/>
              </a:solidFill>
            </a:endParaRPr>
          </a:p>
          <a:p>
            <a:pPr lvl="1"/>
            <a:r>
              <a:rPr sz="1600" b="1">
                <a:solidFill>
                  <a:srgbClr val="0F6E56"/>
                </a:solidFill>
              </a:rPr>
              <a:t>✅ c) Access</a:t>
            </a:r>
            <a:endParaRPr sz="1600" b="1">
              <a:solidFill>
                <a:srgbClr val="0F6E56"/>
              </a:solidFill>
            </a:endParaRPr>
          </a:p>
          <a:p>
            <a:pPr lvl="1"/>
            <a:r>
              <a:rPr sz="1600">
                <a:solidFill>
                  <a:srgbClr val="1A1A1A"/>
                </a:solidFill>
              </a:rPr>
              <a:t>Discussion: an IT product you use that raises a concern — which PAPA theme, and why?</a:t>
            </a:r>
            <a:endParaRPr sz="16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5F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FDCF2"/>
                </a:solidFill>
              </a:rPr>
              <a:t>ASSESSMENT</a:t>
            </a:r>
            <a:endParaRPr sz="1500" b="1">
              <a:solidFill>
                <a:srgbClr val="BFDCF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</a:rPr>
              <a:t>Unit 1 — End-of-Unit Quiz</a:t>
            </a:r>
            <a:endParaRPr sz="33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85FA5"/>
                </a:solidFill>
              </a:rPr>
              <a:t>UNIT 1 · REVIEW</a:t>
            </a:r>
            <a:endParaRPr sz="1200" b="1">
              <a:solidFill>
                <a:srgbClr val="185FA5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C2B4A"/>
                </a:solidFill>
              </a:rPr>
              <a:t>Exam pointers — what to master</a:t>
            </a:r>
            <a:endParaRPr sz="2700" b="1">
              <a:solidFill>
                <a:srgbClr val="0C2B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Ethics vs morals vs law vs etiquette; 'legal ≠ ethical'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CSR &amp; Carroll's pyramid (4 layers in order); stakeholder theory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Components of an effective ethics program; tone at the top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The 5-step decision process and the four ethical lenses</a:t>
            </a:r>
            <a:endParaRPr sz="1800">
              <a:solidFill>
                <a:srgbClr val="1A1A1A"/>
              </a:solidFill>
            </a:endParaRP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1A1A1A"/>
                </a:solidFill>
              </a:rPr>
              <a:t>Why IT ethics is distinct; the PAPA framework; 'can vs should'</a:t>
            </a:r>
            <a:endParaRPr sz="1800">
              <a:solidFill>
                <a:srgbClr val="1A1A1A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88920"/>
            <a:ext cx="1463040" cy="91440"/>
          </a:xfrm>
          <a:prstGeom prst="rect">
            <a:avLst/>
          </a:prstGeom>
          <a:solidFill>
            <a:srgbClr val="854F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End of Unit 1</a:t>
            </a:r>
            <a:endParaRPr sz="38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CFDDEA"/>
                </a:solidFill>
              </a:rPr>
              <a:t>Next: Unit 2 — Ethics for IT Workers and IT Users</a:t>
            </a:r>
            <a:endParaRPr sz="2000">
              <a:solidFill>
                <a:srgbClr val="CFDDE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AB2C6"/>
                </a:solidFill>
              </a:rPr>
              <a:t>Generated for IT 246 · diagrams are native shapes (editable) · speaker notes in each slide's Notes pane</a:t>
            </a:r>
            <a:endParaRPr sz="1300">
              <a:solidFill>
                <a:srgbClr val="9AB2C6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36*265"/>
  <p:tag name="TABLE_ENDDRAG_RECT" val="71*150*736*26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23241</Words>
  <Application>WPS Presentation</Application>
  <PresentationFormat>On-screen Show (4:3)</PresentationFormat>
  <Paragraphs>1064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dell</cp:lastModifiedBy>
  <cp:revision>24</cp:revision>
  <dcterms:created xsi:type="dcterms:W3CDTF">2013-01-27T09:14:00Z</dcterms:created>
  <dcterms:modified xsi:type="dcterms:W3CDTF">2026-07-08T00:30:23Z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BEE09B3B035A4F8CBC14C67C5309D0C1_12</vt:lpwstr>
  </property>
  <property fmtid="{D5CDD505-2E9C-101B-9397-08002B2CF9AE}" pid="3" name="KSOProductBuildVer">
    <vt:lpwstr>1033-12.1.0.26880</vt:lpwstr>
  </property>
</Properties>
</file>