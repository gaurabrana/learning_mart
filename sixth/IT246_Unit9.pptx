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that old law, written for the paper world, cannot reach digital acts. Agenda: what cyber law is → why Nepal needs it → target vs tool → the Cyber Bureau path.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Before ~2004 Nepal had NO statute for electronic records. Keep dates as 'illustrative — verify'. Land: old law can't reach digital acts, so a new law was needed.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Mini-case: a contract signed &amp; emailed as a PDF — enforceable in a Nepali court? ETA answer: yes, e-records can carry legal recognition.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Mini-case: a student edits a friend's photo to humiliate them — which type, and which body investigates? (Tool crime; Cyber Bureau.)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Emphasise evidence-first. Venue/procedure specifics are illustrative — tell students to verify the current reporting channel and law.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Draw out the target/tool split and that the ETA — not a stand-alone 'Cyber Crime Act' — is the primary law.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The ETA is the heart of Nepal's cyber law. Agenda: what the ETA is (two halves) → e-records &amp; digital signatures → offences &amp; penalties (with the free-speech debate). Keep all figures 'illustrative — verify'.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Confirm the exact chapter/section structure against the official text. Land the misconception fix: the ETA is not 'only about cybercrime'.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Mini-case: a vendor denies sending a purchase-order email — how does a digital signature establish non-repudiation? (Only their private key could have signed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Reuse the Unit 2 S10 framing: present BOTH sides (protection vs free-speech chill). State section numbers/penalties as 'illustrative — verify current law', never as settled fact.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non-repudiation and the two-sided free-speech debate. Section numbers are illustrative — verify.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From law on paper to a working system. Agenda: the ETR (procedures) → the Controller &amp; CAs (PKI) → the IT Policy (national goals). Confirm rule numbers/policy version before delivery.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Local example: the licensing requirements a Nepali entity must meet to operate as a CA under the Office of the Controller. Confirm year/rule numbers before delivery.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Mini-case: a CA issues a certificate without verifying identity and it's used in fraud — the Controller's supervisory/audit role is exactly what should catch and sanction that.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Discussion seed: name one IT Policy goal Nepal has progressed on and one it hasn't, from daily life. Confirm which policy version is current for teaching.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Nail the Act/Rules/Policy distinction and the Controller's role in PKI.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Part new theory (infosec policies), part course-wide synthesis + exam/project prep. Agenda: CIA triad → security policy → where law meets policy → the whole course as one arc.</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Local example: a Nepali bank's customer-data protection duties and NRB/regulatory IT-security expectations. Link back to Units 5–7 explicitly.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Mini-case: an employee uses a personal USB / shares a password — which policy should have prevented it, and what's the incident-response step?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Land the synthesis: the ETA criminalises, the IT Policy directs, and infosec policy operationalises — a good policy reduces breaches AND legal liability.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SYNTHESIS. Walk the arc on the diagram, then the 9-unit table. This is the mental map students should carry into the exam.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SYNTHESIS. Present the arc as ONE story; the Nepal thread (Cyber Bureau, ETA) binds Units 8–9. Encourage students to redraw this map from memory.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STRUCTURE [~5 min].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Keep it light — the main assessment is the course review and end-of-unit quiz. Draw out 'security = people + process, not just tech'.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a 15–20 min in-class quiz or take-home review. ⚠️ Mark all ETA/ETR section numbers &amp; penalty figures as 'verify against official text' in the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 A. ⚠️ Section numbers/penalties are illustrative — verify current law.</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Sections B–D. Model answers on the concept slides and in Unit9_material.md. ⚠️ Verify all legal figures against the official text before finalising the answer key.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Unit 9 — Cyber Law in the Context of Nepal</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IT 246: IT Ethics &amp; Cybersecurity  ·  BIM 6th Semester  ·  Sessions S45–S48  ·  the FINAL unit</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Self-contained slides with depth: every concept grounded in comparison &amp; concrete-example TABLES (Nepal-localised) — no abstraction without instances. Legal specifics are ILLUSTRATIVE — verify current law. Exports to PDF with nothing lost.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 / 68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CYBER LAW IN NEPAL  ·  S45–S48</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9 — Learning Outcomes</a:t>
            </a:r>
          </a:p>
        </p:txBody>
      </p:sp>
      <p:sp>
        <p:nvSpPr>
          <p:cNvPr id="5" name="TextBox 4"/>
          <p:cNvSpPr txBox="1"/>
          <p:nvPr/>
        </p:nvSpPr>
        <p:spPr>
          <a:xfrm>
            <a:off x="640080" y="1600200"/>
            <a:ext cx="10972800" cy="4206240"/>
          </a:xfrm>
          <a:prstGeom prst="rect">
            <a:avLst/>
          </a:prstGeom>
          <a:noFill/>
        </p:spPr>
        <p:txBody>
          <a:bodyPr wrap="square">
            <a:spAutoFit/>
          </a:bodyPr>
          <a:lstStyle/>
          <a:p>
            <a:pPr>
              <a:spcAft>
                <a:spcPts val="800"/>
              </a:spcAft>
            </a:pPr>
            <a:r>
              <a:rPr sz="1600" b="1">
                <a:solidFill>
                  <a:srgbClr val="0C2B4A"/>
                </a:solidFill>
              </a:rPr>
              <a:t>By the end of this unit, you will be able to:</a:t>
            </a:r>
          </a:p>
          <a:p>
            <a:pPr>
              <a:spcAft>
                <a:spcPts val="500"/>
              </a:spcAft>
            </a:pPr>
            <a:r>
              <a:rPr sz="1450">
                <a:solidFill>
                  <a:srgbClr val="1A1A1A"/>
                </a:solidFill>
              </a:rPr>
              <a:t>•  Explain what cyber law is, why Nepal needs it, and the legal perspective on cybercrime (S45)</a:t>
            </a:r>
          </a:p>
          <a:p>
            <a:pPr>
              <a:spcAft>
                <a:spcPts val="500"/>
              </a:spcAft>
            </a:pPr>
            <a:r>
              <a:rPr sz="1450">
                <a:solidFill>
                  <a:srgbClr val="1A1A1A"/>
                </a:solidFill>
              </a:rPr>
              <a:t>•  Identify the main types of cybercrime recognised under Nepali law and who investigates them (S45)</a:t>
            </a:r>
          </a:p>
          <a:p>
            <a:pPr>
              <a:spcAft>
                <a:spcPts val="500"/>
              </a:spcAft>
            </a:pPr>
            <a:r>
              <a:rPr sz="1450">
                <a:solidFill>
                  <a:srgbClr val="1A1A1A"/>
                </a:solidFill>
              </a:rPr>
              <a:t>•  Describe the key provisions of the Electronic Transaction Act (ETA) 2063 — e-records, digital signatures, offences (S46)</a:t>
            </a:r>
          </a:p>
          <a:p>
            <a:pPr>
              <a:spcAft>
                <a:spcPts val="500"/>
              </a:spcAft>
            </a:pPr>
            <a:r>
              <a:rPr sz="1450">
                <a:solidFill>
                  <a:srgbClr val="1A1A1A"/>
                </a:solidFill>
              </a:rPr>
              <a:t>•  Explain the Electronic Transaction Rules, the Controller &amp; Certifying Authorities, and Nepal's IT Policy (S47)</a:t>
            </a:r>
          </a:p>
          <a:p>
            <a:pPr>
              <a:spcAft>
                <a:spcPts val="500"/>
              </a:spcAft>
            </a:pPr>
            <a:r>
              <a:rPr sz="1450">
                <a:solidFill>
                  <a:srgbClr val="1A1A1A"/>
                </a:solidFill>
              </a:rPr>
              <a:t>•  Explain information-security policy concepts — and synthesise the whole course for exam, lab &amp; project prep (S48)</a:t>
            </a:r>
          </a:p>
        </p:txBody>
      </p:sp>
      <p:sp>
        <p:nvSpPr>
          <p:cNvPr id="6" name="Rounded Rectangle 5"/>
          <p:cNvSpPr/>
          <p:nvPr/>
        </p:nvSpPr>
        <p:spPr>
          <a:xfrm>
            <a:off x="640080" y="5806440"/>
            <a:ext cx="10972800" cy="77724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Course context</a:t>
            </a:r>
          </a:p>
          <a:p>
            <a:pPr>
              <a:spcBef>
                <a:spcPts val="300"/>
              </a:spcBef>
            </a:pPr>
            <a:r>
              <a:rPr sz="1300">
                <a:solidFill>
                  <a:srgbClr val="1A1A1A"/>
                </a:solidFill>
              </a:rPr>
              <a:t>This is Unit 9 of IT 246 — the course's closing unit. It turns the ethics, security and forensics of Units 1–8 toward the LAW that governs the digital world in Nepal, then zooms out to tie all nine units together.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 / 68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9 — ROADMAP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each session fits (S45–S48)</a:t>
            </a:r>
          </a:p>
        </p:txBody>
      </p:sp>
      <p:sp>
        <p:nvSpPr>
          <p:cNvPr id="5" name="Rounded Rectangle 4"/>
          <p:cNvSpPr/>
          <p:nvPr/>
        </p:nvSpPr>
        <p:spPr>
          <a:xfrm>
            <a:off x="640080" y="1645920"/>
            <a:ext cx="5349240" cy="416052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THIS UNIT  ·  S45–S48</a:t>
            </a:r>
          </a:p>
          <a:p>
            <a:pPr>
              <a:spcBef>
                <a:spcPts val="300"/>
              </a:spcBef>
            </a:pPr>
            <a:r>
              <a:rPr sz="1400">
                <a:solidFill>
                  <a:srgbClr val="1A1A1A"/>
                </a:solidFill>
              </a:rPr>
              <a:t>S45  Legal perspective of cybercrime (cyber law · Cyber Bureau)
S46  Electronic Transaction Act (ETA) 2063
S47  Electronic Transaction Rules · Controller/CAs · IT Policy
S48  Information security &amp; policies + COURSE REVIEW — closes the course</a:t>
            </a:r>
          </a:p>
        </p:txBody>
      </p:sp>
      <p:sp>
        <p:nvSpPr>
          <p:cNvPr id="6" name="Rounded Rectangle 5"/>
          <p:cNvSpPr/>
          <p:nvPr/>
        </p:nvSpPr>
        <p:spPr>
          <a:xfrm>
            <a:off x="6199632" y="1645920"/>
            <a:ext cx="5349240" cy="4160520"/>
          </a:xfrm>
          <a:prstGeom prst="roundRect">
            <a:avLst/>
          </a:prstGeom>
          <a:solidFill>
            <a:srgbClr val="F2F5F8"/>
          </a:solidFill>
          <a:ln w="12700">
            <a:solidFill>
              <a:srgbClr val="55606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55606B"/>
                </a:solidFill>
              </a:rPr>
              <a:t>🎓  COURSE STATUS</a:t>
            </a:r>
          </a:p>
          <a:p>
            <a:pPr>
              <a:spcBef>
                <a:spcPts val="300"/>
              </a:spcBef>
            </a:pPr>
            <a:r>
              <a:rPr sz="1400">
                <a:solidFill>
                  <a:srgbClr val="1A1A1A"/>
                </a:solidFill>
              </a:rPr>
              <a:t>Units 1–4  Ethics (should)
Units 5–7  Cybersecurity (protect)
Unit 8   Digital forensics (investigate)
Unit 9   Cyber law (govern &amp; punish) — YOU ARE HERE
🎓  After S48: the full IT 246 course is COMPLETE.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 / 68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45 · LECTURE HOUR 1 (OF 4)</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Cyber Law in Nepal · Legal Perspective of Cybercrime</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Someone makes a fake Facebook/TikTok account in your name, posts defamatory photos, and demands money. Which police unit handles this in Nepal, and under which law — there was no 'internet' in the old paper-era Muluki Ain?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 / 68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Is Cyber Law</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Cyber law (cyberspace law) is the body of law governing computers, networks, the internet, and electronic transactions. It fills the gap where traditional law — written for the physical, paper world — cannot reach digital acts: online identity, anonymity, electronic evidence, and cross-border jurisdiction.</a:t>
            </a:r>
          </a:p>
          <a:p>
            <a:pPr>
              <a:spcAft>
                <a:spcPts val="500"/>
              </a:spcAft>
            </a:pPr>
            <a:r>
              <a:rPr sz="1200" b="1">
                <a:solidFill>
                  <a:srgbClr val="185FA5"/>
                </a:solidFill>
              </a:rPr>
              <a:t>HOW IT WORKS</a:t>
            </a:r>
          </a:p>
          <a:p>
            <a:pPr>
              <a:spcAft>
                <a:spcPts val="600"/>
              </a:spcAft>
            </a:pPr>
            <a:r>
              <a:rPr sz="1400">
                <a:solidFill>
                  <a:srgbClr val="1A1A1A"/>
                </a:solidFill>
              </a:rPr>
              <a:t>•  Traditional law assumes a physical place, paper records, and a known person — the internet breaks all three.</a:t>
            </a:r>
          </a:p>
          <a:p>
            <a:pPr>
              <a:spcAft>
                <a:spcPts val="600"/>
              </a:spcAft>
            </a:pPr>
            <a:r>
              <a:rPr sz="1400">
                <a:solidFill>
                  <a:srgbClr val="1A1A1A"/>
                </a:solidFill>
              </a:rPr>
              <a:t>•  Cyber law gives electronic records/signatures legal validity AND criminalises computer offences.</a:t>
            </a:r>
          </a:p>
          <a:p>
            <a:pPr>
              <a:spcAft>
                <a:spcPts val="600"/>
              </a:spcAft>
            </a:pPr>
            <a:r>
              <a:rPr sz="1400">
                <a:solidFill>
                  <a:srgbClr val="1A1A1A"/>
                </a:solidFill>
              </a:rPr>
              <a:t>•  Global models: India's IT Act 2000; the Budapest Convention on Cybercrime.</a:t>
            </a:r>
          </a:p>
          <a:p>
            <a:pPr>
              <a:spcAft>
                <a:spcPts val="600"/>
              </a:spcAft>
            </a:pPr>
            <a:r>
              <a:rPr sz="1400">
                <a:solidFill>
                  <a:srgbClr val="1A1A1A"/>
                </a:solidFill>
              </a:rPr>
              <a:t>•  Nepal's primary cyber law is the Electronic Transaction Act (ETA) 2063 (2008) — also called the 'Cyber Law'.</a:t>
            </a:r>
          </a:p>
        </p:txBody>
      </p:sp>
      <p:pic>
        <p:nvPicPr>
          <p:cNvPr id="6" name="Picture 5" descr="s45_timeline.png"/>
          <p:cNvPicPr>
            <a:picLocks noChangeAspect="1"/>
          </p:cNvPicPr>
          <p:nvPr/>
        </p:nvPicPr>
        <p:blipFill>
          <a:blip r:embed="rId2"/>
          <a:stretch>
            <a:fillRect/>
          </a:stretch>
        </p:blipFill>
        <p:spPr>
          <a:xfrm>
            <a:off x="6355080" y="2576701"/>
            <a:ext cx="5532120" cy="2481838"/>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Cyber law = traffic rules for a brand-new road where the cars (data) move fast and cross borders.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 / 68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old (paper-world) law can't reach digital acts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698750"/>
                <a:gridCol w="4127500"/>
                <a:gridCol w="4603750"/>
              </a:tblGrid>
              <a:tr h="630936">
                <a:tc>
                  <a:txBody>
                    <a:bodyPr wrap="square"/>
                    <a:lstStyle/>
                    <a:p>
                      <a:r>
                        <a:rPr sz="1150" b="1">
                          <a:solidFill>
                            <a:srgbClr val="FFFFFF"/>
                          </a:solidFill>
                        </a:rPr>
                        <a:t>Dimension</a:t>
                      </a:r>
                    </a:p>
                  </a:txBody>
                  <a:tcPr anchor="ctr" marL="73152" marR="54864" marT="27432" marB="27432">
                    <a:solidFill>
                      <a:srgbClr val="0C2B4A"/>
                    </a:solidFill>
                  </a:tcPr>
                </a:tc>
                <a:tc>
                  <a:txBody>
                    <a:bodyPr wrap="square"/>
                    <a:lstStyle/>
                    <a:p>
                      <a:r>
                        <a:rPr sz="1150" b="1">
                          <a:solidFill>
                            <a:srgbClr val="FFFFFF"/>
                          </a:solidFill>
                        </a:rPr>
                        <a:t>Traditional (paper-world) law</a:t>
                      </a:r>
                    </a:p>
                  </a:txBody>
                  <a:tcPr anchor="ctr" marL="73152" marR="54864" marT="27432" marB="27432">
                    <a:solidFill>
                      <a:srgbClr val="0C2B4A"/>
                    </a:solidFill>
                  </a:tcPr>
                </a:tc>
                <a:tc>
                  <a:txBody>
                    <a:bodyPr wrap="square"/>
                    <a:lstStyle/>
                    <a:p>
                      <a:r>
                        <a:rPr sz="1150" b="1">
                          <a:solidFill>
                            <a:srgbClr val="FFFFFF"/>
                          </a:solidFill>
                        </a:rPr>
                        <a:t>Why it fails online → cyber law's fix</a:t>
                      </a:r>
                    </a:p>
                  </a:txBody>
                  <a:tcPr anchor="ctr" marL="73152" marR="54864" marT="27432" marB="27432">
                    <a:solidFill>
                      <a:srgbClr val="0C2B4A"/>
                    </a:solidFill>
                  </a:tcPr>
                </a:tc>
              </a:tr>
              <a:tr h="630936">
                <a:tc>
                  <a:txBody>
                    <a:bodyPr wrap="square"/>
                    <a:lstStyle/>
                    <a:p>
                      <a:r>
                        <a:rPr sz="1100" b="1">
                          <a:solidFill>
                            <a:srgbClr val="0C2B4A"/>
                          </a:solidFill>
                        </a:rPr>
                        <a:t>Identity</a:t>
                      </a:r>
                    </a:p>
                  </a:txBody>
                  <a:tcPr anchor="ctr" marL="73152" marR="54864" marT="27432" marB="27432">
                    <a:solidFill>
                      <a:srgbClr val="FFFFFF"/>
                    </a:solidFill>
                  </a:tcPr>
                </a:tc>
                <a:tc>
                  <a:txBody>
                    <a:bodyPr wrap="square"/>
                    <a:lstStyle/>
                    <a:p>
                      <a:r>
                        <a:rPr sz="1100">
                          <a:solidFill>
                            <a:srgbClr val="1A1A1A"/>
                          </a:solidFill>
                        </a:rPr>
                        <a:t>Assumes a known, physical person</a:t>
                      </a:r>
                    </a:p>
                  </a:txBody>
                  <a:tcPr anchor="ctr" marL="73152" marR="54864" marT="27432" marB="27432">
                    <a:solidFill>
                      <a:srgbClr val="FFFFFF"/>
                    </a:solidFill>
                  </a:tcPr>
                </a:tc>
                <a:tc>
                  <a:txBody>
                    <a:bodyPr wrap="square"/>
                    <a:lstStyle/>
                    <a:p>
                      <a:r>
                        <a:rPr sz="1100">
                          <a:solidFill>
                            <a:srgbClr val="1A1A1A"/>
                          </a:solidFill>
                        </a:rPr>
                        <a:t>Fake profiles &amp; anonymity → rules for electronic identity</a:t>
                      </a:r>
                    </a:p>
                  </a:txBody>
                  <a:tcPr anchor="ctr" marL="73152" marR="54864" marT="27432" marB="27432">
                    <a:solidFill>
                      <a:srgbClr val="FFFFFF"/>
                    </a:solidFill>
                  </a:tcPr>
                </a:tc>
              </a:tr>
              <a:tr h="630936">
                <a:tc>
                  <a:txBody>
                    <a:bodyPr wrap="square"/>
                    <a:lstStyle/>
                    <a:p>
                      <a:r>
                        <a:rPr sz="1100" b="1">
                          <a:solidFill>
                            <a:srgbClr val="0C2B4A"/>
                          </a:solidFill>
                        </a:rPr>
                        <a:t>Evidence</a:t>
                      </a:r>
                    </a:p>
                  </a:txBody>
                  <a:tcPr anchor="ctr" marL="73152" marR="54864" marT="27432" marB="27432">
                    <a:solidFill>
                      <a:srgbClr val="EEF3F8"/>
                    </a:solidFill>
                  </a:tcPr>
                </a:tc>
                <a:tc>
                  <a:txBody>
                    <a:bodyPr wrap="square"/>
                    <a:lstStyle/>
                    <a:p>
                      <a:r>
                        <a:rPr sz="1100">
                          <a:solidFill>
                            <a:srgbClr val="1A1A1A"/>
                          </a:solidFill>
                        </a:rPr>
                        <a:t>Paper documents, wet-ink signatures</a:t>
                      </a:r>
                    </a:p>
                  </a:txBody>
                  <a:tcPr anchor="ctr" marL="73152" marR="54864" marT="27432" marB="27432">
                    <a:solidFill>
                      <a:srgbClr val="EEF3F8"/>
                    </a:solidFill>
                  </a:tcPr>
                </a:tc>
                <a:tc>
                  <a:txBody>
                    <a:bodyPr wrap="square"/>
                    <a:lstStyle/>
                    <a:p>
                      <a:r>
                        <a:rPr sz="1100">
                          <a:solidFill>
                            <a:srgbClr val="1A1A1A"/>
                          </a:solidFill>
                        </a:rPr>
                        <a:t>Data, logs, e-records → legal recognition of e-evidence</a:t>
                      </a:r>
                    </a:p>
                  </a:txBody>
                  <a:tcPr anchor="ctr" marL="73152" marR="54864" marT="27432" marB="27432">
                    <a:solidFill>
                      <a:srgbClr val="EEF3F8"/>
                    </a:solidFill>
                  </a:tcPr>
                </a:tc>
              </a:tr>
              <a:tr h="630936">
                <a:tc>
                  <a:txBody>
                    <a:bodyPr wrap="square"/>
                    <a:lstStyle/>
                    <a:p>
                      <a:r>
                        <a:rPr sz="1100" b="1">
                          <a:solidFill>
                            <a:srgbClr val="0C2B4A"/>
                          </a:solidFill>
                        </a:rPr>
                        <a:t>Location / jurisdiction</a:t>
                      </a:r>
                    </a:p>
                  </a:txBody>
                  <a:tcPr anchor="ctr" marL="73152" marR="54864" marT="27432" marB="27432">
                    <a:solidFill>
                      <a:srgbClr val="FFFFFF"/>
                    </a:solidFill>
                  </a:tcPr>
                </a:tc>
                <a:tc>
                  <a:txBody>
                    <a:bodyPr wrap="square"/>
                    <a:lstStyle/>
                    <a:p>
                      <a:r>
                        <a:rPr sz="1100">
                          <a:solidFill>
                            <a:srgbClr val="1A1A1A"/>
                          </a:solidFill>
                        </a:rPr>
                        <a:t>A crime happens in one place</a:t>
                      </a:r>
                    </a:p>
                  </a:txBody>
                  <a:tcPr anchor="ctr" marL="73152" marR="54864" marT="27432" marB="27432">
                    <a:solidFill>
                      <a:srgbClr val="FFFFFF"/>
                    </a:solidFill>
                  </a:tcPr>
                </a:tc>
                <a:tc>
                  <a:txBody>
                    <a:bodyPr wrap="square"/>
                    <a:lstStyle/>
                    <a:p>
                      <a:r>
                        <a:rPr sz="1100">
                          <a:solidFill>
                            <a:srgbClr val="1A1A1A"/>
                          </a:solidFill>
                        </a:rPr>
                        <a:t>Acts cross borders instantly → cross-border provisions</a:t>
                      </a:r>
                    </a:p>
                  </a:txBody>
                  <a:tcPr anchor="ctr" marL="73152" marR="54864" marT="27432" marB="27432">
                    <a:solidFill>
                      <a:srgbClr val="FFFFFF"/>
                    </a:solidFill>
                  </a:tcPr>
                </a:tc>
              </a:tr>
              <a:tr h="630936">
                <a:tc>
                  <a:txBody>
                    <a:bodyPr wrap="square"/>
                    <a:lstStyle/>
                    <a:p>
                      <a:r>
                        <a:rPr sz="1100" b="1">
                          <a:solidFill>
                            <a:srgbClr val="0C2B4A"/>
                          </a:solidFill>
                        </a:rPr>
                        <a:t>The record</a:t>
                      </a:r>
                    </a:p>
                  </a:txBody>
                  <a:tcPr anchor="ctr" marL="73152" marR="54864" marT="27432" marB="27432">
                    <a:solidFill>
                      <a:srgbClr val="EEF3F8"/>
                    </a:solidFill>
                  </a:tcPr>
                </a:tc>
                <a:tc>
                  <a:txBody>
                    <a:bodyPr wrap="square"/>
                    <a:lstStyle/>
                    <a:p>
                      <a:r>
                        <a:rPr sz="1100">
                          <a:solidFill>
                            <a:srgbClr val="1A1A1A"/>
                          </a:solidFill>
                        </a:rPr>
                        <a:t>Physical, hard to copy</a:t>
                      </a:r>
                    </a:p>
                  </a:txBody>
                  <a:tcPr anchor="ctr" marL="73152" marR="54864" marT="27432" marB="27432">
                    <a:solidFill>
                      <a:srgbClr val="EEF3F8"/>
                    </a:solidFill>
                  </a:tcPr>
                </a:tc>
                <a:tc>
                  <a:txBody>
                    <a:bodyPr wrap="square"/>
                    <a:lstStyle/>
                    <a:p>
                      <a:r>
                        <a:rPr sz="1100">
                          <a:solidFill>
                            <a:srgbClr val="1A1A1A"/>
                          </a:solidFill>
                        </a:rPr>
                        <a:t>Digital, copied infinitely → integrity &amp; signature rules</a:t>
                      </a:r>
                    </a:p>
                  </a:txBody>
                  <a:tcPr anchor="ctr" marL="73152" marR="54864" marT="27432" marB="27432">
                    <a:solidFill>
                      <a:srgbClr val="EEF3F8"/>
                    </a:solidFill>
                  </a:tcPr>
                </a:tc>
              </a:tr>
              <a:tr h="630936">
                <a:tc>
                  <a:txBody>
                    <a:bodyPr wrap="square"/>
                    <a:lstStyle/>
                    <a:p>
                      <a:r>
                        <a:rPr sz="1100" b="1">
                          <a:solidFill>
                            <a:srgbClr val="0C2B4A"/>
                          </a:solidFill>
                        </a:rPr>
                        <a:t>The act</a:t>
                      </a:r>
                    </a:p>
                  </a:txBody>
                  <a:tcPr anchor="ctr" marL="73152" marR="54864" marT="27432" marB="27432">
                    <a:solidFill>
                      <a:srgbClr val="FFFFFF"/>
                    </a:solidFill>
                  </a:tcPr>
                </a:tc>
                <a:tc>
                  <a:txBody>
                    <a:bodyPr wrap="square"/>
                    <a:lstStyle/>
                    <a:p>
                      <a:r>
                        <a:rPr sz="1100">
                          <a:solidFill>
                            <a:srgbClr val="1A1A1A"/>
                          </a:solidFill>
                        </a:rPr>
                        <a:t>Named in the statute (theft, forgery)</a:t>
                      </a:r>
                    </a:p>
                  </a:txBody>
                  <a:tcPr anchor="ctr" marL="73152" marR="54864" marT="27432" marB="27432">
                    <a:solidFill>
                      <a:srgbClr val="FFFFFF"/>
                    </a:solidFill>
                  </a:tcPr>
                </a:tc>
                <a:tc>
                  <a:txBody>
                    <a:bodyPr wrap="square"/>
                    <a:lstStyle/>
                    <a:p>
                      <a:r>
                        <a:rPr sz="1100">
                          <a:solidFill>
                            <a:srgbClr val="1A1A1A"/>
                          </a:solidFill>
                        </a:rPr>
                        <a:t>'Hacking', 'source-code damage' didn't exist → new offences</a:t>
                      </a:r>
                    </a:p>
                  </a:txBody>
                  <a:tcPr anchor="ctr" marL="73152" marR="54864" marT="27432" marB="27432">
                    <a:solidFill>
                      <a:srgbClr val="FFFFFF"/>
                    </a:solidFill>
                  </a:tcPr>
                </a:tc>
              </a:tr>
              <a:tr h="630936">
                <a:tc>
                  <a:txBody>
                    <a:bodyPr wrap="square"/>
                    <a:lstStyle/>
                    <a:p>
                      <a:r>
                        <a:rPr sz="1100" b="1">
                          <a:solidFill>
                            <a:srgbClr val="0C2B4A"/>
                          </a:solidFill>
                        </a:rPr>
                        <a:t>Speed &amp; scale</a:t>
                      </a:r>
                    </a:p>
                  </a:txBody>
                  <a:tcPr anchor="ctr" marL="73152" marR="54864" marT="27432" marB="27432">
                    <a:solidFill>
                      <a:srgbClr val="EEF3F8"/>
                    </a:solidFill>
                  </a:tcPr>
                </a:tc>
                <a:tc>
                  <a:txBody>
                    <a:bodyPr wrap="square"/>
                    <a:lstStyle/>
                    <a:p>
                      <a:r>
                        <a:rPr sz="1100">
                          <a:solidFill>
                            <a:srgbClr val="1A1A1A"/>
                          </a:solidFill>
                        </a:rPr>
                        <a:t>One act, limited reach</a:t>
                      </a:r>
                    </a:p>
                  </a:txBody>
                  <a:tcPr anchor="ctr" marL="73152" marR="54864" marT="27432" marB="27432">
                    <a:solidFill>
                      <a:srgbClr val="EEF3F8"/>
                    </a:solidFill>
                  </a:tcPr>
                </a:tc>
                <a:tc>
                  <a:txBody>
                    <a:bodyPr wrap="square"/>
                    <a:lstStyle/>
                    <a:p>
                      <a:r>
                        <a:rPr sz="1100">
                          <a:solidFill>
                            <a:srgbClr val="1A1A1A"/>
                          </a:solidFill>
                        </a:rPr>
                        <a:t>One post reaches millions → new harms to regulate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Cyber law exists precisely because paper-era law assumed a physical person, place, and record — none of which hold online. ⚠️ Legal specifics (section numbers, penalties, dates) are ILLUSTRATIVE of the framework and its debate — verify against the current official Nepali text (Nepal Law Commission / Gazette) before relying on them.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 / 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Is Cyber Law</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Before the ETA 2063, a Nepali court had no statute making an emailed contract or a digitally signed document legally valid, and no clear offence for 'hacking'. The ETA became Nepal's primary cyber law — enabling e-transactions AND criminalising computer offences — the legal foundation for eSewa, mobile banking, and e-government.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"Nepal has a dedicated 'Cyber Crime Act'." No — Nepal regulates cybercrime mainly through the ETA 2063 (an e-transactions law that ALSO criminalises computer offences), plus provisions in other laws (defamation, the Criminal Code 2074, the Privacy Act 2075). There is no single stand-alone 'Cyber Crime Act'.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Cyber law is the body of law governing computers, networks, the internet, and electronic transactions; it fills the gap where paper-era law cannot reach digital acts (identity, anonymity, e-evidence, cross-border jurisdiction). Nepal's primary cyber law is the ETA 2063 (2008), which both gives e-records/e-signatures legal validity and criminalises computer offences — not a stand-alone 'Cyber Crime Act'.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cyber law · ETA 2063 · fills the paper-law gap · jurisdiction/evidence/identity · not a stand-alone 'Cyber Crime Act'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 / 68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Nepal Needs Cyber Law</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Nepal needs cyber law because daily life has gone digital: e-banking, e-commerce, e-governance, and social media. Two jobs follow: (1) give electronic records and digital signatures legal validity so they can be trusted and enforced, and (2) punish digital crime that old law could not name.</a:t>
            </a:r>
          </a:p>
          <a:p>
            <a:pPr>
              <a:spcAft>
                <a:spcPts val="500"/>
              </a:spcAft>
            </a:pPr>
            <a:r>
              <a:rPr sz="1200" b="1">
                <a:solidFill>
                  <a:srgbClr val="185FA5"/>
                </a:solidFill>
              </a:rPr>
              <a:t>HOW IT WORKS</a:t>
            </a:r>
          </a:p>
          <a:p>
            <a:pPr>
              <a:spcAft>
                <a:spcPts val="600"/>
              </a:spcAft>
            </a:pPr>
            <a:r>
              <a:rPr sz="1400">
                <a:solidFill>
                  <a:srgbClr val="1A1A1A"/>
                </a:solidFill>
              </a:rPr>
              <a:t>•  e-banking / wallets (eSewa, Khalti, mobile banking) need a law that makes a digital transaction binding.</a:t>
            </a:r>
          </a:p>
          <a:p>
            <a:pPr>
              <a:spcAft>
                <a:spcPts val="600"/>
              </a:spcAft>
            </a:pPr>
            <a:r>
              <a:rPr sz="1400">
                <a:solidFill>
                  <a:srgbClr val="1A1A1A"/>
                </a:solidFill>
              </a:rPr>
              <a:t>•  e-governance (online PAN, Nagarik App, e-services) needs digitally signed records to count in law.</a:t>
            </a:r>
          </a:p>
          <a:p>
            <a:pPr>
              <a:spcAft>
                <a:spcPts val="600"/>
              </a:spcAft>
            </a:pPr>
            <a:r>
              <a:rPr sz="1400">
                <a:solidFill>
                  <a:srgbClr val="1A1A1A"/>
                </a:solidFill>
              </a:rPr>
              <a:t>•  e-commerce (Daraz, online contracts) needs an emailed/e-signed agreement to be enforceable.</a:t>
            </a:r>
          </a:p>
          <a:p>
            <a:pPr>
              <a:spcAft>
                <a:spcPts val="600"/>
              </a:spcAft>
            </a:pPr>
            <a:r>
              <a:rPr sz="1400">
                <a:solidFill>
                  <a:srgbClr val="1A1A1A"/>
                </a:solidFill>
              </a:rPr>
              <a:t>•  Rising online crime (fraud, fake profiles, defamation) needs offences and a body to investigate.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No cyber law = a digital signature is 'just a picture' and a hacker breaks no named law.</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 / 68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2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 services in Nepal — what each needs from cyber law</a:t>
            </a:r>
          </a:p>
        </p:txBody>
      </p:sp>
      <p:graphicFrame>
        <p:nvGraphicFramePr>
          <p:cNvPr id="5" name="Table 4"/>
          <p:cNvGraphicFramePr>
            <a:graphicFrameLocks noGrp="1"/>
          </p:cNvGraphicFramePr>
          <p:nvPr/>
        </p:nvGraphicFramePr>
        <p:xfrm>
          <a:off x="384048" y="1572768"/>
          <a:ext cx="11429997" cy="4416552"/>
        </p:xfrm>
        <a:graphic>
          <a:graphicData uri="http://schemas.openxmlformats.org/drawingml/2006/table">
            <a:tbl>
              <a:tblPr>
                <a:tableStyleId>{5C22544A-7EE6-4342-B048-85BDC9FD1C3A}</a:tableStyleId>
              </a:tblPr>
              <a:tblGrid>
                <a:gridCol w="3505199"/>
                <a:gridCol w="3962399"/>
                <a:gridCol w="3962399"/>
              </a:tblGrid>
              <a:tr h="630936">
                <a:tc>
                  <a:txBody>
                    <a:bodyPr wrap="square"/>
                    <a:lstStyle/>
                    <a:p>
                      <a:r>
                        <a:rPr sz="1150" b="1">
                          <a:solidFill>
                            <a:srgbClr val="FFFFFF"/>
                          </a:solidFill>
                        </a:rPr>
                        <a:t>Digital service (Nepal)</a:t>
                      </a:r>
                    </a:p>
                  </a:txBody>
                  <a:tcPr anchor="ctr" marL="73152" marR="54864" marT="27432" marB="27432">
                    <a:solidFill>
                      <a:srgbClr val="0C2B4A"/>
                    </a:solidFill>
                  </a:tcPr>
                </a:tc>
                <a:tc>
                  <a:txBody>
                    <a:bodyPr wrap="square"/>
                    <a:lstStyle/>
                    <a:p>
                      <a:r>
                        <a:rPr sz="1150" b="1">
                          <a:solidFill>
                            <a:srgbClr val="FFFFFF"/>
                          </a:solidFill>
                        </a:rPr>
                        <a:t>What it needs from cyber law</a:t>
                      </a:r>
                    </a:p>
                  </a:txBody>
                  <a:tcPr anchor="ctr" marL="73152" marR="54864" marT="27432" marB="27432">
                    <a:solidFill>
                      <a:srgbClr val="0C2B4A"/>
                    </a:solidFill>
                  </a:tcPr>
                </a:tc>
                <a:tc>
                  <a:txBody>
                    <a:bodyPr wrap="square"/>
                    <a:lstStyle/>
                    <a:p>
                      <a:r>
                        <a:rPr sz="1150" b="1">
                          <a:solidFill>
                            <a:srgbClr val="FFFFFF"/>
                          </a:solidFill>
                        </a:rPr>
                        <a:t>Consequence if there were NO law</a:t>
                      </a:r>
                    </a:p>
                  </a:txBody>
                  <a:tcPr anchor="ctr" marL="73152" marR="54864" marT="27432" marB="27432">
                    <a:solidFill>
                      <a:srgbClr val="0C2B4A"/>
                    </a:solidFill>
                  </a:tcPr>
                </a:tc>
              </a:tr>
              <a:tr h="630936">
                <a:tc>
                  <a:txBody>
                    <a:bodyPr wrap="square"/>
                    <a:lstStyle/>
                    <a:p>
                      <a:r>
                        <a:rPr sz="1100" b="1">
                          <a:solidFill>
                            <a:srgbClr val="0C2B4A"/>
                          </a:solidFill>
                        </a:rPr>
                        <a:t>eSewa / Khalti wallet payment</a:t>
                      </a:r>
                    </a:p>
                  </a:txBody>
                  <a:tcPr anchor="ctr" marL="73152" marR="54864" marT="27432" marB="27432">
                    <a:solidFill>
                      <a:srgbClr val="FFFFFF"/>
                    </a:solidFill>
                  </a:tcPr>
                </a:tc>
                <a:tc>
                  <a:txBody>
                    <a:bodyPr wrap="square"/>
                    <a:lstStyle/>
                    <a:p>
                      <a:r>
                        <a:rPr sz="1100">
                          <a:solidFill>
                            <a:srgbClr val="1A1A1A"/>
                          </a:solidFill>
                        </a:rPr>
                        <a:t>A digital transaction that is legally binding</a:t>
                      </a:r>
                    </a:p>
                  </a:txBody>
                  <a:tcPr anchor="ctr" marL="73152" marR="54864" marT="27432" marB="27432">
                    <a:solidFill>
                      <a:srgbClr val="FFFFFF"/>
                    </a:solidFill>
                  </a:tcPr>
                </a:tc>
                <a:tc>
                  <a:txBody>
                    <a:bodyPr wrap="square"/>
                    <a:lstStyle/>
                    <a:p>
                      <a:r>
                        <a:rPr sz="1100">
                          <a:solidFill>
                            <a:srgbClr val="1A1A1A"/>
                          </a:solidFill>
                        </a:rPr>
                        <a:t>A disputed payment has no legal standing</a:t>
                      </a:r>
                    </a:p>
                  </a:txBody>
                  <a:tcPr anchor="ctr" marL="73152" marR="54864" marT="27432" marB="27432">
                    <a:solidFill>
                      <a:srgbClr val="FFFFFF"/>
                    </a:solidFill>
                  </a:tcPr>
                </a:tc>
              </a:tr>
              <a:tr h="630936">
                <a:tc>
                  <a:txBody>
                    <a:bodyPr wrap="square"/>
                    <a:lstStyle/>
                    <a:p>
                      <a:r>
                        <a:rPr sz="1100" b="1">
                          <a:solidFill>
                            <a:srgbClr val="0C2B4A"/>
                          </a:solidFill>
                        </a:rPr>
                        <a:t>Mobile / internet banking transfer</a:t>
                      </a:r>
                    </a:p>
                  </a:txBody>
                  <a:tcPr anchor="ctr" marL="73152" marR="54864" marT="27432" marB="27432">
                    <a:solidFill>
                      <a:srgbClr val="EEF3F8"/>
                    </a:solidFill>
                  </a:tcPr>
                </a:tc>
                <a:tc>
                  <a:txBody>
                    <a:bodyPr wrap="square"/>
                    <a:lstStyle/>
                    <a:p>
                      <a:r>
                        <a:rPr sz="1100">
                          <a:solidFill>
                            <a:srgbClr val="1A1A1A"/>
                          </a:solidFill>
                        </a:rPr>
                        <a:t>Electronic records accepted as proof</a:t>
                      </a:r>
                    </a:p>
                  </a:txBody>
                  <a:tcPr anchor="ctr" marL="73152" marR="54864" marT="27432" marB="27432">
                    <a:solidFill>
                      <a:srgbClr val="EEF3F8"/>
                    </a:solidFill>
                  </a:tcPr>
                </a:tc>
                <a:tc>
                  <a:txBody>
                    <a:bodyPr wrap="square"/>
                    <a:lstStyle/>
                    <a:p>
                      <a:r>
                        <a:rPr sz="1100">
                          <a:solidFill>
                            <a:srgbClr val="1A1A1A"/>
                          </a:solidFill>
                        </a:rPr>
                        <a:t>Bank &amp; customer can't prove what happened</a:t>
                      </a:r>
                    </a:p>
                  </a:txBody>
                  <a:tcPr anchor="ctr" marL="73152" marR="54864" marT="27432" marB="27432">
                    <a:solidFill>
                      <a:srgbClr val="EEF3F8"/>
                    </a:solidFill>
                  </a:tcPr>
                </a:tc>
              </a:tr>
              <a:tr h="630936">
                <a:tc>
                  <a:txBody>
                    <a:bodyPr wrap="square"/>
                    <a:lstStyle/>
                    <a:p>
                      <a:r>
                        <a:rPr sz="1100" b="1">
                          <a:solidFill>
                            <a:srgbClr val="0C2B4A"/>
                          </a:solidFill>
                        </a:rPr>
                        <a:t>Online PAN / Nagarik App e-service</a:t>
                      </a:r>
                    </a:p>
                  </a:txBody>
                  <a:tcPr anchor="ctr" marL="73152" marR="54864" marT="27432" marB="27432">
                    <a:solidFill>
                      <a:srgbClr val="FFFFFF"/>
                    </a:solidFill>
                  </a:tcPr>
                </a:tc>
                <a:tc>
                  <a:txBody>
                    <a:bodyPr wrap="square"/>
                    <a:lstStyle/>
                    <a:p>
                      <a:r>
                        <a:rPr sz="1100">
                          <a:solidFill>
                            <a:srgbClr val="1A1A1A"/>
                          </a:solidFill>
                        </a:rPr>
                        <a:t>Digitally signed records that count in law</a:t>
                      </a:r>
                    </a:p>
                  </a:txBody>
                  <a:tcPr anchor="ctr" marL="73152" marR="54864" marT="27432" marB="27432">
                    <a:solidFill>
                      <a:srgbClr val="FFFFFF"/>
                    </a:solidFill>
                  </a:tcPr>
                </a:tc>
                <a:tc>
                  <a:txBody>
                    <a:bodyPr wrap="square"/>
                    <a:lstStyle/>
                    <a:p>
                      <a:r>
                        <a:rPr sz="1100">
                          <a:solidFill>
                            <a:srgbClr val="1A1A1A"/>
                          </a:solidFill>
                        </a:rPr>
                        <a:t>Citizens still forced to use paper &amp; queues</a:t>
                      </a:r>
                    </a:p>
                  </a:txBody>
                  <a:tcPr anchor="ctr" marL="73152" marR="54864" marT="27432" marB="27432">
                    <a:solidFill>
                      <a:srgbClr val="FFFFFF"/>
                    </a:solidFill>
                  </a:tcPr>
                </a:tc>
              </a:tr>
              <a:tr h="630936">
                <a:tc>
                  <a:txBody>
                    <a:bodyPr wrap="square"/>
                    <a:lstStyle/>
                    <a:p>
                      <a:r>
                        <a:rPr sz="1100" b="1">
                          <a:solidFill>
                            <a:srgbClr val="0C2B4A"/>
                          </a:solidFill>
                        </a:rPr>
                        <a:t>Emailed &amp; e-signed business contract</a:t>
                      </a:r>
                    </a:p>
                  </a:txBody>
                  <a:tcPr anchor="ctr" marL="73152" marR="54864" marT="27432" marB="27432">
                    <a:solidFill>
                      <a:srgbClr val="EEF3F8"/>
                    </a:solidFill>
                  </a:tcPr>
                </a:tc>
                <a:tc>
                  <a:txBody>
                    <a:bodyPr wrap="square"/>
                    <a:lstStyle/>
                    <a:p>
                      <a:r>
                        <a:rPr sz="1100">
                          <a:solidFill>
                            <a:srgbClr val="1A1A1A"/>
                          </a:solidFill>
                        </a:rPr>
                        <a:t>Recognition of e-signatures = enforceable</a:t>
                      </a:r>
                    </a:p>
                  </a:txBody>
                  <a:tcPr anchor="ctr" marL="73152" marR="54864" marT="27432" marB="27432">
                    <a:solidFill>
                      <a:srgbClr val="EEF3F8"/>
                    </a:solidFill>
                  </a:tcPr>
                </a:tc>
                <a:tc>
                  <a:txBody>
                    <a:bodyPr wrap="square"/>
                    <a:lstStyle/>
                    <a:p>
                      <a:r>
                        <a:rPr sz="1100">
                          <a:solidFill>
                            <a:srgbClr val="1A1A1A"/>
                          </a:solidFill>
                        </a:rPr>
                        <a:t>'It was only an email' — unenforceable deal</a:t>
                      </a:r>
                    </a:p>
                  </a:txBody>
                  <a:tcPr anchor="ctr" marL="73152" marR="54864" marT="27432" marB="27432">
                    <a:solidFill>
                      <a:srgbClr val="EEF3F8"/>
                    </a:solidFill>
                  </a:tcPr>
                </a:tc>
              </a:tr>
              <a:tr h="630936">
                <a:tc>
                  <a:txBody>
                    <a:bodyPr wrap="square"/>
                    <a:lstStyle/>
                    <a:p>
                      <a:r>
                        <a:rPr sz="1100" b="1">
                          <a:solidFill>
                            <a:srgbClr val="0C2B4A"/>
                          </a:solidFill>
                        </a:rPr>
                        <a:t>Daraz / online purchase</a:t>
                      </a:r>
                    </a:p>
                  </a:txBody>
                  <a:tcPr anchor="ctr" marL="73152" marR="54864" marT="27432" marB="27432">
                    <a:solidFill>
                      <a:srgbClr val="FFFFFF"/>
                    </a:solidFill>
                  </a:tcPr>
                </a:tc>
                <a:tc>
                  <a:txBody>
                    <a:bodyPr wrap="square"/>
                    <a:lstStyle/>
                    <a:p>
                      <a:r>
                        <a:rPr sz="1100">
                          <a:solidFill>
                            <a:srgbClr val="1A1A1A"/>
                          </a:solidFill>
                        </a:rPr>
                        <a:t>Consumer &amp; transaction rules online</a:t>
                      </a:r>
                    </a:p>
                  </a:txBody>
                  <a:tcPr anchor="ctr" marL="73152" marR="54864" marT="27432" marB="27432">
                    <a:solidFill>
                      <a:srgbClr val="FFFFFF"/>
                    </a:solidFill>
                  </a:tcPr>
                </a:tc>
                <a:tc>
                  <a:txBody>
                    <a:bodyPr wrap="square"/>
                    <a:lstStyle/>
                    <a:p>
                      <a:r>
                        <a:rPr sz="1100">
                          <a:solidFill>
                            <a:srgbClr val="1A1A1A"/>
                          </a:solidFill>
                        </a:rPr>
                        <a:t>No remedy for online fraud or non-delivery</a:t>
                      </a:r>
                    </a:p>
                  </a:txBody>
                  <a:tcPr anchor="ctr" marL="73152" marR="54864" marT="27432" marB="27432">
                    <a:solidFill>
                      <a:srgbClr val="FFFFFF"/>
                    </a:solidFill>
                  </a:tcPr>
                </a:tc>
              </a:tr>
              <a:tr h="630936">
                <a:tc>
                  <a:txBody>
                    <a:bodyPr wrap="square"/>
                    <a:lstStyle/>
                    <a:p>
                      <a:r>
                        <a:rPr sz="1100" b="1">
                          <a:solidFill>
                            <a:srgbClr val="0C2B4A"/>
                          </a:solidFill>
                        </a:rPr>
                        <a:t>Fake profile impersonating you</a:t>
                      </a:r>
                    </a:p>
                  </a:txBody>
                  <a:tcPr anchor="ctr" marL="73152" marR="54864" marT="27432" marB="27432">
                    <a:solidFill>
                      <a:srgbClr val="EEF3F8"/>
                    </a:solidFill>
                  </a:tcPr>
                </a:tc>
                <a:tc>
                  <a:txBody>
                    <a:bodyPr wrap="square"/>
                    <a:lstStyle/>
                    <a:p>
                      <a:r>
                        <a:rPr sz="1100">
                          <a:solidFill>
                            <a:srgbClr val="1A1A1A"/>
                          </a:solidFill>
                        </a:rPr>
                        <a:t>A named offence + a body to investigate</a:t>
                      </a:r>
                    </a:p>
                  </a:txBody>
                  <a:tcPr anchor="ctr" marL="73152" marR="54864" marT="27432" marB="27432">
                    <a:solidFill>
                      <a:srgbClr val="EEF3F8"/>
                    </a:solidFill>
                  </a:tcPr>
                </a:tc>
                <a:tc>
                  <a:txBody>
                    <a:bodyPr wrap="square"/>
                    <a:lstStyle/>
                    <a:p>
                      <a:r>
                        <a:rPr sz="1100">
                          <a:solidFill>
                            <a:srgbClr val="1A1A1A"/>
                          </a:solidFill>
                        </a:rPr>
                        <a:t>Impersonation &amp; harassment go unpunished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Every one of these services in Nepal rests on a law that makes digital records/signatures valid AND punishes digital crime — that is exactly why the ETA was enacted.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 / 68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Nepal Needs Cyber Law</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When you top up via eSewa, log into mobile banking, get a digital PAN, or accept online terms, the ETA 2063 is what makes that digital act legally binding. As Nepal digitised banking, government services, and commerce, a law was needed so a digital signature/record carries the same weight as ink on paper — and so digital crime has consequences.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"Going digital is just about convenience/technology, not law." Every digital transaction needs a legal backbone: without a law giving e-records and e-signatures validity, an online contract or payment can't be trusted or enforced, and a hacker or fraudster breaks no named offence. Law is what makes 'digital' trustworthy.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Nepal needs cyber law because e-banking, e-commerce, e-governance and social media have made digital acts central to daily life. Cyber law does two jobs: it gives electronic records and digital signatures the same legal validity as paper (so they can be trusted and enforced), and it criminalises digital crime that paper-era law could not name — the exact rationale behind the ETA 2063.</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why cyber law · legal validity of e-records/signatures · e-banking/e-gov/e-commerce · punish digital crime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 / 68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Cybercrime: Computer as Target vs Tool</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cybercrime is an offence in which a computer or network is either the TARGET (attacked) or the TOOL (used to commit the crime). This split is the cleanest way to classify the offences Nepali law recognises — and it decides how the act is understood.</a:t>
            </a:r>
          </a:p>
          <a:p>
            <a:pPr>
              <a:spcAft>
                <a:spcPts val="500"/>
              </a:spcAft>
            </a:pPr>
            <a:r>
              <a:rPr sz="1200" b="1">
                <a:solidFill>
                  <a:srgbClr val="185FA5"/>
                </a:solidFill>
              </a:rPr>
              <a:t>HOW IT WORKS</a:t>
            </a:r>
          </a:p>
          <a:p>
            <a:pPr>
              <a:spcAft>
                <a:spcPts val="600"/>
              </a:spcAft>
            </a:pPr>
            <a:r>
              <a:rPr sz="1400">
                <a:solidFill>
                  <a:srgbClr val="1A1A1A"/>
                </a:solidFill>
              </a:rPr>
              <a:t>•  TARGET crimes: the computer is the victim — hacking/unauthorised access, source-code damage, data theft, DoS.</a:t>
            </a:r>
          </a:p>
          <a:p>
            <a:pPr>
              <a:spcAft>
                <a:spcPts val="600"/>
              </a:spcAft>
            </a:pPr>
            <a:r>
              <a:rPr sz="1400">
                <a:solidFill>
                  <a:srgbClr val="1A1A1A"/>
                </a:solidFill>
              </a:rPr>
              <a:t>•  TOOL crimes: the computer is the weapon against a person — online fraud, cyber-defamation, harassment, fake profiles.</a:t>
            </a:r>
          </a:p>
          <a:p>
            <a:pPr>
              <a:spcAft>
                <a:spcPts val="600"/>
              </a:spcAft>
            </a:pPr>
            <a:r>
              <a:rPr sz="1400">
                <a:solidFill>
                  <a:srgbClr val="1A1A1A"/>
                </a:solidFill>
              </a:rPr>
              <a:t>•  Nepal recognises both, mainly under the ETA plus the Criminal Code 2074 and Privacy Act 2075.</a:t>
            </a:r>
          </a:p>
          <a:p>
            <a:pPr>
              <a:spcAft>
                <a:spcPts val="600"/>
              </a:spcAft>
            </a:pPr>
            <a:r>
              <a:rPr sz="1400">
                <a:solidFill>
                  <a:srgbClr val="1A1A1A"/>
                </a:solidFill>
              </a:rPr>
              <a:t>•  Fake social-media accounts &amp; cyber-defamation are the single largest category the Cyber Bureau handles.</a:t>
            </a:r>
          </a:p>
        </p:txBody>
      </p:sp>
      <p:pic>
        <p:nvPicPr>
          <p:cNvPr id="6" name="Picture 5" descr="s45_targettool.png"/>
          <p:cNvPicPr>
            <a:picLocks noChangeAspect="1"/>
          </p:cNvPicPr>
          <p:nvPr/>
        </p:nvPicPr>
        <p:blipFill>
          <a:blip r:embed="rId2"/>
          <a:stretch>
            <a:fillRect/>
          </a:stretch>
        </p:blipFill>
        <p:spPr>
          <a:xfrm>
            <a:off x="6355080" y="2513446"/>
            <a:ext cx="5532120" cy="2608346"/>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Target = the computer is the victim. Tool = the computer is the weapon.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11 / 68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3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Cybercrimes recognised in Nepal — target or tool, and the response</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286250"/>
                <a:gridCol w="2381250"/>
                <a:gridCol w="4762500"/>
              </a:tblGrid>
              <a:tr h="630936">
                <a:tc>
                  <a:txBody>
                    <a:bodyPr wrap="square"/>
                    <a:lstStyle/>
                    <a:p>
                      <a:r>
                        <a:rPr sz="1150" b="1">
                          <a:solidFill>
                            <a:srgbClr val="FFFFFF"/>
                          </a:solidFill>
                        </a:rPr>
                        <a:t>Cybercrime (Nepal example)</a:t>
                      </a:r>
                    </a:p>
                  </a:txBody>
                  <a:tcPr anchor="ctr" marL="73152" marR="54864" marT="27432" marB="27432">
                    <a:solidFill>
                      <a:srgbClr val="0C2B4A"/>
                    </a:solidFill>
                  </a:tcPr>
                </a:tc>
                <a:tc>
                  <a:txBody>
                    <a:bodyPr wrap="square"/>
                    <a:lstStyle/>
                    <a:p>
                      <a:r>
                        <a:rPr sz="1150" b="1">
                          <a:solidFill>
                            <a:srgbClr val="FFFFFF"/>
                          </a:solidFill>
                        </a:rPr>
                        <a:t>Target or tool?</a:t>
                      </a:r>
                    </a:p>
                  </a:txBody>
                  <a:tcPr anchor="ctr" marL="73152" marR="54864" marT="27432" marB="27432">
                    <a:solidFill>
                      <a:srgbClr val="0C2B4A"/>
                    </a:solidFill>
                  </a:tcPr>
                </a:tc>
                <a:tc>
                  <a:txBody>
                    <a:bodyPr wrap="square"/>
                    <a:lstStyle/>
                    <a:p>
                      <a:r>
                        <a:rPr sz="1150" b="1">
                          <a:solidFill>
                            <a:srgbClr val="FFFFFF"/>
                          </a:solidFill>
                        </a:rPr>
                        <a:t>Typical legal response / consequence</a:t>
                      </a:r>
                    </a:p>
                  </a:txBody>
                  <a:tcPr anchor="ctr" marL="73152" marR="54864" marT="27432" marB="27432">
                    <a:solidFill>
                      <a:srgbClr val="0C2B4A"/>
                    </a:solidFill>
                  </a:tcPr>
                </a:tc>
              </a:tr>
              <a:tr h="630936">
                <a:tc>
                  <a:txBody>
                    <a:bodyPr wrap="square"/>
                    <a:lstStyle/>
                    <a:p>
                      <a:r>
                        <a:rPr sz="1100" b="1">
                          <a:solidFill>
                            <a:srgbClr val="0C2B4A"/>
                          </a:solidFill>
                        </a:rPr>
                        <a:t>Unauthorised access / hacking a server</a:t>
                      </a:r>
                    </a:p>
                  </a:txBody>
                  <a:tcPr anchor="ctr" marL="73152" marR="54864" marT="27432" marB="27432">
                    <a:solidFill>
                      <a:srgbClr val="FFFFFF"/>
                    </a:solidFill>
                  </a:tcPr>
                </a:tc>
                <a:tc>
                  <a:txBody>
                    <a:bodyPr wrap="square"/>
                    <a:lstStyle/>
                    <a:p>
                      <a:r>
                        <a:rPr sz="1100">
                          <a:solidFill>
                            <a:srgbClr val="1A1A1A"/>
                          </a:solidFill>
                        </a:rPr>
                        <a:t>Target</a:t>
                      </a:r>
                    </a:p>
                  </a:txBody>
                  <a:tcPr anchor="ctr" marL="73152" marR="54864" marT="27432" marB="27432">
                    <a:solidFill>
                      <a:srgbClr val="FFFFFF"/>
                    </a:solidFill>
                  </a:tcPr>
                </a:tc>
                <a:tc>
                  <a:txBody>
                    <a:bodyPr wrap="square"/>
                    <a:lstStyle/>
                    <a:p>
                      <a:r>
                        <a:rPr sz="1100">
                          <a:solidFill>
                            <a:srgbClr val="1A1A1A"/>
                          </a:solidFill>
                        </a:rPr>
                        <a:t>ETA computer-offence; investigated by Cyber Bureau</a:t>
                      </a:r>
                    </a:p>
                  </a:txBody>
                  <a:tcPr anchor="ctr" marL="73152" marR="54864" marT="27432" marB="27432">
                    <a:solidFill>
                      <a:srgbClr val="FFFFFF"/>
                    </a:solidFill>
                  </a:tcPr>
                </a:tc>
              </a:tr>
              <a:tr h="630936">
                <a:tc>
                  <a:txBody>
                    <a:bodyPr wrap="square"/>
                    <a:lstStyle/>
                    <a:p>
                      <a:r>
                        <a:rPr sz="1100" b="1">
                          <a:solidFill>
                            <a:srgbClr val="0C2B4A"/>
                          </a:solidFill>
                        </a:rPr>
                        <a:t>Deleting or altering computer source code</a:t>
                      </a:r>
                    </a:p>
                  </a:txBody>
                  <a:tcPr anchor="ctr" marL="73152" marR="54864" marT="27432" marB="27432">
                    <a:solidFill>
                      <a:srgbClr val="EEF3F8"/>
                    </a:solidFill>
                  </a:tcPr>
                </a:tc>
                <a:tc>
                  <a:txBody>
                    <a:bodyPr wrap="square"/>
                    <a:lstStyle/>
                    <a:p>
                      <a:r>
                        <a:rPr sz="1100">
                          <a:solidFill>
                            <a:srgbClr val="1A1A1A"/>
                          </a:solidFill>
                        </a:rPr>
                        <a:t>Target</a:t>
                      </a:r>
                    </a:p>
                  </a:txBody>
                  <a:tcPr anchor="ctr" marL="73152" marR="54864" marT="27432" marB="27432">
                    <a:solidFill>
                      <a:srgbClr val="EEF3F8"/>
                    </a:solidFill>
                  </a:tcPr>
                </a:tc>
                <a:tc>
                  <a:txBody>
                    <a:bodyPr wrap="square"/>
                    <a:lstStyle/>
                    <a:p>
                      <a:r>
                        <a:rPr sz="1100">
                          <a:solidFill>
                            <a:srgbClr val="1A1A1A"/>
                          </a:solidFill>
                        </a:rPr>
                        <a:t>ETA offence — damage to computer source code</a:t>
                      </a:r>
                    </a:p>
                  </a:txBody>
                  <a:tcPr anchor="ctr" marL="73152" marR="54864" marT="27432" marB="27432">
                    <a:solidFill>
                      <a:srgbClr val="EEF3F8"/>
                    </a:solidFill>
                  </a:tcPr>
                </a:tc>
              </a:tr>
              <a:tr h="630936">
                <a:tc>
                  <a:txBody>
                    <a:bodyPr wrap="square"/>
                    <a:lstStyle/>
                    <a:p>
                      <a:r>
                        <a:rPr sz="1100" b="1">
                          <a:solidFill>
                            <a:srgbClr val="0C2B4A"/>
                          </a:solidFill>
                        </a:rPr>
                        <a:t>Stealing a customer database (data breach)</a:t>
                      </a:r>
                    </a:p>
                  </a:txBody>
                  <a:tcPr anchor="ctr" marL="73152" marR="54864" marT="27432" marB="27432">
                    <a:solidFill>
                      <a:srgbClr val="FFFFFF"/>
                    </a:solidFill>
                  </a:tcPr>
                </a:tc>
                <a:tc>
                  <a:txBody>
                    <a:bodyPr wrap="square"/>
                    <a:lstStyle/>
                    <a:p>
                      <a:r>
                        <a:rPr sz="1100">
                          <a:solidFill>
                            <a:srgbClr val="1A1A1A"/>
                          </a:solidFill>
                        </a:rPr>
                        <a:t>Target</a:t>
                      </a:r>
                    </a:p>
                  </a:txBody>
                  <a:tcPr anchor="ctr" marL="73152" marR="54864" marT="27432" marB="27432">
                    <a:solidFill>
                      <a:srgbClr val="FFFFFF"/>
                    </a:solidFill>
                  </a:tcPr>
                </a:tc>
                <a:tc>
                  <a:txBody>
                    <a:bodyPr wrap="square"/>
                    <a:lstStyle/>
                    <a:p>
                      <a:r>
                        <a:rPr sz="1100">
                          <a:solidFill>
                            <a:srgbClr val="1A1A1A"/>
                          </a:solidFill>
                        </a:rPr>
                        <a:t>ETA + Privacy Act 2075; breach of confidentiality</a:t>
                      </a:r>
                    </a:p>
                  </a:txBody>
                  <a:tcPr anchor="ctr" marL="73152" marR="54864" marT="27432" marB="27432">
                    <a:solidFill>
                      <a:srgbClr val="FFFFFF"/>
                    </a:solidFill>
                  </a:tcPr>
                </a:tc>
              </a:tr>
              <a:tr h="630936">
                <a:tc>
                  <a:txBody>
                    <a:bodyPr wrap="square"/>
                    <a:lstStyle/>
                    <a:p>
                      <a:r>
                        <a:rPr sz="1100" b="1">
                          <a:solidFill>
                            <a:srgbClr val="0C2B4A"/>
                          </a:solidFill>
                        </a:rPr>
                        <a:t>Online payment / wallet fraud</a:t>
                      </a:r>
                    </a:p>
                  </a:txBody>
                  <a:tcPr anchor="ctr" marL="73152" marR="54864" marT="27432" marB="27432">
                    <a:solidFill>
                      <a:srgbClr val="EEF3F8"/>
                    </a:solidFill>
                  </a:tcPr>
                </a:tc>
                <a:tc>
                  <a:txBody>
                    <a:bodyPr wrap="square"/>
                    <a:lstStyle/>
                    <a:p>
                      <a:r>
                        <a:rPr sz="1100">
                          <a:solidFill>
                            <a:srgbClr val="1A1A1A"/>
                          </a:solidFill>
                        </a:rPr>
                        <a:t>Tool</a:t>
                      </a:r>
                    </a:p>
                  </a:txBody>
                  <a:tcPr anchor="ctr" marL="73152" marR="54864" marT="27432" marB="27432">
                    <a:solidFill>
                      <a:srgbClr val="EEF3F8"/>
                    </a:solidFill>
                  </a:tcPr>
                </a:tc>
                <a:tc>
                  <a:txBody>
                    <a:bodyPr wrap="square"/>
                    <a:lstStyle/>
                    <a:p>
                      <a:r>
                        <a:rPr sz="1100">
                          <a:solidFill>
                            <a:srgbClr val="1A1A1A"/>
                          </a:solidFill>
                        </a:rPr>
                        <a:t>Fraud offence; Cyber Bureau traces the money trail</a:t>
                      </a:r>
                    </a:p>
                  </a:txBody>
                  <a:tcPr anchor="ctr" marL="73152" marR="54864" marT="27432" marB="27432">
                    <a:solidFill>
                      <a:srgbClr val="EEF3F8"/>
                    </a:solidFill>
                  </a:tcPr>
                </a:tc>
              </a:tr>
              <a:tr h="630936">
                <a:tc>
                  <a:txBody>
                    <a:bodyPr wrap="square"/>
                    <a:lstStyle/>
                    <a:p>
                      <a:r>
                        <a:rPr sz="1100" b="1">
                          <a:solidFill>
                            <a:srgbClr val="0C2B4A"/>
                          </a:solidFill>
                        </a:rPr>
                        <a:t>Fake profile impersonating a person</a:t>
                      </a:r>
                    </a:p>
                  </a:txBody>
                  <a:tcPr anchor="ctr" marL="73152" marR="54864" marT="27432" marB="27432">
                    <a:solidFill>
                      <a:srgbClr val="FFFFFF"/>
                    </a:solidFill>
                  </a:tcPr>
                </a:tc>
                <a:tc>
                  <a:txBody>
                    <a:bodyPr wrap="square"/>
                    <a:lstStyle/>
                    <a:p>
                      <a:r>
                        <a:rPr sz="1100">
                          <a:solidFill>
                            <a:srgbClr val="1A1A1A"/>
                          </a:solidFill>
                        </a:rPr>
                        <a:t>Tool</a:t>
                      </a:r>
                    </a:p>
                  </a:txBody>
                  <a:tcPr anchor="ctr" marL="73152" marR="54864" marT="27432" marB="27432">
                    <a:solidFill>
                      <a:srgbClr val="FFFFFF"/>
                    </a:solidFill>
                  </a:tcPr>
                </a:tc>
                <a:tc>
                  <a:txBody>
                    <a:bodyPr wrap="square"/>
                    <a:lstStyle/>
                    <a:p>
                      <a:r>
                        <a:rPr sz="1100">
                          <a:solidFill>
                            <a:srgbClr val="1A1A1A"/>
                          </a:solidFill>
                        </a:rPr>
                        <a:t>Impersonation/defamation complaint under the ETA</a:t>
                      </a:r>
                    </a:p>
                  </a:txBody>
                  <a:tcPr anchor="ctr" marL="73152" marR="54864" marT="27432" marB="27432">
                    <a:solidFill>
                      <a:srgbClr val="FFFFFF"/>
                    </a:solidFill>
                  </a:tcPr>
                </a:tc>
              </a:tr>
              <a:tr h="630936">
                <a:tc>
                  <a:txBody>
                    <a:bodyPr wrap="square"/>
                    <a:lstStyle/>
                    <a:p>
                      <a:r>
                        <a:rPr sz="1100" b="1">
                          <a:solidFill>
                            <a:srgbClr val="0C2B4A"/>
                          </a:solidFill>
                        </a:rPr>
                        <a:t>Defamatory or obscene post targeting someone</a:t>
                      </a:r>
                    </a:p>
                  </a:txBody>
                  <a:tcPr anchor="ctr" marL="73152" marR="54864" marT="27432" marB="27432">
                    <a:solidFill>
                      <a:srgbClr val="EEF3F8"/>
                    </a:solidFill>
                  </a:tcPr>
                </a:tc>
                <a:tc>
                  <a:txBody>
                    <a:bodyPr wrap="square"/>
                    <a:lstStyle/>
                    <a:p>
                      <a:r>
                        <a:rPr sz="1100">
                          <a:solidFill>
                            <a:srgbClr val="1A1A1A"/>
                          </a:solidFill>
                        </a:rPr>
                        <a:t>Tool</a:t>
                      </a:r>
                    </a:p>
                  </a:txBody>
                  <a:tcPr anchor="ctr" marL="73152" marR="54864" marT="27432" marB="27432">
                    <a:solidFill>
                      <a:srgbClr val="EEF3F8"/>
                    </a:solidFill>
                  </a:tcPr>
                </a:tc>
                <a:tc>
                  <a:txBody>
                    <a:bodyPr wrap="square"/>
                    <a:lstStyle/>
                    <a:p>
                      <a:r>
                        <a:rPr sz="1100">
                          <a:solidFill>
                            <a:srgbClr val="1A1A1A"/>
                          </a:solidFill>
                        </a:rPr>
                        <a:t>ETA e-publication offence — but free-speech debate (S46)</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If the computer is the victim it's a TARGET crime; if it's the weapon against a person, a TOOL crime. ⚠️ Legal specifics (section numbers, penalties, dates) are ILLUSTRATIVE of the framework and its debate — verify against the current official Nepali text (Nepal Law Commission / Gazette) before relying on them.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 / 68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Cybercrime: Computer as Target vs Tool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Fake social-media accounts and cyber-defamation are, by volume, the single largest category the Nepal Police Cyber Bureau (established 2018, Bhotahiti, Kathmandu) handles — classic TOOL crimes where the computer is a weapon against a person. Hacking a bank server, by contrast, is a TARGET crime where the computer itself is the victim.</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"Cybercrime just means hacking." Hacking is only the TARGET half. Most real Nepali cases are TOOL crimes — fraud, fake profiles, defamation, harassment — where the computer is the weapon, not the victim. Classifying an incident as target vs tool is the first step to naming the right offence.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cybercrime is an offence where a computer/network is the TARGET (attacked — hacking, source-code damage, data theft, DoS) or the TOOL (used against a person — online fraud, cyber-defamation, harassment, fake profiles). Nepal recognises both, mainly under the ETA plus the Criminal Code 2074 and Privacy Act 2075; fake profiles and cyber-defamation are the largest category the Cyber Bureau handles.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cybercrime · target vs tool · hacking/data theft vs fraud/defamation · Cyber Bureau (2018) · ETA + related laws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13 / 68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Reporting Cybercrime · The Cyber Bureau Path</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When you are impersonated, harassed, hacked, or defrauded online in Nepal, there is a defined path: preserve evidence, file a complaint with the Nepal Police Cyber Bureau (or local police), and the case is investigated and prosecuted under the ETA. Knowing this path is practical citizenship — the analogy: cyber law needs a new 'traffic police' for a new road.</a:t>
            </a:r>
          </a:p>
          <a:p>
            <a:pPr>
              <a:spcAft>
                <a:spcPts val="500"/>
              </a:spcAft>
            </a:pPr>
            <a:r>
              <a:rPr sz="1200" b="1">
                <a:solidFill>
                  <a:srgbClr val="185FA5"/>
                </a:solidFill>
              </a:rPr>
              <a:t>HOW IT WORKS</a:t>
            </a:r>
          </a:p>
          <a:p>
            <a:pPr>
              <a:spcAft>
                <a:spcPts val="600"/>
              </a:spcAft>
            </a:pPr>
            <a:r>
              <a:rPr sz="1400">
                <a:solidFill>
                  <a:srgbClr val="1A1A1A"/>
                </a:solidFill>
              </a:rPr>
              <a:t>•  Step 1 — preserve evidence: screenshots, URLs, account names, dates (don't just delete and rage-quit).</a:t>
            </a:r>
          </a:p>
          <a:p>
            <a:pPr>
              <a:spcAft>
                <a:spcPts val="600"/>
              </a:spcAft>
            </a:pPr>
            <a:r>
              <a:rPr sz="1400">
                <a:solidFill>
                  <a:srgbClr val="1A1A1A"/>
                </a:solidFill>
              </a:rPr>
              <a:t>•  Step 2 — file the complaint: the Cyber Bureau (Bhotahiti, Kathmandu) or your local police station.</a:t>
            </a:r>
          </a:p>
          <a:p>
            <a:pPr>
              <a:spcAft>
                <a:spcPts val="600"/>
              </a:spcAft>
            </a:pPr>
            <a:r>
              <a:rPr sz="1400">
                <a:solidFill>
                  <a:srgbClr val="1A1A1A"/>
                </a:solidFill>
              </a:rPr>
              <a:t>•  Step 3 — investigation: the Bureau traces accounts, IPs, and money trails and gathers proof.</a:t>
            </a:r>
          </a:p>
          <a:p>
            <a:pPr>
              <a:spcAft>
                <a:spcPts val="600"/>
              </a:spcAft>
            </a:pPr>
            <a:r>
              <a:rPr sz="1400">
                <a:solidFill>
                  <a:srgbClr val="1A1A1A"/>
                </a:solidFill>
              </a:rPr>
              <a:t>•  Step 4 — prosecution: the case proceeds under the ETA through the courts / IT Tribunal.</a:t>
            </a:r>
          </a:p>
        </p:txBody>
      </p:sp>
      <p:pic>
        <p:nvPicPr>
          <p:cNvPr id="6" name="Picture 5" descr="s45_complaintflow.png"/>
          <p:cNvPicPr>
            <a:picLocks noChangeAspect="1"/>
          </p:cNvPicPr>
          <p:nvPr/>
        </p:nvPicPr>
        <p:blipFill>
          <a:blip r:embed="rId2"/>
          <a:stretch>
            <a:fillRect/>
          </a:stretch>
        </p:blipFill>
        <p:spPr>
          <a:xfrm>
            <a:off x="6355080" y="2407140"/>
            <a:ext cx="5532120" cy="2820959"/>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Evidence first, then the Cyber Bureau — panic-deleting the proof is the classic mistake.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14 / 68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4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to do — real incidents and the reporting response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810000"/>
                <a:gridCol w="3663461"/>
                <a:gridCol w="3956538"/>
              </a:tblGrid>
              <a:tr h="630936">
                <a:tc>
                  <a:txBody>
                    <a:bodyPr wrap="square"/>
                    <a:lstStyle/>
                    <a:p>
                      <a:r>
                        <a:rPr sz="1150" b="1">
                          <a:solidFill>
                            <a:srgbClr val="FFFFFF"/>
                          </a:solidFill>
                        </a:rPr>
                        <a:t>Incident (Nepal)</a:t>
                      </a:r>
                    </a:p>
                  </a:txBody>
                  <a:tcPr anchor="ctr" marL="73152" marR="54864" marT="27432" marB="27432">
                    <a:solidFill>
                      <a:srgbClr val="0C2B4A"/>
                    </a:solidFill>
                  </a:tcPr>
                </a:tc>
                <a:tc>
                  <a:txBody>
                    <a:bodyPr wrap="square"/>
                    <a:lstStyle/>
                    <a:p>
                      <a:r>
                        <a:rPr sz="1150" b="1">
                          <a:solidFill>
                            <a:srgbClr val="FFFFFF"/>
                          </a:solidFill>
                        </a:rPr>
                        <a:t>What YOU should do first</a:t>
                      </a:r>
                    </a:p>
                  </a:txBody>
                  <a:tcPr anchor="ctr" marL="73152" marR="54864" marT="27432" marB="27432">
                    <a:solidFill>
                      <a:srgbClr val="0C2B4A"/>
                    </a:solidFill>
                  </a:tcPr>
                </a:tc>
                <a:tc>
                  <a:txBody>
                    <a:bodyPr wrap="square"/>
                    <a:lstStyle/>
                    <a:p>
                      <a:r>
                        <a:rPr sz="1150" b="1">
                          <a:solidFill>
                            <a:srgbClr val="FFFFFF"/>
                          </a:solidFill>
                        </a:rPr>
                        <a:t>Where it goes / outcome</a:t>
                      </a:r>
                    </a:p>
                  </a:txBody>
                  <a:tcPr anchor="ctr" marL="73152" marR="54864" marT="27432" marB="27432">
                    <a:solidFill>
                      <a:srgbClr val="0C2B4A"/>
                    </a:solidFill>
                  </a:tcPr>
                </a:tc>
              </a:tr>
              <a:tr h="630936">
                <a:tc>
                  <a:txBody>
                    <a:bodyPr wrap="square"/>
                    <a:lstStyle/>
                    <a:p>
                      <a:r>
                        <a:rPr sz="1100" b="1">
                          <a:solidFill>
                            <a:srgbClr val="0C2B4A"/>
                          </a:solidFill>
                        </a:rPr>
                        <a:t>Someone opens a fake account in your name</a:t>
                      </a:r>
                    </a:p>
                  </a:txBody>
                  <a:tcPr anchor="ctr" marL="73152" marR="54864" marT="27432" marB="27432">
                    <a:solidFill>
                      <a:srgbClr val="FFFFFF"/>
                    </a:solidFill>
                  </a:tcPr>
                </a:tc>
                <a:tc>
                  <a:txBody>
                    <a:bodyPr wrap="square"/>
                    <a:lstStyle/>
                    <a:p>
                      <a:r>
                        <a:rPr sz="1100">
                          <a:solidFill>
                            <a:srgbClr val="1A1A1A"/>
                          </a:solidFill>
                        </a:rPr>
                        <a:t>Screenshot the profile, URL, and posts</a:t>
                      </a:r>
                    </a:p>
                  </a:txBody>
                  <a:tcPr anchor="ctr" marL="73152" marR="54864" marT="27432" marB="27432">
                    <a:solidFill>
                      <a:srgbClr val="FFFFFF"/>
                    </a:solidFill>
                  </a:tcPr>
                </a:tc>
                <a:tc>
                  <a:txBody>
                    <a:bodyPr wrap="square"/>
                    <a:lstStyle/>
                    <a:p>
                      <a:r>
                        <a:rPr sz="1100">
                          <a:solidFill>
                            <a:srgbClr val="1A1A1A"/>
                          </a:solidFill>
                        </a:rPr>
                        <a:t>Complaint to Cyber Bureau → impersonation case</a:t>
                      </a:r>
                    </a:p>
                  </a:txBody>
                  <a:tcPr anchor="ctr" marL="73152" marR="54864" marT="27432" marB="27432">
                    <a:solidFill>
                      <a:srgbClr val="FFFFFF"/>
                    </a:solidFill>
                  </a:tcPr>
                </a:tc>
              </a:tr>
              <a:tr h="630936">
                <a:tc>
                  <a:txBody>
                    <a:bodyPr wrap="square"/>
                    <a:lstStyle/>
                    <a:p>
                      <a:r>
                        <a:rPr sz="1100" b="1">
                          <a:solidFill>
                            <a:srgbClr val="0C2B4A"/>
                          </a:solidFill>
                        </a:rPr>
                        <a:t>You are defrauded in an online payment</a:t>
                      </a:r>
                    </a:p>
                  </a:txBody>
                  <a:tcPr anchor="ctr" marL="73152" marR="54864" marT="27432" marB="27432">
                    <a:solidFill>
                      <a:srgbClr val="EEF3F8"/>
                    </a:solidFill>
                  </a:tcPr>
                </a:tc>
                <a:tc>
                  <a:txBody>
                    <a:bodyPr wrap="square"/>
                    <a:lstStyle/>
                    <a:p>
                      <a:r>
                        <a:rPr sz="1100">
                          <a:solidFill>
                            <a:srgbClr val="1A1A1A"/>
                          </a:solidFill>
                        </a:rPr>
                        <a:t>Save transaction IDs, chats, receipts</a:t>
                      </a:r>
                    </a:p>
                  </a:txBody>
                  <a:tcPr anchor="ctr" marL="73152" marR="54864" marT="27432" marB="27432">
                    <a:solidFill>
                      <a:srgbClr val="EEF3F8"/>
                    </a:solidFill>
                  </a:tcPr>
                </a:tc>
                <a:tc>
                  <a:txBody>
                    <a:bodyPr wrap="square"/>
                    <a:lstStyle/>
                    <a:p>
                      <a:r>
                        <a:rPr sz="1100">
                          <a:solidFill>
                            <a:srgbClr val="1A1A1A"/>
                          </a:solidFill>
                        </a:rPr>
                        <a:t>Cyber Bureau traces the money trail</a:t>
                      </a:r>
                    </a:p>
                  </a:txBody>
                  <a:tcPr anchor="ctr" marL="73152" marR="54864" marT="27432" marB="27432">
                    <a:solidFill>
                      <a:srgbClr val="EEF3F8"/>
                    </a:solidFill>
                  </a:tcPr>
                </a:tc>
              </a:tr>
              <a:tr h="630936">
                <a:tc>
                  <a:txBody>
                    <a:bodyPr wrap="square"/>
                    <a:lstStyle/>
                    <a:p>
                      <a:r>
                        <a:rPr sz="1100" b="1">
                          <a:solidFill>
                            <a:srgbClr val="0C2B4A"/>
                          </a:solidFill>
                        </a:rPr>
                        <a:t>A private photo is shared to harass you</a:t>
                      </a:r>
                    </a:p>
                  </a:txBody>
                  <a:tcPr anchor="ctr" marL="73152" marR="54864" marT="27432" marB="27432">
                    <a:solidFill>
                      <a:srgbClr val="FFFFFF"/>
                    </a:solidFill>
                  </a:tcPr>
                </a:tc>
                <a:tc>
                  <a:txBody>
                    <a:bodyPr wrap="square"/>
                    <a:lstStyle/>
                    <a:p>
                      <a:r>
                        <a:rPr sz="1100">
                          <a:solidFill>
                            <a:srgbClr val="1A1A1A"/>
                          </a:solidFill>
                        </a:rPr>
                        <a:t>Preserve evidence; do NOT retaliate</a:t>
                      </a:r>
                    </a:p>
                  </a:txBody>
                  <a:tcPr anchor="ctr" marL="73152" marR="54864" marT="27432" marB="27432">
                    <a:solidFill>
                      <a:srgbClr val="FFFFFF"/>
                    </a:solidFill>
                  </a:tcPr>
                </a:tc>
                <a:tc>
                  <a:txBody>
                    <a:bodyPr wrap="square"/>
                    <a:lstStyle/>
                    <a:p>
                      <a:r>
                        <a:rPr sz="1100">
                          <a:solidFill>
                            <a:srgbClr val="1A1A1A"/>
                          </a:solidFill>
                        </a:rPr>
                        <a:t>Harassment complaint under the ETA</a:t>
                      </a:r>
                    </a:p>
                  </a:txBody>
                  <a:tcPr anchor="ctr" marL="73152" marR="54864" marT="27432" marB="27432">
                    <a:solidFill>
                      <a:srgbClr val="FFFFFF"/>
                    </a:solidFill>
                  </a:tcPr>
                </a:tc>
              </a:tr>
              <a:tr h="630936">
                <a:tc>
                  <a:txBody>
                    <a:bodyPr wrap="square"/>
                    <a:lstStyle/>
                    <a:p>
                      <a:r>
                        <a:rPr sz="1100" b="1">
                          <a:solidFill>
                            <a:srgbClr val="0C2B4A"/>
                          </a:solidFill>
                        </a:rPr>
                        <a:t>Your email/social account is hacked</a:t>
                      </a:r>
                    </a:p>
                  </a:txBody>
                  <a:tcPr anchor="ctr" marL="73152" marR="54864" marT="27432" marB="27432">
                    <a:solidFill>
                      <a:srgbClr val="EEF3F8"/>
                    </a:solidFill>
                  </a:tcPr>
                </a:tc>
                <a:tc>
                  <a:txBody>
                    <a:bodyPr wrap="square"/>
                    <a:lstStyle/>
                    <a:p>
                      <a:r>
                        <a:rPr sz="1100">
                          <a:solidFill>
                            <a:srgbClr val="1A1A1A"/>
                          </a:solidFill>
                        </a:rPr>
                        <a:t>Record the breach details &amp; recover access</a:t>
                      </a:r>
                    </a:p>
                  </a:txBody>
                  <a:tcPr anchor="ctr" marL="73152" marR="54864" marT="27432" marB="27432">
                    <a:solidFill>
                      <a:srgbClr val="EEF3F8"/>
                    </a:solidFill>
                  </a:tcPr>
                </a:tc>
                <a:tc>
                  <a:txBody>
                    <a:bodyPr wrap="square"/>
                    <a:lstStyle/>
                    <a:p>
                      <a:r>
                        <a:rPr sz="1100">
                          <a:solidFill>
                            <a:srgbClr val="1A1A1A"/>
                          </a:solidFill>
                        </a:rPr>
                        <a:t>Unauthorised-access (target) offence</a:t>
                      </a:r>
                    </a:p>
                  </a:txBody>
                  <a:tcPr anchor="ctr" marL="73152" marR="54864" marT="27432" marB="27432">
                    <a:solidFill>
                      <a:srgbClr val="EEF3F8"/>
                    </a:solidFill>
                  </a:tcPr>
                </a:tc>
              </a:tr>
              <a:tr h="630936">
                <a:tc>
                  <a:txBody>
                    <a:bodyPr wrap="square"/>
                    <a:lstStyle/>
                    <a:p>
                      <a:r>
                        <a:rPr sz="1100" b="1">
                          <a:solidFill>
                            <a:srgbClr val="0C2B4A"/>
                          </a:solidFill>
                        </a:rPr>
                        <a:t>A defamatory post targets you</a:t>
                      </a:r>
                    </a:p>
                  </a:txBody>
                  <a:tcPr anchor="ctr" marL="73152" marR="54864" marT="27432" marB="27432">
                    <a:solidFill>
                      <a:srgbClr val="FFFFFF"/>
                    </a:solidFill>
                  </a:tcPr>
                </a:tc>
                <a:tc>
                  <a:txBody>
                    <a:bodyPr wrap="square"/>
                    <a:lstStyle/>
                    <a:p>
                      <a:r>
                        <a:rPr sz="1100">
                          <a:solidFill>
                            <a:srgbClr val="1A1A1A"/>
                          </a:solidFill>
                        </a:rPr>
                        <a:t>Keep the post/URL before it's deleted</a:t>
                      </a:r>
                    </a:p>
                  </a:txBody>
                  <a:tcPr anchor="ctr" marL="73152" marR="54864" marT="27432" marB="27432">
                    <a:solidFill>
                      <a:srgbClr val="FFFFFF"/>
                    </a:solidFill>
                  </a:tcPr>
                </a:tc>
                <a:tc>
                  <a:txBody>
                    <a:bodyPr wrap="square"/>
                    <a:lstStyle/>
                    <a:p>
                      <a:r>
                        <a:rPr sz="1100">
                          <a:solidFill>
                            <a:srgbClr val="1A1A1A"/>
                          </a:solidFill>
                        </a:rPr>
                        <a:t>Complaint filed — but note the free-speech debate</a:t>
                      </a:r>
                    </a:p>
                  </a:txBody>
                  <a:tcPr anchor="ctr" marL="73152" marR="54864" marT="27432" marB="27432">
                    <a:solidFill>
                      <a:srgbClr val="FFFFFF"/>
                    </a:solidFill>
                  </a:tcPr>
                </a:tc>
              </a:tr>
              <a:tr h="630936">
                <a:tc>
                  <a:txBody>
                    <a:bodyPr wrap="square"/>
                    <a:lstStyle/>
                    <a:p>
                      <a:r>
                        <a:rPr sz="1100" b="1">
                          <a:solidFill>
                            <a:srgbClr val="0C2B4A"/>
                          </a:solidFill>
                        </a:rPr>
                        <a:t>A business database is breached</a:t>
                      </a:r>
                    </a:p>
                  </a:txBody>
                  <a:tcPr anchor="ctr" marL="73152" marR="54864" marT="27432" marB="27432">
                    <a:solidFill>
                      <a:srgbClr val="EEF3F8"/>
                    </a:solidFill>
                  </a:tcPr>
                </a:tc>
                <a:tc>
                  <a:txBody>
                    <a:bodyPr wrap="square"/>
                    <a:lstStyle/>
                    <a:p>
                      <a:r>
                        <a:rPr sz="1100">
                          <a:solidFill>
                            <a:srgbClr val="1A1A1A"/>
                          </a:solidFill>
                        </a:rPr>
                        <a:t>Log the breach; notify affected people</a:t>
                      </a:r>
                    </a:p>
                  </a:txBody>
                  <a:tcPr anchor="ctr" marL="73152" marR="54864" marT="27432" marB="27432">
                    <a:solidFill>
                      <a:srgbClr val="EEF3F8"/>
                    </a:solidFill>
                  </a:tcPr>
                </a:tc>
                <a:tc>
                  <a:txBody>
                    <a:bodyPr wrap="square"/>
                    <a:lstStyle/>
                    <a:p>
                      <a:r>
                        <a:rPr sz="1100">
                          <a:solidFill>
                            <a:srgbClr val="1A1A1A"/>
                          </a:solidFill>
                        </a:rPr>
                        <a:t>ETA + Privacy Act 2075 investigation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single biggest practical mistake is destroying the evidence. Preserve it, then report to the Cyber Bureau. ⚠️ Legal specifics (section numbers, penalties, dates) are ILLUSTRATIVE of the framework and its debate — verify against the current official Nepali text (Nepal Law Commission / Gazette) before relying on them.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15 / 68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Reporting Cybercrime · The Cyber Bureau Path</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friend finds a fake TikTok account in their name posting defamatory photos and demanding money. The right move: screenshot everything (profile, URL, posts, dates), then file a complaint with the Cyber Bureau — which can trace the account and pursue it under the ETA. What you must NOT do is angrily delete the messages, tipping off the offender and destroying the proof.</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"Nothing can be done about online abuse in Nepal / I should handle it myself." There IS a channel — the Cyber Bureau — and a law (the ETA). The mistake is destroying evidence or retaliating. Preserve proof, don't engage the offender, and report; vigilante 'hacking back' is itself an offence.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If you are impersonated, harassed, hacked, or defrauded online in Nepal, the path is: preserve evidence (screenshots, URLs, dates), file a complaint with the Nepal Police Cyber Bureau (est. 2018, Bhotahiti) or local police, after which the case is investigated and prosecuted under the ETA through the courts / IT Tribunal. Knowing this path is practical citizenship; the biggest error is destroying evidence.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reporting path · preserve evidence first · Cyber Bureau · ETA prosecution · courts / IT Tribunal · don't retaliate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16 / 68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S45 — 'Which body, which law?'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pick one online-harm scenario (fake profile, hacked account, online fraud, defamatory post).</a:t>
            </a:r>
          </a:p>
          <a:p>
            <a:pPr>
              <a:spcAft>
                <a:spcPts val="700"/>
              </a:spcAft>
            </a:pPr>
            <a:r>
              <a:rPr sz="1550">
                <a:solidFill>
                  <a:srgbClr val="1A1A1A"/>
                </a:solidFill>
              </a:rPr>
              <a:t>•  Decide: is it a TARGET or TOOL crime, who investigates it, and what's your evidence-first first step?</a:t>
            </a:r>
          </a:p>
          <a:p>
            <a:pPr>
              <a:spcAft>
                <a:spcPts val="700"/>
              </a:spcAft>
            </a:pPr>
            <a:r>
              <a:rPr sz="1550">
                <a:solidFill>
                  <a:srgbClr val="1A1A1A"/>
                </a:solidFill>
              </a:rPr>
              <a:t>•  Take 3–4 answers aloud (3 min); classify each on the target/tool grid.</a:t>
            </a:r>
          </a:p>
          <a:p>
            <a:pPr>
              <a:spcAft>
                <a:spcPts val="700"/>
              </a:spcAft>
            </a:pPr>
            <a:r>
              <a:rPr sz="1550">
                <a:solidFill>
                  <a:srgbClr val="1A1A1A"/>
                </a:solidFill>
              </a:rPr>
              <a:t>•  Close: nearly all everyday Nepali cases are TOOL crimes handled by the Cyber Bureau under the ETA.</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fake TikTok/Facebook account (tool); a hacked email (target); wallet fraud (tool); a defamatory comment (tool — flag the free-speech debate). Reward evidence-first thinking.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17 / 68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S45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Nepal's PRIMARY cyber law is:</a:t>
            </a:r>
          </a:p>
          <a:p>
            <a:pPr lvl="1"/>
            <a:r>
              <a:rPr sz="1500" b="1">
                <a:solidFill>
                  <a:srgbClr val="0F6E56"/>
                </a:solidFill>
              </a:rPr>
              <a:t>a) a dedicated Cyber Crime Act   b) ✅ the Electronic Transaction Act (ETA) 2063   c) the Muluki Ain   d) the IT Policy</a:t>
            </a:r>
          </a:p>
          <a:p>
            <a:pPr lvl="1">
              <a:spcBef>
                <a:spcPts val="600"/>
              </a:spcBef>
            </a:pPr>
            <a:r>
              <a:rPr sz="1500" i="1">
                <a:solidFill>
                  <a:srgbClr val="1A1A1A"/>
                </a:solidFill>
              </a:rPr>
              <a:t>     Why: Nepal regulates cybercrime mainly through the ETA 2063 (an e-transactions law that also criminalises computer offences).</a:t>
            </a:r>
          </a:p>
          <a:p>
            <a:pPr>
              <a:spcBef>
                <a:spcPts val="900"/>
              </a:spcBef>
            </a:pPr>
            <a:r>
              <a:rPr sz="1700" b="1">
                <a:solidFill>
                  <a:srgbClr val="0C2B4A"/>
                </a:solidFill>
              </a:rPr>
              <a:t>Q2.  A crime where the computer is the TOOL (not the target) is best illustrated by:</a:t>
            </a:r>
          </a:p>
          <a:p>
            <a:pPr lvl="1"/>
            <a:r>
              <a:rPr sz="1500" b="1">
                <a:solidFill>
                  <a:srgbClr val="0F6E56"/>
                </a:solidFill>
              </a:rPr>
              <a:t>a) hacking a server   b) a DoS attack   c) ✅ online fraud / cyber-defamation   d) source-code damage</a:t>
            </a:r>
          </a:p>
          <a:p>
            <a:pPr lvl="1">
              <a:spcBef>
                <a:spcPts val="600"/>
              </a:spcBef>
            </a:pPr>
            <a:r>
              <a:rPr sz="1500" i="1">
                <a:solidFill>
                  <a:srgbClr val="1A1A1A"/>
                </a:solidFill>
              </a:rPr>
              <a:t>     Why: tool crimes use the computer as a weapon against a person; target crimes attack the computer itself.</a:t>
            </a:r>
          </a:p>
          <a:p>
            <a:pPr lvl="1">
              <a:spcBef>
                <a:spcPts val="600"/>
              </a:spcBef>
            </a:pPr>
            <a:r>
              <a:rPr sz="1500" i="1">
                <a:solidFill>
                  <a:srgbClr val="1A1A1A"/>
                </a:solidFill>
              </a:rPr>
              <a:t>Discussion: give one concrete reason old Nepali law couldn't handle cybercrime — identity, evidence, or jurisdiction.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18 / 68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S45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Cyber law governs the digital world where paper-era law (identity, evidence, jurisdiction) cannot reach.</a:t>
            </a:r>
          </a:p>
          <a:p>
            <a:pPr>
              <a:spcAft>
                <a:spcPts val="800"/>
              </a:spcAft>
            </a:pPr>
            <a:r>
              <a:rPr sz="1500">
                <a:solidFill>
                  <a:srgbClr val="1A1A1A"/>
                </a:solidFill>
              </a:rPr>
              <a:t>2.  Nepal's main cyber law is the ETA 2063 — it validates e-records/signatures AND criminalises computer offences.</a:t>
            </a:r>
          </a:p>
          <a:p>
            <a:pPr>
              <a:spcAft>
                <a:spcPts val="800"/>
              </a:spcAft>
            </a:pPr>
            <a:r>
              <a:rPr sz="1500">
                <a:solidFill>
                  <a:srgbClr val="1A1A1A"/>
                </a:solidFill>
              </a:rPr>
              <a:t>3.  Cybercrime = computer as target or tool; report via the Cyber Bureau (est. 2018), evidence first.</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If you are ever impersonated, harassed, or defrauded online in Nepal, you now know the channel (Cyber Bureau) and the law (ETA) — and that preserving evidence, not retaliating, is the right first move. That is practical citizenship.</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S46 — inside the ETA 2063: its two halves, digital signatures, and the debated offences chapter.</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19 / 68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46 · LECTURE HOUR 2 (OF 4)</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Electronic Transaction Act (ETA) 2063</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What turns a typed-and-emailed agreement into something a Nepali court will enforce — and what turns a curious 'let me just try this login' into a crime with jail time? The same law: the ETA 2063.</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20 / 68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the ETA 2063 Is &amp; Its Purpose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Electronic Transaction Act 2063 (2008 AD) is Nepal's primary cyber law. It has TWO halves: most of it ENABLES the digital economy (legal recognition of electronic records and digital signatures, e-commerce, e-governance); one chapter PUNISHES computer-related offences. It is organised in chapters, from e-records and digital signatures to the Controller, service-provider liability, offences, and the IT Tribunal.</a:t>
            </a:r>
          </a:p>
          <a:p>
            <a:pPr>
              <a:spcAft>
                <a:spcPts val="500"/>
              </a:spcAft>
            </a:pPr>
            <a:r>
              <a:rPr sz="1200" b="1">
                <a:solidFill>
                  <a:srgbClr val="185FA5"/>
                </a:solidFill>
              </a:rPr>
              <a:t>HOW IT WORKS</a:t>
            </a:r>
          </a:p>
          <a:p>
            <a:pPr>
              <a:spcAft>
                <a:spcPts val="600"/>
              </a:spcAft>
            </a:pPr>
            <a:r>
              <a:rPr sz="1400">
                <a:solidFill>
                  <a:srgbClr val="1A1A1A"/>
                </a:solidFill>
              </a:rPr>
              <a:t>•  Enacted 2063 BS (2008 AD); designed to enable e-commerce/e-governance AND deter digital crime.</a:t>
            </a:r>
          </a:p>
          <a:p>
            <a:pPr>
              <a:spcAft>
                <a:spcPts val="600"/>
              </a:spcAft>
            </a:pPr>
            <a:r>
              <a:rPr sz="1400">
                <a:solidFill>
                  <a:srgbClr val="1A1A1A"/>
                </a:solidFill>
              </a:rPr>
              <a:t>•  Enable half: e-records, digital-signature validity, dispatch/receipt of records, certificates, the Controller &amp; CAs.</a:t>
            </a:r>
          </a:p>
          <a:p>
            <a:pPr>
              <a:spcAft>
                <a:spcPts val="600"/>
              </a:spcAft>
            </a:pPr>
            <a:r>
              <a:rPr sz="1400">
                <a:solidFill>
                  <a:srgbClr val="1A1A1A"/>
                </a:solidFill>
              </a:rPr>
              <a:t>•  Punish half: the offences-and-penalties chapter (only one part of the whole Act).</a:t>
            </a:r>
          </a:p>
          <a:p>
            <a:pPr>
              <a:spcAft>
                <a:spcPts val="600"/>
              </a:spcAft>
            </a:pPr>
            <a:r>
              <a:rPr sz="1400">
                <a:solidFill>
                  <a:srgbClr val="1A1A1A"/>
                </a:solidFill>
              </a:rPr>
              <a:t>•  In design it mirrors the UNCITRAL Model Law on E-Commerce and India's IT Act.</a:t>
            </a:r>
          </a:p>
        </p:txBody>
      </p:sp>
      <p:pic>
        <p:nvPicPr>
          <p:cNvPr id="6" name="Picture 5" descr="s46_twohalves.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The ETA is a two-sided coin: mostly it ENABLES the digital economy; one chapter PUNISHES.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21 / 68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1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ETA's two halves — what each part actually does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286250"/>
                <a:gridCol w="2381250"/>
                <a:gridCol w="4762500"/>
              </a:tblGrid>
              <a:tr h="630936">
                <a:tc>
                  <a:txBody>
                    <a:bodyPr wrap="square"/>
                    <a:lstStyle/>
                    <a:p>
                      <a:r>
                        <a:rPr sz="1150" b="1">
                          <a:solidFill>
                            <a:srgbClr val="FFFFFF"/>
                          </a:solidFill>
                        </a:rPr>
                        <a:t>Provision area (illustrative)</a:t>
                      </a:r>
                    </a:p>
                  </a:txBody>
                  <a:tcPr anchor="ctr" marL="73152" marR="54864" marT="27432" marB="27432">
                    <a:solidFill>
                      <a:srgbClr val="0C2B4A"/>
                    </a:solidFill>
                  </a:tcPr>
                </a:tc>
                <a:tc>
                  <a:txBody>
                    <a:bodyPr wrap="square"/>
                    <a:lstStyle/>
                    <a:p>
                      <a:r>
                        <a:rPr sz="1150" b="1">
                          <a:solidFill>
                            <a:srgbClr val="FFFFFF"/>
                          </a:solidFill>
                        </a:rPr>
                        <a:t>ENABLE or PUNISH?</a:t>
                      </a:r>
                    </a:p>
                  </a:txBody>
                  <a:tcPr anchor="ctr" marL="73152" marR="54864" marT="27432" marB="27432">
                    <a:solidFill>
                      <a:srgbClr val="0C2B4A"/>
                    </a:solidFill>
                  </a:tcPr>
                </a:tc>
                <a:tc>
                  <a:txBody>
                    <a:bodyPr wrap="square"/>
                    <a:lstStyle/>
                    <a:p>
                      <a:r>
                        <a:rPr sz="1150" b="1">
                          <a:solidFill>
                            <a:srgbClr val="FFFFFF"/>
                          </a:solidFill>
                        </a:rPr>
                        <a:t>What it does in practice (Nepal)</a:t>
                      </a:r>
                    </a:p>
                  </a:txBody>
                  <a:tcPr anchor="ctr" marL="73152" marR="54864" marT="27432" marB="27432">
                    <a:solidFill>
                      <a:srgbClr val="0C2B4A"/>
                    </a:solidFill>
                  </a:tcPr>
                </a:tc>
              </a:tr>
              <a:tr h="630936">
                <a:tc>
                  <a:txBody>
                    <a:bodyPr wrap="square"/>
                    <a:lstStyle/>
                    <a:p>
                      <a:r>
                        <a:rPr sz="1100" b="1">
                          <a:solidFill>
                            <a:srgbClr val="0C2B4A"/>
                          </a:solidFill>
                        </a:rPr>
                        <a:t>Legal recognition of electronic records</a:t>
                      </a:r>
                    </a:p>
                  </a:txBody>
                  <a:tcPr anchor="ctr" marL="73152" marR="54864" marT="27432" marB="27432">
                    <a:solidFill>
                      <a:srgbClr val="FFFFFF"/>
                    </a:solidFill>
                  </a:tcPr>
                </a:tc>
                <a:tc>
                  <a:txBody>
                    <a:bodyPr wrap="square"/>
                    <a:lstStyle/>
                    <a:p>
                      <a:r>
                        <a:rPr sz="1100">
                          <a:solidFill>
                            <a:srgbClr val="1A1A1A"/>
                          </a:solidFill>
                        </a:rPr>
                        <a:t>Enable</a:t>
                      </a:r>
                    </a:p>
                  </a:txBody>
                  <a:tcPr anchor="ctr" marL="73152" marR="54864" marT="27432" marB="27432">
                    <a:solidFill>
                      <a:srgbClr val="FFFFFF"/>
                    </a:solidFill>
                  </a:tcPr>
                </a:tc>
                <a:tc>
                  <a:txBody>
                    <a:bodyPr wrap="square"/>
                    <a:lstStyle/>
                    <a:p>
                      <a:r>
                        <a:rPr sz="1100">
                          <a:solidFill>
                            <a:srgbClr val="1A1A1A"/>
                          </a:solidFill>
                        </a:rPr>
                        <a:t>An e-record can count as evidence like paper</a:t>
                      </a:r>
                    </a:p>
                  </a:txBody>
                  <a:tcPr anchor="ctr" marL="73152" marR="54864" marT="27432" marB="27432">
                    <a:solidFill>
                      <a:srgbClr val="FFFFFF"/>
                    </a:solidFill>
                  </a:tcPr>
                </a:tc>
              </a:tr>
              <a:tr h="630936">
                <a:tc>
                  <a:txBody>
                    <a:bodyPr wrap="square"/>
                    <a:lstStyle/>
                    <a:p>
                      <a:r>
                        <a:rPr sz="1100" b="1">
                          <a:solidFill>
                            <a:srgbClr val="0C2B4A"/>
                          </a:solidFill>
                        </a:rPr>
                        <a:t>Validity of digital signatures</a:t>
                      </a:r>
                    </a:p>
                  </a:txBody>
                  <a:tcPr anchor="ctr" marL="73152" marR="54864" marT="27432" marB="27432">
                    <a:solidFill>
                      <a:srgbClr val="EEF3F8"/>
                    </a:solidFill>
                  </a:tcPr>
                </a:tc>
                <a:tc>
                  <a:txBody>
                    <a:bodyPr wrap="square"/>
                    <a:lstStyle/>
                    <a:p>
                      <a:r>
                        <a:rPr sz="1100">
                          <a:solidFill>
                            <a:srgbClr val="1A1A1A"/>
                          </a:solidFill>
                        </a:rPr>
                        <a:t>Enable</a:t>
                      </a:r>
                    </a:p>
                  </a:txBody>
                  <a:tcPr anchor="ctr" marL="73152" marR="54864" marT="27432" marB="27432">
                    <a:solidFill>
                      <a:srgbClr val="EEF3F8"/>
                    </a:solidFill>
                  </a:tcPr>
                </a:tc>
                <a:tc>
                  <a:txBody>
                    <a:bodyPr wrap="square"/>
                    <a:lstStyle/>
                    <a:p>
                      <a:r>
                        <a:rPr sz="1100">
                          <a:solidFill>
                            <a:srgbClr val="1A1A1A"/>
                          </a:solidFill>
                        </a:rPr>
                        <a:t>A digitally signed doc is legally binding</a:t>
                      </a:r>
                    </a:p>
                  </a:txBody>
                  <a:tcPr anchor="ctr" marL="73152" marR="54864" marT="27432" marB="27432">
                    <a:solidFill>
                      <a:srgbClr val="EEF3F8"/>
                    </a:solidFill>
                  </a:tcPr>
                </a:tc>
              </a:tr>
              <a:tr h="630936">
                <a:tc>
                  <a:txBody>
                    <a:bodyPr wrap="square"/>
                    <a:lstStyle/>
                    <a:p>
                      <a:r>
                        <a:rPr sz="1100" b="1">
                          <a:solidFill>
                            <a:srgbClr val="0C2B4A"/>
                          </a:solidFill>
                        </a:rPr>
                        <a:t>Dispatch &amp; receipt of e-records</a:t>
                      </a:r>
                    </a:p>
                  </a:txBody>
                  <a:tcPr anchor="ctr" marL="73152" marR="54864" marT="27432" marB="27432">
                    <a:solidFill>
                      <a:srgbClr val="FFFFFF"/>
                    </a:solidFill>
                  </a:tcPr>
                </a:tc>
                <a:tc>
                  <a:txBody>
                    <a:bodyPr wrap="square"/>
                    <a:lstStyle/>
                    <a:p>
                      <a:r>
                        <a:rPr sz="1100">
                          <a:solidFill>
                            <a:srgbClr val="1A1A1A"/>
                          </a:solidFill>
                        </a:rPr>
                        <a:t>Enable</a:t>
                      </a:r>
                    </a:p>
                  </a:txBody>
                  <a:tcPr anchor="ctr" marL="73152" marR="54864" marT="27432" marB="27432">
                    <a:solidFill>
                      <a:srgbClr val="FFFFFF"/>
                    </a:solidFill>
                  </a:tcPr>
                </a:tc>
                <a:tc>
                  <a:txBody>
                    <a:bodyPr wrap="square"/>
                    <a:lstStyle/>
                    <a:p>
                      <a:r>
                        <a:rPr sz="1100">
                          <a:solidFill>
                            <a:srgbClr val="1A1A1A"/>
                          </a:solidFill>
                        </a:rPr>
                        <a:t>Fixes when/where an e-message legally 'arrives'</a:t>
                      </a:r>
                    </a:p>
                  </a:txBody>
                  <a:tcPr anchor="ctr" marL="73152" marR="54864" marT="27432" marB="27432">
                    <a:solidFill>
                      <a:srgbClr val="FFFFFF"/>
                    </a:solidFill>
                  </a:tcPr>
                </a:tc>
              </a:tr>
              <a:tr h="630936">
                <a:tc>
                  <a:txBody>
                    <a:bodyPr wrap="square"/>
                    <a:lstStyle/>
                    <a:p>
                      <a:r>
                        <a:rPr sz="1100" b="1">
                          <a:solidFill>
                            <a:srgbClr val="0C2B4A"/>
                          </a:solidFill>
                        </a:rPr>
                        <a:t>Digital-signature certificates, Controller &amp; CAs</a:t>
                      </a:r>
                    </a:p>
                  </a:txBody>
                  <a:tcPr anchor="ctr" marL="73152" marR="54864" marT="27432" marB="27432">
                    <a:solidFill>
                      <a:srgbClr val="EEF3F8"/>
                    </a:solidFill>
                  </a:tcPr>
                </a:tc>
                <a:tc>
                  <a:txBody>
                    <a:bodyPr wrap="square"/>
                    <a:lstStyle/>
                    <a:p>
                      <a:r>
                        <a:rPr sz="1100">
                          <a:solidFill>
                            <a:srgbClr val="1A1A1A"/>
                          </a:solidFill>
                        </a:rPr>
                        <a:t>Enable</a:t>
                      </a:r>
                    </a:p>
                  </a:txBody>
                  <a:tcPr anchor="ctr" marL="73152" marR="54864" marT="27432" marB="27432">
                    <a:solidFill>
                      <a:srgbClr val="EEF3F8"/>
                    </a:solidFill>
                  </a:tcPr>
                </a:tc>
                <a:tc>
                  <a:txBody>
                    <a:bodyPr wrap="square"/>
                    <a:lstStyle/>
                    <a:p>
                      <a:r>
                        <a:rPr sz="1100">
                          <a:solidFill>
                            <a:srgbClr val="1A1A1A"/>
                          </a:solidFill>
                        </a:rPr>
                        <a:t>Sets up the PKI trust system (S47)</a:t>
                      </a:r>
                    </a:p>
                  </a:txBody>
                  <a:tcPr anchor="ctr" marL="73152" marR="54864" marT="27432" marB="27432">
                    <a:solidFill>
                      <a:srgbClr val="EEF3F8"/>
                    </a:solidFill>
                  </a:tcPr>
                </a:tc>
              </a:tr>
              <a:tr h="630936">
                <a:tc>
                  <a:txBody>
                    <a:bodyPr wrap="square"/>
                    <a:lstStyle/>
                    <a:p>
                      <a:r>
                        <a:rPr sz="1100" b="1">
                          <a:solidFill>
                            <a:srgbClr val="0C2B4A"/>
                          </a:solidFill>
                        </a:rPr>
                        <a:t>Unauthorised access / source-code damage</a:t>
                      </a:r>
                    </a:p>
                  </a:txBody>
                  <a:tcPr anchor="ctr" marL="73152" marR="54864" marT="27432" marB="27432">
                    <a:solidFill>
                      <a:srgbClr val="FFFFFF"/>
                    </a:solidFill>
                  </a:tcPr>
                </a:tc>
                <a:tc>
                  <a:txBody>
                    <a:bodyPr wrap="square"/>
                    <a:lstStyle/>
                    <a:p>
                      <a:r>
                        <a:rPr sz="1100">
                          <a:solidFill>
                            <a:srgbClr val="1A1A1A"/>
                          </a:solidFill>
                        </a:rPr>
                        <a:t>Punish</a:t>
                      </a:r>
                    </a:p>
                  </a:txBody>
                  <a:tcPr anchor="ctr" marL="73152" marR="54864" marT="27432" marB="27432">
                    <a:solidFill>
                      <a:srgbClr val="FFFFFF"/>
                    </a:solidFill>
                  </a:tcPr>
                </a:tc>
                <a:tc>
                  <a:txBody>
                    <a:bodyPr wrap="square"/>
                    <a:lstStyle/>
                    <a:p>
                      <a:r>
                        <a:rPr sz="1100">
                          <a:solidFill>
                            <a:srgbClr val="1A1A1A"/>
                          </a:solidFill>
                        </a:rPr>
                        <a:t>Named computer offences with penalties</a:t>
                      </a:r>
                    </a:p>
                  </a:txBody>
                  <a:tcPr anchor="ctr" marL="73152" marR="54864" marT="27432" marB="27432">
                    <a:solidFill>
                      <a:srgbClr val="FFFFFF"/>
                    </a:solidFill>
                  </a:tcPr>
                </a:tc>
              </a:tr>
              <a:tr h="630936">
                <a:tc>
                  <a:txBody>
                    <a:bodyPr wrap="square"/>
                    <a:lstStyle/>
                    <a:p>
                      <a:r>
                        <a:rPr sz="1100" b="1">
                          <a:solidFill>
                            <a:srgbClr val="0C2B4A"/>
                          </a:solidFill>
                        </a:rPr>
                        <a:t>Illegal / obscene electronic publication</a:t>
                      </a:r>
                    </a:p>
                  </a:txBody>
                  <a:tcPr anchor="ctr" marL="73152" marR="54864" marT="27432" marB="27432">
                    <a:solidFill>
                      <a:srgbClr val="EEF3F8"/>
                    </a:solidFill>
                  </a:tcPr>
                </a:tc>
                <a:tc>
                  <a:txBody>
                    <a:bodyPr wrap="square"/>
                    <a:lstStyle/>
                    <a:p>
                      <a:r>
                        <a:rPr sz="1100">
                          <a:solidFill>
                            <a:srgbClr val="1A1A1A"/>
                          </a:solidFill>
                        </a:rPr>
                        <a:t>Punish</a:t>
                      </a:r>
                    </a:p>
                  </a:txBody>
                  <a:tcPr anchor="ctr" marL="73152" marR="54864" marT="27432" marB="27432">
                    <a:solidFill>
                      <a:srgbClr val="EEF3F8"/>
                    </a:solidFill>
                  </a:tcPr>
                </a:tc>
                <a:tc>
                  <a:txBody>
                    <a:bodyPr wrap="square"/>
                    <a:lstStyle/>
                    <a:p>
                      <a:r>
                        <a:rPr sz="1100">
                          <a:solidFill>
                            <a:srgbClr val="1A1A1A"/>
                          </a:solidFill>
                        </a:rPr>
                        <a:t>The debated offences (esp. Section ~47) — see C3</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Most of the ETA ENABLES the digital economy; the offences chapter is one part. Provision areas are illustrative of the structure. ⚠️ Legal specifics (section numbers, penalties, dates) are ILLUSTRATIVE of the framework and its debate — verify against the current official Nepali text (Nepal Law Commission / Gazette) before relying on them.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22 / 68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the ETA 2063 Is &amp; Its Purpose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The ETA is why eSewa payments, bank e-statements, and digitally signed government forms carry legal weight in Nepal — the 'enable' half at work. The same Act also names hacking and illegal e-publication as offences — the 'punish' half. Both halves come from one law enacted in 2063 BS (2008 AD).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ETA is only about cybercrime / punishment." Most of the Act is about ENABLING e-commerce and e-governance — giving electronic records and signatures legal validity. The offences-and-penalties chapter is only one part. Reading the ETA as a pure 'crime law' misses its main purpose.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ETA 2063 (2008) is Nepal's primary cyber law, with two halves: most of it ENABLES the digital economy (legal recognition of electronic records and digital signatures, e-commerce, e-governance, the Controller &amp; CAs), while one chapter PUNISHES computer offences. Organised in chapters and modelled on the UNCITRAL Model Law and India's IT Act, it is far more than a 'cybercrime law'.</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ETA 2063 (2008) · enable + punish · e-records &amp; signatures · offences chapter · UNCITRAL / India IT Act model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23 / 68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Electronic Records &amp; Digital Signatures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ETA gives an electronic record and a digital signature the same legal validity as paper and a handwritten signature. A digital signature uses asymmetric (public/private key) cryptography: the signer signs with a PRIVATE key, and anyone can verify with the matching PUBLIC key — delivering authentication, integrity, and non-repudiation.</a:t>
            </a:r>
          </a:p>
          <a:p>
            <a:pPr>
              <a:spcAft>
                <a:spcPts val="500"/>
              </a:spcAft>
            </a:pPr>
            <a:r>
              <a:rPr sz="1200" b="1">
                <a:solidFill>
                  <a:srgbClr val="185FA5"/>
                </a:solidFill>
              </a:rPr>
              <a:t>HOW IT WORKS</a:t>
            </a:r>
          </a:p>
          <a:p>
            <a:pPr>
              <a:spcAft>
                <a:spcPts val="600"/>
              </a:spcAft>
            </a:pPr>
            <a:r>
              <a:rPr sz="1400">
                <a:solidFill>
                  <a:srgbClr val="1A1A1A"/>
                </a:solidFill>
              </a:rPr>
              <a:t>•  Legal recognition: an e-record/e-signature can be as binding as ink on paper.</a:t>
            </a:r>
          </a:p>
          <a:p>
            <a:pPr>
              <a:spcAft>
                <a:spcPts val="600"/>
              </a:spcAft>
            </a:pPr>
            <a:r>
              <a:rPr sz="1400">
                <a:solidFill>
                  <a:srgbClr val="1A1A1A"/>
                </a:solidFill>
              </a:rPr>
              <a:t>•  Mechanism: sign with the private key (secret); verify with the public key (shared).</a:t>
            </a:r>
          </a:p>
          <a:p>
            <a:pPr>
              <a:spcAft>
                <a:spcPts val="600"/>
              </a:spcAft>
            </a:pPr>
            <a:r>
              <a:rPr sz="1400">
                <a:solidFill>
                  <a:srgbClr val="1A1A1A"/>
                </a:solidFill>
              </a:rPr>
              <a:t>•  Authentication (WHO signed) + Integrity (NOT altered) + Non-repudiation (can't deny it later).</a:t>
            </a:r>
          </a:p>
          <a:p>
            <a:pPr>
              <a:spcAft>
                <a:spcPts val="600"/>
              </a:spcAft>
            </a:pPr>
            <a:r>
              <a:rPr sz="1400">
                <a:solidFill>
                  <a:srgbClr val="1A1A1A"/>
                </a:solidFill>
              </a:rPr>
              <a:t>•  In Nepal, digital signatures are issued under a PKI framework for banking &amp; government use (S47).</a:t>
            </a:r>
          </a:p>
        </p:txBody>
      </p:sp>
      <p:pic>
        <p:nvPicPr>
          <p:cNvPr id="6" name="Picture 5" descr="s46_digsig.png"/>
          <p:cNvPicPr>
            <a:picLocks noChangeAspect="1"/>
          </p:cNvPicPr>
          <p:nvPr/>
        </p:nvPicPr>
        <p:blipFill>
          <a:blip r:embed="rId2"/>
          <a:stretch>
            <a:fillRect/>
          </a:stretch>
        </p:blipFill>
        <p:spPr>
          <a:xfrm>
            <a:off x="6355080" y="2444902"/>
            <a:ext cx="5532120" cy="2745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digital signature is a wax seal that also fingerprints the message — change one word and the seal breaks.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24 / 68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2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Paper world vs electronic equivalent — and the property it gives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516923"/>
                <a:gridCol w="3810000"/>
                <a:gridCol w="4103076"/>
              </a:tblGrid>
              <a:tr h="630936">
                <a:tc>
                  <a:txBody>
                    <a:bodyPr wrap="square"/>
                    <a:lstStyle/>
                    <a:p>
                      <a:r>
                        <a:rPr sz="1150" b="1">
                          <a:solidFill>
                            <a:srgbClr val="FFFFFF"/>
                          </a:solidFill>
                        </a:rPr>
                        <a:t>Paper-world thing</a:t>
                      </a:r>
                    </a:p>
                  </a:txBody>
                  <a:tcPr anchor="ctr" marL="73152" marR="54864" marT="27432" marB="27432">
                    <a:solidFill>
                      <a:srgbClr val="0C2B4A"/>
                    </a:solidFill>
                  </a:tcPr>
                </a:tc>
                <a:tc>
                  <a:txBody>
                    <a:bodyPr wrap="square"/>
                    <a:lstStyle/>
                    <a:p>
                      <a:r>
                        <a:rPr sz="1150" b="1">
                          <a:solidFill>
                            <a:srgbClr val="FFFFFF"/>
                          </a:solidFill>
                        </a:rPr>
                        <a:t>Electronic equivalent (ETA)</a:t>
                      </a:r>
                    </a:p>
                  </a:txBody>
                  <a:tcPr anchor="ctr" marL="73152" marR="54864" marT="27432" marB="27432">
                    <a:solidFill>
                      <a:srgbClr val="0C2B4A"/>
                    </a:solidFill>
                  </a:tcPr>
                </a:tc>
                <a:tc>
                  <a:txBody>
                    <a:bodyPr wrap="square"/>
                    <a:lstStyle/>
                    <a:p>
                      <a:r>
                        <a:rPr sz="1150" b="1">
                          <a:solidFill>
                            <a:srgbClr val="FFFFFF"/>
                          </a:solidFill>
                        </a:rPr>
                        <a:t>Security property it provides</a:t>
                      </a:r>
                    </a:p>
                  </a:txBody>
                  <a:tcPr anchor="ctr" marL="73152" marR="54864" marT="27432" marB="27432">
                    <a:solidFill>
                      <a:srgbClr val="0C2B4A"/>
                    </a:solidFill>
                  </a:tcPr>
                </a:tc>
              </a:tr>
              <a:tr h="630936">
                <a:tc>
                  <a:txBody>
                    <a:bodyPr wrap="square"/>
                    <a:lstStyle/>
                    <a:p>
                      <a:r>
                        <a:rPr sz="1100" b="1">
                          <a:solidFill>
                            <a:srgbClr val="0C2B4A"/>
                          </a:solidFill>
                        </a:rPr>
                        <a:t>Handwritten signature</a:t>
                      </a:r>
                    </a:p>
                  </a:txBody>
                  <a:tcPr anchor="ctr" marL="73152" marR="54864" marT="27432" marB="27432">
                    <a:solidFill>
                      <a:srgbClr val="FFFFFF"/>
                    </a:solidFill>
                  </a:tcPr>
                </a:tc>
                <a:tc>
                  <a:txBody>
                    <a:bodyPr wrap="square"/>
                    <a:lstStyle/>
                    <a:p>
                      <a:r>
                        <a:rPr sz="1100">
                          <a:solidFill>
                            <a:srgbClr val="1A1A1A"/>
                          </a:solidFill>
                        </a:rPr>
                        <a:t>Digital signature (private key)</a:t>
                      </a:r>
                    </a:p>
                  </a:txBody>
                  <a:tcPr anchor="ctr" marL="73152" marR="54864" marT="27432" marB="27432">
                    <a:solidFill>
                      <a:srgbClr val="FFFFFF"/>
                    </a:solidFill>
                  </a:tcPr>
                </a:tc>
                <a:tc>
                  <a:txBody>
                    <a:bodyPr wrap="square"/>
                    <a:lstStyle/>
                    <a:p>
                      <a:r>
                        <a:rPr sz="1100">
                          <a:solidFill>
                            <a:srgbClr val="1A1A1A"/>
                          </a:solidFill>
                        </a:rPr>
                        <a:t>Authentication — proves who signed</a:t>
                      </a:r>
                    </a:p>
                  </a:txBody>
                  <a:tcPr anchor="ctr" marL="73152" marR="54864" marT="27432" marB="27432">
                    <a:solidFill>
                      <a:srgbClr val="FFFFFF"/>
                    </a:solidFill>
                  </a:tcPr>
                </a:tc>
              </a:tr>
              <a:tr h="630936">
                <a:tc>
                  <a:txBody>
                    <a:bodyPr wrap="square"/>
                    <a:lstStyle/>
                    <a:p>
                      <a:r>
                        <a:rPr sz="1100" b="1">
                          <a:solidFill>
                            <a:srgbClr val="0C2B4A"/>
                          </a:solidFill>
                        </a:rPr>
                        <a:t>Sealed, unaltered document</a:t>
                      </a:r>
                    </a:p>
                  </a:txBody>
                  <a:tcPr anchor="ctr" marL="73152" marR="54864" marT="27432" marB="27432">
                    <a:solidFill>
                      <a:srgbClr val="EEF3F8"/>
                    </a:solidFill>
                  </a:tcPr>
                </a:tc>
                <a:tc>
                  <a:txBody>
                    <a:bodyPr wrap="square"/>
                    <a:lstStyle/>
                    <a:p>
                      <a:r>
                        <a:rPr sz="1100">
                          <a:solidFill>
                            <a:srgbClr val="1A1A1A"/>
                          </a:solidFill>
                        </a:rPr>
                        <a:t>Hash-protected signed record</a:t>
                      </a:r>
                    </a:p>
                  </a:txBody>
                  <a:tcPr anchor="ctr" marL="73152" marR="54864" marT="27432" marB="27432">
                    <a:solidFill>
                      <a:srgbClr val="EEF3F8"/>
                    </a:solidFill>
                  </a:tcPr>
                </a:tc>
                <a:tc>
                  <a:txBody>
                    <a:bodyPr wrap="square"/>
                    <a:lstStyle/>
                    <a:p>
                      <a:r>
                        <a:rPr sz="1100">
                          <a:solidFill>
                            <a:srgbClr val="1A1A1A"/>
                          </a:solidFill>
                        </a:rPr>
                        <a:t>Integrity — proves it was not changed</a:t>
                      </a:r>
                    </a:p>
                  </a:txBody>
                  <a:tcPr anchor="ctr" marL="73152" marR="54864" marT="27432" marB="27432">
                    <a:solidFill>
                      <a:srgbClr val="EEF3F8"/>
                    </a:solidFill>
                  </a:tcPr>
                </a:tc>
              </a:tr>
              <a:tr h="630936">
                <a:tc>
                  <a:txBody>
                    <a:bodyPr wrap="square"/>
                    <a:lstStyle/>
                    <a:p>
                      <a:r>
                        <a:rPr sz="1100" b="1">
                          <a:solidFill>
                            <a:srgbClr val="0C2B4A"/>
                          </a:solidFill>
                        </a:rPr>
                        <a:t>'I never signed that' denial fails</a:t>
                      </a:r>
                    </a:p>
                  </a:txBody>
                  <a:tcPr anchor="ctr" marL="73152" marR="54864" marT="27432" marB="27432">
                    <a:solidFill>
                      <a:srgbClr val="FFFFFF"/>
                    </a:solidFill>
                  </a:tcPr>
                </a:tc>
                <a:tc>
                  <a:txBody>
                    <a:bodyPr wrap="square"/>
                    <a:lstStyle/>
                    <a:p>
                      <a:r>
                        <a:rPr sz="1100">
                          <a:solidFill>
                            <a:srgbClr val="1A1A1A"/>
                          </a:solidFill>
                        </a:rPr>
                        <a:t>Only your private key could sign</a:t>
                      </a:r>
                    </a:p>
                  </a:txBody>
                  <a:tcPr anchor="ctr" marL="73152" marR="54864" marT="27432" marB="27432">
                    <a:solidFill>
                      <a:srgbClr val="FFFFFF"/>
                    </a:solidFill>
                  </a:tcPr>
                </a:tc>
                <a:tc>
                  <a:txBody>
                    <a:bodyPr wrap="square"/>
                    <a:lstStyle/>
                    <a:p>
                      <a:r>
                        <a:rPr sz="1100">
                          <a:solidFill>
                            <a:srgbClr val="1A1A1A"/>
                          </a:solidFill>
                        </a:rPr>
                        <a:t>Non-repudiation — signer can't deny it</a:t>
                      </a:r>
                    </a:p>
                  </a:txBody>
                  <a:tcPr anchor="ctr" marL="73152" marR="54864" marT="27432" marB="27432">
                    <a:solidFill>
                      <a:srgbClr val="FFFFFF"/>
                    </a:solidFill>
                  </a:tcPr>
                </a:tc>
              </a:tr>
              <a:tr h="630936">
                <a:tc>
                  <a:txBody>
                    <a:bodyPr wrap="square"/>
                    <a:lstStyle/>
                    <a:p>
                      <a:r>
                        <a:rPr sz="1100" b="1">
                          <a:solidFill>
                            <a:srgbClr val="0C2B4A"/>
                          </a:solidFill>
                        </a:rPr>
                        <a:t>Notarised / certified copy</a:t>
                      </a:r>
                    </a:p>
                  </a:txBody>
                  <a:tcPr anchor="ctr" marL="73152" marR="54864" marT="27432" marB="27432">
                    <a:solidFill>
                      <a:srgbClr val="EEF3F8"/>
                    </a:solidFill>
                  </a:tcPr>
                </a:tc>
                <a:tc>
                  <a:txBody>
                    <a:bodyPr wrap="square"/>
                    <a:lstStyle/>
                    <a:p>
                      <a:r>
                        <a:rPr sz="1100">
                          <a:solidFill>
                            <a:srgbClr val="1A1A1A"/>
                          </a:solidFill>
                        </a:rPr>
                        <a:t>Digital-signature certificate (from a CA)</a:t>
                      </a:r>
                    </a:p>
                  </a:txBody>
                  <a:tcPr anchor="ctr" marL="73152" marR="54864" marT="27432" marB="27432">
                    <a:solidFill>
                      <a:srgbClr val="EEF3F8"/>
                    </a:solidFill>
                  </a:tcPr>
                </a:tc>
                <a:tc>
                  <a:txBody>
                    <a:bodyPr wrap="square"/>
                    <a:lstStyle/>
                    <a:p>
                      <a:r>
                        <a:rPr sz="1100">
                          <a:solidFill>
                            <a:srgbClr val="1A1A1A"/>
                          </a:solidFill>
                        </a:rPr>
                        <a:t>Trust — a licensed CA vouches for identity</a:t>
                      </a:r>
                    </a:p>
                  </a:txBody>
                  <a:tcPr anchor="ctr" marL="73152" marR="54864" marT="27432" marB="27432">
                    <a:solidFill>
                      <a:srgbClr val="EEF3F8"/>
                    </a:solidFill>
                  </a:tcPr>
                </a:tc>
              </a:tr>
              <a:tr h="630936">
                <a:tc>
                  <a:txBody>
                    <a:bodyPr wrap="square"/>
                    <a:lstStyle/>
                    <a:p>
                      <a:r>
                        <a:rPr sz="1100" b="1">
                          <a:solidFill>
                            <a:srgbClr val="0C2B4A"/>
                          </a:solidFill>
                        </a:rPr>
                        <a:t>Posting a letter (proof of sending)</a:t>
                      </a:r>
                    </a:p>
                  </a:txBody>
                  <a:tcPr anchor="ctr" marL="73152" marR="54864" marT="27432" marB="27432">
                    <a:solidFill>
                      <a:srgbClr val="FFFFFF"/>
                    </a:solidFill>
                  </a:tcPr>
                </a:tc>
                <a:tc>
                  <a:txBody>
                    <a:bodyPr wrap="square"/>
                    <a:lstStyle/>
                    <a:p>
                      <a:r>
                        <a:rPr sz="1100">
                          <a:solidFill>
                            <a:srgbClr val="1A1A1A"/>
                          </a:solidFill>
                        </a:rPr>
                        <a:t>Dispatch/receipt rules for e-records</a:t>
                      </a:r>
                    </a:p>
                  </a:txBody>
                  <a:tcPr anchor="ctr" marL="73152" marR="54864" marT="27432" marB="27432">
                    <a:solidFill>
                      <a:srgbClr val="FFFFFF"/>
                    </a:solidFill>
                  </a:tcPr>
                </a:tc>
                <a:tc>
                  <a:txBody>
                    <a:bodyPr wrap="square"/>
                    <a:lstStyle/>
                    <a:p>
                      <a:r>
                        <a:rPr sz="1100">
                          <a:solidFill>
                            <a:srgbClr val="1A1A1A"/>
                          </a:solidFill>
                        </a:rPr>
                        <a:t>Certainty of when a message legally 'arrived'</a:t>
                      </a:r>
                    </a:p>
                  </a:txBody>
                  <a:tcPr anchor="ctr" marL="73152" marR="54864" marT="27432" marB="27432">
                    <a:solidFill>
                      <a:srgbClr val="FFFFFF"/>
                    </a:solidFill>
                  </a:tcPr>
                </a:tc>
              </a:tr>
              <a:tr h="630936">
                <a:tc>
                  <a:txBody>
                    <a:bodyPr wrap="square"/>
                    <a:lstStyle/>
                    <a:p>
                      <a:r>
                        <a:rPr sz="1100" b="1">
                          <a:solidFill>
                            <a:srgbClr val="0C2B4A"/>
                          </a:solidFill>
                        </a:rPr>
                        <a:t>Paper contract in a court file</a:t>
                      </a:r>
                    </a:p>
                  </a:txBody>
                  <a:tcPr anchor="ctr" marL="73152" marR="54864" marT="27432" marB="27432">
                    <a:solidFill>
                      <a:srgbClr val="EEF3F8"/>
                    </a:solidFill>
                  </a:tcPr>
                </a:tc>
                <a:tc>
                  <a:txBody>
                    <a:bodyPr wrap="square"/>
                    <a:lstStyle/>
                    <a:p>
                      <a:r>
                        <a:rPr sz="1100">
                          <a:solidFill>
                            <a:srgbClr val="1A1A1A"/>
                          </a:solidFill>
                        </a:rPr>
                        <a:t>Electronic record admitted as evidence</a:t>
                      </a:r>
                    </a:p>
                  </a:txBody>
                  <a:tcPr anchor="ctr" marL="73152" marR="54864" marT="27432" marB="27432">
                    <a:solidFill>
                      <a:srgbClr val="EEF3F8"/>
                    </a:solidFill>
                  </a:tcPr>
                </a:tc>
                <a:tc>
                  <a:txBody>
                    <a:bodyPr wrap="square"/>
                    <a:lstStyle/>
                    <a:p>
                      <a:r>
                        <a:rPr sz="1100">
                          <a:solidFill>
                            <a:srgbClr val="1A1A1A"/>
                          </a:solidFill>
                        </a:rPr>
                        <a:t>Legal recognition — e-record counts in law</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digital signature does what a wet-ink signature does — and more (integrity + non-repudiation via cryptography). ⚠️ Legal specifics (section numbers, penalties, dates) are ILLUSTRATIVE of the framework and its debate — verify against the current official Nepali text (Nepal Law Commission / Gazette) before relying on them.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25 / 68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Electronic Records &amp; Digital Signatures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vendor emails a signed purchase order, then denies sending it. Because the order was digitally signed with the vendor's PRIVATE key, anyone can verify it with the vendor's PUBLIC key — establishing non-repudiation: only the vendor could have produced that signature. This is exactly why Nepali banks and government e-services accept digitally signed documents.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scanned image of my signature = a digital signature." A scanned signature is just a picture — anyone can copy-paste it and it proves nothing. A true digital signature is cryptographic: it binds a specific signer to a specific unaltered document and cannot be forged or reused, which is what gives it legal weight under the ETA.</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Under the ETA, an electronic record and a digital signature carry the same legal validity as paper and a handwritten signature. A digital signature uses asymmetric cryptography — sign with the private key, verify with the public key — providing authentication (who signed), integrity (not altered), and non-repudiation (cannot be denied). This is the legal-and-technical backbone of trusted e-transactions in Nepal.</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digital signature · asymmetric keys (private signs / public verifies) · authentication · integrity · non-repudiation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26 / 68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3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Offences &amp; Penalties — and the Free-Speech Debate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ETA's offences chapter criminalises acts such as unauthorised access ('hacking'), damage to computer source code, illegal/obscene/defamatory electronic publication, breach of confidentiality/privacy, and computer fraud and forgery. Penalties are commonly cited as fines up to about Rs. 200,000 and/or imprisonment up to about 5 years for several core offences. All figures are ILLUSTRATIVE — verify the exact section numbers and amounts.</a:t>
            </a:r>
          </a:p>
          <a:p>
            <a:pPr>
              <a:spcAft>
                <a:spcPts val="500"/>
              </a:spcAft>
            </a:pPr>
            <a:r>
              <a:rPr sz="1200" b="1">
                <a:solidFill>
                  <a:srgbClr val="185FA5"/>
                </a:solidFill>
              </a:rPr>
              <a:t>HOW IT WORKS</a:t>
            </a:r>
          </a:p>
          <a:p>
            <a:pPr>
              <a:spcAft>
                <a:spcPts val="600"/>
              </a:spcAft>
            </a:pPr>
            <a:r>
              <a:rPr sz="1400">
                <a:solidFill>
                  <a:srgbClr val="1A1A1A"/>
                </a:solidFill>
              </a:rPr>
              <a:t>•  Core offences: hacking, source-code damage, illegal e-publication, privacy breach, computer fraud/forgery.</a:t>
            </a:r>
          </a:p>
          <a:p>
            <a:pPr>
              <a:spcAft>
                <a:spcPts val="600"/>
              </a:spcAft>
            </a:pPr>
            <a:r>
              <a:rPr sz="1400">
                <a:solidFill>
                  <a:srgbClr val="1A1A1A"/>
                </a:solidFill>
              </a:rPr>
              <a:t>•  Commonly cited penalties: ~Rs. 200,000 fine and/or up to ~5 years' jail (VERIFY exact figures).</a:t>
            </a:r>
          </a:p>
          <a:p>
            <a:pPr>
              <a:spcAft>
                <a:spcPts val="600"/>
              </a:spcAft>
            </a:pPr>
            <a:r>
              <a:rPr sz="1400">
                <a:solidFill>
                  <a:srgbClr val="1A1A1A"/>
                </a:solidFill>
              </a:rPr>
              <a:t>•  The much-cited 'Section ~47' on illegal electronic publication is the most applied — and most criticised.</a:t>
            </a:r>
          </a:p>
          <a:p>
            <a:pPr>
              <a:spcAft>
                <a:spcPts val="600"/>
              </a:spcAft>
            </a:pPr>
            <a:r>
              <a:rPr sz="1400">
                <a:solidFill>
                  <a:srgbClr val="1A1A1A"/>
                </a:solidFill>
              </a:rPr>
              <a:t>•  Live debate: critics call the wording vague/over-broad and a threat to free speech; supporters see it as protection against real online harm.</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Same law: it makes your e-signature binding AND can make a careless post a criminal matter.</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27 / 68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3 · OFFENCE → PROVISION → PENALTY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ETA offences — provision, illustrative penalty, and consequence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910263"/>
                <a:gridCol w="3007894"/>
                <a:gridCol w="4511842"/>
              </a:tblGrid>
              <a:tr h="630936">
                <a:tc>
                  <a:txBody>
                    <a:bodyPr wrap="square"/>
                    <a:lstStyle/>
                    <a:p>
                      <a:r>
                        <a:rPr sz="1100" b="1">
                          <a:solidFill>
                            <a:srgbClr val="FFFFFF"/>
                          </a:solidFill>
                        </a:rPr>
                        <a:t>Offence (Nepal)</a:t>
                      </a:r>
                    </a:p>
                  </a:txBody>
                  <a:tcPr anchor="ctr" marL="73152" marR="54864" marT="27432" marB="27432">
                    <a:solidFill>
                      <a:srgbClr val="0C2B4A"/>
                    </a:solidFill>
                  </a:tcPr>
                </a:tc>
                <a:tc>
                  <a:txBody>
                    <a:bodyPr wrap="square"/>
                    <a:lstStyle/>
                    <a:p>
                      <a:r>
                        <a:rPr sz="1100" b="1">
                          <a:solidFill>
                            <a:srgbClr val="FFFFFF"/>
                          </a:solidFill>
                        </a:rPr>
                        <a:t>Provision (illustrative)</a:t>
                      </a:r>
                    </a:p>
                  </a:txBody>
                  <a:tcPr anchor="ctr" marL="73152" marR="54864" marT="27432" marB="27432">
                    <a:solidFill>
                      <a:srgbClr val="0C2B4A"/>
                    </a:solidFill>
                  </a:tcPr>
                </a:tc>
                <a:tc>
                  <a:txBody>
                    <a:bodyPr wrap="square"/>
                    <a:lstStyle/>
                    <a:p>
                      <a:r>
                        <a:rPr sz="1100" b="1">
                          <a:solidFill>
                            <a:srgbClr val="FFFFFF"/>
                          </a:solidFill>
                        </a:rPr>
                        <a:t>Illustrative penalty → consequence</a:t>
                      </a:r>
                    </a:p>
                  </a:txBody>
                  <a:tcPr anchor="ctr" marL="73152" marR="54864" marT="27432" marB="27432">
                    <a:solidFill>
                      <a:srgbClr val="0C2B4A"/>
                    </a:solidFill>
                  </a:tcPr>
                </a:tc>
              </a:tr>
              <a:tr h="630936">
                <a:tc>
                  <a:txBody>
                    <a:bodyPr wrap="square"/>
                    <a:lstStyle/>
                    <a:p>
                      <a:r>
                        <a:rPr sz="1050" b="1">
                          <a:solidFill>
                            <a:srgbClr val="0C2B4A"/>
                          </a:solidFill>
                        </a:rPr>
                        <a:t>Unauthorised access / hacking</a:t>
                      </a:r>
                    </a:p>
                  </a:txBody>
                  <a:tcPr anchor="ctr" marL="73152" marR="54864" marT="27432" marB="27432">
                    <a:solidFill>
                      <a:srgbClr val="FFFFFF"/>
                    </a:solidFill>
                  </a:tcPr>
                </a:tc>
                <a:tc>
                  <a:txBody>
                    <a:bodyPr wrap="square"/>
                    <a:lstStyle/>
                    <a:p>
                      <a:r>
                        <a:rPr sz="1050">
                          <a:solidFill>
                            <a:srgbClr val="1A1A1A"/>
                          </a:solidFill>
                        </a:rPr>
                        <a:t>ETA computer-offence section</a:t>
                      </a:r>
                    </a:p>
                  </a:txBody>
                  <a:tcPr anchor="ctr" marL="73152" marR="54864" marT="27432" marB="27432">
                    <a:solidFill>
                      <a:srgbClr val="FFFFFF"/>
                    </a:solidFill>
                  </a:tcPr>
                </a:tc>
                <a:tc>
                  <a:txBody>
                    <a:bodyPr wrap="square"/>
                    <a:lstStyle/>
                    <a:p>
                      <a:r>
                        <a:rPr sz="1050">
                          <a:solidFill>
                            <a:srgbClr val="1A1A1A"/>
                          </a:solidFill>
                        </a:rPr>
                        <a:t>~Fine and/or jail → criminal record</a:t>
                      </a:r>
                    </a:p>
                  </a:txBody>
                  <a:tcPr anchor="ctr" marL="73152" marR="54864" marT="27432" marB="27432">
                    <a:solidFill>
                      <a:srgbClr val="FFFFFF"/>
                    </a:solidFill>
                  </a:tcPr>
                </a:tc>
              </a:tr>
              <a:tr h="630936">
                <a:tc>
                  <a:txBody>
                    <a:bodyPr wrap="square"/>
                    <a:lstStyle/>
                    <a:p>
                      <a:r>
                        <a:rPr sz="1050" b="1">
                          <a:solidFill>
                            <a:srgbClr val="0C2B4A"/>
                          </a:solidFill>
                        </a:rPr>
                        <a:t>Damage / alteration of source code</a:t>
                      </a:r>
                    </a:p>
                  </a:txBody>
                  <a:tcPr anchor="ctr" marL="73152" marR="54864" marT="27432" marB="27432">
                    <a:solidFill>
                      <a:srgbClr val="EEF3F8"/>
                    </a:solidFill>
                  </a:tcPr>
                </a:tc>
                <a:tc>
                  <a:txBody>
                    <a:bodyPr wrap="square"/>
                    <a:lstStyle/>
                    <a:p>
                      <a:r>
                        <a:rPr sz="1050">
                          <a:solidFill>
                            <a:srgbClr val="1A1A1A"/>
                          </a:solidFill>
                        </a:rPr>
                        <a:t>ETA source-code section</a:t>
                      </a:r>
                    </a:p>
                  </a:txBody>
                  <a:tcPr anchor="ctr" marL="73152" marR="54864" marT="27432" marB="27432">
                    <a:solidFill>
                      <a:srgbClr val="EEF3F8"/>
                    </a:solidFill>
                  </a:tcPr>
                </a:tc>
                <a:tc>
                  <a:txBody>
                    <a:bodyPr wrap="square"/>
                    <a:lstStyle/>
                    <a:p>
                      <a:r>
                        <a:rPr sz="1050">
                          <a:solidFill>
                            <a:srgbClr val="1A1A1A"/>
                          </a:solidFill>
                        </a:rPr>
                        <a:t>~Fine and/or imprisonment → liability for damage</a:t>
                      </a:r>
                    </a:p>
                  </a:txBody>
                  <a:tcPr anchor="ctr" marL="73152" marR="54864" marT="27432" marB="27432">
                    <a:solidFill>
                      <a:srgbClr val="EEF3F8"/>
                    </a:solidFill>
                  </a:tcPr>
                </a:tc>
              </a:tr>
              <a:tr h="630936">
                <a:tc>
                  <a:txBody>
                    <a:bodyPr wrap="square"/>
                    <a:lstStyle/>
                    <a:p>
                      <a:r>
                        <a:rPr sz="1050" b="1">
                          <a:solidFill>
                            <a:srgbClr val="0C2B4A"/>
                          </a:solidFill>
                        </a:rPr>
                        <a:t>Illegal / obscene / defamatory e-publication</a:t>
                      </a:r>
                    </a:p>
                  </a:txBody>
                  <a:tcPr anchor="ctr" marL="73152" marR="54864" marT="27432" marB="27432">
                    <a:solidFill>
                      <a:srgbClr val="FFFFFF"/>
                    </a:solidFill>
                  </a:tcPr>
                </a:tc>
                <a:tc>
                  <a:txBody>
                    <a:bodyPr wrap="square"/>
                    <a:lstStyle/>
                    <a:p>
                      <a:r>
                        <a:rPr sz="1050">
                          <a:solidFill>
                            <a:srgbClr val="1A1A1A"/>
                          </a:solidFill>
                        </a:rPr>
                        <a:t>Section ~47 (most-cited)</a:t>
                      </a:r>
                    </a:p>
                  </a:txBody>
                  <a:tcPr anchor="ctr" marL="73152" marR="54864" marT="27432" marB="27432">
                    <a:solidFill>
                      <a:srgbClr val="FFFFFF"/>
                    </a:solidFill>
                  </a:tcPr>
                </a:tc>
                <a:tc>
                  <a:txBody>
                    <a:bodyPr wrap="square"/>
                    <a:lstStyle/>
                    <a:p>
                      <a:r>
                        <a:rPr sz="1050">
                          <a:solidFill>
                            <a:srgbClr val="1A1A1A"/>
                          </a:solidFill>
                        </a:rPr>
                        <a:t>~Up to Rs. 200,000 and/or ~5 yrs → the debated one</a:t>
                      </a:r>
                    </a:p>
                  </a:txBody>
                  <a:tcPr anchor="ctr" marL="73152" marR="54864" marT="27432" marB="27432">
                    <a:solidFill>
                      <a:srgbClr val="FFFFFF"/>
                    </a:solidFill>
                  </a:tcPr>
                </a:tc>
              </a:tr>
              <a:tr h="630936">
                <a:tc>
                  <a:txBody>
                    <a:bodyPr wrap="square"/>
                    <a:lstStyle/>
                    <a:p>
                      <a:r>
                        <a:rPr sz="1050" b="1">
                          <a:solidFill>
                            <a:srgbClr val="0C2B4A"/>
                          </a:solidFill>
                        </a:rPr>
                        <a:t>Breach of confidentiality / privacy</a:t>
                      </a:r>
                    </a:p>
                  </a:txBody>
                  <a:tcPr anchor="ctr" marL="73152" marR="54864" marT="27432" marB="27432">
                    <a:solidFill>
                      <a:srgbClr val="EEF3F8"/>
                    </a:solidFill>
                  </a:tcPr>
                </a:tc>
                <a:tc>
                  <a:txBody>
                    <a:bodyPr wrap="square"/>
                    <a:lstStyle/>
                    <a:p>
                      <a:r>
                        <a:rPr sz="1050">
                          <a:solidFill>
                            <a:srgbClr val="1A1A1A"/>
                          </a:solidFill>
                        </a:rPr>
                        <a:t>ETA + Privacy Act 2075</a:t>
                      </a:r>
                    </a:p>
                  </a:txBody>
                  <a:tcPr anchor="ctr" marL="73152" marR="54864" marT="27432" marB="27432">
                    <a:solidFill>
                      <a:srgbClr val="EEF3F8"/>
                    </a:solidFill>
                  </a:tcPr>
                </a:tc>
                <a:tc>
                  <a:txBody>
                    <a:bodyPr wrap="square"/>
                    <a:lstStyle/>
                    <a:p>
                      <a:r>
                        <a:rPr sz="1050">
                          <a:solidFill>
                            <a:srgbClr val="1A1A1A"/>
                          </a:solidFill>
                        </a:rPr>
                        <a:t>~Fine and/or jail → data-protection liability</a:t>
                      </a:r>
                    </a:p>
                  </a:txBody>
                  <a:tcPr anchor="ctr" marL="73152" marR="54864" marT="27432" marB="27432">
                    <a:solidFill>
                      <a:srgbClr val="EEF3F8"/>
                    </a:solidFill>
                  </a:tcPr>
                </a:tc>
              </a:tr>
              <a:tr h="630936">
                <a:tc>
                  <a:txBody>
                    <a:bodyPr wrap="square"/>
                    <a:lstStyle/>
                    <a:p>
                      <a:r>
                        <a:rPr sz="1050" b="1">
                          <a:solidFill>
                            <a:srgbClr val="0C2B4A"/>
                          </a:solidFill>
                        </a:rPr>
                        <a:t>Computer fraud &amp; forgery</a:t>
                      </a:r>
                    </a:p>
                  </a:txBody>
                  <a:tcPr anchor="ctr" marL="73152" marR="54864" marT="27432" marB="27432">
                    <a:solidFill>
                      <a:srgbClr val="FFFFFF"/>
                    </a:solidFill>
                  </a:tcPr>
                </a:tc>
                <a:tc>
                  <a:txBody>
                    <a:bodyPr wrap="square"/>
                    <a:lstStyle/>
                    <a:p>
                      <a:r>
                        <a:rPr sz="1050">
                          <a:solidFill>
                            <a:srgbClr val="1A1A1A"/>
                          </a:solidFill>
                        </a:rPr>
                        <a:t>ETA fraud/forgery section</a:t>
                      </a:r>
                    </a:p>
                  </a:txBody>
                  <a:tcPr anchor="ctr" marL="73152" marR="54864" marT="27432" marB="27432">
                    <a:solidFill>
                      <a:srgbClr val="FFFFFF"/>
                    </a:solidFill>
                  </a:tcPr>
                </a:tc>
                <a:tc>
                  <a:txBody>
                    <a:bodyPr wrap="square"/>
                    <a:lstStyle/>
                    <a:p>
                      <a:r>
                        <a:rPr sz="1050">
                          <a:solidFill>
                            <a:srgbClr val="1A1A1A"/>
                          </a:solidFill>
                        </a:rPr>
                        <a:t>~Fine and/or jail → restitution + record</a:t>
                      </a:r>
                    </a:p>
                  </a:txBody>
                  <a:tcPr anchor="ctr" marL="73152" marR="54864" marT="27432" marB="27432">
                    <a:solidFill>
                      <a:srgbClr val="FFFFFF"/>
                    </a:solidFill>
                  </a:tcPr>
                </a:tc>
              </a:tr>
              <a:tr h="630936">
                <a:tc>
                  <a:txBody>
                    <a:bodyPr wrap="square"/>
                    <a:lstStyle/>
                    <a:p>
                      <a:r>
                        <a:rPr sz="1050" b="1">
                          <a:solidFill>
                            <a:srgbClr val="0C2B4A"/>
                          </a:solidFill>
                        </a:rPr>
                        <a:t>False statement to obtain a certificate</a:t>
                      </a:r>
                    </a:p>
                  </a:txBody>
                  <a:tcPr anchor="ctr" marL="73152" marR="54864" marT="27432" marB="27432">
                    <a:solidFill>
                      <a:srgbClr val="EEF3F8"/>
                    </a:solidFill>
                  </a:tcPr>
                </a:tc>
                <a:tc>
                  <a:txBody>
                    <a:bodyPr wrap="square"/>
                    <a:lstStyle/>
                    <a:p>
                      <a:r>
                        <a:rPr sz="1050">
                          <a:solidFill>
                            <a:srgbClr val="1A1A1A"/>
                          </a:solidFill>
                        </a:rPr>
                        <a:t>ETA certificate section</a:t>
                      </a:r>
                    </a:p>
                  </a:txBody>
                  <a:tcPr anchor="ctr" marL="73152" marR="54864" marT="27432" marB="27432">
                    <a:solidFill>
                      <a:srgbClr val="EEF3F8"/>
                    </a:solidFill>
                  </a:tcPr>
                </a:tc>
                <a:tc>
                  <a:txBody>
                    <a:bodyPr wrap="square"/>
                    <a:lstStyle/>
                    <a:p>
                      <a:r>
                        <a:rPr sz="1050">
                          <a:solidFill>
                            <a:srgbClr val="1A1A1A"/>
                          </a:solidFill>
                        </a:rPr>
                        <a:t>~Penalty → certificate void, prosecution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Section numbers &amp; penalty figures are ILLUSTRATIVE of the framework, frequently misquoted. ⚠️ Legal specifics (section numbers, penalties, dates) are ILLUSTRATIVE of the framework and its debate — verify against the current official Nepali text (Nepal Law Commission / Gazette) before relying on them.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28 / 68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3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Offences &amp; Penalties — and the Free-Speech Debate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Nepal, individuals have been arrested over Facebook/TikTok posts and comments under the ETA's electronic-publication offence (often cited as 'Section ~47'). Present both sides: supporters say it curbs genuine online harm (defamation, obscenity, fraud); critics argue the wording is vague and over-broad and has been used to silence legitimate criticism — a core reason behind reform/replacement proposals. Verify the current law before relying on specifics.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ETA clearly and precisely defines online defamation and obscenity." Critics argue 'Section ~47' is vague and over-broad, which is exactly why it is contested and why reform is proposed. Treat the specific section number and penalty as 'illustrative — verify'; teach the CONCEPT and the debate, not a memorised figure as settled current law.</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ETA's offences chapter criminalises hacking, source-code damage, illegal/obscene/defamatory e-publication, privacy breach, and computer fraud/forgery, with penalties commonly cited as fines up to ~Rs. 200,000 and/or up to ~5 years' jail (verify). The most-applied and most-criticised provision (often 'Section ~47') on electronic publication raises a genuine free-speech vs online-harm tension — present both sides, and verify current law before citing specifics.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offences chapter · Section ~47 (illustrative) · penalties (verify) · free-speech vs online-harm debate · reform proposed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29 / 68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S46 — 'Protection or over-reach?'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should posting a defamatory comment online be treated more seriously than saying it in person? Argue using the ETA.</a:t>
            </a:r>
          </a:p>
          <a:p>
            <a:pPr>
              <a:spcAft>
                <a:spcPts val="700"/>
              </a:spcAft>
            </a:pPr>
            <a:r>
              <a:rPr sz="1550">
                <a:solidFill>
                  <a:srgbClr val="1A1A1A"/>
                </a:solidFill>
              </a:rPr>
              <a:t>•  List one reason the e-publication offence PROTECTS people, and one reason it risks free speech.</a:t>
            </a:r>
          </a:p>
          <a:p>
            <a:pPr>
              <a:spcAft>
                <a:spcPts val="700"/>
              </a:spcAft>
            </a:pPr>
            <a:r>
              <a:rPr sz="1550">
                <a:solidFill>
                  <a:srgbClr val="1A1A1A"/>
                </a:solidFill>
              </a:rPr>
              <a:t>•  Take 3–4 answers aloud (3 min); keep both sides on the board.</a:t>
            </a:r>
          </a:p>
          <a:p>
            <a:pPr>
              <a:spcAft>
                <a:spcPts val="700"/>
              </a:spcAft>
            </a:pPr>
            <a:r>
              <a:rPr sz="1550">
                <a:solidFill>
                  <a:srgbClr val="1A1A1A"/>
                </a:solidFill>
              </a:rPr>
              <a:t>•  Close: the honest position holds BOTH truths — real online harm is real, and vague law can chill speech.</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Reward both-sides reasoning (Unit 2 S10 style). Remind students that specific section numbers/penalties are illustrative — the debate and concept matter more than a memorised figure. Verify current law.</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30 / 68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S46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digital signature primarily provides authentication, integrity, and:</a:t>
            </a:r>
          </a:p>
          <a:p>
            <a:pPr lvl="1"/>
            <a:r>
              <a:rPr sz="1500" b="1">
                <a:solidFill>
                  <a:srgbClr val="0F6E56"/>
                </a:solidFill>
              </a:rPr>
              <a:t>a) encryption speed   b) ✅ non-repudiation   c) anonymity   d) lower cost</a:t>
            </a:r>
          </a:p>
          <a:p>
            <a:pPr lvl="1">
              <a:spcBef>
                <a:spcPts val="600"/>
              </a:spcBef>
            </a:pPr>
            <a:r>
              <a:rPr sz="1500" i="1">
                <a:solidFill>
                  <a:srgbClr val="1A1A1A"/>
                </a:solidFill>
              </a:rPr>
              <a:t>     Why: only the signer's private key could produce it, so the signer cannot later deny signing.</a:t>
            </a:r>
          </a:p>
          <a:p>
            <a:pPr>
              <a:spcBef>
                <a:spcPts val="900"/>
              </a:spcBef>
            </a:pPr>
            <a:r>
              <a:rPr sz="1700" b="1">
                <a:solidFill>
                  <a:srgbClr val="0C2B4A"/>
                </a:solidFill>
              </a:rPr>
              <a:t>Q2.  The most frequently applied and criticised ETA provision (often used for social-media posts) is:</a:t>
            </a:r>
          </a:p>
          <a:p>
            <a:pPr lvl="1"/>
            <a:r>
              <a:rPr sz="1500" b="1">
                <a:solidFill>
                  <a:srgbClr val="0F6E56"/>
                </a:solidFill>
              </a:rPr>
              <a:t>a) the digital-signature section   b) ✅ the electronic-publication offence ('Section ~47' — verify)   c) the Controller section   d) the IT Tribunal</a:t>
            </a:r>
          </a:p>
          <a:p>
            <a:pPr lvl="1">
              <a:spcBef>
                <a:spcPts val="600"/>
              </a:spcBef>
            </a:pPr>
            <a:r>
              <a:rPr sz="1500" i="1">
                <a:solidFill>
                  <a:srgbClr val="1A1A1A"/>
                </a:solidFill>
              </a:rPr>
              <a:t>     Why: the e-publication offence is the most-used and most-debated part — treat the exact number as 'verify current law'.</a:t>
            </a:r>
          </a:p>
          <a:p>
            <a:pPr lvl="1">
              <a:spcBef>
                <a:spcPts val="600"/>
              </a:spcBef>
            </a:pPr>
            <a:r>
              <a:rPr sz="1500" i="1">
                <a:solidFill>
                  <a:srgbClr val="1A1A1A"/>
                </a:solidFill>
              </a:rPr>
              <a:t>Discussion: should an online defamatory comment be treated more seriously than the same words in person? Argue via the ETA.</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31 / 68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S46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The ETA 2063 has two halves: it ENABLES the digital economy AND PUNISHES computer offences.</a:t>
            </a:r>
          </a:p>
          <a:p>
            <a:pPr>
              <a:spcAft>
                <a:spcPts val="800"/>
              </a:spcAft>
            </a:pPr>
            <a:r>
              <a:rPr sz="1500">
                <a:solidFill>
                  <a:srgbClr val="1A1A1A"/>
                </a:solidFill>
              </a:rPr>
              <a:t>2.  Digital signatures give authentication, integrity, and non-repudiation — legal validity for e-records.</a:t>
            </a:r>
          </a:p>
          <a:p>
            <a:pPr>
              <a:spcAft>
                <a:spcPts val="800"/>
              </a:spcAft>
            </a:pPr>
            <a:r>
              <a:rPr sz="1500">
                <a:solidFill>
                  <a:srgbClr val="1A1A1A"/>
                </a:solidFill>
              </a:rPr>
              <a:t>3.  The offences chapter (esp. the debated 'Section ~47') carries fines + jail and raises a free-speech tension (verify specifics).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Every time you e-sign a document, use mobile banking, or accept online terms in Nepal, the ETA makes that binding — and the same law can make a careless post a criminal matter. Understanding both halves is understanding your own digital rights and risks.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S47 — the Rules that operationalise the Act (ETR), the Controller &amp; CAs, and Nepal's IT Policy.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32 / 68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47 · LECTURE HOUR 3 (OF 4)</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Electronic Transaction Rules · Controller &amp; CAs · IT Policy</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An Act says 'digital signatures are legal' — but WHO actually issues them, WHO checks the issuer is trustworthy, and WHAT national plan pushes Nepal toward a digital economy? That's the Rules, the Controller, and the Policy.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33 / 68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Electronic Transaction Rules (ETR)</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Electronic Transaction Rules (commonly cited as ETR 2064 BS) are subordinate legislation made under the ETA that spell out the PROCEDURES — how the Act is actually implemented. Where the Act states the principle ('digital signatures are legal'), the Rules state the mechanics: how Certifying Authorities are licensed, how certificates are issued/suspended/revoked, the Controller's duties, standards, audit, and fees.</a:t>
            </a:r>
          </a:p>
          <a:p>
            <a:pPr>
              <a:spcAft>
                <a:spcPts val="500"/>
              </a:spcAft>
            </a:pPr>
            <a:r>
              <a:rPr sz="1200" b="1">
                <a:solidFill>
                  <a:srgbClr val="185FA5"/>
                </a:solidFill>
              </a:rPr>
              <a:t>HOW IT WORKS</a:t>
            </a:r>
          </a:p>
          <a:p>
            <a:pPr>
              <a:spcAft>
                <a:spcPts val="600"/>
              </a:spcAft>
            </a:pPr>
            <a:r>
              <a:rPr sz="1400">
                <a:solidFill>
                  <a:srgbClr val="1A1A1A"/>
                </a:solidFill>
              </a:rPr>
              <a:t>•  The Act is the parent law (passed by Parliament); the Rules are executive procedures made under it.</a:t>
            </a:r>
          </a:p>
          <a:p>
            <a:pPr>
              <a:spcAft>
                <a:spcPts val="600"/>
              </a:spcAft>
            </a:pPr>
            <a:r>
              <a:rPr sz="1400">
                <a:solidFill>
                  <a:srgbClr val="1A1A1A"/>
                </a:solidFill>
              </a:rPr>
              <a:t>•  Rules cover: licensing of CAs, certificate issue/suspend/revoke, Controller duties, standards/audit, fees.</a:t>
            </a:r>
          </a:p>
          <a:p>
            <a:pPr>
              <a:spcAft>
                <a:spcPts val="600"/>
              </a:spcAft>
            </a:pPr>
            <a:r>
              <a:rPr sz="1400">
                <a:solidFill>
                  <a:srgbClr val="1A1A1A"/>
                </a:solidFill>
              </a:rPr>
              <a:t>•  Rules are easier to amend than the Act — detail changes without re-passing the whole law.</a:t>
            </a:r>
          </a:p>
          <a:p>
            <a:pPr>
              <a:spcAft>
                <a:spcPts val="600"/>
              </a:spcAft>
            </a:pPr>
            <a:r>
              <a:rPr sz="1400">
                <a:solidFill>
                  <a:srgbClr val="1A1A1A"/>
                </a:solidFill>
              </a:rPr>
              <a:t>•  Confirm the exact year and rule numbers against the official text (commonly cited as ETR 2064).</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The Act sets the principle; the Rules are the operating manual that makes it work.</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34 / 68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Act vs Rules — the parent law vs the procedures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698750"/>
                <a:gridCol w="4127500"/>
                <a:gridCol w="4603750"/>
              </a:tblGrid>
              <a:tr h="630936">
                <a:tc>
                  <a:txBody>
                    <a:bodyPr wrap="square"/>
                    <a:lstStyle/>
                    <a:p>
                      <a:r>
                        <a:rPr sz="1150" b="1">
                          <a:solidFill>
                            <a:srgbClr val="FFFFFF"/>
                          </a:solidFill>
                        </a:rPr>
                        <a:t>Question</a:t>
                      </a:r>
                    </a:p>
                  </a:txBody>
                  <a:tcPr anchor="ctr" marL="73152" marR="54864" marT="27432" marB="27432">
                    <a:solidFill>
                      <a:srgbClr val="0C2B4A"/>
                    </a:solidFill>
                  </a:tcPr>
                </a:tc>
                <a:tc>
                  <a:txBody>
                    <a:bodyPr wrap="square"/>
                    <a:lstStyle/>
                    <a:p>
                      <a:r>
                        <a:rPr sz="1150" b="1">
                          <a:solidFill>
                            <a:srgbClr val="FFFFFF"/>
                          </a:solidFill>
                        </a:rPr>
                        <a:t>The Act (ETA)</a:t>
                      </a:r>
                    </a:p>
                  </a:txBody>
                  <a:tcPr anchor="ctr" marL="73152" marR="54864" marT="27432" marB="27432">
                    <a:solidFill>
                      <a:srgbClr val="0C2B4A"/>
                    </a:solidFill>
                  </a:tcPr>
                </a:tc>
                <a:tc>
                  <a:txBody>
                    <a:bodyPr wrap="square"/>
                    <a:lstStyle/>
                    <a:p>
                      <a:r>
                        <a:rPr sz="1150" b="1">
                          <a:solidFill>
                            <a:srgbClr val="FFFFFF"/>
                          </a:solidFill>
                        </a:rPr>
                        <a:t>The Rules (ETR)</a:t>
                      </a:r>
                    </a:p>
                  </a:txBody>
                  <a:tcPr anchor="ctr" marL="73152" marR="54864" marT="27432" marB="27432">
                    <a:solidFill>
                      <a:srgbClr val="0C2B4A"/>
                    </a:solidFill>
                  </a:tcPr>
                </a:tc>
              </a:tr>
              <a:tr h="630936">
                <a:tc>
                  <a:txBody>
                    <a:bodyPr wrap="square"/>
                    <a:lstStyle/>
                    <a:p>
                      <a:r>
                        <a:rPr sz="1100" b="1">
                          <a:solidFill>
                            <a:srgbClr val="0C2B4A"/>
                          </a:solidFill>
                        </a:rPr>
                        <a:t>What is it?</a:t>
                      </a:r>
                    </a:p>
                  </a:txBody>
                  <a:tcPr anchor="ctr" marL="73152" marR="54864" marT="27432" marB="27432">
                    <a:solidFill>
                      <a:srgbClr val="FFFFFF"/>
                    </a:solidFill>
                  </a:tcPr>
                </a:tc>
                <a:tc>
                  <a:txBody>
                    <a:bodyPr wrap="square"/>
                    <a:lstStyle/>
                    <a:p>
                      <a:r>
                        <a:rPr sz="1100">
                          <a:solidFill>
                            <a:srgbClr val="1A1A1A"/>
                          </a:solidFill>
                        </a:rPr>
                        <a:t>The parent primary law</a:t>
                      </a:r>
                    </a:p>
                  </a:txBody>
                  <a:tcPr anchor="ctr" marL="73152" marR="54864" marT="27432" marB="27432">
                    <a:solidFill>
                      <a:srgbClr val="FFFFFF"/>
                    </a:solidFill>
                  </a:tcPr>
                </a:tc>
                <a:tc>
                  <a:txBody>
                    <a:bodyPr wrap="square"/>
                    <a:lstStyle/>
                    <a:p>
                      <a:r>
                        <a:rPr sz="1100">
                          <a:solidFill>
                            <a:srgbClr val="1A1A1A"/>
                          </a:solidFill>
                        </a:rPr>
                        <a:t>Subordinate procedures under the Act</a:t>
                      </a:r>
                    </a:p>
                  </a:txBody>
                  <a:tcPr anchor="ctr" marL="73152" marR="54864" marT="27432" marB="27432">
                    <a:solidFill>
                      <a:srgbClr val="FFFFFF"/>
                    </a:solidFill>
                  </a:tcPr>
                </a:tc>
              </a:tr>
              <a:tr h="630936">
                <a:tc>
                  <a:txBody>
                    <a:bodyPr wrap="square"/>
                    <a:lstStyle/>
                    <a:p>
                      <a:r>
                        <a:rPr sz="1100" b="1">
                          <a:solidFill>
                            <a:srgbClr val="0C2B4A"/>
                          </a:solidFill>
                        </a:rPr>
                        <a:t>Who makes it?</a:t>
                      </a:r>
                    </a:p>
                  </a:txBody>
                  <a:tcPr anchor="ctr" marL="73152" marR="54864" marT="27432" marB="27432">
                    <a:solidFill>
                      <a:srgbClr val="EEF3F8"/>
                    </a:solidFill>
                  </a:tcPr>
                </a:tc>
                <a:tc>
                  <a:txBody>
                    <a:bodyPr wrap="square"/>
                    <a:lstStyle/>
                    <a:p>
                      <a:r>
                        <a:rPr sz="1100">
                          <a:solidFill>
                            <a:srgbClr val="1A1A1A"/>
                          </a:solidFill>
                        </a:rPr>
                        <a:t>Parliament (legislature)</a:t>
                      </a:r>
                    </a:p>
                  </a:txBody>
                  <a:tcPr anchor="ctr" marL="73152" marR="54864" marT="27432" marB="27432">
                    <a:solidFill>
                      <a:srgbClr val="EEF3F8"/>
                    </a:solidFill>
                  </a:tcPr>
                </a:tc>
                <a:tc>
                  <a:txBody>
                    <a:bodyPr wrap="square"/>
                    <a:lstStyle/>
                    <a:p>
                      <a:r>
                        <a:rPr sz="1100">
                          <a:solidFill>
                            <a:srgbClr val="1A1A1A"/>
                          </a:solidFill>
                        </a:rPr>
                        <a:t>The executive/government under the Act</a:t>
                      </a:r>
                    </a:p>
                  </a:txBody>
                  <a:tcPr anchor="ctr" marL="73152" marR="54864" marT="27432" marB="27432">
                    <a:solidFill>
                      <a:srgbClr val="EEF3F8"/>
                    </a:solidFill>
                  </a:tcPr>
                </a:tc>
              </a:tr>
              <a:tr h="630936">
                <a:tc>
                  <a:txBody>
                    <a:bodyPr wrap="square"/>
                    <a:lstStyle/>
                    <a:p>
                      <a:r>
                        <a:rPr sz="1100" b="1">
                          <a:solidFill>
                            <a:srgbClr val="0C2B4A"/>
                          </a:solidFill>
                        </a:rPr>
                        <a:t>What does it do?</a:t>
                      </a:r>
                    </a:p>
                  </a:txBody>
                  <a:tcPr anchor="ctr" marL="73152" marR="54864" marT="27432" marB="27432">
                    <a:solidFill>
                      <a:srgbClr val="FFFFFF"/>
                    </a:solidFill>
                  </a:tcPr>
                </a:tc>
                <a:tc>
                  <a:txBody>
                    <a:bodyPr wrap="square"/>
                    <a:lstStyle/>
                    <a:p>
                      <a:r>
                        <a:rPr sz="1100">
                          <a:solidFill>
                            <a:srgbClr val="1A1A1A"/>
                          </a:solidFill>
                        </a:rPr>
                        <a:t>States principles &amp; offences</a:t>
                      </a:r>
                    </a:p>
                  </a:txBody>
                  <a:tcPr anchor="ctr" marL="73152" marR="54864" marT="27432" marB="27432">
                    <a:solidFill>
                      <a:srgbClr val="FFFFFF"/>
                    </a:solidFill>
                  </a:tcPr>
                </a:tc>
                <a:tc>
                  <a:txBody>
                    <a:bodyPr wrap="square"/>
                    <a:lstStyle/>
                    <a:p>
                      <a:r>
                        <a:rPr sz="1100">
                          <a:solidFill>
                            <a:srgbClr val="1A1A1A"/>
                          </a:solidFill>
                        </a:rPr>
                        <a:t>Spells out the how-to (licensing, certificates, fees)</a:t>
                      </a:r>
                    </a:p>
                  </a:txBody>
                  <a:tcPr anchor="ctr" marL="73152" marR="54864" marT="27432" marB="27432">
                    <a:solidFill>
                      <a:srgbClr val="FFFFFF"/>
                    </a:solidFill>
                  </a:tcPr>
                </a:tc>
              </a:tr>
              <a:tr h="630936">
                <a:tc>
                  <a:txBody>
                    <a:bodyPr wrap="square"/>
                    <a:lstStyle/>
                    <a:p>
                      <a:r>
                        <a:rPr sz="1100" b="1">
                          <a:solidFill>
                            <a:srgbClr val="0C2B4A"/>
                          </a:solidFill>
                        </a:rPr>
                        <a:t>How binding?</a:t>
                      </a:r>
                    </a:p>
                  </a:txBody>
                  <a:tcPr anchor="ctr" marL="73152" marR="54864" marT="27432" marB="27432">
                    <a:solidFill>
                      <a:srgbClr val="EEF3F8"/>
                    </a:solidFill>
                  </a:tcPr>
                </a:tc>
                <a:tc>
                  <a:txBody>
                    <a:bodyPr wrap="square"/>
                    <a:lstStyle/>
                    <a:p>
                      <a:r>
                        <a:rPr sz="1100">
                          <a:solidFill>
                            <a:srgbClr val="1A1A1A"/>
                          </a:solidFill>
                        </a:rPr>
                        <a:t>Primary legislation</a:t>
                      </a:r>
                    </a:p>
                  </a:txBody>
                  <a:tcPr anchor="ctr" marL="73152" marR="54864" marT="27432" marB="27432">
                    <a:solidFill>
                      <a:srgbClr val="EEF3F8"/>
                    </a:solidFill>
                  </a:tcPr>
                </a:tc>
                <a:tc>
                  <a:txBody>
                    <a:bodyPr wrap="square"/>
                    <a:lstStyle/>
                    <a:p>
                      <a:r>
                        <a:rPr sz="1100">
                          <a:solidFill>
                            <a:srgbClr val="1A1A1A"/>
                          </a:solidFill>
                        </a:rPr>
                        <a:t>Binding, but derives authority from the Act</a:t>
                      </a:r>
                    </a:p>
                  </a:txBody>
                  <a:tcPr anchor="ctr" marL="73152" marR="54864" marT="27432" marB="27432">
                    <a:solidFill>
                      <a:srgbClr val="EEF3F8"/>
                    </a:solidFill>
                  </a:tcPr>
                </a:tc>
              </a:tr>
              <a:tr h="630936">
                <a:tc>
                  <a:txBody>
                    <a:bodyPr wrap="square"/>
                    <a:lstStyle/>
                    <a:p>
                      <a:r>
                        <a:rPr sz="1100" b="1">
                          <a:solidFill>
                            <a:srgbClr val="0C2B4A"/>
                          </a:solidFill>
                        </a:rPr>
                        <a:t>How easy to change?</a:t>
                      </a:r>
                    </a:p>
                  </a:txBody>
                  <a:tcPr anchor="ctr" marL="73152" marR="54864" marT="27432" marB="27432">
                    <a:solidFill>
                      <a:srgbClr val="FFFFFF"/>
                    </a:solidFill>
                  </a:tcPr>
                </a:tc>
                <a:tc>
                  <a:txBody>
                    <a:bodyPr wrap="square"/>
                    <a:lstStyle/>
                    <a:p>
                      <a:r>
                        <a:rPr sz="1100">
                          <a:solidFill>
                            <a:srgbClr val="1A1A1A"/>
                          </a:solidFill>
                        </a:rPr>
                        <a:t>Hard — needs Parliament</a:t>
                      </a:r>
                    </a:p>
                  </a:txBody>
                  <a:tcPr anchor="ctr" marL="73152" marR="54864" marT="27432" marB="27432">
                    <a:solidFill>
                      <a:srgbClr val="FFFFFF"/>
                    </a:solidFill>
                  </a:tcPr>
                </a:tc>
                <a:tc>
                  <a:txBody>
                    <a:bodyPr wrap="square"/>
                    <a:lstStyle/>
                    <a:p>
                      <a:r>
                        <a:rPr sz="1100">
                          <a:solidFill>
                            <a:srgbClr val="1A1A1A"/>
                          </a:solidFill>
                        </a:rPr>
                        <a:t>Easier — amended by the executive</a:t>
                      </a:r>
                    </a:p>
                  </a:txBody>
                  <a:tcPr anchor="ctr" marL="73152" marR="54864" marT="27432" marB="27432">
                    <a:solidFill>
                      <a:srgbClr val="FFFFFF"/>
                    </a:solidFill>
                  </a:tcPr>
                </a:tc>
              </a:tr>
              <a:tr h="630936">
                <a:tc>
                  <a:txBody>
                    <a:bodyPr wrap="square"/>
                    <a:lstStyle/>
                    <a:p>
                      <a:r>
                        <a:rPr sz="1100" b="1">
                          <a:solidFill>
                            <a:srgbClr val="0C2B4A"/>
                          </a:solidFill>
                        </a:rPr>
                        <a:t>Example content</a:t>
                      </a:r>
                    </a:p>
                  </a:txBody>
                  <a:tcPr anchor="ctr" marL="73152" marR="54864" marT="27432" marB="27432">
                    <a:solidFill>
                      <a:srgbClr val="EEF3F8"/>
                    </a:solidFill>
                  </a:tcPr>
                </a:tc>
                <a:tc>
                  <a:txBody>
                    <a:bodyPr wrap="square"/>
                    <a:lstStyle/>
                    <a:p>
                      <a:r>
                        <a:rPr sz="1100">
                          <a:solidFill>
                            <a:srgbClr val="1A1A1A"/>
                          </a:solidFill>
                        </a:rPr>
                        <a:t>'Digital signatures are legally valid'</a:t>
                      </a:r>
                    </a:p>
                  </a:txBody>
                  <a:tcPr anchor="ctr" marL="73152" marR="54864" marT="27432" marB="27432">
                    <a:solidFill>
                      <a:srgbClr val="EEF3F8"/>
                    </a:solidFill>
                  </a:tcPr>
                </a:tc>
                <a:tc>
                  <a:txBody>
                    <a:bodyPr wrap="square"/>
                    <a:lstStyle/>
                    <a:p>
                      <a:r>
                        <a:rPr sz="1100">
                          <a:solidFill>
                            <a:srgbClr val="1A1A1A"/>
                          </a:solidFill>
                        </a:rPr>
                        <a:t>'How a CA is licensed and audited'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Rules and the Act are NOT the same thing: the Act is the parent law; the Rules are the detailed procedures issued under it. ⚠️ Legal specifics (section numbers, penalties, dates) are ILLUSTRATIVE of the framework and its debate — verify against the current official Nepali text (Nepal Law Commission / Gazette) before relying on them.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35 / 68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Electronic Transaction Rules (ETR)</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The ETA says a licensed Certifying Authority may issue digital-signature certificates. The ETR is what actually spells out HOW a Nepali entity becomes a licensed CA — the application, the standards it must meet, audits, and fees, plus how a certificate is suspended or revoked. Without the Rules, the Act's principle would have no working machinery.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"Rules and the Act are the same thing." They are different in kind: the Act is the parent law passed by Parliament (principles and offences); the Rules are detailed procedures issued by the executive under the Act, and are easier to amend. Confusing the two is a classic exam mistake.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Electronic Transaction Rules (commonly ETR 2064) are subordinate legislation under the ETA that specify the PROCEDURES to implement the Act: licensing of Certifying Authorities, issuing/suspending/revoking digital-signature certificates, the Controller's duties, standards, audit, and fees. The Act (Parliament) states principles; the Rules (executive) operationalise them and are easier to amend.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ETR 2064 · subordinate legislation · procedures under the Act · CA licensing &amp; certificates · Act ≠ Rules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36 / 68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Controller &amp; Certifying Authorities (PKI in Nepal)</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Office of the Controller of Certification (OCC, the 'Controller'), under the Ministry of Communication and Information Technology, is the government body that LICENSES and SUPERVISES Certifying Authorities (CAs). CAs, in turn, issue digital-signature certificates to the public. Together they form Nepal's PKI trust hierarchy: Controller (root) → licensed CAs → end-user certificates.</a:t>
            </a:r>
          </a:p>
          <a:p>
            <a:pPr>
              <a:spcAft>
                <a:spcPts val="500"/>
              </a:spcAft>
            </a:pPr>
            <a:r>
              <a:rPr sz="1200" b="1">
                <a:solidFill>
                  <a:srgbClr val="185FA5"/>
                </a:solidFill>
              </a:rPr>
              <a:t>HOW IT WORKS</a:t>
            </a:r>
          </a:p>
          <a:p>
            <a:pPr>
              <a:spcAft>
                <a:spcPts val="600"/>
              </a:spcAft>
            </a:pPr>
            <a:r>
              <a:rPr sz="1400">
                <a:solidFill>
                  <a:srgbClr val="1A1A1A"/>
                </a:solidFill>
              </a:rPr>
              <a:t>•  Controller = root authority: licenses CAs, sets standards, audits, can suspend/revoke.</a:t>
            </a:r>
          </a:p>
          <a:p>
            <a:pPr>
              <a:spcAft>
                <a:spcPts val="600"/>
              </a:spcAft>
            </a:pPr>
            <a:r>
              <a:rPr sz="1400">
                <a:solidFill>
                  <a:srgbClr val="1A1A1A"/>
                </a:solidFill>
              </a:rPr>
              <a:t>•  Certifying Authorities = licensed bodies that issue certificates after verifying identity.</a:t>
            </a:r>
          </a:p>
          <a:p>
            <a:pPr>
              <a:spcAft>
                <a:spcPts val="600"/>
              </a:spcAft>
            </a:pPr>
            <a:r>
              <a:rPr sz="1400">
                <a:solidFill>
                  <a:srgbClr val="1A1A1A"/>
                </a:solidFill>
              </a:rPr>
              <a:t>•  End users (citizens, banks, businesses) hold certificates used to sign and verify.</a:t>
            </a:r>
          </a:p>
          <a:p>
            <a:pPr>
              <a:spcAft>
                <a:spcPts val="600"/>
              </a:spcAft>
            </a:pPr>
            <a:r>
              <a:rPr sz="1400">
                <a:solidFill>
                  <a:srgbClr val="1A1A1A"/>
                </a:solidFill>
              </a:rPr>
              <a:t>•  Trust flows DOWN the chain — a certificate is only as trustworthy as the CA and Controller above it.</a:t>
            </a:r>
          </a:p>
        </p:txBody>
      </p:sp>
      <p:pic>
        <p:nvPicPr>
          <p:cNvPr id="6" name="Picture 5" descr="s47_pki.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Controller → CAs → users: trust flows down a chain, like a notary system for the digital world.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37 / 68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PKI trust chain — who does what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34729"/>
                <a:gridCol w="4015945"/>
                <a:gridCol w="4479324"/>
              </a:tblGrid>
              <a:tr h="630936">
                <a:tc>
                  <a:txBody>
                    <a:bodyPr wrap="square"/>
                    <a:lstStyle/>
                    <a:p>
                      <a:r>
                        <a:rPr sz="1150" b="1">
                          <a:solidFill>
                            <a:srgbClr val="FFFFFF"/>
                          </a:solidFill>
                        </a:rPr>
                        <a:t>Role in the chain</a:t>
                      </a:r>
                    </a:p>
                  </a:txBody>
                  <a:tcPr anchor="ctr" marL="73152" marR="54864" marT="27432" marB="27432">
                    <a:solidFill>
                      <a:srgbClr val="0C2B4A"/>
                    </a:solidFill>
                  </a:tcPr>
                </a:tc>
                <a:tc>
                  <a:txBody>
                    <a:bodyPr wrap="square"/>
                    <a:lstStyle/>
                    <a:p>
                      <a:r>
                        <a:rPr sz="1150" b="1">
                          <a:solidFill>
                            <a:srgbClr val="FFFFFF"/>
                          </a:solidFill>
                        </a:rPr>
                        <a:t>Who / where (Nepal)</a:t>
                      </a:r>
                    </a:p>
                  </a:txBody>
                  <a:tcPr anchor="ctr" marL="73152" marR="54864" marT="27432" marB="27432">
                    <a:solidFill>
                      <a:srgbClr val="0C2B4A"/>
                    </a:solidFill>
                  </a:tcPr>
                </a:tc>
                <a:tc>
                  <a:txBody>
                    <a:bodyPr wrap="square"/>
                    <a:lstStyle/>
                    <a:p>
                      <a:r>
                        <a:rPr sz="1150" b="1">
                          <a:solidFill>
                            <a:srgbClr val="FFFFFF"/>
                          </a:solidFill>
                        </a:rPr>
                        <a:t>What they do → why it matters</a:t>
                      </a:r>
                    </a:p>
                  </a:txBody>
                  <a:tcPr anchor="ctr" marL="73152" marR="54864" marT="27432" marB="27432">
                    <a:solidFill>
                      <a:srgbClr val="0C2B4A"/>
                    </a:solidFill>
                  </a:tcPr>
                </a:tc>
              </a:tr>
              <a:tr h="630936">
                <a:tc>
                  <a:txBody>
                    <a:bodyPr wrap="square"/>
                    <a:lstStyle/>
                    <a:p>
                      <a:r>
                        <a:rPr sz="1100" b="1">
                          <a:solidFill>
                            <a:srgbClr val="0C2B4A"/>
                          </a:solidFill>
                        </a:rPr>
                        <a:t>Controller (root authority)</a:t>
                      </a:r>
                    </a:p>
                  </a:txBody>
                  <a:tcPr anchor="ctr" marL="73152" marR="54864" marT="27432" marB="27432">
                    <a:solidFill>
                      <a:srgbClr val="FFFFFF"/>
                    </a:solidFill>
                  </a:tcPr>
                </a:tc>
                <a:tc>
                  <a:txBody>
                    <a:bodyPr wrap="square"/>
                    <a:lstStyle/>
                    <a:p>
                      <a:r>
                        <a:rPr sz="1100">
                          <a:solidFill>
                            <a:srgbClr val="1A1A1A"/>
                          </a:solidFill>
                        </a:rPr>
                        <a:t>Office of the Controller of Certification (under MoCIT)</a:t>
                      </a:r>
                    </a:p>
                  </a:txBody>
                  <a:tcPr anchor="ctr" marL="73152" marR="54864" marT="27432" marB="27432">
                    <a:solidFill>
                      <a:srgbClr val="FFFFFF"/>
                    </a:solidFill>
                  </a:tcPr>
                </a:tc>
                <a:tc>
                  <a:txBody>
                    <a:bodyPr wrap="square"/>
                    <a:lstStyle/>
                    <a:p>
                      <a:r>
                        <a:rPr sz="1100">
                          <a:solidFill>
                            <a:srgbClr val="1A1A1A"/>
                          </a:solidFill>
                        </a:rPr>
                        <a:t>Licenses &amp; supervises CAs → sets the root of trust</a:t>
                      </a:r>
                    </a:p>
                  </a:txBody>
                  <a:tcPr anchor="ctr" marL="73152" marR="54864" marT="27432" marB="27432">
                    <a:solidFill>
                      <a:srgbClr val="FFFFFF"/>
                    </a:solidFill>
                  </a:tcPr>
                </a:tc>
              </a:tr>
              <a:tr h="630936">
                <a:tc>
                  <a:txBody>
                    <a:bodyPr wrap="square"/>
                    <a:lstStyle/>
                    <a:p>
                      <a:r>
                        <a:rPr sz="1100" b="1">
                          <a:solidFill>
                            <a:srgbClr val="0C2B4A"/>
                          </a:solidFill>
                        </a:rPr>
                        <a:t>Certifying Authority (CA)</a:t>
                      </a:r>
                    </a:p>
                  </a:txBody>
                  <a:tcPr anchor="ctr" marL="73152" marR="54864" marT="27432" marB="27432">
                    <a:solidFill>
                      <a:srgbClr val="EEF3F8"/>
                    </a:solidFill>
                  </a:tcPr>
                </a:tc>
                <a:tc>
                  <a:txBody>
                    <a:bodyPr wrap="square"/>
                    <a:lstStyle/>
                    <a:p>
                      <a:r>
                        <a:rPr sz="1100">
                          <a:solidFill>
                            <a:srgbClr val="1A1A1A"/>
                          </a:solidFill>
                        </a:rPr>
                        <a:t>Licensed bodies under the Controller</a:t>
                      </a:r>
                    </a:p>
                  </a:txBody>
                  <a:tcPr anchor="ctr" marL="73152" marR="54864" marT="27432" marB="27432">
                    <a:solidFill>
                      <a:srgbClr val="EEF3F8"/>
                    </a:solidFill>
                  </a:tcPr>
                </a:tc>
                <a:tc>
                  <a:txBody>
                    <a:bodyPr wrap="square"/>
                    <a:lstStyle/>
                    <a:p>
                      <a:r>
                        <a:rPr sz="1100">
                          <a:solidFill>
                            <a:srgbClr val="1A1A1A"/>
                          </a:solidFill>
                        </a:rPr>
                        <a:t>Issue certificates after verifying identity</a:t>
                      </a:r>
                    </a:p>
                  </a:txBody>
                  <a:tcPr anchor="ctr" marL="73152" marR="54864" marT="27432" marB="27432">
                    <a:solidFill>
                      <a:srgbClr val="EEF3F8"/>
                    </a:solidFill>
                  </a:tcPr>
                </a:tc>
              </a:tr>
              <a:tr h="630936">
                <a:tc>
                  <a:txBody>
                    <a:bodyPr wrap="square"/>
                    <a:lstStyle/>
                    <a:p>
                      <a:r>
                        <a:rPr sz="1100" b="1">
                          <a:solidFill>
                            <a:srgbClr val="0C2B4A"/>
                          </a:solidFill>
                        </a:rPr>
                        <a:t>Certificate</a:t>
                      </a:r>
                    </a:p>
                  </a:txBody>
                  <a:tcPr anchor="ctr" marL="73152" marR="54864" marT="27432" marB="27432">
                    <a:solidFill>
                      <a:srgbClr val="FFFFFF"/>
                    </a:solidFill>
                  </a:tcPr>
                </a:tc>
                <a:tc>
                  <a:txBody>
                    <a:bodyPr wrap="square"/>
                    <a:lstStyle/>
                    <a:p>
                      <a:r>
                        <a:rPr sz="1100">
                          <a:solidFill>
                            <a:srgbClr val="1A1A1A"/>
                          </a:solidFill>
                        </a:rPr>
                        <a:t>Issued to an end user</a:t>
                      </a:r>
                    </a:p>
                  </a:txBody>
                  <a:tcPr anchor="ctr" marL="73152" marR="54864" marT="27432" marB="27432">
                    <a:solidFill>
                      <a:srgbClr val="FFFFFF"/>
                    </a:solidFill>
                  </a:tcPr>
                </a:tc>
                <a:tc>
                  <a:txBody>
                    <a:bodyPr wrap="square"/>
                    <a:lstStyle/>
                    <a:p>
                      <a:r>
                        <a:rPr sz="1100">
                          <a:solidFill>
                            <a:srgbClr val="1A1A1A"/>
                          </a:solidFill>
                        </a:rPr>
                        <a:t>Binds a public key to a verified identity</a:t>
                      </a:r>
                    </a:p>
                  </a:txBody>
                  <a:tcPr anchor="ctr" marL="73152" marR="54864" marT="27432" marB="27432">
                    <a:solidFill>
                      <a:srgbClr val="FFFFFF"/>
                    </a:solidFill>
                  </a:tcPr>
                </a:tc>
              </a:tr>
              <a:tr h="630936">
                <a:tc>
                  <a:txBody>
                    <a:bodyPr wrap="square"/>
                    <a:lstStyle/>
                    <a:p>
                      <a:r>
                        <a:rPr sz="1100" b="1">
                          <a:solidFill>
                            <a:srgbClr val="0C2B4A"/>
                          </a:solidFill>
                        </a:rPr>
                        <a:t>Subscriber / end user</a:t>
                      </a:r>
                    </a:p>
                  </a:txBody>
                  <a:tcPr anchor="ctr" marL="73152" marR="54864" marT="27432" marB="27432">
                    <a:solidFill>
                      <a:srgbClr val="EEF3F8"/>
                    </a:solidFill>
                  </a:tcPr>
                </a:tc>
                <a:tc>
                  <a:txBody>
                    <a:bodyPr wrap="square"/>
                    <a:lstStyle/>
                    <a:p>
                      <a:r>
                        <a:rPr sz="1100">
                          <a:solidFill>
                            <a:srgbClr val="1A1A1A"/>
                          </a:solidFill>
                        </a:rPr>
                        <a:t>Citizen, bank, business</a:t>
                      </a:r>
                    </a:p>
                  </a:txBody>
                  <a:tcPr anchor="ctr" marL="73152" marR="54864" marT="27432" marB="27432">
                    <a:solidFill>
                      <a:srgbClr val="EEF3F8"/>
                    </a:solidFill>
                  </a:tcPr>
                </a:tc>
                <a:tc>
                  <a:txBody>
                    <a:bodyPr wrap="square"/>
                    <a:lstStyle/>
                    <a:p>
                      <a:r>
                        <a:rPr sz="1100">
                          <a:solidFill>
                            <a:srgbClr val="1A1A1A"/>
                          </a:solidFill>
                        </a:rPr>
                        <a:t>Signs documents with their private key</a:t>
                      </a:r>
                    </a:p>
                  </a:txBody>
                  <a:tcPr anchor="ctr" marL="73152" marR="54864" marT="27432" marB="27432">
                    <a:solidFill>
                      <a:srgbClr val="EEF3F8"/>
                    </a:solidFill>
                  </a:tcPr>
                </a:tc>
              </a:tr>
              <a:tr h="630936">
                <a:tc>
                  <a:txBody>
                    <a:bodyPr wrap="square"/>
                    <a:lstStyle/>
                    <a:p>
                      <a:r>
                        <a:rPr sz="1100" b="1">
                          <a:solidFill>
                            <a:srgbClr val="0C2B4A"/>
                          </a:solidFill>
                        </a:rPr>
                        <a:t>Relying party</a:t>
                      </a:r>
                    </a:p>
                  </a:txBody>
                  <a:tcPr anchor="ctr" marL="73152" marR="54864" marT="27432" marB="27432">
                    <a:solidFill>
                      <a:srgbClr val="FFFFFF"/>
                    </a:solidFill>
                  </a:tcPr>
                </a:tc>
                <a:tc>
                  <a:txBody>
                    <a:bodyPr wrap="square"/>
                    <a:lstStyle/>
                    <a:p>
                      <a:r>
                        <a:rPr sz="1100">
                          <a:solidFill>
                            <a:srgbClr val="1A1A1A"/>
                          </a:solidFill>
                        </a:rPr>
                        <a:t>Anyone verifying a signature</a:t>
                      </a:r>
                    </a:p>
                  </a:txBody>
                  <a:tcPr anchor="ctr" marL="73152" marR="54864" marT="27432" marB="27432">
                    <a:solidFill>
                      <a:srgbClr val="FFFFFF"/>
                    </a:solidFill>
                  </a:tcPr>
                </a:tc>
                <a:tc>
                  <a:txBody>
                    <a:bodyPr wrap="square"/>
                    <a:lstStyle/>
                    <a:p>
                      <a:r>
                        <a:rPr sz="1100">
                          <a:solidFill>
                            <a:srgbClr val="1A1A1A"/>
                          </a:solidFill>
                        </a:rPr>
                        <a:t>Trusts the signature via the chain above</a:t>
                      </a:r>
                    </a:p>
                  </a:txBody>
                  <a:tcPr anchor="ctr" marL="73152" marR="54864" marT="27432" marB="27432">
                    <a:solidFill>
                      <a:srgbClr val="FFFFFF"/>
                    </a:solidFill>
                  </a:tcPr>
                </a:tc>
              </a:tr>
              <a:tr h="630936">
                <a:tc>
                  <a:txBody>
                    <a:bodyPr wrap="square"/>
                    <a:lstStyle/>
                    <a:p>
                      <a:r>
                        <a:rPr sz="1100" b="1">
                          <a:solidFill>
                            <a:srgbClr val="0C2B4A"/>
                          </a:solidFill>
                        </a:rPr>
                        <a:t>Audit / revocation</a:t>
                      </a:r>
                    </a:p>
                  </a:txBody>
                  <a:tcPr anchor="ctr" marL="73152" marR="54864" marT="27432" marB="27432">
                    <a:solidFill>
                      <a:srgbClr val="EEF3F8"/>
                    </a:solidFill>
                  </a:tcPr>
                </a:tc>
                <a:tc>
                  <a:txBody>
                    <a:bodyPr wrap="square"/>
                    <a:lstStyle/>
                    <a:p>
                      <a:r>
                        <a:rPr sz="1100">
                          <a:solidFill>
                            <a:srgbClr val="1A1A1A"/>
                          </a:solidFill>
                        </a:rPr>
                        <a:t>Controller's supervisory power</a:t>
                      </a:r>
                    </a:p>
                  </a:txBody>
                  <a:tcPr anchor="ctr" marL="73152" marR="54864" marT="27432" marB="27432">
                    <a:solidFill>
                      <a:srgbClr val="EEF3F8"/>
                    </a:solidFill>
                  </a:tcPr>
                </a:tc>
                <a:tc>
                  <a:txBody>
                    <a:bodyPr wrap="square"/>
                    <a:lstStyle/>
                    <a:p>
                      <a:r>
                        <a:rPr sz="1100">
                          <a:solidFill>
                            <a:srgbClr val="1A1A1A"/>
                          </a:solidFill>
                        </a:rPr>
                        <a:t>Catches a CA that issues certificates carelessly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Trust flows down: Controller → CA → certificate → user. A certificate is only as trustworthy as the chain that issued it. ⚠️ Legal specifics (section numbers, penalties, dates) are ILLUSTRATIVE of the framework and its debate — verify against the current official Nepali text (Nepal Law Commission / Gazette) before relying on them.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38 / 68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Controller &amp; Certifying Authorities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When a Nepali bank or taxpayer uses a digital signature, the certificate traces back through a licensed CA to the Office of the Controller of Certification. If a CA issued a certificate without properly verifying identity and it was used in fraud, the Controller's supervisory and audit role is what should detect it, sanction the CA, and revoke the certificate — that oversight is what makes the whole system trustworthy.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"Any website or company can just hand out legally valid digital certificates." In Nepal, only CAs LICENSED and SUPERVISED by the Controller can issue legally recognised certificates. The Controller is the root of trust; an unlicensed 'certificate' has no legal standing. That supervised chain is the entire point of PKI.</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Office of the Controller of Certification (the Controller, under MoCIT) licenses and supervises Certifying Authorities, which issue digital-signature certificates to the public. This forms Nepal's PKI trust hierarchy — Controller (root) → licensed CAs → end-user certificates — where trust flows down the chain and the Controller's audit/revocation power keeps CAs honest.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Controller (OCC) · Certifying Authorities · PKI trust hierarchy · licenses &amp; supervises · root of trust · MoCIT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39 / 68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IT Policy of Nepal</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Nepal's IT Policy is a national policy document setting the government's VISION and GOALS for ICT development — not a law, but a strategic framework. Its goals typically include building ICT infrastructure, expanding e-governance, growing the IT industry/exports and jobs, promoting digital literacy and inclusion, and improving information security. It is direction, not a binding legal mechanism.</a:t>
            </a:r>
          </a:p>
          <a:p>
            <a:pPr>
              <a:spcAft>
                <a:spcPts val="500"/>
              </a:spcAft>
            </a:pPr>
            <a:r>
              <a:rPr sz="1200" b="1">
                <a:solidFill>
                  <a:srgbClr val="185FA5"/>
                </a:solidFill>
              </a:rPr>
              <a:t>HOW IT WORKS</a:t>
            </a:r>
          </a:p>
          <a:p>
            <a:pPr>
              <a:spcAft>
                <a:spcPts val="600"/>
              </a:spcAft>
            </a:pPr>
            <a:r>
              <a:rPr sz="1400">
                <a:solidFill>
                  <a:srgbClr val="1A1A1A"/>
                </a:solidFill>
              </a:rPr>
              <a:t>•  A policy sets DIRECTION and GOALS; it does not itself punish or bind like a law.</a:t>
            </a:r>
          </a:p>
          <a:p>
            <a:pPr>
              <a:spcAft>
                <a:spcPts val="600"/>
              </a:spcAft>
            </a:pPr>
            <a:r>
              <a:rPr sz="1400">
                <a:solidFill>
                  <a:srgbClr val="1A1A1A"/>
                </a:solidFill>
              </a:rPr>
              <a:t>•  Typical goals: infrastructure, e-governance, IT industry/exports &amp; jobs, digital literacy, security.</a:t>
            </a:r>
          </a:p>
          <a:p>
            <a:pPr>
              <a:spcAft>
                <a:spcPts val="600"/>
              </a:spcAft>
            </a:pPr>
            <a:r>
              <a:rPr sz="1400">
                <a:solidFill>
                  <a:srgbClr val="1A1A1A"/>
                </a:solidFill>
              </a:rPr>
              <a:t>•  Versions/framings evolve — e.g. IT Policy 2072 and 'Digital Nepal Framework' ambitions (confirm current version).</a:t>
            </a:r>
          </a:p>
          <a:p>
            <a:pPr>
              <a:spcAft>
                <a:spcPts val="600"/>
              </a:spcAft>
            </a:pPr>
            <a:r>
              <a:rPr sz="1400">
                <a:solidFill>
                  <a:srgbClr val="1A1A1A"/>
                </a:solidFill>
              </a:rPr>
              <a:t>•  The chain: Policy sets the destination; the Act + Rules provide the binding legal road.</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IT Policy = the destination on the map; the ETA is the road law; the ETR + Controller keep the road usable.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40 / 68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Act vs Rules vs Policy — the three, side by side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065662"/>
                <a:gridCol w="3029638"/>
                <a:gridCol w="3029638"/>
                <a:gridCol w="3305060"/>
              </a:tblGrid>
              <a:tr h="736092">
                <a:tc>
                  <a:txBody>
                    <a:bodyPr wrap="square"/>
                    <a:lstStyle/>
                    <a:p>
                      <a:r>
                        <a:rPr sz="1100" b="1">
                          <a:solidFill>
                            <a:srgbClr val="FFFFFF"/>
                          </a:solidFill>
                        </a:rPr>
                        <a:t>Question</a:t>
                      </a:r>
                    </a:p>
                  </a:txBody>
                  <a:tcPr anchor="ctr" marL="73152" marR="54864" marT="27432" marB="27432">
                    <a:solidFill>
                      <a:srgbClr val="0C2B4A"/>
                    </a:solidFill>
                  </a:tcPr>
                </a:tc>
                <a:tc>
                  <a:txBody>
                    <a:bodyPr wrap="square"/>
                    <a:lstStyle/>
                    <a:p>
                      <a:r>
                        <a:rPr sz="1100" b="1">
                          <a:solidFill>
                            <a:srgbClr val="FFFFFF"/>
                          </a:solidFill>
                        </a:rPr>
                        <a:t>Act (ETA)</a:t>
                      </a:r>
                    </a:p>
                  </a:txBody>
                  <a:tcPr anchor="ctr" marL="73152" marR="54864" marT="27432" marB="27432">
                    <a:solidFill>
                      <a:srgbClr val="0C2B4A"/>
                    </a:solidFill>
                  </a:tcPr>
                </a:tc>
                <a:tc>
                  <a:txBody>
                    <a:bodyPr wrap="square"/>
                    <a:lstStyle/>
                    <a:p>
                      <a:r>
                        <a:rPr sz="1100" b="1">
                          <a:solidFill>
                            <a:srgbClr val="FFFFFF"/>
                          </a:solidFill>
                        </a:rPr>
                        <a:t>Rules (ETR)</a:t>
                      </a:r>
                    </a:p>
                  </a:txBody>
                  <a:tcPr anchor="ctr" marL="73152" marR="54864" marT="27432" marB="27432">
                    <a:solidFill>
                      <a:srgbClr val="0C2B4A"/>
                    </a:solidFill>
                  </a:tcPr>
                </a:tc>
                <a:tc>
                  <a:txBody>
                    <a:bodyPr wrap="square"/>
                    <a:lstStyle/>
                    <a:p>
                      <a:r>
                        <a:rPr sz="1100" b="1">
                          <a:solidFill>
                            <a:srgbClr val="FFFFFF"/>
                          </a:solidFill>
                        </a:rPr>
                        <a:t>Policy (IT Policy)</a:t>
                      </a:r>
                    </a:p>
                  </a:txBody>
                  <a:tcPr anchor="ctr" marL="73152" marR="54864" marT="27432" marB="27432">
                    <a:solidFill>
                      <a:srgbClr val="0C2B4A"/>
                    </a:solidFill>
                  </a:tcPr>
                </a:tc>
              </a:tr>
              <a:tr h="736092">
                <a:tc>
                  <a:txBody>
                    <a:bodyPr wrap="square"/>
                    <a:lstStyle/>
                    <a:p>
                      <a:r>
                        <a:rPr sz="1050" b="1">
                          <a:solidFill>
                            <a:srgbClr val="0C2B4A"/>
                          </a:solidFill>
                        </a:rPr>
                        <a:t>Who makes it?</a:t>
                      </a:r>
                    </a:p>
                  </a:txBody>
                  <a:tcPr anchor="ctr" marL="73152" marR="54864" marT="27432" marB="27432">
                    <a:solidFill>
                      <a:srgbClr val="FFFFFF"/>
                    </a:solidFill>
                  </a:tcPr>
                </a:tc>
                <a:tc>
                  <a:txBody>
                    <a:bodyPr wrap="square"/>
                    <a:lstStyle/>
                    <a:p>
                      <a:r>
                        <a:rPr sz="1050">
                          <a:solidFill>
                            <a:srgbClr val="1A1A1A"/>
                          </a:solidFill>
                        </a:rPr>
                        <a:t>Parliament</a:t>
                      </a:r>
                    </a:p>
                  </a:txBody>
                  <a:tcPr anchor="ctr" marL="73152" marR="54864" marT="27432" marB="27432">
                    <a:solidFill>
                      <a:srgbClr val="FFFFFF"/>
                    </a:solidFill>
                  </a:tcPr>
                </a:tc>
                <a:tc>
                  <a:txBody>
                    <a:bodyPr wrap="square"/>
                    <a:lstStyle/>
                    <a:p>
                      <a:r>
                        <a:rPr sz="1050">
                          <a:solidFill>
                            <a:srgbClr val="1A1A1A"/>
                          </a:solidFill>
                        </a:rPr>
                        <a:t>Executive (under the Act)</a:t>
                      </a:r>
                    </a:p>
                  </a:txBody>
                  <a:tcPr anchor="ctr" marL="73152" marR="54864" marT="27432" marB="27432">
                    <a:solidFill>
                      <a:srgbClr val="FFFFFF"/>
                    </a:solidFill>
                  </a:tcPr>
                </a:tc>
                <a:tc>
                  <a:txBody>
                    <a:bodyPr wrap="square"/>
                    <a:lstStyle/>
                    <a:p>
                      <a:r>
                        <a:rPr sz="1050">
                          <a:solidFill>
                            <a:srgbClr val="1A1A1A"/>
                          </a:solidFill>
                        </a:rPr>
                        <a:t>Government (as strategy)</a:t>
                      </a:r>
                    </a:p>
                  </a:txBody>
                  <a:tcPr anchor="ctr" marL="73152" marR="54864" marT="27432" marB="27432">
                    <a:solidFill>
                      <a:srgbClr val="FFFFFF"/>
                    </a:solidFill>
                  </a:tcPr>
                </a:tc>
              </a:tr>
              <a:tr h="736092">
                <a:tc>
                  <a:txBody>
                    <a:bodyPr wrap="square"/>
                    <a:lstStyle/>
                    <a:p>
                      <a:r>
                        <a:rPr sz="1050" b="1">
                          <a:solidFill>
                            <a:srgbClr val="0C2B4A"/>
                          </a:solidFill>
                        </a:rPr>
                        <a:t>Legally binding?</a:t>
                      </a:r>
                    </a:p>
                  </a:txBody>
                  <a:tcPr anchor="ctr" marL="73152" marR="54864" marT="27432" marB="27432">
                    <a:solidFill>
                      <a:srgbClr val="EEF3F8"/>
                    </a:solidFill>
                  </a:tcPr>
                </a:tc>
                <a:tc>
                  <a:txBody>
                    <a:bodyPr wrap="square"/>
                    <a:lstStyle/>
                    <a:p>
                      <a:r>
                        <a:rPr sz="1050">
                          <a:solidFill>
                            <a:srgbClr val="1A1A1A"/>
                          </a:solidFill>
                        </a:rPr>
                        <a:t>Yes — primary law</a:t>
                      </a:r>
                    </a:p>
                  </a:txBody>
                  <a:tcPr anchor="ctr" marL="73152" marR="54864" marT="27432" marB="27432">
                    <a:solidFill>
                      <a:srgbClr val="EEF3F8"/>
                    </a:solidFill>
                  </a:tcPr>
                </a:tc>
                <a:tc>
                  <a:txBody>
                    <a:bodyPr wrap="square"/>
                    <a:lstStyle/>
                    <a:p>
                      <a:r>
                        <a:rPr sz="1050">
                          <a:solidFill>
                            <a:srgbClr val="1A1A1A"/>
                          </a:solidFill>
                        </a:rPr>
                        <a:t>Yes — under the Act</a:t>
                      </a:r>
                    </a:p>
                  </a:txBody>
                  <a:tcPr anchor="ctr" marL="73152" marR="54864" marT="27432" marB="27432">
                    <a:solidFill>
                      <a:srgbClr val="EEF3F8"/>
                    </a:solidFill>
                  </a:tcPr>
                </a:tc>
                <a:tc>
                  <a:txBody>
                    <a:bodyPr wrap="square"/>
                    <a:lstStyle/>
                    <a:p>
                      <a:r>
                        <a:rPr sz="1050">
                          <a:solidFill>
                            <a:srgbClr val="1A1A1A"/>
                          </a:solidFill>
                        </a:rPr>
                        <a:t>No — a direction/vision</a:t>
                      </a:r>
                    </a:p>
                  </a:txBody>
                  <a:tcPr anchor="ctr" marL="73152" marR="54864" marT="27432" marB="27432">
                    <a:solidFill>
                      <a:srgbClr val="EEF3F8"/>
                    </a:solidFill>
                  </a:tcPr>
                </a:tc>
              </a:tr>
              <a:tr h="736092">
                <a:tc>
                  <a:txBody>
                    <a:bodyPr wrap="square"/>
                    <a:lstStyle/>
                    <a:p>
                      <a:r>
                        <a:rPr sz="1050" b="1">
                          <a:solidFill>
                            <a:srgbClr val="0C2B4A"/>
                          </a:solidFill>
                        </a:rPr>
                        <a:t>What it does</a:t>
                      </a:r>
                    </a:p>
                  </a:txBody>
                  <a:tcPr anchor="ctr" marL="73152" marR="54864" marT="27432" marB="27432">
                    <a:solidFill>
                      <a:srgbClr val="FFFFFF"/>
                    </a:solidFill>
                  </a:tcPr>
                </a:tc>
                <a:tc>
                  <a:txBody>
                    <a:bodyPr wrap="square"/>
                    <a:lstStyle/>
                    <a:p>
                      <a:r>
                        <a:rPr sz="1050">
                          <a:solidFill>
                            <a:srgbClr val="1A1A1A"/>
                          </a:solidFill>
                        </a:rPr>
                        <a:t>States principles &amp; offences</a:t>
                      </a:r>
                    </a:p>
                  </a:txBody>
                  <a:tcPr anchor="ctr" marL="73152" marR="54864" marT="27432" marB="27432">
                    <a:solidFill>
                      <a:srgbClr val="FFFFFF"/>
                    </a:solidFill>
                  </a:tcPr>
                </a:tc>
                <a:tc>
                  <a:txBody>
                    <a:bodyPr wrap="square"/>
                    <a:lstStyle/>
                    <a:p>
                      <a:r>
                        <a:rPr sz="1050">
                          <a:solidFill>
                            <a:srgbClr val="1A1A1A"/>
                          </a:solidFill>
                        </a:rPr>
                        <a:t>Spells out procedures</a:t>
                      </a:r>
                    </a:p>
                  </a:txBody>
                  <a:tcPr anchor="ctr" marL="73152" marR="54864" marT="27432" marB="27432">
                    <a:solidFill>
                      <a:srgbClr val="FFFFFF"/>
                    </a:solidFill>
                  </a:tcPr>
                </a:tc>
                <a:tc>
                  <a:txBody>
                    <a:bodyPr wrap="square"/>
                    <a:lstStyle/>
                    <a:p>
                      <a:r>
                        <a:rPr sz="1050">
                          <a:solidFill>
                            <a:srgbClr val="1A1A1A"/>
                          </a:solidFill>
                        </a:rPr>
                        <a:t>Sets national goals &amp; vision</a:t>
                      </a:r>
                    </a:p>
                  </a:txBody>
                  <a:tcPr anchor="ctr" marL="73152" marR="54864" marT="27432" marB="27432">
                    <a:solidFill>
                      <a:srgbClr val="FFFFFF"/>
                    </a:solidFill>
                  </a:tcPr>
                </a:tc>
              </a:tr>
              <a:tr h="736092">
                <a:tc>
                  <a:txBody>
                    <a:bodyPr wrap="square"/>
                    <a:lstStyle/>
                    <a:p>
                      <a:r>
                        <a:rPr sz="1050" b="1">
                          <a:solidFill>
                            <a:srgbClr val="0C2B4A"/>
                          </a:solidFill>
                        </a:rPr>
                        <a:t>Can it punish?</a:t>
                      </a:r>
                    </a:p>
                  </a:txBody>
                  <a:tcPr anchor="ctr" marL="73152" marR="54864" marT="27432" marB="27432">
                    <a:solidFill>
                      <a:srgbClr val="EEF3F8"/>
                    </a:solidFill>
                  </a:tcPr>
                </a:tc>
                <a:tc>
                  <a:txBody>
                    <a:bodyPr wrap="square"/>
                    <a:lstStyle/>
                    <a:p>
                      <a:r>
                        <a:rPr sz="1050">
                          <a:solidFill>
                            <a:srgbClr val="1A1A1A"/>
                          </a:solidFill>
                        </a:rPr>
                        <a:t>Yes (offences chapter)</a:t>
                      </a:r>
                    </a:p>
                  </a:txBody>
                  <a:tcPr anchor="ctr" marL="73152" marR="54864" marT="27432" marB="27432">
                    <a:solidFill>
                      <a:srgbClr val="EEF3F8"/>
                    </a:solidFill>
                  </a:tcPr>
                </a:tc>
                <a:tc>
                  <a:txBody>
                    <a:bodyPr wrap="square"/>
                    <a:lstStyle/>
                    <a:p>
                      <a:r>
                        <a:rPr sz="1050">
                          <a:solidFill>
                            <a:srgbClr val="1A1A1A"/>
                          </a:solidFill>
                        </a:rPr>
                        <a:t>Enforces procedures</a:t>
                      </a:r>
                    </a:p>
                  </a:txBody>
                  <a:tcPr anchor="ctr" marL="73152" marR="54864" marT="27432" marB="27432">
                    <a:solidFill>
                      <a:srgbClr val="EEF3F8"/>
                    </a:solidFill>
                  </a:tcPr>
                </a:tc>
                <a:tc>
                  <a:txBody>
                    <a:bodyPr wrap="square"/>
                    <a:lstStyle/>
                    <a:p>
                      <a:r>
                        <a:rPr sz="1050">
                          <a:solidFill>
                            <a:srgbClr val="1A1A1A"/>
                          </a:solidFill>
                        </a:rPr>
                        <a:t>No — it guides, not punishes</a:t>
                      </a:r>
                    </a:p>
                  </a:txBody>
                  <a:tcPr anchor="ctr" marL="73152" marR="54864" marT="27432" marB="27432">
                    <a:solidFill>
                      <a:srgbClr val="EEF3F8"/>
                    </a:solidFill>
                  </a:tcPr>
                </a:tc>
              </a:tr>
              <a:tr h="736092">
                <a:tc>
                  <a:txBody>
                    <a:bodyPr wrap="square"/>
                    <a:lstStyle/>
                    <a:p>
                      <a:r>
                        <a:rPr sz="1050" b="1">
                          <a:solidFill>
                            <a:srgbClr val="0C2B4A"/>
                          </a:solidFill>
                        </a:rPr>
                        <a:t>Example</a:t>
                      </a:r>
                    </a:p>
                  </a:txBody>
                  <a:tcPr anchor="ctr" marL="73152" marR="54864" marT="27432" marB="27432">
                    <a:solidFill>
                      <a:srgbClr val="FFFFFF"/>
                    </a:solidFill>
                  </a:tcPr>
                </a:tc>
                <a:tc>
                  <a:txBody>
                    <a:bodyPr wrap="square"/>
                    <a:lstStyle/>
                    <a:p>
                      <a:r>
                        <a:rPr sz="1050">
                          <a:solidFill>
                            <a:srgbClr val="1A1A1A"/>
                          </a:solidFill>
                        </a:rPr>
                        <a:t>'E-signatures are valid'</a:t>
                      </a:r>
                    </a:p>
                  </a:txBody>
                  <a:tcPr anchor="ctr" marL="73152" marR="54864" marT="27432" marB="27432">
                    <a:solidFill>
                      <a:srgbClr val="FFFFFF"/>
                    </a:solidFill>
                  </a:tcPr>
                </a:tc>
                <a:tc>
                  <a:txBody>
                    <a:bodyPr wrap="square"/>
                    <a:lstStyle/>
                    <a:p>
                      <a:r>
                        <a:rPr sz="1050">
                          <a:solidFill>
                            <a:srgbClr val="1A1A1A"/>
                          </a:solidFill>
                        </a:rPr>
                        <a:t>'How a CA is licensed'</a:t>
                      </a:r>
                    </a:p>
                  </a:txBody>
                  <a:tcPr anchor="ctr" marL="73152" marR="54864" marT="27432" marB="27432">
                    <a:solidFill>
                      <a:srgbClr val="FFFFFF"/>
                    </a:solidFill>
                  </a:tcPr>
                </a:tc>
                <a:tc>
                  <a:txBody>
                    <a:bodyPr wrap="square"/>
                    <a:lstStyle/>
                    <a:p>
                      <a:r>
                        <a:rPr sz="1050">
                          <a:solidFill>
                            <a:srgbClr val="1A1A1A"/>
                          </a:solidFill>
                        </a:rPr>
                        <a:t>'Make Nepal an IT/knowledge hub'</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classic exam trap: the IT Policy is NOT binding law. Policy directs; the Act + Rules bind. ⚠️ Legal specifics (section numbers, penalties, dates) are ILLUSTRATIVE of the framework and its debate — verify against the current official Nepali text (Nepal Law Commission / Gazette) before relying on them.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41 / 68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IT Policy of Nepal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When you obtain a digital-signature certificate for tax, banking, or e-government, it traces through a licensed CA to the Controller — that's the Act + Rules at work. WHICH digital services exist for you at all, though, is shaped by national IT Policy goals (e-governance, digital literacy, the 'Digital Nepal' ambition). Policy decides the direction; law makes each step binding.</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IT Policy is legally binding like the ETA." It is not. Policy sets direction and goals; laws (the ETA) and rules (the ETR) provide the binding legal mechanism. Citing the IT Policy as if it could criminalise or enforce is a common and costly mistake.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Nepal's IT Policy is a national strategic framework setting the government's vision and goals for ICT — infrastructure, e-governance, IT industry/exports, digital literacy and inclusion, and information security (e.g. IT Policy 2072 / 'Digital Nepal' ambitions). Crucially it is NOT binding law: policy sets direction, while the Act and Rules provide the binding legal mechanism.</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IT Policy · strategic framework (not law) · e-gov/infrastructure/literacy goals · Digital Nepal · policy directs, law binds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42 / 68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S47 — 'Act, Rule, or Policy?'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sort five statements into Act / Rules / Policy (e.g. 'e-signatures are valid'; 'how a CA is licensed'; 'make Nepal an IT hub').</a:t>
            </a:r>
          </a:p>
          <a:p>
            <a:pPr>
              <a:spcAft>
                <a:spcPts val="700"/>
              </a:spcAft>
            </a:pPr>
            <a:r>
              <a:rPr sz="1550">
                <a:solidFill>
                  <a:srgbClr val="1A1A1A"/>
                </a:solidFill>
              </a:rPr>
              <a:t>•  For each, say WHO makes it and whether it is legally binding.</a:t>
            </a:r>
          </a:p>
          <a:p>
            <a:pPr>
              <a:spcAft>
                <a:spcPts val="700"/>
              </a:spcAft>
            </a:pPr>
            <a:r>
              <a:rPr sz="1550">
                <a:solidFill>
                  <a:srgbClr val="1A1A1A"/>
                </a:solidFill>
              </a:rPr>
              <a:t>•  Take 3–4 answers aloud (3 min).</a:t>
            </a:r>
          </a:p>
          <a:p>
            <a:pPr>
              <a:spcAft>
                <a:spcPts val="700"/>
              </a:spcAft>
            </a:pPr>
            <a:r>
              <a:rPr sz="1550">
                <a:solidFill>
                  <a:srgbClr val="1A1A1A"/>
                </a:solidFill>
              </a:rPr>
              <a:t>•  Close: only the Act &amp; Rules are binding; the Policy sets goals — this is a favourite exam distinction.</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Answers: 'e-signatures valid' = Act; 'how a CA is licensed' = Rules; 'make Nepal an IT hub / digital literacy' = Policy. Reward correct who-makes-it + binding reasoning.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43 / 68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S47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In Nepal, the body that LICENSES and SUPERVISES Certifying Authorities is the:</a:t>
            </a:r>
          </a:p>
          <a:p>
            <a:pPr lvl="1"/>
            <a:r>
              <a:rPr sz="1500" b="1">
                <a:solidFill>
                  <a:srgbClr val="0F6E56"/>
                </a:solidFill>
              </a:rPr>
              <a:t>a) a private CA   b) ✅ Office of the Controller of Certification   c) the Cyber Bureau   d) the IT Tribunal</a:t>
            </a:r>
          </a:p>
          <a:p>
            <a:pPr lvl="1">
              <a:spcBef>
                <a:spcPts val="600"/>
              </a:spcBef>
            </a:pPr>
            <a:r>
              <a:rPr sz="1500" i="1">
                <a:solidFill>
                  <a:srgbClr val="1A1A1A"/>
                </a:solidFill>
              </a:rPr>
              <a:t>     Why: the Controller is the root of the PKI trust chain — it licenses/supervises CAs, which issue certificates.</a:t>
            </a:r>
          </a:p>
          <a:p>
            <a:pPr>
              <a:spcBef>
                <a:spcPts val="900"/>
              </a:spcBef>
            </a:pPr>
            <a:r>
              <a:rPr sz="1700" b="1">
                <a:solidFill>
                  <a:srgbClr val="0C2B4A"/>
                </a:solidFill>
              </a:rPr>
              <a:t>Q2.  Which is a STRATEGIC FRAMEWORK rather than binding law?</a:t>
            </a:r>
          </a:p>
          <a:p>
            <a:pPr lvl="1"/>
            <a:r>
              <a:rPr sz="1500" b="1">
                <a:solidFill>
                  <a:srgbClr val="0F6E56"/>
                </a:solidFill>
              </a:rPr>
              <a:t>a) the ETA   b) the ETR   c) ✅ the IT Policy of Nepal   d) the Criminal Code</a:t>
            </a:r>
          </a:p>
          <a:p>
            <a:pPr lvl="1">
              <a:spcBef>
                <a:spcPts val="600"/>
              </a:spcBef>
            </a:pPr>
            <a:r>
              <a:rPr sz="1500" i="1">
                <a:solidFill>
                  <a:srgbClr val="1A1A1A"/>
                </a:solidFill>
              </a:rPr>
              <a:t>     Why: the IT Policy sets national goals/direction; the Act and Rules are the binding legal mechanism.</a:t>
            </a:r>
          </a:p>
          <a:p>
            <a:pPr lvl="1">
              <a:spcBef>
                <a:spcPts val="600"/>
              </a:spcBef>
            </a:pPr>
            <a:r>
              <a:rPr sz="1500" i="1">
                <a:solidFill>
                  <a:srgbClr val="1A1A1A"/>
                </a:solidFill>
              </a:rPr>
              <a:t>Discussion: name one IT Policy goal Nepal has progressed on, and one it has not — with evidence from daily life.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44 / 68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S47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The ETR are procedures implementing the ETA — licensing of CAs, certificates, the Controller's duties.</a:t>
            </a:r>
          </a:p>
          <a:p>
            <a:pPr>
              <a:spcAft>
                <a:spcPts val="800"/>
              </a:spcAft>
            </a:pPr>
            <a:r>
              <a:rPr sz="1500">
                <a:solidFill>
                  <a:srgbClr val="1A1A1A"/>
                </a:solidFill>
              </a:rPr>
              <a:t>2.  The Controller (OCC) licenses &amp; supervises CAs in Nepal's PKI trust chain (Controller → CAs → users).</a:t>
            </a:r>
          </a:p>
          <a:p>
            <a:pPr>
              <a:spcAft>
                <a:spcPts val="800"/>
              </a:spcAft>
            </a:pPr>
            <a:r>
              <a:rPr sz="1500">
                <a:solidFill>
                  <a:srgbClr val="1A1A1A"/>
                </a:solidFill>
              </a:rPr>
              <a:t>3.  The IT Policy sets non-binding national digital goals; the Act + Rules are what actually bind.</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When you get a digital-signature certificate for tax, banking, or e-government, it traces through a licensed CA to the Controller — and national IT Policy goals shape which digital services exist for you at all. This is the machinery behind Nepal's digital life.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S48 — information-security policies, then a full course review and exam/project prep to close IT 246.</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45 / 68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48 · LECTURE HOUR 4 (OF 4) — CLOSES UNIT 9 &amp; THE COURSE</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Information Security &amp; Policies · Course Review &amp; Wrap-up</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Laws punish crime AFTER it happens — but a good security POLICY tries to stop it before. As we close the course: how does an organization (or you) actually write the rules that keep data safe — and how do all 9 units fit together?</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46 / 68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Information Security &amp; the CIA Triad</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Information security is protecting information's Confidentiality, Integrity, and Availability — the CIA triad. Confidentiality = only authorised people see the data; Integrity = the data is accurate and unaltered; Availability = the data is there when needed. Lose any one corner and the information is not secure. This ties Units 5–7 (cybersecurity, personal security, social engineering) to the legal/policy controls here.</a:t>
            </a:r>
          </a:p>
          <a:p>
            <a:pPr>
              <a:spcAft>
                <a:spcPts val="500"/>
              </a:spcAft>
            </a:pPr>
            <a:r>
              <a:rPr sz="1200" b="1">
                <a:solidFill>
                  <a:srgbClr val="185FA5"/>
                </a:solidFill>
              </a:rPr>
              <a:t>HOW IT WORKS</a:t>
            </a:r>
          </a:p>
          <a:p>
            <a:pPr>
              <a:spcAft>
                <a:spcPts val="600"/>
              </a:spcAft>
            </a:pPr>
            <a:r>
              <a:rPr sz="1400">
                <a:solidFill>
                  <a:srgbClr val="1A1A1A"/>
                </a:solidFill>
              </a:rPr>
              <a:t>•  Confidentiality — keep data secret from the unauthorised (encryption, access control).</a:t>
            </a:r>
          </a:p>
          <a:p>
            <a:pPr>
              <a:spcAft>
                <a:spcPts val="600"/>
              </a:spcAft>
            </a:pPr>
            <a:r>
              <a:rPr sz="1400">
                <a:solidFill>
                  <a:srgbClr val="1A1A1A"/>
                </a:solidFill>
              </a:rPr>
              <a:t>•  Integrity — keep data accurate &amp; unaltered (hashing, change control, backups).</a:t>
            </a:r>
          </a:p>
          <a:p>
            <a:pPr>
              <a:spcAft>
                <a:spcPts val="600"/>
              </a:spcAft>
            </a:pPr>
            <a:r>
              <a:rPr sz="1400">
                <a:solidFill>
                  <a:srgbClr val="1A1A1A"/>
                </a:solidFill>
              </a:rPr>
              <a:t>•  Availability — keep data &amp; services reachable when needed (redundancy, uptime).</a:t>
            </a:r>
          </a:p>
          <a:p>
            <a:pPr>
              <a:spcAft>
                <a:spcPts val="600"/>
              </a:spcAft>
            </a:pPr>
            <a:r>
              <a:rPr sz="1400">
                <a:solidFill>
                  <a:srgbClr val="1A1A1A"/>
                </a:solidFill>
              </a:rPr>
              <a:t>•  Law punishes AFTER a breach; security protects the triad BEFORE — the two work together.</a:t>
            </a:r>
          </a:p>
        </p:txBody>
      </p:sp>
      <p:pic>
        <p:nvPicPr>
          <p:cNvPr id="6" name="Picture 5" descr="s48_cia.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Confidentiality, Integrity, Availability — lose any one corner and the data isn't secure.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47 / 68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CONCEPT 1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CIA triad — what each protects and the threat if lost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61780"/>
                <a:gridCol w="4540684"/>
                <a:gridCol w="4227534"/>
              </a:tblGrid>
              <a:tr h="630936">
                <a:tc>
                  <a:txBody>
                    <a:bodyPr wrap="square"/>
                    <a:lstStyle/>
                    <a:p>
                      <a:r>
                        <a:rPr sz="1150" b="1">
                          <a:solidFill>
                            <a:srgbClr val="FFFFFF"/>
                          </a:solidFill>
                        </a:rPr>
                        <a:t>CIA element</a:t>
                      </a:r>
                    </a:p>
                  </a:txBody>
                  <a:tcPr anchor="ctr" marL="73152" marR="54864" marT="27432" marB="27432">
                    <a:solidFill>
                      <a:srgbClr val="0C2B4A"/>
                    </a:solidFill>
                  </a:tcPr>
                </a:tc>
                <a:tc>
                  <a:txBody>
                    <a:bodyPr wrap="square"/>
                    <a:lstStyle/>
                    <a:p>
                      <a:r>
                        <a:rPr sz="1150" b="1">
                          <a:solidFill>
                            <a:srgbClr val="FFFFFF"/>
                          </a:solidFill>
                        </a:rPr>
                        <a:t>What it protects (Nepal example)</a:t>
                      </a:r>
                    </a:p>
                  </a:txBody>
                  <a:tcPr anchor="ctr" marL="73152" marR="54864" marT="27432" marB="27432">
                    <a:solidFill>
                      <a:srgbClr val="0C2B4A"/>
                    </a:solidFill>
                  </a:tcPr>
                </a:tc>
                <a:tc>
                  <a:txBody>
                    <a:bodyPr wrap="square"/>
                    <a:lstStyle/>
                    <a:p>
                      <a:r>
                        <a:rPr sz="1150" b="1">
                          <a:solidFill>
                            <a:srgbClr val="FFFFFF"/>
                          </a:solidFill>
                        </a:rPr>
                        <a:t>Threat / consequence if lost</a:t>
                      </a:r>
                    </a:p>
                  </a:txBody>
                  <a:tcPr anchor="ctr" marL="73152" marR="54864" marT="27432" marB="27432">
                    <a:solidFill>
                      <a:srgbClr val="0C2B4A"/>
                    </a:solidFill>
                  </a:tcPr>
                </a:tc>
              </a:tr>
              <a:tr h="630936">
                <a:tc>
                  <a:txBody>
                    <a:bodyPr wrap="square"/>
                    <a:lstStyle/>
                    <a:p>
                      <a:r>
                        <a:rPr sz="1100" b="1">
                          <a:solidFill>
                            <a:srgbClr val="0C2B4A"/>
                          </a:solidFill>
                        </a:rPr>
                        <a:t>Confidentiality</a:t>
                      </a:r>
                    </a:p>
                  </a:txBody>
                  <a:tcPr anchor="ctr" marL="73152" marR="54864" marT="27432" marB="27432">
                    <a:solidFill>
                      <a:srgbClr val="FFFFFF"/>
                    </a:solidFill>
                  </a:tcPr>
                </a:tc>
                <a:tc>
                  <a:txBody>
                    <a:bodyPr wrap="square"/>
                    <a:lstStyle/>
                    <a:p>
                      <a:r>
                        <a:rPr sz="1100">
                          <a:solidFill>
                            <a:srgbClr val="1A1A1A"/>
                          </a:solidFill>
                        </a:rPr>
                        <a:t>A bank's customer KYC data stays private</a:t>
                      </a:r>
                    </a:p>
                  </a:txBody>
                  <a:tcPr anchor="ctr" marL="73152" marR="54864" marT="27432" marB="27432">
                    <a:solidFill>
                      <a:srgbClr val="FFFFFF"/>
                    </a:solidFill>
                  </a:tcPr>
                </a:tc>
                <a:tc>
                  <a:txBody>
                    <a:bodyPr wrap="square"/>
                    <a:lstStyle/>
                    <a:p>
                      <a:r>
                        <a:rPr sz="1100">
                          <a:solidFill>
                            <a:srgbClr val="1A1A1A"/>
                          </a:solidFill>
                        </a:rPr>
                        <a:t>Data leak → privacy breach, ETA/Privacy Act liability</a:t>
                      </a:r>
                    </a:p>
                  </a:txBody>
                  <a:tcPr anchor="ctr" marL="73152" marR="54864" marT="27432" marB="27432">
                    <a:solidFill>
                      <a:srgbClr val="FFFFFF"/>
                    </a:solidFill>
                  </a:tcPr>
                </a:tc>
              </a:tr>
              <a:tr h="630936">
                <a:tc>
                  <a:txBody>
                    <a:bodyPr wrap="square"/>
                    <a:lstStyle/>
                    <a:p>
                      <a:r>
                        <a:rPr sz="1100" b="1">
                          <a:solidFill>
                            <a:srgbClr val="0C2B4A"/>
                          </a:solidFill>
                        </a:rPr>
                        <a:t>Integrity</a:t>
                      </a:r>
                    </a:p>
                  </a:txBody>
                  <a:tcPr anchor="ctr" marL="73152" marR="54864" marT="27432" marB="27432">
                    <a:solidFill>
                      <a:srgbClr val="EEF3F8"/>
                    </a:solidFill>
                  </a:tcPr>
                </a:tc>
                <a:tc>
                  <a:txBody>
                    <a:bodyPr wrap="square"/>
                    <a:lstStyle/>
                    <a:p>
                      <a:r>
                        <a:rPr sz="1100">
                          <a:solidFill>
                            <a:srgbClr val="1A1A1A"/>
                          </a:solidFill>
                        </a:rPr>
                        <a:t>An account balance is accurate &amp; unaltered</a:t>
                      </a:r>
                    </a:p>
                  </a:txBody>
                  <a:tcPr anchor="ctr" marL="73152" marR="54864" marT="27432" marB="27432">
                    <a:solidFill>
                      <a:srgbClr val="EEF3F8"/>
                    </a:solidFill>
                  </a:tcPr>
                </a:tc>
                <a:tc>
                  <a:txBody>
                    <a:bodyPr wrap="square"/>
                    <a:lstStyle/>
                    <a:p>
                      <a:r>
                        <a:rPr sz="1100">
                          <a:solidFill>
                            <a:srgbClr val="1A1A1A"/>
                          </a:solidFill>
                        </a:rPr>
                        <a:t>Tampered records → fraud, wrong decisions</a:t>
                      </a:r>
                    </a:p>
                  </a:txBody>
                  <a:tcPr anchor="ctr" marL="73152" marR="54864" marT="27432" marB="27432">
                    <a:solidFill>
                      <a:srgbClr val="EEF3F8"/>
                    </a:solidFill>
                  </a:tcPr>
                </a:tc>
              </a:tr>
              <a:tr h="630936">
                <a:tc>
                  <a:txBody>
                    <a:bodyPr wrap="square"/>
                    <a:lstStyle/>
                    <a:p>
                      <a:r>
                        <a:rPr sz="1100" b="1">
                          <a:solidFill>
                            <a:srgbClr val="0C2B4A"/>
                          </a:solidFill>
                        </a:rPr>
                        <a:t>Availability</a:t>
                      </a:r>
                    </a:p>
                  </a:txBody>
                  <a:tcPr anchor="ctr" marL="73152" marR="54864" marT="27432" marB="27432">
                    <a:solidFill>
                      <a:srgbClr val="FFFFFF"/>
                    </a:solidFill>
                  </a:tcPr>
                </a:tc>
                <a:tc>
                  <a:txBody>
                    <a:bodyPr wrap="square"/>
                    <a:lstStyle/>
                    <a:p>
                      <a:r>
                        <a:rPr sz="1100">
                          <a:solidFill>
                            <a:srgbClr val="1A1A1A"/>
                          </a:solidFill>
                        </a:rPr>
                        <a:t>eSewa/mobile banking works when needed</a:t>
                      </a:r>
                    </a:p>
                  </a:txBody>
                  <a:tcPr anchor="ctr" marL="73152" marR="54864" marT="27432" marB="27432">
                    <a:solidFill>
                      <a:srgbClr val="FFFFFF"/>
                    </a:solidFill>
                  </a:tcPr>
                </a:tc>
                <a:tc>
                  <a:txBody>
                    <a:bodyPr wrap="square"/>
                    <a:lstStyle/>
                    <a:p>
                      <a:r>
                        <a:rPr sz="1100">
                          <a:solidFill>
                            <a:srgbClr val="1A1A1A"/>
                          </a:solidFill>
                        </a:rPr>
                        <a:t>Downtime/DoS → customers locked out, lost trust</a:t>
                      </a:r>
                    </a:p>
                  </a:txBody>
                  <a:tcPr anchor="ctr" marL="73152" marR="54864" marT="27432" marB="27432">
                    <a:solidFill>
                      <a:srgbClr val="FFFFFF"/>
                    </a:solidFill>
                  </a:tcPr>
                </a:tc>
              </a:tr>
              <a:tr h="630936">
                <a:tc>
                  <a:txBody>
                    <a:bodyPr wrap="square"/>
                    <a:lstStyle/>
                    <a:p>
                      <a:r>
                        <a:rPr sz="1100" b="1">
                          <a:solidFill>
                            <a:srgbClr val="0C2B4A"/>
                          </a:solidFill>
                        </a:rPr>
                        <a:t>Confidentiality</a:t>
                      </a:r>
                    </a:p>
                  </a:txBody>
                  <a:tcPr anchor="ctr" marL="73152" marR="54864" marT="27432" marB="27432">
                    <a:solidFill>
                      <a:srgbClr val="EEF3F8"/>
                    </a:solidFill>
                  </a:tcPr>
                </a:tc>
                <a:tc>
                  <a:txBody>
                    <a:bodyPr wrap="square"/>
                    <a:lstStyle/>
                    <a:p>
                      <a:r>
                        <a:rPr sz="1100">
                          <a:solidFill>
                            <a:srgbClr val="1A1A1A"/>
                          </a:solidFill>
                        </a:rPr>
                        <a:t>Exam results seen only by the right office</a:t>
                      </a:r>
                    </a:p>
                  </a:txBody>
                  <a:tcPr anchor="ctr" marL="73152" marR="54864" marT="27432" marB="27432">
                    <a:solidFill>
                      <a:srgbClr val="EEF3F8"/>
                    </a:solidFill>
                  </a:tcPr>
                </a:tc>
                <a:tc>
                  <a:txBody>
                    <a:bodyPr wrap="square"/>
                    <a:lstStyle/>
                    <a:p>
                      <a:r>
                        <a:rPr sz="1100">
                          <a:solidFill>
                            <a:srgbClr val="1A1A1A"/>
                          </a:solidFill>
                        </a:rPr>
                        <a:t>Premature leak → unfairness, reputational harm</a:t>
                      </a:r>
                    </a:p>
                  </a:txBody>
                  <a:tcPr anchor="ctr" marL="73152" marR="54864" marT="27432" marB="27432">
                    <a:solidFill>
                      <a:srgbClr val="EEF3F8"/>
                    </a:solidFill>
                  </a:tcPr>
                </a:tc>
              </a:tr>
              <a:tr h="630936">
                <a:tc>
                  <a:txBody>
                    <a:bodyPr wrap="square"/>
                    <a:lstStyle/>
                    <a:p>
                      <a:r>
                        <a:rPr sz="1100" b="1">
                          <a:solidFill>
                            <a:srgbClr val="0C2B4A"/>
                          </a:solidFill>
                        </a:rPr>
                        <a:t>Integrity</a:t>
                      </a:r>
                    </a:p>
                  </a:txBody>
                  <a:tcPr anchor="ctr" marL="73152" marR="54864" marT="27432" marB="27432">
                    <a:solidFill>
                      <a:srgbClr val="FFFFFF"/>
                    </a:solidFill>
                  </a:tcPr>
                </a:tc>
                <a:tc>
                  <a:txBody>
                    <a:bodyPr wrap="square"/>
                    <a:lstStyle/>
                    <a:p>
                      <a:r>
                        <a:rPr sz="1100">
                          <a:solidFill>
                            <a:srgbClr val="1A1A1A"/>
                          </a:solidFill>
                        </a:rPr>
                        <a:t>A digitally signed contract not modified</a:t>
                      </a:r>
                    </a:p>
                  </a:txBody>
                  <a:tcPr anchor="ctr" marL="73152" marR="54864" marT="27432" marB="27432">
                    <a:solidFill>
                      <a:srgbClr val="FFFFFF"/>
                    </a:solidFill>
                  </a:tcPr>
                </a:tc>
                <a:tc>
                  <a:txBody>
                    <a:bodyPr wrap="square"/>
                    <a:lstStyle/>
                    <a:p>
                      <a:r>
                        <a:rPr sz="1100">
                          <a:solidFill>
                            <a:srgbClr val="1A1A1A"/>
                          </a:solidFill>
                        </a:rPr>
                        <a:t>Silent alteration → disputes, non-repudiation lost</a:t>
                      </a:r>
                    </a:p>
                  </a:txBody>
                  <a:tcPr anchor="ctr" marL="73152" marR="54864" marT="27432" marB="27432">
                    <a:solidFill>
                      <a:srgbClr val="FFFFFF"/>
                    </a:solidFill>
                  </a:tcPr>
                </a:tc>
              </a:tr>
              <a:tr h="630936">
                <a:tc>
                  <a:txBody>
                    <a:bodyPr wrap="square"/>
                    <a:lstStyle/>
                    <a:p>
                      <a:r>
                        <a:rPr sz="1100" b="1">
                          <a:solidFill>
                            <a:srgbClr val="0C2B4A"/>
                          </a:solidFill>
                        </a:rPr>
                        <a:t>Availability</a:t>
                      </a:r>
                    </a:p>
                  </a:txBody>
                  <a:tcPr anchor="ctr" marL="73152" marR="54864" marT="27432" marB="27432">
                    <a:solidFill>
                      <a:srgbClr val="EEF3F8"/>
                    </a:solidFill>
                  </a:tcPr>
                </a:tc>
                <a:tc>
                  <a:txBody>
                    <a:bodyPr wrap="square"/>
                    <a:lstStyle/>
                    <a:p>
                      <a:r>
                        <a:rPr sz="1100">
                          <a:solidFill>
                            <a:srgbClr val="1A1A1A"/>
                          </a:solidFill>
                        </a:rPr>
                        <a:t>A hospital system reachable in an emergency</a:t>
                      </a:r>
                    </a:p>
                  </a:txBody>
                  <a:tcPr anchor="ctr" marL="73152" marR="54864" marT="27432" marB="27432">
                    <a:solidFill>
                      <a:srgbClr val="EEF3F8"/>
                    </a:solidFill>
                  </a:tcPr>
                </a:tc>
                <a:tc>
                  <a:txBody>
                    <a:bodyPr wrap="square"/>
                    <a:lstStyle/>
                    <a:p>
                      <a:r>
                        <a:rPr sz="1100">
                          <a:solidFill>
                            <a:srgbClr val="1A1A1A"/>
                          </a:solidFill>
                        </a:rPr>
                        <a:t>Outage → direct risk to patient care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Security means protecting ALL THREE at once — confidentiality, integrity, AND availability. A system can 'work' yet still fail the triad.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48 / 68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Information Security &amp; the CIA Triad</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bank must keep customer data confidential (privacy), accurate (integrity), and reachable (availability) — and NRB/regulatory IT-security expectations push exactly this. Units 5–7 taught the attacks (malware, weak passwords, social engineering); the CIA triad is the frame those defences protect, and Unit 9's law is what governs it when it fails.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"Security just means keeping data secret (confidentiality)." Confidentiality is only one corner. A system that keeps data secret but lets it be silently altered (integrity failure) or knocked offline during a festival rush (availability failure) is still insecure. Real security protects all three corners of the triad together.</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Information security protects the Confidentiality, Integrity, and Availability of information — the CIA triad. Confidentiality restricts who sees data, integrity keeps it accurate and unaltered, and availability keeps it reachable when needed; losing any one corner means the information is not secure. It ties the attacks studied in Units 5–7 to the legal and policy controls of Unit 9.</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information security · CIA triad · confidentiality / integrity / availability · protect all three · links Units 5–7</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49 / 68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Information Security Policy (ISP)</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An information security policy is a documented set of rules governing how an organization protects its information assets. It sits at the top of a hierarchy — POLICY (the rule &amp; intent) → STANDARDS (measurable requirements) → PROCEDURES (step-by-step how-to) → GUIDELINES (advisory). Security is governance + people + process, not only firewalls.</a:t>
            </a:r>
          </a:p>
          <a:p>
            <a:pPr>
              <a:spcAft>
                <a:spcPts val="500"/>
              </a:spcAft>
            </a:pPr>
            <a:r>
              <a:rPr sz="1200" b="1">
                <a:solidFill>
                  <a:srgbClr val="185FA5"/>
                </a:solidFill>
              </a:rPr>
              <a:t>HOW IT WORKS</a:t>
            </a:r>
          </a:p>
          <a:p>
            <a:pPr>
              <a:spcAft>
                <a:spcPts val="600"/>
              </a:spcAft>
            </a:pPr>
            <a:r>
              <a:rPr sz="1400">
                <a:solidFill>
                  <a:srgbClr val="1A1A1A"/>
                </a:solidFill>
              </a:rPr>
              <a:t>•  Typical components: acceptable-use, access-control &amp; password, data classification, incident response, BYOD, backup/retention.</a:t>
            </a:r>
          </a:p>
          <a:p>
            <a:pPr>
              <a:spcAft>
                <a:spcPts val="600"/>
              </a:spcAft>
            </a:pPr>
            <a:r>
              <a:rPr sz="1400">
                <a:solidFill>
                  <a:srgbClr val="1A1A1A"/>
                </a:solidFill>
              </a:rPr>
              <a:t>•  Hierarchy: policy states WHAT &amp; WHY; standards make it measurable; procedures say HOW.</a:t>
            </a:r>
          </a:p>
          <a:p>
            <a:pPr>
              <a:spcAft>
                <a:spcPts val="600"/>
              </a:spcAft>
            </a:pPr>
            <a:r>
              <a:rPr sz="1400">
                <a:solidFill>
                  <a:srgbClr val="1A1A1A"/>
                </a:solidFill>
              </a:rPr>
              <a:t>•  It aligns with Nepal's Privacy Act 2075 / data-protection expectations and the ETA (verify current status).</a:t>
            </a:r>
          </a:p>
          <a:p>
            <a:pPr>
              <a:spcAft>
                <a:spcPts val="600"/>
              </a:spcAft>
            </a:pPr>
            <a:r>
              <a:rPr sz="1400">
                <a:solidFill>
                  <a:srgbClr val="1A1A1A"/>
                </a:solidFill>
              </a:rPr>
              <a:t>•  Good policy reduces both breaches AND legal liability — it operationalises protection.</a:t>
            </a:r>
          </a:p>
        </p:txBody>
      </p:sp>
      <p:pic>
        <p:nvPicPr>
          <p:cNvPr id="6" name="Picture 5" descr="s48_policyhierarchy.png"/>
          <p:cNvPicPr>
            <a:picLocks noChangeAspect="1"/>
          </p:cNvPicPr>
          <p:nvPr/>
        </p:nvPicPr>
        <p:blipFill>
          <a:blip r:embed="rId2"/>
          <a:stretch>
            <a:fillRect/>
          </a:stretch>
        </p:blipFill>
        <p:spPr>
          <a:xfrm>
            <a:off x="6355080" y="2549757"/>
            <a:ext cx="5532120" cy="253572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Policy → Standard → Procedure → Guideline: from 'protect our data' down to 'here's how to reset a password'.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50 / 68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CONCEPT 2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Information-security policy components — and the threat each stops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243648"/>
                <a:gridCol w="4015945"/>
                <a:gridCol w="4170405"/>
              </a:tblGrid>
              <a:tr h="630936">
                <a:tc>
                  <a:txBody>
                    <a:bodyPr wrap="square"/>
                    <a:lstStyle/>
                    <a:p>
                      <a:r>
                        <a:rPr sz="1150" b="1">
                          <a:solidFill>
                            <a:srgbClr val="FFFFFF"/>
                          </a:solidFill>
                        </a:rPr>
                        <a:t>Policy component</a:t>
                      </a:r>
                    </a:p>
                  </a:txBody>
                  <a:tcPr anchor="ctr" marL="73152" marR="54864" marT="27432" marB="27432">
                    <a:solidFill>
                      <a:srgbClr val="0C2B4A"/>
                    </a:solidFill>
                  </a:tcPr>
                </a:tc>
                <a:tc>
                  <a:txBody>
                    <a:bodyPr wrap="square"/>
                    <a:lstStyle/>
                    <a:p>
                      <a:r>
                        <a:rPr sz="1150" b="1">
                          <a:solidFill>
                            <a:srgbClr val="FFFFFF"/>
                          </a:solidFill>
                        </a:rPr>
                        <a:t>What it governs</a:t>
                      </a:r>
                    </a:p>
                  </a:txBody>
                  <a:tcPr anchor="ctr" marL="73152" marR="54864" marT="27432" marB="27432">
                    <a:solidFill>
                      <a:srgbClr val="0C2B4A"/>
                    </a:solidFill>
                  </a:tcPr>
                </a:tc>
                <a:tc>
                  <a:txBody>
                    <a:bodyPr wrap="square"/>
                    <a:lstStyle/>
                    <a:p>
                      <a:r>
                        <a:rPr sz="1150" b="1">
                          <a:solidFill>
                            <a:srgbClr val="FFFFFF"/>
                          </a:solidFill>
                        </a:rPr>
                        <a:t>Threat it stops (Nepal example)</a:t>
                      </a:r>
                    </a:p>
                  </a:txBody>
                  <a:tcPr anchor="ctr" marL="73152" marR="54864" marT="27432" marB="27432">
                    <a:solidFill>
                      <a:srgbClr val="0C2B4A"/>
                    </a:solidFill>
                  </a:tcPr>
                </a:tc>
              </a:tr>
              <a:tr h="630936">
                <a:tc>
                  <a:txBody>
                    <a:bodyPr wrap="square"/>
                    <a:lstStyle/>
                    <a:p>
                      <a:r>
                        <a:rPr sz="1100" b="1">
                          <a:solidFill>
                            <a:srgbClr val="0C2B4A"/>
                          </a:solidFill>
                        </a:rPr>
                        <a:t>Acceptable-use policy (AUP)</a:t>
                      </a:r>
                    </a:p>
                  </a:txBody>
                  <a:tcPr anchor="ctr" marL="73152" marR="54864" marT="27432" marB="27432">
                    <a:solidFill>
                      <a:srgbClr val="FFFFFF"/>
                    </a:solidFill>
                  </a:tcPr>
                </a:tc>
                <a:tc>
                  <a:txBody>
                    <a:bodyPr wrap="square"/>
                    <a:lstStyle/>
                    <a:p>
                      <a:r>
                        <a:rPr sz="1100">
                          <a:solidFill>
                            <a:srgbClr val="1A1A1A"/>
                          </a:solidFill>
                        </a:rPr>
                        <a:t>How staff may use company systems</a:t>
                      </a:r>
                    </a:p>
                  </a:txBody>
                  <a:tcPr anchor="ctr" marL="73152" marR="54864" marT="27432" marB="27432">
                    <a:solidFill>
                      <a:srgbClr val="FFFFFF"/>
                    </a:solidFill>
                  </a:tcPr>
                </a:tc>
                <a:tc>
                  <a:txBody>
                    <a:bodyPr wrap="square"/>
                    <a:lstStyle/>
                    <a:p>
                      <a:r>
                        <a:rPr sz="1100">
                          <a:solidFill>
                            <a:srgbClr val="1A1A1A"/>
                          </a:solidFill>
                        </a:rPr>
                        <a:t>Misuse, shadow IT, risky browsing</a:t>
                      </a:r>
                    </a:p>
                  </a:txBody>
                  <a:tcPr anchor="ctr" marL="73152" marR="54864" marT="27432" marB="27432">
                    <a:solidFill>
                      <a:srgbClr val="FFFFFF"/>
                    </a:solidFill>
                  </a:tcPr>
                </a:tc>
              </a:tr>
              <a:tr h="630936">
                <a:tc>
                  <a:txBody>
                    <a:bodyPr wrap="square"/>
                    <a:lstStyle/>
                    <a:p>
                      <a:r>
                        <a:rPr sz="1100" b="1">
                          <a:solidFill>
                            <a:srgbClr val="0C2B4A"/>
                          </a:solidFill>
                        </a:rPr>
                        <a:t>Access control &amp; password policy</a:t>
                      </a:r>
                    </a:p>
                  </a:txBody>
                  <a:tcPr anchor="ctr" marL="73152" marR="54864" marT="27432" marB="27432">
                    <a:solidFill>
                      <a:srgbClr val="EEF3F8"/>
                    </a:solidFill>
                  </a:tcPr>
                </a:tc>
                <a:tc>
                  <a:txBody>
                    <a:bodyPr wrap="square"/>
                    <a:lstStyle/>
                    <a:p>
                      <a:r>
                        <a:rPr sz="1100">
                          <a:solidFill>
                            <a:srgbClr val="1A1A1A"/>
                          </a:solidFill>
                        </a:rPr>
                        <a:t>Who can access what; strong passwords</a:t>
                      </a:r>
                    </a:p>
                  </a:txBody>
                  <a:tcPr anchor="ctr" marL="73152" marR="54864" marT="27432" marB="27432">
                    <a:solidFill>
                      <a:srgbClr val="EEF3F8"/>
                    </a:solidFill>
                  </a:tcPr>
                </a:tc>
                <a:tc>
                  <a:txBody>
                    <a:bodyPr wrap="square"/>
                    <a:lstStyle/>
                    <a:p>
                      <a:r>
                        <a:rPr sz="1100">
                          <a:solidFill>
                            <a:srgbClr val="1A1A1A"/>
                          </a:solidFill>
                        </a:rPr>
                        <a:t>Weak/shared passwords → account takeover</a:t>
                      </a:r>
                    </a:p>
                  </a:txBody>
                  <a:tcPr anchor="ctr" marL="73152" marR="54864" marT="27432" marB="27432">
                    <a:solidFill>
                      <a:srgbClr val="EEF3F8"/>
                    </a:solidFill>
                  </a:tcPr>
                </a:tc>
              </a:tr>
              <a:tr h="630936">
                <a:tc>
                  <a:txBody>
                    <a:bodyPr wrap="square"/>
                    <a:lstStyle/>
                    <a:p>
                      <a:r>
                        <a:rPr sz="1100" b="1">
                          <a:solidFill>
                            <a:srgbClr val="0C2B4A"/>
                          </a:solidFill>
                        </a:rPr>
                        <a:t>Data classification</a:t>
                      </a:r>
                    </a:p>
                  </a:txBody>
                  <a:tcPr anchor="ctr" marL="73152" marR="54864" marT="27432" marB="27432">
                    <a:solidFill>
                      <a:srgbClr val="FFFFFF"/>
                    </a:solidFill>
                  </a:tcPr>
                </a:tc>
                <a:tc>
                  <a:txBody>
                    <a:bodyPr wrap="square"/>
                    <a:lstStyle/>
                    <a:p>
                      <a:r>
                        <a:rPr sz="1100">
                          <a:solidFill>
                            <a:srgbClr val="1A1A1A"/>
                          </a:solidFill>
                        </a:rPr>
                        <a:t>How data is labelled &amp; handled</a:t>
                      </a:r>
                    </a:p>
                  </a:txBody>
                  <a:tcPr anchor="ctr" marL="73152" marR="54864" marT="27432" marB="27432">
                    <a:solidFill>
                      <a:srgbClr val="FFFFFF"/>
                    </a:solidFill>
                  </a:tcPr>
                </a:tc>
                <a:tc>
                  <a:txBody>
                    <a:bodyPr wrap="square"/>
                    <a:lstStyle/>
                    <a:p>
                      <a:r>
                        <a:rPr sz="1100">
                          <a:solidFill>
                            <a:srgbClr val="1A1A1A"/>
                          </a:solidFill>
                        </a:rPr>
                        <a:t>Sensitive KYC data treated carelessly</a:t>
                      </a:r>
                    </a:p>
                  </a:txBody>
                  <a:tcPr anchor="ctr" marL="73152" marR="54864" marT="27432" marB="27432">
                    <a:solidFill>
                      <a:srgbClr val="FFFFFF"/>
                    </a:solidFill>
                  </a:tcPr>
                </a:tc>
              </a:tr>
              <a:tr h="630936">
                <a:tc>
                  <a:txBody>
                    <a:bodyPr wrap="square"/>
                    <a:lstStyle/>
                    <a:p>
                      <a:r>
                        <a:rPr sz="1100" b="1">
                          <a:solidFill>
                            <a:srgbClr val="0C2B4A"/>
                          </a:solidFill>
                        </a:rPr>
                        <a:t>Incident response</a:t>
                      </a:r>
                    </a:p>
                  </a:txBody>
                  <a:tcPr anchor="ctr" marL="73152" marR="54864" marT="27432" marB="27432">
                    <a:solidFill>
                      <a:srgbClr val="EEF3F8"/>
                    </a:solidFill>
                  </a:tcPr>
                </a:tc>
                <a:tc>
                  <a:txBody>
                    <a:bodyPr wrap="square"/>
                    <a:lstStyle/>
                    <a:p>
                      <a:r>
                        <a:rPr sz="1100">
                          <a:solidFill>
                            <a:srgbClr val="1A1A1A"/>
                          </a:solidFill>
                        </a:rPr>
                        <a:t>Steps when a breach occurs</a:t>
                      </a:r>
                    </a:p>
                  </a:txBody>
                  <a:tcPr anchor="ctr" marL="73152" marR="54864" marT="27432" marB="27432">
                    <a:solidFill>
                      <a:srgbClr val="EEF3F8"/>
                    </a:solidFill>
                  </a:tcPr>
                </a:tc>
                <a:tc>
                  <a:txBody>
                    <a:bodyPr wrap="square"/>
                    <a:lstStyle/>
                    <a:p>
                      <a:r>
                        <a:rPr sz="1100">
                          <a:solidFill>
                            <a:srgbClr val="1A1A1A"/>
                          </a:solidFill>
                        </a:rPr>
                        <a:t>Slow, chaotic reaction that worsens a breach</a:t>
                      </a:r>
                    </a:p>
                  </a:txBody>
                  <a:tcPr anchor="ctr" marL="73152" marR="54864" marT="27432" marB="27432">
                    <a:solidFill>
                      <a:srgbClr val="EEF3F8"/>
                    </a:solidFill>
                  </a:tcPr>
                </a:tc>
              </a:tr>
              <a:tr h="630936">
                <a:tc>
                  <a:txBody>
                    <a:bodyPr wrap="square"/>
                    <a:lstStyle/>
                    <a:p>
                      <a:r>
                        <a:rPr sz="1100" b="1">
                          <a:solidFill>
                            <a:srgbClr val="0C2B4A"/>
                          </a:solidFill>
                        </a:rPr>
                        <a:t>BYOD policy</a:t>
                      </a:r>
                    </a:p>
                  </a:txBody>
                  <a:tcPr anchor="ctr" marL="73152" marR="54864" marT="27432" marB="27432">
                    <a:solidFill>
                      <a:srgbClr val="FFFFFF"/>
                    </a:solidFill>
                  </a:tcPr>
                </a:tc>
                <a:tc>
                  <a:txBody>
                    <a:bodyPr wrap="square"/>
                    <a:lstStyle/>
                    <a:p>
                      <a:r>
                        <a:rPr sz="1100">
                          <a:solidFill>
                            <a:srgbClr val="1A1A1A"/>
                          </a:solidFill>
                        </a:rPr>
                        <a:t>Personal devices on the network</a:t>
                      </a:r>
                    </a:p>
                  </a:txBody>
                  <a:tcPr anchor="ctr" marL="73152" marR="54864" marT="27432" marB="27432">
                    <a:solidFill>
                      <a:srgbClr val="FFFFFF"/>
                    </a:solidFill>
                  </a:tcPr>
                </a:tc>
                <a:tc>
                  <a:txBody>
                    <a:bodyPr wrap="square"/>
                    <a:lstStyle/>
                    <a:p>
                      <a:r>
                        <a:rPr sz="1100">
                          <a:solidFill>
                            <a:srgbClr val="1A1A1A"/>
                          </a:solidFill>
                        </a:rPr>
                        <a:t>An infected personal phone/USB spreads malware</a:t>
                      </a:r>
                    </a:p>
                  </a:txBody>
                  <a:tcPr anchor="ctr" marL="73152" marR="54864" marT="27432" marB="27432">
                    <a:solidFill>
                      <a:srgbClr val="FFFFFF"/>
                    </a:solidFill>
                  </a:tcPr>
                </a:tc>
              </a:tr>
              <a:tr h="630936">
                <a:tc>
                  <a:txBody>
                    <a:bodyPr wrap="square"/>
                    <a:lstStyle/>
                    <a:p>
                      <a:r>
                        <a:rPr sz="1100" b="1">
                          <a:solidFill>
                            <a:srgbClr val="0C2B4A"/>
                          </a:solidFill>
                        </a:rPr>
                        <a:t>Backup &amp; retention</a:t>
                      </a:r>
                    </a:p>
                  </a:txBody>
                  <a:tcPr anchor="ctr" marL="73152" marR="54864" marT="27432" marB="27432">
                    <a:solidFill>
                      <a:srgbClr val="EEF3F8"/>
                    </a:solidFill>
                  </a:tcPr>
                </a:tc>
                <a:tc>
                  <a:txBody>
                    <a:bodyPr wrap="square"/>
                    <a:lstStyle/>
                    <a:p>
                      <a:r>
                        <a:rPr sz="1100">
                          <a:solidFill>
                            <a:srgbClr val="1A1A1A"/>
                          </a:solidFill>
                        </a:rPr>
                        <a:t>How data is backed up &amp; kept</a:t>
                      </a:r>
                    </a:p>
                  </a:txBody>
                  <a:tcPr anchor="ctr" marL="73152" marR="54864" marT="27432" marB="27432">
                    <a:solidFill>
                      <a:srgbClr val="EEF3F8"/>
                    </a:solidFill>
                  </a:tcPr>
                </a:tc>
                <a:tc>
                  <a:txBody>
                    <a:bodyPr wrap="square"/>
                    <a:lstStyle/>
                    <a:p>
                      <a:r>
                        <a:rPr sz="1100">
                          <a:solidFill>
                            <a:srgbClr val="1A1A1A"/>
                          </a:solidFill>
                        </a:rPr>
                        <a:t>Ransomware/data loss with no recovery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Security is governance + people + process, not only firewalls — user behaviour and written policy matter as much as technology.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51 / 68</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Information Security Policy (ISP)</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An employee plugs in a personal USB and shares a password 'to save time'. A BYOD/acceptable-use policy plus an access-control &amp; password policy should have prevented it; if malware got in, the incident-response procedure defines the steps (contain, eradicate, recover, report). This is where Unit 9's law meets daily practice — good policy reduces both the breach and the legal liability.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"Security is only a technical / IT-team problem." It is governance + people + process. Firewalls don't stop an employee sharing a password or losing an unencrypted laptop — policy, training, and user behaviour do. Most breaches exploit people and process gaps, not just technology.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An information security policy is a documented set of rules for protecting an organization's information assets, structured as policy → standards → procedures → guidelines and covering acceptable use, access control/passwords, data classification, incident response, BYOD, and backup/retention. It aligns with Nepal's Privacy Act 2075 and the ETA, and treats security as governance + people + process, not only technology.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information security policy · policy→standard→procedure → guideline · AUP · access/incident/BYOD/backup · people + process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52 / 68</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Law Meets Policy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Law and policy play different, complementary roles. The ETA CRIMINALISES wrongdoing (punishment after harm); the IT Policy DIRECTS national digital goals; and information-security policies OPERATIONALISE protection inside organizations (stopping harm before it happens). Good internal policy reduces both breaches and legal liability — it is where the law lands in daily practice.</a:t>
            </a:r>
          </a:p>
          <a:p>
            <a:pPr>
              <a:spcAft>
                <a:spcPts val="500"/>
              </a:spcAft>
            </a:pPr>
            <a:r>
              <a:rPr sz="1200" b="1">
                <a:solidFill>
                  <a:srgbClr val="185FA5"/>
                </a:solidFill>
              </a:rPr>
              <a:t>HOW IT WORKS</a:t>
            </a:r>
          </a:p>
          <a:p>
            <a:pPr>
              <a:spcAft>
                <a:spcPts val="600"/>
              </a:spcAft>
            </a:pPr>
            <a:r>
              <a:rPr sz="1400">
                <a:solidFill>
                  <a:srgbClr val="1A1A1A"/>
                </a:solidFill>
              </a:rPr>
              <a:t>•  ETA (law) — criminalises: acts after harm has occurred, with penalties.</a:t>
            </a:r>
          </a:p>
          <a:p>
            <a:pPr>
              <a:spcAft>
                <a:spcPts val="600"/>
              </a:spcAft>
            </a:pPr>
            <a:r>
              <a:rPr sz="1400">
                <a:solidFill>
                  <a:srgbClr val="1A1A1A"/>
                </a:solidFill>
              </a:rPr>
              <a:t>•  IT Policy (strategy) — directs: sets national goals, non-binding.</a:t>
            </a:r>
          </a:p>
          <a:p>
            <a:pPr>
              <a:spcAft>
                <a:spcPts val="600"/>
              </a:spcAft>
            </a:pPr>
            <a:r>
              <a:rPr sz="1400">
                <a:solidFill>
                  <a:srgbClr val="1A1A1A"/>
                </a:solidFill>
              </a:rPr>
              <a:t>•  Security policy (organizational) — operationalises: prevents harm inside the org, before it happens.</a:t>
            </a:r>
          </a:p>
          <a:p>
            <a:pPr>
              <a:spcAft>
                <a:spcPts val="600"/>
              </a:spcAft>
            </a:pPr>
            <a:r>
              <a:rPr sz="1400">
                <a:solidFill>
                  <a:srgbClr val="1A1A1A"/>
                </a:solidFill>
              </a:rPr>
              <a:t>•  Together: prevention (policy) + deterrence/punishment (law) + direction (national policy).</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Law punishes after; policy protects before; national policy points the way — three layers, one goal.</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53 / 68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Law vs national policy vs organizational security policy</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554941"/>
                <a:gridCol w="2958352"/>
                <a:gridCol w="2554941"/>
                <a:gridCol w="3361764"/>
              </a:tblGrid>
              <a:tr h="883310">
                <a:tc>
                  <a:txBody>
                    <a:bodyPr wrap="square"/>
                    <a:lstStyle/>
                    <a:p>
                      <a:r>
                        <a:rPr sz="1150" b="1">
                          <a:solidFill>
                            <a:srgbClr val="FFFFFF"/>
                          </a:solidFill>
                        </a:rPr>
                        <a:t>Layer</a:t>
                      </a:r>
                    </a:p>
                  </a:txBody>
                  <a:tcPr anchor="ctr" marL="73152" marR="54864" marT="27432" marB="27432">
                    <a:solidFill>
                      <a:srgbClr val="0C2B4A"/>
                    </a:solidFill>
                  </a:tcPr>
                </a:tc>
                <a:tc>
                  <a:txBody>
                    <a:bodyPr wrap="square"/>
                    <a:lstStyle/>
                    <a:p>
                      <a:r>
                        <a:rPr sz="1150" b="1">
                          <a:solidFill>
                            <a:srgbClr val="FFFFFF"/>
                          </a:solidFill>
                        </a:rPr>
                        <a:t>Role</a:t>
                      </a:r>
                    </a:p>
                  </a:txBody>
                  <a:tcPr anchor="ctr" marL="73152" marR="54864" marT="27432" marB="27432">
                    <a:solidFill>
                      <a:srgbClr val="0C2B4A"/>
                    </a:solidFill>
                  </a:tcPr>
                </a:tc>
                <a:tc>
                  <a:txBody>
                    <a:bodyPr wrap="square"/>
                    <a:lstStyle/>
                    <a:p>
                      <a:r>
                        <a:rPr sz="1150" b="1">
                          <a:solidFill>
                            <a:srgbClr val="FFFFFF"/>
                          </a:solidFill>
                        </a:rPr>
                        <a:t>When it acts</a:t>
                      </a:r>
                    </a:p>
                  </a:txBody>
                  <a:tcPr anchor="ctr" marL="73152" marR="54864" marT="27432" marB="27432">
                    <a:solidFill>
                      <a:srgbClr val="0C2B4A"/>
                    </a:solidFill>
                  </a:tcPr>
                </a:tc>
                <a:tc>
                  <a:txBody>
                    <a:bodyPr wrap="square"/>
                    <a:lstStyle/>
                    <a:p>
                      <a:r>
                        <a:rPr sz="1150" b="1">
                          <a:solidFill>
                            <a:srgbClr val="FFFFFF"/>
                          </a:solidFill>
                        </a:rPr>
                        <a:t>Nepal example</a:t>
                      </a:r>
                    </a:p>
                  </a:txBody>
                  <a:tcPr anchor="ctr" marL="73152" marR="54864" marT="27432" marB="27432">
                    <a:solidFill>
                      <a:srgbClr val="0C2B4A"/>
                    </a:solidFill>
                  </a:tcPr>
                </a:tc>
              </a:tr>
              <a:tr h="883310">
                <a:tc>
                  <a:txBody>
                    <a:bodyPr wrap="square"/>
                    <a:lstStyle/>
                    <a:p>
                      <a:r>
                        <a:rPr sz="1100" b="1">
                          <a:solidFill>
                            <a:srgbClr val="0C2B4A"/>
                          </a:solidFill>
                        </a:rPr>
                        <a:t>ETA (cyber law)</a:t>
                      </a:r>
                    </a:p>
                  </a:txBody>
                  <a:tcPr anchor="ctr" marL="73152" marR="54864" marT="27432" marB="27432">
                    <a:solidFill>
                      <a:srgbClr val="FFFFFF"/>
                    </a:solidFill>
                  </a:tcPr>
                </a:tc>
                <a:tc>
                  <a:txBody>
                    <a:bodyPr wrap="square"/>
                    <a:lstStyle/>
                    <a:p>
                      <a:r>
                        <a:rPr sz="1100">
                          <a:solidFill>
                            <a:srgbClr val="1A1A1A"/>
                          </a:solidFill>
                        </a:rPr>
                        <a:t>Criminalises &amp; punishes</a:t>
                      </a:r>
                    </a:p>
                  </a:txBody>
                  <a:tcPr anchor="ctr" marL="73152" marR="54864" marT="27432" marB="27432">
                    <a:solidFill>
                      <a:srgbClr val="FFFFFF"/>
                    </a:solidFill>
                  </a:tcPr>
                </a:tc>
                <a:tc>
                  <a:txBody>
                    <a:bodyPr wrap="square"/>
                    <a:lstStyle/>
                    <a:p>
                      <a:r>
                        <a:rPr sz="1100">
                          <a:solidFill>
                            <a:srgbClr val="1A1A1A"/>
                          </a:solidFill>
                        </a:rPr>
                        <a:t>AFTER harm occurs</a:t>
                      </a:r>
                    </a:p>
                  </a:txBody>
                  <a:tcPr anchor="ctr" marL="73152" marR="54864" marT="27432" marB="27432">
                    <a:solidFill>
                      <a:srgbClr val="FFFFFF"/>
                    </a:solidFill>
                  </a:tcPr>
                </a:tc>
                <a:tc>
                  <a:txBody>
                    <a:bodyPr wrap="square"/>
                    <a:lstStyle/>
                    <a:p>
                      <a:r>
                        <a:rPr sz="1100">
                          <a:solidFill>
                            <a:srgbClr val="1A1A1A"/>
                          </a:solidFill>
                        </a:rPr>
                        <a:t>Prosecuting a hacker or fraudster</a:t>
                      </a:r>
                    </a:p>
                  </a:txBody>
                  <a:tcPr anchor="ctr" marL="73152" marR="54864" marT="27432" marB="27432">
                    <a:solidFill>
                      <a:srgbClr val="FFFFFF"/>
                    </a:solidFill>
                  </a:tcPr>
                </a:tc>
              </a:tr>
              <a:tr h="883310">
                <a:tc>
                  <a:txBody>
                    <a:bodyPr wrap="square"/>
                    <a:lstStyle/>
                    <a:p>
                      <a:r>
                        <a:rPr sz="1100" b="1">
                          <a:solidFill>
                            <a:srgbClr val="0C2B4A"/>
                          </a:solidFill>
                        </a:rPr>
                        <a:t>IT Policy (national)</a:t>
                      </a:r>
                    </a:p>
                  </a:txBody>
                  <a:tcPr anchor="ctr" marL="73152" marR="54864" marT="27432" marB="27432">
                    <a:solidFill>
                      <a:srgbClr val="EEF3F8"/>
                    </a:solidFill>
                  </a:tcPr>
                </a:tc>
                <a:tc>
                  <a:txBody>
                    <a:bodyPr wrap="square"/>
                    <a:lstStyle/>
                    <a:p>
                      <a:r>
                        <a:rPr sz="1100">
                          <a:solidFill>
                            <a:srgbClr val="1A1A1A"/>
                          </a:solidFill>
                        </a:rPr>
                        <a:t>Directs &amp; sets goals</a:t>
                      </a:r>
                    </a:p>
                  </a:txBody>
                  <a:tcPr anchor="ctr" marL="73152" marR="54864" marT="27432" marB="27432">
                    <a:solidFill>
                      <a:srgbClr val="EEF3F8"/>
                    </a:solidFill>
                  </a:tcPr>
                </a:tc>
                <a:tc>
                  <a:txBody>
                    <a:bodyPr wrap="square"/>
                    <a:lstStyle/>
                    <a:p>
                      <a:r>
                        <a:rPr sz="1100">
                          <a:solidFill>
                            <a:srgbClr val="1A1A1A"/>
                          </a:solidFill>
                        </a:rPr>
                        <a:t>Ongoing strategy</a:t>
                      </a:r>
                    </a:p>
                  </a:txBody>
                  <a:tcPr anchor="ctr" marL="73152" marR="54864" marT="27432" marB="27432">
                    <a:solidFill>
                      <a:srgbClr val="EEF3F8"/>
                    </a:solidFill>
                  </a:tcPr>
                </a:tc>
                <a:tc>
                  <a:txBody>
                    <a:bodyPr wrap="square"/>
                    <a:lstStyle/>
                    <a:p>
                      <a:r>
                        <a:rPr sz="1100">
                          <a:solidFill>
                            <a:srgbClr val="1A1A1A"/>
                          </a:solidFill>
                        </a:rPr>
                        <a:t>'Digital Nepal' e-governance ambition</a:t>
                      </a:r>
                    </a:p>
                  </a:txBody>
                  <a:tcPr anchor="ctr" marL="73152" marR="54864" marT="27432" marB="27432">
                    <a:solidFill>
                      <a:srgbClr val="EEF3F8"/>
                    </a:solidFill>
                  </a:tcPr>
                </a:tc>
              </a:tr>
              <a:tr h="883310">
                <a:tc>
                  <a:txBody>
                    <a:bodyPr wrap="square"/>
                    <a:lstStyle/>
                    <a:p>
                      <a:r>
                        <a:rPr sz="1100" b="1">
                          <a:solidFill>
                            <a:srgbClr val="0C2B4A"/>
                          </a:solidFill>
                        </a:rPr>
                        <a:t>Security policy (org)</a:t>
                      </a:r>
                    </a:p>
                  </a:txBody>
                  <a:tcPr anchor="ctr" marL="73152" marR="54864" marT="27432" marB="27432">
                    <a:solidFill>
                      <a:srgbClr val="FFFFFF"/>
                    </a:solidFill>
                  </a:tcPr>
                </a:tc>
                <a:tc>
                  <a:txBody>
                    <a:bodyPr wrap="square"/>
                    <a:lstStyle/>
                    <a:p>
                      <a:r>
                        <a:rPr sz="1100">
                          <a:solidFill>
                            <a:srgbClr val="1A1A1A"/>
                          </a:solidFill>
                        </a:rPr>
                        <a:t>Operationalises protection</a:t>
                      </a:r>
                    </a:p>
                  </a:txBody>
                  <a:tcPr anchor="ctr" marL="73152" marR="54864" marT="27432" marB="27432">
                    <a:solidFill>
                      <a:srgbClr val="FFFFFF"/>
                    </a:solidFill>
                  </a:tcPr>
                </a:tc>
                <a:tc>
                  <a:txBody>
                    <a:bodyPr wrap="square"/>
                    <a:lstStyle/>
                    <a:p>
                      <a:r>
                        <a:rPr sz="1100">
                          <a:solidFill>
                            <a:srgbClr val="1A1A1A"/>
                          </a:solidFill>
                        </a:rPr>
                        <a:t>BEFORE harm occurs</a:t>
                      </a:r>
                    </a:p>
                  </a:txBody>
                  <a:tcPr anchor="ctr" marL="73152" marR="54864" marT="27432" marB="27432">
                    <a:solidFill>
                      <a:srgbClr val="FFFFFF"/>
                    </a:solidFill>
                  </a:tcPr>
                </a:tc>
                <a:tc>
                  <a:txBody>
                    <a:bodyPr wrap="square"/>
                    <a:lstStyle/>
                    <a:p>
                      <a:r>
                        <a:rPr sz="1100">
                          <a:solidFill>
                            <a:srgbClr val="1A1A1A"/>
                          </a:solidFill>
                        </a:rPr>
                        <a:t>A bank's AUP, password &amp; incident policy</a:t>
                      </a:r>
                    </a:p>
                  </a:txBody>
                  <a:tcPr anchor="ctr" marL="73152" marR="54864" marT="27432" marB="27432">
                    <a:solidFill>
                      <a:srgbClr val="FFFFFF"/>
                    </a:solidFill>
                  </a:tcPr>
                </a:tc>
              </a:tr>
              <a:tr h="883312">
                <a:tc>
                  <a:txBody>
                    <a:bodyPr wrap="square"/>
                    <a:lstStyle/>
                    <a:p>
                      <a:r>
                        <a:rPr sz="1100" b="1">
                          <a:solidFill>
                            <a:srgbClr val="0C2B4A"/>
                          </a:solidFill>
                        </a:rPr>
                        <a:t>Together</a:t>
                      </a:r>
                    </a:p>
                  </a:txBody>
                  <a:tcPr anchor="ctr" marL="73152" marR="54864" marT="27432" marB="27432">
                    <a:solidFill>
                      <a:srgbClr val="EEF3F8"/>
                    </a:solidFill>
                  </a:tcPr>
                </a:tc>
                <a:tc>
                  <a:txBody>
                    <a:bodyPr wrap="square"/>
                    <a:lstStyle/>
                    <a:p>
                      <a:r>
                        <a:rPr sz="1100">
                          <a:solidFill>
                            <a:srgbClr val="1A1A1A"/>
                          </a:solidFill>
                        </a:rPr>
                        <a:t>Prevent + deter + direct</a:t>
                      </a:r>
                    </a:p>
                  </a:txBody>
                  <a:tcPr anchor="ctr" marL="73152" marR="54864" marT="27432" marB="27432">
                    <a:solidFill>
                      <a:srgbClr val="EEF3F8"/>
                    </a:solidFill>
                  </a:tcPr>
                </a:tc>
                <a:tc>
                  <a:txBody>
                    <a:bodyPr wrap="square"/>
                    <a:lstStyle/>
                    <a:p>
                      <a:r>
                        <a:rPr sz="1100">
                          <a:solidFill>
                            <a:srgbClr val="1A1A1A"/>
                          </a:solidFill>
                        </a:rPr>
                        <a:t>All the time</a:t>
                      </a:r>
                    </a:p>
                  </a:txBody>
                  <a:tcPr anchor="ctr" marL="73152" marR="54864" marT="27432" marB="27432">
                    <a:solidFill>
                      <a:srgbClr val="EEF3F8"/>
                    </a:solidFill>
                  </a:tcPr>
                </a:tc>
                <a:tc>
                  <a:txBody>
                    <a:bodyPr wrap="square"/>
                    <a:lstStyle/>
                    <a:p>
                      <a:r>
                        <a:rPr sz="1100">
                          <a:solidFill>
                            <a:srgbClr val="1A1A1A"/>
                          </a:solidFill>
                        </a:rPr>
                        <a:t>Fewer breaches AND less legal liability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ETA criminalises, the IT Policy directs, and information-security policies operationalise protection — good policy reduces both breaches AND legal liability.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54 / 68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Law Meets Policy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bank's information-security policy (prevention) keeps customer data safe day-to-day; if a breach still happens, the ETA and Privacy Act 2075 (law) govern the consequences; and the national IT Policy (direction) shaped the digital services that existed to protect in the first place. As a professional you operate inside all three layers at once.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"Once there's a law, we don't need internal policy" — OR — "policy is enough, the law is irrelevant." Neither is true. Law punishes after the fact and deters; policy prevents before the fact and reduces liability. You need prevention (policy) AND deterrence (law) — they are complementary layers, not substitutes.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Law and policy are complementary: the ETA criminalises wrongdoing (punishment after harm), the national IT Policy directs digital goals, and organizational information-security policies operationalise protection (stopping harm before it happens). Good internal policy reduces both breaches and legal liability, so a professional works within all three layers — prevention, deterrence, and direction — at once.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law vs policy · criminalise / direct / operationalise · prevention + deterrence · reduces breach + liability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55 / 68</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48 · PART B — COURSE-WIDE REVIEW</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The Whole Course as One Arc — all 9 units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Step back and see IT 246 as one connected story: ethics (should) → security (protect) → forensics (investigate) → law (govern &amp; punish), with Nepal context binding Units 8–9.</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56 / 68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REVIEW · [SYNTHESIS]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IT 246 — the through-line of all nine units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whole course forms one connected arc: ETHICS says what you SHOULD do (Units 1–4), SECURITY protects systems (Units 5–7), FORENSICS investigates when defence fails (Unit 8), and LAW governs and punishes (Unit 9). Nepal context binds the last two: the Cyber Bureau investigates, the ETA prosecutes. Seeing the arc — not nine disconnected topics — is what makes the material stick.</a:t>
            </a:r>
          </a:p>
          <a:p>
            <a:pPr>
              <a:spcAft>
                <a:spcPts val="500"/>
              </a:spcAft>
            </a:pPr>
            <a:r>
              <a:rPr sz="1200" b="1">
                <a:solidFill>
                  <a:srgbClr val="185FA5"/>
                </a:solidFill>
              </a:rPr>
              <a:t>HOW IT WORKS</a:t>
            </a:r>
          </a:p>
          <a:p>
            <a:pPr>
              <a:spcAft>
                <a:spcPts val="600"/>
              </a:spcAft>
            </a:pPr>
            <a:r>
              <a:rPr sz="1400">
                <a:solidFill>
                  <a:srgbClr val="1A1A1A"/>
                </a:solidFill>
              </a:rPr>
              <a:t>•  Ethics (U1–U4): ethics vs law, professional duties, IP, software/organizational ethics.</a:t>
            </a:r>
          </a:p>
          <a:p>
            <a:pPr>
              <a:spcAft>
                <a:spcPts val="600"/>
              </a:spcAft>
            </a:pPr>
            <a:r>
              <a:rPr sz="1400">
                <a:solidFill>
                  <a:srgbClr val="1A1A1A"/>
                </a:solidFill>
              </a:rPr>
              <a:t>•  Security (U5–U7): cybersecurity fundamentals, personal security, social engineering.</a:t>
            </a:r>
          </a:p>
          <a:p>
            <a:pPr>
              <a:spcAft>
                <a:spcPts val="600"/>
              </a:spcAft>
            </a:pPr>
            <a:r>
              <a:rPr sz="1400">
                <a:solidFill>
                  <a:srgbClr val="1A1A1A"/>
                </a:solidFill>
              </a:rPr>
              <a:t>•  Forensics (U8): investigating incidents, evidence handling, cyber forensics in Nepal.</a:t>
            </a:r>
          </a:p>
          <a:p>
            <a:pPr>
              <a:spcAft>
                <a:spcPts val="600"/>
              </a:spcAft>
            </a:pPr>
            <a:r>
              <a:rPr sz="1400">
                <a:solidFill>
                  <a:srgbClr val="1A1A1A"/>
                </a:solidFill>
              </a:rPr>
              <a:t>•  Law (U9): the ETA, ETR, Controller/CAs, IT Policy, information-security policy — this unit.</a:t>
            </a:r>
          </a:p>
        </p:txBody>
      </p:sp>
      <p:pic>
        <p:nvPicPr>
          <p:cNvPr id="6" name="Picture 5" descr="s48_coursemap.png"/>
          <p:cNvPicPr>
            <a:picLocks noChangeAspect="1"/>
          </p:cNvPicPr>
          <p:nvPr/>
        </p:nvPicPr>
        <p:blipFill>
          <a:blip r:embed="rId2"/>
          <a:stretch>
            <a:fillRect/>
          </a:stretch>
        </p:blipFill>
        <p:spPr>
          <a:xfrm>
            <a:off x="6355080" y="2472138"/>
            <a:ext cx="5532120" cy="2690963"/>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Ethics (should) → Security (protect) → Forensics (investigate) → Law (govern &amp; punish).</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57 / 68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REVIEW · THE 9 UNITS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IT 246 on a page — each unit, its focus, and the through-line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352800"/>
                <a:gridCol w="3505199"/>
                <a:gridCol w="4572000"/>
              </a:tblGrid>
              <a:tr h="441655">
                <a:tc>
                  <a:txBody>
                    <a:bodyPr wrap="square"/>
                    <a:lstStyle/>
                    <a:p>
                      <a:r>
                        <a:rPr sz="1100" b="1">
                          <a:solidFill>
                            <a:srgbClr val="FFFFFF"/>
                          </a:solidFill>
                        </a:rPr>
                        <a:t>Unit</a:t>
                      </a:r>
                    </a:p>
                  </a:txBody>
                  <a:tcPr anchor="ctr" marL="73152" marR="54864" marT="27432" marB="27432">
                    <a:solidFill>
                      <a:srgbClr val="0C2B4A"/>
                    </a:solidFill>
                  </a:tcPr>
                </a:tc>
                <a:tc>
                  <a:txBody>
                    <a:bodyPr wrap="square"/>
                    <a:lstStyle/>
                    <a:p>
                      <a:r>
                        <a:rPr sz="1100" b="1">
                          <a:solidFill>
                            <a:srgbClr val="FFFFFF"/>
                          </a:solidFill>
                        </a:rPr>
                        <a:t>Focus</a:t>
                      </a:r>
                    </a:p>
                  </a:txBody>
                  <a:tcPr anchor="ctr" marL="73152" marR="54864" marT="27432" marB="27432">
                    <a:solidFill>
                      <a:srgbClr val="0C2B4A"/>
                    </a:solidFill>
                  </a:tcPr>
                </a:tc>
                <a:tc>
                  <a:txBody>
                    <a:bodyPr wrap="square"/>
                    <a:lstStyle/>
                    <a:p>
                      <a:r>
                        <a:rPr sz="1100" b="1">
                          <a:solidFill>
                            <a:srgbClr val="FFFFFF"/>
                          </a:solidFill>
                        </a:rPr>
                        <a:t>Key concepts to revise</a:t>
                      </a:r>
                    </a:p>
                  </a:txBody>
                  <a:tcPr anchor="ctr" marL="73152" marR="54864" marT="27432" marB="27432">
                    <a:solidFill>
                      <a:srgbClr val="0C2B4A"/>
                    </a:solidFill>
                  </a:tcPr>
                </a:tc>
              </a:tr>
              <a:tr h="441655">
                <a:tc>
                  <a:txBody>
                    <a:bodyPr wrap="square"/>
                    <a:lstStyle/>
                    <a:p>
                      <a:r>
                        <a:rPr sz="1050" b="1">
                          <a:solidFill>
                            <a:srgbClr val="0C2B4A"/>
                          </a:solidFill>
                        </a:rPr>
                        <a:t>U1 Overview of Ethics</a:t>
                      </a:r>
                    </a:p>
                  </a:txBody>
                  <a:tcPr anchor="ctr" marL="73152" marR="54864" marT="27432" marB="27432">
                    <a:solidFill>
                      <a:srgbClr val="FFFFFF"/>
                    </a:solidFill>
                  </a:tcPr>
                </a:tc>
                <a:tc>
                  <a:txBody>
                    <a:bodyPr wrap="square"/>
                    <a:lstStyle/>
                    <a:p>
                      <a:r>
                        <a:rPr sz="1050">
                          <a:solidFill>
                            <a:srgbClr val="1A1A1A"/>
                          </a:solidFill>
                        </a:rPr>
                        <a:t>Ethics vs law, CSR</a:t>
                      </a:r>
                    </a:p>
                  </a:txBody>
                  <a:tcPr anchor="ctr" marL="73152" marR="54864" marT="27432" marB="27432">
                    <a:solidFill>
                      <a:srgbClr val="FFFFFF"/>
                    </a:solidFill>
                  </a:tcPr>
                </a:tc>
                <a:tc>
                  <a:txBody>
                    <a:bodyPr wrap="square"/>
                    <a:lstStyle/>
                    <a:p>
                      <a:r>
                        <a:rPr sz="1050">
                          <a:solidFill>
                            <a:srgbClr val="1A1A1A"/>
                          </a:solidFill>
                        </a:rPr>
                        <a:t>Ethical decision framework, why IT ethics is distinct</a:t>
                      </a:r>
                    </a:p>
                  </a:txBody>
                  <a:tcPr anchor="ctr" marL="73152" marR="54864" marT="27432" marB="27432">
                    <a:solidFill>
                      <a:srgbClr val="FFFFFF"/>
                    </a:solidFill>
                  </a:tcPr>
                </a:tc>
              </a:tr>
              <a:tr h="441655">
                <a:tc>
                  <a:txBody>
                    <a:bodyPr wrap="square"/>
                    <a:lstStyle/>
                    <a:p>
                      <a:r>
                        <a:rPr sz="1050" b="1">
                          <a:solidFill>
                            <a:srgbClr val="0C2B4A"/>
                          </a:solidFill>
                        </a:rPr>
                        <a:t>U2 Ethics for IT Workers/Users</a:t>
                      </a:r>
                    </a:p>
                  </a:txBody>
                  <a:tcPr anchor="ctr" marL="73152" marR="54864" marT="27432" marB="27432">
                    <a:solidFill>
                      <a:srgbClr val="EEF3F8"/>
                    </a:solidFill>
                  </a:tcPr>
                </a:tc>
                <a:tc>
                  <a:txBody>
                    <a:bodyPr wrap="square"/>
                    <a:lstStyle/>
                    <a:p>
                      <a:r>
                        <a:rPr sz="1050">
                          <a:solidFill>
                            <a:srgbClr val="1A1A1A"/>
                          </a:solidFill>
                        </a:rPr>
                        <a:t>Professionalism, privacy</a:t>
                      </a:r>
                    </a:p>
                  </a:txBody>
                  <a:tcPr anchor="ctr" marL="73152" marR="54864" marT="27432" marB="27432">
                    <a:solidFill>
                      <a:srgbClr val="EEF3F8"/>
                    </a:solidFill>
                  </a:tcPr>
                </a:tc>
                <a:tc>
                  <a:txBody>
                    <a:bodyPr wrap="square"/>
                    <a:lstStyle/>
                    <a:p>
                      <a:r>
                        <a:rPr sz="1050">
                          <a:solidFill>
                            <a:srgbClr val="1A1A1A"/>
                          </a:solidFill>
                        </a:rPr>
                        <a:t>Codes, anonymity, social-networking harms</a:t>
                      </a:r>
                    </a:p>
                  </a:txBody>
                  <a:tcPr anchor="ctr" marL="73152" marR="54864" marT="27432" marB="27432">
                    <a:solidFill>
                      <a:srgbClr val="EEF3F8"/>
                    </a:solidFill>
                  </a:tcPr>
                </a:tc>
              </a:tr>
              <a:tr h="441655">
                <a:tc>
                  <a:txBody>
                    <a:bodyPr wrap="square"/>
                    <a:lstStyle/>
                    <a:p>
                      <a:r>
                        <a:rPr sz="1050" b="1">
                          <a:solidFill>
                            <a:srgbClr val="0C2B4A"/>
                          </a:solidFill>
                        </a:rPr>
                        <a:t>U3 Intellectual Property</a:t>
                      </a:r>
                    </a:p>
                  </a:txBody>
                  <a:tcPr anchor="ctr" marL="73152" marR="54864" marT="27432" marB="27432">
                    <a:solidFill>
                      <a:srgbClr val="FFFFFF"/>
                    </a:solidFill>
                  </a:tcPr>
                </a:tc>
                <a:tc>
                  <a:txBody>
                    <a:bodyPr wrap="square"/>
                    <a:lstStyle/>
                    <a:p>
                      <a:r>
                        <a:rPr sz="1050">
                          <a:solidFill>
                            <a:srgbClr val="1A1A1A"/>
                          </a:solidFill>
                        </a:rPr>
                        <a:t>Protecting creations</a:t>
                      </a:r>
                    </a:p>
                  </a:txBody>
                  <a:tcPr anchor="ctr" marL="73152" marR="54864" marT="27432" marB="27432">
                    <a:solidFill>
                      <a:srgbClr val="FFFFFF"/>
                    </a:solidFill>
                  </a:tcPr>
                </a:tc>
                <a:tc>
                  <a:txBody>
                    <a:bodyPr wrap="square"/>
                    <a:lstStyle/>
                    <a:p>
                      <a:r>
                        <a:rPr sz="1050">
                          <a:solidFill>
                            <a:srgbClr val="1A1A1A"/>
                          </a:solidFill>
                        </a:rPr>
                        <a:t>Copyright, patent, trade secrets, plagiarism, cybersquatting</a:t>
                      </a:r>
                    </a:p>
                  </a:txBody>
                  <a:tcPr anchor="ctr" marL="73152" marR="54864" marT="27432" marB="27432">
                    <a:solidFill>
                      <a:srgbClr val="FFFFFF"/>
                    </a:solidFill>
                  </a:tcPr>
                </a:tc>
              </a:tr>
              <a:tr h="441655">
                <a:tc>
                  <a:txBody>
                    <a:bodyPr wrap="square"/>
                    <a:lstStyle/>
                    <a:p>
                      <a:r>
                        <a:rPr sz="1050" b="1">
                          <a:solidFill>
                            <a:srgbClr val="0C2B4A"/>
                          </a:solidFill>
                        </a:rPr>
                        <a:t>U4 Software Dev &amp; IT Orgs</a:t>
                      </a:r>
                    </a:p>
                  </a:txBody>
                  <a:tcPr anchor="ctr" marL="73152" marR="54864" marT="27432" marB="27432">
                    <a:solidFill>
                      <a:srgbClr val="EEF3F8"/>
                    </a:solidFill>
                  </a:tcPr>
                </a:tc>
                <a:tc>
                  <a:txBody>
                    <a:bodyPr wrap="square"/>
                    <a:lstStyle/>
                    <a:p>
                      <a:r>
                        <a:rPr sz="1050">
                          <a:solidFill>
                            <a:srgbClr val="1A1A1A"/>
                          </a:solidFill>
                        </a:rPr>
                        <a:t>How software is built</a:t>
                      </a:r>
                    </a:p>
                  </a:txBody>
                  <a:tcPr anchor="ctr" marL="73152" marR="54864" marT="27432" marB="27432">
                    <a:solidFill>
                      <a:srgbClr val="EEF3F8"/>
                    </a:solidFill>
                  </a:tcPr>
                </a:tc>
                <a:tc>
                  <a:txBody>
                    <a:bodyPr wrap="square"/>
                    <a:lstStyle/>
                    <a:p>
                      <a:r>
                        <a:rPr sz="1050">
                          <a:solidFill>
                            <a:srgbClr val="1A1A1A"/>
                          </a:solidFill>
                        </a:rPr>
                        <a:t>Quality, outsourcing, whistle-blowing, green computing</a:t>
                      </a:r>
                    </a:p>
                  </a:txBody>
                  <a:tcPr anchor="ctr" marL="73152" marR="54864" marT="27432" marB="27432">
                    <a:solidFill>
                      <a:srgbClr val="EEF3F8"/>
                    </a:solidFill>
                  </a:tcPr>
                </a:tc>
              </a:tr>
              <a:tr h="441655">
                <a:tc>
                  <a:txBody>
                    <a:bodyPr wrap="square"/>
                    <a:lstStyle/>
                    <a:p>
                      <a:r>
                        <a:rPr sz="1050" b="1">
                          <a:solidFill>
                            <a:srgbClr val="0C2B4A"/>
                          </a:solidFill>
                        </a:rPr>
                        <a:t>U5 Fundamentals of Cybersecurity</a:t>
                      </a:r>
                    </a:p>
                  </a:txBody>
                  <a:tcPr anchor="ctr" marL="73152" marR="54864" marT="27432" marB="27432">
                    <a:solidFill>
                      <a:srgbClr val="FFFFFF"/>
                    </a:solidFill>
                  </a:tcPr>
                </a:tc>
                <a:tc>
                  <a:txBody>
                    <a:bodyPr wrap="square"/>
                    <a:lstStyle/>
                    <a:p>
                      <a:r>
                        <a:rPr sz="1050">
                          <a:solidFill>
                            <a:srgbClr val="1A1A1A"/>
                          </a:solidFill>
                        </a:rPr>
                        <a:t>Cyberspace &amp; attacks</a:t>
                      </a:r>
                    </a:p>
                  </a:txBody>
                  <a:tcPr anchor="ctr" marL="73152" marR="54864" marT="27432" marB="27432">
                    <a:solidFill>
                      <a:srgbClr val="FFFFFF"/>
                    </a:solidFill>
                  </a:tcPr>
                </a:tc>
                <a:tc>
                  <a:txBody>
                    <a:bodyPr wrap="square"/>
                    <a:lstStyle/>
                    <a:p>
                      <a:r>
                        <a:rPr sz="1050">
                          <a:solidFill>
                            <a:srgbClr val="1A1A1A"/>
                          </a:solidFill>
                        </a:rPr>
                        <a:t>Attack types, attacker 'hats', risks mitigated</a:t>
                      </a:r>
                    </a:p>
                  </a:txBody>
                  <a:tcPr anchor="ctr" marL="73152" marR="54864" marT="27432" marB="27432">
                    <a:solidFill>
                      <a:srgbClr val="FFFFFF"/>
                    </a:solidFill>
                  </a:tcPr>
                </a:tc>
              </a:tr>
              <a:tr h="441655">
                <a:tc>
                  <a:txBody>
                    <a:bodyPr wrap="square"/>
                    <a:lstStyle/>
                    <a:p>
                      <a:r>
                        <a:rPr sz="1050" b="1">
                          <a:solidFill>
                            <a:srgbClr val="0C2B4A"/>
                          </a:solidFill>
                        </a:rPr>
                        <a:t>U6 Personal Cybersecurity</a:t>
                      </a:r>
                    </a:p>
                  </a:txBody>
                  <a:tcPr anchor="ctr" marL="73152" marR="54864" marT="27432" marB="27432">
                    <a:solidFill>
                      <a:srgbClr val="EEF3F8"/>
                    </a:solidFill>
                  </a:tcPr>
                </a:tc>
                <a:tc>
                  <a:txBody>
                    <a:bodyPr wrap="square"/>
                    <a:lstStyle/>
                    <a:p>
                      <a:r>
                        <a:rPr sz="1050">
                          <a:solidFill>
                            <a:srgbClr val="1A1A1A"/>
                          </a:solidFill>
                        </a:rPr>
                        <a:t>Protecting yourself</a:t>
                      </a:r>
                    </a:p>
                  </a:txBody>
                  <a:tcPr anchor="ctr" marL="73152" marR="54864" marT="27432" marB="27432">
                    <a:solidFill>
                      <a:srgbClr val="EEF3F8"/>
                    </a:solidFill>
                  </a:tcPr>
                </a:tc>
                <a:tc>
                  <a:txBody>
                    <a:bodyPr wrap="square"/>
                    <a:lstStyle/>
                    <a:p>
                      <a:r>
                        <a:rPr sz="1050">
                          <a:solidFill>
                            <a:srgbClr val="1A1A1A"/>
                          </a:solidFill>
                        </a:rPr>
                        <a:t>Posture, devices/IoT, passwords, work-from-home</a:t>
                      </a:r>
                    </a:p>
                  </a:txBody>
                  <a:tcPr anchor="ctr" marL="73152" marR="54864" marT="27432" marB="27432">
                    <a:solidFill>
                      <a:srgbClr val="EEF3F8"/>
                    </a:solidFill>
                  </a:tcPr>
                </a:tc>
              </a:tr>
              <a:tr h="441655">
                <a:tc>
                  <a:txBody>
                    <a:bodyPr wrap="square"/>
                    <a:lstStyle/>
                    <a:p>
                      <a:r>
                        <a:rPr sz="1050" b="1">
                          <a:solidFill>
                            <a:srgbClr val="0C2B4A"/>
                          </a:solidFill>
                        </a:rPr>
                        <a:t>U7 Social Engineering &amp; Cyber Terror</a:t>
                      </a:r>
                    </a:p>
                  </a:txBody>
                  <a:tcPr anchor="ctr" marL="73152" marR="54864" marT="27432" marB="27432">
                    <a:solidFill>
                      <a:srgbClr val="FFFFFF"/>
                    </a:solidFill>
                  </a:tcPr>
                </a:tc>
                <a:tc>
                  <a:txBody>
                    <a:bodyPr wrap="square"/>
                    <a:lstStyle/>
                    <a:p>
                      <a:r>
                        <a:rPr sz="1050">
                          <a:solidFill>
                            <a:srgbClr val="1A1A1A"/>
                          </a:solidFill>
                        </a:rPr>
                        <a:t>Exploiting trust</a:t>
                      </a:r>
                    </a:p>
                  </a:txBody>
                  <a:tcPr anchor="ctr" marL="73152" marR="54864" marT="27432" marB="27432">
                    <a:solidFill>
                      <a:srgbClr val="FFFFFF"/>
                    </a:solidFill>
                  </a:tcPr>
                </a:tc>
                <a:tc>
                  <a:txBody>
                    <a:bodyPr wrap="square"/>
                    <a:lstStyle/>
                    <a:p>
                      <a:r>
                        <a:rPr sz="1050">
                          <a:solidFill>
                            <a:srgbClr val="1A1A1A"/>
                          </a:solidFill>
                        </a:rPr>
                        <a:t>Countermeasures, cyber-terrorism effects</a:t>
                      </a:r>
                    </a:p>
                  </a:txBody>
                  <a:tcPr anchor="ctr" marL="73152" marR="54864" marT="27432" marB="27432">
                    <a:solidFill>
                      <a:srgbClr val="FFFFFF"/>
                    </a:solidFill>
                  </a:tcPr>
                </a:tc>
              </a:tr>
              <a:tr h="441655">
                <a:tc>
                  <a:txBody>
                    <a:bodyPr wrap="square"/>
                    <a:lstStyle/>
                    <a:p>
                      <a:r>
                        <a:rPr sz="1050" b="1">
                          <a:solidFill>
                            <a:srgbClr val="0C2B4A"/>
                          </a:solidFill>
                        </a:rPr>
                        <a:t>U8 Digital Forensics</a:t>
                      </a:r>
                    </a:p>
                  </a:txBody>
                  <a:tcPr anchor="ctr" marL="73152" marR="54864" marT="27432" marB="27432">
                    <a:solidFill>
                      <a:srgbClr val="EEF3F8"/>
                    </a:solidFill>
                  </a:tcPr>
                </a:tc>
                <a:tc>
                  <a:txBody>
                    <a:bodyPr wrap="square"/>
                    <a:lstStyle/>
                    <a:p>
                      <a:r>
                        <a:rPr sz="1050">
                          <a:solidFill>
                            <a:srgbClr val="1A1A1A"/>
                          </a:solidFill>
                        </a:rPr>
                        <a:t>Investigating incidents</a:t>
                      </a:r>
                    </a:p>
                  </a:txBody>
                  <a:tcPr anchor="ctr" marL="73152" marR="54864" marT="27432" marB="27432">
                    <a:solidFill>
                      <a:srgbClr val="EEF3F8"/>
                    </a:solidFill>
                  </a:tcPr>
                </a:tc>
                <a:tc>
                  <a:txBody>
                    <a:bodyPr wrap="square"/>
                    <a:lstStyle/>
                    <a:p>
                      <a:r>
                        <a:rPr sz="1050">
                          <a:solidFill>
                            <a:srgbClr val="1A1A1A"/>
                          </a:solidFill>
                        </a:rPr>
                        <a:t>Stages, evidence handling, mobile &amp; cyber forensics in Nepal</a:t>
                      </a:r>
                    </a:p>
                  </a:txBody>
                  <a:tcPr anchor="ctr" marL="73152" marR="54864" marT="27432" marB="27432">
                    <a:solidFill>
                      <a:srgbClr val="EEF3F8"/>
                    </a:solidFill>
                  </a:tcPr>
                </a:tc>
              </a:tr>
              <a:tr h="441657">
                <a:tc>
                  <a:txBody>
                    <a:bodyPr wrap="square"/>
                    <a:lstStyle/>
                    <a:p>
                      <a:r>
                        <a:rPr sz="1050" b="1">
                          <a:solidFill>
                            <a:srgbClr val="0C2B4A"/>
                          </a:solidFill>
                        </a:rPr>
                        <a:t>U9 Cyber Law in Nepal</a:t>
                      </a:r>
                    </a:p>
                  </a:txBody>
                  <a:tcPr anchor="ctr" marL="73152" marR="54864" marT="27432" marB="27432">
                    <a:solidFill>
                      <a:srgbClr val="FFFFFF"/>
                    </a:solidFill>
                  </a:tcPr>
                </a:tc>
                <a:tc>
                  <a:txBody>
                    <a:bodyPr wrap="square"/>
                    <a:lstStyle/>
                    <a:p>
                      <a:r>
                        <a:rPr sz="1050">
                          <a:solidFill>
                            <a:srgbClr val="1A1A1A"/>
                          </a:solidFill>
                        </a:rPr>
                        <a:t>Governing the digital world</a:t>
                      </a:r>
                    </a:p>
                  </a:txBody>
                  <a:tcPr anchor="ctr" marL="73152" marR="54864" marT="27432" marB="27432">
                    <a:solidFill>
                      <a:srgbClr val="FFFFFF"/>
                    </a:solidFill>
                  </a:tcPr>
                </a:tc>
                <a:tc>
                  <a:txBody>
                    <a:bodyPr wrap="square"/>
                    <a:lstStyle/>
                    <a:p>
                      <a:r>
                        <a:rPr sz="1050">
                          <a:solidFill>
                            <a:srgbClr val="1A1A1A"/>
                          </a:solidFill>
                        </a:rPr>
                        <a:t>ETA 2063, ETR, Controller/CAs, IT Policy, infosec policy</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through-line: ethics (should) → security (protect) → forensics (investigate) → law (govern &amp; punish). Nepal context binds Units 8–9.</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58 / 68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PART C — EXAM PREP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Likely question shapes, how to answer, and high-yield topics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657600"/>
                <a:gridCol w="3962399"/>
                <a:gridCol w="3810000"/>
              </a:tblGrid>
              <a:tr h="630936">
                <a:tc>
                  <a:txBody>
                    <a:bodyPr wrap="square"/>
                    <a:lstStyle/>
                    <a:p>
                      <a:r>
                        <a:rPr sz="1100" b="1">
                          <a:solidFill>
                            <a:srgbClr val="FFFFFF"/>
                          </a:solidFill>
                        </a:rPr>
                        <a:t>Question shape</a:t>
                      </a:r>
                    </a:p>
                  </a:txBody>
                  <a:tcPr anchor="ctr" marL="73152" marR="54864" marT="27432" marB="27432">
                    <a:solidFill>
                      <a:srgbClr val="0C2B4A"/>
                    </a:solidFill>
                  </a:tcPr>
                </a:tc>
                <a:tc>
                  <a:txBody>
                    <a:bodyPr wrap="square"/>
                    <a:lstStyle/>
                    <a:p>
                      <a:r>
                        <a:rPr sz="1100" b="1">
                          <a:solidFill>
                            <a:srgbClr val="FFFFFF"/>
                          </a:solidFill>
                        </a:rPr>
                        <a:t>Answer technique</a:t>
                      </a:r>
                    </a:p>
                  </a:txBody>
                  <a:tcPr anchor="ctr" marL="73152" marR="54864" marT="27432" marB="27432">
                    <a:solidFill>
                      <a:srgbClr val="0C2B4A"/>
                    </a:solidFill>
                  </a:tcPr>
                </a:tc>
                <a:tc>
                  <a:txBody>
                    <a:bodyPr wrap="square"/>
                    <a:lstStyle/>
                    <a:p>
                      <a:r>
                        <a:rPr sz="1100" b="1">
                          <a:solidFill>
                            <a:srgbClr val="FFFFFF"/>
                          </a:solidFill>
                        </a:rPr>
                        <a:t>High-yield topic</a:t>
                      </a:r>
                    </a:p>
                  </a:txBody>
                  <a:tcPr anchor="ctr" marL="73152" marR="54864" marT="27432" marB="27432">
                    <a:solidFill>
                      <a:srgbClr val="0C2B4A"/>
                    </a:solidFill>
                  </a:tcPr>
                </a:tc>
              </a:tr>
              <a:tr h="630936">
                <a:tc>
                  <a:txBody>
                    <a:bodyPr wrap="square"/>
                    <a:lstStyle/>
                    <a:p>
                      <a:r>
                        <a:rPr sz="1050" b="1">
                          <a:solidFill>
                            <a:srgbClr val="0C2B4A"/>
                          </a:solidFill>
                        </a:rPr>
                        <a:t>Definition (ethics, IP types, CIA)</a:t>
                      </a:r>
                    </a:p>
                  </a:txBody>
                  <a:tcPr anchor="ctr" marL="73152" marR="54864" marT="27432" marB="27432">
                    <a:solidFill>
                      <a:srgbClr val="FFFFFF"/>
                    </a:solidFill>
                  </a:tcPr>
                </a:tc>
                <a:tc>
                  <a:txBody>
                    <a:bodyPr wrap="square"/>
                    <a:lstStyle/>
                    <a:p>
                      <a:r>
                        <a:rPr sz="1050">
                          <a:solidFill>
                            <a:srgbClr val="1A1A1A"/>
                          </a:solidFill>
                        </a:rPr>
                        <a:t>Define → explain → Nepal example</a:t>
                      </a:r>
                    </a:p>
                  </a:txBody>
                  <a:tcPr anchor="ctr" marL="73152" marR="54864" marT="27432" marB="27432">
                    <a:solidFill>
                      <a:srgbClr val="FFFFFF"/>
                    </a:solidFill>
                  </a:tcPr>
                </a:tc>
                <a:tc>
                  <a:txBody>
                    <a:bodyPr wrap="square"/>
                    <a:lstStyle/>
                    <a:p>
                      <a:r>
                        <a:rPr sz="1050">
                          <a:solidFill>
                            <a:srgbClr val="1A1A1A"/>
                          </a:solidFill>
                        </a:rPr>
                        <a:t>U1 framework · U3 IP · CIA triad</a:t>
                      </a:r>
                    </a:p>
                  </a:txBody>
                  <a:tcPr anchor="ctr" marL="73152" marR="54864" marT="27432" marB="27432">
                    <a:solidFill>
                      <a:srgbClr val="FFFFFF"/>
                    </a:solidFill>
                  </a:tcPr>
                </a:tc>
              </a:tr>
              <a:tr h="630936">
                <a:tc>
                  <a:txBody>
                    <a:bodyPr wrap="square"/>
                    <a:lstStyle/>
                    <a:p>
                      <a:r>
                        <a:rPr sz="1050" b="1">
                          <a:solidFill>
                            <a:srgbClr val="0C2B4A"/>
                          </a:solidFill>
                        </a:rPr>
                        <a:t>Compare/contrast</a:t>
                      </a:r>
                    </a:p>
                  </a:txBody>
                  <a:tcPr anchor="ctr" marL="73152" marR="54864" marT="27432" marB="27432">
                    <a:solidFill>
                      <a:srgbClr val="EEF3F8"/>
                    </a:solidFill>
                  </a:tcPr>
                </a:tc>
                <a:tc>
                  <a:txBody>
                    <a:bodyPr wrap="square"/>
                    <a:lstStyle/>
                    <a:p>
                      <a:r>
                        <a:rPr sz="1050">
                          <a:solidFill>
                            <a:srgbClr val="1A1A1A"/>
                          </a:solidFill>
                        </a:rPr>
                        <a:t>Use a comparison table structure</a:t>
                      </a:r>
                    </a:p>
                  </a:txBody>
                  <a:tcPr anchor="ctr" marL="73152" marR="54864" marT="27432" marB="27432">
                    <a:solidFill>
                      <a:srgbClr val="EEF3F8"/>
                    </a:solidFill>
                  </a:tcPr>
                </a:tc>
                <a:tc>
                  <a:txBody>
                    <a:bodyPr wrap="square"/>
                    <a:lstStyle/>
                    <a:p>
                      <a:r>
                        <a:rPr sz="1050">
                          <a:solidFill>
                            <a:srgbClr val="1A1A1A"/>
                          </a:solidFill>
                        </a:rPr>
                        <a:t>Act vs Rules vs Policy; ethics vs law; hat colours</a:t>
                      </a:r>
                    </a:p>
                  </a:txBody>
                  <a:tcPr anchor="ctr" marL="73152" marR="54864" marT="27432" marB="27432">
                    <a:solidFill>
                      <a:srgbClr val="EEF3F8"/>
                    </a:solidFill>
                  </a:tcPr>
                </a:tc>
              </a:tr>
              <a:tr h="630936">
                <a:tc>
                  <a:txBody>
                    <a:bodyPr wrap="square"/>
                    <a:lstStyle/>
                    <a:p>
                      <a:r>
                        <a:rPr sz="1050" b="1">
                          <a:solidFill>
                            <a:srgbClr val="0C2B4A"/>
                          </a:solidFill>
                        </a:rPr>
                        <a:t>Applied Nepal case</a:t>
                      </a:r>
                    </a:p>
                  </a:txBody>
                  <a:tcPr anchor="ctr" marL="73152" marR="54864" marT="27432" marB="27432">
                    <a:solidFill>
                      <a:srgbClr val="FFFFFF"/>
                    </a:solidFill>
                  </a:tcPr>
                </a:tc>
                <a:tc>
                  <a:txBody>
                    <a:bodyPr wrap="square"/>
                    <a:lstStyle/>
                    <a:p>
                      <a:r>
                        <a:rPr sz="1050">
                          <a:solidFill>
                            <a:srgbClr val="1A1A1A"/>
                          </a:solidFill>
                        </a:rPr>
                        <a:t>Classify → cite the concept → steps</a:t>
                      </a:r>
                    </a:p>
                  </a:txBody>
                  <a:tcPr anchor="ctr" marL="73152" marR="54864" marT="27432" marB="27432">
                    <a:solidFill>
                      <a:srgbClr val="FFFFFF"/>
                    </a:solidFill>
                  </a:tcPr>
                </a:tc>
                <a:tc>
                  <a:txBody>
                    <a:bodyPr wrap="square"/>
                    <a:lstStyle/>
                    <a:p>
                      <a:r>
                        <a:rPr sz="1050">
                          <a:solidFill>
                            <a:srgbClr val="1A1A1A"/>
                          </a:solidFill>
                        </a:rPr>
                        <a:t>Classify a cybercrime; forensic chain of custody</a:t>
                      </a:r>
                    </a:p>
                  </a:txBody>
                  <a:tcPr anchor="ctr" marL="73152" marR="54864" marT="27432" marB="27432">
                    <a:solidFill>
                      <a:srgbClr val="FFFFFF"/>
                    </a:solidFill>
                  </a:tcPr>
                </a:tc>
              </a:tr>
              <a:tr h="630936">
                <a:tc>
                  <a:txBody>
                    <a:bodyPr wrap="square"/>
                    <a:lstStyle/>
                    <a:p>
                      <a:r>
                        <a:rPr sz="1050" b="1">
                          <a:solidFill>
                            <a:srgbClr val="0C2B4A"/>
                          </a:solidFill>
                        </a:rPr>
                        <a:t>'Explain provisions of the ETA'</a:t>
                      </a:r>
                    </a:p>
                  </a:txBody>
                  <a:tcPr anchor="ctr" marL="73152" marR="54864" marT="27432" marB="27432">
                    <a:solidFill>
                      <a:srgbClr val="EEF3F8"/>
                    </a:solidFill>
                  </a:tcPr>
                </a:tc>
                <a:tc>
                  <a:txBody>
                    <a:bodyPr wrap="square"/>
                    <a:lstStyle/>
                    <a:p>
                      <a:r>
                        <a:rPr sz="1050">
                          <a:solidFill>
                            <a:srgbClr val="1A1A1A"/>
                          </a:solidFill>
                        </a:rPr>
                        <a:t>Two halves → key offences → note 'verify'</a:t>
                      </a:r>
                    </a:p>
                  </a:txBody>
                  <a:tcPr anchor="ctr" marL="73152" marR="54864" marT="27432" marB="27432">
                    <a:solidFill>
                      <a:srgbClr val="EEF3F8"/>
                    </a:solidFill>
                  </a:tcPr>
                </a:tc>
                <a:tc>
                  <a:txBody>
                    <a:bodyPr wrap="square"/>
                    <a:lstStyle/>
                    <a:p>
                      <a:r>
                        <a:rPr sz="1050">
                          <a:solidFill>
                            <a:srgbClr val="1A1A1A"/>
                          </a:solidFill>
                        </a:rPr>
                        <a:t>ETA 2063; Controller's role</a:t>
                      </a:r>
                    </a:p>
                  </a:txBody>
                  <a:tcPr anchor="ctr" marL="73152" marR="54864" marT="27432" marB="27432">
                    <a:solidFill>
                      <a:srgbClr val="EEF3F8"/>
                    </a:solidFill>
                  </a:tcPr>
                </a:tc>
              </a:tr>
              <a:tr h="630936">
                <a:tc>
                  <a:txBody>
                    <a:bodyPr wrap="square"/>
                    <a:lstStyle/>
                    <a:p>
                      <a:r>
                        <a:rPr sz="1050" b="1">
                          <a:solidFill>
                            <a:srgbClr val="0C2B4A"/>
                          </a:solidFill>
                        </a:rPr>
                        <a:t>Attack/defence taxonomy</a:t>
                      </a:r>
                    </a:p>
                  </a:txBody>
                  <a:tcPr anchor="ctr" marL="73152" marR="54864" marT="27432" marB="27432">
                    <a:solidFill>
                      <a:srgbClr val="FFFFFF"/>
                    </a:solidFill>
                  </a:tcPr>
                </a:tc>
                <a:tc>
                  <a:txBody>
                    <a:bodyPr wrap="square"/>
                    <a:lstStyle/>
                    <a:p>
                      <a:r>
                        <a:rPr sz="1050">
                          <a:solidFill>
                            <a:srgbClr val="1A1A1A"/>
                          </a:solidFill>
                        </a:rPr>
                        <a:t>Name → mechanism → countermeasure</a:t>
                      </a:r>
                    </a:p>
                  </a:txBody>
                  <a:tcPr anchor="ctr" marL="73152" marR="54864" marT="27432" marB="27432">
                    <a:solidFill>
                      <a:srgbClr val="FFFFFF"/>
                    </a:solidFill>
                  </a:tcPr>
                </a:tc>
                <a:tc>
                  <a:txBody>
                    <a:bodyPr wrap="square"/>
                    <a:lstStyle/>
                    <a:p>
                      <a:r>
                        <a:rPr sz="1050">
                          <a:solidFill>
                            <a:srgbClr val="1A1A1A"/>
                          </a:solidFill>
                        </a:rPr>
                        <a:t>U5 attack types; U7 social engineering</a:t>
                      </a:r>
                    </a:p>
                  </a:txBody>
                  <a:tcPr anchor="ctr" marL="73152" marR="54864" marT="27432" marB="27432">
                    <a:solidFill>
                      <a:srgbClr val="FFFFFF"/>
                    </a:solidFill>
                  </a:tcPr>
                </a:tc>
              </a:tr>
              <a:tr h="630936">
                <a:tc>
                  <a:txBody>
                    <a:bodyPr wrap="square"/>
                    <a:lstStyle/>
                    <a:p>
                      <a:r>
                        <a:rPr sz="1050" b="1">
                          <a:solidFill>
                            <a:srgbClr val="0C2B4A"/>
                          </a:solidFill>
                        </a:rPr>
                        <a:t>Discussion / argue both sides</a:t>
                      </a:r>
                    </a:p>
                  </a:txBody>
                  <a:tcPr anchor="ctr" marL="73152" marR="54864" marT="27432" marB="27432">
                    <a:solidFill>
                      <a:srgbClr val="EEF3F8"/>
                    </a:solidFill>
                  </a:tcPr>
                </a:tc>
                <a:tc>
                  <a:txBody>
                    <a:bodyPr wrap="square"/>
                    <a:lstStyle/>
                    <a:p>
                      <a:r>
                        <a:rPr sz="1050">
                          <a:solidFill>
                            <a:srgbClr val="1A1A1A"/>
                          </a:solidFill>
                        </a:rPr>
                        <a:t>State both, then a reasoned view</a:t>
                      </a:r>
                    </a:p>
                  </a:txBody>
                  <a:tcPr anchor="ctr" marL="73152" marR="54864" marT="27432" marB="27432">
                    <a:solidFill>
                      <a:srgbClr val="EEF3F8"/>
                    </a:solidFill>
                  </a:tcPr>
                </a:tc>
                <a:tc>
                  <a:txBody>
                    <a:bodyPr wrap="square"/>
                    <a:lstStyle/>
                    <a:p>
                      <a:r>
                        <a:rPr sz="1050">
                          <a:solidFill>
                            <a:srgbClr val="1A1A1A"/>
                          </a:solidFill>
                        </a:rPr>
                        <a:t>Section ~47: protection vs free speech</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Answer technique: define → explain → Nepal example → diagram where useful. PITFALLS: confusing Act/Rules/Policy; misquoting ETA section numbers (learn the CONCEPT, cite 'Section ~47 — verify'); treating IT Policy as binding law.</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59 / 68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S48 · Part D — Project / lab presentation skeleton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1. Problem / threat &amp; objective — what you set out to do and why it matters.</a:t>
            </a:r>
          </a:p>
          <a:p>
            <a:pPr>
              <a:spcAft>
                <a:spcPts val="700"/>
              </a:spcAft>
            </a:pPr>
            <a:r>
              <a:rPr sz="1550">
                <a:solidFill>
                  <a:srgbClr val="1A1A1A"/>
                </a:solidFill>
              </a:rPr>
              <a:t>•  2. Tool / method used — ethically, in a lab/sandbox (scanning, sniffing, SQLi/XSS, phishing via SET, password cracking, firewall config, incident response).</a:t>
            </a:r>
          </a:p>
          <a:p>
            <a:pPr>
              <a:spcAft>
                <a:spcPts val="700"/>
              </a:spcAft>
            </a:pPr>
            <a:r>
              <a:rPr sz="1550">
                <a:solidFill>
                  <a:srgbClr val="1A1A1A"/>
                </a:solidFill>
              </a:rPr>
              <a:t>•  3. Findings / demo — what you discovered, shown clearly.</a:t>
            </a:r>
          </a:p>
          <a:p>
            <a:pPr>
              <a:spcAft>
                <a:spcPts val="700"/>
              </a:spcAft>
            </a:pPr>
            <a:r>
              <a:rPr sz="1550">
                <a:solidFill>
                  <a:srgbClr val="1A1A1A"/>
                </a:solidFill>
              </a:rPr>
              <a:t>•  4. Mitigation &amp; relevant Nepal law/policy — the fix, tied to the ETA / infosec policy.</a:t>
            </a:r>
          </a:p>
          <a:p>
            <a:pPr>
              <a:spcAft>
                <a:spcPts val="700"/>
              </a:spcAft>
            </a:pPr>
            <a:r>
              <a:rPr sz="1550">
                <a:solidFill>
                  <a:srgbClr val="1A1A1A"/>
                </a:solidFill>
              </a:rPr>
              <a:t>•  5. Ethics &amp; legal note — authorization, scope, responsible disclosure.</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EVERY offensive technique must be tied back to AUTHORIZATION and the ETA. 'Doing it in your own lab for a class' vs 'doing it to a real system' is the line between learning and a crime — make students state that line explicitly.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60 / 68</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S48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CIA triad stands for Confidentiality, Integrity, and:</a:t>
            </a:r>
          </a:p>
          <a:p>
            <a:pPr lvl="1"/>
            <a:r>
              <a:rPr sz="1500" b="1">
                <a:solidFill>
                  <a:srgbClr val="0F6E56"/>
                </a:solidFill>
              </a:rPr>
              <a:t>a) Authentication   b) Authorization   c) ✅ Availability   d) Auditing</a:t>
            </a:r>
          </a:p>
          <a:p>
            <a:pPr lvl="1">
              <a:spcBef>
                <a:spcPts val="600"/>
              </a:spcBef>
            </a:pPr>
            <a:r>
              <a:rPr sz="1500" i="1">
                <a:solidFill>
                  <a:srgbClr val="1A1A1A"/>
                </a:solidFill>
              </a:rPr>
              <a:t>     Why: the three pillars of information security are Confidentiality, Integrity, and Availability.</a:t>
            </a:r>
          </a:p>
          <a:p>
            <a:pPr>
              <a:spcBef>
                <a:spcPts val="900"/>
              </a:spcBef>
            </a:pPr>
            <a:r>
              <a:rPr sz="1700" b="1">
                <a:solidFill>
                  <a:srgbClr val="0C2B4A"/>
                </a:solidFill>
              </a:rPr>
              <a:t>Q2.  A document stating how staff may use company systems is a(n):</a:t>
            </a:r>
          </a:p>
          <a:p>
            <a:pPr lvl="1"/>
            <a:r>
              <a:rPr sz="1500" b="1">
                <a:solidFill>
                  <a:srgbClr val="0F6E56"/>
                </a:solidFill>
              </a:rPr>
              <a:t>a) firewall   b) ✅ acceptable-use / information-security policy   c) digital signature   d) IT Policy of Nepal</a:t>
            </a:r>
          </a:p>
          <a:p>
            <a:pPr lvl="1">
              <a:spcBef>
                <a:spcPts val="600"/>
              </a:spcBef>
            </a:pPr>
            <a:r>
              <a:rPr sz="1500" i="1">
                <a:solidFill>
                  <a:srgbClr val="1A1A1A"/>
                </a:solidFill>
              </a:rPr>
              <a:t>     Why: an AUP is an organizational security policy; the national IT Policy is a different, non-binding thing.</a:t>
            </a:r>
          </a:p>
          <a:p>
            <a:pPr lvl="1">
              <a:spcBef>
                <a:spcPts val="600"/>
              </a:spcBef>
            </a:pPr>
            <a:r>
              <a:rPr sz="1500" i="1">
                <a:solidFill>
                  <a:srgbClr val="1A1A1A"/>
                </a:solidFill>
              </a:rPr>
              <a:t>Discussion: write one rule you'd put in your college's information-security policy — and say which threat it stops.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61 / 68</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S48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Information-security policies operationalise protection: CIA triad → policy → standards → procedures.</a:t>
            </a:r>
          </a:p>
          <a:p>
            <a:pPr>
              <a:spcAft>
                <a:spcPts val="800"/>
              </a:spcAft>
            </a:pPr>
            <a:r>
              <a:rPr sz="1500">
                <a:solidFill>
                  <a:srgbClr val="1A1A1A"/>
                </a:solidFill>
              </a:rPr>
              <a:t>2.  The 9 units form one arc — ethics (should) → security (protect) → forensics (investigate) → law (govern &amp; punish).</a:t>
            </a:r>
          </a:p>
          <a:p>
            <a:pPr>
              <a:spcAft>
                <a:spcPts val="800"/>
              </a:spcAft>
            </a:pPr>
            <a:r>
              <a:rPr sz="1500">
                <a:solidFill>
                  <a:srgbClr val="1A1A1A"/>
                </a:solidFill>
              </a:rPr>
              <a:t>3.  Exam = concepts + Nepal examples + applied cases; lab projects must always be framed within authorization and the ETA.</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This synthesis IS your professional posture: as a BIM graduate you will make ethical calls, secure systems, respond to incidents, and stay within Nepali law — all at once. The whole course was preparation for that single, integrated judgement.</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The End-of-Unit Quiz below, then final revision — and that completes IT 246.</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62 / 68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9 · CHEAT SHEET</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One-page revision reference</a:t>
            </a:r>
          </a:p>
        </p:txBody>
      </p:sp>
      <p:sp>
        <p:nvSpPr>
          <p:cNvPr id="5" name="Rounded Rectangle 4"/>
          <p:cNvSpPr/>
          <p:nvPr/>
        </p:nvSpPr>
        <p:spPr>
          <a:xfrm>
            <a:off x="640080"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Cyber law &amp; cybercrime (S45)</a:t>
            </a:r>
          </a:p>
          <a:p>
            <a:pPr>
              <a:spcBef>
                <a:spcPts val="300"/>
              </a:spcBef>
            </a:pPr>
            <a:r>
              <a:rPr sz="1200">
                <a:solidFill>
                  <a:srgbClr val="1A1A1A"/>
                </a:solidFill>
              </a:rPr>
              <a:t>Cyber law fills the gap paper-law can't reach (identity/evidence/jurisdiction). Nepal's primary cyber law = ETA 2063 (NOT a stand-alone Cyber Crime Act). Cybercrime = computer as TARGET (hacking, data theft) or TOOL (fraud, defamation). Report to the Cyber Bureau (2018) — evidence first.</a:t>
            </a:r>
          </a:p>
        </p:txBody>
      </p:sp>
      <p:sp>
        <p:nvSpPr>
          <p:cNvPr id="6" name="Rounded Rectangle 5"/>
          <p:cNvSpPr/>
          <p:nvPr/>
        </p:nvSpPr>
        <p:spPr>
          <a:xfrm>
            <a:off x="6199632"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ETA 2063 (S46)</a:t>
            </a:r>
          </a:p>
          <a:p>
            <a:pPr>
              <a:spcBef>
                <a:spcPts val="300"/>
              </a:spcBef>
            </a:pPr>
            <a:r>
              <a:rPr sz="1200">
                <a:solidFill>
                  <a:srgbClr val="1A1A1A"/>
                </a:solidFill>
              </a:rPr>
              <a:t>Two halves: ENABLE (e-records + digital-signature validity, e-commerce/e-gov) + PUNISH (offences chapter). Digital signature = private key signs / public key verifies → authentication + integrity + non-repudiation. Section ~47 (e-publication) = most-cited &amp; debated. Figures ILLUSTRATIVE — verify.</a:t>
            </a:r>
          </a:p>
        </p:txBody>
      </p:sp>
      <p:sp>
        <p:nvSpPr>
          <p:cNvPr id="7" name="Rounded Rectangle 6"/>
          <p:cNvSpPr/>
          <p:nvPr/>
        </p:nvSpPr>
        <p:spPr>
          <a:xfrm>
            <a:off x="640080"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ETR &amp; Controller (S47)</a:t>
            </a:r>
          </a:p>
          <a:p>
            <a:pPr>
              <a:spcBef>
                <a:spcPts val="300"/>
              </a:spcBef>
            </a:pPr>
            <a:r>
              <a:rPr sz="1200">
                <a:solidFill>
                  <a:srgbClr val="1A1A1A"/>
                </a:solidFill>
              </a:rPr>
              <a:t>ETR 2064 = procedures under the Act (CA licensing, certificates, fees). Controller (OCC, under MoCIT) licenses &amp; supervises CAs → PKI chain: Controller → CAs → user certificates. Act = Parliament (binding); Rules = executive (binding); differ in kind.</a:t>
            </a:r>
          </a:p>
        </p:txBody>
      </p:sp>
      <p:sp>
        <p:nvSpPr>
          <p:cNvPr id="8" name="Rounded Rectangle 7"/>
          <p:cNvSpPr/>
          <p:nvPr/>
        </p:nvSpPr>
        <p:spPr>
          <a:xfrm>
            <a:off x="6199632"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IT Policy (S47)</a:t>
            </a:r>
          </a:p>
          <a:p>
            <a:pPr>
              <a:spcBef>
                <a:spcPts val="300"/>
              </a:spcBef>
            </a:pPr>
            <a:r>
              <a:rPr sz="1200">
                <a:solidFill>
                  <a:srgbClr val="1A1A1A"/>
                </a:solidFill>
              </a:rPr>
              <a:t>National strategic framework — infrastructure, e-gov, IT industry/exports, digital literacy, security ('Digital Nepal'). NOT binding law. Policy directs; the Act + Rules bind. Classic exam trap: don't call it law.</a:t>
            </a:r>
          </a:p>
        </p:txBody>
      </p:sp>
      <p:sp>
        <p:nvSpPr>
          <p:cNvPr id="9" name="Rounded Rectangle 8"/>
          <p:cNvSpPr/>
          <p:nvPr/>
        </p:nvSpPr>
        <p:spPr>
          <a:xfrm>
            <a:off x="640080"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Information security (S48)</a:t>
            </a:r>
          </a:p>
          <a:p>
            <a:pPr>
              <a:spcBef>
                <a:spcPts val="300"/>
              </a:spcBef>
            </a:pPr>
            <a:r>
              <a:rPr sz="1200">
                <a:solidFill>
                  <a:srgbClr val="1A1A1A"/>
                </a:solidFill>
              </a:rPr>
              <a:t>CIA triad = Confidentiality + Integrity + Availability (lose one = insecure). Security policy hierarchy: policy → standards → procedures → guidelines. Components: AUP, access/password, data classification, incident response, BYOD, backup. Security = governance + people + process.</a:t>
            </a:r>
          </a:p>
        </p:txBody>
      </p:sp>
      <p:sp>
        <p:nvSpPr>
          <p:cNvPr id="10" name="Rounded Rectangle 9"/>
          <p:cNvSpPr/>
          <p:nvPr/>
        </p:nvSpPr>
        <p:spPr>
          <a:xfrm>
            <a:off x="6199632"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Law meets policy + arc (S48)</a:t>
            </a:r>
          </a:p>
          <a:p>
            <a:pPr>
              <a:spcBef>
                <a:spcPts val="300"/>
              </a:spcBef>
            </a:pPr>
            <a:r>
              <a:rPr sz="1200">
                <a:solidFill>
                  <a:srgbClr val="1A1A1A"/>
                </a:solidFill>
              </a:rPr>
              <a:t>ETA criminalises (after), IT Policy directs, security policy operationalises (before). Course arc: ethics → security → forensics → law. Labs: every technique tied to AUTHORIZATION + the ETA.</a:t>
            </a:r>
          </a:p>
        </p:txBody>
      </p:sp>
      <p:sp>
        <p:nvSpPr>
          <p:cNvPr id="11" name="TextBox 10"/>
          <p:cNvSpPr txBox="1"/>
          <p:nvPr/>
        </p:nvSpPr>
        <p:spPr>
          <a:xfrm>
            <a:off x="11292840" y="274320"/>
            <a:ext cx="822960" cy="320040"/>
          </a:xfrm>
          <a:prstGeom prst="rect">
            <a:avLst/>
          </a:prstGeom>
          <a:noFill/>
        </p:spPr>
        <p:txBody>
          <a:bodyPr wrap="none">
            <a:spAutoFit/>
          </a:bodyPr>
          <a:lstStyle/>
          <a:p>
            <a:pPr algn="r"/>
            <a:r>
              <a:rPr sz="1000">
                <a:solidFill>
                  <a:srgbClr val="55606B"/>
                </a:solidFill>
              </a:rPr>
              <a:t>63 / 68</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9 · GLOSSARY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Key terms — quick reference</a:t>
            </a:r>
          </a:p>
        </p:txBody>
      </p:sp>
      <p:sp>
        <p:nvSpPr>
          <p:cNvPr id="5" name="TextBox 4"/>
          <p:cNvSpPr txBox="1"/>
          <p:nvPr/>
        </p:nvSpPr>
        <p:spPr>
          <a:xfrm>
            <a:off x="640080" y="1600200"/>
            <a:ext cx="5349240" cy="4846320"/>
          </a:xfrm>
          <a:prstGeom prst="rect">
            <a:avLst/>
          </a:prstGeom>
          <a:noFill/>
        </p:spPr>
        <p:txBody>
          <a:bodyPr wrap="square">
            <a:spAutoFit/>
          </a:bodyPr>
          <a:lstStyle/>
          <a:p>
            <a:pPr>
              <a:spcAft>
                <a:spcPts val="600"/>
              </a:spcAft>
            </a:pPr>
            <a:r>
              <a:rPr sz="1150" b="1">
                <a:solidFill>
                  <a:srgbClr val="0C2B4A"/>
                </a:solidFill>
              </a:rPr>
              <a:t>Cyber law — </a:t>
            </a:r>
            <a:r>
              <a:rPr sz="1150">
                <a:solidFill>
                  <a:srgbClr val="1A1A1A"/>
                </a:solidFill>
              </a:rPr>
              <a:t>the body of law governing computers, networks, the internet, and e-transactions.</a:t>
            </a:r>
          </a:p>
          <a:p>
            <a:pPr>
              <a:spcAft>
                <a:spcPts val="600"/>
              </a:spcAft>
            </a:pPr>
            <a:r>
              <a:rPr sz="1150" b="1">
                <a:solidFill>
                  <a:srgbClr val="0C2B4A"/>
                </a:solidFill>
              </a:rPr>
              <a:t>ETA 2063 — </a:t>
            </a:r>
            <a:r>
              <a:rPr sz="1150">
                <a:solidFill>
                  <a:srgbClr val="1A1A1A"/>
                </a:solidFill>
              </a:rPr>
              <a:t>the Electronic Transaction Act (2008) — Nepal's primary cyber law.</a:t>
            </a:r>
          </a:p>
          <a:p>
            <a:pPr>
              <a:spcAft>
                <a:spcPts val="600"/>
              </a:spcAft>
            </a:pPr>
            <a:r>
              <a:rPr sz="1150" b="1">
                <a:solidFill>
                  <a:srgbClr val="0C2B4A"/>
                </a:solidFill>
              </a:rPr>
              <a:t>ETR 2064 — </a:t>
            </a:r>
            <a:r>
              <a:rPr sz="1150">
                <a:solidFill>
                  <a:srgbClr val="1A1A1A"/>
                </a:solidFill>
              </a:rPr>
              <a:t>the Electronic Transaction Rules — procedures made under the ETA.</a:t>
            </a:r>
          </a:p>
          <a:p>
            <a:pPr>
              <a:spcAft>
                <a:spcPts val="600"/>
              </a:spcAft>
            </a:pPr>
            <a:r>
              <a:rPr sz="1150" b="1">
                <a:solidFill>
                  <a:srgbClr val="0C2B4A"/>
                </a:solidFill>
              </a:rPr>
              <a:t>Cybercrime — </a:t>
            </a:r>
            <a:r>
              <a:rPr sz="1150">
                <a:solidFill>
                  <a:srgbClr val="1A1A1A"/>
                </a:solidFill>
              </a:rPr>
              <a:t>an offence where a computer/network is the target or the tool.</a:t>
            </a:r>
          </a:p>
          <a:p>
            <a:pPr>
              <a:spcAft>
                <a:spcPts val="600"/>
              </a:spcAft>
            </a:pPr>
            <a:r>
              <a:rPr sz="1150" b="1">
                <a:solidFill>
                  <a:srgbClr val="0C2B4A"/>
                </a:solidFill>
              </a:rPr>
              <a:t>Target vs tool crime — </a:t>
            </a:r>
            <a:r>
              <a:rPr sz="1150">
                <a:solidFill>
                  <a:srgbClr val="1A1A1A"/>
                </a:solidFill>
              </a:rPr>
              <a:t>the computer is the victim (hacking) vs the weapon (fraud, defamation).</a:t>
            </a:r>
          </a:p>
          <a:p>
            <a:pPr>
              <a:spcAft>
                <a:spcPts val="600"/>
              </a:spcAft>
            </a:pPr>
            <a:r>
              <a:rPr sz="1150" b="1">
                <a:solidFill>
                  <a:srgbClr val="0C2B4A"/>
                </a:solidFill>
              </a:rPr>
              <a:t>Cyber Bureau — </a:t>
            </a:r>
            <a:r>
              <a:rPr sz="1150">
                <a:solidFill>
                  <a:srgbClr val="1A1A1A"/>
                </a:solidFill>
              </a:rPr>
              <a:t>the Nepal Police cybercrime unit (est. 2018, Bhotahiti, Kathmandu).</a:t>
            </a:r>
          </a:p>
          <a:p>
            <a:pPr>
              <a:spcAft>
                <a:spcPts val="600"/>
              </a:spcAft>
            </a:pPr>
            <a:r>
              <a:rPr sz="1150" b="1">
                <a:solidFill>
                  <a:srgbClr val="0C2B4A"/>
                </a:solidFill>
              </a:rPr>
              <a:t>Electronic record — </a:t>
            </a:r>
            <a:r>
              <a:rPr sz="1150">
                <a:solidFill>
                  <a:srgbClr val="1A1A1A"/>
                </a:solidFill>
              </a:rPr>
              <a:t>digital data given legal recognition equal to paper under the ETA.</a:t>
            </a:r>
          </a:p>
          <a:p>
            <a:pPr>
              <a:spcAft>
                <a:spcPts val="600"/>
              </a:spcAft>
            </a:pPr>
            <a:r>
              <a:rPr sz="1150" b="1">
                <a:solidFill>
                  <a:srgbClr val="0C2B4A"/>
                </a:solidFill>
              </a:rPr>
              <a:t>Digital signature — </a:t>
            </a:r>
            <a:r>
              <a:rPr sz="1150">
                <a:solidFill>
                  <a:srgbClr val="1A1A1A"/>
                </a:solidFill>
              </a:rPr>
              <a:t>a cryptographic signature: private key signs, public key verifies.</a:t>
            </a:r>
          </a:p>
          <a:p>
            <a:pPr>
              <a:spcAft>
                <a:spcPts val="600"/>
              </a:spcAft>
            </a:pPr>
            <a:r>
              <a:rPr sz="1150" b="1">
                <a:solidFill>
                  <a:srgbClr val="0C2B4A"/>
                </a:solidFill>
              </a:rPr>
              <a:t>Asymmetric cryptography — </a:t>
            </a:r>
            <a:r>
              <a:rPr sz="1150">
                <a:solidFill>
                  <a:srgbClr val="1A1A1A"/>
                </a:solidFill>
              </a:rPr>
              <a:t>a public/private key pair used to sign and verify.</a:t>
            </a:r>
          </a:p>
          <a:p>
            <a:pPr>
              <a:spcAft>
                <a:spcPts val="600"/>
              </a:spcAft>
            </a:pPr>
            <a:r>
              <a:rPr sz="1150" b="1">
                <a:solidFill>
                  <a:srgbClr val="0C2B4A"/>
                </a:solidFill>
              </a:rPr>
              <a:t>Non-repudiation — </a:t>
            </a:r>
            <a:r>
              <a:rPr sz="1150">
                <a:solidFill>
                  <a:srgbClr val="1A1A1A"/>
                </a:solidFill>
              </a:rPr>
              <a:t>the signer cannot later deny having signed.</a:t>
            </a:r>
          </a:p>
          <a:p>
            <a:pPr>
              <a:spcAft>
                <a:spcPts val="600"/>
              </a:spcAft>
            </a:pPr>
            <a:r>
              <a:rPr sz="1150" b="1">
                <a:solidFill>
                  <a:srgbClr val="0C2B4A"/>
                </a:solidFill>
              </a:rPr>
              <a:t>Section ~47 (illustrative) — </a:t>
            </a:r>
            <a:r>
              <a:rPr sz="1150">
                <a:solidFill>
                  <a:srgbClr val="1A1A1A"/>
                </a:solidFill>
              </a:rPr>
              <a:t>the most-applied &amp; criticised e-publication offence — verify.</a:t>
            </a:r>
          </a:p>
          <a:p>
            <a:pPr>
              <a:spcAft>
                <a:spcPts val="600"/>
              </a:spcAft>
            </a:pPr>
            <a:r>
              <a:rPr sz="1150" b="1">
                <a:solidFill>
                  <a:srgbClr val="0C2B4A"/>
                </a:solidFill>
              </a:rPr>
              <a:t>Controller (OCC) — </a:t>
            </a:r>
            <a:r>
              <a:rPr sz="1150">
                <a:solidFill>
                  <a:srgbClr val="1A1A1A"/>
                </a:solidFill>
              </a:rPr>
              <a:t>the Office of the Controller of Certification — licenses &amp; supervises CAs.</a:t>
            </a:r>
          </a:p>
        </p:txBody>
      </p:sp>
      <p:sp>
        <p:nvSpPr>
          <p:cNvPr id="6" name="TextBox 5"/>
          <p:cNvSpPr txBox="1"/>
          <p:nvPr/>
        </p:nvSpPr>
        <p:spPr>
          <a:xfrm>
            <a:off x="6199632" y="1600200"/>
            <a:ext cx="5349240" cy="4846320"/>
          </a:xfrm>
          <a:prstGeom prst="rect">
            <a:avLst/>
          </a:prstGeom>
          <a:noFill/>
        </p:spPr>
        <p:txBody>
          <a:bodyPr wrap="square">
            <a:spAutoFit/>
          </a:bodyPr>
          <a:lstStyle/>
          <a:p>
            <a:pPr>
              <a:spcAft>
                <a:spcPts val="600"/>
              </a:spcAft>
            </a:pPr>
            <a:r>
              <a:rPr sz="1150" b="1">
                <a:solidFill>
                  <a:srgbClr val="0C2B4A"/>
                </a:solidFill>
              </a:rPr>
              <a:t>Certifying Authority (CA) — </a:t>
            </a:r>
            <a:r>
              <a:rPr sz="1150">
                <a:solidFill>
                  <a:srgbClr val="1A1A1A"/>
                </a:solidFill>
              </a:rPr>
              <a:t>a licensed body that issues digital-signature certificates.</a:t>
            </a:r>
          </a:p>
          <a:p>
            <a:pPr>
              <a:spcAft>
                <a:spcPts val="600"/>
              </a:spcAft>
            </a:pPr>
            <a:r>
              <a:rPr sz="1150" b="1">
                <a:solidFill>
                  <a:srgbClr val="0C2B4A"/>
                </a:solidFill>
              </a:rPr>
              <a:t>PKI — </a:t>
            </a:r>
            <a:r>
              <a:rPr sz="1150">
                <a:solidFill>
                  <a:srgbClr val="1A1A1A"/>
                </a:solidFill>
              </a:rPr>
              <a:t>public-key infrastructure — the Controller → CA → user trust chain.</a:t>
            </a:r>
          </a:p>
          <a:p>
            <a:pPr>
              <a:spcAft>
                <a:spcPts val="600"/>
              </a:spcAft>
            </a:pPr>
            <a:r>
              <a:rPr sz="1150" b="1">
                <a:solidFill>
                  <a:srgbClr val="0C2B4A"/>
                </a:solidFill>
              </a:rPr>
              <a:t>IT Tribunal — </a:t>
            </a:r>
            <a:r>
              <a:rPr sz="1150">
                <a:solidFill>
                  <a:srgbClr val="1A1A1A"/>
                </a:solidFill>
              </a:rPr>
              <a:t>the ETA body for adjudicating certain electronic-transaction disputes.</a:t>
            </a:r>
          </a:p>
          <a:p>
            <a:pPr>
              <a:spcAft>
                <a:spcPts val="600"/>
              </a:spcAft>
            </a:pPr>
            <a:r>
              <a:rPr sz="1150" b="1">
                <a:solidFill>
                  <a:srgbClr val="0C2B4A"/>
                </a:solidFill>
              </a:rPr>
              <a:t>IT Policy of Nepal — </a:t>
            </a:r>
            <a:r>
              <a:rPr sz="1150">
                <a:solidFill>
                  <a:srgbClr val="1A1A1A"/>
                </a:solidFill>
              </a:rPr>
              <a:t>a non-binding national strategic framework for ICT development.</a:t>
            </a:r>
          </a:p>
          <a:p>
            <a:pPr>
              <a:spcAft>
                <a:spcPts val="600"/>
              </a:spcAft>
            </a:pPr>
            <a:r>
              <a:rPr sz="1150" b="1">
                <a:solidFill>
                  <a:srgbClr val="0C2B4A"/>
                </a:solidFill>
              </a:rPr>
              <a:t>Act vs Rules vs Policy — </a:t>
            </a:r>
            <a:r>
              <a:rPr sz="1150">
                <a:solidFill>
                  <a:srgbClr val="1A1A1A"/>
                </a:solidFill>
              </a:rPr>
              <a:t>Act (Parliament, binding) · Rules (executive, binding) · Policy (direction, non-binding).</a:t>
            </a:r>
          </a:p>
          <a:p>
            <a:pPr>
              <a:spcAft>
                <a:spcPts val="600"/>
              </a:spcAft>
            </a:pPr>
            <a:r>
              <a:rPr sz="1150" b="1">
                <a:solidFill>
                  <a:srgbClr val="0C2B4A"/>
                </a:solidFill>
              </a:rPr>
              <a:t>Privacy Act 2075 — </a:t>
            </a:r>
            <a:r>
              <a:rPr sz="1150">
                <a:solidFill>
                  <a:srgbClr val="1A1A1A"/>
                </a:solidFill>
              </a:rPr>
              <a:t>Nepal's data-privacy law, complementing the ETA (verify current status).</a:t>
            </a:r>
          </a:p>
          <a:p>
            <a:pPr>
              <a:spcAft>
                <a:spcPts val="600"/>
              </a:spcAft>
            </a:pPr>
            <a:r>
              <a:rPr sz="1150" b="1">
                <a:solidFill>
                  <a:srgbClr val="0C2B4A"/>
                </a:solidFill>
              </a:rPr>
              <a:t>CIA triad — </a:t>
            </a:r>
            <a:r>
              <a:rPr sz="1150">
                <a:solidFill>
                  <a:srgbClr val="1A1A1A"/>
                </a:solidFill>
              </a:rPr>
              <a:t>Confidentiality, Integrity, Availability — the pillars of information security.</a:t>
            </a:r>
          </a:p>
          <a:p>
            <a:pPr>
              <a:spcAft>
                <a:spcPts val="600"/>
              </a:spcAft>
            </a:pPr>
            <a:r>
              <a:rPr sz="1150" b="1">
                <a:solidFill>
                  <a:srgbClr val="0C2B4A"/>
                </a:solidFill>
              </a:rPr>
              <a:t>Information security policy — </a:t>
            </a:r>
            <a:r>
              <a:rPr sz="1150">
                <a:solidFill>
                  <a:srgbClr val="1A1A1A"/>
                </a:solidFill>
              </a:rPr>
              <a:t>documented rules for protecting an organization's information assets.</a:t>
            </a:r>
          </a:p>
          <a:p>
            <a:pPr>
              <a:spcAft>
                <a:spcPts val="600"/>
              </a:spcAft>
            </a:pPr>
            <a:r>
              <a:rPr sz="1150" b="1">
                <a:solidFill>
                  <a:srgbClr val="0C2B4A"/>
                </a:solidFill>
              </a:rPr>
              <a:t>Policy→standard→procedure — </a:t>
            </a:r>
            <a:r>
              <a:rPr sz="1150">
                <a:solidFill>
                  <a:srgbClr val="1A1A1A"/>
                </a:solidFill>
              </a:rPr>
              <a:t>policy (what/why) → standard (measurable) → procedure (how-to).</a:t>
            </a:r>
          </a:p>
          <a:p>
            <a:pPr>
              <a:spcAft>
                <a:spcPts val="600"/>
              </a:spcAft>
            </a:pPr>
            <a:r>
              <a:rPr sz="1150" b="1">
                <a:solidFill>
                  <a:srgbClr val="0C2B4A"/>
                </a:solidFill>
              </a:rPr>
              <a:t>Acceptable-use policy (AUP) — </a:t>
            </a:r>
            <a:r>
              <a:rPr sz="1150">
                <a:solidFill>
                  <a:srgbClr val="1A1A1A"/>
                </a:solidFill>
              </a:rPr>
              <a:t>rules on how staff may use company systems.</a:t>
            </a:r>
          </a:p>
          <a:p>
            <a:pPr>
              <a:spcAft>
                <a:spcPts val="600"/>
              </a:spcAft>
            </a:pPr>
            <a:r>
              <a:rPr sz="1150" b="1">
                <a:solidFill>
                  <a:srgbClr val="0C2B4A"/>
                </a:solidFill>
              </a:rPr>
              <a:t>Incident response — </a:t>
            </a:r>
            <a:r>
              <a:rPr sz="1150">
                <a:solidFill>
                  <a:srgbClr val="1A1A1A"/>
                </a:solidFill>
              </a:rPr>
              <a:t>the defined steps taken when a security breach occurs.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64 / 68</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UNIT 9 · REVISION</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Consolidated end-of-unit quiz</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Ten MCQs across the whole unit (answers shown), then short-answer, applied-case, and discussion questions to work from the concept slides and Unit9_material.md.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65 / 68</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 A — Multiple choice (answers shown)</a:t>
            </a:r>
          </a:p>
        </p:txBody>
      </p:sp>
      <p:sp>
        <p:nvSpPr>
          <p:cNvPr id="5" name="TextBox 4"/>
          <p:cNvSpPr txBox="1"/>
          <p:nvPr/>
        </p:nvSpPr>
        <p:spPr>
          <a:xfrm>
            <a:off x="640080" y="1600200"/>
            <a:ext cx="10881360" cy="4846320"/>
          </a:xfrm>
          <a:prstGeom prst="rect">
            <a:avLst/>
          </a:prstGeom>
          <a:noFill/>
        </p:spPr>
        <p:txBody>
          <a:bodyPr wrap="square">
            <a:spAutoFit/>
          </a:bodyPr>
          <a:lstStyle/>
          <a:p>
            <a:pPr lvl="1"/>
            <a:r>
              <a:rPr sz="1250" b="1">
                <a:solidFill>
                  <a:srgbClr val="0F6E56"/>
                </a:solidFill>
              </a:rPr>
              <a:t>1.  Nepal's primary cyber law is   →  ✅ the Electronic Transaction Act (ETA) 2063</a:t>
            </a:r>
          </a:p>
          <a:p>
            <a:pPr lvl="1"/>
            <a:r>
              <a:rPr sz="1250" b="1">
                <a:solidFill>
                  <a:srgbClr val="0F6E56"/>
                </a:solidFill>
              </a:rPr>
              <a:t>2.  A cybercrime where the computer is the TOOL is   →  ✅ online fraud / cyber-defamation</a:t>
            </a:r>
          </a:p>
          <a:p>
            <a:pPr lvl="1"/>
            <a:r>
              <a:rPr sz="1250" b="1">
                <a:solidFill>
                  <a:srgbClr val="0F6E56"/>
                </a:solidFill>
              </a:rPr>
              <a:t>3.  The Nepali body that investigates cybercrime is   →  ✅ the Nepal Police Cyber Bureau</a:t>
            </a:r>
          </a:p>
          <a:p>
            <a:pPr lvl="1"/>
            <a:r>
              <a:rPr sz="1250" b="1">
                <a:solidFill>
                  <a:srgbClr val="0F6E56"/>
                </a:solidFill>
              </a:rPr>
              <a:t>4.  What gives an electronic record legal validity in Nepal   →  ✅ the ETA 2063</a:t>
            </a:r>
          </a:p>
          <a:p>
            <a:pPr lvl="1"/>
            <a:r>
              <a:rPr sz="1250" b="1">
                <a:solidFill>
                  <a:srgbClr val="0F6E56"/>
                </a:solidFill>
              </a:rPr>
              <a:t>5.  A digital signature primarily provides   →  ✅ authentication, integrity, and non-repudiation</a:t>
            </a:r>
          </a:p>
          <a:p>
            <a:pPr lvl="1"/>
            <a:r>
              <a:rPr sz="1250" b="1">
                <a:solidFill>
                  <a:srgbClr val="0F6E56"/>
                </a:solidFill>
              </a:rPr>
              <a:t>6.  The most-applied &amp; criticised ETA provision is   →  ✅ the e-publication offence ('Section ~47' — verify)</a:t>
            </a:r>
          </a:p>
          <a:p>
            <a:pPr lvl="1"/>
            <a:r>
              <a:rPr sz="1250" b="1">
                <a:solidFill>
                  <a:srgbClr val="0F6E56"/>
                </a:solidFill>
              </a:rPr>
              <a:t>7.  Act vs Rules vs Policy: the non-binding one is   →  ✅ the IT Policy of Nepal</a:t>
            </a:r>
          </a:p>
          <a:p>
            <a:pPr lvl="1"/>
            <a:r>
              <a:rPr sz="1250" b="1">
                <a:solidFill>
                  <a:srgbClr val="0F6E56"/>
                </a:solidFill>
              </a:rPr>
              <a:t>8.  The body that licenses &amp; supervises CAs is   →  ✅ the Office of the Controller of Certification</a:t>
            </a:r>
          </a:p>
          <a:p>
            <a:pPr lvl="1"/>
            <a:r>
              <a:rPr sz="1250" b="1">
                <a:solidFill>
                  <a:srgbClr val="0F6E56"/>
                </a:solidFill>
              </a:rPr>
              <a:t>9.  The CIA triad stands for   →  ✅ Confidentiality, Integrity, Availability</a:t>
            </a:r>
          </a:p>
          <a:p>
            <a:pPr lvl="1"/>
            <a:r>
              <a:rPr sz="1250" b="1">
                <a:solidFill>
                  <a:srgbClr val="0F6E56"/>
                </a:solidFill>
              </a:rPr>
              <a:t>10.  'The IT Policy is binding law like the ETA' is   →  ✅ FALSE (policy directs; the Act + Rules bind)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66 / 68</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Sections B–D — short answer, applied case &amp; discussion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500"/>
              </a:spcBef>
            </a:pPr>
            <a:r>
              <a:rPr sz="1400" b="1">
                <a:solidFill>
                  <a:srgbClr val="0C2B4A"/>
                </a:solidFill>
              </a:rPr>
              <a:t>Section B — Short answer</a:t>
            </a:r>
          </a:p>
          <a:p>
            <a:pPr lvl="1">
              <a:spcBef>
                <a:spcPts val="200"/>
              </a:spcBef>
            </a:pPr>
            <a:r>
              <a:rPr sz="1250" i="1">
                <a:solidFill>
                  <a:srgbClr val="1A1A1A"/>
                </a:solidFill>
              </a:rPr>
              <a:t>11. Define cyber law and give one reason Nepal needs it.   12. List 4 cybercrimes recognised under Nepali law.   13. State the two main purposes of the ETA 2063.</a:t>
            </a:r>
          </a:p>
          <a:p>
            <a:pPr lvl="1">
              <a:spcBef>
                <a:spcPts val="200"/>
              </a:spcBef>
            </a:pPr>
            <a:r>
              <a:rPr sz="1250" i="1">
                <a:solidFill>
                  <a:srgbClr val="1A1A1A"/>
                </a:solidFill>
              </a:rPr>
              <a:t>14. Explain the role of the Controller and Certifying Authorities.   15. List 4 components of an information-security policy.</a:t>
            </a:r>
          </a:p>
          <a:p>
            <a:pPr>
              <a:spcBef>
                <a:spcPts val="500"/>
              </a:spcBef>
            </a:pPr>
            <a:r>
              <a:rPr sz="1400" b="1">
                <a:solidFill>
                  <a:srgbClr val="0C2B4A"/>
                </a:solidFill>
              </a:rPr>
              <a:t>Section C — Applied case</a:t>
            </a:r>
          </a:p>
          <a:p>
            <a:pPr lvl="1">
              <a:spcBef>
                <a:spcPts val="200"/>
              </a:spcBef>
            </a:pPr>
            <a:r>
              <a:rPr sz="1250" i="1">
                <a:solidFill>
                  <a:srgbClr val="1A1A1A"/>
                </a:solidFill>
              </a:rPr>
              <a:t>16. A person is impersonated on social media in Nepal and defamed — outline which body investigates, which provision applies (cite as 'verify'), and the steps.</a:t>
            </a:r>
          </a:p>
          <a:p>
            <a:pPr lvl="1">
              <a:spcBef>
                <a:spcPts val="200"/>
              </a:spcBef>
            </a:pPr>
            <a:r>
              <a:rPr sz="1250" i="1">
                <a:solidFill>
                  <a:srgbClr val="1A1A1A"/>
                </a:solidFill>
              </a:rPr>
              <a:t>17. Classify four given scenarios as target/tool cybercrime and name the likely ETA-related response.</a:t>
            </a:r>
          </a:p>
          <a:p>
            <a:pPr>
              <a:spcBef>
                <a:spcPts val="500"/>
              </a:spcBef>
            </a:pPr>
            <a:r>
              <a:rPr sz="1400" b="1">
                <a:solidFill>
                  <a:srgbClr val="0C2B4A"/>
                </a:solidFill>
              </a:rPr>
              <a:t>Section D — Discussion</a:t>
            </a:r>
          </a:p>
          <a:p>
            <a:pPr lvl="1">
              <a:spcBef>
                <a:spcPts val="200"/>
              </a:spcBef>
            </a:pPr>
            <a:r>
              <a:rPr sz="1250" i="1">
                <a:solidFill>
                  <a:srgbClr val="1A1A1A"/>
                </a:solidFill>
              </a:rPr>
              <a:t>18. 'Section 47 of the ETA: necessary protection against online harm, or a threat to free speech?' Argue BOTH sides with Nepal examples.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67 / 68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End of Unit 9 — and the End of IT 246  🎓</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S45–S48 complete: cyber law &amp; the Cyber Bureau · the ETA 2063 · the ETR, Controller &amp; CAs · the IT Policy · information security &amp; policies — and a full course synthesis.</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Congratulations — you have completed IT 246: IT Ethics &amp; Cybersecurity. Across nine units you learned to reason ethically, protect systems, investigate incidents, and stay within Nepali law — one integrated professional judgement. Carry it well. (Legal specifics herein are illustrative — always verify current law.)</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68 / 68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