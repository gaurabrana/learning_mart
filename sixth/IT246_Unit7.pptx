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People are the easiest system to 'hack'. Agenda: what social engineering is → why attackers use it → why humans are the weakest link. Keep it defensive — we learn to recognise, never to run, these tricks.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Classic awareness scenario: an attacker impersonates the IT helpdesk to get an employee to reset a password. No code is broken — the human is persuaded. Keep the framing on recognising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Frame with the quadrant: social engineering sits in 'low cost + high success'. That economics is exactly why it is so common — not because attackers can't hack machines, but because they don't need 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 case: an office peon gets 'Sir, from IT — your email will be deleted today, just confirm your password.' It works on a busy, polite employee because helpfulness + authority + urgency all fire at once.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Reward students who name the specific lever (authority/urgency/fear) rather than just 'a scam'. Keep the tone defensive.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The psychology of the con, taught for DEFENCE. Agenda: what's really at stake → how trust is manufactured → how urgency and fear close the trap.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Walk the chain: an OTP unlocks email; email resets the bank; the wallet balance goes; then the scammer poses as the victim to hit their contacts. Emphasise the cascade to counter the 'no big deal' reflex.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Present the six levers as a recognition tool, never a playbook. Point out attackers combine several at once (authority + social proof) and often use your real name/branch from a leaked list to sound legitimate.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 case: a 'Facebook lottery' message — 'You've won Rs. 25 lakh, pay Rs. 5,000 processing fee to release it.' Have students name every trust + urgency + greed lever used. It's a magician's patter: friendly chatter, then the ask.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Reward answers that separate the trust-building lever from the urgency/fear close. Emphasise: naming the emotion is the defence.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A field guide to spotting attacks, strictly defensive. Agenda: the six attack types (recognise) → organizational + technical countermeasures → personal prevention habits.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Bust the 'phishing = only email' myth: it spans SMS, calls, QR codes, and social media. Keep every description at the recognition level — what a victim sees — with zero operational detail.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Keep MFA/SPF/DKIM/DMARC at the awareness level — students should know these exist and what they achieve, not configure them. The strongest cultural control is the 'we never ask for your OTP' rule.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 case: an SMS 'parcel held at customs, pay Rs. 200 here.' Walk the safe response — don't click, verify with the courier directly. Analogy: like looking both ways before crossing a road, the pause is the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the 'never share OTP' rule and channel-matching (call=vishing, SMS=smishing, email=phishing). Recognition and defence only.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Defining the term precisely and responsibly. Agenda: what cyber terrorism is → distinguishing it from crime/hacktivism/warfare → its types. Kept conceptual — no operational content.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Keep this conceptual and responsible. The awareness-level local example: defacement of Nepali government websites/public-service portals during regional tensions, used to spread fear or embarrassment. No methods discussed.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 case: classify three events — a ransomware gang for money, a protest-driven defacement, and an attempt to disable a national grid — into the right bucket. The exercise is classification, not method.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 awareness example: disinformation campaigns on social media during sensitive national events; threats to telecom/banking continuity in South Asia. Analogy: 'arson with a keyboard' — the goal is fear and damage, not theft.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Reward correct use of intent/target/severity. Keep the discussion analytical and responsible — no methods, only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Why critical infrastructure is the prize, and how we defend it. Agenda: cascading effects on infrastructure → layered countering (national/organizational/personal) → resilience &amp; preparedness.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 framing: Nepal's dependence on a few telecom operators and on eSewa/Khalti/connectIPS means an attack on national payment or telecom infrastructure could freeze daily commerce. Keep it about EFFECTS and resilience, not methods.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Nepal specifics: NPCERT (national CERT), the Electronic Transaction Act's role in prosecution (forward link to Unit 9), and coordination among NRB, telecoms, and agencies. Citizens counter it partly by not amplifying disinformation.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 case: a national bank suffers a service-disrupting attack — walk the continuity steps (backups, failover, public communication, coordination with CERT). Analogy: like earthquake preparedness in Nepal — drills and a plan decide scare vs. catastrophe.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the cascade concept and the three defensive layers. Connect the CERT answer forward to Unit 9 (cyber law).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Unit7_material.md. All attack content stays at recognition/defence level.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7 — Social Engineering and Cyber Terrorism</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S33–S37</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no abstraction without instances. DEFENSIVE / awareness framing only.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76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SOCIAL ENGINEERING &amp; CYBER TERRORISM  ·  S33–S37</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7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social engineering and explain why humans are the 'weakest link' in security (S33)</a:t>
            </a:r>
          </a:p>
          <a:p>
            <a:pPr>
              <a:spcAft>
                <a:spcPts val="500"/>
              </a:spcAft>
            </a:pPr>
            <a:r>
              <a:rPr sz="1450">
                <a:solidFill>
                  <a:srgbClr val="1A1A1A"/>
                </a:solidFill>
              </a:rPr>
              <a:t>•  Recognise the psychological levers — trust, authority, reciprocity, urgency, fear — attackers exploit (S34)</a:t>
            </a:r>
          </a:p>
          <a:p>
            <a:pPr>
              <a:spcAft>
                <a:spcPts val="500"/>
              </a:spcAft>
            </a:pPr>
            <a:r>
              <a:rPr sz="1450">
                <a:solidFill>
                  <a:srgbClr val="1A1A1A"/>
                </a:solidFill>
              </a:rPr>
              <a:t>•  Identify the major attack types (phishing, vishing, smishing, pretexting, baiting, tailgating) and apply countermeasures (S35)</a:t>
            </a:r>
          </a:p>
          <a:p>
            <a:pPr>
              <a:spcAft>
                <a:spcPts val="500"/>
              </a:spcAft>
            </a:pPr>
            <a:r>
              <a:rPr sz="1450">
                <a:solidFill>
                  <a:srgbClr val="1A1A1A"/>
                </a:solidFill>
              </a:rPr>
              <a:t>•  Define cyber terrorism, distinguish it from cybercrime/hacktivism/warfare, and classify its types (S36)</a:t>
            </a:r>
          </a:p>
          <a:p>
            <a:pPr>
              <a:spcAft>
                <a:spcPts val="500"/>
              </a:spcAft>
            </a:pPr>
            <a:r>
              <a:rPr sz="1450">
                <a:solidFill>
                  <a:srgbClr val="1A1A1A"/>
                </a:solidFill>
              </a:rPr>
              <a:t>•  Explain its effects on critical infrastructure and how it is countered at personal, organizational &amp; national levels (S37)</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7 of IT 246. It shifts from attacking machines to attacking PEOPLE — the human layer of security — and then scales that up to attacks on a whole nation. Everything here is taught for DEFENCE: to recognise and prevent, never to perform.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76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7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(S33–S37)</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S33  Introduction to social engineering · why humans break first
S34  The psychology — implications · building trust · exploiting it
S35  Attack types (recognise) · countermeasures &amp; prevention
S36  Cyber terrorism · its types (vs crime/hacktivism/warfare)
S37  Effects on infrastructure · countering it — closes the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8   Digital forensics — investigating incidents after the fact
Unit 9   Cyber law in Nepal (Electronic Transaction Act, Privacy 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76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33 · LECTURE HOUR 1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Introduction to Social Engineering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can buy a Rs. 50,000 firewall, but if a polite caller says 'Namaste, I'm calling from your bank's head office' and you read out your OTP — the firewall never even gets a vote. Why do humans break before machines do?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76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Social Engineering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Social engineering = manipulating PEOPLE into giving up confidential information or access, instead of breaking technology directly. The attacker 'hacks the person, not the PC' — it targets human psychology (trust, helpfulness, fear), not code.</a:t>
            </a:r>
          </a:p>
          <a:p>
            <a:pPr>
              <a:spcAft>
                <a:spcPts val="500"/>
              </a:spcAft>
            </a:pPr>
            <a:r>
              <a:rPr sz="1200" b="1">
                <a:solidFill>
                  <a:srgbClr val="185FA5"/>
                </a:solidFill>
              </a:rPr>
              <a:t>HOW IT WORKS</a:t>
            </a:r>
          </a:p>
          <a:p>
            <a:pPr>
              <a:spcAft>
                <a:spcPts val="600"/>
              </a:spcAft>
            </a:pPr>
            <a:r>
              <a:rPr sz="1400">
                <a:solidFill>
                  <a:srgbClr val="1A1A1A"/>
                </a:solidFill>
              </a:rPr>
              <a:t>•  It bypasses the technology entirely: no firewall is defeated if a human opens the door.</a:t>
            </a:r>
          </a:p>
          <a:p>
            <a:pPr>
              <a:spcAft>
                <a:spcPts val="600"/>
              </a:spcAft>
            </a:pPr>
            <a:r>
              <a:rPr sz="1400">
                <a:solidFill>
                  <a:srgbClr val="1A1A1A"/>
                </a:solidFill>
              </a:rPr>
              <a:t>•  The 'system' being attacked is a person's judgement — persuasion and deception, not exploits.</a:t>
            </a:r>
          </a:p>
          <a:p>
            <a:pPr>
              <a:spcAft>
                <a:spcPts val="600"/>
              </a:spcAft>
            </a:pPr>
            <a:r>
              <a:rPr sz="1400">
                <a:solidFill>
                  <a:srgbClr val="1A1A1A"/>
                </a:solidFill>
              </a:rPr>
              <a:t>•  It works over any channel: a call, an SMS, an email, or a face-to-face visit.</a:t>
            </a:r>
          </a:p>
          <a:p>
            <a:pPr>
              <a:spcAft>
                <a:spcPts val="600"/>
              </a:spcAft>
            </a:pPr>
            <a:r>
              <a:rPr sz="1400">
                <a:solidFill>
                  <a:srgbClr val="1A1A1A"/>
                </a:solidFill>
              </a:rPr>
              <a:t>•  The tech (a fake page, a spoofed number) is only a prop; the con is the human manipulation.</a:t>
            </a:r>
          </a:p>
        </p:txBody>
      </p:sp>
      <p:pic>
        <p:nvPicPr>
          <p:cNvPr id="6" name="Picture 5" descr="s33_human_firewall.png"/>
          <p:cNvPicPr>
            <a:picLocks noChangeAspect="1"/>
          </p:cNvPicPr>
          <p:nvPr/>
        </p:nvPicPr>
        <p:blipFill>
          <a:blip r:embed="rId2"/>
          <a:stretch>
            <a:fillRect/>
          </a:stretch>
        </p:blipFill>
        <p:spPr>
          <a:xfrm>
            <a:off x="6355080" y="2569079"/>
            <a:ext cx="5532120" cy="249708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Social engineering = hacking the person, not the PC.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76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Hacking the machine vs hacking the person</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49285"/>
                <a:gridCol w="4408714"/>
                <a:gridCol w="4572000"/>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Technical attack (the machine)</a:t>
                      </a:r>
                    </a:p>
                  </a:txBody>
                  <a:tcPr anchor="ctr" marL="73152" marR="54864" marT="27432" marB="27432">
                    <a:solidFill>
                      <a:srgbClr val="0C2B4A"/>
                    </a:solidFill>
                  </a:tcPr>
                </a:tc>
                <a:tc>
                  <a:txBody>
                    <a:bodyPr wrap="square"/>
                    <a:lstStyle/>
                    <a:p>
                      <a:r>
                        <a:rPr sz="1150" b="1">
                          <a:solidFill>
                            <a:srgbClr val="FFFFFF"/>
                          </a:solidFill>
                        </a:rPr>
                        <a:t>Social engineering (the person)</a:t>
                      </a:r>
                    </a:p>
                  </a:txBody>
                  <a:tcPr anchor="ctr" marL="73152" marR="54864" marT="27432" marB="27432">
                    <a:solidFill>
                      <a:srgbClr val="0C2B4A"/>
                    </a:solidFill>
                  </a:tcPr>
                </a:tc>
              </a:tr>
              <a:tr h="630936">
                <a:tc>
                  <a:txBody>
                    <a:bodyPr wrap="square"/>
                    <a:lstStyle/>
                    <a:p>
                      <a:r>
                        <a:rPr sz="1100" b="1">
                          <a:solidFill>
                            <a:srgbClr val="0C2B4A"/>
                          </a:solidFill>
                        </a:rPr>
                        <a:t>Target</a:t>
                      </a:r>
                    </a:p>
                  </a:txBody>
                  <a:tcPr anchor="ctr" marL="73152" marR="54864" marT="27432" marB="27432">
                    <a:solidFill>
                      <a:srgbClr val="FFFFFF"/>
                    </a:solidFill>
                  </a:tcPr>
                </a:tc>
                <a:tc>
                  <a:txBody>
                    <a:bodyPr wrap="square"/>
                    <a:lstStyle/>
                    <a:p>
                      <a:r>
                        <a:rPr sz="1100">
                          <a:solidFill>
                            <a:srgbClr val="1A1A1A"/>
                          </a:solidFill>
                        </a:rPr>
                        <a:t>Code, servers, encryption</a:t>
                      </a:r>
                    </a:p>
                  </a:txBody>
                  <a:tcPr anchor="ctr" marL="73152" marR="54864" marT="27432" marB="27432">
                    <a:solidFill>
                      <a:srgbClr val="FFFFFF"/>
                    </a:solidFill>
                  </a:tcPr>
                </a:tc>
                <a:tc>
                  <a:txBody>
                    <a:bodyPr wrap="square"/>
                    <a:lstStyle/>
                    <a:p>
                      <a:r>
                        <a:rPr sz="1100">
                          <a:solidFill>
                            <a:srgbClr val="1A1A1A"/>
                          </a:solidFill>
                        </a:rPr>
                        <a:t>A human's trust and judgement</a:t>
                      </a:r>
                    </a:p>
                  </a:txBody>
                  <a:tcPr anchor="ctr" marL="73152" marR="54864" marT="27432" marB="27432">
                    <a:solidFill>
                      <a:srgbClr val="FFFFFF"/>
                    </a:solidFill>
                  </a:tcPr>
                </a:tc>
              </a:tr>
              <a:tr h="630936">
                <a:tc>
                  <a:txBody>
                    <a:bodyPr wrap="square"/>
                    <a:lstStyle/>
                    <a:p>
                      <a:r>
                        <a:rPr sz="1100" b="1">
                          <a:solidFill>
                            <a:srgbClr val="0C2B4A"/>
                          </a:solidFill>
                        </a:rPr>
                        <a:t>Method</a:t>
                      </a:r>
                    </a:p>
                  </a:txBody>
                  <a:tcPr anchor="ctr" marL="73152" marR="54864" marT="27432" marB="27432">
                    <a:solidFill>
                      <a:srgbClr val="EEF3F8"/>
                    </a:solidFill>
                  </a:tcPr>
                </a:tc>
                <a:tc>
                  <a:txBody>
                    <a:bodyPr wrap="square"/>
                    <a:lstStyle/>
                    <a:p>
                      <a:r>
                        <a:rPr sz="1100">
                          <a:solidFill>
                            <a:srgbClr val="1A1A1A"/>
                          </a:solidFill>
                        </a:rPr>
                        <a:t>Exploits, brute force, malware</a:t>
                      </a:r>
                    </a:p>
                  </a:txBody>
                  <a:tcPr anchor="ctr" marL="73152" marR="54864" marT="27432" marB="27432">
                    <a:solidFill>
                      <a:srgbClr val="EEF3F8"/>
                    </a:solidFill>
                  </a:tcPr>
                </a:tc>
                <a:tc>
                  <a:txBody>
                    <a:bodyPr wrap="square"/>
                    <a:lstStyle/>
                    <a:p>
                      <a:r>
                        <a:rPr sz="1100">
                          <a:solidFill>
                            <a:srgbClr val="1A1A1A"/>
                          </a:solidFill>
                        </a:rPr>
                        <a:t>Persuasion, deception, impersonation</a:t>
                      </a:r>
                    </a:p>
                  </a:txBody>
                  <a:tcPr anchor="ctr" marL="73152" marR="54864" marT="27432" marB="27432">
                    <a:solidFill>
                      <a:srgbClr val="EEF3F8"/>
                    </a:solidFill>
                  </a:tcPr>
                </a:tc>
              </a:tr>
              <a:tr h="630936">
                <a:tc>
                  <a:txBody>
                    <a:bodyPr wrap="square"/>
                    <a:lstStyle/>
                    <a:p>
                      <a:r>
                        <a:rPr sz="1100" b="1">
                          <a:solidFill>
                            <a:srgbClr val="0C2B4A"/>
                          </a:solidFill>
                        </a:rPr>
                        <a:t>What it defeats</a:t>
                      </a:r>
                    </a:p>
                  </a:txBody>
                  <a:tcPr anchor="ctr" marL="73152" marR="54864" marT="27432" marB="27432">
                    <a:solidFill>
                      <a:srgbClr val="FFFFFF"/>
                    </a:solidFill>
                  </a:tcPr>
                </a:tc>
                <a:tc>
                  <a:txBody>
                    <a:bodyPr wrap="square"/>
                    <a:lstStyle/>
                    <a:p>
                      <a:r>
                        <a:rPr sz="1100">
                          <a:solidFill>
                            <a:srgbClr val="1A1A1A"/>
                          </a:solidFill>
                        </a:rPr>
                        <a:t>A weak system</a:t>
                      </a:r>
                    </a:p>
                  </a:txBody>
                  <a:tcPr anchor="ctr" marL="73152" marR="54864" marT="27432" marB="27432">
                    <a:solidFill>
                      <a:srgbClr val="FFFFFF"/>
                    </a:solidFill>
                  </a:tcPr>
                </a:tc>
                <a:tc>
                  <a:txBody>
                    <a:bodyPr wrap="square"/>
                    <a:lstStyle/>
                    <a:p>
                      <a:r>
                        <a:rPr sz="1100">
                          <a:solidFill>
                            <a:srgbClr val="1A1A1A"/>
                          </a:solidFill>
                        </a:rPr>
                        <a:t>A busy, polite, or fearful person</a:t>
                      </a:r>
                    </a:p>
                  </a:txBody>
                  <a:tcPr anchor="ctr" marL="73152" marR="54864" marT="27432" marB="27432">
                    <a:solidFill>
                      <a:srgbClr val="FFFFFF"/>
                    </a:solidFill>
                  </a:tcPr>
                </a:tc>
              </a:tr>
              <a:tr h="630936">
                <a:tc>
                  <a:txBody>
                    <a:bodyPr wrap="square"/>
                    <a:lstStyle/>
                    <a:p>
                      <a:r>
                        <a:rPr sz="1100" b="1">
                          <a:solidFill>
                            <a:srgbClr val="0C2B4A"/>
                          </a:solidFill>
                        </a:rPr>
                        <a:t>Cost &amp; skill</a:t>
                      </a:r>
                    </a:p>
                  </a:txBody>
                  <a:tcPr anchor="ctr" marL="73152" marR="54864" marT="27432" marB="27432">
                    <a:solidFill>
                      <a:srgbClr val="EEF3F8"/>
                    </a:solidFill>
                  </a:tcPr>
                </a:tc>
                <a:tc>
                  <a:txBody>
                    <a:bodyPr wrap="square"/>
                    <a:lstStyle/>
                    <a:p>
                      <a:r>
                        <a:rPr sz="1100">
                          <a:solidFill>
                            <a:srgbClr val="1A1A1A"/>
                          </a:solidFill>
                        </a:rPr>
                        <a:t>High — needs deep tech skill</a:t>
                      </a:r>
                    </a:p>
                  </a:txBody>
                  <a:tcPr anchor="ctr" marL="73152" marR="54864" marT="27432" marB="27432">
                    <a:solidFill>
                      <a:srgbClr val="EEF3F8"/>
                    </a:solidFill>
                  </a:tcPr>
                </a:tc>
                <a:tc>
                  <a:txBody>
                    <a:bodyPr wrap="square"/>
                    <a:lstStyle/>
                    <a:p>
                      <a:r>
                        <a:rPr sz="1100">
                          <a:solidFill>
                            <a:srgbClr val="1A1A1A"/>
                          </a:solidFill>
                        </a:rPr>
                        <a:t>Low — mostly a convincing story</a:t>
                      </a:r>
                    </a:p>
                  </a:txBody>
                  <a:tcPr anchor="ctr" marL="73152" marR="54864" marT="27432" marB="27432">
                    <a:solidFill>
                      <a:srgbClr val="EEF3F8"/>
                    </a:solidFill>
                  </a:tcPr>
                </a:tc>
              </a:tr>
              <a:tr h="630936">
                <a:tc>
                  <a:txBody>
                    <a:bodyPr wrap="square"/>
                    <a:lstStyle/>
                    <a:p>
                      <a:r>
                        <a:rPr sz="1100" b="1">
                          <a:solidFill>
                            <a:srgbClr val="0C2B4A"/>
                          </a:solidFill>
                        </a:rPr>
                        <a:t>Nepal example</a:t>
                      </a:r>
                    </a:p>
                  </a:txBody>
                  <a:tcPr anchor="ctr" marL="73152" marR="54864" marT="27432" marB="27432">
                    <a:solidFill>
                      <a:srgbClr val="FFFFFF"/>
                    </a:solidFill>
                  </a:tcPr>
                </a:tc>
                <a:tc>
                  <a:txBody>
                    <a:bodyPr wrap="square"/>
                    <a:lstStyle/>
                    <a:p>
                      <a:r>
                        <a:rPr sz="1100">
                          <a:solidFill>
                            <a:srgbClr val="1A1A1A"/>
                          </a:solidFill>
                        </a:rPr>
                        <a:t>Cracking a bank's core system</a:t>
                      </a:r>
                    </a:p>
                  </a:txBody>
                  <a:tcPr anchor="ctr" marL="73152" marR="54864" marT="27432" marB="27432">
                    <a:solidFill>
                      <a:srgbClr val="FFFFFF"/>
                    </a:solidFill>
                  </a:tcPr>
                </a:tc>
                <a:tc>
                  <a:txBody>
                    <a:bodyPr wrap="square"/>
                    <a:lstStyle/>
                    <a:p>
                      <a:r>
                        <a:rPr sz="1100">
                          <a:solidFill>
                            <a:srgbClr val="1A1A1A"/>
                          </a:solidFill>
                        </a:rPr>
                        <a:t>Phoning a customer as 'bank security'</a:t>
                      </a:r>
                    </a:p>
                  </a:txBody>
                  <a:tcPr anchor="ctr" marL="73152" marR="54864" marT="27432" marB="27432">
                    <a:solidFill>
                      <a:srgbClr val="FFFFFF"/>
                    </a:solidFill>
                  </a:tcPr>
                </a:tc>
              </a:tr>
              <a:tr h="630936">
                <a:tc>
                  <a:txBody>
                    <a:bodyPr wrap="square"/>
                    <a:lstStyle/>
                    <a:p>
                      <a:r>
                        <a:rPr sz="1100" b="1">
                          <a:solidFill>
                            <a:srgbClr val="0C2B4A"/>
                          </a:solidFill>
                        </a:rPr>
                        <a:t>Defence</a:t>
                      </a:r>
                    </a:p>
                  </a:txBody>
                  <a:tcPr anchor="ctr" marL="73152" marR="54864" marT="27432" marB="27432">
                    <a:solidFill>
                      <a:srgbClr val="EEF3F8"/>
                    </a:solidFill>
                  </a:tcPr>
                </a:tc>
                <a:tc>
                  <a:txBody>
                    <a:bodyPr wrap="square"/>
                    <a:lstStyle/>
                    <a:p>
                      <a:r>
                        <a:rPr sz="1100">
                          <a:solidFill>
                            <a:srgbClr val="1A1A1A"/>
                          </a:solidFill>
                        </a:rPr>
                        <a:t>Firewalls, patching, encryption</a:t>
                      </a:r>
                    </a:p>
                  </a:txBody>
                  <a:tcPr anchor="ctr" marL="73152" marR="54864" marT="27432" marB="27432">
                    <a:solidFill>
                      <a:srgbClr val="EEF3F8"/>
                    </a:solidFill>
                  </a:tcPr>
                </a:tc>
                <a:tc>
                  <a:txBody>
                    <a:bodyPr wrap="square"/>
                    <a:lstStyle/>
                    <a:p>
                      <a:r>
                        <a:rPr sz="1100">
                          <a:solidFill>
                            <a:srgbClr val="1A1A1A"/>
                          </a:solidFill>
                        </a:rPr>
                        <a:t>Awareness, verify-before-trust habits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whole point: social engineering routes AROUND the technology by targeting the person operating it. Defence is therefore human-first — awareness and habits, not just software.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76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Social Engineering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fake 'NTC / Ncell' SMS tells you your SIM will be blocked unless you 'verify' your details on a link; a caller claiming to be from your bank asks you to confirm the OTP just sent to your phone. No system was breached — the attacker simply persuaded a person to hand over the keys. Recognising this as manipulation, not a technical event, is the first defence.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"Social engineering is a technical hacking skill." It is mostly persuasion and deception; the technology is secondary. A scammer needs a convincing story far more than coding skill — which is exactly why anyone, not just 'techies', can be targeted and must stay alert.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Social engineering is manipulating people into giving up confidential information or access, rather than defeating technology directly. It targets human psychology — trust, helpfulness, fear — so the attacker 'hacks the person, not the PC'. It works across calls, SMS, email, and in person, with the technology serving only as a prop for a human con.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social engineering · hacking the person · manipulation not code · human layer · verify before trust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76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Real Nepali social-engineering incidents — the con, not the code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761772"/>
                <a:gridCol w="3761772"/>
                <a:gridCol w="3906455"/>
              </a:tblGrid>
              <a:tr h="630936">
                <a:tc>
                  <a:txBody>
                    <a:bodyPr wrap="square"/>
                    <a:lstStyle/>
                    <a:p>
                      <a:r>
                        <a:rPr sz="1150" b="1">
                          <a:solidFill>
                            <a:srgbClr val="FFFFFF"/>
                          </a:solidFill>
                        </a:rPr>
                        <a:t>Real case (Nepal / IT)</a:t>
                      </a:r>
                    </a:p>
                  </a:txBody>
                  <a:tcPr anchor="ctr" marL="73152" marR="54864" marT="27432" marB="27432">
                    <a:solidFill>
                      <a:srgbClr val="0C2B4A"/>
                    </a:solidFill>
                  </a:tcPr>
                </a:tc>
                <a:tc>
                  <a:txBody>
                    <a:bodyPr wrap="square"/>
                    <a:lstStyle/>
                    <a:p>
                      <a:r>
                        <a:rPr sz="1150" b="1">
                          <a:solidFill>
                            <a:srgbClr val="FFFFFF"/>
                          </a:solidFill>
                        </a:rPr>
                        <a:t>What the attacker actually did</a:t>
                      </a:r>
                    </a:p>
                  </a:txBody>
                  <a:tcPr anchor="ctr" marL="73152" marR="54864" marT="27432" marB="27432">
                    <a:solidFill>
                      <a:srgbClr val="0C2B4A"/>
                    </a:solidFill>
                  </a:tcPr>
                </a:tc>
                <a:tc>
                  <a:txBody>
                    <a:bodyPr wrap="square"/>
                    <a:lstStyle/>
                    <a:p>
                      <a:r>
                        <a:rPr sz="1150" b="1">
                          <a:solidFill>
                            <a:srgbClr val="FFFFFF"/>
                          </a:solidFill>
                        </a:rPr>
                        <a:t>Why it's social engineering (verdict)</a:t>
                      </a:r>
                    </a:p>
                  </a:txBody>
                  <a:tcPr anchor="ctr" marL="73152" marR="54864" marT="27432" marB="27432">
                    <a:solidFill>
                      <a:srgbClr val="0C2B4A"/>
                    </a:solidFill>
                  </a:tcPr>
                </a:tc>
              </a:tr>
              <a:tr h="630936">
                <a:tc>
                  <a:txBody>
                    <a:bodyPr wrap="square"/>
                    <a:lstStyle/>
                    <a:p>
                      <a:r>
                        <a:rPr sz="1100" b="1">
                          <a:solidFill>
                            <a:srgbClr val="0C2B4A"/>
                          </a:solidFill>
                        </a:rPr>
                        <a:t>Fake 'NTC/Ncell' SIM-block SMS with a link</a:t>
                      </a:r>
                    </a:p>
                  </a:txBody>
                  <a:tcPr anchor="ctr" marL="73152" marR="54864" marT="27432" marB="27432">
                    <a:solidFill>
                      <a:srgbClr val="FFFFFF"/>
                    </a:solidFill>
                  </a:tcPr>
                </a:tc>
                <a:tc>
                  <a:txBody>
                    <a:bodyPr wrap="square"/>
                    <a:lstStyle/>
                    <a:p>
                      <a:r>
                        <a:rPr sz="1100">
                          <a:solidFill>
                            <a:srgbClr val="1A1A1A"/>
                          </a:solidFill>
                        </a:rPr>
                        <a:t>Scared the user into 'verifying' on a fake page</a:t>
                      </a:r>
                    </a:p>
                  </a:txBody>
                  <a:tcPr anchor="ctr" marL="73152" marR="54864" marT="27432" marB="27432">
                    <a:solidFill>
                      <a:srgbClr val="FFFFFF"/>
                    </a:solidFill>
                  </a:tcPr>
                </a:tc>
                <a:tc>
                  <a:txBody>
                    <a:bodyPr wrap="square"/>
                    <a:lstStyle/>
                    <a:p>
                      <a:r>
                        <a:rPr sz="1100">
                          <a:solidFill>
                            <a:srgbClr val="1A1A1A"/>
                          </a:solidFill>
                        </a:rPr>
                        <a:t>Persuasion + fear — no telecom system was breached</a:t>
                      </a:r>
                    </a:p>
                  </a:txBody>
                  <a:tcPr anchor="ctr" marL="73152" marR="54864" marT="27432" marB="27432">
                    <a:solidFill>
                      <a:srgbClr val="FFFFFF"/>
                    </a:solidFill>
                  </a:tcPr>
                </a:tc>
              </a:tr>
              <a:tr h="630936">
                <a:tc>
                  <a:txBody>
                    <a:bodyPr wrap="square"/>
                    <a:lstStyle/>
                    <a:p>
                      <a:r>
                        <a:rPr sz="1100" b="1">
                          <a:solidFill>
                            <a:srgbClr val="0C2B4A"/>
                          </a:solidFill>
                        </a:rPr>
                        <a:t>'Bank head office' call asking for the OTP</a:t>
                      </a:r>
                    </a:p>
                  </a:txBody>
                  <a:tcPr anchor="ctr" marL="73152" marR="54864" marT="27432" marB="27432">
                    <a:solidFill>
                      <a:srgbClr val="EEF3F8"/>
                    </a:solidFill>
                  </a:tcPr>
                </a:tc>
                <a:tc>
                  <a:txBody>
                    <a:bodyPr wrap="square"/>
                    <a:lstStyle/>
                    <a:p>
                      <a:r>
                        <a:rPr sz="1100">
                          <a:solidFill>
                            <a:srgbClr val="1A1A1A"/>
                          </a:solidFill>
                        </a:rPr>
                        <a:t>Impersonated authority to extract the code</a:t>
                      </a:r>
                    </a:p>
                  </a:txBody>
                  <a:tcPr anchor="ctr" marL="73152" marR="54864" marT="27432" marB="27432">
                    <a:solidFill>
                      <a:srgbClr val="EEF3F8"/>
                    </a:solidFill>
                  </a:tcPr>
                </a:tc>
                <a:tc>
                  <a:txBody>
                    <a:bodyPr wrap="square"/>
                    <a:lstStyle/>
                    <a:p>
                      <a:r>
                        <a:rPr sz="1100">
                          <a:solidFill>
                            <a:srgbClr val="1A1A1A"/>
                          </a:solidFill>
                        </a:rPr>
                        <a:t>Targets the person's trust, not the bank's servers</a:t>
                      </a:r>
                    </a:p>
                  </a:txBody>
                  <a:tcPr anchor="ctr" marL="73152" marR="54864" marT="27432" marB="27432">
                    <a:solidFill>
                      <a:srgbClr val="EEF3F8"/>
                    </a:solidFill>
                  </a:tcPr>
                </a:tc>
              </a:tr>
              <a:tr h="630936">
                <a:tc>
                  <a:txBody>
                    <a:bodyPr wrap="square"/>
                    <a:lstStyle/>
                    <a:p>
                      <a:r>
                        <a:rPr sz="1100" b="1">
                          <a:solidFill>
                            <a:srgbClr val="0C2B4A"/>
                          </a:solidFill>
                        </a:rPr>
                        <a:t>'IT helpdesk' asks a staffer to confirm a password</a:t>
                      </a:r>
                    </a:p>
                  </a:txBody>
                  <a:tcPr anchor="ctr" marL="73152" marR="54864" marT="27432" marB="27432">
                    <a:solidFill>
                      <a:srgbClr val="FFFFFF"/>
                    </a:solidFill>
                  </a:tcPr>
                </a:tc>
                <a:tc>
                  <a:txBody>
                    <a:bodyPr wrap="square"/>
                    <a:lstStyle/>
                    <a:p>
                      <a:r>
                        <a:rPr sz="1100">
                          <a:solidFill>
                            <a:srgbClr val="1A1A1A"/>
                          </a:solidFill>
                        </a:rPr>
                        <a:t>Used helpfulness + urgency to reset access</a:t>
                      </a:r>
                    </a:p>
                  </a:txBody>
                  <a:tcPr anchor="ctr" marL="73152" marR="54864" marT="27432" marB="27432">
                    <a:solidFill>
                      <a:srgbClr val="FFFFFF"/>
                    </a:solidFill>
                  </a:tcPr>
                </a:tc>
                <a:tc>
                  <a:txBody>
                    <a:bodyPr wrap="square"/>
                    <a:lstStyle/>
                    <a:p>
                      <a:r>
                        <a:rPr sz="1100">
                          <a:solidFill>
                            <a:srgbClr val="1A1A1A"/>
                          </a:solidFill>
                        </a:rPr>
                        <a:t>The human is the door; the network is untouched</a:t>
                      </a:r>
                    </a:p>
                  </a:txBody>
                  <a:tcPr anchor="ctr" marL="73152" marR="54864" marT="27432" marB="27432">
                    <a:solidFill>
                      <a:srgbClr val="FFFFFF"/>
                    </a:solidFill>
                  </a:tcPr>
                </a:tc>
              </a:tr>
              <a:tr h="630936">
                <a:tc>
                  <a:txBody>
                    <a:bodyPr wrap="square"/>
                    <a:lstStyle/>
                    <a:p>
                      <a:r>
                        <a:rPr sz="1100" b="1">
                          <a:solidFill>
                            <a:srgbClr val="0C2B4A"/>
                          </a:solidFill>
                        </a:rPr>
                        <a:t>Fake eSewa 'account suspended' message</a:t>
                      </a:r>
                    </a:p>
                  </a:txBody>
                  <a:tcPr anchor="ctr" marL="73152" marR="54864" marT="27432" marB="27432">
                    <a:solidFill>
                      <a:srgbClr val="EEF3F8"/>
                    </a:solidFill>
                  </a:tcPr>
                </a:tc>
                <a:tc>
                  <a:txBody>
                    <a:bodyPr wrap="square"/>
                    <a:lstStyle/>
                    <a:p>
                      <a:r>
                        <a:rPr sz="1100">
                          <a:solidFill>
                            <a:srgbClr val="1A1A1A"/>
                          </a:solidFill>
                        </a:rPr>
                        <a:t>Rushed the victim to click and log in</a:t>
                      </a:r>
                    </a:p>
                  </a:txBody>
                  <a:tcPr anchor="ctr" marL="73152" marR="54864" marT="27432" marB="27432">
                    <a:solidFill>
                      <a:srgbClr val="EEF3F8"/>
                    </a:solidFill>
                  </a:tcPr>
                </a:tc>
                <a:tc>
                  <a:txBody>
                    <a:bodyPr wrap="square"/>
                    <a:lstStyle/>
                    <a:p>
                      <a:r>
                        <a:rPr sz="1100">
                          <a:solidFill>
                            <a:srgbClr val="1A1A1A"/>
                          </a:solidFill>
                        </a:rPr>
                        <a:t>Deception over a channel — the wallet wasn't hacked</a:t>
                      </a:r>
                    </a:p>
                  </a:txBody>
                  <a:tcPr anchor="ctr" marL="73152" marR="54864" marT="27432" marB="27432">
                    <a:solidFill>
                      <a:srgbClr val="EEF3F8"/>
                    </a:solidFill>
                  </a:tcPr>
                </a:tc>
              </a:tr>
              <a:tr h="630936">
                <a:tc>
                  <a:txBody>
                    <a:bodyPr wrap="square"/>
                    <a:lstStyle/>
                    <a:p>
                      <a:r>
                        <a:rPr sz="1100" b="1">
                          <a:solidFill>
                            <a:srgbClr val="0C2B4A"/>
                          </a:solidFill>
                        </a:rPr>
                        <a:t>Caller uses your real name + branch (leaked list)</a:t>
                      </a:r>
                    </a:p>
                  </a:txBody>
                  <a:tcPr anchor="ctr" marL="73152" marR="54864" marT="27432" marB="27432">
                    <a:solidFill>
                      <a:srgbClr val="FFFFFF"/>
                    </a:solidFill>
                  </a:tcPr>
                </a:tc>
                <a:tc>
                  <a:txBody>
                    <a:bodyPr wrap="square"/>
                    <a:lstStyle/>
                    <a:p>
                      <a:r>
                        <a:rPr sz="1100">
                          <a:solidFill>
                            <a:srgbClr val="1A1A1A"/>
                          </a:solidFill>
                        </a:rPr>
                        <a:t>Manufactured legitimacy to lower your guard</a:t>
                      </a:r>
                    </a:p>
                  </a:txBody>
                  <a:tcPr anchor="ctr" marL="73152" marR="54864" marT="27432" marB="27432">
                    <a:solidFill>
                      <a:srgbClr val="FFFFFF"/>
                    </a:solidFill>
                  </a:tcPr>
                </a:tc>
                <a:tc>
                  <a:txBody>
                    <a:bodyPr wrap="square"/>
                    <a:lstStyle/>
                    <a:p>
                      <a:r>
                        <a:rPr sz="1100">
                          <a:solidFill>
                            <a:srgbClr val="1A1A1A"/>
                          </a:solidFill>
                        </a:rPr>
                        <a:t>Story-building, not code — sounds official</a:t>
                      </a:r>
                    </a:p>
                  </a:txBody>
                  <a:tcPr anchor="ctr" marL="73152" marR="54864" marT="27432" marB="27432">
                    <a:solidFill>
                      <a:srgbClr val="FFFFFF"/>
                    </a:solidFill>
                  </a:tcPr>
                </a:tc>
              </a:tr>
              <a:tr h="630936">
                <a:tc>
                  <a:txBody>
                    <a:bodyPr wrap="square"/>
                    <a:lstStyle/>
                    <a:p>
                      <a:r>
                        <a:rPr sz="1100" b="1">
                          <a:solidFill>
                            <a:srgbClr val="0C2B4A"/>
                          </a:solidFill>
                        </a:rPr>
                        <a:t>'Daraz prize' claim asking for a 'fee'</a:t>
                      </a:r>
                    </a:p>
                  </a:txBody>
                  <a:tcPr anchor="ctr" marL="73152" marR="54864" marT="27432" marB="27432">
                    <a:solidFill>
                      <a:srgbClr val="EEF3F8"/>
                    </a:solidFill>
                  </a:tcPr>
                </a:tc>
                <a:tc>
                  <a:txBody>
                    <a:bodyPr wrap="square"/>
                    <a:lstStyle/>
                    <a:p>
                      <a:r>
                        <a:rPr sz="1100">
                          <a:solidFill>
                            <a:srgbClr val="1A1A1A"/>
                          </a:solidFill>
                        </a:rPr>
                        <a:t>Dangled a reward to get money/details</a:t>
                      </a:r>
                    </a:p>
                  </a:txBody>
                  <a:tcPr anchor="ctr" marL="73152" marR="54864" marT="27432" marB="27432">
                    <a:solidFill>
                      <a:srgbClr val="EEF3F8"/>
                    </a:solidFill>
                  </a:tcPr>
                </a:tc>
                <a:tc>
                  <a:txBody>
                    <a:bodyPr wrap="square"/>
                    <a:lstStyle/>
                    <a:p>
                      <a:r>
                        <a:rPr sz="1100">
                          <a:solidFill>
                            <a:srgbClr val="1A1A1A"/>
                          </a:solidFill>
                        </a:rPr>
                        <a:t>Greed lever — a con, not a technical exploit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 every row the technology is untouched — the attacker persuaded a person. That is the signature of social engineering, and the reason awareness (not just software) is the defence.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 / 76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Attackers Use It (the need)</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Social engineering is the path of LEAST resistance — cheaper, faster, and more reliable than defeating strong technical controls. Strong encryption and firewalls make direct attacks costly, so attackers pivot to the human.</a:t>
            </a:r>
          </a:p>
          <a:p>
            <a:pPr>
              <a:spcAft>
                <a:spcPts val="500"/>
              </a:spcAft>
            </a:pPr>
            <a:r>
              <a:rPr sz="1200" b="1">
                <a:solidFill>
                  <a:srgbClr val="185FA5"/>
                </a:solidFill>
              </a:rPr>
              <a:t>HOW IT WORKS</a:t>
            </a:r>
          </a:p>
          <a:p>
            <a:pPr>
              <a:spcAft>
                <a:spcPts val="600"/>
              </a:spcAft>
            </a:pPr>
            <a:r>
              <a:rPr sz="1400">
                <a:solidFill>
                  <a:srgbClr val="1A1A1A"/>
                </a:solidFill>
              </a:rPr>
              <a:t>•  Strong tech controls raise the cost of a direct attack — so the human becomes the cheap way in.</a:t>
            </a:r>
          </a:p>
          <a:p>
            <a:pPr>
              <a:spcAft>
                <a:spcPts val="600"/>
              </a:spcAft>
            </a:pPr>
            <a:r>
              <a:rPr sz="1400">
                <a:solidFill>
                  <a:srgbClr val="1A1A1A"/>
                </a:solidFill>
              </a:rPr>
              <a:t>•  High success rate, low cost, and hard to trace back to the attacker.</a:t>
            </a:r>
          </a:p>
          <a:p>
            <a:pPr>
              <a:spcAft>
                <a:spcPts val="600"/>
              </a:spcAft>
            </a:pPr>
            <a:r>
              <a:rPr sz="1400">
                <a:solidFill>
                  <a:srgbClr val="1A1A1A"/>
                </a:solidFill>
              </a:rPr>
              <a:t>•  No expensive tools needed — a phone and a convincing story can be enough.</a:t>
            </a:r>
          </a:p>
          <a:p>
            <a:pPr>
              <a:spcAft>
                <a:spcPts val="600"/>
              </a:spcAft>
            </a:pPr>
            <a:r>
              <a:rPr sz="1400">
                <a:solidFill>
                  <a:srgbClr val="1A1A1A"/>
                </a:solidFill>
              </a:rPr>
              <a:t>•  It scales: one message blasted to thousands needs only a few victims to pay off.</a:t>
            </a:r>
          </a:p>
        </p:txBody>
      </p:sp>
      <p:pic>
        <p:nvPicPr>
          <p:cNvPr id="6" name="Picture 5" descr="s33_cost_success.png"/>
          <p:cNvPicPr>
            <a:picLocks noChangeAspect="1"/>
          </p:cNvPicPr>
          <p:nvPr/>
        </p:nvPicPr>
        <p:blipFill>
          <a:blip r:embed="rId2"/>
          <a:stretch>
            <a:fillRect/>
          </a:stretch>
        </p:blipFill>
        <p:spPr>
          <a:xfrm>
            <a:off x="6355080" y="2344367"/>
            <a:ext cx="5532120" cy="294650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Cheapest attack path: beat the person, not the encryption.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 / 76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the human is the path of least resistance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810000"/>
                <a:gridCol w="3663461"/>
                <a:gridCol w="3956538"/>
              </a:tblGrid>
              <a:tr h="736092">
                <a:tc>
                  <a:txBody>
                    <a:bodyPr wrap="square"/>
                    <a:lstStyle/>
                    <a:p>
                      <a:r>
                        <a:rPr sz="1150" b="1">
                          <a:solidFill>
                            <a:srgbClr val="FFFFFF"/>
                          </a:solidFill>
                        </a:rPr>
                        <a:t>Attack path</a:t>
                      </a:r>
                    </a:p>
                  </a:txBody>
                  <a:tcPr anchor="ctr" marL="73152" marR="54864" marT="27432" marB="27432">
                    <a:solidFill>
                      <a:srgbClr val="0C2B4A"/>
                    </a:solidFill>
                  </a:tcPr>
                </a:tc>
                <a:tc>
                  <a:txBody>
                    <a:bodyPr wrap="square"/>
                    <a:lstStyle/>
                    <a:p>
                      <a:r>
                        <a:rPr sz="1150" b="1">
                          <a:solidFill>
                            <a:srgbClr val="FFFFFF"/>
                          </a:solidFill>
                        </a:rPr>
                        <a:t>Cost / skill to the attacker</a:t>
                      </a:r>
                    </a:p>
                  </a:txBody>
                  <a:tcPr anchor="ctr" marL="73152" marR="54864" marT="27432" marB="27432">
                    <a:solidFill>
                      <a:srgbClr val="0C2B4A"/>
                    </a:solidFill>
                  </a:tcPr>
                </a:tc>
                <a:tc>
                  <a:txBody>
                    <a:bodyPr wrap="square"/>
                    <a:lstStyle/>
                    <a:p>
                      <a:r>
                        <a:rPr sz="1150" b="1">
                          <a:solidFill>
                            <a:srgbClr val="FFFFFF"/>
                          </a:solidFill>
                        </a:rPr>
                        <a:t>Success &amp; traceability</a:t>
                      </a:r>
                    </a:p>
                  </a:txBody>
                  <a:tcPr anchor="ctr" marL="73152" marR="54864" marT="27432" marB="27432">
                    <a:solidFill>
                      <a:srgbClr val="0C2B4A"/>
                    </a:solidFill>
                  </a:tcPr>
                </a:tc>
              </a:tr>
              <a:tr h="736092">
                <a:tc>
                  <a:txBody>
                    <a:bodyPr wrap="square"/>
                    <a:lstStyle/>
                    <a:p>
                      <a:r>
                        <a:rPr sz="1100" b="1">
                          <a:solidFill>
                            <a:srgbClr val="0C2B4A"/>
                          </a:solidFill>
                        </a:rPr>
                        <a:t>Breaking strong encryption</a:t>
                      </a:r>
                    </a:p>
                  </a:txBody>
                  <a:tcPr anchor="ctr" marL="73152" marR="54864" marT="27432" marB="27432">
                    <a:solidFill>
                      <a:srgbClr val="FFFFFF"/>
                    </a:solidFill>
                  </a:tcPr>
                </a:tc>
                <a:tc>
                  <a:txBody>
                    <a:bodyPr wrap="square"/>
                    <a:lstStyle/>
                    <a:p>
                      <a:r>
                        <a:rPr sz="1100">
                          <a:solidFill>
                            <a:srgbClr val="1A1A1A"/>
                          </a:solidFill>
                        </a:rPr>
                        <a:t>Very high — often infeasible</a:t>
                      </a:r>
                    </a:p>
                  </a:txBody>
                  <a:tcPr anchor="ctr" marL="73152" marR="54864" marT="27432" marB="27432">
                    <a:solidFill>
                      <a:srgbClr val="FFFFFF"/>
                    </a:solidFill>
                  </a:tcPr>
                </a:tc>
                <a:tc>
                  <a:txBody>
                    <a:bodyPr wrap="square"/>
                    <a:lstStyle/>
                    <a:p>
                      <a:r>
                        <a:rPr sz="1100">
                          <a:solidFill>
                            <a:srgbClr val="1A1A1A"/>
                          </a:solidFill>
                        </a:rPr>
                        <a:t>Low success; heavy effort wasted</a:t>
                      </a:r>
                    </a:p>
                  </a:txBody>
                  <a:tcPr anchor="ctr" marL="73152" marR="54864" marT="27432" marB="27432">
                    <a:solidFill>
                      <a:srgbClr val="FFFFFF"/>
                    </a:solidFill>
                  </a:tcPr>
                </a:tc>
              </a:tr>
              <a:tr h="736092">
                <a:tc>
                  <a:txBody>
                    <a:bodyPr wrap="square"/>
                    <a:lstStyle/>
                    <a:p>
                      <a:r>
                        <a:rPr sz="1100" b="1">
                          <a:solidFill>
                            <a:srgbClr val="0C2B4A"/>
                          </a:solidFill>
                        </a:rPr>
                        <a:t>Finding a zero-day exploit</a:t>
                      </a:r>
                    </a:p>
                  </a:txBody>
                  <a:tcPr anchor="ctr" marL="73152" marR="54864" marT="27432" marB="27432">
                    <a:solidFill>
                      <a:srgbClr val="EEF3F8"/>
                    </a:solidFill>
                  </a:tcPr>
                </a:tc>
                <a:tc>
                  <a:txBody>
                    <a:bodyPr wrap="square"/>
                    <a:lstStyle/>
                    <a:p>
                      <a:r>
                        <a:rPr sz="1100">
                          <a:solidFill>
                            <a:srgbClr val="1A1A1A"/>
                          </a:solidFill>
                        </a:rPr>
                        <a:t>High — rare, expensive skill</a:t>
                      </a:r>
                    </a:p>
                  </a:txBody>
                  <a:tcPr anchor="ctr" marL="73152" marR="54864" marT="27432" marB="27432">
                    <a:solidFill>
                      <a:srgbClr val="EEF3F8"/>
                    </a:solidFill>
                  </a:tcPr>
                </a:tc>
                <a:tc>
                  <a:txBody>
                    <a:bodyPr wrap="square"/>
                    <a:lstStyle/>
                    <a:p>
                      <a:r>
                        <a:rPr sz="1100">
                          <a:solidFill>
                            <a:srgbClr val="1A1A1A"/>
                          </a:solidFill>
                        </a:rPr>
                        <a:t>Works, but costly and perishable</a:t>
                      </a:r>
                    </a:p>
                  </a:txBody>
                  <a:tcPr anchor="ctr" marL="73152" marR="54864" marT="27432" marB="27432">
                    <a:solidFill>
                      <a:srgbClr val="EEF3F8"/>
                    </a:solidFill>
                  </a:tcPr>
                </a:tc>
              </a:tr>
              <a:tr h="736092">
                <a:tc>
                  <a:txBody>
                    <a:bodyPr wrap="square"/>
                    <a:lstStyle/>
                    <a:p>
                      <a:r>
                        <a:rPr sz="1100" b="1">
                          <a:solidFill>
                            <a:srgbClr val="0C2B4A"/>
                          </a:solidFill>
                        </a:rPr>
                        <a:t>Phoning a customer as 'bank security'</a:t>
                      </a:r>
                    </a:p>
                  </a:txBody>
                  <a:tcPr anchor="ctr" marL="73152" marR="54864" marT="27432" marB="27432">
                    <a:solidFill>
                      <a:srgbClr val="FFFFFF"/>
                    </a:solidFill>
                  </a:tcPr>
                </a:tc>
                <a:tc>
                  <a:txBody>
                    <a:bodyPr wrap="square"/>
                    <a:lstStyle/>
                    <a:p>
                      <a:r>
                        <a:rPr sz="1100">
                          <a:solidFill>
                            <a:srgbClr val="1A1A1A"/>
                          </a:solidFill>
                        </a:rPr>
                        <a:t>Very low — a phone + a script</a:t>
                      </a:r>
                    </a:p>
                  </a:txBody>
                  <a:tcPr anchor="ctr" marL="73152" marR="54864" marT="27432" marB="27432">
                    <a:solidFill>
                      <a:srgbClr val="FFFFFF"/>
                    </a:solidFill>
                  </a:tcPr>
                </a:tc>
                <a:tc>
                  <a:txBody>
                    <a:bodyPr wrap="square"/>
                    <a:lstStyle/>
                    <a:p>
                      <a:r>
                        <a:rPr sz="1100">
                          <a:solidFill>
                            <a:srgbClr val="1A1A1A"/>
                          </a:solidFill>
                        </a:rPr>
                        <a:t>High success; hard to trace</a:t>
                      </a:r>
                    </a:p>
                  </a:txBody>
                  <a:tcPr anchor="ctr" marL="73152" marR="54864" marT="27432" marB="27432">
                    <a:solidFill>
                      <a:srgbClr val="FFFFFF"/>
                    </a:solidFill>
                  </a:tcPr>
                </a:tc>
              </a:tr>
              <a:tr h="736092">
                <a:tc>
                  <a:txBody>
                    <a:bodyPr wrap="square"/>
                    <a:lstStyle/>
                    <a:p>
                      <a:r>
                        <a:rPr sz="1100" b="1">
                          <a:solidFill>
                            <a:srgbClr val="0C2B4A"/>
                          </a:solidFill>
                        </a:rPr>
                        <a:t>Mass phishing SMS to thousands</a:t>
                      </a:r>
                    </a:p>
                  </a:txBody>
                  <a:tcPr anchor="ctr" marL="73152" marR="54864" marT="27432" marB="27432">
                    <a:solidFill>
                      <a:srgbClr val="EEF3F8"/>
                    </a:solidFill>
                  </a:tcPr>
                </a:tc>
                <a:tc>
                  <a:txBody>
                    <a:bodyPr wrap="square"/>
                    <a:lstStyle/>
                    <a:p>
                      <a:r>
                        <a:rPr sz="1100">
                          <a:solidFill>
                            <a:srgbClr val="1A1A1A"/>
                          </a:solidFill>
                        </a:rPr>
                        <a:t>Very low — one message, bulk send</a:t>
                      </a:r>
                    </a:p>
                  </a:txBody>
                  <a:tcPr anchor="ctr" marL="73152" marR="54864" marT="27432" marB="27432">
                    <a:solidFill>
                      <a:srgbClr val="EEF3F8"/>
                    </a:solidFill>
                  </a:tcPr>
                </a:tc>
                <a:tc>
                  <a:txBody>
                    <a:bodyPr wrap="square"/>
                    <a:lstStyle/>
                    <a:p>
                      <a:r>
                        <a:rPr sz="1100">
                          <a:solidFill>
                            <a:srgbClr val="1A1A1A"/>
                          </a:solidFill>
                        </a:rPr>
                        <a:t>A few victims still pays off</a:t>
                      </a:r>
                    </a:p>
                  </a:txBody>
                  <a:tcPr anchor="ctr" marL="73152" marR="54864" marT="27432" marB="27432">
                    <a:solidFill>
                      <a:srgbClr val="EEF3F8"/>
                    </a:solidFill>
                  </a:tcPr>
                </a:tc>
              </a:tr>
              <a:tr h="736092">
                <a:tc>
                  <a:txBody>
                    <a:bodyPr wrap="square"/>
                    <a:lstStyle/>
                    <a:p>
                      <a:r>
                        <a:rPr sz="1100" b="1">
                          <a:solidFill>
                            <a:srgbClr val="0C2B4A"/>
                          </a:solidFill>
                        </a:rPr>
                        <a:t>Tricking a busy employee for a password</a:t>
                      </a:r>
                    </a:p>
                  </a:txBody>
                  <a:tcPr anchor="ctr" marL="73152" marR="54864" marT="27432" marB="27432">
                    <a:solidFill>
                      <a:srgbClr val="FFFFFF"/>
                    </a:solidFill>
                  </a:tcPr>
                </a:tc>
                <a:tc>
                  <a:txBody>
                    <a:bodyPr wrap="square"/>
                    <a:lstStyle/>
                    <a:p>
                      <a:r>
                        <a:rPr sz="1100">
                          <a:solidFill>
                            <a:srgbClr val="1A1A1A"/>
                          </a:solidFill>
                        </a:rPr>
                        <a:t>Low — a plausible story</a:t>
                      </a:r>
                    </a:p>
                  </a:txBody>
                  <a:tcPr anchor="ctr" marL="73152" marR="54864" marT="27432" marB="27432">
                    <a:solidFill>
                      <a:srgbClr val="FFFFFF"/>
                    </a:solidFill>
                  </a:tcPr>
                </a:tc>
                <a:tc>
                  <a:txBody>
                    <a:bodyPr wrap="square"/>
                    <a:lstStyle/>
                    <a:p>
                      <a:r>
                        <a:rPr sz="1100">
                          <a:solidFill>
                            <a:srgbClr val="1A1A1A"/>
                          </a:solidFill>
                        </a:rPr>
                        <a:t>Bypasses every technical control</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Attackers are economically rational: they pick the cheapest path with the highest payoff. When machines are hardened, that path runs straight through the person.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76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Attackers Use It (the need)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Instead of cracking a Nepali bank's systems — expensive, slow, and likely to fail — scammers simply phone customers pretending to be 'bank security'. It is far easier to fool a thousand customers than to breach one well-defended bank. The economics, not a lack of skill, is why the phone call beats the exploit.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bank is secure, my money is safe." The bank's servers may be hardened, but YOU are the softer target. Attackers deliberately skip the strong wall and knock on the human door — so your own awareness is part of the bank's security, not separate from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Attackers use social engineering because it is the path of least resistance: strong encryption and firewalls make direct attacks costly, so they pivot to the human, who is cheaper to fool. It offers high success, low cost, and is hard to trace, and it scales — one mass message needs only a few victims. It is chosen for economics, not for lack of technical skill.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path of least resistance · low cost / high success · hard to trace · scales · economics of attack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76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Humans Are the Weakest Link</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Humans are exploitable through predictable traits — helpfulness, obedience to authority, fear of consequences, curiosity, and trust in familiar brands — combined with low security awareness. Attackers don't break these traits; they USE them.</a:t>
            </a:r>
          </a:p>
          <a:p>
            <a:pPr>
              <a:spcAft>
                <a:spcPts val="500"/>
              </a:spcAft>
            </a:pPr>
            <a:r>
              <a:rPr sz="1200" b="1">
                <a:solidFill>
                  <a:srgbClr val="185FA5"/>
                </a:solidFill>
              </a:rPr>
              <a:t>HOW IT WORKS</a:t>
            </a:r>
          </a:p>
          <a:p>
            <a:pPr>
              <a:spcAft>
                <a:spcPts val="600"/>
              </a:spcAft>
            </a:pPr>
            <a:r>
              <a:rPr sz="1400">
                <a:solidFill>
                  <a:srgbClr val="1A1A1A"/>
                </a:solidFill>
              </a:rPr>
              <a:t>•  Helpfulness: we want to assist, so we comply with a reasonable-sounding request.</a:t>
            </a:r>
          </a:p>
          <a:p>
            <a:pPr>
              <a:spcAft>
                <a:spcPts val="600"/>
              </a:spcAft>
            </a:pPr>
            <a:r>
              <a:rPr sz="1400">
                <a:solidFill>
                  <a:srgbClr val="1A1A1A"/>
                </a:solidFill>
              </a:rPr>
              <a:t>•  Obedience to authority: a 'boss' or 'official' voice short-circuits our doubt.</a:t>
            </a:r>
          </a:p>
          <a:p>
            <a:pPr>
              <a:spcAft>
                <a:spcPts val="600"/>
              </a:spcAft>
            </a:pPr>
            <a:r>
              <a:rPr sz="1400">
                <a:solidFill>
                  <a:srgbClr val="1A1A1A"/>
                </a:solidFill>
              </a:rPr>
              <a:t>•  Fear &amp; urgency: a threat ('account will be blocked') makes us act before thinking.</a:t>
            </a:r>
          </a:p>
          <a:p>
            <a:pPr>
              <a:spcAft>
                <a:spcPts val="600"/>
              </a:spcAft>
            </a:pPr>
            <a:r>
              <a:rPr sz="1400">
                <a:solidFill>
                  <a:srgbClr val="1A1A1A"/>
                </a:solidFill>
              </a:rPr>
              <a:t>•  Curiosity &amp; trust in brands: a familiar logo or a 'you've won' message lowers the guard.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Attackers don't break human traits — they exploit them.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76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Human trait → how it's exploited → how you defend</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895600"/>
                <a:gridCol w="4572000"/>
                <a:gridCol w="3962399"/>
              </a:tblGrid>
              <a:tr h="630936">
                <a:tc>
                  <a:txBody>
                    <a:bodyPr wrap="square"/>
                    <a:lstStyle/>
                    <a:p>
                      <a:r>
                        <a:rPr sz="1150" b="1">
                          <a:solidFill>
                            <a:srgbClr val="FFFFFF"/>
                          </a:solidFill>
                        </a:rPr>
                        <a:t>Human trait</a:t>
                      </a:r>
                    </a:p>
                  </a:txBody>
                  <a:tcPr anchor="ctr" marL="73152" marR="54864" marT="27432" marB="27432">
                    <a:solidFill>
                      <a:srgbClr val="0C2B4A"/>
                    </a:solidFill>
                  </a:tcPr>
                </a:tc>
                <a:tc>
                  <a:txBody>
                    <a:bodyPr wrap="square"/>
                    <a:lstStyle/>
                    <a:p>
                      <a:r>
                        <a:rPr sz="1150" b="1">
                          <a:solidFill>
                            <a:srgbClr val="FFFFFF"/>
                          </a:solidFill>
                        </a:rPr>
                        <a:t>How the attacker exploits it (Nepal)</a:t>
                      </a:r>
                    </a:p>
                  </a:txBody>
                  <a:tcPr anchor="ctr" marL="73152" marR="54864" marT="27432" marB="27432">
                    <a:solidFill>
                      <a:srgbClr val="0C2B4A"/>
                    </a:solidFill>
                  </a:tcPr>
                </a:tc>
                <a:tc>
                  <a:txBody>
                    <a:bodyPr wrap="square"/>
                    <a:lstStyle/>
                    <a:p>
                      <a:r>
                        <a:rPr sz="1150" b="1">
                          <a:solidFill>
                            <a:srgbClr val="FFFFFF"/>
                          </a:solidFill>
                        </a:rPr>
                        <a:t>Defence habit</a:t>
                      </a:r>
                    </a:p>
                  </a:txBody>
                  <a:tcPr anchor="ctr" marL="73152" marR="54864" marT="27432" marB="27432">
                    <a:solidFill>
                      <a:srgbClr val="0C2B4A"/>
                    </a:solidFill>
                  </a:tcPr>
                </a:tc>
              </a:tr>
              <a:tr h="630936">
                <a:tc>
                  <a:txBody>
                    <a:bodyPr wrap="square"/>
                    <a:lstStyle/>
                    <a:p>
                      <a:r>
                        <a:rPr sz="1100" b="1">
                          <a:solidFill>
                            <a:srgbClr val="0C2B4A"/>
                          </a:solidFill>
                        </a:rPr>
                        <a:t>Helpfulness</a:t>
                      </a:r>
                    </a:p>
                  </a:txBody>
                  <a:tcPr anchor="ctr" marL="73152" marR="54864" marT="27432" marB="27432">
                    <a:solidFill>
                      <a:srgbClr val="FFFFFF"/>
                    </a:solidFill>
                  </a:tcPr>
                </a:tc>
                <a:tc>
                  <a:txBody>
                    <a:bodyPr wrap="square"/>
                    <a:lstStyle/>
                    <a:p>
                      <a:r>
                        <a:rPr sz="1100">
                          <a:solidFill>
                            <a:srgbClr val="1A1A1A"/>
                          </a:solidFill>
                        </a:rPr>
                        <a:t>'Just confirm your password so I can fix your email'</a:t>
                      </a:r>
                    </a:p>
                  </a:txBody>
                  <a:tcPr anchor="ctr" marL="73152" marR="54864" marT="27432" marB="27432">
                    <a:solidFill>
                      <a:srgbClr val="FFFFFF"/>
                    </a:solidFill>
                  </a:tcPr>
                </a:tc>
                <a:tc>
                  <a:txBody>
                    <a:bodyPr wrap="square"/>
                    <a:lstStyle/>
                    <a:p>
                      <a:r>
                        <a:rPr sz="1100">
                          <a:solidFill>
                            <a:srgbClr val="1A1A1A"/>
                          </a:solidFill>
                        </a:rPr>
                        <a:t>No one legitimate needs your password — refuse</a:t>
                      </a:r>
                    </a:p>
                  </a:txBody>
                  <a:tcPr anchor="ctr" marL="73152" marR="54864" marT="27432" marB="27432">
                    <a:solidFill>
                      <a:srgbClr val="FFFFFF"/>
                    </a:solidFill>
                  </a:tcPr>
                </a:tc>
              </a:tr>
              <a:tr h="630936">
                <a:tc>
                  <a:txBody>
                    <a:bodyPr wrap="square"/>
                    <a:lstStyle/>
                    <a:p>
                      <a:r>
                        <a:rPr sz="1100" b="1">
                          <a:solidFill>
                            <a:srgbClr val="0C2B4A"/>
                          </a:solidFill>
                        </a:rPr>
                        <a:t>Obedience to authority</a:t>
                      </a:r>
                    </a:p>
                  </a:txBody>
                  <a:tcPr anchor="ctr" marL="73152" marR="54864" marT="27432" marB="27432">
                    <a:solidFill>
                      <a:srgbClr val="EEF3F8"/>
                    </a:solidFill>
                  </a:tcPr>
                </a:tc>
                <a:tc>
                  <a:txBody>
                    <a:bodyPr wrap="square"/>
                    <a:lstStyle/>
                    <a:p>
                      <a:r>
                        <a:rPr sz="1100">
                          <a:solidFill>
                            <a:srgbClr val="1A1A1A"/>
                          </a:solidFill>
                        </a:rPr>
                        <a:t>'I'm calling from the bank / the police'</a:t>
                      </a:r>
                    </a:p>
                  </a:txBody>
                  <a:tcPr anchor="ctr" marL="73152" marR="54864" marT="27432" marB="27432">
                    <a:solidFill>
                      <a:srgbClr val="EEF3F8"/>
                    </a:solidFill>
                  </a:tcPr>
                </a:tc>
                <a:tc>
                  <a:txBody>
                    <a:bodyPr wrap="square"/>
                    <a:lstStyle/>
                    <a:p>
                      <a:r>
                        <a:rPr sz="1100">
                          <a:solidFill>
                            <a:srgbClr val="1A1A1A"/>
                          </a:solidFill>
                        </a:rPr>
                        <a:t>Verify the identity via the official number yourself</a:t>
                      </a:r>
                    </a:p>
                  </a:txBody>
                  <a:tcPr anchor="ctr" marL="73152" marR="54864" marT="27432" marB="27432">
                    <a:solidFill>
                      <a:srgbClr val="EEF3F8"/>
                    </a:solidFill>
                  </a:tcPr>
                </a:tc>
              </a:tr>
              <a:tr h="630936">
                <a:tc>
                  <a:txBody>
                    <a:bodyPr wrap="square"/>
                    <a:lstStyle/>
                    <a:p>
                      <a:r>
                        <a:rPr sz="1100" b="1">
                          <a:solidFill>
                            <a:srgbClr val="0C2B4A"/>
                          </a:solidFill>
                        </a:rPr>
                        <a:t>Fear of consequences</a:t>
                      </a:r>
                    </a:p>
                  </a:txBody>
                  <a:tcPr anchor="ctr" marL="73152" marR="54864" marT="27432" marB="27432">
                    <a:solidFill>
                      <a:srgbClr val="FFFFFF"/>
                    </a:solidFill>
                  </a:tcPr>
                </a:tc>
                <a:tc>
                  <a:txBody>
                    <a:bodyPr wrap="square"/>
                    <a:lstStyle/>
                    <a:p>
                      <a:r>
                        <a:rPr sz="1100">
                          <a:solidFill>
                            <a:srgbClr val="1A1A1A"/>
                          </a:solidFill>
                        </a:rPr>
                        <a:t>'A police case is filed unless you pay now'</a:t>
                      </a:r>
                    </a:p>
                  </a:txBody>
                  <a:tcPr anchor="ctr" marL="73152" marR="54864" marT="27432" marB="27432">
                    <a:solidFill>
                      <a:srgbClr val="FFFFFF"/>
                    </a:solidFill>
                  </a:tcPr>
                </a:tc>
                <a:tc>
                  <a:txBody>
                    <a:bodyPr wrap="square"/>
                    <a:lstStyle/>
                    <a:p>
                      <a:r>
                        <a:rPr sz="1100">
                          <a:solidFill>
                            <a:srgbClr val="1A1A1A"/>
                          </a:solidFill>
                        </a:rPr>
                        <a:t>Real authorities don't demand instant payment by phone</a:t>
                      </a:r>
                    </a:p>
                  </a:txBody>
                  <a:tcPr anchor="ctr" marL="73152" marR="54864" marT="27432" marB="27432">
                    <a:solidFill>
                      <a:srgbClr val="FFFFFF"/>
                    </a:solidFill>
                  </a:tcPr>
                </a:tc>
              </a:tr>
              <a:tr h="630936">
                <a:tc>
                  <a:txBody>
                    <a:bodyPr wrap="square"/>
                    <a:lstStyle/>
                    <a:p>
                      <a:r>
                        <a:rPr sz="1100" b="1">
                          <a:solidFill>
                            <a:srgbClr val="0C2B4A"/>
                          </a:solidFill>
                        </a:rPr>
                        <a:t>Urgency / time pressure</a:t>
                      </a:r>
                    </a:p>
                  </a:txBody>
                  <a:tcPr anchor="ctr" marL="73152" marR="54864" marT="27432" marB="27432">
                    <a:solidFill>
                      <a:srgbClr val="EEF3F8"/>
                    </a:solidFill>
                  </a:tcPr>
                </a:tc>
                <a:tc>
                  <a:txBody>
                    <a:bodyPr wrap="square"/>
                    <a:lstStyle/>
                    <a:p>
                      <a:r>
                        <a:rPr sz="1100">
                          <a:solidFill>
                            <a:srgbClr val="1A1A1A"/>
                          </a:solidFill>
                        </a:rPr>
                        <a:t>'Your account blocks in 10 minutes'</a:t>
                      </a:r>
                    </a:p>
                  </a:txBody>
                  <a:tcPr anchor="ctr" marL="73152" marR="54864" marT="27432" marB="27432">
                    <a:solidFill>
                      <a:srgbClr val="EEF3F8"/>
                    </a:solidFill>
                  </a:tcPr>
                </a:tc>
                <a:tc>
                  <a:txBody>
                    <a:bodyPr wrap="square"/>
                    <a:lstStyle/>
                    <a:p>
                      <a:r>
                        <a:rPr sz="1100">
                          <a:solidFill>
                            <a:srgbClr val="1A1A1A"/>
                          </a:solidFill>
                        </a:rPr>
                        <a:t>Slow down — urgency is a red flag, not a reason</a:t>
                      </a:r>
                    </a:p>
                  </a:txBody>
                  <a:tcPr anchor="ctr" marL="73152" marR="54864" marT="27432" marB="27432">
                    <a:solidFill>
                      <a:srgbClr val="EEF3F8"/>
                    </a:solidFill>
                  </a:tcPr>
                </a:tc>
              </a:tr>
              <a:tr h="630936">
                <a:tc>
                  <a:txBody>
                    <a:bodyPr wrap="square"/>
                    <a:lstStyle/>
                    <a:p>
                      <a:r>
                        <a:rPr sz="1100" b="1">
                          <a:solidFill>
                            <a:srgbClr val="0C2B4A"/>
                          </a:solidFill>
                        </a:rPr>
                        <a:t>Curiosity</a:t>
                      </a:r>
                    </a:p>
                  </a:txBody>
                  <a:tcPr anchor="ctr" marL="73152" marR="54864" marT="27432" marB="27432">
                    <a:solidFill>
                      <a:srgbClr val="FFFFFF"/>
                    </a:solidFill>
                  </a:tcPr>
                </a:tc>
                <a:tc>
                  <a:txBody>
                    <a:bodyPr wrap="square"/>
                    <a:lstStyle/>
                    <a:p>
                      <a:r>
                        <a:rPr sz="1100">
                          <a:solidFill>
                            <a:srgbClr val="1A1A1A"/>
                          </a:solidFill>
                        </a:rPr>
                        <a:t>'Open this to see who viewed your profile'</a:t>
                      </a:r>
                    </a:p>
                  </a:txBody>
                  <a:tcPr anchor="ctr" marL="73152" marR="54864" marT="27432" marB="27432">
                    <a:solidFill>
                      <a:srgbClr val="FFFFFF"/>
                    </a:solidFill>
                  </a:tcPr>
                </a:tc>
                <a:tc>
                  <a:txBody>
                    <a:bodyPr wrap="square"/>
                    <a:lstStyle/>
                    <a:p>
                      <a:r>
                        <a:rPr sz="1100">
                          <a:solidFill>
                            <a:srgbClr val="1A1A1A"/>
                          </a:solidFill>
                        </a:rPr>
                        <a:t>Don't open unexpected links/attachments</a:t>
                      </a:r>
                    </a:p>
                  </a:txBody>
                  <a:tcPr anchor="ctr" marL="73152" marR="54864" marT="27432" marB="27432">
                    <a:solidFill>
                      <a:srgbClr val="FFFFFF"/>
                    </a:solidFill>
                  </a:tcPr>
                </a:tc>
              </a:tr>
              <a:tr h="630936">
                <a:tc>
                  <a:txBody>
                    <a:bodyPr wrap="square"/>
                    <a:lstStyle/>
                    <a:p>
                      <a:r>
                        <a:rPr sz="1100" b="1">
                          <a:solidFill>
                            <a:srgbClr val="0C2B4A"/>
                          </a:solidFill>
                        </a:rPr>
                        <a:t>Trust in familiar brands</a:t>
                      </a:r>
                    </a:p>
                  </a:txBody>
                  <a:tcPr anchor="ctr" marL="73152" marR="54864" marT="27432" marB="27432">
                    <a:solidFill>
                      <a:srgbClr val="EEF3F8"/>
                    </a:solidFill>
                  </a:tcPr>
                </a:tc>
                <a:tc>
                  <a:txBody>
                    <a:bodyPr wrap="square"/>
                    <a:lstStyle/>
                    <a:p>
                      <a:r>
                        <a:rPr sz="1100">
                          <a:solidFill>
                            <a:srgbClr val="1A1A1A"/>
                          </a:solidFill>
                        </a:rPr>
                        <a:t>Fake eSewa / Daraz logo and sender name</a:t>
                      </a:r>
                    </a:p>
                  </a:txBody>
                  <a:tcPr anchor="ctr" marL="73152" marR="54864" marT="27432" marB="27432">
                    <a:solidFill>
                      <a:srgbClr val="EEF3F8"/>
                    </a:solidFill>
                  </a:tcPr>
                </a:tc>
                <a:tc>
                  <a:txBody>
                    <a:bodyPr wrap="square"/>
                    <a:lstStyle/>
                    <a:p>
                      <a:r>
                        <a:rPr sz="1100">
                          <a:solidFill>
                            <a:srgbClr val="1A1A1A"/>
                          </a:solidFill>
                        </a:rPr>
                        <a:t>Check the real sender/URL; brands don't ask for OTP</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row is a normal, good human trait turned into an attack surface. Defence is not becoming rude or paranoid — it is a small verify-before-you-act habit for each trigger.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76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Humans Are the Weakest Link</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busy office employee gets a call: 'Sir, from the IT department — your email will be deleted today, just confirm your password.' It works because three levers fire together: authority (IT department), urgency (today), and helpfulness (the employee wants to cooperate). The strongest castle wall is useless if the gatekeeper opens the gate to anyone in the right uniform.</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"Only careless or foolish people fall for scams." Smart, busy, polite people are exactly the target — the attack exploits normal good traits (helpfulness, respect for authority) under time pressure. Assuming 'it won't happen to me' is itself the vulnerability.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Humans are the weakest link because attackers exploit predictable traits — helpfulness, obedience to authority, fear of consequences, curiosity, and trust in familiar brands — amplified by low awareness and time pressure. These are normal, positive human tendencies, so anyone can be targeted; the defence is a deliberate verify-before-acting habit for each trigger.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weakest link · helpfulness · authority · fear/urgency · curiosity · brand trust · verify habit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76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S33 — 'Name the trick'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recall one suspicious call or SMS you or your family received (in Nepali).</a:t>
            </a:r>
          </a:p>
          <a:p>
            <a:pPr>
              <a:spcAft>
                <a:spcPts val="700"/>
              </a:spcAft>
            </a:pPr>
            <a:r>
              <a:rPr sz="1550">
                <a:solidFill>
                  <a:srgbClr val="1A1A1A"/>
                </a:solidFill>
              </a:rPr>
              <a:t>•  Write down the exact story it told and what it asked you to do.</a:t>
            </a:r>
          </a:p>
          <a:p>
            <a:pPr>
              <a:spcAft>
                <a:spcPts val="700"/>
              </a:spcAft>
            </a:pPr>
            <a:r>
              <a:rPr sz="1550">
                <a:solidFill>
                  <a:srgbClr val="1A1A1A"/>
                </a:solidFill>
              </a:rPr>
              <a:t>•  Name the human trait it was trying to exploit (helpfulness / authority / fear / curiosity / brand trust).</a:t>
            </a:r>
          </a:p>
          <a:p>
            <a:pPr>
              <a:spcAft>
                <a:spcPts val="700"/>
              </a:spcAft>
            </a:pPr>
            <a:r>
              <a:rPr sz="1550">
                <a:solidFill>
                  <a:srgbClr val="1A1A1A"/>
                </a:solidFill>
              </a:rPr>
              <a:t>•  Take 3–4 answers aloud (3 min); notice how often authority + urgency appear together.</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NTC/Ncell SIM-block SMS, 'bank security' OTP call, Facebook/Daraz prize, eSewa 'account suspended'. Draw out that recognising the lever is the fastest early-warning sign — the goal is recognition, not any how-to.</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76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Social engineering primarily attacks:</a:t>
            </a:r>
          </a:p>
          <a:p>
            <a:pPr lvl="1"/>
            <a:r>
              <a:rPr sz="1500" b="1">
                <a:solidFill>
                  <a:srgbClr val="0F6E56"/>
                </a:solidFill>
              </a:rPr>
              <a:t>a) firewalls   b) encryption   c) ✅ human psychology / people   d) hardware</a:t>
            </a:r>
          </a:p>
          <a:p>
            <a:pPr lvl="1">
              <a:spcBef>
                <a:spcPts val="600"/>
              </a:spcBef>
            </a:pPr>
            <a:r>
              <a:rPr sz="1500" i="1">
                <a:solidFill>
                  <a:srgbClr val="1A1A1A"/>
                </a:solidFill>
              </a:rPr>
              <a:t>     Why: it manipulates a person into giving access — the technology is bypassed, not broken.</a:t>
            </a:r>
          </a:p>
          <a:p>
            <a:pPr>
              <a:spcBef>
                <a:spcPts val="900"/>
              </a:spcBef>
            </a:pPr>
            <a:r>
              <a:rPr sz="1700" b="1">
                <a:solidFill>
                  <a:srgbClr val="0C2B4A"/>
                </a:solidFill>
              </a:rPr>
              <a:t>Q2.  Attackers prefer social engineering mainly because it is:</a:t>
            </a:r>
          </a:p>
          <a:p>
            <a:pPr lvl="1"/>
            <a:r>
              <a:rPr sz="1500" b="1">
                <a:solidFill>
                  <a:srgbClr val="0F6E56"/>
                </a:solidFill>
              </a:rPr>
              <a:t>a) more technical   b) ✅ low-cost and high-success vs. beating strong tech controls   c) always legal   d) slower</a:t>
            </a:r>
          </a:p>
          <a:p>
            <a:pPr lvl="1">
              <a:spcBef>
                <a:spcPts val="600"/>
              </a:spcBef>
            </a:pPr>
            <a:r>
              <a:rPr sz="1500" i="1">
                <a:solidFill>
                  <a:srgbClr val="1A1A1A"/>
                </a:solidFill>
              </a:rPr>
              <a:t>     Why: hardened machines make direct attacks costly, so the cheaper human path is chosen.</a:t>
            </a:r>
          </a:p>
          <a:p>
            <a:pPr lvl="1">
              <a:spcBef>
                <a:spcPts val="600"/>
              </a:spcBef>
            </a:pPr>
            <a:r>
              <a:rPr sz="1500" i="1">
                <a:solidFill>
                  <a:srgbClr val="1A1A1A"/>
                </a:solidFill>
              </a:rPr>
              <a:t>Discussion: recall one suspicious call/SMS you or your family received — what trick was it using?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76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Social engineering = hacking PEOPLE, not machines — persuasion and deception over any channel.</a:t>
            </a:r>
          </a:p>
          <a:p>
            <a:pPr>
              <a:spcAft>
                <a:spcPts val="800"/>
              </a:spcAft>
            </a:pPr>
            <a:r>
              <a:rPr sz="1500">
                <a:solidFill>
                  <a:srgbClr val="1A1A1A"/>
                </a:solidFill>
              </a:rPr>
              <a:t>2.  It's the cheapest, highest-success attack path, so attackers pivot to the human by choice.</a:t>
            </a:r>
          </a:p>
          <a:p>
            <a:pPr>
              <a:spcAft>
                <a:spcPts val="800"/>
              </a:spcAft>
            </a:pPr>
            <a:r>
              <a:rPr sz="1500">
                <a:solidFill>
                  <a:srgbClr val="1A1A1A"/>
                </a:solidFill>
              </a:rPr>
              <a:t>3.  Humans are exploitable through helpfulness, authority, fear, curiosity, and brand trust — verify before you act.</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most common way money is stolen from ordinary Nepalis online is not 'hacking' — it's a convincing phone call or message. Recognising this is your first and cheapest line of defence, for you and your family.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S34 — the exact psychological levers attackers pull, and how the con is built.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76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34 · LECTURE HOUR 2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Implications · Building Trust · Exploiting the Relationship</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Why does a scammer spend 10 minutes being friendly before asking for anything? Because the ask only works after the trust. Today we reverse-engineer the manipulation — so you see it coming.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18 / 76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Understanding the Implications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single successful manipulation rarely stays 'one account'. One leaked OTP or password can cascade into data loss, financial theft, identity theft, and reputational damage — because credentials are keys to a whole chain of linked accounts.</a:t>
            </a:r>
          </a:p>
          <a:p>
            <a:pPr>
              <a:spcAft>
                <a:spcPts val="500"/>
              </a:spcAft>
            </a:pPr>
            <a:r>
              <a:rPr sz="1200" b="1">
                <a:solidFill>
                  <a:srgbClr val="185FA5"/>
                </a:solidFill>
              </a:rPr>
              <a:t>HOW IT WORKS</a:t>
            </a:r>
          </a:p>
          <a:p>
            <a:pPr>
              <a:spcAft>
                <a:spcPts val="600"/>
              </a:spcAft>
            </a:pPr>
            <a:r>
              <a:rPr sz="1400">
                <a:solidFill>
                  <a:srgbClr val="1A1A1A"/>
                </a:solidFill>
              </a:rPr>
              <a:t>•  Credentials are keys, not doors: one unlocks email, which resets others.</a:t>
            </a:r>
          </a:p>
          <a:p>
            <a:pPr>
              <a:spcAft>
                <a:spcPts val="600"/>
              </a:spcAft>
            </a:pPr>
            <a:r>
              <a:rPr sz="1400">
                <a:solidFill>
                  <a:srgbClr val="1A1A1A"/>
                </a:solidFill>
              </a:rPr>
              <a:t>•  Email → bank → wallet → social accounts is a common chain reaction.</a:t>
            </a:r>
          </a:p>
          <a:p>
            <a:pPr>
              <a:spcAft>
                <a:spcPts val="600"/>
              </a:spcAft>
            </a:pPr>
            <a:r>
              <a:rPr sz="1400">
                <a:solidFill>
                  <a:srgbClr val="1A1A1A"/>
                </a:solidFill>
              </a:rPr>
              <a:t>•  The attacker then messages your contacts for more money, spreading the damage.</a:t>
            </a:r>
          </a:p>
          <a:p>
            <a:pPr>
              <a:spcAft>
                <a:spcPts val="600"/>
              </a:spcAft>
            </a:pPr>
            <a:r>
              <a:rPr sz="1400">
                <a:solidFill>
                  <a:srgbClr val="1A1A1A"/>
                </a:solidFill>
              </a:rPr>
              <a:t>•  Impact is delayed and wide — you often see it only after the chain has run.</a:t>
            </a:r>
          </a:p>
        </p:txBody>
      </p:sp>
      <p:pic>
        <p:nvPicPr>
          <p:cNvPr id="6" name="Picture 5" descr="s34_chain.png"/>
          <p:cNvPicPr>
            <a:picLocks noChangeAspect="1"/>
          </p:cNvPicPr>
          <p:nvPr/>
        </p:nvPicPr>
        <p:blipFill>
          <a:blip r:embed="rId2"/>
          <a:stretch>
            <a:fillRect/>
          </a:stretch>
        </p:blipFill>
        <p:spPr>
          <a:xfrm>
            <a:off x="6355080" y="2498703"/>
            <a:ext cx="5532120" cy="263783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One leaked OTP is never 'just one account'.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76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leaked credential — what it unlocks (the chain)</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43648"/>
                <a:gridCol w="4170405"/>
                <a:gridCol w="4015945"/>
              </a:tblGrid>
              <a:tr h="736092">
                <a:tc>
                  <a:txBody>
                    <a:bodyPr wrap="square"/>
                    <a:lstStyle/>
                    <a:p>
                      <a:r>
                        <a:rPr sz="1150" b="1">
                          <a:solidFill>
                            <a:srgbClr val="FFFFFF"/>
                          </a:solidFill>
                        </a:rPr>
                        <a:t>Step in the chain</a:t>
                      </a:r>
                    </a:p>
                  </a:txBody>
                  <a:tcPr anchor="ctr" marL="73152" marR="54864" marT="27432" marB="27432">
                    <a:solidFill>
                      <a:srgbClr val="0C2B4A"/>
                    </a:solidFill>
                  </a:tcPr>
                </a:tc>
                <a:tc>
                  <a:txBody>
                    <a:bodyPr wrap="square"/>
                    <a:lstStyle/>
                    <a:p>
                      <a:r>
                        <a:rPr sz="1150" b="1">
                          <a:solidFill>
                            <a:srgbClr val="FFFFFF"/>
                          </a:solidFill>
                        </a:rPr>
                        <a:t>What the attacker reaches</a:t>
                      </a:r>
                    </a:p>
                  </a:txBody>
                  <a:tcPr anchor="ctr" marL="73152" marR="54864" marT="27432" marB="27432">
                    <a:solidFill>
                      <a:srgbClr val="0C2B4A"/>
                    </a:solidFill>
                  </a:tcPr>
                </a:tc>
                <a:tc>
                  <a:txBody>
                    <a:bodyPr wrap="square"/>
                    <a:lstStyle/>
                    <a:p>
                      <a:r>
                        <a:rPr sz="1150" b="1">
                          <a:solidFill>
                            <a:srgbClr val="FFFFFF"/>
                          </a:solidFill>
                        </a:rPr>
                        <a:t>Why it cascades</a:t>
                      </a:r>
                    </a:p>
                  </a:txBody>
                  <a:tcPr anchor="ctr" marL="73152" marR="54864" marT="27432" marB="27432">
                    <a:solidFill>
                      <a:srgbClr val="0C2B4A"/>
                    </a:solidFill>
                  </a:tcPr>
                </a:tc>
              </a:tr>
              <a:tr h="736092">
                <a:tc>
                  <a:txBody>
                    <a:bodyPr wrap="square"/>
                    <a:lstStyle/>
                    <a:p>
                      <a:r>
                        <a:rPr sz="1100" b="1">
                          <a:solidFill>
                            <a:srgbClr val="0C2B4A"/>
                          </a:solidFill>
                        </a:rPr>
                        <a:t>OTP / password shared</a:t>
                      </a:r>
                    </a:p>
                  </a:txBody>
                  <a:tcPr anchor="ctr" marL="73152" marR="54864" marT="27432" marB="27432">
                    <a:solidFill>
                      <a:srgbClr val="FFFFFF"/>
                    </a:solidFill>
                  </a:tcPr>
                </a:tc>
                <a:tc>
                  <a:txBody>
                    <a:bodyPr wrap="square"/>
                    <a:lstStyle/>
                    <a:p>
                      <a:r>
                        <a:rPr sz="1100">
                          <a:solidFill>
                            <a:srgbClr val="1A1A1A"/>
                          </a:solidFill>
                        </a:rPr>
                        <a:t>The first account (e.g. email)</a:t>
                      </a:r>
                    </a:p>
                  </a:txBody>
                  <a:tcPr anchor="ctr" marL="73152" marR="54864" marT="27432" marB="27432">
                    <a:solidFill>
                      <a:srgbClr val="FFFFFF"/>
                    </a:solidFill>
                  </a:tcPr>
                </a:tc>
                <a:tc>
                  <a:txBody>
                    <a:bodyPr wrap="square"/>
                    <a:lstStyle/>
                    <a:p>
                      <a:r>
                        <a:rPr sz="1100">
                          <a:solidFill>
                            <a:srgbClr val="1A1A1A"/>
                          </a:solidFill>
                        </a:rPr>
                        <a:t>The entry point to everything linked</a:t>
                      </a:r>
                    </a:p>
                  </a:txBody>
                  <a:tcPr anchor="ctr" marL="73152" marR="54864" marT="27432" marB="27432">
                    <a:solidFill>
                      <a:srgbClr val="FFFFFF"/>
                    </a:solidFill>
                  </a:tcPr>
                </a:tc>
              </a:tr>
              <a:tr h="736092">
                <a:tc>
                  <a:txBody>
                    <a:bodyPr wrap="square"/>
                    <a:lstStyle/>
                    <a:p>
                      <a:r>
                        <a:rPr sz="1100" b="1">
                          <a:solidFill>
                            <a:srgbClr val="0C2B4A"/>
                          </a:solidFill>
                        </a:rPr>
                        <a:t>Email taken over</a:t>
                      </a:r>
                    </a:p>
                  </a:txBody>
                  <a:tcPr anchor="ctr" marL="73152" marR="54864" marT="27432" marB="27432">
                    <a:solidFill>
                      <a:srgbClr val="EEF3F8"/>
                    </a:solidFill>
                  </a:tcPr>
                </a:tc>
                <a:tc>
                  <a:txBody>
                    <a:bodyPr wrap="square"/>
                    <a:lstStyle/>
                    <a:p>
                      <a:r>
                        <a:rPr sz="1100">
                          <a:solidFill>
                            <a:srgbClr val="1A1A1A"/>
                          </a:solidFill>
                        </a:rPr>
                        <a:t>Password resets for other services</a:t>
                      </a:r>
                    </a:p>
                  </a:txBody>
                  <a:tcPr anchor="ctr" marL="73152" marR="54864" marT="27432" marB="27432">
                    <a:solidFill>
                      <a:srgbClr val="EEF3F8"/>
                    </a:solidFill>
                  </a:tcPr>
                </a:tc>
                <a:tc>
                  <a:txBody>
                    <a:bodyPr wrap="square"/>
                    <a:lstStyle/>
                    <a:p>
                      <a:r>
                        <a:rPr sz="1100">
                          <a:solidFill>
                            <a:srgbClr val="1A1A1A"/>
                          </a:solidFill>
                        </a:rPr>
                        <a:t>Most accounts recover via email</a:t>
                      </a:r>
                    </a:p>
                  </a:txBody>
                  <a:tcPr anchor="ctr" marL="73152" marR="54864" marT="27432" marB="27432">
                    <a:solidFill>
                      <a:srgbClr val="EEF3F8"/>
                    </a:solidFill>
                  </a:tcPr>
                </a:tc>
              </a:tr>
              <a:tr h="736092">
                <a:tc>
                  <a:txBody>
                    <a:bodyPr wrap="square"/>
                    <a:lstStyle/>
                    <a:p>
                      <a:r>
                        <a:rPr sz="1100" b="1">
                          <a:solidFill>
                            <a:srgbClr val="0C2B4A"/>
                          </a:solidFill>
                        </a:rPr>
                        <a:t>Bank / eSewa / Khalti</a:t>
                      </a:r>
                    </a:p>
                  </a:txBody>
                  <a:tcPr anchor="ctr" marL="73152" marR="54864" marT="27432" marB="27432">
                    <a:solidFill>
                      <a:srgbClr val="FFFFFF"/>
                    </a:solidFill>
                  </a:tcPr>
                </a:tc>
                <a:tc>
                  <a:txBody>
                    <a:bodyPr wrap="square"/>
                    <a:lstStyle/>
                    <a:p>
                      <a:r>
                        <a:rPr sz="1100">
                          <a:solidFill>
                            <a:srgbClr val="1A1A1A"/>
                          </a:solidFill>
                        </a:rPr>
                        <a:t>Wallet balance &amp; payment history</a:t>
                      </a:r>
                    </a:p>
                  </a:txBody>
                  <a:tcPr anchor="ctr" marL="73152" marR="54864" marT="27432" marB="27432">
                    <a:solidFill>
                      <a:srgbClr val="FFFFFF"/>
                    </a:solidFill>
                  </a:tcPr>
                </a:tc>
                <a:tc>
                  <a:txBody>
                    <a:bodyPr wrap="square"/>
                    <a:lstStyle/>
                    <a:p>
                      <a:r>
                        <a:rPr sz="1100">
                          <a:solidFill>
                            <a:srgbClr val="1A1A1A"/>
                          </a:solidFill>
                        </a:rPr>
                        <a:t>Direct financial theft</a:t>
                      </a:r>
                    </a:p>
                  </a:txBody>
                  <a:tcPr anchor="ctr" marL="73152" marR="54864" marT="27432" marB="27432">
                    <a:solidFill>
                      <a:srgbClr val="FFFFFF"/>
                    </a:solidFill>
                  </a:tcPr>
                </a:tc>
              </a:tr>
              <a:tr h="736092">
                <a:tc>
                  <a:txBody>
                    <a:bodyPr wrap="square"/>
                    <a:lstStyle/>
                    <a:p>
                      <a:r>
                        <a:rPr sz="1100" b="1">
                          <a:solidFill>
                            <a:srgbClr val="0C2B4A"/>
                          </a:solidFill>
                        </a:rPr>
                        <a:t>Social accounts</a:t>
                      </a:r>
                    </a:p>
                  </a:txBody>
                  <a:tcPr anchor="ctr" marL="73152" marR="54864" marT="27432" marB="27432">
                    <a:solidFill>
                      <a:srgbClr val="EEF3F8"/>
                    </a:solidFill>
                  </a:tcPr>
                </a:tc>
                <a:tc>
                  <a:txBody>
                    <a:bodyPr wrap="square"/>
                    <a:lstStyle/>
                    <a:p>
                      <a:r>
                        <a:rPr sz="1100">
                          <a:solidFill>
                            <a:srgbClr val="1A1A1A"/>
                          </a:solidFill>
                        </a:rPr>
                        <a:t>Identity &amp; the contact list</a:t>
                      </a:r>
                    </a:p>
                  </a:txBody>
                  <a:tcPr anchor="ctr" marL="73152" marR="54864" marT="27432" marB="27432">
                    <a:solidFill>
                      <a:srgbClr val="EEF3F8"/>
                    </a:solidFill>
                  </a:tcPr>
                </a:tc>
                <a:tc>
                  <a:txBody>
                    <a:bodyPr wrap="square"/>
                    <a:lstStyle/>
                    <a:p>
                      <a:r>
                        <a:rPr sz="1100">
                          <a:solidFill>
                            <a:srgbClr val="1A1A1A"/>
                          </a:solidFill>
                        </a:rPr>
                        <a:t>Enables the next round of scams</a:t>
                      </a:r>
                    </a:p>
                  </a:txBody>
                  <a:tcPr anchor="ctr" marL="73152" marR="54864" marT="27432" marB="27432">
                    <a:solidFill>
                      <a:srgbClr val="EEF3F8"/>
                    </a:solidFill>
                  </a:tcPr>
                </a:tc>
              </a:tr>
              <a:tr h="736092">
                <a:tc>
                  <a:txBody>
                    <a:bodyPr wrap="square"/>
                    <a:lstStyle/>
                    <a:p>
                      <a:r>
                        <a:rPr sz="1100" b="1">
                          <a:solidFill>
                            <a:srgbClr val="0C2B4A"/>
                          </a:solidFill>
                        </a:rPr>
                        <a:t>Contacts messaged</a:t>
                      </a:r>
                    </a:p>
                  </a:txBody>
                  <a:tcPr anchor="ctr" marL="73152" marR="54864" marT="27432" marB="27432">
                    <a:solidFill>
                      <a:srgbClr val="FFFFFF"/>
                    </a:solidFill>
                  </a:tcPr>
                </a:tc>
                <a:tc>
                  <a:txBody>
                    <a:bodyPr wrap="square"/>
                    <a:lstStyle/>
                    <a:p>
                      <a:r>
                        <a:rPr sz="1100">
                          <a:solidFill>
                            <a:srgbClr val="1A1A1A"/>
                          </a:solidFill>
                        </a:rPr>
                        <a:t>Friends &amp; family targeted next</a:t>
                      </a:r>
                    </a:p>
                  </a:txBody>
                  <a:tcPr anchor="ctr" marL="73152" marR="54864" marT="27432" marB="27432">
                    <a:solidFill>
                      <a:srgbClr val="FFFFFF"/>
                    </a:solidFill>
                  </a:tcPr>
                </a:tc>
                <a:tc>
                  <a:txBody>
                    <a:bodyPr wrap="square"/>
                    <a:lstStyle/>
                    <a:p>
                      <a:r>
                        <a:rPr sz="1100">
                          <a:solidFill>
                            <a:srgbClr val="1A1A1A"/>
                          </a:solidFill>
                        </a:rPr>
                        <a:t>Trust in YOUR name is now the weapon</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damage is a chain, not a point. This is why 'it's just one OTP' is dangerous thinking — that one code is the first link that unlocks all the others.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76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Understanding the Implications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victim who shares one OTP loses their eSewa / Khalti wallet balance — and then the attacker uses the hijacked account to message the victim's contacts asking for money, so the harm spreads to friends and family. What felt like 'one small code' became financial theft plus a reputational and social attack running through the victim's own name.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"It's just one password — no big deal." Credentials are keys to a whole chain of accounts: one leaked code can unlock email, then the bank, then social accounts, then your contacts. The impact is almost never limited to the single thing you first gave away.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implications of a single manipulation are rarely limited to one account: because credentials are keys to a chain of linked services, one leaked OTP or password can cascade into data loss, financial theft, identity theft, and reputational damage — and the attacker often exploits the victim's contacts next. The impact is wide and delayed, which is why every credential matters.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chain reaction · credentials are keys · cascade · identity theft · reputational damage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76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Building Trust — the levers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Attackers manufacture trust using well-known influence principles (Cialdini-style) — authority, liking/rapport, social proof, and reciprocity. Taught here only to RECOGNISE them: the friendly, legitimate-sounding front is engineered, not genuine.</a:t>
            </a:r>
          </a:p>
          <a:p>
            <a:pPr>
              <a:spcAft>
                <a:spcPts val="500"/>
              </a:spcAft>
            </a:pPr>
            <a:r>
              <a:rPr sz="1200" b="1">
                <a:solidFill>
                  <a:srgbClr val="185FA5"/>
                </a:solidFill>
              </a:rPr>
              <a:t>HOW IT WORKS</a:t>
            </a:r>
          </a:p>
          <a:p>
            <a:pPr>
              <a:spcAft>
                <a:spcPts val="600"/>
              </a:spcAft>
            </a:pPr>
            <a:r>
              <a:rPr sz="1400">
                <a:solidFill>
                  <a:srgbClr val="1A1A1A"/>
                </a:solidFill>
              </a:rPr>
              <a:t>•  Authority: 'I'm from the bank / the police' — a title that short-circuits doubt.</a:t>
            </a:r>
          </a:p>
          <a:p>
            <a:pPr>
              <a:spcAft>
                <a:spcPts val="600"/>
              </a:spcAft>
            </a:pPr>
            <a:r>
              <a:rPr sz="1400">
                <a:solidFill>
                  <a:srgbClr val="1A1A1A"/>
                </a:solidFill>
              </a:rPr>
              <a:t>•  Liking / rapport: friendly small talk to make you comfortable before the ask.</a:t>
            </a:r>
          </a:p>
          <a:p>
            <a:pPr>
              <a:spcAft>
                <a:spcPts val="600"/>
              </a:spcAft>
            </a:pPr>
            <a:r>
              <a:rPr sz="1400">
                <a:solidFill>
                  <a:srgbClr val="1A1A1A"/>
                </a:solidFill>
              </a:rPr>
              <a:t>•  Social proof: 'everyone has already updated their KYC' — the herd nudge.</a:t>
            </a:r>
          </a:p>
          <a:p>
            <a:pPr>
              <a:spcAft>
                <a:spcPts val="600"/>
              </a:spcAft>
            </a:pPr>
            <a:r>
              <a:rPr sz="1400">
                <a:solidFill>
                  <a:srgbClr val="1A1A1A"/>
                </a:solidFill>
              </a:rPr>
              <a:t>•  Reciprocity: 'I've helped you fix this, now just confirm the code for me.'</a:t>
            </a:r>
          </a:p>
        </p:txBody>
      </p:sp>
      <p:pic>
        <p:nvPicPr>
          <p:cNvPr id="6" name="Picture 5" descr="s34_levers.png"/>
          <p:cNvPicPr>
            <a:picLocks noChangeAspect="1"/>
          </p:cNvPicPr>
          <p:nvPr/>
        </p:nvPicPr>
        <p:blipFill>
          <a:blip r:embed="rId2"/>
          <a:stretch>
            <a:fillRect/>
          </a:stretch>
        </p:blipFill>
        <p:spPr>
          <a:xfrm>
            <a:off x="6355080" y="2431477"/>
            <a:ext cx="5532120" cy="277228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Trust is manufactured — spot the lever behind the friendliness.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76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influence levers — recognise, don't use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384109"/>
                <a:gridCol w="4384109"/>
              </a:tblGrid>
              <a:tr h="630936">
                <a:tc>
                  <a:txBody>
                    <a:bodyPr wrap="square"/>
                    <a:lstStyle/>
                    <a:p>
                      <a:r>
                        <a:rPr sz="1150" b="1">
                          <a:solidFill>
                            <a:srgbClr val="FFFFFF"/>
                          </a:solidFill>
                        </a:rPr>
                        <a:t>Lever</a:t>
                      </a:r>
                    </a:p>
                  </a:txBody>
                  <a:tcPr anchor="ctr" marL="73152" marR="54864" marT="27432" marB="27432">
                    <a:solidFill>
                      <a:srgbClr val="0C2B4A"/>
                    </a:solidFill>
                  </a:tcPr>
                </a:tc>
                <a:tc>
                  <a:txBody>
                    <a:bodyPr wrap="square"/>
                    <a:lstStyle/>
                    <a:p>
                      <a:r>
                        <a:rPr sz="1150" b="1">
                          <a:solidFill>
                            <a:srgbClr val="FFFFFF"/>
                          </a:solidFill>
                        </a:rPr>
                        <a:t>How it sounds (Nepal)</a:t>
                      </a:r>
                    </a:p>
                  </a:txBody>
                  <a:tcPr anchor="ctr" marL="73152" marR="54864" marT="27432" marB="27432">
                    <a:solidFill>
                      <a:srgbClr val="0C2B4A"/>
                    </a:solidFill>
                  </a:tcPr>
                </a:tc>
                <a:tc>
                  <a:txBody>
                    <a:bodyPr wrap="square"/>
                    <a:lstStyle/>
                    <a:p>
                      <a:r>
                        <a:rPr sz="1150" b="1">
                          <a:solidFill>
                            <a:srgbClr val="FFFFFF"/>
                          </a:solidFill>
                        </a:rPr>
                        <a:t>The red flag it should raise</a:t>
                      </a:r>
                    </a:p>
                  </a:txBody>
                  <a:tcPr anchor="ctr" marL="73152" marR="54864" marT="27432" marB="27432">
                    <a:solidFill>
                      <a:srgbClr val="0C2B4A"/>
                    </a:solidFill>
                  </a:tcPr>
                </a:tc>
              </a:tr>
              <a:tr h="630936">
                <a:tc>
                  <a:txBody>
                    <a:bodyPr wrap="square"/>
                    <a:lstStyle/>
                    <a:p>
                      <a:r>
                        <a:rPr sz="1100" b="1">
                          <a:solidFill>
                            <a:srgbClr val="0C2B4A"/>
                          </a:solidFill>
                        </a:rPr>
                        <a:t>Authority</a:t>
                      </a:r>
                    </a:p>
                  </a:txBody>
                  <a:tcPr anchor="ctr" marL="73152" marR="54864" marT="27432" marB="27432">
                    <a:solidFill>
                      <a:srgbClr val="FFFFFF"/>
                    </a:solidFill>
                  </a:tcPr>
                </a:tc>
                <a:tc>
                  <a:txBody>
                    <a:bodyPr wrap="square"/>
                    <a:lstStyle/>
                    <a:p>
                      <a:r>
                        <a:rPr sz="1100">
                          <a:solidFill>
                            <a:srgbClr val="1A1A1A"/>
                          </a:solidFill>
                        </a:rPr>
                        <a:t>'I'm calling from the bank / police / IT'</a:t>
                      </a:r>
                    </a:p>
                  </a:txBody>
                  <a:tcPr anchor="ctr" marL="73152" marR="54864" marT="27432" marB="27432">
                    <a:solidFill>
                      <a:srgbClr val="FFFFFF"/>
                    </a:solidFill>
                  </a:tcPr>
                </a:tc>
                <a:tc>
                  <a:txBody>
                    <a:bodyPr wrap="square"/>
                    <a:lstStyle/>
                    <a:p>
                      <a:r>
                        <a:rPr sz="1100">
                          <a:solidFill>
                            <a:srgbClr val="1A1A1A"/>
                          </a:solidFill>
                        </a:rPr>
                        <a:t>A title alone is not proof — verify independently</a:t>
                      </a:r>
                    </a:p>
                  </a:txBody>
                  <a:tcPr anchor="ctr" marL="73152" marR="54864" marT="27432" marB="27432">
                    <a:solidFill>
                      <a:srgbClr val="FFFFFF"/>
                    </a:solidFill>
                  </a:tcPr>
                </a:tc>
              </a:tr>
              <a:tr h="630936">
                <a:tc>
                  <a:txBody>
                    <a:bodyPr wrap="square"/>
                    <a:lstStyle/>
                    <a:p>
                      <a:r>
                        <a:rPr sz="1100" b="1">
                          <a:solidFill>
                            <a:srgbClr val="0C2B4A"/>
                          </a:solidFill>
                        </a:rPr>
                        <a:t>Liking / rapport</a:t>
                      </a:r>
                    </a:p>
                  </a:txBody>
                  <a:tcPr anchor="ctr" marL="73152" marR="54864" marT="27432" marB="27432">
                    <a:solidFill>
                      <a:srgbClr val="EEF3F8"/>
                    </a:solidFill>
                  </a:tcPr>
                </a:tc>
                <a:tc>
                  <a:txBody>
                    <a:bodyPr wrap="square"/>
                    <a:lstStyle/>
                    <a:p>
                      <a:r>
                        <a:rPr sz="1100">
                          <a:solidFill>
                            <a:srgbClr val="1A1A1A"/>
                          </a:solidFill>
                        </a:rPr>
                        <a:t>Warm, friendly chat before any request</a:t>
                      </a:r>
                    </a:p>
                  </a:txBody>
                  <a:tcPr anchor="ctr" marL="73152" marR="54864" marT="27432" marB="27432">
                    <a:solidFill>
                      <a:srgbClr val="EEF3F8"/>
                    </a:solidFill>
                  </a:tcPr>
                </a:tc>
                <a:tc>
                  <a:txBody>
                    <a:bodyPr wrap="square"/>
                    <a:lstStyle/>
                    <a:p>
                      <a:r>
                        <a:rPr sz="1100">
                          <a:solidFill>
                            <a:srgbClr val="1A1A1A"/>
                          </a:solidFill>
                        </a:rPr>
                        <a:t>Unusual friendliness from a stranger who then asks</a:t>
                      </a:r>
                    </a:p>
                  </a:txBody>
                  <a:tcPr anchor="ctr" marL="73152" marR="54864" marT="27432" marB="27432">
                    <a:solidFill>
                      <a:srgbClr val="EEF3F8"/>
                    </a:solidFill>
                  </a:tcPr>
                </a:tc>
              </a:tr>
              <a:tr h="630936">
                <a:tc>
                  <a:txBody>
                    <a:bodyPr wrap="square"/>
                    <a:lstStyle/>
                    <a:p>
                      <a:r>
                        <a:rPr sz="1100" b="1">
                          <a:solidFill>
                            <a:srgbClr val="0C2B4A"/>
                          </a:solidFill>
                        </a:rPr>
                        <a:t>Social proof</a:t>
                      </a:r>
                    </a:p>
                  </a:txBody>
                  <a:tcPr anchor="ctr" marL="73152" marR="54864" marT="27432" marB="27432">
                    <a:solidFill>
                      <a:srgbClr val="FFFFFF"/>
                    </a:solidFill>
                  </a:tcPr>
                </a:tc>
                <a:tc>
                  <a:txBody>
                    <a:bodyPr wrap="square"/>
                    <a:lstStyle/>
                    <a:p>
                      <a:r>
                        <a:rPr sz="1100">
                          <a:solidFill>
                            <a:srgbClr val="1A1A1A"/>
                          </a:solidFill>
                        </a:rPr>
                        <a:t>'Everyone has updated their KYC already'</a:t>
                      </a:r>
                    </a:p>
                  </a:txBody>
                  <a:tcPr anchor="ctr" marL="73152" marR="54864" marT="27432" marB="27432">
                    <a:solidFill>
                      <a:srgbClr val="FFFFFF"/>
                    </a:solidFill>
                  </a:tcPr>
                </a:tc>
                <a:tc>
                  <a:txBody>
                    <a:bodyPr wrap="square"/>
                    <a:lstStyle/>
                    <a:p>
                      <a:r>
                        <a:rPr sz="1100">
                          <a:solidFill>
                            <a:srgbClr val="1A1A1A"/>
                          </a:solidFill>
                        </a:rPr>
                        <a:t>'Everyone's doing it' is pressure, not a reason</a:t>
                      </a:r>
                    </a:p>
                  </a:txBody>
                  <a:tcPr anchor="ctr" marL="73152" marR="54864" marT="27432" marB="27432">
                    <a:solidFill>
                      <a:srgbClr val="FFFFFF"/>
                    </a:solidFill>
                  </a:tcPr>
                </a:tc>
              </a:tr>
              <a:tr h="630936">
                <a:tc>
                  <a:txBody>
                    <a:bodyPr wrap="square"/>
                    <a:lstStyle/>
                    <a:p>
                      <a:r>
                        <a:rPr sz="1100" b="1">
                          <a:solidFill>
                            <a:srgbClr val="0C2B4A"/>
                          </a:solidFill>
                        </a:rPr>
                        <a:t>Reciprocity</a:t>
                      </a:r>
                    </a:p>
                  </a:txBody>
                  <a:tcPr anchor="ctr" marL="73152" marR="54864" marT="27432" marB="27432">
                    <a:solidFill>
                      <a:srgbClr val="EEF3F8"/>
                    </a:solidFill>
                  </a:tcPr>
                </a:tc>
                <a:tc>
                  <a:txBody>
                    <a:bodyPr wrap="square"/>
                    <a:lstStyle/>
                    <a:p>
                      <a:r>
                        <a:rPr sz="1100">
                          <a:solidFill>
                            <a:srgbClr val="1A1A1A"/>
                          </a:solidFill>
                        </a:rPr>
                        <a:t>'I helped you — now just confirm this code'</a:t>
                      </a:r>
                    </a:p>
                  </a:txBody>
                  <a:tcPr anchor="ctr" marL="73152" marR="54864" marT="27432" marB="27432">
                    <a:solidFill>
                      <a:srgbClr val="EEF3F8"/>
                    </a:solidFill>
                  </a:tcPr>
                </a:tc>
                <a:tc>
                  <a:txBody>
                    <a:bodyPr wrap="square"/>
                    <a:lstStyle/>
                    <a:p>
                      <a:r>
                        <a:rPr sz="1100">
                          <a:solidFill>
                            <a:srgbClr val="1A1A1A"/>
                          </a:solidFill>
                        </a:rPr>
                        <a:t>A small favour used to extract a bigger one</a:t>
                      </a:r>
                    </a:p>
                  </a:txBody>
                  <a:tcPr anchor="ctr" marL="73152" marR="54864" marT="27432" marB="27432">
                    <a:solidFill>
                      <a:srgbClr val="EEF3F8"/>
                    </a:solidFill>
                  </a:tcPr>
                </a:tc>
              </a:tr>
              <a:tr h="630936">
                <a:tc>
                  <a:txBody>
                    <a:bodyPr wrap="square"/>
                    <a:lstStyle/>
                    <a:p>
                      <a:r>
                        <a:rPr sz="1100" b="1">
                          <a:solidFill>
                            <a:srgbClr val="0C2B4A"/>
                          </a:solidFill>
                        </a:rPr>
                        <a:t>Familiarity</a:t>
                      </a:r>
                    </a:p>
                  </a:txBody>
                  <a:tcPr anchor="ctr" marL="73152" marR="54864" marT="27432" marB="27432">
                    <a:solidFill>
                      <a:srgbClr val="FFFFFF"/>
                    </a:solidFill>
                  </a:tcPr>
                </a:tc>
                <a:tc>
                  <a:txBody>
                    <a:bodyPr wrap="square"/>
                    <a:lstStyle/>
                    <a:p>
                      <a:r>
                        <a:rPr sz="1100">
                          <a:solidFill>
                            <a:srgbClr val="1A1A1A"/>
                          </a:solidFill>
                        </a:rPr>
                        <a:t>Uses your real name, branch, or last digits</a:t>
                      </a:r>
                    </a:p>
                  </a:txBody>
                  <a:tcPr anchor="ctr" marL="73152" marR="54864" marT="27432" marB="27432">
                    <a:solidFill>
                      <a:srgbClr val="FFFFFF"/>
                    </a:solidFill>
                  </a:tcPr>
                </a:tc>
                <a:tc>
                  <a:txBody>
                    <a:bodyPr wrap="square"/>
                    <a:lstStyle/>
                    <a:p>
                      <a:r>
                        <a:rPr sz="1100">
                          <a:solidFill>
                            <a:srgbClr val="1A1A1A"/>
                          </a:solidFill>
                        </a:rPr>
                        <a:t>Scraped from a leaked list to fake legitimacy</a:t>
                      </a:r>
                    </a:p>
                  </a:txBody>
                  <a:tcPr anchor="ctr" marL="73152" marR="54864" marT="27432" marB="27432">
                    <a:solidFill>
                      <a:srgbClr val="FFFFFF"/>
                    </a:solidFill>
                  </a:tcPr>
                </a:tc>
              </a:tr>
              <a:tr h="630936">
                <a:tc>
                  <a:txBody>
                    <a:bodyPr wrap="square"/>
                    <a:lstStyle/>
                    <a:p>
                      <a:r>
                        <a:rPr sz="1100" b="1">
                          <a:solidFill>
                            <a:srgbClr val="0C2B4A"/>
                          </a:solidFill>
                        </a:rPr>
                        <a:t>Consistency</a:t>
                      </a:r>
                    </a:p>
                  </a:txBody>
                  <a:tcPr anchor="ctr" marL="73152" marR="54864" marT="27432" marB="27432">
                    <a:solidFill>
                      <a:srgbClr val="EEF3F8"/>
                    </a:solidFill>
                  </a:tcPr>
                </a:tc>
                <a:tc>
                  <a:txBody>
                    <a:bodyPr wrap="square"/>
                    <a:lstStyle/>
                    <a:p>
                      <a:r>
                        <a:rPr sz="1100">
                          <a:solidFill>
                            <a:srgbClr val="1A1A1A"/>
                          </a:solidFill>
                        </a:rPr>
                        <a:t>'You already agreed, so just finish the step'</a:t>
                      </a:r>
                    </a:p>
                  </a:txBody>
                  <a:tcPr anchor="ctr" marL="73152" marR="54864" marT="27432" marB="27432">
                    <a:solidFill>
                      <a:srgbClr val="EEF3F8"/>
                    </a:solidFill>
                  </a:tcPr>
                </a:tc>
                <a:tc>
                  <a:txBody>
                    <a:bodyPr wrap="square"/>
                    <a:lstStyle/>
                    <a:p>
                      <a:r>
                        <a:rPr sz="1100">
                          <a:solidFill>
                            <a:srgbClr val="1A1A1A"/>
                          </a:solidFill>
                        </a:rPr>
                        <a:t>Manufactured momentum toward the real ask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are legitimate psychology principles turned into a con. You are learning them to DETECT them — the moment you can name the lever, its power drops.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Building Trust — the levers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caller uses a real-sounding Nepali bank name, your actual branch, and your own name (scraped from a leaked customer list) to sound legitimate, then spoofs a sender name/logo that looks like the real institution. Every detail is engineered to manufacture trust — none of it proves who they are. The polished front is the attack, not evidence against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they know my name, my branch, and my bank, they must be genuine." That information is often scraped from leaked lists and is exactly how attackers manufacture legitimacy. Knowing your details proves nothing — always verify by contacting the institution through its official number yourself.</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Attackers build trust by exploiting influence principles — authority ('I'm from the bank'), liking/rapport, social proof ('everyone has updated their KYC'), and reciprocity ('I helped you, now help me') — often reinforced with your real name, branch, and spoofed logos scraped from leaked data. The trust is manufactured, so recognising the lever, not the friendly front, is the defence.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authority · liking/rapport · social proof · reciprocity · spoofing · manufactured trust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76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Exploiting the Relationship — the close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Once trust exists, attackers add PRESSURE so the victim acts before thinking — urgency, fear, and scarcity. This is 'the close': the emotional squeeze that converts a friendly conversation into a harmful action.</a:t>
            </a:r>
          </a:p>
          <a:p>
            <a:pPr>
              <a:spcAft>
                <a:spcPts val="500"/>
              </a:spcAft>
            </a:pPr>
            <a:r>
              <a:rPr sz="1200" b="1">
                <a:solidFill>
                  <a:srgbClr val="185FA5"/>
                </a:solidFill>
              </a:rPr>
              <a:t>HOW IT WORKS</a:t>
            </a:r>
          </a:p>
          <a:p>
            <a:pPr>
              <a:spcAft>
                <a:spcPts val="600"/>
              </a:spcAft>
            </a:pPr>
            <a:r>
              <a:rPr sz="1400">
                <a:solidFill>
                  <a:srgbClr val="1A1A1A"/>
                </a:solidFill>
              </a:rPr>
              <a:t>•  Urgency: 'your account blocks in 10 minutes' — no time to verify.</a:t>
            </a:r>
          </a:p>
          <a:p>
            <a:pPr>
              <a:spcAft>
                <a:spcPts val="600"/>
              </a:spcAft>
            </a:pPr>
            <a:r>
              <a:rPr sz="1400">
                <a:solidFill>
                  <a:srgbClr val="1A1A1A"/>
                </a:solidFill>
              </a:rPr>
              <a:t>•  Fear: 'a police case has been filed against you' — panic overrides judgement.</a:t>
            </a:r>
          </a:p>
          <a:p>
            <a:pPr>
              <a:spcAft>
                <a:spcPts val="600"/>
              </a:spcAft>
            </a:pPr>
            <a:r>
              <a:rPr sz="1400">
                <a:solidFill>
                  <a:srgbClr val="1A1A1A"/>
                </a:solidFill>
              </a:rPr>
              <a:t>•  Scarcity: 'this lottery claim expires today' — act now or lose out.</a:t>
            </a:r>
          </a:p>
          <a:p>
            <a:pPr>
              <a:spcAft>
                <a:spcPts val="600"/>
              </a:spcAft>
            </a:pPr>
            <a:r>
              <a:rPr sz="1400">
                <a:solidFill>
                  <a:srgbClr val="1A1A1A"/>
                </a:solidFill>
              </a:rPr>
              <a:t>•  The friendly build-up is misdirection; the pressured ask is the actual trick.</a:t>
            </a:r>
          </a:p>
        </p:txBody>
      </p:sp>
      <p:pic>
        <p:nvPicPr>
          <p:cNvPr id="6" name="Picture 5" descr="s34_cycle.png"/>
          <p:cNvPicPr>
            <a:picLocks noChangeAspect="1"/>
          </p:cNvPicPr>
          <p:nvPr/>
        </p:nvPicPr>
        <p:blipFill>
          <a:blip r:embed="rId2"/>
          <a:stretch>
            <a:fillRect/>
          </a:stretch>
        </p:blipFill>
        <p:spPr>
          <a:xfrm>
            <a:off x="6355080" y="2339485"/>
            <a:ext cx="5532120" cy="295627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Trust is the setup; urgency/fear is the close.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76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Annotated scams — spot the levers and the close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572000"/>
                <a:gridCol w="2895600"/>
                <a:gridCol w="3962399"/>
              </a:tblGrid>
              <a:tr h="630936">
                <a:tc>
                  <a:txBody>
                    <a:bodyPr wrap="square"/>
                    <a:lstStyle/>
                    <a:p>
                      <a:r>
                        <a:rPr sz="1150" b="1">
                          <a:solidFill>
                            <a:srgbClr val="FFFFFF"/>
                          </a:solidFill>
                        </a:rPr>
                        <a:t>Scam message (Nepal)</a:t>
                      </a:r>
                    </a:p>
                  </a:txBody>
                  <a:tcPr anchor="ctr" marL="73152" marR="54864" marT="27432" marB="27432">
                    <a:solidFill>
                      <a:srgbClr val="0C2B4A"/>
                    </a:solidFill>
                  </a:tcPr>
                </a:tc>
                <a:tc>
                  <a:txBody>
                    <a:bodyPr wrap="square"/>
                    <a:lstStyle/>
                    <a:p>
                      <a:r>
                        <a:rPr sz="1150" b="1">
                          <a:solidFill>
                            <a:srgbClr val="FFFFFF"/>
                          </a:solidFill>
                        </a:rPr>
                        <a:t>Levers used</a:t>
                      </a:r>
                    </a:p>
                  </a:txBody>
                  <a:tcPr anchor="ctr" marL="73152" marR="54864" marT="27432" marB="27432">
                    <a:solidFill>
                      <a:srgbClr val="0C2B4A"/>
                    </a:solidFill>
                  </a:tcPr>
                </a:tc>
                <a:tc>
                  <a:txBody>
                    <a:bodyPr wrap="square"/>
                    <a:lstStyle/>
                    <a:p>
                      <a:r>
                        <a:rPr sz="1150" b="1">
                          <a:solidFill>
                            <a:srgbClr val="FFFFFF"/>
                          </a:solidFill>
                        </a:rPr>
                        <a:t>The 'close' + safe response</a:t>
                      </a:r>
                    </a:p>
                  </a:txBody>
                  <a:tcPr anchor="ctr" marL="73152" marR="54864" marT="27432" marB="27432">
                    <a:solidFill>
                      <a:srgbClr val="0C2B4A"/>
                    </a:solidFill>
                  </a:tcPr>
                </a:tc>
              </a:tr>
              <a:tr h="630936">
                <a:tc>
                  <a:txBody>
                    <a:bodyPr wrap="square"/>
                    <a:lstStyle/>
                    <a:p>
                      <a:r>
                        <a:rPr sz="1100" b="1">
                          <a:solidFill>
                            <a:srgbClr val="0C2B4A"/>
                          </a:solidFill>
                        </a:rPr>
                        <a:t>'You've won Rs. 25 lakh — pay Rs. 5,000 fee to release it'</a:t>
                      </a:r>
                    </a:p>
                  </a:txBody>
                  <a:tcPr anchor="ctr" marL="73152" marR="54864" marT="27432" marB="27432">
                    <a:solidFill>
                      <a:srgbClr val="FFFFFF"/>
                    </a:solidFill>
                  </a:tcPr>
                </a:tc>
                <a:tc>
                  <a:txBody>
                    <a:bodyPr wrap="square"/>
                    <a:lstStyle/>
                    <a:p>
                      <a:r>
                        <a:rPr sz="1100">
                          <a:solidFill>
                            <a:srgbClr val="1A1A1A"/>
                          </a:solidFill>
                        </a:rPr>
                        <a:t>Greed + authority + scarcity</a:t>
                      </a:r>
                    </a:p>
                  </a:txBody>
                  <a:tcPr anchor="ctr" marL="73152" marR="54864" marT="27432" marB="27432">
                    <a:solidFill>
                      <a:srgbClr val="FFFFFF"/>
                    </a:solidFill>
                  </a:tcPr>
                </a:tc>
                <a:tc>
                  <a:txBody>
                    <a:bodyPr wrap="square"/>
                    <a:lstStyle/>
                    <a:p>
                      <a:r>
                        <a:rPr sz="1100">
                          <a:solidFill>
                            <a:srgbClr val="1A1A1A"/>
                          </a:solidFill>
                        </a:rPr>
                        <a:t>Urgency to pay → never pay a fee to receive a 'prize'</a:t>
                      </a:r>
                    </a:p>
                  </a:txBody>
                  <a:tcPr anchor="ctr" marL="73152" marR="54864" marT="27432" marB="27432">
                    <a:solidFill>
                      <a:srgbClr val="FFFFFF"/>
                    </a:solidFill>
                  </a:tcPr>
                </a:tc>
              </a:tr>
              <a:tr h="630936">
                <a:tc>
                  <a:txBody>
                    <a:bodyPr wrap="square"/>
                    <a:lstStyle/>
                    <a:p>
                      <a:r>
                        <a:rPr sz="1100" b="1">
                          <a:solidFill>
                            <a:srgbClr val="0C2B4A"/>
                          </a:solidFill>
                        </a:rPr>
                        <a:t>'Account blocks in 10 min — confirm your OTP now'</a:t>
                      </a:r>
                    </a:p>
                  </a:txBody>
                  <a:tcPr anchor="ctr" marL="73152" marR="54864" marT="27432" marB="27432">
                    <a:solidFill>
                      <a:srgbClr val="EEF3F8"/>
                    </a:solidFill>
                  </a:tcPr>
                </a:tc>
                <a:tc>
                  <a:txBody>
                    <a:bodyPr wrap="square"/>
                    <a:lstStyle/>
                    <a:p>
                      <a:r>
                        <a:rPr sz="1100">
                          <a:solidFill>
                            <a:srgbClr val="1A1A1A"/>
                          </a:solidFill>
                        </a:rPr>
                        <a:t>Authority + urgency</a:t>
                      </a:r>
                    </a:p>
                  </a:txBody>
                  <a:tcPr anchor="ctr" marL="73152" marR="54864" marT="27432" marB="27432">
                    <a:solidFill>
                      <a:srgbClr val="EEF3F8"/>
                    </a:solidFill>
                  </a:tcPr>
                </a:tc>
                <a:tc>
                  <a:txBody>
                    <a:bodyPr wrap="square"/>
                    <a:lstStyle/>
                    <a:p>
                      <a:r>
                        <a:rPr sz="1100">
                          <a:solidFill>
                            <a:srgbClr val="1A1A1A"/>
                          </a:solidFill>
                        </a:rPr>
                        <a:t>Time pressure → banks never ask for your OTP</a:t>
                      </a:r>
                    </a:p>
                  </a:txBody>
                  <a:tcPr anchor="ctr" marL="73152" marR="54864" marT="27432" marB="27432">
                    <a:solidFill>
                      <a:srgbClr val="EEF3F8"/>
                    </a:solidFill>
                  </a:tcPr>
                </a:tc>
              </a:tr>
              <a:tr h="630936">
                <a:tc>
                  <a:txBody>
                    <a:bodyPr wrap="square"/>
                    <a:lstStyle/>
                    <a:p>
                      <a:r>
                        <a:rPr sz="1100" b="1">
                          <a:solidFill>
                            <a:srgbClr val="0C2B4A"/>
                          </a:solidFill>
                        </a:rPr>
                        <a:t>'Police case filed — settle immediately or be arrested'</a:t>
                      </a:r>
                    </a:p>
                  </a:txBody>
                  <a:tcPr anchor="ctr" marL="73152" marR="54864" marT="27432" marB="27432">
                    <a:solidFill>
                      <a:srgbClr val="FFFFFF"/>
                    </a:solidFill>
                  </a:tcPr>
                </a:tc>
                <a:tc>
                  <a:txBody>
                    <a:bodyPr wrap="square"/>
                    <a:lstStyle/>
                    <a:p>
                      <a:r>
                        <a:rPr sz="1100">
                          <a:solidFill>
                            <a:srgbClr val="1A1A1A"/>
                          </a:solidFill>
                        </a:rPr>
                        <a:t>Authority + fear</a:t>
                      </a:r>
                    </a:p>
                  </a:txBody>
                  <a:tcPr anchor="ctr" marL="73152" marR="54864" marT="27432" marB="27432">
                    <a:solidFill>
                      <a:srgbClr val="FFFFFF"/>
                    </a:solidFill>
                  </a:tcPr>
                </a:tc>
                <a:tc>
                  <a:txBody>
                    <a:bodyPr wrap="square"/>
                    <a:lstStyle/>
                    <a:p>
                      <a:r>
                        <a:rPr sz="1100">
                          <a:solidFill>
                            <a:srgbClr val="1A1A1A"/>
                          </a:solidFill>
                        </a:rPr>
                        <a:t>Threat of arrest → hang up, call the real police line</a:t>
                      </a:r>
                    </a:p>
                  </a:txBody>
                  <a:tcPr anchor="ctr" marL="73152" marR="54864" marT="27432" marB="27432">
                    <a:solidFill>
                      <a:srgbClr val="FFFFFF"/>
                    </a:solidFill>
                  </a:tcPr>
                </a:tc>
              </a:tr>
              <a:tr h="630936">
                <a:tc>
                  <a:txBody>
                    <a:bodyPr wrap="square"/>
                    <a:lstStyle/>
                    <a:p>
                      <a:r>
                        <a:rPr sz="1100" b="1">
                          <a:solidFill>
                            <a:srgbClr val="0C2B4A"/>
                          </a:solidFill>
                        </a:rPr>
                        <a:t>'KYC expires today — verify on this link'</a:t>
                      </a:r>
                    </a:p>
                  </a:txBody>
                  <a:tcPr anchor="ctr" marL="73152" marR="54864" marT="27432" marB="27432">
                    <a:solidFill>
                      <a:srgbClr val="EEF3F8"/>
                    </a:solidFill>
                  </a:tcPr>
                </a:tc>
                <a:tc>
                  <a:txBody>
                    <a:bodyPr wrap="square"/>
                    <a:lstStyle/>
                    <a:p>
                      <a:r>
                        <a:rPr sz="1100">
                          <a:solidFill>
                            <a:srgbClr val="1A1A1A"/>
                          </a:solidFill>
                        </a:rPr>
                        <a:t>Social proof + urgency</a:t>
                      </a:r>
                    </a:p>
                  </a:txBody>
                  <a:tcPr anchor="ctr" marL="73152" marR="54864" marT="27432" marB="27432">
                    <a:solidFill>
                      <a:srgbClr val="EEF3F8"/>
                    </a:solidFill>
                  </a:tcPr>
                </a:tc>
                <a:tc>
                  <a:txBody>
                    <a:bodyPr wrap="square"/>
                    <a:lstStyle/>
                    <a:p>
                      <a:r>
                        <a:rPr sz="1100">
                          <a:solidFill>
                            <a:srgbClr val="1A1A1A"/>
                          </a:solidFill>
                        </a:rPr>
                        <a:t>Deadline → visit the bank/app directly, not the link</a:t>
                      </a:r>
                    </a:p>
                  </a:txBody>
                  <a:tcPr anchor="ctr" marL="73152" marR="54864" marT="27432" marB="27432">
                    <a:solidFill>
                      <a:srgbClr val="EEF3F8"/>
                    </a:solidFill>
                  </a:tcPr>
                </a:tc>
              </a:tr>
              <a:tr h="630936">
                <a:tc>
                  <a:txBody>
                    <a:bodyPr wrap="square"/>
                    <a:lstStyle/>
                    <a:p>
                      <a:r>
                        <a:rPr sz="1100" b="1">
                          <a:solidFill>
                            <a:srgbClr val="0C2B4A"/>
                          </a:solidFill>
                        </a:rPr>
                        <a:t>'Parcel held at customs — pay Rs. 200 here'</a:t>
                      </a:r>
                    </a:p>
                  </a:txBody>
                  <a:tcPr anchor="ctr" marL="73152" marR="54864" marT="27432" marB="27432">
                    <a:solidFill>
                      <a:srgbClr val="FFFFFF"/>
                    </a:solidFill>
                  </a:tcPr>
                </a:tc>
                <a:tc>
                  <a:txBody>
                    <a:bodyPr wrap="square"/>
                    <a:lstStyle/>
                    <a:p>
                      <a:r>
                        <a:rPr sz="1100">
                          <a:solidFill>
                            <a:srgbClr val="1A1A1A"/>
                          </a:solidFill>
                        </a:rPr>
                        <a:t>Curiosity + urgency</a:t>
                      </a:r>
                    </a:p>
                  </a:txBody>
                  <a:tcPr anchor="ctr" marL="73152" marR="54864" marT="27432" marB="27432">
                    <a:solidFill>
                      <a:srgbClr val="FFFFFF"/>
                    </a:solidFill>
                  </a:tcPr>
                </a:tc>
                <a:tc>
                  <a:txBody>
                    <a:bodyPr wrap="square"/>
                    <a:lstStyle/>
                    <a:p>
                      <a:r>
                        <a:rPr sz="1100">
                          <a:solidFill>
                            <a:srgbClr val="1A1A1A"/>
                          </a:solidFill>
                        </a:rPr>
                        <a:t>Small ask → verify with the courier's official number</a:t>
                      </a:r>
                    </a:p>
                  </a:txBody>
                  <a:tcPr anchor="ctr" marL="73152" marR="54864" marT="27432" marB="27432">
                    <a:solidFill>
                      <a:srgbClr val="FFFFFF"/>
                    </a:solidFill>
                  </a:tcPr>
                </a:tc>
              </a:tr>
              <a:tr h="630936">
                <a:tc>
                  <a:txBody>
                    <a:bodyPr wrap="square"/>
                    <a:lstStyle/>
                    <a:p>
                      <a:r>
                        <a:rPr sz="1100" b="1">
                          <a:solidFill>
                            <a:srgbClr val="0C2B4A"/>
                          </a:solidFill>
                        </a:rPr>
                        <a:t>'I'm your boss's assistant — approve this transfer fast'</a:t>
                      </a:r>
                    </a:p>
                  </a:txBody>
                  <a:tcPr anchor="ctr" marL="73152" marR="54864" marT="27432" marB="27432">
                    <a:solidFill>
                      <a:srgbClr val="EEF3F8"/>
                    </a:solidFill>
                  </a:tcPr>
                </a:tc>
                <a:tc>
                  <a:txBody>
                    <a:bodyPr wrap="square"/>
                    <a:lstStyle/>
                    <a:p>
                      <a:r>
                        <a:rPr sz="1100">
                          <a:solidFill>
                            <a:srgbClr val="1A1A1A"/>
                          </a:solidFill>
                        </a:rPr>
                        <a:t>Authority + rapport</a:t>
                      </a:r>
                    </a:p>
                  </a:txBody>
                  <a:tcPr anchor="ctr" marL="73152" marR="54864" marT="27432" marB="27432">
                    <a:solidFill>
                      <a:srgbClr val="EEF3F8"/>
                    </a:solidFill>
                  </a:tcPr>
                </a:tc>
                <a:tc>
                  <a:txBody>
                    <a:bodyPr wrap="square"/>
                    <a:lstStyle/>
                    <a:p>
                      <a:r>
                        <a:rPr sz="1100">
                          <a:solidFill>
                            <a:srgbClr val="1A1A1A"/>
                          </a:solidFill>
                        </a:rPr>
                        <a:t>Rushed approval → confirm with the boss on a known number</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 every case the emotion (greed, fear, urgency) is the tell. Naming the lever and refusing to be rushed is the single fastest way to defuse the close.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76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Exploiting the Relationship — the close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'Facebook lottery' message says: 'You've won Rs. 25 lakh — pay Rs. 5,000 processing fee to release it.' It stacks levers: authority (an official-looking win), greed (a huge prize), and scarcity/urgency ('claim expires today'). The friendly, exciting build-up is misdirection; the pressured 'pay the fee now' is the trick. Spotting the emotion it triggers stops it cold.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real urgent message means I must act immediately." Manufactured urgency is the attacker's main weapon — it exists precisely to stop you verifying. The correct response to pressure is to slow down: a genuine institution will not punish you for taking time to confirm through official channels.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After building trust, attackers exploit the relationship by adding pressure — urgency ('blocks in 10 minutes'), fear ('a police case is filed'), and scarcity ('claim expires today') — so the victim acts before thinking. The friendly build-up is misdirection and the pressured ask is the close, so recognising the emotion a message is trying to trigger is the fastest way to catch the scam.</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the close · urgency · fear · scarcity · misdirection · spot the emotion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76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S34 — 'Which lever?'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take a scam call your aunt/uncle actually got (or a message above).</a:t>
            </a:r>
          </a:p>
          <a:p>
            <a:pPr>
              <a:spcAft>
                <a:spcPts val="700"/>
              </a:spcAft>
            </a:pPr>
            <a:r>
              <a:rPr sz="1550">
                <a:solidFill>
                  <a:srgbClr val="1A1A1A"/>
                </a:solidFill>
              </a:rPr>
              <a:t>•  Identify the trust-building tactic first (authority, liking, or social proof).</a:t>
            </a:r>
          </a:p>
          <a:p>
            <a:pPr>
              <a:spcAft>
                <a:spcPts val="700"/>
              </a:spcAft>
            </a:pPr>
            <a:r>
              <a:rPr sz="1550">
                <a:solidFill>
                  <a:srgbClr val="1A1A1A"/>
                </a:solidFill>
              </a:rPr>
              <a:t>•  Then identify the 'close' — the urgency, fear, or scarcity that pushed for action.</a:t>
            </a:r>
          </a:p>
          <a:p>
            <a:pPr>
              <a:spcAft>
                <a:spcPts val="700"/>
              </a:spcAft>
            </a:pPr>
            <a:r>
              <a:rPr sz="1550">
                <a:solidFill>
                  <a:srgbClr val="1A1A1A"/>
                </a:solidFill>
              </a:rPr>
              <a:t>•  Take 3–4 answers aloud (3 min); confirm the pattern: build trust, then squeeze.</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Draw out the two-phase structure: manufacture trust, then apply pressure. The strongest answers separate the trust phase from the close, and name the emotion each lever targets. Recognition only — no how-to.</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76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'I'm calling from the police, act now or face arrest' combines:</a:t>
            </a:r>
          </a:p>
          <a:p>
            <a:pPr lvl="1"/>
            <a:r>
              <a:rPr sz="1500" b="1">
                <a:solidFill>
                  <a:srgbClr val="0F6E56"/>
                </a:solidFill>
              </a:rPr>
              <a:t>a) liking + scarcity   b) ✅ authority + fear/urgency   c) reciprocity only   d) social proof</a:t>
            </a:r>
          </a:p>
          <a:p>
            <a:pPr lvl="1">
              <a:spcBef>
                <a:spcPts val="600"/>
              </a:spcBef>
            </a:pPr>
            <a:r>
              <a:rPr sz="1500" i="1">
                <a:solidFill>
                  <a:srgbClr val="1A1A1A"/>
                </a:solidFill>
              </a:rPr>
              <a:t>     Why: a title (authority) plus a threat that demands instant action (fear/urgency).</a:t>
            </a:r>
          </a:p>
          <a:p>
            <a:pPr>
              <a:spcBef>
                <a:spcPts val="900"/>
              </a:spcBef>
            </a:pPr>
            <a:r>
              <a:rPr sz="1700" b="1">
                <a:solidFill>
                  <a:srgbClr val="0C2B4A"/>
                </a:solidFill>
              </a:rPr>
              <a:t>Q2.  Why is leaking a single OTP serious?</a:t>
            </a:r>
          </a:p>
          <a:p>
            <a:pPr lvl="1"/>
            <a:r>
              <a:rPr sz="1500" b="1">
                <a:solidFill>
                  <a:srgbClr val="0F6E56"/>
                </a:solidFill>
              </a:rPr>
              <a:t>a) it isn't   b) ✅ it can unlock a chain of linked accounts   c) only if it's a bank OTP   d) it expires</a:t>
            </a:r>
          </a:p>
          <a:p>
            <a:pPr lvl="1">
              <a:spcBef>
                <a:spcPts val="600"/>
              </a:spcBef>
            </a:pPr>
            <a:r>
              <a:rPr sz="1500" i="1">
                <a:solidFill>
                  <a:srgbClr val="1A1A1A"/>
                </a:solidFill>
              </a:rPr>
              <a:t>     Why: credentials are keys — one unlocks email, then bank, wallet, social, and your contacts.</a:t>
            </a:r>
          </a:p>
          <a:p>
            <a:pPr lvl="1">
              <a:spcBef>
                <a:spcPts val="600"/>
              </a:spcBef>
            </a:pPr>
            <a:r>
              <a:rPr sz="1500" i="1">
                <a:solidFill>
                  <a:srgbClr val="1A1A1A"/>
                </a:solidFill>
              </a:rPr>
              <a:t>Discussion: in a scam call your family got, which trust tactic was used — authority, liking, or social proof?</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76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Impact chains far beyond one account — one leaked OTP can unlock email, bank, wallet, and your contacts.</a:t>
            </a:r>
          </a:p>
          <a:p>
            <a:pPr>
              <a:spcAft>
                <a:spcPts val="800"/>
              </a:spcAft>
            </a:pPr>
            <a:r>
              <a:rPr sz="1500">
                <a:solidFill>
                  <a:srgbClr val="1A1A1A"/>
                </a:solidFill>
              </a:rPr>
              <a:t>2.  Attackers manufacture trust via authority, liking/rapport, social proof, and reciprocity — the friendly front is engineered.</a:t>
            </a:r>
          </a:p>
          <a:p>
            <a:pPr>
              <a:spcAft>
                <a:spcPts val="800"/>
              </a:spcAft>
            </a:pPr>
            <a:r>
              <a:rPr sz="1500">
                <a:solidFill>
                  <a:srgbClr val="1A1A1A"/>
                </a:solidFill>
              </a:rPr>
              <a:t>3.  They exploit it with urgency, fear, and scarcity — the 'close' that makes you act before verifying.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Spotting the EMOTION a message is trying to trigger — fear, greed, urgency — is the single fastest way to catch a scam before you react. The pause to name the lever is your protection.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S35 — the named attack types, how to recognise each, and how to defend against them.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76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35 · LECTURE HOUR 3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Attack Types (Recognition) · Countermeasures &amp; Prevention</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Phishing, vishing, smishing, pretexting, baiting, tailgating — six names, one goal: make YOU the door. Today you learn to recognise all six in the wild, and how to shut the door. Recognition only — no instructions to carry them out.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31 / 76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Major Attack Types (recognise them)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same con appears across channels under different names. You learn to RECOGNISE each — never to run it. Phishing (email), vishing (voice call), smishing (SMS), pretexting (invented backstory), baiting (a tempting lure), and tailgating (physical door-following).</a:t>
            </a:r>
          </a:p>
          <a:p>
            <a:pPr>
              <a:spcAft>
                <a:spcPts val="500"/>
              </a:spcAft>
            </a:pPr>
            <a:r>
              <a:rPr sz="1200" b="1">
                <a:solidFill>
                  <a:srgbClr val="185FA5"/>
                </a:solidFill>
              </a:rPr>
              <a:t>HOW IT WORKS</a:t>
            </a:r>
          </a:p>
          <a:p>
            <a:pPr>
              <a:spcAft>
                <a:spcPts val="600"/>
              </a:spcAft>
            </a:pPr>
            <a:r>
              <a:rPr sz="1400">
                <a:solidFill>
                  <a:srgbClr val="1A1A1A"/>
                </a:solidFill>
              </a:rPr>
              <a:t>•  Digital channels: phishing (email), smishing (SMS), vishing (a call) — same trick, different pipe.</a:t>
            </a:r>
          </a:p>
          <a:p>
            <a:pPr>
              <a:spcAft>
                <a:spcPts val="600"/>
              </a:spcAft>
            </a:pPr>
            <a:r>
              <a:rPr sz="1400">
                <a:solidFill>
                  <a:srgbClr val="1A1A1A"/>
                </a:solidFill>
              </a:rPr>
              <a:t>•  Human/physical: pretexting (a fake role/story), baiting (a 'free' download or dropped USB).</a:t>
            </a:r>
          </a:p>
          <a:p>
            <a:pPr>
              <a:spcAft>
                <a:spcPts val="600"/>
              </a:spcAft>
            </a:pPr>
            <a:r>
              <a:rPr sz="1400">
                <a:solidFill>
                  <a:srgbClr val="1A1A1A"/>
                </a:solidFill>
              </a:rPr>
              <a:t>•  Tailgating: following an authorised person through a secured door.</a:t>
            </a:r>
          </a:p>
          <a:p>
            <a:pPr>
              <a:spcAft>
                <a:spcPts val="600"/>
              </a:spcAft>
            </a:pPr>
            <a:r>
              <a:rPr sz="1400">
                <a:solidFill>
                  <a:srgbClr val="1A1A1A"/>
                </a:solidFill>
              </a:rPr>
              <a:t>•  Recognition cues repeat: mismatched URLs, urgent threats, requests for OTP/PIN, generic greetings.</a:t>
            </a:r>
          </a:p>
        </p:txBody>
      </p:sp>
      <p:pic>
        <p:nvPicPr>
          <p:cNvPr id="6" name="Picture 5" descr="s35_taxonomy.png"/>
          <p:cNvPicPr>
            <a:picLocks noChangeAspect="1"/>
          </p:cNvPicPr>
          <p:nvPr/>
        </p:nvPicPr>
        <p:blipFill>
          <a:blip r:embed="rId2"/>
          <a:stretch>
            <a:fillRect/>
          </a:stretch>
        </p:blipFill>
        <p:spPr>
          <a:xfrm>
            <a:off x="6355080" y="2393750"/>
            <a:ext cx="5532120" cy="284773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Six names, one con — recognise the channel, refuse the ask.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76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attack types — channel, recognition cue, example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49285"/>
                <a:gridCol w="2612571"/>
                <a:gridCol w="6368142"/>
              </a:tblGrid>
              <a:tr h="630936">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Channel</a:t>
                      </a:r>
                    </a:p>
                  </a:txBody>
                  <a:tcPr anchor="ctr" marL="73152" marR="54864" marT="27432" marB="27432">
                    <a:solidFill>
                      <a:srgbClr val="0C2B4A"/>
                    </a:solidFill>
                  </a:tcPr>
                </a:tc>
                <a:tc>
                  <a:txBody>
                    <a:bodyPr wrap="square"/>
                    <a:lstStyle/>
                    <a:p>
                      <a:r>
                        <a:rPr sz="1150" b="1">
                          <a:solidFill>
                            <a:srgbClr val="FFFFFF"/>
                          </a:solidFill>
                        </a:rPr>
                        <a:t>How you recognise it (Nepal example)</a:t>
                      </a:r>
                    </a:p>
                  </a:txBody>
                  <a:tcPr anchor="ctr" marL="73152" marR="54864" marT="27432" marB="27432">
                    <a:solidFill>
                      <a:srgbClr val="0C2B4A"/>
                    </a:solidFill>
                  </a:tcPr>
                </a:tc>
              </a:tr>
              <a:tr h="630936">
                <a:tc>
                  <a:txBody>
                    <a:bodyPr wrap="square"/>
                    <a:lstStyle/>
                    <a:p>
                      <a:r>
                        <a:rPr sz="1100" b="1">
                          <a:solidFill>
                            <a:srgbClr val="0C2B4A"/>
                          </a:solidFill>
                        </a:rPr>
                        <a:t>Phishing</a:t>
                      </a:r>
                    </a:p>
                  </a:txBody>
                  <a:tcPr anchor="ctr" marL="73152" marR="54864" marT="27432" marB="27432">
                    <a:solidFill>
                      <a:srgbClr val="FFFFFF"/>
                    </a:solidFill>
                  </a:tcPr>
                </a:tc>
                <a:tc>
                  <a:txBody>
                    <a:bodyPr wrap="square"/>
                    <a:lstStyle/>
                    <a:p>
                      <a:r>
                        <a:rPr sz="1100">
                          <a:solidFill>
                            <a:srgbClr val="1A1A1A"/>
                          </a:solidFill>
                        </a:rPr>
                        <a:t>Email</a:t>
                      </a:r>
                    </a:p>
                  </a:txBody>
                  <a:tcPr anchor="ctr" marL="73152" marR="54864" marT="27432" marB="27432">
                    <a:solidFill>
                      <a:srgbClr val="FFFFFF"/>
                    </a:solidFill>
                  </a:tcPr>
                </a:tc>
                <a:tc>
                  <a:txBody>
                    <a:bodyPr wrap="square"/>
                    <a:lstStyle/>
                    <a:p>
                      <a:r>
                        <a:rPr sz="1100">
                          <a:solidFill>
                            <a:srgbClr val="1A1A1A"/>
                          </a:solidFill>
                        </a:rPr>
                        <a:t>Fake 'bank/college' email + link; mismatched URL, generic greeting</a:t>
                      </a:r>
                    </a:p>
                  </a:txBody>
                  <a:tcPr anchor="ctr" marL="73152" marR="54864" marT="27432" marB="27432">
                    <a:solidFill>
                      <a:srgbClr val="FFFFFF"/>
                    </a:solidFill>
                  </a:tcPr>
                </a:tc>
              </a:tr>
              <a:tr h="630936">
                <a:tc>
                  <a:txBody>
                    <a:bodyPr wrap="square"/>
                    <a:lstStyle/>
                    <a:p>
                      <a:r>
                        <a:rPr sz="1100" b="1">
                          <a:solidFill>
                            <a:srgbClr val="0C2B4A"/>
                          </a:solidFill>
                        </a:rPr>
                        <a:t>Vishing</a:t>
                      </a:r>
                    </a:p>
                  </a:txBody>
                  <a:tcPr anchor="ctr" marL="73152" marR="54864" marT="27432" marB="27432">
                    <a:solidFill>
                      <a:srgbClr val="EEF3F8"/>
                    </a:solidFill>
                  </a:tcPr>
                </a:tc>
                <a:tc>
                  <a:txBody>
                    <a:bodyPr wrap="square"/>
                    <a:lstStyle/>
                    <a:p>
                      <a:r>
                        <a:rPr sz="1100">
                          <a:solidFill>
                            <a:srgbClr val="1A1A1A"/>
                          </a:solidFill>
                        </a:rPr>
                        <a:t>Voice call</a:t>
                      </a:r>
                    </a:p>
                  </a:txBody>
                  <a:tcPr anchor="ctr" marL="73152" marR="54864" marT="27432" marB="27432">
                    <a:solidFill>
                      <a:srgbClr val="EEF3F8"/>
                    </a:solidFill>
                  </a:tcPr>
                </a:tc>
                <a:tc>
                  <a:txBody>
                    <a:bodyPr wrap="square"/>
                    <a:lstStyle/>
                    <a:p>
                      <a:r>
                        <a:rPr sz="1100">
                          <a:solidFill>
                            <a:srgbClr val="1A1A1A"/>
                          </a:solidFill>
                        </a:rPr>
                        <a:t>'Bank officer' pressuring you to share the OTP/PIN just sent</a:t>
                      </a:r>
                    </a:p>
                  </a:txBody>
                  <a:tcPr anchor="ctr" marL="73152" marR="54864" marT="27432" marB="27432">
                    <a:solidFill>
                      <a:srgbClr val="EEF3F8"/>
                    </a:solidFill>
                  </a:tcPr>
                </a:tc>
              </a:tr>
              <a:tr h="630936">
                <a:tc>
                  <a:txBody>
                    <a:bodyPr wrap="square"/>
                    <a:lstStyle/>
                    <a:p>
                      <a:r>
                        <a:rPr sz="1100" b="1">
                          <a:solidFill>
                            <a:srgbClr val="0C2B4A"/>
                          </a:solidFill>
                        </a:rPr>
                        <a:t>Smishing</a:t>
                      </a:r>
                    </a:p>
                  </a:txBody>
                  <a:tcPr anchor="ctr" marL="73152" marR="54864" marT="27432" marB="27432">
                    <a:solidFill>
                      <a:srgbClr val="FFFFFF"/>
                    </a:solidFill>
                  </a:tcPr>
                </a:tc>
                <a:tc>
                  <a:txBody>
                    <a:bodyPr wrap="square"/>
                    <a:lstStyle/>
                    <a:p>
                      <a:r>
                        <a:rPr sz="1100">
                          <a:solidFill>
                            <a:srgbClr val="1A1A1A"/>
                          </a:solidFill>
                        </a:rPr>
                        <a:t>SMS</a:t>
                      </a:r>
                    </a:p>
                  </a:txBody>
                  <a:tcPr anchor="ctr" marL="73152" marR="54864" marT="27432" marB="27432">
                    <a:solidFill>
                      <a:srgbClr val="FFFFFF"/>
                    </a:solidFill>
                  </a:tcPr>
                </a:tc>
                <a:tc>
                  <a:txBody>
                    <a:bodyPr wrap="square"/>
                    <a:lstStyle/>
                    <a:p>
                      <a:r>
                        <a:rPr sz="1100">
                          <a:solidFill>
                            <a:srgbClr val="1A1A1A"/>
                          </a:solidFill>
                        </a:rPr>
                        <a:t>'eSewa/bank suspended — click here'; 'Daraz prize'; 'parcel fee'</a:t>
                      </a:r>
                    </a:p>
                  </a:txBody>
                  <a:tcPr anchor="ctr" marL="73152" marR="54864" marT="27432" marB="27432">
                    <a:solidFill>
                      <a:srgbClr val="FFFFFF"/>
                    </a:solidFill>
                  </a:tcPr>
                </a:tc>
              </a:tr>
              <a:tr h="630936">
                <a:tc>
                  <a:txBody>
                    <a:bodyPr wrap="square"/>
                    <a:lstStyle/>
                    <a:p>
                      <a:r>
                        <a:rPr sz="1100" b="1">
                          <a:solidFill>
                            <a:srgbClr val="0C2B4A"/>
                          </a:solidFill>
                        </a:rPr>
                        <a:t>Pretexting</a:t>
                      </a:r>
                    </a:p>
                  </a:txBody>
                  <a:tcPr anchor="ctr" marL="73152" marR="54864" marT="27432" marB="27432">
                    <a:solidFill>
                      <a:srgbClr val="EEF3F8"/>
                    </a:solidFill>
                  </a:tcPr>
                </a:tc>
                <a:tc>
                  <a:txBody>
                    <a:bodyPr wrap="square"/>
                    <a:lstStyle/>
                    <a:p>
                      <a:r>
                        <a:rPr sz="1100">
                          <a:solidFill>
                            <a:srgbClr val="1A1A1A"/>
                          </a:solidFill>
                        </a:rPr>
                        <a:t>Any (a story)</a:t>
                      </a:r>
                    </a:p>
                  </a:txBody>
                  <a:tcPr anchor="ctr" marL="73152" marR="54864" marT="27432" marB="27432">
                    <a:solidFill>
                      <a:srgbClr val="EEF3F8"/>
                    </a:solidFill>
                  </a:tcPr>
                </a:tc>
                <a:tc>
                  <a:txBody>
                    <a:bodyPr wrap="square"/>
                    <a:lstStyle/>
                    <a:p>
                      <a:r>
                        <a:rPr sz="1100">
                          <a:solidFill>
                            <a:srgbClr val="1A1A1A"/>
                          </a:solidFill>
                        </a:rPr>
                        <a:t>'I'm the new auditor / your boss's assistant' invented role</a:t>
                      </a:r>
                    </a:p>
                  </a:txBody>
                  <a:tcPr anchor="ctr" marL="73152" marR="54864" marT="27432" marB="27432">
                    <a:solidFill>
                      <a:srgbClr val="EEF3F8"/>
                    </a:solidFill>
                  </a:tcPr>
                </a:tc>
              </a:tr>
              <a:tr h="630936">
                <a:tc>
                  <a:txBody>
                    <a:bodyPr wrap="square"/>
                    <a:lstStyle/>
                    <a:p>
                      <a:r>
                        <a:rPr sz="1100" b="1">
                          <a:solidFill>
                            <a:srgbClr val="0C2B4A"/>
                          </a:solidFill>
                        </a:rPr>
                        <a:t>Baiting</a:t>
                      </a:r>
                    </a:p>
                  </a:txBody>
                  <a:tcPr anchor="ctr" marL="73152" marR="54864" marT="27432" marB="27432">
                    <a:solidFill>
                      <a:srgbClr val="FFFFFF"/>
                    </a:solidFill>
                  </a:tcPr>
                </a:tc>
                <a:tc>
                  <a:txBody>
                    <a:bodyPr wrap="square"/>
                    <a:lstStyle/>
                    <a:p>
                      <a:r>
                        <a:rPr sz="1100">
                          <a:solidFill>
                            <a:srgbClr val="1A1A1A"/>
                          </a:solidFill>
                        </a:rPr>
                        <a:t>Download / USB</a:t>
                      </a:r>
                    </a:p>
                  </a:txBody>
                  <a:tcPr anchor="ctr" marL="73152" marR="54864" marT="27432" marB="27432">
                    <a:solidFill>
                      <a:srgbClr val="FFFFFF"/>
                    </a:solidFill>
                  </a:tcPr>
                </a:tc>
                <a:tc>
                  <a:txBody>
                    <a:bodyPr wrap="square"/>
                    <a:lstStyle/>
                    <a:p>
                      <a:r>
                        <a:rPr sz="1100">
                          <a:solidFill>
                            <a:srgbClr val="1A1A1A"/>
                          </a:solidFill>
                        </a:rPr>
                        <a:t>A 'free' movie/app, or a USB left in the canteen/parking</a:t>
                      </a:r>
                    </a:p>
                  </a:txBody>
                  <a:tcPr anchor="ctr" marL="73152" marR="54864" marT="27432" marB="27432">
                    <a:solidFill>
                      <a:srgbClr val="FFFFFF"/>
                    </a:solidFill>
                  </a:tcPr>
                </a:tc>
              </a:tr>
              <a:tr h="630936">
                <a:tc>
                  <a:txBody>
                    <a:bodyPr wrap="square"/>
                    <a:lstStyle/>
                    <a:p>
                      <a:r>
                        <a:rPr sz="1100" b="1">
                          <a:solidFill>
                            <a:srgbClr val="0C2B4A"/>
                          </a:solidFill>
                        </a:rPr>
                        <a:t>Tailgating</a:t>
                      </a:r>
                    </a:p>
                  </a:txBody>
                  <a:tcPr anchor="ctr" marL="73152" marR="54864" marT="27432" marB="27432">
                    <a:solidFill>
                      <a:srgbClr val="EEF3F8"/>
                    </a:solidFill>
                  </a:tcPr>
                </a:tc>
                <a:tc>
                  <a:txBody>
                    <a:bodyPr wrap="square"/>
                    <a:lstStyle/>
                    <a:p>
                      <a:r>
                        <a:rPr sz="1100">
                          <a:solidFill>
                            <a:srgbClr val="1A1A1A"/>
                          </a:solidFill>
                        </a:rPr>
                        <a:t>Physical door</a:t>
                      </a:r>
                    </a:p>
                  </a:txBody>
                  <a:tcPr anchor="ctr" marL="73152" marR="54864" marT="27432" marB="27432">
                    <a:solidFill>
                      <a:srgbClr val="EEF3F8"/>
                    </a:solidFill>
                  </a:tcPr>
                </a:tc>
                <a:tc>
                  <a:txBody>
                    <a:bodyPr wrap="square"/>
                    <a:lstStyle/>
                    <a:p>
                      <a:r>
                        <a:rPr sz="1100">
                          <a:solidFill>
                            <a:srgbClr val="1A1A1A"/>
                          </a:solidFill>
                        </a:rPr>
                        <a:t>A stranger following staff through a secure door 'hands full'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Phishing is NOT only email — smishing, vishing, QR codes, and social media all carry the same con. Recognising the channel plus the tell (urgency, a link, an OTP request) is enough to refuse.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76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Major Attack Types (recognise them)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right now: fake 'Nepal lottery / Daraz prize' SMS (smishing), a 'bank officer' call asking for the OTP just sent to you (vishing), and globally, package-delivery smishing waves and CEO-impersonation ('business email compromise') asking finance to wire money. Different names, one goal — make a person the door. Naming the type lets you instantly classify and reject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"Phishing only happens over email." It spans SMS (smishing), calls (vishing), QR codes, and social media. Guarding only your inbox leaves every other channel open — the con simply switches pipes to whichever one you trust more.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major social-engineering attack types are phishing (email), vishing (voice call), smishing (SMS), pretexting (an invented backstory), baiting (a tempting lure such as a 'free' download or dropped USB), and tailgating (following someone through a secure door). They share one goal — make the person the door — and recognisable tells (urgency, links, OTP requests), so classifying the type is the first step to rejecting it.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phishing · vishing · smishing · pretexting · baiting · tailgating · same con, different channel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76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Red flag → defence (the §7A field guide)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514600"/>
                <a:gridCol w="2971800"/>
                <a:gridCol w="3200400"/>
                <a:gridCol w="2743200"/>
              </a:tblGrid>
              <a:tr h="630936">
                <a:tc>
                  <a:txBody>
                    <a:bodyPr wrap="square"/>
                    <a:lstStyle/>
                    <a:p>
                      <a:r>
                        <a:rPr sz="1050" b="1">
                          <a:solidFill>
                            <a:srgbClr val="FFFFFF"/>
                          </a:solidFill>
                        </a:rPr>
                        <a:t>Attack (technique)</a:t>
                      </a:r>
                    </a:p>
                  </a:txBody>
                  <a:tcPr anchor="ctr" marL="73152" marR="54864" marT="27432" marB="27432">
                    <a:solidFill>
                      <a:srgbClr val="0C2B4A"/>
                    </a:solidFill>
                  </a:tcPr>
                </a:tc>
                <a:tc>
                  <a:txBody>
                    <a:bodyPr wrap="square"/>
                    <a:lstStyle/>
                    <a:p>
                      <a:r>
                        <a:rPr sz="1050" b="1">
                          <a:solidFill>
                            <a:srgbClr val="FFFFFF"/>
                          </a:solidFill>
                        </a:rPr>
                        <a:t>Red flag to spot</a:t>
                      </a:r>
                    </a:p>
                  </a:txBody>
                  <a:tcPr anchor="ctr" marL="73152" marR="54864" marT="27432" marB="27432">
                    <a:solidFill>
                      <a:srgbClr val="0C2B4A"/>
                    </a:solidFill>
                  </a:tcPr>
                </a:tc>
                <a:tc>
                  <a:txBody>
                    <a:bodyPr wrap="square"/>
                    <a:lstStyle/>
                    <a:p>
                      <a:r>
                        <a:rPr sz="1050" b="1">
                          <a:solidFill>
                            <a:srgbClr val="FFFFFF"/>
                          </a:solidFill>
                        </a:rPr>
                        <a:t>Defence / safe response</a:t>
                      </a:r>
                    </a:p>
                  </a:txBody>
                  <a:tcPr anchor="ctr" marL="73152" marR="54864" marT="27432" marB="27432">
                    <a:solidFill>
                      <a:srgbClr val="0C2B4A"/>
                    </a:solidFill>
                  </a:tcPr>
                </a:tc>
                <a:tc>
                  <a:txBody>
                    <a:bodyPr wrap="square"/>
                    <a:lstStyle/>
                    <a:p>
                      <a:r>
                        <a:rPr sz="1050" b="1">
                          <a:solidFill>
                            <a:srgbClr val="FFFFFF"/>
                          </a:solidFill>
                        </a:rPr>
                        <a:t>If you fall for it (consequence)</a:t>
                      </a:r>
                    </a:p>
                  </a:txBody>
                  <a:tcPr anchor="ctr" marL="73152" marR="54864" marT="27432" marB="27432">
                    <a:solidFill>
                      <a:srgbClr val="0C2B4A"/>
                    </a:solidFill>
                  </a:tcPr>
                </a:tc>
              </a:tr>
              <a:tr h="630936">
                <a:tc>
                  <a:txBody>
                    <a:bodyPr wrap="square"/>
                    <a:lstStyle/>
                    <a:p>
                      <a:r>
                        <a:rPr sz="1000" b="1">
                          <a:solidFill>
                            <a:srgbClr val="0C2B4A"/>
                          </a:solidFill>
                        </a:rPr>
                        <a:t>Vishing — 'bank' OTP call</a:t>
                      </a:r>
                    </a:p>
                  </a:txBody>
                  <a:tcPr anchor="ctr" marL="73152" marR="54864" marT="27432" marB="27432">
                    <a:solidFill>
                      <a:srgbClr val="FFFFFF"/>
                    </a:solidFill>
                  </a:tcPr>
                </a:tc>
                <a:tc>
                  <a:txBody>
                    <a:bodyPr wrap="square"/>
                    <a:lstStyle/>
                    <a:p>
                      <a:r>
                        <a:rPr sz="1000">
                          <a:solidFill>
                            <a:srgbClr val="1A1A1A"/>
                          </a:solidFill>
                        </a:rPr>
                        <a:t>Anyone asking you to read out an OTP/PIN</a:t>
                      </a:r>
                    </a:p>
                  </a:txBody>
                  <a:tcPr anchor="ctr" marL="73152" marR="54864" marT="27432" marB="27432">
                    <a:solidFill>
                      <a:srgbClr val="FFFFFF"/>
                    </a:solidFill>
                  </a:tcPr>
                </a:tc>
                <a:tc>
                  <a:txBody>
                    <a:bodyPr wrap="square"/>
                    <a:lstStyle/>
                    <a:p>
                      <a:r>
                        <a:rPr sz="1000">
                          <a:solidFill>
                            <a:srgbClr val="1A1A1A"/>
                          </a:solidFill>
                        </a:rPr>
                        <a:t>Hang up; call the bank's official number yourself</a:t>
                      </a:r>
                    </a:p>
                  </a:txBody>
                  <a:tcPr anchor="ctr" marL="73152" marR="54864" marT="27432" marB="27432">
                    <a:solidFill>
                      <a:srgbClr val="FFFFFF"/>
                    </a:solidFill>
                  </a:tcPr>
                </a:tc>
                <a:tc>
                  <a:txBody>
                    <a:bodyPr wrap="square"/>
                    <a:lstStyle/>
                    <a:p>
                      <a:r>
                        <a:rPr sz="1000">
                          <a:solidFill>
                            <a:srgbClr val="1A1A1A"/>
                          </a:solidFill>
                        </a:rPr>
                        <a:t>Wallet/account drained within minutes</a:t>
                      </a:r>
                    </a:p>
                  </a:txBody>
                  <a:tcPr anchor="ctr" marL="73152" marR="54864" marT="27432" marB="27432">
                    <a:solidFill>
                      <a:srgbClr val="FFFFFF"/>
                    </a:solidFill>
                  </a:tcPr>
                </a:tc>
              </a:tr>
              <a:tr h="630936">
                <a:tc>
                  <a:txBody>
                    <a:bodyPr wrap="square"/>
                    <a:lstStyle/>
                    <a:p>
                      <a:r>
                        <a:rPr sz="1000" b="1">
                          <a:solidFill>
                            <a:srgbClr val="0C2B4A"/>
                          </a:solidFill>
                        </a:rPr>
                        <a:t>Smishing — 'account suspended' SMS</a:t>
                      </a:r>
                    </a:p>
                  </a:txBody>
                  <a:tcPr anchor="ctr" marL="73152" marR="54864" marT="27432" marB="27432">
                    <a:solidFill>
                      <a:srgbClr val="EEF3F8"/>
                    </a:solidFill>
                  </a:tcPr>
                </a:tc>
                <a:tc>
                  <a:txBody>
                    <a:bodyPr wrap="square"/>
                    <a:lstStyle/>
                    <a:p>
                      <a:r>
                        <a:rPr sz="1000">
                          <a:solidFill>
                            <a:srgbClr val="1A1A1A"/>
                          </a:solidFill>
                        </a:rPr>
                        <a:t>A link + urgency in a text you didn't expect</a:t>
                      </a:r>
                    </a:p>
                  </a:txBody>
                  <a:tcPr anchor="ctr" marL="73152" marR="54864" marT="27432" marB="27432">
                    <a:solidFill>
                      <a:srgbClr val="EEF3F8"/>
                    </a:solidFill>
                  </a:tcPr>
                </a:tc>
                <a:tc>
                  <a:txBody>
                    <a:bodyPr wrap="square"/>
                    <a:lstStyle/>
                    <a:p>
                      <a:r>
                        <a:rPr sz="1000">
                          <a:solidFill>
                            <a:srgbClr val="1A1A1A"/>
                          </a:solidFill>
                        </a:rPr>
                        <a:t>Don't click; open the app/site directly</a:t>
                      </a:r>
                    </a:p>
                  </a:txBody>
                  <a:tcPr anchor="ctr" marL="73152" marR="54864" marT="27432" marB="27432">
                    <a:solidFill>
                      <a:srgbClr val="EEF3F8"/>
                    </a:solidFill>
                  </a:tcPr>
                </a:tc>
                <a:tc>
                  <a:txBody>
                    <a:bodyPr wrap="square"/>
                    <a:lstStyle/>
                    <a:p>
                      <a:r>
                        <a:rPr sz="1000">
                          <a:solidFill>
                            <a:srgbClr val="1A1A1A"/>
                          </a:solidFill>
                        </a:rPr>
                        <a:t>Credentials phished on a fake login page</a:t>
                      </a:r>
                    </a:p>
                  </a:txBody>
                  <a:tcPr anchor="ctr" marL="73152" marR="54864" marT="27432" marB="27432">
                    <a:solidFill>
                      <a:srgbClr val="EEF3F8"/>
                    </a:solidFill>
                  </a:tcPr>
                </a:tc>
              </a:tr>
              <a:tr h="630936">
                <a:tc>
                  <a:txBody>
                    <a:bodyPr wrap="square"/>
                    <a:lstStyle/>
                    <a:p>
                      <a:r>
                        <a:rPr sz="1000" b="1">
                          <a:solidFill>
                            <a:srgbClr val="0C2B4A"/>
                          </a:solidFill>
                        </a:rPr>
                        <a:t>Phishing — fake bank/college email</a:t>
                      </a:r>
                    </a:p>
                  </a:txBody>
                  <a:tcPr anchor="ctr" marL="73152" marR="54864" marT="27432" marB="27432">
                    <a:solidFill>
                      <a:srgbClr val="FFFFFF"/>
                    </a:solidFill>
                  </a:tcPr>
                </a:tc>
                <a:tc>
                  <a:txBody>
                    <a:bodyPr wrap="square"/>
                    <a:lstStyle/>
                    <a:p>
                      <a:r>
                        <a:rPr sz="1000">
                          <a:solidFill>
                            <a:srgbClr val="1A1A1A"/>
                          </a:solidFill>
                        </a:rPr>
                        <a:t>Mismatched URL, generic 'Dear customer'</a:t>
                      </a:r>
                    </a:p>
                  </a:txBody>
                  <a:tcPr anchor="ctr" marL="73152" marR="54864" marT="27432" marB="27432">
                    <a:solidFill>
                      <a:srgbClr val="FFFFFF"/>
                    </a:solidFill>
                  </a:tcPr>
                </a:tc>
                <a:tc>
                  <a:txBody>
                    <a:bodyPr wrap="square"/>
                    <a:lstStyle/>
                    <a:p>
                      <a:r>
                        <a:rPr sz="1000">
                          <a:solidFill>
                            <a:srgbClr val="1A1A1A"/>
                          </a:solidFill>
                        </a:rPr>
                        <a:t>Hover the link; verify via official channel</a:t>
                      </a:r>
                    </a:p>
                  </a:txBody>
                  <a:tcPr anchor="ctr" marL="73152" marR="54864" marT="27432" marB="27432">
                    <a:solidFill>
                      <a:srgbClr val="FFFFFF"/>
                    </a:solidFill>
                  </a:tcPr>
                </a:tc>
                <a:tc>
                  <a:txBody>
                    <a:bodyPr wrap="square"/>
                    <a:lstStyle/>
                    <a:p>
                      <a:r>
                        <a:rPr sz="1000">
                          <a:solidFill>
                            <a:srgbClr val="1A1A1A"/>
                          </a:solidFill>
                        </a:rPr>
                        <a:t>Login stolen; inbox used to reset other accounts</a:t>
                      </a:r>
                    </a:p>
                  </a:txBody>
                  <a:tcPr anchor="ctr" marL="73152" marR="54864" marT="27432" marB="27432">
                    <a:solidFill>
                      <a:srgbClr val="FFFFFF"/>
                    </a:solidFill>
                  </a:tcPr>
                </a:tc>
              </a:tr>
              <a:tr h="630936">
                <a:tc>
                  <a:txBody>
                    <a:bodyPr wrap="square"/>
                    <a:lstStyle/>
                    <a:p>
                      <a:r>
                        <a:rPr sz="1000" b="1">
                          <a:solidFill>
                            <a:srgbClr val="0C2B4A"/>
                          </a:solidFill>
                        </a:rPr>
                        <a:t>Baiting — 'free' download / dropped USB</a:t>
                      </a:r>
                    </a:p>
                  </a:txBody>
                  <a:tcPr anchor="ctr" marL="73152" marR="54864" marT="27432" marB="27432">
                    <a:solidFill>
                      <a:srgbClr val="EEF3F8"/>
                    </a:solidFill>
                  </a:tcPr>
                </a:tc>
                <a:tc>
                  <a:txBody>
                    <a:bodyPr wrap="square"/>
                    <a:lstStyle/>
                    <a:p>
                      <a:r>
                        <a:rPr sz="1000">
                          <a:solidFill>
                            <a:srgbClr val="1A1A1A"/>
                          </a:solidFill>
                        </a:rPr>
                        <a:t>Something too tempting or conveniently 'found'</a:t>
                      </a:r>
                    </a:p>
                  </a:txBody>
                  <a:tcPr anchor="ctr" marL="73152" marR="54864" marT="27432" marB="27432">
                    <a:solidFill>
                      <a:srgbClr val="EEF3F8"/>
                    </a:solidFill>
                  </a:tcPr>
                </a:tc>
                <a:tc>
                  <a:txBody>
                    <a:bodyPr wrap="square"/>
                    <a:lstStyle/>
                    <a:p>
                      <a:r>
                        <a:rPr sz="1000">
                          <a:solidFill>
                            <a:srgbClr val="1A1A1A"/>
                          </a:solidFill>
                        </a:rPr>
                        <a:t>Don't plug in / don't download; report it</a:t>
                      </a:r>
                    </a:p>
                  </a:txBody>
                  <a:tcPr anchor="ctr" marL="73152" marR="54864" marT="27432" marB="27432">
                    <a:solidFill>
                      <a:srgbClr val="EEF3F8"/>
                    </a:solidFill>
                  </a:tcPr>
                </a:tc>
                <a:tc>
                  <a:txBody>
                    <a:bodyPr wrap="square"/>
                    <a:lstStyle/>
                    <a:p>
                      <a:r>
                        <a:rPr sz="1000">
                          <a:solidFill>
                            <a:srgbClr val="1A1A1A"/>
                          </a:solidFill>
                        </a:rPr>
                        <a:t>Malware installed on your device or network</a:t>
                      </a:r>
                    </a:p>
                  </a:txBody>
                  <a:tcPr anchor="ctr" marL="73152" marR="54864" marT="27432" marB="27432">
                    <a:solidFill>
                      <a:srgbClr val="EEF3F8"/>
                    </a:solidFill>
                  </a:tcPr>
                </a:tc>
              </a:tr>
              <a:tr h="630936">
                <a:tc>
                  <a:txBody>
                    <a:bodyPr wrap="square"/>
                    <a:lstStyle/>
                    <a:p>
                      <a:r>
                        <a:rPr sz="1000" b="1">
                          <a:solidFill>
                            <a:srgbClr val="0C2B4A"/>
                          </a:solidFill>
                        </a:rPr>
                        <a:t>Pretexting — 'new auditor' call</a:t>
                      </a:r>
                    </a:p>
                  </a:txBody>
                  <a:tcPr anchor="ctr" marL="73152" marR="54864" marT="27432" marB="27432">
                    <a:solidFill>
                      <a:srgbClr val="FFFFFF"/>
                    </a:solidFill>
                  </a:tcPr>
                </a:tc>
                <a:tc>
                  <a:txBody>
                    <a:bodyPr wrap="square"/>
                    <a:lstStyle/>
                    <a:p>
                      <a:r>
                        <a:rPr sz="1000">
                          <a:solidFill>
                            <a:srgbClr val="1A1A1A"/>
                          </a:solidFill>
                        </a:rPr>
                        <a:t>A stranger with a story wanting info/access</a:t>
                      </a:r>
                    </a:p>
                  </a:txBody>
                  <a:tcPr anchor="ctr" marL="73152" marR="54864" marT="27432" marB="27432">
                    <a:solidFill>
                      <a:srgbClr val="FFFFFF"/>
                    </a:solidFill>
                  </a:tcPr>
                </a:tc>
                <a:tc>
                  <a:txBody>
                    <a:bodyPr wrap="square"/>
                    <a:lstStyle/>
                    <a:p>
                      <a:r>
                        <a:rPr sz="1000">
                          <a:solidFill>
                            <a:srgbClr val="1A1A1A"/>
                          </a:solidFill>
                        </a:rPr>
                        <a:t>Verify the role with a known internal contact</a:t>
                      </a:r>
                    </a:p>
                  </a:txBody>
                  <a:tcPr anchor="ctr" marL="73152" marR="54864" marT="27432" marB="27432">
                    <a:solidFill>
                      <a:srgbClr val="FFFFFF"/>
                    </a:solidFill>
                  </a:tcPr>
                </a:tc>
                <a:tc>
                  <a:txBody>
                    <a:bodyPr wrap="square"/>
                    <a:lstStyle/>
                    <a:p>
                      <a:r>
                        <a:rPr sz="1000">
                          <a:solidFill>
                            <a:srgbClr val="1A1A1A"/>
                          </a:solidFill>
                        </a:rPr>
                        <a:t>Sensitive data handed to an outsider</a:t>
                      </a:r>
                    </a:p>
                  </a:txBody>
                  <a:tcPr anchor="ctr" marL="73152" marR="54864" marT="27432" marB="27432">
                    <a:solidFill>
                      <a:srgbClr val="FFFFFF"/>
                    </a:solidFill>
                  </a:tcPr>
                </a:tc>
              </a:tr>
              <a:tr h="630936">
                <a:tc>
                  <a:txBody>
                    <a:bodyPr wrap="square"/>
                    <a:lstStyle/>
                    <a:p>
                      <a:r>
                        <a:rPr sz="1000" b="1">
                          <a:solidFill>
                            <a:srgbClr val="0C2B4A"/>
                          </a:solidFill>
                        </a:rPr>
                        <a:t>Tailgating — door-following</a:t>
                      </a:r>
                    </a:p>
                  </a:txBody>
                  <a:tcPr anchor="ctr" marL="73152" marR="54864" marT="27432" marB="27432">
                    <a:solidFill>
                      <a:srgbClr val="EEF3F8"/>
                    </a:solidFill>
                  </a:tcPr>
                </a:tc>
                <a:tc>
                  <a:txBody>
                    <a:bodyPr wrap="square"/>
                    <a:lstStyle/>
                    <a:p>
                      <a:r>
                        <a:rPr sz="1000">
                          <a:solidFill>
                            <a:srgbClr val="1A1A1A"/>
                          </a:solidFill>
                        </a:rPr>
                        <a:t>Someone without a badge following you in</a:t>
                      </a:r>
                    </a:p>
                  </a:txBody>
                  <a:tcPr anchor="ctr" marL="73152" marR="54864" marT="27432" marB="27432">
                    <a:solidFill>
                      <a:srgbClr val="EEF3F8"/>
                    </a:solidFill>
                  </a:tcPr>
                </a:tc>
                <a:tc>
                  <a:txBody>
                    <a:bodyPr wrap="square"/>
                    <a:lstStyle/>
                    <a:p>
                      <a:r>
                        <a:rPr sz="1000">
                          <a:solidFill>
                            <a:srgbClr val="1A1A1A"/>
                          </a:solidFill>
                        </a:rPr>
                        <a:t>Don't hold the door; direct them to reception</a:t>
                      </a:r>
                    </a:p>
                  </a:txBody>
                  <a:tcPr anchor="ctr" marL="73152" marR="54864" marT="27432" marB="27432">
                    <a:solidFill>
                      <a:srgbClr val="EEF3F8"/>
                    </a:solidFill>
                  </a:tcPr>
                </a:tc>
                <a:tc>
                  <a:txBody>
                    <a:bodyPr wrap="square"/>
                    <a:lstStyle/>
                    <a:p>
                      <a:r>
                        <a:rPr sz="1000">
                          <a:solidFill>
                            <a:srgbClr val="1A1A1A"/>
                          </a:solidFill>
                        </a:rPr>
                        <a:t>An intruder gains physical access to the office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is the core recognition table: spot the red flag, apply the defence, and note the consequence of NOT doing so. Every defence is a refusal or a verify — never an instruction to attack.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76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Countermeasures — organizational + technical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Defence is layered — combining people, process, and technology. No single control stops social engineering; they work together so a slip at one layer is caught by another.</a:t>
            </a:r>
          </a:p>
          <a:p>
            <a:pPr>
              <a:spcAft>
                <a:spcPts val="500"/>
              </a:spcAft>
            </a:pPr>
            <a:r>
              <a:rPr sz="1200" b="1">
                <a:solidFill>
                  <a:srgbClr val="185FA5"/>
                </a:solidFill>
              </a:rPr>
              <a:t>HOW IT WORKS</a:t>
            </a:r>
          </a:p>
          <a:p>
            <a:pPr>
              <a:spcAft>
                <a:spcPts val="600"/>
              </a:spcAft>
            </a:pPr>
            <a:r>
              <a:rPr sz="1400">
                <a:solidFill>
                  <a:srgbClr val="1A1A1A"/>
                </a:solidFill>
              </a:rPr>
              <a:t>•  People: security-awareness training and simulated-phishing drills.</a:t>
            </a:r>
          </a:p>
          <a:p>
            <a:pPr>
              <a:spcAft>
                <a:spcPts val="600"/>
              </a:spcAft>
            </a:pPr>
            <a:r>
              <a:rPr sz="1400">
                <a:solidFill>
                  <a:srgbClr val="1A1A1A"/>
                </a:solidFill>
              </a:rPr>
              <a:t>•  Process: verify-via-callback policy, least-privilege access, visitor badges &amp; escort rules.</a:t>
            </a:r>
          </a:p>
          <a:p>
            <a:pPr>
              <a:spcAft>
                <a:spcPts val="600"/>
              </a:spcAft>
            </a:pPr>
            <a:r>
              <a:rPr sz="1400">
                <a:solidFill>
                  <a:srgbClr val="1A1A1A"/>
                </a:solidFill>
              </a:rPr>
              <a:t>•  Technology: MFA, email filtering, anti-spoofing (SPF/DKIM/DMARC — named at awareness level).</a:t>
            </a:r>
          </a:p>
          <a:p>
            <a:pPr>
              <a:spcAft>
                <a:spcPts val="600"/>
              </a:spcAft>
            </a:pPr>
            <a:r>
              <a:rPr sz="1400">
                <a:solidFill>
                  <a:srgbClr val="1A1A1A"/>
                </a:solidFill>
              </a:rPr>
              <a:t>•  Policy anchor: a bank publicly stating 'we will NEVER ask for your OTP/PIN'.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People + process + technology — layered, because one control is never enough.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76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Countermeasures by layer — and what each stops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449285"/>
                <a:gridCol w="5061857"/>
                <a:gridCol w="3918857"/>
              </a:tblGrid>
              <a:tr h="630936">
                <a:tc>
                  <a:txBody>
                    <a:bodyPr wrap="square"/>
                    <a:lstStyle/>
                    <a:p>
                      <a:r>
                        <a:rPr sz="1150" b="1">
                          <a:solidFill>
                            <a:srgbClr val="FFFFFF"/>
                          </a:solidFill>
                        </a:rPr>
                        <a:t>Layer</a:t>
                      </a:r>
                    </a:p>
                  </a:txBody>
                  <a:tcPr anchor="ctr" marL="73152" marR="54864" marT="27432" marB="27432">
                    <a:solidFill>
                      <a:srgbClr val="0C2B4A"/>
                    </a:solidFill>
                  </a:tcPr>
                </a:tc>
                <a:tc>
                  <a:txBody>
                    <a:bodyPr wrap="square"/>
                    <a:lstStyle/>
                    <a:p>
                      <a:r>
                        <a:rPr sz="1150" b="1">
                          <a:solidFill>
                            <a:srgbClr val="FFFFFF"/>
                          </a:solidFill>
                        </a:rPr>
                        <a:t>Measure</a:t>
                      </a:r>
                    </a:p>
                  </a:txBody>
                  <a:tcPr anchor="ctr" marL="73152" marR="54864" marT="27432" marB="27432">
                    <a:solidFill>
                      <a:srgbClr val="0C2B4A"/>
                    </a:solidFill>
                  </a:tcPr>
                </a:tc>
                <a:tc>
                  <a:txBody>
                    <a:bodyPr wrap="square"/>
                    <a:lstStyle/>
                    <a:p>
                      <a:r>
                        <a:rPr sz="1150" b="1">
                          <a:solidFill>
                            <a:srgbClr val="FFFFFF"/>
                          </a:solidFill>
                        </a:rPr>
                        <a:t>What it stops</a:t>
                      </a:r>
                    </a:p>
                  </a:txBody>
                  <a:tcPr anchor="ctr" marL="73152" marR="54864" marT="27432" marB="27432">
                    <a:solidFill>
                      <a:srgbClr val="0C2B4A"/>
                    </a:solidFill>
                  </a:tcPr>
                </a:tc>
              </a:tr>
              <a:tr h="630936">
                <a:tc>
                  <a:txBody>
                    <a:bodyPr wrap="square"/>
                    <a:lstStyle/>
                    <a:p>
                      <a:r>
                        <a:rPr sz="1100" b="1">
                          <a:solidFill>
                            <a:srgbClr val="0C2B4A"/>
                          </a:solidFill>
                        </a:rPr>
                        <a:t>People</a:t>
                      </a:r>
                    </a:p>
                  </a:txBody>
                  <a:tcPr anchor="ctr" marL="73152" marR="54864" marT="27432" marB="27432">
                    <a:solidFill>
                      <a:srgbClr val="FFFFFF"/>
                    </a:solidFill>
                  </a:tcPr>
                </a:tc>
                <a:tc>
                  <a:txBody>
                    <a:bodyPr wrap="square"/>
                    <a:lstStyle/>
                    <a:p>
                      <a:r>
                        <a:rPr sz="1100">
                          <a:solidFill>
                            <a:srgbClr val="1A1A1A"/>
                          </a:solidFill>
                        </a:rPr>
                        <a:t>Awareness training + simulated-phishing drills</a:t>
                      </a:r>
                    </a:p>
                  </a:txBody>
                  <a:tcPr anchor="ctr" marL="73152" marR="54864" marT="27432" marB="27432">
                    <a:solidFill>
                      <a:srgbClr val="FFFFFF"/>
                    </a:solidFill>
                  </a:tcPr>
                </a:tc>
                <a:tc>
                  <a:txBody>
                    <a:bodyPr wrap="square"/>
                    <a:lstStyle/>
                    <a:p>
                      <a:r>
                        <a:rPr sz="1100">
                          <a:solidFill>
                            <a:srgbClr val="1A1A1A"/>
                          </a:solidFill>
                        </a:rPr>
                        <a:t>Staff recognise and report the lure</a:t>
                      </a:r>
                    </a:p>
                  </a:txBody>
                  <a:tcPr anchor="ctr" marL="73152" marR="54864" marT="27432" marB="27432">
                    <a:solidFill>
                      <a:srgbClr val="FFFFFF"/>
                    </a:solidFill>
                  </a:tcPr>
                </a:tc>
              </a:tr>
              <a:tr h="630936">
                <a:tc>
                  <a:txBody>
                    <a:bodyPr wrap="square"/>
                    <a:lstStyle/>
                    <a:p>
                      <a:r>
                        <a:rPr sz="1100" b="1">
                          <a:solidFill>
                            <a:srgbClr val="0C2B4A"/>
                          </a:solidFill>
                        </a:rPr>
                        <a:t>Process</a:t>
                      </a:r>
                    </a:p>
                  </a:txBody>
                  <a:tcPr anchor="ctr" marL="73152" marR="54864" marT="27432" marB="27432">
                    <a:solidFill>
                      <a:srgbClr val="EEF3F8"/>
                    </a:solidFill>
                  </a:tcPr>
                </a:tc>
                <a:tc>
                  <a:txBody>
                    <a:bodyPr wrap="square"/>
                    <a:lstStyle/>
                    <a:p>
                      <a:r>
                        <a:rPr sz="1100">
                          <a:solidFill>
                            <a:srgbClr val="1A1A1A"/>
                          </a:solidFill>
                        </a:rPr>
                        <a:t>Verify-via-callback before acting on a request</a:t>
                      </a:r>
                    </a:p>
                  </a:txBody>
                  <a:tcPr anchor="ctr" marL="73152" marR="54864" marT="27432" marB="27432">
                    <a:solidFill>
                      <a:srgbClr val="EEF3F8"/>
                    </a:solidFill>
                  </a:tcPr>
                </a:tc>
                <a:tc>
                  <a:txBody>
                    <a:bodyPr wrap="square"/>
                    <a:lstStyle/>
                    <a:p>
                      <a:r>
                        <a:rPr sz="1100">
                          <a:solidFill>
                            <a:srgbClr val="1A1A1A"/>
                          </a:solidFill>
                        </a:rPr>
                        <a:t>Impersonation calls fail the check</a:t>
                      </a:r>
                    </a:p>
                  </a:txBody>
                  <a:tcPr anchor="ctr" marL="73152" marR="54864" marT="27432" marB="27432">
                    <a:solidFill>
                      <a:srgbClr val="EEF3F8"/>
                    </a:solidFill>
                  </a:tcPr>
                </a:tc>
              </a:tr>
              <a:tr h="630936">
                <a:tc>
                  <a:txBody>
                    <a:bodyPr wrap="square"/>
                    <a:lstStyle/>
                    <a:p>
                      <a:r>
                        <a:rPr sz="1100" b="1">
                          <a:solidFill>
                            <a:srgbClr val="0C2B4A"/>
                          </a:solidFill>
                        </a:rPr>
                        <a:t>Process</a:t>
                      </a:r>
                    </a:p>
                  </a:txBody>
                  <a:tcPr anchor="ctr" marL="73152" marR="54864" marT="27432" marB="27432">
                    <a:solidFill>
                      <a:srgbClr val="FFFFFF"/>
                    </a:solidFill>
                  </a:tcPr>
                </a:tc>
                <a:tc>
                  <a:txBody>
                    <a:bodyPr wrap="square"/>
                    <a:lstStyle/>
                    <a:p>
                      <a:r>
                        <a:rPr sz="1100">
                          <a:solidFill>
                            <a:srgbClr val="1A1A1A"/>
                          </a:solidFill>
                        </a:rPr>
                        <a:t>Least-privilege access</a:t>
                      </a:r>
                    </a:p>
                  </a:txBody>
                  <a:tcPr anchor="ctr" marL="73152" marR="54864" marT="27432" marB="27432">
                    <a:solidFill>
                      <a:srgbClr val="FFFFFF"/>
                    </a:solidFill>
                  </a:tcPr>
                </a:tc>
                <a:tc>
                  <a:txBody>
                    <a:bodyPr wrap="square"/>
                    <a:lstStyle/>
                    <a:p>
                      <a:r>
                        <a:rPr sz="1100">
                          <a:solidFill>
                            <a:srgbClr val="1A1A1A"/>
                          </a:solidFill>
                        </a:rPr>
                        <a:t>A fooled account can reach less</a:t>
                      </a:r>
                    </a:p>
                  </a:txBody>
                  <a:tcPr anchor="ctr" marL="73152" marR="54864" marT="27432" marB="27432">
                    <a:solidFill>
                      <a:srgbClr val="FFFFFF"/>
                    </a:solidFill>
                  </a:tcPr>
                </a:tc>
              </a:tr>
              <a:tr h="630936">
                <a:tc>
                  <a:txBody>
                    <a:bodyPr wrap="square"/>
                    <a:lstStyle/>
                    <a:p>
                      <a:r>
                        <a:rPr sz="1100" b="1">
                          <a:solidFill>
                            <a:srgbClr val="0C2B4A"/>
                          </a:solidFill>
                        </a:rPr>
                        <a:t>Process</a:t>
                      </a:r>
                    </a:p>
                  </a:txBody>
                  <a:tcPr anchor="ctr" marL="73152" marR="54864" marT="27432" marB="27432">
                    <a:solidFill>
                      <a:srgbClr val="EEF3F8"/>
                    </a:solidFill>
                  </a:tcPr>
                </a:tc>
                <a:tc>
                  <a:txBody>
                    <a:bodyPr wrap="square"/>
                    <a:lstStyle/>
                    <a:p>
                      <a:r>
                        <a:rPr sz="1100">
                          <a:solidFill>
                            <a:srgbClr val="1A1A1A"/>
                          </a:solidFill>
                        </a:rPr>
                        <a:t>Visitor badges &amp; escort policy</a:t>
                      </a:r>
                    </a:p>
                  </a:txBody>
                  <a:tcPr anchor="ctr" marL="73152" marR="54864" marT="27432" marB="27432">
                    <a:solidFill>
                      <a:srgbClr val="EEF3F8"/>
                    </a:solidFill>
                  </a:tcPr>
                </a:tc>
                <a:tc>
                  <a:txBody>
                    <a:bodyPr wrap="square"/>
                    <a:lstStyle/>
                    <a:p>
                      <a:r>
                        <a:rPr sz="1100">
                          <a:solidFill>
                            <a:srgbClr val="1A1A1A"/>
                          </a:solidFill>
                        </a:rPr>
                        <a:t>Tailgating into secure areas</a:t>
                      </a:r>
                    </a:p>
                  </a:txBody>
                  <a:tcPr anchor="ctr" marL="73152" marR="54864" marT="27432" marB="27432">
                    <a:solidFill>
                      <a:srgbClr val="EEF3F8"/>
                    </a:solidFill>
                  </a:tcPr>
                </a:tc>
              </a:tr>
              <a:tr h="630936">
                <a:tc>
                  <a:txBody>
                    <a:bodyPr wrap="square"/>
                    <a:lstStyle/>
                    <a:p>
                      <a:r>
                        <a:rPr sz="1100" b="1">
                          <a:solidFill>
                            <a:srgbClr val="0C2B4A"/>
                          </a:solidFill>
                        </a:rPr>
                        <a:t>Technology</a:t>
                      </a:r>
                    </a:p>
                  </a:txBody>
                  <a:tcPr anchor="ctr" marL="73152" marR="54864" marT="27432" marB="27432">
                    <a:solidFill>
                      <a:srgbClr val="FFFFFF"/>
                    </a:solidFill>
                  </a:tcPr>
                </a:tc>
                <a:tc>
                  <a:txBody>
                    <a:bodyPr wrap="square"/>
                    <a:lstStyle/>
                    <a:p>
                      <a:r>
                        <a:rPr sz="1100">
                          <a:solidFill>
                            <a:srgbClr val="1A1A1A"/>
                          </a:solidFill>
                        </a:rPr>
                        <a:t>Multi-factor authentication (MFA)</a:t>
                      </a:r>
                    </a:p>
                  </a:txBody>
                  <a:tcPr anchor="ctr" marL="73152" marR="54864" marT="27432" marB="27432">
                    <a:solidFill>
                      <a:srgbClr val="FFFFFF"/>
                    </a:solidFill>
                  </a:tcPr>
                </a:tc>
                <a:tc>
                  <a:txBody>
                    <a:bodyPr wrap="square"/>
                    <a:lstStyle/>
                    <a:p>
                      <a:r>
                        <a:rPr sz="1100">
                          <a:solidFill>
                            <a:srgbClr val="1A1A1A"/>
                          </a:solidFill>
                        </a:rPr>
                        <a:t>A stolen password alone can't log in</a:t>
                      </a:r>
                    </a:p>
                  </a:txBody>
                  <a:tcPr anchor="ctr" marL="73152" marR="54864" marT="27432" marB="27432">
                    <a:solidFill>
                      <a:srgbClr val="FFFFFF"/>
                    </a:solidFill>
                  </a:tcPr>
                </a:tc>
              </a:tr>
              <a:tr h="630936">
                <a:tc>
                  <a:txBody>
                    <a:bodyPr wrap="square"/>
                    <a:lstStyle/>
                    <a:p>
                      <a:r>
                        <a:rPr sz="1100" b="1">
                          <a:solidFill>
                            <a:srgbClr val="0C2B4A"/>
                          </a:solidFill>
                        </a:rPr>
                        <a:t>Technology</a:t>
                      </a:r>
                    </a:p>
                  </a:txBody>
                  <a:tcPr anchor="ctr" marL="73152" marR="54864" marT="27432" marB="27432">
                    <a:solidFill>
                      <a:srgbClr val="EEF3F8"/>
                    </a:solidFill>
                  </a:tcPr>
                </a:tc>
                <a:tc>
                  <a:txBody>
                    <a:bodyPr wrap="square"/>
                    <a:lstStyle/>
                    <a:p>
                      <a:r>
                        <a:rPr sz="1100">
                          <a:solidFill>
                            <a:srgbClr val="1A1A1A"/>
                          </a:solidFill>
                        </a:rPr>
                        <a:t>Email filtering + anti-spoofing (SPF/DKIM/DMARC)</a:t>
                      </a:r>
                    </a:p>
                  </a:txBody>
                  <a:tcPr anchor="ctr" marL="73152" marR="54864" marT="27432" marB="27432">
                    <a:solidFill>
                      <a:srgbClr val="EEF3F8"/>
                    </a:solidFill>
                  </a:tcPr>
                </a:tc>
                <a:tc>
                  <a:txBody>
                    <a:bodyPr wrap="square"/>
                    <a:lstStyle/>
                    <a:p>
                      <a:r>
                        <a:rPr sz="1100">
                          <a:solidFill>
                            <a:srgbClr val="1A1A1A"/>
                          </a:solidFill>
                        </a:rPr>
                        <a:t>Many phishing/spoofed emails never arrive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Defence-in-depth: each layer catches what the previous one missed. MFA, for example, means even a successfully phished password is not enough on its own.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76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Countermeasures — organizational + technical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runs regular staff awareness sessions and simulated-phishing drills, enforces a verify-via-callback rule for sensitive requests, turns on MFA, and repeats one public message to customers: 'we will NEVER ask for your OTP/PIN.' No single measure is decisive; together they mean a slip at one layer is caught at another.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 have MFA / a spam filter, so we're safe." One control is never enough — attackers adapt, and social engineering targets people, not just technology. Real defence layers people (training), process (callback, least privilege), and technology (MFA, filtering) so no single failure is fatal.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Social-engineering countermeasures are layered across people, process, and technology: security-awareness training and simulated-phishing drills; verify-via-callback policies, least-privilege access, and visitor/escort rules; and MFA, email filtering, and anti-spoofing (SPF/DKIM/DMARC). Because no single control is enough, defence-in-depth ensures a slip at one layer is caught at another — anchored by the rule that a bank will never ask for your OTP.</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defence-in-depth · awareness training · verify-via-callback · least privilege · MFA · anti-spoofing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76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Preventing Attacks — personal habits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Personal prevention is a small set of habits that defeats most attacks: never share OTP/PIN/password; verify by calling the official number yourself; check links before clicking; slow down when rushed; and report suspicious messages.</a:t>
            </a:r>
          </a:p>
          <a:p>
            <a:pPr>
              <a:spcAft>
                <a:spcPts val="500"/>
              </a:spcAft>
            </a:pPr>
            <a:r>
              <a:rPr sz="1200" b="1">
                <a:solidFill>
                  <a:srgbClr val="185FA5"/>
                </a:solidFill>
              </a:rPr>
              <a:t>HOW IT WORKS</a:t>
            </a:r>
          </a:p>
          <a:p>
            <a:pPr>
              <a:spcAft>
                <a:spcPts val="600"/>
              </a:spcAft>
            </a:pPr>
            <a:r>
              <a:rPr sz="1400">
                <a:solidFill>
                  <a:srgbClr val="1A1A1A"/>
                </a:solidFill>
              </a:rPr>
              <a:t>•  Never share an OTP/PIN/password — with anyone, even 'the bank'.</a:t>
            </a:r>
          </a:p>
          <a:p>
            <a:pPr>
              <a:spcAft>
                <a:spcPts val="600"/>
              </a:spcAft>
            </a:pPr>
            <a:r>
              <a:rPr sz="1400">
                <a:solidFill>
                  <a:srgbClr val="1A1A1A"/>
                </a:solidFill>
              </a:rPr>
              <a:t>•  Verify independently: call the official number YOU look up, not the one you were given.</a:t>
            </a:r>
          </a:p>
          <a:p>
            <a:pPr>
              <a:spcAft>
                <a:spcPts val="600"/>
              </a:spcAft>
            </a:pPr>
            <a:r>
              <a:rPr sz="1400">
                <a:solidFill>
                  <a:srgbClr val="1A1A1A"/>
                </a:solidFill>
              </a:rPr>
              <a:t>•  Hover/check links and sender addresses before you act.</a:t>
            </a:r>
          </a:p>
          <a:p>
            <a:pPr>
              <a:spcAft>
                <a:spcPts val="600"/>
              </a:spcAft>
            </a:pPr>
            <a:r>
              <a:rPr sz="1400">
                <a:solidFill>
                  <a:srgbClr val="1A1A1A"/>
                </a:solidFill>
              </a:rPr>
              <a:t>•  Slow down when a message pushes urgency — and report it so others are warned.</a:t>
            </a:r>
          </a:p>
        </p:txBody>
      </p:sp>
      <p:pic>
        <p:nvPicPr>
          <p:cNvPr id="6" name="Picture 5" descr="s35_stop_think_click.png"/>
          <p:cNvPicPr>
            <a:picLocks noChangeAspect="1"/>
          </p:cNvPicPr>
          <p:nvPr/>
        </p:nvPicPr>
        <p:blipFill>
          <a:blip r:embed="rId2"/>
          <a:stretch>
            <a:fillRect/>
          </a:stretch>
        </p:blipFill>
        <p:spPr>
          <a:xfrm>
            <a:off x="6355080" y="2568011"/>
            <a:ext cx="5532120" cy="24992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STOP · THINK · then CLICK — the pause is the protection.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76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Scam scenario → wrong reaction → safe response</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3857625"/>
                <a:gridCol w="3714750"/>
                <a:gridCol w="3857625"/>
              </a:tblGrid>
              <a:tr h="630936">
                <a:tc>
                  <a:txBody>
                    <a:bodyPr wrap="square"/>
                    <a:lstStyle/>
                    <a:p>
                      <a:r>
                        <a:rPr sz="1150" b="1">
                          <a:solidFill>
                            <a:srgbClr val="FFFFFF"/>
                          </a:solidFill>
                        </a:rPr>
                        <a:t>Scenario (Nepal)</a:t>
                      </a:r>
                    </a:p>
                  </a:txBody>
                  <a:tcPr anchor="ctr" marL="73152" marR="54864" marT="27432" marB="27432">
                    <a:solidFill>
                      <a:srgbClr val="0C2B4A"/>
                    </a:solidFill>
                  </a:tcPr>
                </a:tc>
                <a:tc>
                  <a:txBody>
                    <a:bodyPr wrap="square"/>
                    <a:lstStyle/>
                    <a:p>
                      <a:r>
                        <a:rPr sz="1150" b="1">
                          <a:solidFill>
                            <a:srgbClr val="FFFFFF"/>
                          </a:solidFill>
                        </a:rPr>
                        <a:t>The wrong (unsafe) reaction</a:t>
                      </a:r>
                    </a:p>
                  </a:txBody>
                  <a:tcPr anchor="ctr" marL="73152" marR="54864" marT="27432" marB="27432">
                    <a:solidFill>
                      <a:srgbClr val="0C2B4A"/>
                    </a:solidFill>
                  </a:tcPr>
                </a:tc>
                <a:tc>
                  <a:txBody>
                    <a:bodyPr wrap="square"/>
                    <a:lstStyle/>
                    <a:p>
                      <a:r>
                        <a:rPr sz="1150" b="1">
                          <a:solidFill>
                            <a:srgbClr val="FFFFFF"/>
                          </a:solidFill>
                        </a:rPr>
                        <a:t>The safe response</a:t>
                      </a:r>
                    </a:p>
                  </a:txBody>
                  <a:tcPr anchor="ctr" marL="73152" marR="54864" marT="27432" marB="27432">
                    <a:solidFill>
                      <a:srgbClr val="0C2B4A"/>
                    </a:solidFill>
                  </a:tcPr>
                </a:tc>
              </a:tr>
              <a:tr h="630936">
                <a:tc>
                  <a:txBody>
                    <a:bodyPr wrap="square"/>
                    <a:lstStyle/>
                    <a:p>
                      <a:r>
                        <a:rPr sz="1100" b="1">
                          <a:solidFill>
                            <a:srgbClr val="0C2B4A"/>
                          </a:solidFill>
                        </a:rPr>
                        <a:t>'Parcel held at customs — pay Rs. 200 here'</a:t>
                      </a:r>
                    </a:p>
                  </a:txBody>
                  <a:tcPr anchor="ctr" marL="73152" marR="54864" marT="27432" marB="27432">
                    <a:solidFill>
                      <a:srgbClr val="FFFFFF"/>
                    </a:solidFill>
                  </a:tcPr>
                </a:tc>
                <a:tc>
                  <a:txBody>
                    <a:bodyPr wrap="square"/>
                    <a:lstStyle/>
                    <a:p>
                      <a:r>
                        <a:rPr sz="1100">
                          <a:solidFill>
                            <a:srgbClr val="1A1A1A"/>
                          </a:solidFill>
                        </a:rPr>
                        <a:t>Click the link and pay to release it</a:t>
                      </a:r>
                    </a:p>
                  </a:txBody>
                  <a:tcPr anchor="ctr" marL="73152" marR="54864" marT="27432" marB="27432">
                    <a:solidFill>
                      <a:srgbClr val="FFFFFF"/>
                    </a:solidFill>
                  </a:tcPr>
                </a:tc>
                <a:tc>
                  <a:txBody>
                    <a:bodyPr wrap="square"/>
                    <a:lstStyle/>
                    <a:p>
                      <a:r>
                        <a:rPr sz="1100">
                          <a:solidFill>
                            <a:srgbClr val="1A1A1A"/>
                          </a:solidFill>
                        </a:rPr>
                        <a:t>Don't click; contact the courier's official number</a:t>
                      </a:r>
                    </a:p>
                  </a:txBody>
                  <a:tcPr anchor="ctr" marL="73152" marR="54864" marT="27432" marB="27432">
                    <a:solidFill>
                      <a:srgbClr val="FFFFFF"/>
                    </a:solidFill>
                  </a:tcPr>
                </a:tc>
              </a:tr>
              <a:tr h="630936">
                <a:tc>
                  <a:txBody>
                    <a:bodyPr wrap="square"/>
                    <a:lstStyle/>
                    <a:p>
                      <a:r>
                        <a:rPr sz="1100" b="1">
                          <a:solidFill>
                            <a:srgbClr val="0C2B4A"/>
                          </a:solidFill>
                        </a:rPr>
                        <a:t>'Bank security' asks for the OTP just sent</a:t>
                      </a:r>
                    </a:p>
                  </a:txBody>
                  <a:tcPr anchor="ctr" marL="73152" marR="54864" marT="27432" marB="27432">
                    <a:solidFill>
                      <a:srgbClr val="EEF3F8"/>
                    </a:solidFill>
                  </a:tcPr>
                </a:tc>
                <a:tc>
                  <a:txBody>
                    <a:bodyPr wrap="square"/>
                    <a:lstStyle/>
                    <a:p>
                      <a:r>
                        <a:rPr sz="1100">
                          <a:solidFill>
                            <a:srgbClr val="1A1A1A"/>
                          </a:solidFill>
                        </a:rPr>
                        <a:t>Read out the code to 'confirm identity'</a:t>
                      </a:r>
                    </a:p>
                  </a:txBody>
                  <a:tcPr anchor="ctr" marL="73152" marR="54864" marT="27432" marB="27432">
                    <a:solidFill>
                      <a:srgbClr val="EEF3F8"/>
                    </a:solidFill>
                  </a:tcPr>
                </a:tc>
                <a:tc>
                  <a:txBody>
                    <a:bodyPr wrap="square"/>
                    <a:lstStyle/>
                    <a:p>
                      <a:r>
                        <a:rPr sz="1100">
                          <a:solidFill>
                            <a:srgbClr val="1A1A1A"/>
                          </a:solidFill>
                        </a:rPr>
                        <a:t>Refuse — banks never ask; hang up and call them</a:t>
                      </a:r>
                    </a:p>
                  </a:txBody>
                  <a:tcPr anchor="ctr" marL="73152" marR="54864" marT="27432" marB="27432">
                    <a:solidFill>
                      <a:srgbClr val="EEF3F8"/>
                    </a:solidFill>
                  </a:tcPr>
                </a:tc>
              </a:tr>
              <a:tr h="630936">
                <a:tc>
                  <a:txBody>
                    <a:bodyPr wrap="square"/>
                    <a:lstStyle/>
                    <a:p>
                      <a:r>
                        <a:rPr sz="1100" b="1">
                          <a:solidFill>
                            <a:srgbClr val="0C2B4A"/>
                          </a:solidFill>
                        </a:rPr>
                        <a:t>'You won a prize — pay a small fee'</a:t>
                      </a:r>
                    </a:p>
                  </a:txBody>
                  <a:tcPr anchor="ctr" marL="73152" marR="54864" marT="27432" marB="27432">
                    <a:solidFill>
                      <a:srgbClr val="FFFFFF"/>
                    </a:solidFill>
                  </a:tcPr>
                </a:tc>
                <a:tc>
                  <a:txBody>
                    <a:bodyPr wrap="square"/>
                    <a:lstStyle/>
                    <a:p>
                      <a:r>
                        <a:rPr sz="1100">
                          <a:solidFill>
                            <a:srgbClr val="1A1A1A"/>
                          </a:solidFill>
                        </a:rPr>
                        <a:t>Pay the fee to claim the winnings</a:t>
                      </a:r>
                    </a:p>
                  </a:txBody>
                  <a:tcPr anchor="ctr" marL="73152" marR="54864" marT="27432" marB="27432">
                    <a:solidFill>
                      <a:srgbClr val="FFFFFF"/>
                    </a:solidFill>
                  </a:tcPr>
                </a:tc>
                <a:tc>
                  <a:txBody>
                    <a:bodyPr wrap="square"/>
                    <a:lstStyle/>
                    <a:p>
                      <a:r>
                        <a:rPr sz="1100">
                          <a:solidFill>
                            <a:srgbClr val="1A1A1A"/>
                          </a:solidFill>
                        </a:rPr>
                        <a:t>Ignore — real prizes never require an upfront fee</a:t>
                      </a:r>
                    </a:p>
                  </a:txBody>
                  <a:tcPr anchor="ctr" marL="73152" marR="54864" marT="27432" marB="27432">
                    <a:solidFill>
                      <a:srgbClr val="FFFFFF"/>
                    </a:solidFill>
                  </a:tcPr>
                </a:tc>
              </a:tr>
              <a:tr h="630936">
                <a:tc>
                  <a:txBody>
                    <a:bodyPr wrap="square"/>
                    <a:lstStyle/>
                    <a:p>
                      <a:r>
                        <a:rPr sz="1100" b="1">
                          <a:solidFill>
                            <a:srgbClr val="0C2B4A"/>
                          </a:solidFill>
                        </a:rPr>
                        <a:t>Email: 'reset your password here now'</a:t>
                      </a:r>
                    </a:p>
                  </a:txBody>
                  <a:tcPr anchor="ctr" marL="73152" marR="54864" marT="27432" marB="27432">
                    <a:solidFill>
                      <a:srgbClr val="EEF3F8"/>
                    </a:solidFill>
                  </a:tcPr>
                </a:tc>
                <a:tc>
                  <a:txBody>
                    <a:bodyPr wrap="square"/>
                    <a:lstStyle/>
                    <a:p>
                      <a:r>
                        <a:rPr sz="1100">
                          <a:solidFill>
                            <a:srgbClr val="1A1A1A"/>
                          </a:solidFill>
                        </a:rPr>
                        <a:t>Click the in-email link and log in</a:t>
                      </a:r>
                    </a:p>
                  </a:txBody>
                  <a:tcPr anchor="ctr" marL="73152" marR="54864" marT="27432" marB="27432">
                    <a:solidFill>
                      <a:srgbClr val="EEF3F8"/>
                    </a:solidFill>
                  </a:tcPr>
                </a:tc>
                <a:tc>
                  <a:txBody>
                    <a:bodyPr wrap="square"/>
                    <a:lstStyle/>
                    <a:p>
                      <a:r>
                        <a:rPr sz="1100">
                          <a:solidFill>
                            <a:srgbClr val="1A1A1A"/>
                          </a:solidFill>
                        </a:rPr>
                        <a:t>Go to the site directly and check your account</a:t>
                      </a:r>
                    </a:p>
                  </a:txBody>
                  <a:tcPr anchor="ctr" marL="73152" marR="54864" marT="27432" marB="27432">
                    <a:solidFill>
                      <a:srgbClr val="EEF3F8"/>
                    </a:solidFill>
                  </a:tcPr>
                </a:tc>
              </a:tr>
              <a:tr h="630936">
                <a:tc>
                  <a:txBody>
                    <a:bodyPr wrap="square"/>
                    <a:lstStyle/>
                    <a:p>
                      <a:r>
                        <a:rPr sz="1100" b="1">
                          <a:solidFill>
                            <a:srgbClr val="0C2B4A"/>
                          </a:solidFill>
                        </a:rPr>
                        <a:t>A found USB / 'free movie' download</a:t>
                      </a:r>
                    </a:p>
                  </a:txBody>
                  <a:tcPr anchor="ctr" marL="73152" marR="54864" marT="27432" marB="27432">
                    <a:solidFill>
                      <a:srgbClr val="FFFFFF"/>
                    </a:solidFill>
                  </a:tcPr>
                </a:tc>
                <a:tc>
                  <a:txBody>
                    <a:bodyPr wrap="square"/>
                    <a:lstStyle/>
                    <a:p>
                      <a:r>
                        <a:rPr sz="1100">
                          <a:solidFill>
                            <a:srgbClr val="1A1A1A"/>
                          </a:solidFill>
                        </a:rPr>
                        <a:t>Plug it in / download to see what it is</a:t>
                      </a:r>
                    </a:p>
                  </a:txBody>
                  <a:tcPr anchor="ctr" marL="73152" marR="54864" marT="27432" marB="27432">
                    <a:solidFill>
                      <a:srgbClr val="FFFFFF"/>
                    </a:solidFill>
                  </a:tcPr>
                </a:tc>
                <a:tc>
                  <a:txBody>
                    <a:bodyPr wrap="square"/>
                    <a:lstStyle/>
                    <a:p>
                      <a:r>
                        <a:rPr sz="1100">
                          <a:solidFill>
                            <a:srgbClr val="1A1A1A"/>
                          </a:solidFill>
                        </a:rPr>
                        <a:t>Don't; hand a found USB to IT, avoid the download</a:t>
                      </a:r>
                    </a:p>
                  </a:txBody>
                  <a:tcPr anchor="ctr" marL="73152" marR="54864" marT="27432" marB="27432">
                    <a:solidFill>
                      <a:srgbClr val="FFFFFF"/>
                    </a:solidFill>
                  </a:tcPr>
                </a:tc>
              </a:tr>
              <a:tr h="630936">
                <a:tc>
                  <a:txBody>
                    <a:bodyPr wrap="square"/>
                    <a:lstStyle/>
                    <a:p>
                      <a:r>
                        <a:rPr sz="1100" b="1">
                          <a:solidFill>
                            <a:srgbClr val="0C2B4A"/>
                          </a:solidFill>
                        </a:rPr>
                        <a:t>'Your KYC expires today — verify now'</a:t>
                      </a:r>
                    </a:p>
                  </a:txBody>
                  <a:tcPr anchor="ctr" marL="73152" marR="54864" marT="27432" marB="27432">
                    <a:solidFill>
                      <a:srgbClr val="EEF3F8"/>
                    </a:solidFill>
                  </a:tcPr>
                </a:tc>
                <a:tc>
                  <a:txBody>
                    <a:bodyPr wrap="square"/>
                    <a:lstStyle/>
                    <a:p>
                      <a:r>
                        <a:rPr sz="1100">
                          <a:solidFill>
                            <a:srgbClr val="1A1A1A"/>
                          </a:solidFill>
                        </a:rPr>
                        <a:t>Rush to submit details on the link</a:t>
                      </a:r>
                    </a:p>
                  </a:txBody>
                  <a:tcPr anchor="ctr" marL="73152" marR="54864" marT="27432" marB="27432">
                    <a:solidFill>
                      <a:srgbClr val="EEF3F8"/>
                    </a:solidFill>
                  </a:tcPr>
                </a:tc>
                <a:tc>
                  <a:txBody>
                    <a:bodyPr wrap="square"/>
                    <a:lstStyle/>
                    <a:p>
                      <a:r>
                        <a:rPr sz="1100">
                          <a:solidFill>
                            <a:srgbClr val="1A1A1A"/>
                          </a:solidFill>
                        </a:rPr>
                        <a:t>Visit the branch or official app on your own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pattern is always the same: refuse, then verify independently. 'STOP, THINK, then CLICK' — the deliberate pause defeats the urgency the attacker depends 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76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Preventing Attacks — personal habits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You get an SMS: 'parcel held at customs, pay Rs. 200 here.' The safe response: don't click the link, and verify directly with the courier's official number. Banks and wallets (eSewa, Khalti, NIC ASIA) repeatedly warn that they will never ask for your OTP — so any such request, however official it sounds, is the scam identifying itself.</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a message looks official, it's safe to act on it." Logos, names, and official tone are trivial to fake. The safe habit ignores how it looks and instead verifies through a channel you control — the official number or app — before doing anything, especially anything urgent.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Personal prevention rests on a few reliable habits: never share your OTP/PIN/password with anyone; verify independently by calling the official number you look up yourself; check links and senders before clicking; slow down whenever a message pushes urgency; and report suspicious messages. Captured as 'STOP, THINK, then CLICK', the deliberate pause defeats the urgency attacks depend 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never share OTP · verify independently · check links · slow down · report · STOP-THINK-CLICK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76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S35 — 'Spot the phish'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take the 'parcel held at customs, pay Rs. 200' SMS.</a:t>
            </a:r>
          </a:p>
          <a:p>
            <a:pPr>
              <a:spcAft>
                <a:spcPts val="700"/>
              </a:spcAft>
            </a:pPr>
            <a:r>
              <a:rPr sz="1550">
                <a:solidFill>
                  <a:srgbClr val="1A1A1A"/>
                </a:solidFill>
              </a:rPr>
              <a:t>•  List every red flag you can find (link, urgency, small fee, unexpected).</a:t>
            </a:r>
          </a:p>
          <a:p>
            <a:pPr>
              <a:spcAft>
                <a:spcPts val="700"/>
              </a:spcAft>
            </a:pPr>
            <a:r>
              <a:rPr sz="1550">
                <a:solidFill>
                  <a:srgbClr val="1A1A1A"/>
                </a:solidFill>
              </a:rPr>
              <a:t>•  Write the safe response step by step (don't click → verify with the courier directly).</a:t>
            </a:r>
          </a:p>
          <a:p>
            <a:pPr>
              <a:spcAft>
                <a:spcPts val="700"/>
              </a:spcAft>
            </a:pPr>
            <a:r>
              <a:rPr sz="1550">
                <a:solidFill>
                  <a:srgbClr val="1A1A1A"/>
                </a:solidFill>
              </a:rPr>
              <a:t>•  Take 3–4 answers aloud (3 min); which of the six attack types is it, and why?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It's smishing. Reward listing concrete red flags and a verify-first response. Discussion seed: which of the six types do you think is most common in Nepal now, and why? Keep it recognition + defence only.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76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fraudulent phone call asking for your OTP is an example of:</a:t>
            </a:r>
          </a:p>
          <a:p>
            <a:pPr lvl="1"/>
            <a:r>
              <a:rPr sz="1500" b="1">
                <a:solidFill>
                  <a:srgbClr val="0F6E56"/>
                </a:solidFill>
              </a:rPr>
              <a:t>a) phishing   b) smishing   c) ✅ vishing   d) baiting</a:t>
            </a:r>
          </a:p>
          <a:p>
            <a:pPr lvl="1">
              <a:spcBef>
                <a:spcPts val="600"/>
              </a:spcBef>
            </a:pPr>
            <a:r>
              <a:rPr sz="1500" i="1">
                <a:solidFill>
                  <a:srgbClr val="1A1A1A"/>
                </a:solidFill>
              </a:rPr>
              <a:t>     Why: vishing = voice; the OTP request over a call is the giveaway.</a:t>
            </a:r>
          </a:p>
          <a:p>
            <a:pPr>
              <a:spcBef>
                <a:spcPts val="900"/>
              </a:spcBef>
            </a:pPr>
            <a:r>
              <a:rPr sz="1700" b="1">
                <a:solidFill>
                  <a:srgbClr val="0C2B4A"/>
                </a:solidFill>
              </a:rPr>
              <a:t>Q2.  The single best rule against OTP fraud is:</a:t>
            </a:r>
          </a:p>
          <a:p>
            <a:pPr lvl="1"/>
            <a:r>
              <a:rPr sz="1500" b="1">
                <a:solidFill>
                  <a:srgbClr val="0F6E56"/>
                </a:solidFill>
              </a:rPr>
              <a:t>a) share it only with the bank   b) ✅ never share your OTP with anyone, even 'the bank'   c) share it if urgent   d) email it</a:t>
            </a:r>
          </a:p>
          <a:p>
            <a:pPr lvl="1">
              <a:spcBef>
                <a:spcPts val="600"/>
              </a:spcBef>
            </a:pPr>
            <a:r>
              <a:rPr sz="1500" i="1">
                <a:solidFill>
                  <a:srgbClr val="1A1A1A"/>
                </a:solidFill>
              </a:rPr>
              <a:t>     Why: legitimate banks never ask for your OTP, so any such request is a scam.</a:t>
            </a:r>
          </a:p>
          <a:p>
            <a:pPr lvl="1">
              <a:spcBef>
                <a:spcPts val="600"/>
              </a:spcBef>
            </a:pPr>
            <a:r>
              <a:rPr sz="1500" i="1">
                <a:solidFill>
                  <a:srgbClr val="1A1A1A"/>
                </a:solidFill>
              </a:rPr>
              <a:t>Discussion: which of the six attack types do you think is most common in Nepal right now,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76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Six recognisable attack types across channels: phishing, vishing, smishing, pretexting, baiting, tailgating.</a:t>
            </a:r>
          </a:p>
          <a:p>
            <a:pPr>
              <a:spcAft>
                <a:spcPts val="800"/>
              </a:spcAft>
            </a:pPr>
            <a:r>
              <a:rPr sz="1500">
                <a:solidFill>
                  <a:srgbClr val="1A1A1A"/>
                </a:solidFill>
              </a:rPr>
              <a:t>2.  Countermeasures are layered — people (training), process (callback, least privilege), technology (MFA, filtering).</a:t>
            </a:r>
          </a:p>
          <a:p>
            <a:pPr>
              <a:spcAft>
                <a:spcPts val="800"/>
              </a:spcAft>
            </a:pPr>
            <a:r>
              <a:rPr sz="1500">
                <a:solidFill>
                  <a:srgbClr val="1A1A1A"/>
                </a:solidFill>
              </a:rPr>
              <a:t>3.  Personal rule: verify independently, never share your OTP, slow down — STOP, THINK, then CLICK.</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Banks and wallets (eSewa, Khalti, NIC ASIA) repeatedly warn they will never ask for an OTP — knowing the attack names lets you instantly classify and reject the scam instead of freezing.</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S36 — when manipulation scales up to attacks on a whole nation: cyber terrorism.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76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36 · LECTURE HOUR 4 (OF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Cyber Terrorism · Types of Cyber Terrorism</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teenager defacing a website for fun, an activist protesting online, and a group trying to shut down a country's power grid — all use computers, but only one is cyber terrorism. Where's the line?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45 / 76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 Terrorism</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Cyber terrorism = the politically or ideologically motivated use of computers/networks to cause serious harm, fear, or disruption — especially to critical systems or the public. Three ingredients define it: intent, target, and severity.</a:t>
            </a:r>
          </a:p>
          <a:p>
            <a:pPr>
              <a:spcAft>
                <a:spcPts val="500"/>
              </a:spcAft>
            </a:pPr>
            <a:r>
              <a:rPr sz="1200" b="1">
                <a:solidFill>
                  <a:srgbClr val="185FA5"/>
                </a:solidFill>
              </a:rPr>
              <a:t>HOW IT WORKS</a:t>
            </a:r>
          </a:p>
          <a:p>
            <a:pPr>
              <a:spcAft>
                <a:spcPts val="600"/>
              </a:spcAft>
            </a:pPr>
            <a:r>
              <a:rPr sz="1400">
                <a:solidFill>
                  <a:srgbClr val="1A1A1A"/>
                </a:solidFill>
              </a:rPr>
              <a:t>•  Intent: political or ideological motivation — not profit.</a:t>
            </a:r>
          </a:p>
          <a:p>
            <a:pPr>
              <a:spcAft>
                <a:spcPts val="600"/>
              </a:spcAft>
            </a:pPr>
            <a:r>
              <a:rPr sz="1400">
                <a:solidFill>
                  <a:srgbClr val="1A1A1A"/>
                </a:solidFill>
              </a:rPr>
              <a:t>•  Target: often critical infrastructure or the public's sense of safety.</a:t>
            </a:r>
          </a:p>
          <a:p>
            <a:pPr>
              <a:spcAft>
                <a:spcPts val="600"/>
              </a:spcAft>
            </a:pPr>
            <a:r>
              <a:rPr sz="1400">
                <a:solidFill>
                  <a:srgbClr val="1A1A1A"/>
                </a:solidFill>
              </a:rPr>
              <a:t>•  Severity: real-world harm or genuine terror, not mere nuisance.</a:t>
            </a:r>
          </a:p>
          <a:p>
            <a:pPr>
              <a:spcAft>
                <a:spcPts val="600"/>
              </a:spcAft>
            </a:pPr>
            <a:r>
              <a:rPr sz="1400">
                <a:solidFill>
                  <a:srgbClr val="1A1A1A"/>
                </a:solidFill>
              </a:rPr>
              <a:t>•  All three together are what separate it from ordinary hacking or vandalism.</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Cyber terrorism = ideological INTENT + serious harm/fear, often vs. infrastructure.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76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three ingredients of cyber terrorism</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505205"/>
                <a:gridCol w="4697260"/>
                <a:gridCol w="4227534"/>
              </a:tblGrid>
              <a:tr h="883310">
                <a:tc>
                  <a:txBody>
                    <a:bodyPr wrap="square"/>
                    <a:lstStyle/>
                    <a:p>
                      <a:r>
                        <a:rPr sz="1200" b="1">
                          <a:solidFill>
                            <a:srgbClr val="FFFFFF"/>
                          </a:solidFill>
                        </a:rPr>
                        <a:t>Ingredient</a:t>
                      </a:r>
                    </a:p>
                  </a:txBody>
                  <a:tcPr anchor="ctr" marL="73152" marR="54864" marT="27432" marB="27432">
                    <a:solidFill>
                      <a:srgbClr val="0C2B4A"/>
                    </a:solidFill>
                  </a:tcPr>
                </a:tc>
                <a:tc>
                  <a:txBody>
                    <a:bodyPr wrap="square"/>
                    <a:lstStyle/>
                    <a:p>
                      <a:r>
                        <a:rPr sz="1200" b="1">
                          <a:solidFill>
                            <a:srgbClr val="FFFFFF"/>
                          </a:solidFill>
                        </a:rPr>
                        <a:t>What it means</a:t>
                      </a:r>
                    </a:p>
                  </a:txBody>
                  <a:tcPr anchor="ctr" marL="73152" marR="54864" marT="27432" marB="27432">
                    <a:solidFill>
                      <a:srgbClr val="0C2B4A"/>
                    </a:solidFill>
                  </a:tcPr>
                </a:tc>
                <a:tc>
                  <a:txBody>
                    <a:bodyPr wrap="square"/>
                    <a:lstStyle/>
                    <a:p>
                      <a:r>
                        <a:rPr sz="1200" b="1">
                          <a:solidFill>
                            <a:srgbClr val="FFFFFF"/>
                          </a:solidFill>
                        </a:rPr>
                        <a:t>Why it matters</a:t>
                      </a:r>
                    </a:p>
                  </a:txBody>
                  <a:tcPr anchor="ctr" marL="73152" marR="54864" marT="27432" marB="27432">
                    <a:solidFill>
                      <a:srgbClr val="0C2B4A"/>
                    </a:solidFill>
                  </a:tcPr>
                </a:tc>
              </a:tr>
              <a:tr h="883310">
                <a:tc>
                  <a:txBody>
                    <a:bodyPr wrap="square"/>
                    <a:lstStyle/>
                    <a:p>
                      <a:r>
                        <a:rPr sz="1150" b="1">
                          <a:solidFill>
                            <a:srgbClr val="0C2B4A"/>
                          </a:solidFill>
                        </a:rPr>
                        <a:t>Intent</a:t>
                      </a:r>
                    </a:p>
                  </a:txBody>
                  <a:tcPr anchor="ctr" marL="73152" marR="54864" marT="27432" marB="27432">
                    <a:solidFill>
                      <a:srgbClr val="FFFFFF"/>
                    </a:solidFill>
                  </a:tcPr>
                </a:tc>
                <a:tc>
                  <a:txBody>
                    <a:bodyPr wrap="square"/>
                    <a:lstStyle/>
                    <a:p>
                      <a:r>
                        <a:rPr sz="1150">
                          <a:solidFill>
                            <a:srgbClr val="1A1A1A"/>
                          </a:solidFill>
                        </a:rPr>
                        <a:t>Political / ideological motive (not money)</a:t>
                      </a:r>
                    </a:p>
                  </a:txBody>
                  <a:tcPr anchor="ctr" marL="73152" marR="54864" marT="27432" marB="27432">
                    <a:solidFill>
                      <a:srgbClr val="FFFFFF"/>
                    </a:solidFill>
                  </a:tcPr>
                </a:tc>
                <a:tc>
                  <a:txBody>
                    <a:bodyPr wrap="square"/>
                    <a:lstStyle/>
                    <a:p>
                      <a:r>
                        <a:rPr sz="1150">
                          <a:solidFill>
                            <a:srgbClr val="1A1A1A"/>
                          </a:solidFill>
                        </a:rPr>
                        <a:t>Separates terrorism from profit-driven crime</a:t>
                      </a:r>
                    </a:p>
                  </a:txBody>
                  <a:tcPr anchor="ctr" marL="73152" marR="54864" marT="27432" marB="27432">
                    <a:solidFill>
                      <a:srgbClr val="FFFFFF"/>
                    </a:solidFill>
                  </a:tcPr>
                </a:tc>
              </a:tr>
              <a:tr h="883310">
                <a:tc>
                  <a:txBody>
                    <a:bodyPr wrap="square"/>
                    <a:lstStyle/>
                    <a:p>
                      <a:r>
                        <a:rPr sz="1150" b="1">
                          <a:solidFill>
                            <a:srgbClr val="0C2B4A"/>
                          </a:solidFill>
                        </a:rPr>
                        <a:t>Target</a:t>
                      </a:r>
                    </a:p>
                  </a:txBody>
                  <a:tcPr anchor="ctr" marL="73152" marR="54864" marT="27432" marB="27432">
                    <a:solidFill>
                      <a:srgbClr val="EEF3F8"/>
                    </a:solidFill>
                  </a:tcPr>
                </a:tc>
                <a:tc>
                  <a:txBody>
                    <a:bodyPr wrap="square"/>
                    <a:lstStyle/>
                    <a:p>
                      <a:r>
                        <a:rPr sz="1150">
                          <a:solidFill>
                            <a:srgbClr val="1A1A1A"/>
                          </a:solidFill>
                        </a:rPr>
                        <a:t>Critical systems or the public's safety</a:t>
                      </a:r>
                    </a:p>
                  </a:txBody>
                  <a:tcPr anchor="ctr" marL="73152" marR="54864" marT="27432" marB="27432">
                    <a:solidFill>
                      <a:srgbClr val="EEF3F8"/>
                    </a:solidFill>
                  </a:tcPr>
                </a:tc>
                <a:tc>
                  <a:txBody>
                    <a:bodyPr wrap="square"/>
                    <a:lstStyle/>
                    <a:p>
                      <a:r>
                        <a:rPr sz="1150">
                          <a:solidFill>
                            <a:srgbClr val="1A1A1A"/>
                          </a:solidFill>
                        </a:rPr>
                        <a:t>The aim is society-wide impact, not one victim</a:t>
                      </a:r>
                    </a:p>
                  </a:txBody>
                  <a:tcPr anchor="ctr" marL="73152" marR="54864" marT="27432" marB="27432">
                    <a:solidFill>
                      <a:srgbClr val="EEF3F8"/>
                    </a:solidFill>
                  </a:tcPr>
                </a:tc>
              </a:tr>
              <a:tr h="883310">
                <a:tc>
                  <a:txBody>
                    <a:bodyPr wrap="square"/>
                    <a:lstStyle/>
                    <a:p>
                      <a:r>
                        <a:rPr sz="1150" b="1">
                          <a:solidFill>
                            <a:srgbClr val="0C2B4A"/>
                          </a:solidFill>
                        </a:rPr>
                        <a:t>Severity</a:t>
                      </a:r>
                    </a:p>
                  </a:txBody>
                  <a:tcPr anchor="ctr" marL="73152" marR="54864" marT="27432" marB="27432">
                    <a:solidFill>
                      <a:srgbClr val="FFFFFF"/>
                    </a:solidFill>
                  </a:tcPr>
                </a:tc>
                <a:tc>
                  <a:txBody>
                    <a:bodyPr wrap="square"/>
                    <a:lstStyle/>
                    <a:p>
                      <a:r>
                        <a:rPr sz="1150">
                          <a:solidFill>
                            <a:srgbClr val="1A1A1A"/>
                          </a:solidFill>
                        </a:rPr>
                        <a:t>Serious harm, fear, or disruption</a:t>
                      </a:r>
                    </a:p>
                  </a:txBody>
                  <a:tcPr anchor="ctr" marL="73152" marR="54864" marT="27432" marB="27432">
                    <a:solidFill>
                      <a:srgbClr val="FFFFFF"/>
                    </a:solidFill>
                  </a:tcPr>
                </a:tc>
                <a:tc>
                  <a:txBody>
                    <a:bodyPr wrap="square"/>
                    <a:lstStyle/>
                    <a:p>
                      <a:r>
                        <a:rPr sz="1150">
                          <a:solidFill>
                            <a:srgbClr val="1A1A1A"/>
                          </a:solidFill>
                        </a:rPr>
                        <a:t>Nuisance/vandalism alone doesn't qualify</a:t>
                      </a:r>
                    </a:p>
                  </a:txBody>
                  <a:tcPr anchor="ctr" marL="73152" marR="54864" marT="27432" marB="27432">
                    <a:solidFill>
                      <a:srgbClr val="FFFFFF"/>
                    </a:solidFill>
                  </a:tcPr>
                </a:tc>
              </a:tr>
              <a:tr h="883312">
                <a:tc>
                  <a:txBody>
                    <a:bodyPr wrap="square"/>
                    <a:lstStyle/>
                    <a:p>
                      <a:r>
                        <a:rPr sz="1150" b="1">
                          <a:solidFill>
                            <a:srgbClr val="0C2B4A"/>
                          </a:solidFill>
                        </a:rPr>
                        <a:t>The public effect</a:t>
                      </a:r>
                    </a:p>
                  </a:txBody>
                  <a:tcPr anchor="ctr" marL="73152" marR="54864" marT="27432" marB="27432">
                    <a:solidFill>
                      <a:srgbClr val="EEF3F8"/>
                    </a:solidFill>
                  </a:tcPr>
                </a:tc>
                <a:tc>
                  <a:txBody>
                    <a:bodyPr wrap="square"/>
                    <a:lstStyle/>
                    <a:p>
                      <a:r>
                        <a:rPr sz="1150">
                          <a:solidFill>
                            <a:srgbClr val="1A1A1A"/>
                          </a:solidFill>
                        </a:rPr>
                        <a:t>Spreading terror or coercion</a:t>
                      </a:r>
                    </a:p>
                  </a:txBody>
                  <a:tcPr anchor="ctr" marL="73152" marR="54864" marT="27432" marB="27432">
                    <a:solidFill>
                      <a:srgbClr val="EEF3F8"/>
                    </a:solidFill>
                  </a:tcPr>
                </a:tc>
                <a:tc>
                  <a:txBody>
                    <a:bodyPr wrap="square"/>
                    <a:lstStyle/>
                    <a:p>
                      <a:r>
                        <a:rPr sz="1150">
                          <a:solidFill>
                            <a:srgbClr val="1A1A1A"/>
                          </a:solidFill>
                        </a:rPr>
                        <a:t>The 'terror' in cyber terrorism — fear is the goal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Only when intent + target + severity line up do you have cyber terrorism. Missing the ideological intent makes it crime; missing the severity makes it vandalism.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76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 Terrorism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At an awareness level: defacement of Nepali government websites and attacks on public-service portals during periods of regional tension have been used to spread fear and embarrassment. Globally, attacks aimed at power grids and industrial control systems are intended to cause physical disruption. In each, the motive is ideological and the target is public — the signature of cyber terrorism, not ordinary crime.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hacking is cyber terrorism." Most hacking is crime (for profit) or vandalism. Terrorism requires political/ideological intent PLUS an intent to terrorise or seriously harm — mislabelling a prank or a profit scam as 'terrorism' distorts both the threat and the correct response.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 terrorism is the politically or ideologically motivated use of computers or networks to cause serious harm, fear, or disruption — especially to critical infrastructure or the public. It is defined by three ingredients together: intent (political/ideological, not profit), target (critical systems or public safety), and severity (real harm or terror). All three are needed, which is what separates it from ordinary hacking.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 terrorism · political/ideological intent · critical infrastructure · fear · intent + target + severity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76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Distinguishing Related Terms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Cybercrime, hacktivism, cyber warfare, and cyber terrorism overlap but are distinct — separated mainly by MOTIVE and ACTOR. Labelling an incident correctly changes the legal and response path entirely.</a:t>
            </a:r>
          </a:p>
          <a:p>
            <a:pPr>
              <a:spcAft>
                <a:spcPts val="500"/>
              </a:spcAft>
            </a:pPr>
            <a:r>
              <a:rPr sz="1200" b="1">
                <a:solidFill>
                  <a:srgbClr val="185FA5"/>
                </a:solidFill>
              </a:rPr>
              <a:t>HOW IT WORKS</a:t>
            </a:r>
          </a:p>
          <a:p>
            <a:pPr>
              <a:spcAft>
                <a:spcPts val="600"/>
              </a:spcAft>
            </a:pPr>
            <a:r>
              <a:rPr sz="1400">
                <a:solidFill>
                  <a:srgbClr val="1A1A1A"/>
                </a:solidFill>
              </a:rPr>
              <a:t>•  Cybercrime: motive is profit (e.g. a ransomware gang for money).</a:t>
            </a:r>
          </a:p>
          <a:p>
            <a:pPr>
              <a:spcAft>
                <a:spcPts val="600"/>
              </a:spcAft>
            </a:pPr>
            <a:r>
              <a:rPr sz="1400">
                <a:solidFill>
                  <a:srgbClr val="1A1A1A"/>
                </a:solidFill>
              </a:rPr>
              <a:t>•  Hacktivism: motive is protest or a message (e.g. a defacement to make a point).</a:t>
            </a:r>
          </a:p>
          <a:p>
            <a:pPr>
              <a:spcAft>
                <a:spcPts val="600"/>
              </a:spcAft>
            </a:pPr>
            <a:r>
              <a:rPr sz="1400">
                <a:solidFill>
                  <a:srgbClr val="1A1A1A"/>
                </a:solidFill>
              </a:rPr>
              <a:t>•  Cyber warfare: state-versus-state action as part of conflict.</a:t>
            </a:r>
          </a:p>
          <a:p>
            <a:pPr>
              <a:spcAft>
                <a:spcPts val="600"/>
              </a:spcAft>
            </a:pPr>
            <a:r>
              <a:rPr sz="1400">
                <a:solidFill>
                  <a:srgbClr val="1A1A1A"/>
                </a:solidFill>
              </a:rPr>
              <a:t>•  Cyber terrorism: ideological motive aiming to terrorise or seriously harm.</a:t>
            </a:r>
          </a:p>
        </p:txBody>
      </p:sp>
      <p:pic>
        <p:nvPicPr>
          <p:cNvPr id="6" name="Picture 5" descr="s36_intent_target.png"/>
          <p:cNvPicPr>
            <a:picLocks noChangeAspect="1"/>
          </p:cNvPicPr>
          <p:nvPr/>
        </p:nvPicPr>
        <p:blipFill>
          <a:blip r:embed="rId2"/>
          <a:stretch>
            <a:fillRect/>
          </a:stretch>
        </p:blipFill>
        <p:spPr>
          <a:xfrm>
            <a:off x="6355080" y="2295603"/>
            <a:ext cx="5532120" cy="304403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Sort by motive: profit / protest / state-conflict / terror.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76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Cybercrime vs hacktivism vs cyber warfare vs cyber terrorism</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259418"/>
                <a:gridCol w="2658139"/>
                <a:gridCol w="2525232"/>
                <a:gridCol w="3987209"/>
              </a:tblGrid>
              <a:tr h="736092">
                <a:tc>
                  <a:txBody>
                    <a:bodyPr wrap="square"/>
                    <a:lstStyle/>
                    <a:p>
                      <a:r>
                        <a:rPr sz="1150" b="1">
                          <a:solidFill>
                            <a:srgbClr val="FFFFFF"/>
                          </a:solidFill>
                        </a:rPr>
                        <a:t>Term</a:t>
                      </a:r>
                    </a:p>
                  </a:txBody>
                  <a:tcPr anchor="ctr" marL="73152" marR="54864" marT="27432" marB="27432">
                    <a:solidFill>
                      <a:srgbClr val="0C2B4A"/>
                    </a:solidFill>
                  </a:tcPr>
                </a:tc>
                <a:tc>
                  <a:txBody>
                    <a:bodyPr wrap="square"/>
                    <a:lstStyle/>
                    <a:p>
                      <a:r>
                        <a:rPr sz="1150" b="1">
                          <a:solidFill>
                            <a:srgbClr val="FFFFFF"/>
                          </a:solidFill>
                        </a:rPr>
                        <a:t>Primary motive</a:t>
                      </a:r>
                    </a:p>
                  </a:txBody>
                  <a:tcPr anchor="ctr" marL="73152" marR="54864" marT="27432" marB="27432">
                    <a:solidFill>
                      <a:srgbClr val="0C2B4A"/>
                    </a:solidFill>
                  </a:tcPr>
                </a:tc>
                <a:tc>
                  <a:txBody>
                    <a:bodyPr wrap="square"/>
                    <a:lstStyle/>
                    <a:p>
                      <a:r>
                        <a:rPr sz="1150" b="1">
                          <a:solidFill>
                            <a:srgbClr val="FFFFFF"/>
                          </a:solidFill>
                        </a:rPr>
                        <a:t>Typical actor</a:t>
                      </a:r>
                    </a:p>
                  </a:txBody>
                  <a:tcPr anchor="ctr" marL="73152" marR="54864" marT="27432" marB="27432">
                    <a:solidFill>
                      <a:srgbClr val="0C2B4A"/>
                    </a:solidFill>
                  </a:tcPr>
                </a:tc>
                <a:tc>
                  <a:txBody>
                    <a:bodyPr wrap="square"/>
                    <a:lstStyle/>
                    <a:p>
                      <a:r>
                        <a:rPr sz="1150" b="1">
                          <a:solidFill>
                            <a:srgbClr val="FFFFFF"/>
                          </a:solidFill>
                        </a:rPr>
                        <a:t>Example (awareness)</a:t>
                      </a:r>
                    </a:p>
                  </a:txBody>
                  <a:tcPr anchor="ctr" marL="73152" marR="54864" marT="27432" marB="27432">
                    <a:solidFill>
                      <a:srgbClr val="0C2B4A"/>
                    </a:solidFill>
                  </a:tcPr>
                </a:tc>
              </a:tr>
              <a:tr h="736092">
                <a:tc>
                  <a:txBody>
                    <a:bodyPr wrap="square"/>
                    <a:lstStyle/>
                    <a:p>
                      <a:r>
                        <a:rPr sz="1100" b="1">
                          <a:solidFill>
                            <a:srgbClr val="0C2B4A"/>
                          </a:solidFill>
                        </a:rPr>
                        <a:t>Cybercrime</a:t>
                      </a:r>
                    </a:p>
                  </a:txBody>
                  <a:tcPr anchor="ctr" marL="73152" marR="54864" marT="27432" marB="27432">
                    <a:solidFill>
                      <a:srgbClr val="FFFFFF"/>
                    </a:solidFill>
                  </a:tcPr>
                </a:tc>
                <a:tc>
                  <a:txBody>
                    <a:bodyPr wrap="square"/>
                    <a:lstStyle/>
                    <a:p>
                      <a:r>
                        <a:rPr sz="1100">
                          <a:solidFill>
                            <a:srgbClr val="1A1A1A"/>
                          </a:solidFill>
                        </a:rPr>
                        <a:t>Profit / money</a:t>
                      </a:r>
                    </a:p>
                  </a:txBody>
                  <a:tcPr anchor="ctr" marL="73152" marR="54864" marT="27432" marB="27432">
                    <a:solidFill>
                      <a:srgbClr val="FFFFFF"/>
                    </a:solidFill>
                  </a:tcPr>
                </a:tc>
                <a:tc>
                  <a:txBody>
                    <a:bodyPr wrap="square"/>
                    <a:lstStyle/>
                    <a:p>
                      <a:r>
                        <a:rPr sz="1100">
                          <a:solidFill>
                            <a:srgbClr val="1A1A1A"/>
                          </a:solidFill>
                        </a:rPr>
                        <a:t>Criminals, fraud gangs</a:t>
                      </a:r>
                    </a:p>
                  </a:txBody>
                  <a:tcPr anchor="ctr" marL="73152" marR="54864" marT="27432" marB="27432">
                    <a:solidFill>
                      <a:srgbClr val="FFFFFF"/>
                    </a:solidFill>
                  </a:tcPr>
                </a:tc>
                <a:tc>
                  <a:txBody>
                    <a:bodyPr wrap="square"/>
                    <a:lstStyle/>
                    <a:p>
                      <a:r>
                        <a:rPr sz="1100">
                          <a:solidFill>
                            <a:srgbClr val="1A1A1A"/>
                          </a:solidFill>
                        </a:rPr>
                        <a:t>Ransomware gang; OTP/eSewa scams</a:t>
                      </a:r>
                    </a:p>
                  </a:txBody>
                  <a:tcPr anchor="ctr" marL="73152" marR="54864" marT="27432" marB="27432">
                    <a:solidFill>
                      <a:srgbClr val="FFFFFF"/>
                    </a:solidFill>
                  </a:tcPr>
                </a:tc>
              </a:tr>
              <a:tr h="736092">
                <a:tc>
                  <a:txBody>
                    <a:bodyPr wrap="square"/>
                    <a:lstStyle/>
                    <a:p>
                      <a:r>
                        <a:rPr sz="1100" b="1">
                          <a:solidFill>
                            <a:srgbClr val="0C2B4A"/>
                          </a:solidFill>
                        </a:rPr>
                        <a:t>Hacktivism</a:t>
                      </a:r>
                    </a:p>
                  </a:txBody>
                  <a:tcPr anchor="ctr" marL="73152" marR="54864" marT="27432" marB="27432">
                    <a:solidFill>
                      <a:srgbClr val="EEF3F8"/>
                    </a:solidFill>
                  </a:tcPr>
                </a:tc>
                <a:tc>
                  <a:txBody>
                    <a:bodyPr wrap="square"/>
                    <a:lstStyle/>
                    <a:p>
                      <a:r>
                        <a:rPr sz="1100">
                          <a:solidFill>
                            <a:srgbClr val="1A1A1A"/>
                          </a:solidFill>
                        </a:rPr>
                        <a:t>Protest / a message</a:t>
                      </a:r>
                    </a:p>
                  </a:txBody>
                  <a:tcPr anchor="ctr" marL="73152" marR="54864" marT="27432" marB="27432">
                    <a:solidFill>
                      <a:srgbClr val="EEF3F8"/>
                    </a:solidFill>
                  </a:tcPr>
                </a:tc>
                <a:tc>
                  <a:txBody>
                    <a:bodyPr wrap="square"/>
                    <a:lstStyle/>
                    <a:p>
                      <a:r>
                        <a:rPr sz="1100">
                          <a:solidFill>
                            <a:srgbClr val="1A1A1A"/>
                          </a:solidFill>
                        </a:rPr>
                        <a:t>Activists</a:t>
                      </a:r>
                    </a:p>
                  </a:txBody>
                  <a:tcPr anchor="ctr" marL="73152" marR="54864" marT="27432" marB="27432">
                    <a:solidFill>
                      <a:srgbClr val="EEF3F8"/>
                    </a:solidFill>
                  </a:tcPr>
                </a:tc>
                <a:tc>
                  <a:txBody>
                    <a:bodyPr wrap="square"/>
                    <a:lstStyle/>
                    <a:p>
                      <a:r>
                        <a:rPr sz="1100">
                          <a:solidFill>
                            <a:srgbClr val="1A1A1A"/>
                          </a:solidFill>
                        </a:rPr>
                        <a:t>Website defacement to make a point</a:t>
                      </a:r>
                    </a:p>
                  </a:txBody>
                  <a:tcPr anchor="ctr" marL="73152" marR="54864" marT="27432" marB="27432">
                    <a:solidFill>
                      <a:srgbClr val="EEF3F8"/>
                    </a:solidFill>
                  </a:tcPr>
                </a:tc>
              </a:tr>
              <a:tr h="736092">
                <a:tc>
                  <a:txBody>
                    <a:bodyPr wrap="square"/>
                    <a:lstStyle/>
                    <a:p>
                      <a:r>
                        <a:rPr sz="1100" b="1">
                          <a:solidFill>
                            <a:srgbClr val="0C2B4A"/>
                          </a:solidFill>
                        </a:rPr>
                        <a:t>Cyber warfare</a:t>
                      </a:r>
                    </a:p>
                  </a:txBody>
                  <a:tcPr anchor="ctr" marL="73152" marR="54864" marT="27432" marB="27432">
                    <a:solidFill>
                      <a:srgbClr val="FFFFFF"/>
                    </a:solidFill>
                  </a:tcPr>
                </a:tc>
                <a:tc>
                  <a:txBody>
                    <a:bodyPr wrap="square"/>
                    <a:lstStyle/>
                    <a:p>
                      <a:r>
                        <a:rPr sz="1100">
                          <a:solidFill>
                            <a:srgbClr val="1A1A1A"/>
                          </a:solidFill>
                        </a:rPr>
                        <a:t>State conflict</a:t>
                      </a:r>
                    </a:p>
                  </a:txBody>
                  <a:tcPr anchor="ctr" marL="73152" marR="54864" marT="27432" marB="27432">
                    <a:solidFill>
                      <a:srgbClr val="FFFFFF"/>
                    </a:solidFill>
                  </a:tcPr>
                </a:tc>
                <a:tc>
                  <a:txBody>
                    <a:bodyPr wrap="square"/>
                    <a:lstStyle/>
                    <a:p>
                      <a:r>
                        <a:rPr sz="1100">
                          <a:solidFill>
                            <a:srgbClr val="1A1A1A"/>
                          </a:solidFill>
                        </a:rPr>
                        <a:t>Nation-states</a:t>
                      </a:r>
                    </a:p>
                  </a:txBody>
                  <a:tcPr anchor="ctr" marL="73152" marR="54864" marT="27432" marB="27432">
                    <a:solidFill>
                      <a:srgbClr val="FFFFFF"/>
                    </a:solidFill>
                  </a:tcPr>
                </a:tc>
                <a:tc>
                  <a:txBody>
                    <a:bodyPr wrap="square"/>
                    <a:lstStyle/>
                    <a:p>
                      <a:r>
                        <a:rPr sz="1100">
                          <a:solidFill>
                            <a:srgbClr val="1A1A1A"/>
                          </a:solidFill>
                        </a:rPr>
                        <a:t>State-vs-state attacks in a conflict</a:t>
                      </a:r>
                    </a:p>
                  </a:txBody>
                  <a:tcPr anchor="ctr" marL="73152" marR="54864" marT="27432" marB="27432">
                    <a:solidFill>
                      <a:srgbClr val="FFFFFF"/>
                    </a:solidFill>
                  </a:tcPr>
                </a:tc>
              </a:tr>
              <a:tr h="736092">
                <a:tc>
                  <a:txBody>
                    <a:bodyPr wrap="square"/>
                    <a:lstStyle/>
                    <a:p>
                      <a:r>
                        <a:rPr sz="1100" b="1">
                          <a:solidFill>
                            <a:srgbClr val="0C2B4A"/>
                          </a:solidFill>
                        </a:rPr>
                        <a:t>Cyber terrorism</a:t>
                      </a:r>
                    </a:p>
                  </a:txBody>
                  <a:tcPr anchor="ctr" marL="73152" marR="54864" marT="27432" marB="27432">
                    <a:solidFill>
                      <a:srgbClr val="EEF3F8"/>
                    </a:solidFill>
                  </a:tcPr>
                </a:tc>
                <a:tc>
                  <a:txBody>
                    <a:bodyPr wrap="square"/>
                    <a:lstStyle/>
                    <a:p>
                      <a:r>
                        <a:rPr sz="1100">
                          <a:solidFill>
                            <a:srgbClr val="1A1A1A"/>
                          </a:solidFill>
                        </a:rPr>
                        <a:t>Ideology + terror/harm</a:t>
                      </a:r>
                    </a:p>
                  </a:txBody>
                  <a:tcPr anchor="ctr" marL="73152" marR="54864" marT="27432" marB="27432">
                    <a:solidFill>
                      <a:srgbClr val="EEF3F8"/>
                    </a:solidFill>
                  </a:tcPr>
                </a:tc>
                <a:tc>
                  <a:txBody>
                    <a:bodyPr wrap="square"/>
                    <a:lstStyle/>
                    <a:p>
                      <a:r>
                        <a:rPr sz="1100">
                          <a:solidFill>
                            <a:srgbClr val="1A1A1A"/>
                          </a:solidFill>
                        </a:rPr>
                        <a:t>Ideologically driven groups</a:t>
                      </a:r>
                    </a:p>
                  </a:txBody>
                  <a:tcPr anchor="ctr" marL="73152" marR="54864" marT="27432" marB="27432">
                    <a:solidFill>
                      <a:srgbClr val="EEF3F8"/>
                    </a:solidFill>
                  </a:tcPr>
                </a:tc>
                <a:tc>
                  <a:txBody>
                    <a:bodyPr wrap="square"/>
                    <a:lstStyle/>
                    <a:p>
                      <a:r>
                        <a:rPr sz="1100">
                          <a:solidFill>
                            <a:srgbClr val="1A1A1A"/>
                          </a:solidFill>
                        </a:rPr>
                        <a:t>Attempt to disable a national grid to cause fear</a:t>
                      </a:r>
                    </a:p>
                  </a:txBody>
                  <a:tcPr anchor="ctr" marL="73152" marR="54864" marT="27432" marB="27432">
                    <a:solidFill>
                      <a:srgbClr val="EEF3F8"/>
                    </a:solidFill>
                  </a:tcPr>
                </a:tc>
              </a:tr>
              <a:tr h="736092">
                <a:tc>
                  <a:txBody>
                    <a:bodyPr wrap="square"/>
                    <a:lstStyle/>
                    <a:p>
                      <a:r>
                        <a:rPr sz="1100" b="1">
                          <a:solidFill>
                            <a:srgbClr val="0C2B4A"/>
                          </a:solidFill>
                        </a:rPr>
                        <a:t>(shared trait)</a:t>
                      </a:r>
                    </a:p>
                  </a:txBody>
                  <a:tcPr anchor="ctr" marL="73152" marR="54864" marT="27432" marB="27432">
                    <a:solidFill>
                      <a:srgbClr val="FFFFFF"/>
                    </a:solidFill>
                  </a:tcPr>
                </a:tc>
                <a:tc>
                  <a:txBody>
                    <a:bodyPr wrap="square"/>
                    <a:lstStyle/>
                    <a:p>
                      <a:r>
                        <a:rPr sz="1100">
                          <a:solidFill>
                            <a:srgbClr val="1A1A1A"/>
                          </a:solidFill>
                        </a:rPr>
                        <a:t>All use computers</a:t>
                      </a:r>
                    </a:p>
                  </a:txBody>
                  <a:tcPr anchor="ctr" marL="73152" marR="54864" marT="27432" marB="27432">
                    <a:solidFill>
                      <a:srgbClr val="FFFFFF"/>
                    </a:solidFill>
                  </a:tcPr>
                </a:tc>
                <a:tc>
                  <a:txBody>
                    <a:bodyPr wrap="square"/>
                    <a:lstStyle/>
                    <a:p>
                      <a:r>
                        <a:rPr sz="1100">
                          <a:solidFill>
                            <a:srgbClr val="1A1A1A"/>
                          </a:solidFill>
                        </a:rPr>
                        <a:t>Overlapping tools</a:t>
                      </a:r>
                    </a:p>
                  </a:txBody>
                  <a:tcPr anchor="ctr" marL="73152" marR="54864" marT="27432" marB="27432">
                    <a:solidFill>
                      <a:srgbClr val="FFFFFF"/>
                    </a:solidFill>
                  </a:tcPr>
                </a:tc>
                <a:tc>
                  <a:txBody>
                    <a:bodyPr wrap="square"/>
                    <a:lstStyle/>
                    <a:p>
                      <a:r>
                        <a:rPr sz="1100">
                          <a:solidFill>
                            <a:srgbClr val="1A1A1A"/>
                          </a:solidFill>
                        </a:rPr>
                        <a:t>The tool is not what distinguishes them</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They share tools, so the tool never decides the label — MOTIVE and ACTOR do. Getting the label right changes the legal route and who responds (police vs national security).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76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Distinguishing Related Terms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Classify three events: a ransomware gang encrypting a company's files for money is cybercrime; a protest-driven defacement of a website carrying a political slogan is hacktivism; an attempt to disable a national power grid to spread fear is cyber terrorism (or cyber warfare if state-driven). Same tools, very different labels — because motive and actor, not the technology, decide.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illegal and uses a computer, it's cyber terrorism." Illegality and computers are common to all four categories. The distinguishing factors are motive (profit vs protest vs state conflict vs ideology-and-terror) and actor — which is exactly why careful classification matters.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Cybercrime (profit), hacktivism (protest/message), cyber warfare (state-vs-state), and cyber terrorism (ideology plus intent to terrorise or seriously harm) overlap in tools but differ in motive and actor. Because they share technology, the tool never decides the label; motive and actor do. Correct classification is essential because it changes the legal and response path — police, regulator, or national security.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cybercrime · hacktivism · cyber warfare · cyber terrorism · motive &amp; actor decide · correct labelling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76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Types of Cyber Terrorism</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Common categories used for AWARENESS: (a) attacks on critical infrastructure, (b) data destruction/manipulation of public records, (c) disruption/denial of essential services, (d) propaganda, recruitment &amp; psychological operations / disinformation, and (e) financing via cyber means.</a:t>
            </a:r>
          </a:p>
          <a:p>
            <a:pPr>
              <a:spcAft>
                <a:spcPts val="500"/>
              </a:spcAft>
            </a:pPr>
            <a:r>
              <a:rPr sz="1200" b="1">
                <a:solidFill>
                  <a:srgbClr val="185FA5"/>
                </a:solidFill>
              </a:rPr>
              <a:t>HOW IT WORKS</a:t>
            </a:r>
          </a:p>
          <a:p>
            <a:pPr>
              <a:spcAft>
                <a:spcPts val="600"/>
              </a:spcAft>
            </a:pPr>
            <a:r>
              <a:rPr sz="1400">
                <a:solidFill>
                  <a:srgbClr val="1A1A1A"/>
                </a:solidFill>
              </a:rPr>
              <a:t>•  Critical-infrastructure attacks: power, water, telecom, finance, aviation.</a:t>
            </a:r>
          </a:p>
          <a:p>
            <a:pPr>
              <a:spcAft>
                <a:spcPts val="600"/>
              </a:spcAft>
            </a:pPr>
            <a:r>
              <a:rPr sz="1400">
                <a:solidFill>
                  <a:srgbClr val="1A1A1A"/>
                </a:solidFill>
              </a:rPr>
              <a:t>•  Data destruction / manipulation: corrupting or wiping public records.</a:t>
            </a:r>
          </a:p>
          <a:p>
            <a:pPr>
              <a:spcAft>
                <a:spcPts val="600"/>
              </a:spcAft>
            </a:pPr>
            <a:r>
              <a:rPr sz="1400">
                <a:solidFill>
                  <a:srgbClr val="1A1A1A"/>
                </a:solidFill>
              </a:rPr>
              <a:t>•  Service denial: large-scale disruption of services people depend on.</a:t>
            </a:r>
          </a:p>
          <a:p>
            <a:pPr>
              <a:spcAft>
                <a:spcPts val="600"/>
              </a:spcAft>
            </a:pPr>
            <a:r>
              <a:rPr sz="1400">
                <a:solidFill>
                  <a:srgbClr val="1A1A1A"/>
                </a:solidFill>
              </a:rPr>
              <a:t>•  Propaganda / psy-ops &amp; financing: spreading fear, recruiting, and funding operations online.</a:t>
            </a:r>
          </a:p>
        </p:txBody>
      </p:sp>
      <p:pic>
        <p:nvPicPr>
          <p:cNvPr id="6" name="Picture 5" descr="s36_types.png"/>
          <p:cNvPicPr>
            <a:picLocks noChangeAspect="1"/>
          </p:cNvPicPr>
          <p:nvPr/>
        </p:nvPicPr>
        <p:blipFill>
          <a:blip r:embed="rId2"/>
          <a:stretch>
            <a:fillRect/>
          </a:stretch>
        </p:blipFill>
        <p:spPr>
          <a:xfrm>
            <a:off x="6355080" y="2523190"/>
            <a:ext cx="5532120" cy="258885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Types span infrastructure, data, service-denial, propaganda, and financing.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76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Types of cyber terrorism — example and intended effect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23846"/>
                <a:gridCol w="4396153"/>
                <a:gridCol w="3809999"/>
              </a:tblGrid>
              <a:tr h="630936">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Example (awareness level)</a:t>
                      </a:r>
                    </a:p>
                  </a:txBody>
                  <a:tcPr anchor="ctr" marL="73152" marR="54864" marT="27432" marB="27432">
                    <a:solidFill>
                      <a:srgbClr val="0C2B4A"/>
                    </a:solidFill>
                  </a:tcPr>
                </a:tc>
                <a:tc>
                  <a:txBody>
                    <a:bodyPr wrap="square"/>
                    <a:lstStyle/>
                    <a:p>
                      <a:r>
                        <a:rPr sz="1150" b="1">
                          <a:solidFill>
                            <a:srgbClr val="FFFFFF"/>
                          </a:solidFill>
                        </a:rPr>
                        <a:t>Intended effect</a:t>
                      </a:r>
                    </a:p>
                  </a:txBody>
                  <a:tcPr anchor="ctr" marL="73152" marR="54864" marT="27432" marB="27432">
                    <a:solidFill>
                      <a:srgbClr val="0C2B4A"/>
                    </a:solidFill>
                  </a:tcPr>
                </a:tc>
              </a:tr>
              <a:tr h="630936">
                <a:tc>
                  <a:txBody>
                    <a:bodyPr wrap="square"/>
                    <a:lstStyle/>
                    <a:p>
                      <a:r>
                        <a:rPr sz="1100" b="1">
                          <a:solidFill>
                            <a:srgbClr val="0C2B4A"/>
                          </a:solidFill>
                        </a:rPr>
                        <a:t>Critical-infrastructure attack</a:t>
                      </a:r>
                    </a:p>
                  </a:txBody>
                  <a:tcPr anchor="ctr" marL="73152" marR="54864" marT="27432" marB="27432">
                    <a:solidFill>
                      <a:srgbClr val="FFFFFF"/>
                    </a:solidFill>
                  </a:tcPr>
                </a:tc>
                <a:tc>
                  <a:txBody>
                    <a:bodyPr wrap="square"/>
                    <a:lstStyle/>
                    <a:p>
                      <a:r>
                        <a:rPr sz="1100">
                          <a:solidFill>
                            <a:srgbClr val="1A1A1A"/>
                          </a:solidFill>
                        </a:rPr>
                        <a:t>Targeting power/water/telecom/finance/aviation</a:t>
                      </a:r>
                    </a:p>
                  </a:txBody>
                  <a:tcPr anchor="ctr" marL="73152" marR="54864" marT="27432" marB="27432">
                    <a:solidFill>
                      <a:srgbClr val="FFFFFF"/>
                    </a:solidFill>
                  </a:tcPr>
                </a:tc>
                <a:tc>
                  <a:txBody>
                    <a:bodyPr wrap="square"/>
                    <a:lstStyle/>
                    <a:p>
                      <a:r>
                        <a:rPr sz="1100">
                          <a:solidFill>
                            <a:srgbClr val="1A1A1A"/>
                          </a:solidFill>
                        </a:rPr>
                        <a:t>Physical disruption and public fear</a:t>
                      </a:r>
                    </a:p>
                  </a:txBody>
                  <a:tcPr anchor="ctr" marL="73152" marR="54864" marT="27432" marB="27432">
                    <a:solidFill>
                      <a:srgbClr val="FFFFFF"/>
                    </a:solidFill>
                  </a:tcPr>
                </a:tc>
              </a:tr>
              <a:tr h="630936">
                <a:tc>
                  <a:txBody>
                    <a:bodyPr wrap="square"/>
                    <a:lstStyle/>
                    <a:p>
                      <a:r>
                        <a:rPr sz="1100" b="1">
                          <a:solidFill>
                            <a:srgbClr val="0C2B4A"/>
                          </a:solidFill>
                        </a:rPr>
                        <a:t>Data destruction / manipulation</a:t>
                      </a:r>
                    </a:p>
                  </a:txBody>
                  <a:tcPr anchor="ctr" marL="73152" marR="54864" marT="27432" marB="27432">
                    <a:solidFill>
                      <a:srgbClr val="EEF3F8"/>
                    </a:solidFill>
                  </a:tcPr>
                </a:tc>
                <a:tc>
                  <a:txBody>
                    <a:bodyPr wrap="square"/>
                    <a:lstStyle/>
                    <a:p>
                      <a:r>
                        <a:rPr sz="1100">
                          <a:solidFill>
                            <a:srgbClr val="1A1A1A"/>
                          </a:solidFill>
                        </a:rPr>
                        <a:t>Corrupting or wiping public records</a:t>
                      </a:r>
                    </a:p>
                  </a:txBody>
                  <a:tcPr anchor="ctr" marL="73152" marR="54864" marT="27432" marB="27432">
                    <a:solidFill>
                      <a:srgbClr val="EEF3F8"/>
                    </a:solidFill>
                  </a:tcPr>
                </a:tc>
                <a:tc>
                  <a:txBody>
                    <a:bodyPr wrap="square"/>
                    <a:lstStyle/>
                    <a:p>
                      <a:r>
                        <a:rPr sz="1100">
                          <a:solidFill>
                            <a:srgbClr val="1A1A1A"/>
                          </a:solidFill>
                        </a:rPr>
                        <a:t>Erode trust; damage governance</a:t>
                      </a:r>
                    </a:p>
                  </a:txBody>
                  <a:tcPr anchor="ctr" marL="73152" marR="54864" marT="27432" marB="27432">
                    <a:solidFill>
                      <a:srgbClr val="EEF3F8"/>
                    </a:solidFill>
                  </a:tcPr>
                </a:tc>
              </a:tr>
              <a:tr h="630936">
                <a:tc>
                  <a:txBody>
                    <a:bodyPr wrap="square"/>
                    <a:lstStyle/>
                    <a:p>
                      <a:r>
                        <a:rPr sz="1100" b="1">
                          <a:solidFill>
                            <a:srgbClr val="0C2B4A"/>
                          </a:solidFill>
                        </a:rPr>
                        <a:t>Service denial (large-scale)</a:t>
                      </a:r>
                    </a:p>
                  </a:txBody>
                  <a:tcPr anchor="ctr" marL="73152" marR="54864" marT="27432" marB="27432">
                    <a:solidFill>
                      <a:srgbClr val="FFFFFF"/>
                    </a:solidFill>
                  </a:tcPr>
                </a:tc>
                <a:tc>
                  <a:txBody>
                    <a:bodyPr wrap="square"/>
                    <a:lstStyle/>
                    <a:p>
                      <a:r>
                        <a:rPr sz="1100">
                          <a:solidFill>
                            <a:srgbClr val="1A1A1A"/>
                          </a:solidFill>
                        </a:rPr>
                        <a:t>Disrupting essential online services</a:t>
                      </a:r>
                    </a:p>
                  </a:txBody>
                  <a:tcPr anchor="ctr" marL="73152" marR="54864" marT="27432" marB="27432">
                    <a:solidFill>
                      <a:srgbClr val="FFFFFF"/>
                    </a:solidFill>
                  </a:tcPr>
                </a:tc>
                <a:tc>
                  <a:txBody>
                    <a:bodyPr wrap="square"/>
                    <a:lstStyle/>
                    <a:p>
                      <a:r>
                        <a:rPr sz="1100">
                          <a:solidFill>
                            <a:srgbClr val="1A1A1A"/>
                          </a:solidFill>
                        </a:rPr>
                        <a:t>Freeze daily life and commerce</a:t>
                      </a:r>
                    </a:p>
                  </a:txBody>
                  <a:tcPr anchor="ctr" marL="73152" marR="54864" marT="27432" marB="27432">
                    <a:solidFill>
                      <a:srgbClr val="FFFFFF"/>
                    </a:solidFill>
                  </a:tcPr>
                </a:tc>
              </a:tr>
              <a:tr h="630936">
                <a:tc>
                  <a:txBody>
                    <a:bodyPr wrap="square"/>
                    <a:lstStyle/>
                    <a:p>
                      <a:r>
                        <a:rPr sz="1100" b="1">
                          <a:solidFill>
                            <a:srgbClr val="0C2B4A"/>
                          </a:solidFill>
                        </a:rPr>
                        <a:t>Propaganda &amp; psy-ops</a:t>
                      </a:r>
                    </a:p>
                  </a:txBody>
                  <a:tcPr anchor="ctr" marL="73152" marR="54864" marT="27432" marB="27432">
                    <a:solidFill>
                      <a:srgbClr val="EEF3F8"/>
                    </a:solidFill>
                  </a:tcPr>
                </a:tc>
                <a:tc>
                  <a:txBody>
                    <a:bodyPr wrap="square"/>
                    <a:lstStyle/>
                    <a:p>
                      <a:r>
                        <a:rPr sz="1100">
                          <a:solidFill>
                            <a:srgbClr val="1A1A1A"/>
                          </a:solidFill>
                        </a:rPr>
                        <a:t>Disinformation during sensitive national events</a:t>
                      </a:r>
                    </a:p>
                  </a:txBody>
                  <a:tcPr anchor="ctr" marL="73152" marR="54864" marT="27432" marB="27432">
                    <a:solidFill>
                      <a:srgbClr val="EEF3F8"/>
                    </a:solidFill>
                  </a:tcPr>
                </a:tc>
                <a:tc>
                  <a:txBody>
                    <a:bodyPr wrap="square"/>
                    <a:lstStyle/>
                    <a:p>
                      <a:r>
                        <a:rPr sz="1100">
                          <a:solidFill>
                            <a:srgbClr val="1A1A1A"/>
                          </a:solidFill>
                        </a:rPr>
                        <a:t>Spread fear, divide, and recruit</a:t>
                      </a:r>
                    </a:p>
                  </a:txBody>
                  <a:tcPr anchor="ctr" marL="73152" marR="54864" marT="27432" marB="27432">
                    <a:solidFill>
                      <a:srgbClr val="EEF3F8"/>
                    </a:solidFill>
                  </a:tcPr>
                </a:tc>
              </a:tr>
              <a:tr h="630936">
                <a:tc>
                  <a:txBody>
                    <a:bodyPr wrap="square"/>
                    <a:lstStyle/>
                    <a:p>
                      <a:r>
                        <a:rPr sz="1100" b="1">
                          <a:solidFill>
                            <a:srgbClr val="0C2B4A"/>
                          </a:solidFill>
                        </a:rPr>
                        <a:t>Recruitment / radicalisation</a:t>
                      </a:r>
                    </a:p>
                  </a:txBody>
                  <a:tcPr anchor="ctr" marL="73152" marR="54864" marT="27432" marB="27432">
                    <a:solidFill>
                      <a:srgbClr val="FFFFFF"/>
                    </a:solidFill>
                  </a:tcPr>
                </a:tc>
                <a:tc>
                  <a:txBody>
                    <a:bodyPr wrap="square"/>
                    <a:lstStyle/>
                    <a:p>
                      <a:r>
                        <a:rPr sz="1100">
                          <a:solidFill>
                            <a:srgbClr val="1A1A1A"/>
                          </a:solidFill>
                        </a:rPr>
                        <a:t>Online content to recruit and radicalise</a:t>
                      </a:r>
                    </a:p>
                  </a:txBody>
                  <a:tcPr anchor="ctr" marL="73152" marR="54864" marT="27432" marB="27432">
                    <a:solidFill>
                      <a:srgbClr val="FFFFFF"/>
                    </a:solidFill>
                  </a:tcPr>
                </a:tc>
                <a:tc>
                  <a:txBody>
                    <a:bodyPr wrap="square"/>
                    <a:lstStyle/>
                    <a:p>
                      <a:r>
                        <a:rPr sz="1100">
                          <a:solidFill>
                            <a:srgbClr val="1A1A1A"/>
                          </a:solidFill>
                        </a:rPr>
                        <a:t>Grow the movement, normalise harm</a:t>
                      </a:r>
                    </a:p>
                  </a:txBody>
                  <a:tcPr anchor="ctr" marL="73152" marR="54864" marT="27432" marB="27432">
                    <a:solidFill>
                      <a:srgbClr val="FFFFFF"/>
                    </a:solidFill>
                  </a:tcPr>
                </a:tc>
              </a:tr>
              <a:tr h="630936">
                <a:tc>
                  <a:txBody>
                    <a:bodyPr wrap="square"/>
                    <a:lstStyle/>
                    <a:p>
                      <a:r>
                        <a:rPr sz="1100" b="1">
                          <a:solidFill>
                            <a:srgbClr val="0C2B4A"/>
                          </a:solidFill>
                        </a:rPr>
                        <a:t>Financing via cyber means</a:t>
                      </a:r>
                    </a:p>
                  </a:txBody>
                  <a:tcPr anchor="ctr" marL="73152" marR="54864" marT="27432" marB="27432">
                    <a:solidFill>
                      <a:srgbClr val="EEF3F8"/>
                    </a:solidFill>
                  </a:tcPr>
                </a:tc>
                <a:tc>
                  <a:txBody>
                    <a:bodyPr wrap="square"/>
                    <a:lstStyle/>
                    <a:p>
                      <a:r>
                        <a:rPr sz="1100">
                          <a:solidFill>
                            <a:srgbClr val="1A1A1A"/>
                          </a:solidFill>
                        </a:rPr>
                        <a:t>Moving/raising funds online for operations</a:t>
                      </a:r>
                    </a:p>
                  </a:txBody>
                  <a:tcPr anchor="ctr" marL="73152" marR="54864" marT="27432" marB="27432">
                    <a:solidFill>
                      <a:srgbClr val="EEF3F8"/>
                    </a:solidFill>
                  </a:tcPr>
                </a:tc>
                <a:tc>
                  <a:txBody>
                    <a:bodyPr wrap="square"/>
                    <a:lstStyle/>
                    <a:p>
                      <a:r>
                        <a:rPr sz="1100">
                          <a:solidFill>
                            <a:srgbClr val="1A1A1A"/>
                          </a:solidFill>
                        </a:rPr>
                        <a:t>Fund and sustain the campaign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are awareness categories, not a manual — each names WHAT is targeted and WHY, so you can recognise and correctly report it. The common thread is fear and damage, not profit.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76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Types of Cyber Terrorism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South Asia, awareness-level concerns include disinformation campaigns on social media during sensitive national events (propaganda/psy-ops) and threats to telecom and banking continuity (service denial / critical-infrastructure risk). Cyber terrorism is 'arson with a keyboard' — the aim is not to steal, but to cause fear and damage, whether to systems or to the public mind.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"Cyber terrorism only means blowing up power plants." Its types are broader — data destruction, large-scale service denial, and especially propaganda and disinformation that attack the public's mind. An information campaign that spreads fear can be as much a part of it as an infrastructure strike.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common types of cyber terrorism, used for awareness, are: attacks on critical infrastructure (power, water, telecom, finance, aviation); data destruction or manipulation of public records; disruption or denial of essential services; propaganda, recruitment, and psychological operations / disinformation; and financing via cyber means. All share the aim of fear and damage rather than profit — 'arson with a keyboard'.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critical infrastructure · data destruction · service denial · propaganda/psy-ops · financing · fear not profit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76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S36 — 'Crime, hacktivism, or terrorism?'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take a website defacement of a government portal.</a:t>
            </a:r>
          </a:p>
          <a:p>
            <a:pPr>
              <a:spcAft>
                <a:spcPts val="700"/>
              </a:spcAft>
            </a:pPr>
            <a:r>
              <a:rPr sz="1550">
                <a:solidFill>
                  <a:srgbClr val="1A1A1A"/>
                </a:solidFill>
              </a:rPr>
              <a:t>•  Classify it using the three ingredients: intent, target, and severity.</a:t>
            </a:r>
          </a:p>
          <a:p>
            <a:pPr>
              <a:spcAft>
                <a:spcPts val="700"/>
              </a:spcAft>
            </a:pPr>
            <a:r>
              <a:rPr sz="1550">
                <a:solidFill>
                  <a:srgbClr val="1A1A1A"/>
                </a:solidFill>
              </a:rPr>
              <a:t>•  Decide — cybercrime, hacktivism, or cyber terrorism — and defend your choice.</a:t>
            </a:r>
          </a:p>
          <a:p>
            <a:pPr>
              <a:spcAft>
                <a:spcPts val="700"/>
              </a:spcAft>
            </a:pPr>
            <a:r>
              <a:rPr sz="1550">
                <a:solidFill>
                  <a:srgbClr val="1A1A1A"/>
                </a:solidFill>
              </a:rPr>
              <a:t>•  Take 3–4 answers aloud (3 min); note how motive and severity swing the label.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There's no single 'right' label — reward reasoning with intent/target/severity. A pure protest message leans hacktivism; an ideological attempt to terrorise leans terrorism. The skill is correct classification, which sets the legal/response path.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76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What most distinguishes cyber terrorism from ordinary cybercrime?</a:t>
            </a:r>
          </a:p>
          <a:p>
            <a:pPr lvl="1"/>
            <a:r>
              <a:rPr sz="1500" b="1">
                <a:solidFill>
                  <a:srgbClr val="0F6E56"/>
                </a:solidFill>
              </a:rPr>
              <a:t>a) it uses a computer   b) it is illegal   c) ✅ political/ideological intent to cause fear or serious harm   d) it is online</a:t>
            </a:r>
          </a:p>
          <a:p>
            <a:pPr lvl="1">
              <a:spcBef>
                <a:spcPts val="600"/>
              </a:spcBef>
            </a:pPr>
            <a:r>
              <a:rPr sz="1500" i="1">
                <a:solidFill>
                  <a:srgbClr val="1A1A1A"/>
                </a:solidFill>
              </a:rPr>
              <a:t>     Why: crime is profit-driven; terrorism adds ideological motive plus intent to terrorise/harm.</a:t>
            </a:r>
          </a:p>
          <a:p>
            <a:pPr>
              <a:spcBef>
                <a:spcPts val="900"/>
              </a:spcBef>
            </a:pPr>
            <a:r>
              <a:rPr sz="1700" b="1">
                <a:solidFill>
                  <a:srgbClr val="0C2B4A"/>
                </a:solidFill>
              </a:rPr>
              <a:t>Q2.  Spreading propaganda and disinformation to recruit and instill fear is which type?</a:t>
            </a:r>
          </a:p>
          <a:p>
            <a:pPr lvl="1"/>
            <a:r>
              <a:rPr sz="1500" b="1">
                <a:solidFill>
                  <a:srgbClr val="0F6E56"/>
                </a:solidFill>
              </a:rPr>
              <a:t>a) baiting   b) ✅ psychological operations / propaganda   c) phishing   d) ransomware</a:t>
            </a:r>
          </a:p>
          <a:p>
            <a:pPr lvl="1">
              <a:spcBef>
                <a:spcPts val="600"/>
              </a:spcBef>
            </a:pPr>
            <a:r>
              <a:rPr sz="1500" i="1">
                <a:solidFill>
                  <a:srgbClr val="1A1A1A"/>
                </a:solidFill>
              </a:rPr>
              <a:t>     Why: psy-ops/propaganda targets the public mind — a recognised type of cyber terrorism.</a:t>
            </a:r>
          </a:p>
          <a:p>
            <a:pPr lvl="1">
              <a:spcBef>
                <a:spcPts val="600"/>
              </a:spcBef>
            </a:pPr>
            <a:r>
              <a:rPr sz="1500" i="1">
                <a:solidFill>
                  <a:srgbClr val="1A1A1A"/>
                </a:solidFill>
              </a:rPr>
              <a:t>Discussion: is a defacement of a government portal cybercrime, hacktivism, or cyber terrorism? Defend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76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Cyber terrorism = ideological/political INTENT + serious harm or fear, often aimed at critical infrastructure.</a:t>
            </a:r>
          </a:p>
          <a:p>
            <a:pPr>
              <a:spcAft>
                <a:spcPts val="800"/>
              </a:spcAft>
            </a:pPr>
            <a:r>
              <a:rPr sz="1500">
                <a:solidFill>
                  <a:srgbClr val="1A1A1A"/>
                </a:solidFill>
              </a:rPr>
              <a:t>2.  It's distinct from cybercrime (profit), hacktivism (protest), and cyber warfare (state-vs-state) — motive &amp; actor decide.</a:t>
            </a:r>
          </a:p>
          <a:p>
            <a:pPr>
              <a:spcAft>
                <a:spcPts val="800"/>
              </a:spcAft>
            </a:pPr>
            <a:r>
              <a:rPr sz="1500">
                <a:solidFill>
                  <a:srgbClr val="1A1A1A"/>
                </a:solidFill>
              </a:rPr>
              <a:t>3.  Its types span infrastructure attacks, data destruction, service denial, propaganda/psy-ops, and financing.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future IT/business professionals you'll need to correctly LABEL incidents — mislabelling vandalism as 'terrorism' (or vice versa) changes the legal and response path entirely.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S37 — what it does to real infrastructure, and how nations, organizations, and citizens counter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76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37 · LECTURE HOUR 5 (OF 5) — CLOSES UNIT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Effects on Infrastructure · Countering Cyber Terrorism</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Imagine Kathmandu's power, the banking network, and mobile service all going dark for two days — no ATMs, no eSewa, no calls. Cyber terrorism's real damage isn't on a screen; it's in the streets.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58 / 76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Effects on Critical Infrastructure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Critical infrastructure (CI) = the systems a society can't function without. An attack rarely stays contained: cascading (domino) effects spread from one system to the next, causing public panic and economic loss well beyond the first target.</a:t>
            </a:r>
          </a:p>
          <a:p>
            <a:pPr>
              <a:spcAft>
                <a:spcPts val="500"/>
              </a:spcAft>
            </a:pPr>
            <a:r>
              <a:rPr sz="1200" b="1">
                <a:solidFill>
                  <a:srgbClr val="185FA5"/>
                </a:solidFill>
              </a:rPr>
              <a:t>HOW IT WORKS</a:t>
            </a:r>
          </a:p>
          <a:p>
            <a:pPr>
              <a:spcAft>
                <a:spcPts val="600"/>
              </a:spcAft>
            </a:pPr>
            <a:r>
              <a:rPr sz="1400">
                <a:solidFill>
                  <a:srgbClr val="1A1A1A"/>
                </a:solidFill>
              </a:rPr>
              <a:t>•  Cascade: a power outage takes telecom down, which hits banking, hospitals, and water.</a:t>
            </a:r>
          </a:p>
          <a:p>
            <a:pPr>
              <a:spcAft>
                <a:spcPts val="600"/>
              </a:spcAft>
            </a:pPr>
            <a:r>
              <a:rPr sz="1400">
                <a:solidFill>
                  <a:srgbClr val="1A1A1A"/>
                </a:solidFill>
              </a:rPr>
              <a:t>•  The damage is physical and economic, not merely 'digital'.</a:t>
            </a:r>
          </a:p>
          <a:p>
            <a:pPr>
              <a:spcAft>
                <a:spcPts val="600"/>
              </a:spcAft>
            </a:pPr>
            <a:r>
              <a:rPr sz="1400">
                <a:solidFill>
                  <a:srgbClr val="1A1A1A"/>
                </a:solidFill>
              </a:rPr>
              <a:t>•  Dependence concentrates risk: a few telecom operators and wallets carry the whole economy.</a:t>
            </a:r>
          </a:p>
          <a:p>
            <a:pPr>
              <a:spcAft>
                <a:spcPts val="600"/>
              </a:spcAft>
            </a:pPr>
            <a:r>
              <a:rPr sz="1400">
                <a:solidFill>
                  <a:srgbClr val="1A1A1A"/>
                </a:solidFill>
              </a:rPr>
              <a:t>•  Attacks on government data centres also put citizens' records at risk.</a:t>
            </a:r>
          </a:p>
        </p:txBody>
      </p:sp>
      <p:pic>
        <p:nvPicPr>
          <p:cNvPr id="6" name="Picture 5" descr="s37_cascade.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CI attacks cascade — power → telecom → banking → hospitals → panic.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76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Infrastructure attacked → cascade → real-world effect</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16923"/>
                <a:gridCol w="3956538"/>
                <a:gridCol w="3956538"/>
              </a:tblGrid>
              <a:tr h="630936">
                <a:tc>
                  <a:txBody>
                    <a:bodyPr wrap="square"/>
                    <a:lstStyle/>
                    <a:p>
                      <a:r>
                        <a:rPr sz="1150" b="1">
                          <a:solidFill>
                            <a:srgbClr val="FFFFFF"/>
                          </a:solidFill>
                        </a:rPr>
                        <a:t>If this is hit (Nepal)</a:t>
                      </a:r>
                    </a:p>
                  </a:txBody>
                  <a:tcPr anchor="ctr" marL="73152" marR="54864" marT="27432" marB="27432">
                    <a:solidFill>
                      <a:srgbClr val="0C2B4A"/>
                    </a:solidFill>
                  </a:tcPr>
                </a:tc>
                <a:tc>
                  <a:txBody>
                    <a:bodyPr wrap="square"/>
                    <a:lstStyle/>
                    <a:p>
                      <a:r>
                        <a:rPr sz="1150" b="1">
                          <a:solidFill>
                            <a:srgbClr val="FFFFFF"/>
                          </a:solidFill>
                        </a:rPr>
                        <a:t>The cascade it triggers</a:t>
                      </a:r>
                    </a:p>
                  </a:txBody>
                  <a:tcPr anchor="ctr" marL="73152" marR="54864" marT="27432" marB="27432">
                    <a:solidFill>
                      <a:srgbClr val="0C2B4A"/>
                    </a:solidFill>
                  </a:tcPr>
                </a:tc>
                <a:tc>
                  <a:txBody>
                    <a:bodyPr wrap="square"/>
                    <a:lstStyle/>
                    <a:p>
                      <a:r>
                        <a:rPr sz="1150" b="1">
                          <a:solidFill>
                            <a:srgbClr val="FFFFFF"/>
                          </a:solidFill>
                        </a:rPr>
                        <a:t>Real-world effect on people</a:t>
                      </a:r>
                    </a:p>
                  </a:txBody>
                  <a:tcPr anchor="ctr" marL="73152" marR="54864" marT="27432" marB="27432">
                    <a:solidFill>
                      <a:srgbClr val="0C2B4A"/>
                    </a:solidFill>
                  </a:tcPr>
                </a:tc>
              </a:tr>
              <a:tr h="630936">
                <a:tc>
                  <a:txBody>
                    <a:bodyPr wrap="square"/>
                    <a:lstStyle/>
                    <a:p>
                      <a:r>
                        <a:rPr sz="1100" b="1">
                          <a:solidFill>
                            <a:srgbClr val="0C2B4A"/>
                          </a:solidFill>
                        </a:rPr>
                        <a:t>National power / load-dispatch</a:t>
                      </a:r>
                    </a:p>
                  </a:txBody>
                  <a:tcPr anchor="ctr" marL="73152" marR="54864" marT="27432" marB="27432">
                    <a:solidFill>
                      <a:srgbClr val="FFFFFF"/>
                    </a:solidFill>
                  </a:tcPr>
                </a:tc>
                <a:tc>
                  <a:txBody>
                    <a:bodyPr wrap="square"/>
                    <a:lstStyle/>
                    <a:p>
                      <a:r>
                        <a:rPr sz="1100">
                          <a:solidFill>
                            <a:srgbClr val="1A1A1A"/>
                          </a:solidFill>
                        </a:rPr>
                        <a:t>Telecom &amp; data centres lose power</a:t>
                      </a:r>
                    </a:p>
                  </a:txBody>
                  <a:tcPr anchor="ctr" marL="73152" marR="54864" marT="27432" marB="27432">
                    <a:solidFill>
                      <a:srgbClr val="FFFFFF"/>
                    </a:solidFill>
                  </a:tcPr>
                </a:tc>
                <a:tc>
                  <a:txBody>
                    <a:bodyPr wrap="square"/>
                    <a:lstStyle/>
                    <a:p>
                      <a:r>
                        <a:rPr sz="1100">
                          <a:solidFill>
                            <a:srgbClr val="1A1A1A"/>
                          </a:solidFill>
                        </a:rPr>
                        <a:t>Blackout; comms and services go dark</a:t>
                      </a:r>
                    </a:p>
                  </a:txBody>
                  <a:tcPr anchor="ctr" marL="73152" marR="54864" marT="27432" marB="27432">
                    <a:solidFill>
                      <a:srgbClr val="FFFFFF"/>
                    </a:solidFill>
                  </a:tcPr>
                </a:tc>
              </a:tr>
              <a:tr h="630936">
                <a:tc>
                  <a:txBody>
                    <a:bodyPr wrap="square"/>
                    <a:lstStyle/>
                    <a:p>
                      <a:r>
                        <a:rPr sz="1100" b="1">
                          <a:solidFill>
                            <a:srgbClr val="0C2B4A"/>
                          </a:solidFill>
                        </a:rPr>
                        <a:t>Telecom operators</a:t>
                      </a:r>
                    </a:p>
                  </a:txBody>
                  <a:tcPr anchor="ctr" marL="73152" marR="54864" marT="27432" marB="27432">
                    <a:solidFill>
                      <a:srgbClr val="EEF3F8"/>
                    </a:solidFill>
                  </a:tcPr>
                </a:tc>
                <a:tc>
                  <a:txBody>
                    <a:bodyPr wrap="square"/>
                    <a:lstStyle/>
                    <a:p>
                      <a:r>
                        <a:rPr sz="1100">
                          <a:solidFill>
                            <a:srgbClr val="1A1A1A"/>
                          </a:solidFill>
                        </a:rPr>
                        <a:t>Internet, calls, and OTP delivery fail</a:t>
                      </a:r>
                    </a:p>
                  </a:txBody>
                  <a:tcPr anchor="ctr" marL="73152" marR="54864" marT="27432" marB="27432">
                    <a:solidFill>
                      <a:srgbClr val="EEF3F8"/>
                    </a:solidFill>
                  </a:tcPr>
                </a:tc>
                <a:tc>
                  <a:txBody>
                    <a:bodyPr wrap="square"/>
                    <a:lstStyle/>
                    <a:p>
                      <a:r>
                        <a:rPr sz="1100">
                          <a:solidFill>
                            <a:srgbClr val="1A1A1A"/>
                          </a:solidFill>
                        </a:rPr>
                        <a:t>Wallets and banking become unusable</a:t>
                      </a:r>
                    </a:p>
                  </a:txBody>
                  <a:tcPr anchor="ctr" marL="73152" marR="54864" marT="27432" marB="27432">
                    <a:solidFill>
                      <a:srgbClr val="EEF3F8"/>
                    </a:solidFill>
                  </a:tcPr>
                </a:tc>
              </a:tr>
              <a:tr h="630936">
                <a:tc>
                  <a:txBody>
                    <a:bodyPr wrap="square"/>
                    <a:lstStyle/>
                    <a:p>
                      <a:r>
                        <a:rPr sz="1100" b="1">
                          <a:solidFill>
                            <a:srgbClr val="0C2B4A"/>
                          </a:solidFill>
                        </a:rPr>
                        <a:t>Payment infra (eSewa/Khalti/connectIPS)</a:t>
                      </a:r>
                    </a:p>
                  </a:txBody>
                  <a:tcPr anchor="ctr" marL="73152" marR="54864" marT="27432" marB="27432">
                    <a:solidFill>
                      <a:srgbClr val="FFFFFF"/>
                    </a:solidFill>
                  </a:tcPr>
                </a:tc>
                <a:tc>
                  <a:txBody>
                    <a:bodyPr wrap="square"/>
                    <a:lstStyle/>
                    <a:p>
                      <a:r>
                        <a:rPr sz="1100">
                          <a:solidFill>
                            <a:srgbClr val="1A1A1A"/>
                          </a:solidFill>
                        </a:rPr>
                        <a:t>Digital commerce halts</a:t>
                      </a:r>
                    </a:p>
                  </a:txBody>
                  <a:tcPr anchor="ctr" marL="73152" marR="54864" marT="27432" marB="27432">
                    <a:solidFill>
                      <a:srgbClr val="FFFFFF"/>
                    </a:solidFill>
                  </a:tcPr>
                </a:tc>
                <a:tc>
                  <a:txBody>
                    <a:bodyPr wrap="square"/>
                    <a:lstStyle/>
                    <a:p>
                      <a:r>
                        <a:rPr sz="1100">
                          <a:solidFill>
                            <a:srgbClr val="1A1A1A"/>
                          </a:solidFill>
                        </a:rPr>
                        <a:t>Shops, salaries, remittances freeze</a:t>
                      </a:r>
                    </a:p>
                  </a:txBody>
                  <a:tcPr anchor="ctr" marL="73152" marR="54864" marT="27432" marB="27432">
                    <a:solidFill>
                      <a:srgbClr val="FFFFFF"/>
                    </a:solidFill>
                  </a:tcPr>
                </a:tc>
              </a:tr>
              <a:tr h="630936">
                <a:tc>
                  <a:txBody>
                    <a:bodyPr wrap="square"/>
                    <a:lstStyle/>
                    <a:p>
                      <a:r>
                        <a:rPr sz="1100" b="1">
                          <a:solidFill>
                            <a:srgbClr val="0C2B4A"/>
                          </a:solidFill>
                        </a:rPr>
                        <a:t>Banking network</a:t>
                      </a:r>
                    </a:p>
                  </a:txBody>
                  <a:tcPr anchor="ctr" marL="73152" marR="54864" marT="27432" marB="27432">
                    <a:solidFill>
                      <a:srgbClr val="EEF3F8"/>
                    </a:solidFill>
                  </a:tcPr>
                </a:tc>
                <a:tc>
                  <a:txBody>
                    <a:bodyPr wrap="square"/>
                    <a:lstStyle/>
                    <a:p>
                      <a:r>
                        <a:rPr sz="1100">
                          <a:solidFill>
                            <a:srgbClr val="1A1A1A"/>
                          </a:solidFill>
                        </a:rPr>
                        <a:t>ATMs and transfers stop</a:t>
                      </a:r>
                    </a:p>
                  </a:txBody>
                  <a:tcPr anchor="ctr" marL="73152" marR="54864" marT="27432" marB="27432">
                    <a:solidFill>
                      <a:srgbClr val="EEF3F8"/>
                    </a:solidFill>
                  </a:tcPr>
                </a:tc>
                <a:tc>
                  <a:txBody>
                    <a:bodyPr wrap="square"/>
                    <a:lstStyle/>
                    <a:p>
                      <a:r>
                        <a:rPr sz="1100">
                          <a:solidFill>
                            <a:srgbClr val="1A1A1A"/>
                          </a:solidFill>
                        </a:rPr>
                        <a:t>People can't access their own money</a:t>
                      </a:r>
                    </a:p>
                  </a:txBody>
                  <a:tcPr anchor="ctr" marL="73152" marR="54864" marT="27432" marB="27432">
                    <a:solidFill>
                      <a:srgbClr val="EEF3F8"/>
                    </a:solidFill>
                  </a:tcPr>
                </a:tc>
              </a:tr>
              <a:tr h="630936">
                <a:tc>
                  <a:txBody>
                    <a:bodyPr wrap="square"/>
                    <a:lstStyle/>
                    <a:p>
                      <a:r>
                        <a:rPr sz="1100" b="1">
                          <a:solidFill>
                            <a:srgbClr val="0C2B4A"/>
                          </a:solidFill>
                        </a:rPr>
                        <a:t>Government data centre</a:t>
                      </a:r>
                    </a:p>
                  </a:txBody>
                  <a:tcPr anchor="ctr" marL="73152" marR="54864" marT="27432" marB="27432">
                    <a:solidFill>
                      <a:srgbClr val="FFFFFF"/>
                    </a:solidFill>
                  </a:tcPr>
                </a:tc>
                <a:tc>
                  <a:txBody>
                    <a:bodyPr wrap="square"/>
                    <a:lstStyle/>
                    <a:p>
                      <a:r>
                        <a:rPr sz="1100">
                          <a:solidFill>
                            <a:srgbClr val="1A1A1A"/>
                          </a:solidFill>
                        </a:rPr>
                        <a:t>Citizen records exposed/altered</a:t>
                      </a:r>
                    </a:p>
                  </a:txBody>
                  <a:tcPr anchor="ctr" marL="73152" marR="54864" marT="27432" marB="27432">
                    <a:solidFill>
                      <a:srgbClr val="FFFFFF"/>
                    </a:solidFill>
                  </a:tcPr>
                </a:tc>
                <a:tc>
                  <a:txBody>
                    <a:bodyPr wrap="square"/>
                    <a:lstStyle/>
                    <a:p>
                      <a:r>
                        <a:rPr sz="1100">
                          <a:solidFill>
                            <a:srgbClr val="1A1A1A"/>
                          </a:solidFill>
                        </a:rPr>
                        <a:t>Identity risk; loss of trust in e-gov</a:t>
                      </a:r>
                    </a:p>
                  </a:txBody>
                  <a:tcPr anchor="ctr" marL="73152" marR="54864" marT="27432" marB="27432">
                    <a:solidFill>
                      <a:srgbClr val="FFFFFF"/>
                    </a:solidFill>
                  </a:tcPr>
                </a:tc>
              </a:tr>
              <a:tr h="630936">
                <a:tc>
                  <a:txBody>
                    <a:bodyPr wrap="square"/>
                    <a:lstStyle/>
                    <a:p>
                      <a:r>
                        <a:rPr sz="1100" b="1">
                          <a:solidFill>
                            <a:srgbClr val="0C2B4A"/>
                          </a:solidFill>
                        </a:rPr>
                        <a:t>Aviation / hospital systems</a:t>
                      </a:r>
                    </a:p>
                  </a:txBody>
                  <a:tcPr anchor="ctr" marL="73152" marR="54864" marT="27432" marB="27432">
                    <a:solidFill>
                      <a:srgbClr val="EEF3F8"/>
                    </a:solidFill>
                  </a:tcPr>
                </a:tc>
                <a:tc>
                  <a:txBody>
                    <a:bodyPr wrap="square"/>
                    <a:lstStyle/>
                    <a:p>
                      <a:r>
                        <a:rPr sz="1100">
                          <a:solidFill>
                            <a:srgbClr val="1A1A1A"/>
                          </a:solidFill>
                        </a:rPr>
                        <a:t>Safety-critical operations disrupted</a:t>
                      </a:r>
                    </a:p>
                  </a:txBody>
                  <a:tcPr anchor="ctr" marL="73152" marR="54864" marT="27432" marB="27432">
                    <a:solidFill>
                      <a:srgbClr val="EEF3F8"/>
                    </a:solidFill>
                  </a:tcPr>
                </a:tc>
                <a:tc>
                  <a:txBody>
                    <a:bodyPr wrap="square"/>
                    <a:lstStyle/>
                    <a:p>
                      <a:r>
                        <a:rPr sz="1100">
                          <a:solidFill>
                            <a:srgbClr val="1A1A1A"/>
                          </a:solidFill>
                        </a:rPr>
                        <a:t>Direct risk to travel and to life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lesson is the CASCADE: one failure topples dependent systems. This is why CI protection matters far more than the size of any single target suggests.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76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Effects on Critical Infrastructure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dependence on a few telecom operators and on digital wallets (eSewa, Khalti, connectIPS) means an attack on national payment or telecom infrastructure could freeze daily commerce — no OTPs, no transfers, no ATMs — while an attack on government data centres risks citizens' records. Globally, attacks on energy/utility control systems have caused regional blackouts. The harm lands in the streets, not just on a screen.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"Cyber attacks only cause online / digital damage." Attacks on industrial and control systems can cause physical, economic, and human harm — blackouts, frozen commerce, and risk to hospitals. The 'cyber' part is only the entry point; the damage is very much in the physical world.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 terrorism's effect on critical infrastructure is dangerous because of cascading (domino) effects: an attack on one system — power, telecom, payments, banking, or a government data centre — spreads to the systems that depend on it, causing public panic and economic loss. In Nepal, heavy dependence on a few telecom operators and digital wallets concentrates this risk, and the harm is physical and economic, not merely digital.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critical infrastructure · cascading effects · physical &amp; economic harm · concentrated dependence · not just digital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76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Countering It — a layered defence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Countering cyber terrorism is coordinated across three levels — national, organizational, and personal. No single level is sufficient; the base, the middle, and the top must all hold.</a:t>
            </a:r>
          </a:p>
          <a:p>
            <a:pPr>
              <a:spcAft>
                <a:spcPts val="500"/>
              </a:spcAft>
            </a:pPr>
            <a:r>
              <a:rPr sz="1200" b="1">
                <a:solidFill>
                  <a:srgbClr val="185FA5"/>
                </a:solidFill>
              </a:rPr>
              <a:t>HOW IT WORKS</a:t>
            </a:r>
          </a:p>
          <a:p>
            <a:pPr>
              <a:spcAft>
                <a:spcPts val="600"/>
              </a:spcAft>
            </a:pPr>
            <a:r>
              <a:rPr sz="1400">
                <a:solidFill>
                  <a:srgbClr val="1A1A1A"/>
                </a:solidFill>
              </a:rPr>
              <a:t>•  National: CERT/incident-response teams, CI-protection policy, intelligence sharing, legal frameworks, international cooperation.</a:t>
            </a:r>
          </a:p>
          <a:p>
            <a:pPr>
              <a:spcAft>
                <a:spcPts val="600"/>
              </a:spcAft>
            </a:pPr>
            <a:r>
              <a:rPr sz="1400">
                <a:solidFill>
                  <a:srgbClr val="1A1A1A"/>
                </a:solidFill>
              </a:rPr>
              <a:t>•  Organizational: network segmentation, monitoring/intrusion detection, incident-response &amp; business-continuity/DR plans, drills, backups.</a:t>
            </a:r>
          </a:p>
          <a:p>
            <a:pPr>
              <a:spcAft>
                <a:spcPts val="600"/>
              </a:spcAft>
            </a:pPr>
            <a:r>
              <a:rPr sz="1400">
                <a:solidFill>
                  <a:srgbClr val="1A1A1A"/>
                </a:solidFill>
              </a:rPr>
              <a:t>•  Personal/citizen: awareness, reporting suspicious activity, and NOT amplifying disinformation or panic.</a:t>
            </a:r>
          </a:p>
          <a:p>
            <a:pPr>
              <a:spcAft>
                <a:spcPts val="600"/>
              </a:spcAft>
            </a:pPr>
            <a:r>
              <a:rPr sz="1400">
                <a:solidFill>
                  <a:srgbClr val="1A1A1A"/>
                </a:solidFill>
              </a:rPr>
              <a:t>•  Nepal's layer: NPCERT and government IT-security efforts, with cyber law (ties forward to Unit 9).</a:t>
            </a:r>
          </a:p>
        </p:txBody>
      </p:sp>
      <p:pic>
        <p:nvPicPr>
          <p:cNvPr id="6" name="Picture 5" descr="s37_defense_pyramid.png"/>
          <p:cNvPicPr>
            <a:picLocks noChangeAspect="1"/>
          </p:cNvPicPr>
          <p:nvPr/>
        </p:nvPicPr>
        <p:blipFill>
          <a:blip r:embed="rId2"/>
          <a:stretch>
            <a:fillRect/>
          </a:stretch>
        </p:blipFill>
        <p:spPr>
          <a:xfrm>
            <a:off x="6355080" y="2392193"/>
            <a:ext cx="5532120" cy="285085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Three layers — national + organizational + personal — all must hold.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76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Countering cyber terrorism — by layer</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698750"/>
                <a:gridCol w="4921250"/>
                <a:gridCol w="3810000"/>
              </a:tblGrid>
              <a:tr h="630936">
                <a:tc>
                  <a:txBody>
                    <a:bodyPr wrap="square"/>
                    <a:lstStyle/>
                    <a:p>
                      <a:r>
                        <a:rPr sz="1150" b="1">
                          <a:solidFill>
                            <a:srgbClr val="FFFFFF"/>
                          </a:solidFill>
                        </a:rPr>
                        <a:t>Layer</a:t>
                      </a:r>
                    </a:p>
                  </a:txBody>
                  <a:tcPr anchor="ctr" marL="73152" marR="54864" marT="27432" marB="27432">
                    <a:solidFill>
                      <a:srgbClr val="0C2B4A"/>
                    </a:solidFill>
                  </a:tcPr>
                </a:tc>
                <a:tc>
                  <a:txBody>
                    <a:bodyPr wrap="square"/>
                    <a:lstStyle/>
                    <a:p>
                      <a:r>
                        <a:rPr sz="1150" b="1">
                          <a:solidFill>
                            <a:srgbClr val="FFFFFF"/>
                          </a:solidFill>
                        </a:rPr>
                        <a:t>Key measures</a:t>
                      </a:r>
                    </a:p>
                  </a:txBody>
                  <a:tcPr anchor="ctr" marL="73152" marR="54864" marT="27432" marB="27432">
                    <a:solidFill>
                      <a:srgbClr val="0C2B4A"/>
                    </a:solidFill>
                  </a:tcPr>
                </a:tc>
                <a:tc>
                  <a:txBody>
                    <a:bodyPr wrap="square"/>
                    <a:lstStyle/>
                    <a:p>
                      <a:r>
                        <a:rPr sz="1150" b="1">
                          <a:solidFill>
                            <a:srgbClr val="FFFFFF"/>
                          </a:solidFill>
                        </a:rPr>
                        <a:t>Nepal example</a:t>
                      </a:r>
                    </a:p>
                  </a:txBody>
                  <a:tcPr anchor="ctr" marL="73152" marR="54864" marT="27432" marB="27432">
                    <a:solidFill>
                      <a:srgbClr val="0C2B4A"/>
                    </a:solidFill>
                  </a:tcPr>
                </a:tc>
              </a:tr>
              <a:tr h="630936">
                <a:tc>
                  <a:txBody>
                    <a:bodyPr wrap="square"/>
                    <a:lstStyle/>
                    <a:p>
                      <a:r>
                        <a:rPr sz="1100" b="1">
                          <a:solidFill>
                            <a:srgbClr val="0C2B4A"/>
                          </a:solidFill>
                        </a:rPr>
                        <a:t>National</a:t>
                      </a:r>
                    </a:p>
                  </a:txBody>
                  <a:tcPr anchor="ctr" marL="73152" marR="54864" marT="27432" marB="27432">
                    <a:solidFill>
                      <a:srgbClr val="FFFFFF"/>
                    </a:solidFill>
                  </a:tcPr>
                </a:tc>
                <a:tc>
                  <a:txBody>
                    <a:bodyPr wrap="square"/>
                    <a:lstStyle/>
                    <a:p>
                      <a:r>
                        <a:rPr sz="1100">
                          <a:solidFill>
                            <a:srgbClr val="1A1A1A"/>
                          </a:solidFill>
                        </a:rPr>
                        <a:t>CERT, CI-protection policy, intelligence sharing, cyber law, intl cooperation</a:t>
                      </a:r>
                    </a:p>
                  </a:txBody>
                  <a:tcPr anchor="ctr" marL="73152" marR="54864" marT="27432" marB="27432">
                    <a:solidFill>
                      <a:srgbClr val="FFFFFF"/>
                    </a:solidFill>
                  </a:tcPr>
                </a:tc>
                <a:tc>
                  <a:txBody>
                    <a:bodyPr wrap="square"/>
                    <a:lstStyle/>
                    <a:p>
                      <a:r>
                        <a:rPr sz="1100">
                          <a:solidFill>
                            <a:srgbClr val="1A1A1A"/>
                          </a:solidFill>
                        </a:rPr>
                        <a:t>NPCERT; the Electronic Transaction Act (Unit 9)</a:t>
                      </a:r>
                    </a:p>
                  </a:txBody>
                  <a:tcPr anchor="ctr" marL="73152" marR="54864" marT="27432" marB="27432">
                    <a:solidFill>
                      <a:srgbClr val="FFFFFF"/>
                    </a:solidFill>
                  </a:tcPr>
                </a:tc>
              </a:tr>
              <a:tr h="630936">
                <a:tc>
                  <a:txBody>
                    <a:bodyPr wrap="square"/>
                    <a:lstStyle/>
                    <a:p>
                      <a:r>
                        <a:rPr sz="1100" b="1">
                          <a:solidFill>
                            <a:srgbClr val="0C2B4A"/>
                          </a:solidFill>
                        </a:rPr>
                        <a:t>National</a:t>
                      </a:r>
                    </a:p>
                  </a:txBody>
                  <a:tcPr anchor="ctr" marL="73152" marR="54864" marT="27432" marB="27432">
                    <a:solidFill>
                      <a:srgbClr val="EEF3F8"/>
                    </a:solidFill>
                  </a:tcPr>
                </a:tc>
                <a:tc>
                  <a:txBody>
                    <a:bodyPr wrap="square"/>
                    <a:lstStyle/>
                    <a:p>
                      <a:r>
                        <a:rPr sz="1100">
                          <a:solidFill>
                            <a:srgbClr val="1A1A1A"/>
                          </a:solidFill>
                        </a:rPr>
                        <a:t>Cross-agency coordination</a:t>
                      </a:r>
                    </a:p>
                  </a:txBody>
                  <a:tcPr anchor="ctr" marL="73152" marR="54864" marT="27432" marB="27432">
                    <a:solidFill>
                      <a:srgbClr val="EEF3F8"/>
                    </a:solidFill>
                  </a:tcPr>
                </a:tc>
                <a:tc>
                  <a:txBody>
                    <a:bodyPr wrap="square"/>
                    <a:lstStyle/>
                    <a:p>
                      <a:r>
                        <a:rPr sz="1100">
                          <a:solidFill>
                            <a:srgbClr val="1A1A1A"/>
                          </a:solidFill>
                        </a:rPr>
                        <a:t>NRB, telecoms, and government agencies together</a:t>
                      </a:r>
                    </a:p>
                  </a:txBody>
                  <a:tcPr anchor="ctr" marL="73152" marR="54864" marT="27432" marB="27432">
                    <a:solidFill>
                      <a:srgbClr val="EEF3F8"/>
                    </a:solidFill>
                  </a:tcPr>
                </a:tc>
              </a:tr>
              <a:tr h="630936">
                <a:tc>
                  <a:txBody>
                    <a:bodyPr wrap="square"/>
                    <a:lstStyle/>
                    <a:p>
                      <a:r>
                        <a:rPr sz="1100" b="1">
                          <a:solidFill>
                            <a:srgbClr val="0C2B4A"/>
                          </a:solidFill>
                        </a:rPr>
                        <a:t>Organizational</a:t>
                      </a:r>
                    </a:p>
                  </a:txBody>
                  <a:tcPr anchor="ctr" marL="73152" marR="54864" marT="27432" marB="27432">
                    <a:solidFill>
                      <a:srgbClr val="FFFFFF"/>
                    </a:solidFill>
                  </a:tcPr>
                </a:tc>
                <a:tc>
                  <a:txBody>
                    <a:bodyPr wrap="square"/>
                    <a:lstStyle/>
                    <a:p>
                      <a:r>
                        <a:rPr sz="1100">
                          <a:solidFill>
                            <a:srgbClr val="1A1A1A"/>
                          </a:solidFill>
                        </a:rPr>
                        <a:t>Segmentation, monitoring/IDS, backups</a:t>
                      </a:r>
                    </a:p>
                  </a:txBody>
                  <a:tcPr anchor="ctr" marL="73152" marR="54864" marT="27432" marB="27432">
                    <a:solidFill>
                      <a:srgbClr val="FFFFFF"/>
                    </a:solidFill>
                  </a:tcPr>
                </a:tc>
                <a:tc>
                  <a:txBody>
                    <a:bodyPr wrap="square"/>
                    <a:lstStyle/>
                    <a:p>
                      <a:r>
                        <a:rPr sz="1100">
                          <a:solidFill>
                            <a:srgbClr val="1A1A1A"/>
                          </a:solidFill>
                        </a:rPr>
                        <a:t>Banks isolating and monitoring core systems</a:t>
                      </a:r>
                    </a:p>
                  </a:txBody>
                  <a:tcPr anchor="ctr" marL="73152" marR="54864" marT="27432" marB="27432">
                    <a:solidFill>
                      <a:srgbClr val="FFFFFF"/>
                    </a:solidFill>
                  </a:tcPr>
                </a:tc>
              </a:tr>
              <a:tr h="630936">
                <a:tc>
                  <a:txBody>
                    <a:bodyPr wrap="square"/>
                    <a:lstStyle/>
                    <a:p>
                      <a:r>
                        <a:rPr sz="1100" b="1">
                          <a:solidFill>
                            <a:srgbClr val="0C2B4A"/>
                          </a:solidFill>
                        </a:rPr>
                        <a:t>Organizational</a:t>
                      </a:r>
                    </a:p>
                  </a:txBody>
                  <a:tcPr anchor="ctr" marL="73152" marR="54864" marT="27432" marB="27432">
                    <a:solidFill>
                      <a:srgbClr val="EEF3F8"/>
                    </a:solidFill>
                  </a:tcPr>
                </a:tc>
                <a:tc>
                  <a:txBody>
                    <a:bodyPr wrap="square"/>
                    <a:lstStyle/>
                    <a:p>
                      <a:r>
                        <a:rPr sz="1100">
                          <a:solidFill>
                            <a:srgbClr val="1A1A1A"/>
                          </a:solidFill>
                        </a:rPr>
                        <a:t>Incident-response + BCP/DR plans, drills</a:t>
                      </a:r>
                    </a:p>
                  </a:txBody>
                  <a:tcPr anchor="ctr" marL="73152" marR="54864" marT="27432" marB="27432">
                    <a:solidFill>
                      <a:srgbClr val="EEF3F8"/>
                    </a:solidFill>
                  </a:tcPr>
                </a:tc>
                <a:tc>
                  <a:txBody>
                    <a:bodyPr wrap="square"/>
                    <a:lstStyle/>
                    <a:p>
                      <a:r>
                        <a:rPr sz="1100">
                          <a:solidFill>
                            <a:srgbClr val="1A1A1A"/>
                          </a:solidFill>
                        </a:rPr>
                        <a:t>Tested continuity plans and regular rehearsals</a:t>
                      </a:r>
                    </a:p>
                  </a:txBody>
                  <a:tcPr anchor="ctr" marL="73152" marR="54864" marT="27432" marB="27432">
                    <a:solidFill>
                      <a:srgbClr val="EEF3F8"/>
                    </a:solidFill>
                  </a:tcPr>
                </a:tc>
              </a:tr>
              <a:tr h="630936">
                <a:tc>
                  <a:txBody>
                    <a:bodyPr wrap="square"/>
                    <a:lstStyle/>
                    <a:p>
                      <a:r>
                        <a:rPr sz="1100" b="1">
                          <a:solidFill>
                            <a:srgbClr val="0C2B4A"/>
                          </a:solidFill>
                        </a:rPr>
                        <a:t>Personal / citizen</a:t>
                      </a:r>
                    </a:p>
                  </a:txBody>
                  <a:tcPr anchor="ctr" marL="73152" marR="54864" marT="27432" marB="27432">
                    <a:solidFill>
                      <a:srgbClr val="FFFFFF"/>
                    </a:solidFill>
                  </a:tcPr>
                </a:tc>
                <a:tc>
                  <a:txBody>
                    <a:bodyPr wrap="square"/>
                    <a:lstStyle/>
                    <a:p>
                      <a:r>
                        <a:rPr sz="1100">
                          <a:solidFill>
                            <a:srgbClr val="1A1A1A"/>
                          </a:solidFill>
                        </a:rPr>
                        <a:t>Awareness; report suspicious activity</a:t>
                      </a:r>
                    </a:p>
                  </a:txBody>
                  <a:tcPr anchor="ctr" marL="73152" marR="54864" marT="27432" marB="27432">
                    <a:solidFill>
                      <a:srgbClr val="FFFFFF"/>
                    </a:solidFill>
                  </a:tcPr>
                </a:tc>
                <a:tc>
                  <a:txBody>
                    <a:bodyPr wrap="square"/>
                    <a:lstStyle/>
                    <a:p>
                      <a:r>
                        <a:rPr sz="1100">
                          <a:solidFill>
                            <a:srgbClr val="1A1A1A"/>
                          </a:solidFill>
                        </a:rPr>
                        <a:t>Reporting scams/phishing to the bank/CERT</a:t>
                      </a:r>
                    </a:p>
                  </a:txBody>
                  <a:tcPr anchor="ctr" marL="73152" marR="54864" marT="27432" marB="27432">
                    <a:solidFill>
                      <a:srgbClr val="FFFFFF"/>
                    </a:solidFill>
                  </a:tcPr>
                </a:tc>
              </a:tr>
              <a:tr h="630936">
                <a:tc>
                  <a:txBody>
                    <a:bodyPr wrap="square"/>
                    <a:lstStyle/>
                    <a:p>
                      <a:r>
                        <a:rPr sz="1100" b="1">
                          <a:solidFill>
                            <a:srgbClr val="0C2B4A"/>
                          </a:solidFill>
                        </a:rPr>
                        <a:t>Personal / citizen</a:t>
                      </a:r>
                    </a:p>
                  </a:txBody>
                  <a:tcPr anchor="ctr" marL="73152" marR="54864" marT="27432" marB="27432">
                    <a:solidFill>
                      <a:srgbClr val="EEF3F8"/>
                    </a:solidFill>
                  </a:tcPr>
                </a:tc>
                <a:tc>
                  <a:txBody>
                    <a:bodyPr wrap="square"/>
                    <a:lstStyle/>
                    <a:p>
                      <a:r>
                        <a:rPr sz="1100">
                          <a:solidFill>
                            <a:srgbClr val="1A1A1A"/>
                          </a:solidFill>
                        </a:rPr>
                        <a:t>Don't amplify disinformation/panic</a:t>
                      </a:r>
                    </a:p>
                  </a:txBody>
                  <a:tcPr anchor="ctr" marL="73152" marR="54864" marT="27432" marB="27432">
                    <a:solidFill>
                      <a:srgbClr val="EEF3F8"/>
                    </a:solidFill>
                  </a:tcPr>
                </a:tc>
                <a:tc>
                  <a:txBody>
                    <a:bodyPr wrap="square"/>
                    <a:lstStyle/>
                    <a:p>
                      <a:r>
                        <a:rPr sz="1100">
                          <a:solidFill>
                            <a:srgbClr val="1A1A1A"/>
                          </a:solidFill>
                        </a:rPr>
                        <a:t>Verifying before resharing during a crisis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Defence is a stack: the national base (CERT, law), the organizational middle (segmentation, IR/BCP), and the personal tip (awareness, don't amplify). A gap at any level weakens the whole.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76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Countering It — a layered defence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NPCERT and government IT-security efforts sit at the national layer; cyber law (the Electronic Transaction Act — Unit 9) enables prosecution; and NRB, telecoms, and agencies coordinate response. Organizations add segmentation, monitoring, and tested incident-response/business-continuity plans, while citizens report suspicious activity and refuse to amplify disinformation. Each layer covers what the others can't.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"Cyber terrorism is only the government's problem." Defence needs all three layers — national policy and CERTs, organizational plans and monitoring, AND individual citizens who report suspicious activity and don't spread panic or disinformation. Leaving it entirely to 'the government' removes two of the three defensive layers.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Countering cyber terrorism is layered across national, organizational, and personal levels: nationally, CERTs (NPCERT), critical-infrastructure protection, intelligence sharing, legal frameworks (the Electronic Transaction Act), and international cooperation; organizationally, segmentation, monitoring/IDS, incident-response and business-continuity/DR plans, drills, and backups; personally, awareness, reporting suspicious activity, and not amplifying disinformation. No single level is sufficient.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national/CERT/NPCERT · organizational IR &amp; BCP · personal awareness · cyber law · layered defence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76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Resilience &amp; Preparedness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Resilience means ASSUMING attacks will happen and building the ability to keep operating and recover fast. Preparedness — backups, failover, tested plans, and coordination — decides whether an incident is a scare or a catastrophe.</a:t>
            </a:r>
          </a:p>
          <a:p>
            <a:pPr>
              <a:spcAft>
                <a:spcPts val="500"/>
              </a:spcAft>
            </a:pPr>
            <a:r>
              <a:rPr sz="1200" b="1">
                <a:solidFill>
                  <a:srgbClr val="185FA5"/>
                </a:solidFill>
              </a:rPr>
              <a:t>HOW IT WORKS</a:t>
            </a:r>
          </a:p>
          <a:p>
            <a:pPr>
              <a:spcAft>
                <a:spcPts val="600"/>
              </a:spcAft>
            </a:pPr>
            <a:r>
              <a:rPr sz="1400">
                <a:solidFill>
                  <a:srgbClr val="1A1A1A"/>
                </a:solidFill>
              </a:rPr>
              <a:t>•  Assume breach: plan for 'when', not 'if'.</a:t>
            </a:r>
          </a:p>
          <a:p>
            <a:pPr>
              <a:spcAft>
                <a:spcPts val="600"/>
              </a:spcAft>
            </a:pPr>
            <a:r>
              <a:rPr sz="1400">
                <a:solidFill>
                  <a:srgbClr val="1A1A1A"/>
                </a:solidFill>
              </a:rPr>
              <a:t>•  Continuity: backups and failover keep essential services running.</a:t>
            </a:r>
          </a:p>
          <a:p>
            <a:pPr>
              <a:spcAft>
                <a:spcPts val="600"/>
              </a:spcAft>
            </a:pPr>
            <a:r>
              <a:rPr sz="1400">
                <a:solidFill>
                  <a:srgbClr val="1A1A1A"/>
                </a:solidFill>
              </a:rPr>
              <a:t>•  Response: a tested incident-response plan and clear communication limit damage.</a:t>
            </a:r>
          </a:p>
          <a:p>
            <a:pPr>
              <a:spcAft>
                <a:spcPts val="600"/>
              </a:spcAft>
            </a:pPr>
            <a:r>
              <a:rPr sz="1400">
                <a:solidFill>
                  <a:srgbClr val="1A1A1A"/>
                </a:solidFill>
              </a:rPr>
              <a:t>•  Coordination: working with a CERT and partners speeds recovery.</a:t>
            </a:r>
          </a:p>
        </p:txBody>
      </p:sp>
      <p:pic>
        <p:nvPicPr>
          <p:cNvPr id="6" name="Picture 5" descr="s37_ir_flow.png"/>
          <p:cNvPicPr>
            <a:picLocks noChangeAspect="1"/>
          </p:cNvPicPr>
          <p:nvPr/>
        </p:nvPicPr>
        <p:blipFill>
          <a:blip r:embed="rId2"/>
          <a:stretch>
            <a:fillRect/>
          </a:stretch>
        </p:blipFill>
        <p:spPr>
          <a:xfrm>
            <a:off x="6355080" y="2468216"/>
            <a:ext cx="5532120" cy="269880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Prepare → detect → contain → eradicate → recover → review.</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76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bank under a disruptive attack — resilience steps in order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223846"/>
                <a:gridCol w="4249615"/>
                <a:gridCol w="3956538"/>
              </a:tblGrid>
              <a:tr h="630936">
                <a:tc>
                  <a:txBody>
                    <a:bodyPr wrap="square"/>
                    <a:lstStyle/>
                    <a:p>
                      <a:r>
                        <a:rPr sz="1150" b="1">
                          <a:solidFill>
                            <a:srgbClr val="FFFFFF"/>
                          </a:solidFill>
                        </a:rPr>
                        <a:t>Incident-response step</a:t>
                      </a:r>
                    </a:p>
                  </a:txBody>
                  <a:tcPr anchor="ctr" marL="73152" marR="54864" marT="27432" marB="27432">
                    <a:solidFill>
                      <a:srgbClr val="0C2B4A"/>
                    </a:solidFill>
                  </a:tcPr>
                </a:tc>
                <a:tc>
                  <a:txBody>
                    <a:bodyPr wrap="square"/>
                    <a:lstStyle/>
                    <a:p>
                      <a:r>
                        <a:rPr sz="1150" b="1">
                          <a:solidFill>
                            <a:srgbClr val="FFFFFF"/>
                          </a:solidFill>
                        </a:rPr>
                        <a:t>What the bank does</a:t>
                      </a:r>
                    </a:p>
                  </a:txBody>
                  <a:tcPr anchor="ctr" marL="73152" marR="54864" marT="27432" marB="27432">
                    <a:solidFill>
                      <a:srgbClr val="0C2B4A"/>
                    </a:solidFill>
                  </a:tcPr>
                </a:tc>
                <a:tc>
                  <a:txBody>
                    <a:bodyPr wrap="square"/>
                    <a:lstStyle/>
                    <a:p>
                      <a:r>
                        <a:rPr sz="1150" b="1">
                          <a:solidFill>
                            <a:srgbClr val="FFFFFF"/>
                          </a:solidFill>
                        </a:rPr>
                        <a:t>Why it limits the damage</a:t>
                      </a:r>
                    </a:p>
                  </a:txBody>
                  <a:tcPr anchor="ctr" marL="73152" marR="54864" marT="27432" marB="27432">
                    <a:solidFill>
                      <a:srgbClr val="0C2B4A"/>
                    </a:solidFill>
                  </a:tcPr>
                </a:tc>
              </a:tr>
              <a:tr h="630936">
                <a:tc>
                  <a:txBody>
                    <a:bodyPr wrap="square"/>
                    <a:lstStyle/>
                    <a:p>
                      <a:r>
                        <a:rPr sz="1100" b="1">
                          <a:solidFill>
                            <a:srgbClr val="0C2B4A"/>
                          </a:solidFill>
                        </a:rPr>
                        <a:t>Prepare (before)</a:t>
                      </a:r>
                    </a:p>
                  </a:txBody>
                  <a:tcPr anchor="ctr" marL="73152" marR="54864" marT="27432" marB="27432">
                    <a:solidFill>
                      <a:srgbClr val="FFFFFF"/>
                    </a:solidFill>
                  </a:tcPr>
                </a:tc>
                <a:tc>
                  <a:txBody>
                    <a:bodyPr wrap="square"/>
                    <a:lstStyle/>
                    <a:p>
                      <a:r>
                        <a:rPr sz="1100">
                          <a:solidFill>
                            <a:srgbClr val="1A1A1A"/>
                          </a:solidFill>
                        </a:rPr>
                        <a:t>Backups, tested BCP/DR, staff drills</a:t>
                      </a:r>
                    </a:p>
                  </a:txBody>
                  <a:tcPr anchor="ctr" marL="73152" marR="54864" marT="27432" marB="27432">
                    <a:solidFill>
                      <a:srgbClr val="FFFFFF"/>
                    </a:solidFill>
                  </a:tcPr>
                </a:tc>
                <a:tc>
                  <a:txBody>
                    <a:bodyPr wrap="square"/>
                    <a:lstStyle/>
                    <a:p>
                      <a:r>
                        <a:rPr sz="1100">
                          <a:solidFill>
                            <a:srgbClr val="1A1A1A"/>
                          </a:solidFill>
                        </a:rPr>
                        <a:t>Ready to act — no improvising mid-crisis</a:t>
                      </a:r>
                    </a:p>
                  </a:txBody>
                  <a:tcPr anchor="ctr" marL="73152" marR="54864" marT="27432" marB="27432">
                    <a:solidFill>
                      <a:srgbClr val="FFFFFF"/>
                    </a:solidFill>
                  </a:tcPr>
                </a:tc>
              </a:tr>
              <a:tr h="630936">
                <a:tc>
                  <a:txBody>
                    <a:bodyPr wrap="square"/>
                    <a:lstStyle/>
                    <a:p>
                      <a:r>
                        <a:rPr sz="1100" b="1">
                          <a:solidFill>
                            <a:srgbClr val="0C2B4A"/>
                          </a:solidFill>
                        </a:rPr>
                        <a:t>Detect</a:t>
                      </a:r>
                    </a:p>
                  </a:txBody>
                  <a:tcPr anchor="ctr" marL="73152" marR="54864" marT="27432" marB="27432">
                    <a:solidFill>
                      <a:srgbClr val="EEF3F8"/>
                    </a:solidFill>
                  </a:tcPr>
                </a:tc>
                <a:tc>
                  <a:txBody>
                    <a:bodyPr wrap="square"/>
                    <a:lstStyle/>
                    <a:p>
                      <a:r>
                        <a:rPr sz="1100">
                          <a:solidFill>
                            <a:srgbClr val="1A1A1A"/>
                          </a:solidFill>
                        </a:rPr>
                        <a:t>Monitoring/IDS flags the disruption</a:t>
                      </a:r>
                    </a:p>
                  </a:txBody>
                  <a:tcPr anchor="ctr" marL="73152" marR="54864" marT="27432" marB="27432">
                    <a:solidFill>
                      <a:srgbClr val="EEF3F8"/>
                    </a:solidFill>
                  </a:tcPr>
                </a:tc>
                <a:tc>
                  <a:txBody>
                    <a:bodyPr wrap="square"/>
                    <a:lstStyle/>
                    <a:p>
                      <a:r>
                        <a:rPr sz="1100">
                          <a:solidFill>
                            <a:srgbClr val="1A1A1A"/>
                          </a:solidFill>
                        </a:rPr>
                        <a:t>Faster detection means less spread</a:t>
                      </a:r>
                    </a:p>
                  </a:txBody>
                  <a:tcPr anchor="ctr" marL="73152" marR="54864" marT="27432" marB="27432">
                    <a:solidFill>
                      <a:srgbClr val="EEF3F8"/>
                    </a:solidFill>
                  </a:tcPr>
                </a:tc>
              </a:tr>
              <a:tr h="630936">
                <a:tc>
                  <a:txBody>
                    <a:bodyPr wrap="square"/>
                    <a:lstStyle/>
                    <a:p>
                      <a:r>
                        <a:rPr sz="1100" b="1">
                          <a:solidFill>
                            <a:srgbClr val="0C2B4A"/>
                          </a:solidFill>
                        </a:rPr>
                        <a:t>Contain</a:t>
                      </a:r>
                    </a:p>
                  </a:txBody>
                  <a:tcPr anchor="ctr" marL="73152" marR="54864" marT="27432" marB="27432">
                    <a:solidFill>
                      <a:srgbClr val="FFFFFF"/>
                    </a:solidFill>
                  </a:tcPr>
                </a:tc>
                <a:tc>
                  <a:txBody>
                    <a:bodyPr wrap="square"/>
                    <a:lstStyle/>
                    <a:p>
                      <a:r>
                        <a:rPr sz="1100">
                          <a:solidFill>
                            <a:srgbClr val="1A1A1A"/>
                          </a:solidFill>
                        </a:rPr>
                        <a:t>Isolate affected systems; fail over</a:t>
                      </a:r>
                    </a:p>
                  </a:txBody>
                  <a:tcPr anchor="ctr" marL="73152" marR="54864" marT="27432" marB="27432">
                    <a:solidFill>
                      <a:srgbClr val="FFFFFF"/>
                    </a:solidFill>
                  </a:tcPr>
                </a:tc>
                <a:tc>
                  <a:txBody>
                    <a:bodyPr wrap="square"/>
                    <a:lstStyle/>
                    <a:p>
                      <a:r>
                        <a:rPr sz="1100">
                          <a:solidFill>
                            <a:srgbClr val="1A1A1A"/>
                          </a:solidFill>
                        </a:rPr>
                        <a:t>Stops the cascade to other services</a:t>
                      </a:r>
                    </a:p>
                  </a:txBody>
                  <a:tcPr anchor="ctr" marL="73152" marR="54864" marT="27432" marB="27432">
                    <a:solidFill>
                      <a:srgbClr val="FFFFFF"/>
                    </a:solidFill>
                  </a:tcPr>
                </a:tc>
              </a:tr>
              <a:tr h="630936">
                <a:tc>
                  <a:txBody>
                    <a:bodyPr wrap="square"/>
                    <a:lstStyle/>
                    <a:p>
                      <a:r>
                        <a:rPr sz="1100" b="1">
                          <a:solidFill>
                            <a:srgbClr val="0C2B4A"/>
                          </a:solidFill>
                        </a:rPr>
                        <a:t>Eradicate</a:t>
                      </a:r>
                    </a:p>
                  </a:txBody>
                  <a:tcPr anchor="ctr" marL="73152" marR="54864" marT="27432" marB="27432">
                    <a:solidFill>
                      <a:srgbClr val="EEF3F8"/>
                    </a:solidFill>
                  </a:tcPr>
                </a:tc>
                <a:tc>
                  <a:txBody>
                    <a:bodyPr wrap="square"/>
                    <a:lstStyle/>
                    <a:p>
                      <a:r>
                        <a:rPr sz="1100">
                          <a:solidFill>
                            <a:srgbClr val="1A1A1A"/>
                          </a:solidFill>
                        </a:rPr>
                        <a:t>Remove the threat from the network</a:t>
                      </a:r>
                    </a:p>
                  </a:txBody>
                  <a:tcPr anchor="ctr" marL="73152" marR="54864" marT="27432" marB="27432">
                    <a:solidFill>
                      <a:srgbClr val="EEF3F8"/>
                    </a:solidFill>
                  </a:tcPr>
                </a:tc>
                <a:tc>
                  <a:txBody>
                    <a:bodyPr wrap="square"/>
                    <a:lstStyle/>
                    <a:p>
                      <a:r>
                        <a:rPr sz="1100">
                          <a:solidFill>
                            <a:srgbClr val="1A1A1A"/>
                          </a:solidFill>
                        </a:rPr>
                        <a:t>Prevents re-infection on recovery</a:t>
                      </a:r>
                    </a:p>
                  </a:txBody>
                  <a:tcPr anchor="ctr" marL="73152" marR="54864" marT="27432" marB="27432">
                    <a:solidFill>
                      <a:srgbClr val="EEF3F8"/>
                    </a:solidFill>
                  </a:tcPr>
                </a:tc>
              </a:tr>
              <a:tr h="630936">
                <a:tc>
                  <a:txBody>
                    <a:bodyPr wrap="square"/>
                    <a:lstStyle/>
                    <a:p>
                      <a:r>
                        <a:rPr sz="1100" b="1">
                          <a:solidFill>
                            <a:srgbClr val="0C2B4A"/>
                          </a:solidFill>
                        </a:rPr>
                        <a:t>Recover</a:t>
                      </a:r>
                    </a:p>
                  </a:txBody>
                  <a:tcPr anchor="ctr" marL="73152" marR="54864" marT="27432" marB="27432">
                    <a:solidFill>
                      <a:srgbClr val="FFFFFF"/>
                    </a:solidFill>
                  </a:tcPr>
                </a:tc>
                <a:tc>
                  <a:txBody>
                    <a:bodyPr wrap="square"/>
                    <a:lstStyle/>
                    <a:p>
                      <a:r>
                        <a:rPr sz="1100">
                          <a:solidFill>
                            <a:srgbClr val="1A1A1A"/>
                          </a:solidFill>
                        </a:rPr>
                        <a:t>Restore service from clean backups</a:t>
                      </a:r>
                    </a:p>
                  </a:txBody>
                  <a:tcPr anchor="ctr" marL="73152" marR="54864" marT="27432" marB="27432">
                    <a:solidFill>
                      <a:srgbClr val="FFFFFF"/>
                    </a:solidFill>
                  </a:tcPr>
                </a:tc>
                <a:tc>
                  <a:txBody>
                    <a:bodyPr wrap="square"/>
                    <a:lstStyle/>
                    <a:p>
                      <a:r>
                        <a:rPr sz="1100">
                          <a:solidFill>
                            <a:srgbClr val="1A1A1A"/>
                          </a:solidFill>
                        </a:rPr>
                        <a:t>Gets customers back online safely</a:t>
                      </a:r>
                    </a:p>
                  </a:txBody>
                  <a:tcPr anchor="ctr" marL="73152" marR="54864" marT="27432" marB="27432">
                    <a:solidFill>
                      <a:srgbClr val="FFFFFF"/>
                    </a:solidFill>
                  </a:tcPr>
                </a:tc>
              </a:tr>
              <a:tr h="630936">
                <a:tc>
                  <a:txBody>
                    <a:bodyPr wrap="square"/>
                    <a:lstStyle/>
                    <a:p>
                      <a:r>
                        <a:rPr sz="1100" b="1">
                          <a:solidFill>
                            <a:srgbClr val="0C2B4A"/>
                          </a:solidFill>
                        </a:rPr>
                        <a:t>Review &amp; communicate</a:t>
                      </a:r>
                    </a:p>
                  </a:txBody>
                  <a:tcPr anchor="ctr" marL="73152" marR="54864" marT="27432" marB="27432">
                    <a:solidFill>
                      <a:srgbClr val="EEF3F8"/>
                    </a:solidFill>
                  </a:tcPr>
                </a:tc>
                <a:tc>
                  <a:txBody>
                    <a:bodyPr wrap="square"/>
                    <a:lstStyle/>
                    <a:p>
                      <a:r>
                        <a:rPr sz="1100">
                          <a:solidFill>
                            <a:srgbClr val="1A1A1A"/>
                          </a:solidFill>
                        </a:rPr>
                        <a:t>Learn, coordinate with NPCERT, inform the public</a:t>
                      </a:r>
                    </a:p>
                  </a:txBody>
                  <a:tcPr anchor="ctr" marL="73152" marR="54864" marT="27432" marB="27432">
                    <a:solidFill>
                      <a:srgbClr val="EEF3F8"/>
                    </a:solidFill>
                  </a:tcPr>
                </a:tc>
                <a:tc>
                  <a:txBody>
                    <a:bodyPr wrap="square"/>
                    <a:lstStyle/>
                    <a:p>
                      <a:r>
                        <a:rPr sz="1100">
                          <a:solidFill>
                            <a:srgbClr val="1A1A1A"/>
                          </a:solidFill>
                        </a:rPr>
                        <a:t>Prevents recurrence; limits panic</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Preparedness is the difference between a scare and a catastrophe: every step assumes the attack will come and is rehearsed before it does. Clear public communication limits panic — the attacker's real goal.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76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Resilience &amp; Preparedness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national bank suffers a service-disrupting attack. Because it prepared — backups, tested business-continuity plans, failover, and a rehearsed communication plan — it detects fast, contains the affected systems, recovers service from clean backups, coordinates with NPCERT, and keeps customers informed. The same attack against an unprepared bank would be a catastrophe; against a prepared one, a manageable scare.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"Good defence means never getting attacked." No defence is perfect, so hoping it won't happen is not a plan. Resilience assumes an incident will occur and invests in backups, failover, tested response, and coordination — so recovery is fast and the impact is contained.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Resilience and preparedness mean assuming attacks will happen and building the ability to keep operating and recover fast — through backups, failover, tested incident-response and business-continuity plans, drills, clear communication, and coordination with a CERT. It follows the cycle prepare → detect → contain → eradicate → recover → review, and, like earthquake preparedness, it is what decides whether an incident is a scare or a catastrophe.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resilience · assume breach · backups &amp; failover · incident response · business continuity · CERT coordination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76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S37 — 'Defend one system'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the piece of Nepal's critical infrastructure that worries you most if attacked.</a:t>
            </a:r>
          </a:p>
          <a:p>
            <a:pPr>
              <a:spcAft>
                <a:spcPts val="700"/>
              </a:spcAft>
            </a:pPr>
            <a:r>
              <a:rPr sz="1550">
                <a:solidFill>
                  <a:srgbClr val="1A1A1A"/>
                </a:solidFill>
              </a:rPr>
              <a:t>•  Name the cascade you fear (what fails next if it goes down).</a:t>
            </a:r>
          </a:p>
          <a:p>
            <a:pPr>
              <a:spcAft>
                <a:spcPts val="700"/>
              </a:spcAft>
            </a:pPr>
            <a:r>
              <a:rPr sz="1550">
                <a:solidFill>
                  <a:srgbClr val="1A1A1A"/>
                </a:solidFill>
              </a:rPr>
              <a:t>•  Choose ONE defence to prioritise across the national/organizational/personal layers.</a:t>
            </a:r>
          </a:p>
          <a:p>
            <a:pPr>
              <a:spcAft>
                <a:spcPts val="700"/>
              </a:spcAft>
            </a:pPr>
            <a:r>
              <a:rPr sz="1550">
                <a:solidFill>
                  <a:srgbClr val="1A1A1A"/>
                </a:solidFill>
              </a:rPr>
              <a:t>•  Take 3–4 answers aloud (3 min); connect each defence to a layer of the pyramid.</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telecom, national payments (eSewa/connectIPS), power, government data. Reward answers that name the cascade AND pick a concrete, layer-appropriate defence (e.g. backups + BCP at the org layer, NPCERT coordination at the national layer).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76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most dangerous feature of an infrastructure attack is:</a:t>
            </a:r>
          </a:p>
          <a:p>
            <a:pPr lvl="1"/>
            <a:r>
              <a:rPr sz="1500" b="1">
                <a:solidFill>
                  <a:srgbClr val="0F6E56"/>
                </a:solidFill>
              </a:rPr>
              <a:t>a) it's online   b) ✅ cascading effects across dependent systems   c) it's slow   d) it's visible</a:t>
            </a:r>
          </a:p>
          <a:p>
            <a:pPr lvl="1">
              <a:spcBef>
                <a:spcPts val="600"/>
              </a:spcBef>
            </a:pPr>
            <a:r>
              <a:rPr sz="1500" i="1">
                <a:solidFill>
                  <a:srgbClr val="1A1A1A"/>
                </a:solidFill>
              </a:rPr>
              <a:t>     Why: one failure topples the systems that depend on it — the domino effect multiplies harm.</a:t>
            </a:r>
          </a:p>
          <a:p>
            <a:pPr>
              <a:spcBef>
                <a:spcPts val="900"/>
              </a:spcBef>
            </a:pPr>
            <a:r>
              <a:rPr sz="1700" b="1">
                <a:solidFill>
                  <a:srgbClr val="0C2B4A"/>
                </a:solidFill>
              </a:rPr>
              <a:t>Q2.  A national team that coordinates response to major cyber incidents is a:</a:t>
            </a:r>
          </a:p>
          <a:p>
            <a:pPr lvl="1"/>
            <a:r>
              <a:rPr sz="1500" b="1">
                <a:solidFill>
                  <a:srgbClr val="0F6E56"/>
                </a:solidFill>
              </a:rPr>
              <a:t>a) ISP   b) firewall   c) ✅ CERT (Computer Emergency Response Team)   d) VPN</a:t>
            </a:r>
          </a:p>
          <a:p>
            <a:pPr lvl="1">
              <a:spcBef>
                <a:spcPts val="600"/>
              </a:spcBef>
            </a:pPr>
            <a:r>
              <a:rPr sz="1500" i="1">
                <a:solidFill>
                  <a:srgbClr val="1A1A1A"/>
                </a:solidFill>
              </a:rPr>
              <a:t>     Why: a CERT (e.g. NPCERT) coordinates national incident response and intelligence sharing.</a:t>
            </a:r>
          </a:p>
          <a:p>
            <a:pPr lvl="1">
              <a:spcBef>
                <a:spcPts val="600"/>
              </a:spcBef>
            </a:pPr>
            <a:r>
              <a:rPr sz="1500" i="1">
                <a:solidFill>
                  <a:srgbClr val="1A1A1A"/>
                </a:solidFill>
              </a:rPr>
              <a:t>Discussion: which piece of Nepal's critical infrastructure worries you most, and what one defence would you prioritise?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76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Infrastructure attacks cause cascading, real-world harm — power → telecom → banking → hospitals → panic.</a:t>
            </a:r>
          </a:p>
          <a:p>
            <a:pPr>
              <a:spcAft>
                <a:spcPts val="800"/>
              </a:spcAft>
            </a:pPr>
            <a:r>
              <a:rPr sz="1500">
                <a:solidFill>
                  <a:srgbClr val="1A1A1A"/>
                </a:solidFill>
              </a:rPr>
              <a:t>2.  Countering needs three layers: national (CERT/NPCERT, law), organizational (segmentation, IR/BCP), and personal (awareness).</a:t>
            </a:r>
          </a:p>
          <a:p>
            <a:pPr>
              <a:spcAft>
                <a:spcPts val="800"/>
              </a:spcAft>
            </a:pPr>
            <a:r>
              <a:rPr sz="1500">
                <a:solidFill>
                  <a:srgbClr val="1A1A1A"/>
                </a:solidFill>
              </a:rPr>
              <a:t>3.  Resilience &amp; preparedness — assume breach, back up, drill, recover — beat hoping it won't happen.</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Organizations now expect employees to follow incident-response and business-continuity plans; understanding infrastructure resilience makes you valuable in any IT/management role and a responsible digital citizen.</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 Digital Forensics: how incidents are investigated after the fact.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76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7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Social engineering (S33)</a:t>
            </a:r>
          </a:p>
          <a:p>
            <a:pPr>
              <a:spcBef>
                <a:spcPts val="300"/>
              </a:spcBef>
            </a:pPr>
            <a:r>
              <a:rPr sz="1200">
                <a:solidFill>
                  <a:srgbClr val="1A1A1A"/>
                </a:solidFill>
              </a:rPr>
              <a:t>Hacking the PERSON, not the PC — persuasion/deception over any channel. Chosen because it's low-cost, high-success, hard to trace. Humans exploited via helpfulness, authority, fear, curiosity, brand trust.</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The psychology (S34)</a:t>
            </a:r>
          </a:p>
          <a:p>
            <a:pPr>
              <a:spcBef>
                <a:spcPts val="300"/>
              </a:spcBef>
            </a:pPr>
            <a:r>
              <a:rPr sz="1200">
                <a:solidFill>
                  <a:srgbClr val="1A1A1A"/>
                </a:solidFill>
              </a:rPr>
              <a:t>Impact CHAINS (one OTP → email → bank → wallet → contacts). Trust is manufactured: authority, liking, social proof, reciprocity. The close: urgency, fear, scarcity. Spot the emotion.</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Attack types (S35)</a:t>
            </a:r>
          </a:p>
          <a:p>
            <a:pPr>
              <a:spcBef>
                <a:spcPts val="300"/>
              </a:spcBef>
            </a:pPr>
            <a:r>
              <a:rPr sz="1200">
                <a:solidFill>
                  <a:srgbClr val="1A1A1A"/>
                </a:solidFill>
              </a:rPr>
              <a:t>Phishing (email), vishing (call), smishing (SMS), pretexting (story), baiting (lure), tailgating (door). Recognise the channel + tell; refuse the ask.</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Countermeasures (S35)</a:t>
            </a:r>
          </a:p>
          <a:p>
            <a:pPr>
              <a:spcBef>
                <a:spcPts val="300"/>
              </a:spcBef>
            </a:pPr>
            <a:r>
              <a:rPr sz="1200">
                <a:solidFill>
                  <a:srgbClr val="1A1A1A"/>
                </a:solidFill>
              </a:rPr>
              <a:t>Layered: people (training/drills), process (verify-callback, least privilege), tech (MFA, filtering, SPF/DKIM/DMARC). Personal: never share OTP; verify independently; STOP-THINK-CLICK.</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Cyber terrorism (S36)</a:t>
            </a:r>
          </a:p>
          <a:p>
            <a:pPr>
              <a:spcBef>
                <a:spcPts val="300"/>
              </a:spcBef>
            </a:pPr>
            <a:r>
              <a:rPr sz="1200">
                <a:solidFill>
                  <a:srgbClr val="1A1A1A"/>
                </a:solidFill>
              </a:rPr>
              <a:t>Ideological INTENT + serious harm/fear, often vs. critical infra. Distinct from crime (profit), hacktivism (protest), warfare (state). Types: infra, data destruction, service denial, propaganda, financing.</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Effects &amp; countering (S37)</a:t>
            </a:r>
          </a:p>
          <a:p>
            <a:pPr>
              <a:spcBef>
                <a:spcPts val="300"/>
              </a:spcBef>
            </a:pPr>
            <a:r>
              <a:rPr sz="1200">
                <a:solidFill>
                  <a:srgbClr val="1A1A1A"/>
                </a:solidFill>
              </a:rPr>
              <a:t>CI attacks CASCADE (power→telecom→banking→hospitals). Counter across national (CERT/NPCERT, law), organizational (segmentation, IR/BCP), personal (awareness, don't amplify). Resilience = assume breach + recover fast.</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76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7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Social engineering — </a:t>
            </a:r>
            <a:r>
              <a:rPr sz="1150">
                <a:solidFill>
                  <a:srgbClr val="1A1A1A"/>
                </a:solidFill>
              </a:rPr>
              <a:t>manipulating people into giving up information or access, not breaking technology.</a:t>
            </a:r>
          </a:p>
          <a:p>
            <a:pPr>
              <a:spcAft>
                <a:spcPts val="600"/>
              </a:spcAft>
            </a:pPr>
            <a:r>
              <a:rPr sz="1150" b="1">
                <a:solidFill>
                  <a:srgbClr val="0C2B4A"/>
                </a:solidFill>
              </a:rPr>
              <a:t>Weakest link — </a:t>
            </a:r>
            <a:r>
              <a:rPr sz="1150">
                <a:solidFill>
                  <a:srgbClr val="1A1A1A"/>
                </a:solidFill>
              </a:rPr>
              <a:t>the human, exploited via helpfulness, authority, fear, curiosity, and brand trust.</a:t>
            </a:r>
          </a:p>
          <a:p>
            <a:pPr>
              <a:spcAft>
                <a:spcPts val="600"/>
              </a:spcAft>
            </a:pPr>
            <a:r>
              <a:rPr sz="1150" b="1">
                <a:solidFill>
                  <a:srgbClr val="0C2B4A"/>
                </a:solidFill>
              </a:rPr>
              <a:t>Path of least resistance — </a:t>
            </a:r>
            <a:r>
              <a:rPr sz="1150">
                <a:solidFill>
                  <a:srgbClr val="1A1A1A"/>
                </a:solidFill>
              </a:rPr>
              <a:t>the cheap, high-success human route attackers choose over hardened machines.</a:t>
            </a:r>
          </a:p>
          <a:p>
            <a:pPr>
              <a:spcAft>
                <a:spcPts val="600"/>
              </a:spcAft>
            </a:pPr>
            <a:r>
              <a:rPr sz="1150" b="1">
                <a:solidFill>
                  <a:srgbClr val="0C2B4A"/>
                </a:solidFill>
              </a:rPr>
              <a:t>Chain reaction — </a:t>
            </a:r>
            <a:r>
              <a:rPr sz="1150">
                <a:solidFill>
                  <a:srgbClr val="1A1A1A"/>
                </a:solidFill>
              </a:rPr>
              <a:t>one leaked credential unlocking a chain of linked accounts.</a:t>
            </a:r>
          </a:p>
          <a:p>
            <a:pPr>
              <a:spcAft>
                <a:spcPts val="600"/>
              </a:spcAft>
            </a:pPr>
            <a:r>
              <a:rPr sz="1150" b="1">
                <a:solidFill>
                  <a:srgbClr val="0C2B4A"/>
                </a:solidFill>
              </a:rPr>
              <a:t>Authority (lever) — </a:t>
            </a:r>
            <a:r>
              <a:rPr sz="1150">
                <a:solidFill>
                  <a:srgbClr val="1A1A1A"/>
                </a:solidFill>
              </a:rPr>
              <a:t>impersonating a bank/police/IT figure to short-circuit doubt.</a:t>
            </a:r>
          </a:p>
          <a:p>
            <a:pPr>
              <a:spcAft>
                <a:spcPts val="600"/>
              </a:spcAft>
            </a:pPr>
            <a:r>
              <a:rPr sz="1150" b="1">
                <a:solidFill>
                  <a:srgbClr val="0C2B4A"/>
                </a:solidFill>
              </a:rPr>
              <a:t>Social proof — </a:t>
            </a:r>
            <a:r>
              <a:rPr sz="1150">
                <a:solidFill>
                  <a:srgbClr val="1A1A1A"/>
                </a:solidFill>
              </a:rPr>
              <a:t>'everyone is doing it' pressure used to manufacture trust.</a:t>
            </a:r>
          </a:p>
          <a:p>
            <a:pPr>
              <a:spcAft>
                <a:spcPts val="600"/>
              </a:spcAft>
            </a:pPr>
            <a:r>
              <a:rPr sz="1150" b="1">
                <a:solidFill>
                  <a:srgbClr val="0C2B4A"/>
                </a:solidFill>
              </a:rPr>
              <a:t>Reciprocity — </a:t>
            </a:r>
            <a:r>
              <a:rPr sz="1150">
                <a:solidFill>
                  <a:srgbClr val="1A1A1A"/>
                </a:solidFill>
              </a:rPr>
              <a:t>a small 'favour' used to extract a bigger concession.</a:t>
            </a:r>
          </a:p>
          <a:p>
            <a:pPr>
              <a:spcAft>
                <a:spcPts val="600"/>
              </a:spcAft>
            </a:pPr>
            <a:r>
              <a:rPr sz="1150" b="1">
                <a:solidFill>
                  <a:srgbClr val="0C2B4A"/>
                </a:solidFill>
              </a:rPr>
              <a:t>Urgency / the close — </a:t>
            </a:r>
            <a:r>
              <a:rPr sz="1150">
                <a:solidFill>
                  <a:srgbClr val="1A1A1A"/>
                </a:solidFill>
              </a:rPr>
              <a:t>manufactured time pressure so the victim acts before verifying.</a:t>
            </a:r>
          </a:p>
          <a:p>
            <a:pPr>
              <a:spcAft>
                <a:spcPts val="600"/>
              </a:spcAft>
            </a:pPr>
            <a:r>
              <a:rPr sz="1150" b="1">
                <a:solidFill>
                  <a:srgbClr val="0C2B4A"/>
                </a:solidFill>
              </a:rPr>
              <a:t>Phishing — </a:t>
            </a:r>
            <a:r>
              <a:rPr sz="1150">
                <a:solidFill>
                  <a:srgbClr val="1A1A1A"/>
                </a:solidFill>
              </a:rPr>
              <a:t>fraudulent email with a link/attachment to steal logins or data.</a:t>
            </a:r>
          </a:p>
          <a:p>
            <a:pPr>
              <a:spcAft>
                <a:spcPts val="600"/>
              </a:spcAft>
            </a:pPr>
            <a:r>
              <a:rPr sz="1150" b="1">
                <a:solidFill>
                  <a:srgbClr val="0C2B4A"/>
                </a:solidFill>
              </a:rPr>
              <a:t>Vishing — </a:t>
            </a:r>
            <a:r>
              <a:rPr sz="1150">
                <a:solidFill>
                  <a:srgbClr val="1A1A1A"/>
                </a:solidFill>
              </a:rPr>
              <a:t>voice-call social engineering (e.g. asking for an OTP/PIN).</a:t>
            </a:r>
          </a:p>
          <a:p>
            <a:pPr>
              <a:spcAft>
                <a:spcPts val="600"/>
              </a:spcAft>
            </a:pPr>
            <a:r>
              <a:rPr sz="1150" b="1">
                <a:solidFill>
                  <a:srgbClr val="0C2B4A"/>
                </a:solidFill>
              </a:rPr>
              <a:t>Smishing — </a:t>
            </a:r>
            <a:r>
              <a:rPr sz="1150">
                <a:solidFill>
                  <a:srgbClr val="1A1A1A"/>
                </a:solidFill>
              </a:rPr>
              <a:t>SMS-based social engineering (KYC/parcel/lottery links).</a:t>
            </a:r>
          </a:p>
          <a:p>
            <a:pPr>
              <a:spcAft>
                <a:spcPts val="600"/>
              </a:spcAft>
            </a:pPr>
            <a:r>
              <a:rPr sz="1150" b="1">
                <a:solidFill>
                  <a:srgbClr val="0C2B4A"/>
                </a:solidFill>
              </a:rPr>
              <a:t>Pretexting — </a:t>
            </a:r>
            <a:r>
              <a:rPr sz="1150">
                <a:solidFill>
                  <a:srgbClr val="1A1A1A"/>
                </a:solidFill>
              </a:rPr>
              <a:t>using an invented backstory/role to extract information.</a:t>
            </a:r>
          </a:p>
          <a:p>
            <a:pPr>
              <a:spcAft>
                <a:spcPts val="600"/>
              </a:spcAft>
            </a:pPr>
            <a:r>
              <a:rPr sz="1150" b="1">
                <a:solidFill>
                  <a:srgbClr val="0C2B4A"/>
                </a:solidFill>
              </a:rPr>
              <a:t>Baiting — </a:t>
            </a:r>
            <a:r>
              <a:rPr sz="1150">
                <a:solidFill>
                  <a:srgbClr val="1A1A1A"/>
                </a:solidFill>
              </a:rPr>
              <a:t>dangling a tempting lure (a 'free' download or dropped USB).</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Tailgating — </a:t>
            </a:r>
            <a:r>
              <a:rPr sz="1150">
                <a:solidFill>
                  <a:srgbClr val="1A1A1A"/>
                </a:solidFill>
              </a:rPr>
              <a:t>following an authorised person through a secure door.</a:t>
            </a:r>
          </a:p>
          <a:p>
            <a:pPr>
              <a:spcAft>
                <a:spcPts val="600"/>
              </a:spcAft>
            </a:pPr>
            <a:r>
              <a:rPr sz="1150" b="1">
                <a:solidFill>
                  <a:srgbClr val="0C2B4A"/>
                </a:solidFill>
              </a:rPr>
              <a:t>MFA — </a:t>
            </a:r>
            <a:r>
              <a:rPr sz="1150">
                <a:solidFill>
                  <a:srgbClr val="1A1A1A"/>
                </a:solidFill>
              </a:rPr>
              <a:t>multi-factor authentication — a stolen password alone can't log in.</a:t>
            </a:r>
          </a:p>
          <a:p>
            <a:pPr>
              <a:spcAft>
                <a:spcPts val="600"/>
              </a:spcAft>
            </a:pPr>
            <a:r>
              <a:rPr sz="1150" b="1">
                <a:solidFill>
                  <a:srgbClr val="0C2B4A"/>
                </a:solidFill>
              </a:rPr>
              <a:t>SPF/DKIM/DMARC — </a:t>
            </a:r>
            <a:r>
              <a:rPr sz="1150">
                <a:solidFill>
                  <a:srgbClr val="1A1A1A"/>
                </a:solidFill>
              </a:rPr>
              <a:t>email anti-spoofing standards (awareness level).</a:t>
            </a:r>
          </a:p>
          <a:p>
            <a:pPr>
              <a:spcAft>
                <a:spcPts val="600"/>
              </a:spcAft>
            </a:pPr>
            <a:r>
              <a:rPr sz="1150" b="1">
                <a:solidFill>
                  <a:srgbClr val="0C2B4A"/>
                </a:solidFill>
              </a:rPr>
              <a:t>STOP-THINK-CLICK — </a:t>
            </a:r>
            <a:r>
              <a:rPr sz="1150">
                <a:solidFill>
                  <a:srgbClr val="1A1A1A"/>
                </a:solidFill>
              </a:rPr>
              <a:t>pause, verify, then act — the personal-prevention rule.</a:t>
            </a:r>
          </a:p>
          <a:p>
            <a:pPr>
              <a:spcAft>
                <a:spcPts val="600"/>
              </a:spcAft>
            </a:pPr>
            <a:r>
              <a:rPr sz="1150" b="1">
                <a:solidFill>
                  <a:srgbClr val="0C2B4A"/>
                </a:solidFill>
              </a:rPr>
              <a:t>Cyber terrorism — </a:t>
            </a:r>
            <a:r>
              <a:rPr sz="1150">
                <a:solidFill>
                  <a:srgbClr val="1A1A1A"/>
                </a:solidFill>
              </a:rPr>
              <a:t>ideologically motivated use of computers to cause serious harm or fear.</a:t>
            </a:r>
          </a:p>
          <a:p>
            <a:pPr>
              <a:spcAft>
                <a:spcPts val="600"/>
              </a:spcAft>
            </a:pPr>
            <a:r>
              <a:rPr sz="1150" b="1">
                <a:solidFill>
                  <a:srgbClr val="0C2B4A"/>
                </a:solidFill>
              </a:rPr>
              <a:t>Hacktivism — </a:t>
            </a:r>
            <a:r>
              <a:rPr sz="1150">
                <a:solidFill>
                  <a:srgbClr val="1A1A1A"/>
                </a:solidFill>
              </a:rPr>
              <a:t>hacking for protest or to send a message.</a:t>
            </a:r>
          </a:p>
          <a:p>
            <a:pPr>
              <a:spcAft>
                <a:spcPts val="600"/>
              </a:spcAft>
            </a:pPr>
            <a:r>
              <a:rPr sz="1150" b="1">
                <a:solidFill>
                  <a:srgbClr val="0C2B4A"/>
                </a:solidFill>
              </a:rPr>
              <a:t>Cyber warfare — </a:t>
            </a:r>
            <a:r>
              <a:rPr sz="1150">
                <a:solidFill>
                  <a:srgbClr val="1A1A1A"/>
                </a:solidFill>
              </a:rPr>
              <a:t>state-versus-state cyber action in a conflict.</a:t>
            </a:r>
          </a:p>
          <a:p>
            <a:pPr>
              <a:spcAft>
                <a:spcPts val="600"/>
              </a:spcAft>
            </a:pPr>
            <a:r>
              <a:rPr sz="1150" b="1">
                <a:solidFill>
                  <a:srgbClr val="0C2B4A"/>
                </a:solidFill>
              </a:rPr>
              <a:t>Critical infrastructure (CI) — </a:t>
            </a:r>
            <a:r>
              <a:rPr sz="1150">
                <a:solidFill>
                  <a:srgbClr val="1A1A1A"/>
                </a:solidFill>
              </a:rPr>
              <a:t>systems a society can't function without (power, telecom, finance…).</a:t>
            </a:r>
          </a:p>
          <a:p>
            <a:pPr>
              <a:spcAft>
                <a:spcPts val="600"/>
              </a:spcAft>
            </a:pPr>
            <a:r>
              <a:rPr sz="1150" b="1">
                <a:solidFill>
                  <a:srgbClr val="0C2B4A"/>
                </a:solidFill>
              </a:rPr>
              <a:t>Cascading effect — </a:t>
            </a:r>
            <a:r>
              <a:rPr sz="1150">
                <a:solidFill>
                  <a:srgbClr val="1A1A1A"/>
                </a:solidFill>
              </a:rPr>
              <a:t>one system's failure toppling the systems that depend on it.</a:t>
            </a:r>
          </a:p>
          <a:p>
            <a:pPr>
              <a:spcAft>
                <a:spcPts val="600"/>
              </a:spcAft>
            </a:pPr>
            <a:r>
              <a:rPr sz="1150" b="1">
                <a:solidFill>
                  <a:srgbClr val="0C2B4A"/>
                </a:solidFill>
              </a:rPr>
              <a:t>CERT / NPCERT — </a:t>
            </a:r>
            <a:r>
              <a:rPr sz="1150">
                <a:solidFill>
                  <a:srgbClr val="1A1A1A"/>
                </a:solidFill>
              </a:rPr>
              <a:t>a (national) Computer Emergency Response Team; NPCERT is Nepal's.</a:t>
            </a:r>
          </a:p>
          <a:p>
            <a:pPr>
              <a:spcAft>
                <a:spcPts val="600"/>
              </a:spcAft>
            </a:pPr>
            <a:r>
              <a:rPr sz="1150" b="1">
                <a:solidFill>
                  <a:srgbClr val="0C2B4A"/>
                </a:solidFill>
              </a:rPr>
              <a:t>Resilience — </a:t>
            </a:r>
            <a:r>
              <a:rPr sz="1150">
                <a:solidFill>
                  <a:srgbClr val="1A1A1A"/>
                </a:solidFill>
              </a:rPr>
              <a:t>assuming attacks happen and being able to keep operating and recover fast.</a:t>
            </a:r>
          </a:p>
          <a:p>
            <a:pPr>
              <a:spcAft>
                <a:spcPts val="600"/>
              </a:spcAft>
            </a:pPr>
            <a:r>
              <a:rPr sz="1150" b="1">
                <a:solidFill>
                  <a:srgbClr val="0C2B4A"/>
                </a:solidFill>
              </a:rPr>
              <a:t>Incident response — </a:t>
            </a:r>
            <a:r>
              <a:rPr sz="1150">
                <a:solidFill>
                  <a:srgbClr val="1A1A1A"/>
                </a:solidFill>
              </a:rPr>
              <a:t>prepare → detect → contain → eradicate → recover → review.</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76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7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MCQs across the whole unit (answers shown), then short-answer, applied-case, and discussion questions to work from the concept slides and Unit7_material.md. All content stays at the recognition/defence level.</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73 / 76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Social engineering primarily attacks   →  ✅ human psychology / people</a:t>
            </a:r>
          </a:p>
          <a:p>
            <a:pPr lvl="1"/>
            <a:r>
              <a:rPr sz="1250" b="1">
                <a:solidFill>
                  <a:srgbClr val="0F6E56"/>
                </a:solidFill>
              </a:rPr>
              <a:t>2.  Why humans are the weakest link   →  ✅ helpfulness, authority, fear, curiosity, brand trust</a:t>
            </a:r>
          </a:p>
          <a:p>
            <a:pPr lvl="1"/>
            <a:r>
              <a:rPr sz="1250" b="1">
                <a:solidFill>
                  <a:srgbClr val="0F6E56"/>
                </a:solidFill>
              </a:rPr>
              <a:t>3.  Why attackers prefer social engineering   →  ✅ low cost + high success vs. beating strong tech</a:t>
            </a:r>
          </a:p>
          <a:p>
            <a:pPr lvl="1"/>
            <a:r>
              <a:rPr sz="1250" b="1">
                <a:solidFill>
                  <a:srgbClr val="0F6E56"/>
                </a:solidFill>
              </a:rPr>
              <a:t>4.  'I'm from the bank, act now' combines   →  ✅ authority + urgency/fear</a:t>
            </a:r>
          </a:p>
          <a:p>
            <a:pPr lvl="1"/>
            <a:r>
              <a:rPr sz="1250" b="1">
                <a:solidFill>
                  <a:srgbClr val="0F6E56"/>
                </a:solidFill>
              </a:rPr>
              <a:t>5.  A fraudulent phone call for your OTP is   →  ✅ vishing</a:t>
            </a:r>
          </a:p>
          <a:p>
            <a:pPr lvl="1"/>
            <a:r>
              <a:rPr sz="1250" b="1">
                <a:solidFill>
                  <a:srgbClr val="0F6E56"/>
                </a:solidFill>
              </a:rPr>
              <a:t>6.  The best rule against OTP fraud is   →  ✅ never share your OTP with anyone</a:t>
            </a:r>
          </a:p>
          <a:p>
            <a:pPr lvl="1"/>
            <a:r>
              <a:rPr sz="1250" b="1">
                <a:solidFill>
                  <a:srgbClr val="0F6E56"/>
                </a:solidFill>
              </a:rPr>
              <a:t>7.  Match by channel: SMS scam link is   →  ✅ smishing</a:t>
            </a:r>
          </a:p>
          <a:p>
            <a:pPr lvl="1"/>
            <a:r>
              <a:rPr sz="1250" b="1">
                <a:solidFill>
                  <a:srgbClr val="0F6E56"/>
                </a:solidFill>
              </a:rPr>
              <a:t>8.  What distinguishes cyber terrorism from cybercrime   →  ✅ political/ideological intent to cause fear/harm</a:t>
            </a:r>
          </a:p>
          <a:p>
            <a:pPr lvl="1"/>
            <a:r>
              <a:rPr sz="1250" b="1">
                <a:solidFill>
                  <a:srgbClr val="0F6E56"/>
                </a:solidFill>
              </a:rPr>
              <a:t>9.  A type of cyber terrorism   →  ✅ propaganda/psy-ops (or a critical-infrastructure attack)</a:t>
            </a:r>
          </a:p>
          <a:p>
            <a:pPr lvl="1"/>
            <a:r>
              <a:rPr sz="1250" b="1">
                <a:solidFill>
                  <a:srgbClr val="0F6E56"/>
                </a:solidFill>
              </a:rPr>
              <a:t>10. A national team coordinating cyber incident response is a   →  ✅ CERT (e.g. NPCERT)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76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11. Define social engineering.   12. List 4 reasons humans are exploited.   13. Name &amp; explain 3 attack types.</a:t>
            </a:r>
          </a:p>
          <a:p>
            <a:pPr lvl="1">
              <a:spcBef>
                <a:spcPts val="200"/>
              </a:spcBef>
            </a:pPr>
            <a:r>
              <a:rPr sz="1250" i="1">
                <a:solidFill>
                  <a:srgbClr val="1A1A1A"/>
                </a:solidFill>
              </a:rPr>
              <a:t>14. List 4 countermeasures (personal + organizational).   15. Define cyber terrorism and give two of its types.</a:t>
            </a:r>
          </a:p>
          <a:p>
            <a:pPr>
              <a:spcBef>
                <a:spcPts val="500"/>
              </a:spcBef>
            </a:pPr>
            <a:r>
              <a:rPr sz="1400" b="1">
                <a:solidFill>
                  <a:srgbClr val="0C2B4A"/>
                </a:solidFill>
              </a:rPr>
              <a:t>Section C — Applied case</a:t>
            </a:r>
          </a:p>
          <a:p>
            <a:pPr lvl="1">
              <a:spcBef>
                <a:spcPts val="200"/>
              </a:spcBef>
            </a:pPr>
            <a:r>
              <a:rPr sz="1250" i="1">
                <a:solidFill>
                  <a:srgbClr val="1A1A1A"/>
                </a:solidFill>
              </a:rPr>
              <a:t>16. Given a Nepali scam SMS/call transcript: identify the attack type, the psychological levers, and the safe response.</a:t>
            </a:r>
          </a:p>
          <a:p>
            <a:pPr lvl="1">
              <a:spcBef>
                <a:spcPts val="200"/>
              </a:spcBef>
            </a:pPr>
            <a:r>
              <a:rPr sz="1250" i="1">
                <a:solidFill>
                  <a:srgbClr val="1A1A1A"/>
                </a:solidFill>
              </a:rPr>
              <a:t>17. Given a national-infrastructure attack: describe the cascading effects and 3 countering measures across the national/organizational/personal layers.</a:t>
            </a:r>
          </a:p>
          <a:p>
            <a:pPr>
              <a:spcBef>
                <a:spcPts val="500"/>
              </a:spcBef>
            </a:pPr>
            <a:r>
              <a:rPr sz="1400" b="1">
                <a:solidFill>
                  <a:srgbClr val="0C2B4A"/>
                </a:solidFill>
              </a:rPr>
              <a:t>Section D — Discussion</a:t>
            </a:r>
          </a:p>
          <a:p>
            <a:pPr lvl="1">
              <a:spcBef>
                <a:spcPts val="200"/>
              </a:spcBef>
            </a:pPr>
            <a:r>
              <a:rPr sz="1250" i="1">
                <a:solidFill>
                  <a:srgbClr val="1A1A1A"/>
                </a:solidFill>
              </a:rPr>
              <a:t>18. Is a politically motivated defacement of a Nepali government website 'cyber terrorism'? Argue both sides using intent, target, and severity.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76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7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S33–S37 complete: social engineering &amp; the human 'weakest link' · the psychology of the con · attack types &amp; countermeasures · cyber terrorism &amp; its types · effects on infrastructure &amp; how we counter it</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DEFENSIVE / awareness framing · self-contained, PDF-safe · Next: Unit 8 — Digital Forensics.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76 / 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