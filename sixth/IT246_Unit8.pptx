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forensics is a disciplined science, not casual snooping. Agenda: what digital forensics is -&gt; how the field grew -&gt; the core principles.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BTK killer caught via Word-document metadata on a floppy. Land that the discipline exists to make evidence trustworthy in court.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Old textbook says 'image the hard drive' — but the suspect only owns a smartphone. Ask what changed. The device landscape did.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Deliver the ACPO principles plainly. The footprint analogy is the retention hook — looking can be destroying.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that opening a file alters the original and breaks admissibility — the whole discipline is built to prevent exactly that.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that process is what makes evidence trustworthy. Agenda: the process model -&gt; walking the six stages -&gt; integrity &amp; custody through all of them.</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Present the six-stage pipeline with the custody band. Stress that the order is deliberate, not decorative.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Mini case: investigators skip preservation, the phone keeps syncing overnight, the cloud deletes the key chat. Ask which stage failed — preservation.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The relay-baton analogy carries the intuition. Integrity is continuous, not a checkbox at the end.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Land that preservation is usually the case-ending skip — lost volatile evidence cannot be re-collected.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Draw out what makes data 'evidence'. Agenda: what counts as digital evidence -&gt; methods &amp; tools -&gt; the forensic lab.</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Use the evidence-sources map. Stress the five properties — and that a bare screenshot fails 'reliable/authentic'.</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Mini case: a team has only Autopsy and a tight budget. Can they do valid forensics? Yes — sound method matters more than the tool's price tag.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Contrast the Cyber Bureau lab with a district thana that lacks any lab access. The clean-room analogy carries the intuition.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Land that admissibility rests on method (imaging, hashing, documentation, repeatability), not on the tool's brand or price.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This session is the unit's spine — integrity. Agenda: chain of custody -&gt; seizing devices correctly (order of volatility) -&gt; write blockers &amp; hashing.</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Present the custody handoff chain. The relay-baton idea from S39 returns — every handoff signed.</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Present the order-of-volatility ladder. Mini case: powering down a running, full-disk-encrypted laptop re-locks it with an unknown password.</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Present the write-blocker + hash-match diagram. A Nepali expert in court shows identical SHA-256 hashes to prove the analysed copy equals the seized original.</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Draw out that isolation is the first protective step and that write blocker + hash together are the technical proof of integrity.</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Land that deletion ≠ erasure. Agenda: why 'deleted' isn't gone -&gt; disk imaging -&gt; file carving.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Misconception-first: students believe emptying the bin erases data. Land that it only frees the space; recovery is routine until overwrite.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Present the imaging diagram. Mini case: why image the whole disk, including 'empty' space, rather than just copy the visible files?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Present the carving diagram. The shredded-document analogy: reassemble by recognising edges and patterns even though the labelled folder is gone.</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Land deletion ≠ erasure and connect to privacy — secure-wipe or destroy before disposal, never just delete or factory-reset.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Land that the phone is today's primary crime scene. Agenda: why mobile is its own discipline -&gt; extraction methods &amp; app data -&gt; challenges &amp; integrity.</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Land that most Cyber Bureau complaints centre on phones. The self-writing-diary analogy carries why mobile is uniquely hard.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Present the extraction pyramid. Mini case: a deleted WhatsApp chat — local DB fragments + cloud backup — how many places to check?</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Land that mobile is harder technically but the integrity discipline is identical — the Faraday bag from S41 returns here.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Land the extraction-level trade-off (more data = harder) and that isolation is the first, urgent step on any seized phone.</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HOOK [~5 min]. Land that law decides whether good forensics matters. Agenda: legal admissibility -&gt; Nepal's legal framework (ETA 2063) -&gt; the state of cyber forensics in Nepal.</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Misconception-first: 'if it's true the court must accept it.' No — illegally obtained or mishandled evidence is excluded regardless of truth.</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~8 min. Mini case: a complainant brings only WhatsApp screenshots — what's needed before it's court-ready? Forward-link the ETA to Unit 9.</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 min. Present the Nepal ecosystem diagram. The fire-brigade analogy: sound principles, but capacity must grow with the digital population.</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ACTIVITY [~5 min].</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QUIZ [~5 min]. Land that admissibility needs legality + authenticity + integrity, and that the ETA 2063 is Nepal's main (but ageing) legal basis.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REAL-LIFE APPLICATION [~3 min] + SUMMARY [~2 min].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as a 15–20 min in-class quiz or take-home review.</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 A.</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Consolidated quiz Sections B–D. Model answers on the concept slides and in Unit8_material.md.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23.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24.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2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3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3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3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46.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Unit 8 — Digital Forensics</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IT 246: IT Ethics &amp; Cybersecurity  ·  BIM 6th Semester  ·  Sessions S38–S44</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Self-contained slides with depth: every concept grounded in comparison &amp; concrete-example TABLES (Nepal / IT localised) — no abstraction without instances. Chain of custody &amp; evidence integrity run through the whole unit. Exports to PDF with no information lost.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 / 100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DIGITAL FORENSICS  ·  S38–S44</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Unit 8 — Learning Outcomes</a:t>
            </a:r>
          </a:p>
        </p:txBody>
      </p:sp>
      <p:sp>
        <p:nvSpPr>
          <p:cNvPr id="5" name="TextBox 4"/>
          <p:cNvSpPr txBox="1"/>
          <p:nvPr/>
        </p:nvSpPr>
        <p:spPr>
          <a:xfrm>
            <a:off x="640080" y="1600200"/>
            <a:ext cx="10972800" cy="4206240"/>
          </a:xfrm>
          <a:prstGeom prst="rect">
            <a:avLst/>
          </a:prstGeom>
          <a:noFill/>
        </p:spPr>
        <p:txBody>
          <a:bodyPr wrap="square">
            <a:spAutoFit/>
          </a:bodyPr>
          <a:lstStyle/>
          <a:p>
            <a:pPr>
              <a:spcAft>
                <a:spcPts val="800"/>
              </a:spcAft>
            </a:pPr>
            <a:r>
              <a:rPr sz="1600" b="1">
                <a:solidFill>
                  <a:srgbClr val="0C2B4A"/>
                </a:solidFill>
              </a:rPr>
              <a:t>By the end of this unit, you will be able to:</a:t>
            </a:r>
          </a:p>
          <a:p>
            <a:pPr>
              <a:spcAft>
                <a:spcPts val="500"/>
              </a:spcAft>
            </a:pPr>
            <a:r>
              <a:rPr sz="1450">
                <a:solidFill>
                  <a:srgbClr val="1A1A1A"/>
                </a:solidFill>
              </a:rPr>
              <a:t>•  Define digital forensics and explain how it grew from 'computer forensics', plus its core principles (S38)</a:t>
            </a:r>
          </a:p>
          <a:p>
            <a:pPr>
              <a:spcAft>
                <a:spcPts val="500"/>
              </a:spcAft>
            </a:pPr>
            <a:r>
              <a:rPr sz="1450">
                <a:solidFill>
                  <a:srgbClr val="1A1A1A"/>
                </a:solidFill>
              </a:rPr>
              <a:t>•  Describe the six-stage forensic process: identify → preserve → collect → examine → analyse → report (S39)</a:t>
            </a:r>
          </a:p>
          <a:p>
            <a:pPr>
              <a:spcAft>
                <a:spcPts val="500"/>
              </a:spcAft>
            </a:pPr>
            <a:r>
              <a:rPr sz="1450">
                <a:solidFill>
                  <a:srgbClr val="1A1A1A"/>
                </a:solidFill>
              </a:rPr>
              <a:t>•  Explain what counts as digital evidence and describe a forensic lab's setup and tool categories (S40)</a:t>
            </a:r>
          </a:p>
          <a:p>
            <a:pPr>
              <a:spcAft>
                <a:spcPts val="500"/>
              </a:spcAft>
            </a:pPr>
            <a:r>
              <a:rPr sz="1450">
                <a:solidFill>
                  <a:srgbClr val="1A1A1A"/>
                </a:solidFill>
              </a:rPr>
              <a:t>•  Explain chain of custody and the techniques that protect integrity — write blockers, hashing, sealed storage (S41)</a:t>
            </a:r>
          </a:p>
          <a:p>
            <a:pPr>
              <a:spcAft>
                <a:spcPts val="500"/>
              </a:spcAft>
            </a:pPr>
            <a:r>
              <a:rPr sz="1450">
                <a:solidFill>
                  <a:srgbClr val="1A1A1A"/>
                </a:solidFill>
              </a:rPr>
              <a:t>•  Describe conceptually how deleted data is recovered via disk imaging and file carving (S42)</a:t>
            </a:r>
          </a:p>
          <a:p>
            <a:pPr>
              <a:spcAft>
                <a:spcPts val="500"/>
              </a:spcAft>
            </a:pPr>
            <a:r>
              <a:rPr sz="1450">
                <a:solidFill>
                  <a:srgbClr val="1A1A1A"/>
                </a:solidFill>
              </a:rPr>
              <a:t>•  Explain mobile forensics — extraction levels, challenges, and app-data sources (S43)</a:t>
            </a:r>
          </a:p>
          <a:p>
            <a:pPr>
              <a:spcAft>
                <a:spcPts val="500"/>
              </a:spcAft>
            </a:pPr>
            <a:r>
              <a:rPr sz="1450">
                <a:solidFill>
                  <a:srgbClr val="1A1A1A"/>
                </a:solidFill>
              </a:rPr>
              <a:t>•  Explain the legal admissibility of digital evidence and the state of cyber forensics in Nepal (S44)</a:t>
            </a:r>
          </a:p>
        </p:txBody>
      </p:sp>
      <p:sp>
        <p:nvSpPr>
          <p:cNvPr id="6" name="Rounded Rectangle 5"/>
          <p:cNvSpPr/>
          <p:nvPr/>
        </p:nvSpPr>
        <p:spPr>
          <a:xfrm>
            <a:off x="640080" y="5806440"/>
            <a:ext cx="10972800" cy="77724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Course context</a:t>
            </a:r>
          </a:p>
          <a:p>
            <a:pPr>
              <a:spcBef>
                <a:spcPts val="300"/>
              </a:spcBef>
            </a:pPr>
            <a:r>
              <a:rPr sz="1300">
                <a:solidFill>
                  <a:srgbClr val="1A1A1A"/>
                </a:solidFill>
              </a:rPr>
              <a:t>This is Unit 8 of IT 246 — the investigative side of cybersecurity. It turns the defence mindset of Units 5–7 toward what happens AFTER an incident: recovering evidence lawfully so it stands up in court.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 / 100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8 — ROADMAP</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Where each session fits (S38–S44)</a:t>
            </a:r>
          </a:p>
        </p:txBody>
      </p:sp>
      <p:sp>
        <p:nvSpPr>
          <p:cNvPr id="5" name="Rounded Rectangle 4"/>
          <p:cNvSpPr/>
          <p:nvPr/>
        </p:nvSpPr>
        <p:spPr>
          <a:xfrm>
            <a:off x="640080" y="1645920"/>
            <a:ext cx="5349240" cy="416052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THIS UNIT  ·  S1–S5</a:t>
            </a:r>
          </a:p>
          <a:p>
            <a:pPr>
              <a:spcBef>
                <a:spcPts val="300"/>
              </a:spcBef>
            </a:pPr>
            <a:r>
              <a:rPr sz="1400">
                <a:solidFill>
                  <a:srgbClr val="1A1A1A"/>
                </a:solidFill>
              </a:rPr>
              <a:t>S38  Intro — from computer to digital forensics
S39  The six stages of digital forensics
S40  Digital evidence · methods · the forensic lab
S41  Collecting, seizing &amp; protecting evidence
S42  Recovering data (imaging · carving)
S43  Mobile forensics
S44  Legal aspects · cyber forensics in Nepal</a:t>
            </a:r>
          </a:p>
        </p:txBody>
      </p:sp>
      <p:sp>
        <p:nvSpPr>
          <p:cNvPr id="6" name="Rounded Rectangle 5"/>
          <p:cNvSpPr/>
          <p:nvPr/>
        </p:nvSpPr>
        <p:spPr>
          <a:xfrm>
            <a:off x="6199632" y="1645920"/>
            <a:ext cx="5349240" cy="4160520"/>
          </a:xfrm>
          <a:prstGeom prst="roundRect">
            <a:avLst/>
          </a:prstGeom>
          <a:solidFill>
            <a:srgbClr val="F2F5F8"/>
          </a:solidFill>
          <a:ln w="12700">
            <a:solidFill>
              <a:srgbClr val="55606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55606B"/>
                </a:solidFill>
              </a:rPr>
              <a:t>⏭️  LATER UNITS</a:t>
            </a:r>
          </a:p>
          <a:p>
            <a:pPr>
              <a:spcBef>
                <a:spcPts val="300"/>
              </a:spcBef>
            </a:pPr>
            <a:r>
              <a:rPr sz="1400">
                <a:solidFill>
                  <a:srgbClr val="1A1A1A"/>
                </a:solidFill>
              </a:rPr>
              <a:t>Unit 9   Cyber law in Nepal (ETA 2063, IT policy)
(Unit 8 closes the cybersecurity block; Unit 9 is the legal deep-dive)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 / 100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38 · LECTURE HOUR 1 (OF 7)</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Introduction — From Computer Forensics to Digital Forensics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suspect's laptop is seized in a fraud case. An officer 'just opens it to check' — and the case collapses in court. One click destroyed the evidence. How can looking at a file BREAK it?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 / 100</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Digital Forensics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Digital forensics is the scientific process of identifying, preserving, analysing and presenting digital evidence in a way that is legally admissible. Forensics = applying science to legal questions; 'digital' = any device that stores or transmits data.</a:t>
            </a:r>
          </a:p>
          <a:p>
            <a:pPr>
              <a:spcAft>
                <a:spcPts val="500"/>
              </a:spcAft>
            </a:pPr>
            <a:r>
              <a:rPr sz="1200" b="1">
                <a:solidFill>
                  <a:srgbClr val="185FA5"/>
                </a:solidFill>
              </a:rPr>
              <a:t>HOW IT WORKS</a:t>
            </a:r>
          </a:p>
          <a:p>
            <a:pPr>
              <a:spcAft>
                <a:spcPts val="600"/>
              </a:spcAft>
            </a:pPr>
            <a:r>
              <a:rPr sz="1400">
                <a:solidFill>
                  <a:srgbClr val="1A1A1A"/>
                </a:solidFill>
              </a:rPr>
              <a:t>•  The GOAL is court-admissible proof — not just retrieving a file.</a:t>
            </a:r>
          </a:p>
          <a:p>
            <a:pPr>
              <a:spcAft>
                <a:spcPts val="600"/>
              </a:spcAft>
            </a:pPr>
            <a:r>
              <a:rPr sz="1400">
                <a:solidFill>
                  <a:srgbClr val="1A1A1A"/>
                </a:solidFill>
              </a:rPr>
              <a:t>•  It applies a repeatable, documented, scientific method so results can be defended.</a:t>
            </a:r>
          </a:p>
          <a:p>
            <a:pPr>
              <a:spcAft>
                <a:spcPts val="600"/>
              </a:spcAft>
            </a:pPr>
            <a:r>
              <a:rPr sz="1400">
                <a:solidFill>
                  <a:srgbClr val="1A1A1A"/>
                </a:solidFill>
              </a:rPr>
              <a:t>•  'Digital' now covers PCs, phones, servers, cloud accounts, IoT and vehicles.</a:t>
            </a:r>
          </a:p>
          <a:p>
            <a:pPr>
              <a:spcAft>
                <a:spcPts val="600"/>
              </a:spcAft>
            </a:pPr>
            <a:r>
              <a:rPr sz="1400">
                <a:solidFill>
                  <a:srgbClr val="1A1A1A"/>
                </a:solidFill>
              </a:rPr>
              <a:t>•  The original must be protected; investigators reason from evidence, not hunches.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Forensics = science applied to law; the target is admissible proof, not just recovered data.</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 / 100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Data recovery vs digital forensics — same file, different discipline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449285"/>
                <a:gridCol w="4245428"/>
                <a:gridCol w="4735285"/>
              </a:tblGrid>
              <a:tr h="630936">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Plain data recovery</a:t>
                      </a:r>
                    </a:p>
                  </a:txBody>
                  <a:tcPr anchor="ctr" marL="73152" marR="54864" marT="27432" marB="27432">
                    <a:solidFill>
                      <a:srgbClr val="0C2B4A"/>
                    </a:solidFill>
                  </a:tcPr>
                </a:tc>
                <a:tc>
                  <a:txBody>
                    <a:bodyPr wrap="square"/>
                    <a:lstStyle/>
                    <a:p>
                      <a:r>
                        <a:rPr sz="1150" b="1">
                          <a:solidFill>
                            <a:srgbClr val="FFFFFF"/>
                          </a:solidFill>
                        </a:rPr>
                        <a:t>Digital forensics</a:t>
                      </a:r>
                    </a:p>
                  </a:txBody>
                  <a:tcPr anchor="ctr" marL="73152" marR="54864" marT="27432" marB="27432">
                    <a:solidFill>
                      <a:srgbClr val="0C2B4A"/>
                    </a:solidFill>
                  </a:tcPr>
                </a:tc>
              </a:tr>
              <a:tr h="630936">
                <a:tc>
                  <a:txBody>
                    <a:bodyPr wrap="square"/>
                    <a:lstStyle/>
                    <a:p>
                      <a:r>
                        <a:rPr sz="1100" b="1">
                          <a:solidFill>
                            <a:srgbClr val="0C2B4A"/>
                          </a:solidFill>
                        </a:rPr>
                        <a:t>Goal</a:t>
                      </a:r>
                    </a:p>
                  </a:txBody>
                  <a:tcPr anchor="ctr" marL="73152" marR="54864" marT="27432" marB="27432">
                    <a:solidFill>
                      <a:srgbClr val="FFFFFF"/>
                    </a:solidFill>
                  </a:tcPr>
                </a:tc>
                <a:tc>
                  <a:txBody>
                    <a:bodyPr wrap="square"/>
                    <a:lstStyle/>
                    <a:p>
                      <a:r>
                        <a:rPr sz="1100">
                          <a:solidFill>
                            <a:srgbClr val="1A1A1A"/>
                          </a:solidFill>
                        </a:rPr>
                        <a:t>Get the file back</a:t>
                      </a:r>
                    </a:p>
                  </a:txBody>
                  <a:tcPr anchor="ctr" marL="73152" marR="54864" marT="27432" marB="27432">
                    <a:solidFill>
                      <a:srgbClr val="FFFFFF"/>
                    </a:solidFill>
                  </a:tcPr>
                </a:tc>
                <a:tc>
                  <a:txBody>
                    <a:bodyPr wrap="square"/>
                    <a:lstStyle/>
                    <a:p>
                      <a:r>
                        <a:rPr sz="1100">
                          <a:solidFill>
                            <a:srgbClr val="1A1A1A"/>
                          </a:solidFill>
                        </a:rPr>
                        <a:t>Court-admissible proof</a:t>
                      </a:r>
                    </a:p>
                  </a:txBody>
                  <a:tcPr anchor="ctr" marL="73152" marR="54864" marT="27432" marB="27432">
                    <a:solidFill>
                      <a:srgbClr val="FFFFFF"/>
                    </a:solidFill>
                  </a:tcPr>
                </a:tc>
              </a:tr>
              <a:tr h="630936">
                <a:tc>
                  <a:txBody>
                    <a:bodyPr wrap="square"/>
                    <a:lstStyle/>
                    <a:p>
                      <a:r>
                        <a:rPr sz="1100" b="1">
                          <a:solidFill>
                            <a:srgbClr val="0C2B4A"/>
                          </a:solidFill>
                        </a:rPr>
                        <a:t>Original</a:t>
                      </a:r>
                    </a:p>
                  </a:txBody>
                  <a:tcPr anchor="ctr" marL="73152" marR="54864" marT="27432" marB="27432">
                    <a:solidFill>
                      <a:srgbClr val="EEF3F8"/>
                    </a:solidFill>
                  </a:tcPr>
                </a:tc>
                <a:tc>
                  <a:txBody>
                    <a:bodyPr wrap="square"/>
                    <a:lstStyle/>
                    <a:p>
                      <a:r>
                        <a:rPr sz="1100">
                          <a:solidFill>
                            <a:srgbClr val="1A1A1A"/>
                          </a:solidFill>
                        </a:rPr>
                        <a:t>May write to / repair it</a:t>
                      </a:r>
                    </a:p>
                  </a:txBody>
                  <a:tcPr anchor="ctr" marL="73152" marR="54864" marT="27432" marB="27432">
                    <a:solidFill>
                      <a:srgbClr val="EEF3F8"/>
                    </a:solidFill>
                  </a:tcPr>
                </a:tc>
                <a:tc>
                  <a:txBody>
                    <a:bodyPr wrap="square"/>
                    <a:lstStyle/>
                    <a:p>
                      <a:r>
                        <a:rPr sz="1100">
                          <a:solidFill>
                            <a:srgbClr val="1A1A1A"/>
                          </a:solidFill>
                        </a:rPr>
                        <a:t>Never alter — work on a hashed copy</a:t>
                      </a:r>
                    </a:p>
                  </a:txBody>
                  <a:tcPr anchor="ctr" marL="73152" marR="54864" marT="27432" marB="27432">
                    <a:solidFill>
                      <a:srgbClr val="EEF3F8"/>
                    </a:solidFill>
                  </a:tcPr>
                </a:tc>
              </a:tr>
              <a:tr h="630936">
                <a:tc>
                  <a:txBody>
                    <a:bodyPr wrap="square"/>
                    <a:lstStyle/>
                    <a:p>
                      <a:r>
                        <a:rPr sz="1100" b="1">
                          <a:solidFill>
                            <a:srgbClr val="0C2B4A"/>
                          </a:solidFill>
                        </a:rPr>
                        <a:t>Documentation</a:t>
                      </a:r>
                    </a:p>
                  </a:txBody>
                  <a:tcPr anchor="ctr" marL="73152" marR="54864" marT="27432" marB="27432">
                    <a:solidFill>
                      <a:srgbClr val="FFFFFF"/>
                    </a:solidFill>
                  </a:tcPr>
                </a:tc>
                <a:tc>
                  <a:txBody>
                    <a:bodyPr wrap="square"/>
                    <a:lstStyle/>
                    <a:p>
                      <a:r>
                        <a:rPr sz="1100">
                          <a:solidFill>
                            <a:srgbClr val="1A1A1A"/>
                          </a:solidFill>
                        </a:rPr>
                        <a:t>Optional</a:t>
                      </a:r>
                    </a:p>
                  </a:txBody>
                  <a:tcPr anchor="ctr" marL="73152" marR="54864" marT="27432" marB="27432">
                    <a:solidFill>
                      <a:srgbClr val="FFFFFF"/>
                    </a:solidFill>
                  </a:tcPr>
                </a:tc>
                <a:tc>
                  <a:txBody>
                    <a:bodyPr wrap="square"/>
                    <a:lstStyle/>
                    <a:p>
                      <a:r>
                        <a:rPr sz="1100">
                          <a:solidFill>
                            <a:srgbClr val="1A1A1A"/>
                          </a:solidFill>
                        </a:rPr>
                        <a:t>Every step logged (chain of custody)</a:t>
                      </a:r>
                    </a:p>
                  </a:txBody>
                  <a:tcPr anchor="ctr" marL="73152" marR="54864" marT="27432" marB="27432">
                    <a:solidFill>
                      <a:srgbClr val="FFFFFF"/>
                    </a:solidFill>
                  </a:tcPr>
                </a:tc>
              </a:tr>
              <a:tr h="630936">
                <a:tc>
                  <a:txBody>
                    <a:bodyPr wrap="square"/>
                    <a:lstStyle/>
                    <a:p>
                      <a:r>
                        <a:rPr sz="1100" b="1">
                          <a:solidFill>
                            <a:srgbClr val="0C2B4A"/>
                          </a:solidFill>
                        </a:rPr>
                        <a:t>Method</a:t>
                      </a:r>
                    </a:p>
                  </a:txBody>
                  <a:tcPr anchor="ctr" marL="73152" marR="54864" marT="27432" marB="27432">
                    <a:solidFill>
                      <a:srgbClr val="EEF3F8"/>
                    </a:solidFill>
                  </a:tcPr>
                </a:tc>
                <a:tc>
                  <a:txBody>
                    <a:bodyPr wrap="square"/>
                    <a:lstStyle/>
                    <a:p>
                      <a:r>
                        <a:rPr sz="1100">
                          <a:solidFill>
                            <a:srgbClr val="1A1A1A"/>
                          </a:solidFill>
                        </a:rPr>
                        <a:t>Whatever works</a:t>
                      </a:r>
                    </a:p>
                  </a:txBody>
                  <a:tcPr anchor="ctr" marL="73152" marR="54864" marT="27432" marB="27432">
                    <a:solidFill>
                      <a:srgbClr val="EEF3F8"/>
                    </a:solidFill>
                  </a:tcPr>
                </a:tc>
                <a:tc>
                  <a:txBody>
                    <a:bodyPr wrap="square"/>
                    <a:lstStyle/>
                    <a:p>
                      <a:r>
                        <a:rPr sz="1100">
                          <a:solidFill>
                            <a:srgbClr val="1A1A1A"/>
                          </a:solidFill>
                        </a:rPr>
                        <a:t>Repeatable, defensible, scientific</a:t>
                      </a:r>
                    </a:p>
                  </a:txBody>
                  <a:tcPr anchor="ctr" marL="73152" marR="54864" marT="27432" marB="27432">
                    <a:solidFill>
                      <a:srgbClr val="EEF3F8"/>
                    </a:solidFill>
                  </a:tcPr>
                </a:tc>
              </a:tr>
              <a:tr h="630936">
                <a:tc>
                  <a:txBody>
                    <a:bodyPr wrap="square"/>
                    <a:lstStyle/>
                    <a:p>
                      <a:r>
                        <a:rPr sz="1100" b="1">
                          <a:solidFill>
                            <a:srgbClr val="0C2B4A"/>
                          </a:solidFill>
                        </a:rPr>
                        <a:t>Output</a:t>
                      </a:r>
                    </a:p>
                  </a:txBody>
                  <a:tcPr anchor="ctr" marL="73152" marR="54864" marT="27432" marB="27432">
                    <a:solidFill>
                      <a:srgbClr val="FFFFFF"/>
                    </a:solidFill>
                  </a:tcPr>
                </a:tc>
                <a:tc>
                  <a:txBody>
                    <a:bodyPr wrap="square"/>
                    <a:lstStyle/>
                    <a:p>
                      <a:r>
                        <a:rPr sz="1100">
                          <a:solidFill>
                            <a:srgbClr val="1A1A1A"/>
                          </a:solidFill>
                        </a:rPr>
                        <a:t>The recovered data</a:t>
                      </a:r>
                    </a:p>
                  </a:txBody>
                  <a:tcPr anchor="ctr" marL="73152" marR="54864" marT="27432" marB="27432">
                    <a:solidFill>
                      <a:srgbClr val="FFFFFF"/>
                    </a:solidFill>
                  </a:tcPr>
                </a:tc>
                <a:tc>
                  <a:txBody>
                    <a:bodyPr wrap="square"/>
                    <a:lstStyle/>
                    <a:p>
                      <a:r>
                        <a:rPr sz="1100">
                          <a:solidFill>
                            <a:srgbClr val="1A1A1A"/>
                          </a:solidFill>
                        </a:rPr>
                        <a:t>A report a judge can rely on</a:t>
                      </a:r>
                    </a:p>
                  </a:txBody>
                  <a:tcPr anchor="ctr" marL="73152" marR="54864" marT="27432" marB="27432">
                    <a:solidFill>
                      <a:srgbClr val="FFFFFF"/>
                    </a:solidFill>
                  </a:tcPr>
                </a:tc>
              </a:tr>
              <a:tr h="630936">
                <a:tc>
                  <a:txBody>
                    <a:bodyPr wrap="square"/>
                    <a:lstStyle/>
                    <a:p>
                      <a:r>
                        <a:rPr sz="1100" b="1">
                          <a:solidFill>
                            <a:srgbClr val="0C2B4A"/>
                          </a:solidFill>
                        </a:rPr>
                        <a:t>Who uses it</a:t>
                      </a:r>
                    </a:p>
                  </a:txBody>
                  <a:tcPr anchor="ctr" marL="73152" marR="54864" marT="27432" marB="27432">
                    <a:solidFill>
                      <a:srgbClr val="EEF3F8"/>
                    </a:solidFill>
                  </a:tcPr>
                </a:tc>
                <a:tc>
                  <a:txBody>
                    <a:bodyPr wrap="square"/>
                    <a:lstStyle/>
                    <a:p>
                      <a:r>
                        <a:rPr sz="1100">
                          <a:solidFill>
                            <a:srgbClr val="1A1A1A"/>
                          </a:solidFill>
                        </a:rPr>
                        <a:t>IT support</a:t>
                      </a:r>
                    </a:p>
                  </a:txBody>
                  <a:tcPr anchor="ctr" marL="73152" marR="54864" marT="27432" marB="27432">
                    <a:solidFill>
                      <a:srgbClr val="EEF3F8"/>
                    </a:solidFill>
                  </a:tcPr>
                </a:tc>
                <a:tc>
                  <a:txBody>
                    <a:bodyPr wrap="square"/>
                    <a:lstStyle/>
                    <a:p>
                      <a:r>
                        <a:rPr sz="1100">
                          <a:solidFill>
                            <a:srgbClr val="1A1A1A"/>
                          </a:solidFill>
                        </a:rPr>
                        <a:t>Cyber Bureau, courts, investigators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Forensics is NOT 'IT support that finds files'. The extra discipline — no alteration, full documentation, repeatability — is exactly what makes the result usable in court.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 / 100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Is Digital Forensics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 Police Cyber Bureau (established 2018, Bhotahity, Kathmandu) analyses seized devices in online-fraud and social-media-abuse cases. It does not merely 'recover files' — it preserves, hashes and documents so the evidence survives a courtroom challenge.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"Forensics is just data recovery / IT support." No — the goal is legally admissible proof, not simply retrieving files. Casual recovery that alters the original or skips documentation destroys the evidential value even when the data is found.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forensics is the scientific process of identifying, preserving, analysing and presenting digital evidence in a legally admissible way. It applies science to legal questions across any device that stores or transmits data, and its defining goal is court-admissible proof — achieved through a repeatable, documented method that never alters the original.</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digital forensics · admissible evidence · science + law · do not alter the original · Cyber Bureau</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 / 100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From Computer Forensics to Digital Forensics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field broadened from desktop hard disks to phones, cloud, IoT, network traffic and vehicles. 'Computer forensics' (1980s–90s, a single PC) grew into 'digital forensics' — multi-device, networked, cloud-connected, and mobile-dominant today.</a:t>
            </a:r>
          </a:p>
          <a:p>
            <a:pPr>
              <a:spcAft>
                <a:spcPts val="500"/>
              </a:spcAft>
            </a:pPr>
            <a:r>
              <a:rPr sz="1200" b="1">
                <a:solidFill>
                  <a:srgbClr val="185FA5"/>
                </a:solidFill>
              </a:rPr>
              <a:t>HOW IT WORKS</a:t>
            </a:r>
          </a:p>
          <a:p>
            <a:pPr>
              <a:spcAft>
                <a:spcPts val="600"/>
              </a:spcAft>
            </a:pPr>
            <a:r>
              <a:rPr sz="1400">
                <a:solidFill>
                  <a:srgbClr val="1A1A1A"/>
                </a:solidFill>
              </a:rPr>
              <a:t>•  Early era: one PC, one hard disk, seized and imaged in a lab.</a:t>
            </a:r>
          </a:p>
          <a:p>
            <a:pPr>
              <a:spcAft>
                <a:spcPts val="600"/>
              </a:spcAft>
            </a:pPr>
            <a:r>
              <a:rPr sz="1400">
                <a:solidFill>
                  <a:srgbClr val="1A1A1A"/>
                </a:solidFill>
              </a:rPr>
              <a:t>•  Then networks, email and servers added remote and volatile evidence.</a:t>
            </a:r>
          </a:p>
          <a:p>
            <a:pPr>
              <a:spcAft>
                <a:spcPts val="600"/>
              </a:spcAft>
            </a:pPr>
            <a:r>
              <a:rPr sz="1400">
                <a:solidFill>
                  <a:srgbClr val="1A1A1A"/>
                </a:solidFill>
              </a:rPr>
              <a:t>•  Today evidence is mostly on phones and apps, with cloud copies elsewhere.</a:t>
            </a:r>
          </a:p>
          <a:p>
            <a:pPr>
              <a:spcAft>
                <a:spcPts val="600"/>
              </a:spcAft>
            </a:pPr>
            <a:r>
              <a:rPr sz="1400">
                <a:solidFill>
                  <a:srgbClr val="1A1A1A"/>
                </a:solidFill>
              </a:rPr>
              <a:t>•  New sources keep arriving: IoT devices, smart TVs, cars and wearables.</a:t>
            </a:r>
          </a:p>
        </p:txBody>
      </p:sp>
      <p:pic>
        <p:nvPicPr>
          <p:cNvPr id="6" name="Picture 5" descr="s38_timeline.png"/>
          <p:cNvPicPr>
            <a:picLocks noChangeAspect="1"/>
          </p:cNvPicPr>
          <p:nvPr/>
        </p:nvPicPr>
        <p:blipFill>
          <a:blip r:embed="rId2"/>
          <a:stretch>
            <a:fillRect/>
          </a:stretch>
        </p:blipFill>
        <p:spPr>
          <a:xfrm>
            <a:off x="6355080" y="2640866"/>
            <a:ext cx="5532120" cy="2353508"/>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Computer forensics (one PC) grew into digital forensics (phones, cloud, IoT, networks).</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 / 100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the evidence source shifted — old assumption vs today (Nepal)</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4729"/>
                <a:gridCol w="4015945"/>
                <a:gridCol w="4479324"/>
              </a:tblGrid>
              <a:tr h="630936">
                <a:tc>
                  <a:txBody>
                    <a:bodyPr wrap="square"/>
                    <a:lstStyle/>
                    <a:p>
                      <a:r>
                        <a:rPr sz="1150" b="1">
                          <a:solidFill>
                            <a:srgbClr val="FFFFFF"/>
                          </a:solidFill>
                        </a:rPr>
                        <a:t>Case type</a:t>
                      </a:r>
                    </a:p>
                  </a:txBody>
                  <a:tcPr anchor="ctr" marL="73152" marR="54864" marT="27432" marB="27432">
                    <a:solidFill>
                      <a:srgbClr val="0C2B4A"/>
                    </a:solidFill>
                  </a:tcPr>
                </a:tc>
                <a:tc>
                  <a:txBody>
                    <a:bodyPr wrap="square"/>
                    <a:lstStyle/>
                    <a:p>
                      <a:r>
                        <a:rPr sz="1150" b="1">
                          <a:solidFill>
                            <a:srgbClr val="FFFFFF"/>
                          </a:solidFill>
                        </a:rPr>
                        <a:t>Old assumption (computer era)</a:t>
                      </a:r>
                    </a:p>
                  </a:txBody>
                  <a:tcPr anchor="ctr" marL="73152" marR="54864" marT="27432" marB="27432">
                    <a:solidFill>
                      <a:srgbClr val="0C2B4A"/>
                    </a:solidFill>
                  </a:tcPr>
                </a:tc>
                <a:tc>
                  <a:txBody>
                    <a:bodyPr wrap="square"/>
                    <a:lstStyle/>
                    <a:p>
                      <a:r>
                        <a:rPr sz="1150" b="1">
                          <a:solidFill>
                            <a:srgbClr val="FFFFFF"/>
                          </a:solidFill>
                        </a:rPr>
                        <a:t>Today's reality (digital era)</a:t>
                      </a:r>
                    </a:p>
                  </a:txBody>
                  <a:tcPr anchor="ctr" marL="73152" marR="54864" marT="27432" marB="27432">
                    <a:solidFill>
                      <a:srgbClr val="0C2B4A"/>
                    </a:solidFill>
                  </a:tcPr>
                </a:tc>
              </a:tr>
              <a:tr h="630936">
                <a:tc>
                  <a:txBody>
                    <a:bodyPr wrap="square"/>
                    <a:lstStyle/>
                    <a:p>
                      <a:r>
                        <a:rPr sz="1100" b="1">
                          <a:solidFill>
                            <a:srgbClr val="0C2B4A"/>
                          </a:solidFill>
                        </a:rPr>
                        <a:t>Online fraud</a:t>
                      </a:r>
                    </a:p>
                  </a:txBody>
                  <a:tcPr anchor="ctr" marL="73152" marR="54864" marT="27432" marB="27432">
                    <a:solidFill>
                      <a:srgbClr val="FFFFFF"/>
                    </a:solidFill>
                  </a:tcPr>
                </a:tc>
                <a:tc>
                  <a:txBody>
                    <a:bodyPr wrap="square"/>
                    <a:lstStyle/>
                    <a:p>
                      <a:r>
                        <a:rPr sz="1100">
                          <a:solidFill>
                            <a:srgbClr val="1A1A1A"/>
                          </a:solidFill>
                        </a:rPr>
                        <a:t>Desktop PC with account files</a:t>
                      </a:r>
                    </a:p>
                  </a:txBody>
                  <a:tcPr anchor="ctr" marL="73152" marR="54864" marT="27432" marB="27432">
                    <a:solidFill>
                      <a:srgbClr val="FFFFFF"/>
                    </a:solidFill>
                  </a:tcPr>
                </a:tc>
                <a:tc>
                  <a:txBody>
                    <a:bodyPr wrap="square"/>
                    <a:lstStyle/>
                    <a:p>
                      <a:r>
                        <a:rPr sz="1100">
                          <a:solidFill>
                            <a:srgbClr val="1A1A1A"/>
                          </a:solidFill>
                        </a:rPr>
                        <a:t>eSewa/Khalti + phone + bank app data</a:t>
                      </a:r>
                    </a:p>
                  </a:txBody>
                  <a:tcPr anchor="ctr" marL="73152" marR="54864" marT="27432" marB="27432">
                    <a:solidFill>
                      <a:srgbClr val="FFFFFF"/>
                    </a:solidFill>
                  </a:tcPr>
                </a:tc>
              </a:tr>
              <a:tr h="630936">
                <a:tc>
                  <a:txBody>
                    <a:bodyPr wrap="square"/>
                    <a:lstStyle/>
                    <a:p>
                      <a:r>
                        <a:rPr sz="1100" b="1">
                          <a:solidFill>
                            <a:srgbClr val="0C2B4A"/>
                          </a:solidFill>
                        </a:rPr>
                        <a:t>Harassment / abuse</a:t>
                      </a:r>
                    </a:p>
                  </a:txBody>
                  <a:tcPr anchor="ctr" marL="73152" marR="54864" marT="27432" marB="27432">
                    <a:solidFill>
                      <a:srgbClr val="EEF3F8"/>
                    </a:solidFill>
                  </a:tcPr>
                </a:tc>
                <a:tc>
                  <a:txBody>
                    <a:bodyPr wrap="square"/>
                    <a:lstStyle/>
                    <a:p>
                      <a:r>
                        <a:rPr sz="1100">
                          <a:solidFill>
                            <a:srgbClr val="1A1A1A"/>
                          </a:solidFill>
                        </a:rPr>
                        <a:t>Emails on a work PC</a:t>
                      </a:r>
                    </a:p>
                  </a:txBody>
                  <a:tcPr anchor="ctr" marL="73152" marR="54864" marT="27432" marB="27432">
                    <a:solidFill>
                      <a:srgbClr val="EEF3F8"/>
                    </a:solidFill>
                  </a:tcPr>
                </a:tc>
                <a:tc>
                  <a:txBody>
                    <a:bodyPr wrap="square"/>
                    <a:lstStyle/>
                    <a:p>
                      <a:r>
                        <a:rPr sz="1100">
                          <a:solidFill>
                            <a:srgbClr val="1A1A1A"/>
                          </a:solidFill>
                        </a:rPr>
                        <a:t>Facebook, Messenger, TikTok, WhatsApp chats</a:t>
                      </a:r>
                    </a:p>
                  </a:txBody>
                  <a:tcPr anchor="ctr" marL="73152" marR="54864" marT="27432" marB="27432">
                    <a:solidFill>
                      <a:srgbClr val="EEF3F8"/>
                    </a:solidFill>
                  </a:tcPr>
                </a:tc>
              </a:tr>
              <a:tr h="630936">
                <a:tc>
                  <a:txBody>
                    <a:bodyPr wrap="square"/>
                    <a:lstStyle/>
                    <a:p>
                      <a:r>
                        <a:rPr sz="1100" b="1">
                          <a:solidFill>
                            <a:srgbClr val="0C2B4A"/>
                          </a:solidFill>
                        </a:rPr>
                        <a:t>Blackmail / sextortion</a:t>
                      </a:r>
                    </a:p>
                  </a:txBody>
                  <a:tcPr anchor="ctr" marL="73152" marR="54864" marT="27432" marB="27432">
                    <a:solidFill>
                      <a:srgbClr val="FFFFFF"/>
                    </a:solidFill>
                  </a:tcPr>
                </a:tc>
                <a:tc>
                  <a:txBody>
                    <a:bodyPr wrap="square"/>
                    <a:lstStyle/>
                    <a:p>
                      <a:r>
                        <a:rPr sz="1100">
                          <a:solidFill>
                            <a:srgbClr val="1A1A1A"/>
                          </a:solidFill>
                        </a:rPr>
                        <a:t>Local image files on a disk</a:t>
                      </a:r>
                    </a:p>
                  </a:txBody>
                  <a:tcPr anchor="ctr" marL="73152" marR="54864" marT="27432" marB="27432">
                    <a:solidFill>
                      <a:srgbClr val="FFFFFF"/>
                    </a:solidFill>
                  </a:tcPr>
                </a:tc>
                <a:tc>
                  <a:txBody>
                    <a:bodyPr wrap="square"/>
                    <a:lstStyle/>
                    <a:p>
                      <a:r>
                        <a:rPr sz="1100">
                          <a:solidFill>
                            <a:srgbClr val="1A1A1A"/>
                          </a:solidFill>
                        </a:rPr>
                        <a:t>Phone gallery + cloud backup + chat apps</a:t>
                      </a:r>
                    </a:p>
                  </a:txBody>
                  <a:tcPr anchor="ctr" marL="73152" marR="54864" marT="27432" marB="27432">
                    <a:solidFill>
                      <a:srgbClr val="FFFFFF"/>
                    </a:solidFill>
                  </a:tcPr>
                </a:tc>
              </a:tr>
              <a:tr h="630936">
                <a:tc>
                  <a:txBody>
                    <a:bodyPr wrap="square"/>
                    <a:lstStyle/>
                    <a:p>
                      <a:r>
                        <a:rPr sz="1100" b="1">
                          <a:solidFill>
                            <a:srgbClr val="0C2B4A"/>
                          </a:solidFill>
                        </a:rPr>
                        <a:t>Financial scam</a:t>
                      </a:r>
                    </a:p>
                  </a:txBody>
                  <a:tcPr anchor="ctr" marL="73152" marR="54864" marT="27432" marB="27432">
                    <a:solidFill>
                      <a:srgbClr val="EEF3F8"/>
                    </a:solidFill>
                  </a:tcPr>
                </a:tc>
                <a:tc>
                  <a:txBody>
                    <a:bodyPr wrap="square"/>
                    <a:lstStyle/>
                    <a:p>
                      <a:r>
                        <a:rPr sz="1100">
                          <a:solidFill>
                            <a:srgbClr val="1A1A1A"/>
                          </a:solidFill>
                        </a:rPr>
                        <a:t>Spreadsheet on one computer</a:t>
                      </a:r>
                    </a:p>
                  </a:txBody>
                  <a:tcPr anchor="ctr" marL="73152" marR="54864" marT="27432" marB="27432">
                    <a:solidFill>
                      <a:srgbClr val="EEF3F8"/>
                    </a:solidFill>
                  </a:tcPr>
                </a:tc>
                <a:tc>
                  <a:txBody>
                    <a:bodyPr wrap="square"/>
                    <a:lstStyle/>
                    <a:p>
                      <a:r>
                        <a:rPr sz="1100">
                          <a:solidFill>
                            <a:srgbClr val="1A1A1A"/>
                          </a:solidFill>
                        </a:rPr>
                        <a:t>Mobile wallets, SMS OTPs, CDRs from NTC/Ncell</a:t>
                      </a:r>
                    </a:p>
                  </a:txBody>
                  <a:tcPr anchor="ctr" marL="73152" marR="54864" marT="27432" marB="27432">
                    <a:solidFill>
                      <a:srgbClr val="EEF3F8"/>
                    </a:solidFill>
                  </a:tcPr>
                </a:tc>
              </a:tr>
              <a:tr h="630936">
                <a:tc>
                  <a:txBody>
                    <a:bodyPr wrap="square"/>
                    <a:lstStyle/>
                    <a:p>
                      <a:r>
                        <a:rPr sz="1100" b="1">
                          <a:solidFill>
                            <a:srgbClr val="0C2B4A"/>
                          </a:solidFill>
                        </a:rPr>
                        <a:t>Fake profile / defamation</a:t>
                      </a:r>
                    </a:p>
                  </a:txBody>
                  <a:tcPr anchor="ctr" marL="73152" marR="54864" marT="27432" marB="27432">
                    <a:solidFill>
                      <a:srgbClr val="FFFFFF"/>
                    </a:solidFill>
                  </a:tcPr>
                </a:tc>
                <a:tc>
                  <a:txBody>
                    <a:bodyPr wrap="square"/>
                    <a:lstStyle/>
                    <a:p>
                      <a:r>
                        <a:rPr sz="1100">
                          <a:solidFill>
                            <a:srgbClr val="1A1A1A"/>
                          </a:solidFill>
                        </a:rPr>
                        <a:t>A single machine's browser history</a:t>
                      </a:r>
                    </a:p>
                  </a:txBody>
                  <a:tcPr anchor="ctr" marL="73152" marR="54864" marT="27432" marB="27432">
                    <a:solidFill>
                      <a:srgbClr val="FFFFFF"/>
                    </a:solidFill>
                  </a:tcPr>
                </a:tc>
                <a:tc>
                  <a:txBody>
                    <a:bodyPr wrap="square"/>
                    <a:lstStyle/>
                    <a:p>
                      <a:r>
                        <a:rPr sz="1100">
                          <a:solidFill>
                            <a:srgbClr val="1A1A1A"/>
                          </a:solidFill>
                        </a:rPr>
                        <a:t>Social-media accounts hosted abroad (cloud)</a:t>
                      </a:r>
                    </a:p>
                  </a:txBody>
                  <a:tcPr anchor="ctr" marL="73152" marR="54864" marT="27432" marB="27432">
                    <a:solidFill>
                      <a:srgbClr val="FFFFFF"/>
                    </a:solidFill>
                  </a:tcPr>
                </a:tc>
              </a:tr>
              <a:tr h="630936">
                <a:tc>
                  <a:txBody>
                    <a:bodyPr wrap="square"/>
                    <a:lstStyle/>
                    <a:p>
                      <a:r>
                        <a:rPr sz="1100" b="1">
                          <a:solidFill>
                            <a:srgbClr val="0C2B4A"/>
                          </a:solidFill>
                        </a:rPr>
                        <a:t>Data theft by an insider</a:t>
                      </a:r>
                    </a:p>
                  </a:txBody>
                  <a:tcPr anchor="ctr" marL="73152" marR="54864" marT="27432" marB="27432">
                    <a:solidFill>
                      <a:srgbClr val="EEF3F8"/>
                    </a:solidFill>
                  </a:tcPr>
                </a:tc>
                <a:tc>
                  <a:txBody>
                    <a:bodyPr wrap="square"/>
                    <a:lstStyle/>
                    <a:p>
                      <a:r>
                        <a:rPr sz="1100">
                          <a:solidFill>
                            <a:srgbClr val="1A1A1A"/>
                          </a:solidFill>
                        </a:rPr>
                        <a:t>USB copied at a desk</a:t>
                      </a:r>
                    </a:p>
                  </a:txBody>
                  <a:tcPr anchor="ctr" marL="73152" marR="54864" marT="27432" marB="27432">
                    <a:solidFill>
                      <a:srgbClr val="EEF3F8"/>
                    </a:solidFill>
                  </a:tcPr>
                </a:tc>
                <a:tc>
                  <a:txBody>
                    <a:bodyPr wrap="square"/>
                    <a:lstStyle/>
                    <a:p>
                      <a:r>
                        <a:rPr sz="1100">
                          <a:solidFill>
                            <a:srgbClr val="1A1A1A"/>
                          </a:solidFill>
                        </a:rPr>
                        <a:t>Cloud sync, personal phone, webmail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In Nepal most cases now hinge on phones, apps and cloud — not desktop PCs. 'Image the hard drive' is no longer the default; the investigator must follow the data wherever it now lives.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 / 100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From Computer Forensics to Digital Forensics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Nepali cases now hinge far more on Facebook/TikTok/WhatsApp/Viber and mobile phones than on desktop PCs. A single seized smartphone can hold chats, location history, wallet transactions and cloud-linked backups — the crime scene moved into the pocket.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"Digital forensics just means examining a computer's hard drive." That was the 1990s. Evidence now lives on phones, in the cloud, and across networks and IoT — a modern investigator who only knows disk imaging misses most of the evidence.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field broadened from 'computer forensics' (1980s–90s, a single desktop hard disk) to 'digital forensics' — multi-device, networked, cloud-connected and mobile-dominant. The shift happened because evidence moved off the PC and onto phones, apps, cloud accounts, IoT and vehicles, so investigators must follow data wherever it lives, not just image a hard drive.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computer→digital forensics · multi-device · mobile-dominant · cloud &amp; IoT · follow the data</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10 / 100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Core Principles of Digital Forensics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core principles: don't alter the original; work on copies; document everything; maintain chain of custody; and ensure repeatability. ACPO-style rules say actions taken must not change the data — and if originals must be accessed, the person must be competent and explain why.</a:t>
            </a:r>
          </a:p>
          <a:p>
            <a:pPr>
              <a:spcAft>
                <a:spcPts val="500"/>
              </a:spcAft>
            </a:pPr>
            <a:r>
              <a:rPr sz="1200" b="1">
                <a:solidFill>
                  <a:srgbClr val="185FA5"/>
                </a:solidFill>
              </a:rPr>
              <a:t>HOW IT WORKS</a:t>
            </a:r>
          </a:p>
          <a:p>
            <a:pPr>
              <a:spcAft>
                <a:spcPts val="600"/>
              </a:spcAft>
            </a:pPr>
            <a:r>
              <a:rPr sz="1400">
                <a:solidFill>
                  <a:srgbClr val="1A1A1A"/>
                </a:solidFill>
              </a:rPr>
              <a:t>•  Principle 1: no action should change the evidence (the golden rule).</a:t>
            </a:r>
          </a:p>
          <a:p>
            <a:pPr>
              <a:spcAft>
                <a:spcPts val="600"/>
              </a:spcAft>
            </a:pPr>
            <a:r>
              <a:rPr sz="1400">
                <a:solidFill>
                  <a:srgbClr val="1A1A1A"/>
                </a:solidFill>
              </a:rPr>
              <a:t>•  Principle 2: if you must access the original, be competent and record why.</a:t>
            </a:r>
          </a:p>
          <a:p>
            <a:pPr>
              <a:spcAft>
                <a:spcPts val="600"/>
              </a:spcAft>
            </a:pPr>
            <a:r>
              <a:rPr sz="1400">
                <a:solidFill>
                  <a:srgbClr val="1A1A1A"/>
                </a:solidFill>
              </a:rPr>
              <a:t>•  Principle 3: keep an audit trail — another expert could repeat your steps.</a:t>
            </a:r>
          </a:p>
          <a:p>
            <a:pPr>
              <a:spcAft>
                <a:spcPts val="600"/>
              </a:spcAft>
            </a:pPr>
            <a:r>
              <a:rPr sz="1400">
                <a:solidFill>
                  <a:srgbClr val="1A1A1A"/>
                </a:solidFill>
              </a:rPr>
              <a:t>•  Principle 4: the lead investigator is responsible for compliance throughout.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digital crime scene is a footprint in sand — walking over it to 'look closer' destroys 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11 / 100</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core principles — what each means and why it matters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4729"/>
                <a:gridCol w="4633783"/>
                <a:gridCol w="3861486"/>
              </a:tblGrid>
              <a:tr h="630936">
                <a:tc>
                  <a:txBody>
                    <a:bodyPr wrap="square"/>
                    <a:lstStyle/>
                    <a:p>
                      <a:r>
                        <a:rPr sz="1150" b="1">
                          <a:solidFill>
                            <a:srgbClr val="FFFFFF"/>
                          </a:solidFill>
                        </a:rPr>
                        <a:t>Principle</a:t>
                      </a:r>
                    </a:p>
                  </a:txBody>
                  <a:tcPr anchor="ctr" marL="73152" marR="54864" marT="27432" marB="27432">
                    <a:solidFill>
                      <a:srgbClr val="0C2B4A"/>
                    </a:solidFill>
                  </a:tcPr>
                </a:tc>
                <a:tc>
                  <a:txBody>
                    <a:bodyPr wrap="square"/>
                    <a:lstStyle/>
                    <a:p>
                      <a:r>
                        <a:rPr sz="1150" b="1">
                          <a:solidFill>
                            <a:srgbClr val="FFFFFF"/>
                          </a:solidFill>
                        </a:rPr>
                        <a:t>What it means in practice</a:t>
                      </a:r>
                    </a:p>
                  </a:txBody>
                  <a:tcPr anchor="ctr" marL="73152" marR="54864" marT="27432" marB="27432">
                    <a:solidFill>
                      <a:srgbClr val="0C2B4A"/>
                    </a:solidFill>
                  </a:tcPr>
                </a:tc>
                <a:tc>
                  <a:txBody>
                    <a:bodyPr wrap="square"/>
                    <a:lstStyle/>
                    <a:p>
                      <a:r>
                        <a:rPr sz="1150" b="1">
                          <a:solidFill>
                            <a:srgbClr val="FFFFFF"/>
                          </a:solidFill>
                        </a:rPr>
                        <a:t>Why it matters</a:t>
                      </a:r>
                    </a:p>
                  </a:txBody>
                  <a:tcPr anchor="ctr" marL="73152" marR="54864" marT="27432" marB="27432">
                    <a:solidFill>
                      <a:srgbClr val="0C2B4A"/>
                    </a:solidFill>
                  </a:tcPr>
                </a:tc>
              </a:tr>
              <a:tr h="630936">
                <a:tc>
                  <a:txBody>
                    <a:bodyPr wrap="square"/>
                    <a:lstStyle/>
                    <a:p>
                      <a:r>
                        <a:rPr sz="1100" b="1">
                          <a:solidFill>
                            <a:srgbClr val="0C2B4A"/>
                          </a:solidFill>
                        </a:rPr>
                        <a:t>Don't alter the original</a:t>
                      </a:r>
                    </a:p>
                  </a:txBody>
                  <a:tcPr anchor="ctr" marL="73152" marR="54864" marT="27432" marB="27432">
                    <a:solidFill>
                      <a:srgbClr val="FFFFFF"/>
                    </a:solidFill>
                  </a:tcPr>
                </a:tc>
                <a:tc>
                  <a:txBody>
                    <a:bodyPr wrap="square"/>
                    <a:lstStyle/>
                    <a:p>
                      <a:r>
                        <a:rPr sz="1100">
                          <a:solidFill>
                            <a:srgbClr val="1A1A1A"/>
                          </a:solidFill>
                        </a:rPr>
                        <a:t>Use write blockers; never open files on the seized device</a:t>
                      </a:r>
                    </a:p>
                  </a:txBody>
                  <a:tcPr anchor="ctr" marL="73152" marR="54864" marT="27432" marB="27432">
                    <a:solidFill>
                      <a:srgbClr val="FFFFFF"/>
                    </a:solidFill>
                  </a:tcPr>
                </a:tc>
                <a:tc>
                  <a:txBody>
                    <a:bodyPr wrap="square"/>
                    <a:lstStyle/>
                    <a:p>
                      <a:r>
                        <a:rPr sz="1100">
                          <a:solidFill>
                            <a:srgbClr val="1A1A1A"/>
                          </a:solidFill>
                        </a:rPr>
                        <a:t>A changed byte makes the evidence challengeable</a:t>
                      </a:r>
                    </a:p>
                  </a:txBody>
                  <a:tcPr anchor="ctr" marL="73152" marR="54864" marT="27432" marB="27432">
                    <a:solidFill>
                      <a:srgbClr val="FFFFFF"/>
                    </a:solidFill>
                  </a:tcPr>
                </a:tc>
              </a:tr>
              <a:tr h="630936">
                <a:tc>
                  <a:txBody>
                    <a:bodyPr wrap="square"/>
                    <a:lstStyle/>
                    <a:p>
                      <a:r>
                        <a:rPr sz="1100" b="1">
                          <a:solidFill>
                            <a:srgbClr val="0C2B4A"/>
                          </a:solidFill>
                        </a:rPr>
                        <a:t>Work on copies</a:t>
                      </a:r>
                    </a:p>
                  </a:txBody>
                  <a:tcPr anchor="ctr" marL="73152" marR="54864" marT="27432" marB="27432">
                    <a:solidFill>
                      <a:srgbClr val="EEF3F8"/>
                    </a:solidFill>
                  </a:tcPr>
                </a:tc>
                <a:tc>
                  <a:txBody>
                    <a:bodyPr wrap="square"/>
                    <a:lstStyle/>
                    <a:p>
                      <a:r>
                        <a:rPr sz="1100">
                          <a:solidFill>
                            <a:srgbClr val="1A1A1A"/>
                          </a:solidFill>
                        </a:rPr>
                        <a:t>Image the device; analyse the hashed image</a:t>
                      </a:r>
                    </a:p>
                  </a:txBody>
                  <a:tcPr anchor="ctr" marL="73152" marR="54864" marT="27432" marB="27432">
                    <a:solidFill>
                      <a:srgbClr val="EEF3F8"/>
                    </a:solidFill>
                  </a:tcPr>
                </a:tc>
                <a:tc>
                  <a:txBody>
                    <a:bodyPr wrap="square"/>
                    <a:lstStyle/>
                    <a:p>
                      <a:r>
                        <a:rPr sz="1100">
                          <a:solidFill>
                            <a:srgbClr val="1A1A1A"/>
                          </a:solidFill>
                        </a:rPr>
                        <a:t>The sealed original stays pristine for court</a:t>
                      </a:r>
                    </a:p>
                  </a:txBody>
                  <a:tcPr anchor="ctr" marL="73152" marR="54864" marT="27432" marB="27432">
                    <a:solidFill>
                      <a:srgbClr val="EEF3F8"/>
                    </a:solidFill>
                  </a:tcPr>
                </a:tc>
              </a:tr>
              <a:tr h="630936">
                <a:tc>
                  <a:txBody>
                    <a:bodyPr wrap="square"/>
                    <a:lstStyle/>
                    <a:p>
                      <a:r>
                        <a:rPr sz="1100" b="1">
                          <a:solidFill>
                            <a:srgbClr val="0C2B4A"/>
                          </a:solidFill>
                        </a:rPr>
                        <a:t>Document everything</a:t>
                      </a:r>
                    </a:p>
                  </a:txBody>
                  <a:tcPr anchor="ctr" marL="73152" marR="54864" marT="27432" marB="27432">
                    <a:solidFill>
                      <a:srgbClr val="FFFFFF"/>
                    </a:solidFill>
                  </a:tcPr>
                </a:tc>
                <a:tc>
                  <a:txBody>
                    <a:bodyPr wrap="square"/>
                    <a:lstStyle/>
                    <a:p>
                      <a:r>
                        <a:rPr sz="1100">
                          <a:solidFill>
                            <a:srgbClr val="1A1A1A"/>
                          </a:solidFill>
                        </a:rPr>
                        <a:t>Log who, what, when, why for every action</a:t>
                      </a:r>
                    </a:p>
                  </a:txBody>
                  <a:tcPr anchor="ctr" marL="73152" marR="54864" marT="27432" marB="27432">
                    <a:solidFill>
                      <a:srgbClr val="FFFFFF"/>
                    </a:solidFill>
                  </a:tcPr>
                </a:tc>
                <a:tc>
                  <a:txBody>
                    <a:bodyPr wrap="square"/>
                    <a:lstStyle/>
                    <a:p>
                      <a:r>
                        <a:rPr sz="1100">
                          <a:solidFill>
                            <a:srgbClr val="1A1A1A"/>
                          </a:solidFill>
                        </a:rPr>
                        <a:t>Undocumented steps can't be defended</a:t>
                      </a:r>
                    </a:p>
                  </a:txBody>
                  <a:tcPr anchor="ctr" marL="73152" marR="54864" marT="27432" marB="27432">
                    <a:solidFill>
                      <a:srgbClr val="FFFFFF"/>
                    </a:solidFill>
                  </a:tcPr>
                </a:tc>
              </a:tr>
              <a:tr h="630936">
                <a:tc>
                  <a:txBody>
                    <a:bodyPr wrap="square"/>
                    <a:lstStyle/>
                    <a:p>
                      <a:r>
                        <a:rPr sz="1100" b="1">
                          <a:solidFill>
                            <a:srgbClr val="0C2B4A"/>
                          </a:solidFill>
                        </a:rPr>
                        <a:t>Chain of custody</a:t>
                      </a:r>
                    </a:p>
                  </a:txBody>
                  <a:tcPr anchor="ctr" marL="73152" marR="54864" marT="27432" marB="27432">
                    <a:solidFill>
                      <a:srgbClr val="EEF3F8"/>
                    </a:solidFill>
                  </a:tcPr>
                </a:tc>
                <a:tc>
                  <a:txBody>
                    <a:bodyPr wrap="square"/>
                    <a:lstStyle/>
                    <a:p>
                      <a:r>
                        <a:rPr sz="1100">
                          <a:solidFill>
                            <a:srgbClr val="1A1A1A"/>
                          </a:solidFill>
                        </a:rPr>
                        <a:t>Record every handoff of the evidence</a:t>
                      </a:r>
                    </a:p>
                  </a:txBody>
                  <a:tcPr anchor="ctr" marL="73152" marR="54864" marT="27432" marB="27432">
                    <a:solidFill>
                      <a:srgbClr val="EEF3F8"/>
                    </a:solidFill>
                  </a:tcPr>
                </a:tc>
                <a:tc>
                  <a:txBody>
                    <a:bodyPr wrap="square"/>
                    <a:lstStyle/>
                    <a:p>
                      <a:r>
                        <a:rPr sz="1100">
                          <a:solidFill>
                            <a:srgbClr val="1A1A1A"/>
                          </a:solidFill>
                        </a:rPr>
                        <a:t>A gap suggests possible tampering</a:t>
                      </a:r>
                    </a:p>
                  </a:txBody>
                  <a:tcPr anchor="ctr" marL="73152" marR="54864" marT="27432" marB="27432">
                    <a:solidFill>
                      <a:srgbClr val="EEF3F8"/>
                    </a:solidFill>
                  </a:tcPr>
                </a:tc>
              </a:tr>
              <a:tr h="630936">
                <a:tc>
                  <a:txBody>
                    <a:bodyPr wrap="square"/>
                    <a:lstStyle/>
                    <a:p>
                      <a:r>
                        <a:rPr sz="1100" b="1">
                          <a:solidFill>
                            <a:srgbClr val="0C2B4A"/>
                          </a:solidFill>
                        </a:rPr>
                        <a:t>Repeatability</a:t>
                      </a:r>
                    </a:p>
                  </a:txBody>
                  <a:tcPr anchor="ctr" marL="73152" marR="54864" marT="27432" marB="27432">
                    <a:solidFill>
                      <a:srgbClr val="FFFFFF"/>
                    </a:solidFill>
                  </a:tcPr>
                </a:tc>
                <a:tc>
                  <a:txBody>
                    <a:bodyPr wrap="square"/>
                    <a:lstStyle/>
                    <a:p>
                      <a:r>
                        <a:rPr sz="1100">
                          <a:solidFill>
                            <a:srgbClr val="1A1A1A"/>
                          </a:solidFill>
                        </a:rPr>
                        <a:t>Another expert can redo your steps &amp; agree</a:t>
                      </a:r>
                    </a:p>
                  </a:txBody>
                  <a:tcPr anchor="ctr" marL="73152" marR="54864" marT="27432" marB="27432">
                    <a:solidFill>
                      <a:srgbClr val="FFFFFF"/>
                    </a:solidFill>
                  </a:tcPr>
                </a:tc>
                <a:tc>
                  <a:txBody>
                    <a:bodyPr wrap="square"/>
                    <a:lstStyle/>
                    <a:p>
                      <a:r>
                        <a:rPr sz="1100">
                          <a:solidFill>
                            <a:srgbClr val="1A1A1A"/>
                          </a:solidFill>
                        </a:rPr>
                        <a:t>Science, not opinion — this is what convinces a court</a:t>
                      </a:r>
                    </a:p>
                  </a:txBody>
                  <a:tcPr anchor="ctr" marL="73152" marR="54864" marT="27432" marB="27432">
                    <a:solidFill>
                      <a:srgbClr val="FFFFFF"/>
                    </a:solidFill>
                  </a:tcPr>
                </a:tc>
              </a:tr>
              <a:tr h="630936">
                <a:tc>
                  <a:txBody>
                    <a:bodyPr wrap="square"/>
                    <a:lstStyle/>
                    <a:p>
                      <a:r>
                        <a:rPr sz="1100" b="1">
                          <a:solidFill>
                            <a:srgbClr val="0C2B4A"/>
                          </a:solidFill>
                        </a:rPr>
                        <a:t>Competence</a:t>
                      </a:r>
                    </a:p>
                  </a:txBody>
                  <a:tcPr anchor="ctr" marL="73152" marR="54864" marT="27432" marB="27432">
                    <a:solidFill>
                      <a:srgbClr val="EEF3F8"/>
                    </a:solidFill>
                  </a:tcPr>
                </a:tc>
                <a:tc>
                  <a:txBody>
                    <a:bodyPr wrap="square"/>
                    <a:lstStyle/>
                    <a:p>
                      <a:r>
                        <a:rPr sz="1100">
                          <a:solidFill>
                            <a:srgbClr val="1A1A1A"/>
                          </a:solidFill>
                        </a:rPr>
                        <a:t>Only trained people touch originals</a:t>
                      </a:r>
                    </a:p>
                  </a:txBody>
                  <a:tcPr anchor="ctr" marL="73152" marR="54864" marT="27432" marB="27432">
                    <a:solidFill>
                      <a:srgbClr val="EEF3F8"/>
                    </a:solidFill>
                  </a:tcPr>
                </a:tc>
                <a:tc>
                  <a:txBody>
                    <a:bodyPr wrap="square"/>
                    <a:lstStyle/>
                    <a:p>
                      <a:r>
                        <a:rPr sz="1100">
                          <a:solidFill>
                            <a:srgbClr val="1A1A1A"/>
                          </a:solidFill>
                        </a:rPr>
                        <a:t>An untrained click can destroy a case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These principles are not bureaucracy — each one exists to keep the evidence trustworthy and defensible. Break one and even genuine, damning evidence can be thrown out.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12 / 100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S38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Core Principles of Digital Forensics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the Cyber Bureau seizes a phone in a fraud case, an officer who 'just opens the gallery to check' has already changed timestamps and access records — violating principle 1. The correct move is to isolate, image and analyse a hashed copy, logging every step.</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"Taking a quick look at the file can't hurt." Opening a file changes access times, can trigger syncs, and breaks the 'don't alter the original' principle — one of the most dangerous things an investigator can do. Look only at a forensic copy, never the seized original.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core principles of digital forensics are: don't alter the original, work on copies, document everything, maintain chain of custody, and ensure repeatability — with the lead investigator responsible throughout and only competent people accessing originals. They exist so evidence stays trustworthy and defensible; violating even one can make genuine evidence inadmissible.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core principles · do not alter · work on copies · document · chain of custody · repeatability · competence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13 / 100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S38 — 'Why is a quick look dangerous?'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an officer wants to 'just open one file' on a seized laptop to check it.</a:t>
            </a:r>
          </a:p>
          <a:p>
            <a:pPr>
              <a:spcAft>
                <a:spcPts val="700"/>
              </a:spcAft>
            </a:pPr>
            <a:r>
              <a:rPr sz="1550">
                <a:solidFill>
                  <a:srgbClr val="1A1A1A"/>
                </a:solidFill>
              </a:rPr>
              <a:t>•  List everything that could change on the device the moment a file is opened.</a:t>
            </a:r>
          </a:p>
          <a:p>
            <a:pPr>
              <a:spcAft>
                <a:spcPts val="700"/>
              </a:spcAft>
            </a:pPr>
            <a:r>
              <a:rPr sz="1550">
                <a:solidFill>
                  <a:srgbClr val="1A1A1A"/>
                </a:solidFill>
              </a:rPr>
              <a:t>•  Take 3–4 answers aloud (3 min); connect each to a broken core principle.</a:t>
            </a:r>
          </a:p>
          <a:p>
            <a:pPr>
              <a:spcAft>
                <a:spcPts val="700"/>
              </a:spcAft>
            </a:pPr>
            <a:r>
              <a:rPr sz="1550">
                <a:solidFill>
                  <a:srgbClr val="1A1A1A"/>
                </a:solidFill>
              </a:rPr>
              <a:t>•  Close: looking can be destroying — the footprint-in-sand rule. Image first, then examine the copy.</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last-accessed timestamps change; auto-sync/cloud upload triggers; antivirus/OS writes; 'recent files' updates; the hash of the disk changes. Each breaks 'don't alter the original' and gives the defence a challenge.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14 / 100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S38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defining GOAL of digital forensics is:</a:t>
            </a:r>
          </a:p>
          <a:p>
            <a:pPr lvl="1"/>
            <a:r>
              <a:rPr sz="1500" b="1">
                <a:solidFill>
                  <a:srgbClr val="0F6E56"/>
                </a:solidFill>
              </a:rPr>
              <a:t>a) recover deleted files   b) ✅ produce legally admissible evidence   c) fix the device   d) back up data</a:t>
            </a:r>
          </a:p>
          <a:p>
            <a:pPr lvl="1">
              <a:spcBef>
                <a:spcPts val="600"/>
              </a:spcBef>
            </a:pPr>
            <a:r>
              <a:rPr sz="1500" i="1">
                <a:solidFill>
                  <a:srgbClr val="1A1A1A"/>
                </a:solidFill>
              </a:rPr>
              <a:t>     Why: forensics applies science to law — the aim is proof a court will accept, not mere recovery.</a:t>
            </a:r>
          </a:p>
          <a:p>
            <a:pPr>
              <a:spcBef>
                <a:spcPts val="900"/>
              </a:spcBef>
            </a:pPr>
            <a:r>
              <a:rPr sz="1700" b="1">
                <a:solidFill>
                  <a:srgbClr val="0C2B4A"/>
                </a:solidFill>
              </a:rPr>
              <a:t>Q2.  'Computer forensics' grew into 'digital forensics' mainly because:</a:t>
            </a:r>
          </a:p>
          <a:p>
            <a:pPr lvl="1"/>
            <a:r>
              <a:rPr sz="1500" b="1">
                <a:solidFill>
                  <a:srgbClr val="0F6E56"/>
                </a:solidFill>
              </a:rPr>
              <a:t>a) PCs got faster   b) ✅ evidence now lives on phones, cloud and networks, not just PCs   c) laws changed   d) disks shrank</a:t>
            </a:r>
          </a:p>
          <a:p>
            <a:pPr lvl="1">
              <a:spcBef>
                <a:spcPts val="600"/>
              </a:spcBef>
            </a:pPr>
            <a:r>
              <a:rPr sz="1500" i="1">
                <a:solidFill>
                  <a:srgbClr val="1A1A1A"/>
                </a:solidFill>
              </a:rPr>
              <a:t>     Why: the device landscape shifted to mobile-dominant, cloud-connected, multi-device evidence.</a:t>
            </a:r>
          </a:p>
          <a:p>
            <a:pPr lvl="1">
              <a:spcBef>
                <a:spcPts val="600"/>
              </a:spcBef>
            </a:pPr>
            <a:r>
              <a:rPr sz="1500" i="1">
                <a:solidFill>
                  <a:srgbClr val="1A1A1A"/>
                </a:solidFill>
              </a:rPr>
              <a:t>Discussion: why is 'just take a quick look at the file' one of the most dangerous things an investigator can do?</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15 / 100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S38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Digital forensics = science + law applied to digital evidence; the goal is legally admissible proof.</a:t>
            </a:r>
          </a:p>
          <a:p>
            <a:pPr>
              <a:spcAft>
                <a:spcPts val="800"/>
              </a:spcAft>
            </a:pPr>
            <a:r>
              <a:rPr sz="1500">
                <a:solidFill>
                  <a:srgbClr val="1A1A1A"/>
                </a:solidFill>
              </a:rPr>
              <a:t>2.  The field expanded far beyond the single PC — phones, cloud, networks and IoT dominate today.</a:t>
            </a:r>
          </a:p>
          <a:p>
            <a:pPr>
              <a:spcAft>
                <a:spcPts val="800"/>
              </a:spcAft>
            </a:pPr>
            <a:r>
              <a:rPr sz="1500">
                <a:solidFill>
                  <a:srgbClr val="1A1A1A"/>
                </a:solidFill>
              </a:rPr>
              <a:t>3.  Core principles: preserve the original, work on hashed copies, document, keep custody, stay repeatable.</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Anyone in IT may one day hold a device that is evidence. Knowing not to touch it — to isolate and hand it over properly — can make or break a case and protect your own liability.</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S39 — the staged forensic process that turns a scene into courtroom-ready evidence.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16 / 100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39 · LECTURE HOUR 2 (OF 7)</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Stages of Digital Forensics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Two investigators find the same incriminating photo on a phone. One follows a documented process; the other 'just found it.' Only one will hold up in court.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17 / 100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Forensic Process Model</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 forensic process is a repeatable, documented sequence from scene to courtroom: identification → preservation → collection → examination → analysis → reporting. It follows standard models such as NIST SP 800-86 (collection, examination, analysis, reporting).</a:t>
            </a:r>
          </a:p>
          <a:p>
            <a:pPr>
              <a:spcAft>
                <a:spcPts val="500"/>
              </a:spcAft>
            </a:pPr>
            <a:r>
              <a:rPr sz="1200" b="1">
                <a:solidFill>
                  <a:srgbClr val="185FA5"/>
                </a:solidFill>
              </a:rPr>
              <a:t>HOW IT WORKS</a:t>
            </a:r>
          </a:p>
          <a:p>
            <a:pPr>
              <a:spcAft>
                <a:spcPts val="600"/>
              </a:spcAft>
            </a:pPr>
            <a:r>
              <a:rPr sz="1400">
                <a:solidFill>
                  <a:srgbClr val="1A1A1A"/>
                </a:solidFill>
              </a:rPr>
              <a:t>•  It is a fixed, ordered sequence — not an ad-hoc 'poke around and see'.</a:t>
            </a:r>
          </a:p>
          <a:p>
            <a:pPr>
              <a:spcAft>
                <a:spcPts val="600"/>
              </a:spcAft>
            </a:pPr>
            <a:r>
              <a:rPr sz="1400">
                <a:solidFill>
                  <a:srgbClr val="1A1A1A"/>
                </a:solidFill>
              </a:rPr>
              <a:t>•  Each stage has a defined purpose and hands a clean result to the next.</a:t>
            </a:r>
          </a:p>
          <a:p>
            <a:pPr>
              <a:spcAft>
                <a:spcPts val="600"/>
              </a:spcAft>
            </a:pPr>
            <a:r>
              <a:rPr sz="1400">
                <a:solidFill>
                  <a:srgbClr val="1A1A1A"/>
                </a:solidFill>
              </a:rPr>
              <a:t>•  The model exists so different investigators reach the same, defensible result.</a:t>
            </a:r>
          </a:p>
          <a:p>
            <a:pPr>
              <a:spcAft>
                <a:spcPts val="600"/>
              </a:spcAft>
            </a:pPr>
            <a:r>
              <a:rPr sz="1400">
                <a:solidFill>
                  <a:srgbClr val="1A1A1A"/>
                </a:solidFill>
              </a:rPr>
              <a:t>•  Preservation and custody are what make the later analysis usable at all.</a:t>
            </a:r>
          </a:p>
        </p:txBody>
      </p:sp>
      <p:pic>
        <p:nvPicPr>
          <p:cNvPr id="6" name="Picture 5" descr="s39_process.png"/>
          <p:cNvPicPr>
            <a:picLocks noChangeAspect="1"/>
          </p:cNvPicPr>
          <p:nvPr/>
        </p:nvPicPr>
        <p:blipFill>
          <a:blip r:embed="rId2"/>
          <a:stretch>
            <a:fillRect/>
          </a:stretch>
        </p:blipFill>
        <p:spPr>
          <a:xfrm>
            <a:off x="6355080" y="2533164"/>
            <a:ext cx="5532120" cy="2568911"/>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Identify → preserve → collect → examine → analyse → report — a fixed, documented pipeline.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18 / 100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six stages — purpose and output of each</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414788"/>
                <a:gridCol w="4829577"/>
                <a:gridCol w="4185633"/>
              </a:tblGrid>
              <a:tr h="630936">
                <a:tc>
                  <a:txBody>
                    <a:bodyPr wrap="square"/>
                    <a:lstStyle/>
                    <a:p>
                      <a:r>
                        <a:rPr sz="1150" b="1">
                          <a:solidFill>
                            <a:srgbClr val="FFFFFF"/>
                          </a:solidFill>
                        </a:rPr>
                        <a:t>Stage</a:t>
                      </a:r>
                    </a:p>
                  </a:txBody>
                  <a:tcPr anchor="ctr" marL="73152" marR="54864" marT="27432" marB="27432">
                    <a:solidFill>
                      <a:srgbClr val="0C2B4A"/>
                    </a:solidFill>
                  </a:tcPr>
                </a:tc>
                <a:tc>
                  <a:txBody>
                    <a:bodyPr wrap="square"/>
                    <a:lstStyle/>
                    <a:p>
                      <a:r>
                        <a:rPr sz="1150" b="1">
                          <a:solidFill>
                            <a:srgbClr val="FFFFFF"/>
                          </a:solidFill>
                        </a:rPr>
                        <a:t>What happens</a:t>
                      </a:r>
                    </a:p>
                  </a:txBody>
                  <a:tcPr anchor="ctr" marL="73152" marR="54864" marT="27432" marB="27432">
                    <a:solidFill>
                      <a:srgbClr val="0C2B4A"/>
                    </a:solidFill>
                  </a:tcPr>
                </a:tc>
                <a:tc>
                  <a:txBody>
                    <a:bodyPr wrap="square"/>
                    <a:lstStyle/>
                    <a:p>
                      <a:r>
                        <a:rPr sz="1150" b="1">
                          <a:solidFill>
                            <a:srgbClr val="FFFFFF"/>
                          </a:solidFill>
                        </a:rPr>
                        <a:t>Output handed on</a:t>
                      </a:r>
                    </a:p>
                  </a:txBody>
                  <a:tcPr anchor="ctr" marL="73152" marR="54864" marT="27432" marB="27432">
                    <a:solidFill>
                      <a:srgbClr val="0C2B4A"/>
                    </a:solidFill>
                  </a:tcPr>
                </a:tc>
              </a:tr>
              <a:tr h="630936">
                <a:tc>
                  <a:txBody>
                    <a:bodyPr wrap="square"/>
                    <a:lstStyle/>
                    <a:p>
                      <a:r>
                        <a:rPr sz="1100" b="1">
                          <a:solidFill>
                            <a:srgbClr val="0C2B4A"/>
                          </a:solidFill>
                        </a:rPr>
                        <a:t>Identify</a:t>
                      </a:r>
                    </a:p>
                  </a:txBody>
                  <a:tcPr anchor="ctr" marL="73152" marR="54864" marT="27432" marB="27432">
                    <a:solidFill>
                      <a:srgbClr val="FFFFFF"/>
                    </a:solidFill>
                  </a:tcPr>
                </a:tc>
                <a:tc>
                  <a:txBody>
                    <a:bodyPr wrap="square"/>
                    <a:lstStyle/>
                    <a:p>
                      <a:r>
                        <a:rPr sz="1100">
                          <a:solidFill>
                            <a:srgbClr val="1A1A1A"/>
                          </a:solidFill>
                        </a:rPr>
                        <a:t>Find which devices/accounts/data matter</a:t>
                      </a:r>
                    </a:p>
                  </a:txBody>
                  <a:tcPr anchor="ctr" marL="73152" marR="54864" marT="27432" marB="27432">
                    <a:solidFill>
                      <a:srgbClr val="FFFFFF"/>
                    </a:solidFill>
                  </a:tcPr>
                </a:tc>
                <a:tc>
                  <a:txBody>
                    <a:bodyPr wrap="square"/>
                    <a:lstStyle/>
                    <a:p>
                      <a:r>
                        <a:rPr sz="1100">
                          <a:solidFill>
                            <a:srgbClr val="1A1A1A"/>
                          </a:solidFill>
                        </a:rPr>
                        <a:t>A list of evidence sources</a:t>
                      </a:r>
                    </a:p>
                  </a:txBody>
                  <a:tcPr anchor="ctr" marL="73152" marR="54864" marT="27432" marB="27432">
                    <a:solidFill>
                      <a:srgbClr val="FFFFFF"/>
                    </a:solidFill>
                  </a:tcPr>
                </a:tc>
              </a:tr>
              <a:tr h="630936">
                <a:tc>
                  <a:txBody>
                    <a:bodyPr wrap="square"/>
                    <a:lstStyle/>
                    <a:p>
                      <a:r>
                        <a:rPr sz="1100" b="1">
                          <a:solidFill>
                            <a:srgbClr val="0C2B4A"/>
                          </a:solidFill>
                        </a:rPr>
                        <a:t>Preserve</a:t>
                      </a:r>
                    </a:p>
                  </a:txBody>
                  <a:tcPr anchor="ctr" marL="73152" marR="54864" marT="27432" marB="27432">
                    <a:solidFill>
                      <a:srgbClr val="EEF3F8"/>
                    </a:solidFill>
                  </a:tcPr>
                </a:tc>
                <a:tc>
                  <a:txBody>
                    <a:bodyPr wrap="square"/>
                    <a:lstStyle/>
                    <a:p>
                      <a:r>
                        <a:rPr sz="1100">
                          <a:solidFill>
                            <a:srgbClr val="1A1A1A"/>
                          </a:solidFill>
                        </a:rPr>
                        <a:t>Isolate &amp; prevent any change (airplane mode/Faraday)</a:t>
                      </a:r>
                    </a:p>
                  </a:txBody>
                  <a:tcPr anchor="ctr" marL="73152" marR="54864" marT="27432" marB="27432">
                    <a:solidFill>
                      <a:srgbClr val="EEF3F8"/>
                    </a:solidFill>
                  </a:tcPr>
                </a:tc>
                <a:tc>
                  <a:txBody>
                    <a:bodyPr wrap="square"/>
                    <a:lstStyle/>
                    <a:p>
                      <a:r>
                        <a:rPr sz="1100">
                          <a:solidFill>
                            <a:srgbClr val="1A1A1A"/>
                          </a:solidFill>
                        </a:rPr>
                        <a:t>An unaltered, protected source</a:t>
                      </a:r>
                    </a:p>
                  </a:txBody>
                  <a:tcPr anchor="ctr" marL="73152" marR="54864" marT="27432" marB="27432">
                    <a:solidFill>
                      <a:srgbClr val="EEF3F8"/>
                    </a:solidFill>
                  </a:tcPr>
                </a:tc>
              </a:tr>
              <a:tr h="630936">
                <a:tc>
                  <a:txBody>
                    <a:bodyPr wrap="square"/>
                    <a:lstStyle/>
                    <a:p>
                      <a:r>
                        <a:rPr sz="1100" b="1">
                          <a:solidFill>
                            <a:srgbClr val="0C2B4A"/>
                          </a:solidFill>
                        </a:rPr>
                        <a:t>Collect</a:t>
                      </a:r>
                    </a:p>
                  </a:txBody>
                  <a:tcPr anchor="ctr" marL="73152" marR="54864" marT="27432" marB="27432">
                    <a:solidFill>
                      <a:srgbClr val="FFFFFF"/>
                    </a:solidFill>
                  </a:tcPr>
                </a:tc>
                <a:tc>
                  <a:txBody>
                    <a:bodyPr wrap="square"/>
                    <a:lstStyle/>
                    <a:p>
                      <a:r>
                        <a:rPr sz="1100">
                          <a:solidFill>
                            <a:srgbClr val="1A1A1A"/>
                          </a:solidFill>
                        </a:rPr>
                        <a:t>Image/seize the evidence; hash it</a:t>
                      </a:r>
                    </a:p>
                  </a:txBody>
                  <a:tcPr anchor="ctr" marL="73152" marR="54864" marT="27432" marB="27432">
                    <a:solidFill>
                      <a:srgbClr val="FFFFFF"/>
                    </a:solidFill>
                  </a:tcPr>
                </a:tc>
                <a:tc>
                  <a:txBody>
                    <a:bodyPr wrap="square"/>
                    <a:lstStyle/>
                    <a:p>
                      <a:r>
                        <a:rPr sz="1100">
                          <a:solidFill>
                            <a:srgbClr val="1A1A1A"/>
                          </a:solidFill>
                        </a:rPr>
                        <a:t>A verified forensic copy</a:t>
                      </a:r>
                    </a:p>
                  </a:txBody>
                  <a:tcPr anchor="ctr" marL="73152" marR="54864" marT="27432" marB="27432">
                    <a:solidFill>
                      <a:srgbClr val="FFFFFF"/>
                    </a:solidFill>
                  </a:tcPr>
                </a:tc>
              </a:tr>
              <a:tr h="630936">
                <a:tc>
                  <a:txBody>
                    <a:bodyPr wrap="square"/>
                    <a:lstStyle/>
                    <a:p>
                      <a:r>
                        <a:rPr sz="1100" b="1">
                          <a:solidFill>
                            <a:srgbClr val="0C2B4A"/>
                          </a:solidFill>
                        </a:rPr>
                        <a:t>Examine</a:t>
                      </a:r>
                    </a:p>
                  </a:txBody>
                  <a:tcPr anchor="ctr" marL="73152" marR="54864" marT="27432" marB="27432">
                    <a:solidFill>
                      <a:srgbClr val="EEF3F8"/>
                    </a:solidFill>
                  </a:tcPr>
                </a:tc>
                <a:tc>
                  <a:txBody>
                    <a:bodyPr wrap="square"/>
                    <a:lstStyle/>
                    <a:p>
                      <a:r>
                        <a:rPr sz="1100">
                          <a:solidFill>
                            <a:srgbClr val="1A1A1A"/>
                          </a:solidFill>
                        </a:rPr>
                        <a:t>Extract the relevant data from the copy</a:t>
                      </a:r>
                    </a:p>
                  </a:txBody>
                  <a:tcPr anchor="ctr" marL="73152" marR="54864" marT="27432" marB="27432">
                    <a:solidFill>
                      <a:srgbClr val="EEF3F8"/>
                    </a:solidFill>
                  </a:tcPr>
                </a:tc>
                <a:tc>
                  <a:txBody>
                    <a:bodyPr wrap="square"/>
                    <a:lstStyle/>
                    <a:p>
                      <a:r>
                        <a:rPr sz="1100">
                          <a:solidFill>
                            <a:srgbClr val="1A1A1A"/>
                          </a:solidFill>
                        </a:rPr>
                        <a:t>Filtered, relevant data</a:t>
                      </a:r>
                    </a:p>
                  </a:txBody>
                  <a:tcPr anchor="ctr" marL="73152" marR="54864" marT="27432" marB="27432">
                    <a:solidFill>
                      <a:srgbClr val="EEF3F8"/>
                    </a:solidFill>
                  </a:tcPr>
                </a:tc>
              </a:tr>
              <a:tr h="630936">
                <a:tc>
                  <a:txBody>
                    <a:bodyPr wrap="square"/>
                    <a:lstStyle/>
                    <a:p>
                      <a:r>
                        <a:rPr sz="1100" b="1">
                          <a:solidFill>
                            <a:srgbClr val="0C2B4A"/>
                          </a:solidFill>
                        </a:rPr>
                        <a:t>Analyse</a:t>
                      </a:r>
                    </a:p>
                  </a:txBody>
                  <a:tcPr anchor="ctr" marL="73152" marR="54864" marT="27432" marB="27432">
                    <a:solidFill>
                      <a:srgbClr val="FFFFFF"/>
                    </a:solidFill>
                  </a:tcPr>
                </a:tc>
                <a:tc>
                  <a:txBody>
                    <a:bodyPr wrap="square"/>
                    <a:lstStyle/>
                    <a:p>
                      <a:r>
                        <a:rPr sz="1100">
                          <a:solidFill>
                            <a:srgbClr val="1A1A1A"/>
                          </a:solidFill>
                        </a:rPr>
                        <a:t>Interpret it; reconstruct the timeline of events</a:t>
                      </a:r>
                    </a:p>
                  </a:txBody>
                  <a:tcPr anchor="ctr" marL="73152" marR="54864" marT="27432" marB="27432">
                    <a:solidFill>
                      <a:srgbClr val="FFFFFF"/>
                    </a:solidFill>
                  </a:tcPr>
                </a:tc>
                <a:tc>
                  <a:txBody>
                    <a:bodyPr wrap="square"/>
                    <a:lstStyle/>
                    <a:p>
                      <a:r>
                        <a:rPr sz="1100">
                          <a:solidFill>
                            <a:srgbClr val="1A1A1A"/>
                          </a:solidFill>
                        </a:rPr>
                        <a:t>A reasoned account of what happened</a:t>
                      </a:r>
                    </a:p>
                  </a:txBody>
                  <a:tcPr anchor="ctr" marL="73152" marR="54864" marT="27432" marB="27432">
                    <a:solidFill>
                      <a:srgbClr val="FFFFFF"/>
                    </a:solidFill>
                  </a:tcPr>
                </a:tc>
              </a:tr>
              <a:tr h="630936">
                <a:tc>
                  <a:txBody>
                    <a:bodyPr wrap="square"/>
                    <a:lstStyle/>
                    <a:p>
                      <a:r>
                        <a:rPr sz="1100" b="1">
                          <a:solidFill>
                            <a:srgbClr val="0C2B4A"/>
                          </a:solidFill>
                        </a:rPr>
                        <a:t>Report</a:t>
                      </a:r>
                    </a:p>
                  </a:txBody>
                  <a:tcPr anchor="ctr" marL="73152" marR="54864" marT="27432" marB="27432">
                    <a:solidFill>
                      <a:srgbClr val="EEF3F8"/>
                    </a:solidFill>
                  </a:tcPr>
                </a:tc>
                <a:tc>
                  <a:txBody>
                    <a:bodyPr wrap="square"/>
                    <a:lstStyle/>
                    <a:p>
                      <a:r>
                        <a:rPr sz="1100">
                          <a:solidFill>
                            <a:srgbClr val="1A1A1A"/>
                          </a:solidFill>
                        </a:rPr>
                        <a:t>Explain it clearly for a non-technical judge</a:t>
                      </a:r>
                    </a:p>
                  </a:txBody>
                  <a:tcPr anchor="ctr" marL="73152" marR="54864" marT="27432" marB="27432">
                    <a:solidFill>
                      <a:srgbClr val="EEF3F8"/>
                    </a:solidFill>
                  </a:tcPr>
                </a:tc>
                <a:tc>
                  <a:txBody>
                    <a:bodyPr wrap="square"/>
                    <a:lstStyle/>
                    <a:p>
                      <a:r>
                        <a:rPr sz="1100">
                          <a:solidFill>
                            <a:srgbClr val="1A1A1A"/>
                          </a:solidFill>
                        </a:rPr>
                        <a:t>A defensible written report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Analysis grabs the attention, but preservation and collection are what make it admissible. The report must convince a judge or lawyer — not another engineer.</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19 / 100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Forensic Process Model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For a cyberbullying complaint, the Cyber Bureau identifies the account/phone, preserves it by isolating the device, images and hashes it, examines the messages, analyses the timeline, and reports for the prosecutor. Each stage feeds a clean, documented result into the next.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"Analysis is the real work; the rest is just paperwork." Preservation and chain of custody are what make the analysis usable at all — brilliant analysis of contaminated evidence is worthless in court. The 'paperwork' is the admissibility.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forensic process is a repeatable, documented sequence from scene to courtroom — identification, preservation, collection, examination, analysis, reporting — following standard models like NIST SP 800-86. The fixed order matters because preservation and custody make the downstream analysis defensible, and the final report must be understandable by a non-technical judge.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forensic process model · six stages · NIST SP 800-86 · fixed order · report for a non-technical judge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20 / 100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Walking the Stages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Walking the pipeline: Identification (what devices/data matter) → Preservation (isolate, prevent change) → Collection (image/seize) → Examination (extract relevant data) → Analysis (interpret, reconstruct events) → Reporting (clear, defensible, for non-technical readers).</a:t>
            </a:r>
          </a:p>
          <a:p>
            <a:pPr>
              <a:spcAft>
                <a:spcPts val="500"/>
              </a:spcAft>
            </a:pPr>
            <a:r>
              <a:rPr sz="1200" b="1">
                <a:solidFill>
                  <a:srgbClr val="185FA5"/>
                </a:solidFill>
              </a:rPr>
              <a:t>HOW IT WORKS</a:t>
            </a:r>
          </a:p>
          <a:p>
            <a:pPr>
              <a:spcAft>
                <a:spcPts val="600"/>
              </a:spcAft>
            </a:pPr>
            <a:r>
              <a:rPr sz="1400">
                <a:solidFill>
                  <a:srgbClr val="1A1A1A"/>
                </a:solidFill>
              </a:rPr>
              <a:t>•  Identify before you touch: know what you're looking for and where it lives.</a:t>
            </a:r>
          </a:p>
          <a:p>
            <a:pPr>
              <a:spcAft>
                <a:spcPts val="600"/>
              </a:spcAft>
            </a:pPr>
            <a:r>
              <a:rPr sz="1400">
                <a:solidFill>
                  <a:srgbClr val="1A1A1A"/>
                </a:solidFill>
              </a:rPr>
              <a:t>•  Preserve immediately: airplane mode / Faraday bag stops remote wiping and syncing.</a:t>
            </a:r>
          </a:p>
          <a:p>
            <a:pPr>
              <a:spcAft>
                <a:spcPts val="600"/>
              </a:spcAft>
            </a:pPr>
            <a:r>
              <a:rPr sz="1400">
                <a:solidFill>
                  <a:srgbClr val="1A1A1A"/>
                </a:solidFill>
              </a:rPr>
              <a:t>•  Collect by imaging and hashing, then examine and analyse only the copy.</a:t>
            </a:r>
          </a:p>
          <a:p>
            <a:pPr>
              <a:spcAft>
                <a:spcPts val="600"/>
              </a:spcAft>
            </a:pPr>
            <a:r>
              <a:rPr sz="1400">
                <a:solidFill>
                  <a:srgbClr val="1A1A1A"/>
                </a:solidFill>
              </a:rPr>
              <a:t>•  A skipped stage silently poisons everything after it.</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Each stage feeds the next; skip one and the whole chain downstream is contaminated.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21 / 100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goes wrong when a stage is skipped (Nepal cases)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4729"/>
                <a:gridCol w="4633783"/>
                <a:gridCol w="3861486"/>
              </a:tblGrid>
              <a:tr h="630936">
                <a:tc>
                  <a:txBody>
                    <a:bodyPr wrap="square"/>
                    <a:lstStyle/>
                    <a:p>
                      <a:r>
                        <a:rPr sz="1150" b="1">
                          <a:solidFill>
                            <a:srgbClr val="FFFFFF"/>
                          </a:solidFill>
                        </a:rPr>
                        <a:t>Stage skipped / done badly</a:t>
                      </a:r>
                    </a:p>
                  </a:txBody>
                  <a:tcPr anchor="ctr" marL="73152" marR="54864" marT="27432" marB="27432">
                    <a:solidFill>
                      <a:srgbClr val="0C2B4A"/>
                    </a:solidFill>
                  </a:tcPr>
                </a:tc>
                <a:tc>
                  <a:txBody>
                    <a:bodyPr wrap="square"/>
                    <a:lstStyle/>
                    <a:p>
                      <a:r>
                        <a:rPr sz="1150" b="1">
                          <a:solidFill>
                            <a:srgbClr val="FFFFFF"/>
                          </a:solidFill>
                        </a:rPr>
                        <a:t>What happens</a:t>
                      </a:r>
                    </a:p>
                  </a:txBody>
                  <a:tcPr anchor="ctr" marL="73152" marR="54864" marT="27432" marB="27432">
                    <a:solidFill>
                      <a:srgbClr val="0C2B4A"/>
                    </a:solidFill>
                  </a:tcPr>
                </a:tc>
                <a:tc>
                  <a:txBody>
                    <a:bodyPr wrap="square"/>
                    <a:lstStyle/>
                    <a:p>
                      <a:r>
                        <a:rPr sz="1150" b="1">
                          <a:solidFill>
                            <a:srgbClr val="FFFFFF"/>
                          </a:solidFill>
                        </a:rPr>
                        <a:t>Consequence (verdict)</a:t>
                      </a:r>
                    </a:p>
                  </a:txBody>
                  <a:tcPr anchor="ctr" marL="73152" marR="54864" marT="27432" marB="27432">
                    <a:solidFill>
                      <a:srgbClr val="0C2B4A"/>
                    </a:solidFill>
                  </a:tcPr>
                </a:tc>
              </a:tr>
              <a:tr h="630936">
                <a:tc>
                  <a:txBody>
                    <a:bodyPr wrap="square"/>
                    <a:lstStyle/>
                    <a:p>
                      <a:r>
                        <a:rPr sz="1100" b="1">
                          <a:solidFill>
                            <a:srgbClr val="0C2B4A"/>
                          </a:solidFill>
                        </a:rPr>
                        <a:t>Identification</a:t>
                      </a:r>
                    </a:p>
                  </a:txBody>
                  <a:tcPr anchor="ctr" marL="73152" marR="54864" marT="27432" marB="27432">
                    <a:solidFill>
                      <a:srgbClr val="FFFFFF"/>
                    </a:solidFill>
                  </a:tcPr>
                </a:tc>
                <a:tc>
                  <a:txBody>
                    <a:bodyPr wrap="square"/>
                    <a:lstStyle/>
                    <a:p>
                      <a:r>
                        <a:rPr sz="1100">
                          <a:solidFill>
                            <a:srgbClr val="1A1A1A"/>
                          </a:solidFill>
                        </a:rPr>
                        <a:t>Miss the suspect's second phone</a:t>
                      </a:r>
                    </a:p>
                  </a:txBody>
                  <a:tcPr anchor="ctr" marL="73152" marR="54864" marT="27432" marB="27432">
                    <a:solidFill>
                      <a:srgbClr val="FFFFFF"/>
                    </a:solidFill>
                  </a:tcPr>
                </a:tc>
                <a:tc>
                  <a:txBody>
                    <a:bodyPr wrap="square"/>
                    <a:lstStyle/>
                    <a:p>
                      <a:r>
                        <a:rPr sz="1100">
                          <a:solidFill>
                            <a:srgbClr val="1A1A1A"/>
                          </a:solidFill>
                        </a:rPr>
                        <a:t>Key evidence never collected — case weakened</a:t>
                      </a:r>
                    </a:p>
                  </a:txBody>
                  <a:tcPr anchor="ctr" marL="73152" marR="54864" marT="27432" marB="27432">
                    <a:solidFill>
                      <a:srgbClr val="FFFFFF"/>
                    </a:solidFill>
                  </a:tcPr>
                </a:tc>
              </a:tr>
              <a:tr h="630936">
                <a:tc>
                  <a:txBody>
                    <a:bodyPr wrap="square"/>
                    <a:lstStyle/>
                    <a:p>
                      <a:r>
                        <a:rPr sz="1100" b="1">
                          <a:solidFill>
                            <a:srgbClr val="0C2B4A"/>
                          </a:solidFill>
                        </a:rPr>
                        <a:t>Preservation</a:t>
                      </a:r>
                    </a:p>
                  </a:txBody>
                  <a:tcPr anchor="ctr" marL="73152" marR="54864" marT="27432" marB="27432">
                    <a:solidFill>
                      <a:srgbClr val="EEF3F8"/>
                    </a:solidFill>
                  </a:tcPr>
                </a:tc>
                <a:tc>
                  <a:txBody>
                    <a:bodyPr wrap="square"/>
                    <a:lstStyle/>
                    <a:p>
                      <a:r>
                        <a:rPr sz="1100">
                          <a:solidFill>
                            <a:srgbClr val="1A1A1A"/>
                          </a:solidFill>
                        </a:rPr>
                        <a:t>Phone left online; cloud deletes the chat overnight</a:t>
                      </a:r>
                    </a:p>
                  </a:txBody>
                  <a:tcPr anchor="ctr" marL="73152" marR="54864" marT="27432" marB="27432">
                    <a:solidFill>
                      <a:srgbClr val="EEF3F8"/>
                    </a:solidFill>
                  </a:tcPr>
                </a:tc>
                <a:tc>
                  <a:txBody>
                    <a:bodyPr wrap="square"/>
                    <a:lstStyle/>
                    <a:p>
                      <a:r>
                        <a:rPr sz="1100">
                          <a:solidFill>
                            <a:srgbClr val="1A1A1A"/>
                          </a:solidFill>
                        </a:rPr>
                        <a:t>Irreplaceable evidence lost — preservation failed</a:t>
                      </a:r>
                    </a:p>
                  </a:txBody>
                  <a:tcPr anchor="ctr" marL="73152" marR="54864" marT="27432" marB="27432">
                    <a:solidFill>
                      <a:srgbClr val="EEF3F8"/>
                    </a:solidFill>
                  </a:tcPr>
                </a:tc>
              </a:tr>
              <a:tr h="630936">
                <a:tc>
                  <a:txBody>
                    <a:bodyPr wrap="square"/>
                    <a:lstStyle/>
                    <a:p>
                      <a:r>
                        <a:rPr sz="1100" b="1">
                          <a:solidFill>
                            <a:srgbClr val="0C2B4A"/>
                          </a:solidFill>
                        </a:rPr>
                        <a:t>Collection</a:t>
                      </a:r>
                    </a:p>
                  </a:txBody>
                  <a:tcPr anchor="ctr" marL="73152" marR="54864" marT="27432" marB="27432">
                    <a:solidFill>
                      <a:srgbClr val="FFFFFF"/>
                    </a:solidFill>
                  </a:tcPr>
                </a:tc>
                <a:tc>
                  <a:txBody>
                    <a:bodyPr wrap="square"/>
                    <a:lstStyle/>
                    <a:p>
                      <a:r>
                        <a:rPr sz="1100">
                          <a:solidFill>
                            <a:srgbClr val="1A1A1A"/>
                          </a:solidFill>
                        </a:rPr>
                        <a:t>Copy files by hand instead of imaging</a:t>
                      </a:r>
                    </a:p>
                  </a:txBody>
                  <a:tcPr anchor="ctr" marL="73152" marR="54864" marT="27432" marB="27432">
                    <a:solidFill>
                      <a:srgbClr val="FFFFFF"/>
                    </a:solidFill>
                  </a:tcPr>
                </a:tc>
                <a:tc>
                  <a:txBody>
                    <a:bodyPr wrap="square"/>
                    <a:lstStyle/>
                    <a:p>
                      <a:r>
                        <a:rPr sz="1100">
                          <a:solidFill>
                            <a:srgbClr val="1A1A1A"/>
                          </a:solidFill>
                        </a:rPr>
                        <a:t>No hash, no slack space — challengeable &amp; incomplete</a:t>
                      </a:r>
                    </a:p>
                  </a:txBody>
                  <a:tcPr anchor="ctr" marL="73152" marR="54864" marT="27432" marB="27432">
                    <a:solidFill>
                      <a:srgbClr val="FFFFFF"/>
                    </a:solidFill>
                  </a:tcPr>
                </a:tc>
              </a:tr>
              <a:tr h="630936">
                <a:tc>
                  <a:txBody>
                    <a:bodyPr wrap="square"/>
                    <a:lstStyle/>
                    <a:p>
                      <a:r>
                        <a:rPr sz="1100" b="1">
                          <a:solidFill>
                            <a:srgbClr val="0C2B4A"/>
                          </a:solidFill>
                        </a:rPr>
                        <a:t>Examination</a:t>
                      </a:r>
                    </a:p>
                  </a:txBody>
                  <a:tcPr anchor="ctr" marL="73152" marR="54864" marT="27432" marB="27432">
                    <a:solidFill>
                      <a:srgbClr val="EEF3F8"/>
                    </a:solidFill>
                  </a:tcPr>
                </a:tc>
                <a:tc>
                  <a:txBody>
                    <a:bodyPr wrap="square"/>
                    <a:lstStyle/>
                    <a:p>
                      <a:r>
                        <a:rPr sz="1100">
                          <a:solidFill>
                            <a:srgbClr val="1A1A1A"/>
                          </a:solidFill>
                        </a:rPr>
                        <a:t>Analyst wades through everything unfiltered</a:t>
                      </a:r>
                    </a:p>
                  </a:txBody>
                  <a:tcPr anchor="ctr" marL="73152" marR="54864" marT="27432" marB="27432">
                    <a:solidFill>
                      <a:srgbClr val="EEF3F8"/>
                    </a:solidFill>
                  </a:tcPr>
                </a:tc>
                <a:tc>
                  <a:txBody>
                    <a:bodyPr wrap="square"/>
                    <a:lstStyle/>
                    <a:p>
                      <a:r>
                        <a:rPr sz="1100">
                          <a:solidFill>
                            <a:srgbClr val="1A1A1A"/>
                          </a:solidFill>
                        </a:rPr>
                        <a:t>Slow, error-prone; may miss the relevant data</a:t>
                      </a:r>
                    </a:p>
                  </a:txBody>
                  <a:tcPr anchor="ctr" marL="73152" marR="54864" marT="27432" marB="27432">
                    <a:solidFill>
                      <a:srgbClr val="EEF3F8"/>
                    </a:solidFill>
                  </a:tcPr>
                </a:tc>
              </a:tr>
              <a:tr h="630936">
                <a:tc>
                  <a:txBody>
                    <a:bodyPr wrap="square"/>
                    <a:lstStyle/>
                    <a:p>
                      <a:r>
                        <a:rPr sz="1100" b="1">
                          <a:solidFill>
                            <a:srgbClr val="0C2B4A"/>
                          </a:solidFill>
                        </a:rPr>
                        <a:t>Analysis</a:t>
                      </a:r>
                    </a:p>
                  </a:txBody>
                  <a:tcPr anchor="ctr" marL="73152" marR="54864" marT="27432" marB="27432">
                    <a:solidFill>
                      <a:srgbClr val="FFFFFF"/>
                    </a:solidFill>
                  </a:tcPr>
                </a:tc>
                <a:tc>
                  <a:txBody>
                    <a:bodyPr wrap="square"/>
                    <a:lstStyle/>
                    <a:p>
                      <a:r>
                        <a:rPr sz="1100">
                          <a:solidFill>
                            <a:srgbClr val="1A1A1A"/>
                          </a:solidFill>
                        </a:rPr>
                        <a:t>Report a chat with no timeline/context</a:t>
                      </a:r>
                    </a:p>
                  </a:txBody>
                  <a:tcPr anchor="ctr" marL="73152" marR="54864" marT="27432" marB="27432">
                    <a:solidFill>
                      <a:srgbClr val="FFFFFF"/>
                    </a:solidFill>
                  </a:tcPr>
                </a:tc>
                <a:tc>
                  <a:txBody>
                    <a:bodyPr wrap="square"/>
                    <a:lstStyle/>
                    <a:p>
                      <a:r>
                        <a:rPr sz="1100">
                          <a:solidFill>
                            <a:srgbClr val="1A1A1A"/>
                          </a:solidFill>
                        </a:rPr>
                        <a:t>A judge can't see what actually happened</a:t>
                      </a:r>
                    </a:p>
                  </a:txBody>
                  <a:tcPr anchor="ctr" marL="73152" marR="54864" marT="27432" marB="27432">
                    <a:solidFill>
                      <a:srgbClr val="FFFFFF"/>
                    </a:solidFill>
                  </a:tcPr>
                </a:tc>
              </a:tr>
              <a:tr h="630936">
                <a:tc>
                  <a:txBody>
                    <a:bodyPr wrap="square"/>
                    <a:lstStyle/>
                    <a:p>
                      <a:r>
                        <a:rPr sz="1100" b="1">
                          <a:solidFill>
                            <a:srgbClr val="0C2B4A"/>
                          </a:solidFill>
                        </a:rPr>
                        <a:t>Reporting</a:t>
                      </a:r>
                    </a:p>
                  </a:txBody>
                  <a:tcPr anchor="ctr" marL="73152" marR="54864" marT="27432" marB="27432">
                    <a:solidFill>
                      <a:srgbClr val="EEF3F8"/>
                    </a:solidFill>
                  </a:tcPr>
                </a:tc>
                <a:tc>
                  <a:txBody>
                    <a:bodyPr wrap="square"/>
                    <a:lstStyle/>
                    <a:p>
                      <a:r>
                        <a:rPr sz="1100">
                          <a:solidFill>
                            <a:srgbClr val="1A1A1A"/>
                          </a:solidFill>
                        </a:rPr>
                        <a:t>Hand the court a raw technical dump</a:t>
                      </a:r>
                    </a:p>
                  </a:txBody>
                  <a:tcPr anchor="ctr" marL="73152" marR="54864" marT="27432" marB="27432">
                    <a:solidFill>
                      <a:srgbClr val="EEF3F8"/>
                    </a:solidFill>
                  </a:tcPr>
                </a:tc>
                <a:tc>
                  <a:txBody>
                    <a:bodyPr wrap="square"/>
                    <a:lstStyle/>
                    <a:p>
                      <a:r>
                        <a:rPr sz="1100">
                          <a:solidFill>
                            <a:srgbClr val="1A1A1A"/>
                          </a:solidFill>
                        </a:rPr>
                        <a:t>Non-technical judge can't use it — impact lost</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Errors compound downstream: a preservation failure can't be fixed by brilliant analysis. The single most case-ending skip is usually preservation — lost data can't be re-collected.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22 / 100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Walking the Stages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seized phone is left switched on 'just for now' while officers finish paperwork; overnight it keeps syncing and the suspect's remote account deletes the key chat. Preservation failed — the device should have gone into a Faraday bag / airplane mode immediately at collection.</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"We can always go back and re-collect if we miss something." Volatile evidence (RAM, live syncs, cloud-deletable chats) can vanish permanently within minutes. Preservation is a one-shot chance — you cannot re-collect what has been overwritten or wiped.</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Walking the stages: identify what data matters, preserve it by isolating the device (airplane mode/Faraday) to prevent change, collect it by imaging and hashing, examine to extract the relevant data, analyse to reconstruct the timeline, and report clearly for non-technical readers. Because each stage feeds the next, skipping preservation in particular can destroy evidence permanently.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walk the stages · isolate immediately · Faraday/airplane mode · image + hash · reconstruct timeline · one-shot preservation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23 / 100</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Integrity &amp; Chain of Custody Run Through Every Stage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Chain of custody and integrity thread through all six stages: documentation, hashing at collection, sealed evidence bags, and a custody log. Every handoff is recorded; any gap becomes a challenge in court. Integrity is not a stage — it is a band under all stages.</a:t>
            </a:r>
          </a:p>
          <a:p>
            <a:pPr>
              <a:spcAft>
                <a:spcPts val="500"/>
              </a:spcAft>
            </a:pPr>
            <a:r>
              <a:rPr sz="1200" b="1">
                <a:solidFill>
                  <a:srgbClr val="185FA5"/>
                </a:solidFill>
              </a:rPr>
              <a:t>HOW IT WORKS</a:t>
            </a:r>
          </a:p>
          <a:p>
            <a:pPr>
              <a:spcAft>
                <a:spcPts val="600"/>
              </a:spcAft>
            </a:pPr>
            <a:r>
              <a:rPr sz="1400">
                <a:solidFill>
                  <a:srgbClr val="1A1A1A"/>
                </a:solidFill>
              </a:rPr>
              <a:t>•  Hash at collection; re-hash later to prove nothing changed.</a:t>
            </a:r>
          </a:p>
          <a:p>
            <a:pPr>
              <a:spcAft>
                <a:spcPts val="600"/>
              </a:spcAft>
            </a:pPr>
            <a:r>
              <a:rPr sz="1400">
                <a:solidFill>
                  <a:srgbClr val="1A1A1A"/>
                </a:solidFill>
              </a:rPr>
              <a:t>•  Seal and label evidence; store it in a locked, access-controlled place.</a:t>
            </a:r>
          </a:p>
          <a:p>
            <a:pPr>
              <a:spcAft>
                <a:spcPts val="600"/>
              </a:spcAft>
            </a:pPr>
            <a:r>
              <a:rPr sz="1400">
                <a:solidFill>
                  <a:srgbClr val="1A1A1A"/>
                </a:solidFill>
              </a:rPr>
              <a:t>•  Log every transfer: who took it, when, why, and how.</a:t>
            </a:r>
          </a:p>
          <a:p>
            <a:pPr>
              <a:spcAft>
                <a:spcPts val="600"/>
              </a:spcAft>
            </a:pPr>
            <a:r>
              <a:rPr sz="1400">
                <a:solidFill>
                  <a:srgbClr val="1A1A1A"/>
                </a:solidFill>
              </a:rPr>
              <a:t>•  A single unexplained gap can make the whole exhibit inadmissible.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Custody is a relay baton — every handoff is recorded, and dropping it disqualifies the team.</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24 / 100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3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How integrity is maintained at each stage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61780"/>
                <a:gridCol w="4540684"/>
                <a:gridCol w="4227534"/>
              </a:tblGrid>
              <a:tr h="630936">
                <a:tc>
                  <a:txBody>
                    <a:bodyPr wrap="square"/>
                    <a:lstStyle/>
                    <a:p>
                      <a:r>
                        <a:rPr sz="1150" b="1">
                          <a:solidFill>
                            <a:srgbClr val="FFFFFF"/>
                          </a:solidFill>
                        </a:rPr>
                        <a:t>Stage</a:t>
                      </a:r>
                    </a:p>
                  </a:txBody>
                  <a:tcPr anchor="ctr" marL="73152" marR="54864" marT="27432" marB="27432">
                    <a:solidFill>
                      <a:srgbClr val="0C2B4A"/>
                    </a:solidFill>
                  </a:tcPr>
                </a:tc>
                <a:tc>
                  <a:txBody>
                    <a:bodyPr wrap="square"/>
                    <a:lstStyle/>
                    <a:p>
                      <a:r>
                        <a:rPr sz="1150" b="1">
                          <a:solidFill>
                            <a:srgbClr val="FFFFFF"/>
                          </a:solidFill>
                        </a:rPr>
                        <a:t>Integrity action taken</a:t>
                      </a:r>
                    </a:p>
                  </a:txBody>
                  <a:tcPr anchor="ctr" marL="73152" marR="54864" marT="27432" marB="27432">
                    <a:solidFill>
                      <a:srgbClr val="0C2B4A"/>
                    </a:solidFill>
                  </a:tcPr>
                </a:tc>
                <a:tc>
                  <a:txBody>
                    <a:bodyPr wrap="square"/>
                    <a:lstStyle/>
                    <a:p>
                      <a:r>
                        <a:rPr sz="1150" b="1">
                          <a:solidFill>
                            <a:srgbClr val="FFFFFF"/>
                          </a:solidFill>
                        </a:rPr>
                        <a:t>Why it protects the case</a:t>
                      </a:r>
                    </a:p>
                  </a:txBody>
                  <a:tcPr anchor="ctr" marL="73152" marR="54864" marT="27432" marB="27432">
                    <a:solidFill>
                      <a:srgbClr val="0C2B4A"/>
                    </a:solidFill>
                  </a:tcPr>
                </a:tc>
              </a:tr>
              <a:tr h="630936">
                <a:tc>
                  <a:txBody>
                    <a:bodyPr wrap="square"/>
                    <a:lstStyle/>
                    <a:p>
                      <a:r>
                        <a:rPr sz="1100" b="1">
                          <a:solidFill>
                            <a:srgbClr val="0C2B4A"/>
                          </a:solidFill>
                        </a:rPr>
                        <a:t>Preservation</a:t>
                      </a:r>
                    </a:p>
                  </a:txBody>
                  <a:tcPr anchor="ctr" marL="73152" marR="54864" marT="27432" marB="27432">
                    <a:solidFill>
                      <a:srgbClr val="FFFFFF"/>
                    </a:solidFill>
                  </a:tcPr>
                </a:tc>
                <a:tc>
                  <a:txBody>
                    <a:bodyPr wrap="square"/>
                    <a:lstStyle/>
                    <a:p>
                      <a:r>
                        <a:rPr sz="1100">
                          <a:solidFill>
                            <a:srgbClr val="1A1A1A"/>
                          </a:solidFill>
                        </a:rPr>
                        <a:t>Seal in a labelled, tamper-evident bag</a:t>
                      </a:r>
                    </a:p>
                  </a:txBody>
                  <a:tcPr anchor="ctr" marL="73152" marR="54864" marT="27432" marB="27432">
                    <a:solidFill>
                      <a:srgbClr val="FFFFFF"/>
                    </a:solidFill>
                  </a:tcPr>
                </a:tc>
                <a:tc>
                  <a:txBody>
                    <a:bodyPr wrap="square"/>
                    <a:lstStyle/>
                    <a:p>
                      <a:r>
                        <a:rPr sz="1100">
                          <a:solidFill>
                            <a:srgbClr val="1A1A1A"/>
                          </a:solidFill>
                        </a:rPr>
                        <a:t>Proves no one accessed it in transit</a:t>
                      </a:r>
                    </a:p>
                  </a:txBody>
                  <a:tcPr anchor="ctr" marL="73152" marR="54864" marT="27432" marB="27432">
                    <a:solidFill>
                      <a:srgbClr val="FFFFFF"/>
                    </a:solidFill>
                  </a:tcPr>
                </a:tc>
              </a:tr>
              <a:tr h="630936">
                <a:tc>
                  <a:txBody>
                    <a:bodyPr wrap="square"/>
                    <a:lstStyle/>
                    <a:p>
                      <a:r>
                        <a:rPr sz="1100" b="1">
                          <a:solidFill>
                            <a:srgbClr val="0C2B4A"/>
                          </a:solidFill>
                        </a:rPr>
                        <a:t>Collection</a:t>
                      </a:r>
                    </a:p>
                  </a:txBody>
                  <a:tcPr anchor="ctr" marL="73152" marR="54864" marT="27432" marB="27432">
                    <a:solidFill>
                      <a:srgbClr val="EEF3F8"/>
                    </a:solidFill>
                  </a:tcPr>
                </a:tc>
                <a:tc>
                  <a:txBody>
                    <a:bodyPr wrap="square"/>
                    <a:lstStyle/>
                    <a:p>
                      <a:r>
                        <a:rPr sz="1100">
                          <a:solidFill>
                            <a:srgbClr val="1A1A1A"/>
                          </a:solidFill>
                        </a:rPr>
                        <a:t>Compute a SHA-256 hash of the image</a:t>
                      </a:r>
                    </a:p>
                  </a:txBody>
                  <a:tcPr anchor="ctr" marL="73152" marR="54864" marT="27432" marB="27432">
                    <a:solidFill>
                      <a:srgbClr val="EEF3F8"/>
                    </a:solidFill>
                  </a:tcPr>
                </a:tc>
                <a:tc>
                  <a:txBody>
                    <a:bodyPr wrap="square"/>
                    <a:lstStyle/>
                    <a:p>
                      <a:r>
                        <a:rPr sz="1100">
                          <a:solidFill>
                            <a:srgbClr val="1A1A1A"/>
                          </a:solidFill>
                        </a:rPr>
                        <a:t>Later re-hash proves the copy is unchanged</a:t>
                      </a:r>
                    </a:p>
                  </a:txBody>
                  <a:tcPr anchor="ctr" marL="73152" marR="54864" marT="27432" marB="27432">
                    <a:solidFill>
                      <a:srgbClr val="EEF3F8"/>
                    </a:solidFill>
                  </a:tcPr>
                </a:tc>
              </a:tr>
              <a:tr h="630936">
                <a:tc>
                  <a:txBody>
                    <a:bodyPr wrap="square"/>
                    <a:lstStyle/>
                    <a:p>
                      <a:r>
                        <a:rPr sz="1100" b="1">
                          <a:solidFill>
                            <a:srgbClr val="0C2B4A"/>
                          </a:solidFill>
                        </a:rPr>
                        <a:t>Storage</a:t>
                      </a:r>
                    </a:p>
                  </a:txBody>
                  <a:tcPr anchor="ctr" marL="73152" marR="54864" marT="27432" marB="27432">
                    <a:solidFill>
                      <a:srgbClr val="FFFFFF"/>
                    </a:solidFill>
                  </a:tcPr>
                </a:tc>
                <a:tc>
                  <a:txBody>
                    <a:bodyPr wrap="square"/>
                    <a:lstStyle/>
                    <a:p>
                      <a:r>
                        <a:rPr sz="1100">
                          <a:solidFill>
                            <a:srgbClr val="1A1A1A"/>
                          </a:solidFill>
                        </a:rPr>
                        <a:t>Lock in an access-controlled evidence locker</a:t>
                      </a:r>
                    </a:p>
                  </a:txBody>
                  <a:tcPr anchor="ctr" marL="73152" marR="54864" marT="27432" marB="27432">
                    <a:solidFill>
                      <a:srgbClr val="FFFFFF"/>
                    </a:solidFill>
                  </a:tcPr>
                </a:tc>
                <a:tc>
                  <a:txBody>
                    <a:bodyPr wrap="square"/>
                    <a:lstStyle/>
                    <a:p>
                      <a:r>
                        <a:rPr sz="1100">
                          <a:solidFill>
                            <a:srgbClr val="1A1A1A"/>
                          </a:solidFill>
                        </a:rPr>
                        <a:t>Limits who could have tampered</a:t>
                      </a:r>
                    </a:p>
                  </a:txBody>
                  <a:tcPr anchor="ctr" marL="73152" marR="54864" marT="27432" marB="27432">
                    <a:solidFill>
                      <a:srgbClr val="FFFFFF"/>
                    </a:solidFill>
                  </a:tcPr>
                </a:tc>
              </a:tr>
              <a:tr h="630936">
                <a:tc>
                  <a:txBody>
                    <a:bodyPr wrap="square"/>
                    <a:lstStyle/>
                    <a:p>
                      <a:r>
                        <a:rPr sz="1100" b="1">
                          <a:solidFill>
                            <a:srgbClr val="0C2B4A"/>
                          </a:solidFill>
                        </a:rPr>
                        <a:t>Every handoff</a:t>
                      </a:r>
                    </a:p>
                  </a:txBody>
                  <a:tcPr anchor="ctr" marL="73152" marR="54864" marT="27432" marB="27432">
                    <a:solidFill>
                      <a:srgbClr val="EEF3F8"/>
                    </a:solidFill>
                  </a:tcPr>
                </a:tc>
                <a:tc>
                  <a:txBody>
                    <a:bodyPr wrap="square"/>
                    <a:lstStyle/>
                    <a:p>
                      <a:r>
                        <a:rPr sz="1100">
                          <a:solidFill>
                            <a:srgbClr val="1A1A1A"/>
                          </a:solidFill>
                        </a:rPr>
                        <a:t>Sign the custody log (who/when/why/how)</a:t>
                      </a:r>
                    </a:p>
                  </a:txBody>
                  <a:tcPr anchor="ctr" marL="73152" marR="54864" marT="27432" marB="27432">
                    <a:solidFill>
                      <a:srgbClr val="EEF3F8"/>
                    </a:solidFill>
                  </a:tcPr>
                </a:tc>
                <a:tc>
                  <a:txBody>
                    <a:bodyPr wrap="square"/>
                    <a:lstStyle/>
                    <a:p>
                      <a:r>
                        <a:rPr sz="1100">
                          <a:solidFill>
                            <a:srgbClr val="1A1A1A"/>
                          </a:solidFill>
                        </a:rPr>
                        <a:t>No gap for the defence to exploit</a:t>
                      </a:r>
                    </a:p>
                  </a:txBody>
                  <a:tcPr anchor="ctr" marL="73152" marR="54864" marT="27432" marB="27432">
                    <a:solidFill>
                      <a:srgbClr val="EEF3F8"/>
                    </a:solidFill>
                  </a:tcPr>
                </a:tc>
              </a:tr>
              <a:tr h="630936">
                <a:tc>
                  <a:txBody>
                    <a:bodyPr wrap="square"/>
                    <a:lstStyle/>
                    <a:p>
                      <a:r>
                        <a:rPr sz="1100" b="1">
                          <a:solidFill>
                            <a:srgbClr val="0C2B4A"/>
                          </a:solidFill>
                        </a:rPr>
                        <a:t>Examination</a:t>
                      </a:r>
                    </a:p>
                  </a:txBody>
                  <a:tcPr anchor="ctr" marL="73152" marR="54864" marT="27432" marB="27432">
                    <a:solidFill>
                      <a:srgbClr val="FFFFFF"/>
                    </a:solidFill>
                  </a:tcPr>
                </a:tc>
                <a:tc>
                  <a:txBody>
                    <a:bodyPr wrap="square"/>
                    <a:lstStyle/>
                    <a:p>
                      <a:r>
                        <a:rPr sz="1100">
                          <a:solidFill>
                            <a:srgbClr val="1A1A1A"/>
                          </a:solidFill>
                        </a:rPr>
                        <a:t>Work only on the hashed copy, never the original</a:t>
                      </a:r>
                    </a:p>
                  </a:txBody>
                  <a:tcPr anchor="ctr" marL="73152" marR="54864" marT="27432" marB="27432">
                    <a:solidFill>
                      <a:srgbClr val="FFFFFF"/>
                    </a:solidFill>
                  </a:tcPr>
                </a:tc>
                <a:tc>
                  <a:txBody>
                    <a:bodyPr wrap="square"/>
                    <a:lstStyle/>
                    <a:p>
                      <a:r>
                        <a:rPr sz="1100">
                          <a:solidFill>
                            <a:srgbClr val="1A1A1A"/>
                          </a:solidFill>
                        </a:rPr>
                        <a:t>The sealed original stays court-ready</a:t>
                      </a:r>
                    </a:p>
                  </a:txBody>
                  <a:tcPr anchor="ctr" marL="73152" marR="54864" marT="27432" marB="27432">
                    <a:solidFill>
                      <a:srgbClr val="FFFFFF"/>
                    </a:solidFill>
                  </a:tcPr>
                </a:tc>
              </a:tr>
              <a:tr h="630936">
                <a:tc>
                  <a:txBody>
                    <a:bodyPr wrap="square"/>
                    <a:lstStyle/>
                    <a:p>
                      <a:r>
                        <a:rPr sz="1100" b="1">
                          <a:solidFill>
                            <a:srgbClr val="0C2B4A"/>
                          </a:solidFill>
                        </a:rPr>
                        <a:t>Reporting</a:t>
                      </a:r>
                    </a:p>
                  </a:txBody>
                  <a:tcPr anchor="ctr" marL="73152" marR="54864" marT="27432" marB="27432">
                    <a:solidFill>
                      <a:srgbClr val="EEF3F8"/>
                    </a:solidFill>
                  </a:tcPr>
                </a:tc>
                <a:tc>
                  <a:txBody>
                    <a:bodyPr wrap="square"/>
                    <a:lstStyle/>
                    <a:p>
                      <a:r>
                        <a:rPr sz="1100">
                          <a:solidFill>
                            <a:srgbClr val="1A1A1A"/>
                          </a:solidFill>
                        </a:rPr>
                        <a:t>Cite hashes &amp; custody log in the report</a:t>
                      </a:r>
                    </a:p>
                  </a:txBody>
                  <a:tcPr anchor="ctr" marL="73152" marR="54864" marT="27432" marB="27432">
                    <a:solidFill>
                      <a:srgbClr val="EEF3F8"/>
                    </a:solidFill>
                  </a:tcPr>
                </a:tc>
                <a:tc>
                  <a:txBody>
                    <a:bodyPr wrap="square"/>
                    <a:lstStyle/>
                    <a:p>
                      <a:r>
                        <a:rPr sz="1100">
                          <a:solidFill>
                            <a:srgbClr val="1A1A1A"/>
                          </a:solidFill>
                        </a:rPr>
                        <a:t>Shows the court the evidence is trustworthy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Integrity is continuous, not a final checkbox. The custody log plus matching hashes are what let an expert testify, credibly, that the evidence is exactly what was seized.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25 / 100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S39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Integrity &amp; Chain of Custody Run Through Every Stage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a Nepali fraud case, the Cyber Bureau tags and seals the seized phone, hashes the image at collection, logs every handoff to the lab and back, and cites those hashes in the report. If challenged, the expert can show the analysed copy still matches the seized original bit-for-bit.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"Chain of custody is just bureaucratic paperwork." It is the proof the evidence wasn't tampered with — without it, even perfect data is worthless in court. The log and the hashes are what let the evidence be believed at all.</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Integrity and chain of custody run through every stage: hashing at collection, sealed and labelled evidence bags, locked storage, and a custody log that records every handoff (who, when, why, how). Any unexplained gap becomes a challenge in court, so integrity is a continuous band under all six stages — not a final formality — and it is what makes the evidence believable.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chain of custody · integrity · hashing · sealed evidence · custody log · continuous not a checkbox</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26 / 100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S39 — 'Order the stages'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I give you the six stages shuffled — put them in the correct order.</a:t>
            </a:r>
          </a:p>
          <a:p>
            <a:pPr>
              <a:spcAft>
                <a:spcPts val="700"/>
              </a:spcAft>
            </a:pPr>
            <a:r>
              <a:rPr sz="1550">
                <a:solidFill>
                  <a:srgbClr val="1A1A1A"/>
                </a:solidFill>
              </a:rPr>
              <a:t>•  For each stage, write one sentence on what it produces for the next stage.</a:t>
            </a:r>
          </a:p>
          <a:p>
            <a:pPr>
              <a:spcAft>
                <a:spcPts val="700"/>
              </a:spcAft>
            </a:pPr>
            <a:r>
              <a:rPr sz="1550">
                <a:solidFill>
                  <a:srgbClr val="1A1A1A"/>
                </a:solidFill>
              </a:rPr>
              <a:t>•  Take answers aloud (3 min); fix any that swap collection/examination.</a:t>
            </a:r>
          </a:p>
          <a:p>
            <a:pPr>
              <a:spcAft>
                <a:spcPts val="700"/>
              </a:spcAft>
            </a:pPr>
            <a:r>
              <a:rPr sz="1550">
                <a:solidFill>
                  <a:srgbClr val="1A1A1A"/>
                </a:solidFill>
              </a:rPr>
              <a:t>•  Close: point to which single stage, if skipped, most often destroys a case (preservation).</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Correct order: identify -&gt; preserve -&gt; collect -&gt; examine -&gt; analyse -&gt; report. Common error is merging collection and examination. Draw out that preservation is the one-shot, case-ending stage.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27 / 100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S39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Which is the correct order of the forensic process?</a:t>
            </a:r>
          </a:p>
          <a:p>
            <a:pPr lvl="1"/>
            <a:r>
              <a:rPr sz="1500" b="1">
                <a:solidFill>
                  <a:srgbClr val="0F6E56"/>
                </a:solidFill>
              </a:rPr>
              <a:t>a) collect→identify→report   b) ✅ identify→preserve→collect→examine→analyse→report   c) analyse→collect→report   d) report→collect</a:t>
            </a:r>
          </a:p>
          <a:p>
            <a:pPr lvl="1">
              <a:spcBef>
                <a:spcPts val="600"/>
              </a:spcBef>
            </a:pPr>
            <a:r>
              <a:rPr sz="1500" i="1">
                <a:solidFill>
                  <a:srgbClr val="1A1A1A"/>
                </a:solidFill>
              </a:rPr>
              <a:t>     Why: it is a fixed, documented sequence; preservation and collection make the later analysis admissible.</a:t>
            </a:r>
          </a:p>
          <a:p>
            <a:pPr>
              <a:spcBef>
                <a:spcPts val="900"/>
              </a:spcBef>
            </a:pPr>
            <a:r>
              <a:rPr sz="1700" b="1">
                <a:solidFill>
                  <a:srgbClr val="0C2B4A"/>
                </a:solidFill>
              </a:rPr>
              <a:t>Q2.  The forensic report must be written primarily for:</a:t>
            </a:r>
          </a:p>
          <a:p>
            <a:pPr lvl="1"/>
            <a:r>
              <a:rPr sz="1500" b="1">
                <a:solidFill>
                  <a:srgbClr val="0F6E56"/>
                </a:solidFill>
              </a:rPr>
              <a:t>a) other engineers   b) ✅ a non-technical audience such as a judge/lawyer   c) the suspect   d) the media</a:t>
            </a:r>
          </a:p>
          <a:p>
            <a:pPr lvl="1">
              <a:spcBef>
                <a:spcPts val="600"/>
              </a:spcBef>
            </a:pPr>
            <a:r>
              <a:rPr sz="1500" i="1">
                <a:solidFill>
                  <a:srgbClr val="1A1A1A"/>
                </a:solidFill>
              </a:rPr>
              <a:t>     Why: the court decides the case, so the report must be clear and defensible to non-technical readers.</a:t>
            </a:r>
          </a:p>
          <a:p>
            <a:pPr lvl="1">
              <a:spcBef>
                <a:spcPts val="600"/>
              </a:spcBef>
            </a:pPr>
            <a:r>
              <a:rPr sz="1500" i="1">
                <a:solidFill>
                  <a:srgbClr val="1A1A1A"/>
                </a:solidFill>
              </a:rPr>
              <a:t>Discussion: which single stage, if skipped, most often destroys a case — and why?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28 / 100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S39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Forensics follows a fixed, documented sequence: identify → preserve → collect → examine → analyse → report.</a:t>
            </a:r>
          </a:p>
          <a:p>
            <a:pPr>
              <a:spcAft>
                <a:spcPts val="800"/>
              </a:spcAft>
            </a:pPr>
            <a:r>
              <a:rPr sz="1500">
                <a:solidFill>
                  <a:srgbClr val="1A1A1A"/>
                </a:solidFill>
              </a:rPr>
              <a:t>2.  Preservation protects everything downstream; a skipped stage silently poisons the rest.</a:t>
            </a:r>
          </a:p>
          <a:p>
            <a:pPr>
              <a:spcAft>
                <a:spcPts val="800"/>
              </a:spcAft>
            </a:pPr>
            <a:r>
              <a:rPr sz="1500">
                <a:solidFill>
                  <a:srgbClr val="1A1A1A"/>
                </a:solidFill>
              </a:rPr>
              <a:t>3.  Integrity and chain of custody thread through all six stages — a continuous band, not a final checkbox.</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The same disciplined-process thinking applies to incident response in any company breach, not just police work — a clean, documented process is what turns a mess into a defensible account.</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S40 — what actually counts as digital evidence, and the lab that handles 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29 / 100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40 · LECTURE HOUR 3 (OF 7)</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Role of Digital Evidence · Methods and the Forensic Lab</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deleted message, a GPS log, a thumbnail cache, a router log — which of these convicted someone? All of them have. What turns ordinary data into EVIDENCE?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30 / 100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Counts as Digital Evidence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Digital evidence is any data stored or transmitted in digital form that can support or refute a fact in a case. Types include files, metadata, logs, chats/email, images/video, location data, and deleted/residual data. Good evidence is admissible, authentic, complete, reliable and believable.</a:t>
            </a:r>
          </a:p>
          <a:p>
            <a:pPr>
              <a:spcAft>
                <a:spcPts val="500"/>
              </a:spcAft>
            </a:pPr>
            <a:r>
              <a:rPr sz="1200" b="1">
                <a:solidFill>
                  <a:srgbClr val="185FA5"/>
                </a:solidFill>
              </a:rPr>
              <a:t>HOW IT WORKS</a:t>
            </a:r>
          </a:p>
          <a:p>
            <a:pPr>
              <a:spcAft>
                <a:spcPts val="600"/>
              </a:spcAft>
            </a:pPr>
            <a:r>
              <a:rPr sz="1400">
                <a:solidFill>
                  <a:srgbClr val="1A1A1A"/>
                </a:solidFill>
              </a:rPr>
              <a:t>•  Evidence can be visible (a chat) or hidden (metadata, a thumbnail cache, a log).</a:t>
            </a:r>
          </a:p>
          <a:p>
            <a:pPr>
              <a:spcAft>
                <a:spcPts val="600"/>
              </a:spcAft>
            </a:pPr>
            <a:r>
              <a:rPr sz="1400">
                <a:solidFill>
                  <a:srgbClr val="1A1A1A"/>
                </a:solidFill>
              </a:rPr>
              <a:t>•  Five properties of good evidence: admissible, authentic, complete, reliable, believable.</a:t>
            </a:r>
          </a:p>
          <a:p>
            <a:pPr>
              <a:spcAft>
                <a:spcPts val="600"/>
              </a:spcAft>
            </a:pPr>
            <a:r>
              <a:rPr sz="1400">
                <a:solidFill>
                  <a:srgbClr val="1A1A1A"/>
                </a:solidFill>
              </a:rPr>
              <a:t>•  It must be lawfully obtained and unaltered to keep those properties.</a:t>
            </a:r>
          </a:p>
          <a:p>
            <a:pPr>
              <a:spcAft>
                <a:spcPts val="600"/>
              </a:spcAft>
            </a:pPr>
            <a:r>
              <a:rPr sz="1400">
                <a:solidFill>
                  <a:srgbClr val="1A1A1A"/>
                </a:solidFill>
              </a:rPr>
              <a:t>•  Encryption is NOT a required property — it's how you protect it, not what makes it evidence.</a:t>
            </a:r>
          </a:p>
        </p:txBody>
      </p:sp>
      <p:pic>
        <p:nvPicPr>
          <p:cNvPr id="6" name="Picture 5" descr="s40_evidence.png"/>
          <p:cNvPicPr>
            <a:picLocks noChangeAspect="1"/>
          </p:cNvPicPr>
          <p:nvPr/>
        </p:nvPicPr>
        <p:blipFill>
          <a:blip r:embed="rId2"/>
          <a:stretch>
            <a:fillRect/>
          </a:stretch>
        </p:blipFill>
        <p:spPr>
          <a:xfrm>
            <a:off x="6355080" y="2562089"/>
            <a:ext cx="5532120" cy="2511061"/>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Evidence = data that supports/refutes a fact; good = admissible, authentic, complete, reliable, believable.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31 / 100</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Types of digital evidence — where it lives and what it proves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61780"/>
                <a:gridCol w="3914383"/>
                <a:gridCol w="4853835"/>
              </a:tblGrid>
              <a:tr h="630936">
                <a:tc>
                  <a:txBody>
                    <a:bodyPr wrap="square"/>
                    <a:lstStyle/>
                    <a:p>
                      <a:r>
                        <a:rPr sz="1150" b="1">
                          <a:solidFill>
                            <a:srgbClr val="FFFFFF"/>
                          </a:solidFill>
                        </a:rPr>
                        <a:t>Type</a:t>
                      </a:r>
                    </a:p>
                  </a:txBody>
                  <a:tcPr anchor="ctr" marL="73152" marR="54864" marT="27432" marB="27432">
                    <a:solidFill>
                      <a:srgbClr val="0C2B4A"/>
                    </a:solidFill>
                  </a:tcPr>
                </a:tc>
                <a:tc>
                  <a:txBody>
                    <a:bodyPr wrap="square"/>
                    <a:lstStyle/>
                    <a:p>
                      <a:r>
                        <a:rPr sz="1150" b="1">
                          <a:solidFill>
                            <a:srgbClr val="FFFFFF"/>
                          </a:solidFill>
                        </a:rPr>
                        <a:t>Where it lives</a:t>
                      </a:r>
                    </a:p>
                  </a:txBody>
                  <a:tcPr anchor="ctr" marL="73152" marR="54864" marT="27432" marB="27432">
                    <a:solidFill>
                      <a:srgbClr val="0C2B4A"/>
                    </a:solidFill>
                  </a:tcPr>
                </a:tc>
                <a:tc>
                  <a:txBody>
                    <a:bodyPr wrap="square"/>
                    <a:lstStyle/>
                    <a:p>
                      <a:r>
                        <a:rPr sz="1150" b="1">
                          <a:solidFill>
                            <a:srgbClr val="FFFFFF"/>
                          </a:solidFill>
                        </a:rPr>
                        <a:t>What it can prove (Nepal example)</a:t>
                      </a:r>
                    </a:p>
                  </a:txBody>
                  <a:tcPr anchor="ctr" marL="73152" marR="54864" marT="27432" marB="27432">
                    <a:solidFill>
                      <a:srgbClr val="0C2B4A"/>
                    </a:solidFill>
                  </a:tcPr>
                </a:tc>
              </a:tr>
              <a:tr h="630936">
                <a:tc>
                  <a:txBody>
                    <a:bodyPr wrap="square"/>
                    <a:lstStyle/>
                    <a:p>
                      <a:r>
                        <a:rPr sz="1100" b="1">
                          <a:solidFill>
                            <a:srgbClr val="0C2B4A"/>
                          </a:solidFill>
                        </a:rPr>
                        <a:t>Files / documents</a:t>
                      </a:r>
                    </a:p>
                  </a:txBody>
                  <a:tcPr anchor="ctr" marL="73152" marR="54864" marT="27432" marB="27432">
                    <a:solidFill>
                      <a:srgbClr val="FFFFFF"/>
                    </a:solidFill>
                  </a:tcPr>
                </a:tc>
                <a:tc>
                  <a:txBody>
                    <a:bodyPr wrap="square"/>
                    <a:lstStyle/>
                    <a:p>
                      <a:r>
                        <a:rPr sz="1100">
                          <a:solidFill>
                            <a:srgbClr val="1A1A1A"/>
                          </a:solidFill>
                        </a:rPr>
                        <a:t>Disk, phone, cloud</a:t>
                      </a:r>
                    </a:p>
                  </a:txBody>
                  <a:tcPr anchor="ctr" marL="73152" marR="54864" marT="27432" marB="27432">
                    <a:solidFill>
                      <a:srgbClr val="FFFFFF"/>
                    </a:solidFill>
                  </a:tcPr>
                </a:tc>
                <a:tc>
                  <a:txBody>
                    <a:bodyPr wrap="square"/>
                    <a:lstStyle/>
                    <a:p>
                      <a:r>
                        <a:rPr sz="1100">
                          <a:solidFill>
                            <a:srgbClr val="1A1A1A"/>
                          </a:solidFill>
                        </a:rPr>
                        <a:t>A forged invoice in a fraud case</a:t>
                      </a:r>
                    </a:p>
                  </a:txBody>
                  <a:tcPr anchor="ctr" marL="73152" marR="54864" marT="27432" marB="27432">
                    <a:solidFill>
                      <a:srgbClr val="FFFFFF"/>
                    </a:solidFill>
                  </a:tcPr>
                </a:tc>
              </a:tr>
              <a:tr h="630936">
                <a:tc>
                  <a:txBody>
                    <a:bodyPr wrap="square"/>
                    <a:lstStyle/>
                    <a:p>
                      <a:r>
                        <a:rPr sz="1100" b="1">
                          <a:solidFill>
                            <a:srgbClr val="0C2B4A"/>
                          </a:solidFill>
                        </a:rPr>
                        <a:t>Metadata</a:t>
                      </a:r>
                    </a:p>
                  </a:txBody>
                  <a:tcPr anchor="ctr" marL="73152" marR="54864" marT="27432" marB="27432">
                    <a:solidFill>
                      <a:srgbClr val="EEF3F8"/>
                    </a:solidFill>
                  </a:tcPr>
                </a:tc>
                <a:tc>
                  <a:txBody>
                    <a:bodyPr wrap="square"/>
                    <a:lstStyle/>
                    <a:p>
                      <a:r>
                        <a:rPr sz="1100">
                          <a:solidFill>
                            <a:srgbClr val="1A1A1A"/>
                          </a:solidFill>
                        </a:rPr>
                        <a:t>Inside the file (author, timestamps, GPS)</a:t>
                      </a:r>
                    </a:p>
                  </a:txBody>
                  <a:tcPr anchor="ctr" marL="73152" marR="54864" marT="27432" marB="27432">
                    <a:solidFill>
                      <a:srgbClr val="EEF3F8"/>
                    </a:solidFill>
                  </a:tcPr>
                </a:tc>
                <a:tc>
                  <a:txBody>
                    <a:bodyPr wrap="square"/>
                    <a:lstStyle/>
                    <a:p>
                      <a:r>
                        <a:rPr sz="1100">
                          <a:solidFill>
                            <a:srgbClr val="1A1A1A"/>
                          </a:solidFill>
                        </a:rPr>
                        <a:t>When/where a photo was really taken</a:t>
                      </a:r>
                    </a:p>
                  </a:txBody>
                  <a:tcPr anchor="ctr" marL="73152" marR="54864" marT="27432" marB="27432">
                    <a:solidFill>
                      <a:srgbClr val="EEF3F8"/>
                    </a:solidFill>
                  </a:tcPr>
                </a:tc>
              </a:tr>
              <a:tr h="630936">
                <a:tc>
                  <a:txBody>
                    <a:bodyPr wrap="square"/>
                    <a:lstStyle/>
                    <a:p>
                      <a:r>
                        <a:rPr sz="1100" b="1">
                          <a:solidFill>
                            <a:srgbClr val="0C2B4A"/>
                          </a:solidFill>
                        </a:rPr>
                        <a:t>Logs</a:t>
                      </a:r>
                    </a:p>
                  </a:txBody>
                  <a:tcPr anchor="ctr" marL="73152" marR="54864" marT="27432" marB="27432">
                    <a:solidFill>
                      <a:srgbClr val="FFFFFF"/>
                    </a:solidFill>
                  </a:tcPr>
                </a:tc>
                <a:tc>
                  <a:txBody>
                    <a:bodyPr wrap="square"/>
                    <a:lstStyle/>
                    <a:p>
                      <a:r>
                        <a:rPr sz="1100">
                          <a:solidFill>
                            <a:srgbClr val="1A1A1A"/>
                          </a:solidFill>
                        </a:rPr>
                        <a:t>System, router, server, app</a:t>
                      </a:r>
                    </a:p>
                  </a:txBody>
                  <a:tcPr anchor="ctr" marL="73152" marR="54864" marT="27432" marB="27432">
                    <a:solidFill>
                      <a:srgbClr val="FFFFFF"/>
                    </a:solidFill>
                  </a:tcPr>
                </a:tc>
                <a:tc>
                  <a:txBody>
                    <a:bodyPr wrap="square"/>
                    <a:lstStyle/>
                    <a:p>
                      <a:r>
                        <a:rPr sz="1100">
                          <a:solidFill>
                            <a:srgbClr val="1A1A1A"/>
                          </a:solidFill>
                        </a:rPr>
                        <a:t>Which account logged in, and when</a:t>
                      </a:r>
                    </a:p>
                  </a:txBody>
                  <a:tcPr anchor="ctr" marL="73152" marR="54864" marT="27432" marB="27432">
                    <a:solidFill>
                      <a:srgbClr val="FFFFFF"/>
                    </a:solidFill>
                  </a:tcPr>
                </a:tc>
              </a:tr>
              <a:tr h="630936">
                <a:tc>
                  <a:txBody>
                    <a:bodyPr wrap="square"/>
                    <a:lstStyle/>
                    <a:p>
                      <a:r>
                        <a:rPr sz="1100" b="1">
                          <a:solidFill>
                            <a:srgbClr val="0C2B4A"/>
                          </a:solidFill>
                        </a:rPr>
                        <a:t>Chats / email</a:t>
                      </a:r>
                    </a:p>
                  </a:txBody>
                  <a:tcPr anchor="ctr" marL="73152" marR="54864" marT="27432" marB="27432">
                    <a:solidFill>
                      <a:srgbClr val="EEF3F8"/>
                    </a:solidFill>
                  </a:tcPr>
                </a:tc>
                <a:tc>
                  <a:txBody>
                    <a:bodyPr wrap="square"/>
                    <a:lstStyle/>
                    <a:p>
                      <a:r>
                        <a:rPr sz="1100">
                          <a:solidFill>
                            <a:srgbClr val="1A1A1A"/>
                          </a:solidFill>
                        </a:rPr>
                        <a:t>App databases, mail servers</a:t>
                      </a:r>
                    </a:p>
                  </a:txBody>
                  <a:tcPr anchor="ctr" marL="73152" marR="54864" marT="27432" marB="27432">
                    <a:solidFill>
                      <a:srgbClr val="EEF3F8"/>
                    </a:solidFill>
                  </a:tcPr>
                </a:tc>
                <a:tc>
                  <a:txBody>
                    <a:bodyPr wrap="square"/>
                    <a:lstStyle/>
                    <a:p>
                      <a:r>
                        <a:rPr sz="1100">
                          <a:solidFill>
                            <a:srgbClr val="1A1A1A"/>
                          </a:solidFill>
                        </a:rPr>
                        <a:t>A blackmail or harassment conversation</a:t>
                      </a:r>
                    </a:p>
                  </a:txBody>
                  <a:tcPr anchor="ctr" marL="73152" marR="54864" marT="27432" marB="27432">
                    <a:solidFill>
                      <a:srgbClr val="EEF3F8"/>
                    </a:solidFill>
                  </a:tcPr>
                </a:tc>
              </a:tr>
              <a:tr h="630936">
                <a:tc>
                  <a:txBody>
                    <a:bodyPr wrap="square"/>
                    <a:lstStyle/>
                    <a:p>
                      <a:r>
                        <a:rPr sz="1100" b="1">
                          <a:solidFill>
                            <a:srgbClr val="0C2B4A"/>
                          </a:solidFill>
                        </a:rPr>
                        <a:t>Location / GPS</a:t>
                      </a:r>
                    </a:p>
                  </a:txBody>
                  <a:tcPr anchor="ctr" marL="73152" marR="54864" marT="27432" marB="27432">
                    <a:solidFill>
                      <a:srgbClr val="FFFFFF"/>
                    </a:solidFill>
                  </a:tcPr>
                </a:tc>
                <a:tc>
                  <a:txBody>
                    <a:bodyPr wrap="square"/>
                    <a:lstStyle/>
                    <a:p>
                      <a:r>
                        <a:rPr sz="1100">
                          <a:solidFill>
                            <a:srgbClr val="1A1A1A"/>
                          </a:solidFill>
                        </a:rPr>
                        <a:t>Phone, app history, CDRs (NTC/Ncell)</a:t>
                      </a:r>
                    </a:p>
                  </a:txBody>
                  <a:tcPr anchor="ctr" marL="73152" marR="54864" marT="27432" marB="27432">
                    <a:solidFill>
                      <a:srgbClr val="FFFFFF"/>
                    </a:solidFill>
                  </a:tcPr>
                </a:tc>
                <a:tc>
                  <a:txBody>
                    <a:bodyPr wrap="square"/>
                    <a:lstStyle/>
                    <a:p>
                      <a:r>
                        <a:rPr sz="1100">
                          <a:solidFill>
                            <a:srgbClr val="1A1A1A"/>
                          </a:solidFill>
                        </a:rPr>
                        <a:t>A suspect's movements at a key time</a:t>
                      </a:r>
                    </a:p>
                  </a:txBody>
                  <a:tcPr anchor="ctr" marL="73152" marR="54864" marT="27432" marB="27432">
                    <a:solidFill>
                      <a:srgbClr val="FFFFFF"/>
                    </a:solidFill>
                  </a:tcPr>
                </a:tc>
              </a:tr>
              <a:tr h="630936">
                <a:tc>
                  <a:txBody>
                    <a:bodyPr wrap="square"/>
                    <a:lstStyle/>
                    <a:p>
                      <a:r>
                        <a:rPr sz="1100" b="1">
                          <a:solidFill>
                            <a:srgbClr val="0C2B4A"/>
                          </a:solidFill>
                        </a:rPr>
                        <a:t>Deleted / residual</a:t>
                      </a:r>
                    </a:p>
                  </a:txBody>
                  <a:tcPr anchor="ctr" marL="73152" marR="54864" marT="27432" marB="27432">
                    <a:solidFill>
                      <a:srgbClr val="EEF3F8"/>
                    </a:solidFill>
                  </a:tcPr>
                </a:tc>
                <a:tc>
                  <a:txBody>
                    <a:bodyPr wrap="square"/>
                    <a:lstStyle/>
                    <a:p>
                      <a:r>
                        <a:rPr sz="1100">
                          <a:solidFill>
                            <a:srgbClr val="1A1A1A"/>
                          </a:solidFill>
                        </a:rPr>
                        <a:t>Slack &amp; unallocated space</a:t>
                      </a:r>
                    </a:p>
                  </a:txBody>
                  <a:tcPr anchor="ctr" marL="73152" marR="54864" marT="27432" marB="27432">
                    <a:solidFill>
                      <a:srgbClr val="EEF3F8"/>
                    </a:solidFill>
                  </a:tcPr>
                </a:tc>
                <a:tc>
                  <a:txBody>
                    <a:bodyPr wrap="square"/>
                    <a:lstStyle/>
                    <a:p>
                      <a:r>
                        <a:rPr sz="1100">
                          <a:solidFill>
                            <a:srgbClr val="1A1A1A"/>
                          </a:solidFill>
                        </a:rPr>
                        <a:t>Data a suspect tried to destroy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Much of the strongest evidence is hidden (metadata, logs, deleted residue) — not the obvious visible file. That is why forensic imaging captures the whole device, not just what's on screen.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32 / 100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Counts as Digital Evidence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Nepali fraud and harassment cases, chat screenshots, call detail records (CDRs) from NTC/Ncell, and mobile photos with metadata are used as evidence — but only the forensically extracted originals carry the authenticity a court needs. A CDR from the telco is far stronger than a phone screenshot.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screenshot is solid proof." Screenshots are easily faked and lack metadata, so they are weak on their own. They become strong only when backed by a forensically extracted original (the actual message record, with metadata and a chain of custody).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Digital evidence is any data stored or transmitted digitally that can support or refute a fact in a case — files, metadata, logs, chats, images, location data, and deleted/residual data. Good evidence is admissible, authentic, complete, reliable and believable (encryption is not one of these). A bare screenshot is weak because it is fakeable and lacks metadata; a forensically extracted original is strong.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digital evidence · admissible/authentic/complete/reliable/believable · metadata · CDR · screenshots are weak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33 / 100</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Methods &amp; Tools Overview</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The standard methods are imaging, hashing, keyword search, and timeline/artifact analysis, supported by tool categories: imaging tools, write blockers, analysis suites, and mobile tools. Tools are introduced by CATEGORY — the methodology matters far more than the brand.</a:t>
            </a:r>
          </a:p>
          <a:p>
            <a:pPr>
              <a:spcAft>
                <a:spcPts val="500"/>
              </a:spcAft>
            </a:pPr>
            <a:r>
              <a:rPr sz="1200" b="1">
                <a:solidFill>
                  <a:srgbClr val="185FA5"/>
                </a:solidFill>
              </a:rPr>
              <a:t>HOW IT WORKS</a:t>
            </a:r>
          </a:p>
          <a:p>
            <a:pPr>
              <a:spcAft>
                <a:spcPts val="600"/>
              </a:spcAft>
            </a:pPr>
            <a:r>
              <a:rPr sz="1400">
                <a:solidFill>
                  <a:srgbClr val="1A1A1A"/>
                </a:solidFill>
              </a:rPr>
              <a:t>•  Imaging tools make the bit-for-bit copy; write blockers protect the original.</a:t>
            </a:r>
          </a:p>
          <a:p>
            <a:pPr>
              <a:spcAft>
                <a:spcPts val="600"/>
              </a:spcAft>
            </a:pPr>
            <a:r>
              <a:rPr sz="1400">
                <a:solidFill>
                  <a:srgbClr val="1A1A1A"/>
                </a:solidFill>
              </a:rPr>
              <a:t>•  Analysis suites: Autopsy/The Sleuth Kit (open source); EnCase, FTK (commercial).</a:t>
            </a:r>
          </a:p>
          <a:p>
            <a:pPr>
              <a:spcAft>
                <a:spcPts val="600"/>
              </a:spcAft>
            </a:pPr>
            <a:r>
              <a:rPr sz="1400">
                <a:solidFill>
                  <a:srgbClr val="1A1A1A"/>
                </a:solidFill>
              </a:rPr>
              <a:t>•  Mobile tools (e.g. Cellebrite) extract data from phones.</a:t>
            </a:r>
          </a:p>
          <a:p>
            <a:pPr>
              <a:spcAft>
                <a:spcPts val="600"/>
              </a:spcAft>
            </a:pPr>
            <a:r>
              <a:rPr sz="1400">
                <a:solidFill>
                  <a:srgbClr val="1A1A1A"/>
                </a:solidFill>
              </a:rPr>
              <a:t>•  A valid method with a free tool beats a sloppy method with an expensive one.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Methodology, not brand, decides admissibility — a free tool used well is fully valid.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34 / 100</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Forensic tool → what it is used for</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529852"/>
                <a:gridCol w="5042647"/>
                <a:gridCol w="2857500"/>
              </a:tblGrid>
              <a:tr h="630936">
                <a:tc>
                  <a:txBody>
                    <a:bodyPr wrap="square"/>
                    <a:lstStyle/>
                    <a:p>
                      <a:r>
                        <a:rPr sz="1150" b="1">
                          <a:solidFill>
                            <a:srgbClr val="FFFFFF"/>
                          </a:solidFill>
                        </a:rPr>
                        <a:t>Tool / category</a:t>
                      </a:r>
                    </a:p>
                  </a:txBody>
                  <a:tcPr anchor="ctr" marL="73152" marR="54864" marT="27432" marB="27432">
                    <a:solidFill>
                      <a:srgbClr val="0C2B4A"/>
                    </a:solidFill>
                  </a:tcPr>
                </a:tc>
                <a:tc>
                  <a:txBody>
                    <a:bodyPr wrap="square"/>
                    <a:lstStyle/>
                    <a:p>
                      <a:r>
                        <a:rPr sz="1150" b="1">
                          <a:solidFill>
                            <a:srgbClr val="FFFFFF"/>
                          </a:solidFill>
                        </a:rPr>
                        <a:t>What it does</a:t>
                      </a:r>
                    </a:p>
                  </a:txBody>
                  <a:tcPr anchor="ctr" marL="73152" marR="54864" marT="27432" marB="27432">
                    <a:solidFill>
                      <a:srgbClr val="0C2B4A"/>
                    </a:solidFill>
                  </a:tcPr>
                </a:tc>
                <a:tc>
                  <a:txBody>
                    <a:bodyPr wrap="square"/>
                    <a:lstStyle/>
                    <a:p>
                      <a:r>
                        <a:rPr sz="1150" b="1">
                          <a:solidFill>
                            <a:srgbClr val="FFFFFF"/>
                          </a:solidFill>
                        </a:rPr>
                        <a:t>Open / commercial</a:t>
                      </a:r>
                    </a:p>
                  </a:txBody>
                  <a:tcPr anchor="ctr" marL="73152" marR="54864" marT="27432" marB="27432">
                    <a:solidFill>
                      <a:srgbClr val="0C2B4A"/>
                    </a:solidFill>
                  </a:tcPr>
                </a:tc>
              </a:tr>
              <a:tr h="630936">
                <a:tc>
                  <a:txBody>
                    <a:bodyPr wrap="square"/>
                    <a:lstStyle/>
                    <a:p>
                      <a:r>
                        <a:rPr sz="1100" b="1">
                          <a:solidFill>
                            <a:srgbClr val="0C2B4A"/>
                          </a:solidFill>
                        </a:rPr>
                        <a:t>Write blocker</a:t>
                      </a:r>
                    </a:p>
                  </a:txBody>
                  <a:tcPr anchor="ctr" marL="73152" marR="54864" marT="27432" marB="27432">
                    <a:solidFill>
                      <a:srgbClr val="FFFFFF"/>
                    </a:solidFill>
                  </a:tcPr>
                </a:tc>
                <a:tc>
                  <a:txBody>
                    <a:bodyPr wrap="square"/>
                    <a:lstStyle/>
                    <a:p>
                      <a:r>
                        <a:rPr sz="1100">
                          <a:solidFill>
                            <a:srgbClr val="1A1A1A"/>
                          </a:solidFill>
                        </a:rPr>
                        <a:t>Read a drive while blocking any write</a:t>
                      </a:r>
                    </a:p>
                  </a:txBody>
                  <a:tcPr anchor="ctr" marL="73152" marR="54864" marT="27432" marB="27432">
                    <a:solidFill>
                      <a:srgbClr val="FFFFFF"/>
                    </a:solidFill>
                  </a:tcPr>
                </a:tc>
                <a:tc>
                  <a:txBody>
                    <a:bodyPr wrap="square"/>
                    <a:lstStyle/>
                    <a:p>
                      <a:r>
                        <a:rPr sz="1100">
                          <a:solidFill>
                            <a:srgbClr val="1A1A1A"/>
                          </a:solidFill>
                        </a:rPr>
                        <a:t>Hardware or software</a:t>
                      </a:r>
                    </a:p>
                  </a:txBody>
                  <a:tcPr anchor="ctr" marL="73152" marR="54864" marT="27432" marB="27432">
                    <a:solidFill>
                      <a:srgbClr val="FFFFFF"/>
                    </a:solidFill>
                  </a:tcPr>
                </a:tc>
              </a:tr>
              <a:tr h="630936">
                <a:tc>
                  <a:txBody>
                    <a:bodyPr wrap="square"/>
                    <a:lstStyle/>
                    <a:p>
                      <a:r>
                        <a:rPr sz="1100" b="1">
                          <a:solidFill>
                            <a:srgbClr val="0C2B4A"/>
                          </a:solidFill>
                        </a:rPr>
                        <a:t>Imaging tool (dd, FTK Imager)</a:t>
                      </a:r>
                    </a:p>
                  </a:txBody>
                  <a:tcPr anchor="ctr" marL="73152" marR="54864" marT="27432" marB="27432">
                    <a:solidFill>
                      <a:srgbClr val="EEF3F8"/>
                    </a:solidFill>
                  </a:tcPr>
                </a:tc>
                <a:tc>
                  <a:txBody>
                    <a:bodyPr wrap="square"/>
                    <a:lstStyle/>
                    <a:p>
                      <a:r>
                        <a:rPr sz="1100">
                          <a:solidFill>
                            <a:srgbClr val="1A1A1A"/>
                          </a:solidFill>
                        </a:rPr>
                        <a:t>Make a bit-for-bit forensic copy</a:t>
                      </a:r>
                    </a:p>
                  </a:txBody>
                  <a:tcPr anchor="ctr" marL="73152" marR="54864" marT="27432" marB="27432">
                    <a:solidFill>
                      <a:srgbClr val="EEF3F8"/>
                    </a:solidFill>
                  </a:tcPr>
                </a:tc>
                <a:tc>
                  <a:txBody>
                    <a:bodyPr wrap="square"/>
                    <a:lstStyle/>
                    <a:p>
                      <a:r>
                        <a:rPr sz="1100">
                          <a:solidFill>
                            <a:srgbClr val="1A1A1A"/>
                          </a:solidFill>
                        </a:rPr>
                        <a:t>Free &amp; commercial</a:t>
                      </a:r>
                    </a:p>
                  </a:txBody>
                  <a:tcPr anchor="ctr" marL="73152" marR="54864" marT="27432" marB="27432">
                    <a:solidFill>
                      <a:srgbClr val="EEF3F8"/>
                    </a:solidFill>
                  </a:tcPr>
                </a:tc>
              </a:tr>
              <a:tr h="630936">
                <a:tc>
                  <a:txBody>
                    <a:bodyPr wrap="square"/>
                    <a:lstStyle/>
                    <a:p>
                      <a:r>
                        <a:rPr sz="1100" b="1">
                          <a:solidFill>
                            <a:srgbClr val="0C2B4A"/>
                          </a:solidFill>
                        </a:rPr>
                        <a:t>Autopsy / The Sleuth Kit</a:t>
                      </a:r>
                    </a:p>
                  </a:txBody>
                  <a:tcPr anchor="ctr" marL="73152" marR="54864" marT="27432" marB="27432">
                    <a:solidFill>
                      <a:srgbClr val="FFFFFF"/>
                    </a:solidFill>
                  </a:tcPr>
                </a:tc>
                <a:tc>
                  <a:txBody>
                    <a:bodyPr wrap="square"/>
                    <a:lstStyle/>
                    <a:p>
                      <a:r>
                        <a:rPr sz="1100">
                          <a:solidFill>
                            <a:srgbClr val="1A1A1A"/>
                          </a:solidFill>
                        </a:rPr>
                        <a:t>Analyse disk images, timelines, carving</a:t>
                      </a:r>
                    </a:p>
                  </a:txBody>
                  <a:tcPr anchor="ctr" marL="73152" marR="54864" marT="27432" marB="27432">
                    <a:solidFill>
                      <a:srgbClr val="FFFFFF"/>
                    </a:solidFill>
                  </a:tcPr>
                </a:tc>
                <a:tc>
                  <a:txBody>
                    <a:bodyPr wrap="square"/>
                    <a:lstStyle/>
                    <a:p>
                      <a:r>
                        <a:rPr sz="1100">
                          <a:solidFill>
                            <a:srgbClr val="1A1A1A"/>
                          </a:solidFill>
                        </a:rPr>
                        <a:t>Open source (free)</a:t>
                      </a:r>
                    </a:p>
                  </a:txBody>
                  <a:tcPr anchor="ctr" marL="73152" marR="54864" marT="27432" marB="27432">
                    <a:solidFill>
                      <a:srgbClr val="FFFFFF"/>
                    </a:solidFill>
                  </a:tcPr>
                </a:tc>
              </a:tr>
              <a:tr h="630936">
                <a:tc>
                  <a:txBody>
                    <a:bodyPr wrap="square"/>
                    <a:lstStyle/>
                    <a:p>
                      <a:r>
                        <a:rPr sz="1100" b="1">
                          <a:solidFill>
                            <a:srgbClr val="0C2B4A"/>
                          </a:solidFill>
                        </a:rPr>
                        <a:t>EnCase</a:t>
                      </a:r>
                    </a:p>
                  </a:txBody>
                  <a:tcPr anchor="ctr" marL="73152" marR="54864" marT="27432" marB="27432">
                    <a:solidFill>
                      <a:srgbClr val="EEF3F8"/>
                    </a:solidFill>
                  </a:tcPr>
                </a:tc>
                <a:tc>
                  <a:txBody>
                    <a:bodyPr wrap="square"/>
                    <a:lstStyle/>
                    <a:p>
                      <a:r>
                        <a:rPr sz="1100">
                          <a:solidFill>
                            <a:srgbClr val="1A1A1A"/>
                          </a:solidFill>
                        </a:rPr>
                        <a:t>Commercial analysis suite, court-tested</a:t>
                      </a:r>
                    </a:p>
                  </a:txBody>
                  <a:tcPr anchor="ctr" marL="73152" marR="54864" marT="27432" marB="27432">
                    <a:solidFill>
                      <a:srgbClr val="EEF3F8"/>
                    </a:solidFill>
                  </a:tcPr>
                </a:tc>
                <a:tc>
                  <a:txBody>
                    <a:bodyPr wrap="square"/>
                    <a:lstStyle/>
                    <a:p>
                      <a:r>
                        <a:rPr sz="1100">
                          <a:solidFill>
                            <a:srgbClr val="1A1A1A"/>
                          </a:solidFill>
                        </a:rPr>
                        <a:t>Commercial</a:t>
                      </a:r>
                    </a:p>
                  </a:txBody>
                  <a:tcPr anchor="ctr" marL="73152" marR="54864" marT="27432" marB="27432">
                    <a:solidFill>
                      <a:srgbClr val="EEF3F8"/>
                    </a:solidFill>
                  </a:tcPr>
                </a:tc>
              </a:tr>
              <a:tr h="630936">
                <a:tc>
                  <a:txBody>
                    <a:bodyPr wrap="square"/>
                    <a:lstStyle/>
                    <a:p>
                      <a:r>
                        <a:rPr sz="1100" b="1">
                          <a:solidFill>
                            <a:srgbClr val="0C2B4A"/>
                          </a:solidFill>
                        </a:rPr>
                        <a:t>FTK</a:t>
                      </a:r>
                    </a:p>
                  </a:txBody>
                  <a:tcPr anchor="ctr" marL="73152" marR="54864" marT="27432" marB="27432">
                    <a:solidFill>
                      <a:srgbClr val="FFFFFF"/>
                    </a:solidFill>
                  </a:tcPr>
                </a:tc>
                <a:tc>
                  <a:txBody>
                    <a:bodyPr wrap="square"/>
                    <a:lstStyle/>
                    <a:p>
                      <a:r>
                        <a:rPr sz="1100">
                          <a:solidFill>
                            <a:srgbClr val="1A1A1A"/>
                          </a:solidFill>
                        </a:rPr>
                        <a:t>Commercial analysis &amp; indexing suite</a:t>
                      </a:r>
                    </a:p>
                  </a:txBody>
                  <a:tcPr anchor="ctr" marL="73152" marR="54864" marT="27432" marB="27432">
                    <a:solidFill>
                      <a:srgbClr val="FFFFFF"/>
                    </a:solidFill>
                  </a:tcPr>
                </a:tc>
                <a:tc>
                  <a:txBody>
                    <a:bodyPr wrap="square"/>
                    <a:lstStyle/>
                    <a:p>
                      <a:r>
                        <a:rPr sz="1100">
                          <a:solidFill>
                            <a:srgbClr val="1A1A1A"/>
                          </a:solidFill>
                        </a:rPr>
                        <a:t>Commercial</a:t>
                      </a:r>
                    </a:p>
                  </a:txBody>
                  <a:tcPr anchor="ctr" marL="73152" marR="54864" marT="27432" marB="27432">
                    <a:solidFill>
                      <a:srgbClr val="FFFFFF"/>
                    </a:solidFill>
                  </a:tcPr>
                </a:tc>
              </a:tr>
              <a:tr h="630936">
                <a:tc>
                  <a:txBody>
                    <a:bodyPr wrap="square"/>
                    <a:lstStyle/>
                    <a:p>
                      <a:r>
                        <a:rPr sz="1100" b="1">
                          <a:solidFill>
                            <a:srgbClr val="0C2B4A"/>
                          </a:solidFill>
                        </a:rPr>
                        <a:t>Cellebrite / mobile kit</a:t>
                      </a:r>
                    </a:p>
                  </a:txBody>
                  <a:tcPr anchor="ctr" marL="73152" marR="54864" marT="27432" marB="27432">
                    <a:solidFill>
                      <a:srgbClr val="EEF3F8"/>
                    </a:solidFill>
                  </a:tcPr>
                </a:tc>
                <a:tc>
                  <a:txBody>
                    <a:bodyPr wrap="square"/>
                    <a:lstStyle/>
                    <a:p>
                      <a:r>
                        <a:rPr sz="1100">
                          <a:solidFill>
                            <a:srgbClr val="1A1A1A"/>
                          </a:solidFill>
                        </a:rPr>
                        <a:t>Extract data from phones &amp; SIMs</a:t>
                      </a:r>
                    </a:p>
                  </a:txBody>
                  <a:tcPr anchor="ctr" marL="73152" marR="54864" marT="27432" marB="27432">
                    <a:solidFill>
                      <a:srgbClr val="EEF3F8"/>
                    </a:solidFill>
                  </a:tcPr>
                </a:tc>
                <a:tc>
                  <a:txBody>
                    <a:bodyPr wrap="square"/>
                    <a:lstStyle/>
                    <a:p>
                      <a:r>
                        <a:rPr sz="1100">
                          <a:solidFill>
                            <a:srgbClr val="1A1A1A"/>
                          </a:solidFill>
                        </a:rPr>
                        <a:t>Commercial</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Know these by CATEGORY, not deep operation. A court cares that the method is sound, documented and repeatable — not which brand's logo is on the tool.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35 / 100</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Methods &amp; Tools Overview</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small Nepali investigation team with only free tools (Autopsy/The Sleuth Kit, FTK Imager) and a tight budget can still do fully valid forensics — because admissibility rests on the method (write-blocked imaging, hashing, documentation, repeatability), not on owning EnCase or FTK.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"Real forensics needs expensive commercial software." Admissibility depends on sound, documented, repeatable methodology — not the price of the tool. A free tool used with discipline is just as admissible as a costly one used sloppily.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The standard forensic methods are imaging, hashing, keyword search, and timeline/artifact analysis, supported by tool categories: write blockers, imaging tools, analysis suites (Autopsy/Sleuth Kit open-source; EnCase, FTK commercial) and mobile tools (Cellebrite). Tools are chosen by category, and admissibility rests on the soundness of the method — not the brand or cost of the software.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imaging · hashing · keyword search · timeline analysis · Autopsy/EnCase/FTK/Cellebrite · method over brand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36 / 100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Forensic Lab</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 forensic lab is a controlled environment ensuring integrity, security and accreditation. It needs physical security, access control, evidence storage/lockers, isolated (air-gapped) analysis machines, thorough documentation, and ideally accreditation such as ISO/IEC 17025.</a:t>
            </a:r>
          </a:p>
          <a:p>
            <a:pPr>
              <a:spcAft>
                <a:spcPts val="500"/>
              </a:spcAft>
            </a:pPr>
            <a:r>
              <a:rPr sz="1200" b="1">
                <a:solidFill>
                  <a:srgbClr val="185FA5"/>
                </a:solidFill>
              </a:rPr>
              <a:t>HOW IT WORKS</a:t>
            </a:r>
          </a:p>
          <a:p>
            <a:pPr>
              <a:spcAft>
                <a:spcPts val="600"/>
              </a:spcAft>
            </a:pPr>
            <a:r>
              <a:rPr sz="1400">
                <a:solidFill>
                  <a:srgbClr val="1A1A1A"/>
                </a:solidFill>
              </a:rPr>
              <a:t>•  Physical security &amp; access control: only authorised staff reach evidence.</a:t>
            </a:r>
          </a:p>
          <a:p>
            <a:pPr>
              <a:spcAft>
                <a:spcPts val="600"/>
              </a:spcAft>
            </a:pPr>
            <a:r>
              <a:rPr sz="1400">
                <a:solidFill>
                  <a:srgbClr val="1A1A1A"/>
                </a:solidFill>
              </a:rPr>
              <a:t>•  Locked evidence storage keeps exhibits sealed and logged.</a:t>
            </a:r>
          </a:p>
          <a:p>
            <a:pPr>
              <a:spcAft>
                <a:spcPts val="600"/>
              </a:spcAft>
            </a:pPr>
            <a:r>
              <a:rPr sz="1400">
                <a:solidFill>
                  <a:srgbClr val="1A1A1A"/>
                </a:solidFill>
              </a:rPr>
              <a:t>•  Air-gapped analysis machines stop contamination, malware and remote wiping.</a:t>
            </a:r>
          </a:p>
          <a:p>
            <a:pPr>
              <a:spcAft>
                <a:spcPts val="600"/>
              </a:spcAft>
            </a:pPr>
            <a:r>
              <a:rPr sz="1400">
                <a:solidFill>
                  <a:srgbClr val="1A1A1A"/>
                </a:solidFill>
              </a:rPr>
              <a:t>•  Accreditation (ISO/IEC 17025) signals the lab's results are trustworthy.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forensic lab is a 'clean room for truth' — it avoids contaminating the data, as a hospital lab avoids contaminating a blood sample.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37 / 100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What a forensic lab needs — and why</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74931"/>
                <a:gridCol w="4070958"/>
                <a:gridCol w="4384109"/>
              </a:tblGrid>
              <a:tr h="630936">
                <a:tc>
                  <a:txBody>
                    <a:bodyPr wrap="square"/>
                    <a:lstStyle/>
                    <a:p>
                      <a:r>
                        <a:rPr sz="1150" b="1">
                          <a:solidFill>
                            <a:srgbClr val="FFFFFF"/>
                          </a:solidFill>
                        </a:rPr>
                        <a:t>Lab feature</a:t>
                      </a:r>
                    </a:p>
                  </a:txBody>
                  <a:tcPr anchor="ctr" marL="73152" marR="54864" marT="27432" marB="27432">
                    <a:solidFill>
                      <a:srgbClr val="0C2B4A"/>
                    </a:solidFill>
                  </a:tcPr>
                </a:tc>
                <a:tc>
                  <a:txBody>
                    <a:bodyPr wrap="square"/>
                    <a:lstStyle/>
                    <a:p>
                      <a:r>
                        <a:rPr sz="1150" b="1">
                          <a:solidFill>
                            <a:srgbClr val="FFFFFF"/>
                          </a:solidFill>
                        </a:rPr>
                        <a:t>What it provides</a:t>
                      </a:r>
                    </a:p>
                  </a:txBody>
                  <a:tcPr anchor="ctr" marL="73152" marR="54864" marT="27432" marB="27432">
                    <a:solidFill>
                      <a:srgbClr val="0C2B4A"/>
                    </a:solidFill>
                  </a:tcPr>
                </a:tc>
                <a:tc>
                  <a:txBody>
                    <a:bodyPr wrap="square"/>
                    <a:lstStyle/>
                    <a:p>
                      <a:r>
                        <a:rPr sz="1150" b="1">
                          <a:solidFill>
                            <a:srgbClr val="FFFFFF"/>
                          </a:solidFill>
                        </a:rPr>
                        <a:t>Why it matters</a:t>
                      </a:r>
                    </a:p>
                  </a:txBody>
                  <a:tcPr anchor="ctr" marL="73152" marR="54864" marT="27432" marB="27432">
                    <a:solidFill>
                      <a:srgbClr val="0C2B4A"/>
                    </a:solidFill>
                  </a:tcPr>
                </a:tc>
              </a:tr>
              <a:tr h="630936">
                <a:tc>
                  <a:txBody>
                    <a:bodyPr wrap="square"/>
                    <a:lstStyle/>
                    <a:p>
                      <a:r>
                        <a:rPr sz="1100" b="1">
                          <a:solidFill>
                            <a:srgbClr val="0C2B4A"/>
                          </a:solidFill>
                        </a:rPr>
                        <a:t>Physical security</a:t>
                      </a:r>
                    </a:p>
                  </a:txBody>
                  <a:tcPr anchor="ctr" marL="73152" marR="54864" marT="27432" marB="27432">
                    <a:solidFill>
                      <a:srgbClr val="FFFFFF"/>
                    </a:solidFill>
                  </a:tcPr>
                </a:tc>
                <a:tc>
                  <a:txBody>
                    <a:bodyPr wrap="square"/>
                    <a:lstStyle/>
                    <a:p>
                      <a:r>
                        <a:rPr sz="1100">
                          <a:solidFill>
                            <a:srgbClr val="1A1A1A"/>
                          </a:solidFill>
                        </a:rPr>
                        <a:t>Locked, monitored premises</a:t>
                      </a:r>
                    </a:p>
                  </a:txBody>
                  <a:tcPr anchor="ctr" marL="73152" marR="54864" marT="27432" marB="27432">
                    <a:solidFill>
                      <a:srgbClr val="FFFFFF"/>
                    </a:solidFill>
                  </a:tcPr>
                </a:tc>
                <a:tc>
                  <a:txBody>
                    <a:bodyPr wrap="square"/>
                    <a:lstStyle/>
                    <a:p>
                      <a:r>
                        <a:rPr sz="1100">
                          <a:solidFill>
                            <a:srgbClr val="1A1A1A"/>
                          </a:solidFill>
                        </a:rPr>
                        <a:t>Stops unauthorised access to evidence</a:t>
                      </a:r>
                    </a:p>
                  </a:txBody>
                  <a:tcPr anchor="ctr" marL="73152" marR="54864" marT="27432" marB="27432">
                    <a:solidFill>
                      <a:srgbClr val="FFFFFF"/>
                    </a:solidFill>
                  </a:tcPr>
                </a:tc>
              </a:tr>
              <a:tr h="630936">
                <a:tc>
                  <a:txBody>
                    <a:bodyPr wrap="square"/>
                    <a:lstStyle/>
                    <a:p>
                      <a:r>
                        <a:rPr sz="1100" b="1">
                          <a:solidFill>
                            <a:srgbClr val="0C2B4A"/>
                          </a:solidFill>
                        </a:rPr>
                        <a:t>Access control</a:t>
                      </a:r>
                    </a:p>
                  </a:txBody>
                  <a:tcPr anchor="ctr" marL="73152" marR="54864" marT="27432" marB="27432">
                    <a:solidFill>
                      <a:srgbClr val="EEF3F8"/>
                    </a:solidFill>
                  </a:tcPr>
                </a:tc>
                <a:tc>
                  <a:txBody>
                    <a:bodyPr wrap="square"/>
                    <a:lstStyle/>
                    <a:p>
                      <a:r>
                        <a:rPr sz="1100">
                          <a:solidFill>
                            <a:srgbClr val="1A1A1A"/>
                          </a:solidFill>
                        </a:rPr>
                        <a:t>Only trained staff enter</a:t>
                      </a:r>
                    </a:p>
                  </a:txBody>
                  <a:tcPr anchor="ctr" marL="73152" marR="54864" marT="27432" marB="27432">
                    <a:solidFill>
                      <a:srgbClr val="EEF3F8"/>
                    </a:solidFill>
                  </a:tcPr>
                </a:tc>
                <a:tc>
                  <a:txBody>
                    <a:bodyPr wrap="square"/>
                    <a:lstStyle/>
                    <a:p>
                      <a:r>
                        <a:rPr sz="1100">
                          <a:solidFill>
                            <a:srgbClr val="1A1A1A"/>
                          </a:solidFill>
                        </a:rPr>
                        <a:t>Narrows who could contaminate/tamper</a:t>
                      </a:r>
                    </a:p>
                  </a:txBody>
                  <a:tcPr anchor="ctr" marL="73152" marR="54864" marT="27432" marB="27432">
                    <a:solidFill>
                      <a:srgbClr val="EEF3F8"/>
                    </a:solidFill>
                  </a:tcPr>
                </a:tc>
              </a:tr>
              <a:tr h="630936">
                <a:tc>
                  <a:txBody>
                    <a:bodyPr wrap="square"/>
                    <a:lstStyle/>
                    <a:p>
                      <a:r>
                        <a:rPr sz="1100" b="1">
                          <a:solidFill>
                            <a:srgbClr val="0C2B4A"/>
                          </a:solidFill>
                        </a:rPr>
                        <a:t>Evidence lockers</a:t>
                      </a:r>
                    </a:p>
                  </a:txBody>
                  <a:tcPr anchor="ctr" marL="73152" marR="54864" marT="27432" marB="27432">
                    <a:solidFill>
                      <a:srgbClr val="FFFFFF"/>
                    </a:solidFill>
                  </a:tcPr>
                </a:tc>
                <a:tc>
                  <a:txBody>
                    <a:bodyPr wrap="square"/>
                    <a:lstStyle/>
                    <a:p>
                      <a:r>
                        <a:rPr sz="1100">
                          <a:solidFill>
                            <a:srgbClr val="1A1A1A"/>
                          </a:solidFill>
                        </a:rPr>
                        <a:t>Sealed, logged storage</a:t>
                      </a:r>
                    </a:p>
                  </a:txBody>
                  <a:tcPr anchor="ctr" marL="73152" marR="54864" marT="27432" marB="27432">
                    <a:solidFill>
                      <a:srgbClr val="FFFFFF"/>
                    </a:solidFill>
                  </a:tcPr>
                </a:tc>
                <a:tc>
                  <a:txBody>
                    <a:bodyPr wrap="square"/>
                    <a:lstStyle/>
                    <a:p>
                      <a:r>
                        <a:rPr sz="1100">
                          <a:solidFill>
                            <a:srgbClr val="1A1A1A"/>
                          </a:solidFill>
                        </a:rPr>
                        <a:t>Preserves chain of custody</a:t>
                      </a:r>
                    </a:p>
                  </a:txBody>
                  <a:tcPr anchor="ctr" marL="73152" marR="54864" marT="27432" marB="27432">
                    <a:solidFill>
                      <a:srgbClr val="FFFFFF"/>
                    </a:solidFill>
                  </a:tcPr>
                </a:tc>
              </a:tr>
              <a:tr h="630936">
                <a:tc>
                  <a:txBody>
                    <a:bodyPr wrap="square"/>
                    <a:lstStyle/>
                    <a:p>
                      <a:r>
                        <a:rPr sz="1100" b="1">
                          <a:solidFill>
                            <a:srgbClr val="0C2B4A"/>
                          </a:solidFill>
                        </a:rPr>
                        <a:t>Air-gapped machines</a:t>
                      </a:r>
                    </a:p>
                  </a:txBody>
                  <a:tcPr anchor="ctr" marL="73152" marR="54864" marT="27432" marB="27432">
                    <a:solidFill>
                      <a:srgbClr val="EEF3F8"/>
                    </a:solidFill>
                  </a:tcPr>
                </a:tc>
                <a:tc>
                  <a:txBody>
                    <a:bodyPr wrap="square"/>
                    <a:lstStyle/>
                    <a:p>
                      <a:r>
                        <a:rPr sz="1100">
                          <a:solidFill>
                            <a:srgbClr val="1A1A1A"/>
                          </a:solidFill>
                        </a:rPr>
                        <a:t>Analysis PCs off the network</a:t>
                      </a:r>
                    </a:p>
                  </a:txBody>
                  <a:tcPr anchor="ctr" marL="73152" marR="54864" marT="27432" marB="27432">
                    <a:solidFill>
                      <a:srgbClr val="EEF3F8"/>
                    </a:solidFill>
                  </a:tcPr>
                </a:tc>
                <a:tc>
                  <a:txBody>
                    <a:bodyPr wrap="square"/>
                    <a:lstStyle/>
                    <a:p>
                      <a:r>
                        <a:rPr sz="1100">
                          <a:solidFill>
                            <a:srgbClr val="1A1A1A"/>
                          </a:solidFill>
                        </a:rPr>
                        <a:t>No malware, remote wipe, or contamination</a:t>
                      </a:r>
                    </a:p>
                  </a:txBody>
                  <a:tcPr anchor="ctr" marL="73152" marR="54864" marT="27432" marB="27432">
                    <a:solidFill>
                      <a:srgbClr val="EEF3F8"/>
                    </a:solidFill>
                  </a:tcPr>
                </a:tc>
              </a:tr>
              <a:tr h="630936">
                <a:tc>
                  <a:txBody>
                    <a:bodyPr wrap="square"/>
                    <a:lstStyle/>
                    <a:p>
                      <a:r>
                        <a:rPr sz="1100" b="1">
                          <a:solidFill>
                            <a:srgbClr val="0C2B4A"/>
                          </a:solidFill>
                        </a:rPr>
                        <a:t>Documentation</a:t>
                      </a:r>
                    </a:p>
                  </a:txBody>
                  <a:tcPr anchor="ctr" marL="73152" marR="54864" marT="27432" marB="27432">
                    <a:solidFill>
                      <a:srgbClr val="FFFFFF"/>
                    </a:solidFill>
                  </a:tcPr>
                </a:tc>
                <a:tc>
                  <a:txBody>
                    <a:bodyPr wrap="square"/>
                    <a:lstStyle/>
                    <a:p>
                      <a:r>
                        <a:rPr sz="1100">
                          <a:solidFill>
                            <a:srgbClr val="1A1A1A"/>
                          </a:solidFill>
                        </a:rPr>
                        <a:t>Full records of every action</a:t>
                      </a:r>
                    </a:p>
                  </a:txBody>
                  <a:tcPr anchor="ctr" marL="73152" marR="54864" marT="27432" marB="27432">
                    <a:solidFill>
                      <a:srgbClr val="FFFFFF"/>
                    </a:solidFill>
                  </a:tcPr>
                </a:tc>
                <a:tc>
                  <a:txBody>
                    <a:bodyPr wrap="square"/>
                    <a:lstStyle/>
                    <a:p>
                      <a:r>
                        <a:rPr sz="1100">
                          <a:solidFill>
                            <a:srgbClr val="1A1A1A"/>
                          </a:solidFill>
                        </a:rPr>
                        <a:t>Repeatability &amp; defensibility</a:t>
                      </a:r>
                    </a:p>
                  </a:txBody>
                  <a:tcPr anchor="ctr" marL="73152" marR="54864" marT="27432" marB="27432">
                    <a:solidFill>
                      <a:srgbClr val="FFFFFF"/>
                    </a:solidFill>
                  </a:tcPr>
                </a:tc>
              </a:tr>
              <a:tr h="630936">
                <a:tc>
                  <a:txBody>
                    <a:bodyPr wrap="square"/>
                    <a:lstStyle/>
                    <a:p>
                      <a:r>
                        <a:rPr sz="1100" b="1">
                          <a:solidFill>
                            <a:srgbClr val="0C2B4A"/>
                          </a:solidFill>
                        </a:rPr>
                        <a:t>ISO/IEC 17025</a:t>
                      </a:r>
                    </a:p>
                  </a:txBody>
                  <a:tcPr anchor="ctr" marL="73152" marR="54864" marT="27432" marB="27432">
                    <a:solidFill>
                      <a:srgbClr val="EEF3F8"/>
                    </a:solidFill>
                  </a:tcPr>
                </a:tc>
                <a:tc>
                  <a:txBody>
                    <a:bodyPr wrap="square"/>
                    <a:lstStyle/>
                    <a:p>
                      <a:r>
                        <a:rPr sz="1100">
                          <a:solidFill>
                            <a:srgbClr val="1A1A1A"/>
                          </a:solidFill>
                        </a:rPr>
                        <a:t>Accreditation of competence</a:t>
                      </a:r>
                    </a:p>
                  </a:txBody>
                  <a:tcPr anchor="ctr" marL="73152" marR="54864" marT="27432" marB="27432">
                    <a:solidFill>
                      <a:srgbClr val="EEF3F8"/>
                    </a:solidFill>
                  </a:tcPr>
                </a:tc>
                <a:tc>
                  <a:txBody>
                    <a:bodyPr wrap="square"/>
                    <a:lstStyle/>
                    <a:p>
                      <a:r>
                        <a:rPr sz="1100">
                          <a:solidFill>
                            <a:srgbClr val="1A1A1A"/>
                          </a:solidFill>
                        </a:rPr>
                        <a:t>Court trust in the lab's results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Nepal's Cyber Bureau runs the central lab; many district-level investigations lack lab access entirely — a real capacity gap that pushes work back to the Bureau and slows cases.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38 / 100</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S40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Forensic Lab</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Nepal Police Cyber Bureau operates the central forensic lab; district-level investigations that lack lab access must route devices to it, creating delay and backlog. A proper lab (locked storage, air-gapped machines, documentation) is what keeps analysis from contaminating the evidence.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"Any IT technician with a good PC can do forensic analysis." Without a controlled lab — access control, sealed storage, air-gapped machines, accreditation — the evidence can be contaminated or challenged. The environment is part of the integrity, not an optional extra.</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forensic lab is a controlled environment that guarantees integrity, security and (ideally) accreditation: physical security, access control, sealed evidence lockers, air-gapped analysis machines, full documentation, and ISO/IEC 17025 accreditation. It is a 'clean room for truth' — like a hospital lab avoiding a contaminated blood sample. In Nepal the Cyber Bureau runs the central lab, and district capacity is limited.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forensic lab · access control · air-gapped machines · sealed lockers · ISO/IEC 17025 · Cyber Bureau central lab</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39 / 100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S40 — 'Screenshot vs extracted original'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a complainant brings a chat screenshot. List why it is weak evidence on its own.</a:t>
            </a:r>
          </a:p>
          <a:p>
            <a:pPr>
              <a:spcAft>
                <a:spcPts val="700"/>
              </a:spcAft>
            </a:pPr>
            <a:r>
              <a:rPr sz="1550">
                <a:solidFill>
                  <a:srgbClr val="1A1A1A"/>
                </a:solidFill>
              </a:rPr>
              <a:t>•  Then list what a forensic extraction would add that a screenshot lacks.</a:t>
            </a:r>
          </a:p>
          <a:p>
            <a:pPr>
              <a:spcAft>
                <a:spcPts val="700"/>
              </a:spcAft>
            </a:pPr>
            <a:r>
              <a:rPr sz="1550">
                <a:solidFill>
                  <a:srgbClr val="1A1A1A"/>
                </a:solidFill>
              </a:rPr>
              <a:t>•  Take 3–4 answers aloud (3 min).</a:t>
            </a:r>
          </a:p>
          <a:p>
            <a:pPr>
              <a:spcAft>
                <a:spcPts val="700"/>
              </a:spcAft>
            </a:pPr>
            <a:r>
              <a:rPr sz="1550">
                <a:solidFill>
                  <a:srgbClr val="1A1A1A"/>
                </a:solidFill>
              </a:rPr>
              <a:t>•  Close: name the five properties of good evidence and check the screenshot against them.</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Screenshot weaknesses: easily edited, no metadata, no proof of source/time, no chain of custody. Extraction adds the original record, metadata, hashes and a custody log — moving it from 'believable maybe' to authentic/reliable.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40 / 100</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S40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Which property is NOT required of good digital evidence?</a:t>
            </a:r>
          </a:p>
          <a:p>
            <a:pPr lvl="1"/>
            <a:r>
              <a:rPr sz="1500" b="1">
                <a:solidFill>
                  <a:srgbClr val="0F6E56"/>
                </a:solidFill>
              </a:rPr>
              <a:t>a) authentic   b) complete   c) reliable   d) ✅ that it be encrypted</a:t>
            </a:r>
          </a:p>
          <a:p>
            <a:pPr lvl="1">
              <a:spcBef>
                <a:spcPts val="600"/>
              </a:spcBef>
            </a:pPr>
            <a:r>
              <a:rPr sz="1500" i="1">
                <a:solidFill>
                  <a:srgbClr val="1A1A1A"/>
                </a:solidFill>
              </a:rPr>
              <a:t>     Why: good evidence is admissible, authentic, complete, reliable and believable — encryption isn't a property of it.</a:t>
            </a:r>
          </a:p>
          <a:p>
            <a:pPr>
              <a:spcBef>
                <a:spcPts val="900"/>
              </a:spcBef>
            </a:pPr>
            <a:r>
              <a:rPr sz="1700" b="1">
                <a:solidFill>
                  <a:srgbClr val="0C2B4A"/>
                </a:solidFill>
              </a:rPr>
              <a:t>Q2.  A bare screenshot is considered weak evidence mainly because:</a:t>
            </a:r>
          </a:p>
          <a:p>
            <a:pPr lvl="1"/>
            <a:r>
              <a:rPr sz="1500" b="1">
                <a:solidFill>
                  <a:srgbClr val="0F6E56"/>
                </a:solidFill>
              </a:rPr>
              <a:t>a) it's too large   b) ✅ it can be faked and lacks original metadata   c) it's in colour   d) courts ban images</a:t>
            </a:r>
          </a:p>
          <a:p>
            <a:pPr lvl="1">
              <a:spcBef>
                <a:spcPts val="600"/>
              </a:spcBef>
            </a:pPr>
            <a:r>
              <a:rPr sz="1500" i="1">
                <a:solidFill>
                  <a:srgbClr val="1A1A1A"/>
                </a:solidFill>
              </a:rPr>
              <a:t>     Why: without metadata and a chain of custody a screenshot can't prove it is authentic and unaltered.</a:t>
            </a:r>
          </a:p>
          <a:p>
            <a:pPr lvl="1">
              <a:spcBef>
                <a:spcPts val="600"/>
              </a:spcBef>
            </a:pPr>
            <a:r>
              <a:rPr sz="1500" i="1">
                <a:solidFill>
                  <a:srgbClr val="1A1A1A"/>
                </a:solidFill>
              </a:rPr>
              <a:t>Discussion: why might a free tool like Autopsy be just as admissible as expensive commercial software?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41 / 100</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S40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Digital evidence = data that supports/refutes a fact; good evidence is admissible, authentic, complete, reliable, believable.</a:t>
            </a:r>
          </a:p>
          <a:p>
            <a:pPr>
              <a:spcAft>
                <a:spcPts val="800"/>
              </a:spcAft>
            </a:pPr>
            <a:r>
              <a:rPr sz="1500">
                <a:solidFill>
                  <a:srgbClr val="1A1A1A"/>
                </a:solidFill>
              </a:rPr>
              <a:t>2.  Methods (imaging, hashing, keyword search, timeline analysis) and tools matter by category — method beats brand.</a:t>
            </a:r>
          </a:p>
          <a:p>
            <a:pPr>
              <a:spcAft>
                <a:spcPts val="800"/>
              </a:spcAft>
            </a:pPr>
            <a:r>
              <a:rPr sz="1500">
                <a:solidFill>
                  <a:srgbClr val="1A1A1A"/>
                </a:solidFill>
              </a:rPr>
              <a:t>3.  A forensic lab (access control, sealed storage, air-gapped machines, accreditation) keeps evidence uncontaminated.</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Understanding evidence quality helps you, as a future IT professional, log and preserve data correctly when something goes wrong on your own systems — good logs today are the evidence you'll need tomorrow.</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S41 — how to collect, seize and protect evidence without altering 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42 / 100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41 · LECTURE HOUR 4 (OF 7)</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Collecting, Seizing and Protecting Evidence</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phone is seized still switched on, screen unlocked, connected to Wi-Fi. Do you turn it off? Leave it on? Either choice can destroy evidence. What's the rule?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43 / 100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Chain of Custody — the Unit's Spine</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Chain of custody is the documented, unbroken record of who handled evidence, when, why and how — from seizure to court. Every transfer is logged; evidence is sealed in labelled bags with a custody form; any gap becomes a challenge in court.</a:t>
            </a:r>
          </a:p>
          <a:p>
            <a:pPr>
              <a:spcAft>
                <a:spcPts val="500"/>
              </a:spcAft>
            </a:pPr>
            <a:r>
              <a:rPr sz="1200" b="1">
                <a:solidFill>
                  <a:srgbClr val="185FA5"/>
                </a:solidFill>
              </a:rPr>
              <a:t>HOW IT WORKS</a:t>
            </a:r>
          </a:p>
          <a:p>
            <a:pPr>
              <a:spcAft>
                <a:spcPts val="600"/>
              </a:spcAft>
            </a:pPr>
            <a:r>
              <a:rPr sz="1400">
                <a:solidFill>
                  <a:srgbClr val="1A1A1A"/>
                </a:solidFill>
              </a:rPr>
              <a:t>•  Record every handoff: who, when, why, how — no undocumented gaps.</a:t>
            </a:r>
          </a:p>
          <a:p>
            <a:pPr>
              <a:spcAft>
                <a:spcPts val="600"/>
              </a:spcAft>
            </a:pPr>
            <a:r>
              <a:rPr sz="1400">
                <a:solidFill>
                  <a:srgbClr val="1A1A1A"/>
                </a:solidFill>
              </a:rPr>
              <a:t>•  Seal and label evidence in tamper-evident bags at seizure.</a:t>
            </a:r>
          </a:p>
          <a:p>
            <a:pPr>
              <a:spcAft>
                <a:spcPts val="600"/>
              </a:spcAft>
            </a:pPr>
            <a:r>
              <a:rPr sz="1400">
                <a:solidFill>
                  <a:srgbClr val="1A1A1A"/>
                </a:solidFill>
              </a:rPr>
              <a:t>•  A custody form travels with the exhibit through the whole journey.</a:t>
            </a:r>
          </a:p>
          <a:p>
            <a:pPr>
              <a:spcAft>
                <a:spcPts val="600"/>
              </a:spcAft>
            </a:pPr>
            <a:r>
              <a:rPr sz="1400">
                <a:solidFill>
                  <a:srgbClr val="1A1A1A"/>
                </a:solidFill>
              </a:rPr>
              <a:t>•  An unexplained gap lets the defence argue the evidence was tampered with.</a:t>
            </a:r>
          </a:p>
        </p:txBody>
      </p:sp>
      <p:pic>
        <p:nvPicPr>
          <p:cNvPr id="6" name="Picture 5" descr="s41_custody.png"/>
          <p:cNvPicPr>
            <a:picLocks noChangeAspect="1"/>
          </p:cNvPicPr>
          <p:nvPr/>
        </p:nvPicPr>
        <p:blipFill>
          <a:blip r:embed="rId2"/>
          <a:stretch>
            <a:fillRect/>
          </a:stretch>
        </p:blipFill>
        <p:spPr>
          <a:xfrm>
            <a:off x="6355080" y="2643367"/>
            <a:ext cx="5532120" cy="234850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Chain of custody = an unbroken, logged handoff from seizure to court; a gap is challengeable.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44 / 100</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A chain-of-custody log — what each entry records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505205"/>
                <a:gridCol w="4384109"/>
                <a:gridCol w="4540684"/>
              </a:tblGrid>
              <a:tr h="630936">
                <a:tc>
                  <a:txBody>
                    <a:bodyPr wrap="square"/>
                    <a:lstStyle/>
                    <a:p>
                      <a:r>
                        <a:rPr sz="1150" b="1">
                          <a:solidFill>
                            <a:srgbClr val="FFFFFF"/>
                          </a:solidFill>
                        </a:rPr>
                        <a:t>Log field</a:t>
                      </a:r>
                    </a:p>
                  </a:txBody>
                  <a:tcPr anchor="ctr" marL="73152" marR="54864" marT="27432" marB="27432">
                    <a:solidFill>
                      <a:srgbClr val="0C2B4A"/>
                    </a:solidFill>
                  </a:tcPr>
                </a:tc>
                <a:tc>
                  <a:txBody>
                    <a:bodyPr wrap="square"/>
                    <a:lstStyle/>
                    <a:p>
                      <a:r>
                        <a:rPr sz="1150" b="1">
                          <a:solidFill>
                            <a:srgbClr val="FFFFFF"/>
                          </a:solidFill>
                        </a:rPr>
                        <a:t>What it captures</a:t>
                      </a:r>
                    </a:p>
                  </a:txBody>
                  <a:tcPr anchor="ctr" marL="73152" marR="54864" marT="27432" marB="27432">
                    <a:solidFill>
                      <a:srgbClr val="0C2B4A"/>
                    </a:solidFill>
                  </a:tcPr>
                </a:tc>
                <a:tc>
                  <a:txBody>
                    <a:bodyPr wrap="square"/>
                    <a:lstStyle/>
                    <a:p>
                      <a:r>
                        <a:rPr sz="1150" b="1">
                          <a:solidFill>
                            <a:srgbClr val="FFFFFF"/>
                          </a:solidFill>
                        </a:rPr>
                        <a:t>Why the court needs it</a:t>
                      </a:r>
                    </a:p>
                  </a:txBody>
                  <a:tcPr anchor="ctr" marL="73152" marR="54864" marT="27432" marB="27432">
                    <a:solidFill>
                      <a:srgbClr val="0C2B4A"/>
                    </a:solidFill>
                  </a:tcPr>
                </a:tc>
              </a:tr>
              <a:tr h="630936">
                <a:tc>
                  <a:txBody>
                    <a:bodyPr wrap="square"/>
                    <a:lstStyle/>
                    <a:p>
                      <a:r>
                        <a:rPr sz="1100" b="1">
                          <a:solidFill>
                            <a:srgbClr val="0C2B4A"/>
                          </a:solidFill>
                        </a:rPr>
                        <a:t>Who</a:t>
                      </a:r>
                    </a:p>
                  </a:txBody>
                  <a:tcPr anchor="ctr" marL="73152" marR="54864" marT="27432" marB="27432">
                    <a:solidFill>
                      <a:srgbClr val="FFFFFF"/>
                    </a:solidFill>
                  </a:tcPr>
                </a:tc>
                <a:tc>
                  <a:txBody>
                    <a:bodyPr wrap="square"/>
                    <a:lstStyle/>
                    <a:p>
                      <a:r>
                        <a:rPr sz="1100">
                          <a:solidFill>
                            <a:srgbClr val="1A1A1A"/>
                          </a:solidFill>
                        </a:rPr>
                        <a:t>Every person who held the exhibit</a:t>
                      </a:r>
                    </a:p>
                  </a:txBody>
                  <a:tcPr anchor="ctr" marL="73152" marR="54864" marT="27432" marB="27432">
                    <a:solidFill>
                      <a:srgbClr val="FFFFFF"/>
                    </a:solidFill>
                  </a:tcPr>
                </a:tc>
                <a:tc>
                  <a:txBody>
                    <a:bodyPr wrap="square"/>
                    <a:lstStyle/>
                    <a:p>
                      <a:r>
                        <a:rPr sz="1100">
                          <a:solidFill>
                            <a:srgbClr val="1A1A1A"/>
                          </a:solidFill>
                        </a:rPr>
                        <a:t>Names each link in the chain</a:t>
                      </a:r>
                    </a:p>
                  </a:txBody>
                  <a:tcPr anchor="ctr" marL="73152" marR="54864" marT="27432" marB="27432">
                    <a:solidFill>
                      <a:srgbClr val="FFFFFF"/>
                    </a:solidFill>
                  </a:tcPr>
                </a:tc>
              </a:tr>
              <a:tr h="630936">
                <a:tc>
                  <a:txBody>
                    <a:bodyPr wrap="square"/>
                    <a:lstStyle/>
                    <a:p>
                      <a:r>
                        <a:rPr sz="1100" b="1">
                          <a:solidFill>
                            <a:srgbClr val="0C2B4A"/>
                          </a:solidFill>
                        </a:rPr>
                        <a:t>When</a:t>
                      </a:r>
                    </a:p>
                  </a:txBody>
                  <a:tcPr anchor="ctr" marL="73152" marR="54864" marT="27432" marB="27432">
                    <a:solidFill>
                      <a:srgbClr val="EEF3F8"/>
                    </a:solidFill>
                  </a:tcPr>
                </a:tc>
                <a:tc>
                  <a:txBody>
                    <a:bodyPr wrap="square"/>
                    <a:lstStyle/>
                    <a:p>
                      <a:r>
                        <a:rPr sz="1100">
                          <a:solidFill>
                            <a:srgbClr val="1A1A1A"/>
                          </a:solidFill>
                        </a:rPr>
                        <a:t>Date &amp; time of each transfer</a:t>
                      </a:r>
                    </a:p>
                  </a:txBody>
                  <a:tcPr anchor="ctr" marL="73152" marR="54864" marT="27432" marB="27432">
                    <a:solidFill>
                      <a:srgbClr val="EEF3F8"/>
                    </a:solidFill>
                  </a:tcPr>
                </a:tc>
                <a:tc>
                  <a:txBody>
                    <a:bodyPr wrap="square"/>
                    <a:lstStyle/>
                    <a:p>
                      <a:r>
                        <a:rPr sz="1100">
                          <a:solidFill>
                            <a:srgbClr val="1A1A1A"/>
                          </a:solidFill>
                        </a:rPr>
                        <a:t>Shows no unexplained time gaps</a:t>
                      </a:r>
                    </a:p>
                  </a:txBody>
                  <a:tcPr anchor="ctr" marL="73152" marR="54864" marT="27432" marB="27432">
                    <a:solidFill>
                      <a:srgbClr val="EEF3F8"/>
                    </a:solidFill>
                  </a:tcPr>
                </a:tc>
              </a:tr>
              <a:tr h="630936">
                <a:tc>
                  <a:txBody>
                    <a:bodyPr wrap="square"/>
                    <a:lstStyle/>
                    <a:p>
                      <a:r>
                        <a:rPr sz="1100" b="1">
                          <a:solidFill>
                            <a:srgbClr val="0C2B4A"/>
                          </a:solidFill>
                        </a:rPr>
                        <a:t>Why</a:t>
                      </a:r>
                    </a:p>
                  </a:txBody>
                  <a:tcPr anchor="ctr" marL="73152" marR="54864" marT="27432" marB="27432">
                    <a:solidFill>
                      <a:srgbClr val="FFFFFF"/>
                    </a:solidFill>
                  </a:tcPr>
                </a:tc>
                <a:tc>
                  <a:txBody>
                    <a:bodyPr wrap="square"/>
                    <a:lstStyle/>
                    <a:p>
                      <a:r>
                        <a:rPr sz="1100">
                          <a:solidFill>
                            <a:srgbClr val="1A1A1A"/>
                          </a:solidFill>
                        </a:rPr>
                        <a:t>Reason for the handoff</a:t>
                      </a:r>
                    </a:p>
                  </a:txBody>
                  <a:tcPr anchor="ctr" marL="73152" marR="54864" marT="27432" marB="27432">
                    <a:solidFill>
                      <a:srgbClr val="FFFFFF"/>
                    </a:solidFill>
                  </a:tcPr>
                </a:tc>
                <a:tc>
                  <a:txBody>
                    <a:bodyPr wrap="square"/>
                    <a:lstStyle/>
                    <a:p>
                      <a:r>
                        <a:rPr sz="1100">
                          <a:solidFill>
                            <a:srgbClr val="1A1A1A"/>
                          </a:solidFill>
                        </a:rPr>
                        <a:t>Justifies each access to the evidence</a:t>
                      </a:r>
                    </a:p>
                  </a:txBody>
                  <a:tcPr anchor="ctr" marL="73152" marR="54864" marT="27432" marB="27432">
                    <a:solidFill>
                      <a:srgbClr val="FFFFFF"/>
                    </a:solidFill>
                  </a:tcPr>
                </a:tc>
              </a:tr>
              <a:tr h="630936">
                <a:tc>
                  <a:txBody>
                    <a:bodyPr wrap="square"/>
                    <a:lstStyle/>
                    <a:p>
                      <a:r>
                        <a:rPr sz="1100" b="1">
                          <a:solidFill>
                            <a:srgbClr val="0C2B4A"/>
                          </a:solidFill>
                        </a:rPr>
                        <a:t>How</a:t>
                      </a:r>
                    </a:p>
                  </a:txBody>
                  <a:tcPr anchor="ctr" marL="73152" marR="54864" marT="27432" marB="27432">
                    <a:solidFill>
                      <a:srgbClr val="EEF3F8"/>
                    </a:solidFill>
                  </a:tcPr>
                </a:tc>
                <a:tc>
                  <a:txBody>
                    <a:bodyPr wrap="square"/>
                    <a:lstStyle/>
                    <a:p>
                      <a:r>
                        <a:rPr sz="1100">
                          <a:solidFill>
                            <a:srgbClr val="1A1A1A"/>
                          </a:solidFill>
                        </a:rPr>
                        <a:t>Sealed bag, hash, transport method</a:t>
                      </a:r>
                    </a:p>
                  </a:txBody>
                  <a:tcPr anchor="ctr" marL="73152" marR="54864" marT="27432" marB="27432">
                    <a:solidFill>
                      <a:srgbClr val="EEF3F8"/>
                    </a:solidFill>
                  </a:tcPr>
                </a:tc>
                <a:tc>
                  <a:txBody>
                    <a:bodyPr wrap="square"/>
                    <a:lstStyle/>
                    <a:p>
                      <a:r>
                        <a:rPr sz="1100">
                          <a:solidFill>
                            <a:srgbClr val="1A1A1A"/>
                          </a:solidFill>
                        </a:rPr>
                        <a:t>Proves it couldn't be altered in transit</a:t>
                      </a:r>
                    </a:p>
                  </a:txBody>
                  <a:tcPr anchor="ctr" marL="73152" marR="54864" marT="27432" marB="27432">
                    <a:solidFill>
                      <a:srgbClr val="EEF3F8"/>
                    </a:solidFill>
                  </a:tcPr>
                </a:tc>
              </a:tr>
              <a:tr h="630936">
                <a:tc>
                  <a:txBody>
                    <a:bodyPr wrap="square"/>
                    <a:lstStyle/>
                    <a:p>
                      <a:r>
                        <a:rPr sz="1100" b="1">
                          <a:solidFill>
                            <a:srgbClr val="0C2B4A"/>
                          </a:solidFill>
                        </a:rPr>
                        <a:t>Seal / label</a:t>
                      </a:r>
                    </a:p>
                  </a:txBody>
                  <a:tcPr anchor="ctr" marL="73152" marR="54864" marT="27432" marB="27432">
                    <a:solidFill>
                      <a:srgbClr val="FFFFFF"/>
                    </a:solidFill>
                  </a:tcPr>
                </a:tc>
                <a:tc>
                  <a:txBody>
                    <a:bodyPr wrap="square"/>
                    <a:lstStyle/>
                    <a:p>
                      <a:r>
                        <a:rPr sz="1100">
                          <a:solidFill>
                            <a:srgbClr val="1A1A1A"/>
                          </a:solidFill>
                        </a:rPr>
                        <a:t>Tamper-evident bag &amp; unique ID</a:t>
                      </a:r>
                    </a:p>
                  </a:txBody>
                  <a:tcPr anchor="ctr" marL="73152" marR="54864" marT="27432" marB="27432">
                    <a:solidFill>
                      <a:srgbClr val="FFFFFF"/>
                    </a:solidFill>
                  </a:tcPr>
                </a:tc>
                <a:tc>
                  <a:txBody>
                    <a:bodyPr wrap="square"/>
                    <a:lstStyle/>
                    <a:p>
                      <a:r>
                        <a:rPr sz="1100">
                          <a:solidFill>
                            <a:srgbClr val="1A1A1A"/>
                          </a:solidFill>
                        </a:rPr>
                        <a:t>Any broken seal is immediately visible</a:t>
                      </a:r>
                    </a:p>
                  </a:txBody>
                  <a:tcPr anchor="ctr" marL="73152" marR="54864" marT="27432" marB="27432">
                    <a:solidFill>
                      <a:srgbClr val="FFFFFF"/>
                    </a:solidFill>
                  </a:tcPr>
                </a:tc>
              </a:tr>
              <a:tr h="630936">
                <a:tc>
                  <a:txBody>
                    <a:bodyPr wrap="square"/>
                    <a:lstStyle/>
                    <a:p>
                      <a:r>
                        <a:rPr sz="1100" b="1">
                          <a:solidFill>
                            <a:srgbClr val="0C2B4A"/>
                          </a:solidFill>
                        </a:rPr>
                        <a:t>Signature</a:t>
                      </a:r>
                    </a:p>
                  </a:txBody>
                  <a:tcPr anchor="ctr" marL="73152" marR="54864" marT="27432" marB="27432">
                    <a:solidFill>
                      <a:srgbClr val="EEF3F8"/>
                    </a:solidFill>
                  </a:tcPr>
                </a:tc>
                <a:tc>
                  <a:txBody>
                    <a:bodyPr wrap="square"/>
                    <a:lstStyle/>
                    <a:p>
                      <a:r>
                        <a:rPr sz="1100">
                          <a:solidFill>
                            <a:srgbClr val="1A1A1A"/>
                          </a:solidFill>
                        </a:rPr>
                        <a:t>Sign-off at each handoff</a:t>
                      </a:r>
                    </a:p>
                  </a:txBody>
                  <a:tcPr anchor="ctr" marL="73152" marR="54864" marT="27432" marB="27432">
                    <a:solidFill>
                      <a:srgbClr val="EEF3F8"/>
                    </a:solidFill>
                  </a:tcPr>
                </a:tc>
                <a:tc>
                  <a:txBody>
                    <a:bodyPr wrap="square"/>
                    <a:lstStyle/>
                    <a:p>
                      <a:r>
                        <a:rPr sz="1100">
                          <a:solidFill>
                            <a:srgbClr val="1A1A1A"/>
                          </a:solidFill>
                        </a:rPr>
                        <a:t>Makes each person accountable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A complete log is the proof of integrity. In Nepal, untrained officers seizing phones at a local thana without tagging/sealing/logging is a common weakness that hands the defence an easy challenge.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45 / 100</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Chain of Custody — the Unit's Spine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Cyber Bureau's procedure tags, seals and logs a seized device before transport. The weakness appears earlier: an untrained officer at a local thana who seizes a phone without tagging or logging it creates a custody gap that can sink an otherwise strong case.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"Chain of custody is just bureaucratic paperwork." It is the proof the evidence wasn't tampered with — without it, even perfect data is worthless. A single unexplained gap can make damning evidence inadmissible.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Chain of custody is the documented, unbroken record of who handled evidence, when, why and how, from seizure to court — every transfer logged, evidence sealed in labelled tamper-evident bags, a custody form travelling with the exhibit. Any unexplained gap becomes a court challenge, so it is the proof of integrity, not mere paperwork — without it even perfect data is worthless.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chain of custody · who/when/why/how · sealed &amp; labelled · custody form · a gap = challengeable · proof of integrity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46 / 100</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Seizing Devices Correctly (Order of Volatility)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Seizing correctly means capturing a device in a state that preserves its data. Photograph the scene and screen; decide power-on vs power-off (live RAM data vs remote-wipe risk); isolate from networks (Faraday bag/airplane mode); and follow the order of volatility — capture the most fragile data first.</a:t>
            </a:r>
          </a:p>
          <a:p>
            <a:pPr>
              <a:spcAft>
                <a:spcPts val="500"/>
              </a:spcAft>
            </a:pPr>
            <a:r>
              <a:rPr sz="1200" b="1">
                <a:solidFill>
                  <a:srgbClr val="185FA5"/>
                </a:solidFill>
              </a:rPr>
              <a:t>HOW IT WORKS</a:t>
            </a:r>
          </a:p>
          <a:p>
            <a:pPr>
              <a:spcAft>
                <a:spcPts val="600"/>
              </a:spcAft>
            </a:pPr>
            <a:r>
              <a:rPr sz="1400">
                <a:solidFill>
                  <a:srgbClr val="1A1A1A"/>
                </a:solidFill>
              </a:rPr>
              <a:t>•  Photograph everything first: the scene, the screen, cables, what's running.</a:t>
            </a:r>
          </a:p>
          <a:p>
            <a:pPr>
              <a:spcAft>
                <a:spcPts val="600"/>
              </a:spcAft>
            </a:pPr>
            <a:r>
              <a:rPr sz="1400">
                <a:solidFill>
                  <a:srgbClr val="1A1A1A"/>
                </a:solidFill>
              </a:rPr>
              <a:t>•  Order of volatility: RAM &amp; live connections vanish first — capture before disk.</a:t>
            </a:r>
          </a:p>
          <a:p>
            <a:pPr>
              <a:spcAft>
                <a:spcPts val="600"/>
              </a:spcAft>
            </a:pPr>
            <a:r>
              <a:rPr sz="1400">
                <a:solidFill>
                  <a:srgbClr val="1A1A1A"/>
                </a:solidFill>
              </a:rPr>
              <a:t>•  Isolate immediately (Faraday bag/airplane mode) to stop remote wipe and syncing.</a:t>
            </a:r>
          </a:p>
          <a:p>
            <a:pPr>
              <a:spcAft>
                <a:spcPts val="600"/>
              </a:spcAft>
            </a:pPr>
            <a:r>
              <a:rPr sz="1400">
                <a:solidFill>
                  <a:srgbClr val="1A1A1A"/>
                </a:solidFill>
              </a:rPr>
              <a:t>•  Power-off can re-lock an encrypted disk; power-on risks a remote wipe — decide deliberately.</a:t>
            </a:r>
          </a:p>
        </p:txBody>
      </p:sp>
      <p:pic>
        <p:nvPicPr>
          <p:cNvPr id="6" name="Picture 5" descr="s41_volatility.png"/>
          <p:cNvPicPr>
            <a:picLocks noChangeAspect="1"/>
          </p:cNvPicPr>
          <p:nvPr/>
        </p:nvPicPr>
        <p:blipFill>
          <a:blip r:embed="rId2"/>
          <a:stretch>
            <a:fillRect/>
          </a:stretch>
        </p:blipFill>
        <p:spPr>
          <a:xfrm>
            <a:off x="6355080" y="2562704"/>
            <a:ext cx="5532120" cy="2509831"/>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Isolate the device, photograph it, and collect most-volatile data (RAM) before durable data (disk).</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47 / 100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2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Seizure decisions — what's at stake either way</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609473"/>
                <a:gridCol w="3308684"/>
                <a:gridCol w="4511842"/>
              </a:tblGrid>
              <a:tr h="630936">
                <a:tc>
                  <a:txBody>
                    <a:bodyPr wrap="square"/>
                    <a:lstStyle/>
                    <a:p>
                      <a:r>
                        <a:rPr sz="1150" b="1">
                          <a:solidFill>
                            <a:srgbClr val="FFFFFF"/>
                          </a:solidFill>
                        </a:rPr>
                        <a:t>Situation at the scene</a:t>
                      </a:r>
                    </a:p>
                  </a:txBody>
                  <a:tcPr anchor="ctr" marL="73152" marR="54864" marT="27432" marB="27432">
                    <a:solidFill>
                      <a:srgbClr val="0C2B4A"/>
                    </a:solidFill>
                  </a:tcPr>
                </a:tc>
                <a:tc>
                  <a:txBody>
                    <a:bodyPr wrap="square"/>
                    <a:lstStyle/>
                    <a:p>
                      <a:r>
                        <a:rPr sz="1150" b="1">
                          <a:solidFill>
                            <a:srgbClr val="FFFFFF"/>
                          </a:solidFill>
                        </a:rPr>
                        <a:t>Wrong move</a:t>
                      </a:r>
                    </a:p>
                  </a:txBody>
                  <a:tcPr anchor="ctr" marL="73152" marR="54864" marT="27432" marB="27432">
                    <a:solidFill>
                      <a:srgbClr val="0C2B4A"/>
                    </a:solidFill>
                  </a:tcPr>
                </a:tc>
                <a:tc>
                  <a:txBody>
                    <a:bodyPr wrap="square"/>
                    <a:lstStyle/>
                    <a:p>
                      <a:r>
                        <a:rPr sz="1150" b="1">
                          <a:solidFill>
                            <a:srgbClr val="FFFFFF"/>
                          </a:solidFill>
                        </a:rPr>
                        <a:t>Right move (why)</a:t>
                      </a:r>
                    </a:p>
                  </a:txBody>
                  <a:tcPr anchor="ctr" marL="73152" marR="54864" marT="27432" marB="27432">
                    <a:solidFill>
                      <a:srgbClr val="0C2B4A"/>
                    </a:solidFill>
                  </a:tcPr>
                </a:tc>
              </a:tr>
              <a:tr h="630936">
                <a:tc>
                  <a:txBody>
                    <a:bodyPr wrap="square"/>
                    <a:lstStyle/>
                    <a:p>
                      <a:r>
                        <a:rPr sz="1100" b="1">
                          <a:solidFill>
                            <a:srgbClr val="0C2B4A"/>
                          </a:solidFill>
                        </a:rPr>
                        <a:t>Laptop on, full-disk encryption unlocked</a:t>
                      </a:r>
                    </a:p>
                  </a:txBody>
                  <a:tcPr anchor="ctr" marL="73152" marR="54864" marT="27432" marB="27432">
                    <a:solidFill>
                      <a:srgbClr val="FFFFFF"/>
                    </a:solidFill>
                  </a:tcPr>
                </a:tc>
                <a:tc>
                  <a:txBody>
                    <a:bodyPr wrap="square"/>
                    <a:lstStyle/>
                    <a:p>
                      <a:r>
                        <a:rPr sz="1100">
                          <a:solidFill>
                            <a:srgbClr val="1A1A1A"/>
                          </a:solidFill>
                        </a:rPr>
                        <a:t>Power it off → disk re-locks</a:t>
                      </a:r>
                    </a:p>
                  </a:txBody>
                  <a:tcPr anchor="ctr" marL="73152" marR="54864" marT="27432" marB="27432">
                    <a:solidFill>
                      <a:srgbClr val="FFFFFF"/>
                    </a:solidFill>
                  </a:tcPr>
                </a:tc>
                <a:tc>
                  <a:txBody>
                    <a:bodyPr wrap="square"/>
                    <a:lstStyle/>
                    <a:p>
                      <a:r>
                        <a:rPr sz="1100">
                          <a:solidFill>
                            <a:srgbClr val="1A1A1A"/>
                          </a:solidFill>
                        </a:rPr>
                        <a:t>Live-acquire RAM/keys first, then image</a:t>
                      </a:r>
                    </a:p>
                  </a:txBody>
                  <a:tcPr anchor="ctr" marL="73152" marR="54864" marT="27432" marB="27432">
                    <a:solidFill>
                      <a:srgbClr val="FFFFFF"/>
                    </a:solidFill>
                  </a:tcPr>
                </a:tc>
              </a:tr>
              <a:tr h="630936">
                <a:tc>
                  <a:txBody>
                    <a:bodyPr wrap="square"/>
                    <a:lstStyle/>
                    <a:p>
                      <a:r>
                        <a:rPr sz="1100" b="1">
                          <a:solidFill>
                            <a:srgbClr val="0C2B4A"/>
                          </a:solidFill>
                        </a:rPr>
                        <a:t>Phone on, connected to Wi-Fi</a:t>
                      </a:r>
                    </a:p>
                  </a:txBody>
                  <a:tcPr anchor="ctr" marL="73152" marR="54864" marT="27432" marB="27432">
                    <a:solidFill>
                      <a:srgbClr val="EEF3F8"/>
                    </a:solidFill>
                  </a:tcPr>
                </a:tc>
                <a:tc>
                  <a:txBody>
                    <a:bodyPr wrap="square"/>
                    <a:lstStyle/>
                    <a:p>
                      <a:r>
                        <a:rPr sz="1100">
                          <a:solidFill>
                            <a:srgbClr val="1A1A1A"/>
                          </a:solidFill>
                        </a:rPr>
                        <a:t>Leave it online</a:t>
                      </a:r>
                    </a:p>
                  </a:txBody>
                  <a:tcPr anchor="ctr" marL="73152" marR="54864" marT="27432" marB="27432">
                    <a:solidFill>
                      <a:srgbClr val="EEF3F8"/>
                    </a:solidFill>
                  </a:tcPr>
                </a:tc>
                <a:tc>
                  <a:txBody>
                    <a:bodyPr wrap="square"/>
                    <a:lstStyle/>
                    <a:p>
                      <a:r>
                        <a:rPr sz="1100">
                          <a:solidFill>
                            <a:srgbClr val="1A1A1A"/>
                          </a:solidFill>
                        </a:rPr>
                        <a:t>Airplane mode / Faraday bag → stop remote wipe</a:t>
                      </a:r>
                    </a:p>
                  </a:txBody>
                  <a:tcPr anchor="ctr" marL="73152" marR="54864" marT="27432" marB="27432">
                    <a:solidFill>
                      <a:srgbClr val="EEF3F8"/>
                    </a:solidFill>
                  </a:tcPr>
                </a:tc>
              </a:tr>
              <a:tr h="630936">
                <a:tc>
                  <a:txBody>
                    <a:bodyPr wrap="square"/>
                    <a:lstStyle/>
                    <a:p>
                      <a:r>
                        <a:rPr sz="1100" b="1">
                          <a:solidFill>
                            <a:srgbClr val="0C2B4A"/>
                          </a:solidFill>
                        </a:rPr>
                        <a:t>Suspect's screen shows an open app</a:t>
                      </a:r>
                    </a:p>
                  </a:txBody>
                  <a:tcPr anchor="ctr" marL="73152" marR="54864" marT="27432" marB="27432">
                    <a:solidFill>
                      <a:srgbClr val="FFFFFF"/>
                    </a:solidFill>
                  </a:tcPr>
                </a:tc>
                <a:tc>
                  <a:txBody>
                    <a:bodyPr wrap="square"/>
                    <a:lstStyle/>
                    <a:p>
                      <a:r>
                        <a:rPr sz="1100">
                          <a:solidFill>
                            <a:srgbClr val="1A1A1A"/>
                          </a:solidFill>
                        </a:rPr>
                        <a:t>Close it 'to be tidy'</a:t>
                      </a:r>
                    </a:p>
                  </a:txBody>
                  <a:tcPr anchor="ctr" marL="73152" marR="54864" marT="27432" marB="27432">
                    <a:solidFill>
                      <a:srgbClr val="FFFFFF"/>
                    </a:solidFill>
                  </a:tcPr>
                </a:tc>
                <a:tc>
                  <a:txBody>
                    <a:bodyPr wrap="square"/>
                    <a:lstStyle/>
                    <a:p>
                      <a:r>
                        <a:rPr sz="1100">
                          <a:solidFill>
                            <a:srgbClr val="1A1A1A"/>
                          </a:solidFill>
                        </a:rPr>
                        <a:t>Photograph it first — that state is evidence</a:t>
                      </a:r>
                    </a:p>
                  </a:txBody>
                  <a:tcPr anchor="ctr" marL="73152" marR="54864" marT="27432" marB="27432">
                    <a:solidFill>
                      <a:srgbClr val="FFFFFF"/>
                    </a:solidFill>
                  </a:tcPr>
                </a:tc>
              </a:tr>
              <a:tr h="630936">
                <a:tc>
                  <a:txBody>
                    <a:bodyPr wrap="square"/>
                    <a:lstStyle/>
                    <a:p>
                      <a:r>
                        <a:rPr sz="1100" b="1">
                          <a:solidFill>
                            <a:srgbClr val="0C2B4A"/>
                          </a:solidFill>
                        </a:rPr>
                        <a:t>Running processes / network connections</a:t>
                      </a:r>
                    </a:p>
                  </a:txBody>
                  <a:tcPr anchor="ctr" marL="73152" marR="54864" marT="27432" marB="27432">
                    <a:solidFill>
                      <a:srgbClr val="EEF3F8"/>
                    </a:solidFill>
                  </a:tcPr>
                </a:tc>
                <a:tc>
                  <a:txBody>
                    <a:bodyPr wrap="square"/>
                    <a:lstStyle/>
                    <a:p>
                      <a:r>
                        <a:rPr sz="1100">
                          <a:solidFill>
                            <a:srgbClr val="1A1A1A"/>
                          </a:solidFill>
                        </a:rPr>
                        <a:t>Ignore (grab disk only)</a:t>
                      </a:r>
                    </a:p>
                  </a:txBody>
                  <a:tcPr anchor="ctr" marL="73152" marR="54864" marT="27432" marB="27432">
                    <a:solidFill>
                      <a:srgbClr val="EEF3F8"/>
                    </a:solidFill>
                  </a:tcPr>
                </a:tc>
                <a:tc>
                  <a:txBody>
                    <a:bodyPr wrap="square"/>
                    <a:lstStyle/>
                    <a:p>
                      <a:r>
                        <a:rPr sz="1100">
                          <a:solidFill>
                            <a:srgbClr val="1A1A1A"/>
                          </a:solidFill>
                        </a:rPr>
                        <a:t>Capture RAM first — most volatile</a:t>
                      </a:r>
                    </a:p>
                  </a:txBody>
                  <a:tcPr anchor="ctr" marL="73152" marR="54864" marT="27432" marB="27432">
                    <a:solidFill>
                      <a:srgbClr val="EEF3F8"/>
                    </a:solidFill>
                  </a:tcPr>
                </a:tc>
              </a:tr>
              <a:tr h="630936">
                <a:tc>
                  <a:txBody>
                    <a:bodyPr wrap="square"/>
                    <a:lstStyle/>
                    <a:p>
                      <a:r>
                        <a:rPr sz="1100" b="1">
                          <a:solidFill>
                            <a:srgbClr val="0C2B4A"/>
                          </a:solidFill>
                        </a:rPr>
                        <a:t>Device warm, possibly syncing to cloud</a:t>
                      </a:r>
                    </a:p>
                  </a:txBody>
                  <a:tcPr anchor="ctr" marL="73152" marR="54864" marT="27432" marB="27432">
                    <a:solidFill>
                      <a:srgbClr val="FFFFFF"/>
                    </a:solidFill>
                  </a:tcPr>
                </a:tc>
                <a:tc>
                  <a:txBody>
                    <a:bodyPr wrap="square"/>
                    <a:lstStyle/>
                    <a:p>
                      <a:r>
                        <a:rPr sz="1100">
                          <a:solidFill>
                            <a:srgbClr val="1A1A1A"/>
                          </a:solidFill>
                        </a:rPr>
                        <a:t>Wait and finish paperwork</a:t>
                      </a:r>
                    </a:p>
                  </a:txBody>
                  <a:tcPr anchor="ctr" marL="73152" marR="54864" marT="27432" marB="27432">
                    <a:solidFill>
                      <a:srgbClr val="FFFFFF"/>
                    </a:solidFill>
                  </a:tcPr>
                </a:tc>
                <a:tc>
                  <a:txBody>
                    <a:bodyPr wrap="square"/>
                    <a:lstStyle/>
                    <a:p>
                      <a:r>
                        <a:rPr sz="1100">
                          <a:solidFill>
                            <a:srgbClr val="1A1A1A"/>
                          </a:solidFill>
                        </a:rPr>
                        <a:t>Isolate now — cloud may delete the chat</a:t>
                      </a:r>
                    </a:p>
                  </a:txBody>
                  <a:tcPr anchor="ctr" marL="73152" marR="54864" marT="27432" marB="27432">
                    <a:solidFill>
                      <a:srgbClr val="FFFFFF"/>
                    </a:solidFill>
                  </a:tcPr>
                </a:tc>
              </a:tr>
              <a:tr h="630936">
                <a:tc>
                  <a:txBody>
                    <a:bodyPr wrap="square"/>
                    <a:lstStyle/>
                    <a:p>
                      <a:r>
                        <a:rPr sz="1100" b="1">
                          <a:solidFill>
                            <a:srgbClr val="0C2B4A"/>
                          </a:solidFill>
                        </a:rPr>
                        <a:t>USB/SD card in the device</a:t>
                      </a:r>
                    </a:p>
                  </a:txBody>
                  <a:tcPr anchor="ctr" marL="73152" marR="54864" marT="27432" marB="27432">
                    <a:solidFill>
                      <a:srgbClr val="EEF3F8"/>
                    </a:solidFill>
                  </a:tcPr>
                </a:tc>
                <a:tc>
                  <a:txBody>
                    <a:bodyPr wrap="square"/>
                    <a:lstStyle/>
                    <a:p>
                      <a:r>
                        <a:rPr sz="1100">
                          <a:solidFill>
                            <a:srgbClr val="1A1A1A"/>
                          </a:solidFill>
                        </a:rPr>
                        <a:t>Forget it</a:t>
                      </a:r>
                    </a:p>
                  </a:txBody>
                  <a:tcPr anchor="ctr" marL="73152" marR="54864" marT="27432" marB="27432">
                    <a:solidFill>
                      <a:srgbClr val="EEF3F8"/>
                    </a:solidFill>
                  </a:tcPr>
                </a:tc>
                <a:tc>
                  <a:txBody>
                    <a:bodyPr wrap="square"/>
                    <a:lstStyle/>
                    <a:p>
                      <a:r>
                        <a:rPr sz="1100">
                          <a:solidFill>
                            <a:srgbClr val="1A1A1A"/>
                          </a:solidFill>
                        </a:rPr>
                        <a:t>Log, seize and image it too</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Order of volatility: RAM and live network state vanish first, disk survives longer, backups longest. Powering down first can destroy live evidence AND re-lock an encrypted disk — decide power state deliberately.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48 / 100</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Seizing Devices Correctly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An officer powers down a running laptop protected by full-disk encryption; the disk re-locks and the password is unknown, so the live-acquisition opportunity — capturing the decrypted data and RAM while it was unlocked — is lost forever. The right move was to isolate it from networks and acquire live first.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"Always switch a seized device off to be safe." Powering down destroys volatile RAM evidence and can re-lock an encrypted disk you'll never get back into. Power decisions must be deliberate — isolate from networks first (Faraday/airplane mode), then choose based on encryption and what's running.</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Seizing a device correctly means preserving its data state: photograph the scene and screen, isolate from networks (Faraday bag/airplane mode) to stop remote wiping and syncing, and follow the order of volatility — capture the most fragile data (RAM, live connections) before durable data (disk, backups). Power-on vs power-off is a deliberate choice, since powering down can lose live data and re-lock encryption.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seize correctly · photograph first · Faraday/airplane mode · order of volatility · live acquisition · power decision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49 / 100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Protecting Integrity — Write Blockers &amp; Hashing</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write blocker is hardware/software that lets you read a drive but blocks any write to it. Hashing (MD5/SHA-256) is a digital fingerprint proving data is unchanged. Hash the original at collection and hash the copy — matching hashes prove the image is an identical, untouched duplicate.</a:t>
            </a:r>
          </a:p>
          <a:p>
            <a:pPr>
              <a:spcAft>
                <a:spcPts val="500"/>
              </a:spcAft>
            </a:pPr>
            <a:r>
              <a:rPr sz="1200" b="1">
                <a:solidFill>
                  <a:srgbClr val="185FA5"/>
                </a:solidFill>
              </a:rPr>
              <a:t>HOW IT WORKS</a:t>
            </a:r>
          </a:p>
          <a:p>
            <a:pPr>
              <a:spcAft>
                <a:spcPts val="600"/>
              </a:spcAft>
            </a:pPr>
            <a:r>
              <a:rPr sz="1400">
                <a:solidFill>
                  <a:srgbClr val="1A1A1A"/>
                </a:solidFill>
              </a:rPr>
              <a:t>•  Write blocker: one-way — read the original, never write back to it.</a:t>
            </a:r>
          </a:p>
          <a:p>
            <a:pPr>
              <a:spcAft>
                <a:spcPts val="600"/>
              </a:spcAft>
            </a:pPr>
            <a:r>
              <a:rPr sz="1400">
                <a:solidFill>
                  <a:srgbClr val="1A1A1A"/>
                </a:solidFill>
              </a:rPr>
              <a:t>•  Hash the original at collection; hash the forensic image afterwards.</a:t>
            </a:r>
          </a:p>
          <a:p>
            <a:pPr>
              <a:spcAft>
                <a:spcPts val="600"/>
              </a:spcAft>
            </a:pPr>
            <a:r>
              <a:rPr sz="1400">
                <a:solidFill>
                  <a:srgbClr val="1A1A1A"/>
                </a:solidFill>
              </a:rPr>
              <a:t>•  Matching hashes = the copy is bit-for-bit identical and unaltered.</a:t>
            </a:r>
          </a:p>
          <a:p>
            <a:pPr>
              <a:spcAft>
                <a:spcPts val="600"/>
              </a:spcAft>
            </a:pPr>
            <a:r>
              <a:rPr sz="1400">
                <a:solidFill>
                  <a:srgbClr val="1A1A1A"/>
                </a:solidFill>
              </a:rPr>
              <a:t>•  Change one byte and the hash changes visibly — tampering is detectable.</a:t>
            </a:r>
          </a:p>
        </p:txBody>
      </p:sp>
      <p:pic>
        <p:nvPicPr>
          <p:cNvPr id="6" name="Picture 5" descr="s41_hashing.png"/>
          <p:cNvPicPr>
            <a:picLocks noChangeAspect="1"/>
          </p:cNvPicPr>
          <p:nvPr/>
        </p:nvPicPr>
        <p:blipFill>
          <a:blip r:embed="rId2"/>
          <a:stretch>
            <a:fillRect/>
          </a:stretch>
        </p:blipFill>
        <p:spPr>
          <a:xfrm>
            <a:off x="6355080" y="2444902"/>
            <a:ext cx="5532120" cy="2745435"/>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Write blocker keeps the original read-only; matching hashes prove the copy is identical &amp; untouched.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50 / 100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3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Write blocker vs hashing — two different integrity guards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61780"/>
                <a:gridCol w="4070958"/>
                <a:gridCol w="4697260"/>
              </a:tblGrid>
              <a:tr h="630936">
                <a:tc>
                  <a:txBody>
                    <a:bodyPr wrap="square"/>
                    <a:lstStyle/>
                    <a:p>
                      <a:r>
                        <a:rPr sz="1150" b="1">
                          <a:solidFill>
                            <a:srgbClr val="FFFFFF"/>
                          </a:solidFill>
                        </a:rPr>
                        <a:t>Question</a:t>
                      </a:r>
                    </a:p>
                  </a:txBody>
                  <a:tcPr anchor="ctr" marL="73152" marR="54864" marT="27432" marB="27432">
                    <a:solidFill>
                      <a:srgbClr val="0C2B4A"/>
                    </a:solidFill>
                  </a:tcPr>
                </a:tc>
                <a:tc>
                  <a:txBody>
                    <a:bodyPr wrap="square"/>
                    <a:lstStyle/>
                    <a:p>
                      <a:r>
                        <a:rPr sz="1150" b="1">
                          <a:solidFill>
                            <a:srgbClr val="FFFFFF"/>
                          </a:solidFill>
                        </a:rPr>
                        <a:t>Write blocker</a:t>
                      </a:r>
                    </a:p>
                  </a:txBody>
                  <a:tcPr anchor="ctr" marL="73152" marR="54864" marT="27432" marB="27432">
                    <a:solidFill>
                      <a:srgbClr val="0C2B4A"/>
                    </a:solidFill>
                  </a:tcPr>
                </a:tc>
                <a:tc>
                  <a:txBody>
                    <a:bodyPr wrap="square"/>
                    <a:lstStyle/>
                    <a:p>
                      <a:r>
                        <a:rPr sz="1150" b="1">
                          <a:solidFill>
                            <a:srgbClr val="FFFFFF"/>
                          </a:solidFill>
                        </a:rPr>
                        <a:t>Hashing (MD5/SHA-256)</a:t>
                      </a:r>
                    </a:p>
                  </a:txBody>
                  <a:tcPr anchor="ctr" marL="73152" marR="54864" marT="27432" marB="27432">
                    <a:solidFill>
                      <a:srgbClr val="0C2B4A"/>
                    </a:solidFill>
                  </a:tcPr>
                </a:tc>
              </a:tr>
              <a:tr h="630936">
                <a:tc>
                  <a:txBody>
                    <a:bodyPr wrap="square"/>
                    <a:lstStyle/>
                    <a:p>
                      <a:r>
                        <a:rPr sz="1100" b="1">
                          <a:solidFill>
                            <a:srgbClr val="0C2B4A"/>
                          </a:solidFill>
                        </a:rPr>
                        <a:t>What it is</a:t>
                      </a:r>
                    </a:p>
                  </a:txBody>
                  <a:tcPr anchor="ctr" marL="73152" marR="54864" marT="27432" marB="27432">
                    <a:solidFill>
                      <a:srgbClr val="FFFFFF"/>
                    </a:solidFill>
                  </a:tcPr>
                </a:tc>
                <a:tc>
                  <a:txBody>
                    <a:bodyPr wrap="square"/>
                    <a:lstStyle/>
                    <a:p>
                      <a:r>
                        <a:rPr sz="1100">
                          <a:solidFill>
                            <a:srgbClr val="1A1A1A"/>
                          </a:solidFill>
                        </a:rPr>
                        <a:t>Hardware/software that blocks writes</a:t>
                      </a:r>
                    </a:p>
                  </a:txBody>
                  <a:tcPr anchor="ctr" marL="73152" marR="54864" marT="27432" marB="27432">
                    <a:solidFill>
                      <a:srgbClr val="FFFFFF"/>
                    </a:solidFill>
                  </a:tcPr>
                </a:tc>
                <a:tc>
                  <a:txBody>
                    <a:bodyPr wrap="square"/>
                    <a:lstStyle/>
                    <a:p>
                      <a:r>
                        <a:rPr sz="1100">
                          <a:solidFill>
                            <a:srgbClr val="1A1A1A"/>
                          </a:solidFill>
                        </a:rPr>
                        <a:t>A mathematical fingerprint of the data</a:t>
                      </a:r>
                    </a:p>
                  </a:txBody>
                  <a:tcPr anchor="ctr" marL="73152" marR="54864" marT="27432" marB="27432">
                    <a:solidFill>
                      <a:srgbClr val="FFFFFF"/>
                    </a:solidFill>
                  </a:tcPr>
                </a:tc>
              </a:tr>
              <a:tr h="630936">
                <a:tc>
                  <a:txBody>
                    <a:bodyPr wrap="square"/>
                    <a:lstStyle/>
                    <a:p>
                      <a:r>
                        <a:rPr sz="1100" b="1">
                          <a:solidFill>
                            <a:srgbClr val="0C2B4A"/>
                          </a:solidFill>
                        </a:rPr>
                        <a:t>When used</a:t>
                      </a:r>
                    </a:p>
                  </a:txBody>
                  <a:tcPr anchor="ctr" marL="73152" marR="54864" marT="27432" marB="27432">
                    <a:solidFill>
                      <a:srgbClr val="EEF3F8"/>
                    </a:solidFill>
                  </a:tcPr>
                </a:tc>
                <a:tc>
                  <a:txBody>
                    <a:bodyPr wrap="square"/>
                    <a:lstStyle/>
                    <a:p>
                      <a:r>
                        <a:rPr sz="1100">
                          <a:solidFill>
                            <a:srgbClr val="1A1A1A"/>
                          </a:solidFill>
                        </a:rPr>
                        <a:t>During imaging of the original</a:t>
                      </a:r>
                    </a:p>
                  </a:txBody>
                  <a:tcPr anchor="ctr" marL="73152" marR="54864" marT="27432" marB="27432">
                    <a:solidFill>
                      <a:srgbClr val="EEF3F8"/>
                    </a:solidFill>
                  </a:tcPr>
                </a:tc>
                <a:tc>
                  <a:txBody>
                    <a:bodyPr wrap="square"/>
                    <a:lstStyle/>
                    <a:p>
                      <a:r>
                        <a:rPr sz="1100">
                          <a:solidFill>
                            <a:srgbClr val="1A1A1A"/>
                          </a:solidFill>
                        </a:rPr>
                        <a:t>At collection, then re-checked later</a:t>
                      </a:r>
                    </a:p>
                  </a:txBody>
                  <a:tcPr anchor="ctr" marL="73152" marR="54864" marT="27432" marB="27432">
                    <a:solidFill>
                      <a:srgbClr val="EEF3F8"/>
                    </a:solidFill>
                  </a:tcPr>
                </a:tc>
              </a:tr>
              <a:tr h="630936">
                <a:tc>
                  <a:txBody>
                    <a:bodyPr wrap="square"/>
                    <a:lstStyle/>
                    <a:p>
                      <a:r>
                        <a:rPr sz="1100" b="1">
                          <a:solidFill>
                            <a:srgbClr val="0C2B4A"/>
                          </a:solidFill>
                        </a:rPr>
                        <a:t>Protects against</a:t>
                      </a:r>
                    </a:p>
                  </a:txBody>
                  <a:tcPr anchor="ctr" marL="73152" marR="54864" marT="27432" marB="27432">
                    <a:solidFill>
                      <a:srgbClr val="FFFFFF"/>
                    </a:solidFill>
                  </a:tcPr>
                </a:tc>
                <a:tc>
                  <a:txBody>
                    <a:bodyPr wrap="square"/>
                    <a:lstStyle/>
                    <a:p>
                      <a:r>
                        <a:rPr sz="1100">
                          <a:solidFill>
                            <a:srgbClr val="1A1A1A"/>
                          </a:solidFill>
                        </a:rPr>
                        <a:t>Accidentally altering the original</a:t>
                      </a:r>
                    </a:p>
                  </a:txBody>
                  <a:tcPr anchor="ctr" marL="73152" marR="54864" marT="27432" marB="27432">
                    <a:solidFill>
                      <a:srgbClr val="FFFFFF"/>
                    </a:solidFill>
                  </a:tcPr>
                </a:tc>
                <a:tc>
                  <a:txBody>
                    <a:bodyPr wrap="square"/>
                    <a:lstStyle/>
                    <a:p>
                      <a:r>
                        <a:rPr sz="1100">
                          <a:solidFill>
                            <a:srgbClr val="1A1A1A"/>
                          </a:solidFill>
                        </a:rPr>
                        <a:t>Undetected change to the copy</a:t>
                      </a:r>
                    </a:p>
                  </a:txBody>
                  <a:tcPr anchor="ctr" marL="73152" marR="54864" marT="27432" marB="27432">
                    <a:solidFill>
                      <a:srgbClr val="FFFFFF"/>
                    </a:solidFill>
                  </a:tcPr>
                </a:tc>
              </a:tr>
              <a:tr h="630936">
                <a:tc>
                  <a:txBody>
                    <a:bodyPr wrap="square"/>
                    <a:lstStyle/>
                    <a:p>
                      <a:r>
                        <a:rPr sz="1100" b="1">
                          <a:solidFill>
                            <a:srgbClr val="0C2B4A"/>
                          </a:solidFill>
                        </a:rPr>
                        <a:t>Proves</a:t>
                      </a:r>
                    </a:p>
                  </a:txBody>
                  <a:tcPr anchor="ctr" marL="73152" marR="54864" marT="27432" marB="27432">
                    <a:solidFill>
                      <a:srgbClr val="EEF3F8"/>
                    </a:solidFill>
                  </a:tcPr>
                </a:tc>
                <a:tc>
                  <a:txBody>
                    <a:bodyPr wrap="square"/>
                    <a:lstStyle/>
                    <a:p>
                      <a:r>
                        <a:rPr sz="1100">
                          <a:solidFill>
                            <a:srgbClr val="1A1A1A"/>
                          </a:solidFill>
                        </a:rPr>
                        <a:t>The original was never written to</a:t>
                      </a:r>
                    </a:p>
                  </a:txBody>
                  <a:tcPr anchor="ctr" marL="73152" marR="54864" marT="27432" marB="27432">
                    <a:solidFill>
                      <a:srgbClr val="EEF3F8"/>
                    </a:solidFill>
                  </a:tcPr>
                </a:tc>
                <a:tc>
                  <a:txBody>
                    <a:bodyPr wrap="square"/>
                    <a:lstStyle/>
                    <a:p>
                      <a:r>
                        <a:rPr sz="1100">
                          <a:solidFill>
                            <a:srgbClr val="1A1A1A"/>
                          </a:solidFill>
                        </a:rPr>
                        <a:t>The copy is identical, bit-for-bit</a:t>
                      </a:r>
                    </a:p>
                  </a:txBody>
                  <a:tcPr anchor="ctr" marL="73152" marR="54864" marT="27432" marB="27432">
                    <a:solidFill>
                      <a:srgbClr val="EEF3F8"/>
                    </a:solidFill>
                  </a:tcPr>
                </a:tc>
              </a:tr>
              <a:tr h="630936">
                <a:tc>
                  <a:txBody>
                    <a:bodyPr wrap="square"/>
                    <a:lstStyle/>
                    <a:p>
                      <a:r>
                        <a:rPr sz="1100" b="1">
                          <a:solidFill>
                            <a:srgbClr val="0C2B4A"/>
                          </a:solidFill>
                        </a:rPr>
                        <a:t>Analogy</a:t>
                      </a:r>
                    </a:p>
                  </a:txBody>
                  <a:tcPr anchor="ctr" marL="73152" marR="54864" marT="27432" marB="27432">
                    <a:solidFill>
                      <a:srgbClr val="FFFFFF"/>
                    </a:solidFill>
                  </a:tcPr>
                </a:tc>
                <a:tc>
                  <a:txBody>
                    <a:bodyPr wrap="square"/>
                    <a:lstStyle/>
                    <a:p>
                      <a:r>
                        <a:rPr sz="1100">
                          <a:solidFill>
                            <a:srgbClr val="1A1A1A"/>
                          </a:solidFill>
                        </a:rPr>
                        <a:t>A one-way valve</a:t>
                      </a:r>
                    </a:p>
                  </a:txBody>
                  <a:tcPr anchor="ctr" marL="73152" marR="54864" marT="27432" marB="27432">
                    <a:solidFill>
                      <a:srgbClr val="FFFFFF"/>
                    </a:solidFill>
                  </a:tcPr>
                </a:tc>
                <a:tc>
                  <a:txBody>
                    <a:bodyPr wrap="square"/>
                    <a:lstStyle/>
                    <a:p>
                      <a:r>
                        <a:rPr sz="1100">
                          <a:solidFill>
                            <a:srgbClr val="1A1A1A"/>
                          </a:solidFill>
                        </a:rPr>
                        <a:t>A tamper-evident seal on a bottle</a:t>
                      </a:r>
                    </a:p>
                  </a:txBody>
                  <a:tcPr anchor="ctr" marL="73152" marR="54864" marT="27432" marB="27432">
                    <a:solidFill>
                      <a:srgbClr val="FFFFFF"/>
                    </a:solidFill>
                  </a:tcPr>
                </a:tc>
              </a:tr>
              <a:tr h="630936">
                <a:tc>
                  <a:txBody>
                    <a:bodyPr wrap="square"/>
                    <a:lstStyle/>
                    <a:p>
                      <a:r>
                        <a:rPr sz="1100" b="1">
                          <a:solidFill>
                            <a:srgbClr val="0C2B4A"/>
                          </a:solidFill>
                        </a:rPr>
                        <a:t>If it fails</a:t>
                      </a:r>
                    </a:p>
                  </a:txBody>
                  <a:tcPr anchor="ctr" marL="73152" marR="54864" marT="27432" marB="27432">
                    <a:solidFill>
                      <a:srgbClr val="EEF3F8"/>
                    </a:solidFill>
                  </a:tcPr>
                </a:tc>
                <a:tc>
                  <a:txBody>
                    <a:bodyPr wrap="square"/>
                    <a:lstStyle/>
                    <a:p>
                      <a:r>
                        <a:rPr sz="1100">
                          <a:solidFill>
                            <a:srgbClr val="1A1A1A"/>
                          </a:solidFill>
                        </a:rPr>
                        <a:t>The original could be altered</a:t>
                      </a:r>
                    </a:p>
                  </a:txBody>
                  <a:tcPr anchor="ctr" marL="73152" marR="54864" marT="27432" marB="27432">
                    <a:solidFill>
                      <a:srgbClr val="EEF3F8"/>
                    </a:solidFill>
                  </a:tcPr>
                </a:tc>
                <a:tc>
                  <a:txBody>
                    <a:bodyPr wrap="square"/>
                    <a:lstStyle/>
                    <a:p>
                      <a:r>
                        <a:rPr sz="1100">
                          <a:solidFill>
                            <a:srgbClr val="1A1A1A"/>
                          </a:solidFill>
                        </a:rPr>
                        <a:t>A mismatch flags tampering/corruption</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They work together: the write blocker prevents alteration during imaging; the hash proves, afterwards and in court, that the copy still equals the original. Neither alone is enough.</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51 / 100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S41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Protecting Integrity — Write Blockers &amp; Hashing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a Nepali court, a forensic expert demonstrates identical SHA-256 hashes for the seized original and the analysed copy — visual proof that the copy is an exact, unaltered duplicate. A write blocker ensured the original was never written to while that image was made.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the analyst is careful, hashing and write blockers aren't really needed." Care is not proof. Only a write blocker guarantees the original wasn't altered, and only a matching hash proves it to a court — 'trust me, I was careful' is not defensible evidence.</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write blocker is hardware/software that allows reading a drive while blocking any write to it, and hashing (MD5/SHA-256) is a digital fingerprint that proves data is unchanged. You hash the original at collection and hash the copy: matching hashes prove the image is an exact, unaltered duplicate, while the write blocker guarantees the original was never modified during imaging.</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write blocker · read-only · hashing · MD5/SHA-256 · matching hashes = identical copy · technical proof of integrity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52 / 100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S41 — 'A minute online — what could go wrong?'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a seized phone is left connected to the internet 'just for a minute.'</a:t>
            </a:r>
          </a:p>
          <a:p>
            <a:pPr>
              <a:spcAft>
                <a:spcPts val="700"/>
              </a:spcAft>
            </a:pPr>
            <a:r>
              <a:rPr sz="1550">
                <a:solidFill>
                  <a:srgbClr val="1A1A1A"/>
                </a:solidFill>
              </a:rPr>
              <a:t>•  List everything that could go wrong in that minute.</a:t>
            </a:r>
          </a:p>
          <a:p>
            <a:pPr>
              <a:spcAft>
                <a:spcPts val="700"/>
              </a:spcAft>
            </a:pPr>
            <a:r>
              <a:rPr sz="1550">
                <a:solidFill>
                  <a:srgbClr val="1A1A1A"/>
                </a:solidFill>
              </a:rPr>
              <a:t>•  Take 3–4 answers aloud (3 min); sort them into remote-wipe, sync/delete, and tamper.</a:t>
            </a:r>
          </a:p>
          <a:p>
            <a:pPr>
              <a:spcAft>
                <a:spcPts val="700"/>
              </a:spcAft>
            </a:pPr>
            <a:r>
              <a:rPr sz="1550">
                <a:solidFill>
                  <a:srgbClr val="1A1A1A"/>
                </a:solidFill>
              </a:rPr>
              <a:t>•  Close: this is exactly why isolation (Faraday/airplane mode) is the first protective step.</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remote wipe triggered; cloud deletes/edits a chat; new messages overwrite old ones; location updates; someone signs the account out. Each is irreversible — the reason to isolate immediately at seizure.</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53 / 100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S41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The purpose of a write blocker is to:</a:t>
            </a:r>
          </a:p>
          <a:p>
            <a:pPr lvl="1"/>
            <a:r>
              <a:rPr sz="1500" b="1">
                <a:solidFill>
                  <a:srgbClr val="0F6E56"/>
                </a:solidFill>
              </a:rPr>
              <a:t>a) speed up copying   b) ✅ allow reading a drive while preventing any change to it   c) encrypt the disk   d) delete data</a:t>
            </a:r>
          </a:p>
          <a:p>
            <a:pPr lvl="1">
              <a:spcBef>
                <a:spcPts val="600"/>
              </a:spcBef>
            </a:pPr>
            <a:r>
              <a:rPr sz="1500" i="1">
                <a:solidFill>
                  <a:srgbClr val="1A1A1A"/>
                </a:solidFill>
              </a:rPr>
              <a:t>     Why: it is a one-way guard so imaging never alters the original evidence.</a:t>
            </a:r>
          </a:p>
          <a:p>
            <a:pPr>
              <a:spcBef>
                <a:spcPts val="900"/>
              </a:spcBef>
            </a:pPr>
            <a:r>
              <a:rPr sz="1700" b="1">
                <a:solidFill>
                  <a:srgbClr val="0C2B4A"/>
                </a:solidFill>
              </a:rPr>
              <a:t>Q2.  Identical hash values of the original and the copy prove that:</a:t>
            </a:r>
          </a:p>
          <a:p>
            <a:pPr lvl="1"/>
            <a:r>
              <a:rPr sz="1500" b="1">
                <a:solidFill>
                  <a:srgbClr val="0F6E56"/>
                </a:solidFill>
              </a:rPr>
              <a:t>a) the data is encrypted   b) ✅ the copy is an exact, unaltered duplicate   c) the drive is empty   d) nothing</a:t>
            </a:r>
          </a:p>
          <a:p>
            <a:pPr lvl="1">
              <a:spcBef>
                <a:spcPts val="600"/>
              </a:spcBef>
            </a:pPr>
            <a:r>
              <a:rPr sz="1500" i="1">
                <a:solidFill>
                  <a:srgbClr val="1A1A1A"/>
                </a:solidFill>
              </a:rPr>
              <a:t>     Why: a hash is a fingerprint — matching hashes mean not one byte differs.</a:t>
            </a:r>
          </a:p>
          <a:p>
            <a:pPr lvl="1">
              <a:spcBef>
                <a:spcPts val="600"/>
              </a:spcBef>
            </a:pPr>
            <a:r>
              <a:rPr sz="1500" i="1">
                <a:solidFill>
                  <a:srgbClr val="1A1A1A"/>
                </a:solidFill>
              </a:rPr>
              <a:t>Discussion: a seized phone is left connected to the internet 'just for a minute' — list everything that could go wrong.</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54 / 100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S41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Chain of custody is the proof of integrity — an unbroken, logged handoff — not mere paperwork.</a:t>
            </a:r>
          </a:p>
          <a:p>
            <a:pPr>
              <a:spcAft>
                <a:spcPts val="800"/>
              </a:spcAft>
            </a:pPr>
            <a:r>
              <a:rPr sz="1500">
                <a:solidFill>
                  <a:srgbClr val="1A1A1A"/>
                </a:solidFill>
              </a:rPr>
              <a:t>2.  Seize devices without altering them: photograph, isolate networks, follow order of volatility, decide power carefully.</a:t>
            </a:r>
          </a:p>
          <a:p>
            <a:pPr>
              <a:spcAft>
                <a:spcPts val="800"/>
              </a:spcAft>
            </a:pPr>
            <a:r>
              <a:rPr sz="1500">
                <a:solidFill>
                  <a:srgbClr val="1A1A1A"/>
                </a:solidFill>
              </a:rPr>
              <a:t>3.  Write blockers + hashing guarantee and prove the original is untouched and the copy is identical.</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The same hashing idea verifies the downloads and backups you use daily, and a custody mindset protects you whenever you handle sensitive company data — integrity habits transfer straight into professional IT work.</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S42 — how investigators recover data that someone tried to delete.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55 / 100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42 · LECTURE HOUR 5 (OF 7)</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Recovering Data (conceptual)</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A suspect 'deletes everything' and empties the recycle bin, confident it's gone. Investigators recover it in an hour. Where was it hiding?</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56 / 100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'Deleted' Isn't Gone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Deleting a file usually removes the pointer/index entry, not the actual data — the bytes stay until overwritten. The file system just marks that space as 'free'; until it's reused, the data remains recoverable. (SSD TRIM and full-disk encryption complicate this.)</a:t>
            </a:r>
          </a:p>
          <a:p>
            <a:pPr>
              <a:spcAft>
                <a:spcPts val="500"/>
              </a:spcAft>
            </a:pPr>
            <a:r>
              <a:rPr sz="1200" b="1">
                <a:solidFill>
                  <a:srgbClr val="185FA5"/>
                </a:solidFill>
              </a:rPr>
              <a:t>HOW IT WORKS</a:t>
            </a:r>
          </a:p>
          <a:p>
            <a:pPr>
              <a:spcAft>
                <a:spcPts val="600"/>
              </a:spcAft>
            </a:pPr>
            <a:r>
              <a:rPr sz="1400">
                <a:solidFill>
                  <a:srgbClr val="1A1A1A"/>
                </a:solidFill>
              </a:rPr>
              <a:t>•  Delete = remove the label from the box; the box (data) stays until reused.</a:t>
            </a:r>
          </a:p>
          <a:p>
            <a:pPr>
              <a:spcAft>
                <a:spcPts val="600"/>
              </a:spcAft>
            </a:pPr>
            <a:r>
              <a:rPr sz="1400">
                <a:solidFill>
                  <a:srgbClr val="1A1A1A"/>
                </a:solidFill>
              </a:rPr>
              <a:t>•  A quick format or empty-recycle-bin leaves most data recoverable.</a:t>
            </a:r>
          </a:p>
          <a:p>
            <a:pPr>
              <a:spcAft>
                <a:spcPts val="600"/>
              </a:spcAft>
            </a:pPr>
            <a:r>
              <a:rPr sz="1400">
                <a:solidFill>
                  <a:srgbClr val="1A1A1A"/>
                </a:solidFill>
              </a:rPr>
              <a:t>•  Only overwriting or a secure wipe truly destroys data.</a:t>
            </a:r>
          </a:p>
          <a:p>
            <a:pPr>
              <a:spcAft>
                <a:spcPts val="600"/>
              </a:spcAft>
            </a:pPr>
            <a:r>
              <a:rPr sz="1400">
                <a:solidFill>
                  <a:srgbClr val="1A1A1A"/>
                </a:solidFill>
              </a:rPr>
              <a:t>•  SSD TRIM and full-disk encryption can make recovery harder — a real nuance.</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'Delete' removes the label, not the box — the data stays until something overwrites it.</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57 / 100</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Does this really destroy the data? (Nepal / IT)</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4070958"/>
                <a:gridCol w="2661780"/>
                <a:gridCol w="4697260"/>
              </a:tblGrid>
              <a:tr h="630936">
                <a:tc>
                  <a:txBody>
                    <a:bodyPr wrap="square"/>
                    <a:lstStyle/>
                    <a:p>
                      <a:r>
                        <a:rPr sz="1150" b="1">
                          <a:solidFill>
                            <a:srgbClr val="FFFFFF"/>
                          </a:solidFill>
                        </a:rPr>
                        <a:t>Action taken</a:t>
                      </a:r>
                    </a:p>
                  </a:txBody>
                  <a:tcPr anchor="ctr" marL="73152" marR="54864" marT="27432" marB="27432">
                    <a:solidFill>
                      <a:srgbClr val="0C2B4A"/>
                    </a:solidFill>
                  </a:tcPr>
                </a:tc>
                <a:tc>
                  <a:txBody>
                    <a:bodyPr wrap="square"/>
                    <a:lstStyle/>
                    <a:p>
                      <a:r>
                        <a:rPr sz="1150" b="1">
                          <a:solidFill>
                            <a:srgbClr val="FFFFFF"/>
                          </a:solidFill>
                        </a:rPr>
                        <a:t>Really destroyed?</a:t>
                      </a:r>
                    </a:p>
                  </a:txBody>
                  <a:tcPr anchor="ctr" marL="73152" marR="54864" marT="27432" marB="27432">
                    <a:solidFill>
                      <a:srgbClr val="0C2B4A"/>
                    </a:solidFill>
                  </a:tcPr>
                </a:tc>
                <a:tc>
                  <a:txBody>
                    <a:bodyPr wrap="square"/>
                    <a:lstStyle/>
                    <a:p>
                      <a:r>
                        <a:rPr sz="1150" b="1">
                          <a:solidFill>
                            <a:srgbClr val="FFFFFF"/>
                          </a:solidFill>
                        </a:rPr>
                        <a:t>Why (verdict)</a:t>
                      </a:r>
                    </a:p>
                  </a:txBody>
                  <a:tcPr anchor="ctr" marL="73152" marR="54864" marT="27432" marB="27432">
                    <a:solidFill>
                      <a:srgbClr val="0C2B4A"/>
                    </a:solidFill>
                  </a:tcPr>
                </a:tc>
              </a:tr>
              <a:tr h="630936">
                <a:tc>
                  <a:txBody>
                    <a:bodyPr wrap="square"/>
                    <a:lstStyle/>
                    <a:p>
                      <a:r>
                        <a:rPr sz="1100" b="1">
                          <a:solidFill>
                            <a:srgbClr val="0C2B4A"/>
                          </a:solidFill>
                        </a:rPr>
                        <a:t>Delete a file &amp; empty the recycle bin</a:t>
                      </a:r>
                    </a:p>
                  </a:txBody>
                  <a:tcPr anchor="ctr" marL="73152" marR="54864" marT="27432" marB="27432">
                    <a:solidFill>
                      <a:srgbClr val="FFFFFF"/>
                    </a:solidFill>
                  </a:tcPr>
                </a:tc>
                <a:tc>
                  <a:txBody>
                    <a:bodyPr wrap="square"/>
                    <a:lstStyle/>
                    <a:p>
                      <a:r>
                        <a:rPr sz="1100">
                          <a:solidFill>
                            <a:srgbClr val="1A1A1A"/>
                          </a:solidFill>
                        </a:rPr>
                        <a:t>No</a:t>
                      </a:r>
                    </a:p>
                  </a:txBody>
                  <a:tcPr anchor="ctr" marL="73152" marR="54864" marT="27432" marB="27432">
                    <a:solidFill>
                      <a:srgbClr val="FFFFFF"/>
                    </a:solidFill>
                  </a:tcPr>
                </a:tc>
                <a:tc>
                  <a:txBody>
                    <a:bodyPr wrap="square"/>
                    <a:lstStyle/>
                    <a:p>
                      <a:r>
                        <a:rPr sz="1100">
                          <a:solidFill>
                            <a:srgbClr val="1A1A1A"/>
                          </a:solidFill>
                        </a:rPr>
                        <a:t>Only the pointer is gone; bytes remain</a:t>
                      </a:r>
                    </a:p>
                  </a:txBody>
                  <a:tcPr anchor="ctr" marL="73152" marR="54864" marT="27432" marB="27432">
                    <a:solidFill>
                      <a:srgbClr val="FFFFFF"/>
                    </a:solidFill>
                  </a:tcPr>
                </a:tc>
              </a:tr>
              <a:tr h="630936">
                <a:tc>
                  <a:txBody>
                    <a:bodyPr wrap="square"/>
                    <a:lstStyle/>
                    <a:p>
                      <a:r>
                        <a:rPr sz="1100" b="1">
                          <a:solidFill>
                            <a:srgbClr val="0C2B4A"/>
                          </a:solidFill>
                        </a:rPr>
                        <a:t>Quick format a USB drive</a:t>
                      </a:r>
                    </a:p>
                  </a:txBody>
                  <a:tcPr anchor="ctr" marL="73152" marR="54864" marT="27432" marB="27432">
                    <a:solidFill>
                      <a:srgbClr val="EEF3F8"/>
                    </a:solidFill>
                  </a:tcPr>
                </a:tc>
                <a:tc>
                  <a:txBody>
                    <a:bodyPr wrap="square"/>
                    <a:lstStyle/>
                    <a:p>
                      <a:r>
                        <a:rPr sz="1100">
                          <a:solidFill>
                            <a:srgbClr val="1A1A1A"/>
                          </a:solidFill>
                        </a:rPr>
                        <a:t>No</a:t>
                      </a:r>
                    </a:p>
                  </a:txBody>
                  <a:tcPr anchor="ctr" marL="73152" marR="54864" marT="27432" marB="27432">
                    <a:solidFill>
                      <a:srgbClr val="EEF3F8"/>
                    </a:solidFill>
                  </a:tcPr>
                </a:tc>
                <a:tc>
                  <a:txBody>
                    <a:bodyPr wrap="square"/>
                    <a:lstStyle/>
                    <a:p>
                      <a:r>
                        <a:rPr sz="1100">
                          <a:solidFill>
                            <a:srgbClr val="1A1A1A"/>
                          </a:solidFill>
                        </a:rPr>
                        <a:t>Rebuilds the index; most data still recoverable</a:t>
                      </a:r>
                    </a:p>
                  </a:txBody>
                  <a:tcPr anchor="ctr" marL="73152" marR="54864" marT="27432" marB="27432">
                    <a:solidFill>
                      <a:srgbClr val="EEF3F8"/>
                    </a:solidFill>
                  </a:tcPr>
                </a:tc>
              </a:tr>
              <a:tr h="630936">
                <a:tc>
                  <a:txBody>
                    <a:bodyPr wrap="square"/>
                    <a:lstStyle/>
                    <a:p>
                      <a:r>
                        <a:rPr sz="1100" b="1">
                          <a:solidFill>
                            <a:srgbClr val="0C2B4A"/>
                          </a:solidFill>
                        </a:rPr>
                        <a:t>Factory reset an old phone (then sell it)</a:t>
                      </a:r>
                    </a:p>
                  </a:txBody>
                  <a:tcPr anchor="ctr" marL="73152" marR="54864" marT="27432" marB="27432">
                    <a:solidFill>
                      <a:srgbClr val="FFFFFF"/>
                    </a:solidFill>
                  </a:tcPr>
                </a:tc>
                <a:tc>
                  <a:txBody>
                    <a:bodyPr wrap="square"/>
                    <a:lstStyle/>
                    <a:p>
                      <a:r>
                        <a:rPr sz="1100">
                          <a:solidFill>
                            <a:srgbClr val="1A1A1A"/>
                          </a:solidFill>
                        </a:rPr>
                        <a:t>Often no</a:t>
                      </a:r>
                    </a:p>
                  </a:txBody>
                  <a:tcPr anchor="ctr" marL="73152" marR="54864" marT="27432" marB="27432">
                    <a:solidFill>
                      <a:srgbClr val="FFFFFF"/>
                    </a:solidFill>
                  </a:tcPr>
                </a:tc>
                <a:tc>
                  <a:txBody>
                    <a:bodyPr wrap="square"/>
                    <a:lstStyle/>
                    <a:p>
                      <a:r>
                        <a:rPr sz="1100">
                          <a:solidFill>
                            <a:srgbClr val="1A1A1A"/>
                          </a:solidFill>
                        </a:rPr>
                        <a:t>Traces + cloud backup can remain → data leak</a:t>
                      </a:r>
                    </a:p>
                  </a:txBody>
                  <a:tcPr anchor="ctr" marL="73152" marR="54864" marT="27432" marB="27432">
                    <a:solidFill>
                      <a:srgbClr val="FFFFFF"/>
                    </a:solidFill>
                  </a:tcPr>
                </a:tc>
              </a:tr>
              <a:tr h="630936">
                <a:tc>
                  <a:txBody>
                    <a:bodyPr wrap="square"/>
                    <a:lstStyle/>
                    <a:p>
                      <a:r>
                        <a:rPr sz="1100" b="1">
                          <a:solidFill>
                            <a:srgbClr val="0C2B4A"/>
                          </a:solidFill>
                        </a:rPr>
                        <a:t>Overwrite the whole drive (secure wipe)</a:t>
                      </a:r>
                    </a:p>
                  </a:txBody>
                  <a:tcPr anchor="ctr" marL="73152" marR="54864" marT="27432" marB="27432">
                    <a:solidFill>
                      <a:srgbClr val="EEF3F8"/>
                    </a:solidFill>
                  </a:tcPr>
                </a:tc>
                <a:tc>
                  <a:txBody>
                    <a:bodyPr wrap="square"/>
                    <a:lstStyle/>
                    <a:p>
                      <a:r>
                        <a:rPr sz="1100">
                          <a:solidFill>
                            <a:srgbClr val="1A1A1A"/>
                          </a:solidFill>
                        </a:rPr>
                        <a:t>Yes</a:t>
                      </a:r>
                    </a:p>
                  </a:txBody>
                  <a:tcPr anchor="ctr" marL="73152" marR="54864" marT="27432" marB="27432">
                    <a:solidFill>
                      <a:srgbClr val="EEF3F8"/>
                    </a:solidFill>
                  </a:tcPr>
                </a:tc>
                <a:tc>
                  <a:txBody>
                    <a:bodyPr wrap="square"/>
                    <a:lstStyle/>
                    <a:p>
                      <a:r>
                        <a:rPr sz="1100">
                          <a:solidFill>
                            <a:srgbClr val="1A1A1A"/>
                          </a:solidFill>
                        </a:rPr>
                        <a:t>Every byte is replaced — nothing to recover</a:t>
                      </a:r>
                    </a:p>
                  </a:txBody>
                  <a:tcPr anchor="ctr" marL="73152" marR="54864" marT="27432" marB="27432">
                    <a:solidFill>
                      <a:srgbClr val="EEF3F8"/>
                    </a:solidFill>
                  </a:tcPr>
                </a:tc>
              </a:tr>
              <a:tr h="630936">
                <a:tc>
                  <a:txBody>
                    <a:bodyPr wrap="square"/>
                    <a:lstStyle/>
                    <a:p>
                      <a:r>
                        <a:rPr sz="1100" b="1">
                          <a:solidFill>
                            <a:srgbClr val="0C2B4A"/>
                          </a:solidFill>
                        </a:rPr>
                        <a:t>Physically destroy / shred the disk</a:t>
                      </a:r>
                    </a:p>
                  </a:txBody>
                  <a:tcPr anchor="ctr" marL="73152" marR="54864" marT="27432" marB="27432">
                    <a:solidFill>
                      <a:srgbClr val="FFFFFF"/>
                    </a:solidFill>
                  </a:tcPr>
                </a:tc>
                <a:tc>
                  <a:txBody>
                    <a:bodyPr wrap="square"/>
                    <a:lstStyle/>
                    <a:p>
                      <a:r>
                        <a:rPr sz="1100">
                          <a:solidFill>
                            <a:srgbClr val="1A1A1A"/>
                          </a:solidFill>
                        </a:rPr>
                        <a:t>Yes</a:t>
                      </a:r>
                    </a:p>
                  </a:txBody>
                  <a:tcPr anchor="ctr" marL="73152" marR="54864" marT="27432" marB="27432">
                    <a:solidFill>
                      <a:srgbClr val="FFFFFF"/>
                    </a:solidFill>
                  </a:tcPr>
                </a:tc>
                <a:tc>
                  <a:txBody>
                    <a:bodyPr wrap="square"/>
                    <a:lstStyle/>
                    <a:p>
                      <a:r>
                        <a:rPr sz="1100">
                          <a:solidFill>
                            <a:srgbClr val="1A1A1A"/>
                          </a:solidFill>
                        </a:rPr>
                        <a:t>No medium left to read</a:t>
                      </a:r>
                    </a:p>
                  </a:txBody>
                  <a:tcPr anchor="ctr" marL="73152" marR="54864" marT="27432" marB="27432">
                    <a:solidFill>
                      <a:srgbClr val="FFFFFF"/>
                    </a:solidFill>
                  </a:tcPr>
                </a:tc>
              </a:tr>
              <a:tr h="630936">
                <a:tc>
                  <a:txBody>
                    <a:bodyPr wrap="square"/>
                    <a:lstStyle/>
                    <a:p>
                      <a:r>
                        <a:rPr sz="1100" b="1">
                          <a:solidFill>
                            <a:srgbClr val="0C2B4A"/>
                          </a:solidFill>
                        </a:rPr>
                        <a:t>Full-disk encryption + destroy the key</a:t>
                      </a:r>
                    </a:p>
                  </a:txBody>
                  <a:tcPr anchor="ctr" marL="73152" marR="54864" marT="27432" marB="27432">
                    <a:solidFill>
                      <a:srgbClr val="EEF3F8"/>
                    </a:solidFill>
                  </a:tcPr>
                </a:tc>
                <a:tc>
                  <a:txBody>
                    <a:bodyPr wrap="square"/>
                    <a:lstStyle/>
                    <a:p>
                      <a:r>
                        <a:rPr sz="1100">
                          <a:solidFill>
                            <a:srgbClr val="1A1A1A"/>
                          </a:solidFill>
                        </a:rPr>
                        <a:t>Effectively yes</a:t>
                      </a:r>
                    </a:p>
                  </a:txBody>
                  <a:tcPr anchor="ctr" marL="73152" marR="54864" marT="27432" marB="27432">
                    <a:solidFill>
                      <a:srgbClr val="EEF3F8"/>
                    </a:solidFill>
                  </a:tcPr>
                </a:tc>
                <a:tc>
                  <a:txBody>
                    <a:bodyPr wrap="square"/>
                    <a:lstStyle/>
                    <a:p>
                      <a:r>
                        <a:rPr sz="1100">
                          <a:solidFill>
                            <a:srgbClr val="1A1A1A"/>
                          </a:solidFill>
                        </a:rPr>
                        <a:t>Data is unreadable without the key</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'Deleted' and 'formatted' are recoverable; only overwriting, secure-wipe, physical destruction, or discarding the encryption key truly destroys data. This is why a factory-reset resold phone can still leak your photos.</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58 / 100</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'Deleted' Isn't Gone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Nepali cases, suspects who 'delete everything' and empty the recycle bin are routinely undone: until the space is overwritten, the bytes remain and are recoverable in an hour. The same fact means a resold, factory-reset phone can still leak the previous owner's photos.</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"Emptying the recycle bin / formatting permanently destroys data." A quick format and a delete leave most data recoverable — only overwriting, secure-wiping, or destroying the disk (or its encryption key) truly erases it.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Deleting a file usually removes only the pointer/index entry, not the data itself; the file system marks the space 'free' and the bytes stay until overwritten, so 'deleted' and 'quick-formatted' data is normally recoverable. Only overwriting, secure-wiping, physical destruction, or discarding the encryption key truly destroys it. SSD TRIM and full-disk encryption complicate recovery.</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deletion ≠ erasure · pointer removed, data stays · until overwritten · secure wipe · SSD TRIM · encryption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59 / 100</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Disk Imaging (Forensic Copy)</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A disk image is a bit-for-bit copy of an entire drive — including slack and unallocated space, not just the visible files. You image first (with a write blocker, then hash), then analyse the image — never the original. A physical image copies everything; a logical copy takes only chosen files.</a:t>
            </a:r>
          </a:p>
          <a:p>
            <a:pPr>
              <a:spcAft>
                <a:spcPts val="500"/>
              </a:spcAft>
            </a:pPr>
            <a:r>
              <a:rPr sz="1200" b="1">
                <a:solidFill>
                  <a:srgbClr val="185FA5"/>
                </a:solidFill>
              </a:rPr>
              <a:t>HOW IT WORKS</a:t>
            </a:r>
          </a:p>
          <a:p>
            <a:pPr>
              <a:spcAft>
                <a:spcPts val="600"/>
              </a:spcAft>
            </a:pPr>
            <a:r>
              <a:rPr sz="1400">
                <a:solidFill>
                  <a:srgbClr val="1A1A1A"/>
                </a:solidFill>
              </a:rPr>
              <a:t>•  Bit-for-bit: every sector, including 'empty' space where deleted data hides.</a:t>
            </a:r>
          </a:p>
          <a:p>
            <a:pPr>
              <a:spcAft>
                <a:spcPts val="600"/>
              </a:spcAft>
            </a:pPr>
            <a:r>
              <a:rPr sz="1400">
                <a:solidFill>
                  <a:srgbClr val="1A1A1A"/>
                </a:solidFill>
              </a:rPr>
              <a:t>•  Image with a write blocker, hash it, then work only on the copy.</a:t>
            </a:r>
          </a:p>
          <a:p>
            <a:pPr>
              <a:spcAft>
                <a:spcPts val="600"/>
              </a:spcAft>
            </a:pPr>
            <a:r>
              <a:rPr sz="1400">
                <a:solidFill>
                  <a:srgbClr val="1A1A1A"/>
                </a:solidFill>
              </a:rPr>
              <a:t>•  Physical image = the whole disk; logical copy = selected files/folders only.</a:t>
            </a:r>
          </a:p>
          <a:p>
            <a:pPr>
              <a:spcAft>
                <a:spcPts val="600"/>
              </a:spcAft>
            </a:pPr>
            <a:r>
              <a:rPr sz="1400">
                <a:solidFill>
                  <a:srgbClr val="1A1A1A"/>
                </a:solidFill>
              </a:rPr>
              <a:t>•  Imaging the whole disk is what makes deleted-data recovery possible.</a:t>
            </a:r>
          </a:p>
        </p:txBody>
      </p:sp>
      <p:pic>
        <p:nvPicPr>
          <p:cNvPr id="6" name="Picture 5" descr="s42_imaging.png"/>
          <p:cNvPicPr>
            <a:picLocks noChangeAspect="1"/>
          </p:cNvPicPr>
          <p:nvPr/>
        </p:nvPicPr>
        <p:blipFill>
          <a:blip r:embed="rId2"/>
          <a:stretch>
            <a:fillRect/>
          </a:stretch>
        </p:blipFill>
        <p:spPr>
          <a:xfrm>
            <a:off x="6355080" y="2703458"/>
            <a:ext cx="5532120" cy="222832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Image the WHOLE disk bit-for-bit (incl. slack/unallocated), hash it, and analyse the copy — never the original.</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60 / 100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Physical image vs logical copy — and why forensics prefers the image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780270"/>
                <a:gridCol w="4633783"/>
                <a:gridCol w="4015945"/>
              </a:tblGrid>
              <a:tr h="630936">
                <a:tc>
                  <a:txBody>
                    <a:bodyPr wrap="square"/>
                    <a:lstStyle/>
                    <a:p>
                      <a:r>
                        <a:rPr sz="1150" b="1">
                          <a:solidFill>
                            <a:srgbClr val="FFFFFF"/>
                          </a:solidFill>
                        </a:rPr>
                        <a:t>Dimension</a:t>
                      </a:r>
                    </a:p>
                  </a:txBody>
                  <a:tcPr anchor="ctr" marL="73152" marR="54864" marT="27432" marB="27432">
                    <a:solidFill>
                      <a:srgbClr val="0C2B4A"/>
                    </a:solidFill>
                  </a:tcPr>
                </a:tc>
                <a:tc>
                  <a:txBody>
                    <a:bodyPr wrap="square"/>
                    <a:lstStyle/>
                    <a:p>
                      <a:r>
                        <a:rPr sz="1150" b="1">
                          <a:solidFill>
                            <a:srgbClr val="FFFFFF"/>
                          </a:solidFill>
                        </a:rPr>
                        <a:t>Physical (bit-for-bit) image</a:t>
                      </a:r>
                    </a:p>
                  </a:txBody>
                  <a:tcPr anchor="ctr" marL="73152" marR="54864" marT="27432" marB="27432">
                    <a:solidFill>
                      <a:srgbClr val="0C2B4A"/>
                    </a:solidFill>
                  </a:tcPr>
                </a:tc>
                <a:tc>
                  <a:txBody>
                    <a:bodyPr wrap="square"/>
                    <a:lstStyle/>
                    <a:p>
                      <a:r>
                        <a:rPr sz="1150" b="1">
                          <a:solidFill>
                            <a:srgbClr val="FFFFFF"/>
                          </a:solidFill>
                        </a:rPr>
                        <a:t>Logical copy</a:t>
                      </a:r>
                    </a:p>
                  </a:txBody>
                  <a:tcPr anchor="ctr" marL="73152" marR="54864" marT="27432" marB="27432">
                    <a:solidFill>
                      <a:srgbClr val="0C2B4A"/>
                    </a:solidFill>
                  </a:tcPr>
                </a:tc>
              </a:tr>
              <a:tr h="630936">
                <a:tc>
                  <a:txBody>
                    <a:bodyPr wrap="square"/>
                    <a:lstStyle/>
                    <a:p>
                      <a:r>
                        <a:rPr sz="1100" b="1">
                          <a:solidFill>
                            <a:srgbClr val="0C2B4A"/>
                          </a:solidFill>
                        </a:rPr>
                        <a:t>What it captures</a:t>
                      </a:r>
                    </a:p>
                  </a:txBody>
                  <a:tcPr anchor="ctr" marL="73152" marR="54864" marT="27432" marB="27432">
                    <a:solidFill>
                      <a:srgbClr val="FFFFFF"/>
                    </a:solidFill>
                  </a:tcPr>
                </a:tc>
                <a:tc>
                  <a:txBody>
                    <a:bodyPr wrap="square"/>
                    <a:lstStyle/>
                    <a:p>
                      <a:r>
                        <a:rPr sz="1100">
                          <a:solidFill>
                            <a:srgbClr val="1A1A1A"/>
                          </a:solidFill>
                        </a:rPr>
                        <a:t>Every sector, incl. slack &amp; unallocated</a:t>
                      </a:r>
                    </a:p>
                  </a:txBody>
                  <a:tcPr anchor="ctr" marL="73152" marR="54864" marT="27432" marB="27432">
                    <a:solidFill>
                      <a:srgbClr val="FFFFFF"/>
                    </a:solidFill>
                  </a:tcPr>
                </a:tc>
                <a:tc>
                  <a:txBody>
                    <a:bodyPr wrap="square"/>
                    <a:lstStyle/>
                    <a:p>
                      <a:r>
                        <a:rPr sz="1100">
                          <a:solidFill>
                            <a:srgbClr val="1A1A1A"/>
                          </a:solidFill>
                        </a:rPr>
                        <a:t>Only chosen files/folders</a:t>
                      </a:r>
                    </a:p>
                  </a:txBody>
                  <a:tcPr anchor="ctr" marL="73152" marR="54864" marT="27432" marB="27432">
                    <a:solidFill>
                      <a:srgbClr val="FFFFFF"/>
                    </a:solidFill>
                  </a:tcPr>
                </a:tc>
              </a:tr>
              <a:tr h="630936">
                <a:tc>
                  <a:txBody>
                    <a:bodyPr wrap="square"/>
                    <a:lstStyle/>
                    <a:p>
                      <a:r>
                        <a:rPr sz="1100" b="1">
                          <a:solidFill>
                            <a:srgbClr val="0C2B4A"/>
                          </a:solidFill>
                        </a:rPr>
                        <a:t>Deleted data</a:t>
                      </a:r>
                    </a:p>
                  </a:txBody>
                  <a:tcPr anchor="ctr" marL="73152" marR="54864" marT="27432" marB="27432">
                    <a:solidFill>
                      <a:srgbClr val="EEF3F8"/>
                    </a:solidFill>
                  </a:tcPr>
                </a:tc>
                <a:tc>
                  <a:txBody>
                    <a:bodyPr wrap="square"/>
                    <a:lstStyle/>
                    <a:p>
                      <a:r>
                        <a:rPr sz="1100">
                          <a:solidFill>
                            <a:srgbClr val="1A1A1A"/>
                          </a:solidFill>
                        </a:rPr>
                        <a:t>Preserved (recoverable)</a:t>
                      </a:r>
                    </a:p>
                  </a:txBody>
                  <a:tcPr anchor="ctr" marL="73152" marR="54864" marT="27432" marB="27432">
                    <a:solidFill>
                      <a:srgbClr val="EEF3F8"/>
                    </a:solidFill>
                  </a:tcPr>
                </a:tc>
                <a:tc>
                  <a:txBody>
                    <a:bodyPr wrap="square"/>
                    <a:lstStyle/>
                    <a:p>
                      <a:r>
                        <a:rPr sz="1100">
                          <a:solidFill>
                            <a:srgbClr val="1A1A1A"/>
                          </a:solidFill>
                        </a:rPr>
                        <a:t>Lost — not copied</a:t>
                      </a:r>
                    </a:p>
                  </a:txBody>
                  <a:tcPr anchor="ctr" marL="73152" marR="54864" marT="27432" marB="27432">
                    <a:solidFill>
                      <a:srgbClr val="EEF3F8"/>
                    </a:solidFill>
                  </a:tcPr>
                </a:tc>
              </a:tr>
              <a:tr h="630936">
                <a:tc>
                  <a:txBody>
                    <a:bodyPr wrap="square"/>
                    <a:lstStyle/>
                    <a:p>
                      <a:r>
                        <a:rPr sz="1100" b="1">
                          <a:solidFill>
                            <a:srgbClr val="0C2B4A"/>
                          </a:solidFill>
                        </a:rPr>
                        <a:t>Hash verification</a:t>
                      </a:r>
                    </a:p>
                  </a:txBody>
                  <a:tcPr anchor="ctr" marL="73152" marR="54864" marT="27432" marB="27432">
                    <a:solidFill>
                      <a:srgbClr val="FFFFFF"/>
                    </a:solidFill>
                  </a:tcPr>
                </a:tc>
                <a:tc>
                  <a:txBody>
                    <a:bodyPr wrap="square"/>
                    <a:lstStyle/>
                    <a:p>
                      <a:r>
                        <a:rPr sz="1100">
                          <a:solidFill>
                            <a:srgbClr val="1A1A1A"/>
                          </a:solidFill>
                        </a:rPr>
                        <a:t>Whole-disk hash proves integrity</a:t>
                      </a:r>
                    </a:p>
                  </a:txBody>
                  <a:tcPr anchor="ctr" marL="73152" marR="54864" marT="27432" marB="27432">
                    <a:solidFill>
                      <a:srgbClr val="FFFFFF"/>
                    </a:solidFill>
                  </a:tcPr>
                </a:tc>
                <a:tc>
                  <a:txBody>
                    <a:bodyPr wrap="square"/>
                    <a:lstStyle/>
                    <a:p>
                      <a:r>
                        <a:rPr sz="1100">
                          <a:solidFill>
                            <a:srgbClr val="1A1A1A"/>
                          </a:solidFill>
                        </a:rPr>
                        <a:t>Weaker — misses hidden areas</a:t>
                      </a:r>
                    </a:p>
                  </a:txBody>
                  <a:tcPr anchor="ctr" marL="73152" marR="54864" marT="27432" marB="27432">
                    <a:solidFill>
                      <a:srgbClr val="FFFFFF"/>
                    </a:solidFill>
                  </a:tcPr>
                </a:tc>
              </a:tr>
              <a:tr h="630936">
                <a:tc>
                  <a:txBody>
                    <a:bodyPr wrap="square"/>
                    <a:lstStyle/>
                    <a:p>
                      <a:r>
                        <a:rPr sz="1100" b="1">
                          <a:solidFill>
                            <a:srgbClr val="0C2B4A"/>
                          </a:solidFill>
                        </a:rPr>
                        <a:t>Size / effort</a:t>
                      </a:r>
                    </a:p>
                  </a:txBody>
                  <a:tcPr anchor="ctr" marL="73152" marR="54864" marT="27432" marB="27432">
                    <a:solidFill>
                      <a:srgbClr val="EEF3F8"/>
                    </a:solidFill>
                  </a:tcPr>
                </a:tc>
                <a:tc>
                  <a:txBody>
                    <a:bodyPr wrap="square"/>
                    <a:lstStyle/>
                    <a:p>
                      <a:r>
                        <a:rPr sz="1100">
                          <a:solidFill>
                            <a:srgbClr val="1A1A1A"/>
                          </a:solidFill>
                        </a:rPr>
                        <a:t>Large, slower</a:t>
                      </a:r>
                    </a:p>
                  </a:txBody>
                  <a:tcPr anchor="ctr" marL="73152" marR="54864" marT="27432" marB="27432">
                    <a:solidFill>
                      <a:srgbClr val="EEF3F8"/>
                    </a:solidFill>
                  </a:tcPr>
                </a:tc>
                <a:tc>
                  <a:txBody>
                    <a:bodyPr wrap="square"/>
                    <a:lstStyle/>
                    <a:p>
                      <a:r>
                        <a:rPr sz="1100">
                          <a:solidFill>
                            <a:srgbClr val="1A1A1A"/>
                          </a:solidFill>
                        </a:rPr>
                        <a:t>Small, quick</a:t>
                      </a:r>
                    </a:p>
                  </a:txBody>
                  <a:tcPr anchor="ctr" marL="73152" marR="54864" marT="27432" marB="27432">
                    <a:solidFill>
                      <a:srgbClr val="EEF3F8"/>
                    </a:solidFill>
                  </a:tcPr>
                </a:tc>
              </a:tr>
              <a:tr h="630936">
                <a:tc>
                  <a:txBody>
                    <a:bodyPr wrap="square"/>
                    <a:lstStyle/>
                    <a:p>
                      <a:r>
                        <a:rPr sz="1100" b="1">
                          <a:solidFill>
                            <a:srgbClr val="0C2B4A"/>
                          </a:solidFill>
                        </a:rPr>
                        <a:t>Forensic value</a:t>
                      </a:r>
                    </a:p>
                  </a:txBody>
                  <a:tcPr anchor="ctr" marL="73152" marR="54864" marT="27432" marB="27432">
                    <a:solidFill>
                      <a:srgbClr val="FFFFFF"/>
                    </a:solidFill>
                  </a:tcPr>
                </a:tc>
                <a:tc>
                  <a:txBody>
                    <a:bodyPr wrap="square"/>
                    <a:lstStyle/>
                    <a:p>
                      <a:r>
                        <a:rPr sz="1100">
                          <a:solidFill>
                            <a:srgbClr val="1A1A1A"/>
                          </a:solidFill>
                        </a:rPr>
                        <a:t>High — the standard for evidence</a:t>
                      </a:r>
                    </a:p>
                  </a:txBody>
                  <a:tcPr anchor="ctr" marL="73152" marR="54864" marT="27432" marB="27432">
                    <a:solidFill>
                      <a:srgbClr val="FFFFFF"/>
                    </a:solidFill>
                  </a:tcPr>
                </a:tc>
                <a:tc>
                  <a:txBody>
                    <a:bodyPr wrap="square"/>
                    <a:lstStyle/>
                    <a:p>
                      <a:r>
                        <a:rPr sz="1100">
                          <a:solidFill>
                            <a:srgbClr val="1A1A1A"/>
                          </a:solidFill>
                        </a:rPr>
                        <a:t>Limited — triage only</a:t>
                      </a:r>
                    </a:p>
                  </a:txBody>
                  <a:tcPr anchor="ctr" marL="73152" marR="54864" marT="27432" marB="27432">
                    <a:solidFill>
                      <a:srgbClr val="FFFFFF"/>
                    </a:solidFill>
                  </a:tcPr>
                </a:tc>
              </a:tr>
              <a:tr h="630936">
                <a:tc>
                  <a:txBody>
                    <a:bodyPr wrap="square"/>
                    <a:lstStyle/>
                    <a:p>
                      <a:r>
                        <a:rPr sz="1100" b="1">
                          <a:solidFill>
                            <a:srgbClr val="0C2B4A"/>
                          </a:solidFill>
                        </a:rPr>
                        <a:t>Nepal example</a:t>
                      </a:r>
                    </a:p>
                  </a:txBody>
                  <a:tcPr anchor="ctr" marL="73152" marR="54864" marT="27432" marB="27432">
                    <a:solidFill>
                      <a:srgbClr val="EEF3F8"/>
                    </a:solidFill>
                  </a:tcPr>
                </a:tc>
                <a:tc>
                  <a:txBody>
                    <a:bodyPr wrap="square"/>
                    <a:lstStyle/>
                    <a:p>
                      <a:r>
                        <a:rPr sz="1100">
                          <a:solidFill>
                            <a:srgbClr val="1A1A1A"/>
                          </a:solidFill>
                        </a:rPr>
                        <a:t>Image a seized fraud-case hard disk/USB</a:t>
                      </a:r>
                    </a:p>
                  </a:txBody>
                  <a:tcPr anchor="ctr" marL="73152" marR="54864" marT="27432" marB="27432">
                    <a:solidFill>
                      <a:srgbClr val="EEF3F8"/>
                    </a:solidFill>
                  </a:tcPr>
                </a:tc>
                <a:tc>
                  <a:txBody>
                    <a:bodyPr wrap="square"/>
                    <a:lstStyle/>
                    <a:p>
                      <a:r>
                        <a:rPr sz="1100">
                          <a:solidFill>
                            <a:srgbClr val="1A1A1A"/>
                          </a:solidFill>
                        </a:rPr>
                        <a:t>Grab a few named files for a quick check</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Forensics prefers the physical image because deleted/residual data lives in slack and unallocated space — exactly what a logical copy of 'visible files' would miss. Image first, keep the original sealed.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61 / 100</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Disk Imaging (Forensic Copy)</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In a Nepali financial-fraud investigation, the seized hard disk/USB is imaged bit-for-bit and hashed so the original stays sealed, and all analysis runs on the copy. Imaging the WHOLE disk — including 'empty' space — is what preserves the deleted records the suspect hoped were gone.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"Just copy the important files off the disk — that's enough." Copying only visible files misses deleted data in slack and unallocated space and produces no whole-disk hash. A forensic physical image captures everything and proves integrity; a file copy doesn't.</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 disk image is a bit-for-bit copy of an entire drive, including slack and unallocated space — made with a write blocker, hashed, and then analysed in place of the original. A physical image captures every sector (so deleted data is preserved and integrity is provable); a logical copy takes only selected files and misses hidden areas. Imaging the whole disk is what makes deleted-data recovery possible.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disk image · bit-for-bit · slack &amp; unallocated space · physical vs logical · hash · analyse the copy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62 / 100</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File Carving</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File carving reconstructs files from raw data using file signatures (headers/footers) when the file-system metadata is gone. For example a JPEG always starts with a known header and ends with a known footer; carving scans unallocated space for these signatures to rebuild files without the index.</a:t>
            </a:r>
          </a:p>
          <a:p>
            <a:pPr>
              <a:spcAft>
                <a:spcPts val="500"/>
              </a:spcAft>
            </a:pPr>
            <a:r>
              <a:rPr sz="1200" b="1">
                <a:solidFill>
                  <a:srgbClr val="185FA5"/>
                </a:solidFill>
              </a:rPr>
              <a:t>HOW IT WORKS</a:t>
            </a:r>
          </a:p>
          <a:p>
            <a:pPr>
              <a:spcAft>
                <a:spcPts val="600"/>
              </a:spcAft>
            </a:pPr>
            <a:r>
              <a:rPr sz="1400">
                <a:solidFill>
                  <a:srgbClr val="1A1A1A"/>
                </a:solidFill>
              </a:rPr>
              <a:t>•  Every file type has a signature: e.g. a JPEG header (FF D8) and footer (FF D9).</a:t>
            </a:r>
          </a:p>
          <a:p>
            <a:pPr>
              <a:spcAft>
                <a:spcPts val="600"/>
              </a:spcAft>
            </a:pPr>
            <a:r>
              <a:rPr sz="1400">
                <a:solidFill>
                  <a:srgbClr val="1A1A1A"/>
                </a:solidFill>
              </a:rPr>
              <a:t>•  Carving scans raw bytes for these markers, ignoring the missing index.</a:t>
            </a:r>
          </a:p>
          <a:p>
            <a:pPr>
              <a:spcAft>
                <a:spcPts val="600"/>
              </a:spcAft>
            </a:pPr>
            <a:r>
              <a:rPr sz="1400">
                <a:solidFill>
                  <a:srgbClr val="1A1A1A"/>
                </a:solidFill>
              </a:rPr>
              <a:t>•  It rebuilds files even when the file system no longer lists them.</a:t>
            </a:r>
          </a:p>
          <a:p>
            <a:pPr>
              <a:spcAft>
                <a:spcPts val="600"/>
              </a:spcAft>
            </a:pPr>
            <a:r>
              <a:rPr sz="1400">
                <a:solidFill>
                  <a:srgbClr val="1A1A1A"/>
                </a:solidFill>
              </a:rPr>
              <a:t>•  It's how deleted photos/documents are recovered from unallocated space.</a:t>
            </a:r>
          </a:p>
        </p:txBody>
      </p:sp>
      <p:pic>
        <p:nvPicPr>
          <p:cNvPr id="6" name="Picture 5" descr="s42_carving.png"/>
          <p:cNvPicPr>
            <a:picLocks noChangeAspect="1"/>
          </p:cNvPicPr>
          <p:nvPr/>
        </p:nvPicPr>
        <p:blipFill>
          <a:blip r:embed="rId2"/>
          <a:stretch>
            <a:fillRect/>
          </a:stretch>
        </p:blipFill>
        <p:spPr>
          <a:xfrm>
            <a:off x="6355080" y="2735078"/>
            <a:ext cx="5532120" cy="2165083"/>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File carving rebuilds files by their header/footer signatures — no file-system index needed.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63 / 100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File carving — signatures rebuild files without an index</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780270"/>
                <a:gridCol w="4015945"/>
                <a:gridCol w="4633783"/>
              </a:tblGrid>
              <a:tr h="630936">
                <a:tc>
                  <a:txBody>
                    <a:bodyPr wrap="square"/>
                    <a:lstStyle/>
                    <a:p>
                      <a:r>
                        <a:rPr sz="1150" b="1">
                          <a:solidFill>
                            <a:srgbClr val="FFFFFF"/>
                          </a:solidFill>
                        </a:rPr>
                        <a:t>File type</a:t>
                      </a:r>
                    </a:p>
                  </a:txBody>
                  <a:tcPr anchor="ctr" marL="73152" marR="54864" marT="27432" marB="27432">
                    <a:solidFill>
                      <a:srgbClr val="0C2B4A"/>
                    </a:solidFill>
                  </a:tcPr>
                </a:tc>
                <a:tc>
                  <a:txBody>
                    <a:bodyPr wrap="square"/>
                    <a:lstStyle/>
                    <a:p>
                      <a:r>
                        <a:rPr sz="1150" b="1">
                          <a:solidFill>
                            <a:srgbClr val="FFFFFF"/>
                          </a:solidFill>
                        </a:rPr>
                        <a:t>Signature clue</a:t>
                      </a:r>
                    </a:p>
                  </a:txBody>
                  <a:tcPr anchor="ctr" marL="73152" marR="54864" marT="27432" marB="27432">
                    <a:solidFill>
                      <a:srgbClr val="0C2B4A"/>
                    </a:solidFill>
                  </a:tcPr>
                </a:tc>
                <a:tc>
                  <a:txBody>
                    <a:bodyPr wrap="square"/>
                    <a:lstStyle/>
                    <a:p>
                      <a:r>
                        <a:rPr sz="1150" b="1">
                          <a:solidFill>
                            <a:srgbClr val="FFFFFF"/>
                          </a:solidFill>
                        </a:rPr>
                        <a:t>What carving recovers</a:t>
                      </a:r>
                    </a:p>
                  </a:txBody>
                  <a:tcPr anchor="ctr" marL="73152" marR="54864" marT="27432" marB="27432">
                    <a:solidFill>
                      <a:srgbClr val="0C2B4A"/>
                    </a:solidFill>
                  </a:tcPr>
                </a:tc>
              </a:tr>
              <a:tr h="630936">
                <a:tc>
                  <a:txBody>
                    <a:bodyPr wrap="square"/>
                    <a:lstStyle/>
                    <a:p>
                      <a:r>
                        <a:rPr sz="1100" b="1">
                          <a:solidFill>
                            <a:srgbClr val="0C2B4A"/>
                          </a:solidFill>
                        </a:rPr>
                        <a:t>JPEG image</a:t>
                      </a:r>
                    </a:p>
                  </a:txBody>
                  <a:tcPr anchor="ctr" marL="73152" marR="54864" marT="27432" marB="27432">
                    <a:solidFill>
                      <a:srgbClr val="FFFFFF"/>
                    </a:solidFill>
                  </a:tcPr>
                </a:tc>
                <a:tc>
                  <a:txBody>
                    <a:bodyPr wrap="square"/>
                    <a:lstStyle/>
                    <a:p>
                      <a:r>
                        <a:rPr sz="1100">
                          <a:solidFill>
                            <a:srgbClr val="1A1A1A"/>
                          </a:solidFill>
                        </a:rPr>
                        <a:t>Header FF D8 … footer FF D9</a:t>
                      </a:r>
                    </a:p>
                  </a:txBody>
                  <a:tcPr anchor="ctr" marL="73152" marR="54864" marT="27432" marB="27432">
                    <a:solidFill>
                      <a:srgbClr val="FFFFFF"/>
                    </a:solidFill>
                  </a:tcPr>
                </a:tc>
                <a:tc>
                  <a:txBody>
                    <a:bodyPr wrap="square"/>
                    <a:lstStyle/>
                    <a:p>
                      <a:r>
                        <a:rPr sz="1100">
                          <a:solidFill>
                            <a:srgbClr val="1A1A1A"/>
                          </a:solidFill>
                        </a:rPr>
                        <a:t>Deleted photos from unallocated space</a:t>
                      </a:r>
                    </a:p>
                  </a:txBody>
                  <a:tcPr anchor="ctr" marL="73152" marR="54864" marT="27432" marB="27432">
                    <a:solidFill>
                      <a:srgbClr val="FFFFFF"/>
                    </a:solidFill>
                  </a:tcPr>
                </a:tc>
              </a:tr>
              <a:tr h="630936">
                <a:tc>
                  <a:txBody>
                    <a:bodyPr wrap="square"/>
                    <a:lstStyle/>
                    <a:p>
                      <a:r>
                        <a:rPr sz="1100" b="1">
                          <a:solidFill>
                            <a:srgbClr val="0C2B4A"/>
                          </a:solidFill>
                        </a:rPr>
                        <a:t>PNG image</a:t>
                      </a:r>
                    </a:p>
                  </a:txBody>
                  <a:tcPr anchor="ctr" marL="73152" marR="54864" marT="27432" marB="27432">
                    <a:solidFill>
                      <a:srgbClr val="EEF3F8"/>
                    </a:solidFill>
                  </a:tcPr>
                </a:tc>
                <a:tc>
                  <a:txBody>
                    <a:bodyPr wrap="square"/>
                    <a:lstStyle/>
                    <a:p>
                      <a:r>
                        <a:rPr sz="1100">
                          <a:solidFill>
                            <a:srgbClr val="1A1A1A"/>
                          </a:solidFill>
                        </a:rPr>
                        <a:t>Header 89 50 4E 47</a:t>
                      </a:r>
                    </a:p>
                  </a:txBody>
                  <a:tcPr anchor="ctr" marL="73152" marR="54864" marT="27432" marB="27432">
                    <a:solidFill>
                      <a:srgbClr val="EEF3F8"/>
                    </a:solidFill>
                  </a:tcPr>
                </a:tc>
                <a:tc>
                  <a:txBody>
                    <a:bodyPr wrap="square"/>
                    <a:lstStyle/>
                    <a:p>
                      <a:r>
                        <a:rPr sz="1100">
                          <a:solidFill>
                            <a:srgbClr val="1A1A1A"/>
                          </a:solidFill>
                        </a:rPr>
                        <a:t>Deleted screenshots/graphics</a:t>
                      </a:r>
                    </a:p>
                  </a:txBody>
                  <a:tcPr anchor="ctr" marL="73152" marR="54864" marT="27432" marB="27432">
                    <a:solidFill>
                      <a:srgbClr val="EEF3F8"/>
                    </a:solidFill>
                  </a:tcPr>
                </a:tc>
              </a:tr>
              <a:tr h="630936">
                <a:tc>
                  <a:txBody>
                    <a:bodyPr wrap="square"/>
                    <a:lstStyle/>
                    <a:p>
                      <a:r>
                        <a:rPr sz="1100" b="1">
                          <a:solidFill>
                            <a:srgbClr val="0C2B4A"/>
                          </a:solidFill>
                        </a:rPr>
                        <a:t>PDF document</a:t>
                      </a:r>
                    </a:p>
                  </a:txBody>
                  <a:tcPr anchor="ctr" marL="73152" marR="54864" marT="27432" marB="27432">
                    <a:solidFill>
                      <a:srgbClr val="FFFFFF"/>
                    </a:solidFill>
                  </a:tcPr>
                </a:tc>
                <a:tc>
                  <a:txBody>
                    <a:bodyPr wrap="square"/>
                    <a:lstStyle/>
                    <a:p>
                      <a:r>
                        <a:rPr sz="1100">
                          <a:solidFill>
                            <a:srgbClr val="1A1A1A"/>
                          </a:solidFill>
                        </a:rPr>
                        <a:t>Header %PDF … trailer %%EOF</a:t>
                      </a:r>
                    </a:p>
                  </a:txBody>
                  <a:tcPr anchor="ctr" marL="73152" marR="54864" marT="27432" marB="27432">
                    <a:solidFill>
                      <a:srgbClr val="FFFFFF"/>
                    </a:solidFill>
                  </a:tcPr>
                </a:tc>
                <a:tc>
                  <a:txBody>
                    <a:bodyPr wrap="square"/>
                    <a:lstStyle/>
                    <a:p>
                      <a:r>
                        <a:rPr sz="1100">
                          <a:solidFill>
                            <a:srgbClr val="1A1A1A"/>
                          </a:solidFill>
                        </a:rPr>
                        <a:t>Deleted documents/receipts</a:t>
                      </a:r>
                    </a:p>
                  </a:txBody>
                  <a:tcPr anchor="ctr" marL="73152" marR="54864" marT="27432" marB="27432">
                    <a:solidFill>
                      <a:srgbClr val="FFFFFF"/>
                    </a:solidFill>
                  </a:tcPr>
                </a:tc>
              </a:tr>
              <a:tr h="630936">
                <a:tc>
                  <a:txBody>
                    <a:bodyPr wrap="square"/>
                    <a:lstStyle/>
                    <a:p>
                      <a:r>
                        <a:rPr sz="1100" b="1">
                          <a:solidFill>
                            <a:srgbClr val="0C2B4A"/>
                          </a:solidFill>
                        </a:rPr>
                        <a:t>ZIP / Office file</a:t>
                      </a:r>
                    </a:p>
                  </a:txBody>
                  <a:tcPr anchor="ctr" marL="73152" marR="54864" marT="27432" marB="27432">
                    <a:solidFill>
                      <a:srgbClr val="EEF3F8"/>
                    </a:solidFill>
                  </a:tcPr>
                </a:tc>
                <a:tc>
                  <a:txBody>
                    <a:bodyPr wrap="square"/>
                    <a:lstStyle/>
                    <a:p>
                      <a:r>
                        <a:rPr sz="1100">
                          <a:solidFill>
                            <a:srgbClr val="1A1A1A"/>
                          </a:solidFill>
                        </a:rPr>
                        <a:t>Header PK\x03\x04</a:t>
                      </a:r>
                    </a:p>
                  </a:txBody>
                  <a:tcPr anchor="ctr" marL="73152" marR="54864" marT="27432" marB="27432">
                    <a:solidFill>
                      <a:srgbClr val="EEF3F8"/>
                    </a:solidFill>
                  </a:tcPr>
                </a:tc>
                <a:tc>
                  <a:txBody>
                    <a:bodyPr wrap="square"/>
                    <a:lstStyle/>
                    <a:p>
                      <a:r>
                        <a:rPr sz="1100">
                          <a:solidFill>
                            <a:srgbClr val="1A1A1A"/>
                          </a:solidFill>
                        </a:rPr>
                        <a:t>Deleted archives &amp; docx/xlsx</a:t>
                      </a:r>
                    </a:p>
                  </a:txBody>
                  <a:tcPr anchor="ctr" marL="73152" marR="54864" marT="27432" marB="27432">
                    <a:solidFill>
                      <a:srgbClr val="EEF3F8"/>
                    </a:solidFill>
                  </a:tcPr>
                </a:tc>
              </a:tr>
              <a:tr h="630936">
                <a:tc>
                  <a:txBody>
                    <a:bodyPr wrap="square"/>
                    <a:lstStyle/>
                    <a:p>
                      <a:r>
                        <a:rPr sz="1100" b="1">
                          <a:solidFill>
                            <a:srgbClr val="0C2B4A"/>
                          </a:solidFill>
                        </a:rPr>
                        <a:t>MP4 video</a:t>
                      </a:r>
                    </a:p>
                  </a:txBody>
                  <a:tcPr anchor="ctr" marL="73152" marR="54864" marT="27432" marB="27432">
                    <a:solidFill>
                      <a:srgbClr val="FFFFFF"/>
                    </a:solidFill>
                  </a:tcPr>
                </a:tc>
                <a:tc>
                  <a:txBody>
                    <a:bodyPr wrap="square"/>
                    <a:lstStyle/>
                    <a:p>
                      <a:r>
                        <a:rPr sz="1100">
                          <a:solidFill>
                            <a:srgbClr val="1A1A1A"/>
                          </a:solidFill>
                        </a:rPr>
                        <a:t>'ftyp' box near the start</a:t>
                      </a:r>
                    </a:p>
                  </a:txBody>
                  <a:tcPr anchor="ctr" marL="73152" marR="54864" marT="27432" marB="27432">
                    <a:solidFill>
                      <a:srgbClr val="FFFFFF"/>
                    </a:solidFill>
                  </a:tcPr>
                </a:tc>
                <a:tc>
                  <a:txBody>
                    <a:bodyPr wrap="square"/>
                    <a:lstStyle/>
                    <a:p>
                      <a:r>
                        <a:rPr sz="1100">
                          <a:solidFill>
                            <a:srgbClr val="1A1A1A"/>
                          </a:solidFill>
                        </a:rPr>
                        <a:t>Deleted video clips</a:t>
                      </a:r>
                    </a:p>
                  </a:txBody>
                  <a:tcPr anchor="ctr" marL="73152" marR="54864" marT="27432" marB="27432">
                    <a:solidFill>
                      <a:srgbClr val="FFFFFF"/>
                    </a:solidFill>
                  </a:tcPr>
                </a:tc>
              </a:tr>
              <a:tr h="630936">
                <a:tc>
                  <a:txBody>
                    <a:bodyPr wrap="square"/>
                    <a:lstStyle/>
                    <a:p>
                      <a:r>
                        <a:rPr sz="1100" b="1">
                          <a:solidFill>
                            <a:srgbClr val="0C2B4A"/>
                          </a:solidFill>
                        </a:rPr>
                        <a:t>No index needed</a:t>
                      </a:r>
                    </a:p>
                  </a:txBody>
                  <a:tcPr anchor="ctr" marL="73152" marR="54864" marT="27432" marB="27432">
                    <a:solidFill>
                      <a:srgbClr val="EEF3F8"/>
                    </a:solidFill>
                  </a:tcPr>
                </a:tc>
                <a:tc>
                  <a:txBody>
                    <a:bodyPr wrap="square"/>
                    <a:lstStyle/>
                    <a:p>
                      <a:r>
                        <a:rPr sz="1100">
                          <a:solidFill>
                            <a:srgbClr val="1A1A1A"/>
                          </a:solidFill>
                        </a:rPr>
                        <a:t>Scans raw bytes for signatures</a:t>
                      </a:r>
                    </a:p>
                  </a:txBody>
                  <a:tcPr anchor="ctr" marL="73152" marR="54864" marT="27432" marB="27432">
                    <a:solidFill>
                      <a:srgbClr val="EEF3F8"/>
                    </a:solidFill>
                  </a:tcPr>
                </a:tc>
                <a:tc>
                  <a:txBody>
                    <a:bodyPr wrap="square"/>
                    <a:lstStyle/>
                    <a:p>
                      <a:r>
                        <a:rPr sz="1100">
                          <a:solidFill>
                            <a:srgbClr val="1A1A1A"/>
                          </a:solidFill>
                        </a:rPr>
                        <a:t>Files the file system no longer lists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Carving relies on content signatures, not the file-system index — so it works precisely when 'delete' or a format has removed the index but left the bytes behind.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64 / 100</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S42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File Carving</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When a suspect deletes photos and the file-system index no longer lists them, an analyst carves the unallocated space of the disk image — scanning for JPEG headers (FF D8) and footers (FF D9) — and rebuilds the images without any index. It is how 'deleted' media is routinely recovered.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the file isn't in the index, it's gone." File carving recovers files by recognising their signatures in raw data, with no reliance on the file-system index — so data can be rebuilt even after the index entry is deleted, as long as the bytes aren't overwritten.</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File carving reconstructs files from raw data using file signatures (headers/footers) when the file-system metadata is gone — for example scanning unallocated space for a JPEG's FF D8 header and FF D9 footer to rebuild the image without any index. It is like reassembling a shredded document by its edges, and it is how deleted photos and documents are recovered.</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file carving · file signatures · header/footer · unallocated space · no index needed · JPEG FF D8/FF D9</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65 / 100</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S42 — 'Dispose of your old device'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if deletion rarely erases data, how should you properly dispose of an old laptop or phone?</a:t>
            </a:r>
          </a:p>
          <a:p>
            <a:pPr>
              <a:spcAft>
                <a:spcPts val="700"/>
              </a:spcAft>
            </a:pPr>
            <a:r>
              <a:rPr sz="1550">
                <a:solidFill>
                  <a:srgbClr val="1A1A1A"/>
                </a:solidFill>
              </a:rPr>
              <a:t>•  List the steps that would actually stop your data being recovered.</a:t>
            </a:r>
          </a:p>
          <a:p>
            <a:pPr>
              <a:spcAft>
                <a:spcPts val="700"/>
              </a:spcAft>
            </a:pPr>
            <a:r>
              <a:rPr sz="1550">
                <a:solidFill>
                  <a:srgbClr val="1A1A1A"/>
                </a:solidFill>
              </a:rPr>
              <a:t>•  Take 3–4 answers aloud (3 min); rank them from weak (delete) to strong (destroy/encrypt+wipe).</a:t>
            </a:r>
          </a:p>
          <a:p>
            <a:pPr>
              <a:spcAft>
                <a:spcPts val="700"/>
              </a:spcAft>
            </a:pPr>
            <a:r>
              <a:rPr sz="1550">
                <a:solidFill>
                  <a:srgbClr val="1A1A1A"/>
                </a:solidFill>
              </a:rPr>
              <a:t>•  Close: connect to Unit 2 privacy — a resold factory-reset phone can still leak photos.</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Strong answers: full secure-wipe/overwrite, or full-disk encryption then wipe/destroy the key, or physical destruction for sensitive media. Weak: delete, empty bin, quick format, plain factory reset. Always wipe BEFORE resale/disposal.</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66 / 100</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S42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When a file is 'deleted', what usually happens?</a:t>
            </a:r>
          </a:p>
          <a:p>
            <a:pPr lvl="1"/>
            <a:r>
              <a:rPr sz="1500" b="1">
                <a:solidFill>
                  <a:srgbClr val="0F6E56"/>
                </a:solidFill>
              </a:rPr>
              <a:t>a) bytes are overwritten instantly   b) ✅ the pointer is removed but the data remains until overwritten   c) the disk shrinks   d) nothing at all</a:t>
            </a:r>
          </a:p>
          <a:p>
            <a:pPr lvl="1">
              <a:spcBef>
                <a:spcPts val="600"/>
              </a:spcBef>
            </a:pPr>
            <a:r>
              <a:rPr sz="1500" i="1">
                <a:solidFill>
                  <a:srgbClr val="1A1A1A"/>
                </a:solidFill>
              </a:rPr>
              <a:t>     Why: the file system just marks the space free; recovery works until that space is reused.</a:t>
            </a:r>
          </a:p>
          <a:p>
            <a:pPr>
              <a:spcBef>
                <a:spcPts val="900"/>
              </a:spcBef>
            </a:pPr>
            <a:r>
              <a:rPr sz="1700" b="1">
                <a:solidFill>
                  <a:srgbClr val="0C2B4A"/>
                </a:solidFill>
              </a:rPr>
              <a:t>Q2.  File carving recovers files by:</a:t>
            </a:r>
          </a:p>
          <a:p>
            <a:pPr lvl="1"/>
            <a:r>
              <a:rPr sz="1500" b="1">
                <a:solidFill>
                  <a:srgbClr val="0F6E56"/>
                </a:solidFill>
              </a:rPr>
              <a:t>a) reading the index   b) ✅ recognising file signatures in raw data, without the file-system index   c) asking the OS   d) decrypting them</a:t>
            </a:r>
          </a:p>
          <a:p>
            <a:pPr lvl="1">
              <a:spcBef>
                <a:spcPts val="600"/>
              </a:spcBef>
            </a:pPr>
            <a:r>
              <a:rPr sz="1500" i="1">
                <a:solidFill>
                  <a:srgbClr val="1A1A1A"/>
                </a:solidFill>
              </a:rPr>
              <a:t>     Why: signatures (e.g. a JPEG header/footer) let carving rebuild files even when the index is gone.</a:t>
            </a:r>
          </a:p>
          <a:p>
            <a:pPr lvl="1">
              <a:spcBef>
                <a:spcPts val="600"/>
              </a:spcBef>
            </a:pPr>
            <a:r>
              <a:rPr sz="1500" i="1">
                <a:solidFill>
                  <a:srgbClr val="1A1A1A"/>
                </a:solidFill>
              </a:rPr>
              <a:t>Discussion: if deletion rarely erases data, how should you properly dispose of an old laptop or phone?</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67 / 100</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S42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Deletion removes the pointer, not the data — 'deleted' and 'formatted' stay recoverable until overwritten.</a:t>
            </a:r>
          </a:p>
          <a:p>
            <a:pPr>
              <a:spcAft>
                <a:spcPts val="800"/>
              </a:spcAft>
            </a:pPr>
            <a:r>
              <a:rPr sz="1500">
                <a:solidFill>
                  <a:srgbClr val="1A1A1A"/>
                </a:solidFill>
              </a:rPr>
              <a:t>2.  Always work from a hashed, bit-for-bit disk image (incl. slack/unallocated), never the original.</a:t>
            </a:r>
          </a:p>
          <a:p>
            <a:pPr>
              <a:spcAft>
                <a:spcPts val="800"/>
              </a:spcAft>
            </a:pPr>
            <a:r>
              <a:rPr sz="1500">
                <a:solidFill>
                  <a:srgbClr val="1A1A1A"/>
                </a:solidFill>
              </a:rPr>
              <a:t>3.  File carving rebuilds files from their header/footer signatures, without the file-system index.</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This is why selling a phone after a factory reset can still leak your photos — and why secure-wiping (or destroying the encryption key) matters before you dispose of any device.</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S43 — the device at the centre of most Nepali cases: the mobile phone.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68 / 100</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43 · LECTURE HOUR 6 (OF 7)</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Mobile Forensics</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Your phone knows where you slept, who you texted at 2am, what you searched, and which photos you 'deleted.' In most Nepali cyber cases today the phone IS the crime scene. How do investigators get evidence out of it — legally?</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69 / 100</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Mobile Forensics Is Its Own Discipline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Mobile forensics is extracting and analysing evidence from smartphones, tablets, SIMs and their apps. Phones are always-on, networked, encrypted, OS-locked, and store extraordinarily rich data — location, messages, app data, media and call logs — which makes them a distinct discipline from disk forensics.</a:t>
            </a:r>
          </a:p>
          <a:p>
            <a:pPr>
              <a:spcAft>
                <a:spcPts val="500"/>
              </a:spcAft>
            </a:pPr>
            <a:r>
              <a:rPr sz="1200" b="1">
                <a:solidFill>
                  <a:srgbClr val="185FA5"/>
                </a:solidFill>
              </a:rPr>
              <a:t>HOW IT WORKS</a:t>
            </a:r>
          </a:p>
          <a:p>
            <a:pPr>
              <a:spcAft>
                <a:spcPts val="600"/>
              </a:spcAft>
            </a:pPr>
            <a:r>
              <a:rPr sz="1400">
                <a:solidFill>
                  <a:srgbClr val="1A1A1A"/>
                </a:solidFill>
              </a:rPr>
              <a:t>•  Always-on &amp; networked: constant risk of remote wipe and cloud sync.</a:t>
            </a:r>
          </a:p>
          <a:p>
            <a:pPr>
              <a:spcAft>
                <a:spcPts val="600"/>
              </a:spcAft>
            </a:pPr>
            <a:r>
              <a:rPr sz="1400">
                <a:solidFill>
                  <a:srgbClr val="1A1A1A"/>
                </a:solidFill>
              </a:rPr>
              <a:t>•  Encrypted &amp; OS-locked: getting in is often the hardest part.</a:t>
            </a:r>
          </a:p>
          <a:p>
            <a:pPr>
              <a:spcAft>
                <a:spcPts val="600"/>
              </a:spcAft>
            </a:pPr>
            <a:r>
              <a:rPr sz="1400">
                <a:solidFill>
                  <a:srgbClr val="1A1A1A"/>
                </a:solidFill>
              </a:rPr>
              <a:t>•  Rich data: location history, chats, media metadata, app databases, call logs.</a:t>
            </a:r>
          </a:p>
          <a:p>
            <a:pPr>
              <a:spcAft>
                <a:spcPts val="600"/>
              </a:spcAft>
            </a:pPr>
            <a:r>
              <a:rPr sz="1400">
                <a:solidFill>
                  <a:srgbClr val="1A1A1A"/>
                </a:solidFill>
              </a:rPr>
              <a:t>•  Rapid change: new OS versions and apps break yesterday's techniques.</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A smartphone is a diary that writes and locks itself — read it without destroying the page.</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70 / 100</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1 · CONCRETE EXAMPLES</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Nepali cyber complaints — the phone as the crime scene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3243648"/>
                <a:gridCol w="4015945"/>
                <a:gridCol w="4170405"/>
              </a:tblGrid>
              <a:tr h="630936">
                <a:tc>
                  <a:txBody>
                    <a:bodyPr wrap="square"/>
                    <a:lstStyle/>
                    <a:p>
                      <a:r>
                        <a:rPr sz="1150" b="1">
                          <a:solidFill>
                            <a:srgbClr val="FFFFFF"/>
                          </a:solidFill>
                        </a:rPr>
                        <a:t>Complaint type (Nepal)</a:t>
                      </a:r>
                    </a:p>
                  </a:txBody>
                  <a:tcPr anchor="ctr" marL="73152" marR="54864" marT="27432" marB="27432">
                    <a:solidFill>
                      <a:srgbClr val="0C2B4A"/>
                    </a:solidFill>
                  </a:tcPr>
                </a:tc>
                <a:tc>
                  <a:txBody>
                    <a:bodyPr wrap="square"/>
                    <a:lstStyle/>
                    <a:p>
                      <a:r>
                        <a:rPr sz="1150" b="1">
                          <a:solidFill>
                            <a:srgbClr val="FFFFFF"/>
                          </a:solidFill>
                        </a:rPr>
                        <a:t>Where the evidence lives</a:t>
                      </a:r>
                    </a:p>
                  </a:txBody>
                  <a:tcPr anchor="ctr" marL="73152" marR="54864" marT="27432" marB="27432">
                    <a:solidFill>
                      <a:srgbClr val="0C2B4A"/>
                    </a:solidFill>
                  </a:tcPr>
                </a:tc>
                <a:tc>
                  <a:txBody>
                    <a:bodyPr wrap="square"/>
                    <a:lstStyle/>
                    <a:p>
                      <a:r>
                        <a:rPr sz="1150" b="1">
                          <a:solidFill>
                            <a:srgbClr val="FFFFFF"/>
                          </a:solidFill>
                        </a:rPr>
                        <a:t>What the phone reveals</a:t>
                      </a:r>
                    </a:p>
                  </a:txBody>
                  <a:tcPr anchor="ctr" marL="73152" marR="54864" marT="27432" marB="27432">
                    <a:solidFill>
                      <a:srgbClr val="0C2B4A"/>
                    </a:solidFill>
                  </a:tcPr>
                </a:tc>
              </a:tr>
              <a:tr h="630936">
                <a:tc>
                  <a:txBody>
                    <a:bodyPr wrap="square"/>
                    <a:lstStyle/>
                    <a:p>
                      <a:r>
                        <a:rPr sz="1100" b="1">
                          <a:solidFill>
                            <a:srgbClr val="0C2B4A"/>
                          </a:solidFill>
                        </a:rPr>
                        <a:t>Online fraud / scam</a:t>
                      </a:r>
                    </a:p>
                  </a:txBody>
                  <a:tcPr anchor="ctr" marL="73152" marR="54864" marT="27432" marB="27432">
                    <a:solidFill>
                      <a:srgbClr val="FFFFFF"/>
                    </a:solidFill>
                  </a:tcPr>
                </a:tc>
                <a:tc>
                  <a:txBody>
                    <a:bodyPr wrap="square"/>
                    <a:lstStyle/>
                    <a:p>
                      <a:r>
                        <a:rPr sz="1100">
                          <a:solidFill>
                            <a:srgbClr val="1A1A1A"/>
                          </a:solidFill>
                        </a:rPr>
                        <a:t>eSewa/Khalti, SMS OTPs, bank app</a:t>
                      </a:r>
                    </a:p>
                  </a:txBody>
                  <a:tcPr anchor="ctr" marL="73152" marR="54864" marT="27432" marB="27432">
                    <a:solidFill>
                      <a:srgbClr val="FFFFFF"/>
                    </a:solidFill>
                  </a:tcPr>
                </a:tc>
                <a:tc>
                  <a:txBody>
                    <a:bodyPr wrap="square"/>
                    <a:lstStyle/>
                    <a:p>
                      <a:r>
                        <a:rPr sz="1100">
                          <a:solidFill>
                            <a:srgbClr val="1A1A1A"/>
                          </a:solidFill>
                        </a:rPr>
                        <a:t>Transactions, payee, timing</a:t>
                      </a:r>
                    </a:p>
                  </a:txBody>
                  <a:tcPr anchor="ctr" marL="73152" marR="54864" marT="27432" marB="27432">
                    <a:solidFill>
                      <a:srgbClr val="FFFFFF"/>
                    </a:solidFill>
                  </a:tcPr>
                </a:tc>
              </a:tr>
              <a:tr h="630936">
                <a:tc>
                  <a:txBody>
                    <a:bodyPr wrap="square"/>
                    <a:lstStyle/>
                    <a:p>
                      <a:r>
                        <a:rPr sz="1100" b="1">
                          <a:solidFill>
                            <a:srgbClr val="0C2B4A"/>
                          </a:solidFill>
                        </a:rPr>
                        <a:t>Harassment / cyberbullying</a:t>
                      </a:r>
                    </a:p>
                  </a:txBody>
                  <a:tcPr anchor="ctr" marL="73152" marR="54864" marT="27432" marB="27432">
                    <a:solidFill>
                      <a:srgbClr val="EEF3F8"/>
                    </a:solidFill>
                  </a:tcPr>
                </a:tc>
                <a:tc>
                  <a:txBody>
                    <a:bodyPr wrap="square"/>
                    <a:lstStyle/>
                    <a:p>
                      <a:r>
                        <a:rPr sz="1100">
                          <a:solidFill>
                            <a:srgbClr val="1A1A1A"/>
                          </a:solidFill>
                        </a:rPr>
                        <a:t>Messenger, WhatsApp, Viber, TikTok</a:t>
                      </a:r>
                    </a:p>
                  </a:txBody>
                  <a:tcPr anchor="ctr" marL="73152" marR="54864" marT="27432" marB="27432">
                    <a:solidFill>
                      <a:srgbClr val="EEF3F8"/>
                    </a:solidFill>
                  </a:tcPr>
                </a:tc>
                <a:tc>
                  <a:txBody>
                    <a:bodyPr wrap="square"/>
                    <a:lstStyle/>
                    <a:p>
                      <a:r>
                        <a:rPr sz="1100">
                          <a:solidFill>
                            <a:srgbClr val="1A1A1A"/>
                          </a:solidFill>
                        </a:rPr>
                        <a:t>The abusive messages &amp; who sent them</a:t>
                      </a:r>
                    </a:p>
                  </a:txBody>
                  <a:tcPr anchor="ctr" marL="73152" marR="54864" marT="27432" marB="27432">
                    <a:solidFill>
                      <a:srgbClr val="EEF3F8"/>
                    </a:solidFill>
                  </a:tcPr>
                </a:tc>
              </a:tr>
              <a:tr h="630936">
                <a:tc>
                  <a:txBody>
                    <a:bodyPr wrap="square"/>
                    <a:lstStyle/>
                    <a:p>
                      <a:r>
                        <a:rPr sz="1100" b="1">
                          <a:solidFill>
                            <a:srgbClr val="0C2B4A"/>
                          </a:solidFill>
                        </a:rPr>
                        <a:t>Blackmail / sextortion</a:t>
                      </a:r>
                    </a:p>
                  </a:txBody>
                  <a:tcPr anchor="ctr" marL="73152" marR="54864" marT="27432" marB="27432">
                    <a:solidFill>
                      <a:srgbClr val="FFFFFF"/>
                    </a:solidFill>
                  </a:tcPr>
                </a:tc>
                <a:tc>
                  <a:txBody>
                    <a:bodyPr wrap="square"/>
                    <a:lstStyle/>
                    <a:p>
                      <a:r>
                        <a:rPr sz="1100">
                          <a:solidFill>
                            <a:srgbClr val="1A1A1A"/>
                          </a:solidFill>
                        </a:rPr>
                        <a:t>Gallery, chat apps, cloud backup</a:t>
                      </a:r>
                    </a:p>
                  </a:txBody>
                  <a:tcPr anchor="ctr" marL="73152" marR="54864" marT="27432" marB="27432">
                    <a:solidFill>
                      <a:srgbClr val="FFFFFF"/>
                    </a:solidFill>
                  </a:tcPr>
                </a:tc>
                <a:tc>
                  <a:txBody>
                    <a:bodyPr wrap="square"/>
                    <a:lstStyle/>
                    <a:p>
                      <a:r>
                        <a:rPr sz="1100">
                          <a:solidFill>
                            <a:srgbClr val="1A1A1A"/>
                          </a:solidFill>
                        </a:rPr>
                        <a:t>Images, threats, contact history</a:t>
                      </a:r>
                    </a:p>
                  </a:txBody>
                  <a:tcPr anchor="ctr" marL="73152" marR="54864" marT="27432" marB="27432">
                    <a:solidFill>
                      <a:srgbClr val="FFFFFF"/>
                    </a:solidFill>
                  </a:tcPr>
                </a:tc>
              </a:tr>
              <a:tr h="630936">
                <a:tc>
                  <a:txBody>
                    <a:bodyPr wrap="square"/>
                    <a:lstStyle/>
                    <a:p>
                      <a:r>
                        <a:rPr sz="1100" b="1">
                          <a:solidFill>
                            <a:srgbClr val="0C2B4A"/>
                          </a:solidFill>
                        </a:rPr>
                        <a:t>Fake profile / impersonation</a:t>
                      </a:r>
                    </a:p>
                  </a:txBody>
                  <a:tcPr anchor="ctr" marL="73152" marR="54864" marT="27432" marB="27432">
                    <a:solidFill>
                      <a:srgbClr val="EEF3F8"/>
                    </a:solidFill>
                  </a:tcPr>
                </a:tc>
                <a:tc>
                  <a:txBody>
                    <a:bodyPr wrap="square"/>
                    <a:lstStyle/>
                    <a:p>
                      <a:r>
                        <a:rPr sz="1100">
                          <a:solidFill>
                            <a:srgbClr val="1A1A1A"/>
                          </a:solidFill>
                        </a:rPr>
                        <a:t>Facebook/Instagram app + logins</a:t>
                      </a:r>
                    </a:p>
                  </a:txBody>
                  <a:tcPr anchor="ctr" marL="73152" marR="54864" marT="27432" marB="27432">
                    <a:solidFill>
                      <a:srgbClr val="EEF3F8"/>
                    </a:solidFill>
                  </a:tcPr>
                </a:tc>
                <a:tc>
                  <a:txBody>
                    <a:bodyPr wrap="square"/>
                    <a:lstStyle/>
                    <a:p>
                      <a:r>
                        <a:rPr sz="1100">
                          <a:solidFill>
                            <a:srgbClr val="1A1A1A"/>
                          </a:solidFill>
                        </a:rPr>
                        <a:t>Account access, device linkage</a:t>
                      </a:r>
                    </a:p>
                  </a:txBody>
                  <a:tcPr anchor="ctr" marL="73152" marR="54864" marT="27432" marB="27432">
                    <a:solidFill>
                      <a:srgbClr val="EEF3F8"/>
                    </a:solidFill>
                  </a:tcPr>
                </a:tc>
              </a:tr>
              <a:tr h="630936">
                <a:tc>
                  <a:txBody>
                    <a:bodyPr wrap="square"/>
                    <a:lstStyle/>
                    <a:p>
                      <a:r>
                        <a:rPr sz="1100" b="1">
                          <a:solidFill>
                            <a:srgbClr val="0C2B4A"/>
                          </a:solidFill>
                        </a:rPr>
                        <a:t>Financial dispute</a:t>
                      </a:r>
                    </a:p>
                  </a:txBody>
                  <a:tcPr anchor="ctr" marL="73152" marR="54864" marT="27432" marB="27432">
                    <a:solidFill>
                      <a:srgbClr val="FFFFFF"/>
                    </a:solidFill>
                  </a:tcPr>
                </a:tc>
                <a:tc>
                  <a:txBody>
                    <a:bodyPr wrap="square"/>
                    <a:lstStyle/>
                    <a:p>
                      <a:r>
                        <a:rPr sz="1100">
                          <a:solidFill>
                            <a:srgbClr val="1A1A1A"/>
                          </a:solidFill>
                        </a:rPr>
                        <a:t>Call logs + CDRs (NTC/Ncell)</a:t>
                      </a:r>
                    </a:p>
                  </a:txBody>
                  <a:tcPr anchor="ctr" marL="73152" marR="54864" marT="27432" marB="27432">
                    <a:solidFill>
                      <a:srgbClr val="FFFFFF"/>
                    </a:solidFill>
                  </a:tcPr>
                </a:tc>
                <a:tc>
                  <a:txBody>
                    <a:bodyPr wrap="square"/>
                    <a:lstStyle/>
                    <a:p>
                      <a:r>
                        <a:rPr sz="1100">
                          <a:solidFill>
                            <a:srgbClr val="1A1A1A"/>
                          </a:solidFill>
                        </a:rPr>
                        <a:t>Who contacted whom, and when</a:t>
                      </a:r>
                    </a:p>
                  </a:txBody>
                  <a:tcPr anchor="ctr" marL="73152" marR="54864" marT="27432" marB="27432">
                    <a:solidFill>
                      <a:srgbClr val="FFFFFF"/>
                    </a:solidFill>
                  </a:tcPr>
                </a:tc>
              </a:tr>
              <a:tr h="630936">
                <a:tc>
                  <a:txBody>
                    <a:bodyPr wrap="square"/>
                    <a:lstStyle/>
                    <a:p>
                      <a:r>
                        <a:rPr sz="1100" b="1">
                          <a:solidFill>
                            <a:srgbClr val="0C2B4A"/>
                          </a:solidFill>
                        </a:rPr>
                        <a:t>Location alibi</a:t>
                      </a:r>
                    </a:p>
                  </a:txBody>
                  <a:tcPr anchor="ctr" marL="73152" marR="54864" marT="27432" marB="27432">
                    <a:solidFill>
                      <a:srgbClr val="EEF3F8"/>
                    </a:solidFill>
                  </a:tcPr>
                </a:tc>
                <a:tc>
                  <a:txBody>
                    <a:bodyPr wrap="square"/>
                    <a:lstStyle/>
                    <a:p>
                      <a:r>
                        <a:rPr sz="1100">
                          <a:solidFill>
                            <a:srgbClr val="1A1A1A"/>
                          </a:solidFill>
                        </a:rPr>
                        <a:t>Maps/app location history</a:t>
                      </a:r>
                    </a:p>
                  </a:txBody>
                  <a:tcPr anchor="ctr" marL="73152" marR="54864" marT="27432" marB="27432">
                    <a:solidFill>
                      <a:srgbClr val="EEF3F8"/>
                    </a:solidFill>
                  </a:tcPr>
                </a:tc>
                <a:tc>
                  <a:txBody>
                    <a:bodyPr wrap="square"/>
                    <a:lstStyle/>
                    <a:p>
                      <a:r>
                        <a:rPr sz="1100">
                          <a:solidFill>
                            <a:srgbClr val="1A1A1A"/>
                          </a:solidFill>
                        </a:rPr>
                        <a:t>Where the phone was at a key time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Most Nepal Police Cyber Bureau complaints centre on mobile phones and apps (Facebook, Messenger, TikTok, WhatsApp, Viber, eSewa/Khalti) — the phone, not a PC, is the crime scene today.</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71 / 100</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Why Mobile Forensics Is Its Own Discipline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Most Nepal Police Cyber Bureau complaints — online fraud, harassment, blackmail, fake profiles — centre on mobile phones and apps like Facebook, Messenger, TikTok, WhatsApp, Viber and eSewa/Khalti. A single phone holds chats, location, media and wallet data, so mobile forensics is its own specialised field.</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"A factory reset wipes the phone clean." Resets and 'deleted' chats can still leave recoverable traces, and cloud backups may persist entirely — so a reset is not a guarantee the data is gone, for investigators or for your own privacy.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Mobile forensics is extracting and analysing evidence from smartphones, tablets, SIMs and apps. Phones are always-on, networked, encrypted, OS-locked, and hold uniquely rich data (location, messages, app data, media, call logs), which makes it a distinct discipline. In Nepal most Cyber Bureau complaints centre on phones and apps — the phone is today's primary crime scene.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mobile forensics · always-on/networked/encrypted · rich data · SIM &amp; apps · phone = crime scene · reset ≠ clean</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72 / 100</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Extraction Methods &amp; App Data</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There are levels of extraction: manual (scrolling/photographing), logical (via APIs/backups), file-system, and physical (a full image). More invasive levels yield more data but are harder. Key sources: chat/app databases (often SQLite), call logs, location history, media metadata, and cloud-synced data.</a:t>
            </a:r>
          </a:p>
          <a:p>
            <a:pPr>
              <a:spcAft>
                <a:spcPts val="500"/>
              </a:spcAft>
            </a:pPr>
            <a:r>
              <a:rPr sz="1200" b="1">
                <a:solidFill>
                  <a:srgbClr val="185FA5"/>
                </a:solidFill>
              </a:rPr>
              <a:t>HOW IT WORKS</a:t>
            </a:r>
          </a:p>
          <a:p>
            <a:pPr>
              <a:spcAft>
                <a:spcPts val="600"/>
              </a:spcAft>
            </a:pPr>
            <a:r>
              <a:rPr sz="1400">
                <a:solidFill>
                  <a:srgbClr val="1A1A1A"/>
                </a:solidFill>
              </a:rPr>
              <a:t>•  Manual: scroll and photograph — least data, no tools, but changes the device.</a:t>
            </a:r>
          </a:p>
          <a:p>
            <a:pPr>
              <a:spcAft>
                <a:spcPts val="600"/>
              </a:spcAft>
            </a:pPr>
            <a:r>
              <a:rPr sz="1400">
                <a:solidFill>
                  <a:srgbClr val="1A1A1A"/>
                </a:solidFill>
              </a:rPr>
              <a:t>•  Logical: use the phone's APIs/backups — moderate data, less invasive.</a:t>
            </a:r>
          </a:p>
          <a:p>
            <a:pPr>
              <a:spcAft>
                <a:spcPts val="600"/>
              </a:spcAft>
            </a:pPr>
            <a:r>
              <a:rPr sz="1400">
                <a:solidFill>
                  <a:srgbClr val="1A1A1A"/>
                </a:solidFill>
              </a:rPr>
              <a:t>•  File-system &amp; physical: app databases and a full bit-for-bit image — most data.</a:t>
            </a:r>
          </a:p>
          <a:p>
            <a:pPr>
              <a:spcAft>
                <a:spcPts val="600"/>
              </a:spcAft>
            </a:pPr>
            <a:r>
              <a:rPr sz="1400">
                <a:solidFill>
                  <a:srgbClr val="1A1A1A"/>
                </a:solidFill>
              </a:rPr>
              <a:t>•  App data often lives in SQLite databases; cloud backups may hold the rest.</a:t>
            </a:r>
          </a:p>
        </p:txBody>
      </p:sp>
      <p:pic>
        <p:nvPicPr>
          <p:cNvPr id="6" name="Picture 5" descr="s43_extraction.png"/>
          <p:cNvPicPr>
            <a:picLocks noChangeAspect="1"/>
          </p:cNvPicPr>
          <p:nvPr/>
        </p:nvPicPr>
        <p:blipFill>
          <a:blip r:embed="rId2"/>
          <a:stretch>
            <a:fillRect/>
          </a:stretch>
        </p:blipFill>
        <p:spPr>
          <a:xfrm>
            <a:off x="6355080" y="2657479"/>
            <a:ext cx="5532120" cy="2320282"/>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Extraction levels: manual → logical → file-system → physical (more data, but harder and more invasive).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73 / 100</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2 · COMPARISON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four extraction levels — data vs difficulty</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25810"/>
                <a:gridCol w="4170405"/>
                <a:gridCol w="4633783"/>
              </a:tblGrid>
              <a:tr h="630936">
                <a:tc>
                  <a:txBody>
                    <a:bodyPr wrap="square"/>
                    <a:lstStyle/>
                    <a:p>
                      <a:r>
                        <a:rPr sz="1150" b="1">
                          <a:solidFill>
                            <a:srgbClr val="FFFFFF"/>
                          </a:solidFill>
                        </a:rPr>
                        <a:t>Level</a:t>
                      </a:r>
                    </a:p>
                  </a:txBody>
                  <a:tcPr anchor="ctr" marL="73152" marR="54864" marT="27432" marB="27432">
                    <a:solidFill>
                      <a:srgbClr val="0C2B4A"/>
                    </a:solidFill>
                  </a:tcPr>
                </a:tc>
                <a:tc>
                  <a:txBody>
                    <a:bodyPr wrap="square"/>
                    <a:lstStyle/>
                    <a:p>
                      <a:r>
                        <a:rPr sz="1150" b="1">
                          <a:solidFill>
                            <a:srgbClr val="FFFFFF"/>
                          </a:solidFill>
                        </a:rPr>
                        <a:t>How it works</a:t>
                      </a:r>
                    </a:p>
                  </a:txBody>
                  <a:tcPr anchor="ctr" marL="73152" marR="54864" marT="27432" marB="27432">
                    <a:solidFill>
                      <a:srgbClr val="0C2B4A"/>
                    </a:solidFill>
                  </a:tcPr>
                </a:tc>
                <a:tc>
                  <a:txBody>
                    <a:bodyPr wrap="square"/>
                    <a:lstStyle/>
                    <a:p>
                      <a:r>
                        <a:rPr sz="1150" b="1">
                          <a:solidFill>
                            <a:srgbClr val="FFFFFF"/>
                          </a:solidFill>
                        </a:rPr>
                        <a:t>Data yield / trade-off</a:t>
                      </a:r>
                    </a:p>
                  </a:txBody>
                  <a:tcPr anchor="ctr" marL="73152" marR="54864" marT="27432" marB="27432">
                    <a:solidFill>
                      <a:srgbClr val="0C2B4A"/>
                    </a:solidFill>
                  </a:tcPr>
                </a:tc>
              </a:tr>
              <a:tr h="630936">
                <a:tc>
                  <a:txBody>
                    <a:bodyPr wrap="square"/>
                    <a:lstStyle/>
                    <a:p>
                      <a:r>
                        <a:rPr sz="1100" b="1">
                          <a:solidFill>
                            <a:srgbClr val="0C2B4A"/>
                          </a:solidFill>
                        </a:rPr>
                        <a:t>Manual</a:t>
                      </a:r>
                    </a:p>
                  </a:txBody>
                  <a:tcPr anchor="ctr" marL="73152" marR="54864" marT="27432" marB="27432">
                    <a:solidFill>
                      <a:srgbClr val="FFFFFF"/>
                    </a:solidFill>
                  </a:tcPr>
                </a:tc>
                <a:tc>
                  <a:txBody>
                    <a:bodyPr wrap="square"/>
                    <a:lstStyle/>
                    <a:p>
                      <a:r>
                        <a:rPr sz="1100">
                          <a:solidFill>
                            <a:srgbClr val="1A1A1A"/>
                          </a:solidFill>
                        </a:rPr>
                        <a:t>Scroll &amp; photograph the screen</a:t>
                      </a:r>
                    </a:p>
                  </a:txBody>
                  <a:tcPr anchor="ctr" marL="73152" marR="54864" marT="27432" marB="27432">
                    <a:solidFill>
                      <a:srgbClr val="FFFFFF"/>
                    </a:solidFill>
                  </a:tcPr>
                </a:tc>
                <a:tc>
                  <a:txBody>
                    <a:bodyPr wrap="square"/>
                    <a:lstStyle/>
                    <a:p>
                      <a:r>
                        <a:rPr sz="1100">
                          <a:solidFill>
                            <a:srgbClr val="1A1A1A"/>
                          </a:solidFill>
                        </a:rPr>
                        <a:t>Least data; quick but alters the device</a:t>
                      </a:r>
                    </a:p>
                  </a:txBody>
                  <a:tcPr anchor="ctr" marL="73152" marR="54864" marT="27432" marB="27432">
                    <a:solidFill>
                      <a:srgbClr val="FFFFFF"/>
                    </a:solidFill>
                  </a:tcPr>
                </a:tc>
              </a:tr>
              <a:tr h="630936">
                <a:tc>
                  <a:txBody>
                    <a:bodyPr wrap="square"/>
                    <a:lstStyle/>
                    <a:p>
                      <a:r>
                        <a:rPr sz="1100" b="1">
                          <a:solidFill>
                            <a:srgbClr val="0C2B4A"/>
                          </a:solidFill>
                        </a:rPr>
                        <a:t>Logical</a:t>
                      </a:r>
                    </a:p>
                  </a:txBody>
                  <a:tcPr anchor="ctr" marL="73152" marR="54864" marT="27432" marB="27432">
                    <a:solidFill>
                      <a:srgbClr val="EEF3F8"/>
                    </a:solidFill>
                  </a:tcPr>
                </a:tc>
                <a:tc>
                  <a:txBody>
                    <a:bodyPr wrap="square"/>
                    <a:lstStyle/>
                    <a:p>
                      <a:r>
                        <a:rPr sz="1100">
                          <a:solidFill>
                            <a:srgbClr val="1A1A1A"/>
                          </a:solidFill>
                        </a:rPr>
                        <a:t>Via device APIs / backups</a:t>
                      </a:r>
                    </a:p>
                  </a:txBody>
                  <a:tcPr anchor="ctr" marL="73152" marR="54864" marT="27432" marB="27432">
                    <a:solidFill>
                      <a:srgbClr val="EEF3F8"/>
                    </a:solidFill>
                  </a:tcPr>
                </a:tc>
                <a:tc>
                  <a:txBody>
                    <a:bodyPr wrap="square"/>
                    <a:lstStyle/>
                    <a:p>
                      <a:r>
                        <a:rPr sz="1100">
                          <a:solidFill>
                            <a:srgbClr val="1A1A1A"/>
                          </a:solidFill>
                        </a:rPr>
                        <a:t>Moderate; less invasive, may miss deleted data</a:t>
                      </a:r>
                    </a:p>
                  </a:txBody>
                  <a:tcPr anchor="ctr" marL="73152" marR="54864" marT="27432" marB="27432">
                    <a:solidFill>
                      <a:srgbClr val="EEF3F8"/>
                    </a:solidFill>
                  </a:tcPr>
                </a:tc>
              </a:tr>
              <a:tr h="630936">
                <a:tc>
                  <a:txBody>
                    <a:bodyPr wrap="square"/>
                    <a:lstStyle/>
                    <a:p>
                      <a:r>
                        <a:rPr sz="1100" b="1">
                          <a:solidFill>
                            <a:srgbClr val="0C2B4A"/>
                          </a:solidFill>
                        </a:rPr>
                        <a:t>File-system</a:t>
                      </a:r>
                    </a:p>
                  </a:txBody>
                  <a:tcPr anchor="ctr" marL="73152" marR="54864" marT="27432" marB="27432">
                    <a:solidFill>
                      <a:srgbClr val="FFFFFF"/>
                    </a:solidFill>
                  </a:tcPr>
                </a:tc>
                <a:tc>
                  <a:txBody>
                    <a:bodyPr wrap="square"/>
                    <a:lstStyle/>
                    <a:p>
                      <a:r>
                        <a:rPr sz="1100">
                          <a:solidFill>
                            <a:srgbClr val="1A1A1A"/>
                          </a:solidFill>
                        </a:rPr>
                        <a:t>Pull app databases &amp; system files</a:t>
                      </a:r>
                    </a:p>
                  </a:txBody>
                  <a:tcPr anchor="ctr" marL="73152" marR="54864" marT="27432" marB="27432">
                    <a:solidFill>
                      <a:srgbClr val="FFFFFF"/>
                    </a:solidFill>
                  </a:tcPr>
                </a:tc>
                <a:tc>
                  <a:txBody>
                    <a:bodyPr wrap="square"/>
                    <a:lstStyle/>
                    <a:p>
                      <a:r>
                        <a:rPr sz="1100">
                          <a:solidFill>
                            <a:srgbClr val="1A1A1A"/>
                          </a:solidFill>
                        </a:rPr>
                        <a:t>More — reaches SQLite chat databases</a:t>
                      </a:r>
                    </a:p>
                  </a:txBody>
                  <a:tcPr anchor="ctr" marL="73152" marR="54864" marT="27432" marB="27432">
                    <a:solidFill>
                      <a:srgbClr val="FFFFFF"/>
                    </a:solidFill>
                  </a:tcPr>
                </a:tc>
              </a:tr>
              <a:tr h="630936">
                <a:tc>
                  <a:txBody>
                    <a:bodyPr wrap="square"/>
                    <a:lstStyle/>
                    <a:p>
                      <a:r>
                        <a:rPr sz="1100" b="1">
                          <a:solidFill>
                            <a:srgbClr val="0C2B4A"/>
                          </a:solidFill>
                        </a:rPr>
                        <a:t>Physical</a:t>
                      </a:r>
                    </a:p>
                  </a:txBody>
                  <a:tcPr anchor="ctr" marL="73152" marR="54864" marT="27432" marB="27432">
                    <a:solidFill>
                      <a:srgbClr val="EEF3F8"/>
                    </a:solidFill>
                  </a:tcPr>
                </a:tc>
                <a:tc>
                  <a:txBody>
                    <a:bodyPr wrap="square"/>
                    <a:lstStyle/>
                    <a:p>
                      <a:r>
                        <a:rPr sz="1100">
                          <a:solidFill>
                            <a:srgbClr val="1A1A1A"/>
                          </a:solidFill>
                        </a:rPr>
                        <a:t>Full bit-for-bit image of storage</a:t>
                      </a:r>
                    </a:p>
                  </a:txBody>
                  <a:tcPr anchor="ctr" marL="73152" marR="54864" marT="27432" marB="27432">
                    <a:solidFill>
                      <a:srgbClr val="EEF3F8"/>
                    </a:solidFill>
                  </a:tcPr>
                </a:tc>
                <a:tc>
                  <a:txBody>
                    <a:bodyPr wrap="square"/>
                    <a:lstStyle/>
                    <a:p>
                      <a:r>
                        <a:rPr sz="1100">
                          <a:solidFill>
                            <a:srgbClr val="1A1A1A"/>
                          </a:solidFill>
                        </a:rPr>
                        <a:t>Most data (incl. deleted); hardest, needs access</a:t>
                      </a:r>
                    </a:p>
                  </a:txBody>
                  <a:tcPr anchor="ctr" marL="73152" marR="54864" marT="27432" marB="27432">
                    <a:solidFill>
                      <a:srgbClr val="EEF3F8"/>
                    </a:solidFill>
                  </a:tcPr>
                </a:tc>
              </a:tr>
              <a:tr h="630936">
                <a:tc>
                  <a:txBody>
                    <a:bodyPr wrap="square"/>
                    <a:lstStyle/>
                    <a:p>
                      <a:r>
                        <a:rPr sz="1100" b="1">
                          <a:solidFill>
                            <a:srgbClr val="0C2B4A"/>
                          </a:solidFill>
                        </a:rPr>
                        <a:t>App databases</a:t>
                      </a:r>
                    </a:p>
                  </a:txBody>
                  <a:tcPr anchor="ctr" marL="73152" marR="54864" marT="27432" marB="27432">
                    <a:solidFill>
                      <a:srgbClr val="FFFFFF"/>
                    </a:solidFill>
                  </a:tcPr>
                </a:tc>
                <a:tc>
                  <a:txBody>
                    <a:bodyPr wrap="square"/>
                    <a:lstStyle/>
                    <a:p>
                      <a:r>
                        <a:rPr sz="1100">
                          <a:solidFill>
                            <a:srgbClr val="1A1A1A"/>
                          </a:solidFill>
                        </a:rPr>
                        <a:t>Read SQLite chat/app stores</a:t>
                      </a:r>
                    </a:p>
                  </a:txBody>
                  <a:tcPr anchor="ctr" marL="73152" marR="54864" marT="27432" marB="27432">
                    <a:solidFill>
                      <a:srgbClr val="FFFFFF"/>
                    </a:solidFill>
                  </a:tcPr>
                </a:tc>
                <a:tc>
                  <a:txBody>
                    <a:bodyPr wrap="square"/>
                    <a:lstStyle/>
                    <a:p>
                      <a:r>
                        <a:rPr sz="1100">
                          <a:solidFill>
                            <a:srgbClr val="1A1A1A"/>
                          </a:solidFill>
                        </a:rPr>
                        <a:t>Fragments of 'deleted' chats</a:t>
                      </a:r>
                    </a:p>
                  </a:txBody>
                  <a:tcPr anchor="ctr" marL="73152" marR="54864" marT="27432" marB="27432">
                    <a:solidFill>
                      <a:srgbClr val="FFFFFF"/>
                    </a:solidFill>
                  </a:tcPr>
                </a:tc>
              </a:tr>
              <a:tr h="630936">
                <a:tc>
                  <a:txBody>
                    <a:bodyPr wrap="square"/>
                    <a:lstStyle/>
                    <a:p>
                      <a:r>
                        <a:rPr sz="1100" b="1">
                          <a:solidFill>
                            <a:srgbClr val="0C2B4A"/>
                          </a:solidFill>
                        </a:rPr>
                        <a:t>Cloud-synced</a:t>
                      </a:r>
                    </a:p>
                  </a:txBody>
                  <a:tcPr anchor="ctr" marL="73152" marR="54864" marT="27432" marB="27432">
                    <a:solidFill>
                      <a:srgbClr val="EEF3F8"/>
                    </a:solidFill>
                  </a:tcPr>
                </a:tc>
                <a:tc>
                  <a:txBody>
                    <a:bodyPr wrap="square"/>
                    <a:lstStyle/>
                    <a:p>
                      <a:r>
                        <a:rPr sz="1100">
                          <a:solidFill>
                            <a:srgbClr val="1A1A1A"/>
                          </a:solidFill>
                        </a:rPr>
                        <a:t>Lawfully obtain the backup</a:t>
                      </a:r>
                    </a:p>
                  </a:txBody>
                  <a:tcPr anchor="ctr" marL="73152" marR="54864" marT="27432" marB="27432">
                    <a:solidFill>
                      <a:srgbClr val="EEF3F8"/>
                    </a:solidFill>
                  </a:tcPr>
                </a:tc>
                <a:tc>
                  <a:txBody>
                    <a:bodyPr wrap="square"/>
                    <a:lstStyle/>
                    <a:p>
                      <a:r>
                        <a:rPr sz="1100">
                          <a:solidFill>
                            <a:srgbClr val="1A1A1A"/>
                          </a:solidFill>
                        </a:rPr>
                        <a:t>What the phone itself no longer holds</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rule: the more invasive the level, the more data — but the harder it is (encryption, locks, access). Deleted chat evidence often survives in the app's SQLite database AND in the cloud backup.</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74 / 100</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Extraction Methods &amp; App Data</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suspect deleted a WhatsApp chat, but the app's local SQLite database still holds fragments and the cloud backup has the rest. The investigator must check multiple places — device storage, the app database, and (lawfully) the cloud backup — because 'deleted from the chat view' rarely means deleted everywhere.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it's deleted in the app, it's gone from the phone." App data lives in local SQLite databases and often syncs to a cloud backup, so fragments and full copies commonly survive a chat 'deletion'. An investigator (and a privacy-conscious user) must think about every place the data was copied to.</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Extraction has levels — manual (scroll/photograph), logical (APIs/backups), file-system, and physical (full image) — where more invasive levels yield more data but are harder. Key sources are app databases (often SQLite), call logs, location history, media metadata, and cloud-synced data. Because a 'deleted' chat often survives in the local database and the cloud, investigators check multiple places.</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extraction levels · manual/logical/file-system/physical · SQLite app databases · cloud backup · more data = harder</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75 / 100</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Challenges &amp; Integrity in Mobile Forensics</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Mobile forensics faces unique obstacles: encryption, lock screens, constant connectivity (remote-wipe risk), OS/version diversity, and rapid app changes. Despite these, the integrity rules are unchanged — isolate immediately (Faraday bag/airplane mode), document, hash extractions, and maintain chain of custody as with disks.</a:t>
            </a:r>
          </a:p>
          <a:p>
            <a:pPr>
              <a:spcAft>
                <a:spcPts val="500"/>
              </a:spcAft>
            </a:pPr>
            <a:r>
              <a:rPr sz="1200" b="1">
                <a:solidFill>
                  <a:srgbClr val="185FA5"/>
                </a:solidFill>
              </a:rPr>
              <a:t>HOW IT WORKS</a:t>
            </a:r>
          </a:p>
          <a:p>
            <a:pPr>
              <a:spcAft>
                <a:spcPts val="600"/>
              </a:spcAft>
            </a:pPr>
            <a:r>
              <a:rPr sz="1400">
                <a:solidFill>
                  <a:srgbClr val="1A1A1A"/>
                </a:solidFill>
              </a:rPr>
              <a:t>•  Encryption &amp; lock screens can block access entirely.</a:t>
            </a:r>
          </a:p>
          <a:p>
            <a:pPr>
              <a:spcAft>
                <a:spcPts val="600"/>
              </a:spcAft>
            </a:pPr>
            <a:r>
              <a:rPr sz="1400">
                <a:solidFill>
                  <a:srgbClr val="1A1A1A"/>
                </a:solidFill>
              </a:rPr>
              <a:t>•  Constant connectivity means remote wipe/sync — isolate first, always.</a:t>
            </a:r>
          </a:p>
          <a:p>
            <a:pPr>
              <a:spcAft>
                <a:spcPts val="600"/>
              </a:spcAft>
            </a:pPr>
            <a:r>
              <a:rPr sz="1400">
                <a:solidFill>
                  <a:srgbClr val="1A1A1A"/>
                </a:solidFill>
              </a:rPr>
              <a:t>•  OS and app diversity means no single technique fits every phone.</a:t>
            </a:r>
          </a:p>
          <a:p>
            <a:pPr>
              <a:spcAft>
                <a:spcPts val="600"/>
              </a:spcAft>
            </a:pPr>
            <a:r>
              <a:rPr sz="1400">
                <a:solidFill>
                  <a:srgbClr val="1A1A1A"/>
                </a:solidFill>
              </a:rPr>
              <a:t>•  The same integrity rules apply: isolate, document, hash, keep custody.</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New obstacles, same rules: isolate, hash, and keep custody exactly as with a disk.</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76 / 100</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Mobile-specific challenges — and the integrity response</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4729"/>
                <a:gridCol w="4170405"/>
                <a:gridCol w="4324864"/>
              </a:tblGrid>
              <a:tr h="630936">
                <a:tc>
                  <a:txBody>
                    <a:bodyPr wrap="square"/>
                    <a:lstStyle/>
                    <a:p>
                      <a:r>
                        <a:rPr sz="1150" b="1">
                          <a:solidFill>
                            <a:srgbClr val="FFFFFF"/>
                          </a:solidFill>
                        </a:rPr>
                        <a:t>Challenge</a:t>
                      </a:r>
                    </a:p>
                  </a:txBody>
                  <a:tcPr anchor="ctr" marL="73152" marR="54864" marT="27432" marB="27432">
                    <a:solidFill>
                      <a:srgbClr val="0C2B4A"/>
                    </a:solidFill>
                  </a:tcPr>
                </a:tc>
                <a:tc>
                  <a:txBody>
                    <a:bodyPr wrap="square"/>
                    <a:lstStyle/>
                    <a:p>
                      <a:r>
                        <a:rPr sz="1150" b="1">
                          <a:solidFill>
                            <a:srgbClr val="FFFFFF"/>
                          </a:solidFill>
                        </a:rPr>
                        <a:t>Why it's hard on mobile</a:t>
                      </a:r>
                    </a:p>
                  </a:txBody>
                  <a:tcPr anchor="ctr" marL="73152" marR="54864" marT="27432" marB="27432">
                    <a:solidFill>
                      <a:srgbClr val="0C2B4A"/>
                    </a:solidFill>
                  </a:tcPr>
                </a:tc>
                <a:tc>
                  <a:txBody>
                    <a:bodyPr wrap="square"/>
                    <a:lstStyle/>
                    <a:p>
                      <a:r>
                        <a:rPr sz="1150" b="1">
                          <a:solidFill>
                            <a:srgbClr val="FFFFFF"/>
                          </a:solidFill>
                        </a:rPr>
                        <a:t>Integrity response</a:t>
                      </a:r>
                    </a:p>
                  </a:txBody>
                  <a:tcPr anchor="ctr" marL="73152" marR="54864" marT="27432" marB="27432">
                    <a:solidFill>
                      <a:srgbClr val="0C2B4A"/>
                    </a:solidFill>
                  </a:tcPr>
                </a:tc>
              </a:tr>
              <a:tr h="630936">
                <a:tc>
                  <a:txBody>
                    <a:bodyPr wrap="square"/>
                    <a:lstStyle/>
                    <a:p>
                      <a:r>
                        <a:rPr sz="1100" b="1">
                          <a:solidFill>
                            <a:srgbClr val="0C2B4A"/>
                          </a:solidFill>
                        </a:rPr>
                        <a:t>Encryption</a:t>
                      </a:r>
                    </a:p>
                  </a:txBody>
                  <a:tcPr anchor="ctr" marL="73152" marR="54864" marT="27432" marB="27432">
                    <a:solidFill>
                      <a:srgbClr val="FFFFFF"/>
                    </a:solidFill>
                  </a:tcPr>
                </a:tc>
                <a:tc>
                  <a:txBody>
                    <a:bodyPr wrap="square"/>
                    <a:lstStyle/>
                    <a:p>
                      <a:r>
                        <a:rPr sz="1100">
                          <a:solidFill>
                            <a:srgbClr val="1A1A1A"/>
                          </a:solidFill>
                        </a:rPr>
                        <a:t>Data unreadable without the key</a:t>
                      </a:r>
                    </a:p>
                  </a:txBody>
                  <a:tcPr anchor="ctr" marL="73152" marR="54864" marT="27432" marB="27432">
                    <a:solidFill>
                      <a:srgbClr val="FFFFFF"/>
                    </a:solidFill>
                  </a:tcPr>
                </a:tc>
                <a:tc>
                  <a:txBody>
                    <a:bodyPr wrap="square"/>
                    <a:lstStyle/>
                    <a:p>
                      <a:r>
                        <a:rPr sz="1100">
                          <a:solidFill>
                            <a:srgbClr val="1A1A1A"/>
                          </a:solidFill>
                        </a:rPr>
                        <a:t>Live-acquire while unlocked; lawful access</a:t>
                      </a:r>
                    </a:p>
                  </a:txBody>
                  <a:tcPr anchor="ctr" marL="73152" marR="54864" marT="27432" marB="27432">
                    <a:solidFill>
                      <a:srgbClr val="FFFFFF"/>
                    </a:solidFill>
                  </a:tcPr>
                </a:tc>
              </a:tr>
              <a:tr h="630936">
                <a:tc>
                  <a:txBody>
                    <a:bodyPr wrap="square"/>
                    <a:lstStyle/>
                    <a:p>
                      <a:r>
                        <a:rPr sz="1100" b="1">
                          <a:solidFill>
                            <a:srgbClr val="0C2B4A"/>
                          </a:solidFill>
                        </a:rPr>
                        <a:t>Lock screen</a:t>
                      </a:r>
                    </a:p>
                  </a:txBody>
                  <a:tcPr anchor="ctr" marL="73152" marR="54864" marT="27432" marB="27432">
                    <a:solidFill>
                      <a:srgbClr val="EEF3F8"/>
                    </a:solidFill>
                  </a:tcPr>
                </a:tc>
                <a:tc>
                  <a:txBody>
                    <a:bodyPr wrap="square"/>
                    <a:lstStyle/>
                    <a:p>
                      <a:r>
                        <a:rPr sz="1100">
                          <a:solidFill>
                            <a:srgbClr val="1A1A1A"/>
                          </a:solidFill>
                        </a:rPr>
                        <a:t>Can't get in without the passcode</a:t>
                      </a:r>
                    </a:p>
                  </a:txBody>
                  <a:tcPr anchor="ctr" marL="73152" marR="54864" marT="27432" marB="27432">
                    <a:solidFill>
                      <a:srgbClr val="EEF3F8"/>
                    </a:solidFill>
                  </a:tcPr>
                </a:tc>
                <a:tc>
                  <a:txBody>
                    <a:bodyPr wrap="square"/>
                    <a:lstStyle/>
                    <a:p>
                      <a:r>
                        <a:rPr sz="1100">
                          <a:solidFill>
                            <a:srgbClr val="1A1A1A"/>
                          </a:solidFill>
                        </a:rPr>
                        <a:t>Isolate; document; use lawful means</a:t>
                      </a:r>
                    </a:p>
                  </a:txBody>
                  <a:tcPr anchor="ctr" marL="73152" marR="54864" marT="27432" marB="27432">
                    <a:solidFill>
                      <a:srgbClr val="EEF3F8"/>
                    </a:solidFill>
                  </a:tcPr>
                </a:tc>
              </a:tr>
              <a:tr h="630936">
                <a:tc>
                  <a:txBody>
                    <a:bodyPr wrap="square"/>
                    <a:lstStyle/>
                    <a:p>
                      <a:r>
                        <a:rPr sz="1100" b="1">
                          <a:solidFill>
                            <a:srgbClr val="0C2B4A"/>
                          </a:solidFill>
                        </a:rPr>
                        <a:t>Constant connectivity</a:t>
                      </a:r>
                    </a:p>
                  </a:txBody>
                  <a:tcPr anchor="ctr" marL="73152" marR="54864" marT="27432" marB="27432">
                    <a:solidFill>
                      <a:srgbClr val="FFFFFF"/>
                    </a:solidFill>
                  </a:tcPr>
                </a:tc>
                <a:tc>
                  <a:txBody>
                    <a:bodyPr wrap="square"/>
                    <a:lstStyle/>
                    <a:p>
                      <a:r>
                        <a:rPr sz="1100">
                          <a:solidFill>
                            <a:srgbClr val="1A1A1A"/>
                          </a:solidFill>
                        </a:rPr>
                        <a:t>Remote wipe / cloud sync risk</a:t>
                      </a:r>
                    </a:p>
                  </a:txBody>
                  <a:tcPr anchor="ctr" marL="73152" marR="54864" marT="27432" marB="27432">
                    <a:solidFill>
                      <a:srgbClr val="FFFFFF"/>
                    </a:solidFill>
                  </a:tcPr>
                </a:tc>
                <a:tc>
                  <a:txBody>
                    <a:bodyPr wrap="square"/>
                    <a:lstStyle/>
                    <a:p>
                      <a:r>
                        <a:rPr sz="1100">
                          <a:solidFill>
                            <a:srgbClr val="1A1A1A"/>
                          </a:solidFill>
                        </a:rPr>
                        <a:t>Faraday bag / airplane mode immediately</a:t>
                      </a:r>
                    </a:p>
                  </a:txBody>
                  <a:tcPr anchor="ctr" marL="73152" marR="54864" marT="27432" marB="27432">
                    <a:solidFill>
                      <a:srgbClr val="FFFFFF"/>
                    </a:solidFill>
                  </a:tcPr>
                </a:tc>
              </a:tr>
              <a:tr h="630936">
                <a:tc>
                  <a:txBody>
                    <a:bodyPr wrap="square"/>
                    <a:lstStyle/>
                    <a:p>
                      <a:r>
                        <a:rPr sz="1100" b="1">
                          <a:solidFill>
                            <a:srgbClr val="0C2B4A"/>
                          </a:solidFill>
                        </a:rPr>
                        <a:t>OS / version diversity</a:t>
                      </a:r>
                    </a:p>
                  </a:txBody>
                  <a:tcPr anchor="ctr" marL="73152" marR="54864" marT="27432" marB="27432">
                    <a:solidFill>
                      <a:srgbClr val="EEF3F8"/>
                    </a:solidFill>
                  </a:tcPr>
                </a:tc>
                <a:tc>
                  <a:txBody>
                    <a:bodyPr wrap="square"/>
                    <a:lstStyle/>
                    <a:p>
                      <a:r>
                        <a:rPr sz="1100">
                          <a:solidFill>
                            <a:srgbClr val="1A1A1A"/>
                          </a:solidFill>
                        </a:rPr>
                        <a:t>No single technique fits all</a:t>
                      </a:r>
                    </a:p>
                  </a:txBody>
                  <a:tcPr anchor="ctr" marL="73152" marR="54864" marT="27432" marB="27432">
                    <a:solidFill>
                      <a:srgbClr val="EEF3F8"/>
                    </a:solidFill>
                  </a:tcPr>
                </a:tc>
                <a:tc>
                  <a:txBody>
                    <a:bodyPr wrap="square"/>
                    <a:lstStyle/>
                    <a:p>
                      <a:r>
                        <a:rPr sz="1100">
                          <a:solidFill>
                            <a:srgbClr val="1A1A1A"/>
                          </a:solidFill>
                        </a:rPr>
                        <a:t>Document tool &amp; method used; repeatability</a:t>
                      </a:r>
                    </a:p>
                  </a:txBody>
                  <a:tcPr anchor="ctr" marL="73152" marR="54864" marT="27432" marB="27432">
                    <a:solidFill>
                      <a:srgbClr val="EEF3F8"/>
                    </a:solidFill>
                  </a:tcPr>
                </a:tc>
              </a:tr>
              <a:tr h="630936">
                <a:tc>
                  <a:txBody>
                    <a:bodyPr wrap="square"/>
                    <a:lstStyle/>
                    <a:p>
                      <a:r>
                        <a:rPr sz="1100" b="1">
                          <a:solidFill>
                            <a:srgbClr val="0C2B4A"/>
                          </a:solidFill>
                        </a:rPr>
                        <a:t>Rapid app changes</a:t>
                      </a:r>
                    </a:p>
                  </a:txBody>
                  <a:tcPr anchor="ctr" marL="73152" marR="54864" marT="27432" marB="27432">
                    <a:solidFill>
                      <a:srgbClr val="FFFFFF"/>
                    </a:solidFill>
                  </a:tcPr>
                </a:tc>
                <a:tc>
                  <a:txBody>
                    <a:bodyPr wrap="square"/>
                    <a:lstStyle/>
                    <a:p>
                      <a:r>
                        <a:rPr sz="1100">
                          <a:solidFill>
                            <a:srgbClr val="1A1A1A"/>
                          </a:solidFill>
                        </a:rPr>
                        <a:t>Yesterday's method breaks</a:t>
                      </a:r>
                    </a:p>
                  </a:txBody>
                  <a:tcPr anchor="ctr" marL="73152" marR="54864" marT="27432" marB="27432">
                    <a:solidFill>
                      <a:srgbClr val="FFFFFF"/>
                    </a:solidFill>
                  </a:tcPr>
                </a:tc>
                <a:tc>
                  <a:txBody>
                    <a:bodyPr wrap="square"/>
                    <a:lstStyle/>
                    <a:p>
                      <a:r>
                        <a:rPr sz="1100">
                          <a:solidFill>
                            <a:srgbClr val="1A1A1A"/>
                          </a:solidFill>
                        </a:rPr>
                        <a:t>Validate the tool; note versions</a:t>
                      </a:r>
                    </a:p>
                  </a:txBody>
                  <a:tcPr anchor="ctr" marL="73152" marR="54864" marT="27432" marB="27432">
                    <a:solidFill>
                      <a:srgbClr val="FFFFFF"/>
                    </a:solidFill>
                  </a:tcPr>
                </a:tc>
              </a:tr>
              <a:tr h="630936">
                <a:tc>
                  <a:txBody>
                    <a:bodyPr wrap="square"/>
                    <a:lstStyle/>
                    <a:p>
                      <a:r>
                        <a:rPr sz="1100" b="1">
                          <a:solidFill>
                            <a:srgbClr val="0C2B4A"/>
                          </a:solidFill>
                        </a:rPr>
                        <a:t>Rich, mixed data</a:t>
                      </a:r>
                    </a:p>
                  </a:txBody>
                  <a:tcPr anchor="ctr" marL="73152" marR="54864" marT="27432" marB="27432">
                    <a:solidFill>
                      <a:srgbClr val="EEF3F8"/>
                    </a:solidFill>
                  </a:tcPr>
                </a:tc>
                <a:tc>
                  <a:txBody>
                    <a:bodyPr wrap="square"/>
                    <a:lstStyle/>
                    <a:p>
                      <a:r>
                        <a:rPr sz="1100">
                          <a:solidFill>
                            <a:srgbClr val="1A1A1A"/>
                          </a:solidFill>
                        </a:rPr>
                        <a:t>Easy to alter or miss</a:t>
                      </a:r>
                    </a:p>
                  </a:txBody>
                  <a:tcPr anchor="ctr" marL="73152" marR="54864" marT="27432" marB="27432">
                    <a:solidFill>
                      <a:srgbClr val="EEF3F8"/>
                    </a:solidFill>
                  </a:tcPr>
                </a:tc>
                <a:tc>
                  <a:txBody>
                    <a:bodyPr wrap="square"/>
                    <a:lstStyle/>
                    <a:p>
                      <a:r>
                        <a:rPr sz="1100">
                          <a:solidFill>
                            <a:srgbClr val="1A1A1A"/>
                          </a:solidFill>
                        </a:rPr>
                        <a:t>Hash extractions; work on copies; custody log</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obstacles are new but the discipline is the same as disk forensics: isolate first, document everything, hash the extraction, and keep an unbroken chain of custody. Integrity does not get a mobile exemption.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77 / 100</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S43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Challenges &amp; Integrity in Mobile Forensics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seized phone in Kathmandu is placed in a Faraday bag the moment it's collected — blocking all signals so it can't be remotely wiped or synced — then documented, its extraction hashed, and every handoff logged. The obstacles (encryption, locks, connectivity) are new; the integrity rules are exactly those from S41.</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"Mobile evidence is so messy that strict integrity rules don't really apply." They apply fully — isolate, document, hash, keep custody — precisely because phones are volatile and connected. If anything, the remote-wipe risk makes immediate isolation more urgent than with a disk.</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Mobile forensics faces unique challenges — encryption, lock screens, constant connectivity (remote-wipe risk), OS/version diversity and rapid app changes — but the integrity rules are unchanged: isolate immediately (Faraday bag/airplane mode), document, hash extractions, and maintain chain of custody just as with disks. The obstacles are new; the discipline is the same.</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mobile challenges · encryption/locks · remote-wipe risk · Faraday bag · same integrity rules · hash &amp; custody</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78 / 100</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S43 — 'Where else does the chat live?'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besides the phone itself, where might 'deleted' chat evidence still exist?</a:t>
            </a:r>
          </a:p>
          <a:p>
            <a:pPr>
              <a:spcAft>
                <a:spcPts val="700"/>
              </a:spcAft>
            </a:pPr>
            <a:r>
              <a:rPr sz="1550">
                <a:solidFill>
                  <a:srgbClr val="1A1A1A"/>
                </a:solidFill>
              </a:rPr>
              <a:t>•  List every place a WhatsApp/Messenger message could be recovered from.</a:t>
            </a:r>
          </a:p>
          <a:p>
            <a:pPr>
              <a:spcAft>
                <a:spcPts val="700"/>
              </a:spcAft>
            </a:pPr>
            <a:r>
              <a:rPr sz="1550">
                <a:solidFill>
                  <a:srgbClr val="1A1A1A"/>
                </a:solidFill>
              </a:rPr>
              <a:t>•  Take 3–4 answers aloud (3 min); mark which need lawful authorisation to access.</a:t>
            </a:r>
          </a:p>
          <a:p>
            <a:pPr>
              <a:spcAft>
                <a:spcPts val="700"/>
              </a:spcAft>
            </a:pPr>
            <a:r>
              <a:rPr sz="1550">
                <a:solidFill>
                  <a:srgbClr val="1A1A1A"/>
                </a:solidFill>
              </a:rPr>
              <a:t>•  Close: connect to privacy — the same copies that help investigators can leak YOUR data.</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Seeds: local app SQLite database, device backup, cloud backup (Google/iCloud), the other party's phone, the platform's servers, and SMS/notification logs. Accessing cloud/platform data lawfully needs proper authorisation.</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79 / 100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S43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Which extraction type generally yields the MOST data?</a:t>
            </a:r>
          </a:p>
          <a:p>
            <a:pPr lvl="1"/>
            <a:r>
              <a:rPr sz="1500" b="1">
                <a:solidFill>
                  <a:srgbClr val="0F6E56"/>
                </a:solidFill>
              </a:rPr>
              <a:t>a) manual   b) logical   c) file-system   d) ✅ physical (full image)</a:t>
            </a:r>
          </a:p>
          <a:p>
            <a:pPr lvl="1">
              <a:spcBef>
                <a:spcPts val="600"/>
              </a:spcBef>
            </a:pPr>
            <a:r>
              <a:rPr sz="1500" i="1">
                <a:solidFill>
                  <a:srgbClr val="1A1A1A"/>
                </a:solidFill>
              </a:rPr>
              <a:t>     Why: a full bit-for-bit image captures the most, including deleted data — but it's the hardest to obtain.</a:t>
            </a:r>
          </a:p>
          <a:p>
            <a:pPr>
              <a:spcBef>
                <a:spcPts val="900"/>
              </a:spcBef>
            </a:pPr>
            <a:r>
              <a:rPr sz="1700" b="1">
                <a:solidFill>
                  <a:srgbClr val="0C2B4A"/>
                </a:solidFill>
              </a:rPr>
              <a:t>Q2.  A seized phone is placed in a Faraday bag primarily to:</a:t>
            </a:r>
          </a:p>
          <a:p>
            <a:pPr lvl="1"/>
            <a:r>
              <a:rPr sz="1500" b="1">
                <a:solidFill>
                  <a:srgbClr val="0F6E56"/>
                </a:solidFill>
              </a:rPr>
              <a:t>a) charge it   b) ✅ block all signals so it can't be remotely wiped or synced   c) unlock it   d) hash it</a:t>
            </a:r>
          </a:p>
          <a:p>
            <a:pPr lvl="1">
              <a:spcBef>
                <a:spcPts val="600"/>
              </a:spcBef>
            </a:pPr>
            <a:r>
              <a:rPr sz="1500" i="1">
                <a:solidFill>
                  <a:srgbClr val="1A1A1A"/>
                </a:solidFill>
              </a:rPr>
              <a:t>     Why: isolating the phone from networks preserves the evidence against remote wipe and cloud sync.</a:t>
            </a:r>
          </a:p>
          <a:p>
            <a:pPr lvl="1">
              <a:spcBef>
                <a:spcPts val="600"/>
              </a:spcBef>
            </a:pPr>
            <a:r>
              <a:rPr sz="1500" i="1">
                <a:solidFill>
                  <a:srgbClr val="1A1A1A"/>
                </a:solidFill>
              </a:rPr>
              <a:t>Discussion: where, besides the phone itself, might 'deleted' chat evidence still exist?</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80 / 100</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S43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Phones are today's primary crime scene and a discipline of their own (always-on, encrypted, data-rich).</a:t>
            </a:r>
          </a:p>
          <a:p>
            <a:pPr>
              <a:spcAft>
                <a:spcPts val="800"/>
              </a:spcAft>
            </a:pPr>
            <a:r>
              <a:rPr sz="1500">
                <a:solidFill>
                  <a:srgbClr val="1A1A1A"/>
                </a:solidFill>
              </a:rPr>
              <a:t>2.  Extraction ranges from manual → logical → file-system → physical, with app SQLite databases &amp; cloud as key sources.</a:t>
            </a:r>
          </a:p>
          <a:p>
            <a:pPr>
              <a:spcAft>
                <a:spcPts val="800"/>
              </a:spcAft>
            </a:pPr>
            <a:r>
              <a:rPr sz="1500">
                <a:solidFill>
                  <a:srgbClr val="1A1A1A"/>
                </a:solidFill>
              </a:rPr>
              <a:t>3.  The same integrity rules still apply: isolate (Faraday bag), document, hash, and keep chain of custody.</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Understanding what your phone stores — and how recoverable it is — directly shapes how you protect your own privacy and how you dispose of old devices.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S44 — the legal side: admissibility, the ETA 2063, and where Nepal stands on cyber forensics.</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81 / 100</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SESSION 44 · LECTURE HOUR 7 (OF 7) — CLOSES UNIT 8</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Legal Aspects · Cyber Forensics in Nepal</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Investigators recover damning evidence — but the judge rules it inadmissible because of how it was handled. The criminal walks free. In Nepal, who is even allowed to do this work, and under which law?</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82 / 100</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1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Legal Admissibility of Digital Evidence</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Admissibility is the set of conditions under which a court will accept digital evidence: relevance, authenticity, integrity (chain of custody + hashing), proper authorisation (a search warrant/lawful seizure), and expert testimony. Mishandling — even of genuine evidence — makes it inadmissible.</a:t>
            </a:r>
          </a:p>
          <a:p>
            <a:pPr>
              <a:spcAft>
                <a:spcPts val="500"/>
              </a:spcAft>
            </a:pPr>
            <a:r>
              <a:rPr sz="1200" b="1">
                <a:solidFill>
                  <a:srgbClr val="185FA5"/>
                </a:solidFill>
              </a:rPr>
              <a:t>HOW IT WORKS</a:t>
            </a:r>
          </a:p>
          <a:p>
            <a:pPr>
              <a:spcAft>
                <a:spcPts val="600"/>
              </a:spcAft>
            </a:pPr>
            <a:r>
              <a:rPr sz="1400">
                <a:solidFill>
                  <a:srgbClr val="1A1A1A"/>
                </a:solidFill>
              </a:rPr>
              <a:t>•  Relevant: it must actually bear on a fact in the case.</a:t>
            </a:r>
          </a:p>
          <a:p>
            <a:pPr>
              <a:spcAft>
                <a:spcPts val="600"/>
              </a:spcAft>
            </a:pPr>
            <a:r>
              <a:rPr sz="1400">
                <a:solidFill>
                  <a:srgbClr val="1A1A1A"/>
                </a:solidFill>
              </a:rPr>
              <a:t>•  Authentic &amp; integral: proven unaltered via custody log and hashes.</a:t>
            </a:r>
          </a:p>
          <a:p>
            <a:pPr>
              <a:spcAft>
                <a:spcPts val="600"/>
              </a:spcAft>
            </a:pPr>
            <a:r>
              <a:rPr sz="1400">
                <a:solidFill>
                  <a:srgbClr val="1A1A1A"/>
                </a:solidFill>
              </a:rPr>
              <a:t>•  Lawfully obtained: a valid warrant or lawful seizure — not an illegal search.</a:t>
            </a:r>
          </a:p>
          <a:p>
            <a:pPr>
              <a:spcAft>
                <a:spcPts val="600"/>
              </a:spcAft>
            </a:pPr>
            <a:r>
              <a:rPr sz="1400">
                <a:solidFill>
                  <a:srgbClr val="1A1A1A"/>
                </a:solidFill>
              </a:rPr>
              <a:t>•  Explained by a competent expert the court can question.</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Truth isn't enough — evidence must be relevant, authentic, intact AND lawfully obtained to be admitted.</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83 / 100</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1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admissibility checklist — every box must be ticked</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934729"/>
                <a:gridCol w="4479324"/>
                <a:gridCol w="4015945"/>
              </a:tblGrid>
              <a:tr h="630936">
                <a:tc>
                  <a:txBody>
                    <a:bodyPr wrap="square"/>
                    <a:lstStyle/>
                    <a:p>
                      <a:r>
                        <a:rPr sz="1150" b="1">
                          <a:solidFill>
                            <a:srgbClr val="FFFFFF"/>
                          </a:solidFill>
                        </a:rPr>
                        <a:t>Condition</a:t>
                      </a:r>
                    </a:p>
                  </a:txBody>
                  <a:tcPr anchor="ctr" marL="73152" marR="54864" marT="27432" marB="27432">
                    <a:solidFill>
                      <a:srgbClr val="0C2B4A"/>
                    </a:solidFill>
                  </a:tcPr>
                </a:tc>
                <a:tc>
                  <a:txBody>
                    <a:bodyPr wrap="square"/>
                    <a:lstStyle/>
                    <a:p>
                      <a:r>
                        <a:rPr sz="1150" b="1">
                          <a:solidFill>
                            <a:srgbClr val="FFFFFF"/>
                          </a:solidFill>
                        </a:rPr>
                        <a:t>What it requires</a:t>
                      </a:r>
                    </a:p>
                  </a:txBody>
                  <a:tcPr anchor="ctr" marL="73152" marR="54864" marT="27432" marB="27432">
                    <a:solidFill>
                      <a:srgbClr val="0C2B4A"/>
                    </a:solidFill>
                  </a:tcPr>
                </a:tc>
                <a:tc>
                  <a:txBody>
                    <a:bodyPr wrap="square"/>
                    <a:lstStyle/>
                    <a:p>
                      <a:r>
                        <a:rPr sz="1150" b="1">
                          <a:solidFill>
                            <a:srgbClr val="FFFFFF"/>
                          </a:solidFill>
                        </a:rPr>
                        <a:t>If it fails</a:t>
                      </a:r>
                    </a:p>
                  </a:txBody>
                  <a:tcPr anchor="ctr" marL="73152" marR="54864" marT="27432" marB="27432">
                    <a:solidFill>
                      <a:srgbClr val="0C2B4A"/>
                    </a:solidFill>
                  </a:tcPr>
                </a:tc>
              </a:tr>
              <a:tr h="630936">
                <a:tc>
                  <a:txBody>
                    <a:bodyPr wrap="square"/>
                    <a:lstStyle/>
                    <a:p>
                      <a:r>
                        <a:rPr sz="1100" b="1">
                          <a:solidFill>
                            <a:srgbClr val="0C2B4A"/>
                          </a:solidFill>
                        </a:rPr>
                        <a:t>Relevance</a:t>
                      </a:r>
                    </a:p>
                  </a:txBody>
                  <a:tcPr anchor="ctr" marL="73152" marR="54864" marT="27432" marB="27432">
                    <a:solidFill>
                      <a:srgbClr val="FFFFFF"/>
                    </a:solidFill>
                  </a:tcPr>
                </a:tc>
                <a:tc>
                  <a:txBody>
                    <a:bodyPr wrap="square"/>
                    <a:lstStyle/>
                    <a:p>
                      <a:r>
                        <a:rPr sz="1100">
                          <a:solidFill>
                            <a:srgbClr val="1A1A1A"/>
                          </a:solidFill>
                        </a:rPr>
                        <a:t>Bears on a fact in the case</a:t>
                      </a:r>
                    </a:p>
                  </a:txBody>
                  <a:tcPr anchor="ctr" marL="73152" marR="54864" marT="27432" marB="27432">
                    <a:solidFill>
                      <a:srgbClr val="FFFFFF"/>
                    </a:solidFill>
                  </a:tcPr>
                </a:tc>
                <a:tc>
                  <a:txBody>
                    <a:bodyPr wrap="square"/>
                    <a:lstStyle/>
                    <a:p>
                      <a:r>
                        <a:rPr sz="1100">
                          <a:solidFill>
                            <a:srgbClr val="1A1A1A"/>
                          </a:solidFill>
                        </a:rPr>
                        <a:t>Excluded as irrelevant</a:t>
                      </a:r>
                    </a:p>
                  </a:txBody>
                  <a:tcPr anchor="ctr" marL="73152" marR="54864" marT="27432" marB="27432">
                    <a:solidFill>
                      <a:srgbClr val="FFFFFF"/>
                    </a:solidFill>
                  </a:tcPr>
                </a:tc>
              </a:tr>
              <a:tr h="630936">
                <a:tc>
                  <a:txBody>
                    <a:bodyPr wrap="square"/>
                    <a:lstStyle/>
                    <a:p>
                      <a:r>
                        <a:rPr sz="1100" b="1">
                          <a:solidFill>
                            <a:srgbClr val="0C2B4A"/>
                          </a:solidFill>
                        </a:rPr>
                        <a:t>Authenticity</a:t>
                      </a:r>
                    </a:p>
                  </a:txBody>
                  <a:tcPr anchor="ctr" marL="73152" marR="54864" marT="27432" marB="27432">
                    <a:solidFill>
                      <a:srgbClr val="EEF3F8"/>
                    </a:solidFill>
                  </a:tcPr>
                </a:tc>
                <a:tc>
                  <a:txBody>
                    <a:bodyPr wrap="square"/>
                    <a:lstStyle/>
                    <a:p>
                      <a:r>
                        <a:rPr sz="1100">
                          <a:solidFill>
                            <a:srgbClr val="1A1A1A"/>
                          </a:solidFill>
                        </a:rPr>
                        <a:t>Proven to be what it claims to be</a:t>
                      </a:r>
                    </a:p>
                  </a:txBody>
                  <a:tcPr anchor="ctr" marL="73152" marR="54864" marT="27432" marB="27432">
                    <a:solidFill>
                      <a:srgbClr val="EEF3F8"/>
                    </a:solidFill>
                  </a:tcPr>
                </a:tc>
                <a:tc>
                  <a:txBody>
                    <a:bodyPr wrap="square"/>
                    <a:lstStyle/>
                    <a:p>
                      <a:r>
                        <a:rPr sz="1100">
                          <a:solidFill>
                            <a:srgbClr val="1A1A1A"/>
                          </a:solidFill>
                        </a:rPr>
                        <a:t>Weight collapses; may be rejected</a:t>
                      </a:r>
                    </a:p>
                  </a:txBody>
                  <a:tcPr anchor="ctr" marL="73152" marR="54864" marT="27432" marB="27432">
                    <a:solidFill>
                      <a:srgbClr val="EEF3F8"/>
                    </a:solidFill>
                  </a:tcPr>
                </a:tc>
              </a:tr>
              <a:tr h="630936">
                <a:tc>
                  <a:txBody>
                    <a:bodyPr wrap="square"/>
                    <a:lstStyle/>
                    <a:p>
                      <a:r>
                        <a:rPr sz="1100" b="1">
                          <a:solidFill>
                            <a:srgbClr val="0C2B4A"/>
                          </a:solidFill>
                        </a:rPr>
                        <a:t>Integrity</a:t>
                      </a:r>
                    </a:p>
                  </a:txBody>
                  <a:tcPr anchor="ctr" marL="73152" marR="54864" marT="27432" marB="27432">
                    <a:solidFill>
                      <a:srgbClr val="FFFFFF"/>
                    </a:solidFill>
                  </a:tcPr>
                </a:tc>
                <a:tc>
                  <a:txBody>
                    <a:bodyPr wrap="square"/>
                    <a:lstStyle/>
                    <a:p>
                      <a:r>
                        <a:rPr sz="1100">
                          <a:solidFill>
                            <a:srgbClr val="1A1A1A"/>
                          </a:solidFill>
                        </a:rPr>
                        <a:t>Chain of custody + matching hashes</a:t>
                      </a:r>
                    </a:p>
                  </a:txBody>
                  <a:tcPr anchor="ctr" marL="73152" marR="54864" marT="27432" marB="27432">
                    <a:solidFill>
                      <a:srgbClr val="FFFFFF"/>
                    </a:solidFill>
                  </a:tcPr>
                </a:tc>
                <a:tc>
                  <a:txBody>
                    <a:bodyPr wrap="square"/>
                    <a:lstStyle/>
                    <a:p>
                      <a:r>
                        <a:rPr sz="1100">
                          <a:solidFill>
                            <a:srgbClr val="1A1A1A"/>
                          </a:solidFill>
                        </a:rPr>
                        <a:t>Challenged as possibly tampered</a:t>
                      </a:r>
                    </a:p>
                  </a:txBody>
                  <a:tcPr anchor="ctr" marL="73152" marR="54864" marT="27432" marB="27432">
                    <a:solidFill>
                      <a:srgbClr val="FFFFFF"/>
                    </a:solidFill>
                  </a:tcPr>
                </a:tc>
              </a:tr>
              <a:tr h="630936">
                <a:tc>
                  <a:txBody>
                    <a:bodyPr wrap="square"/>
                    <a:lstStyle/>
                    <a:p>
                      <a:r>
                        <a:rPr sz="1100" b="1">
                          <a:solidFill>
                            <a:srgbClr val="0C2B4A"/>
                          </a:solidFill>
                        </a:rPr>
                        <a:t>Lawful authorisation</a:t>
                      </a:r>
                    </a:p>
                  </a:txBody>
                  <a:tcPr anchor="ctr" marL="73152" marR="54864" marT="27432" marB="27432">
                    <a:solidFill>
                      <a:srgbClr val="EEF3F8"/>
                    </a:solidFill>
                  </a:tcPr>
                </a:tc>
                <a:tc>
                  <a:txBody>
                    <a:bodyPr wrap="square"/>
                    <a:lstStyle/>
                    <a:p>
                      <a:r>
                        <a:rPr sz="1100">
                          <a:solidFill>
                            <a:srgbClr val="1A1A1A"/>
                          </a:solidFill>
                        </a:rPr>
                        <a:t>Search warrant / lawful seizure</a:t>
                      </a:r>
                    </a:p>
                  </a:txBody>
                  <a:tcPr anchor="ctr" marL="73152" marR="54864" marT="27432" marB="27432">
                    <a:solidFill>
                      <a:srgbClr val="EEF3F8"/>
                    </a:solidFill>
                  </a:tcPr>
                </a:tc>
                <a:tc>
                  <a:txBody>
                    <a:bodyPr wrap="square"/>
                    <a:lstStyle/>
                    <a:p>
                      <a:r>
                        <a:rPr sz="1100">
                          <a:solidFill>
                            <a:srgbClr val="1A1A1A"/>
                          </a:solidFill>
                        </a:rPr>
                        <a:t>Excluded — 'fruit of unlawful search'</a:t>
                      </a:r>
                    </a:p>
                  </a:txBody>
                  <a:tcPr anchor="ctr" marL="73152" marR="54864" marT="27432" marB="27432">
                    <a:solidFill>
                      <a:srgbClr val="EEF3F8"/>
                    </a:solidFill>
                  </a:tcPr>
                </a:tc>
              </a:tr>
              <a:tr h="630936">
                <a:tc>
                  <a:txBody>
                    <a:bodyPr wrap="square"/>
                    <a:lstStyle/>
                    <a:p>
                      <a:r>
                        <a:rPr sz="1100" b="1">
                          <a:solidFill>
                            <a:srgbClr val="0C2B4A"/>
                          </a:solidFill>
                        </a:rPr>
                        <a:t>Expert testimony</a:t>
                      </a:r>
                    </a:p>
                  </a:txBody>
                  <a:tcPr anchor="ctr" marL="73152" marR="54864" marT="27432" marB="27432">
                    <a:solidFill>
                      <a:srgbClr val="FFFFFF"/>
                    </a:solidFill>
                  </a:tcPr>
                </a:tc>
                <a:tc>
                  <a:txBody>
                    <a:bodyPr wrap="square"/>
                    <a:lstStyle/>
                    <a:p>
                      <a:r>
                        <a:rPr sz="1100">
                          <a:solidFill>
                            <a:srgbClr val="1A1A1A"/>
                          </a:solidFill>
                        </a:rPr>
                        <a:t>A competent expert explains it</a:t>
                      </a:r>
                    </a:p>
                  </a:txBody>
                  <a:tcPr anchor="ctr" marL="73152" marR="54864" marT="27432" marB="27432">
                    <a:solidFill>
                      <a:srgbClr val="FFFFFF"/>
                    </a:solidFill>
                  </a:tcPr>
                </a:tc>
                <a:tc>
                  <a:txBody>
                    <a:bodyPr wrap="square"/>
                    <a:lstStyle/>
                    <a:p>
                      <a:r>
                        <a:rPr sz="1100">
                          <a:solidFill>
                            <a:srgbClr val="1A1A1A"/>
                          </a:solidFill>
                        </a:rPr>
                        <a:t>Court can't rely on it</a:t>
                      </a:r>
                    </a:p>
                  </a:txBody>
                  <a:tcPr anchor="ctr" marL="73152" marR="54864" marT="27432" marB="27432">
                    <a:solidFill>
                      <a:srgbClr val="FFFFFF"/>
                    </a:solidFill>
                  </a:tcPr>
                </a:tc>
              </a:tr>
              <a:tr h="630936">
                <a:tc>
                  <a:txBody>
                    <a:bodyPr wrap="square"/>
                    <a:lstStyle/>
                    <a:p>
                      <a:r>
                        <a:rPr sz="1100" b="1">
                          <a:solidFill>
                            <a:srgbClr val="0C2B4A"/>
                          </a:solidFill>
                        </a:rPr>
                        <a:t>Handling</a:t>
                      </a:r>
                    </a:p>
                  </a:txBody>
                  <a:tcPr anchor="ctr" marL="73152" marR="54864" marT="27432" marB="27432">
                    <a:solidFill>
                      <a:srgbClr val="EEF3F8"/>
                    </a:solidFill>
                  </a:tcPr>
                </a:tc>
                <a:tc>
                  <a:txBody>
                    <a:bodyPr wrap="square"/>
                    <a:lstStyle/>
                    <a:p>
                      <a:r>
                        <a:rPr sz="1100">
                          <a:solidFill>
                            <a:srgbClr val="1A1A1A"/>
                          </a:solidFill>
                        </a:rPr>
                        <a:t>Correct process throughout</a:t>
                      </a:r>
                    </a:p>
                  </a:txBody>
                  <a:tcPr anchor="ctr" marL="73152" marR="54864" marT="27432" marB="27432">
                    <a:solidFill>
                      <a:srgbClr val="EEF3F8"/>
                    </a:solidFill>
                  </a:tcPr>
                </a:tc>
                <a:tc>
                  <a:txBody>
                    <a:bodyPr wrap="square"/>
                    <a:lstStyle/>
                    <a:p>
                      <a:r>
                        <a:rPr sz="1100">
                          <a:solidFill>
                            <a:srgbClr val="1A1A1A"/>
                          </a:solidFill>
                        </a:rPr>
                        <a:t>Mishandling sinks even true evidence</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Every condition must hold at once. A single failure — an unlawful seizure, a custody gap, a hash mismatch — can make genuine, damning evidence inadmissible. Truth alone is never sufficient.</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84 / 100</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1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Legal Admissibility of Digital Evidence</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Cyber Bureau case where the seizure lacked proper authorisation, or the custody chain has an unexplained gap, can see genuine evidence excluded — and the accused walks free. The evidence being true does not save it; the court asks how it was obtained and whether it stayed intact.</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"If the evidence is true, the court must accept it." Even genuine evidence is rejected if illegally obtained or improperly handled — a broken chain of custody or a warrantless seizure can exclude it entirely. Lawful process is as essential as the truth of the data.</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Admissibility is the set of conditions for a court to accept digital evidence: relevance, authenticity, integrity (chain of custody + hashing), proper authorisation (warrant/lawful seizure), and expert testimony. Mishandling makes even genuine evidence inadmissible — an unlawful seizure or a custody gap can exclude damning data entirely, so truth alone is never sufficient.</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admissibility · relevance/authenticity/integrity · lawful authorisation · warrant · expert testimony · truth isn't enough</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85 / 100</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2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Legal Framework in Nepal</a:t>
            </a:r>
          </a:p>
        </p:txBody>
      </p:sp>
      <p:sp>
        <p:nvSpPr>
          <p:cNvPr id="5" name="TextBox 4"/>
          <p:cNvSpPr txBox="1"/>
          <p:nvPr/>
        </p:nvSpPr>
        <p:spPr>
          <a:xfrm>
            <a:off x="640080" y="1572768"/>
            <a:ext cx="10881360" cy="4617720"/>
          </a:xfrm>
          <a:prstGeom prst="rect">
            <a:avLst/>
          </a:prstGeom>
          <a:noFill/>
        </p:spPr>
        <p:txBody>
          <a:bodyPr wrap="square">
            <a:spAutoFit/>
          </a:bodyPr>
          <a:lstStyle/>
          <a:p>
            <a:pPr>
              <a:spcAft>
                <a:spcPts val="1000"/>
              </a:spcAft>
            </a:pPr>
            <a:r>
              <a:rPr sz="1500" b="1">
                <a:solidFill>
                  <a:srgbClr val="0C2B4A"/>
                </a:solidFill>
              </a:rPr>
              <a:t>Nepal's electronic evidence is governed mainly by the Electronic Transaction Act (ETA) 2063 (2008), which recognises electronic records/evidence and defines cyber offences, alongside Evidence Act provisions and the courts' growing acceptance of electronic records. A dedicated, modern cybercrime/data-protection law is still debated.</a:t>
            </a:r>
          </a:p>
          <a:p>
            <a:pPr>
              <a:spcAft>
                <a:spcPts val="500"/>
              </a:spcAft>
            </a:pPr>
            <a:r>
              <a:rPr sz="1200" b="1">
                <a:solidFill>
                  <a:srgbClr val="185FA5"/>
                </a:solidFill>
              </a:rPr>
              <a:t>HOW IT WORKS</a:t>
            </a:r>
          </a:p>
          <a:p>
            <a:pPr>
              <a:spcAft>
                <a:spcPts val="600"/>
              </a:spcAft>
            </a:pPr>
            <a:r>
              <a:rPr sz="1400">
                <a:solidFill>
                  <a:srgbClr val="1A1A1A"/>
                </a:solidFill>
              </a:rPr>
              <a:t>•  ETA 2063 (2008) recognises electronic records as evidence and defines cyber offences.</a:t>
            </a:r>
          </a:p>
          <a:p>
            <a:pPr>
              <a:spcAft>
                <a:spcPts val="600"/>
              </a:spcAft>
            </a:pPr>
            <a:r>
              <a:rPr sz="1400">
                <a:solidFill>
                  <a:srgbClr val="1A1A1A"/>
                </a:solidFill>
              </a:rPr>
              <a:t>•  Evidence Act provisions and case practice support electronic records in court.</a:t>
            </a:r>
          </a:p>
          <a:p>
            <a:pPr>
              <a:spcAft>
                <a:spcPts val="600"/>
              </a:spcAft>
            </a:pPr>
            <a:r>
              <a:rPr sz="1400">
                <a:solidFill>
                  <a:srgbClr val="1A1A1A"/>
                </a:solidFill>
              </a:rPr>
              <a:t>•  Cybercrime complaints are prosecuted via the Cyber Bureau under the ETA.</a:t>
            </a:r>
          </a:p>
          <a:p>
            <a:pPr>
              <a:spcAft>
                <a:spcPts val="600"/>
              </a:spcAft>
            </a:pPr>
            <a:r>
              <a:rPr sz="1400">
                <a:solidFill>
                  <a:srgbClr val="1A1A1A"/>
                </a:solidFill>
              </a:rPr>
              <a:t>•  There is ongoing debate about a dedicated modern cybercrime/data-protection law (links to Unit 9).</a:t>
            </a:r>
          </a:p>
        </p:txBody>
      </p:sp>
      <p:sp>
        <p:nvSpPr>
          <p:cNvPr id="6" name="Rectangle 5"/>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In Nepal, electronic records are recognised as evidence mainly under the ETA 2063 (2008).</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86 / 100</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2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Nepal's legal handles on digital evidence</a:t>
            </a:r>
          </a:p>
        </p:txBody>
      </p:sp>
      <p:graphicFrame>
        <p:nvGraphicFramePr>
          <p:cNvPr id="5" name="Table 4"/>
          <p:cNvGraphicFramePr>
            <a:graphicFrameLocks noGrp="1"/>
          </p:cNvGraphicFramePr>
          <p:nvPr/>
        </p:nvGraphicFramePr>
        <p:xfrm>
          <a:off x="384048" y="1572768"/>
          <a:ext cx="11429999" cy="4416552"/>
        </p:xfrm>
        <a:graphic>
          <a:graphicData uri="http://schemas.openxmlformats.org/drawingml/2006/table">
            <a:tbl>
              <a:tblPr>
                <a:tableStyleId>{5C22544A-7EE6-4342-B048-85BDC9FD1C3A}</a:tableStyleId>
              </a:tblPr>
              <a:tblGrid>
                <a:gridCol w="3089189"/>
                <a:gridCol w="4170405"/>
                <a:gridCol w="4170405"/>
              </a:tblGrid>
              <a:tr h="630936">
                <a:tc>
                  <a:txBody>
                    <a:bodyPr wrap="square"/>
                    <a:lstStyle/>
                    <a:p>
                      <a:r>
                        <a:rPr sz="1150" b="1">
                          <a:solidFill>
                            <a:srgbClr val="FFFFFF"/>
                          </a:solidFill>
                        </a:rPr>
                        <a:t>Instrument / body</a:t>
                      </a:r>
                    </a:p>
                  </a:txBody>
                  <a:tcPr anchor="ctr" marL="73152" marR="54864" marT="27432" marB="27432">
                    <a:solidFill>
                      <a:srgbClr val="0C2B4A"/>
                    </a:solidFill>
                  </a:tcPr>
                </a:tc>
                <a:tc>
                  <a:txBody>
                    <a:bodyPr wrap="square"/>
                    <a:lstStyle/>
                    <a:p>
                      <a:r>
                        <a:rPr sz="1150" b="1">
                          <a:solidFill>
                            <a:srgbClr val="FFFFFF"/>
                          </a:solidFill>
                        </a:rPr>
                        <a:t>Role</a:t>
                      </a:r>
                    </a:p>
                  </a:txBody>
                  <a:tcPr anchor="ctr" marL="73152" marR="54864" marT="27432" marB="27432">
                    <a:solidFill>
                      <a:srgbClr val="0C2B4A"/>
                    </a:solidFill>
                  </a:tcPr>
                </a:tc>
                <a:tc>
                  <a:txBody>
                    <a:bodyPr wrap="square"/>
                    <a:lstStyle/>
                    <a:p>
                      <a:r>
                        <a:rPr sz="1150" b="1">
                          <a:solidFill>
                            <a:srgbClr val="FFFFFF"/>
                          </a:solidFill>
                        </a:rPr>
                        <a:t>Note</a:t>
                      </a:r>
                    </a:p>
                  </a:txBody>
                  <a:tcPr anchor="ctr" marL="73152" marR="54864" marT="27432" marB="27432">
                    <a:solidFill>
                      <a:srgbClr val="0C2B4A"/>
                    </a:solidFill>
                  </a:tcPr>
                </a:tc>
              </a:tr>
              <a:tr h="630936">
                <a:tc>
                  <a:txBody>
                    <a:bodyPr wrap="square"/>
                    <a:lstStyle/>
                    <a:p>
                      <a:r>
                        <a:rPr sz="1100" b="1">
                          <a:solidFill>
                            <a:srgbClr val="0C2B4A"/>
                          </a:solidFill>
                        </a:rPr>
                        <a:t>ETA 2063 (2008)</a:t>
                      </a:r>
                    </a:p>
                  </a:txBody>
                  <a:tcPr anchor="ctr" marL="73152" marR="54864" marT="27432" marB="27432">
                    <a:solidFill>
                      <a:srgbClr val="FFFFFF"/>
                    </a:solidFill>
                  </a:tcPr>
                </a:tc>
                <a:tc>
                  <a:txBody>
                    <a:bodyPr wrap="square"/>
                    <a:lstStyle/>
                    <a:p>
                      <a:r>
                        <a:rPr sz="1100">
                          <a:solidFill>
                            <a:srgbClr val="1A1A1A"/>
                          </a:solidFill>
                        </a:rPr>
                        <a:t>Recognises e-records; defines cyber offences</a:t>
                      </a:r>
                    </a:p>
                  </a:txBody>
                  <a:tcPr anchor="ctr" marL="73152" marR="54864" marT="27432" marB="27432">
                    <a:solidFill>
                      <a:srgbClr val="FFFFFF"/>
                    </a:solidFill>
                  </a:tcPr>
                </a:tc>
                <a:tc>
                  <a:txBody>
                    <a:bodyPr wrap="square"/>
                    <a:lstStyle/>
                    <a:p>
                      <a:r>
                        <a:rPr sz="1100">
                          <a:solidFill>
                            <a:srgbClr val="1A1A1A"/>
                          </a:solidFill>
                        </a:rPr>
                        <a:t>The main legal basis for e-evidence</a:t>
                      </a:r>
                    </a:p>
                  </a:txBody>
                  <a:tcPr anchor="ctr" marL="73152" marR="54864" marT="27432" marB="27432">
                    <a:solidFill>
                      <a:srgbClr val="FFFFFF"/>
                    </a:solidFill>
                  </a:tcPr>
                </a:tc>
              </a:tr>
              <a:tr h="630936">
                <a:tc>
                  <a:txBody>
                    <a:bodyPr wrap="square"/>
                    <a:lstStyle/>
                    <a:p>
                      <a:r>
                        <a:rPr sz="1100" b="1">
                          <a:solidFill>
                            <a:srgbClr val="0C2B4A"/>
                          </a:solidFill>
                        </a:rPr>
                        <a:t>Evidence Act provisions</a:t>
                      </a:r>
                    </a:p>
                  </a:txBody>
                  <a:tcPr anchor="ctr" marL="73152" marR="54864" marT="27432" marB="27432">
                    <a:solidFill>
                      <a:srgbClr val="EEF3F8"/>
                    </a:solidFill>
                  </a:tcPr>
                </a:tc>
                <a:tc>
                  <a:txBody>
                    <a:bodyPr wrap="square"/>
                    <a:lstStyle/>
                    <a:p>
                      <a:r>
                        <a:rPr sz="1100">
                          <a:solidFill>
                            <a:srgbClr val="1A1A1A"/>
                          </a:solidFill>
                        </a:rPr>
                        <a:t>Support acceptance of electronic records</a:t>
                      </a:r>
                    </a:p>
                  </a:txBody>
                  <a:tcPr anchor="ctr" marL="73152" marR="54864" marT="27432" marB="27432">
                    <a:solidFill>
                      <a:srgbClr val="EEF3F8"/>
                    </a:solidFill>
                  </a:tcPr>
                </a:tc>
                <a:tc>
                  <a:txBody>
                    <a:bodyPr wrap="square"/>
                    <a:lstStyle/>
                    <a:p>
                      <a:r>
                        <a:rPr sz="1100">
                          <a:solidFill>
                            <a:srgbClr val="1A1A1A"/>
                          </a:solidFill>
                        </a:rPr>
                        <a:t>Used alongside the ETA</a:t>
                      </a:r>
                    </a:p>
                  </a:txBody>
                  <a:tcPr anchor="ctr" marL="73152" marR="54864" marT="27432" marB="27432">
                    <a:solidFill>
                      <a:srgbClr val="EEF3F8"/>
                    </a:solidFill>
                  </a:tcPr>
                </a:tc>
              </a:tr>
              <a:tr h="630936">
                <a:tc>
                  <a:txBody>
                    <a:bodyPr wrap="square"/>
                    <a:lstStyle/>
                    <a:p>
                      <a:r>
                        <a:rPr sz="1100" b="1">
                          <a:solidFill>
                            <a:srgbClr val="0C2B4A"/>
                          </a:solidFill>
                        </a:rPr>
                        <a:t>Nepal Police Cyber Bureau</a:t>
                      </a:r>
                    </a:p>
                  </a:txBody>
                  <a:tcPr anchor="ctr" marL="73152" marR="54864" marT="27432" marB="27432">
                    <a:solidFill>
                      <a:srgbClr val="FFFFFF"/>
                    </a:solidFill>
                  </a:tcPr>
                </a:tc>
                <a:tc>
                  <a:txBody>
                    <a:bodyPr wrap="square"/>
                    <a:lstStyle/>
                    <a:p>
                      <a:r>
                        <a:rPr sz="1100">
                          <a:solidFill>
                            <a:srgbClr val="1A1A1A"/>
                          </a:solidFill>
                        </a:rPr>
                        <a:t>Investigates &amp; prosecutes cybercrime</a:t>
                      </a:r>
                    </a:p>
                  </a:txBody>
                  <a:tcPr anchor="ctr" marL="73152" marR="54864" marT="27432" marB="27432">
                    <a:solidFill>
                      <a:srgbClr val="FFFFFF"/>
                    </a:solidFill>
                  </a:tcPr>
                </a:tc>
                <a:tc>
                  <a:txBody>
                    <a:bodyPr wrap="square"/>
                    <a:lstStyle/>
                    <a:p>
                      <a:r>
                        <a:rPr sz="1100">
                          <a:solidFill>
                            <a:srgbClr val="1A1A1A"/>
                          </a:solidFill>
                        </a:rPr>
                        <a:t>Central body (est. 2018)</a:t>
                      </a:r>
                    </a:p>
                  </a:txBody>
                  <a:tcPr anchor="ctr" marL="73152" marR="54864" marT="27432" marB="27432">
                    <a:solidFill>
                      <a:srgbClr val="FFFFFF"/>
                    </a:solidFill>
                  </a:tcPr>
                </a:tc>
              </a:tr>
              <a:tr h="630936">
                <a:tc>
                  <a:txBody>
                    <a:bodyPr wrap="square"/>
                    <a:lstStyle/>
                    <a:p>
                      <a:r>
                        <a:rPr sz="1100" b="1">
                          <a:solidFill>
                            <a:srgbClr val="0C2B4A"/>
                          </a:solidFill>
                        </a:rPr>
                        <a:t>Courts</a:t>
                      </a:r>
                    </a:p>
                  </a:txBody>
                  <a:tcPr anchor="ctr" marL="73152" marR="54864" marT="27432" marB="27432">
                    <a:solidFill>
                      <a:srgbClr val="EEF3F8"/>
                    </a:solidFill>
                  </a:tcPr>
                </a:tc>
                <a:tc>
                  <a:txBody>
                    <a:bodyPr wrap="square"/>
                    <a:lstStyle/>
                    <a:p>
                      <a:r>
                        <a:rPr sz="1100">
                          <a:solidFill>
                            <a:srgbClr val="1A1A1A"/>
                          </a:solidFill>
                        </a:rPr>
                        <a:t>Accept electronic records as evidence</a:t>
                      </a:r>
                    </a:p>
                  </a:txBody>
                  <a:tcPr anchor="ctr" marL="73152" marR="54864" marT="27432" marB="27432">
                    <a:solidFill>
                      <a:srgbClr val="EEF3F8"/>
                    </a:solidFill>
                  </a:tcPr>
                </a:tc>
                <a:tc>
                  <a:txBody>
                    <a:bodyPr wrap="square"/>
                    <a:lstStyle/>
                    <a:p>
                      <a:r>
                        <a:rPr sz="1100">
                          <a:solidFill>
                            <a:srgbClr val="1A1A1A"/>
                          </a:solidFill>
                        </a:rPr>
                        <a:t>Practice still maturing</a:t>
                      </a:r>
                    </a:p>
                  </a:txBody>
                  <a:tcPr anchor="ctr" marL="73152" marR="54864" marT="27432" marB="27432">
                    <a:solidFill>
                      <a:srgbClr val="EEF3F8"/>
                    </a:solidFill>
                  </a:tcPr>
                </a:tc>
              </a:tr>
              <a:tr h="630936">
                <a:tc>
                  <a:txBody>
                    <a:bodyPr wrap="square"/>
                    <a:lstStyle/>
                    <a:p>
                      <a:r>
                        <a:rPr sz="1100" b="1">
                          <a:solidFill>
                            <a:srgbClr val="0C2B4A"/>
                          </a:solidFill>
                        </a:rPr>
                        <a:t>Warrant / lawful seizure</a:t>
                      </a:r>
                    </a:p>
                  </a:txBody>
                  <a:tcPr anchor="ctr" marL="73152" marR="54864" marT="27432" marB="27432">
                    <a:solidFill>
                      <a:srgbClr val="FFFFFF"/>
                    </a:solidFill>
                  </a:tcPr>
                </a:tc>
                <a:tc>
                  <a:txBody>
                    <a:bodyPr wrap="square"/>
                    <a:lstStyle/>
                    <a:p>
                      <a:r>
                        <a:rPr sz="1100">
                          <a:solidFill>
                            <a:srgbClr val="1A1A1A"/>
                          </a:solidFill>
                        </a:rPr>
                        <a:t>Authorises collection</a:t>
                      </a:r>
                    </a:p>
                  </a:txBody>
                  <a:tcPr anchor="ctr" marL="73152" marR="54864" marT="27432" marB="27432">
                    <a:solidFill>
                      <a:srgbClr val="FFFFFF"/>
                    </a:solidFill>
                  </a:tcPr>
                </a:tc>
                <a:tc>
                  <a:txBody>
                    <a:bodyPr wrap="square"/>
                    <a:lstStyle/>
                    <a:p>
                      <a:r>
                        <a:rPr sz="1100">
                          <a:solidFill>
                            <a:srgbClr val="1A1A1A"/>
                          </a:solidFill>
                        </a:rPr>
                        <a:t>Required for admissibility</a:t>
                      </a:r>
                    </a:p>
                  </a:txBody>
                  <a:tcPr anchor="ctr" marL="73152" marR="54864" marT="27432" marB="27432">
                    <a:solidFill>
                      <a:srgbClr val="FFFFFF"/>
                    </a:solidFill>
                  </a:tcPr>
                </a:tc>
              </a:tr>
              <a:tr h="630936">
                <a:tc>
                  <a:txBody>
                    <a:bodyPr wrap="square"/>
                    <a:lstStyle/>
                    <a:p>
                      <a:r>
                        <a:rPr sz="1100" b="1">
                          <a:solidFill>
                            <a:srgbClr val="0C2B4A"/>
                          </a:solidFill>
                        </a:rPr>
                        <a:t>Proposed modern law</a:t>
                      </a:r>
                    </a:p>
                  </a:txBody>
                  <a:tcPr anchor="ctr" marL="73152" marR="54864" marT="27432" marB="27432">
                    <a:solidFill>
                      <a:srgbClr val="EEF3F8"/>
                    </a:solidFill>
                  </a:tcPr>
                </a:tc>
                <a:tc>
                  <a:txBody>
                    <a:bodyPr wrap="square"/>
                    <a:lstStyle/>
                    <a:p>
                      <a:r>
                        <a:rPr sz="1100">
                          <a:solidFill>
                            <a:srgbClr val="1A1A1A"/>
                          </a:solidFill>
                        </a:rPr>
                        <a:t>Dedicated cybercrime/data-protection</a:t>
                      </a:r>
                    </a:p>
                  </a:txBody>
                  <a:tcPr anchor="ctr" marL="73152" marR="54864" marT="27432" marB="27432">
                    <a:solidFill>
                      <a:srgbClr val="EEF3F8"/>
                    </a:solidFill>
                  </a:tcPr>
                </a:tc>
                <a:tc>
                  <a:txBody>
                    <a:bodyPr wrap="square"/>
                    <a:lstStyle/>
                    <a:p>
                      <a:r>
                        <a:rPr sz="1100">
                          <a:solidFill>
                            <a:srgbClr val="1A1A1A"/>
                          </a:solidFill>
                        </a:rPr>
                        <a:t>Still debated (Unit 9)</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ETA 2063 is the backbone but predates today's mobile/cloud reality — hence the ongoing push for a dedicated, modern cybercrime and data-protection law, explored in Unit 9.</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87 / 100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2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The Legal Framework in Nepal</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A complainant brings only WhatsApp screenshots to the Cyber Bureau. Before it's court-ready under the ETA 2063, more is needed: forensic extraction of the original messages with metadata, hashing, a chain-of-custody record, and lawful authorisation — turning weak screenshots into authenticated, admissible evidence.</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"The ETA 2063 automatically makes any electronic file valid evidence in court." The ETA recognises electronic records, but the evidence still has to be authentic, intact, and lawfully obtained. Screenshots alone don't clear that bar; forensic extraction and custody do.</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Nepal's electronic evidence is governed mainly by the Electronic Transaction Act (ETA) 2063 (2008), which recognises electronic records and defines cyber offences, together with Evidence Act provisions and courts' growing acceptance of e-records. The ETA recognises e-records, but evidence must still be authenticated, intact and lawfully obtained; a dedicated modern law is debated (Unit 9).</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ETA 2063 (2008) · recognises e-records · defines cyber offences · Evidence Act · Cyber Bureau · modern law debated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88 / 100</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3 · [THEORY]  ·  UNDERSTAND</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Cyber Forensics in Nepal — State &amp; Challenges</a:t>
            </a:r>
          </a:p>
        </p:txBody>
      </p:sp>
      <p:sp>
        <p:nvSpPr>
          <p:cNvPr id="5" name="TextBox 4"/>
          <p:cNvSpPr txBox="1"/>
          <p:nvPr/>
        </p:nvSpPr>
        <p:spPr>
          <a:xfrm>
            <a:off x="640080" y="1572768"/>
            <a:ext cx="5669280" cy="4617720"/>
          </a:xfrm>
          <a:prstGeom prst="rect">
            <a:avLst/>
          </a:prstGeom>
          <a:noFill/>
        </p:spPr>
        <p:txBody>
          <a:bodyPr wrap="square">
            <a:spAutoFit/>
          </a:bodyPr>
          <a:lstStyle/>
          <a:p>
            <a:pPr>
              <a:spcAft>
                <a:spcPts val="1000"/>
              </a:spcAft>
            </a:pPr>
            <a:r>
              <a:rPr sz="1500" b="1">
                <a:solidFill>
                  <a:srgbClr val="0C2B4A"/>
                </a:solidFill>
              </a:rPr>
              <a:t>Nepal's cyber forensics centres on the Nepal Police Cyber Bureau, facing a rising caseload (online fraud, social-media abuse, financial scams) against real constraints: limited trained personnel, tool/lab capacity, backlog, dependence on foreign platforms for data, and an evolving legal framework.</a:t>
            </a:r>
          </a:p>
          <a:p>
            <a:pPr>
              <a:spcAft>
                <a:spcPts val="500"/>
              </a:spcAft>
            </a:pPr>
            <a:r>
              <a:rPr sz="1200" b="1">
                <a:solidFill>
                  <a:srgbClr val="185FA5"/>
                </a:solidFill>
              </a:rPr>
              <a:t>HOW IT WORKS</a:t>
            </a:r>
          </a:p>
          <a:p>
            <a:pPr>
              <a:spcAft>
                <a:spcPts val="600"/>
              </a:spcAft>
            </a:pPr>
            <a:r>
              <a:rPr sz="1400">
                <a:solidFill>
                  <a:srgbClr val="1A1A1A"/>
                </a:solidFill>
              </a:rPr>
              <a:t>•  The Cyber Bureau is the central body; district capacity is thin.</a:t>
            </a:r>
          </a:p>
          <a:p>
            <a:pPr>
              <a:spcAft>
                <a:spcPts val="600"/>
              </a:spcAft>
            </a:pPr>
            <a:r>
              <a:rPr sz="1400">
                <a:solidFill>
                  <a:srgbClr val="1A1A1A"/>
                </a:solidFill>
              </a:rPr>
              <a:t>•  Caseload is rising fast — fraud, harassment, scams, fake profiles.</a:t>
            </a:r>
          </a:p>
          <a:p>
            <a:pPr>
              <a:spcAft>
                <a:spcPts val="600"/>
              </a:spcAft>
            </a:pPr>
            <a:r>
              <a:rPr sz="1400">
                <a:solidFill>
                  <a:srgbClr val="1A1A1A"/>
                </a:solidFill>
              </a:rPr>
              <a:t>•  Constraints: few trained experts, limited labs/tools, growing backlog.</a:t>
            </a:r>
          </a:p>
          <a:p>
            <a:pPr>
              <a:spcAft>
                <a:spcPts val="600"/>
              </a:spcAft>
            </a:pPr>
            <a:r>
              <a:rPr sz="1400">
                <a:solidFill>
                  <a:srgbClr val="1A1A1A"/>
                </a:solidFill>
              </a:rPr>
              <a:t>•  Much evidence sits on foreign platforms (Facebook, Google) — access is slow and dependent.</a:t>
            </a:r>
          </a:p>
        </p:txBody>
      </p:sp>
      <p:pic>
        <p:nvPicPr>
          <p:cNvPr id="6" name="Picture 5" descr="s44_ecosystem.png"/>
          <p:cNvPicPr>
            <a:picLocks noChangeAspect="1"/>
          </p:cNvPicPr>
          <p:nvPr/>
        </p:nvPicPr>
        <p:blipFill>
          <a:blip r:embed="rId2"/>
          <a:stretch>
            <a:fillRect/>
          </a:stretch>
        </p:blipFill>
        <p:spPr>
          <a:xfrm>
            <a:off x="6355080" y="2525961"/>
            <a:ext cx="5532120" cy="2583317"/>
          </a:xfrm>
          <a:prstGeom prst="rect">
            <a:avLst/>
          </a:prstGeom>
        </p:spPr>
      </p:pic>
      <p:sp>
        <p:nvSpPr>
          <p:cNvPr id="7" name="Rectangle 6"/>
          <p:cNvSpPr/>
          <p:nvPr/>
        </p:nvSpPr>
        <p:spPr>
          <a:xfrm>
            <a:off x="0" y="6309360"/>
            <a:ext cx="12191695" cy="548640"/>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6364224"/>
            <a:ext cx="10881360" cy="457200"/>
          </a:xfrm>
          <a:prstGeom prst="rect">
            <a:avLst/>
          </a:prstGeom>
          <a:noFill/>
        </p:spPr>
        <p:txBody>
          <a:bodyPr wrap="none">
            <a:spAutoFit/>
          </a:bodyPr>
          <a:lstStyle/>
          <a:p>
            <a:pPr algn="ctr"/>
            <a:r>
              <a:rPr sz="1350" b="1">
                <a:solidFill>
                  <a:srgbClr val="FFFFFF"/>
                </a:solidFill>
              </a:rPr>
              <a:t>🧠  Memory hook:  Complaint → Cyber Bureau → forensic lab → court under ETA 2063; capacity must scale with the caseload.</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89 / 100</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3 · SCAFFOLDING</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Cyber forensics in Nepal — strengths and gaps</a:t>
            </a:r>
          </a:p>
        </p:txBody>
      </p:sp>
      <p:graphicFrame>
        <p:nvGraphicFramePr>
          <p:cNvPr id="5" name="Table 4"/>
          <p:cNvGraphicFramePr>
            <a:graphicFrameLocks noGrp="1"/>
          </p:cNvGraphicFramePr>
          <p:nvPr/>
        </p:nvGraphicFramePr>
        <p:xfrm>
          <a:off x="384048" y="1572768"/>
          <a:ext cx="11429998" cy="4416552"/>
        </p:xfrm>
        <a:graphic>
          <a:graphicData uri="http://schemas.openxmlformats.org/drawingml/2006/table">
            <a:tbl>
              <a:tblPr>
                <a:tableStyleId>{5C22544A-7EE6-4342-B048-85BDC9FD1C3A}</a:tableStyleId>
              </a:tblPr>
              <a:tblGrid>
                <a:gridCol w="2661780"/>
                <a:gridCol w="4227534"/>
                <a:gridCol w="4540684"/>
              </a:tblGrid>
              <a:tr h="630936">
                <a:tc>
                  <a:txBody>
                    <a:bodyPr wrap="square"/>
                    <a:lstStyle/>
                    <a:p>
                      <a:r>
                        <a:rPr sz="1150" b="1">
                          <a:solidFill>
                            <a:srgbClr val="FFFFFF"/>
                          </a:solidFill>
                        </a:rPr>
                        <a:t>Area</a:t>
                      </a:r>
                    </a:p>
                  </a:txBody>
                  <a:tcPr anchor="ctr" marL="73152" marR="54864" marT="27432" marB="27432">
                    <a:solidFill>
                      <a:srgbClr val="0C2B4A"/>
                    </a:solidFill>
                  </a:tcPr>
                </a:tc>
                <a:tc>
                  <a:txBody>
                    <a:bodyPr wrap="square"/>
                    <a:lstStyle/>
                    <a:p>
                      <a:r>
                        <a:rPr sz="1150" b="1">
                          <a:solidFill>
                            <a:srgbClr val="FFFFFF"/>
                          </a:solidFill>
                        </a:rPr>
                        <a:t>Current state</a:t>
                      </a:r>
                    </a:p>
                  </a:txBody>
                  <a:tcPr anchor="ctr" marL="73152" marR="54864" marT="27432" marB="27432">
                    <a:solidFill>
                      <a:srgbClr val="0C2B4A"/>
                    </a:solidFill>
                  </a:tcPr>
                </a:tc>
                <a:tc>
                  <a:txBody>
                    <a:bodyPr wrap="square"/>
                    <a:lstStyle/>
                    <a:p>
                      <a:r>
                        <a:rPr sz="1150" b="1">
                          <a:solidFill>
                            <a:srgbClr val="FFFFFF"/>
                          </a:solidFill>
                        </a:rPr>
                        <a:t>Challenge / gap</a:t>
                      </a:r>
                    </a:p>
                  </a:txBody>
                  <a:tcPr anchor="ctr" marL="73152" marR="54864" marT="27432" marB="27432">
                    <a:solidFill>
                      <a:srgbClr val="0C2B4A"/>
                    </a:solidFill>
                  </a:tcPr>
                </a:tc>
              </a:tr>
              <a:tr h="630936">
                <a:tc>
                  <a:txBody>
                    <a:bodyPr wrap="square"/>
                    <a:lstStyle/>
                    <a:p>
                      <a:r>
                        <a:rPr sz="1100" b="1">
                          <a:solidFill>
                            <a:srgbClr val="0C2B4A"/>
                          </a:solidFill>
                        </a:rPr>
                        <a:t>Central body</a:t>
                      </a:r>
                    </a:p>
                  </a:txBody>
                  <a:tcPr anchor="ctr" marL="73152" marR="54864" marT="27432" marB="27432">
                    <a:solidFill>
                      <a:srgbClr val="FFFFFF"/>
                    </a:solidFill>
                  </a:tcPr>
                </a:tc>
                <a:tc>
                  <a:txBody>
                    <a:bodyPr wrap="square"/>
                    <a:lstStyle/>
                    <a:p>
                      <a:r>
                        <a:rPr sz="1100">
                          <a:solidFill>
                            <a:srgbClr val="1A1A1A"/>
                          </a:solidFill>
                        </a:rPr>
                        <a:t>Cyber Bureau investigates cybercrime</a:t>
                      </a:r>
                    </a:p>
                  </a:txBody>
                  <a:tcPr anchor="ctr" marL="73152" marR="54864" marT="27432" marB="27432">
                    <a:solidFill>
                      <a:srgbClr val="FFFFFF"/>
                    </a:solidFill>
                  </a:tcPr>
                </a:tc>
                <a:tc>
                  <a:txBody>
                    <a:bodyPr wrap="square"/>
                    <a:lstStyle/>
                    <a:p>
                      <a:r>
                        <a:rPr sz="1100">
                          <a:solidFill>
                            <a:srgbClr val="1A1A1A"/>
                          </a:solidFill>
                        </a:rPr>
                        <a:t>Overloaded; district reach is limited</a:t>
                      </a:r>
                    </a:p>
                  </a:txBody>
                  <a:tcPr anchor="ctr" marL="73152" marR="54864" marT="27432" marB="27432">
                    <a:solidFill>
                      <a:srgbClr val="FFFFFF"/>
                    </a:solidFill>
                  </a:tcPr>
                </a:tc>
              </a:tr>
              <a:tr h="630936">
                <a:tc>
                  <a:txBody>
                    <a:bodyPr wrap="square"/>
                    <a:lstStyle/>
                    <a:p>
                      <a:r>
                        <a:rPr sz="1100" b="1">
                          <a:solidFill>
                            <a:srgbClr val="0C2B4A"/>
                          </a:solidFill>
                        </a:rPr>
                        <a:t>Caseload</a:t>
                      </a:r>
                    </a:p>
                  </a:txBody>
                  <a:tcPr anchor="ctr" marL="73152" marR="54864" marT="27432" marB="27432">
                    <a:solidFill>
                      <a:srgbClr val="EEF3F8"/>
                    </a:solidFill>
                  </a:tcPr>
                </a:tc>
                <a:tc>
                  <a:txBody>
                    <a:bodyPr wrap="square"/>
                    <a:lstStyle/>
                    <a:p>
                      <a:r>
                        <a:rPr sz="1100">
                          <a:solidFill>
                            <a:srgbClr val="1A1A1A"/>
                          </a:solidFill>
                        </a:rPr>
                        <a:t>Rising fast (fraud, abuse, scams)</a:t>
                      </a:r>
                    </a:p>
                  </a:txBody>
                  <a:tcPr anchor="ctr" marL="73152" marR="54864" marT="27432" marB="27432">
                    <a:solidFill>
                      <a:srgbClr val="EEF3F8"/>
                    </a:solidFill>
                  </a:tcPr>
                </a:tc>
                <a:tc>
                  <a:txBody>
                    <a:bodyPr wrap="square"/>
                    <a:lstStyle/>
                    <a:p>
                      <a:r>
                        <a:rPr sz="1100">
                          <a:solidFill>
                            <a:srgbClr val="1A1A1A"/>
                          </a:solidFill>
                        </a:rPr>
                        <a:t>Backlog grows faster than capacity</a:t>
                      </a:r>
                    </a:p>
                  </a:txBody>
                  <a:tcPr anchor="ctr" marL="73152" marR="54864" marT="27432" marB="27432">
                    <a:solidFill>
                      <a:srgbClr val="EEF3F8"/>
                    </a:solidFill>
                  </a:tcPr>
                </a:tc>
              </a:tr>
              <a:tr h="630936">
                <a:tc>
                  <a:txBody>
                    <a:bodyPr wrap="square"/>
                    <a:lstStyle/>
                    <a:p>
                      <a:r>
                        <a:rPr sz="1100" b="1">
                          <a:solidFill>
                            <a:srgbClr val="0C2B4A"/>
                          </a:solidFill>
                        </a:rPr>
                        <a:t>Personnel</a:t>
                      </a:r>
                    </a:p>
                  </a:txBody>
                  <a:tcPr anchor="ctr" marL="73152" marR="54864" marT="27432" marB="27432">
                    <a:solidFill>
                      <a:srgbClr val="FFFFFF"/>
                    </a:solidFill>
                  </a:tcPr>
                </a:tc>
                <a:tc>
                  <a:txBody>
                    <a:bodyPr wrap="square"/>
                    <a:lstStyle/>
                    <a:p>
                      <a:r>
                        <a:rPr sz="1100">
                          <a:solidFill>
                            <a:srgbClr val="1A1A1A"/>
                          </a:solidFill>
                        </a:rPr>
                        <a:t>A trained core team exists</a:t>
                      </a:r>
                    </a:p>
                  </a:txBody>
                  <a:tcPr anchor="ctr" marL="73152" marR="54864" marT="27432" marB="27432">
                    <a:solidFill>
                      <a:srgbClr val="FFFFFF"/>
                    </a:solidFill>
                  </a:tcPr>
                </a:tc>
                <a:tc>
                  <a:txBody>
                    <a:bodyPr wrap="square"/>
                    <a:lstStyle/>
                    <a:p>
                      <a:r>
                        <a:rPr sz="1100">
                          <a:solidFill>
                            <a:srgbClr val="1A1A1A"/>
                          </a:solidFill>
                        </a:rPr>
                        <a:t>Too few trained forensic experts</a:t>
                      </a:r>
                    </a:p>
                  </a:txBody>
                  <a:tcPr anchor="ctr" marL="73152" marR="54864" marT="27432" marB="27432">
                    <a:solidFill>
                      <a:srgbClr val="FFFFFF"/>
                    </a:solidFill>
                  </a:tcPr>
                </a:tc>
              </a:tr>
              <a:tr h="630936">
                <a:tc>
                  <a:txBody>
                    <a:bodyPr wrap="square"/>
                    <a:lstStyle/>
                    <a:p>
                      <a:r>
                        <a:rPr sz="1100" b="1">
                          <a:solidFill>
                            <a:srgbClr val="0C2B4A"/>
                          </a:solidFill>
                        </a:rPr>
                        <a:t>Lab / tools</a:t>
                      </a:r>
                    </a:p>
                  </a:txBody>
                  <a:tcPr anchor="ctr" marL="73152" marR="54864" marT="27432" marB="27432">
                    <a:solidFill>
                      <a:srgbClr val="EEF3F8"/>
                    </a:solidFill>
                  </a:tcPr>
                </a:tc>
                <a:tc>
                  <a:txBody>
                    <a:bodyPr wrap="square"/>
                    <a:lstStyle/>
                    <a:p>
                      <a:r>
                        <a:rPr sz="1100">
                          <a:solidFill>
                            <a:srgbClr val="1A1A1A"/>
                          </a:solidFill>
                        </a:rPr>
                        <a:t>Central lab at the Bureau</a:t>
                      </a:r>
                    </a:p>
                  </a:txBody>
                  <a:tcPr anchor="ctr" marL="73152" marR="54864" marT="27432" marB="27432">
                    <a:solidFill>
                      <a:srgbClr val="EEF3F8"/>
                    </a:solidFill>
                  </a:tcPr>
                </a:tc>
                <a:tc>
                  <a:txBody>
                    <a:bodyPr wrap="square"/>
                    <a:lstStyle/>
                    <a:p>
                      <a:r>
                        <a:rPr sz="1100">
                          <a:solidFill>
                            <a:srgbClr val="1A1A1A"/>
                          </a:solidFill>
                        </a:rPr>
                        <a:t>Limited lab capacity beyond it</a:t>
                      </a:r>
                    </a:p>
                  </a:txBody>
                  <a:tcPr anchor="ctr" marL="73152" marR="54864" marT="27432" marB="27432">
                    <a:solidFill>
                      <a:srgbClr val="EEF3F8"/>
                    </a:solidFill>
                  </a:tcPr>
                </a:tc>
              </a:tr>
              <a:tr h="630936">
                <a:tc>
                  <a:txBody>
                    <a:bodyPr wrap="square"/>
                    <a:lstStyle/>
                    <a:p>
                      <a:r>
                        <a:rPr sz="1100" b="1">
                          <a:solidFill>
                            <a:srgbClr val="0C2B4A"/>
                          </a:solidFill>
                        </a:rPr>
                        <a:t>Foreign data</a:t>
                      </a:r>
                    </a:p>
                  </a:txBody>
                  <a:tcPr anchor="ctr" marL="73152" marR="54864" marT="27432" marB="27432">
                    <a:solidFill>
                      <a:srgbClr val="FFFFFF"/>
                    </a:solidFill>
                  </a:tcPr>
                </a:tc>
                <a:tc>
                  <a:txBody>
                    <a:bodyPr wrap="square"/>
                    <a:lstStyle/>
                    <a:p>
                      <a:r>
                        <a:rPr sz="1100">
                          <a:solidFill>
                            <a:srgbClr val="1A1A1A"/>
                          </a:solidFill>
                        </a:rPr>
                        <a:t>Evidence on Facebook/Google etc.</a:t>
                      </a:r>
                    </a:p>
                  </a:txBody>
                  <a:tcPr anchor="ctr" marL="73152" marR="54864" marT="27432" marB="27432">
                    <a:solidFill>
                      <a:srgbClr val="FFFFFF"/>
                    </a:solidFill>
                  </a:tcPr>
                </a:tc>
                <a:tc>
                  <a:txBody>
                    <a:bodyPr wrap="square"/>
                    <a:lstStyle/>
                    <a:p>
                      <a:r>
                        <a:rPr sz="1100">
                          <a:solidFill>
                            <a:srgbClr val="1A1A1A"/>
                          </a:solidFill>
                        </a:rPr>
                        <a:t>Slow, dependent cross-border access</a:t>
                      </a:r>
                    </a:p>
                  </a:txBody>
                  <a:tcPr anchor="ctr" marL="73152" marR="54864" marT="27432" marB="27432">
                    <a:solidFill>
                      <a:srgbClr val="FFFFFF"/>
                    </a:solidFill>
                  </a:tcPr>
                </a:tc>
              </a:tr>
              <a:tr h="630936">
                <a:tc>
                  <a:txBody>
                    <a:bodyPr wrap="square"/>
                    <a:lstStyle/>
                    <a:p>
                      <a:r>
                        <a:rPr sz="1100" b="1">
                          <a:solidFill>
                            <a:srgbClr val="0C2B4A"/>
                          </a:solidFill>
                        </a:rPr>
                        <a:t>Legal framework</a:t>
                      </a:r>
                    </a:p>
                  </a:txBody>
                  <a:tcPr anchor="ctr" marL="73152" marR="54864" marT="27432" marB="27432">
                    <a:solidFill>
                      <a:srgbClr val="EEF3F8"/>
                    </a:solidFill>
                  </a:tcPr>
                </a:tc>
                <a:tc>
                  <a:txBody>
                    <a:bodyPr wrap="square"/>
                    <a:lstStyle/>
                    <a:p>
                      <a:r>
                        <a:rPr sz="1100">
                          <a:solidFill>
                            <a:srgbClr val="1A1A1A"/>
                          </a:solidFill>
                        </a:rPr>
                        <a:t>ETA 2063 in force</a:t>
                      </a:r>
                    </a:p>
                  </a:txBody>
                  <a:tcPr anchor="ctr" marL="73152" marR="54864" marT="27432" marB="27432">
                    <a:solidFill>
                      <a:srgbClr val="EEF3F8"/>
                    </a:solidFill>
                  </a:tcPr>
                </a:tc>
                <a:tc>
                  <a:txBody>
                    <a:bodyPr wrap="square"/>
                    <a:lstStyle/>
                    <a:p>
                      <a:r>
                        <a:rPr sz="1100">
                          <a:solidFill>
                            <a:srgbClr val="1A1A1A"/>
                          </a:solidFill>
                        </a:rPr>
                        <a:t>Ageing; modern law still debated</a:t>
                      </a:r>
                    </a:p>
                  </a:txBody>
                  <a:tcPr anchor="ctr" marL="73152" marR="54864" marT="27432" marB="27432">
                    <a:solidFill>
                      <a:srgbClr val="EEF3F8"/>
                    </a:solidFill>
                  </a:tcPr>
                </a:tc>
              </a:tr>
            </a:tbl>
          </a:graphicData>
        </a:graphic>
      </p:graphicFrame>
      <p:sp>
        <p:nvSpPr>
          <p:cNvPr id="6" name="TextBox 5"/>
          <p:cNvSpPr txBox="1"/>
          <p:nvPr/>
        </p:nvSpPr>
        <p:spPr>
          <a:xfrm>
            <a:off x="384048" y="6053328"/>
            <a:ext cx="11430000" cy="457200"/>
          </a:xfrm>
          <a:prstGeom prst="rect">
            <a:avLst/>
          </a:prstGeom>
          <a:noFill/>
        </p:spPr>
        <p:txBody>
          <a:bodyPr wrap="none">
            <a:spAutoFit/>
          </a:bodyPr>
          <a:lstStyle/>
          <a:p>
            <a:r>
              <a:rPr sz="1150" i="1">
                <a:solidFill>
                  <a:srgbClr val="55606B"/>
                </a:solidFill>
              </a:rPr>
              <a:t>ℹ️  The principles are sound; the constraint is capacity. Like a small fire brigade facing a fast-growing city, Nepal's cyber forensics must scale personnel, labs and law with the rising digital caseload.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90 / 100</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S44 · CONCEPT 3 · [THEORY]  ·  APPLY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Cyber Forensics in Nepal — State &amp; Challenges</a:t>
            </a:r>
          </a:p>
        </p:txBody>
      </p:sp>
      <p:sp>
        <p:nvSpPr>
          <p:cNvPr id="5" name="Rounded Rectangle 4"/>
          <p:cNvSpPr/>
          <p:nvPr/>
        </p:nvSpPr>
        <p:spPr>
          <a:xfrm>
            <a:off x="640080" y="1517904"/>
            <a:ext cx="10972800" cy="1353312"/>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Real example (Nepal / IT)</a:t>
            </a:r>
          </a:p>
          <a:p>
            <a:pPr>
              <a:spcBef>
                <a:spcPts val="300"/>
              </a:spcBef>
            </a:pPr>
            <a:r>
              <a:rPr sz="1400">
                <a:solidFill>
                  <a:srgbClr val="1A1A1A"/>
                </a:solidFill>
              </a:rPr>
              <a:t>The Nepal Police Cyber Bureau handles a fast-rising caseload of online fraud, social-media abuse and financial scams with limited trained staff, constrained lab capacity, a growing backlog, and slow dependence on foreign platforms for data — all under an ageing ETA 2063. The framework works; capacity is the bottleneck.</a:t>
            </a:r>
          </a:p>
        </p:txBody>
      </p:sp>
      <p:sp>
        <p:nvSpPr>
          <p:cNvPr id="6" name="Rounded Rectangle 5"/>
          <p:cNvSpPr/>
          <p:nvPr/>
        </p:nvSpPr>
        <p:spPr>
          <a:xfrm>
            <a:off x="640080" y="2980944"/>
            <a:ext cx="10972800" cy="1188720"/>
          </a:xfrm>
          <a:prstGeom prst="roundRect">
            <a:avLst/>
          </a:prstGeom>
          <a:solidFill>
            <a:srgbClr val="FAECE7"/>
          </a:solidFill>
          <a:ln w="12700">
            <a:solidFill>
              <a:srgbClr val="993C1D"/>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993C1D"/>
                </a:solidFill>
              </a:rPr>
              <a:t>⚠️  Common trap — and the fix</a:t>
            </a:r>
          </a:p>
          <a:p>
            <a:pPr>
              <a:spcBef>
                <a:spcPts val="300"/>
              </a:spcBef>
            </a:pPr>
            <a:r>
              <a:rPr sz="1400">
                <a:solidFill>
                  <a:srgbClr val="1A1A1A"/>
                </a:solidFill>
              </a:rPr>
              <a:t>"Nepal can't do real cyber forensics." It can and does — the Cyber Bureau applies sound principles daily. The real issue is capacity (people, labs, law, foreign-data access) that must scale with the rising caseload, not a lack of valid methodology.</a:t>
            </a:r>
          </a:p>
        </p:txBody>
      </p:sp>
      <p:sp>
        <p:nvSpPr>
          <p:cNvPr id="7" name="Rounded Rectangle 6"/>
          <p:cNvSpPr/>
          <p:nvPr/>
        </p:nvSpPr>
        <p:spPr>
          <a:xfrm>
            <a:off x="640080" y="4279392"/>
            <a:ext cx="10972800" cy="1755648"/>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Exam-ready answer</a:t>
            </a:r>
          </a:p>
          <a:p>
            <a:pPr>
              <a:spcBef>
                <a:spcPts val="300"/>
              </a:spcBef>
            </a:pPr>
            <a:r>
              <a:rPr sz="1400">
                <a:solidFill>
                  <a:srgbClr val="1A1A1A"/>
                </a:solidFill>
              </a:rPr>
              <a:t>Nepal's cyber forensics centres on the Nepal Police Cyber Bureau, handling a rising caseload (online fraud, social-media abuse, financial scams) against constraints: limited trained personnel, tool/lab capacity, backlog, dependence on foreign platforms for data, and an evolving legal framework. The principles are sound — like a small fire brigade facing a growing city, capacity must scale with the digital population.</a:t>
            </a:r>
          </a:p>
        </p:txBody>
      </p:sp>
      <p:sp>
        <p:nvSpPr>
          <p:cNvPr id="8" name="Rounded Rectangle 7"/>
          <p:cNvSpPr/>
          <p:nvPr/>
        </p:nvSpPr>
        <p:spPr>
          <a:xfrm>
            <a:off x="640080" y="6144768"/>
            <a:ext cx="10972800" cy="548640"/>
          </a:xfrm>
          <a:prstGeom prst="roundRect">
            <a:avLst/>
          </a:prstGeom>
          <a:solidFill>
            <a:srgbClr val="FAEEDA"/>
          </a:solidFill>
          <a:ln w="12700">
            <a:solidFill>
              <a:srgbClr val="854F0B"/>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854F0B"/>
                </a:solidFill>
              </a:rPr>
              <a:t>🔑  Key terms</a:t>
            </a:r>
          </a:p>
          <a:p>
            <a:pPr>
              <a:spcBef>
                <a:spcPts val="300"/>
              </a:spcBef>
            </a:pPr>
            <a:r>
              <a:rPr sz="1150">
                <a:solidFill>
                  <a:srgbClr val="1A1A1A"/>
                </a:solidFill>
              </a:rPr>
              <a:t>Cyber Bureau · rising caseload · limited personnel/labs · backlog · foreign-platform dependence · capacity must scale</a:t>
            </a:r>
          </a:p>
        </p:txBody>
      </p:sp>
      <p:sp>
        <p:nvSpPr>
          <p:cNvPr id="9" name="TextBox 8"/>
          <p:cNvSpPr txBox="1"/>
          <p:nvPr/>
        </p:nvSpPr>
        <p:spPr>
          <a:xfrm>
            <a:off x="11292840" y="274320"/>
            <a:ext cx="822960" cy="320040"/>
          </a:xfrm>
          <a:prstGeom prst="rect">
            <a:avLst/>
          </a:prstGeom>
          <a:noFill/>
        </p:spPr>
        <p:txBody>
          <a:bodyPr wrap="none">
            <a:spAutoFit/>
          </a:bodyPr>
          <a:lstStyle/>
          <a:p>
            <a:pPr algn="r"/>
            <a:r>
              <a:rPr sz="1000">
                <a:solidFill>
                  <a:srgbClr val="55606B"/>
                </a:solidFill>
              </a:rPr>
              <a:t>91 / 100</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E1F5EE"/>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F6E5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F6E56"/>
                </a:solidFill>
              </a:rPr>
              <a:t>🛠  IN-CLASS ACTIVITY  ·  THINK–PAIR–SHARE</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S44 — 'Screenshots to court-ready'  ·  ~5 min</a:t>
            </a:r>
          </a:p>
        </p:txBody>
      </p:sp>
      <p:sp>
        <p:nvSpPr>
          <p:cNvPr id="5" name="TextBox 4"/>
          <p:cNvSpPr txBox="1"/>
          <p:nvPr/>
        </p:nvSpPr>
        <p:spPr>
          <a:xfrm>
            <a:off x="640080" y="1600200"/>
            <a:ext cx="10881360" cy="3291840"/>
          </a:xfrm>
          <a:prstGeom prst="rect">
            <a:avLst/>
          </a:prstGeom>
          <a:noFill/>
        </p:spPr>
        <p:txBody>
          <a:bodyPr wrap="square">
            <a:spAutoFit/>
          </a:bodyPr>
          <a:lstStyle/>
          <a:p>
            <a:pPr>
              <a:spcAft>
                <a:spcPts val="700"/>
              </a:spcAft>
            </a:pPr>
            <a:r>
              <a:rPr sz="1550">
                <a:solidFill>
                  <a:srgbClr val="1A1A1A"/>
                </a:solidFill>
              </a:rPr>
              <a:t>•  In pairs (2 min): a complainant brings only WhatsApp screenshots to the Cyber Bureau.</a:t>
            </a:r>
          </a:p>
          <a:p>
            <a:pPr>
              <a:spcAft>
                <a:spcPts val="700"/>
              </a:spcAft>
            </a:pPr>
            <a:r>
              <a:rPr sz="1550">
                <a:solidFill>
                  <a:srgbClr val="1A1A1A"/>
                </a:solidFill>
              </a:rPr>
              <a:t>•  List the steps needed to turn them into court-ready, admissible evidence under the ETA 2063.</a:t>
            </a:r>
          </a:p>
          <a:p>
            <a:pPr>
              <a:spcAft>
                <a:spcPts val="700"/>
              </a:spcAft>
            </a:pPr>
            <a:r>
              <a:rPr sz="1550">
                <a:solidFill>
                  <a:srgbClr val="1A1A1A"/>
                </a:solidFill>
              </a:rPr>
              <a:t>•  Take 3–4 answers aloud (3 min); check each step against the admissibility checklist.</a:t>
            </a:r>
          </a:p>
          <a:p>
            <a:pPr>
              <a:spcAft>
                <a:spcPts val="700"/>
              </a:spcAft>
            </a:pPr>
            <a:r>
              <a:rPr sz="1550">
                <a:solidFill>
                  <a:srgbClr val="1A1A1A"/>
                </a:solidFill>
              </a:rPr>
              <a:t>•  Close: debate briefly — should Nepal create a dedicated cybercrime/data-evidence law beyond the ETA?</a:t>
            </a:r>
          </a:p>
        </p:txBody>
      </p:sp>
      <p:sp>
        <p:nvSpPr>
          <p:cNvPr id="6" name="Rounded Rectangle 5"/>
          <p:cNvSpPr/>
          <p:nvPr/>
        </p:nvSpPr>
        <p:spPr>
          <a:xfrm>
            <a:off x="640080" y="5029200"/>
            <a:ext cx="10881360" cy="1554480"/>
          </a:xfrm>
          <a:prstGeom prst="roundRect">
            <a:avLst/>
          </a:prstGeom>
          <a:solidFill>
            <a:srgbClr val="FFFFFF"/>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Expected answer / what to draw out</a:t>
            </a:r>
          </a:p>
          <a:p>
            <a:pPr>
              <a:spcBef>
                <a:spcPts val="300"/>
              </a:spcBef>
            </a:pPr>
            <a:r>
              <a:rPr sz="1400">
                <a:solidFill>
                  <a:srgbClr val="1A1A1A"/>
                </a:solidFill>
              </a:rPr>
              <a:t>Steps: forensic extraction of the original messages + metadata, hashing, a chain-of-custody record, lawful authorisation/warrant, and expert testimony. Screenshots alone fail authenticity/integrity; the extraction and custody supply them.</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92 / 100</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S44 — Quick Check  ·  ~5 min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900"/>
              </a:spcBef>
            </a:pPr>
            <a:r>
              <a:rPr sz="1700" b="1">
                <a:solidFill>
                  <a:srgbClr val="0C2B4A"/>
                </a:solidFill>
              </a:rPr>
              <a:t>Q1.  Genuine evidence can still be rejected by a court if:</a:t>
            </a:r>
          </a:p>
          <a:p>
            <a:pPr lvl="1"/>
            <a:r>
              <a:rPr sz="1500" b="1">
                <a:solidFill>
                  <a:srgbClr val="0F6E56"/>
                </a:solidFill>
              </a:rPr>
              <a:t>a) it's too detailed   b) ✅ it was illegally obtained or improperly handled (broken chain of custody)   c) it's digital   d) it's on a phone</a:t>
            </a:r>
          </a:p>
          <a:p>
            <a:pPr lvl="1">
              <a:spcBef>
                <a:spcPts val="600"/>
              </a:spcBef>
            </a:pPr>
            <a:r>
              <a:rPr sz="1500" i="1">
                <a:solidFill>
                  <a:srgbClr val="1A1A1A"/>
                </a:solidFill>
              </a:rPr>
              <a:t>     Why: admissibility needs lawful process + integrity — truth alone is never enough.</a:t>
            </a:r>
          </a:p>
          <a:p>
            <a:pPr>
              <a:spcBef>
                <a:spcPts val="900"/>
              </a:spcBef>
            </a:pPr>
            <a:r>
              <a:rPr sz="1700" b="1">
                <a:solidFill>
                  <a:srgbClr val="0C2B4A"/>
                </a:solidFill>
              </a:rPr>
              <a:t>Q2.  In Nepal, electronic records are primarily recognised as evidence under the:</a:t>
            </a:r>
          </a:p>
          <a:p>
            <a:pPr lvl="1"/>
            <a:r>
              <a:rPr sz="1500" b="1">
                <a:solidFill>
                  <a:srgbClr val="0F6E56"/>
                </a:solidFill>
              </a:rPr>
              <a:t>a) Muluki Ain   b) ✅ Electronic Transaction Act (ETA), 2063   c) Companies Act   d) no law</a:t>
            </a:r>
          </a:p>
          <a:p>
            <a:pPr lvl="1">
              <a:spcBef>
                <a:spcPts val="600"/>
              </a:spcBef>
            </a:pPr>
            <a:r>
              <a:rPr sz="1500" i="1">
                <a:solidFill>
                  <a:srgbClr val="1A1A1A"/>
                </a:solidFill>
              </a:rPr>
              <a:t>     Why: the ETA 2063 (2008) recognises electronic records and defines cyber offences.</a:t>
            </a:r>
          </a:p>
          <a:p>
            <a:pPr lvl="1">
              <a:spcBef>
                <a:spcPts val="600"/>
              </a:spcBef>
            </a:pPr>
            <a:r>
              <a:rPr sz="1500" i="1">
                <a:solidFill>
                  <a:srgbClr val="1A1A1A"/>
                </a:solidFill>
              </a:rPr>
              <a:t>Discussion: should Nepal create a dedicated cybercrime and digital-evidence law beyond the ETA? Argue both sides.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93 / 100</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0C2B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0C2B4A"/>
                </a:solidFill>
              </a:rPr>
              <a:t>S44 · SUMMARY  ·  [~2 MIN]</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Summary &amp; Key Takeaways</a:t>
            </a:r>
          </a:p>
        </p:txBody>
      </p:sp>
      <p:sp>
        <p:nvSpPr>
          <p:cNvPr id="5" name="TextBox 4"/>
          <p:cNvSpPr txBox="1"/>
          <p:nvPr/>
        </p:nvSpPr>
        <p:spPr>
          <a:xfrm>
            <a:off x="640080" y="1554480"/>
            <a:ext cx="10972800" cy="2468880"/>
          </a:xfrm>
          <a:prstGeom prst="rect">
            <a:avLst/>
          </a:prstGeom>
          <a:noFill/>
        </p:spPr>
        <p:txBody>
          <a:bodyPr wrap="square">
            <a:spAutoFit/>
          </a:bodyPr>
          <a:lstStyle/>
          <a:p>
            <a:pPr>
              <a:spcAft>
                <a:spcPts val="800"/>
              </a:spcAft>
            </a:pPr>
            <a:r>
              <a:rPr sz="1500">
                <a:solidFill>
                  <a:srgbClr val="1A1A1A"/>
                </a:solidFill>
              </a:rPr>
              <a:t>1.  Admissibility needs legality + authenticity + integrity, not just truth — mishandled evidence is excluded.</a:t>
            </a:r>
          </a:p>
          <a:p>
            <a:pPr>
              <a:spcAft>
                <a:spcPts val="800"/>
              </a:spcAft>
            </a:pPr>
            <a:r>
              <a:rPr sz="1500">
                <a:solidFill>
                  <a:srgbClr val="1A1A1A"/>
                </a:solidFill>
              </a:rPr>
              <a:t>2.  Nepal relies mainly on the ETA 2063 (2008) and the Nepal Police Cyber Bureau for electronic evidence.</a:t>
            </a:r>
          </a:p>
          <a:p>
            <a:pPr>
              <a:spcAft>
                <a:spcPts val="800"/>
              </a:spcAft>
            </a:pPr>
            <a:r>
              <a:rPr sz="1500">
                <a:solidFill>
                  <a:srgbClr val="1A1A1A"/>
                </a:solidFill>
              </a:rPr>
              <a:t>3.  The principles are sound, but capacity (people, labs, law) must grow with the rising cybercrime caseload.</a:t>
            </a:r>
          </a:p>
        </p:txBody>
      </p:sp>
      <p:sp>
        <p:nvSpPr>
          <p:cNvPr id="6" name="Rounded Rectangle 5"/>
          <p:cNvSpPr/>
          <p:nvPr/>
        </p:nvSpPr>
        <p:spPr>
          <a:xfrm>
            <a:off x="640080" y="4160520"/>
            <a:ext cx="10972800" cy="1234440"/>
          </a:xfrm>
          <a:prstGeom prst="roundRect">
            <a:avLst/>
          </a:prstGeom>
          <a:solidFill>
            <a:srgbClr val="E1F5EE"/>
          </a:solidFill>
          <a:ln w="12700">
            <a:solidFill>
              <a:srgbClr val="0F6E56"/>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0F6E56"/>
                </a:solidFill>
              </a:rPr>
              <a:t>💡  Why this matters</a:t>
            </a:r>
          </a:p>
          <a:p>
            <a:pPr>
              <a:spcBef>
                <a:spcPts val="300"/>
              </a:spcBef>
            </a:pPr>
            <a:r>
              <a:rPr sz="1350">
                <a:solidFill>
                  <a:srgbClr val="1A1A1A"/>
                </a:solidFill>
              </a:rPr>
              <a:t>As a BIM graduate you may one day file or face a cyber complaint — knowing what makes evidence admissible, and the Cyber Bureau's role, is directly practical for protecting yourself and others.</a:t>
            </a:r>
          </a:p>
        </p:txBody>
      </p:sp>
      <p:sp>
        <p:nvSpPr>
          <p:cNvPr id="7" name="Rounded Rectangle 6"/>
          <p:cNvSpPr/>
          <p:nvPr/>
        </p:nvSpPr>
        <p:spPr>
          <a:xfrm>
            <a:off x="640080" y="5504688"/>
            <a:ext cx="10972800" cy="105156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  Next</a:t>
            </a:r>
          </a:p>
          <a:p>
            <a:pPr>
              <a:spcBef>
                <a:spcPts val="300"/>
              </a:spcBef>
            </a:pPr>
            <a:r>
              <a:rPr sz="1350">
                <a:solidFill>
                  <a:srgbClr val="1A1A1A"/>
                </a:solidFill>
              </a:rPr>
              <a:t>Next unit (Unit 9) — Cyber Law in Nepal: the ETA, Electronic Transaction Rules, and IT/security policy in depth.</a:t>
            </a:r>
          </a:p>
        </p:txBody>
      </p:sp>
      <p:sp>
        <p:nvSpPr>
          <p:cNvPr id="8" name="TextBox 7"/>
          <p:cNvSpPr txBox="1"/>
          <p:nvPr/>
        </p:nvSpPr>
        <p:spPr>
          <a:xfrm>
            <a:off x="11292840" y="274320"/>
            <a:ext cx="822960" cy="320040"/>
          </a:xfrm>
          <a:prstGeom prst="rect">
            <a:avLst/>
          </a:prstGeom>
          <a:noFill/>
        </p:spPr>
        <p:txBody>
          <a:bodyPr wrap="none">
            <a:spAutoFit/>
          </a:bodyPr>
          <a:lstStyle/>
          <a:p>
            <a:pPr algn="r"/>
            <a:r>
              <a:rPr sz="1000">
                <a:solidFill>
                  <a:srgbClr val="55606B"/>
                </a:solidFill>
              </a:rPr>
              <a:t>94 / 100</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8 · CHEAT SHEET</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One-page revision reference</a:t>
            </a:r>
          </a:p>
        </p:txBody>
      </p:sp>
      <p:sp>
        <p:nvSpPr>
          <p:cNvPr id="5" name="Rounded Rectangle 4"/>
          <p:cNvSpPr/>
          <p:nvPr/>
        </p:nvSpPr>
        <p:spPr>
          <a:xfrm>
            <a:off x="640080"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Intro &amp; principles (S38)</a:t>
            </a:r>
          </a:p>
          <a:p>
            <a:pPr>
              <a:spcBef>
                <a:spcPts val="300"/>
              </a:spcBef>
            </a:pPr>
            <a:r>
              <a:rPr sz="1200">
                <a:solidFill>
                  <a:srgbClr val="1A1A1A"/>
                </a:solidFill>
              </a:rPr>
              <a:t>Digital forensics = science + law → legally admissible evidence. Grew from computer (1 PC) to digital (phones/cloud/IoT). Principles: don't alter original · work on copies · document · custody · repeatability.</a:t>
            </a:r>
          </a:p>
        </p:txBody>
      </p:sp>
      <p:sp>
        <p:nvSpPr>
          <p:cNvPr id="6" name="Rounded Rectangle 5"/>
          <p:cNvSpPr/>
          <p:nvPr/>
        </p:nvSpPr>
        <p:spPr>
          <a:xfrm>
            <a:off x="6199632" y="1572768"/>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The six stages (S39)</a:t>
            </a:r>
          </a:p>
          <a:p>
            <a:pPr>
              <a:spcBef>
                <a:spcPts val="300"/>
              </a:spcBef>
            </a:pPr>
            <a:r>
              <a:rPr sz="1200">
                <a:solidFill>
                  <a:srgbClr val="1A1A1A"/>
                </a:solidFill>
              </a:rPr>
              <a:t>Identify → Preserve → Collect → Examine → Analyse → Report (NIST SP 800-86). Preservation protects everything downstream. Report for a non-technical judge. Integrity runs through all stages.</a:t>
            </a:r>
          </a:p>
        </p:txBody>
      </p:sp>
      <p:sp>
        <p:nvSpPr>
          <p:cNvPr id="7" name="Rounded Rectangle 6"/>
          <p:cNvSpPr/>
          <p:nvPr/>
        </p:nvSpPr>
        <p:spPr>
          <a:xfrm>
            <a:off x="640080"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Evidence · lab (S40)</a:t>
            </a:r>
          </a:p>
          <a:p>
            <a:pPr>
              <a:spcBef>
                <a:spcPts val="300"/>
              </a:spcBef>
            </a:pPr>
            <a:r>
              <a:rPr sz="1200">
                <a:solidFill>
                  <a:srgbClr val="1A1A1A"/>
                </a:solidFill>
              </a:rPr>
              <a:t>Good evidence = admissible, authentic, complete, reliable, believable (NOT 'encrypted'). Screenshot = weak. Tools by category (Autopsy/EnCase/FTK/Cellebrite) — method over brand. Lab: access control, air-gap, ISO 17025.</a:t>
            </a:r>
          </a:p>
        </p:txBody>
      </p:sp>
      <p:sp>
        <p:nvSpPr>
          <p:cNvPr id="8" name="Rounded Rectangle 7"/>
          <p:cNvSpPr/>
          <p:nvPr/>
        </p:nvSpPr>
        <p:spPr>
          <a:xfrm>
            <a:off x="6199632" y="3072384"/>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Collect &amp; protect (S41)</a:t>
            </a:r>
          </a:p>
          <a:p>
            <a:pPr>
              <a:spcBef>
                <a:spcPts val="300"/>
              </a:spcBef>
            </a:pPr>
            <a:r>
              <a:rPr sz="1200">
                <a:solidFill>
                  <a:srgbClr val="1A1A1A"/>
                </a:solidFill>
              </a:rPr>
              <a:t>Chain of custody = who/when/why/how, sealed &amp; logged; a gap = challengeable. Order of volatility: RAM first, disk later. Write blocker = read-only; hashing (SHA-256) proves the copy is identical.</a:t>
            </a:r>
          </a:p>
        </p:txBody>
      </p:sp>
      <p:sp>
        <p:nvSpPr>
          <p:cNvPr id="9" name="Rounded Rectangle 8"/>
          <p:cNvSpPr/>
          <p:nvPr/>
        </p:nvSpPr>
        <p:spPr>
          <a:xfrm>
            <a:off x="640080"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Recover data (S42)</a:t>
            </a:r>
          </a:p>
          <a:p>
            <a:pPr>
              <a:spcBef>
                <a:spcPts val="300"/>
              </a:spcBef>
            </a:pPr>
            <a:r>
              <a:rPr sz="1200">
                <a:solidFill>
                  <a:srgbClr val="1A1A1A"/>
                </a:solidFill>
              </a:rPr>
              <a:t>Delete removes the pointer, not the data — recoverable until overwritten. Image bit-for-bit (incl. slack/unallocated), hash, analyse the copy. File carving rebuilds files by header/footer signatures.</a:t>
            </a:r>
          </a:p>
        </p:txBody>
      </p:sp>
      <p:sp>
        <p:nvSpPr>
          <p:cNvPr id="10" name="Rounded Rectangle 9"/>
          <p:cNvSpPr/>
          <p:nvPr/>
        </p:nvSpPr>
        <p:spPr>
          <a:xfrm>
            <a:off x="6199632" y="4572000"/>
            <a:ext cx="5349240" cy="1417320"/>
          </a:xfrm>
          <a:prstGeom prst="roundRect">
            <a:avLst/>
          </a:prstGeom>
          <a:solidFill>
            <a:srgbClr val="E6F1FB"/>
          </a:solidFill>
          <a:ln w="12700">
            <a:solidFill>
              <a:srgbClr val="185FA5"/>
            </a:solidFill>
          </a:ln>
          <a:effectLst/>
        </p:spPr>
        <p:style>
          <a:lnRef idx="1">
            <a:schemeClr val="accent1"/>
          </a:lnRef>
          <a:fillRef idx="3">
            <a:schemeClr val="accent1"/>
          </a:fillRef>
          <a:effectRef idx="2">
            <a:schemeClr val="accent1"/>
          </a:effectRef>
          <a:fontRef idx="minor">
            <a:schemeClr val="lt1"/>
          </a:fontRef>
        </p:style>
        <p:txBody>
          <a:bodyPr rtlCol="0" anchor="t" wrap="square" lIns="201168" rIns="182880" tIns="91440" bIns="73152"/>
          <a:lstStyle/>
          <a:p>
            <a:pPr algn="ctr"/>
            <a:r>
              <a:rPr sz="1250" b="1">
                <a:solidFill>
                  <a:srgbClr val="185FA5"/>
                </a:solidFill>
              </a:rPr>
              <a:t>Mobile &amp; law (S43–S44)</a:t>
            </a:r>
          </a:p>
          <a:p>
            <a:pPr>
              <a:spcBef>
                <a:spcPts val="300"/>
              </a:spcBef>
            </a:pPr>
            <a:r>
              <a:rPr sz="1200">
                <a:solidFill>
                  <a:srgbClr val="1A1A1A"/>
                </a:solidFill>
              </a:rPr>
              <a:t>Phone = the crime scene. Extraction: manual→logical→file-system→physical (SQLite + cloud). Isolate (Faraday), hash, custody. Admissibility = legal + authentic + intact. Nepal: ETA 2063 + Cyber Bureau.</a:t>
            </a:r>
          </a:p>
        </p:txBody>
      </p:sp>
      <p:sp>
        <p:nvSpPr>
          <p:cNvPr id="11" name="TextBox 10"/>
          <p:cNvSpPr txBox="1"/>
          <p:nvPr/>
        </p:nvSpPr>
        <p:spPr>
          <a:xfrm>
            <a:off x="11292840" y="274320"/>
            <a:ext cx="822960" cy="320040"/>
          </a:xfrm>
          <a:prstGeom prst="rect">
            <a:avLst/>
          </a:prstGeom>
          <a:noFill/>
        </p:spPr>
        <p:txBody>
          <a:bodyPr wrap="none">
            <a:spAutoFit/>
          </a:bodyPr>
          <a:lstStyle/>
          <a:p>
            <a:pPr algn="r"/>
            <a:r>
              <a:rPr sz="1000">
                <a:solidFill>
                  <a:srgbClr val="55606B"/>
                </a:solidFill>
              </a:rPr>
              <a:t>95 / 100</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185FA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185FA5"/>
                </a:solidFill>
              </a:rPr>
              <a:t>UNIT 8 · GLOSSARY</a:t>
            </a:r>
          </a:p>
        </p:txBody>
      </p:sp>
      <p:sp>
        <p:nvSpPr>
          <p:cNvPr id="4" name="TextBox 3"/>
          <p:cNvSpPr txBox="1"/>
          <p:nvPr/>
        </p:nvSpPr>
        <p:spPr>
          <a:xfrm>
            <a:off x="640080" y="603504"/>
            <a:ext cx="10972800" cy="914400"/>
          </a:xfrm>
          <a:prstGeom prst="rect">
            <a:avLst/>
          </a:prstGeom>
          <a:noFill/>
        </p:spPr>
        <p:txBody>
          <a:bodyPr wrap="square">
            <a:spAutoFit/>
          </a:bodyPr>
          <a:lstStyle/>
          <a:p>
            <a:r>
              <a:rPr sz="2500" b="1">
                <a:solidFill>
                  <a:srgbClr val="0C2B4A"/>
                </a:solidFill>
              </a:rPr>
              <a:t>Key terms — quick reference</a:t>
            </a:r>
          </a:p>
        </p:txBody>
      </p:sp>
      <p:sp>
        <p:nvSpPr>
          <p:cNvPr id="5" name="TextBox 4"/>
          <p:cNvSpPr txBox="1"/>
          <p:nvPr/>
        </p:nvSpPr>
        <p:spPr>
          <a:xfrm>
            <a:off x="640080" y="1600200"/>
            <a:ext cx="5349240" cy="4846320"/>
          </a:xfrm>
          <a:prstGeom prst="rect">
            <a:avLst/>
          </a:prstGeom>
          <a:noFill/>
        </p:spPr>
        <p:txBody>
          <a:bodyPr wrap="square">
            <a:spAutoFit/>
          </a:bodyPr>
          <a:lstStyle/>
          <a:p>
            <a:pPr>
              <a:spcAft>
                <a:spcPts val="600"/>
              </a:spcAft>
            </a:pPr>
            <a:r>
              <a:rPr sz="1150" b="1">
                <a:solidFill>
                  <a:srgbClr val="0C2B4A"/>
                </a:solidFill>
              </a:rPr>
              <a:t>Digital forensics — </a:t>
            </a:r>
            <a:r>
              <a:rPr sz="1150">
                <a:solidFill>
                  <a:srgbClr val="1A1A1A"/>
                </a:solidFill>
              </a:rPr>
              <a:t>scientific identify/preserve/analyse/present of digital evidence, legally admissible.</a:t>
            </a:r>
          </a:p>
          <a:p>
            <a:pPr>
              <a:spcAft>
                <a:spcPts val="600"/>
              </a:spcAft>
            </a:pPr>
            <a:r>
              <a:rPr sz="1150" b="1">
                <a:solidFill>
                  <a:srgbClr val="0C2B4A"/>
                </a:solidFill>
              </a:rPr>
              <a:t>Computer → digital forensics — </a:t>
            </a:r>
            <a:r>
              <a:rPr sz="1150">
                <a:solidFill>
                  <a:srgbClr val="1A1A1A"/>
                </a:solidFill>
              </a:rPr>
              <a:t>the shift from a single PC to phones, cloud, networks and IoT.</a:t>
            </a:r>
          </a:p>
          <a:p>
            <a:pPr>
              <a:spcAft>
                <a:spcPts val="600"/>
              </a:spcAft>
            </a:pPr>
            <a:r>
              <a:rPr sz="1150" b="1">
                <a:solidFill>
                  <a:srgbClr val="0C2B4A"/>
                </a:solidFill>
              </a:rPr>
              <a:t>Core principles — </a:t>
            </a:r>
            <a:r>
              <a:rPr sz="1150">
                <a:solidFill>
                  <a:srgbClr val="1A1A1A"/>
                </a:solidFill>
              </a:rPr>
              <a:t>don't alter the original · work on copies · document · custody · repeatability.</a:t>
            </a:r>
          </a:p>
          <a:p>
            <a:pPr>
              <a:spcAft>
                <a:spcPts val="600"/>
              </a:spcAft>
            </a:pPr>
            <a:r>
              <a:rPr sz="1150" b="1">
                <a:solidFill>
                  <a:srgbClr val="0C2B4A"/>
                </a:solidFill>
              </a:rPr>
              <a:t>Forensic process — </a:t>
            </a:r>
            <a:r>
              <a:rPr sz="1150">
                <a:solidFill>
                  <a:srgbClr val="1A1A1A"/>
                </a:solidFill>
              </a:rPr>
              <a:t>identify → preserve → collect → examine → analyse → report.</a:t>
            </a:r>
          </a:p>
          <a:p>
            <a:pPr>
              <a:spcAft>
                <a:spcPts val="600"/>
              </a:spcAft>
            </a:pPr>
            <a:r>
              <a:rPr sz="1150" b="1">
                <a:solidFill>
                  <a:srgbClr val="0C2B4A"/>
                </a:solidFill>
              </a:rPr>
              <a:t>NIST SP 800-86 — </a:t>
            </a:r>
            <a:r>
              <a:rPr sz="1150">
                <a:solidFill>
                  <a:srgbClr val="1A1A1A"/>
                </a:solidFill>
              </a:rPr>
              <a:t>standard model: collection, examination, analysis, reporting.</a:t>
            </a:r>
          </a:p>
          <a:p>
            <a:pPr>
              <a:spcAft>
                <a:spcPts val="600"/>
              </a:spcAft>
            </a:pPr>
            <a:r>
              <a:rPr sz="1150" b="1">
                <a:solidFill>
                  <a:srgbClr val="0C2B4A"/>
                </a:solidFill>
              </a:rPr>
              <a:t>Digital evidence — </a:t>
            </a:r>
            <a:r>
              <a:rPr sz="1150">
                <a:solidFill>
                  <a:srgbClr val="1A1A1A"/>
                </a:solidFill>
              </a:rPr>
              <a:t>data (stored/transmitted) that supports or refutes a fact in a case.</a:t>
            </a:r>
          </a:p>
          <a:p>
            <a:pPr>
              <a:spcAft>
                <a:spcPts val="600"/>
              </a:spcAft>
            </a:pPr>
            <a:r>
              <a:rPr sz="1150" b="1">
                <a:solidFill>
                  <a:srgbClr val="0C2B4A"/>
                </a:solidFill>
              </a:rPr>
              <a:t>Properties of good evidence — </a:t>
            </a:r>
            <a:r>
              <a:rPr sz="1150">
                <a:solidFill>
                  <a:srgbClr val="1A1A1A"/>
                </a:solidFill>
              </a:rPr>
              <a:t>admissible, authentic, complete, reliable, believable.</a:t>
            </a:r>
          </a:p>
          <a:p>
            <a:pPr>
              <a:spcAft>
                <a:spcPts val="600"/>
              </a:spcAft>
            </a:pPr>
            <a:r>
              <a:rPr sz="1150" b="1">
                <a:solidFill>
                  <a:srgbClr val="0C2B4A"/>
                </a:solidFill>
              </a:rPr>
              <a:t>Metadata — </a:t>
            </a:r>
            <a:r>
              <a:rPr sz="1150">
                <a:solidFill>
                  <a:srgbClr val="1A1A1A"/>
                </a:solidFill>
              </a:rPr>
              <a:t>hidden data about a file (author, timestamps, GPS).</a:t>
            </a:r>
          </a:p>
          <a:p>
            <a:pPr>
              <a:spcAft>
                <a:spcPts val="600"/>
              </a:spcAft>
            </a:pPr>
            <a:r>
              <a:rPr sz="1150" b="1">
                <a:solidFill>
                  <a:srgbClr val="0C2B4A"/>
                </a:solidFill>
              </a:rPr>
              <a:t>CDR — </a:t>
            </a:r>
            <a:r>
              <a:rPr sz="1150">
                <a:solidFill>
                  <a:srgbClr val="1A1A1A"/>
                </a:solidFill>
              </a:rPr>
              <a:t>Call Detail Record from a telco (NTC/Ncell).</a:t>
            </a:r>
          </a:p>
          <a:p>
            <a:pPr>
              <a:spcAft>
                <a:spcPts val="600"/>
              </a:spcAft>
            </a:pPr>
            <a:r>
              <a:rPr sz="1150" b="1">
                <a:solidFill>
                  <a:srgbClr val="0C2B4A"/>
                </a:solidFill>
              </a:rPr>
              <a:t>Forensic lab — </a:t>
            </a:r>
            <a:r>
              <a:rPr sz="1150">
                <a:solidFill>
                  <a:srgbClr val="1A1A1A"/>
                </a:solidFill>
              </a:rPr>
              <a:t>controlled, secure, (ideally) accredited environment for analysis (ISO/IEC 17025).</a:t>
            </a:r>
          </a:p>
          <a:p>
            <a:pPr>
              <a:spcAft>
                <a:spcPts val="600"/>
              </a:spcAft>
            </a:pPr>
            <a:r>
              <a:rPr sz="1150" b="1">
                <a:solidFill>
                  <a:srgbClr val="0C2B4A"/>
                </a:solidFill>
              </a:rPr>
              <a:t>Chain of custody — </a:t>
            </a:r>
            <a:r>
              <a:rPr sz="1150">
                <a:solidFill>
                  <a:srgbClr val="1A1A1A"/>
                </a:solidFill>
              </a:rPr>
              <a:t>documented, unbroken record of who handled evidence, when, why and how.</a:t>
            </a:r>
          </a:p>
          <a:p>
            <a:pPr>
              <a:spcAft>
                <a:spcPts val="600"/>
              </a:spcAft>
            </a:pPr>
            <a:r>
              <a:rPr sz="1150" b="1">
                <a:solidFill>
                  <a:srgbClr val="0C2B4A"/>
                </a:solidFill>
              </a:rPr>
              <a:t>Order of volatility — </a:t>
            </a:r>
            <a:r>
              <a:rPr sz="1150">
                <a:solidFill>
                  <a:srgbClr val="1A1A1A"/>
                </a:solidFill>
              </a:rPr>
              <a:t>collect the most fragile data (RAM) before the durable (disk, backups).</a:t>
            </a:r>
          </a:p>
        </p:txBody>
      </p:sp>
      <p:sp>
        <p:nvSpPr>
          <p:cNvPr id="6" name="TextBox 5"/>
          <p:cNvSpPr txBox="1"/>
          <p:nvPr/>
        </p:nvSpPr>
        <p:spPr>
          <a:xfrm>
            <a:off x="6199632" y="1600200"/>
            <a:ext cx="5349240" cy="4846320"/>
          </a:xfrm>
          <a:prstGeom prst="rect">
            <a:avLst/>
          </a:prstGeom>
          <a:noFill/>
        </p:spPr>
        <p:txBody>
          <a:bodyPr wrap="square">
            <a:spAutoFit/>
          </a:bodyPr>
          <a:lstStyle/>
          <a:p>
            <a:pPr>
              <a:spcAft>
                <a:spcPts val="600"/>
              </a:spcAft>
            </a:pPr>
            <a:r>
              <a:rPr sz="1150" b="1">
                <a:solidFill>
                  <a:srgbClr val="0C2B4A"/>
                </a:solidFill>
              </a:rPr>
              <a:t>Faraday bag — </a:t>
            </a:r>
            <a:r>
              <a:rPr sz="1150">
                <a:solidFill>
                  <a:srgbClr val="1A1A1A"/>
                </a:solidFill>
              </a:rPr>
              <a:t>signal-blocking bag that stops remote wipe/sync.</a:t>
            </a:r>
          </a:p>
          <a:p>
            <a:pPr>
              <a:spcAft>
                <a:spcPts val="600"/>
              </a:spcAft>
            </a:pPr>
            <a:r>
              <a:rPr sz="1150" b="1">
                <a:solidFill>
                  <a:srgbClr val="0C2B4A"/>
                </a:solidFill>
              </a:rPr>
              <a:t>Write blocker — </a:t>
            </a:r>
            <a:r>
              <a:rPr sz="1150">
                <a:solidFill>
                  <a:srgbClr val="1A1A1A"/>
                </a:solidFill>
              </a:rPr>
              <a:t>hardware/software that reads a drive but blocks any write.</a:t>
            </a:r>
          </a:p>
          <a:p>
            <a:pPr>
              <a:spcAft>
                <a:spcPts val="600"/>
              </a:spcAft>
            </a:pPr>
            <a:r>
              <a:rPr sz="1150" b="1">
                <a:solidFill>
                  <a:srgbClr val="0C2B4A"/>
                </a:solidFill>
              </a:rPr>
              <a:t>Hashing (MD5/SHA-256) — </a:t>
            </a:r>
            <a:r>
              <a:rPr sz="1150">
                <a:solidFill>
                  <a:srgbClr val="1A1A1A"/>
                </a:solidFill>
              </a:rPr>
              <a:t>a digital fingerprint proving data is unchanged.</a:t>
            </a:r>
          </a:p>
          <a:p>
            <a:pPr>
              <a:spcAft>
                <a:spcPts val="600"/>
              </a:spcAft>
            </a:pPr>
            <a:r>
              <a:rPr sz="1150" b="1">
                <a:solidFill>
                  <a:srgbClr val="0C2B4A"/>
                </a:solidFill>
              </a:rPr>
              <a:t>Disk image — </a:t>
            </a:r>
            <a:r>
              <a:rPr sz="1150">
                <a:solidFill>
                  <a:srgbClr val="1A1A1A"/>
                </a:solidFill>
              </a:rPr>
              <a:t>a bit-for-bit copy of a drive, incl. slack &amp; unallocated space.</a:t>
            </a:r>
          </a:p>
          <a:p>
            <a:pPr>
              <a:spcAft>
                <a:spcPts val="600"/>
              </a:spcAft>
            </a:pPr>
            <a:r>
              <a:rPr sz="1150" b="1">
                <a:solidFill>
                  <a:srgbClr val="0C2B4A"/>
                </a:solidFill>
              </a:rPr>
              <a:t>Slack / unallocated space — </a:t>
            </a:r>
            <a:r>
              <a:rPr sz="1150">
                <a:solidFill>
                  <a:srgbClr val="1A1A1A"/>
                </a:solidFill>
              </a:rPr>
              <a:t>areas where 'deleted' data survives until overwritten.</a:t>
            </a:r>
          </a:p>
          <a:p>
            <a:pPr>
              <a:spcAft>
                <a:spcPts val="600"/>
              </a:spcAft>
            </a:pPr>
            <a:r>
              <a:rPr sz="1150" b="1">
                <a:solidFill>
                  <a:srgbClr val="0C2B4A"/>
                </a:solidFill>
              </a:rPr>
              <a:t>File carving — </a:t>
            </a:r>
            <a:r>
              <a:rPr sz="1150">
                <a:solidFill>
                  <a:srgbClr val="1A1A1A"/>
                </a:solidFill>
              </a:rPr>
              <a:t>rebuilding files from raw data via header/footer signatures, no index.</a:t>
            </a:r>
          </a:p>
          <a:p>
            <a:pPr>
              <a:spcAft>
                <a:spcPts val="600"/>
              </a:spcAft>
            </a:pPr>
            <a:r>
              <a:rPr sz="1150" b="1">
                <a:solidFill>
                  <a:srgbClr val="0C2B4A"/>
                </a:solidFill>
              </a:rPr>
              <a:t>Mobile forensics — </a:t>
            </a:r>
            <a:r>
              <a:rPr sz="1150">
                <a:solidFill>
                  <a:srgbClr val="1A1A1A"/>
                </a:solidFill>
              </a:rPr>
              <a:t>extracting/analysing evidence from phones, tablets, SIMs and apps.</a:t>
            </a:r>
          </a:p>
          <a:p>
            <a:pPr>
              <a:spcAft>
                <a:spcPts val="600"/>
              </a:spcAft>
            </a:pPr>
            <a:r>
              <a:rPr sz="1150" b="1">
                <a:solidFill>
                  <a:srgbClr val="0C2B4A"/>
                </a:solidFill>
              </a:rPr>
              <a:t>Extraction levels — </a:t>
            </a:r>
            <a:r>
              <a:rPr sz="1150">
                <a:solidFill>
                  <a:srgbClr val="1A1A1A"/>
                </a:solidFill>
              </a:rPr>
              <a:t>manual → logical → file-system → physical (more data = harder).</a:t>
            </a:r>
          </a:p>
          <a:p>
            <a:pPr>
              <a:spcAft>
                <a:spcPts val="600"/>
              </a:spcAft>
            </a:pPr>
            <a:r>
              <a:rPr sz="1150" b="1">
                <a:solidFill>
                  <a:srgbClr val="0C2B4A"/>
                </a:solidFill>
              </a:rPr>
              <a:t>Admissibility — </a:t>
            </a:r>
            <a:r>
              <a:rPr sz="1150">
                <a:solidFill>
                  <a:srgbClr val="1A1A1A"/>
                </a:solidFill>
              </a:rPr>
              <a:t>conditions for a court to accept evidence: relevant, authentic, intact, lawful.</a:t>
            </a:r>
          </a:p>
          <a:p>
            <a:pPr>
              <a:spcAft>
                <a:spcPts val="600"/>
              </a:spcAft>
            </a:pPr>
            <a:r>
              <a:rPr sz="1150" b="1">
                <a:solidFill>
                  <a:srgbClr val="0C2B4A"/>
                </a:solidFill>
              </a:rPr>
              <a:t>ETA 2063 (2008) — </a:t>
            </a:r>
            <a:r>
              <a:rPr sz="1150">
                <a:solidFill>
                  <a:srgbClr val="1A1A1A"/>
                </a:solidFill>
              </a:rPr>
              <a:t>Nepal's Electronic Transaction Act — recognises e-records; defines cyber offences.</a:t>
            </a:r>
          </a:p>
          <a:p>
            <a:pPr>
              <a:spcAft>
                <a:spcPts val="600"/>
              </a:spcAft>
            </a:pPr>
            <a:r>
              <a:rPr sz="1150" b="1">
                <a:solidFill>
                  <a:srgbClr val="0C2B4A"/>
                </a:solidFill>
              </a:rPr>
              <a:t>Cyber Bureau — </a:t>
            </a:r>
            <a:r>
              <a:rPr sz="1150">
                <a:solidFill>
                  <a:srgbClr val="1A1A1A"/>
                </a:solidFill>
              </a:rPr>
              <a:t>Nepal Police central cybercrime body (est. 2018, Bhotahity).</a:t>
            </a:r>
          </a:p>
          <a:p>
            <a:pPr>
              <a:spcAft>
                <a:spcPts val="600"/>
              </a:spcAft>
            </a:pPr>
            <a:r>
              <a:rPr sz="1150" b="1">
                <a:solidFill>
                  <a:srgbClr val="0C2B4A"/>
                </a:solidFill>
              </a:rPr>
              <a:t>Live acquisition — </a:t>
            </a:r>
            <a:r>
              <a:rPr sz="1150">
                <a:solidFill>
                  <a:srgbClr val="1A1A1A"/>
                </a:solidFill>
              </a:rPr>
              <a:t>capturing volatile data (RAM/keys) while a device is running/unlocked.</a:t>
            </a:r>
          </a:p>
        </p:txBody>
      </p:sp>
      <p:sp>
        <p:nvSpPr>
          <p:cNvPr id="7" name="TextBox 6"/>
          <p:cNvSpPr txBox="1"/>
          <p:nvPr/>
        </p:nvSpPr>
        <p:spPr>
          <a:xfrm>
            <a:off x="11292840" y="274320"/>
            <a:ext cx="822960" cy="320040"/>
          </a:xfrm>
          <a:prstGeom prst="rect">
            <a:avLst/>
          </a:prstGeom>
          <a:noFill/>
        </p:spPr>
        <p:txBody>
          <a:bodyPr wrap="none">
            <a:spAutoFit/>
          </a:bodyPr>
          <a:lstStyle/>
          <a:p>
            <a:pPr algn="r"/>
            <a:r>
              <a:rPr sz="1000">
                <a:solidFill>
                  <a:srgbClr val="55606B"/>
                </a:solidFill>
              </a:rPr>
              <a:t>96 / 100</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bg>
      <p:bgPr>
        <a:solidFill>
          <a:srgbClr val="185FA5"/>
        </a:solidFill>
        <a:effectLst/>
      </p:bgPr>
    </p:bg>
    <p:spTree>
      <p:nvGrpSpPr>
        <p:cNvPr id="1" name=""/>
        <p:cNvGrpSpPr/>
        <p:nvPr/>
      </p:nvGrpSpPr>
      <p:grpSpPr/>
      <p:sp>
        <p:nvSpPr>
          <p:cNvPr id="2" name="TextBox 1"/>
          <p:cNvSpPr txBox="1"/>
          <p:nvPr/>
        </p:nvSpPr>
        <p:spPr>
          <a:xfrm>
            <a:off x="822960" y="1737360"/>
            <a:ext cx="10515600" cy="548640"/>
          </a:xfrm>
          <a:prstGeom prst="rect">
            <a:avLst/>
          </a:prstGeom>
          <a:noFill/>
        </p:spPr>
        <p:txBody>
          <a:bodyPr wrap="none">
            <a:spAutoFit/>
          </a:bodyPr>
          <a:lstStyle/>
          <a:p>
            <a:r>
              <a:rPr sz="1500" b="1">
                <a:solidFill>
                  <a:srgbClr val="BFDCF2"/>
                </a:solidFill>
              </a:rPr>
              <a:t>UNIT 8 · REVISION</a:t>
            </a:r>
          </a:p>
        </p:txBody>
      </p:sp>
      <p:sp>
        <p:nvSpPr>
          <p:cNvPr id="3" name="TextBox 2"/>
          <p:cNvSpPr txBox="1"/>
          <p:nvPr/>
        </p:nvSpPr>
        <p:spPr>
          <a:xfrm>
            <a:off x="822960" y="2286000"/>
            <a:ext cx="10515600" cy="1280160"/>
          </a:xfrm>
          <a:prstGeom prst="rect">
            <a:avLst/>
          </a:prstGeom>
          <a:noFill/>
        </p:spPr>
        <p:txBody>
          <a:bodyPr wrap="square">
            <a:spAutoFit/>
          </a:bodyPr>
          <a:lstStyle/>
          <a:p>
            <a:r>
              <a:rPr sz="3000" b="1">
                <a:solidFill>
                  <a:srgbClr val="FFFFFF"/>
                </a:solidFill>
              </a:rPr>
              <a:t>Consolidated end-of-unit quiz</a:t>
            </a:r>
          </a:p>
        </p:txBody>
      </p:sp>
      <p:sp>
        <p:nvSpPr>
          <p:cNvPr id="4" name="Rectangle 3"/>
          <p:cNvSpPr/>
          <p:nvPr/>
        </p:nvSpPr>
        <p:spPr>
          <a:xfrm>
            <a:off x="822960" y="3703320"/>
            <a:ext cx="1280160" cy="82296"/>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3886200"/>
            <a:ext cx="10515600" cy="2194560"/>
          </a:xfrm>
          <a:prstGeom prst="rect">
            <a:avLst/>
          </a:prstGeom>
          <a:noFill/>
        </p:spPr>
        <p:txBody>
          <a:bodyPr wrap="square">
            <a:spAutoFit/>
          </a:bodyPr>
          <a:lstStyle/>
          <a:p>
            <a:r>
              <a:rPr sz="1800" i="1">
                <a:solidFill>
                  <a:srgbClr val="E8F1F9"/>
                </a:solidFill>
              </a:rPr>
              <a:t>🎣  Ten MCQs across the whole unit (answers shown), then short-answer, applied-case, and discussion questions to work from the concept slides and Unit8_material.md.</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97 / 100</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 A — Multiple choice (answers shown)</a:t>
            </a:r>
          </a:p>
        </p:txBody>
      </p:sp>
      <p:sp>
        <p:nvSpPr>
          <p:cNvPr id="5" name="TextBox 4"/>
          <p:cNvSpPr txBox="1"/>
          <p:nvPr/>
        </p:nvSpPr>
        <p:spPr>
          <a:xfrm>
            <a:off x="640080" y="1600200"/>
            <a:ext cx="10881360" cy="4846320"/>
          </a:xfrm>
          <a:prstGeom prst="rect">
            <a:avLst/>
          </a:prstGeom>
          <a:noFill/>
        </p:spPr>
        <p:txBody>
          <a:bodyPr wrap="square">
            <a:spAutoFit/>
          </a:bodyPr>
          <a:lstStyle/>
          <a:p>
            <a:pPr lvl="1"/>
            <a:r>
              <a:rPr sz="1250" b="1">
                <a:solidFill>
                  <a:srgbClr val="0F6E56"/>
                </a:solidFill>
              </a:rPr>
              <a:t>1.  The defining goal of digital forensics is   →  ✅ producing legally admissible evidence</a:t>
            </a:r>
          </a:p>
          <a:p>
            <a:pPr lvl="1"/>
            <a:r>
              <a:rPr sz="1250" b="1">
                <a:solidFill>
                  <a:srgbClr val="0F6E56"/>
                </a:solidFill>
              </a:rPr>
              <a:t>2.  Computer→digital forensics grew because   →  ✅ evidence now lives on phones, cloud &amp; networks</a:t>
            </a:r>
          </a:p>
          <a:p>
            <a:pPr lvl="1"/>
            <a:r>
              <a:rPr sz="1250" b="1">
                <a:solidFill>
                  <a:srgbClr val="0F6E56"/>
                </a:solidFill>
              </a:rPr>
              <a:t>3.  The correct order of the process is   →  ✅ identify→preserve→collect→examine→analyse→report</a:t>
            </a:r>
          </a:p>
          <a:p>
            <a:pPr lvl="1"/>
            <a:r>
              <a:rPr sz="1250" b="1">
                <a:solidFill>
                  <a:srgbClr val="0F6E56"/>
                </a:solidFill>
              </a:rPr>
              <a:t>4.  A property NOT required of good evidence is   →  ✅ that it be encrypted</a:t>
            </a:r>
          </a:p>
          <a:p>
            <a:pPr lvl="1"/>
            <a:r>
              <a:rPr sz="1250" b="1">
                <a:solidFill>
                  <a:srgbClr val="0F6E56"/>
                </a:solidFill>
              </a:rPr>
              <a:t>5.  The purpose of a write blocker is   →  ✅ read a drive while preventing any change to it</a:t>
            </a:r>
          </a:p>
          <a:p>
            <a:pPr lvl="1"/>
            <a:r>
              <a:rPr sz="1250" b="1">
                <a:solidFill>
                  <a:srgbClr val="0F6E56"/>
                </a:solidFill>
              </a:rPr>
              <a:t>6.  Matching hashes of original &amp; copy prove   →  ✅ the copy is an exact, unaltered duplicate</a:t>
            </a:r>
          </a:p>
          <a:p>
            <a:pPr lvl="1"/>
            <a:r>
              <a:rPr sz="1250" b="1">
                <a:solidFill>
                  <a:srgbClr val="0F6E56"/>
                </a:solidFill>
              </a:rPr>
              <a:t>7.  When a file is 'deleted', usually   →  ✅ the pointer is removed but data remains until overwritten</a:t>
            </a:r>
          </a:p>
          <a:p>
            <a:pPr lvl="1"/>
            <a:r>
              <a:rPr sz="1250" b="1">
                <a:solidFill>
                  <a:srgbClr val="0F6E56"/>
                </a:solidFill>
              </a:rPr>
              <a:t>8.  File carving recovers files by   →  ✅ recognising file signatures in raw data, without the index</a:t>
            </a:r>
          </a:p>
          <a:p>
            <a:pPr lvl="1"/>
            <a:r>
              <a:rPr sz="1250" b="1">
                <a:solidFill>
                  <a:srgbClr val="0F6E56"/>
                </a:solidFill>
              </a:rPr>
              <a:t>9.  The extraction type yielding the most data is   →  ✅ physical (full image)</a:t>
            </a:r>
          </a:p>
          <a:p>
            <a:pPr lvl="1"/>
            <a:r>
              <a:rPr sz="1250" b="1">
                <a:solidFill>
                  <a:srgbClr val="0F6E56"/>
                </a:solidFill>
              </a:rPr>
              <a:t>10.  In Nepal, e-records are recognised as evidence under the   →  ✅ Electronic Transaction Act (ETA) 2063</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98 / 100</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bg>
      <p:bgPr>
        <a:solidFill>
          <a:srgbClr val="F2F5F8"/>
        </a:solidFill>
        <a:effectLst/>
      </p:bgPr>
    </p:bg>
    <p:spTree>
      <p:nvGrpSpPr>
        <p:cNvPr id="1" name=""/>
        <p:cNvGrpSpPr/>
        <p:nvPr/>
      </p:nvGrpSpPr>
      <p:grpSpPr/>
      <p:sp>
        <p:nvSpPr>
          <p:cNvPr id="2" name="Rectangle 1"/>
          <p:cNvSpPr/>
          <p:nvPr/>
        </p:nvSpPr>
        <p:spPr>
          <a:xfrm>
            <a:off x="0" y="0"/>
            <a:ext cx="12191695" cy="164592"/>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274320"/>
            <a:ext cx="10972800" cy="384048"/>
          </a:xfrm>
          <a:prstGeom prst="rect">
            <a:avLst/>
          </a:prstGeom>
          <a:noFill/>
        </p:spPr>
        <p:txBody>
          <a:bodyPr wrap="none">
            <a:spAutoFit/>
          </a:bodyPr>
          <a:lstStyle/>
          <a:p>
            <a:r>
              <a:rPr sz="1200" b="1">
                <a:solidFill>
                  <a:srgbClr val="854F0B"/>
                </a:solidFill>
              </a:rPr>
              <a:t>CHECK FOR UNDERSTANDING</a:t>
            </a:r>
          </a:p>
        </p:txBody>
      </p:sp>
      <p:sp>
        <p:nvSpPr>
          <p:cNvPr id="4" name="TextBox 3"/>
          <p:cNvSpPr txBox="1"/>
          <p:nvPr/>
        </p:nvSpPr>
        <p:spPr>
          <a:xfrm>
            <a:off x="640080" y="603504"/>
            <a:ext cx="10972800" cy="822960"/>
          </a:xfrm>
          <a:prstGeom prst="rect">
            <a:avLst/>
          </a:prstGeom>
          <a:noFill/>
        </p:spPr>
        <p:txBody>
          <a:bodyPr wrap="none">
            <a:spAutoFit/>
          </a:bodyPr>
          <a:lstStyle/>
          <a:p>
            <a:r>
              <a:rPr sz="2500" b="1">
                <a:solidFill>
                  <a:srgbClr val="0C2B4A"/>
                </a:solidFill>
              </a:rPr>
              <a:t>Sections B–D — short answer, applied case &amp; discussion</a:t>
            </a:r>
          </a:p>
        </p:txBody>
      </p:sp>
      <p:sp>
        <p:nvSpPr>
          <p:cNvPr id="5" name="TextBox 4"/>
          <p:cNvSpPr txBox="1"/>
          <p:nvPr/>
        </p:nvSpPr>
        <p:spPr>
          <a:xfrm>
            <a:off x="640080" y="1600200"/>
            <a:ext cx="10881360" cy="4846320"/>
          </a:xfrm>
          <a:prstGeom prst="rect">
            <a:avLst/>
          </a:prstGeom>
          <a:noFill/>
        </p:spPr>
        <p:txBody>
          <a:bodyPr wrap="square">
            <a:spAutoFit/>
          </a:bodyPr>
          <a:lstStyle/>
          <a:p>
            <a:pPr>
              <a:spcBef>
                <a:spcPts val="500"/>
              </a:spcBef>
            </a:pPr>
            <a:r>
              <a:rPr sz="1400" b="1">
                <a:solidFill>
                  <a:srgbClr val="0C2B4A"/>
                </a:solidFill>
              </a:rPr>
              <a:t>Section B — Short answer</a:t>
            </a:r>
          </a:p>
          <a:p>
            <a:pPr lvl="1">
              <a:spcBef>
                <a:spcPts val="200"/>
              </a:spcBef>
            </a:pPr>
            <a:r>
              <a:rPr sz="1250" i="1">
                <a:solidFill>
                  <a:srgbClr val="1A1A1A"/>
                </a:solidFill>
              </a:rPr>
              <a:t>11. Define chain of custody and why it matters.   12. List &amp; explain the six forensic stages.   13. Why is a bare screenshot weak evidence?</a:t>
            </a:r>
          </a:p>
          <a:p>
            <a:pPr lvl="1">
              <a:spcBef>
                <a:spcPts val="200"/>
              </a:spcBef>
            </a:pPr>
            <a:r>
              <a:rPr sz="1250" i="1">
                <a:solidFill>
                  <a:srgbClr val="1A1A1A"/>
                </a:solidFill>
              </a:rPr>
              <a:t>14. Explain how hashing proves integrity.   15. Name Nepal's central cyber-forensics body and two challenges it faces.</a:t>
            </a:r>
          </a:p>
          <a:p>
            <a:pPr>
              <a:spcBef>
                <a:spcPts val="500"/>
              </a:spcBef>
            </a:pPr>
            <a:r>
              <a:rPr sz="1400" b="1">
                <a:solidFill>
                  <a:srgbClr val="0C2B4A"/>
                </a:solidFill>
              </a:rPr>
              <a:t>Section C — Applied case</a:t>
            </a:r>
          </a:p>
          <a:p>
            <a:pPr lvl="1">
              <a:spcBef>
                <a:spcPts val="200"/>
              </a:spcBef>
            </a:pPr>
            <a:r>
              <a:rPr sz="1250" i="1">
                <a:solidFill>
                  <a:srgbClr val="1A1A1A"/>
                </a:solidFill>
              </a:rPr>
              <a:t>16. Given a Nepal phone-seizure scenario, list the correct steps to preserve integrity and chain of custody.</a:t>
            </a:r>
          </a:p>
          <a:p>
            <a:pPr lvl="1">
              <a:spcBef>
                <a:spcPts val="200"/>
              </a:spcBef>
            </a:pPr>
            <a:r>
              <a:rPr sz="1250" i="1">
                <a:solidFill>
                  <a:srgbClr val="1A1A1A"/>
                </a:solidFill>
              </a:rPr>
              <a:t>17. Explain why a piece of genuine but mishandled evidence would be ruled inadmissible.</a:t>
            </a:r>
          </a:p>
          <a:p>
            <a:pPr>
              <a:spcBef>
                <a:spcPts val="500"/>
              </a:spcBef>
            </a:pPr>
            <a:r>
              <a:rPr sz="1400" b="1">
                <a:solidFill>
                  <a:srgbClr val="0C2B4A"/>
                </a:solidFill>
              </a:rPr>
              <a:t>Section D — Discussion</a:t>
            </a:r>
          </a:p>
          <a:p>
            <a:pPr lvl="1">
              <a:spcBef>
                <a:spcPts val="200"/>
              </a:spcBef>
            </a:pPr>
            <a:r>
              <a:rPr sz="1250" i="1">
                <a:solidFill>
                  <a:srgbClr val="1A1A1A"/>
                </a:solidFill>
              </a:rPr>
              <a:t>18. Should Nepal invest in a dedicated digital-forensics law and lab capacity beyond the current ETA and Cyber Bureau? Argue both sides.</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55606B"/>
                </a:solidFill>
              </a:rPr>
              <a:t>99 / 100</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bg>
      <p:bgPr>
        <a:solidFill>
          <a:srgbClr val="0C2B4A"/>
        </a:solidFill>
        <a:effectLst/>
      </p:bgPr>
    </p:bg>
    <p:spTree>
      <p:nvGrpSpPr>
        <p:cNvPr id="1" name=""/>
        <p:cNvGrpSpPr/>
        <p:nvPr/>
      </p:nvGrpSpPr>
      <p:grpSpPr/>
      <p:sp>
        <p:nvSpPr>
          <p:cNvPr id="2" name="Rectangle 1"/>
          <p:cNvSpPr/>
          <p:nvPr/>
        </p:nvSpPr>
        <p:spPr>
          <a:xfrm>
            <a:off x="822960" y="2788920"/>
            <a:ext cx="1463040" cy="91440"/>
          </a:xfrm>
          <a:prstGeom prst="rect">
            <a:avLst/>
          </a:prstGeom>
          <a:solidFill>
            <a:srgbClr val="854F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1828800"/>
            <a:ext cx="10515600" cy="1005840"/>
          </a:xfrm>
          <a:prstGeom prst="rect">
            <a:avLst/>
          </a:prstGeom>
          <a:noFill/>
        </p:spPr>
        <p:txBody>
          <a:bodyPr wrap="square">
            <a:spAutoFit/>
          </a:bodyPr>
          <a:lstStyle/>
          <a:p>
            <a:r>
              <a:rPr sz="3300" b="1">
                <a:solidFill>
                  <a:srgbClr val="FFFFFF"/>
                </a:solidFill>
              </a:rPr>
              <a:t>End of Unit 8  ·  IT 246</a:t>
            </a:r>
          </a:p>
        </p:txBody>
      </p:sp>
      <p:sp>
        <p:nvSpPr>
          <p:cNvPr id="4" name="TextBox 3"/>
          <p:cNvSpPr txBox="1"/>
          <p:nvPr/>
        </p:nvSpPr>
        <p:spPr>
          <a:xfrm>
            <a:off x="822960" y="3017520"/>
            <a:ext cx="10515600" cy="1097280"/>
          </a:xfrm>
          <a:prstGeom prst="rect">
            <a:avLst/>
          </a:prstGeom>
          <a:noFill/>
        </p:spPr>
        <p:txBody>
          <a:bodyPr wrap="square">
            <a:spAutoFit/>
          </a:bodyPr>
          <a:lstStyle/>
          <a:p>
            <a:r>
              <a:rPr sz="1800">
                <a:solidFill>
                  <a:srgbClr val="CFDDEA"/>
                </a:solidFill>
              </a:rPr>
              <a:t>S38–S44 complete: intro &amp; principles · the six stages · digital evidence &amp; the lab · collecting/seizing/protecting · recovering data · mobile forensics · legal aspects &amp; Nepal</a:t>
            </a:r>
          </a:p>
        </p:txBody>
      </p:sp>
      <p:sp>
        <p:nvSpPr>
          <p:cNvPr id="5" name="TextBox 4"/>
          <p:cNvSpPr txBox="1"/>
          <p:nvPr/>
        </p:nvSpPr>
        <p:spPr>
          <a:xfrm>
            <a:off x="822960" y="5852160"/>
            <a:ext cx="10515600" cy="731520"/>
          </a:xfrm>
          <a:prstGeom prst="rect">
            <a:avLst/>
          </a:prstGeom>
          <a:noFill/>
        </p:spPr>
        <p:txBody>
          <a:bodyPr wrap="square">
            <a:spAutoFit/>
          </a:bodyPr>
          <a:lstStyle/>
          <a:p>
            <a:r>
              <a:rPr sz="1300">
                <a:solidFill>
                  <a:srgbClr val="9AB2C6"/>
                </a:solidFill>
              </a:rPr>
              <a:t>Built to COURSE_MATERIAL_STANDARD.md incl. the §7A depth rule · comparison &amp; concrete-example tables throughout · self-contained, PDF-safe · chain of custody &amp; integrity emphasised · Next: Unit 9 — Cyber Law in Nepal (ETA 2063).</a:t>
            </a:r>
          </a:p>
        </p:txBody>
      </p:sp>
      <p:sp>
        <p:nvSpPr>
          <p:cNvPr id="6" name="TextBox 5"/>
          <p:cNvSpPr txBox="1"/>
          <p:nvPr/>
        </p:nvSpPr>
        <p:spPr>
          <a:xfrm>
            <a:off x="11292840" y="274320"/>
            <a:ext cx="822960" cy="320040"/>
          </a:xfrm>
          <a:prstGeom prst="rect">
            <a:avLst/>
          </a:prstGeom>
          <a:noFill/>
        </p:spPr>
        <p:txBody>
          <a:bodyPr wrap="none">
            <a:spAutoFit/>
          </a:bodyPr>
          <a:lstStyle/>
          <a:p>
            <a:pPr algn="r"/>
            <a:r>
              <a:rPr sz="1000">
                <a:solidFill>
                  <a:srgbClr val="E8F0F7"/>
                </a:solidFill>
              </a:rPr>
              <a:t>100 / 100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