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ownership exists the instant of creation, invisibly. Agenda: what is IP → the four families → copyright (what it protects) → duration &amp; fair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Keep the four-families image up as the unit's map. Stress that IP is real property with owners, even though it's intangible.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Registration is optional but powerful evidence in a dispute. The idea/expression split is the single most-tested copyright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Bhotahity/photocopy-shop dilemma makes fair use concrete. Hammer the attribution≠permission point — it's the most common student misconception.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affordability vs the author's market — fair use weighs amount + market effect, so a whole book fails even if the motive is sympathetic.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a patent is a deliberate trade: monopoly now, public knowledge later. Agenda: what's patentable → the software-patent debate → the patent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Contrast with S11: copyright would protect the code of a wallet app; a patent would protect the method — a much stronger, rarer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Amazon '1-Click' and the Apple-vs-Samsung smartphone patent wars show how far software/design patents can reach. Keep the Nepal-startup angle central.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land-claim analogy: you must publicly mark your boundaries (claims), and after the lease (20 yrs) the land becomes public.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Push the trade-off: patents could reward local R&amp;D but could also let trolls and big firms block small startups from common techniques.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these could be patented but deliberately aren't — because a patent expires and discloses, while a secret can last forever. Agenda: what a trade secret is → how it's protected → trade secret vs patent.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contrast that matters: patent = public + time-limited; trade secret = private + unlimited but fragile.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NDAs in Nepali IT outsourcing/BPO firms are the everyday face of this. The developer-leaving-for-a-rival worry is the classic tension.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Run the Wai Wai example: keep the recipe secret (hard to reverse-engineer, forever value) rather than patent it (which would disclose it and expire).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The strong answer: keep it secret — hard to reverse-engineer, unlimited duration; patenting would disclose it and expire in ~20 years.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Separate three things students blur: plagiarism (ethical), copyright infringement (legal), and legitimate study. Agenda: plagiarism → reverse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TU's plagiarism rules are real and enforced. AI-written essays submitted as original are today's fastest-growing form.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Security careers depend on ethical reverse engineering (studying malware). Intent and use define the 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the line at authorship + disclosure: AI as a drafting aid you understand and disclose differs from submitting AI output as your own original work.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Bust the myth that open source means 'no rules'. Agenda: open source (copyright + a licence) → competitive intelligence vs espionage.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Companies have been sued for shipping GPL code in closed products. The 'free = no rules' myth is the key correction.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Analysing a rival's public annual report is CI; hacking their servers is espionage. The salesperson-posing-as-a-customer case is the sharp edge.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Surface nuance: public data leans CI, but terms-of-service, scale, and any deception (fake accounts) can push it over the line.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brand identity is valuable property worth protecting. Agenda: trademarks &amp; infringement → cybersquatting → the master 4-way IP comparison that ties the whole unit together.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Counterfeit Goldstar shoes and Wai Wai packets are trademark infringement — the confusion (buyers think it's genuine) is the harm.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Tie forward to Unit 7 phishing: a lookalike e-sewa.com.np domain is both cybersquatting and a phishing vector.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the master differentiator. Walk each row of the comparison table on the next slide as the unit's capstone.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bad faith vs legitimate investing — grabbing a KNOWN brand's name to ransom it is the line, and .np disputes go through the local registry.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Unit3_material.md. Q19: (a) fair use, (b) infringement, (c) plagiarism (+infringement), (d) none.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3 — Intellectual Property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S11–S16</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89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INTELLECTUAL PROPERTY  ·  S11–S16</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3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IP and distinguish copyright, patent, trade secret, and trademark (S11–S16)</a:t>
            </a:r>
          </a:p>
          <a:p>
            <a:pPr>
              <a:spcAft>
                <a:spcPts val="500"/>
              </a:spcAft>
            </a:pPr>
            <a:r>
              <a:rPr sz="1450">
                <a:solidFill>
                  <a:srgbClr val="1A1A1A"/>
                </a:solidFill>
              </a:rPr>
              <a:t>•  Explain what copyright protects, its duration, and the limits of fair use (S11)</a:t>
            </a:r>
          </a:p>
          <a:p>
            <a:pPr>
              <a:spcAft>
                <a:spcPts val="500"/>
              </a:spcAft>
            </a:pPr>
            <a:r>
              <a:rPr sz="1450">
                <a:solidFill>
                  <a:srgbClr val="1A1A1A"/>
                </a:solidFill>
              </a:rPr>
              <a:t>•  Describe what is patentable, the software-patent debate, and the patent process (S12)</a:t>
            </a:r>
          </a:p>
          <a:p>
            <a:pPr>
              <a:spcAft>
                <a:spcPts val="500"/>
              </a:spcAft>
            </a:pPr>
            <a:r>
              <a:rPr sz="1450">
                <a:solidFill>
                  <a:srgbClr val="1A1A1A"/>
                </a:solidFill>
              </a:rPr>
              <a:t>•  Explain trade secrets, how they're protected, and how they differ from patents (S13)</a:t>
            </a:r>
          </a:p>
          <a:p>
            <a:pPr>
              <a:spcAft>
                <a:spcPts val="500"/>
              </a:spcAft>
            </a:pPr>
            <a:r>
              <a:rPr sz="1450">
                <a:solidFill>
                  <a:srgbClr val="1A1A1A"/>
                </a:solidFill>
              </a:rPr>
              <a:t>•  Judge the ethical line in plagiarism, reverse engineering, open source, competitive intelligence, trademarks &amp; cybersquatting (S14–S16)</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3 of IT 246. It builds on Unit 2's software-piracy and 'who owns the code' questions, and feeds Unit 9's cyber-law treatment. Nepal IP is administered by the Department of Industry and the Copyright Registrar's Office.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89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(S11–S16)</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S11  IP overview + Copyright (expression, fair use)
S12  Patent (patentability, software patents, process)
S13  Trade secrets (protection, vs patent)
S14  IP issues: plagiarism · reverse engineering
S15  IP issues: open source · competitive intelligence
S16  IP issues: trademark · cybersquatting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4   Ethics in software development &amp; IT orgs
Units 5–8   Cybersecurity &amp; digital forensics
Unit 9   Cyber law in Nepal (ETA, IP enforcement)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89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11 · LECTURE HOUR 1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Intellectual Property Overview · Copyright</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record a song on your phone, write code for a class app, and design a logo for your dai's momo shop. The moment you create them — who OWNS them, and what stops a stranger from selling them as their own? IP is property you can't touch.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89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Intellectual Property — property you can't touch</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Intellectual property (IP) = legal rights over creations of the mind — works, inventions, names, and secrets. There are four main families: copyright, patent, trade secret, and trademark. IP protects expression and invention, NOT abstract ideas, and balances rewarding creators against public access.</a:t>
            </a:r>
          </a:p>
          <a:p>
            <a:pPr>
              <a:spcAft>
                <a:spcPts val="500"/>
              </a:spcAft>
            </a:pPr>
            <a:r>
              <a:rPr sz="1200" b="1">
                <a:solidFill>
                  <a:srgbClr val="185FA5"/>
                </a:solidFill>
              </a:rPr>
              <a:t>HOW IT WORKS</a:t>
            </a:r>
          </a:p>
          <a:p>
            <a:pPr>
              <a:spcAft>
                <a:spcPts val="600"/>
              </a:spcAft>
            </a:pPr>
            <a:r>
              <a:rPr sz="1400">
                <a:solidFill>
                  <a:srgbClr val="1A1A1A"/>
                </a:solidFill>
              </a:rPr>
              <a:t>•  Copyright protects expression; patent protects inventions; trade secret protects secret info; trademark protects brand identity.</a:t>
            </a:r>
          </a:p>
          <a:p>
            <a:pPr>
              <a:spcAft>
                <a:spcPts val="600"/>
              </a:spcAft>
            </a:pPr>
            <a:r>
              <a:rPr sz="1400">
                <a:solidFill>
                  <a:srgbClr val="1A1A1A"/>
                </a:solidFill>
              </a:rPr>
              <a:t>•  The bargain: creators get temporary control, society eventually gets access — innovation needs both.</a:t>
            </a:r>
          </a:p>
          <a:p>
            <a:pPr>
              <a:spcAft>
                <a:spcPts val="600"/>
              </a:spcAft>
            </a:pPr>
            <a:r>
              <a:rPr sz="1400">
                <a:solidFill>
                  <a:srgbClr val="1A1A1A"/>
                </a:solidFill>
              </a:rPr>
              <a:t>•  In Nepal, IP is administered by the Department of Industry (DoI) and, for copyright, the Copyright Registrar's Office.</a:t>
            </a:r>
          </a:p>
          <a:p>
            <a:pPr>
              <a:spcAft>
                <a:spcPts val="600"/>
              </a:spcAft>
            </a:pPr>
            <a:r>
              <a:rPr sz="1400">
                <a:solidFill>
                  <a:srgbClr val="1A1A1A"/>
                </a:solidFill>
              </a:rPr>
              <a:t>•  Nepal is a WTO / TRIPS member, so its IP law aligns with international minimums.</a:t>
            </a:r>
          </a:p>
        </p:txBody>
      </p:sp>
      <p:pic>
        <p:nvPicPr>
          <p:cNvPr id="6" name="Picture 5" descr="s11_families.png"/>
          <p:cNvPicPr>
            <a:picLocks noChangeAspect="1"/>
          </p:cNvPicPr>
          <p:nvPr/>
        </p:nvPicPr>
        <p:blipFill>
          <a:blip r:embed="rId2"/>
          <a:stretch>
            <a:fillRect/>
          </a:stretch>
        </p:blipFill>
        <p:spPr>
          <a:xfrm>
            <a:off x="6355080" y="2457780"/>
            <a:ext cx="5532120" cy="271967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families: copyright · patent · trade secret · trademark.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89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IP families at a glance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14788"/>
                <a:gridCol w="4185633"/>
                <a:gridCol w="4829577"/>
              </a:tblGrid>
              <a:tr h="883310">
                <a:tc>
                  <a:txBody>
                    <a:bodyPr wrap="square"/>
                    <a:lstStyle/>
                    <a:p>
                      <a:r>
                        <a:rPr sz="1250" b="1">
                          <a:solidFill>
                            <a:srgbClr val="FFFFFF"/>
                          </a:solidFill>
                        </a:rPr>
                        <a:t>Family</a:t>
                      </a:r>
                    </a:p>
                  </a:txBody>
                  <a:tcPr anchor="ctr" marL="73152" marR="54864" marT="27432" marB="27432">
                    <a:solidFill>
                      <a:srgbClr val="0C2B4A"/>
                    </a:solidFill>
                  </a:tcPr>
                </a:tc>
                <a:tc>
                  <a:txBody>
                    <a:bodyPr wrap="square"/>
                    <a:lstStyle/>
                    <a:p>
                      <a:r>
                        <a:rPr sz="1250" b="1">
                          <a:solidFill>
                            <a:srgbClr val="FFFFFF"/>
                          </a:solidFill>
                        </a:rPr>
                        <a:t>Protects</a:t>
                      </a:r>
                    </a:p>
                  </a:txBody>
                  <a:tcPr anchor="ctr" marL="73152" marR="54864" marT="27432" marB="27432">
                    <a:solidFill>
                      <a:srgbClr val="0C2B4A"/>
                    </a:solidFill>
                  </a:tcPr>
                </a:tc>
                <a:tc>
                  <a:txBody>
                    <a:bodyPr wrap="square"/>
                    <a:lstStyle/>
                    <a:p>
                      <a:r>
                        <a:rPr sz="1250" b="1">
                          <a:solidFill>
                            <a:srgbClr val="FFFFFF"/>
                          </a:solidFill>
                        </a:rPr>
                        <a:t>Everyday example</a:t>
                      </a:r>
                    </a:p>
                  </a:txBody>
                  <a:tcPr anchor="ctr" marL="73152" marR="54864" marT="27432" marB="27432">
                    <a:solidFill>
                      <a:srgbClr val="0C2B4A"/>
                    </a:solidFill>
                  </a:tcPr>
                </a:tc>
              </a:tr>
              <a:tr h="883310">
                <a:tc>
                  <a:txBody>
                    <a:bodyPr wrap="square"/>
                    <a:lstStyle/>
                    <a:p>
                      <a:r>
                        <a:rPr sz="1200" b="1">
                          <a:solidFill>
                            <a:srgbClr val="0C2B4A"/>
                          </a:solidFill>
                        </a:rPr>
                        <a:t>Copyright</a:t>
                      </a:r>
                    </a:p>
                  </a:txBody>
                  <a:tcPr anchor="ctr" marL="73152" marR="54864" marT="27432" marB="27432">
                    <a:solidFill>
                      <a:srgbClr val="FFFFFF"/>
                    </a:solidFill>
                  </a:tcPr>
                </a:tc>
                <a:tc>
                  <a:txBody>
                    <a:bodyPr wrap="square"/>
                    <a:lstStyle/>
                    <a:p>
                      <a:r>
                        <a:rPr sz="1200">
                          <a:solidFill>
                            <a:srgbClr val="1A1A1A"/>
                          </a:solidFill>
                        </a:rPr>
                        <a:t>Original expression fixed in form</a:t>
                      </a:r>
                    </a:p>
                  </a:txBody>
                  <a:tcPr anchor="ctr" marL="73152" marR="54864" marT="27432" marB="27432">
                    <a:solidFill>
                      <a:srgbClr val="FFFFFF"/>
                    </a:solidFill>
                  </a:tcPr>
                </a:tc>
                <a:tc>
                  <a:txBody>
                    <a:bodyPr wrap="square"/>
                    <a:lstStyle/>
                    <a:p>
                      <a:r>
                        <a:rPr sz="1200">
                          <a:solidFill>
                            <a:srgbClr val="1A1A1A"/>
                          </a:solidFill>
                        </a:rPr>
                        <a:t>Your app's source code; a song; a novel</a:t>
                      </a:r>
                    </a:p>
                  </a:txBody>
                  <a:tcPr anchor="ctr" marL="73152" marR="54864" marT="27432" marB="27432">
                    <a:solidFill>
                      <a:srgbClr val="FFFFFF"/>
                    </a:solidFill>
                  </a:tcPr>
                </a:tc>
              </a:tr>
              <a:tr h="883310">
                <a:tc>
                  <a:txBody>
                    <a:bodyPr wrap="square"/>
                    <a:lstStyle/>
                    <a:p>
                      <a:r>
                        <a:rPr sz="1200" b="1">
                          <a:solidFill>
                            <a:srgbClr val="0C2B4A"/>
                          </a:solidFill>
                        </a:rPr>
                        <a:t>Patent</a:t>
                      </a:r>
                    </a:p>
                  </a:txBody>
                  <a:tcPr anchor="ctr" marL="73152" marR="54864" marT="27432" marB="27432">
                    <a:solidFill>
                      <a:srgbClr val="EEF3F8"/>
                    </a:solidFill>
                  </a:tcPr>
                </a:tc>
                <a:tc>
                  <a:txBody>
                    <a:bodyPr wrap="square"/>
                    <a:lstStyle/>
                    <a:p>
                      <a:r>
                        <a:rPr sz="1200">
                          <a:solidFill>
                            <a:srgbClr val="1A1A1A"/>
                          </a:solidFill>
                        </a:rPr>
                        <a:t>A new, useful, non-obvious invention</a:t>
                      </a:r>
                    </a:p>
                  </a:txBody>
                  <a:tcPr anchor="ctr" marL="73152" marR="54864" marT="27432" marB="27432">
                    <a:solidFill>
                      <a:srgbClr val="EEF3F8"/>
                    </a:solidFill>
                  </a:tcPr>
                </a:tc>
                <a:tc>
                  <a:txBody>
                    <a:bodyPr wrap="square"/>
                    <a:lstStyle/>
                    <a:p>
                      <a:r>
                        <a:rPr sz="1200">
                          <a:solidFill>
                            <a:srgbClr val="1A1A1A"/>
                          </a:solidFill>
                        </a:rPr>
                        <a:t>A drug formula; a novel machine</a:t>
                      </a:r>
                    </a:p>
                  </a:txBody>
                  <a:tcPr anchor="ctr" marL="73152" marR="54864" marT="27432" marB="27432">
                    <a:solidFill>
                      <a:srgbClr val="EEF3F8"/>
                    </a:solidFill>
                  </a:tcPr>
                </a:tc>
              </a:tr>
              <a:tr h="883310">
                <a:tc>
                  <a:txBody>
                    <a:bodyPr wrap="square"/>
                    <a:lstStyle/>
                    <a:p>
                      <a:r>
                        <a:rPr sz="1200" b="1">
                          <a:solidFill>
                            <a:srgbClr val="0C2B4A"/>
                          </a:solidFill>
                        </a:rPr>
                        <a:t>Trade secret</a:t>
                      </a:r>
                    </a:p>
                  </a:txBody>
                  <a:tcPr anchor="ctr" marL="73152" marR="54864" marT="27432" marB="27432">
                    <a:solidFill>
                      <a:srgbClr val="FFFFFF"/>
                    </a:solidFill>
                  </a:tcPr>
                </a:tc>
                <a:tc>
                  <a:txBody>
                    <a:bodyPr wrap="square"/>
                    <a:lstStyle/>
                    <a:p>
                      <a:r>
                        <a:rPr sz="1200">
                          <a:solidFill>
                            <a:srgbClr val="1A1A1A"/>
                          </a:solidFill>
                        </a:rPr>
                        <a:t>Confidential info kept secret</a:t>
                      </a:r>
                    </a:p>
                  </a:txBody>
                  <a:tcPr anchor="ctr" marL="73152" marR="54864" marT="27432" marB="27432">
                    <a:solidFill>
                      <a:srgbClr val="FFFFFF"/>
                    </a:solidFill>
                  </a:tcPr>
                </a:tc>
                <a:tc>
                  <a:txBody>
                    <a:bodyPr wrap="square"/>
                    <a:lstStyle/>
                    <a:p>
                      <a:r>
                        <a:rPr sz="1200">
                          <a:solidFill>
                            <a:srgbClr val="1A1A1A"/>
                          </a:solidFill>
                        </a:rPr>
                        <a:t>Wai Wai's masala ratio; a search algorithm</a:t>
                      </a:r>
                    </a:p>
                  </a:txBody>
                  <a:tcPr anchor="ctr" marL="73152" marR="54864" marT="27432" marB="27432">
                    <a:solidFill>
                      <a:srgbClr val="FFFFFF"/>
                    </a:solidFill>
                  </a:tcPr>
                </a:tc>
              </a:tr>
              <a:tr h="883312">
                <a:tc>
                  <a:txBody>
                    <a:bodyPr wrap="square"/>
                    <a:lstStyle/>
                    <a:p>
                      <a:r>
                        <a:rPr sz="1200" b="1">
                          <a:solidFill>
                            <a:srgbClr val="0C2B4A"/>
                          </a:solidFill>
                        </a:rPr>
                        <a:t>Trademark</a:t>
                      </a:r>
                    </a:p>
                  </a:txBody>
                  <a:tcPr anchor="ctr" marL="73152" marR="54864" marT="27432" marB="27432">
                    <a:solidFill>
                      <a:srgbClr val="EEF3F8"/>
                    </a:solidFill>
                  </a:tcPr>
                </a:tc>
                <a:tc>
                  <a:txBody>
                    <a:bodyPr wrap="square"/>
                    <a:lstStyle/>
                    <a:p>
                      <a:r>
                        <a:rPr sz="1200">
                          <a:solidFill>
                            <a:srgbClr val="1A1A1A"/>
                          </a:solidFill>
                        </a:rPr>
                        <a:t>A brand's identifying sign</a:t>
                      </a:r>
                    </a:p>
                  </a:txBody>
                  <a:tcPr anchor="ctr" marL="73152" marR="54864" marT="27432" marB="27432">
                    <a:solidFill>
                      <a:srgbClr val="EEF3F8"/>
                    </a:solidFill>
                  </a:tcPr>
                </a:tc>
                <a:tc>
                  <a:txBody>
                    <a:bodyPr wrap="square"/>
                    <a:lstStyle/>
                    <a:p>
                      <a:r>
                        <a:rPr sz="1200">
                          <a:solidFill>
                            <a:srgbClr val="1A1A1A"/>
                          </a:solidFill>
                        </a:rPr>
                        <a:t>The Goldstar name &amp; logo; eSewa's logo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protects a DIFFERENT thing and is acquired differently — the full master comparison (what/how/how-long) closes the unit in S16.</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89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Intellectual Property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IP is administered by the Department of Industry (DoI) under the Patent, Design and Trademark Act, 2022 BS (1965), while copyright sits with the Copyright Registrar's Office. As a WTO/TRIPS member, Nepal must meet international IP minimums — so a foreign client's IP expectations map onto real Nepali law.</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on the internet, it's free to use." Publication is not permission — most online content is still owned by someone. Being able to right-click and save a photo, or copy a paragraph, gives you access, not rights. The default is 'owned', not 'free'.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Intellectual property is the set of legal rights over creations of the mind, in four families: copyright (expression), patent (invention), trade secret (secret info), and trademark (brand identity). It protects expression and invention rather than abstract ideas, balancing creator reward against public access. In Nepal it is administered by the DoI and the Copyright Registrar's Office.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intellectual property · copyright · patent · trade secret · trademark · DoI · publication ≠ permission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89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IP family? — classify each creation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829577"/>
                <a:gridCol w="2575774"/>
                <a:gridCol w="4024647"/>
              </a:tblGrid>
              <a:tr h="630936">
                <a:tc>
                  <a:txBody>
                    <a:bodyPr wrap="square"/>
                    <a:lstStyle/>
                    <a:p>
                      <a:r>
                        <a:rPr sz="1150" b="1">
                          <a:solidFill>
                            <a:srgbClr val="FFFFFF"/>
                          </a:solidFill>
                        </a:rPr>
                        <a:t>The creation</a:t>
                      </a:r>
                    </a:p>
                  </a:txBody>
                  <a:tcPr anchor="ctr" marL="73152" marR="54864" marT="27432" marB="27432">
                    <a:solidFill>
                      <a:srgbClr val="0C2B4A"/>
                    </a:solidFill>
                  </a:tcPr>
                </a:tc>
                <a:tc>
                  <a:txBody>
                    <a:bodyPr wrap="square"/>
                    <a:lstStyle/>
                    <a:p>
                      <a:r>
                        <a:rPr sz="1150" b="1">
                          <a:solidFill>
                            <a:srgbClr val="FFFFFF"/>
                          </a:solidFill>
                        </a:rPr>
                        <a:t>Which IP family?</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Your college app's source code</a:t>
                      </a:r>
                    </a:p>
                  </a:txBody>
                  <a:tcPr anchor="ctr" marL="73152" marR="54864" marT="27432" marB="27432">
                    <a:solidFill>
                      <a:srgbClr val="FFFFFF"/>
                    </a:solidFill>
                  </a:tcPr>
                </a:tc>
                <a:tc>
                  <a:txBody>
                    <a:bodyPr wrap="square"/>
                    <a:lstStyle/>
                    <a:p>
                      <a:r>
                        <a:rPr sz="1100">
                          <a:solidFill>
                            <a:srgbClr val="1A1A1A"/>
                          </a:solidFill>
                        </a:rPr>
                        <a:t>Copyright</a:t>
                      </a:r>
                    </a:p>
                  </a:txBody>
                  <a:tcPr anchor="ctr" marL="73152" marR="54864" marT="27432" marB="27432">
                    <a:solidFill>
                      <a:srgbClr val="FFFFFF"/>
                    </a:solidFill>
                  </a:tcPr>
                </a:tc>
                <a:tc>
                  <a:txBody>
                    <a:bodyPr wrap="square"/>
                    <a:lstStyle/>
                    <a:p>
                      <a:r>
                        <a:rPr sz="1100">
                          <a:solidFill>
                            <a:srgbClr val="1A1A1A"/>
                          </a:solidFill>
                        </a:rPr>
                        <a:t>Original expression, automatic on creation</a:t>
                      </a:r>
                    </a:p>
                  </a:txBody>
                  <a:tcPr anchor="ctr" marL="73152" marR="54864" marT="27432" marB="27432">
                    <a:solidFill>
                      <a:srgbClr val="FFFFFF"/>
                    </a:solidFill>
                  </a:tcPr>
                </a:tc>
              </a:tr>
              <a:tr h="630936">
                <a:tc>
                  <a:txBody>
                    <a:bodyPr wrap="square"/>
                    <a:lstStyle/>
                    <a:p>
                      <a:r>
                        <a:rPr sz="1100" b="1">
                          <a:solidFill>
                            <a:srgbClr val="0C2B4A"/>
                          </a:solidFill>
                        </a:rPr>
                        <a:t>Wai Wai / CG Foods' exact masala ratio</a:t>
                      </a:r>
                    </a:p>
                  </a:txBody>
                  <a:tcPr anchor="ctr" marL="73152" marR="54864" marT="27432" marB="27432">
                    <a:solidFill>
                      <a:srgbClr val="EEF3F8"/>
                    </a:solidFill>
                  </a:tcPr>
                </a:tc>
                <a:tc>
                  <a:txBody>
                    <a:bodyPr wrap="square"/>
                    <a:lstStyle/>
                    <a:p>
                      <a:r>
                        <a:rPr sz="1100">
                          <a:solidFill>
                            <a:srgbClr val="1A1A1A"/>
                          </a:solidFill>
                        </a:rPr>
                        <a:t>Trade secret</a:t>
                      </a:r>
                    </a:p>
                  </a:txBody>
                  <a:tcPr anchor="ctr" marL="73152" marR="54864" marT="27432" marB="27432">
                    <a:solidFill>
                      <a:srgbClr val="EEF3F8"/>
                    </a:solidFill>
                  </a:tcPr>
                </a:tc>
                <a:tc>
                  <a:txBody>
                    <a:bodyPr wrap="square"/>
                    <a:lstStyle/>
                    <a:p>
                      <a:r>
                        <a:rPr sz="1100">
                          <a:solidFill>
                            <a:srgbClr val="1A1A1A"/>
                          </a:solidFill>
                        </a:rPr>
                        <a:t>Confidential info kept secret, never filed</a:t>
                      </a:r>
                    </a:p>
                  </a:txBody>
                  <a:tcPr anchor="ctr" marL="73152" marR="54864" marT="27432" marB="27432">
                    <a:solidFill>
                      <a:srgbClr val="EEF3F8"/>
                    </a:solidFill>
                  </a:tcPr>
                </a:tc>
              </a:tr>
              <a:tr h="630936">
                <a:tc>
                  <a:txBody>
                    <a:bodyPr wrap="square"/>
                    <a:lstStyle/>
                    <a:p>
                      <a:r>
                        <a:rPr sz="1100" b="1">
                          <a:solidFill>
                            <a:srgbClr val="0C2B4A"/>
                          </a:solidFill>
                        </a:rPr>
                        <a:t>The 'Goldstar' name &amp; shoe logo</a:t>
                      </a:r>
                    </a:p>
                  </a:txBody>
                  <a:tcPr anchor="ctr" marL="73152" marR="54864" marT="27432" marB="27432">
                    <a:solidFill>
                      <a:srgbClr val="FFFFFF"/>
                    </a:solidFill>
                  </a:tcPr>
                </a:tc>
                <a:tc>
                  <a:txBody>
                    <a:bodyPr wrap="square"/>
                    <a:lstStyle/>
                    <a:p>
                      <a:r>
                        <a:rPr sz="1100">
                          <a:solidFill>
                            <a:srgbClr val="1A1A1A"/>
                          </a:solidFill>
                        </a:rPr>
                        <a:t>Trademark</a:t>
                      </a:r>
                    </a:p>
                  </a:txBody>
                  <a:tcPr anchor="ctr" marL="73152" marR="54864" marT="27432" marB="27432">
                    <a:solidFill>
                      <a:srgbClr val="FFFFFF"/>
                    </a:solidFill>
                  </a:tcPr>
                </a:tc>
                <a:tc>
                  <a:txBody>
                    <a:bodyPr wrap="square"/>
                    <a:lstStyle/>
                    <a:p>
                      <a:r>
                        <a:rPr sz="1100">
                          <a:solidFill>
                            <a:srgbClr val="1A1A1A"/>
                          </a:solidFill>
                        </a:rPr>
                        <a:t>A source identifier for the brand</a:t>
                      </a:r>
                    </a:p>
                  </a:txBody>
                  <a:tcPr anchor="ctr" marL="73152" marR="54864" marT="27432" marB="27432">
                    <a:solidFill>
                      <a:srgbClr val="FFFFFF"/>
                    </a:solidFill>
                  </a:tcPr>
                </a:tc>
              </a:tr>
              <a:tr h="630936">
                <a:tc>
                  <a:txBody>
                    <a:bodyPr wrap="square"/>
                    <a:lstStyle/>
                    <a:p>
                      <a:r>
                        <a:rPr sz="1100" b="1">
                          <a:solidFill>
                            <a:srgbClr val="0C2B4A"/>
                          </a:solidFill>
                        </a:rPr>
                        <a:t>A DoI-filed herbal-extraction machine</a:t>
                      </a:r>
                    </a:p>
                  </a:txBody>
                  <a:tcPr anchor="ctr" marL="73152" marR="54864" marT="27432" marB="27432">
                    <a:solidFill>
                      <a:srgbClr val="EEF3F8"/>
                    </a:solidFill>
                  </a:tcPr>
                </a:tc>
                <a:tc>
                  <a:txBody>
                    <a:bodyPr wrap="square"/>
                    <a:lstStyle/>
                    <a:p>
                      <a:r>
                        <a:rPr sz="1100">
                          <a:solidFill>
                            <a:srgbClr val="1A1A1A"/>
                          </a:solidFill>
                        </a:rPr>
                        <a:t>Patent</a:t>
                      </a:r>
                    </a:p>
                  </a:txBody>
                  <a:tcPr anchor="ctr" marL="73152" marR="54864" marT="27432" marB="27432">
                    <a:solidFill>
                      <a:srgbClr val="EEF3F8"/>
                    </a:solidFill>
                  </a:tcPr>
                </a:tc>
                <a:tc>
                  <a:txBody>
                    <a:bodyPr wrap="square"/>
                    <a:lstStyle/>
                    <a:p>
                      <a:r>
                        <a:rPr sz="1100">
                          <a:solidFill>
                            <a:srgbClr val="1A1A1A"/>
                          </a:solidFill>
                        </a:rPr>
                        <a:t>New, useful, non-obvious invention</a:t>
                      </a:r>
                    </a:p>
                  </a:txBody>
                  <a:tcPr anchor="ctr" marL="73152" marR="54864" marT="27432" marB="27432">
                    <a:solidFill>
                      <a:srgbClr val="EEF3F8"/>
                    </a:solidFill>
                  </a:tcPr>
                </a:tc>
              </a:tr>
              <a:tr h="630936">
                <a:tc>
                  <a:txBody>
                    <a:bodyPr wrap="square"/>
                    <a:lstStyle/>
                    <a:p>
                      <a:r>
                        <a:rPr sz="1100" b="1">
                          <a:solidFill>
                            <a:srgbClr val="0C2B4A"/>
                          </a:solidFill>
                        </a:rPr>
                        <a:t>A bank's fraud-scoring algorithm (server-side)</a:t>
                      </a:r>
                    </a:p>
                  </a:txBody>
                  <a:tcPr anchor="ctr" marL="73152" marR="54864" marT="27432" marB="27432">
                    <a:solidFill>
                      <a:srgbClr val="FFFFFF"/>
                    </a:solidFill>
                  </a:tcPr>
                </a:tc>
                <a:tc>
                  <a:txBody>
                    <a:bodyPr wrap="square"/>
                    <a:lstStyle/>
                    <a:p>
                      <a:r>
                        <a:rPr sz="1100">
                          <a:solidFill>
                            <a:srgbClr val="1A1A1A"/>
                          </a:solidFill>
                        </a:rPr>
                        <a:t>Trade secret</a:t>
                      </a:r>
                    </a:p>
                  </a:txBody>
                  <a:tcPr anchor="ctr" marL="73152" marR="54864" marT="27432" marB="27432">
                    <a:solidFill>
                      <a:srgbClr val="FFFFFF"/>
                    </a:solidFill>
                  </a:tcPr>
                </a:tc>
                <a:tc>
                  <a:txBody>
                    <a:bodyPr wrap="square"/>
                    <a:lstStyle/>
                    <a:p>
                      <a:r>
                        <a:rPr sz="1100">
                          <a:solidFill>
                            <a:srgbClr val="1A1A1A"/>
                          </a:solidFill>
                        </a:rPr>
                        <a:t>Never shipped; protected by secrecy</a:t>
                      </a:r>
                    </a:p>
                  </a:txBody>
                  <a:tcPr anchor="ctr" marL="73152" marR="54864" marT="27432" marB="27432">
                    <a:solidFill>
                      <a:srgbClr val="FFFFFF"/>
                    </a:solidFill>
                  </a:tcPr>
                </a:tc>
              </a:tr>
              <a:tr h="630936">
                <a:tc>
                  <a:txBody>
                    <a:bodyPr wrap="square"/>
                    <a:lstStyle/>
                    <a:p>
                      <a:r>
                        <a:rPr sz="1100" b="1">
                          <a:solidFill>
                            <a:srgbClr val="0C2B4A"/>
                          </a:solidFill>
                        </a:rPr>
                        <a:t>eSewa's app name &amp; green logo</a:t>
                      </a:r>
                    </a:p>
                  </a:txBody>
                  <a:tcPr anchor="ctr" marL="73152" marR="54864" marT="27432" marB="27432">
                    <a:solidFill>
                      <a:srgbClr val="EEF3F8"/>
                    </a:solidFill>
                  </a:tcPr>
                </a:tc>
                <a:tc>
                  <a:txBody>
                    <a:bodyPr wrap="square"/>
                    <a:lstStyle/>
                    <a:p>
                      <a:r>
                        <a:rPr sz="1100">
                          <a:solidFill>
                            <a:srgbClr val="1A1A1A"/>
                          </a:solidFill>
                        </a:rPr>
                        <a:t>Trademark</a:t>
                      </a:r>
                    </a:p>
                  </a:txBody>
                  <a:tcPr anchor="ctr" marL="73152" marR="54864" marT="27432" marB="27432">
                    <a:solidFill>
                      <a:srgbClr val="EEF3F8"/>
                    </a:solidFill>
                  </a:tcPr>
                </a:tc>
                <a:tc>
                  <a:txBody>
                    <a:bodyPr wrap="square"/>
                    <a:lstStyle/>
                    <a:p>
                      <a:r>
                        <a:rPr sz="1100">
                          <a:solidFill>
                            <a:srgbClr val="1A1A1A"/>
                          </a:solidFill>
                        </a:rPr>
                        <a:t>Brand identity customers recognise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question sorts almost any IP case: is it expression (copyright), an invention (patent), a kept secret (trade secret), or a brand sign (trademark)?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 / 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Copyright — what it protects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Copyright protects original EXPRESSION fixed in a tangible form — text, music, film, software code, art. It protects the expression, NOT the underlying idea, fact, or method. It arises automatically the instant the work is fixed; no registration is needed (though registration helps in a dispute).</a:t>
            </a:r>
          </a:p>
          <a:p>
            <a:pPr>
              <a:spcAft>
                <a:spcPts val="500"/>
              </a:spcAft>
            </a:pPr>
            <a:r>
              <a:rPr sz="1200" b="1">
                <a:solidFill>
                  <a:srgbClr val="185FA5"/>
                </a:solidFill>
              </a:rPr>
              <a:t>HOW IT WORKS</a:t>
            </a:r>
          </a:p>
          <a:p>
            <a:pPr>
              <a:spcAft>
                <a:spcPts val="600"/>
              </a:spcAft>
            </a:pPr>
            <a:r>
              <a:rPr sz="1400">
                <a:solidFill>
                  <a:srgbClr val="1A1A1A"/>
                </a:solidFill>
              </a:rPr>
              <a:t>•  Two people can write different code for the same idea — each owns their own expression.</a:t>
            </a:r>
          </a:p>
          <a:p>
            <a:pPr>
              <a:spcAft>
                <a:spcPts val="600"/>
              </a:spcAft>
            </a:pPr>
            <a:r>
              <a:rPr sz="1400">
                <a:solidFill>
                  <a:srgbClr val="1A1A1A"/>
                </a:solidFill>
              </a:rPr>
              <a:t>•  Facts, ideas, and methods are free; only your particular way of expressing them is protected.</a:t>
            </a:r>
          </a:p>
          <a:p>
            <a:pPr>
              <a:spcAft>
                <a:spcPts val="600"/>
              </a:spcAft>
            </a:pPr>
            <a:r>
              <a:rPr sz="1400">
                <a:solidFill>
                  <a:srgbClr val="1A1A1A"/>
                </a:solidFill>
              </a:rPr>
              <a:t>•  In Nepal, copyright is governed by the Copyright Act, 2059 (2002), registered at the Copyright Registrar's Office.</a:t>
            </a:r>
          </a:p>
          <a:p>
            <a:pPr>
              <a:spcAft>
                <a:spcPts val="600"/>
              </a:spcAft>
            </a:pPr>
            <a:r>
              <a:rPr sz="1400">
                <a:solidFill>
                  <a:srgbClr val="1A1A1A"/>
                </a:solidFill>
              </a:rPr>
              <a:t>•  Source code and a novel are both copyrighted the instant they are written down.</a:t>
            </a:r>
          </a:p>
        </p:txBody>
      </p:sp>
      <p:pic>
        <p:nvPicPr>
          <p:cNvPr id="6" name="Picture 5" descr="s11_idea_expr.png"/>
          <p:cNvPicPr>
            <a:picLocks noChangeAspect="1"/>
          </p:cNvPicPr>
          <p:nvPr/>
        </p:nvPicPr>
        <p:blipFill>
          <a:blip r:embed="rId2"/>
          <a:stretch>
            <a:fillRect/>
          </a:stretch>
        </p:blipFill>
        <p:spPr>
          <a:xfrm>
            <a:off x="6355080" y="2566899"/>
            <a:ext cx="5532120" cy="250144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Copyright protects the expression, never the idea behind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 / 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Idea vs expression — what copyright does and doesn't cover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408714"/>
                <a:gridCol w="4408714"/>
              </a:tblGrid>
              <a:tr h="630936">
                <a:tc>
                  <a:txBody>
                    <a:bodyPr wrap="square"/>
                    <a:lstStyle/>
                    <a:p>
                      <a:r>
                        <a:rPr sz="1150" b="1">
                          <a:solidFill>
                            <a:srgbClr val="FFFFFF"/>
                          </a:solidFill>
                        </a:rPr>
                        <a:t>The work</a:t>
                      </a:r>
                    </a:p>
                  </a:txBody>
                  <a:tcPr anchor="ctr" marL="73152" marR="54864" marT="27432" marB="27432">
                    <a:solidFill>
                      <a:srgbClr val="0C2B4A"/>
                    </a:solidFill>
                  </a:tcPr>
                </a:tc>
                <a:tc>
                  <a:txBody>
                    <a:bodyPr wrap="square"/>
                    <a:lstStyle/>
                    <a:p>
                      <a:r>
                        <a:rPr sz="1150" b="1">
                          <a:solidFill>
                            <a:srgbClr val="FFFFFF"/>
                          </a:solidFill>
                        </a:rPr>
                        <a:t>The IDEA (not protected)</a:t>
                      </a:r>
                    </a:p>
                  </a:txBody>
                  <a:tcPr anchor="ctr" marL="73152" marR="54864" marT="27432" marB="27432">
                    <a:solidFill>
                      <a:srgbClr val="0C2B4A"/>
                    </a:solidFill>
                  </a:tcPr>
                </a:tc>
                <a:tc>
                  <a:txBody>
                    <a:bodyPr wrap="square"/>
                    <a:lstStyle/>
                    <a:p>
                      <a:r>
                        <a:rPr sz="1150" b="1">
                          <a:solidFill>
                            <a:srgbClr val="FFFFFF"/>
                          </a:solidFill>
                        </a:rPr>
                        <a:t>The EXPRESSION (protected)</a:t>
                      </a:r>
                    </a:p>
                  </a:txBody>
                  <a:tcPr anchor="ctr" marL="73152" marR="54864" marT="27432" marB="27432">
                    <a:solidFill>
                      <a:srgbClr val="0C2B4A"/>
                    </a:solidFill>
                  </a:tcPr>
                </a:tc>
              </a:tr>
              <a:tr h="630936">
                <a:tc>
                  <a:txBody>
                    <a:bodyPr wrap="square"/>
                    <a:lstStyle/>
                    <a:p>
                      <a:r>
                        <a:rPr sz="1100" b="1">
                          <a:solidFill>
                            <a:srgbClr val="0C2B4A"/>
                          </a:solidFill>
                        </a:rPr>
                        <a:t>A mobile app</a:t>
                      </a:r>
                    </a:p>
                  </a:txBody>
                  <a:tcPr anchor="ctr" marL="73152" marR="54864" marT="27432" marB="27432">
                    <a:solidFill>
                      <a:srgbClr val="FFFFFF"/>
                    </a:solidFill>
                  </a:tcPr>
                </a:tc>
                <a:tc>
                  <a:txBody>
                    <a:bodyPr wrap="square"/>
                    <a:lstStyle/>
                    <a:p>
                      <a:r>
                        <a:rPr sz="1100">
                          <a:solidFill>
                            <a:srgbClr val="1A1A1A"/>
                          </a:solidFill>
                        </a:rPr>
                        <a:t>'An app that splits a restaurant bill'</a:t>
                      </a:r>
                    </a:p>
                  </a:txBody>
                  <a:tcPr anchor="ctr" marL="73152" marR="54864" marT="27432" marB="27432">
                    <a:solidFill>
                      <a:srgbClr val="FFFFFF"/>
                    </a:solidFill>
                  </a:tcPr>
                </a:tc>
                <a:tc>
                  <a:txBody>
                    <a:bodyPr wrap="square"/>
                    <a:lstStyle/>
                    <a:p>
                      <a:r>
                        <a:rPr sz="1100">
                          <a:solidFill>
                            <a:srgbClr val="1A1A1A"/>
                          </a:solidFill>
                        </a:rPr>
                        <a:t>Your actual code implementing it</a:t>
                      </a:r>
                    </a:p>
                  </a:txBody>
                  <a:tcPr anchor="ctr" marL="73152" marR="54864" marT="27432" marB="27432">
                    <a:solidFill>
                      <a:srgbClr val="FFFFFF"/>
                    </a:solidFill>
                  </a:tcPr>
                </a:tc>
              </a:tr>
              <a:tr h="630936">
                <a:tc>
                  <a:txBody>
                    <a:bodyPr wrap="square"/>
                    <a:lstStyle/>
                    <a:p>
                      <a:r>
                        <a:rPr sz="1100" b="1">
                          <a:solidFill>
                            <a:srgbClr val="0C2B4A"/>
                          </a:solidFill>
                        </a:rPr>
                        <a:t>A song</a:t>
                      </a:r>
                    </a:p>
                  </a:txBody>
                  <a:tcPr anchor="ctr" marL="73152" marR="54864" marT="27432" marB="27432">
                    <a:solidFill>
                      <a:srgbClr val="EEF3F8"/>
                    </a:solidFill>
                  </a:tcPr>
                </a:tc>
                <a:tc>
                  <a:txBody>
                    <a:bodyPr wrap="square"/>
                    <a:lstStyle/>
                    <a:p>
                      <a:r>
                        <a:rPr sz="1100">
                          <a:solidFill>
                            <a:srgbClr val="1A1A1A"/>
                          </a:solidFill>
                        </a:rPr>
                        <a:t>A chord progression / a genre</a:t>
                      </a:r>
                    </a:p>
                  </a:txBody>
                  <a:tcPr anchor="ctr" marL="73152" marR="54864" marT="27432" marB="27432">
                    <a:solidFill>
                      <a:srgbClr val="EEF3F8"/>
                    </a:solidFill>
                  </a:tcPr>
                </a:tc>
                <a:tc>
                  <a:txBody>
                    <a:bodyPr wrap="square"/>
                    <a:lstStyle/>
                    <a:p>
                      <a:r>
                        <a:rPr sz="1100">
                          <a:solidFill>
                            <a:srgbClr val="1A1A1A"/>
                          </a:solidFill>
                        </a:rPr>
                        <a:t>The specific recorded melody &amp; lyrics</a:t>
                      </a:r>
                    </a:p>
                  </a:txBody>
                  <a:tcPr anchor="ctr" marL="73152" marR="54864" marT="27432" marB="27432">
                    <a:solidFill>
                      <a:srgbClr val="EEF3F8"/>
                    </a:solidFill>
                  </a:tcPr>
                </a:tc>
              </a:tr>
              <a:tr h="630936">
                <a:tc>
                  <a:txBody>
                    <a:bodyPr wrap="square"/>
                    <a:lstStyle/>
                    <a:p>
                      <a:r>
                        <a:rPr sz="1100" b="1">
                          <a:solidFill>
                            <a:srgbClr val="0C2B4A"/>
                          </a:solidFill>
                        </a:rPr>
                        <a:t>A textbook</a:t>
                      </a:r>
                    </a:p>
                  </a:txBody>
                  <a:tcPr anchor="ctr" marL="73152" marR="54864" marT="27432" marB="27432">
                    <a:solidFill>
                      <a:srgbClr val="FFFFFF"/>
                    </a:solidFill>
                  </a:tcPr>
                </a:tc>
                <a:tc>
                  <a:txBody>
                    <a:bodyPr wrap="square"/>
                    <a:lstStyle/>
                    <a:p>
                      <a:r>
                        <a:rPr sz="1100">
                          <a:solidFill>
                            <a:srgbClr val="1A1A1A"/>
                          </a:solidFill>
                        </a:rPr>
                        <a:t>The facts and concepts taught</a:t>
                      </a:r>
                    </a:p>
                  </a:txBody>
                  <a:tcPr anchor="ctr" marL="73152" marR="54864" marT="27432" marB="27432">
                    <a:solidFill>
                      <a:srgbClr val="FFFFFF"/>
                    </a:solidFill>
                  </a:tcPr>
                </a:tc>
                <a:tc>
                  <a:txBody>
                    <a:bodyPr wrap="square"/>
                    <a:lstStyle/>
                    <a:p>
                      <a:r>
                        <a:rPr sz="1100">
                          <a:solidFill>
                            <a:srgbClr val="1A1A1A"/>
                          </a:solidFill>
                        </a:rPr>
                        <a:t>The author's particular wording &amp; layout</a:t>
                      </a:r>
                    </a:p>
                  </a:txBody>
                  <a:tcPr anchor="ctr" marL="73152" marR="54864" marT="27432" marB="27432">
                    <a:solidFill>
                      <a:srgbClr val="FFFFFF"/>
                    </a:solidFill>
                  </a:tcPr>
                </a:tc>
              </a:tr>
              <a:tr h="630936">
                <a:tc>
                  <a:txBody>
                    <a:bodyPr wrap="square"/>
                    <a:lstStyle/>
                    <a:p>
                      <a:r>
                        <a:rPr sz="1100" b="1">
                          <a:solidFill>
                            <a:srgbClr val="0C2B4A"/>
                          </a:solidFill>
                        </a:rPr>
                        <a:t>A photo</a:t>
                      </a:r>
                    </a:p>
                  </a:txBody>
                  <a:tcPr anchor="ctr" marL="73152" marR="54864" marT="27432" marB="27432">
                    <a:solidFill>
                      <a:srgbClr val="EEF3F8"/>
                    </a:solidFill>
                  </a:tcPr>
                </a:tc>
                <a:tc>
                  <a:txBody>
                    <a:bodyPr wrap="square"/>
                    <a:lstStyle/>
                    <a:p>
                      <a:r>
                        <a:rPr sz="1100">
                          <a:solidFill>
                            <a:srgbClr val="1A1A1A"/>
                          </a:solidFill>
                        </a:rPr>
                        <a:t>'A sunrise over the Himalayas'</a:t>
                      </a:r>
                    </a:p>
                  </a:txBody>
                  <a:tcPr anchor="ctr" marL="73152" marR="54864" marT="27432" marB="27432">
                    <a:solidFill>
                      <a:srgbClr val="EEF3F8"/>
                    </a:solidFill>
                  </a:tcPr>
                </a:tc>
                <a:tc>
                  <a:txBody>
                    <a:bodyPr wrap="square"/>
                    <a:lstStyle/>
                    <a:p>
                      <a:r>
                        <a:rPr sz="1100">
                          <a:solidFill>
                            <a:srgbClr val="1A1A1A"/>
                          </a:solidFill>
                        </a:rPr>
                        <a:t>This photographer's specific shot</a:t>
                      </a:r>
                    </a:p>
                  </a:txBody>
                  <a:tcPr anchor="ctr" marL="73152" marR="54864" marT="27432" marB="27432">
                    <a:solidFill>
                      <a:srgbClr val="EEF3F8"/>
                    </a:solidFill>
                  </a:tcPr>
                </a:tc>
              </a:tr>
              <a:tr h="630936">
                <a:tc>
                  <a:txBody>
                    <a:bodyPr wrap="square"/>
                    <a:lstStyle/>
                    <a:p>
                      <a:r>
                        <a:rPr sz="1100" b="1">
                          <a:solidFill>
                            <a:srgbClr val="0C2B4A"/>
                          </a:solidFill>
                        </a:rPr>
                        <a:t>A recipe</a:t>
                      </a:r>
                    </a:p>
                  </a:txBody>
                  <a:tcPr anchor="ctr" marL="73152" marR="54864" marT="27432" marB="27432">
                    <a:solidFill>
                      <a:srgbClr val="FFFFFF"/>
                    </a:solidFill>
                  </a:tcPr>
                </a:tc>
                <a:tc>
                  <a:txBody>
                    <a:bodyPr wrap="square"/>
                    <a:lstStyle/>
                    <a:p>
                      <a:r>
                        <a:rPr sz="1100">
                          <a:solidFill>
                            <a:srgbClr val="1A1A1A"/>
                          </a:solidFill>
                        </a:rPr>
                        <a:t>The dish and its method</a:t>
                      </a:r>
                    </a:p>
                  </a:txBody>
                  <a:tcPr anchor="ctr" marL="73152" marR="54864" marT="27432" marB="27432">
                    <a:solidFill>
                      <a:srgbClr val="FFFFFF"/>
                    </a:solidFill>
                  </a:tcPr>
                </a:tc>
                <a:tc>
                  <a:txBody>
                    <a:bodyPr wrap="square"/>
                    <a:lstStyle/>
                    <a:p>
                      <a:r>
                        <a:rPr sz="1100">
                          <a:solidFill>
                            <a:srgbClr val="1A1A1A"/>
                          </a:solidFill>
                        </a:rPr>
                        <a:t>The written wording of the cookbook page</a:t>
                      </a:r>
                    </a:p>
                  </a:txBody>
                  <a:tcPr anchor="ctr" marL="73152" marR="54864" marT="27432" marB="27432">
                    <a:solidFill>
                      <a:srgbClr val="FFFFFF"/>
                    </a:solidFill>
                  </a:tcPr>
                </a:tc>
              </a:tr>
              <a:tr h="630936">
                <a:tc>
                  <a:txBody>
                    <a:bodyPr wrap="square"/>
                    <a:lstStyle/>
                    <a:p>
                      <a:r>
                        <a:rPr sz="1100" b="1">
                          <a:solidFill>
                            <a:srgbClr val="0C2B4A"/>
                          </a:solidFill>
                        </a:rPr>
                        <a:t>A news event</a:t>
                      </a:r>
                    </a:p>
                  </a:txBody>
                  <a:tcPr anchor="ctr" marL="73152" marR="54864" marT="27432" marB="27432">
                    <a:solidFill>
                      <a:srgbClr val="EEF3F8"/>
                    </a:solidFill>
                  </a:tcPr>
                </a:tc>
                <a:tc>
                  <a:txBody>
                    <a:bodyPr wrap="square"/>
                    <a:lstStyle/>
                    <a:p>
                      <a:r>
                        <a:rPr sz="1100">
                          <a:solidFill>
                            <a:srgbClr val="1A1A1A"/>
                          </a:solidFill>
                        </a:rPr>
                        <a:t>What happened (the facts)</a:t>
                      </a:r>
                    </a:p>
                  </a:txBody>
                  <a:tcPr anchor="ctr" marL="73152" marR="54864" marT="27432" marB="27432">
                    <a:solidFill>
                      <a:srgbClr val="EEF3F8"/>
                    </a:solidFill>
                  </a:tcPr>
                </a:tc>
                <a:tc>
                  <a:txBody>
                    <a:bodyPr wrap="square"/>
                    <a:lstStyle/>
                    <a:p>
                      <a:r>
                        <a:rPr sz="1100">
                          <a:solidFill>
                            <a:srgbClr val="1A1A1A"/>
                          </a:solidFill>
                        </a:rPr>
                        <a:t>A journalist's specific article about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Anyone may build the same idea; no one may copy your expression of it. This is why two teams can legally build rival bill-splitting apps.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89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Copyright — what it protects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Piracy of Nepali films and music — a film like Kabaddi or popular songs copied to YouTube and sold as pirated DVDs in New Road — infringes the creators' copyright in their expression. A student who copies a Nepali band's melody note-for-note into a college jingle and uploads it has copied the expression: that's infringement, even for a class project.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 change the idea a little, or it's just a class project, copying is fine." Copyright attaches to expression the instant it's fixed and covers non-commercial copying too. Copying a melody note-for-note is taking the expression, not being inspired by the idea — the size of the project doesn't change that.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Copyright protects original expression fixed in a tangible form (code, music, text, film, art) — the expression, never the idea, fact, or method behind it. It arises automatically on creation, with registration optional but useful in disputes; in Nepal it is governed by the Copyright Act, 2059 (2002). Copying someone's specific expression, even non-commercially, is infringement.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copyright · expression not idea · fixed form · automatic on creation · Copyright Act 2059</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Copyright Duration &amp; Fair Use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Copyright lasts a limited term, then the work enters the public domain (free for all). In Nepal the general term is the author's lifetime + 50 years, with defined terms for some categories. FAIR USE allows limited use for education, research, news, criticism, and parody without permission.</a:t>
            </a:r>
          </a:p>
          <a:p>
            <a:pPr>
              <a:spcAft>
                <a:spcPts val="500"/>
              </a:spcAft>
            </a:pPr>
            <a:r>
              <a:rPr sz="1200" b="1">
                <a:solidFill>
                  <a:srgbClr val="185FA5"/>
                </a:solidFill>
              </a:rPr>
              <a:t>HOW IT WORKS</a:t>
            </a:r>
          </a:p>
          <a:p>
            <a:pPr>
              <a:spcAft>
                <a:spcPts val="600"/>
              </a:spcAft>
            </a:pPr>
            <a:r>
              <a:rPr sz="1400">
                <a:solidFill>
                  <a:srgbClr val="1A1A1A"/>
                </a:solidFill>
              </a:rPr>
              <a:t>•  The public-domain endpoint is deliberate: society eventually gets free access to all creative work.</a:t>
            </a:r>
          </a:p>
          <a:p>
            <a:pPr>
              <a:spcAft>
                <a:spcPts val="600"/>
              </a:spcAft>
            </a:pPr>
            <a:r>
              <a:rPr sz="1400">
                <a:solidFill>
                  <a:srgbClr val="1A1A1A"/>
                </a:solidFill>
              </a:rPr>
              <a:t>•  Fair use is a limited exception, judged by purpose, amount used, and effect on the work's market.</a:t>
            </a:r>
          </a:p>
          <a:p>
            <a:pPr>
              <a:spcAft>
                <a:spcPts val="600"/>
              </a:spcAft>
            </a:pPr>
            <a:r>
              <a:rPr sz="1400">
                <a:solidFill>
                  <a:srgbClr val="1A1A1A"/>
                </a:solidFill>
              </a:rPr>
              <a:t>•  Quoting a few lines of a poem for a class essay is fair use; photocopying a whole textbook is not.</a:t>
            </a:r>
          </a:p>
          <a:p>
            <a:pPr>
              <a:spcAft>
                <a:spcPts val="600"/>
              </a:spcAft>
            </a:pPr>
            <a:r>
              <a:rPr sz="1400">
                <a:solidFill>
                  <a:srgbClr val="1A1A1A"/>
                </a:solidFill>
              </a:rPr>
              <a:t>•  Attribution and permission are SEPARATE: crediting the author avoids plagiarism, not infringement.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Copyright = owning a written recipe: others may cook it, not photocopy the cookbook.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Fair use vs infringement — where the line falls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898571"/>
                <a:gridCol w="2286000"/>
                <a:gridCol w="4245428"/>
              </a:tblGrid>
              <a:tr h="630936">
                <a:tc>
                  <a:txBody>
                    <a:bodyPr wrap="square"/>
                    <a:lstStyle/>
                    <a:p>
                      <a:r>
                        <a:rPr sz="1150" b="1">
                          <a:solidFill>
                            <a:srgbClr val="FFFFFF"/>
                          </a:solidFill>
                        </a:rPr>
                        <a:t>Use of the work</a:t>
                      </a:r>
                    </a:p>
                  </a:txBody>
                  <a:tcPr anchor="ctr" marL="73152" marR="54864" marT="27432" marB="27432">
                    <a:solidFill>
                      <a:srgbClr val="0C2B4A"/>
                    </a:solidFill>
                  </a:tcPr>
                </a:tc>
                <a:tc>
                  <a:txBody>
                    <a:bodyPr wrap="square"/>
                    <a:lstStyle/>
                    <a:p>
                      <a:r>
                        <a:rPr sz="1150" b="1">
                          <a:solidFill>
                            <a:srgbClr val="FFFFFF"/>
                          </a:solidFill>
                        </a:rPr>
                        <a:t>Fair use?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Quoting a few lines of a Nepali poem in an essay</a:t>
                      </a:r>
                    </a:p>
                  </a:txBody>
                  <a:tcPr anchor="ctr" marL="73152" marR="54864" marT="27432" marB="27432">
                    <a:solidFill>
                      <a:srgbClr val="FFFFFF"/>
                    </a:solidFill>
                  </a:tcPr>
                </a:tc>
                <a:tc>
                  <a:txBody>
                    <a:bodyPr wrap="square"/>
                    <a:lstStyle/>
                    <a:p>
                      <a:r>
                        <a:rPr sz="1100">
                          <a:solidFill>
                            <a:srgbClr val="1A1A1A"/>
                          </a:solidFill>
                        </a:rPr>
                        <a:t>Fair use</a:t>
                      </a:r>
                    </a:p>
                  </a:txBody>
                  <a:tcPr anchor="ctr" marL="73152" marR="54864" marT="27432" marB="27432">
                    <a:solidFill>
                      <a:srgbClr val="FFFFFF"/>
                    </a:solidFill>
                  </a:tcPr>
                </a:tc>
                <a:tc>
                  <a:txBody>
                    <a:bodyPr wrap="square"/>
                    <a:lstStyle/>
                    <a:p>
                      <a:r>
                        <a:rPr sz="1100">
                          <a:solidFill>
                            <a:srgbClr val="1A1A1A"/>
                          </a:solidFill>
                        </a:rPr>
                        <a:t>Small amount, educational, no market harm</a:t>
                      </a:r>
                    </a:p>
                  </a:txBody>
                  <a:tcPr anchor="ctr" marL="73152" marR="54864" marT="27432" marB="27432">
                    <a:solidFill>
                      <a:srgbClr val="FFFFFF"/>
                    </a:solidFill>
                  </a:tcPr>
                </a:tc>
              </a:tr>
              <a:tr h="630936">
                <a:tc>
                  <a:txBody>
                    <a:bodyPr wrap="square"/>
                    <a:lstStyle/>
                    <a:p>
                      <a:r>
                        <a:rPr sz="1100" b="1">
                          <a:solidFill>
                            <a:srgbClr val="0C2B4A"/>
                          </a:solidFill>
                        </a:rPr>
                        <a:t>Photocopying a whole textbook for the class</a:t>
                      </a:r>
                    </a:p>
                  </a:txBody>
                  <a:tcPr anchor="ctr" marL="73152" marR="54864" marT="27432" marB="27432">
                    <a:solidFill>
                      <a:srgbClr val="EEF3F8"/>
                    </a:solidFill>
                  </a:tcPr>
                </a:tc>
                <a:tc>
                  <a:txBody>
                    <a:bodyPr wrap="square"/>
                    <a:lstStyle/>
                    <a:p>
                      <a:r>
                        <a:rPr sz="1100">
                          <a:solidFill>
                            <a:srgbClr val="1A1A1A"/>
                          </a:solidFill>
                        </a:rPr>
                        <a:t>Infringement</a:t>
                      </a:r>
                    </a:p>
                  </a:txBody>
                  <a:tcPr anchor="ctr" marL="73152" marR="54864" marT="27432" marB="27432">
                    <a:solidFill>
                      <a:srgbClr val="EEF3F8"/>
                    </a:solidFill>
                  </a:tcPr>
                </a:tc>
                <a:tc>
                  <a:txBody>
                    <a:bodyPr wrap="square"/>
                    <a:lstStyle/>
                    <a:p>
                      <a:r>
                        <a:rPr sz="1100">
                          <a:solidFill>
                            <a:srgbClr val="1A1A1A"/>
                          </a:solidFill>
                        </a:rPr>
                        <a:t>Copies the entire work; harms the book's market</a:t>
                      </a:r>
                    </a:p>
                  </a:txBody>
                  <a:tcPr anchor="ctr" marL="73152" marR="54864" marT="27432" marB="27432">
                    <a:solidFill>
                      <a:srgbClr val="EEF3F8"/>
                    </a:solidFill>
                  </a:tcPr>
                </a:tc>
              </a:tr>
              <a:tr h="630936">
                <a:tc>
                  <a:txBody>
                    <a:bodyPr wrap="square"/>
                    <a:lstStyle/>
                    <a:p>
                      <a:r>
                        <a:rPr sz="1100" b="1">
                          <a:solidFill>
                            <a:srgbClr val="0C2B4A"/>
                          </a:solidFill>
                        </a:rPr>
                        <a:t>A short clip in a news report / review</a:t>
                      </a:r>
                    </a:p>
                  </a:txBody>
                  <a:tcPr anchor="ctr" marL="73152" marR="54864" marT="27432" marB="27432">
                    <a:solidFill>
                      <a:srgbClr val="FFFFFF"/>
                    </a:solidFill>
                  </a:tcPr>
                </a:tc>
                <a:tc>
                  <a:txBody>
                    <a:bodyPr wrap="square"/>
                    <a:lstStyle/>
                    <a:p>
                      <a:r>
                        <a:rPr sz="1100">
                          <a:solidFill>
                            <a:srgbClr val="1A1A1A"/>
                          </a:solidFill>
                        </a:rPr>
                        <a:t>Fair use</a:t>
                      </a:r>
                    </a:p>
                  </a:txBody>
                  <a:tcPr anchor="ctr" marL="73152" marR="54864" marT="27432" marB="27432">
                    <a:solidFill>
                      <a:srgbClr val="FFFFFF"/>
                    </a:solidFill>
                  </a:tcPr>
                </a:tc>
                <a:tc>
                  <a:txBody>
                    <a:bodyPr wrap="square"/>
                    <a:lstStyle/>
                    <a:p>
                      <a:r>
                        <a:rPr sz="1100">
                          <a:solidFill>
                            <a:srgbClr val="1A1A1A"/>
                          </a:solidFill>
                        </a:rPr>
                        <a:t>News/criticism purpose, limited amount</a:t>
                      </a:r>
                    </a:p>
                  </a:txBody>
                  <a:tcPr anchor="ctr" marL="73152" marR="54864" marT="27432" marB="27432">
                    <a:solidFill>
                      <a:srgbClr val="FFFFFF"/>
                    </a:solidFill>
                  </a:tcPr>
                </a:tc>
              </a:tr>
              <a:tr h="630936">
                <a:tc>
                  <a:txBody>
                    <a:bodyPr wrap="square"/>
                    <a:lstStyle/>
                    <a:p>
                      <a:r>
                        <a:rPr sz="1100" b="1">
                          <a:solidFill>
                            <a:srgbClr val="0C2B4A"/>
                          </a:solidFill>
                        </a:rPr>
                        <a:t>Uploading a full movie to YouTube</a:t>
                      </a:r>
                    </a:p>
                  </a:txBody>
                  <a:tcPr anchor="ctr" marL="73152" marR="54864" marT="27432" marB="27432">
                    <a:solidFill>
                      <a:srgbClr val="EEF3F8"/>
                    </a:solidFill>
                  </a:tcPr>
                </a:tc>
                <a:tc>
                  <a:txBody>
                    <a:bodyPr wrap="square"/>
                    <a:lstStyle/>
                    <a:p>
                      <a:r>
                        <a:rPr sz="1100">
                          <a:solidFill>
                            <a:srgbClr val="1A1A1A"/>
                          </a:solidFill>
                        </a:rPr>
                        <a:t>Infringement</a:t>
                      </a:r>
                    </a:p>
                  </a:txBody>
                  <a:tcPr anchor="ctr" marL="73152" marR="54864" marT="27432" marB="27432">
                    <a:solidFill>
                      <a:srgbClr val="EEF3F8"/>
                    </a:solidFill>
                  </a:tcPr>
                </a:tc>
                <a:tc>
                  <a:txBody>
                    <a:bodyPr wrap="square"/>
                    <a:lstStyle/>
                    <a:p>
                      <a:r>
                        <a:rPr sz="1100">
                          <a:solidFill>
                            <a:srgbClr val="1A1A1A"/>
                          </a:solidFill>
                        </a:rPr>
                        <a:t>Whole work, no permission, destroys its market</a:t>
                      </a:r>
                    </a:p>
                  </a:txBody>
                  <a:tcPr anchor="ctr" marL="73152" marR="54864" marT="27432" marB="27432">
                    <a:solidFill>
                      <a:srgbClr val="EEF3F8"/>
                    </a:solidFill>
                  </a:tcPr>
                </a:tc>
              </a:tr>
              <a:tr h="630936">
                <a:tc>
                  <a:txBody>
                    <a:bodyPr wrap="square"/>
                    <a:lstStyle/>
                    <a:p>
                      <a:r>
                        <a:rPr sz="1100" b="1">
                          <a:solidFill>
                            <a:srgbClr val="0C2B4A"/>
                          </a:solidFill>
                        </a:rPr>
                        <a:t>A parody of a popular song</a:t>
                      </a:r>
                    </a:p>
                  </a:txBody>
                  <a:tcPr anchor="ctr" marL="73152" marR="54864" marT="27432" marB="27432">
                    <a:solidFill>
                      <a:srgbClr val="FFFFFF"/>
                    </a:solidFill>
                  </a:tcPr>
                </a:tc>
                <a:tc>
                  <a:txBody>
                    <a:bodyPr wrap="square"/>
                    <a:lstStyle/>
                    <a:p>
                      <a:r>
                        <a:rPr sz="1100">
                          <a:solidFill>
                            <a:srgbClr val="1A1A1A"/>
                          </a:solidFill>
                        </a:rPr>
                        <a:t>Often fair use</a:t>
                      </a:r>
                    </a:p>
                  </a:txBody>
                  <a:tcPr anchor="ctr" marL="73152" marR="54864" marT="27432" marB="27432">
                    <a:solidFill>
                      <a:srgbClr val="FFFFFF"/>
                    </a:solidFill>
                  </a:tcPr>
                </a:tc>
                <a:tc>
                  <a:txBody>
                    <a:bodyPr wrap="square"/>
                    <a:lstStyle/>
                    <a:p>
                      <a:r>
                        <a:rPr sz="1100">
                          <a:solidFill>
                            <a:srgbClr val="1A1A1A"/>
                          </a:solidFill>
                        </a:rPr>
                        <a:t>Parody is a recognised transformative purpose</a:t>
                      </a:r>
                    </a:p>
                  </a:txBody>
                  <a:tcPr anchor="ctr" marL="73152" marR="54864" marT="27432" marB="27432">
                    <a:solidFill>
                      <a:srgbClr val="FFFFFF"/>
                    </a:solidFill>
                  </a:tcPr>
                </a:tc>
              </a:tr>
              <a:tr h="630936">
                <a:tc>
                  <a:txBody>
                    <a:bodyPr wrap="square"/>
                    <a:lstStyle/>
                    <a:p>
                      <a:r>
                        <a:rPr sz="1100" b="1">
                          <a:solidFill>
                            <a:srgbClr val="0C2B4A"/>
                          </a:solidFill>
                        </a:rPr>
                        <a:t>Reposting an artist's full image on your page</a:t>
                      </a:r>
                    </a:p>
                  </a:txBody>
                  <a:tcPr anchor="ctr" marL="73152" marR="54864" marT="27432" marB="27432">
                    <a:solidFill>
                      <a:srgbClr val="EEF3F8"/>
                    </a:solidFill>
                  </a:tcPr>
                </a:tc>
                <a:tc>
                  <a:txBody>
                    <a:bodyPr wrap="square"/>
                    <a:lstStyle/>
                    <a:p>
                      <a:r>
                        <a:rPr sz="1100">
                          <a:solidFill>
                            <a:srgbClr val="1A1A1A"/>
                          </a:solidFill>
                        </a:rPr>
                        <a:t>Infringement</a:t>
                      </a:r>
                    </a:p>
                  </a:txBody>
                  <a:tcPr anchor="ctr" marL="73152" marR="54864" marT="27432" marB="27432">
                    <a:solidFill>
                      <a:srgbClr val="EEF3F8"/>
                    </a:solidFill>
                  </a:tcPr>
                </a:tc>
                <a:tc>
                  <a:txBody>
                    <a:bodyPr wrap="square"/>
                    <a:lstStyle/>
                    <a:p>
                      <a:r>
                        <a:rPr sz="1100">
                          <a:solidFill>
                            <a:srgbClr val="1A1A1A"/>
                          </a:solidFill>
                        </a:rPr>
                        <a:t>Whole work copied without permission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Fair use turns on purpose, how much you take, and market effect — not on whether you credited the author. Attribution avoids plagiarism, not infringement.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Copyright Duration &amp; Fair Use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Bhotahity photocopy-shop dilemma: quoting a few lines of a Nepali poem in your essay is fair use, but photocopying an entire textbook to save money is infringement — it copies the whole work and undercuts the book's market, no matter how unaffordable the original feels.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"Crediting the author makes copying legal." Attribution and permission are different issues: crediting avoids plagiarism (an integrity offence) but does NOT grant copyright permission (a legal one). You can be a scrupulous citer and still infringe by copying too much.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Copyright lasts a limited term — in Nepal generally the author's lifetime + 50 years — after which the work enters the public domain. Fair use permits limited use for education, research, news, criticism, and parody, judged by purpose, amount, and market effect. Crucially, attribution avoids plagiarism but is separate from copyright permission.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duration · public domain · life + 50 years · fair use · attribution ≠ permission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S11 — 'Fair use or infringement?'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decide fair use or infringement for three acts you've actually done or seen.</a:t>
            </a:r>
          </a:p>
          <a:p>
            <a:pPr>
              <a:spcAft>
                <a:spcPts val="700"/>
              </a:spcAft>
            </a:pPr>
            <a:r>
              <a:rPr sz="1550">
                <a:solidFill>
                  <a:srgbClr val="1A1A1A"/>
                </a:solidFill>
              </a:rPr>
              <a:t>•  Seeds: sharing a full PDF textbook in a class group; quoting two lines of a song in a caption; reposting a meme.</a:t>
            </a:r>
          </a:p>
          <a:p>
            <a:pPr>
              <a:spcAft>
                <a:spcPts val="700"/>
              </a:spcAft>
            </a:pPr>
            <a:r>
              <a:rPr sz="1550">
                <a:solidFill>
                  <a:srgbClr val="1A1A1A"/>
                </a:solidFill>
              </a:rPr>
              <a:t>•  Take 3–4 answers aloud (3 min); test each with purpose + amount + market effect.</a:t>
            </a:r>
          </a:p>
          <a:p>
            <a:pPr>
              <a:spcAft>
                <a:spcPts val="700"/>
              </a:spcAft>
            </a:pPr>
            <a:r>
              <a:rPr sz="1550">
                <a:solidFill>
                  <a:srgbClr val="1A1A1A"/>
                </a:solidFill>
              </a:rPr>
              <a:t>•  Close: notice attribution didn't decide any of them — that's the key trap.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Push students past 'but I credited it': crediting avoids plagiarism, not infringement. The full-textbook PDF is the clearest infringement (whole work, market harm); a two-line quote is the clearest fair use.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89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Copyright protects:</a:t>
            </a:r>
          </a:p>
          <a:p>
            <a:pPr lvl="1"/>
            <a:r>
              <a:rPr sz="1500" b="1">
                <a:solidFill>
                  <a:srgbClr val="0F6E56"/>
                </a:solidFill>
              </a:rPr>
              <a:t>a) ideas and facts   b) ✅ the expression, not the underlying idea   c) brand names   d) inventions</a:t>
            </a:r>
          </a:p>
          <a:p>
            <a:pPr lvl="1">
              <a:spcBef>
                <a:spcPts val="600"/>
              </a:spcBef>
            </a:pPr>
            <a:r>
              <a:rPr sz="1500" i="1">
                <a:solidFill>
                  <a:srgbClr val="1A1A1A"/>
                </a:solidFill>
              </a:rPr>
              <a:t>     Why: copyright covers your specific expression; the idea/fact/method behind it stays free.</a:t>
            </a:r>
          </a:p>
          <a:p>
            <a:pPr>
              <a:spcBef>
                <a:spcPts val="900"/>
              </a:spcBef>
            </a:pPr>
            <a:r>
              <a:rPr sz="1700" b="1">
                <a:solidFill>
                  <a:srgbClr val="0C2B4A"/>
                </a:solidFill>
              </a:rPr>
              <a:t>Q2.  In Nepal, copyright generally lasts:</a:t>
            </a:r>
          </a:p>
          <a:p>
            <a:pPr lvl="1"/>
            <a:r>
              <a:rPr sz="1500" b="1">
                <a:solidFill>
                  <a:srgbClr val="0F6E56"/>
                </a:solidFill>
              </a:rPr>
              <a:t>a) 10 years   b) forever   c) ✅ the author's life + 50 years   d) until registration lapses</a:t>
            </a:r>
          </a:p>
          <a:p>
            <a:pPr lvl="1">
              <a:spcBef>
                <a:spcPts val="600"/>
              </a:spcBef>
            </a:pPr>
            <a:r>
              <a:rPr sz="1500" i="1">
                <a:solidFill>
                  <a:srgbClr val="1A1A1A"/>
                </a:solidFill>
              </a:rPr>
              <a:t>     Why: after the term the work enters the public domain, free for everyone to use.</a:t>
            </a:r>
          </a:p>
          <a:p>
            <a:pPr lvl="1">
              <a:spcBef>
                <a:spcPts val="600"/>
              </a:spcBef>
            </a:pPr>
            <a:r>
              <a:rPr sz="1500" i="1">
                <a:solidFill>
                  <a:srgbClr val="1A1A1A"/>
                </a:solidFill>
              </a:rPr>
              <a:t>Discussion: is photocopying an entire textbook to save money fair use? Argue both sides.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89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IP = legal rights over creations of the mind, in four families (copyright, patent, trade secret, trademark).</a:t>
            </a:r>
          </a:p>
          <a:p>
            <a:pPr>
              <a:spcAft>
                <a:spcPts val="800"/>
              </a:spcAft>
            </a:pPr>
            <a:r>
              <a:rPr sz="1500">
                <a:solidFill>
                  <a:srgbClr val="1A1A1A"/>
                </a:solidFill>
              </a:rPr>
              <a:t>2.  Copyright protects fixed expression automatically — the expression, not the idea — under Nepal's Copyright Act 2059.</a:t>
            </a:r>
          </a:p>
          <a:p>
            <a:pPr>
              <a:spcAft>
                <a:spcPts val="800"/>
              </a:spcAft>
            </a:pPr>
            <a:r>
              <a:rPr sz="1500">
                <a:solidFill>
                  <a:srgbClr val="1A1A1A"/>
                </a:solidFill>
              </a:rPr>
              <a:t>3.  Copyright expires (life + 50 yrs → public domain) and has fair-use limits; attribution ≠ permission.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project, blog, song, or app you publish is automatically copyrighted — and so is everything you might be tempted to copy. Knowing the idea/expression line and fair use protects you from both infringing others and being infringed.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S12 — protecting inventions, not expression: patents.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89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12 · LECTURE HOUR 2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Patent</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Khalti and eSewa both let you pay by phone — could one have PATENTED mobile wallets and shut the other down? Why do drug prices and phone features hinge on this one question? A patent grants a temporary monopoly on an invention.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18 / 89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Patent — what it is and what is patentable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patent is an exclusive right granted for an invention — a new, useful, non-obvious product or process — in exchange for public disclosure. Unlike copyright (which protects expression), a patent protects the functional idea. It typically lasts about 20 years, then the invention becomes public.</a:t>
            </a:r>
          </a:p>
          <a:p>
            <a:pPr>
              <a:spcAft>
                <a:spcPts val="500"/>
              </a:spcAft>
            </a:pPr>
            <a:r>
              <a:rPr sz="1200" b="1">
                <a:solidFill>
                  <a:srgbClr val="185FA5"/>
                </a:solidFill>
              </a:rPr>
              <a:t>HOW IT WORKS</a:t>
            </a:r>
          </a:p>
          <a:p>
            <a:pPr>
              <a:spcAft>
                <a:spcPts val="600"/>
              </a:spcAft>
            </a:pPr>
            <a:r>
              <a:rPr sz="1400">
                <a:solidFill>
                  <a:srgbClr val="1A1A1A"/>
                </a:solidFill>
              </a:rPr>
              <a:t>•  Three tests: novelty (genuinely new), inventiveness (non-obvious to an expert), industrial applicability (useful/makeable).</a:t>
            </a:r>
          </a:p>
          <a:p>
            <a:pPr>
              <a:spcAft>
                <a:spcPts val="600"/>
              </a:spcAft>
            </a:pPr>
            <a:r>
              <a:rPr sz="1400">
                <a:solidFill>
                  <a:srgbClr val="1A1A1A"/>
                </a:solidFill>
              </a:rPr>
              <a:t>•  You must publicly DISCLOSE how it works — the public's payoff for granting you the monopoly.</a:t>
            </a:r>
          </a:p>
          <a:p>
            <a:pPr>
              <a:spcAft>
                <a:spcPts val="600"/>
              </a:spcAft>
            </a:pPr>
            <a:r>
              <a:rPr sz="1400">
                <a:solidFill>
                  <a:srgbClr val="1A1A1A"/>
                </a:solidFill>
              </a:rPr>
              <a:t>•  In Nepal, patents are registered with the Department of Industry; local tech patents are few (mostly designs, agro, herbal).</a:t>
            </a:r>
          </a:p>
          <a:p>
            <a:pPr>
              <a:spcAft>
                <a:spcPts val="600"/>
              </a:spcAft>
            </a:pPr>
            <a:r>
              <a:rPr sz="1400">
                <a:solidFill>
                  <a:srgbClr val="1A1A1A"/>
                </a:solidFill>
              </a:rPr>
              <a:t>•  Pure ideas, discoveries, and laws of nature are NOT patentable — only concrete, applicable inventions.</a:t>
            </a:r>
          </a:p>
        </p:txBody>
      </p:sp>
      <p:pic>
        <p:nvPicPr>
          <p:cNvPr id="6" name="Picture 5" descr="s12_funnel.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Novel + non-obvious + useful — pass all three or no patent.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89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patentability tests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743200"/>
                <a:gridCol w="4572000"/>
                <a:gridCol w="4114800"/>
              </a:tblGrid>
              <a:tr h="1104138">
                <a:tc>
                  <a:txBody>
                    <a:bodyPr wrap="square"/>
                    <a:lstStyle/>
                    <a:p>
                      <a:r>
                        <a:rPr sz="1250" b="1">
                          <a:solidFill>
                            <a:srgbClr val="FFFFFF"/>
                          </a:solidFill>
                        </a:rPr>
                        <a:t>Test</a:t>
                      </a:r>
                    </a:p>
                  </a:txBody>
                  <a:tcPr anchor="ctr" marL="73152" marR="54864" marT="27432" marB="27432">
                    <a:solidFill>
                      <a:srgbClr val="0C2B4A"/>
                    </a:solidFill>
                  </a:tcPr>
                </a:tc>
                <a:tc>
                  <a:txBody>
                    <a:bodyPr wrap="square"/>
                    <a:lstStyle/>
                    <a:p>
                      <a:r>
                        <a:rPr sz="1250" b="1">
                          <a:solidFill>
                            <a:srgbClr val="FFFFFF"/>
                          </a:solidFill>
                        </a:rPr>
                        <a:t>The question it asks</a:t>
                      </a:r>
                    </a:p>
                  </a:txBody>
                  <a:tcPr anchor="ctr" marL="73152" marR="54864" marT="27432" marB="27432">
                    <a:solidFill>
                      <a:srgbClr val="0C2B4A"/>
                    </a:solidFill>
                  </a:tcPr>
                </a:tc>
                <a:tc>
                  <a:txBody>
                    <a:bodyPr wrap="square"/>
                    <a:lstStyle/>
                    <a:p>
                      <a:r>
                        <a:rPr sz="1250" b="1">
                          <a:solidFill>
                            <a:srgbClr val="FFFFFF"/>
                          </a:solidFill>
                        </a:rPr>
                        <a:t>Fails if…</a:t>
                      </a:r>
                    </a:p>
                  </a:txBody>
                  <a:tcPr anchor="ctr" marL="73152" marR="54864" marT="27432" marB="27432">
                    <a:solidFill>
                      <a:srgbClr val="0C2B4A"/>
                    </a:solidFill>
                  </a:tcPr>
                </a:tc>
              </a:tr>
              <a:tr h="1104138">
                <a:tc>
                  <a:txBody>
                    <a:bodyPr wrap="square"/>
                    <a:lstStyle/>
                    <a:p>
                      <a:r>
                        <a:rPr sz="1200" b="1">
                          <a:solidFill>
                            <a:srgbClr val="0C2B4A"/>
                          </a:solidFill>
                        </a:rPr>
                        <a:t>Novelty</a:t>
                      </a:r>
                    </a:p>
                  </a:txBody>
                  <a:tcPr anchor="ctr" marL="73152" marR="54864" marT="27432" marB="27432">
                    <a:solidFill>
                      <a:srgbClr val="FFFFFF"/>
                    </a:solidFill>
                  </a:tcPr>
                </a:tc>
                <a:tc>
                  <a:txBody>
                    <a:bodyPr wrap="square"/>
                    <a:lstStyle/>
                    <a:p>
                      <a:r>
                        <a:rPr sz="1200">
                          <a:solidFill>
                            <a:srgbClr val="1A1A1A"/>
                          </a:solidFill>
                        </a:rPr>
                        <a:t>Is it genuinely new?</a:t>
                      </a:r>
                    </a:p>
                  </a:txBody>
                  <a:tcPr anchor="ctr" marL="73152" marR="54864" marT="27432" marB="27432">
                    <a:solidFill>
                      <a:srgbClr val="FFFFFF"/>
                    </a:solidFill>
                  </a:tcPr>
                </a:tc>
                <a:tc>
                  <a:txBody>
                    <a:bodyPr wrap="square"/>
                    <a:lstStyle/>
                    <a:p>
                      <a:r>
                        <a:rPr sz="1200">
                          <a:solidFill>
                            <a:srgbClr val="1A1A1A"/>
                          </a:solidFill>
                        </a:rPr>
                        <a:t>It's already known or published (prior art exists)</a:t>
                      </a:r>
                    </a:p>
                  </a:txBody>
                  <a:tcPr anchor="ctr" marL="73152" marR="54864" marT="27432" marB="27432">
                    <a:solidFill>
                      <a:srgbClr val="FFFFFF"/>
                    </a:solidFill>
                  </a:tcPr>
                </a:tc>
              </a:tr>
              <a:tr h="1104138">
                <a:tc>
                  <a:txBody>
                    <a:bodyPr wrap="square"/>
                    <a:lstStyle/>
                    <a:p>
                      <a:r>
                        <a:rPr sz="1200" b="1">
                          <a:solidFill>
                            <a:srgbClr val="0C2B4A"/>
                          </a:solidFill>
                        </a:rPr>
                        <a:t>Inventiveness (non-obviousness)</a:t>
                      </a:r>
                    </a:p>
                  </a:txBody>
                  <a:tcPr anchor="ctr" marL="73152" marR="54864" marT="27432" marB="27432">
                    <a:solidFill>
                      <a:srgbClr val="EEF3F8"/>
                    </a:solidFill>
                  </a:tcPr>
                </a:tc>
                <a:tc>
                  <a:txBody>
                    <a:bodyPr wrap="square"/>
                    <a:lstStyle/>
                    <a:p>
                      <a:r>
                        <a:rPr sz="1200">
                          <a:solidFill>
                            <a:srgbClr val="1A1A1A"/>
                          </a:solidFill>
                        </a:rPr>
                        <a:t>Is it non-obvious to a skilled expert?</a:t>
                      </a:r>
                    </a:p>
                  </a:txBody>
                  <a:tcPr anchor="ctr" marL="73152" marR="54864" marT="27432" marB="27432">
                    <a:solidFill>
                      <a:srgbClr val="EEF3F8"/>
                    </a:solidFill>
                  </a:tcPr>
                </a:tc>
                <a:tc>
                  <a:txBody>
                    <a:bodyPr wrap="square"/>
                    <a:lstStyle/>
                    <a:p>
                      <a:r>
                        <a:rPr sz="1200">
                          <a:solidFill>
                            <a:srgbClr val="1A1A1A"/>
                          </a:solidFill>
                        </a:rPr>
                        <a:t>An expert would find it an obvious next step</a:t>
                      </a:r>
                    </a:p>
                  </a:txBody>
                  <a:tcPr anchor="ctr" marL="73152" marR="54864" marT="27432" marB="27432">
                    <a:solidFill>
                      <a:srgbClr val="EEF3F8"/>
                    </a:solidFill>
                  </a:tcPr>
                </a:tc>
              </a:tr>
              <a:tr h="1104138">
                <a:tc>
                  <a:txBody>
                    <a:bodyPr wrap="square"/>
                    <a:lstStyle/>
                    <a:p>
                      <a:r>
                        <a:rPr sz="1200" b="1">
                          <a:solidFill>
                            <a:srgbClr val="0C2B4A"/>
                          </a:solidFill>
                        </a:rPr>
                        <a:t>Industrial applicability</a:t>
                      </a:r>
                    </a:p>
                  </a:txBody>
                  <a:tcPr anchor="ctr" marL="73152" marR="54864" marT="27432" marB="27432">
                    <a:solidFill>
                      <a:srgbClr val="FFFFFF"/>
                    </a:solidFill>
                  </a:tcPr>
                </a:tc>
                <a:tc>
                  <a:txBody>
                    <a:bodyPr wrap="square"/>
                    <a:lstStyle/>
                    <a:p>
                      <a:r>
                        <a:rPr sz="1200">
                          <a:solidFill>
                            <a:srgbClr val="1A1A1A"/>
                          </a:solidFill>
                        </a:rPr>
                        <a:t>Is it useful and can it be made?</a:t>
                      </a:r>
                    </a:p>
                  </a:txBody>
                  <a:tcPr anchor="ctr" marL="73152" marR="54864" marT="27432" marB="27432">
                    <a:solidFill>
                      <a:srgbClr val="FFFFFF"/>
                    </a:solidFill>
                  </a:tcPr>
                </a:tc>
                <a:tc>
                  <a:txBody>
                    <a:bodyPr wrap="square"/>
                    <a:lstStyle/>
                    <a:p>
                      <a:r>
                        <a:rPr sz="1200">
                          <a:solidFill>
                            <a:srgbClr val="1A1A1A"/>
                          </a:solidFill>
                        </a:rPr>
                        <a:t>It's abstract, a pure discovery, or a law of nature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three must pass. 'Being popular' or 'being clever' is not enough — and pure ideas/discoveries fail the third test outright.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89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Patent — what is patentable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Patents are registered with the Department of Industry, Nepal under the Patent, Design and Trademark Act. In practice Nepal has relatively few local tech patents — most filings are designs, agricultural, or herbal products — which is why a Nepali software team rarely relies on patents at all (S12 Concept 2).</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can patent any good idea." Pure ideas, discoveries, and laws of nature are not patentable — only a concrete, novel, non-obvious, useful invention is. 'I thought of mobile payments first' patents nothing; a specific new mechanism for doing it might.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patent is an exclusive right over a new, useful, non-obvious invention, granted in exchange for public disclosure and lasting about 20 years. It protects the functional idea (unlike copyright's expression) and must pass three tests: novelty, inventiveness, and industrial applicability. Abstract ideas, discoveries, and laws of nature cannot be patented.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patent · novelty · non-obviousness · industrial applicability · disclosure · ~20 years · protects the method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89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patentable? — applying the three tests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990563"/>
                <a:gridCol w="2253802"/>
                <a:gridCol w="4185633"/>
              </a:tblGrid>
              <a:tr h="552069">
                <a:tc>
                  <a:txBody>
                    <a:bodyPr wrap="square"/>
                    <a:lstStyle/>
                    <a:p>
                      <a:r>
                        <a:rPr sz="1150" b="1">
                          <a:solidFill>
                            <a:srgbClr val="FFFFFF"/>
                          </a:solidFill>
                        </a:rPr>
                        <a:t>Claimed 'invention'</a:t>
                      </a:r>
                    </a:p>
                  </a:txBody>
                  <a:tcPr anchor="ctr" marL="73152" marR="54864" marT="27432" marB="27432">
                    <a:solidFill>
                      <a:srgbClr val="0C2B4A"/>
                    </a:solidFill>
                  </a:tcPr>
                </a:tc>
                <a:tc>
                  <a:txBody>
                    <a:bodyPr wrap="square"/>
                    <a:lstStyle/>
                    <a:p>
                      <a:r>
                        <a:rPr sz="1150" b="1">
                          <a:solidFill>
                            <a:srgbClr val="FFFFFF"/>
                          </a:solidFill>
                        </a:rPr>
                        <a:t>Patentable?</a:t>
                      </a:r>
                    </a:p>
                  </a:txBody>
                  <a:tcPr anchor="ctr" marL="73152" marR="54864" marT="27432" marB="27432">
                    <a:solidFill>
                      <a:srgbClr val="0C2B4A"/>
                    </a:solidFill>
                  </a:tcPr>
                </a:tc>
                <a:tc>
                  <a:txBody>
                    <a:bodyPr wrap="square"/>
                    <a:lstStyle/>
                    <a:p>
                      <a:r>
                        <a:rPr sz="1150" b="1">
                          <a:solidFill>
                            <a:srgbClr val="FFFFFF"/>
                          </a:solidFill>
                        </a:rPr>
                        <a:t>Why / which test it fails</a:t>
                      </a:r>
                    </a:p>
                  </a:txBody>
                  <a:tcPr anchor="ctr" marL="73152" marR="54864" marT="27432" marB="27432">
                    <a:solidFill>
                      <a:srgbClr val="0C2B4A"/>
                    </a:solidFill>
                  </a:tcPr>
                </a:tc>
              </a:tr>
              <a:tr h="552069">
                <a:tc>
                  <a:txBody>
                    <a:bodyPr wrap="square"/>
                    <a:lstStyle/>
                    <a:p>
                      <a:r>
                        <a:rPr sz="1100" b="1">
                          <a:solidFill>
                            <a:srgbClr val="0C2B4A"/>
                          </a:solidFill>
                        </a:rPr>
                        <a:t>A new herbal water-filter mechanism</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Novel, non-obvious, industrially useful</a:t>
                      </a:r>
                    </a:p>
                  </a:txBody>
                  <a:tcPr anchor="ctr" marL="73152" marR="54864" marT="27432" marB="27432">
                    <a:solidFill>
                      <a:srgbClr val="FFFFFF"/>
                    </a:solidFill>
                  </a:tcPr>
                </a:tc>
              </a:tr>
              <a:tr h="552069">
                <a:tc>
                  <a:txBody>
                    <a:bodyPr wrap="square"/>
                    <a:lstStyle/>
                    <a:p>
                      <a:r>
                        <a:rPr sz="1100" b="1">
                          <a:solidFill>
                            <a:srgbClr val="0C2B4A"/>
                          </a:solidFill>
                        </a:rPr>
                        <a:t>'The idea of paying by mobile phone'</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A pure idea — fails industrial applicability</a:t>
                      </a:r>
                    </a:p>
                  </a:txBody>
                  <a:tcPr anchor="ctr" marL="73152" marR="54864" marT="27432" marB="27432">
                    <a:solidFill>
                      <a:srgbClr val="EEF3F8"/>
                    </a:solidFill>
                  </a:tcPr>
                </a:tc>
              </a:tr>
              <a:tr h="552069">
                <a:tc>
                  <a:txBody>
                    <a:bodyPr wrap="square"/>
                    <a:lstStyle/>
                    <a:p>
                      <a:r>
                        <a:rPr sz="1100" b="1">
                          <a:solidFill>
                            <a:srgbClr val="0C2B4A"/>
                          </a:solidFill>
                        </a:rPr>
                        <a:t>A genuinely new, faster momo-steamer design</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Passes all three tests</a:t>
                      </a:r>
                    </a:p>
                  </a:txBody>
                  <a:tcPr anchor="ctr" marL="73152" marR="54864" marT="27432" marB="27432">
                    <a:solidFill>
                      <a:srgbClr val="FFFFFF"/>
                    </a:solidFill>
                  </a:tcPr>
                </a:tc>
              </a:tr>
              <a:tr h="552069">
                <a:tc>
                  <a:txBody>
                    <a:bodyPr wrap="square"/>
                    <a:lstStyle/>
                    <a:p>
                      <a:r>
                        <a:rPr sz="1100" b="1">
                          <a:solidFill>
                            <a:srgbClr val="0C2B4A"/>
                          </a:solidFill>
                        </a:rPr>
                        <a:t>Adding an obvious 'share' button to an app</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Fails inventiveness — obvious to an expert</a:t>
                      </a:r>
                    </a:p>
                  </a:txBody>
                  <a:tcPr anchor="ctr" marL="73152" marR="54864" marT="27432" marB="27432">
                    <a:solidFill>
                      <a:srgbClr val="EEF3F8"/>
                    </a:solidFill>
                  </a:tcPr>
                </a:tc>
              </a:tr>
              <a:tr h="552069">
                <a:tc>
                  <a:txBody>
                    <a:bodyPr wrap="square"/>
                    <a:lstStyle/>
                    <a:p>
                      <a:r>
                        <a:rPr sz="1100" b="1">
                          <a:solidFill>
                            <a:srgbClr val="0C2B4A"/>
                          </a:solidFill>
                        </a:rPr>
                        <a:t>A law of nature / gravity formula</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 discovery, not an invention</a:t>
                      </a:r>
                    </a:p>
                  </a:txBody>
                  <a:tcPr anchor="ctr" marL="73152" marR="54864" marT="27432" marB="27432">
                    <a:solidFill>
                      <a:srgbClr val="FFFFFF"/>
                    </a:solidFill>
                  </a:tcPr>
                </a:tc>
              </a:tr>
              <a:tr h="552069">
                <a:tc>
                  <a:txBody>
                    <a:bodyPr wrap="square"/>
                    <a:lstStyle/>
                    <a:p>
                      <a:r>
                        <a:rPr sz="1100" b="1">
                          <a:solidFill>
                            <a:srgbClr val="0C2B4A"/>
                          </a:solidFill>
                        </a:rPr>
                        <a:t>A machine already sold in India last year</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Fails novelty — prior art exists</a:t>
                      </a:r>
                    </a:p>
                  </a:txBody>
                  <a:tcPr anchor="ctr" marL="73152" marR="54864" marT="27432" marB="27432">
                    <a:solidFill>
                      <a:srgbClr val="EEF3F8"/>
                    </a:solidFill>
                  </a:tcPr>
                </a:tc>
              </a:tr>
              <a:tr h="552069">
                <a:tc>
                  <a:txBody>
                    <a:bodyPr wrap="square"/>
                    <a:lstStyle/>
                    <a:p>
                      <a:r>
                        <a:rPr sz="1100" b="1">
                          <a:solidFill>
                            <a:srgbClr val="0C2B4A"/>
                          </a:solidFill>
                        </a:rPr>
                        <a:t>A novel agricultural threshing device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New, useful, makeable — DoI-filable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Popularity or cleverness is irrelevant — an invention must be new, non-obvious, AND useful/makeable. Pure ideas, discoveries, and laws of nature fail outright.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Software Patents — the debate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Software patents cover software-implemented methods or algorithms — and are controversial worldwide. Copyright already covers the CODE; a patent would cover the METHOD/function. Many jurisdictions (and Nepal in practice) restrict or disallow pure-software patents, partly because of the 'patent troll' problem.</a:t>
            </a:r>
          </a:p>
          <a:p>
            <a:pPr>
              <a:spcAft>
                <a:spcPts val="500"/>
              </a:spcAft>
            </a:pPr>
            <a:r>
              <a:rPr sz="1200" b="1">
                <a:solidFill>
                  <a:srgbClr val="185FA5"/>
                </a:solidFill>
              </a:rPr>
              <a:t>HOW IT WORKS</a:t>
            </a:r>
          </a:p>
          <a:p>
            <a:pPr>
              <a:spcAft>
                <a:spcPts val="600"/>
              </a:spcAft>
            </a:pPr>
            <a:r>
              <a:rPr sz="1400">
                <a:solidFill>
                  <a:srgbClr val="1A1A1A"/>
                </a:solidFill>
              </a:rPr>
              <a:t>•  Copyright protects the specific code; a software patent would monopolise the underlying technique itself.</a:t>
            </a:r>
          </a:p>
          <a:p>
            <a:pPr>
              <a:spcAft>
                <a:spcPts val="600"/>
              </a:spcAft>
            </a:pPr>
            <a:r>
              <a:rPr sz="1400">
                <a:solidFill>
                  <a:srgbClr val="1A1A1A"/>
                </a:solidFill>
              </a:rPr>
              <a:t>•  Broad software patents can block whole approaches, not just one product — a much bigger hammer.</a:t>
            </a:r>
          </a:p>
          <a:p>
            <a:pPr>
              <a:spcAft>
                <a:spcPts val="600"/>
              </a:spcAft>
            </a:pPr>
            <a:r>
              <a:rPr sz="1400">
                <a:solidFill>
                  <a:srgbClr val="1A1A1A"/>
                </a:solidFill>
              </a:rPr>
              <a:t>•  'Patent trolls' acquire patents only to sue, not to build — a widely-cited harm of software patents.</a:t>
            </a:r>
          </a:p>
          <a:p>
            <a:pPr>
              <a:spcAft>
                <a:spcPts val="600"/>
              </a:spcAft>
            </a:pPr>
            <a:r>
              <a:rPr sz="1400">
                <a:solidFill>
                  <a:srgbClr val="1A1A1A"/>
                </a:solidFill>
              </a:rPr>
              <a:t>•  In Nepal, a fintech innovation is usually protected by copyright + trade secret, not patent.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Copyright covers the code; a patent would cover the method — that's why it's contested.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Copyright vs patent — for the same piece of software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429000"/>
                <a:gridCol w="3918857"/>
                <a:gridCol w="4082142"/>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Copyright</a:t>
                      </a:r>
                    </a:p>
                  </a:txBody>
                  <a:tcPr anchor="ctr" marL="73152" marR="54864" marT="27432" marB="27432">
                    <a:solidFill>
                      <a:srgbClr val="0C2B4A"/>
                    </a:solidFill>
                  </a:tcPr>
                </a:tc>
                <a:tc>
                  <a:txBody>
                    <a:bodyPr wrap="square"/>
                    <a:lstStyle/>
                    <a:p>
                      <a:r>
                        <a:rPr sz="1150" b="1">
                          <a:solidFill>
                            <a:srgbClr val="FFFFFF"/>
                          </a:solidFill>
                        </a:rPr>
                        <a:t>Patent</a:t>
                      </a:r>
                    </a:p>
                  </a:txBody>
                  <a:tcPr anchor="ctr" marL="73152" marR="54864" marT="27432" marB="27432">
                    <a:solidFill>
                      <a:srgbClr val="0C2B4A"/>
                    </a:solidFill>
                  </a:tcPr>
                </a:tc>
              </a:tr>
              <a:tr h="736092">
                <a:tc>
                  <a:txBody>
                    <a:bodyPr wrap="square"/>
                    <a:lstStyle/>
                    <a:p>
                      <a:r>
                        <a:rPr sz="1100" b="1">
                          <a:solidFill>
                            <a:srgbClr val="0C2B4A"/>
                          </a:solidFill>
                        </a:rPr>
                        <a:t>What does it cover?</a:t>
                      </a:r>
                    </a:p>
                  </a:txBody>
                  <a:tcPr anchor="ctr" marL="73152" marR="54864" marT="27432" marB="27432">
                    <a:solidFill>
                      <a:srgbClr val="FFFFFF"/>
                    </a:solidFill>
                  </a:tcPr>
                </a:tc>
                <a:tc>
                  <a:txBody>
                    <a:bodyPr wrap="square"/>
                    <a:lstStyle/>
                    <a:p>
                      <a:r>
                        <a:rPr sz="1100">
                          <a:solidFill>
                            <a:srgbClr val="1A1A1A"/>
                          </a:solidFill>
                        </a:rPr>
                        <a:t>The specific written code</a:t>
                      </a:r>
                    </a:p>
                  </a:txBody>
                  <a:tcPr anchor="ctr" marL="73152" marR="54864" marT="27432" marB="27432">
                    <a:solidFill>
                      <a:srgbClr val="FFFFFF"/>
                    </a:solidFill>
                  </a:tcPr>
                </a:tc>
                <a:tc>
                  <a:txBody>
                    <a:bodyPr wrap="square"/>
                    <a:lstStyle/>
                    <a:p>
                      <a:r>
                        <a:rPr sz="1100">
                          <a:solidFill>
                            <a:srgbClr val="1A1A1A"/>
                          </a:solidFill>
                        </a:rPr>
                        <a:t>The underlying method / function</a:t>
                      </a:r>
                    </a:p>
                  </a:txBody>
                  <a:tcPr anchor="ctr" marL="73152" marR="54864" marT="27432" marB="27432">
                    <a:solidFill>
                      <a:srgbClr val="FFFFFF"/>
                    </a:solidFill>
                  </a:tcPr>
                </a:tc>
              </a:tr>
              <a:tr h="736092">
                <a:tc>
                  <a:txBody>
                    <a:bodyPr wrap="square"/>
                    <a:lstStyle/>
                    <a:p>
                      <a:r>
                        <a:rPr sz="1100" b="1">
                          <a:solidFill>
                            <a:srgbClr val="0C2B4A"/>
                          </a:solidFill>
                        </a:rPr>
                        <a:t>How strong is it?</a:t>
                      </a:r>
                    </a:p>
                  </a:txBody>
                  <a:tcPr anchor="ctr" marL="73152" marR="54864" marT="27432" marB="27432">
                    <a:solidFill>
                      <a:srgbClr val="EEF3F8"/>
                    </a:solidFill>
                  </a:tcPr>
                </a:tc>
                <a:tc>
                  <a:txBody>
                    <a:bodyPr wrap="square"/>
                    <a:lstStyle/>
                    <a:p>
                      <a:r>
                        <a:rPr sz="1100">
                          <a:solidFill>
                            <a:srgbClr val="1A1A1A"/>
                          </a:solidFill>
                        </a:rPr>
                        <a:t>Blocks copying your code</a:t>
                      </a:r>
                    </a:p>
                  </a:txBody>
                  <a:tcPr anchor="ctr" marL="73152" marR="54864" marT="27432" marB="27432">
                    <a:solidFill>
                      <a:srgbClr val="EEF3F8"/>
                    </a:solidFill>
                  </a:tcPr>
                </a:tc>
                <a:tc>
                  <a:txBody>
                    <a:bodyPr wrap="square"/>
                    <a:lstStyle/>
                    <a:p>
                      <a:r>
                        <a:rPr sz="1100">
                          <a:solidFill>
                            <a:srgbClr val="1A1A1A"/>
                          </a:solidFill>
                        </a:rPr>
                        <a:t>Blocks anyone using the technique at all</a:t>
                      </a:r>
                    </a:p>
                  </a:txBody>
                  <a:tcPr anchor="ctr" marL="73152" marR="54864" marT="27432" marB="27432">
                    <a:solidFill>
                      <a:srgbClr val="EEF3F8"/>
                    </a:solidFill>
                  </a:tcPr>
                </a:tc>
              </a:tr>
              <a:tr h="736092">
                <a:tc>
                  <a:txBody>
                    <a:bodyPr wrap="square"/>
                    <a:lstStyle/>
                    <a:p>
                      <a:r>
                        <a:rPr sz="1100" b="1">
                          <a:solidFill>
                            <a:srgbClr val="0C2B4A"/>
                          </a:solidFill>
                        </a:rPr>
                        <a:t>How do you get it?</a:t>
                      </a:r>
                    </a:p>
                  </a:txBody>
                  <a:tcPr anchor="ctr" marL="73152" marR="54864" marT="27432" marB="27432">
                    <a:solidFill>
                      <a:srgbClr val="FFFFFF"/>
                    </a:solidFill>
                  </a:tcPr>
                </a:tc>
                <a:tc>
                  <a:txBody>
                    <a:bodyPr wrap="square"/>
                    <a:lstStyle/>
                    <a:p>
                      <a:r>
                        <a:rPr sz="1100">
                          <a:solidFill>
                            <a:srgbClr val="1A1A1A"/>
                          </a:solidFill>
                        </a:rPr>
                        <a:t>Automatic on writing the code</a:t>
                      </a:r>
                    </a:p>
                  </a:txBody>
                  <a:tcPr anchor="ctr" marL="73152" marR="54864" marT="27432" marB="27432">
                    <a:solidFill>
                      <a:srgbClr val="FFFFFF"/>
                    </a:solidFill>
                  </a:tcPr>
                </a:tc>
                <a:tc>
                  <a:txBody>
                    <a:bodyPr wrap="square"/>
                    <a:lstStyle/>
                    <a:p>
                      <a:r>
                        <a:rPr sz="1100">
                          <a:solidFill>
                            <a:srgbClr val="1A1A1A"/>
                          </a:solidFill>
                        </a:rPr>
                        <a:t>Apply, disclose, pass 3 tests, pay fees</a:t>
                      </a:r>
                    </a:p>
                  </a:txBody>
                  <a:tcPr anchor="ctr" marL="73152" marR="54864" marT="27432" marB="27432">
                    <a:solidFill>
                      <a:srgbClr val="FFFFFF"/>
                    </a:solidFill>
                  </a:tcPr>
                </a:tc>
              </a:tr>
              <a:tr h="736092">
                <a:tc>
                  <a:txBody>
                    <a:bodyPr wrap="square"/>
                    <a:lstStyle/>
                    <a:p>
                      <a:r>
                        <a:rPr sz="1100" b="1">
                          <a:solidFill>
                            <a:srgbClr val="0C2B4A"/>
                          </a:solidFill>
                        </a:rPr>
                        <a:t>Available for pure software?</a:t>
                      </a:r>
                    </a:p>
                  </a:txBody>
                  <a:tcPr anchor="ctr" marL="73152" marR="54864" marT="27432" marB="27432">
                    <a:solidFill>
                      <a:srgbClr val="EEF3F8"/>
                    </a:solidFill>
                  </a:tcPr>
                </a:tc>
                <a:tc>
                  <a:txBody>
                    <a:bodyPr wrap="square"/>
                    <a:lstStyle/>
                    <a:p>
                      <a:r>
                        <a:rPr sz="1100">
                          <a:solidFill>
                            <a:srgbClr val="1A1A1A"/>
                          </a:solidFill>
                        </a:rPr>
                        <a:t>Yes — code is copyrightable</a:t>
                      </a:r>
                    </a:p>
                  </a:txBody>
                  <a:tcPr anchor="ctr" marL="73152" marR="54864" marT="27432" marB="27432">
                    <a:solidFill>
                      <a:srgbClr val="EEF3F8"/>
                    </a:solidFill>
                  </a:tcPr>
                </a:tc>
                <a:tc>
                  <a:txBody>
                    <a:bodyPr wrap="square"/>
                    <a:lstStyle/>
                    <a:p>
                      <a:r>
                        <a:rPr sz="1100">
                          <a:solidFill>
                            <a:srgbClr val="1A1A1A"/>
                          </a:solidFill>
                        </a:rPr>
                        <a:t>Often restricted / disallowed (incl. Nepal in practice)</a:t>
                      </a:r>
                    </a:p>
                  </a:txBody>
                  <a:tcPr anchor="ctr" marL="73152" marR="54864" marT="27432" marB="27432">
                    <a:solidFill>
                      <a:srgbClr val="EEF3F8"/>
                    </a:solidFill>
                  </a:tcPr>
                </a:tc>
              </a:tr>
              <a:tr h="736092">
                <a:tc>
                  <a:txBody>
                    <a:bodyPr wrap="square"/>
                    <a:lstStyle/>
                    <a:p>
                      <a:r>
                        <a:rPr sz="1100" b="1">
                          <a:solidFill>
                            <a:srgbClr val="0C2B4A"/>
                          </a:solidFill>
                        </a:rPr>
                        <a:t>Typical use by a Nepali startup</a:t>
                      </a:r>
                    </a:p>
                  </a:txBody>
                  <a:tcPr anchor="ctr" marL="73152" marR="54864" marT="27432" marB="27432">
                    <a:solidFill>
                      <a:srgbClr val="FFFFFF"/>
                    </a:solidFill>
                  </a:tcPr>
                </a:tc>
                <a:tc>
                  <a:txBody>
                    <a:bodyPr wrap="square"/>
                    <a:lstStyle/>
                    <a:p>
                      <a:r>
                        <a:rPr sz="1100">
                          <a:solidFill>
                            <a:srgbClr val="1A1A1A"/>
                          </a:solidFill>
                        </a:rPr>
                        <a:t>Yes — protects their codebase</a:t>
                      </a:r>
                    </a:p>
                  </a:txBody>
                  <a:tcPr anchor="ctr" marL="73152" marR="54864" marT="27432" marB="27432">
                    <a:solidFill>
                      <a:srgbClr val="FFFFFF"/>
                    </a:solidFill>
                  </a:tcPr>
                </a:tc>
                <a:tc>
                  <a:txBody>
                    <a:bodyPr wrap="square"/>
                    <a:lstStyle/>
                    <a:p>
                      <a:r>
                        <a:rPr sz="1100">
                          <a:solidFill>
                            <a:srgbClr val="1A1A1A"/>
                          </a:solidFill>
                        </a:rPr>
                        <a:t>Rare — copyright + trade secret used instead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why 'just copyright it' is usually the realistic answer for Nepali software — patents on pure software are contested and largely unavailable locally.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Software Patents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Kathmandu startup invents a clever load-balancing algorithm. Options: patent it (public disclosure, ~20-yr monopoly — but pure-software patents are largely unavailable in Nepal and costly), keep it a trade secret (private, unlimited — but no protection if a rival independently invents it), or open-source it (community adoption, no monopoly). Most local teams choose copyright + trade secret.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 should patent our software to protect it." For pure software this is often impossible or impractical — copyright already protects the code, and patents on software are restricted (including in Nepal) and expensive. The realistic tools are copyright + trade secret, sometimes open source.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Software patents cover the method or algorithm, not the code (which copyright already protects); they are controversial and, in many jurisdictions and Nepal in practice, restricted or disallowed, partly due to patent trolls who sue rather than build. A Nepali software innovation is usually protected by copyright plus trade secret rather than patent.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software patent · code vs method · patent troll · restricted for software · copyright + trade secret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89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Nepali software actually gets protected (not by patent)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3352800"/>
                <a:gridCol w="3505199"/>
              </a:tblGrid>
              <a:tr h="630936">
                <a:tc>
                  <a:txBody>
                    <a:bodyPr wrap="square"/>
                    <a:lstStyle/>
                    <a:p>
                      <a:r>
                        <a:rPr sz="1150" b="1">
                          <a:solidFill>
                            <a:srgbClr val="FFFFFF"/>
                          </a:solidFill>
                        </a:rPr>
                        <a:t>Software asset</a:t>
                      </a:r>
                    </a:p>
                  </a:txBody>
                  <a:tcPr anchor="ctr" marL="73152" marR="54864" marT="27432" marB="27432">
                    <a:solidFill>
                      <a:srgbClr val="0C2B4A"/>
                    </a:solidFill>
                  </a:tcPr>
                </a:tc>
                <a:tc>
                  <a:txBody>
                    <a:bodyPr wrap="square"/>
                    <a:lstStyle/>
                    <a:p>
                      <a:r>
                        <a:rPr sz="1150" b="1">
                          <a:solidFill>
                            <a:srgbClr val="FFFFFF"/>
                          </a:solidFill>
                        </a:rPr>
                        <a:t>Realistic protection</a:t>
                      </a:r>
                    </a:p>
                  </a:txBody>
                  <a:tcPr anchor="ctr" marL="73152" marR="54864" marT="27432" marB="27432">
                    <a:solidFill>
                      <a:srgbClr val="0C2B4A"/>
                    </a:solidFill>
                  </a:tcPr>
                </a:tc>
                <a:tc>
                  <a:txBody>
                    <a:bodyPr wrap="square"/>
                    <a:lstStyle/>
                    <a:p>
                      <a:r>
                        <a:rPr sz="1150" b="1">
                          <a:solidFill>
                            <a:srgbClr val="FFFFFF"/>
                          </a:solidFill>
                        </a:rPr>
                        <a:t>Why not a patent</a:t>
                      </a:r>
                    </a:p>
                  </a:txBody>
                  <a:tcPr anchor="ctr" marL="73152" marR="54864" marT="27432" marB="27432">
                    <a:solidFill>
                      <a:srgbClr val="0C2B4A"/>
                    </a:solidFill>
                  </a:tcPr>
                </a:tc>
              </a:tr>
              <a:tr h="630936">
                <a:tc>
                  <a:txBody>
                    <a:bodyPr wrap="square"/>
                    <a:lstStyle/>
                    <a:p>
                      <a:r>
                        <a:rPr sz="1100" b="1">
                          <a:solidFill>
                            <a:srgbClr val="0C2B4A"/>
                          </a:solidFill>
                        </a:rPr>
                        <a:t>A Kathmandu startup's app source code</a:t>
                      </a:r>
                    </a:p>
                  </a:txBody>
                  <a:tcPr anchor="ctr" marL="73152" marR="54864" marT="27432" marB="27432">
                    <a:solidFill>
                      <a:srgbClr val="FFFFFF"/>
                    </a:solidFill>
                  </a:tcPr>
                </a:tc>
                <a:tc>
                  <a:txBody>
                    <a:bodyPr wrap="square"/>
                    <a:lstStyle/>
                    <a:p>
                      <a:r>
                        <a:rPr sz="1100">
                          <a:solidFill>
                            <a:srgbClr val="1A1A1A"/>
                          </a:solidFill>
                        </a:rPr>
                        <a:t>Copyright</a:t>
                      </a:r>
                    </a:p>
                  </a:txBody>
                  <a:tcPr anchor="ctr" marL="73152" marR="54864" marT="27432" marB="27432">
                    <a:solidFill>
                      <a:srgbClr val="FFFFFF"/>
                    </a:solidFill>
                  </a:tcPr>
                </a:tc>
                <a:tc>
                  <a:txBody>
                    <a:bodyPr wrap="square"/>
                    <a:lstStyle/>
                    <a:p>
                      <a:r>
                        <a:rPr sz="1100">
                          <a:solidFill>
                            <a:srgbClr val="1A1A1A"/>
                          </a:solidFill>
                        </a:rPr>
                        <a:t>Automatic; code is copyrightable already</a:t>
                      </a:r>
                    </a:p>
                  </a:txBody>
                  <a:tcPr anchor="ctr" marL="73152" marR="54864" marT="27432" marB="27432">
                    <a:solidFill>
                      <a:srgbClr val="FFFFFF"/>
                    </a:solidFill>
                  </a:tcPr>
                </a:tc>
              </a:tr>
              <a:tr h="630936">
                <a:tc>
                  <a:txBody>
                    <a:bodyPr wrap="square"/>
                    <a:lstStyle/>
                    <a:p>
                      <a:r>
                        <a:rPr sz="1100" b="1">
                          <a:solidFill>
                            <a:srgbClr val="0C2B4A"/>
                          </a:solidFill>
                        </a:rPr>
                        <a:t>A clever server-side load-balancing algorithm</a:t>
                      </a:r>
                    </a:p>
                  </a:txBody>
                  <a:tcPr anchor="ctr" marL="73152" marR="54864" marT="27432" marB="27432">
                    <a:solidFill>
                      <a:srgbClr val="EEF3F8"/>
                    </a:solidFill>
                  </a:tcPr>
                </a:tc>
                <a:tc>
                  <a:txBody>
                    <a:bodyPr wrap="square"/>
                    <a:lstStyle/>
                    <a:p>
                      <a:r>
                        <a:rPr sz="1100">
                          <a:solidFill>
                            <a:srgbClr val="1A1A1A"/>
                          </a:solidFill>
                        </a:rPr>
                        <a:t>Trade secret</a:t>
                      </a:r>
                    </a:p>
                  </a:txBody>
                  <a:tcPr anchor="ctr" marL="73152" marR="54864" marT="27432" marB="27432">
                    <a:solidFill>
                      <a:srgbClr val="EEF3F8"/>
                    </a:solidFill>
                  </a:tcPr>
                </a:tc>
                <a:tc>
                  <a:txBody>
                    <a:bodyPr wrap="square"/>
                    <a:lstStyle/>
                    <a:p>
                      <a:r>
                        <a:rPr sz="1100">
                          <a:solidFill>
                            <a:srgbClr val="1A1A1A"/>
                          </a:solidFill>
                        </a:rPr>
                        <a:t>Never shipped; a patent would disclose it</a:t>
                      </a:r>
                    </a:p>
                  </a:txBody>
                  <a:tcPr anchor="ctr" marL="73152" marR="54864" marT="27432" marB="27432">
                    <a:solidFill>
                      <a:srgbClr val="EEF3F8"/>
                    </a:solidFill>
                  </a:tcPr>
                </a:tc>
              </a:tr>
              <a:tr h="630936">
                <a:tc>
                  <a:txBody>
                    <a:bodyPr wrap="square"/>
                    <a:lstStyle/>
                    <a:p>
                      <a:r>
                        <a:rPr sz="1100" b="1">
                          <a:solidFill>
                            <a:srgbClr val="0C2B4A"/>
                          </a:solidFill>
                        </a:rPr>
                        <a:t>A framework the team wants widely adopted</a:t>
                      </a:r>
                    </a:p>
                  </a:txBody>
                  <a:tcPr anchor="ctr" marL="73152" marR="54864" marT="27432" marB="27432">
                    <a:solidFill>
                      <a:srgbClr val="FFFFFF"/>
                    </a:solidFill>
                  </a:tcPr>
                </a:tc>
                <a:tc>
                  <a:txBody>
                    <a:bodyPr wrap="square"/>
                    <a:lstStyle/>
                    <a:p>
                      <a:r>
                        <a:rPr sz="1100">
                          <a:solidFill>
                            <a:srgbClr val="1A1A1A"/>
                          </a:solidFill>
                        </a:rPr>
                        <a:t>Open-source licence</a:t>
                      </a:r>
                    </a:p>
                  </a:txBody>
                  <a:tcPr anchor="ctr" marL="73152" marR="54864" marT="27432" marB="27432">
                    <a:solidFill>
                      <a:srgbClr val="FFFFFF"/>
                    </a:solidFill>
                  </a:tcPr>
                </a:tc>
                <a:tc>
                  <a:txBody>
                    <a:bodyPr wrap="square"/>
                    <a:lstStyle/>
                    <a:p>
                      <a:r>
                        <a:rPr sz="1100">
                          <a:solidFill>
                            <a:srgbClr val="1A1A1A"/>
                          </a:solidFill>
                        </a:rPr>
                        <a:t>Adoption matters more than a monopoly</a:t>
                      </a:r>
                    </a:p>
                  </a:txBody>
                  <a:tcPr anchor="ctr" marL="73152" marR="54864" marT="27432" marB="27432">
                    <a:solidFill>
                      <a:srgbClr val="FFFFFF"/>
                    </a:solidFill>
                  </a:tcPr>
                </a:tc>
              </a:tr>
              <a:tr h="630936">
                <a:tc>
                  <a:txBody>
                    <a:bodyPr wrap="square"/>
                    <a:lstStyle/>
                    <a:p>
                      <a:r>
                        <a:rPr sz="1100" b="1">
                          <a:solidFill>
                            <a:srgbClr val="0C2B4A"/>
                          </a:solidFill>
                        </a:rPr>
                        <a:t>A fintech app's fraud-detection logic</a:t>
                      </a:r>
                    </a:p>
                  </a:txBody>
                  <a:tcPr anchor="ctr" marL="73152" marR="54864" marT="27432" marB="27432">
                    <a:solidFill>
                      <a:srgbClr val="EEF3F8"/>
                    </a:solidFill>
                  </a:tcPr>
                </a:tc>
                <a:tc>
                  <a:txBody>
                    <a:bodyPr wrap="square"/>
                    <a:lstStyle/>
                    <a:p>
                      <a:r>
                        <a:rPr sz="1100">
                          <a:solidFill>
                            <a:srgbClr val="1A1A1A"/>
                          </a:solidFill>
                        </a:rPr>
                        <a:t>Copyright + trade secret</a:t>
                      </a:r>
                    </a:p>
                  </a:txBody>
                  <a:tcPr anchor="ctr" marL="73152" marR="54864" marT="27432" marB="27432">
                    <a:solidFill>
                      <a:srgbClr val="EEF3F8"/>
                    </a:solidFill>
                  </a:tcPr>
                </a:tc>
                <a:tc>
                  <a:txBody>
                    <a:bodyPr wrap="square"/>
                    <a:lstStyle/>
                    <a:p>
                      <a:r>
                        <a:rPr sz="1100">
                          <a:solidFill>
                            <a:srgbClr val="1A1A1A"/>
                          </a:solidFill>
                        </a:rPr>
                        <a:t>The standard Nepali software combo</a:t>
                      </a:r>
                    </a:p>
                  </a:txBody>
                  <a:tcPr anchor="ctr" marL="73152" marR="54864" marT="27432" marB="27432">
                    <a:solidFill>
                      <a:srgbClr val="EEF3F8"/>
                    </a:solidFill>
                  </a:tcPr>
                </a:tc>
              </a:tr>
              <a:tr h="630936">
                <a:tc>
                  <a:txBody>
                    <a:bodyPr wrap="square"/>
                    <a:lstStyle/>
                    <a:p>
                      <a:r>
                        <a:rPr sz="1100" b="1">
                          <a:solidFill>
                            <a:srgbClr val="0C2B4A"/>
                          </a:solidFill>
                        </a:rPr>
                        <a:t>'One-click checkout' style method</a:t>
                      </a:r>
                    </a:p>
                  </a:txBody>
                  <a:tcPr anchor="ctr" marL="73152" marR="54864" marT="27432" marB="27432">
                    <a:solidFill>
                      <a:srgbClr val="FFFFFF"/>
                    </a:solidFill>
                  </a:tcPr>
                </a:tc>
                <a:tc>
                  <a:txBody>
                    <a:bodyPr wrap="square"/>
                    <a:lstStyle/>
                    <a:p>
                      <a:r>
                        <a:rPr sz="1100">
                          <a:solidFill>
                            <a:srgbClr val="1A1A1A"/>
                          </a:solidFill>
                        </a:rPr>
                        <a:t>(hard to protect)</a:t>
                      </a:r>
                    </a:p>
                  </a:txBody>
                  <a:tcPr anchor="ctr" marL="73152" marR="54864" marT="27432" marB="27432">
                    <a:solidFill>
                      <a:srgbClr val="FFFFFF"/>
                    </a:solidFill>
                  </a:tcPr>
                </a:tc>
                <a:tc>
                  <a:txBody>
                    <a:bodyPr wrap="square"/>
                    <a:lstStyle/>
                    <a:p>
                      <a:r>
                        <a:rPr sz="1100">
                          <a:solidFill>
                            <a:srgbClr val="1A1A1A"/>
                          </a:solidFill>
                        </a:rPr>
                        <a:t>Pure-software patents restricted/unavailable here</a:t>
                      </a:r>
                    </a:p>
                  </a:txBody>
                  <a:tcPr anchor="ctr" marL="73152" marR="54864" marT="27432" marB="27432">
                    <a:solidFill>
                      <a:srgbClr val="FFFFFF"/>
                    </a:solidFill>
                  </a:tcPr>
                </a:tc>
              </a:tr>
              <a:tr h="630936">
                <a:tc>
                  <a:txBody>
                    <a:bodyPr wrap="square"/>
                    <a:lstStyle/>
                    <a:p>
                      <a:r>
                        <a:rPr sz="1100" b="1">
                          <a:solidFill>
                            <a:srgbClr val="0C2B4A"/>
                          </a:solidFill>
                        </a:rPr>
                        <a:t>A UI layout / look-and-feel</a:t>
                      </a:r>
                    </a:p>
                  </a:txBody>
                  <a:tcPr anchor="ctr" marL="73152" marR="54864" marT="27432" marB="27432">
                    <a:solidFill>
                      <a:srgbClr val="EEF3F8"/>
                    </a:solidFill>
                  </a:tcPr>
                </a:tc>
                <a:tc>
                  <a:txBody>
                    <a:bodyPr wrap="square"/>
                    <a:lstStyle/>
                    <a:p>
                      <a:r>
                        <a:rPr sz="1100">
                          <a:solidFill>
                            <a:srgbClr val="1A1A1A"/>
                          </a:solidFill>
                        </a:rPr>
                        <a:t>Copyright</a:t>
                      </a:r>
                    </a:p>
                  </a:txBody>
                  <a:tcPr anchor="ctr" marL="73152" marR="54864" marT="27432" marB="27432">
                    <a:solidFill>
                      <a:srgbClr val="EEF3F8"/>
                    </a:solidFill>
                  </a:tcPr>
                </a:tc>
                <a:tc>
                  <a:txBody>
                    <a:bodyPr wrap="square"/>
                    <a:lstStyle/>
                    <a:p>
                      <a:r>
                        <a:rPr sz="1100">
                          <a:solidFill>
                            <a:srgbClr val="1A1A1A"/>
                          </a:solidFill>
                        </a:rPr>
                        <a:t>Software patents contested, costly, and rare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 pure software in Nepal the realistic toolkit is copyright + trade secret (sometimes open source) — patents are contested, costly, and largely unavailable locally.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Patent Process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Getting a patent is a defined sequence: prior-art search → file an application with claims → examination → grant → maintenance/renewal fees. It is slow, costly, public, and TERRITORIAL — a Nepal patent gives no protection in India or the US.</a:t>
            </a:r>
          </a:p>
          <a:p>
            <a:pPr>
              <a:spcAft>
                <a:spcPts val="500"/>
              </a:spcAft>
            </a:pPr>
            <a:r>
              <a:rPr sz="1200" b="1">
                <a:solidFill>
                  <a:srgbClr val="185FA5"/>
                </a:solidFill>
              </a:rPr>
              <a:t>HOW IT WORKS</a:t>
            </a:r>
          </a:p>
          <a:p>
            <a:pPr>
              <a:spcAft>
                <a:spcPts val="600"/>
              </a:spcAft>
            </a:pPr>
            <a:r>
              <a:rPr sz="1400">
                <a:solidFill>
                  <a:srgbClr val="1A1A1A"/>
                </a:solidFill>
              </a:rPr>
              <a:t>•  The 'claims' precisely mark the boundaries of what you're monopolising — like a land survey.</a:t>
            </a:r>
          </a:p>
          <a:p>
            <a:pPr>
              <a:spcAft>
                <a:spcPts val="600"/>
              </a:spcAft>
            </a:pPr>
            <a:r>
              <a:rPr sz="1400">
                <a:solidFill>
                  <a:srgbClr val="1A1A1A"/>
                </a:solidFill>
              </a:rPr>
              <a:t>•  Because it's public, competitors can read exactly how your invention works (that's the disclosure bargain).</a:t>
            </a:r>
          </a:p>
          <a:p>
            <a:pPr>
              <a:spcAft>
                <a:spcPts val="600"/>
              </a:spcAft>
            </a:pPr>
            <a:r>
              <a:rPr sz="1400">
                <a:solidFill>
                  <a:srgbClr val="1A1A1A"/>
                </a:solidFill>
              </a:rPr>
              <a:t>•  Territoriality means global protection requires filing (and paying) in each country separately.</a:t>
            </a:r>
          </a:p>
          <a:p>
            <a:pPr>
              <a:spcAft>
                <a:spcPts val="600"/>
              </a:spcAft>
            </a:pPr>
            <a:r>
              <a:rPr sz="1400">
                <a:solidFill>
                  <a:srgbClr val="1A1A1A"/>
                </a:solidFill>
              </a:rPr>
              <a:t>•  Cost and effort push many Nepali startups to file abroad or skip patents entirely.</a:t>
            </a:r>
          </a:p>
        </p:txBody>
      </p:sp>
      <p:pic>
        <p:nvPicPr>
          <p:cNvPr id="6" name="Picture 5" descr="s12_process.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Search → file claims → examine → grant → renew (~20 yrs), one country at a time.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89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Four things the patent system demands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222500"/>
                <a:gridCol w="4603750"/>
                <a:gridCol w="4603750"/>
              </a:tblGrid>
              <a:tr h="883310">
                <a:tc>
                  <a:txBody>
                    <a:bodyPr wrap="square"/>
                    <a:lstStyle/>
                    <a:p>
                      <a:r>
                        <a:rPr sz="1200" b="1">
                          <a:solidFill>
                            <a:srgbClr val="FFFFFF"/>
                          </a:solidFill>
                        </a:rPr>
                        <a:t>Trait</a:t>
                      </a:r>
                    </a:p>
                  </a:txBody>
                  <a:tcPr anchor="ctr" marL="73152" marR="54864" marT="27432" marB="27432">
                    <a:solidFill>
                      <a:srgbClr val="0C2B4A"/>
                    </a:solidFill>
                  </a:tcPr>
                </a:tc>
                <a:tc>
                  <a:txBody>
                    <a:bodyPr wrap="square"/>
                    <a:lstStyle/>
                    <a:p>
                      <a:r>
                        <a:rPr sz="1200" b="1">
                          <a:solidFill>
                            <a:srgbClr val="FFFFFF"/>
                          </a:solidFill>
                        </a:rPr>
                        <a:t>What it means for you</a:t>
                      </a:r>
                    </a:p>
                  </a:txBody>
                  <a:tcPr anchor="ctr" marL="73152" marR="54864" marT="27432" marB="27432">
                    <a:solidFill>
                      <a:srgbClr val="0C2B4A"/>
                    </a:solidFill>
                  </a:tcPr>
                </a:tc>
                <a:tc>
                  <a:txBody>
                    <a:bodyPr wrap="square"/>
                    <a:lstStyle/>
                    <a:p>
                      <a:r>
                        <a:rPr sz="1200" b="1">
                          <a:solidFill>
                            <a:srgbClr val="FFFFFF"/>
                          </a:solidFill>
                        </a:rPr>
                        <a:t>Consequence</a:t>
                      </a:r>
                    </a:p>
                  </a:txBody>
                  <a:tcPr anchor="ctr" marL="73152" marR="54864" marT="27432" marB="27432">
                    <a:solidFill>
                      <a:srgbClr val="0C2B4A"/>
                    </a:solidFill>
                  </a:tcPr>
                </a:tc>
              </a:tr>
              <a:tr h="883310">
                <a:tc>
                  <a:txBody>
                    <a:bodyPr wrap="square"/>
                    <a:lstStyle/>
                    <a:p>
                      <a:r>
                        <a:rPr sz="1150" b="1">
                          <a:solidFill>
                            <a:srgbClr val="0C2B4A"/>
                          </a:solidFill>
                        </a:rPr>
                        <a:t>Slow</a:t>
                      </a:r>
                    </a:p>
                  </a:txBody>
                  <a:tcPr anchor="ctr" marL="73152" marR="54864" marT="27432" marB="27432">
                    <a:solidFill>
                      <a:srgbClr val="FFFFFF"/>
                    </a:solidFill>
                  </a:tcPr>
                </a:tc>
                <a:tc>
                  <a:txBody>
                    <a:bodyPr wrap="square"/>
                    <a:lstStyle/>
                    <a:p>
                      <a:r>
                        <a:rPr sz="1150">
                          <a:solidFill>
                            <a:srgbClr val="1A1A1A"/>
                          </a:solidFill>
                        </a:rPr>
                        <a:t>Examination can take years</a:t>
                      </a:r>
                    </a:p>
                  </a:txBody>
                  <a:tcPr anchor="ctr" marL="73152" marR="54864" marT="27432" marB="27432">
                    <a:solidFill>
                      <a:srgbClr val="FFFFFF"/>
                    </a:solidFill>
                  </a:tcPr>
                </a:tc>
                <a:tc>
                  <a:txBody>
                    <a:bodyPr wrap="square"/>
                    <a:lstStyle/>
                    <a:p>
                      <a:r>
                        <a:rPr sz="1150">
                          <a:solidFill>
                            <a:srgbClr val="1A1A1A"/>
                          </a:solidFill>
                        </a:rPr>
                        <a:t>Not a quick fix for a fast-moving product</a:t>
                      </a:r>
                    </a:p>
                  </a:txBody>
                  <a:tcPr anchor="ctr" marL="73152" marR="54864" marT="27432" marB="27432">
                    <a:solidFill>
                      <a:srgbClr val="FFFFFF"/>
                    </a:solidFill>
                  </a:tcPr>
                </a:tc>
              </a:tr>
              <a:tr h="883310">
                <a:tc>
                  <a:txBody>
                    <a:bodyPr wrap="square"/>
                    <a:lstStyle/>
                    <a:p>
                      <a:r>
                        <a:rPr sz="1150" b="1">
                          <a:solidFill>
                            <a:srgbClr val="0C2B4A"/>
                          </a:solidFill>
                        </a:rPr>
                        <a:t>Costly</a:t>
                      </a:r>
                    </a:p>
                  </a:txBody>
                  <a:tcPr anchor="ctr" marL="73152" marR="54864" marT="27432" marB="27432">
                    <a:solidFill>
                      <a:srgbClr val="EEF3F8"/>
                    </a:solidFill>
                  </a:tcPr>
                </a:tc>
                <a:tc>
                  <a:txBody>
                    <a:bodyPr wrap="square"/>
                    <a:lstStyle/>
                    <a:p>
                      <a:r>
                        <a:rPr sz="1150">
                          <a:solidFill>
                            <a:srgbClr val="1A1A1A"/>
                          </a:solidFill>
                        </a:rPr>
                        <a:t>Filing, attorney, and renewal fees</a:t>
                      </a:r>
                    </a:p>
                  </a:txBody>
                  <a:tcPr anchor="ctr" marL="73152" marR="54864" marT="27432" marB="27432">
                    <a:solidFill>
                      <a:srgbClr val="EEF3F8"/>
                    </a:solidFill>
                  </a:tcPr>
                </a:tc>
                <a:tc>
                  <a:txBody>
                    <a:bodyPr wrap="square"/>
                    <a:lstStyle/>
                    <a:p>
                      <a:r>
                        <a:rPr sz="1150">
                          <a:solidFill>
                            <a:srgbClr val="1A1A1A"/>
                          </a:solidFill>
                        </a:rPr>
                        <a:t>Prices out many small Nepali startups</a:t>
                      </a:r>
                    </a:p>
                  </a:txBody>
                  <a:tcPr anchor="ctr" marL="73152" marR="54864" marT="27432" marB="27432">
                    <a:solidFill>
                      <a:srgbClr val="EEF3F8"/>
                    </a:solidFill>
                  </a:tcPr>
                </a:tc>
              </a:tr>
              <a:tr h="883310">
                <a:tc>
                  <a:txBody>
                    <a:bodyPr wrap="square"/>
                    <a:lstStyle/>
                    <a:p>
                      <a:r>
                        <a:rPr sz="1150" b="1">
                          <a:solidFill>
                            <a:srgbClr val="0C2B4A"/>
                          </a:solidFill>
                        </a:rPr>
                        <a:t>Public</a:t>
                      </a:r>
                    </a:p>
                  </a:txBody>
                  <a:tcPr anchor="ctr" marL="73152" marR="54864" marT="27432" marB="27432">
                    <a:solidFill>
                      <a:srgbClr val="FFFFFF"/>
                    </a:solidFill>
                  </a:tcPr>
                </a:tc>
                <a:tc>
                  <a:txBody>
                    <a:bodyPr wrap="square"/>
                    <a:lstStyle/>
                    <a:p>
                      <a:r>
                        <a:rPr sz="1150">
                          <a:solidFill>
                            <a:srgbClr val="1A1A1A"/>
                          </a:solidFill>
                        </a:rPr>
                        <a:t>Your invention is fully disclosed</a:t>
                      </a:r>
                    </a:p>
                  </a:txBody>
                  <a:tcPr anchor="ctr" marL="73152" marR="54864" marT="27432" marB="27432">
                    <a:solidFill>
                      <a:srgbClr val="FFFFFF"/>
                    </a:solidFill>
                  </a:tcPr>
                </a:tc>
                <a:tc>
                  <a:txBody>
                    <a:bodyPr wrap="square"/>
                    <a:lstStyle/>
                    <a:p>
                      <a:r>
                        <a:rPr sz="1150">
                          <a:solidFill>
                            <a:srgbClr val="1A1A1A"/>
                          </a:solidFill>
                        </a:rPr>
                        <a:t>Rivals learn exactly how it works</a:t>
                      </a:r>
                    </a:p>
                  </a:txBody>
                  <a:tcPr anchor="ctr" marL="73152" marR="54864" marT="27432" marB="27432">
                    <a:solidFill>
                      <a:srgbClr val="FFFFFF"/>
                    </a:solidFill>
                  </a:tcPr>
                </a:tc>
              </a:tr>
              <a:tr h="883312">
                <a:tc>
                  <a:txBody>
                    <a:bodyPr wrap="square"/>
                    <a:lstStyle/>
                    <a:p>
                      <a:r>
                        <a:rPr sz="1150" b="1">
                          <a:solidFill>
                            <a:srgbClr val="0C2B4A"/>
                          </a:solidFill>
                        </a:rPr>
                        <a:t>Territorial</a:t>
                      </a:r>
                    </a:p>
                  </a:txBody>
                  <a:tcPr anchor="ctr" marL="73152" marR="54864" marT="27432" marB="27432">
                    <a:solidFill>
                      <a:srgbClr val="EEF3F8"/>
                    </a:solidFill>
                  </a:tcPr>
                </a:tc>
                <a:tc>
                  <a:txBody>
                    <a:bodyPr wrap="square"/>
                    <a:lstStyle/>
                    <a:p>
                      <a:r>
                        <a:rPr sz="1150">
                          <a:solidFill>
                            <a:srgbClr val="1A1A1A"/>
                          </a:solidFill>
                        </a:rPr>
                        <a:t>A Nepal patent protects only in Nepal</a:t>
                      </a:r>
                    </a:p>
                  </a:txBody>
                  <a:tcPr anchor="ctr" marL="73152" marR="54864" marT="27432" marB="27432">
                    <a:solidFill>
                      <a:srgbClr val="EEF3F8"/>
                    </a:solidFill>
                  </a:tcPr>
                </a:tc>
                <a:tc>
                  <a:txBody>
                    <a:bodyPr wrap="square"/>
                    <a:lstStyle/>
                    <a:p>
                      <a:r>
                        <a:rPr sz="1150">
                          <a:solidFill>
                            <a:srgbClr val="1A1A1A"/>
                          </a:solidFill>
                        </a:rPr>
                        <a:t>Global cover needs a filing per country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four traits together explain why patents suit visible, high-value, reverse-engineerable inventions — and why software teams often prefer trade secrets (S13).</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89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Patent Process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startup weighing a patent files at the DoI, but faces the cost/effort of a slow, public, territorial process — and a Nepal patent won't protect them in their export markets. That calculus pushes many to file abroad (expensive) or skip patents and rely on trade secrets and speed-to-market instead.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I have a patent, I'm protected everywhere." Patents are territorial — a Nepal patent means nothing in India, the US, or the EU. Worldwide protection means filing and paying in each jurisdiction separately, which is why global patents are a big-company game.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patent process runs prior-art search → file claims → examination → grant → renewal fees, and is slow, costly, public, and territorial. The claims define the monopoly's boundaries; disclosure is the public's payoff; and territoriality means protection stops at the border. These costs are why many Nepali startups file abroad or forgo patents.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prior-art search · claims · examination · grant · renewal · territorial · public disclosure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89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process's traits, as real filing consequences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3962399"/>
                <a:gridCol w="2895600"/>
              </a:tblGrid>
              <a:tr h="630936">
                <a:tc>
                  <a:txBody>
                    <a:bodyPr wrap="square"/>
                    <a:lstStyle/>
                    <a:p>
                      <a:r>
                        <a:rPr sz="1150" b="1">
                          <a:solidFill>
                            <a:srgbClr val="FFFFFF"/>
                          </a:solidFill>
                        </a:rPr>
                        <a:t>A patent filing decision</a:t>
                      </a:r>
                    </a:p>
                  </a:txBody>
                  <a:tcPr anchor="ctr" marL="73152" marR="54864" marT="27432" marB="27432">
                    <a:solidFill>
                      <a:srgbClr val="0C2B4A"/>
                    </a:solidFill>
                  </a:tcPr>
                </a:tc>
                <a:tc>
                  <a:txBody>
                    <a:bodyPr wrap="square"/>
                    <a:lstStyle/>
                    <a:p>
                      <a:r>
                        <a:rPr sz="1150" b="1">
                          <a:solidFill>
                            <a:srgbClr val="FFFFFF"/>
                          </a:solidFill>
                        </a:rPr>
                        <a:t>What happens</a:t>
                      </a:r>
                    </a:p>
                  </a:txBody>
                  <a:tcPr anchor="ctr" marL="73152" marR="54864" marT="27432" marB="27432">
                    <a:solidFill>
                      <a:srgbClr val="0C2B4A"/>
                    </a:solidFill>
                  </a:tcPr>
                </a:tc>
                <a:tc>
                  <a:txBody>
                    <a:bodyPr wrap="square"/>
                    <a:lstStyle/>
                    <a:p>
                      <a:r>
                        <a:rPr sz="1150" b="1">
                          <a:solidFill>
                            <a:srgbClr val="FFFFFF"/>
                          </a:solidFill>
                        </a:rPr>
                        <a:t>Because…</a:t>
                      </a:r>
                    </a:p>
                  </a:txBody>
                  <a:tcPr anchor="ctr" marL="73152" marR="54864" marT="27432" marB="27432">
                    <a:solidFill>
                      <a:srgbClr val="0C2B4A"/>
                    </a:solidFill>
                  </a:tcPr>
                </a:tc>
              </a:tr>
              <a:tr h="630936">
                <a:tc>
                  <a:txBody>
                    <a:bodyPr wrap="square"/>
                    <a:lstStyle/>
                    <a:p>
                      <a:r>
                        <a:rPr sz="1100" b="1">
                          <a:solidFill>
                            <a:srgbClr val="0C2B4A"/>
                          </a:solidFill>
                        </a:rPr>
                        <a:t>Files only in Nepal, but exports to India</a:t>
                      </a:r>
                    </a:p>
                  </a:txBody>
                  <a:tcPr anchor="ctr" marL="73152" marR="54864" marT="27432" marB="27432">
                    <a:solidFill>
                      <a:srgbClr val="FFFFFF"/>
                    </a:solidFill>
                  </a:tcPr>
                </a:tc>
                <a:tc>
                  <a:txBody>
                    <a:bodyPr wrap="square"/>
                    <a:lstStyle/>
                    <a:p>
                      <a:r>
                        <a:rPr sz="1100">
                          <a:solidFill>
                            <a:srgbClr val="1A1A1A"/>
                          </a:solidFill>
                        </a:rPr>
                        <a:t>No protection in India — rivals copy freely there</a:t>
                      </a:r>
                    </a:p>
                  </a:txBody>
                  <a:tcPr anchor="ctr" marL="73152" marR="54864" marT="27432" marB="27432">
                    <a:solidFill>
                      <a:srgbClr val="FFFFFF"/>
                    </a:solidFill>
                  </a:tcPr>
                </a:tc>
                <a:tc>
                  <a:txBody>
                    <a:bodyPr wrap="square"/>
                    <a:lstStyle/>
                    <a:p>
                      <a:r>
                        <a:rPr sz="1100">
                          <a:solidFill>
                            <a:srgbClr val="1A1A1A"/>
                          </a:solidFill>
                        </a:rPr>
                        <a:t>Patents are territorial</a:t>
                      </a:r>
                    </a:p>
                  </a:txBody>
                  <a:tcPr anchor="ctr" marL="73152" marR="54864" marT="27432" marB="27432">
                    <a:solidFill>
                      <a:srgbClr val="FFFFFF"/>
                    </a:solidFill>
                  </a:tcPr>
                </a:tc>
              </a:tr>
              <a:tr h="630936">
                <a:tc>
                  <a:txBody>
                    <a:bodyPr wrap="square"/>
                    <a:lstStyle/>
                    <a:p>
                      <a:r>
                        <a:rPr sz="1100" b="1">
                          <a:solidFill>
                            <a:srgbClr val="0C2B4A"/>
                          </a:solidFill>
                        </a:rPr>
                        <a:t>Rushes a fast-moving app feature to patent</a:t>
                      </a:r>
                    </a:p>
                  </a:txBody>
                  <a:tcPr anchor="ctr" marL="73152" marR="54864" marT="27432" marB="27432">
                    <a:solidFill>
                      <a:srgbClr val="EEF3F8"/>
                    </a:solidFill>
                  </a:tcPr>
                </a:tc>
                <a:tc>
                  <a:txBody>
                    <a:bodyPr wrap="square"/>
                    <a:lstStyle/>
                    <a:p>
                      <a:r>
                        <a:rPr sz="1100">
                          <a:solidFill>
                            <a:srgbClr val="1A1A1A"/>
                          </a:solidFill>
                        </a:rPr>
                        <a:t>Examination drags on for years; feature is stale</a:t>
                      </a:r>
                    </a:p>
                  </a:txBody>
                  <a:tcPr anchor="ctr" marL="73152" marR="54864" marT="27432" marB="27432">
                    <a:solidFill>
                      <a:srgbClr val="EEF3F8"/>
                    </a:solidFill>
                  </a:tcPr>
                </a:tc>
                <a:tc>
                  <a:txBody>
                    <a:bodyPr wrap="square"/>
                    <a:lstStyle/>
                    <a:p>
                      <a:r>
                        <a:rPr sz="1100">
                          <a:solidFill>
                            <a:srgbClr val="1A1A1A"/>
                          </a:solidFill>
                        </a:rPr>
                        <a:t>The process is slow</a:t>
                      </a:r>
                    </a:p>
                  </a:txBody>
                  <a:tcPr anchor="ctr" marL="73152" marR="54864" marT="27432" marB="27432">
                    <a:solidFill>
                      <a:srgbClr val="EEF3F8"/>
                    </a:solidFill>
                  </a:tcPr>
                </a:tc>
              </a:tr>
              <a:tr h="630936">
                <a:tc>
                  <a:txBody>
                    <a:bodyPr wrap="square"/>
                    <a:lstStyle/>
                    <a:p>
                      <a:r>
                        <a:rPr sz="1100" b="1">
                          <a:solidFill>
                            <a:srgbClr val="0C2B4A"/>
                          </a:solidFill>
                        </a:rPr>
                        <a:t>Small startup tries to patent globally</a:t>
                      </a:r>
                    </a:p>
                  </a:txBody>
                  <a:tcPr anchor="ctr" marL="73152" marR="54864" marT="27432" marB="27432">
                    <a:solidFill>
                      <a:srgbClr val="FFFFFF"/>
                    </a:solidFill>
                  </a:tcPr>
                </a:tc>
                <a:tc>
                  <a:txBody>
                    <a:bodyPr wrap="square"/>
                    <a:lstStyle/>
                    <a:p>
                      <a:r>
                        <a:rPr sz="1100">
                          <a:solidFill>
                            <a:srgbClr val="1A1A1A"/>
                          </a:solidFill>
                        </a:rPr>
                        <a:t>Fees per country drain the budget</a:t>
                      </a:r>
                    </a:p>
                  </a:txBody>
                  <a:tcPr anchor="ctr" marL="73152" marR="54864" marT="27432" marB="27432">
                    <a:solidFill>
                      <a:srgbClr val="FFFFFF"/>
                    </a:solidFill>
                  </a:tcPr>
                </a:tc>
                <a:tc>
                  <a:txBody>
                    <a:bodyPr wrap="square"/>
                    <a:lstStyle/>
                    <a:p>
                      <a:r>
                        <a:rPr sz="1100">
                          <a:solidFill>
                            <a:srgbClr val="1A1A1A"/>
                          </a:solidFill>
                        </a:rPr>
                        <a:t>Costly, one country at a time</a:t>
                      </a:r>
                    </a:p>
                  </a:txBody>
                  <a:tcPr anchor="ctr" marL="73152" marR="54864" marT="27432" marB="27432">
                    <a:solidFill>
                      <a:srgbClr val="FFFFFF"/>
                    </a:solidFill>
                  </a:tcPr>
                </a:tc>
              </a:tr>
              <a:tr h="630936">
                <a:tc>
                  <a:txBody>
                    <a:bodyPr wrap="square"/>
                    <a:lstStyle/>
                    <a:p>
                      <a:r>
                        <a:rPr sz="1100" b="1">
                          <a:solidFill>
                            <a:srgbClr val="0C2B4A"/>
                          </a:solidFill>
                        </a:rPr>
                        <a:t>Patents a device; a rival reads the claims</a:t>
                      </a:r>
                    </a:p>
                  </a:txBody>
                  <a:tcPr anchor="ctr" marL="73152" marR="54864" marT="27432" marB="27432">
                    <a:solidFill>
                      <a:srgbClr val="EEF3F8"/>
                    </a:solidFill>
                  </a:tcPr>
                </a:tc>
                <a:tc>
                  <a:txBody>
                    <a:bodyPr wrap="square"/>
                    <a:lstStyle/>
                    <a:p>
                      <a:r>
                        <a:rPr sz="1100">
                          <a:solidFill>
                            <a:srgbClr val="1A1A1A"/>
                          </a:solidFill>
                        </a:rPr>
                        <a:t>Rival learns exactly how it works</a:t>
                      </a:r>
                    </a:p>
                  </a:txBody>
                  <a:tcPr anchor="ctr" marL="73152" marR="54864" marT="27432" marB="27432">
                    <a:solidFill>
                      <a:srgbClr val="EEF3F8"/>
                    </a:solidFill>
                  </a:tcPr>
                </a:tc>
                <a:tc>
                  <a:txBody>
                    <a:bodyPr wrap="square"/>
                    <a:lstStyle/>
                    <a:p>
                      <a:r>
                        <a:rPr sz="1100">
                          <a:solidFill>
                            <a:srgbClr val="1A1A1A"/>
                          </a:solidFill>
                        </a:rPr>
                        <a:t>Grant requires full public disclosure</a:t>
                      </a:r>
                    </a:p>
                  </a:txBody>
                  <a:tcPr anchor="ctr" marL="73152" marR="54864" marT="27432" marB="27432">
                    <a:solidFill>
                      <a:srgbClr val="EEF3F8"/>
                    </a:solidFill>
                  </a:tcPr>
                </a:tc>
              </a:tr>
              <a:tr h="630936">
                <a:tc>
                  <a:txBody>
                    <a:bodyPr wrap="square"/>
                    <a:lstStyle/>
                    <a:p>
                      <a:r>
                        <a:rPr sz="1100" b="1">
                          <a:solidFill>
                            <a:srgbClr val="0C2B4A"/>
                          </a:solidFill>
                        </a:rPr>
                        <a:t>Skips the prior-art search</a:t>
                      </a:r>
                    </a:p>
                  </a:txBody>
                  <a:tcPr anchor="ctr" marL="73152" marR="54864" marT="27432" marB="27432">
                    <a:solidFill>
                      <a:srgbClr val="FFFFFF"/>
                    </a:solidFill>
                  </a:tcPr>
                </a:tc>
                <a:tc>
                  <a:txBody>
                    <a:bodyPr wrap="square"/>
                    <a:lstStyle/>
                    <a:p>
                      <a:r>
                        <a:rPr sz="1100">
                          <a:solidFill>
                            <a:srgbClr val="1A1A1A"/>
                          </a:solidFill>
                        </a:rPr>
                        <a:t>Application rejected — someone filed first</a:t>
                      </a:r>
                    </a:p>
                  </a:txBody>
                  <a:tcPr anchor="ctr" marL="73152" marR="54864" marT="27432" marB="27432">
                    <a:solidFill>
                      <a:srgbClr val="FFFFFF"/>
                    </a:solidFill>
                  </a:tcPr>
                </a:tc>
                <a:tc>
                  <a:txBody>
                    <a:bodyPr wrap="square"/>
                    <a:lstStyle/>
                    <a:p>
                      <a:r>
                        <a:rPr sz="1100">
                          <a:solidFill>
                            <a:srgbClr val="1A1A1A"/>
                          </a:solidFill>
                        </a:rPr>
                        <a:t>Novelty fails against existing prior art</a:t>
                      </a:r>
                    </a:p>
                  </a:txBody>
                  <a:tcPr anchor="ctr" marL="73152" marR="54864" marT="27432" marB="27432">
                    <a:solidFill>
                      <a:srgbClr val="FFFFFF"/>
                    </a:solidFill>
                  </a:tcPr>
                </a:tc>
              </a:tr>
              <a:tr h="630936">
                <a:tc>
                  <a:txBody>
                    <a:bodyPr wrap="square"/>
                    <a:lstStyle/>
                    <a:p>
                      <a:r>
                        <a:rPr sz="1100" b="1">
                          <a:solidFill>
                            <a:srgbClr val="0C2B4A"/>
                          </a:solidFill>
                        </a:rPr>
                        <a:t>Keeps a recipe secret instead of filing</a:t>
                      </a:r>
                    </a:p>
                  </a:txBody>
                  <a:tcPr anchor="ctr" marL="73152" marR="54864" marT="27432" marB="27432">
                    <a:solidFill>
                      <a:srgbClr val="EEF3F8"/>
                    </a:solidFill>
                  </a:tcPr>
                </a:tc>
                <a:tc>
                  <a:txBody>
                    <a:bodyPr wrap="square"/>
                    <a:lstStyle/>
                    <a:p>
                      <a:r>
                        <a:rPr sz="1100">
                          <a:solidFill>
                            <a:srgbClr val="1A1A1A"/>
                          </a:solidFill>
                        </a:rPr>
                        <a:t>Protection can last forever, undisclosed</a:t>
                      </a:r>
                    </a:p>
                  </a:txBody>
                  <a:tcPr anchor="ctr" marL="73152" marR="54864" marT="27432" marB="27432">
                    <a:solidFill>
                      <a:srgbClr val="EEF3F8"/>
                    </a:solidFill>
                  </a:tcPr>
                </a:tc>
                <a:tc>
                  <a:txBody>
                    <a:bodyPr wrap="square"/>
                    <a:lstStyle/>
                    <a:p>
                      <a:r>
                        <a:rPr sz="1100">
                          <a:solidFill>
                            <a:srgbClr val="1A1A1A"/>
                          </a:solidFill>
                        </a:rPr>
                        <a:t>No disclosure bargain if never patented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four traits — slow, costly, public, territorial — turn into real consequences. They're why many Nepali startups file abroad or skip patents for trade secrets.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89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S12 — 'Patent, secret, or open?'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Kathmandu startup has a clever new algorithm. Recommend patent / trade secret / open source.</a:t>
            </a:r>
          </a:p>
          <a:p>
            <a:pPr>
              <a:spcAft>
                <a:spcPts val="700"/>
              </a:spcAft>
            </a:pPr>
            <a:r>
              <a:rPr sz="1550">
                <a:solidFill>
                  <a:srgbClr val="1A1A1A"/>
                </a:solidFill>
              </a:rPr>
              <a:t>•  State one reason for and one reason against your choice.</a:t>
            </a:r>
          </a:p>
          <a:p>
            <a:pPr>
              <a:spcAft>
                <a:spcPts val="700"/>
              </a:spcAft>
            </a:pPr>
            <a:r>
              <a:rPr sz="1550">
                <a:solidFill>
                  <a:srgbClr val="1A1A1A"/>
                </a:solidFill>
              </a:rPr>
              <a:t>•  Take 3 answers aloud (3 min); surface the trade-offs (cost, disclosure, reverse-engineerability).</a:t>
            </a:r>
          </a:p>
          <a:p>
            <a:pPr>
              <a:spcAft>
                <a:spcPts val="700"/>
              </a:spcAft>
            </a:pPr>
            <a:r>
              <a:rPr sz="1550">
                <a:solidFill>
                  <a:srgbClr val="1A1A1A"/>
                </a:solidFill>
              </a:rPr>
              <a:t>•  Close: note that for pure software in Nepal, patent is usually the weakest real option.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weigh: is it reverse-engineerable once shipped? Is it costly to patent? Is community adoption valuable? Most land on copyright + trade secret, occasionally open source for adoption.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89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is NOT required for patentability?</a:t>
            </a:r>
          </a:p>
          <a:p>
            <a:pPr lvl="1"/>
            <a:r>
              <a:rPr sz="1500" b="1">
                <a:solidFill>
                  <a:srgbClr val="0F6E56"/>
                </a:solidFill>
              </a:rPr>
              <a:t>a) novelty   b) non-obviousness   c) usefulness   d) ✅ being widely popular</a:t>
            </a:r>
          </a:p>
          <a:p>
            <a:pPr lvl="1">
              <a:spcBef>
                <a:spcPts val="600"/>
              </a:spcBef>
            </a:pPr>
            <a:r>
              <a:rPr sz="1500" i="1">
                <a:solidFill>
                  <a:srgbClr val="1A1A1A"/>
                </a:solidFill>
              </a:rPr>
              <a:t>     Why: popularity is irrelevant — the three tests are novelty, inventiveness, and industrial applicability.</a:t>
            </a:r>
          </a:p>
          <a:p>
            <a:pPr>
              <a:spcBef>
                <a:spcPts val="900"/>
              </a:spcBef>
            </a:pPr>
            <a:r>
              <a:rPr sz="1700" b="1">
                <a:solidFill>
                  <a:srgbClr val="0C2B4A"/>
                </a:solidFill>
              </a:rPr>
              <a:t>Q2.  A typical patent term is about:</a:t>
            </a:r>
          </a:p>
          <a:p>
            <a:pPr lvl="1"/>
            <a:r>
              <a:rPr sz="1500" b="1">
                <a:solidFill>
                  <a:srgbClr val="0F6E56"/>
                </a:solidFill>
              </a:rPr>
              <a:t>a) 5 years   b) ✅ 20 years   c) the author's life + 50   d) unlimited</a:t>
            </a:r>
          </a:p>
          <a:p>
            <a:pPr lvl="1">
              <a:spcBef>
                <a:spcPts val="600"/>
              </a:spcBef>
            </a:pPr>
            <a:r>
              <a:rPr sz="1500" i="1">
                <a:solidFill>
                  <a:srgbClr val="1A1A1A"/>
                </a:solidFill>
              </a:rPr>
              <a:t>     Why: ~20 years of monopoly, then the invention enters the public domain (the disclosure bargain).</a:t>
            </a:r>
          </a:p>
          <a:p>
            <a:pPr lvl="1">
              <a:spcBef>
                <a:spcPts val="600"/>
              </a:spcBef>
            </a:pPr>
            <a:r>
              <a:rPr sz="1500" i="1">
                <a:solidFill>
                  <a:srgbClr val="1A1A1A"/>
                </a:solidFill>
              </a:rPr>
              <a:t>Discussion: should software be patentable in Nepal? What would it do to local startups?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89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Patents protect novel, useful, non-obvious inventions (the method) for ~20 years, in exchange for public disclosure.</a:t>
            </a:r>
          </a:p>
          <a:p>
            <a:pPr>
              <a:spcAft>
                <a:spcPts val="800"/>
              </a:spcAft>
            </a:pPr>
            <a:r>
              <a:rPr sz="1500">
                <a:solidFill>
                  <a:srgbClr val="1A1A1A"/>
                </a:solidFill>
              </a:rPr>
              <a:t>2.  Software patents are restricted/contested; Nepali software is usually protected by copyright + trade secret.</a:t>
            </a:r>
          </a:p>
          <a:p>
            <a:pPr>
              <a:spcAft>
                <a:spcPts val="800"/>
              </a:spcAft>
            </a:pPr>
            <a:r>
              <a:rPr sz="1500">
                <a:solidFill>
                  <a:srgbClr val="1A1A1A"/>
                </a:solidFill>
              </a:rPr>
              <a:t>3.  The process is slow, costly, public, and territorial — a Nepal patent protects only in Nepal.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Before launching a product you'll do a 'freedom-to-operate' check (are you infringing someone's patent?) and decide patent vs secret vs open source. That decision shapes cost, secrecy, and how you defend your product.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S13 — the patent's silent rival: trade secrets.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89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13 · LECTURE HOUR 3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Trade Secrets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Wai Wai's exact masala blend, KFC's spice mix, Google's search ranking — none are patented. They're protected by keeping quiet. How is silence a legal strategy? That's the trade secret.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34 / 89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 Secret — definition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trade secret is confidential business information that gives a competitive edge and is kept secret through reasonable effort. It covers formulas, recipes, processes, customer lists, algorithms, and source code. Protection lasts as long as it stays secret — potentially forever — and needs no registration.</a:t>
            </a:r>
          </a:p>
          <a:p>
            <a:pPr>
              <a:spcAft>
                <a:spcPts val="500"/>
              </a:spcAft>
            </a:pPr>
            <a:r>
              <a:rPr sz="1200" b="1">
                <a:solidFill>
                  <a:srgbClr val="185FA5"/>
                </a:solidFill>
              </a:rPr>
              <a:t>HOW IT WORKS</a:t>
            </a:r>
          </a:p>
          <a:p>
            <a:pPr>
              <a:spcAft>
                <a:spcPts val="600"/>
              </a:spcAft>
            </a:pPr>
            <a:r>
              <a:rPr sz="1400">
                <a:solidFill>
                  <a:srgbClr val="1A1A1A"/>
                </a:solidFill>
              </a:rPr>
              <a:t>•  No government grant and no filing — the protection IS the secrecy plus reasonable effort to keep it.</a:t>
            </a:r>
          </a:p>
          <a:p>
            <a:pPr>
              <a:spcAft>
                <a:spcPts val="600"/>
              </a:spcAft>
            </a:pPr>
            <a:r>
              <a:rPr sz="1400">
                <a:solidFill>
                  <a:srgbClr val="1A1A1A"/>
                </a:solidFill>
              </a:rPr>
              <a:t>•  It can last indefinitely (Coca-Cola's formula is over a century old and still secret).</a:t>
            </a:r>
          </a:p>
          <a:p>
            <a:pPr>
              <a:spcAft>
                <a:spcPts val="600"/>
              </a:spcAft>
            </a:pPr>
            <a:r>
              <a:rPr sz="1400">
                <a:solidFill>
                  <a:srgbClr val="1A1A1A"/>
                </a:solidFill>
              </a:rPr>
              <a:t>•  But it offers NO protection against independent discovery or legitimate reverse engineering.</a:t>
            </a:r>
          </a:p>
          <a:p>
            <a:pPr>
              <a:spcAft>
                <a:spcPts val="600"/>
              </a:spcAft>
            </a:pPr>
            <a:r>
              <a:rPr sz="1400">
                <a:solidFill>
                  <a:srgbClr val="1A1A1A"/>
                </a:solidFill>
              </a:rPr>
              <a:t>•  The moment the secret leaks or is figured out, the protection evaporates.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trade secret lasts forever — until the day someone else figures it out.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89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 secret vs patent — the key confusable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55571"/>
                <a:gridCol w="3918857"/>
                <a:gridCol w="3755571"/>
              </a:tblGrid>
              <a:tr h="736092">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Trade secret</a:t>
                      </a:r>
                    </a:p>
                  </a:txBody>
                  <a:tcPr anchor="ctr" marL="73152" marR="54864" marT="27432" marB="27432">
                    <a:solidFill>
                      <a:srgbClr val="0C2B4A"/>
                    </a:solidFill>
                  </a:tcPr>
                </a:tc>
                <a:tc>
                  <a:txBody>
                    <a:bodyPr wrap="square"/>
                    <a:lstStyle/>
                    <a:p>
                      <a:r>
                        <a:rPr sz="1150" b="1">
                          <a:solidFill>
                            <a:srgbClr val="FFFFFF"/>
                          </a:solidFill>
                        </a:rPr>
                        <a:t>Patent</a:t>
                      </a:r>
                    </a:p>
                  </a:txBody>
                  <a:tcPr anchor="ctr" marL="73152" marR="54864" marT="27432" marB="27432">
                    <a:solidFill>
                      <a:srgbClr val="0C2B4A"/>
                    </a:solidFill>
                  </a:tcPr>
                </a:tc>
              </a:tr>
              <a:tr h="736092">
                <a:tc>
                  <a:txBody>
                    <a:bodyPr wrap="square"/>
                    <a:lstStyle/>
                    <a:p>
                      <a:r>
                        <a:rPr sz="1100" b="1">
                          <a:solidFill>
                            <a:srgbClr val="0C2B4A"/>
                          </a:solidFill>
                        </a:rPr>
                        <a:t>Public or private?</a:t>
                      </a:r>
                    </a:p>
                  </a:txBody>
                  <a:tcPr anchor="ctr" marL="73152" marR="54864" marT="27432" marB="27432">
                    <a:solidFill>
                      <a:srgbClr val="FFFFFF"/>
                    </a:solidFill>
                  </a:tcPr>
                </a:tc>
                <a:tc>
                  <a:txBody>
                    <a:bodyPr wrap="square"/>
                    <a:lstStyle/>
                    <a:p>
                      <a:r>
                        <a:rPr sz="1100">
                          <a:solidFill>
                            <a:srgbClr val="1A1A1A"/>
                          </a:solidFill>
                        </a:rPr>
                        <a:t>Private — kept confidential</a:t>
                      </a:r>
                    </a:p>
                  </a:txBody>
                  <a:tcPr anchor="ctr" marL="73152" marR="54864" marT="27432" marB="27432">
                    <a:solidFill>
                      <a:srgbClr val="FFFFFF"/>
                    </a:solidFill>
                  </a:tcPr>
                </a:tc>
                <a:tc>
                  <a:txBody>
                    <a:bodyPr wrap="square"/>
                    <a:lstStyle/>
                    <a:p>
                      <a:r>
                        <a:rPr sz="1100">
                          <a:solidFill>
                            <a:srgbClr val="1A1A1A"/>
                          </a:solidFill>
                        </a:rPr>
                        <a:t>Public — fully disclosed</a:t>
                      </a:r>
                    </a:p>
                  </a:txBody>
                  <a:tcPr anchor="ctr" marL="73152" marR="54864" marT="27432" marB="27432">
                    <a:solidFill>
                      <a:srgbClr val="FFFFFF"/>
                    </a:solidFill>
                  </a:tcPr>
                </a:tc>
              </a:tr>
              <a:tr h="736092">
                <a:tc>
                  <a:txBody>
                    <a:bodyPr wrap="square"/>
                    <a:lstStyle/>
                    <a:p>
                      <a:r>
                        <a:rPr sz="1100" b="1">
                          <a:solidFill>
                            <a:srgbClr val="0C2B4A"/>
                          </a:solidFill>
                        </a:rPr>
                        <a:t>How long?</a:t>
                      </a:r>
                    </a:p>
                  </a:txBody>
                  <a:tcPr anchor="ctr" marL="73152" marR="54864" marT="27432" marB="27432">
                    <a:solidFill>
                      <a:srgbClr val="EEF3F8"/>
                    </a:solidFill>
                  </a:tcPr>
                </a:tc>
                <a:tc>
                  <a:txBody>
                    <a:bodyPr wrap="square"/>
                    <a:lstStyle/>
                    <a:p>
                      <a:r>
                        <a:rPr sz="1100">
                          <a:solidFill>
                            <a:srgbClr val="1A1A1A"/>
                          </a:solidFill>
                        </a:rPr>
                        <a:t>Unlimited — while it stays secret</a:t>
                      </a:r>
                    </a:p>
                  </a:txBody>
                  <a:tcPr anchor="ctr" marL="73152" marR="54864" marT="27432" marB="27432">
                    <a:solidFill>
                      <a:srgbClr val="EEF3F8"/>
                    </a:solidFill>
                  </a:tcPr>
                </a:tc>
                <a:tc>
                  <a:txBody>
                    <a:bodyPr wrap="square"/>
                    <a:lstStyle/>
                    <a:p>
                      <a:r>
                        <a:rPr sz="1100">
                          <a:solidFill>
                            <a:srgbClr val="1A1A1A"/>
                          </a:solidFill>
                        </a:rPr>
                        <a:t>~20 years, then public domain</a:t>
                      </a:r>
                    </a:p>
                  </a:txBody>
                  <a:tcPr anchor="ctr" marL="73152" marR="54864" marT="27432" marB="27432">
                    <a:solidFill>
                      <a:srgbClr val="EEF3F8"/>
                    </a:solidFill>
                  </a:tcPr>
                </a:tc>
              </a:tr>
              <a:tr h="736092">
                <a:tc>
                  <a:txBody>
                    <a:bodyPr wrap="square"/>
                    <a:lstStyle/>
                    <a:p>
                      <a:r>
                        <a:rPr sz="1100" b="1">
                          <a:solidFill>
                            <a:srgbClr val="0C2B4A"/>
                          </a:solidFill>
                        </a:rPr>
                        <a:t>Registration?</a:t>
                      </a:r>
                    </a:p>
                  </a:txBody>
                  <a:tcPr anchor="ctr" marL="73152" marR="54864" marT="27432" marB="27432">
                    <a:solidFill>
                      <a:srgbClr val="FFFFFF"/>
                    </a:solidFill>
                  </a:tcPr>
                </a:tc>
                <a:tc>
                  <a:txBody>
                    <a:bodyPr wrap="square"/>
                    <a:lstStyle/>
                    <a:p>
                      <a:r>
                        <a:rPr sz="1100">
                          <a:solidFill>
                            <a:srgbClr val="1A1A1A"/>
                          </a:solidFill>
                        </a:rPr>
                        <a:t>None</a:t>
                      </a:r>
                    </a:p>
                  </a:txBody>
                  <a:tcPr anchor="ctr" marL="73152" marR="54864" marT="27432" marB="27432">
                    <a:solidFill>
                      <a:srgbClr val="FFFFFF"/>
                    </a:solidFill>
                  </a:tcPr>
                </a:tc>
                <a:tc>
                  <a:txBody>
                    <a:bodyPr wrap="square"/>
                    <a:lstStyle/>
                    <a:p>
                      <a:r>
                        <a:rPr sz="1100">
                          <a:solidFill>
                            <a:srgbClr val="1A1A1A"/>
                          </a:solidFill>
                        </a:rPr>
                        <a:t>Formal application &amp; fees</a:t>
                      </a:r>
                    </a:p>
                  </a:txBody>
                  <a:tcPr anchor="ctr" marL="73152" marR="54864" marT="27432" marB="27432">
                    <a:solidFill>
                      <a:srgbClr val="FFFFFF"/>
                    </a:solidFill>
                  </a:tcPr>
                </a:tc>
              </a:tr>
              <a:tr h="736092">
                <a:tc>
                  <a:txBody>
                    <a:bodyPr wrap="square"/>
                    <a:lstStyle/>
                    <a:p>
                      <a:r>
                        <a:rPr sz="1100" b="1">
                          <a:solidFill>
                            <a:srgbClr val="0C2B4A"/>
                          </a:solidFill>
                        </a:rPr>
                        <a:t>Protects against independent discovery?</a:t>
                      </a:r>
                    </a:p>
                  </a:txBody>
                  <a:tcPr anchor="ctr" marL="73152" marR="54864" marT="27432" marB="27432">
                    <a:solidFill>
                      <a:srgbClr val="EEF3F8"/>
                    </a:solidFill>
                  </a:tcPr>
                </a:tc>
                <a:tc>
                  <a:txBody>
                    <a:bodyPr wrap="square"/>
                    <a:lstStyle/>
                    <a:p>
                      <a:r>
                        <a:rPr sz="1100">
                          <a:solidFill>
                            <a:srgbClr val="1A1A1A"/>
                          </a:solidFill>
                        </a:rPr>
                        <a:t>No — rival may invent it too</a:t>
                      </a:r>
                    </a:p>
                  </a:txBody>
                  <a:tcPr anchor="ctr" marL="73152" marR="54864" marT="27432" marB="27432">
                    <a:solidFill>
                      <a:srgbClr val="EEF3F8"/>
                    </a:solidFill>
                  </a:tcPr>
                </a:tc>
                <a:tc>
                  <a:txBody>
                    <a:bodyPr wrap="square"/>
                    <a:lstStyle/>
                    <a:p>
                      <a:r>
                        <a:rPr sz="1100">
                          <a:solidFill>
                            <a:srgbClr val="1A1A1A"/>
                          </a:solidFill>
                        </a:rPr>
                        <a:t>Yes — monopoly even vs independent inventors</a:t>
                      </a:r>
                    </a:p>
                  </a:txBody>
                  <a:tcPr anchor="ctr" marL="73152" marR="54864" marT="27432" marB="27432">
                    <a:solidFill>
                      <a:srgbClr val="EEF3F8"/>
                    </a:solidFill>
                  </a:tcPr>
                </a:tc>
              </a:tr>
              <a:tr h="736092">
                <a:tc>
                  <a:txBody>
                    <a:bodyPr wrap="square"/>
                    <a:lstStyle/>
                    <a:p>
                      <a:r>
                        <a:rPr sz="1100" b="1">
                          <a:solidFill>
                            <a:srgbClr val="0C2B4A"/>
                          </a:solidFill>
                        </a:rPr>
                        <a:t>Protects against reverse engineering?</a:t>
                      </a:r>
                    </a:p>
                  </a:txBody>
                  <a:tcPr anchor="ctr" marL="73152" marR="54864" marT="27432" marB="27432">
                    <a:solidFill>
                      <a:srgbClr val="FFFFFF"/>
                    </a:solidFill>
                  </a:tcPr>
                </a:tc>
                <a:tc>
                  <a:txBody>
                    <a:bodyPr wrap="square"/>
                    <a:lstStyle/>
                    <a:p>
                      <a:r>
                        <a:rPr sz="1100">
                          <a:solidFill>
                            <a:srgbClr val="1A1A1A"/>
                          </a:solidFill>
                        </a:rPr>
                        <a:t>No — legal reverse engineering breaks it</a:t>
                      </a:r>
                    </a:p>
                  </a:txBody>
                  <a:tcPr anchor="ctr" marL="73152" marR="54864" marT="27432" marB="27432">
                    <a:solidFill>
                      <a:srgbClr val="FFFFFF"/>
                    </a:solidFill>
                  </a:tcPr>
                </a:tc>
                <a:tc>
                  <a:txBody>
                    <a:bodyPr wrap="square"/>
                    <a:lstStyle/>
                    <a:p>
                      <a:r>
                        <a:rPr sz="1100">
                          <a:solidFill>
                            <a:srgbClr val="1A1A1A"/>
                          </a:solidFill>
                        </a:rPr>
                        <a:t>Yes — within the patent term</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invention, opposite strategies: a patent trades secrecy for a strong-but-temporary monopoly; a trade secret trades that monopoly for potentially-forever secrecy — but with no protection if independently found.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89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 Secret — definition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noodle/masala brand's spice ratio (Wai Wai / CG Foods), a restaurant's signature recipe, or a remittance company's pricing model are classic trade secrets — valuable, kept confidential, and protected simply by not telling anyone. No form is filed; the secrecy itself is the protection.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trade secret is basically the same as a patent." Opposite, in fact: a patent is public and time-limited; a trade secret is private and unlimited — but a patent protects you even if a rival independently invents the same thing, while a trade secret gives you nothing against independent discovery or legitimate reverse engineering.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trade secret is confidential business information (formula, recipe, process, customer list, algorithm, code) that provides a competitive edge and is protected by reasonable secrecy efforts, with no registration and potentially unlimited duration. Unlike a patent, it is private and can last forever, but offers no protection against independent discovery or legitimate reverse engineering.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trade secret · confidential · reasonable effort · unlimited but fragile · no registration · no protection vs independent discovery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89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a trade secret? — what qualifies and what doesn't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829577"/>
                <a:gridCol w="2575774"/>
                <a:gridCol w="4024647"/>
              </a:tblGrid>
              <a:tr h="552069">
                <a:tc>
                  <a:txBody>
                    <a:bodyPr wrap="square"/>
                    <a:lstStyle/>
                    <a:p>
                      <a:r>
                        <a:rPr sz="1150" b="1">
                          <a:solidFill>
                            <a:srgbClr val="FFFFFF"/>
                          </a:solidFill>
                        </a:rPr>
                        <a:t>The information</a:t>
                      </a:r>
                    </a:p>
                  </a:txBody>
                  <a:tcPr anchor="ctr" marL="73152" marR="54864" marT="27432" marB="27432">
                    <a:solidFill>
                      <a:srgbClr val="0C2B4A"/>
                    </a:solidFill>
                  </a:tcPr>
                </a:tc>
                <a:tc>
                  <a:txBody>
                    <a:bodyPr wrap="square"/>
                    <a:lstStyle/>
                    <a:p>
                      <a:r>
                        <a:rPr sz="1150" b="1">
                          <a:solidFill>
                            <a:srgbClr val="FFFFFF"/>
                          </a:solidFill>
                        </a:rPr>
                        <a:t>A trade secret?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552069">
                <a:tc>
                  <a:txBody>
                    <a:bodyPr wrap="square"/>
                    <a:lstStyle/>
                    <a:p>
                      <a:r>
                        <a:rPr sz="1100" b="1">
                          <a:solidFill>
                            <a:srgbClr val="0C2B4A"/>
                          </a:solidFill>
                        </a:rPr>
                        <a:t>Wai Wai / CG Foods' exact masala ratio</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Confidential, valuable, kept secret</a:t>
                      </a:r>
                    </a:p>
                  </a:txBody>
                  <a:tcPr anchor="ctr" marL="73152" marR="54864" marT="27432" marB="27432">
                    <a:solidFill>
                      <a:srgbClr val="FFFFFF"/>
                    </a:solidFill>
                  </a:tcPr>
                </a:tc>
              </a:tr>
              <a:tr h="552069">
                <a:tc>
                  <a:txBody>
                    <a:bodyPr wrap="square"/>
                    <a:lstStyle/>
                    <a:p>
                      <a:r>
                        <a:rPr sz="1100" b="1">
                          <a:solidFill>
                            <a:srgbClr val="0C2B4A"/>
                          </a:solidFill>
                        </a:rPr>
                        <a:t>A remittance firm's internal pricing model</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Secret info giving a competitive edge</a:t>
                      </a:r>
                    </a:p>
                  </a:txBody>
                  <a:tcPr anchor="ctr" marL="73152" marR="54864" marT="27432" marB="27432">
                    <a:solidFill>
                      <a:srgbClr val="EEF3F8"/>
                    </a:solidFill>
                  </a:tcPr>
                </a:tc>
              </a:tr>
              <a:tr h="552069">
                <a:tc>
                  <a:txBody>
                    <a:bodyPr wrap="square"/>
                    <a:lstStyle/>
                    <a:p>
                      <a:r>
                        <a:rPr sz="1100" b="1">
                          <a:solidFill>
                            <a:srgbClr val="0C2B4A"/>
                          </a:solidFill>
                        </a:rPr>
                        <a:t>A company's phone number on its website</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Already public — no secrecy</a:t>
                      </a:r>
                    </a:p>
                  </a:txBody>
                  <a:tcPr anchor="ctr" marL="73152" marR="54864" marT="27432" marB="27432">
                    <a:solidFill>
                      <a:srgbClr val="FFFFFF"/>
                    </a:solidFill>
                  </a:tcPr>
                </a:tc>
              </a:tr>
              <a:tr h="552069">
                <a:tc>
                  <a:txBody>
                    <a:bodyPr wrap="square"/>
                    <a:lstStyle/>
                    <a:p>
                      <a:r>
                        <a:rPr sz="1100" b="1">
                          <a:solidFill>
                            <a:srgbClr val="0C2B4A"/>
                          </a:solidFill>
                        </a:rPr>
                        <a:t>A restaurant's signature sauce recipe</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Kept in-house, never disclosed</a:t>
                      </a:r>
                    </a:p>
                  </a:txBody>
                  <a:tcPr anchor="ctr" marL="73152" marR="54864" marT="27432" marB="27432">
                    <a:solidFill>
                      <a:srgbClr val="EEF3F8"/>
                    </a:solidFill>
                  </a:tcPr>
                </a:tc>
              </a:tr>
              <a:tr h="552069">
                <a:tc>
                  <a:txBody>
                    <a:bodyPr wrap="square"/>
                    <a:lstStyle/>
                    <a:p>
                      <a:r>
                        <a:rPr sz="1100" b="1">
                          <a:solidFill>
                            <a:srgbClr val="0C2B4A"/>
                          </a:solidFill>
                        </a:rPr>
                        <a:t>A published, patented machine design</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The patent disclosed it — no longer secret</a:t>
                      </a:r>
                    </a:p>
                  </a:txBody>
                  <a:tcPr anchor="ctr" marL="73152" marR="54864" marT="27432" marB="27432">
                    <a:solidFill>
                      <a:srgbClr val="FFFFFF"/>
                    </a:solidFill>
                  </a:tcPr>
                </a:tc>
              </a:tr>
              <a:tr h="552069">
                <a:tc>
                  <a:txBody>
                    <a:bodyPr wrap="square"/>
                    <a:lstStyle/>
                    <a:p>
                      <a:r>
                        <a:rPr sz="1100" b="1">
                          <a:solidFill>
                            <a:srgbClr val="0C2B4A"/>
                          </a:solidFill>
                        </a:rPr>
                        <a:t>A software house's private source-code repo</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Confidential and access-controlled</a:t>
                      </a:r>
                    </a:p>
                  </a:txBody>
                  <a:tcPr anchor="ctr" marL="73152" marR="54864" marT="27432" marB="27432">
                    <a:solidFill>
                      <a:srgbClr val="EEF3F8"/>
                    </a:solidFill>
                  </a:tcPr>
                </a:tc>
              </a:tr>
              <a:tr h="552069">
                <a:tc>
                  <a:txBody>
                    <a:bodyPr wrap="square"/>
                    <a:lstStyle/>
                    <a:p>
                      <a:r>
                        <a:rPr sz="1100" b="1">
                          <a:solidFill>
                            <a:srgbClr val="0C2B4A"/>
                          </a:solidFill>
                        </a:rPr>
                        <a:t>Coca-Cola's formula</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Secret for over a century, never filed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It's a trade secret only if it's genuinely confidential AND kept secret by reasonable effort. Anything already public — or disclosed by a patent — cannot be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89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Trade Secrets Are Protected</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Trade secrets are protected by secrecy MEASURES, not a government grant. The toolkit: NDAs, confidentiality clauses in employment contracts, access controls, 'need-to-know' limits, and non-compete agreements. The law gives a remedy only if the secret was MISAPPROPRIATED — stolen, not independently discovered.</a:t>
            </a:r>
          </a:p>
          <a:p>
            <a:pPr>
              <a:spcAft>
                <a:spcPts val="500"/>
              </a:spcAft>
            </a:pPr>
            <a:r>
              <a:rPr sz="1200" b="1">
                <a:solidFill>
                  <a:srgbClr val="185FA5"/>
                </a:solidFill>
              </a:rPr>
              <a:t>HOW IT WORKS</a:t>
            </a:r>
          </a:p>
          <a:p>
            <a:pPr>
              <a:spcAft>
                <a:spcPts val="600"/>
              </a:spcAft>
            </a:pPr>
            <a:r>
              <a:rPr sz="1400">
                <a:solidFill>
                  <a:srgbClr val="1A1A1A"/>
                </a:solidFill>
              </a:rPr>
              <a:t>•  An NDA (non-disclosure agreement) legally binds people who must know the secret to keep it.</a:t>
            </a:r>
          </a:p>
          <a:p>
            <a:pPr>
              <a:spcAft>
                <a:spcPts val="600"/>
              </a:spcAft>
            </a:pPr>
            <a:r>
              <a:rPr sz="1400">
                <a:solidFill>
                  <a:srgbClr val="1A1A1A"/>
                </a:solidFill>
              </a:rPr>
              <a:t>•  Access controls + 'need-to-know' shrink the circle of people who could leak it.</a:t>
            </a:r>
          </a:p>
          <a:p>
            <a:pPr>
              <a:spcAft>
                <a:spcPts val="600"/>
              </a:spcAft>
            </a:pPr>
            <a:r>
              <a:rPr sz="1400">
                <a:solidFill>
                  <a:srgbClr val="1A1A1A"/>
                </a:solidFill>
              </a:rPr>
              <a:t>•  'Reasonable effort' matters legally: a secret you didn't try to protect may not count as one.</a:t>
            </a:r>
          </a:p>
          <a:p>
            <a:pPr>
              <a:spcAft>
                <a:spcPts val="600"/>
              </a:spcAft>
            </a:pPr>
            <a:r>
              <a:rPr sz="1400">
                <a:solidFill>
                  <a:srgbClr val="1A1A1A"/>
                </a:solidFill>
              </a:rPr>
              <a:t>•  If a rival independently invents or legally reverse-engineers it, that's not misappropriation — no remedy.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only own the secret if you can show you actually tried to keep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89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a trade secret is actually protected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88082"/>
                <a:gridCol w="4070958"/>
                <a:gridCol w="4070958"/>
              </a:tblGrid>
              <a:tr h="736092">
                <a:tc>
                  <a:txBody>
                    <a:bodyPr wrap="square"/>
                    <a:lstStyle/>
                    <a:p>
                      <a:r>
                        <a:rPr sz="1150" b="1">
                          <a:solidFill>
                            <a:srgbClr val="FFFFFF"/>
                          </a:solidFill>
                        </a:rPr>
                        <a:t>Protection measure</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 IT example</a:t>
                      </a:r>
                    </a:p>
                  </a:txBody>
                  <a:tcPr anchor="ctr" marL="73152" marR="54864" marT="27432" marB="27432">
                    <a:solidFill>
                      <a:srgbClr val="0C2B4A"/>
                    </a:solidFill>
                  </a:tcPr>
                </a:tc>
              </a:tr>
              <a:tr h="736092">
                <a:tc>
                  <a:txBody>
                    <a:bodyPr wrap="square"/>
                    <a:lstStyle/>
                    <a:p>
                      <a:r>
                        <a:rPr sz="1100" b="1">
                          <a:solidFill>
                            <a:srgbClr val="0C2B4A"/>
                          </a:solidFill>
                        </a:rPr>
                        <a:t>NDA / confidentiality clause</a:t>
                      </a:r>
                    </a:p>
                  </a:txBody>
                  <a:tcPr anchor="ctr" marL="73152" marR="54864" marT="27432" marB="27432">
                    <a:solidFill>
                      <a:srgbClr val="FFFFFF"/>
                    </a:solidFill>
                  </a:tcPr>
                </a:tc>
                <a:tc>
                  <a:txBody>
                    <a:bodyPr wrap="square"/>
                    <a:lstStyle/>
                    <a:p>
                      <a:r>
                        <a:rPr sz="1100">
                          <a:solidFill>
                            <a:srgbClr val="1A1A1A"/>
                          </a:solidFill>
                        </a:rPr>
                        <a:t>Legally binds insiders to keep quiet</a:t>
                      </a:r>
                    </a:p>
                  </a:txBody>
                  <a:tcPr anchor="ctr" marL="73152" marR="54864" marT="27432" marB="27432">
                    <a:solidFill>
                      <a:srgbClr val="FFFFFF"/>
                    </a:solidFill>
                  </a:tcPr>
                </a:tc>
                <a:tc>
                  <a:txBody>
                    <a:bodyPr wrap="square"/>
                    <a:lstStyle/>
                    <a:p>
                      <a:r>
                        <a:rPr sz="1100">
                          <a:solidFill>
                            <a:srgbClr val="1A1A1A"/>
                          </a:solidFill>
                        </a:rPr>
                        <a:t>Standard in Nepali IT/BPO employment contracts</a:t>
                      </a:r>
                    </a:p>
                  </a:txBody>
                  <a:tcPr anchor="ctr" marL="73152" marR="54864" marT="27432" marB="27432">
                    <a:solidFill>
                      <a:srgbClr val="FFFFFF"/>
                    </a:solidFill>
                  </a:tcPr>
                </a:tc>
              </a:tr>
              <a:tr h="736092">
                <a:tc>
                  <a:txBody>
                    <a:bodyPr wrap="square"/>
                    <a:lstStyle/>
                    <a:p>
                      <a:r>
                        <a:rPr sz="1100" b="1">
                          <a:solidFill>
                            <a:srgbClr val="0C2B4A"/>
                          </a:solidFill>
                        </a:rPr>
                        <a:t>Access controls</a:t>
                      </a:r>
                    </a:p>
                  </a:txBody>
                  <a:tcPr anchor="ctr" marL="73152" marR="54864" marT="27432" marB="27432">
                    <a:solidFill>
                      <a:srgbClr val="EEF3F8"/>
                    </a:solidFill>
                  </a:tcPr>
                </a:tc>
                <a:tc>
                  <a:txBody>
                    <a:bodyPr wrap="square"/>
                    <a:lstStyle/>
                    <a:p>
                      <a:r>
                        <a:rPr sz="1100">
                          <a:solidFill>
                            <a:srgbClr val="1A1A1A"/>
                          </a:solidFill>
                        </a:rPr>
                        <a:t>Limits who can even see the secret</a:t>
                      </a:r>
                    </a:p>
                  </a:txBody>
                  <a:tcPr anchor="ctr" marL="73152" marR="54864" marT="27432" marB="27432">
                    <a:solidFill>
                      <a:srgbClr val="EEF3F8"/>
                    </a:solidFill>
                  </a:tcPr>
                </a:tc>
                <a:tc>
                  <a:txBody>
                    <a:bodyPr wrap="square"/>
                    <a:lstStyle/>
                    <a:p>
                      <a:r>
                        <a:rPr sz="1100">
                          <a:solidFill>
                            <a:srgbClr val="1A1A1A"/>
                          </a:solidFill>
                        </a:rPr>
                        <a:t>Source code repo restricted to a small team</a:t>
                      </a:r>
                    </a:p>
                  </a:txBody>
                  <a:tcPr anchor="ctr" marL="73152" marR="54864" marT="27432" marB="27432">
                    <a:solidFill>
                      <a:srgbClr val="EEF3F8"/>
                    </a:solidFill>
                  </a:tcPr>
                </a:tc>
              </a:tr>
              <a:tr h="736092">
                <a:tc>
                  <a:txBody>
                    <a:bodyPr wrap="square"/>
                    <a:lstStyle/>
                    <a:p>
                      <a:r>
                        <a:rPr sz="1100" b="1">
                          <a:solidFill>
                            <a:srgbClr val="0C2B4A"/>
                          </a:solidFill>
                        </a:rPr>
                        <a:t>Need-to-know</a:t>
                      </a:r>
                    </a:p>
                  </a:txBody>
                  <a:tcPr anchor="ctr" marL="73152" marR="54864" marT="27432" marB="27432">
                    <a:solidFill>
                      <a:srgbClr val="FFFFFF"/>
                    </a:solidFill>
                  </a:tcPr>
                </a:tc>
                <a:tc>
                  <a:txBody>
                    <a:bodyPr wrap="square"/>
                    <a:lstStyle/>
                    <a:p>
                      <a:r>
                        <a:rPr sz="1100">
                          <a:solidFill>
                            <a:srgbClr val="1A1A1A"/>
                          </a:solidFill>
                        </a:rPr>
                        <a:t>Shares the secret only where essential</a:t>
                      </a:r>
                    </a:p>
                  </a:txBody>
                  <a:tcPr anchor="ctr" marL="73152" marR="54864" marT="27432" marB="27432">
                    <a:solidFill>
                      <a:srgbClr val="FFFFFF"/>
                    </a:solidFill>
                  </a:tcPr>
                </a:tc>
                <a:tc>
                  <a:txBody>
                    <a:bodyPr wrap="square"/>
                    <a:lstStyle/>
                    <a:p>
                      <a:r>
                        <a:rPr sz="1100">
                          <a:solidFill>
                            <a:srgbClr val="1A1A1A"/>
                          </a:solidFill>
                        </a:rPr>
                        <a:t>Only two staff know the full masala ratio</a:t>
                      </a:r>
                    </a:p>
                  </a:txBody>
                  <a:tcPr anchor="ctr" marL="73152" marR="54864" marT="27432" marB="27432">
                    <a:solidFill>
                      <a:srgbClr val="FFFFFF"/>
                    </a:solidFill>
                  </a:tcPr>
                </a:tc>
              </a:tr>
              <a:tr h="736092">
                <a:tc>
                  <a:txBody>
                    <a:bodyPr wrap="square"/>
                    <a:lstStyle/>
                    <a:p>
                      <a:r>
                        <a:rPr sz="1100" b="1">
                          <a:solidFill>
                            <a:srgbClr val="0C2B4A"/>
                          </a:solidFill>
                        </a:rPr>
                        <a:t>Non-compete agreement</a:t>
                      </a:r>
                    </a:p>
                  </a:txBody>
                  <a:tcPr anchor="ctr" marL="73152" marR="54864" marT="27432" marB="27432">
                    <a:solidFill>
                      <a:srgbClr val="EEF3F8"/>
                    </a:solidFill>
                  </a:tcPr>
                </a:tc>
                <a:tc>
                  <a:txBody>
                    <a:bodyPr wrap="square"/>
                    <a:lstStyle/>
                    <a:p>
                      <a:r>
                        <a:rPr sz="1100">
                          <a:solidFill>
                            <a:srgbClr val="1A1A1A"/>
                          </a:solidFill>
                        </a:rPr>
                        <a:t>Limits leaving to help a direct rival</a:t>
                      </a:r>
                    </a:p>
                  </a:txBody>
                  <a:tcPr anchor="ctr" marL="73152" marR="54864" marT="27432" marB="27432">
                    <a:solidFill>
                      <a:srgbClr val="EEF3F8"/>
                    </a:solidFill>
                  </a:tcPr>
                </a:tc>
                <a:tc>
                  <a:txBody>
                    <a:bodyPr wrap="square"/>
                    <a:lstStyle/>
                    <a:p>
                      <a:r>
                        <a:rPr sz="1100">
                          <a:solidFill>
                            <a:srgbClr val="1A1A1A"/>
                          </a:solidFill>
                        </a:rPr>
                        <a:t>A departing developer's contract terms</a:t>
                      </a:r>
                    </a:p>
                  </a:txBody>
                  <a:tcPr anchor="ctr" marL="73152" marR="54864" marT="27432" marB="27432">
                    <a:solidFill>
                      <a:srgbClr val="EEF3F8"/>
                    </a:solidFill>
                  </a:tcPr>
                </a:tc>
              </a:tr>
              <a:tr h="736092">
                <a:tc>
                  <a:txBody>
                    <a:bodyPr wrap="square"/>
                    <a:lstStyle/>
                    <a:p>
                      <a:r>
                        <a:rPr sz="1100" b="1">
                          <a:solidFill>
                            <a:srgbClr val="0C2B4A"/>
                          </a:solidFill>
                        </a:rPr>
                        <a:t>Legal remedy (misappropriation)</a:t>
                      </a:r>
                    </a:p>
                  </a:txBody>
                  <a:tcPr anchor="ctr" marL="73152" marR="54864" marT="27432" marB="27432">
                    <a:solidFill>
                      <a:srgbClr val="FFFFFF"/>
                    </a:solidFill>
                  </a:tcPr>
                </a:tc>
                <a:tc>
                  <a:txBody>
                    <a:bodyPr wrap="square"/>
                    <a:lstStyle/>
                    <a:p>
                      <a:r>
                        <a:rPr sz="1100">
                          <a:solidFill>
                            <a:srgbClr val="1A1A1A"/>
                          </a:solidFill>
                        </a:rPr>
                        <a:t>Sue only if the secret was stolen</a:t>
                      </a:r>
                    </a:p>
                  </a:txBody>
                  <a:tcPr anchor="ctr" marL="73152" marR="54864" marT="27432" marB="27432">
                    <a:solidFill>
                      <a:srgbClr val="FFFFFF"/>
                    </a:solidFill>
                  </a:tcPr>
                </a:tc>
                <a:tc>
                  <a:txBody>
                    <a:bodyPr wrap="square"/>
                    <a:lstStyle/>
                    <a:p>
                      <a:r>
                        <a:rPr sz="1100">
                          <a:solidFill>
                            <a:srgbClr val="1A1A1A"/>
                          </a:solidFill>
                        </a:rPr>
                        <a:t>No remedy if a rival independently invents 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'Reasonable effort' is a legal requirement — a company that didn't lock down its secret may lose the right to call it one. Independent discovery is never misappropriation.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89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Trade Secrets Are Protected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developer leaves a Lalitpur software house and rebuilds a similar module from memory at a rival. Theft of a secret, or fair reuse of skill? The line: general skills and know-how you carry in your head are yours to reuse; the employer's specific confidential code, data, or documented processes are not. NDAs and non-competes are what make that line enforceable.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 didn't copy any files, I can't have stolen a trade secret." Misappropriation covers taking confidential information, not just files — rebuilding a protected proprietary process from memory can still breach an NDA. But genuinely general skill you learned is yours; the hard cases sit exactly on that boundary.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Trade secrets are protected by secrecy measures rather than registration: NDAs, confidentiality clauses, access controls, need-to-know limits, and non-competes. The law provides a remedy only for misappropriation (theft or breach of confidence), not for independent discovery or legitimate reverse engineering — and only if the owner made reasonable efforts to keep it secret.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NDA · confidentiality clause · access control · need-to-know · non-compete · misappropriation · reasonable effort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89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Misappropriation or not? — where the law gives a remedy</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921250"/>
                <a:gridCol w="2698750"/>
                <a:gridCol w="3810000"/>
              </a:tblGrid>
              <a:tr h="552069">
                <a:tc>
                  <a:txBody>
                    <a:bodyPr wrap="square"/>
                    <a:lstStyle/>
                    <a:p>
                      <a:r>
                        <a:rPr sz="1150" b="1">
                          <a:solidFill>
                            <a:srgbClr val="FFFFFF"/>
                          </a:solidFill>
                        </a:rPr>
                        <a:t>What happened</a:t>
                      </a:r>
                    </a:p>
                  </a:txBody>
                  <a:tcPr anchor="ctr" marL="73152" marR="54864" marT="27432" marB="27432">
                    <a:solidFill>
                      <a:srgbClr val="0C2B4A"/>
                    </a:solidFill>
                  </a:tcPr>
                </a:tc>
                <a:tc>
                  <a:txBody>
                    <a:bodyPr wrap="square"/>
                    <a:lstStyle/>
                    <a:p>
                      <a:r>
                        <a:rPr sz="1150" b="1">
                          <a:solidFill>
                            <a:srgbClr val="FFFFFF"/>
                          </a:solidFill>
                        </a:rPr>
                        <a:t>Misappropriation?</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552069">
                <a:tc>
                  <a:txBody>
                    <a:bodyPr wrap="square"/>
                    <a:lstStyle/>
                    <a:p>
                      <a:r>
                        <a:rPr sz="1100" b="1">
                          <a:solidFill>
                            <a:srgbClr val="0C2B4A"/>
                          </a:solidFill>
                        </a:rPr>
                        <a:t>Developer emails the company's source code to a rival</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Theft of confidential info — breach of confidence</a:t>
                      </a:r>
                    </a:p>
                  </a:txBody>
                  <a:tcPr anchor="ctr" marL="73152" marR="54864" marT="27432" marB="27432">
                    <a:solidFill>
                      <a:srgbClr val="FFFFFF"/>
                    </a:solidFill>
                  </a:tcPr>
                </a:tc>
              </a:tr>
              <a:tr h="552069">
                <a:tc>
                  <a:txBody>
                    <a:bodyPr wrap="square"/>
                    <a:lstStyle/>
                    <a:p>
                      <a:r>
                        <a:rPr sz="1100" b="1">
                          <a:solidFill>
                            <a:srgbClr val="0C2B4A"/>
                          </a:solidFill>
                        </a:rPr>
                        <a:t>Ex-employee reuses general skills learned on the job</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General know-how is theirs to reuse</a:t>
                      </a:r>
                    </a:p>
                  </a:txBody>
                  <a:tcPr anchor="ctr" marL="73152" marR="54864" marT="27432" marB="27432">
                    <a:solidFill>
                      <a:srgbClr val="EEF3F8"/>
                    </a:solidFill>
                  </a:tcPr>
                </a:tc>
              </a:tr>
              <a:tr h="552069">
                <a:tc>
                  <a:txBody>
                    <a:bodyPr wrap="square"/>
                    <a:lstStyle/>
                    <a:p>
                      <a:r>
                        <a:rPr sz="1100" b="1">
                          <a:solidFill>
                            <a:srgbClr val="0C2B4A"/>
                          </a:solidFill>
                        </a:rPr>
                        <a:t>A rival independently invents the same algorithm</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Independent discovery is never misappropriation</a:t>
                      </a:r>
                    </a:p>
                  </a:txBody>
                  <a:tcPr anchor="ctr" marL="73152" marR="54864" marT="27432" marB="27432">
                    <a:solidFill>
                      <a:srgbClr val="FFFFFF"/>
                    </a:solidFill>
                  </a:tcPr>
                </a:tc>
              </a:tr>
              <a:tr h="552069">
                <a:tc>
                  <a:txBody>
                    <a:bodyPr wrap="square"/>
                    <a:lstStyle/>
                    <a:p>
                      <a:r>
                        <a:rPr sz="1100" b="1">
                          <a:solidFill>
                            <a:srgbClr val="0C2B4A"/>
                          </a:solidFill>
                        </a:rPr>
                        <a:t>Staffer leaks the masala ratio despite an NDA</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Breach of the NDA / confidentiality clause</a:t>
                      </a:r>
                    </a:p>
                  </a:txBody>
                  <a:tcPr anchor="ctr" marL="73152" marR="54864" marT="27432" marB="27432">
                    <a:solidFill>
                      <a:srgbClr val="EEF3F8"/>
                    </a:solidFill>
                  </a:tcPr>
                </a:tc>
              </a:tr>
              <a:tr h="552069">
                <a:tc>
                  <a:txBody>
                    <a:bodyPr wrap="square"/>
                    <a:lstStyle/>
                    <a:p>
                      <a:r>
                        <a:rPr sz="1100" b="1">
                          <a:solidFill>
                            <a:srgbClr val="0C2B4A"/>
                          </a:solidFill>
                        </a:rPr>
                        <a:t>Competitor legally reverse-engineers a shipped product</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Legitimate reverse engineering breaks no law</a:t>
                      </a:r>
                    </a:p>
                  </a:txBody>
                  <a:tcPr anchor="ctr" marL="73152" marR="54864" marT="27432" marB="27432">
                    <a:solidFill>
                      <a:srgbClr val="FFFFFF"/>
                    </a:solidFill>
                  </a:tcPr>
                </a:tc>
              </a:tr>
              <a:tr h="552069">
                <a:tc>
                  <a:txBody>
                    <a:bodyPr wrap="square"/>
                    <a:lstStyle/>
                    <a:p>
                      <a:r>
                        <a:rPr sz="1100" b="1">
                          <a:solidFill>
                            <a:srgbClr val="0C2B4A"/>
                          </a:solidFill>
                        </a:rPr>
                        <a:t>Bribing an insider for a customer list</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Theft of a trade secret via bribery</a:t>
                      </a:r>
                    </a:p>
                  </a:txBody>
                  <a:tcPr anchor="ctr" marL="73152" marR="54864" marT="27432" marB="27432">
                    <a:solidFill>
                      <a:srgbClr val="EEF3F8"/>
                    </a:solidFill>
                  </a:tcPr>
                </a:tc>
              </a:tr>
              <a:tr h="552069">
                <a:tc>
                  <a:txBody>
                    <a:bodyPr wrap="square"/>
                    <a:lstStyle/>
                    <a:p>
                      <a:r>
                        <a:rPr sz="1100" b="1">
                          <a:solidFill>
                            <a:srgbClr val="0C2B4A"/>
                          </a:solidFill>
                        </a:rPr>
                        <a:t>Firm never locked down the 'secret'; it leaks</a:t>
                      </a:r>
                    </a:p>
                  </a:txBody>
                  <a:tcPr anchor="ctr" marL="73152" marR="54864" marT="27432" marB="27432">
                    <a:solidFill>
                      <a:srgbClr val="FFFFFF"/>
                    </a:solidFill>
                  </a:tcPr>
                </a:tc>
                <a:tc>
                  <a:txBody>
                    <a:bodyPr wrap="square"/>
                    <a:lstStyle/>
                    <a:p>
                      <a:r>
                        <a:rPr sz="1100">
                          <a:solidFill>
                            <a:srgbClr val="1A1A1A"/>
                          </a:solidFill>
                        </a:rPr>
                        <a:t>No remedy</a:t>
                      </a:r>
                    </a:p>
                  </a:txBody>
                  <a:tcPr anchor="ctr" marL="73152" marR="54864" marT="27432" marB="27432">
                    <a:solidFill>
                      <a:srgbClr val="FFFFFF"/>
                    </a:solidFill>
                  </a:tcPr>
                </a:tc>
                <a:tc>
                  <a:txBody>
                    <a:bodyPr wrap="square"/>
                    <a:lstStyle/>
                    <a:p>
                      <a:r>
                        <a:rPr sz="1100">
                          <a:solidFill>
                            <a:srgbClr val="1A1A1A"/>
                          </a:solidFill>
                        </a:rPr>
                        <a:t>No reasonable effort — may not count as a secret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law protects against misappropriation (theft/breach), not independent discovery or legal reverse engineering — and only if the owner made reasonable efforts to keep it secret.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89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 Secret vs Patent — choosing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Choosing how to protect an invention is a strategic call. Rule of thumb: use a TRADE SECRET if it's hard to reverse-engineer and its value is long-term (recipes, internal algorithms); use a PATENT if it will be sold or visible and is reverse-engineerable (a machine, a device mechanism).</a:t>
            </a:r>
          </a:p>
          <a:p>
            <a:pPr>
              <a:spcAft>
                <a:spcPts val="500"/>
              </a:spcAft>
            </a:pPr>
            <a:r>
              <a:rPr sz="1200" b="1">
                <a:solidFill>
                  <a:srgbClr val="185FA5"/>
                </a:solidFill>
              </a:rPr>
              <a:t>HOW IT WORKS</a:t>
            </a:r>
          </a:p>
          <a:p>
            <a:pPr>
              <a:spcAft>
                <a:spcPts val="600"/>
              </a:spcAft>
            </a:pPr>
            <a:r>
              <a:rPr sz="1400">
                <a:solidFill>
                  <a:srgbClr val="1A1A1A"/>
                </a:solidFill>
              </a:rPr>
              <a:t>•  If rivals can take your product apart and copy it, secrecy won't hold — patent it instead.</a:t>
            </a:r>
          </a:p>
          <a:p>
            <a:pPr>
              <a:spcAft>
                <a:spcPts val="600"/>
              </a:spcAft>
            </a:pPr>
            <a:r>
              <a:rPr sz="1400">
                <a:solidFill>
                  <a:srgbClr val="1A1A1A"/>
                </a:solidFill>
              </a:rPr>
              <a:t>•  If the secret can be kept behind closed doors (a recipe, a server-side algorithm), a trade secret can outlast any patent.</a:t>
            </a:r>
          </a:p>
          <a:p>
            <a:pPr>
              <a:spcAft>
                <a:spcPts val="600"/>
              </a:spcAft>
            </a:pPr>
            <a:r>
              <a:rPr sz="1400">
                <a:solidFill>
                  <a:srgbClr val="1A1A1A"/>
                </a:solidFill>
              </a:rPr>
              <a:t>•  Patents trade disclosure for a strong 20-year monopoly; secrets trade that monopoly for potential forever.</a:t>
            </a:r>
          </a:p>
          <a:p>
            <a:pPr>
              <a:spcAft>
                <a:spcPts val="600"/>
              </a:spcAft>
            </a:pPr>
            <a:r>
              <a:rPr sz="1400">
                <a:solidFill>
                  <a:srgbClr val="1A1A1A"/>
                </a:solidFill>
              </a:rPr>
              <a:t>•  Many products use BOTH: patent the visible mechanism, keep the tuning/parameters secret.</a:t>
            </a:r>
          </a:p>
        </p:txBody>
      </p:sp>
      <p:pic>
        <p:nvPicPr>
          <p:cNvPr id="6" name="Picture 5" descr="s13_tree.png"/>
          <p:cNvPicPr>
            <a:picLocks noChangeAspect="1"/>
          </p:cNvPicPr>
          <p:nvPr/>
        </p:nvPicPr>
        <p:blipFill>
          <a:blip r:embed="rId2"/>
          <a:stretch>
            <a:fillRect/>
          </a:stretch>
        </p:blipFill>
        <p:spPr>
          <a:xfrm>
            <a:off x="6355080" y="2528864"/>
            <a:ext cx="5532120" cy="257751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Reverse-engineerable &amp; visible → patent. Hard to copy &amp; long-term → secret.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89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protection fits which asset?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156363"/>
                <a:gridCol w="2770909"/>
                <a:gridCol w="4502727"/>
              </a:tblGrid>
              <a:tr h="630936">
                <a:tc>
                  <a:txBody>
                    <a:bodyPr wrap="square"/>
                    <a:lstStyle/>
                    <a:p>
                      <a:r>
                        <a:rPr sz="1150" b="1">
                          <a:solidFill>
                            <a:srgbClr val="FFFFFF"/>
                          </a:solidFill>
                        </a:rPr>
                        <a:t>The asset</a:t>
                      </a:r>
                    </a:p>
                  </a:txBody>
                  <a:tcPr anchor="ctr" marL="73152" marR="54864" marT="27432" marB="27432">
                    <a:solidFill>
                      <a:srgbClr val="0C2B4A"/>
                    </a:solidFill>
                  </a:tcPr>
                </a:tc>
                <a:tc>
                  <a:txBody>
                    <a:bodyPr wrap="square"/>
                    <a:lstStyle/>
                    <a:p>
                      <a:r>
                        <a:rPr sz="1150" b="1">
                          <a:solidFill>
                            <a:srgbClr val="FFFFFF"/>
                          </a:solidFill>
                        </a:rPr>
                        <a:t>Best protection</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Coca-Cola's formula</a:t>
                      </a:r>
                    </a:p>
                  </a:txBody>
                  <a:tcPr anchor="ctr" marL="73152" marR="54864" marT="27432" marB="27432">
                    <a:solidFill>
                      <a:srgbClr val="FFFFFF"/>
                    </a:solidFill>
                  </a:tcPr>
                </a:tc>
                <a:tc>
                  <a:txBody>
                    <a:bodyPr wrap="square"/>
                    <a:lstStyle/>
                    <a:p>
                      <a:r>
                        <a:rPr sz="1100">
                          <a:solidFill>
                            <a:srgbClr val="1A1A1A"/>
                          </a:solidFill>
                        </a:rPr>
                        <a:t>Trade secret</a:t>
                      </a:r>
                    </a:p>
                  </a:txBody>
                  <a:tcPr anchor="ctr" marL="73152" marR="54864" marT="27432" marB="27432">
                    <a:solidFill>
                      <a:srgbClr val="FFFFFF"/>
                    </a:solidFill>
                  </a:tcPr>
                </a:tc>
                <a:tc>
                  <a:txBody>
                    <a:bodyPr wrap="square"/>
                    <a:lstStyle/>
                    <a:p>
                      <a:r>
                        <a:rPr sz="1100">
                          <a:solidFill>
                            <a:srgbClr val="1A1A1A"/>
                          </a:solidFill>
                        </a:rPr>
                        <a:t>Hard to reverse-engineer; value is long-term</a:t>
                      </a:r>
                    </a:p>
                  </a:txBody>
                  <a:tcPr anchor="ctr" marL="73152" marR="54864" marT="27432" marB="27432">
                    <a:solidFill>
                      <a:srgbClr val="FFFFFF"/>
                    </a:solidFill>
                  </a:tcPr>
                </a:tc>
              </a:tr>
              <a:tr h="630936">
                <a:tc>
                  <a:txBody>
                    <a:bodyPr wrap="square"/>
                    <a:lstStyle/>
                    <a:p>
                      <a:r>
                        <a:rPr sz="1100" b="1">
                          <a:solidFill>
                            <a:srgbClr val="0C2B4A"/>
                          </a:solidFill>
                        </a:rPr>
                        <a:t>A new drug molecule</a:t>
                      </a:r>
                    </a:p>
                  </a:txBody>
                  <a:tcPr anchor="ctr" marL="73152" marR="54864" marT="27432" marB="27432">
                    <a:solidFill>
                      <a:srgbClr val="EEF3F8"/>
                    </a:solidFill>
                  </a:tcPr>
                </a:tc>
                <a:tc>
                  <a:txBody>
                    <a:bodyPr wrap="square"/>
                    <a:lstStyle/>
                    <a:p>
                      <a:r>
                        <a:rPr sz="1100">
                          <a:solidFill>
                            <a:srgbClr val="1A1A1A"/>
                          </a:solidFill>
                        </a:rPr>
                        <a:t>Patent</a:t>
                      </a:r>
                    </a:p>
                  </a:txBody>
                  <a:tcPr anchor="ctr" marL="73152" marR="54864" marT="27432" marB="27432">
                    <a:solidFill>
                      <a:srgbClr val="EEF3F8"/>
                    </a:solidFill>
                  </a:tcPr>
                </a:tc>
                <a:tc>
                  <a:txBody>
                    <a:bodyPr wrap="square"/>
                    <a:lstStyle/>
                    <a:p>
                      <a:r>
                        <a:rPr sz="1100">
                          <a:solidFill>
                            <a:srgbClr val="1A1A1A"/>
                          </a:solidFill>
                        </a:rPr>
                        <a:t>Reverse-engineerable once sold; needs strong monopoly</a:t>
                      </a:r>
                    </a:p>
                  </a:txBody>
                  <a:tcPr anchor="ctr" marL="73152" marR="54864" marT="27432" marB="27432">
                    <a:solidFill>
                      <a:srgbClr val="EEF3F8"/>
                    </a:solidFill>
                  </a:tcPr>
                </a:tc>
              </a:tr>
              <a:tr h="630936">
                <a:tc>
                  <a:txBody>
                    <a:bodyPr wrap="square"/>
                    <a:lstStyle/>
                    <a:p>
                      <a:r>
                        <a:rPr sz="1100" b="1">
                          <a:solidFill>
                            <a:srgbClr val="0C2B4A"/>
                          </a:solidFill>
                        </a:rPr>
                        <a:t>Google's search ranking</a:t>
                      </a:r>
                    </a:p>
                  </a:txBody>
                  <a:tcPr anchor="ctr" marL="73152" marR="54864" marT="27432" marB="27432">
                    <a:solidFill>
                      <a:srgbClr val="FFFFFF"/>
                    </a:solidFill>
                  </a:tcPr>
                </a:tc>
                <a:tc>
                  <a:txBody>
                    <a:bodyPr wrap="square"/>
                    <a:lstStyle/>
                    <a:p>
                      <a:r>
                        <a:rPr sz="1100">
                          <a:solidFill>
                            <a:srgbClr val="1A1A1A"/>
                          </a:solidFill>
                        </a:rPr>
                        <a:t>Trade secret</a:t>
                      </a:r>
                    </a:p>
                  </a:txBody>
                  <a:tcPr anchor="ctr" marL="73152" marR="54864" marT="27432" marB="27432">
                    <a:solidFill>
                      <a:srgbClr val="FFFFFF"/>
                    </a:solidFill>
                  </a:tcPr>
                </a:tc>
                <a:tc>
                  <a:txBody>
                    <a:bodyPr wrap="square"/>
                    <a:lstStyle/>
                    <a:p>
                      <a:r>
                        <a:rPr sz="1100">
                          <a:solidFill>
                            <a:srgbClr val="1A1A1A"/>
                          </a:solidFill>
                        </a:rPr>
                        <a:t>Runs server-side; never shipped to be copied</a:t>
                      </a:r>
                    </a:p>
                  </a:txBody>
                  <a:tcPr anchor="ctr" marL="73152" marR="54864" marT="27432" marB="27432">
                    <a:solidFill>
                      <a:srgbClr val="FFFFFF"/>
                    </a:solidFill>
                  </a:tcPr>
                </a:tc>
              </a:tr>
              <a:tr h="630936">
                <a:tc>
                  <a:txBody>
                    <a:bodyPr wrap="square"/>
                    <a:lstStyle/>
                    <a:p>
                      <a:r>
                        <a:rPr sz="1100" b="1">
                          <a:solidFill>
                            <a:srgbClr val="0C2B4A"/>
                          </a:solidFill>
                        </a:rPr>
                        <a:t>A novel machine mechanism</a:t>
                      </a:r>
                    </a:p>
                  </a:txBody>
                  <a:tcPr anchor="ctr" marL="73152" marR="54864" marT="27432" marB="27432">
                    <a:solidFill>
                      <a:srgbClr val="EEF3F8"/>
                    </a:solidFill>
                  </a:tcPr>
                </a:tc>
                <a:tc>
                  <a:txBody>
                    <a:bodyPr wrap="square"/>
                    <a:lstStyle/>
                    <a:p>
                      <a:r>
                        <a:rPr sz="1100">
                          <a:solidFill>
                            <a:srgbClr val="1A1A1A"/>
                          </a:solidFill>
                        </a:rPr>
                        <a:t>Patent</a:t>
                      </a:r>
                    </a:p>
                  </a:txBody>
                  <a:tcPr anchor="ctr" marL="73152" marR="54864" marT="27432" marB="27432">
                    <a:solidFill>
                      <a:srgbClr val="EEF3F8"/>
                    </a:solidFill>
                  </a:tcPr>
                </a:tc>
                <a:tc>
                  <a:txBody>
                    <a:bodyPr wrap="square"/>
                    <a:lstStyle/>
                    <a:p>
                      <a:r>
                        <a:rPr sz="1100">
                          <a:solidFill>
                            <a:srgbClr val="1A1A1A"/>
                          </a:solidFill>
                        </a:rPr>
                        <a:t>Visible in the product; rivals could copy it</a:t>
                      </a:r>
                    </a:p>
                  </a:txBody>
                  <a:tcPr anchor="ctr" marL="73152" marR="54864" marT="27432" marB="27432">
                    <a:solidFill>
                      <a:srgbClr val="EEF3F8"/>
                    </a:solidFill>
                  </a:tcPr>
                </a:tc>
              </a:tr>
              <a:tr h="630936">
                <a:tc>
                  <a:txBody>
                    <a:bodyPr wrap="square"/>
                    <a:lstStyle/>
                    <a:p>
                      <a:r>
                        <a:rPr sz="1100" b="1">
                          <a:solidFill>
                            <a:srgbClr val="0C2B4A"/>
                          </a:solidFill>
                        </a:rPr>
                        <a:t>Wai Wai's masala ratio</a:t>
                      </a:r>
                    </a:p>
                  </a:txBody>
                  <a:tcPr anchor="ctr" marL="73152" marR="54864" marT="27432" marB="27432">
                    <a:solidFill>
                      <a:srgbClr val="FFFFFF"/>
                    </a:solidFill>
                  </a:tcPr>
                </a:tc>
                <a:tc>
                  <a:txBody>
                    <a:bodyPr wrap="square"/>
                    <a:lstStyle/>
                    <a:p>
                      <a:r>
                        <a:rPr sz="1100">
                          <a:solidFill>
                            <a:srgbClr val="1A1A1A"/>
                          </a:solidFill>
                        </a:rPr>
                        <a:t>Trade secret</a:t>
                      </a:r>
                    </a:p>
                  </a:txBody>
                  <a:tcPr anchor="ctr" marL="73152" marR="54864" marT="27432" marB="27432">
                    <a:solidFill>
                      <a:srgbClr val="FFFFFF"/>
                    </a:solidFill>
                  </a:tcPr>
                </a:tc>
                <a:tc>
                  <a:txBody>
                    <a:bodyPr wrap="square"/>
                    <a:lstStyle/>
                    <a:p>
                      <a:r>
                        <a:rPr sz="1100">
                          <a:solidFill>
                            <a:srgbClr val="1A1A1A"/>
                          </a:solidFill>
                        </a:rPr>
                        <a:t>Kept in-house; would only expire if patented</a:t>
                      </a:r>
                    </a:p>
                  </a:txBody>
                  <a:tcPr anchor="ctr" marL="73152" marR="54864" marT="27432" marB="27432">
                    <a:solidFill>
                      <a:srgbClr val="FFFFFF"/>
                    </a:solidFill>
                  </a:tcPr>
                </a:tc>
              </a:tr>
              <a:tr h="630936">
                <a:tc>
                  <a:txBody>
                    <a:bodyPr wrap="square"/>
                    <a:lstStyle/>
                    <a:p>
                      <a:r>
                        <a:rPr sz="1100" b="1">
                          <a:solidFill>
                            <a:srgbClr val="0C2B4A"/>
                          </a:solidFill>
                        </a:rPr>
                        <a:t>A consumer gadget's circuit</a:t>
                      </a:r>
                    </a:p>
                  </a:txBody>
                  <a:tcPr anchor="ctr" marL="73152" marR="54864" marT="27432" marB="27432">
                    <a:solidFill>
                      <a:srgbClr val="EEF3F8"/>
                    </a:solidFill>
                  </a:tcPr>
                </a:tc>
                <a:tc>
                  <a:txBody>
                    <a:bodyPr wrap="square"/>
                    <a:lstStyle/>
                    <a:p>
                      <a:r>
                        <a:rPr sz="1100">
                          <a:solidFill>
                            <a:srgbClr val="1A1A1A"/>
                          </a:solidFill>
                        </a:rPr>
                        <a:t>Patent</a:t>
                      </a:r>
                    </a:p>
                  </a:txBody>
                  <a:tcPr anchor="ctr" marL="73152" marR="54864" marT="27432" marB="27432">
                    <a:solidFill>
                      <a:srgbClr val="EEF3F8"/>
                    </a:solidFill>
                  </a:tcPr>
                </a:tc>
                <a:tc>
                  <a:txBody>
                    <a:bodyPr wrap="square"/>
                    <a:lstStyle/>
                    <a:p>
                      <a:r>
                        <a:rPr sz="1100">
                          <a:solidFill>
                            <a:srgbClr val="1A1A1A"/>
                          </a:solidFill>
                        </a:rPr>
                        <a:t>Ships to customers who can open it up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deciding question: once it's in customers' hands, can they figure it out? If yes → patent. If it stays behind your walls → trade secret.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89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 Secret vs Patent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Wai Wai keeps its masala ratio a trade secret rather than patenting it: the recipe is hard to reverse-engineer from the finished noodle, and a patent would both disclose it publicly and expire in ~20 years. Secrecy gives potentially unlimited protection — exactly right for a recipe that never ships in a copyable form.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"Stronger protection is always better, so always patent." Not so: patenting a recipe would publish it and put a 20-year clock on it, when keeping it secret could protect it forever. The right choice depends on reverse-engineerability and time horizon, not on which right sounds strongest.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Choosing between a trade secret and a patent is strategic: patent inventions that are visible and reverse-engineerable (you need a monopoly before rivals copy them); keep trade secrets for information that's hard to reverse-engineer and valuable long-term (a patent would only disclose it and impose a 20-year limit). Many products sensibly use both.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patent vs trade secret · reverse-engineerability · time horizon · disclosure trade-off · use both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89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S13 — 'Protect this asset'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assign patent or trade secret to three assets and justify with the reverse-engineerability test.</a:t>
            </a:r>
          </a:p>
          <a:p>
            <a:pPr>
              <a:spcAft>
                <a:spcPts val="700"/>
              </a:spcAft>
            </a:pPr>
            <a:r>
              <a:rPr sz="1550">
                <a:solidFill>
                  <a:srgbClr val="1A1A1A"/>
                </a:solidFill>
              </a:rPr>
              <a:t>•  Assets: a momo shop's signature sauce; a new folding-phone hinge; a bank's fraud-scoring algorithm.</a:t>
            </a:r>
          </a:p>
          <a:p>
            <a:pPr>
              <a:spcAft>
                <a:spcPts val="700"/>
              </a:spcAft>
            </a:pPr>
            <a:r>
              <a:rPr sz="1550">
                <a:solidFill>
                  <a:srgbClr val="1A1A1A"/>
                </a:solidFill>
              </a:rPr>
              <a:t>•  Take 3 answers aloud (3 min).</a:t>
            </a:r>
          </a:p>
          <a:p>
            <a:pPr>
              <a:spcAft>
                <a:spcPts val="700"/>
              </a:spcAft>
            </a:pPr>
            <a:r>
              <a:rPr sz="1550">
                <a:solidFill>
                  <a:srgbClr val="1A1A1A"/>
                </a:solidFill>
              </a:rPr>
              <a:t>•  Close: the deciding question is always 'once it's in customers' hands, can they figure it out?'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Sauce → trade secret (hard to reverse from taste, forever value); hinge → patent (visible, copyable); fraud algorithm → trade secret (runs server-side, never shipped). Reward the reverse-engineerability reasoning.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89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trade secret stays protected:</a:t>
            </a:r>
          </a:p>
          <a:p>
            <a:pPr lvl="1"/>
            <a:r>
              <a:rPr sz="1500" b="1">
                <a:solidFill>
                  <a:srgbClr val="0F6E56"/>
                </a:solidFill>
              </a:rPr>
              <a:t>a) for 20 years   b) ✅ as long as it remains secret   c) for life + 50 years   d) until registered</a:t>
            </a:r>
          </a:p>
          <a:p>
            <a:pPr lvl="1">
              <a:spcBef>
                <a:spcPts val="600"/>
              </a:spcBef>
            </a:pPr>
            <a:r>
              <a:rPr sz="1500" i="1">
                <a:solidFill>
                  <a:srgbClr val="1A1A1A"/>
                </a:solidFill>
              </a:rPr>
              <a:t>     Why: protection is the secrecy itself — it can last forever, but ends the moment the secret is out.</a:t>
            </a:r>
          </a:p>
          <a:p>
            <a:pPr>
              <a:spcBef>
                <a:spcPts val="900"/>
              </a:spcBef>
            </a:pPr>
            <a:r>
              <a:rPr sz="1700" b="1">
                <a:solidFill>
                  <a:srgbClr val="0C2B4A"/>
                </a:solidFill>
              </a:rPr>
              <a:t>Q2.  The main tool to protect a trade secret with employees is:</a:t>
            </a:r>
          </a:p>
          <a:p>
            <a:pPr lvl="1"/>
            <a:r>
              <a:rPr sz="1500" b="1">
                <a:solidFill>
                  <a:srgbClr val="0F6E56"/>
                </a:solidFill>
              </a:rPr>
              <a:t>a) a patent   b) a trademark   c) ✅ an NDA / confidentiality agreement   d) a copyright notice</a:t>
            </a:r>
          </a:p>
          <a:p>
            <a:pPr lvl="1">
              <a:spcBef>
                <a:spcPts val="600"/>
              </a:spcBef>
            </a:pPr>
            <a:r>
              <a:rPr sz="1500" i="1">
                <a:solidFill>
                  <a:srgbClr val="1A1A1A"/>
                </a:solidFill>
              </a:rPr>
              <a:t>     Why: NDAs legally bind insiders who must know the secret to keep it confidential.</a:t>
            </a:r>
          </a:p>
          <a:p>
            <a:pPr lvl="1">
              <a:spcBef>
                <a:spcPts val="600"/>
              </a:spcBef>
            </a:pPr>
            <a:r>
              <a:rPr sz="1500" i="1">
                <a:solidFill>
                  <a:srgbClr val="1A1A1A"/>
                </a:solidFill>
              </a:rPr>
              <a:t>Discussion: Wai Wai's recipe — patent it or keep it secret? Justify the choice.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89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trade secret is valuable confidential info protected by secrecy (NDAs, access controls), not registration.</a:t>
            </a:r>
          </a:p>
          <a:p>
            <a:pPr>
              <a:spcAft>
                <a:spcPts val="800"/>
              </a:spcAft>
            </a:pPr>
            <a:r>
              <a:rPr sz="1500">
                <a:solidFill>
                  <a:srgbClr val="1A1A1A"/>
                </a:solidFill>
              </a:rPr>
              <a:t>2.  It can last forever but offers no protection against independent discovery or legitimate reverse engineering.</a:t>
            </a:r>
          </a:p>
          <a:p>
            <a:pPr>
              <a:spcAft>
                <a:spcPts val="800"/>
              </a:spcAft>
            </a:pPr>
            <a:r>
              <a:rPr sz="1500">
                <a:solidFill>
                  <a:srgbClr val="1A1A1A"/>
                </a:solidFill>
              </a:rPr>
              <a:t>3.  Trade secret vs patent: private+unlimited+fragile vs public+20 years+strong — choose by reverse-engineerability.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Your first job will likely include an NDA — understanding it protects both you and your employer, and knowing where 'general skill' ends and 'the company's secret' begins keeps you out of legal trouble when you move jobs.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S14 — the IP issues begin: plagiarism and reverse engineering.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89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14 · LECTURE HOUR 4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IP Issues: Plagiarism · Reverse Engineering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paste a GitHub function into your project, and your friend pastes a Wikipedia paragraph into a report — both 'borrowed'. Is either illegal? Is either wrong? These are different questions, and telling them apart is the whole session.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49 / 89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Plagiarism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Plagiarism is presenting someone else's work or ideas as your own, without credit. It is an ETHICAL / academic offence — distinct from copyright infringement, which is a LEGAL one — though they often overlap. It includes self-plagiarism and passing off AI-generated text as your own original work.</a:t>
            </a:r>
          </a:p>
          <a:p>
            <a:pPr>
              <a:spcAft>
                <a:spcPts val="500"/>
              </a:spcAft>
            </a:pPr>
            <a:r>
              <a:rPr sz="1200" b="1">
                <a:solidFill>
                  <a:srgbClr val="185FA5"/>
                </a:solidFill>
              </a:rPr>
              <a:t>HOW IT WORKS</a:t>
            </a:r>
          </a:p>
          <a:p>
            <a:pPr>
              <a:spcAft>
                <a:spcPts val="600"/>
              </a:spcAft>
            </a:pPr>
            <a:r>
              <a:rPr sz="1400">
                <a:solidFill>
                  <a:srgbClr val="1A1A1A"/>
                </a:solidFill>
              </a:rPr>
              <a:t>•  Plagiarism can occur even with uncopyrighted material (copying an idea with no credit).</a:t>
            </a:r>
          </a:p>
          <a:p>
            <a:pPr>
              <a:spcAft>
                <a:spcPts val="600"/>
              </a:spcAft>
            </a:pPr>
            <a:r>
              <a:rPr sz="1400">
                <a:solidFill>
                  <a:srgbClr val="1A1A1A"/>
                </a:solidFill>
              </a:rPr>
              <a:t>•  Infringement can occur even when you credit the source (copying too much protected expression).</a:t>
            </a:r>
          </a:p>
          <a:p>
            <a:pPr>
              <a:spcAft>
                <a:spcPts val="600"/>
              </a:spcAft>
            </a:pPr>
            <a:r>
              <a:rPr sz="1400">
                <a:solidFill>
                  <a:srgbClr val="1A1A1A"/>
                </a:solidFill>
              </a:rPr>
              <a:t>•  Paraphrasing without real understanding, or copying structure, is still plagiarism.</a:t>
            </a:r>
          </a:p>
          <a:p>
            <a:pPr>
              <a:spcAft>
                <a:spcPts val="600"/>
              </a:spcAft>
            </a:pPr>
            <a:r>
              <a:rPr sz="1400">
                <a:solidFill>
                  <a:srgbClr val="1A1A1A"/>
                </a:solidFill>
              </a:rPr>
              <a:t>•  Citing avoids plagiarism only if the work is genuinely attributed AND quoted properly.</a:t>
            </a:r>
          </a:p>
        </p:txBody>
      </p:sp>
      <p:pic>
        <p:nvPicPr>
          <p:cNvPr id="6" name="Picture 5" descr="s14_venn.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Plagiarism (ethics) and infringement (law) overlap — but aren't the same.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89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plagiarism? — common student cases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061857"/>
                <a:gridCol w="2449285"/>
                <a:gridCol w="3918857"/>
              </a:tblGrid>
              <a:tr h="630936">
                <a:tc>
                  <a:txBody>
                    <a:bodyPr wrap="square"/>
                    <a:lstStyle/>
                    <a:p>
                      <a:r>
                        <a:rPr sz="1150" b="1">
                          <a:solidFill>
                            <a:srgbClr val="FFFFFF"/>
                          </a:solidFill>
                        </a:rPr>
                        <a:t>What you did</a:t>
                      </a:r>
                    </a:p>
                  </a:txBody>
                  <a:tcPr anchor="ctr" marL="73152" marR="54864" marT="27432" marB="27432">
                    <a:solidFill>
                      <a:srgbClr val="0C2B4A"/>
                    </a:solidFill>
                  </a:tcPr>
                </a:tc>
                <a:tc>
                  <a:txBody>
                    <a:bodyPr wrap="square"/>
                    <a:lstStyle/>
                    <a:p>
                      <a:r>
                        <a:rPr sz="1150" b="1">
                          <a:solidFill>
                            <a:srgbClr val="FFFFFF"/>
                          </a:solidFill>
                        </a:rPr>
                        <a:t>Plagiarism?</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Copy-paste a senior's project report as your own</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Presenting others' work as yours, no credit</a:t>
                      </a:r>
                    </a:p>
                  </a:txBody>
                  <a:tcPr anchor="ctr" marL="73152" marR="54864" marT="27432" marB="27432">
                    <a:solidFill>
                      <a:srgbClr val="FFFFFF"/>
                    </a:solidFill>
                  </a:tcPr>
                </a:tc>
              </a:tr>
              <a:tr h="630936">
                <a:tc>
                  <a:txBody>
                    <a:bodyPr wrap="square"/>
                    <a:lstStyle/>
                    <a:p>
                      <a:r>
                        <a:rPr sz="1100" b="1">
                          <a:solidFill>
                            <a:srgbClr val="0C2B4A"/>
                          </a:solidFill>
                        </a:rPr>
                        <a:t>Paraphrase a source but cite it properly</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Genuine attribution; your own wording</a:t>
                      </a:r>
                    </a:p>
                  </a:txBody>
                  <a:tcPr anchor="ctr" marL="73152" marR="54864" marT="27432" marB="27432">
                    <a:solidFill>
                      <a:srgbClr val="EEF3F8"/>
                    </a:solidFill>
                  </a:tcPr>
                </a:tc>
              </a:tr>
              <a:tr h="630936">
                <a:tc>
                  <a:txBody>
                    <a:bodyPr wrap="square"/>
                    <a:lstStyle/>
                    <a:p>
                      <a:r>
                        <a:rPr sz="1100" b="1">
                          <a:solidFill>
                            <a:srgbClr val="0C2B4A"/>
                          </a:solidFill>
                        </a:rPr>
                        <a:t>Submit an AI-generated essay as your own</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Passing off non-original work as yours</a:t>
                      </a:r>
                    </a:p>
                  </a:txBody>
                  <a:tcPr anchor="ctr" marL="73152" marR="54864" marT="27432" marB="27432">
                    <a:solidFill>
                      <a:srgbClr val="FFFFFF"/>
                    </a:solidFill>
                  </a:tcPr>
                </a:tc>
              </a:tr>
              <a:tr h="630936">
                <a:tc>
                  <a:txBody>
                    <a:bodyPr wrap="square"/>
                    <a:lstStyle/>
                    <a:p>
                      <a:r>
                        <a:rPr sz="1100" b="1">
                          <a:solidFill>
                            <a:srgbClr val="0C2B4A"/>
                          </a:solidFill>
                        </a:rPr>
                        <a:t>Reuse your OWN past submitted essay as new</a:t>
                      </a:r>
                    </a:p>
                  </a:txBody>
                  <a:tcPr anchor="ctr" marL="73152" marR="54864" marT="27432" marB="27432">
                    <a:solidFill>
                      <a:srgbClr val="EEF3F8"/>
                    </a:solidFill>
                  </a:tcPr>
                </a:tc>
                <a:tc>
                  <a:txBody>
                    <a:bodyPr wrap="square"/>
                    <a:lstStyle/>
                    <a:p>
                      <a:r>
                        <a:rPr sz="1100">
                          <a:solidFill>
                            <a:srgbClr val="1A1A1A"/>
                          </a:solidFill>
                        </a:rPr>
                        <a:t>Yes (self-plagiarism)</a:t>
                      </a:r>
                    </a:p>
                  </a:txBody>
                  <a:tcPr anchor="ctr" marL="73152" marR="54864" marT="27432" marB="27432">
                    <a:solidFill>
                      <a:srgbClr val="EEF3F8"/>
                    </a:solidFill>
                  </a:tcPr>
                </a:tc>
                <a:tc>
                  <a:txBody>
                    <a:bodyPr wrap="square"/>
                    <a:lstStyle/>
                    <a:p>
                      <a:r>
                        <a:rPr sz="1100">
                          <a:solidFill>
                            <a:srgbClr val="1A1A1A"/>
                          </a:solidFill>
                        </a:rPr>
                        <a:t>Presenting old work as new original work</a:t>
                      </a:r>
                    </a:p>
                  </a:txBody>
                  <a:tcPr anchor="ctr" marL="73152" marR="54864" marT="27432" marB="27432">
                    <a:solidFill>
                      <a:srgbClr val="EEF3F8"/>
                    </a:solidFill>
                  </a:tcPr>
                </a:tc>
              </a:tr>
              <a:tr h="630936">
                <a:tc>
                  <a:txBody>
                    <a:bodyPr wrap="square"/>
                    <a:lstStyle/>
                    <a:p>
                      <a:r>
                        <a:rPr sz="1100" b="1">
                          <a:solidFill>
                            <a:srgbClr val="0C2B4A"/>
                          </a:solidFill>
                        </a:rPr>
                        <a:t>Quote two lines and attribute them</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Properly quoted and credited</a:t>
                      </a:r>
                    </a:p>
                  </a:txBody>
                  <a:tcPr anchor="ctr" marL="73152" marR="54864" marT="27432" marB="27432">
                    <a:solidFill>
                      <a:srgbClr val="FFFFFF"/>
                    </a:solidFill>
                  </a:tcPr>
                </a:tc>
              </a:tr>
              <a:tr h="630936">
                <a:tc>
                  <a:txBody>
                    <a:bodyPr wrap="square"/>
                    <a:lstStyle/>
                    <a:p>
                      <a:r>
                        <a:rPr sz="1100" b="1">
                          <a:solidFill>
                            <a:srgbClr val="0C2B4A"/>
                          </a:solidFill>
                        </a:rPr>
                        <a:t>Reword a paragraph but keep its structure/ideas, no credit</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Copied structure/ideas without attribution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Tribhuvan University enforces anti-plagiarism rules on reports and theses. Note row 2 vs row 6: citing helps ONLY if the wording is genuinely your own or properly quoted.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89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Plagiarism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Copy-paste BIM project reports and thesis sections lifted from seniors or online are plagiarism under Tribhuvan University's rules — an integrity offence that can fail you regardless of whether the source was copyrighted. AI-generated essays submitted as your own are the same offence in a new form.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"Changing a few words, or citing the source, means it's not plagiarism." Paraphrasing without real understanding — or keeping the original's structure and ideas — is still plagiarism, and a citation only helps if the work is genuinely attributed and properly quoted. Sprinkling a reference at the end does not launder copied text.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Plagiarism is presenting someone else's work or ideas as your own without credit — an ethical/academic offence, distinct from (though often overlapping) copyright infringement, which is legal. It includes self-plagiarism and passing off AI-generated text as original. Superficial paraphrasing or copied structure is still plagiarism; proper attribution and quotation are what avoid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plagiarism · ethical vs legal · self-plagiarism · AI-generated text · paraphrase ≠ original · TU rules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89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Reverse Engineering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Reverse engineering is analysing a finished product to discover how it was built or how it works. It is legal and common for interoperability, security research, and learning. It crosses the line when used to copy protected code or break a trade secret/contract — and EULAs often forbid it outright.</a:t>
            </a:r>
          </a:p>
          <a:p>
            <a:pPr>
              <a:spcAft>
                <a:spcPts val="500"/>
              </a:spcAft>
            </a:pPr>
            <a:r>
              <a:rPr sz="1200" b="1">
                <a:solidFill>
                  <a:srgbClr val="185FA5"/>
                </a:solidFill>
              </a:rPr>
              <a:t>HOW IT WORKS</a:t>
            </a:r>
          </a:p>
          <a:p>
            <a:pPr>
              <a:spcAft>
                <a:spcPts val="600"/>
              </a:spcAft>
            </a:pPr>
            <a:r>
              <a:rPr sz="1400">
                <a:solidFill>
                  <a:srgbClr val="1A1A1A"/>
                </a:solidFill>
              </a:rPr>
              <a:t>•  Legitimate uses: making products work together (interoperability), finding vulnerabilities, and learning.</a:t>
            </a:r>
          </a:p>
          <a:p>
            <a:pPr>
              <a:spcAft>
                <a:spcPts val="600"/>
              </a:spcAft>
            </a:pPr>
            <a:r>
              <a:rPr sz="1400">
                <a:solidFill>
                  <a:srgbClr val="1A1A1A"/>
                </a:solidFill>
              </a:rPr>
              <a:t>•  The line is crossed when you copy protected expression or misappropriate a trade secret.</a:t>
            </a:r>
          </a:p>
          <a:p>
            <a:pPr>
              <a:spcAft>
                <a:spcPts val="600"/>
              </a:spcAft>
            </a:pPr>
            <a:r>
              <a:rPr sz="1400">
                <a:solidFill>
                  <a:srgbClr val="1A1A1A"/>
                </a:solidFill>
              </a:rPr>
              <a:t>•  A 'clean-room' re-implementation (rebuild from behaviour, not from the code) is the lawful way to copy a function.</a:t>
            </a:r>
          </a:p>
          <a:p>
            <a:pPr>
              <a:spcAft>
                <a:spcPts val="600"/>
              </a:spcAft>
            </a:pPr>
            <a:r>
              <a:rPr sz="1400">
                <a:solidFill>
                  <a:srgbClr val="1A1A1A"/>
                </a:solidFill>
              </a:rPr>
              <a:t>•  Many licences (EULAs) contractually ban reverse engineering, adding a contract issue on top.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Reverse-engineer to understand or interoperate — not to copy protected work.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89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Reverse engineering — legitimate use vs misuse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061857"/>
                <a:gridCol w="2612571"/>
                <a:gridCol w="3755571"/>
              </a:tblGrid>
              <a:tr h="630936">
                <a:tc>
                  <a:txBody>
                    <a:bodyPr wrap="square"/>
                    <a:lstStyle/>
                    <a:p>
                      <a:r>
                        <a:rPr sz="1150" b="1">
                          <a:solidFill>
                            <a:srgbClr val="FFFFFF"/>
                          </a:solidFill>
                        </a:rPr>
                        <a:t>Purpose</a:t>
                      </a:r>
                    </a:p>
                  </a:txBody>
                  <a:tcPr anchor="ctr" marL="73152" marR="54864" marT="27432" marB="27432">
                    <a:solidFill>
                      <a:srgbClr val="0C2B4A"/>
                    </a:solidFill>
                  </a:tcPr>
                </a:tc>
                <a:tc>
                  <a:txBody>
                    <a:bodyPr wrap="square"/>
                    <a:lstStyle/>
                    <a:p>
                      <a:r>
                        <a:rPr sz="1150" b="1">
                          <a:solidFill>
                            <a:srgbClr val="FFFFFF"/>
                          </a:solidFill>
                        </a:rPr>
                        <a:t>Legitimate?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Building a tool that interoperates with an app</a:t>
                      </a:r>
                    </a:p>
                  </a:txBody>
                  <a:tcPr anchor="ctr" marL="73152" marR="54864" marT="27432" marB="27432">
                    <a:solidFill>
                      <a:srgbClr val="FFFFFF"/>
                    </a:solidFill>
                  </a:tcPr>
                </a:tc>
                <a:tc>
                  <a:txBody>
                    <a:bodyPr wrap="square"/>
                    <a:lstStyle/>
                    <a:p>
                      <a:r>
                        <a:rPr sz="1100">
                          <a:solidFill>
                            <a:srgbClr val="1A1A1A"/>
                          </a:solidFill>
                        </a:rPr>
                        <a:t>Legitimate</a:t>
                      </a:r>
                    </a:p>
                  </a:txBody>
                  <a:tcPr anchor="ctr" marL="73152" marR="54864" marT="27432" marB="27432">
                    <a:solidFill>
                      <a:srgbClr val="FFFFFF"/>
                    </a:solidFill>
                  </a:tcPr>
                </a:tc>
                <a:tc>
                  <a:txBody>
                    <a:bodyPr wrap="square"/>
                    <a:lstStyle/>
                    <a:p>
                      <a:r>
                        <a:rPr sz="1100">
                          <a:solidFill>
                            <a:srgbClr val="1A1A1A"/>
                          </a:solidFill>
                        </a:rPr>
                        <a:t>Interoperability is a recognised lawful purpose</a:t>
                      </a:r>
                    </a:p>
                  </a:txBody>
                  <a:tcPr anchor="ctr" marL="73152" marR="54864" marT="27432" marB="27432">
                    <a:solidFill>
                      <a:srgbClr val="FFFFFF"/>
                    </a:solidFill>
                  </a:tcPr>
                </a:tc>
              </a:tr>
              <a:tr h="630936">
                <a:tc>
                  <a:txBody>
                    <a:bodyPr wrap="square"/>
                    <a:lstStyle/>
                    <a:p>
                      <a:r>
                        <a:rPr sz="1100" b="1">
                          <a:solidFill>
                            <a:srgbClr val="0C2B4A"/>
                          </a:solidFill>
                        </a:rPr>
                        <a:t>Security research (studying malware, finding bugs)</a:t>
                      </a:r>
                    </a:p>
                  </a:txBody>
                  <a:tcPr anchor="ctr" marL="73152" marR="54864" marT="27432" marB="27432">
                    <a:solidFill>
                      <a:srgbClr val="EEF3F8"/>
                    </a:solidFill>
                  </a:tcPr>
                </a:tc>
                <a:tc>
                  <a:txBody>
                    <a:bodyPr wrap="square"/>
                    <a:lstStyle/>
                    <a:p>
                      <a:r>
                        <a:rPr sz="1100">
                          <a:solidFill>
                            <a:srgbClr val="1A1A1A"/>
                          </a:solidFill>
                        </a:rPr>
                        <a:t>Legitimate</a:t>
                      </a:r>
                    </a:p>
                  </a:txBody>
                  <a:tcPr anchor="ctr" marL="73152" marR="54864" marT="27432" marB="27432">
                    <a:solidFill>
                      <a:srgbClr val="EEF3F8"/>
                    </a:solidFill>
                  </a:tcPr>
                </a:tc>
                <a:tc>
                  <a:txBody>
                    <a:bodyPr wrap="square"/>
                    <a:lstStyle/>
                    <a:p>
                      <a:r>
                        <a:rPr sz="1100">
                          <a:solidFill>
                            <a:srgbClr val="1A1A1A"/>
                          </a:solidFill>
                        </a:rPr>
                        <a:t>Protects users; standard security practice</a:t>
                      </a:r>
                    </a:p>
                  </a:txBody>
                  <a:tcPr anchor="ctr" marL="73152" marR="54864" marT="27432" marB="27432">
                    <a:solidFill>
                      <a:srgbClr val="EEF3F8"/>
                    </a:solidFill>
                  </a:tcPr>
                </a:tc>
              </a:tr>
              <a:tr h="630936">
                <a:tc>
                  <a:txBody>
                    <a:bodyPr wrap="square"/>
                    <a:lstStyle/>
                    <a:p>
                      <a:r>
                        <a:rPr sz="1100" b="1">
                          <a:solidFill>
                            <a:srgbClr val="0C2B4A"/>
                          </a:solidFill>
                        </a:rPr>
                        <a:t>Learning how a technique works</a:t>
                      </a:r>
                    </a:p>
                  </a:txBody>
                  <a:tcPr anchor="ctr" marL="73152" marR="54864" marT="27432" marB="27432">
                    <a:solidFill>
                      <a:srgbClr val="FFFFFF"/>
                    </a:solidFill>
                  </a:tcPr>
                </a:tc>
                <a:tc>
                  <a:txBody>
                    <a:bodyPr wrap="square"/>
                    <a:lstStyle/>
                    <a:p>
                      <a:r>
                        <a:rPr sz="1100">
                          <a:solidFill>
                            <a:srgbClr val="1A1A1A"/>
                          </a:solidFill>
                        </a:rPr>
                        <a:t>Legitimate</a:t>
                      </a:r>
                    </a:p>
                  </a:txBody>
                  <a:tcPr anchor="ctr" marL="73152" marR="54864" marT="27432" marB="27432">
                    <a:solidFill>
                      <a:srgbClr val="FFFFFF"/>
                    </a:solidFill>
                  </a:tcPr>
                </a:tc>
                <a:tc>
                  <a:txBody>
                    <a:bodyPr wrap="square"/>
                    <a:lstStyle/>
                    <a:p>
                      <a:r>
                        <a:rPr sz="1100">
                          <a:solidFill>
                            <a:srgbClr val="1A1A1A"/>
                          </a:solidFill>
                        </a:rPr>
                        <a:t>Understanding is not copying</a:t>
                      </a:r>
                    </a:p>
                  </a:txBody>
                  <a:tcPr anchor="ctr" marL="73152" marR="54864" marT="27432" marB="27432">
                    <a:solidFill>
                      <a:srgbClr val="FFFFFF"/>
                    </a:solidFill>
                  </a:tcPr>
                </a:tc>
              </a:tr>
              <a:tr h="630936">
                <a:tc>
                  <a:txBody>
                    <a:bodyPr wrap="square"/>
                    <a:lstStyle/>
                    <a:p>
                      <a:r>
                        <a:rPr sz="1100" b="1">
                          <a:solidFill>
                            <a:srgbClr val="0C2B4A"/>
                          </a:solidFill>
                        </a:rPr>
                        <a:t>Cloning an app's protected code 1:1</a:t>
                      </a:r>
                    </a:p>
                  </a:txBody>
                  <a:tcPr anchor="ctr" marL="73152" marR="54864" marT="27432" marB="27432">
                    <a:solidFill>
                      <a:srgbClr val="EEF3F8"/>
                    </a:solidFill>
                  </a:tcPr>
                </a:tc>
                <a:tc>
                  <a:txBody>
                    <a:bodyPr wrap="square"/>
                    <a:lstStyle/>
                    <a:p>
                      <a:r>
                        <a:rPr sz="1100">
                          <a:solidFill>
                            <a:srgbClr val="1A1A1A"/>
                          </a:solidFill>
                        </a:rPr>
                        <a:t>Misuse</a:t>
                      </a:r>
                    </a:p>
                  </a:txBody>
                  <a:tcPr anchor="ctr" marL="73152" marR="54864" marT="27432" marB="27432">
                    <a:solidFill>
                      <a:srgbClr val="EEF3F8"/>
                    </a:solidFill>
                  </a:tcPr>
                </a:tc>
                <a:tc>
                  <a:txBody>
                    <a:bodyPr wrap="square"/>
                    <a:lstStyle/>
                    <a:p>
                      <a:r>
                        <a:rPr sz="1100">
                          <a:solidFill>
                            <a:srgbClr val="1A1A1A"/>
                          </a:solidFill>
                        </a:rPr>
                        <a:t>Copies protected expression — infringement</a:t>
                      </a:r>
                    </a:p>
                  </a:txBody>
                  <a:tcPr anchor="ctr" marL="73152" marR="54864" marT="27432" marB="27432">
                    <a:solidFill>
                      <a:srgbClr val="EEF3F8"/>
                    </a:solidFill>
                  </a:tcPr>
                </a:tc>
              </a:tr>
              <a:tr h="630936">
                <a:tc>
                  <a:txBody>
                    <a:bodyPr wrap="square"/>
                    <a:lstStyle/>
                    <a:p>
                      <a:r>
                        <a:rPr sz="1100" b="1">
                          <a:solidFill>
                            <a:srgbClr val="0C2B4A"/>
                          </a:solidFill>
                        </a:rPr>
                        <a:t>Extracting a competitor's trade secret</a:t>
                      </a:r>
                    </a:p>
                  </a:txBody>
                  <a:tcPr anchor="ctr" marL="73152" marR="54864" marT="27432" marB="27432">
                    <a:solidFill>
                      <a:srgbClr val="FFFFFF"/>
                    </a:solidFill>
                  </a:tcPr>
                </a:tc>
                <a:tc>
                  <a:txBody>
                    <a:bodyPr wrap="square"/>
                    <a:lstStyle/>
                    <a:p>
                      <a:r>
                        <a:rPr sz="1100">
                          <a:solidFill>
                            <a:srgbClr val="1A1A1A"/>
                          </a:solidFill>
                        </a:rPr>
                        <a:t>Misuse</a:t>
                      </a:r>
                    </a:p>
                  </a:txBody>
                  <a:tcPr anchor="ctr" marL="73152" marR="54864" marT="27432" marB="27432">
                    <a:solidFill>
                      <a:srgbClr val="FFFFFF"/>
                    </a:solidFill>
                  </a:tcPr>
                </a:tc>
                <a:tc>
                  <a:txBody>
                    <a:bodyPr wrap="square"/>
                    <a:lstStyle/>
                    <a:p>
                      <a:r>
                        <a:rPr sz="1100">
                          <a:solidFill>
                            <a:srgbClr val="1A1A1A"/>
                          </a:solidFill>
                        </a:rPr>
                        <a:t>Misappropriation of a trade secret</a:t>
                      </a:r>
                    </a:p>
                  </a:txBody>
                  <a:tcPr anchor="ctr" marL="73152" marR="54864" marT="27432" marB="27432">
                    <a:solidFill>
                      <a:srgbClr val="FFFFFF"/>
                    </a:solidFill>
                  </a:tcPr>
                </a:tc>
              </a:tr>
              <a:tr h="630936">
                <a:tc>
                  <a:txBody>
                    <a:bodyPr wrap="square"/>
                    <a:lstStyle/>
                    <a:p>
                      <a:r>
                        <a:rPr sz="1100" b="1">
                          <a:solidFill>
                            <a:srgbClr val="0C2B4A"/>
                          </a:solidFill>
                        </a:rPr>
                        <a:t>Reverse-engineering where the EULA forbids it</a:t>
                      </a:r>
                    </a:p>
                  </a:txBody>
                  <a:tcPr anchor="ctr" marL="73152" marR="54864" marT="27432" marB="27432">
                    <a:solidFill>
                      <a:srgbClr val="EEF3F8"/>
                    </a:solidFill>
                  </a:tcPr>
                </a:tc>
                <a:tc>
                  <a:txBody>
                    <a:bodyPr wrap="square"/>
                    <a:lstStyle/>
                    <a:p>
                      <a:r>
                        <a:rPr sz="1100">
                          <a:solidFill>
                            <a:srgbClr val="1A1A1A"/>
                          </a:solidFill>
                        </a:rPr>
                        <a:t>Misuse (contract)</a:t>
                      </a:r>
                    </a:p>
                  </a:txBody>
                  <a:tcPr anchor="ctr" marL="73152" marR="54864" marT="27432" marB="27432">
                    <a:solidFill>
                      <a:srgbClr val="EEF3F8"/>
                    </a:solidFill>
                  </a:tcPr>
                </a:tc>
                <a:tc>
                  <a:txBody>
                    <a:bodyPr wrap="square"/>
                    <a:lstStyle/>
                    <a:p>
                      <a:r>
                        <a:rPr sz="1100">
                          <a:solidFill>
                            <a:srgbClr val="1A1A1A"/>
                          </a:solidFill>
                        </a:rPr>
                        <a:t>Breaches the licence you agreed to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Intent and use draw the line: understanding/interoperability/security = legitimate; copying protected code or breaking a secret/contract = misuse.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89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Reverse Engineering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developer decompiles eSewa's app: to build a compatible tool that works alongside it (legitimate interoperability) versus to clone its features and UI 1:1 (copying protected expression). Same technique, opposite ethics — the purpose and what you do with the result decide which side of the line you're 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"Reverse engineering is hacking / always illegal." It's a standard, lawful practice for interoperability, security research, and learning — whole security careers depend on it. It becomes wrong only when used to copy protected code, steal a trade secret, or breach a EULA that forbids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Reverse engineering is analysing a finished product to learn how it works. It is legal and routine for interoperability, security research, and learning, and a clean-room re-implementation is the lawful way to match a function. It becomes misuse when used to copy protected code, misappropriate a trade secret, or breach a EULA — intent and use define the line.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reverse engineering · interoperability · security research · clean-room · EULA · intent defines the line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89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S14 — 'Borrowed — wrong, illegal, or fine?'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classify three acts as plagiarism / copyright infringement / fair study — some are more than one.</a:t>
            </a:r>
          </a:p>
          <a:p>
            <a:pPr>
              <a:spcAft>
                <a:spcPts val="700"/>
              </a:spcAft>
            </a:pPr>
            <a:r>
              <a:rPr sz="1550">
                <a:solidFill>
                  <a:srgbClr val="1A1A1A"/>
                </a:solidFill>
              </a:rPr>
              <a:t>•  Acts: pasting a GitHub function without credit; using AI to write a whole assignment; decompiling an app to learn its API.</a:t>
            </a:r>
          </a:p>
          <a:p>
            <a:pPr>
              <a:spcAft>
                <a:spcPts val="700"/>
              </a:spcAft>
            </a:pPr>
            <a:r>
              <a:rPr sz="1550">
                <a:solidFill>
                  <a:srgbClr val="1A1A1A"/>
                </a:solidFill>
              </a:rPr>
              <a:t>•  Take 3 answers aloud (3 min); place overlaps on the plagiarism/infringement Venn.</a:t>
            </a:r>
          </a:p>
          <a:p>
            <a:pPr>
              <a:spcAft>
                <a:spcPts val="700"/>
              </a:spcAft>
            </a:pPr>
            <a:r>
              <a:rPr sz="1550">
                <a:solidFill>
                  <a:srgbClr val="1A1A1A"/>
                </a:solidFill>
              </a:rPr>
              <a:t>•  Close: 'wrong' (ethics) and 'illegal' (law) are separate axes — an act can be one, both, or neither.</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GitHub function without credit = plagiarism (+ possible infringement/licence breach); AI whole assignment = plagiarism; decompiling to learn = legitimate reverse engineering. The AI case is the liveliest — push on where the line is.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89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Plagiarism is primarily a violation of:</a:t>
            </a:r>
          </a:p>
          <a:p>
            <a:pPr lvl="1"/>
            <a:r>
              <a:rPr sz="1500" b="1">
                <a:solidFill>
                  <a:srgbClr val="0F6E56"/>
                </a:solidFill>
              </a:rPr>
              <a:t>a) criminal law   b) ✅ academic / ethical integrity (not always law)   c) patent law   d) trademark law</a:t>
            </a:r>
          </a:p>
          <a:p>
            <a:pPr lvl="1">
              <a:spcBef>
                <a:spcPts val="600"/>
              </a:spcBef>
            </a:pPr>
            <a:r>
              <a:rPr sz="1500" i="1">
                <a:solidFill>
                  <a:srgbClr val="1A1A1A"/>
                </a:solidFill>
              </a:rPr>
              <a:t>     Why: plagiarism is an integrity offence; it may or may not also be copyright infringement.</a:t>
            </a:r>
          </a:p>
          <a:p>
            <a:pPr>
              <a:spcBef>
                <a:spcPts val="900"/>
              </a:spcBef>
            </a:pPr>
            <a:r>
              <a:rPr sz="1700" b="1">
                <a:solidFill>
                  <a:srgbClr val="0C2B4A"/>
                </a:solidFill>
              </a:rPr>
              <a:t>Q2.  Reverse engineering is generally legal when done for:</a:t>
            </a:r>
          </a:p>
          <a:p>
            <a:pPr lvl="1"/>
            <a:r>
              <a:rPr sz="1500" b="1">
                <a:solidFill>
                  <a:srgbClr val="0F6E56"/>
                </a:solidFill>
              </a:rPr>
              <a:t>a) cloning protected code   b) ✅ interoperability / security research   c) stealing a trade secret   d) breaching a EULA</a:t>
            </a:r>
          </a:p>
          <a:p>
            <a:pPr lvl="1">
              <a:spcBef>
                <a:spcPts val="600"/>
              </a:spcBef>
            </a:pPr>
            <a:r>
              <a:rPr sz="1500" i="1">
                <a:solidFill>
                  <a:srgbClr val="1A1A1A"/>
                </a:solidFill>
              </a:rPr>
              <a:t>     Why: understanding, interoperability, and security research are recognised lawful purposes.</a:t>
            </a:r>
          </a:p>
          <a:p>
            <a:pPr lvl="1">
              <a:spcBef>
                <a:spcPts val="600"/>
              </a:spcBef>
            </a:pPr>
            <a:r>
              <a:rPr sz="1500" i="1">
                <a:solidFill>
                  <a:srgbClr val="1A1A1A"/>
                </a:solidFill>
              </a:rPr>
              <a:t>Discussion: is using AI to write your whole assignment plagiarism? Where's the line?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89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Plagiarism = passing off others' work/ideas as your own — an ethical/academic offence (TU enforces it).</a:t>
            </a:r>
          </a:p>
          <a:p>
            <a:pPr>
              <a:spcAft>
                <a:spcPts val="800"/>
              </a:spcAft>
            </a:pPr>
            <a:r>
              <a:rPr sz="1500">
                <a:solidFill>
                  <a:srgbClr val="1A1A1A"/>
                </a:solidFill>
              </a:rPr>
              <a:t>2.  Reverse engineering is legitimate for learning, interoperability, and security — but not for copying.</a:t>
            </a:r>
          </a:p>
          <a:p>
            <a:pPr>
              <a:spcAft>
                <a:spcPts val="800"/>
              </a:spcAft>
            </a:pPr>
            <a:r>
              <a:rPr sz="1500">
                <a:solidFill>
                  <a:srgbClr val="1A1A1A"/>
                </a:solidFill>
              </a:rPr>
              <a:t>3.  Intent and use define the line; 'wrong' (ethics) and 'illegal' (law) are separate, overlapping questions.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report, thesis, and codebase you submit is checked for plagiarism — and entire security careers are built on ETHICAL reverse engineering. Knowing which axis (ethics vs law) an act sits on tells you both the penalty and the fix.</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S15 — open source licensing and the ethics of competitive intelligence.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89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15 · LECTURE HOUR 5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IP Issues: Open Source Code · Competitive Intelligence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Linux, Android, and most of the internet run on code anyone can copy for free — yet companies make billions on it. And firms legally 'spy' on competitors every day. How is any of this allowed? The answers are licensing and the ethics of intelligence-gathering.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59 / 89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Open Source Code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Open source software is released under a licence that grants rights to use, study, modify, and share the source. Crucially, open source is NOT the absence of copyright — it's copyright PLUS a licence. Licences split into permissive (MIT, Apache — use freely) and copyleft (GPL — derivatives must also be open).</a:t>
            </a:r>
          </a:p>
          <a:p>
            <a:pPr>
              <a:spcAft>
                <a:spcPts val="500"/>
              </a:spcAft>
            </a:pPr>
            <a:r>
              <a:rPr sz="1200" b="1">
                <a:solidFill>
                  <a:srgbClr val="185FA5"/>
                </a:solidFill>
              </a:rPr>
              <a:t>HOW IT WORKS</a:t>
            </a:r>
          </a:p>
          <a:p>
            <a:pPr>
              <a:spcAft>
                <a:spcPts val="600"/>
              </a:spcAft>
            </a:pPr>
            <a:r>
              <a:rPr sz="1400">
                <a:solidFill>
                  <a:srgbClr val="1A1A1A"/>
                </a:solidFill>
              </a:rPr>
              <a:t>•  The author keeps copyright and uses the licence to grant specific rights on specific conditions.</a:t>
            </a:r>
          </a:p>
          <a:p>
            <a:pPr>
              <a:spcAft>
                <a:spcPts val="600"/>
              </a:spcAft>
            </a:pPr>
            <a:r>
              <a:rPr sz="1400">
                <a:solidFill>
                  <a:srgbClr val="1A1A1A"/>
                </a:solidFill>
              </a:rPr>
              <a:t>•  Permissive (MIT, Apache): use it almost anywhere, just keep the attribution/notice.</a:t>
            </a:r>
          </a:p>
          <a:p>
            <a:pPr>
              <a:spcAft>
                <a:spcPts val="600"/>
              </a:spcAft>
            </a:pPr>
            <a:r>
              <a:rPr sz="1400">
                <a:solidFill>
                  <a:srgbClr val="1A1A1A"/>
                </a:solidFill>
              </a:rPr>
              <a:t>•  Copyleft (GPL): if you distribute a derivative, you must release its source under the same terms.</a:t>
            </a:r>
          </a:p>
          <a:p>
            <a:pPr>
              <a:spcAft>
                <a:spcPts val="600"/>
              </a:spcAft>
            </a:pPr>
            <a:r>
              <a:rPr sz="1400">
                <a:solidFill>
                  <a:srgbClr val="1A1A1A"/>
                </a:solidFill>
              </a:rPr>
              <a:t>•  Violating the licence (e.g. shipping GPL code inside a closed product) is copyright infringement.</a:t>
            </a:r>
          </a:p>
        </p:txBody>
      </p:sp>
      <p:pic>
        <p:nvPicPr>
          <p:cNvPr id="6" name="Picture 5" descr="s15_licenses.png"/>
          <p:cNvPicPr>
            <a:picLocks noChangeAspect="1"/>
          </p:cNvPicPr>
          <p:nvPr/>
        </p:nvPicPr>
        <p:blipFill>
          <a:blip r:embed="rId2"/>
          <a:stretch>
            <a:fillRect/>
          </a:stretch>
        </p:blipFill>
        <p:spPr>
          <a:xfrm>
            <a:off x="6355080" y="2777157"/>
            <a:ext cx="5532120" cy="208092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Open source = copyright + a licence with real obligations.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89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Permissive vs copyleft — the two open-source families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92285"/>
                <a:gridCol w="3918857"/>
                <a:gridCol w="3918857"/>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Permissive (MIT, Apache)</a:t>
                      </a:r>
                    </a:p>
                  </a:txBody>
                  <a:tcPr anchor="ctr" marL="73152" marR="54864" marT="27432" marB="27432">
                    <a:solidFill>
                      <a:srgbClr val="0C2B4A"/>
                    </a:solidFill>
                  </a:tcPr>
                </a:tc>
                <a:tc>
                  <a:txBody>
                    <a:bodyPr wrap="square"/>
                    <a:lstStyle/>
                    <a:p>
                      <a:r>
                        <a:rPr sz="1150" b="1">
                          <a:solidFill>
                            <a:srgbClr val="FFFFFF"/>
                          </a:solidFill>
                        </a:rPr>
                        <a:t>Copyleft (GPL)</a:t>
                      </a:r>
                    </a:p>
                  </a:txBody>
                  <a:tcPr anchor="ctr" marL="73152" marR="54864" marT="27432" marB="27432">
                    <a:solidFill>
                      <a:srgbClr val="0C2B4A"/>
                    </a:solidFill>
                  </a:tcPr>
                </a:tc>
              </a:tr>
              <a:tr h="736092">
                <a:tc>
                  <a:txBody>
                    <a:bodyPr wrap="square"/>
                    <a:lstStyle/>
                    <a:p>
                      <a:r>
                        <a:rPr sz="1100" b="1">
                          <a:solidFill>
                            <a:srgbClr val="0C2B4A"/>
                          </a:solidFill>
                        </a:rPr>
                        <a:t>Can you use it in closed software?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Only if you also open your derivative</a:t>
                      </a:r>
                    </a:p>
                  </a:txBody>
                  <a:tcPr anchor="ctr" marL="73152" marR="54864" marT="27432" marB="27432">
                    <a:solidFill>
                      <a:srgbClr val="FFFFFF"/>
                    </a:solidFill>
                  </a:tcPr>
                </a:tc>
              </a:tr>
              <a:tr h="736092">
                <a:tc>
                  <a:txBody>
                    <a:bodyPr wrap="square"/>
                    <a:lstStyle/>
                    <a:p>
                      <a:r>
                        <a:rPr sz="1100" b="1">
                          <a:solidFill>
                            <a:srgbClr val="0C2B4A"/>
                          </a:solidFill>
                        </a:rPr>
                        <a:t>Main obligation</a:t>
                      </a:r>
                    </a:p>
                  </a:txBody>
                  <a:tcPr anchor="ctr" marL="73152" marR="54864" marT="27432" marB="27432">
                    <a:solidFill>
                      <a:srgbClr val="EEF3F8"/>
                    </a:solidFill>
                  </a:tcPr>
                </a:tc>
                <a:tc>
                  <a:txBody>
                    <a:bodyPr wrap="square"/>
                    <a:lstStyle/>
                    <a:p>
                      <a:r>
                        <a:rPr sz="1100">
                          <a:solidFill>
                            <a:srgbClr val="1A1A1A"/>
                          </a:solidFill>
                        </a:rPr>
                        <a:t>Keep the attribution / licence notice</a:t>
                      </a:r>
                    </a:p>
                  </a:txBody>
                  <a:tcPr anchor="ctr" marL="73152" marR="54864" marT="27432" marB="27432">
                    <a:solidFill>
                      <a:srgbClr val="EEF3F8"/>
                    </a:solidFill>
                  </a:tcPr>
                </a:tc>
                <a:tc>
                  <a:txBody>
                    <a:bodyPr wrap="square"/>
                    <a:lstStyle/>
                    <a:p>
                      <a:r>
                        <a:rPr sz="1100">
                          <a:solidFill>
                            <a:srgbClr val="1A1A1A"/>
                          </a:solidFill>
                        </a:rPr>
                        <a:t>Release derivative source under the same licence</a:t>
                      </a:r>
                    </a:p>
                  </a:txBody>
                  <a:tcPr anchor="ctr" marL="73152" marR="54864" marT="27432" marB="27432">
                    <a:solidFill>
                      <a:srgbClr val="EEF3F8"/>
                    </a:solidFill>
                  </a:tcPr>
                </a:tc>
              </a:tr>
              <a:tr h="736092">
                <a:tc>
                  <a:txBody>
                    <a:bodyPr wrap="square"/>
                    <a:lstStyle/>
                    <a:p>
                      <a:r>
                        <a:rPr sz="1100" b="1">
                          <a:solidFill>
                            <a:srgbClr val="0C2B4A"/>
                          </a:solidFill>
                        </a:rPr>
                        <a:t>Why a company might avoid it</a:t>
                      </a:r>
                    </a:p>
                  </a:txBody>
                  <a:tcPr anchor="ctr" marL="73152" marR="54864" marT="27432" marB="27432">
                    <a:solidFill>
                      <a:srgbClr val="FFFFFF"/>
                    </a:solidFill>
                  </a:tcPr>
                </a:tc>
                <a:tc>
                  <a:txBody>
                    <a:bodyPr wrap="square"/>
                    <a:lstStyle/>
                    <a:p>
                      <a:r>
                        <a:rPr sz="1100">
                          <a:solidFill>
                            <a:srgbClr val="1A1A1A"/>
                          </a:solidFill>
                        </a:rPr>
                        <a:t>(rarely avoided)</a:t>
                      </a:r>
                    </a:p>
                  </a:txBody>
                  <a:tcPr anchor="ctr" marL="73152" marR="54864" marT="27432" marB="27432">
                    <a:solidFill>
                      <a:srgbClr val="FFFFFF"/>
                    </a:solidFill>
                  </a:tcPr>
                </a:tc>
                <a:tc>
                  <a:txBody>
                    <a:bodyPr wrap="square"/>
                    <a:lstStyle/>
                    <a:p>
                      <a:r>
                        <a:rPr sz="1100">
                          <a:solidFill>
                            <a:srgbClr val="1A1A1A"/>
                          </a:solidFill>
                        </a:rPr>
                        <a:t>Can 'infect' proprietary code with openness</a:t>
                      </a:r>
                    </a:p>
                  </a:txBody>
                  <a:tcPr anchor="ctr" marL="73152" marR="54864" marT="27432" marB="27432">
                    <a:solidFill>
                      <a:srgbClr val="FFFFFF"/>
                    </a:solidFill>
                  </a:tcPr>
                </a:tc>
              </a:tr>
              <a:tr h="736092">
                <a:tc>
                  <a:txBody>
                    <a:bodyPr wrap="square"/>
                    <a:lstStyle/>
                    <a:p>
                      <a:r>
                        <a:rPr sz="1100" b="1">
                          <a:solidFill>
                            <a:srgbClr val="0C2B4A"/>
                          </a:solidFill>
                        </a:rPr>
                        <a:t>Example projects</a:t>
                      </a:r>
                    </a:p>
                  </a:txBody>
                  <a:tcPr anchor="ctr" marL="73152" marR="54864" marT="27432" marB="27432">
                    <a:solidFill>
                      <a:srgbClr val="EEF3F8"/>
                    </a:solidFill>
                  </a:tcPr>
                </a:tc>
                <a:tc>
                  <a:txBody>
                    <a:bodyPr wrap="square"/>
                    <a:lstStyle/>
                    <a:p>
                      <a:r>
                        <a:rPr sz="1100">
                          <a:solidFill>
                            <a:srgbClr val="1A1A1A"/>
                          </a:solidFill>
                        </a:rPr>
                        <a:t>React (MIT); much of Apache's stack</a:t>
                      </a:r>
                    </a:p>
                  </a:txBody>
                  <a:tcPr anchor="ctr" marL="73152" marR="54864" marT="27432" marB="27432">
                    <a:solidFill>
                      <a:srgbClr val="EEF3F8"/>
                    </a:solidFill>
                  </a:tcPr>
                </a:tc>
                <a:tc>
                  <a:txBody>
                    <a:bodyPr wrap="square"/>
                    <a:lstStyle/>
                    <a:p>
                      <a:r>
                        <a:rPr sz="1100">
                          <a:solidFill>
                            <a:srgbClr val="1A1A1A"/>
                          </a:solidFill>
                        </a:rPr>
                        <a:t>Linux, Android core (GPL)</a:t>
                      </a:r>
                    </a:p>
                  </a:txBody>
                  <a:tcPr anchor="ctr" marL="73152" marR="54864" marT="27432" marB="27432">
                    <a:solidFill>
                      <a:srgbClr val="EEF3F8"/>
                    </a:solidFill>
                  </a:tcPr>
                </a:tc>
              </a:tr>
              <a:tr h="736092">
                <a:tc>
                  <a:txBody>
                    <a:bodyPr wrap="square"/>
                    <a:lstStyle/>
                    <a:p>
                      <a:r>
                        <a:rPr sz="1100" b="1">
                          <a:solidFill>
                            <a:srgbClr val="0C2B4A"/>
                          </a:solidFill>
                        </a:rPr>
                        <a:t>Violation =</a:t>
                      </a:r>
                    </a:p>
                  </a:txBody>
                  <a:tcPr anchor="ctr" marL="73152" marR="54864" marT="27432" marB="27432">
                    <a:solidFill>
                      <a:srgbClr val="FFFFFF"/>
                    </a:solidFill>
                  </a:tcPr>
                </a:tc>
                <a:tc>
                  <a:txBody>
                    <a:bodyPr wrap="square"/>
                    <a:lstStyle/>
                    <a:p>
                      <a:r>
                        <a:rPr sz="1100">
                          <a:solidFill>
                            <a:srgbClr val="1A1A1A"/>
                          </a:solidFill>
                        </a:rPr>
                        <a:t>Dropping attribution → infringement</a:t>
                      </a:r>
                    </a:p>
                  </a:txBody>
                  <a:tcPr anchor="ctr" marL="73152" marR="54864" marT="27432" marB="27432">
                    <a:solidFill>
                      <a:srgbClr val="FFFFFF"/>
                    </a:solidFill>
                  </a:tcPr>
                </a:tc>
                <a:tc>
                  <a:txBody>
                    <a:bodyPr wrap="square"/>
                    <a:lstStyle/>
                    <a:p>
                      <a:r>
                        <a:rPr sz="1100">
                          <a:solidFill>
                            <a:srgbClr val="1A1A1A"/>
                          </a:solidFill>
                        </a:rPr>
                        <a:t>Shipping GPL code closed → infringement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Both are real copyright licences with enforceable obligations — 'open' means 'licensed on conditions', not 'do whatever you like'.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89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Open Source Code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startups and government projects build on WordPress, Linux, and open frameworks to cut cost — which is exactly what open source is for. But the licences carry obligations: keep attribution for MIT/Apache code, and open your source if you distribute a GPL-based derivative. Honouring the licence is not optional politeness; it's the condition of the grant.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"Open source means free with no rules — I can use it however I like." Open source is copyright plus a licence, and the licence imposes real obligations (attribution, share-alike). Ignoring them is infringement — companies have been sued for shipping GPL code inside closed products.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Open source software is licensed, not un-owned: it is copyright plus a licence granting rights to use, study, modify, and share. Permissive licences (MIT, Apache) require little beyond attribution; copyleft licences (GPL) require derivatives to be released open too. Violating either — dropping attribution, or closing GPL-derived code — is copyright infringement.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open source · copyright + licence · permissive (MIT/Apache) · copyleft (GPL) · attribution · share-alike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89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a licence violation? — MIT/Apache vs GPL in practice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921250"/>
                <a:gridCol w="2698750"/>
                <a:gridCol w="3810000"/>
              </a:tblGrid>
              <a:tr h="630936">
                <a:tc>
                  <a:txBody>
                    <a:bodyPr wrap="square"/>
                    <a:lstStyle/>
                    <a:p>
                      <a:r>
                        <a:rPr sz="1150" b="1">
                          <a:solidFill>
                            <a:srgbClr val="FFFFFF"/>
                          </a:solidFill>
                        </a:rPr>
                        <a:t>What the team did</a:t>
                      </a:r>
                    </a:p>
                  </a:txBody>
                  <a:tcPr anchor="ctr" marL="73152" marR="54864" marT="27432" marB="27432">
                    <a:solidFill>
                      <a:srgbClr val="0C2B4A"/>
                    </a:solidFill>
                  </a:tcPr>
                </a:tc>
                <a:tc>
                  <a:txBody>
                    <a:bodyPr wrap="square"/>
                    <a:lstStyle/>
                    <a:p>
                      <a:r>
                        <a:rPr sz="1150" b="1">
                          <a:solidFill>
                            <a:srgbClr val="FFFFFF"/>
                          </a:solidFill>
                        </a:rPr>
                        <a:t>Licence violation?</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Ships GPL code inside a closed proprietary app</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Copyleft requires derivatives be open too</a:t>
                      </a:r>
                    </a:p>
                  </a:txBody>
                  <a:tcPr anchor="ctr" marL="73152" marR="54864" marT="27432" marB="27432">
                    <a:solidFill>
                      <a:srgbClr val="FFFFFF"/>
                    </a:solidFill>
                  </a:tcPr>
                </a:tc>
              </a:tr>
              <a:tr h="630936">
                <a:tc>
                  <a:txBody>
                    <a:bodyPr wrap="square"/>
                    <a:lstStyle/>
                    <a:p>
                      <a:r>
                        <a:rPr sz="1100" b="1">
                          <a:solidFill>
                            <a:srgbClr val="0C2B4A"/>
                          </a:solidFill>
                        </a:rPr>
                        <a:t>Uses React (MIT) in a closed product, keeps the notice</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Permissive; only attribution required</a:t>
                      </a:r>
                    </a:p>
                  </a:txBody>
                  <a:tcPr anchor="ctr" marL="73152" marR="54864" marT="27432" marB="27432">
                    <a:solidFill>
                      <a:srgbClr val="EEF3F8"/>
                    </a:solidFill>
                  </a:tcPr>
                </a:tc>
              </a:tr>
              <a:tr h="630936">
                <a:tc>
                  <a:txBody>
                    <a:bodyPr wrap="square"/>
                    <a:lstStyle/>
                    <a:p>
                      <a:r>
                        <a:rPr sz="1100" b="1">
                          <a:solidFill>
                            <a:srgbClr val="0C2B4A"/>
                          </a:solidFill>
                        </a:rPr>
                        <a:t>Drops the MIT attribution / licence notice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Attribution is the one MIT obligation</a:t>
                      </a:r>
                    </a:p>
                  </a:txBody>
                  <a:tcPr anchor="ctr" marL="73152" marR="54864" marT="27432" marB="27432">
                    <a:solidFill>
                      <a:srgbClr val="FFFFFF"/>
                    </a:solidFill>
                  </a:tcPr>
                </a:tc>
              </a:tr>
              <a:tr h="630936">
                <a:tc>
                  <a:txBody>
                    <a:bodyPr wrap="square"/>
                    <a:lstStyle/>
                    <a:p>
                      <a:r>
                        <a:rPr sz="1100" b="1">
                          <a:solidFill>
                            <a:srgbClr val="0C2B4A"/>
                          </a:solidFill>
                        </a:rPr>
                        <a:t>Modifies GPL code, releases the source under GPL</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Share-alike obligation honoured</a:t>
                      </a:r>
                    </a:p>
                  </a:txBody>
                  <a:tcPr anchor="ctr" marL="73152" marR="54864" marT="27432" marB="27432">
                    <a:solidFill>
                      <a:srgbClr val="EEF3F8"/>
                    </a:solidFill>
                  </a:tcPr>
                </a:tc>
              </a:tr>
              <a:tr h="630936">
                <a:tc>
                  <a:txBody>
                    <a:bodyPr wrap="square"/>
                    <a:lstStyle/>
                    <a:p>
                      <a:r>
                        <a:rPr sz="1100" b="1">
                          <a:solidFill>
                            <a:srgbClr val="0C2B4A"/>
                          </a:solidFill>
                        </a:rPr>
                        <a:t>Builds a gov site on WordPress, keeps its licence</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Compliant open-source use</a:t>
                      </a:r>
                    </a:p>
                  </a:txBody>
                  <a:tcPr anchor="ctr" marL="73152" marR="54864" marT="27432" marB="27432">
                    <a:solidFill>
                      <a:srgbClr val="FFFFFF"/>
                    </a:solidFill>
                  </a:tcPr>
                </a:tc>
              </a:tr>
              <a:tr h="630936">
                <a:tc>
                  <a:txBody>
                    <a:bodyPr wrap="square"/>
                    <a:lstStyle/>
                    <a:p>
                      <a:r>
                        <a:rPr sz="1100" b="1">
                          <a:solidFill>
                            <a:srgbClr val="0C2B4A"/>
                          </a:solidFill>
                        </a:rPr>
                        <a:t>Removes GPL notices and sells it as their own</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Copyright infringement of the licensed code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Open source is copyright + a licence. Permissive (MIT/Apache) needs attribution; copyleft (GPL) needs derivatives kept open. Breaking either is copyright infringement.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89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Competitive Intelligence — ethical vs espionage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Competitive intelligence (CI) is legally and ethically gathering PUBLIC information about competitors to inform strategy. It uses public, legal sources — websites, ads, public filings, job posts, trade shows. It becomes industrial ESPIONAGE when it involves theft, bribery, hacking, misrepresentation, or stealing trade secrets.</a:t>
            </a:r>
          </a:p>
          <a:p>
            <a:pPr>
              <a:spcAft>
                <a:spcPts val="500"/>
              </a:spcAft>
            </a:pPr>
            <a:r>
              <a:rPr sz="1200" b="1">
                <a:solidFill>
                  <a:srgbClr val="185FA5"/>
                </a:solidFill>
              </a:rPr>
              <a:t>HOW IT WORKS</a:t>
            </a:r>
          </a:p>
          <a:p>
            <a:pPr>
              <a:spcAft>
                <a:spcPts val="600"/>
              </a:spcAft>
            </a:pPr>
            <a:r>
              <a:rPr sz="1400">
                <a:solidFill>
                  <a:srgbClr val="1A1A1A"/>
                </a:solidFill>
              </a:rPr>
              <a:t>•  CI is normal, legal business homework — reading what a rival has already made public.</a:t>
            </a:r>
          </a:p>
          <a:p>
            <a:pPr>
              <a:spcAft>
                <a:spcPts val="600"/>
              </a:spcAft>
            </a:pPr>
            <a:r>
              <a:rPr sz="1400">
                <a:solidFill>
                  <a:srgbClr val="1A1A1A"/>
                </a:solidFill>
              </a:rPr>
              <a:t>•  The line is crossed by HOW you get the information, not by wanting it.</a:t>
            </a:r>
          </a:p>
          <a:p>
            <a:pPr>
              <a:spcAft>
                <a:spcPts val="600"/>
              </a:spcAft>
            </a:pPr>
            <a:r>
              <a:rPr sz="1400">
                <a:solidFill>
                  <a:srgbClr val="1A1A1A"/>
                </a:solidFill>
              </a:rPr>
              <a:t>•  Espionage: hacking systems, bribing staff, posing as someone else, or lifting trade secrets.</a:t>
            </a:r>
          </a:p>
          <a:p>
            <a:pPr>
              <a:spcAft>
                <a:spcPts val="600"/>
              </a:spcAft>
            </a:pPr>
            <a:r>
              <a:rPr sz="1400">
                <a:solidFill>
                  <a:srgbClr val="1A1A1A"/>
                </a:solidFill>
              </a:rPr>
              <a:t>•  Misrepresentation (lying about who you are to extract info) is a classic espionage tactic.</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CI reads the published playbook; espionage breaks into the locker room.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89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Competitive intelligence vs industrial espionage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061857"/>
                <a:gridCol w="2612571"/>
                <a:gridCol w="3755571"/>
              </a:tblGrid>
              <a:tr h="630936">
                <a:tc>
                  <a:txBody>
                    <a:bodyPr wrap="square"/>
                    <a:lstStyle/>
                    <a:p>
                      <a:r>
                        <a:rPr sz="1150" b="1">
                          <a:solidFill>
                            <a:srgbClr val="FFFFFF"/>
                          </a:solidFill>
                        </a:rPr>
                        <a:t>Method</a:t>
                      </a:r>
                    </a:p>
                  </a:txBody>
                  <a:tcPr anchor="ctr" marL="73152" marR="54864" marT="27432" marB="27432">
                    <a:solidFill>
                      <a:srgbClr val="0C2B4A"/>
                    </a:solidFill>
                  </a:tcPr>
                </a:tc>
                <a:tc>
                  <a:txBody>
                    <a:bodyPr wrap="square"/>
                    <a:lstStyle/>
                    <a:p>
                      <a:r>
                        <a:rPr sz="1150" b="1">
                          <a:solidFill>
                            <a:srgbClr val="FFFFFF"/>
                          </a:solidFill>
                        </a:rPr>
                        <a:t>CI or espionage?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Reading a rival's public annual report / rates</a:t>
                      </a:r>
                    </a:p>
                  </a:txBody>
                  <a:tcPr anchor="ctr" marL="73152" marR="54864" marT="27432" marB="27432">
                    <a:solidFill>
                      <a:srgbClr val="FFFFFF"/>
                    </a:solidFill>
                  </a:tcPr>
                </a:tc>
                <a:tc>
                  <a:txBody>
                    <a:bodyPr wrap="square"/>
                    <a:lstStyle/>
                    <a:p>
                      <a:r>
                        <a:rPr sz="1100">
                          <a:solidFill>
                            <a:srgbClr val="1A1A1A"/>
                          </a:solidFill>
                        </a:rPr>
                        <a:t>CI</a:t>
                      </a:r>
                    </a:p>
                  </a:txBody>
                  <a:tcPr anchor="ctr" marL="73152" marR="54864" marT="27432" marB="27432">
                    <a:solidFill>
                      <a:srgbClr val="FFFFFF"/>
                    </a:solidFill>
                  </a:tcPr>
                </a:tc>
                <a:tc>
                  <a:txBody>
                    <a:bodyPr wrap="square"/>
                    <a:lstStyle/>
                    <a:p>
                      <a:r>
                        <a:rPr sz="1100">
                          <a:solidFill>
                            <a:srgbClr val="1A1A1A"/>
                          </a:solidFill>
                        </a:rPr>
                        <a:t>Public, legal source</a:t>
                      </a:r>
                    </a:p>
                  </a:txBody>
                  <a:tcPr anchor="ctr" marL="73152" marR="54864" marT="27432" marB="27432">
                    <a:solidFill>
                      <a:srgbClr val="FFFFFF"/>
                    </a:solidFill>
                  </a:tcPr>
                </a:tc>
              </a:tr>
              <a:tr h="630936">
                <a:tc>
                  <a:txBody>
                    <a:bodyPr wrap="square"/>
                    <a:lstStyle/>
                    <a:p>
                      <a:r>
                        <a:rPr sz="1100" b="1">
                          <a:solidFill>
                            <a:srgbClr val="0C2B4A"/>
                          </a:solidFill>
                        </a:rPr>
                        <a:t>Studying competitors' ads and job postings</a:t>
                      </a:r>
                    </a:p>
                  </a:txBody>
                  <a:tcPr anchor="ctr" marL="73152" marR="54864" marT="27432" marB="27432">
                    <a:solidFill>
                      <a:srgbClr val="EEF3F8"/>
                    </a:solidFill>
                  </a:tcPr>
                </a:tc>
                <a:tc>
                  <a:txBody>
                    <a:bodyPr wrap="square"/>
                    <a:lstStyle/>
                    <a:p>
                      <a:r>
                        <a:rPr sz="1100">
                          <a:solidFill>
                            <a:srgbClr val="1A1A1A"/>
                          </a:solidFill>
                        </a:rPr>
                        <a:t>CI</a:t>
                      </a:r>
                    </a:p>
                  </a:txBody>
                  <a:tcPr anchor="ctr" marL="73152" marR="54864" marT="27432" marB="27432">
                    <a:solidFill>
                      <a:srgbClr val="EEF3F8"/>
                    </a:solidFill>
                  </a:tcPr>
                </a:tc>
                <a:tc>
                  <a:txBody>
                    <a:bodyPr wrap="square"/>
                    <a:lstStyle/>
                    <a:p>
                      <a:r>
                        <a:rPr sz="1100">
                          <a:solidFill>
                            <a:srgbClr val="1A1A1A"/>
                          </a:solidFill>
                        </a:rPr>
                        <a:t>Freely published information</a:t>
                      </a:r>
                    </a:p>
                  </a:txBody>
                  <a:tcPr anchor="ctr" marL="73152" marR="54864" marT="27432" marB="27432">
                    <a:solidFill>
                      <a:srgbClr val="EEF3F8"/>
                    </a:solidFill>
                  </a:tcPr>
                </a:tc>
              </a:tr>
              <a:tr h="630936">
                <a:tc>
                  <a:txBody>
                    <a:bodyPr wrap="square"/>
                    <a:lstStyle/>
                    <a:p>
                      <a:r>
                        <a:rPr sz="1100" b="1">
                          <a:solidFill>
                            <a:srgbClr val="0C2B4A"/>
                          </a:solidFill>
                        </a:rPr>
                        <a:t>Walking a competitor's public trade-show booth</a:t>
                      </a:r>
                    </a:p>
                  </a:txBody>
                  <a:tcPr anchor="ctr" marL="73152" marR="54864" marT="27432" marB="27432">
                    <a:solidFill>
                      <a:srgbClr val="FFFFFF"/>
                    </a:solidFill>
                  </a:tcPr>
                </a:tc>
                <a:tc>
                  <a:txBody>
                    <a:bodyPr wrap="square"/>
                    <a:lstStyle/>
                    <a:p>
                      <a:r>
                        <a:rPr sz="1100">
                          <a:solidFill>
                            <a:srgbClr val="1A1A1A"/>
                          </a:solidFill>
                        </a:rPr>
                        <a:t>CI</a:t>
                      </a:r>
                    </a:p>
                  </a:txBody>
                  <a:tcPr anchor="ctr" marL="73152" marR="54864" marT="27432" marB="27432">
                    <a:solidFill>
                      <a:srgbClr val="FFFFFF"/>
                    </a:solidFill>
                  </a:tcPr>
                </a:tc>
                <a:tc>
                  <a:txBody>
                    <a:bodyPr wrap="square"/>
                    <a:lstStyle/>
                    <a:p>
                      <a:r>
                        <a:rPr sz="1100">
                          <a:solidFill>
                            <a:srgbClr val="1A1A1A"/>
                          </a:solidFill>
                        </a:rPr>
                        <a:t>Openly available to anyone</a:t>
                      </a:r>
                    </a:p>
                  </a:txBody>
                  <a:tcPr anchor="ctr" marL="73152" marR="54864" marT="27432" marB="27432">
                    <a:solidFill>
                      <a:srgbClr val="FFFFFF"/>
                    </a:solidFill>
                  </a:tcPr>
                </a:tc>
              </a:tr>
              <a:tr h="630936">
                <a:tc>
                  <a:txBody>
                    <a:bodyPr wrap="square"/>
                    <a:lstStyle/>
                    <a:p>
                      <a:r>
                        <a:rPr sz="1100" b="1">
                          <a:solidFill>
                            <a:srgbClr val="0C2B4A"/>
                          </a:solidFill>
                        </a:rPr>
                        <a:t>Hacking a rival's servers for their data</a:t>
                      </a:r>
                    </a:p>
                  </a:txBody>
                  <a:tcPr anchor="ctr" marL="73152" marR="54864" marT="27432" marB="27432">
                    <a:solidFill>
                      <a:srgbClr val="EEF3F8"/>
                    </a:solidFill>
                  </a:tcPr>
                </a:tc>
                <a:tc>
                  <a:txBody>
                    <a:bodyPr wrap="square"/>
                    <a:lstStyle/>
                    <a:p>
                      <a:r>
                        <a:rPr sz="1100">
                          <a:solidFill>
                            <a:srgbClr val="1A1A1A"/>
                          </a:solidFill>
                        </a:rPr>
                        <a:t>Espionage</a:t>
                      </a:r>
                    </a:p>
                  </a:txBody>
                  <a:tcPr anchor="ctr" marL="73152" marR="54864" marT="27432" marB="27432">
                    <a:solidFill>
                      <a:srgbClr val="EEF3F8"/>
                    </a:solidFill>
                  </a:tcPr>
                </a:tc>
                <a:tc>
                  <a:txBody>
                    <a:bodyPr wrap="square"/>
                    <a:lstStyle/>
                    <a:p>
                      <a:r>
                        <a:rPr sz="1100">
                          <a:solidFill>
                            <a:srgbClr val="1A1A1A"/>
                          </a:solidFill>
                        </a:rPr>
                        <a:t>Illegal intrusion / theft</a:t>
                      </a:r>
                    </a:p>
                  </a:txBody>
                  <a:tcPr anchor="ctr" marL="73152" marR="54864" marT="27432" marB="27432">
                    <a:solidFill>
                      <a:srgbClr val="EEF3F8"/>
                    </a:solidFill>
                  </a:tcPr>
                </a:tc>
              </a:tr>
              <a:tr h="630936">
                <a:tc>
                  <a:txBody>
                    <a:bodyPr wrap="square"/>
                    <a:lstStyle/>
                    <a:p>
                      <a:r>
                        <a:rPr sz="1100" b="1">
                          <a:solidFill>
                            <a:srgbClr val="0C2B4A"/>
                          </a:solidFill>
                        </a:rPr>
                        <a:t>Bribing a staffer for a customer list</a:t>
                      </a:r>
                    </a:p>
                  </a:txBody>
                  <a:tcPr anchor="ctr" marL="73152" marR="54864" marT="27432" marB="27432">
                    <a:solidFill>
                      <a:srgbClr val="FFFFFF"/>
                    </a:solidFill>
                  </a:tcPr>
                </a:tc>
                <a:tc>
                  <a:txBody>
                    <a:bodyPr wrap="square"/>
                    <a:lstStyle/>
                    <a:p>
                      <a:r>
                        <a:rPr sz="1100">
                          <a:solidFill>
                            <a:srgbClr val="1A1A1A"/>
                          </a:solidFill>
                        </a:rPr>
                        <a:t>Espionage</a:t>
                      </a:r>
                    </a:p>
                  </a:txBody>
                  <a:tcPr anchor="ctr" marL="73152" marR="54864" marT="27432" marB="27432">
                    <a:solidFill>
                      <a:srgbClr val="FFFFFF"/>
                    </a:solidFill>
                  </a:tcPr>
                </a:tc>
                <a:tc>
                  <a:txBody>
                    <a:bodyPr wrap="square"/>
                    <a:lstStyle/>
                    <a:p>
                      <a:r>
                        <a:rPr sz="1100">
                          <a:solidFill>
                            <a:srgbClr val="1A1A1A"/>
                          </a:solidFill>
                        </a:rPr>
                        <a:t>Theft of a trade secret via bribery</a:t>
                      </a:r>
                    </a:p>
                  </a:txBody>
                  <a:tcPr anchor="ctr" marL="73152" marR="54864" marT="27432" marB="27432">
                    <a:solidFill>
                      <a:srgbClr val="FFFFFF"/>
                    </a:solidFill>
                  </a:tcPr>
                </a:tc>
              </a:tr>
              <a:tr h="630936">
                <a:tc>
                  <a:txBody>
                    <a:bodyPr wrap="square"/>
                    <a:lstStyle/>
                    <a:p>
                      <a:r>
                        <a:rPr sz="1100" b="1">
                          <a:solidFill>
                            <a:srgbClr val="0C2B4A"/>
                          </a:solidFill>
                        </a:rPr>
                        <a:t>Posing as a customer to extract secret pricing</a:t>
                      </a:r>
                    </a:p>
                  </a:txBody>
                  <a:tcPr anchor="ctr" marL="73152" marR="54864" marT="27432" marB="27432">
                    <a:solidFill>
                      <a:srgbClr val="EEF3F8"/>
                    </a:solidFill>
                  </a:tcPr>
                </a:tc>
                <a:tc>
                  <a:txBody>
                    <a:bodyPr wrap="square"/>
                    <a:lstStyle/>
                    <a:p>
                      <a:r>
                        <a:rPr sz="1100">
                          <a:solidFill>
                            <a:srgbClr val="1A1A1A"/>
                          </a:solidFill>
                        </a:rPr>
                        <a:t>Espionage</a:t>
                      </a:r>
                    </a:p>
                  </a:txBody>
                  <a:tcPr anchor="ctr" marL="73152" marR="54864" marT="27432" marB="27432">
                    <a:solidFill>
                      <a:srgbClr val="EEF3F8"/>
                    </a:solidFill>
                  </a:tcPr>
                </a:tc>
                <a:tc>
                  <a:txBody>
                    <a:bodyPr wrap="square"/>
                    <a:lstStyle/>
                    <a:p>
                      <a:r>
                        <a:rPr sz="1100">
                          <a:solidFill>
                            <a:srgbClr val="1A1A1A"/>
                          </a:solidFill>
                        </a:rPr>
                        <a:t>Misrepresentation to obtain confidential info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is HOW you obtain it: public + honest = CI; theft, bribery, hacking, or lies = espionage (illegal and unethical).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89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Competitive Intelligence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studying competitors' published interest rates and branch networks is doing legitimate competitive intelligence. The same bank bribing a rival's staffer for a customer list, or breaching their systems, is industrial espionage — a crime. And a salesperson posing as a customer to extract a rival's secret pricing is espionage by misrepresentation, even though no system was hacked.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 can get the information, gathering it is fine." What matters is HOW you obtain it. Public, honest sources are fair game; theft, bribery, hacking, or lying about who you are turn research into espionage — illegal and unethical — regardless of how useful the information is.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Competitive intelligence is the legal, ethical gathering of public information about competitors (websites, ads, filings, job posts, trade shows) to inform strategy. It becomes industrial espionage when the method involves theft, bribery, hacking, misrepresentation, or stealing trade secrets. The line is defined by how the information is obtained, not by the desire to have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competitive intelligence · public sources · industrial espionage · theft/bribery/hacking/misrepresentation · the method defines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89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S15 — 'CI or over the line?'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sort four intelligence-gathering acts into CI / espionage and name the deciding factor.</a:t>
            </a:r>
          </a:p>
          <a:p>
            <a:pPr>
              <a:spcAft>
                <a:spcPts val="700"/>
              </a:spcAft>
            </a:pPr>
            <a:r>
              <a:rPr sz="1550">
                <a:solidFill>
                  <a:srgbClr val="1A1A1A"/>
                </a:solidFill>
              </a:rPr>
              <a:t>•  Acts: scraping a rival's public price page; posing as a job applicant to learn internal plans; reading their public filings; bribing a contractor for designs.</a:t>
            </a:r>
          </a:p>
          <a:p>
            <a:pPr>
              <a:spcAft>
                <a:spcPts val="700"/>
              </a:spcAft>
            </a:pPr>
            <a:r>
              <a:rPr sz="1550">
                <a:solidFill>
                  <a:srgbClr val="1A1A1A"/>
                </a:solidFill>
              </a:rPr>
              <a:t>•  Take answers aloud (3 min).</a:t>
            </a:r>
          </a:p>
          <a:p>
            <a:pPr>
              <a:spcAft>
                <a:spcPts val="700"/>
              </a:spcAft>
            </a:pPr>
            <a:r>
              <a:rPr sz="1550">
                <a:solidFill>
                  <a:srgbClr val="1A1A1A"/>
                </a:solidFill>
              </a:rPr>
              <a:t>•  Close: the deciding factor is always HOW you got it — public + honest vs theft/lies/hacking.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Public price page = CI (though check terms/scale); fake job applicant = espionage (misrepresentation); public filings = CI; bribing for designs = espionage. The scraping case is the useful grey area — discuss scale and terms of use.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89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GPL (copyleft) licences require that:</a:t>
            </a:r>
          </a:p>
          <a:p>
            <a:pPr lvl="1"/>
            <a:r>
              <a:rPr sz="1500" b="1">
                <a:solidFill>
                  <a:srgbClr val="0F6E56"/>
                </a:solidFill>
              </a:rPr>
              <a:t>a) you pay a fee   b) ✅ derivative works also be released as open source   c) you drop attribution   d) nothing</a:t>
            </a:r>
          </a:p>
          <a:p>
            <a:pPr lvl="1">
              <a:spcBef>
                <a:spcPts val="600"/>
              </a:spcBef>
            </a:pPr>
            <a:r>
              <a:rPr sz="1500" i="1">
                <a:solidFill>
                  <a:srgbClr val="1A1A1A"/>
                </a:solidFill>
              </a:rPr>
              <a:t>     Why: copyleft's share-alike rule keeps derivatives open; closing GPL-derived code is infringement.</a:t>
            </a:r>
          </a:p>
          <a:p>
            <a:pPr>
              <a:spcBef>
                <a:spcPts val="900"/>
              </a:spcBef>
            </a:pPr>
            <a:r>
              <a:rPr sz="1700" b="1">
                <a:solidFill>
                  <a:srgbClr val="0C2B4A"/>
                </a:solidFill>
              </a:rPr>
              <a:t>Q2.  Gathering competitor info crosses into espionage when it involves:</a:t>
            </a:r>
          </a:p>
          <a:p>
            <a:pPr lvl="1"/>
            <a:r>
              <a:rPr sz="1500" b="1">
                <a:solidFill>
                  <a:srgbClr val="0F6E56"/>
                </a:solidFill>
              </a:rPr>
              <a:t>a) reading public ads   b) ✅ theft, bribery, hacking, or misrepresentation   c) visiting a trade show   d) reading filings</a:t>
            </a:r>
          </a:p>
          <a:p>
            <a:pPr lvl="1">
              <a:spcBef>
                <a:spcPts val="600"/>
              </a:spcBef>
            </a:pPr>
            <a:r>
              <a:rPr sz="1500" i="1">
                <a:solidFill>
                  <a:srgbClr val="1A1A1A"/>
                </a:solidFill>
              </a:rPr>
              <a:t>     Why: the method defines it — dishonest or illegal means turn research into espionage.</a:t>
            </a:r>
          </a:p>
          <a:p>
            <a:pPr lvl="1">
              <a:spcBef>
                <a:spcPts val="600"/>
              </a:spcBef>
            </a:pPr>
            <a:r>
              <a:rPr sz="1500" i="1">
                <a:solidFill>
                  <a:srgbClr val="1A1A1A"/>
                </a:solidFill>
              </a:rPr>
              <a:t>Discussion: is scraping a competitor's public website for prices ethical CI? Where would it cross the line?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89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Open source = copyright + a licence with real obligations; permissive (MIT/Apache) vs copyleft (GPL).</a:t>
            </a:r>
          </a:p>
          <a:p>
            <a:pPr>
              <a:spcAft>
                <a:spcPts val="800"/>
              </a:spcAft>
            </a:pPr>
            <a:r>
              <a:rPr sz="1500">
                <a:solidFill>
                  <a:srgbClr val="1A1A1A"/>
                </a:solidFill>
              </a:rPr>
              <a:t>2.  Violating a licence (e.g. closing GPL-derived code, dropping attribution) is copyright infringement.</a:t>
            </a:r>
          </a:p>
          <a:p>
            <a:pPr>
              <a:spcAft>
                <a:spcPts val="800"/>
              </a:spcAft>
            </a:pPr>
            <a:r>
              <a:rPr sz="1500">
                <a:solidFill>
                  <a:srgbClr val="1A1A1A"/>
                </a:solidFill>
              </a:rPr>
              <a:t>3.  Competitive intelligence is legal/public; it becomes espionage when the method is theft, bribery, hacking, or lies.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You'll ship products built on open source (mind the licences — a GPL slip can force you to open your code or face a suit) and research competitors (stay on the public, honest side of the line). Both are everyday professional judgment calls.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S16 — trademarks and cybersquatting close the unit.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89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16 · LECTURE HOUR 6 (OF 6) — CLOSES UNIT 3</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IP Issues: Trademark Infringement · Cybersquatting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Someone registers daraz.com.np before Daraz does, or sells momos under a logo identical to a famous brand's — they grabbed a name, not code. Is a NAME really property? Trademarks say yes.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70 / 89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Trademark &amp; Trademark Infringement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trademark is a sign, name, logo, or slogan that identifies the SOURCE of goods or services. Infringement is unauthorized use of a confusingly similar mark. Trademarks protect brand identity and prevent consumer confusion; they can last indefinitely with renewal, and are registered in Nepal at the Department of Industry.</a:t>
            </a:r>
          </a:p>
          <a:p>
            <a:pPr>
              <a:spcAft>
                <a:spcPts val="500"/>
              </a:spcAft>
            </a:pPr>
            <a:r>
              <a:rPr sz="1200" b="1">
                <a:solidFill>
                  <a:srgbClr val="185FA5"/>
                </a:solidFill>
              </a:rPr>
              <a:t>HOW IT WORKS</a:t>
            </a:r>
          </a:p>
          <a:p>
            <a:pPr>
              <a:spcAft>
                <a:spcPts val="600"/>
              </a:spcAft>
            </a:pPr>
            <a:r>
              <a:rPr sz="1400">
                <a:solidFill>
                  <a:srgbClr val="1A1A1A"/>
                </a:solidFill>
              </a:rPr>
              <a:t>•  The core purpose is preventing consumer confusion about who really made a product.</a:t>
            </a:r>
          </a:p>
          <a:p>
            <a:pPr>
              <a:spcAft>
                <a:spcPts val="600"/>
              </a:spcAft>
            </a:pPr>
            <a:r>
              <a:rPr sz="1400">
                <a:solidFill>
                  <a:srgbClr val="1A1A1A"/>
                </a:solidFill>
              </a:rPr>
              <a:t>•  A mark can last forever as long as it's used and renewed — unlike copyright and patents.</a:t>
            </a:r>
          </a:p>
          <a:p>
            <a:pPr>
              <a:spcAft>
                <a:spcPts val="600"/>
              </a:spcAft>
            </a:pPr>
            <a:r>
              <a:rPr sz="1400">
                <a:solidFill>
                  <a:srgbClr val="1A1A1A"/>
                </a:solidFill>
              </a:rPr>
              <a:t>•  Infringement doesn't need an identical copy — a confusingly SIMILAR mark is enough.</a:t>
            </a:r>
          </a:p>
          <a:p>
            <a:pPr>
              <a:spcAft>
                <a:spcPts val="600"/>
              </a:spcAft>
            </a:pPr>
            <a:r>
              <a:rPr sz="1400">
                <a:solidFill>
                  <a:srgbClr val="1A1A1A"/>
                </a:solidFill>
              </a:rPr>
              <a:t>•  Company registration and trademark registration are SEPARATE filings.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trademark protects the brand's identity — and the customer from confusion.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89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Trademark infringement — what crosses the line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061857"/>
                <a:gridCol w="2449285"/>
                <a:gridCol w="3918857"/>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Infringement?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Selling fake 'Goldstar' shoes with the logo</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Uses the mark to pass off fakes as genuine</a:t>
                      </a:r>
                    </a:p>
                  </a:txBody>
                  <a:tcPr anchor="ctr" marL="73152" marR="54864" marT="27432" marB="27432">
                    <a:solidFill>
                      <a:srgbClr val="FFFFFF"/>
                    </a:solidFill>
                  </a:tcPr>
                </a:tc>
              </a:tr>
              <a:tr h="630936">
                <a:tc>
                  <a:txBody>
                    <a:bodyPr wrap="square"/>
                    <a:lstStyle/>
                    <a:p>
                      <a:r>
                        <a:rPr sz="1100" b="1">
                          <a:solidFill>
                            <a:srgbClr val="0C2B4A"/>
                          </a:solidFill>
                        </a:rPr>
                        <a:t>Counterfeit 'Wai Wai' packets</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Confuses buyers about the true source</a:t>
                      </a:r>
                    </a:p>
                  </a:txBody>
                  <a:tcPr anchor="ctr" marL="73152" marR="54864" marT="27432" marB="27432">
                    <a:solidFill>
                      <a:srgbClr val="EEF3F8"/>
                    </a:solidFill>
                  </a:tcPr>
                </a:tc>
              </a:tr>
              <a:tr h="630936">
                <a:tc>
                  <a:txBody>
                    <a:bodyPr wrap="square"/>
                    <a:lstStyle/>
                    <a:p>
                      <a:r>
                        <a:rPr sz="1100" b="1">
                          <a:solidFill>
                            <a:srgbClr val="0C2B4A"/>
                          </a:solidFill>
                        </a:rPr>
                        <a:t>A momo stall using a near-identical famous logo</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Confusingly similar mark → consumer confusion</a:t>
                      </a:r>
                    </a:p>
                  </a:txBody>
                  <a:tcPr anchor="ctr" marL="73152" marR="54864" marT="27432" marB="27432">
                    <a:solidFill>
                      <a:srgbClr val="FFFFFF"/>
                    </a:solidFill>
                  </a:tcPr>
                </a:tc>
              </a:tr>
              <a:tr h="630936">
                <a:tc>
                  <a:txBody>
                    <a:bodyPr wrap="square"/>
                    <a:lstStyle/>
                    <a:p>
                      <a:r>
                        <a:rPr sz="1100" b="1">
                          <a:solidFill>
                            <a:srgbClr val="0C2B4A"/>
                          </a:solidFill>
                        </a:rPr>
                        <a:t>Your own original shop name &amp; logo</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Distinct mark; no confusion with others</a:t>
                      </a:r>
                    </a:p>
                  </a:txBody>
                  <a:tcPr anchor="ctr" marL="73152" marR="54864" marT="27432" marB="27432">
                    <a:solidFill>
                      <a:srgbClr val="EEF3F8"/>
                    </a:solidFill>
                  </a:tcPr>
                </a:tc>
              </a:tr>
              <a:tr h="630936">
                <a:tc>
                  <a:txBody>
                    <a:bodyPr wrap="square"/>
                    <a:lstStyle/>
                    <a:p>
                      <a:r>
                        <a:rPr sz="1100" b="1">
                          <a:solidFill>
                            <a:srgbClr val="0C2B4A"/>
                          </a:solidFill>
                        </a:rPr>
                        <a:t>Naming a product with a common dictionary word</a:t>
                      </a:r>
                    </a:p>
                  </a:txBody>
                  <a:tcPr anchor="ctr" marL="73152" marR="54864" marT="27432" marB="27432">
                    <a:solidFill>
                      <a:srgbClr val="FFFFFF"/>
                    </a:solidFill>
                  </a:tcPr>
                </a:tc>
                <a:tc>
                  <a:txBody>
                    <a:bodyPr wrap="square"/>
                    <a:lstStyle/>
                    <a:p>
                      <a:r>
                        <a:rPr sz="1100">
                          <a:solidFill>
                            <a:srgbClr val="1A1A1A"/>
                          </a:solidFill>
                        </a:rPr>
                        <a:t>Usually no</a:t>
                      </a:r>
                    </a:p>
                  </a:txBody>
                  <a:tcPr anchor="ctr" marL="73152" marR="54864" marT="27432" marB="27432">
                    <a:solidFill>
                      <a:srgbClr val="FFFFFF"/>
                    </a:solidFill>
                  </a:tcPr>
                </a:tc>
                <a:tc>
                  <a:txBody>
                    <a:bodyPr wrap="square"/>
                    <a:lstStyle/>
                    <a:p>
                      <a:r>
                        <a:rPr sz="1100">
                          <a:solidFill>
                            <a:srgbClr val="1A1A1A"/>
                          </a:solidFill>
                        </a:rPr>
                        <a:t>Generic terms are weak/unprotectable marks</a:t>
                      </a:r>
                    </a:p>
                  </a:txBody>
                  <a:tcPr anchor="ctr" marL="73152" marR="54864" marT="27432" marB="27432">
                    <a:solidFill>
                      <a:srgbClr val="FFFFFF"/>
                    </a:solidFill>
                  </a:tcPr>
                </a:tc>
              </a:tr>
              <a:tr h="630936">
                <a:tc>
                  <a:txBody>
                    <a:bodyPr wrap="square"/>
                    <a:lstStyle/>
                    <a:p>
                      <a:r>
                        <a:rPr sz="1100" b="1">
                          <a:solidFill>
                            <a:srgbClr val="0C2B4A"/>
                          </a:solidFill>
                        </a:rPr>
                        <a:t>Comparative ad naming a rival truthfully</a:t>
                      </a:r>
                    </a:p>
                  </a:txBody>
                  <a:tcPr anchor="ctr" marL="73152" marR="54864" marT="27432" marB="27432">
                    <a:solidFill>
                      <a:srgbClr val="EEF3F8"/>
                    </a:solidFill>
                  </a:tcPr>
                </a:tc>
                <a:tc>
                  <a:txBody>
                    <a:bodyPr wrap="square"/>
                    <a:lstStyle/>
                    <a:p>
                      <a:r>
                        <a:rPr sz="1100">
                          <a:solidFill>
                            <a:srgbClr val="1A1A1A"/>
                          </a:solidFill>
                        </a:rPr>
                        <a:t>Usually no</a:t>
                      </a:r>
                    </a:p>
                  </a:txBody>
                  <a:tcPr anchor="ctr" marL="73152" marR="54864" marT="27432" marB="27432">
                    <a:solidFill>
                      <a:srgbClr val="EEF3F8"/>
                    </a:solidFill>
                  </a:tcPr>
                </a:tc>
                <a:tc>
                  <a:txBody>
                    <a:bodyPr wrap="square"/>
                    <a:lstStyle/>
                    <a:p>
                      <a:r>
                        <a:rPr sz="1100">
                          <a:solidFill>
                            <a:srgbClr val="1A1A1A"/>
                          </a:solidFill>
                        </a:rPr>
                        <a:t>Nominative reference, not passing off</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is consumer confusion about SOURCE. Registered TM disputes in Nepal are filed at the Department of Industry.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89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Trademark &amp; Trademark Infringement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Fake Goldstar shoes, counterfeit Wai Wai packets, and copycat momo/restaurant logos around Kathmandu are trademark infringement: they use a confusingly similar mark so buyers think they're getting the genuine brand. Well-known trademark disputes are filed at the Department of Industry under the Patent, Design and Trademark Act.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"Registering my company name means I own the trademark." Company registration and trademark registration are separate filings — registering a company doesn't secure the brand mark, and vice versa. To protect a brand identity you must register the trademark specifically.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trademark is a sign, name, logo, or slogan identifying the source of goods or services; infringement is unauthorized use of a confusingly similar mark. Trademarks protect brand identity and prevent consumer confusion, can last indefinitely with renewal, and are registered in Nepal at the DoI. Company registration is a separate filing from trademark registration.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trademark · source identifier · confusingly similar · consumer confusion · indefinite with renewal · DoI · ≠ company registration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89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Cybersquatting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Cybersquatting is registering a domain name matching someone else's trademark in bad faith — to resell it or divert traffic. It's resolved via the UDRP (ICANN's dispute process) for .com, or the local registry for .np. It's distinct from legitimate domain investing; typosquatting (misspelled lookalikes) is a close cousin.</a:t>
            </a:r>
          </a:p>
          <a:p>
            <a:pPr>
              <a:spcAft>
                <a:spcPts val="500"/>
              </a:spcAft>
            </a:pPr>
            <a:r>
              <a:rPr sz="1200" b="1">
                <a:solidFill>
                  <a:srgbClr val="185FA5"/>
                </a:solidFill>
              </a:rPr>
              <a:t>HOW IT WORKS</a:t>
            </a:r>
          </a:p>
          <a:p>
            <a:pPr>
              <a:spcAft>
                <a:spcPts val="600"/>
              </a:spcAft>
            </a:pPr>
            <a:r>
              <a:rPr sz="1400">
                <a:solidFill>
                  <a:srgbClr val="1A1A1A"/>
                </a:solidFill>
              </a:rPr>
              <a:t>•  The defining element is BAD FAITH — grabbing a known brand's name to profit from it.</a:t>
            </a:r>
          </a:p>
          <a:p>
            <a:pPr>
              <a:spcAft>
                <a:spcPts val="600"/>
              </a:spcAft>
            </a:pPr>
            <a:r>
              <a:rPr sz="1400">
                <a:solidFill>
                  <a:srgbClr val="1A1A1A"/>
                </a:solidFill>
              </a:rPr>
              <a:t>•  Legitimate domain investing (generic names, no target brand) is different and lawful.</a:t>
            </a:r>
          </a:p>
          <a:p>
            <a:pPr>
              <a:spcAft>
                <a:spcPts val="600"/>
              </a:spcAft>
            </a:pPr>
            <a:r>
              <a:rPr sz="1400">
                <a:solidFill>
                  <a:srgbClr val="1A1A1A"/>
                </a:solidFill>
              </a:rPr>
              <a:t>•  Typosquatting registers misspellings (e-sewa vs esewa) to catch mistyped traffic — often for phishing.</a:t>
            </a:r>
          </a:p>
          <a:p>
            <a:pPr>
              <a:spcAft>
                <a:spcPts val="600"/>
              </a:spcAft>
            </a:pPr>
            <a:r>
              <a:rPr sz="1400">
                <a:solidFill>
                  <a:srgbClr val="1A1A1A"/>
                </a:solidFill>
              </a:rPr>
              <a:t>•  Disputes: .com via UDRP; .np domains are managed by Mercantile (register.com.np).</a:t>
            </a:r>
          </a:p>
        </p:txBody>
      </p:sp>
      <p:pic>
        <p:nvPicPr>
          <p:cNvPr id="6" name="Picture 5" descr="s16_squat.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Grabbing a brand's domain in bad faith to resell → cybersquatting.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89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Cybersquatting vs legitimate — and the close cousins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225142"/>
                <a:gridCol w="2775857"/>
                <a:gridCol w="3429000"/>
              </a:tblGrid>
              <a:tr h="630936">
                <a:tc>
                  <a:txBody>
                    <a:bodyPr wrap="square"/>
                    <a:lstStyle/>
                    <a:p>
                      <a:r>
                        <a:rPr sz="1100" b="1">
                          <a:solidFill>
                            <a:srgbClr val="FFFFFF"/>
                          </a:solidFill>
                        </a:rPr>
                        <a:t>Scenario</a:t>
                      </a:r>
                    </a:p>
                  </a:txBody>
                  <a:tcPr anchor="ctr" marL="73152" marR="54864" marT="27432" marB="27432">
                    <a:solidFill>
                      <a:srgbClr val="0C2B4A"/>
                    </a:solidFill>
                  </a:tcPr>
                </a:tc>
                <a:tc>
                  <a:txBody>
                    <a:bodyPr wrap="square"/>
                    <a:lstStyle/>
                    <a:p>
                      <a:r>
                        <a:rPr sz="1100" b="1">
                          <a:solidFill>
                            <a:srgbClr val="FFFFFF"/>
                          </a:solidFill>
                        </a:rPr>
                        <a:t>Verdict</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630936">
                <a:tc>
                  <a:txBody>
                    <a:bodyPr wrap="square"/>
                    <a:lstStyle/>
                    <a:p>
                      <a:r>
                        <a:rPr sz="1050" b="1">
                          <a:solidFill>
                            <a:srgbClr val="0C2B4A"/>
                          </a:solidFill>
                        </a:rPr>
                        <a:t>Registering a Nepali bank's name as .com.np to resell it</a:t>
                      </a:r>
                    </a:p>
                  </a:txBody>
                  <a:tcPr anchor="ctr" marL="73152" marR="54864" marT="27432" marB="27432">
                    <a:solidFill>
                      <a:srgbClr val="FFFFFF"/>
                    </a:solidFill>
                  </a:tcPr>
                </a:tc>
                <a:tc>
                  <a:txBody>
                    <a:bodyPr wrap="square"/>
                    <a:lstStyle/>
                    <a:p>
                      <a:r>
                        <a:rPr sz="1050">
                          <a:solidFill>
                            <a:srgbClr val="1A1A1A"/>
                          </a:solidFill>
                        </a:rPr>
                        <a:t>Cybersquatting</a:t>
                      </a:r>
                    </a:p>
                  </a:txBody>
                  <a:tcPr anchor="ctr" marL="73152" marR="54864" marT="27432" marB="27432">
                    <a:solidFill>
                      <a:srgbClr val="FFFFFF"/>
                    </a:solidFill>
                  </a:tcPr>
                </a:tc>
                <a:tc>
                  <a:txBody>
                    <a:bodyPr wrap="square"/>
                    <a:lstStyle/>
                    <a:p>
                      <a:r>
                        <a:rPr sz="1050">
                          <a:solidFill>
                            <a:srgbClr val="1A1A1A"/>
                          </a:solidFill>
                        </a:rPr>
                        <a:t>Bad-faith grab of a known trademark</a:t>
                      </a:r>
                    </a:p>
                  </a:txBody>
                  <a:tcPr anchor="ctr" marL="73152" marR="54864" marT="27432" marB="27432">
                    <a:solidFill>
                      <a:srgbClr val="FFFFFF"/>
                    </a:solidFill>
                  </a:tcPr>
                </a:tc>
              </a:tr>
              <a:tr h="630936">
                <a:tc>
                  <a:txBody>
                    <a:bodyPr wrap="square"/>
                    <a:lstStyle/>
                    <a:p>
                      <a:r>
                        <a:rPr sz="1050" b="1">
                          <a:solidFill>
                            <a:srgbClr val="0C2B4A"/>
                          </a:solidFill>
                        </a:rPr>
                        <a:t>Registering 'e-sewa.com.np' to mimic eSewa</a:t>
                      </a:r>
                    </a:p>
                  </a:txBody>
                  <a:tcPr anchor="ctr" marL="73152" marR="54864" marT="27432" marB="27432">
                    <a:solidFill>
                      <a:srgbClr val="EEF3F8"/>
                    </a:solidFill>
                  </a:tcPr>
                </a:tc>
                <a:tc>
                  <a:txBody>
                    <a:bodyPr wrap="square"/>
                    <a:lstStyle/>
                    <a:p>
                      <a:r>
                        <a:rPr sz="1050">
                          <a:solidFill>
                            <a:srgbClr val="1A1A1A"/>
                          </a:solidFill>
                        </a:rPr>
                        <a:t>Cybersquatting + phishing risk</a:t>
                      </a:r>
                    </a:p>
                  </a:txBody>
                  <a:tcPr anchor="ctr" marL="73152" marR="54864" marT="27432" marB="27432">
                    <a:solidFill>
                      <a:srgbClr val="EEF3F8"/>
                    </a:solidFill>
                  </a:tcPr>
                </a:tc>
                <a:tc>
                  <a:txBody>
                    <a:bodyPr wrap="square"/>
                    <a:lstStyle/>
                    <a:p>
                      <a:r>
                        <a:rPr sz="1050">
                          <a:solidFill>
                            <a:srgbClr val="1A1A1A"/>
                          </a:solidFill>
                        </a:rPr>
                        <a:t>Lookalike to divert/deceive users</a:t>
                      </a:r>
                    </a:p>
                  </a:txBody>
                  <a:tcPr anchor="ctr" marL="73152" marR="54864" marT="27432" marB="27432">
                    <a:solidFill>
                      <a:srgbClr val="EEF3F8"/>
                    </a:solidFill>
                  </a:tcPr>
                </a:tc>
              </a:tr>
              <a:tr h="630936">
                <a:tc>
                  <a:txBody>
                    <a:bodyPr wrap="square"/>
                    <a:lstStyle/>
                    <a:p>
                      <a:r>
                        <a:rPr sz="1050" b="1">
                          <a:solidFill>
                            <a:srgbClr val="0C2B4A"/>
                          </a:solidFill>
                        </a:rPr>
                        <a:t>Registering a generic word like 'momos.com'</a:t>
                      </a:r>
                    </a:p>
                  </a:txBody>
                  <a:tcPr anchor="ctr" marL="73152" marR="54864" marT="27432" marB="27432">
                    <a:solidFill>
                      <a:srgbClr val="FFFFFF"/>
                    </a:solidFill>
                  </a:tcPr>
                </a:tc>
                <a:tc>
                  <a:txBody>
                    <a:bodyPr wrap="square"/>
                    <a:lstStyle/>
                    <a:p>
                      <a:r>
                        <a:rPr sz="1050">
                          <a:solidFill>
                            <a:srgbClr val="1A1A1A"/>
                          </a:solidFill>
                        </a:rPr>
                        <a:t>Legitimate</a:t>
                      </a:r>
                    </a:p>
                  </a:txBody>
                  <a:tcPr anchor="ctr" marL="73152" marR="54864" marT="27432" marB="27432">
                    <a:solidFill>
                      <a:srgbClr val="FFFFFF"/>
                    </a:solidFill>
                  </a:tcPr>
                </a:tc>
                <a:tc>
                  <a:txBody>
                    <a:bodyPr wrap="square"/>
                    <a:lstStyle/>
                    <a:p>
                      <a:r>
                        <a:rPr sz="1050">
                          <a:solidFill>
                            <a:srgbClr val="1A1A1A"/>
                          </a:solidFill>
                        </a:rPr>
                        <a:t>No target brand; generic term</a:t>
                      </a:r>
                    </a:p>
                  </a:txBody>
                  <a:tcPr anchor="ctr" marL="73152" marR="54864" marT="27432" marB="27432">
                    <a:solidFill>
                      <a:srgbClr val="FFFFFF"/>
                    </a:solidFill>
                  </a:tcPr>
                </a:tc>
              </a:tr>
              <a:tr h="630936">
                <a:tc>
                  <a:txBody>
                    <a:bodyPr wrap="square"/>
                    <a:lstStyle/>
                    <a:p>
                      <a:r>
                        <a:rPr sz="1050" b="1">
                          <a:solidFill>
                            <a:srgbClr val="0C2B4A"/>
                          </a:solidFill>
                        </a:rPr>
                        <a:t>Buying/selling generic domains as investment</a:t>
                      </a:r>
                    </a:p>
                  </a:txBody>
                  <a:tcPr anchor="ctr" marL="73152" marR="54864" marT="27432" marB="27432">
                    <a:solidFill>
                      <a:srgbClr val="EEF3F8"/>
                    </a:solidFill>
                  </a:tcPr>
                </a:tc>
                <a:tc>
                  <a:txBody>
                    <a:bodyPr wrap="square"/>
                    <a:lstStyle/>
                    <a:p>
                      <a:r>
                        <a:rPr sz="1050">
                          <a:solidFill>
                            <a:srgbClr val="1A1A1A"/>
                          </a:solidFill>
                        </a:rPr>
                        <a:t>Legitimate</a:t>
                      </a:r>
                    </a:p>
                  </a:txBody>
                  <a:tcPr anchor="ctr" marL="73152" marR="54864" marT="27432" marB="27432">
                    <a:solidFill>
                      <a:srgbClr val="EEF3F8"/>
                    </a:solidFill>
                  </a:tcPr>
                </a:tc>
                <a:tc>
                  <a:txBody>
                    <a:bodyPr wrap="square"/>
                    <a:lstStyle/>
                    <a:p>
                      <a:r>
                        <a:rPr sz="1050">
                          <a:solidFill>
                            <a:srgbClr val="1A1A1A"/>
                          </a:solidFill>
                        </a:rPr>
                        <a:t>Domain investing, no bad-faith target</a:t>
                      </a:r>
                    </a:p>
                  </a:txBody>
                  <a:tcPr anchor="ctr" marL="73152" marR="54864" marT="27432" marB="27432">
                    <a:solidFill>
                      <a:srgbClr val="EEF3F8"/>
                    </a:solidFill>
                  </a:tcPr>
                </a:tc>
              </a:tr>
              <a:tr h="630936">
                <a:tc>
                  <a:txBody>
                    <a:bodyPr wrap="square"/>
                    <a:lstStyle/>
                    <a:p>
                      <a:r>
                        <a:rPr sz="1050" b="1">
                          <a:solidFill>
                            <a:srgbClr val="0C2B4A"/>
                          </a:solidFill>
                        </a:rPr>
                        <a:t>Typosquatting 'gogle.com' to catch typos</a:t>
                      </a:r>
                    </a:p>
                  </a:txBody>
                  <a:tcPr anchor="ctr" marL="73152" marR="54864" marT="27432" marB="27432">
                    <a:solidFill>
                      <a:srgbClr val="FFFFFF"/>
                    </a:solidFill>
                  </a:tcPr>
                </a:tc>
                <a:tc>
                  <a:txBody>
                    <a:bodyPr wrap="square"/>
                    <a:lstStyle/>
                    <a:p>
                      <a:r>
                        <a:rPr sz="1050">
                          <a:solidFill>
                            <a:srgbClr val="1A1A1A"/>
                          </a:solidFill>
                        </a:rPr>
                        <a:t>Cybersquatting (typosquatting)</a:t>
                      </a:r>
                    </a:p>
                  </a:txBody>
                  <a:tcPr anchor="ctr" marL="73152" marR="54864" marT="27432" marB="27432">
                    <a:solidFill>
                      <a:srgbClr val="FFFFFF"/>
                    </a:solidFill>
                  </a:tcPr>
                </a:tc>
                <a:tc>
                  <a:txBody>
                    <a:bodyPr wrap="square"/>
                    <a:lstStyle/>
                    <a:p>
                      <a:r>
                        <a:rPr sz="1050">
                          <a:solidFill>
                            <a:srgbClr val="1A1A1A"/>
                          </a:solidFill>
                        </a:rPr>
                        <a:t>Bad-faith lookalike of a known mark</a:t>
                      </a:r>
                    </a:p>
                  </a:txBody>
                  <a:tcPr anchor="ctr" marL="73152" marR="54864" marT="27432" marB="27432">
                    <a:solidFill>
                      <a:srgbClr val="FFFFFF"/>
                    </a:solidFill>
                  </a:tcPr>
                </a:tc>
              </a:tr>
              <a:tr h="630936">
                <a:tc>
                  <a:txBody>
                    <a:bodyPr wrap="square"/>
                    <a:lstStyle/>
                    <a:p>
                      <a:r>
                        <a:rPr sz="1050" b="1">
                          <a:solidFill>
                            <a:srgbClr val="0C2B4A"/>
                          </a:solidFill>
                        </a:rPr>
                        <a:t>Owning your OWN brand's domain</a:t>
                      </a:r>
                    </a:p>
                  </a:txBody>
                  <a:tcPr anchor="ctr" marL="73152" marR="54864" marT="27432" marB="27432">
                    <a:solidFill>
                      <a:srgbClr val="EEF3F8"/>
                    </a:solidFill>
                  </a:tcPr>
                </a:tc>
                <a:tc>
                  <a:txBody>
                    <a:bodyPr wrap="square"/>
                    <a:lstStyle/>
                    <a:p>
                      <a:r>
                        <a:rPr sz="1050">
                          <a:solidFill>
                            <a:srgbClr val="1A1A1A"/>
                          </a:solidFill>
                        </a:rPr>
                        <a:t>Legitimate</a:t>
                      </a:r>
                    </a:p>
                  </a:txBody>
                  <a:tcPr anchor="ctr" marL="73152" marR="54864" marT="27432" marB="27432">
                    <a:solidFill>
                      <a:srgbClr val="EEF3F8"/>
                    </a:solidFill>
                  </a:tcPr>
                </a:tc>
                <a:tc>
                  <a:txBody>
                    <a:bodyPr wrap="square"/>
                    <a:lstStyle/>
                    <a:p>
                      <a:r>
                        <a:rPr sz="1050">
                          <a:solidFill>
                            <a:srgbClr val="1A1A1A"/>
                          </a:solidFill>
                        </a:rPr>
                        <a:t>Rightful use of your own mark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Bad faith toward a known brand is the deciding factor. .com disputes go to UDRP; .np disputes go through the local registry (Mercantile / register.com.np).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89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Cybersquatting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person registers a .com.np domain matching a famous Nepali brand and offers to sell it back for Rs 5 lakh — that's cybersquatting (bad-faith grab to ransom the name), not legitimate business, and the brand can challenge it through the .np registry. A lookalike 'e-sewa.com.np' is worse still: cybersquatting that doubles as a phishing trap.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"First to register a domain owns it fairly." Registration in BAD FAITH toward a known trademark is cybersquatting, not fair ownership — the brand can recover it via UDRP (.com) or the .np registry. Legitimate domain investing (generic names, no target brand) is a different, lawful activity.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Cybersquatting is registering a domain matching someone else's trademark in bad faith, to resell it or divert traffic; typosquatting (misspelled lookalikes) is a close cousin often used for phishing. It is distinct from legitimate domain investing in generic names. Disputes are resolved via the UDRP for .com and through the local registry (Mercantile) for .np.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cybersquatting · bad faith · typosquatting · UDRP · .np registry · vs legitimate domain investing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89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Pulling It Together — the four IP types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whole unit in one frame: copyright protects EXPRESSION, patent protects an INVENTION, trade secret protects SECRET information, and trademark protects BRAND IDENTITY. Each differs in what it protects, how you acquire it, and how long it lasts.</a:t>
            </a:r>
          </a:p>
          <a:p>
            <a:pPr>
              <a:spcAft>
                <a:spcPts val="500"/>
              </a:spcAft>
            </a:pPr>
            <a:r>
              <a:rPr sz="1200" b="1">
                <a:solidFill>
                  <a:srgbClr val="185FA5"/>
                </a:solidFill>
              </a:rPr>
              <a:t>HOW IT WORKS</a:t>
            </a:r>
          </a:p>
          <a:p>
            <a:pPr>
              <a:spcAft>
                <a:spcPts val="600"/>
              </a:spcAft>
            </a:pPr>
            <a:r>
              <a:rPr sz="1400">
                <a:solidFill>
                  <a:srgbClr val="1A1A1A"/>
                </a:solidFill>
              </a:rPr>
              <a:t>•  Copyright: automatic on creation; protects expression; lasts life + 50 years.</a:t>
            </a:r>
          </a:p>
          <a:p>
            <a:pPr>
              <a:spcAft>
                <a:spcPts val="600"/>
              </a:spcAft>
            </a:pPr>
            <a:r>
              <a:rPr sz="1400">
                <a:solidFill>
                  <a:srgbClr val="1A1A1A"/>
                </a:solidFill>
              </a:rPr>
              <a:t>•  Patent: applied for and disclosed; protects a novel invention; ~20 years.</a:t>
            </a:r>
          </a:p>
          <a:p>
            <a:pPr>
              <a:spcAft>
                <a:spcPts val="600"/>
              </a:spcAft>
            </a:pPr>
            <a:r>
              <a:rPr sz="1400">
                <a:solidFill>
                  <a:srgbClr val="1A1A1A"/>
                </a:solidFill>
              </a:rPr>
              <a:t>•  Trade secret: kept confidential; protects secret info; unlimited while secret.</a:t>
            </a:r>
          </a:p>
          <a:p>
            <a:pPr>
              <a:spcAft>
                <a:spcPts val="600"/>
              </a:spcAft>
            </a:pPr>
            <a:r>
              <a:rPr sz="1400">
                <a:solidFill>
                  <a:srgbClr val="1A1A1A"/>
                </a:solidFill>
              </a:rPr>
              <a:t>•  Trademark: registered and renewed; protects brand identity; potentially forever.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Expression · Invention · Secret · Brand — four protections, four different rules.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89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MASTER comparison — the four IP types side by side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89354"/>
                <a:gridCol w="2335161"/>
                <a:gridCol w="2335161"/>
                <a:gridCol w="2335161"/>
                <a:gridCol w="2335161"/>
              </a:tblGrid>
              <a:tr h="736092">
                <a:tc>
                  <a:txBody>
                    <a:bodyPr wrap="square"/>
                    <a:lstStyle/>
                    <a:p>
                      <a:r>
                        <a:rPr sz="1030" b="1">
                          <a:solidFill>
                            <a:srgbClr val="FFFFFF"/>
                          </a:solidFill>
                        </a:rPr>
                        <a:t/>
                      </a:r>
                    </a:p>
                  </a:txBody>
                  <a:tcPr anchor="ctr" marL="73152" marR="54864" marT="27432" marB="27432">
                    <a:solidFill>
                      <a:srgbClr val="0C2B4A"/>
                    </a:solidFill>
                  </a:tcPr>
                </a:tc>
                <a:tc>
                  <a:txBody>
                    <a:bodyPr wrap="square"/>
                    <a:lstStyle/>
                    <a:p>
                      <a:r>
                        <a:rPr sz="1030" b="1">
                          <a:solidFill>
                            <a:srgbClr val="FFFFFF"/>
                          </a:solidFill>
                        </a:rPr>
                        <a:t>Copyright</a:t>
                      </a:r>
                    </a:p>
                  </a:txBody>
                  <a:tcPr anchor="ctr" marL="73152" marR="54864" marT="27432" marB="27432">
                    <a:solidFill>
                      <a:srgbClr val="0C2B4A"/>
                    </a:solidFill>
                  </a:tcPr>
                </a:tc>
                <a:tc>
                  <a:txBody>
                    <a:bodyPr wrap="square"/>
                    <a:lstStyle/>
                    <a:p>
                      <a:r>
                        <a:rPr sz="1030" b="1">
                          <a:solidFill>
                            <a:srgbClr val="FFFFFF"/>
                          </a:solidFill>
                        </a:rPr>
                        <a:t>Patent</a:t>
                      </a:r>
                    </a:p>
                  </a:txBody>
                  <a:tcPr anchor="ctr" marL="73152" marR="54864" marT="27432" marB="27432">
                    <a:solidFill>
                      <a:srgbClr val="0C2B4A"/>
                    </a:solidFill>
                  </a:tcPr>
                </a:tc>
                <a:tc>
                  <a:txBody>
                    <a:bodyPr wrap="square"/>
                    <a:lstStyle/>
                    <a:p>
                      <a:r>
                        <a:rPr sz="1030" b="1">
                          <a:solidFill>
                            <a:srgbClr val="FFFFFF"/>
                          </a:solidFill>
                        </a:rPr>
                        <a:t>Trade secret</a:t>
                      </a:r>
                    </a:p>
                  </a:txBody>
                  <a:tcPr anchor="ctr" marL="73152" marR="54864" marT="27432" marB="27432">
                    <a:solidFill>
                      <a:srgbClr val="0C2B4A"/>
                    </a:solidFill>
                  </a:tcPr>
                </a:tc>
                <a:tc>
                  <a:txBody>
                    <a:bodyPr wrap="square"/>
                    <a:lstStyle/>
                    <a:p>
                      <a:r>
                        <a:rPr sz="1030" b="1">
                          <a:solidFill>
                            <a:srgbClr val="FFFFFF"/>
                          </a:solidFill>
                        </a:rPr>
                        <a:t>Trademark</a:t>
                      </a:r>
                    </a:p>
                  </a:txBody>
                  <a:tcPr anchor="ctr" marL="73152" marR="54864" marT="27432" marB="27432">
                    <a:solidFill>
                      <a:srgbClr val="0C2B4A"/>
                    </a:solidFill>
                  </a:tcPr>
                </a:tc>
              </a:tr>
              <a:tr h="736092">
                <a:tc>
                  <a:txBody>
                    <a:bodyPr wrap="square"/>
                    <a:lstStyle/>
                    <a:p>
                      <a:r>
                        <a:rPr sz="980" b="1">
                          <a:solidFill>
                            <a:srgbClr val="0C2B4A"/>
                          </a:solidFill>
                        </a:rPr>
                        <a:t>What it protects</a:t>
                      </a:r>
                    </a:p>
                  </a:txBody>
                  <a:tcPr anchor="ctr" marL="73152" marR="54864" marT="27432" marB="27432">
                    <a:solidFill>
                      <a:srgbClr val="FFFFFF"/>
                    </a:solidFill>
                  </a:tcPr>
                </a:tc>
                <a:tc>
                  <a:txBody>
                    <a:bodyPr wrap="square"/>
                    <a:lstStyle/>
                    <a:p>
                      <a:r>
                        <a:rPr sz="980">
                          <a:solidFill>
                            <a:srgbClr val="1A1A1A"/>
                          </a:solidFill>
                        </a:rPr>
                        <a:t>Original expression</a:t>
                      </a:r>
                    </a:p>
                  </a:txBody>
                  <a:tcPr anchor="ctr" marL="73152" marR="54864" marT="27432" marB="27432">
                    <a:solidFill>
                      <a:srgbClr val="FFFFFF"/>
                    </a:solidFill>
                  </a:tcPr>
                </a:tc>
                <a:tc>
                  <a:txBody>
                    <a:bodyPr wrap="square"/>
                    <a:lstStyle/>
                    <a:p>
                      <a:r>
                        <a:rPr sz="980">
                          <a:solidFill>
                            <a:srgbClr val="1A1A1A"/>
                          </a:solidFill>
                        </a:rPr>
                        <a:t>A new invention (method)</a:t>
                      </a:r>
                    </a:p>
                  </a:txBody>
                  <a:tcPr anchor="ctr" marL="73152" marR="54864" marT="27432" marB="27432">
                    <a:solidFill>
                      <a:srgbClr val="FFFFFF"/>
                    </a:solidFill>
                  </a:tcPr>
                </a:tc>
                <a:tc>
                  <a:txBody>
                    <a:bodyPr wrap="square"/>
                    <a:lstStyle/>
                    <a:p>
                      <a:r>
                        <a:rPr sz="980">
                          <a:solidFill>
                            <a:srgbClr val="1A1A1A"/>
                          </a:solidFill>
                        </a:rPr>
                        <a:t>Confidential info</a:t>
                      </a:r>
                    </a:p>
                  </a:txBody>
                  <a:tcPr anchor="ctr" marL="73152" marR="54864" marT="27432" marB="27432">
                    <a:solidFill>
                      <a:srgbClr val="FFFFFF"/>
                    </a:solidFill>
                  </a:tcPr>
                </a:tc>
                <a:tc>
                  <a:txBody>
                    <a:bodyPr wrap="square"/>
                    <a:lstStyle/>
                    <a:p>
                      <a:r>
                        <a:rPr sz="980">
                          <a:solidFill>
                            <a:srgbClr val="1A1A1A"/>
                          </a:solidFill>
                        </a:rPr>
                        <a:t>Brand identity (name/logo)</a:t>
                      </a:r>
                    </a:p>
                  </a:txBody>
                  <a:tcPr anchor="ctr" marL="73152" marR="54864" marT="27432" marB="27432">
                    <a:solidFill>
                      <a:srgbClr val="FFFFFF"/>
                    </a:solidFill>
                  </a:tcPr>
                </a:tc>
              </a:tr>
              <a:tr h="736092">
                <a:tc>
                  <a:txBody>
                    <a:bodyPr wrap="square"/>
                    <a:lstStyle/>
                    <a:p>
                      <a:r>
                        <a:rPr sz="980" b="1">
                          <a:solidFill>
                            <a:srgbClr val="0C2B4A"/>
                          </a:solidFill>
                        </a:rPr>
                        <a:t>How you get it</a:t>
                      </a:r>
                    </a:p>
                  </a:txBody>
                  <a:tcPr anchor="ctr" marL="73152" marR="54864" marT="27432" marB="27432">
                    <a:solidFill>
                      <a:srgbClr val="EEF3F8"/>
                    </a:solidFill>
                  </a:tcPr>
                </a:tc>
                <a:tc>
                  <a:txBody>
                    <a:bodyPr wrap="square"/>
                    <a:lstStyle/>
                    <a:p>
                      <a:r>
                        <a:rPr sz="980">
                          <a:solidFill>
                            <a:srgbClr val="1A1A1A"/>
                          </a:solidFill>
                        </a:rPr>
                        <a:t>Automatic on creation</a:t>
                      </a:r>
                    </a:p>
                  </a:txBody>
                  <a:tcPr anchor="ctr" marL="73152" marR="54864" marT="27432" marB="27432">
                    <a:solidFill>
                      <a:srgbClr val="EEF3F8"/>
                    </a:solidFill>
                  </a:tcPr>
                </a:tc>
                <a:tc>
                  <a:txBody>
                    <a:bodyPr wrap="square"/>
                    <a:lstStyle/>
                    <a:p>
                      <a:r>
                        <a:rPr sz="980">
                          <a:solidFill>
                            <a:srgbClr val="1A1A1A"/>
                          </a:solidFill>
                        </a:rPr>
                        <a:t>Apply + disclose + 3 tests</a:t>
                      </a:r>
                    </a:p>
                  </a:txBody>
                  <a:tcPr anchor="ctr" marL="73152" marR="54864" marT="27432" marB="27432">
                    <a:solidFill>
                      <a:srgbClr val="EEF3F8"/>
                    </a:solidFill>
                  </a:tcPr>
                </a:tc>
                <a:tc>
                  <a:txBody>
                    <a:bodyPr wrap="square"/>
                    <a:lstStyle/>
                    <a:p>
                      <a:r>
                        <a:rPr sz="980">
                          <a:solidFill>
                            <a:srgbClr val="1A1A1A"/>
                          </a:solidFill>
                        </a:rPr>
                        <a:t>Keep it secret (no filing)</a:t>
                      </a:r>
                    </a:p>
                  </a:txBody>
                  <a:tcPr anchor="ctr" marL="73152" marR="54864" marT="27432" marB="27432">
                    <a:solidFill>
                      <a:srgbClr val="EEF3F8"/>
                    </a:solidFill>
                  </a:tcPr>
                </a:tc>
                <a:tc>
                  <a:txBody>
                    <a:bodyPr wrap="square"/>
                    <a:lstStyle/>
                    <a:p>
                      <a:r>
                        <a:rPr sz="980">
                          <a:solidFill>
                            <a:srgbClr val="1A1A1A"/>
                          </a:solidFill>
                        </a:rPr>
                        <a:t>Register (DoI) + renew</a:t>
                      </a:r>
                    </a:p>
                  </a:txBody>
                  <a:tcPr anchor="ctr" marL="73152" marR="54864" marT="27432" marB="27432">
                    <a:solidFill>
                      <a:srgbClr val="EEF3F8"/>
                    </a:solidFill>
                  </a:tcPr>
                </a:tc>
              </a:tr>
              <a:tr h="736092">
                <a:tc>
                  <a:txBody>
                    <a:bodyPr wrap="square"/>
                    <a:lstStyle/>
                    <a:p>
                      <a:r>
                        <a:rPr sz="980" b="1">
                          <a:solidFill>
                            <a:srgbClr val="0C2B4A"/>
                          </a:solidFill>
                        </a:rPr>
                        <a:t>How long it lasts</a:t>
                      </a:r>
                    </a:p>
                  </a:txBody>
                  <a:tcPr anchor="ctr" marL="73152" marR="54864" marT="27432" marB="27432">
                    <a:solidFill>
                      <a:srgbClr val="FFFFFF"/>
                    </a:solidFill>
                  </a:tcPr>
                </a:tc>
                <a:tc>
                  <a:txBody>
                    <a:bodyPr wrap="square"/>
                    <a:lstStyle/>
                    <a:p>
                      <a:r>
                        <a:rPr sz="980">
                          <a:solidFill>
                            <a:srgbClr val="1A1A1A"/>
                          </a:solidFill>
                        </a:rPr>
                        <a:t>Life + 50 years</a:t>
                      </a:r>
                    </a:p>
                  </a:txBody>
                  <a:tcPr anchor="ctr" marL="73152" marR="54864" marT="27432" marB="27432">
                    <a:solidFill>
                      <a:srgbClr val="FFFFFF"/>
                    </a:solidFill>
                  </a:tcPr>
                </a:tc>
                <a:tc>
                  <a:txBody>
                    <a:bodyPr wrap="square"/>
                    <a:lstStyle/>
                    <a:p>
                      <a:r>
                        <a:rPr sz="980">
                          <a:solidFill>
                            <a:srgbClr val="1A1A1A"/>
                          </a:solidFill>
                        </a:rPr>
                        <a:t>~20 years</a:t>
                      </a:r>
                    </a:p>
                  </a:txBody>
                  <a:tcPr anchor="ctr" marL="73152" marR="54864" marT="27432" marB="27432">
                    <a:solidFill>
                      <a:srgbClr val="FFFFFF"/>
                    </a:solidFill>
                  </a:tcPr>
                </a:tc>
                <a:tc>
                  <a:txBody>
                    <a:bodyPr wrap="square"/>
                    <a:lstStyle/>
                    <a:p>
                      <a:r>
                        <a:rPr sz="980">
                          <a:solidFill>
                            <a:srgbClr val="1A1A1A"/>
                          </a:solidFill>
                        </a:rPr>
                        <a:t>While it stays secret</a:t>
                      </a:r>
                    </a:p>
                  </a:txBody>
                  <a:tcPr anchor="ctr" marL="73152" marR="54864" marT="27432" marB="27432">
                    <a:solidFill>
                      <a:srgbClr val="FFFFFF"/>
                    </a:solidFill>
                  </a:tcPr>
                </a:tc>
                <a:tc>
                  <a:txBody>
                    <a:bodyPr wrap="square"/>
                    <a:lstStyle/>
                    <a:p>
                      <a:r>
                        <a:rPr sz="980">
                          <a:solidFill>
                            <a:srgbClr val="1A1A1A"/>
                          </a:solidFill>
                        </a:rPr>
                        <a:t>Indefinite with renewal</a:t>
                      </a:r>
                    </a:p>
                  </a:txBody>
                  <a:tcPr anchor="ctr" marL="73152" marR="54864" marT="27432" marB="27432">
                    <a:solidFill>
                      <a:srgbClr val="FFFFFF"/>
                    </a:solidFill>
                  </a:tcPr>
                </a:tc>
              </a:tr>
              <a:tr h="736092">
                <a:tc>
                  <a:txBody>
                    <a:bodyPr wrap="square"/>
                    <a:lstStyle/>
                    <a:p>
                      <a:r>
                        <a:rPr sz="980" b="1">
                          <a:solidFill>
                            <a:srgbClr val="0C2B4A"/>
                          </a:solidFill>
                        </a:rPr>
                        <a:t>Then what?</a:t>
                      </a:r>
                    </a:p>
                  </a:txBody>
                  <a:tcPr anchor="ctr" marL="73152" marR="54864" marT="27432" marB="27432">
                    <a:solidFill>
                      <a:srgbClr val="EEF3F8"/>
                    </a:solidFill>
                  </a:tcPr>
                </a:tc>
                <a:tc>
                  <a:txBody>
                    <a:bodyPr wrap="square"/>
                    <a:lstStyle/>
                    <a:p>
                      <a:r>
                        <a:rPr sz="980">
                          <a:solidFill>
                            <a:srgbClr val="1A1A1A"/>
                          </a:solidFill>
                        </a:rPr>
                        <a:t>Public domain</a:t>
                      </a:r>
                    </a:p>
                  </a:txBody>
                  <a:tcPr anchor="ctr" marL="73152" marR="54864" marT="27432" marB="27432">
                    <a:solidFill>
                      <a:srgbClr val="EEF3F8"/>
                    </a:solidFill>
                  </a:tcPr>
                </a:tc>
                <a:tc>
                  <a:txBody>
                    <a:bodyPr wrap="square"/>
                    <a:lstStyle/>
                    <a:p>
                      <a:r>
                        <a:rPr sz="980">
                          <a:solidFill>
                            <a:srgbClr val="1A1A1A"/>
                          </a:solidFill>
                        </a:rPr>
                        <a:t>Public domain</a:t>
                      </a:r>
                    </a:p>
                  </a:txBody>
                  <a:tcPr anchor="ctr" marL="73152" marR="54864" marT="27432" marB="27432">
                    <a:solidFill>
                      <a:srgbClr val="EEF3F8"/>
                    </a:solidFill>
                  </a:tcPr>
                </a:tc>
                <a:tc>
                  <a:txBody>
                    <a:bodyPr wrap="square"/>
                    <a:lstStyle/>
                    <a:p>
                      <a:r>
                        <a:rPr sz="980">
                          <a:solidFill>
                            <a:srgbClr val="1A1A1A"/>
                          </a:solidFill>
                        </a:rPr>
                        <a:t>Gone if leaked/found</a:t>
                      </a:r>
                    </a:p>
                  </a:txBody>
                  <a:tcPr anchor="ctr" marL="73152" marR="54864" marT="27432" marB="27432">
                    <a:solidFill>
                      <a:srgbClr val="EEF3F8"/>
                    </a:solidFill>
                  </a:tcPr>
                </a:tc>
                <a:tc>
                  <a:txBody>
                    <a:bodyPr wrap="square"/>
                    <a:lstStyle/>
                    <a:p>
                      <a:r>
                        <a:rPr sz="980">
                          <a:solidFill>
                            <a:srgbClr val="1A1A1A"/>
                          </a:solidFill>
                        </a:rPr>
                        <a:t>Lost if not used/renewed</a:t>
                      </a:r>
                    </a:p>
                  </a:txBody>
                  <a:tcPr anchor="ctr" marL="73152" marR="54864" marT="27432" marB="27432">
                    <a:solidFill>
                      <a:srgbClr val="EEF3F8"/>
                    </a:solidFill>
                  </a:tcPr>
                </a:tc>
              </a:tr>
              <a:tr h="736092">
                <a:tc>
                  <a:txBody>
                    <a:bodyPr wrap="square"/>
                    <a:lstStyle/>
                    <a:p>
                      <a:r>
                        <a:rPr sz="980" b="1">
                          <a:solidFill>
                            <a:srgbClr val="0C2B4A"/>
                          </a:solidFill>
                        </a:rPr>
                        <a:t>Nepal example</a:t>
                      </a:r>
                    </a:p>
                  </a:txBody>
                  <a:tcPr anchor="ctr" marL="73152" marR="54864" marT="27432" marB="27432">
                    <a:solidFill>
                      <a:srgbClr val="FFFFFF"/>
                    </a:solidFill>
                  </a:tcPr>
                </a:tc>
                <a:tc>
                  <a:txBody>
                    <a:bodyPr wrap="square"/>
                    <a:lstStyle/>
                    <a:p>
                      <a:r>
                        <a:rPr sz="980">
                          <a:solidFill>
                            <a:srgbClr val="1A1A1A"/>
                          </a:solidFill>
                        </a:rPr>
                        <a:t>A pirated Kabaddi film</a:t>
                      </a:r>
                    </a:p>
                  </a:txBody>
                  <a:tcPr anchor="ctr" marL="73152" marR="54864" marT="27432" marB="27432">
                    <a:solidFill>
                      <a:srgbClr val="FFFFFF"/>
                    </a:solidFill>
                  </a:tcPr>
                </a:tc>
                <a:tc>
                  <a:txBody>
                    <a:bodyPr wrap="square"/>
                    <a:lstStyle/>
                    <a:p>
                      <a:r>
                        <a:rPr sz="980">
                          <a:solidFill>
                            <a:srgbClr val="1A1A1A"/>
                          </a:solidFill>
                        </a:rPr>
                        <a:t>A DoI-registered device</a:t>
                      </a:r>
                    </a:p>
                  </a:txBody>
                  <a:tcPr anchor="ctr" marL="73152" marR="54864" marT="27432" marB="27432">
                    <a:solidFill>
                      <a:srgbClr val="FFFFFF"/>
                    </a:solidFill>
                  </a:tcPr>
                </a:tc>
                <a:tc>
                  <a:txBody>
                    <a:bodyPr wrap="square"/>
                    <a:lstStyle/>
                    <a:p>
                      <a:r>
                        <a:rPr sz="980">
                          <a:solidFill>
                            <a:srgbClr val="1A1A1A"/>
                          </a:solidFill>
                        </a:rPr>
                        <a:t>Wai Wai's masala ratio</a:t>
                      </a:r>
                    </a:p>
                  </a:txBody>
                  <a:tcPr anchor="ctr" marL="73152" marR="54864" marT="27432" marB="27432">
                    <a:solidFill>
                      <a:srgbClr val="FFFFFF"/>
                    </a:solidFill>
                  </a:tcPr>
                </a:tc>
                <a:tc>
                  <a:txBody>
                    <a:bodyPr wrap="square"/>
                    <a:lstStyle/>
                    <a:p>
                      <a:r>
                        <a:rPr sz="980">
                          <a:solidFill>
                            <a:srgbClr val="1A1A1A"/>
                          </a:solidFill>
                        </a:rPr>
                        <a:t>Fake Goldstar logo</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Capstone table for Unit 3: the four IP types differ by WHAT they protect, HOW you acquire them, and HOW LONG they last. Master this and you can classify any IP question.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89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Pulling It Together — the four IP types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One product can involve all four: a fintech app's code is COPYRIGHTED, a novel mechanism inside it might be PATENTED, its fraud-scoring algorithm is a TRADE SECRET, and its name and logo are TRADEMARKED. Classifying an IP question means asking which of the four — expression, invention, secret, or brand — is at stake.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"IP is basically all one thing." The four types protect different things, are acquired differently, and last different lengths of time — mixing them up gives wrong answers (e.g. 'patent your logo' or 'copyright your brand name'). Ask what is at stake: expression → copyright, invention → patent, secret → trade secret, brand → trademark.</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four IP types are best understood side by side: copyright (expression, automatic, life + 50 yrs), patent (invention, applied-for + disclosed, ~20 yrs), trade secret (secret info, kept confidential, unlimited but fragile), and trademark (brand identity, registered + renewed, potentially forever). They differ by what they protect, how they're acquired, and how long they last — the unit's core differentiator.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copyright (expression) · patent (invention) · trade secret (secret) · trademark (brand) · what/how/how-long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89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Classify the asset — and the common wrong answer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60657"/>
                <a:gridCol w="2857500"/>
                <a:gridCol w="4511842"/>
              </a:tblGrid>
              <a:tr h="552069">
                <a:tc>
                  <a:txBody>
                    <a:bodyPr wrap="square"/>
                    <a:lstStyle/>
                    <a:p>
                      <a:r>
                        <a:rPr sz="1150" b="1">
                          <a:solidFill>
                            <a:srgbClr val="FFFFFF"/>
                          </a:solidFill>
                        </a:rPr>
                        <a:t>Nepali asset</a:t>
                      </a:r>
                    </a:p>
                  </a:txBody>
                  <a:tcPr anchor="ctr" marL="73152" marR="54864" marT="27432" marB="27432">
                    <a:solidFill>
                      <a:srgbClr val="0C2B4A"/>
                    </a:solidFill>
                  </a:tcPr>
                </a:tc>
                <a:tc>
                  <a:txBody>
                    <a:bodyPr wrap="square"/>
                    <a:lstStyle/>
                    <a:p>
                      <a:r>
                        <a:rPr sz="1150" b="1">
                          <a:solidFill>
                            <a:srgbClr val="FFFFFF"/>
                          </a:solidFill>
                        </a:rPr>
                        <a:t>Correct IP type</a:t>
                      </a:r>
                    </a:p>
                  </a:txBody>
                  <a:tcPr anchor="ctr" marL="73152" marR="54864" marT="27432" marB="27432">
                    <a:solidFill>
                      <a:srgbClr val="0C2B4A"/>
                    </a:solidFill>
                  </a:tcPr>
                </a:tc>
                <a:tc>
                  <a:txBody>
                    <a:bodyPr wrap="square"/>
                    <a:lstStyle/>
                    <a:p>
                      <a:r>
                        <a:rPr sz="1150" b="1">
                          <a:solidFill>
                            <a:srgbClr val="FFFFFF"/>
                          </a:solidFill>
                        </a:rPr>
                        <a:t>Common wrong answer</a:t>
                      </a:r>
                    </a:p>
                  </a:txBody>
                  <a:tcPr anchor="ctr" marL="73152" marR="54864" marT="27432" marB="27432">
                    <a:solidFill>
                      <a:srgbClr val="0C2B4A"/>
                    </a:solidFill>
                  </a:tcPr>
                </a:tc>
              </a:tr>
              <a:tr h="552069">
                <a:tc>
                  <a:txBody>
                    <a:bodyPr wrap="square"/>
                    <a:lstStyle/>
                    <a:p>
                      <a:r>
                        <a:rPr sz="1100" b="1">
                          <a:solidFill>
                            <a:srgbClr val="0C2B4A"/>
                          </a:solidFill>
                        </a:rPr>
                        <a:t>A brand name like 'eSewa'</a:t>
                      </a:r>
                    </a:p>
                  </a:txBody>
                  <a:tcPr anchor="ctr" marL="73152" marR="54864" marT="27432" marB="27432">
                    <a:solidFill>
                      <a:srgbClr val="FFFFFF"/>
                    </a:solidFill>
                  </a:tcPr>
                </a:tc>
                <a:tc>
                  <a:txBody>
                    <a:bodyPr wrap="square"/>
                    <a:lstStyle/>
                    <a:p>
                      <a:r>
                        <a:rPr sz="1100">
                          <a:solidFill>
                            <a:srgbClr val="1A1A1A"/>
                          </a:solidFill>
                        </a:rPr>
                        <a:t>Trademark</a:t>
                      </a:r>
                    </a:p>
                  </a:txBody>
                  <a:tcPr anchor="ctr" marL="73152" marR="54864" marT="27432" marB="27432">
                    <a:solidFill>
                      <a:srgbClr val="FFFFFF"/>
                    </a:solidFill>
                  </a:tcPr>
                </a:tc>
                <a:tc>
                  <a:txBody>
                    <a:bodyPr wrap="square"/>
                    <a:lstStyle/>
                    <a:p>
                      <a:r>
                        <a:rPr sz="1100">
                          <a:solidFill>
                            <a:srgbClr val="1A1A1A"/>
                          </a:solidFill>
                        </a:rPr>
                        <a:t>'Copyright the name' — names aren't copyrighted</a:t>
                      </a:r>
                    </a:p>
                  </a:txBody>
                  <a:tcPr anchor="ctr" marL="73152" marR="54864" marT="27432" marB="27432">
                    <a:solidFill>
                      <a:srgbClr val="FFFFFF"/>
                    </a:solidFill>
                  </a:tcPr>
                </a:tc>
              </a:tr>
              <a:tr h="552069">
                <a:tc>
                  <a:txBody>
                    <a:bodyPr wrap="square"/>
                    <a:lstStyle/>
                    <a:p>
                      <a:r>
                        <a:rPr sz="1100" b="1">
                          <a:solidFill>
                            <a:srgbClr val="0C2B4A"/>
                          </a:solidFill>
                        </a:rPr>
                        <a:t>The source code of the eSewa app</a:t>
                      </a:r>
                    </a:p>
                  </a:txBody>
                  <a:tcPr anchor="ctr" marL="73152" marR="54864" marT="27432" marB="27432">
                    <a:solidFill>
                      <a:srgbClr val="EEF3F8"/>
                    </a:solidFill>
                  </a:tcPr>
                </a:tc>
                <a:tc>
                  <a:txBody>
                    <a:bodyPr wrap="square"/>
                    <a:lstStyle/>
                    <a:p>
                      <a:r>
                        <a:rPr sz="1100">
                          <a:solidFill>
                            <a:srgbClr val="1A1A1A"/>
                          </a:solidFill>
                        </a:rPr>
                        <a:t>Copyright</a:t>
                      </a:r>
                    </a:p>
                  </a:txBody>
                  <a:tcPr anchor="ctr" marL="73152" marR="54864" marT="27432" marB="27432">
                    <a:solidFill>
                      <a:srgbClr val="EEF3F8"/>
                    </a:solidFill>
                  </a:tcPr>
                </a:tc>
                <a:tc>
                  <a:txBody>
                    <a:bodyPr wrap="square"/>
                    <a:lstStyle/>
                    <a:p>
                      <a:r>
                        <a:rPr sz="1100">
                          <a:solidFill>
                            <a:srgbClr val="1A1A1A"/>
                          </a:solidFill>
                        </a:rPr>
                        <a:t>'Patent the code' — code is copyrighted</a:t>
                      </a:r>
                    </a:p>
                  </a:txBody>
                  <a:tcPr anchor="ctr" marL="73152" marR="54864" marT="27432" marB="27432">
                    <a:solidFill>
                      <a:srgbClr val="EEF3F8"/>
                    </a:solidFill>
                  </a:tcPr>
                </a:tc>
              </a:tr>
              <a:tr h="552069">
                <a:tc>
                  <a:txBody>
                    <a:bodyPr wrap="square"/>
                    <a:lstStyle/>
                    <a:p>
                      <a:r>
                        <a:rPr sz="1100" b="1">
                          <a:solidFill>
                            <a:srgbClr val="0C2B4A"/>
                          </a:solidFill>
                        </a:rPr>
                        <a:t>Wai Wai's masala ratio</a:t>
                      </a:r>
                    </a:p>
                  </a:txBody>
                  <a:tcPr anchor="ctr" marL="73152" marR="54864" marT="27432" marB="27432">
                    <a:solidFill>
                      <a:srgbClr val="FFFFFF"/>
                    </a:solidFill>
                  </a:tcPr>
                </a:tc>
                <a:tc>
                  <a:txBody>
                    <a:bodyPr wrap="square"/>
                    <a:lstStyle/>
                    <a:p>
                      <a:r>
                        <a:rPr sz="1100">
                          <a:solidFill>
                            <a:srgbClr val="1A1A1A"/>
                          </a:solidFill>
                        </a:rPr>
                        <a:t>Trade secret</a:t>
                      </a:r>
                    </a:p>
                  </a:txBody>
                  <a:tcPr anchor="ctr" marL="73152" marR="54864" marT="27432" marB="27432">
                    <a:solidFill>
                      <a:srgbClr val="FFFFFF"/>
                    </a:solidFill>
                  </a:tcPr>
                </a:tc>
                <a:tc>
                  <a:txBody>
                    <a:bodyPr wrap="square"/>
                    <a:lstStyle/>
                    <a:p>
                      <a:r>
                        <a:rPr sz="1100">
                          <a:solidFill>
                            <a:srgbClr val="1A1A1A"/>
                          </a:solidFill>
                        </a:rPr>
                        <a:t>'Patent it' — that would disclose &amp; expire it</a:t>
                      </a:r>
                    </a:p>
                  </a:txBody>
                  <a:tcPr anchor="ctr" marL="73152" marR="54864" marT="27432" marB="27432">
                    <a:solidFill>
                      <a:srgbClr val="FFFFFF"/>
                    </a:solidFill>
                  </a:tcPr>
                </a:tc>
              </a:tr>
              <a:tr h="552069">
                <a:tc>
                  <a:txBody>
                    <a:bodyPr wrap="square"/>
                    <a:lstStyle/>
                    <a:p>
                      <a:r>
                        <a:rPr sz="1100" b="1">
                          <a:solidFill>
                            <a:srgbClr val="0C2B4A"/>
                          </a:solidFill>
                        </a:rPr>
                        <a:t>A pirated Kabaddi film copy</a:t>
                      </a:r>
                    </a:p>
                  </a:txBody>
                  <a:tcPr anchor="ctr" marL="73152" marR="54864" marT="27432" marB="27432">
                    <a:solidFill>
                      <a:srgbClr val="EEF3F8"/>
                    </a:solidFill>
                  </a:tcPr>
                </a:tc>
                <a:tc>
                  <a:txBody>
                    <a:bodyPr wrap="square"/>
                    <a:lstStyle/>
                    <a:p>
                      <a:r>
                        <a:rPr sz="1100">
                          <a:solidFill>
                            <a:srgbClr val="1A1A1A"/>
                          </a:solidFill>
                        </a:rPr>
                        <a:t>Copyright</a:t>
                      </a:r>
                    </a:p>
                  </a:txBody>
                  <a:tcPr anchor="ctr" marL="73152" marR="54864" marT="27432" marB="27432">
                    <a:solidFill>
                      <a:srgbClr val="EEF3F8"/>
                    </a:solidFill>
                  </a:tcPr>
                </a:tc>
                <a:tc>
                  <a:txBody>
                    <a:bodyPr wrap="square"/>
                    <a:lstStyle/>
                    <a:p>
                      <a:r>
                        <a:rPr sz="1100">
                          <a:solidFill>
                            <a:srgbClr val="1A1A1A"/>
                          </a:solidFill>
                        </a:rPr>
                        <a:t>'A trademark issue' — it's the film's expression</a:t>
                      </a:r>
                    </a:p>
                  </a:txBody>
                  <a:tcPr anchor="ctr" marL="73152" marR="54864" marT="27432" marB="27432">
                    <a:solidFill>
                      <a:srgbClr val="EEF3F8"/>
                    </a:solidFill>
                  </a:tcPr>
                </a:tc>
              </a:tr>
              <a:tr h="552069">
                <a:tc>
                  <a:txBody>
                    <a:bodyPr wrap="square"/>
                    <a:lstStyle/>
                    <a:p>
                      <a:r>
                        <a:rPr sz="1100" b="1">
                          <a:solidFill>
                            <a:srgbClr val="0C2B4A"/>
                          </a:solidFill>
                        </a:rPr>
                        <a:t>A DoI-registered herbal machine</a:t>
                      </a:r>
                    </a:p>
                  </a:txBody>
                  <a:tcPr anchor="ctr" marL="73152" marR="54864" marT="27432" marB="27432">
                    <a:solidFill>
                      <a:srgbClr val="FFFFFF"/>
                    </a:solidFill>
                  </a:tcPr>
                </a:tc>
                <a:tc>
                  <a:txBody>
                    <a:bodyPr wrap="square"/>
                    <a:lstStyle/>
                    <a:p>
                      <a:r>
                        <a:rPr sz="1100">
                          <a:solidFill>
                            <a:srgbClr val="1A1A1A"/>
                          </a:solidFill>
                        </a:rPr>
                        <a:t>Patent</a:t>
                      </a:r>
                    </a:p>
                  </a:txBody>
                  <a:tcPr anchor="ctr" marL="73152" marR="54864" marT="27432" marB="27432">
                    <a:solidFill>
                      <a:srgbClr val="FFFFFF"/>
                    </a:solidFill>
                  </a:tcPr>
                </a:tc>
                <a:tc>
                  <a:txBody>
                    <a:bodyPr wrap="square"/>
                    <a:lstStyle/>
                    <a:p>
                      <a:r>
                        <a:rPr sz="1100">
                          <a:solidFill>
                            <a:srgbClr val="1A1A1A"/>
                          </a:solidFill>
                        </a:rPr>
                        <a:t>'Trade-secret it' — a visible product is copyable</a:t>
                      </a:r>
                    </a:p>
                  </a:txBody>
                  <a:tcPr anchor="ctr" marL="73152" marR="54864" marT="27432" marB="27432">
                    <a:solidFill>
                      <a:srgbClr val="FFFFFF"/>
                    </a:solidFill>
                  </a:tcPr>
                </a:tc>
              </a:tr>
              <a:tr h="552069">
                <a:tc>
                  <a:txBody>
                    <a:bodyPr wrap="square"/>
                    <a:lstStyle/>
                    <a:p>
                      <a:r>
                        <a:rPr sz="1100" b="1">
                          <a:solidFill>
                            <a:srgbClr val="0C2B4A"/>
                          </a:solidFill>
                        </a:rPr>
                        <a:t>A momo shop's registered logo</a:t>
                      </a:r>
                    </a:p>
                  </a:txBody>
                  <a:tcPr anchor="ctr" marL="73152" marR="54864" marT="27432" marB="27432">
                    <a:solidFill>
                      <a:srgbClr val="EEF3F8"/>
                    </a:solidFill>
                  </a:tcPr>
                </a:tc>
                <a:tc>
                  <a:txBody>
                    <a:bodyPr wrap="square"/>
                    <a:lstStyle/>
                    <a:p>
                      <a:r>
                        <a:rPr sz="1100">
                          <a:solidFill>
                            <a:srgbClr val="1A1A1A"/>
                          </a:solidFill>
                        </a:rPr>
                        <a:t>Trademark</a:t>
                      </a:r>
                    </a:p>
                  </a:txBody>
                  <a:tcPr anchor="ctr" marL="73152" marR="54864" marT="27432" marB="27432">
                    <a:solidFill>
                      <a:srgbClr val="EEF3F8"/>
                    </a:solidFill>
                  </a:tcPr>
                </a:tc>
                <a:tc>
                  <a:txBody>
                    <a:bodyPr wrap="square"/>
                    <a:lstStyle/>
                    <a:p>
                      <a:r>
                        <a:rPr sz="1100">
                          <a:solidFill>
                            <a:srgbClr val="1A1A1A"/>
                          </a:solidFill>
                        </a:rPr>
                        <a:t>'Company registration covers it' — separate filing</a:t>
                      </a:r>
                    </a:p>
                  </a:txBody>
                  <a:tcPr anchor="ctr" marL="73152" marR="54864" marT="27432" marB="27432">
                    <a:solidFill>
                      <a:srgbClr val="EEF3F8"/>
                    </a:solidFill>
                  </a:tcPr>
                </a:tc>
              </a:tr>
              <a:tr h="552069">
                <a:tc>
                  <a:txBody>
                    <a:bodyPr wrap="square"/>
                    <a:lstStyle/>
                    <a:p>
                      <a:r>
                        <a:rPr sz="1100" b="1">
                          <a:solidFill>
                            <a:srgbClr val="0C2B4A"/>
                          </a:solidFill>
                        </a:rPr>
                        <a:t>A daraz.com.np domain grabbed in bad faith</a:t>
                      </a:r>
                    </a:p>
                  </a:txBody>
                  <a:tcPr anchor="ctr" marL="73152" marR="54864" marT="27432" marB="27432">
                    <a:solidFill>
                      <a:srgbClr val="FFFFFF"/>
                    </a:solidFill>
                  </a:tcPr>
                </a:tc>
                <a:tc>
                  <a:txBody>
                    <a:bodyPr wrap="square"/>
                    <a:lstStyle/>
                    <a:p>
                      <a:r>
                        <a:rPr sz="1100">
                          <a:solidFill>
                            <a:srgbClr val="1A1A1A"/>
                          </a:solidFill>
                        </a:rPr>
                        <a:t>Trademark (cybersquatting)</a:t>
                      </a:r>
                    </a:p>
                  </a:txBody>
                  <a:tcPr anchor="ctr" marL="73152" marR="54864" marT="27432" marB="27432">
                    <a:solidFill>
                      <a:srgbClr val="FFFFFF"/>
                    </a:solidFill>
                  </a:tcPr>
                </a:tc>
                <a:tc>
                  <a:txBody>
                    <a:bodyPr wrap="square"/>
                    <a:lstStyle/>
                    <a:p>
                      <a:r>
                        <a:rPr sz="1100">
                          <a:solidFill>
                            <a:srgbClr val="1A1A1A"/>
                          </a:solidFill>
                        </a:rPr>
                        <a:t>'First to register owns it fairly'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Classify by what's at stake — expression→copyright, invention→patent, secret→trade secret, brand→trademark. The right-hand column shows the mix-ups that give wrong answers.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89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S16 — 'Name it and protect it'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you're launching a Nepali startup. For your product, name what each IP type covers.</a:t>
            </a:r>
          </a:p>
          <a:p>
            <a:pPr>
              <a:spcAft>
                <a:spcPts val="700"/>
              </a:spcAft>
            </a:pPr>
            <a:r>
              <a:rPr sz="1550">
                <a:solidFill>
                  <a:srgbClr val="1A1A1A"/>
                </a:solidFill>
              </a:rPr>
              <a:t>•  Which parts are copyright, patent (or not), trade secret, and trademark? What must you register on day one?</a:t>
            </a:r>
          </a:p>
          <a:p>
            <a:pPr>
              <a:spcAft>
                <a:spcPts val="700"/>
              </a:spcAft>
            </a:pPr>
            <a:r>
              <a:rPr sz="1550">
                <a:solidFill>
                  <a:srgbClr val="1A1A1A"/>
                </a:solidFill>
              </a:rPr>
              <a:t>•  Take 3 answers aloud (4 min); check each against the master comparison table.</a:t>
            </a:r>
          </a:p>
          <a:p>
            <a:pPr>
              <a:spcAft>
                <a:spcPts val="700"/>
              </a:spcAft>
            </a:pPr>
            <a:r>
              <a:rPr sz="1550">
                <a:solidFill>
                  <a:srgbClr val="1A1A1A"/>
                </a:solidFill>
              </a:rPr>
              <a:t>•  Close: a name + domain + trademark check is literally a day-one task — get it wrong and you rebrand or face a dispute.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code = copyright (automatic); brand name/logo = trademark (must register at DoI + grab the domain); a secret algorithm = trade secret (NDA); patent usually N/A for pure software. Reward day-one trademark + domain awareness.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89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logo or brand name that identifies a product's source is protected by:</a:t>
            </a:r>
          </a:p>
          <a:p>
            <a:pPr lvl="1"/>
            <a:r>
              <a:rPr sz="1500" b="1">
                <a:solidFill>
                  <a:srgbClr val="0F6E56"/>
                </a:solidFill>
              </a:rPr>
              <a:t>a) copyright   b) patent   c) trade secret   d) ✅ trademark</a:t>
            </a:r>
          </a:p>
          <a:p>
            <a:pPr lvl="1">
              <a:spcBef>
                <a:spcPts val="600"/>
              </a:spcBef>
            </a:pPr>
            <a:r>
              <a:rPr sz="1500" i="1">
                <a:solidFill>
                  <a:srgbClr val="1A1A1A"/>
                </a:solidFill>
              </a:rPr>
              <a:t>     Why: trademarks protect source-identifying brand identity and prevent consumer confusion.</a:t>
            </a:r>
          </a:p>
          <a:p>
            <a:pPr>
              <a:spcBef>
                <a:spcPts val="900"/>
              </a:spcBef>
            </a:pPr>
            <a:r>
              <a:rPr sz="1700" b="1">
                <a:solidFill>
                  <a:srgbClr val="0C2B4A"/>
                </a:solidFill>
              </a:rPr>
              <a:t>Q2.  Registering a brand's domain in bad faith to resell it is:</a:t>
            </a:r>
          </a:p>
          <a:p>
            <a:pPr lvl="1"/>
            <a:r>
              <a:rPr sz="1500" b="1">
                <a:solidFill>
                  <a:srgbClr val="0F6E56"/>
                </a:solidFill>
              </a:rPr>
              <a:t>a) fair investing   b) ✅ cybersquatting   c) trademark licensing   d) fair use</a:t>
            </a:r>
          </a:p>
          <a:p>
            <a:pPr lvl="1">
              <a:spcBef>
                <a:spcPts val="600"/>
              </a:spcBef>
            </a:pPr>
            <a:r>
              <a:rPr sz="1500" i="1">
                <a:solidFill>
                  <a:srgbClr val="1A1A1A"/>
                </a:solidFill>
              </a:rPr>
              <a:t>     Why: bad-faith registration of a known mark's domain is cybersquatting, resolvable via UDRP/.np registry.</a:t>
            </a:r>
          </a:p>
          <a:p>
            <a:pPr lvl="1">
              <a:spcBef>
                <a:spcPts val="600"/>
              </a:spcBef>
            </a:pPr>
            <a:r>
              <a:rPr sz="1500" i="1">
                <a:solidFill>
                  <a:srgbClr val="1A1A1A"/>
                </a:solidFill>
              </a:rPr>
              <a:t>Discussion: if you register famousbrand.com.np before the brand does, should you be allowed to sell it to them?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89</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Trademarks protect brand identity against confusingly similar use; company reg ≠ trademark reg.</a:t>
            </a:r>
          </a:p>
          <a:p>
            <a:pPr>
              <a:spcAft>
                <a:spcPts val="800"/>
              </a:spcAft>
            </a:pPr>
            <a:r>
              <a:rPr sz="1500">
                <a:solidFill>
                  <a:srgbClr val="1A1A1A"/>
                </a:solidFill>
              </a:rPr>
              <a:t>2.  Cybersquatting is bad-faith domain grabbing (typosquatting is its cousin); resolved via UDRP or the .np registry.</a:t>
            </a:r>
          </a:p>
          <a:p>
            <a:pPr>
              <a:spcAft>
                <a:spcPts val="800"/>
              </a:spcAft>
            </a:pPr>
            <a:r>
              <a:rPr sz="1500">
                <a:solidFill>
                  <a:srgbClr val="1A1A1A"/>
                </a:solidFill>
              </a:rPr>
              <a:t>3.  The four IP types differ by what they protect, how you acquire them, and how long they last (master table).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Naming a startup means a trademark + domain check on day one — get it wrong and you rebrand or face a dispute. And you'll classify IP questions constantly: knowing expression→copyright, invention→patent, secret→trade secret, brand→trademark is a core professional reflex.</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Unit 4 — ethical decisions in software development and IT organizations (whistle-blowing, safety, quality).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89</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The four IP types</a:t>
            </a:r>
          </a:p>
          <a:p>
            <a:pPr>
              <a:spcBef>
                <a:spcPts val="300"/>
              </a:spcBef>
            </a:pPr>
            <a:r>
              <a:rPr sz="1200">
                <a:solidFill>
                  <a:srgbClr val="1A1A1A"/>
                </a:solidFill>
              </a:rPr>
              <a:t>Copyright = expression (auto, life+50). Patent = invention (apply+disclose, ~20 yr). Trade secret = secret info (kept quiet, unlimited). Trademark = brand identity (register+renew, forever).</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Copyright (S11)</a:t>
            </a:r>
          </a:p>
          <a:p>
            <a:pPr>
              <a:spcBef>
                <a:spcPts val="300"/>
              </a:spcBef>
            </a:pPr>
            <a:r>
              <a:rPr sz="1200">
                <a:solidFill>
                  <a:srgbClr val="1A1A1A"/>
                </a:solidFill>
              </a:rPr>
              <a:t>Protects EXPRESSION not idea; automatic on creation; fair use for education/news/criticism/parody; attribution ≠ permission.</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Patent (S12)</a:t>
            </a:r>
          </a:p>
          <a:p>
            <a:pPr>
              <a:spcBef>
                <a:spcPts val="300"/>
              </a:spcBef>
            </a:pPr>
            <a:r>
              <a:rPr sz="1200">
                <a:solidFill>
                  <a:srgbClr val="1A1A1A"/>
                </a:solidFill>
              </a:rPr>
              <a:t>3 tests: novelty + non-obviousness + industrial applicability. ~20 yrs, public, territorial. Software patents restricted → use copyright + trade secret.</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Trade secret (S13)</a:t>
            </a:r>
          </a:p>
          <a:p>
            <a:pPr>
              <a:spcBef>
                <a:spcPts val="300"/>
              </a:spcBef>
            </a:pPr>
            <a:r>
              <a:rPr sz="1200">
                <a:solidFill>
                  <a:srgbClr val="1A1A1A"/>
                </a:solidFill>
              </a:rPr>
              <a:t>Confidential info + reasonable secrecy (NDAs). Unlimited but fragile — no protection vs independent discovery / legal reverse engineering.</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Plagiarism &amp; reverse eng. (S14)</a:t>
            </a:r>
          </a:p>
          <a:p>
            <a:pPr>
              <a:spcBef>
                <a:spcPts val="300"/>
              </a:spcBef>
            </a:pPr>
            <a:r>
              <a:rPr sz="1200">
                <a:solidFill>
                  <a:srgbClr val="1A1A1A"/>
                </a:solidFill>
              </a:rPr>
              <a:t>Plagiarism = ethical (pass off work); infringement = legal. Reverse engineering OK for interoperability/security/learning, not copying.</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Open source, CI, trademark (S15–16)</a:t>
            </a:r>
          </a:p>
          <a:p>
            <a:pPr>
              <a:spcBef>
                <a:spcPts val="300"/>
              </a:spcBef>
            </a:pPr>
            <a:r>
              <a:rPr sz="1200">
                <a:solidFill>
                  <a:srgbClr val="1A1A1A"/>
                </a:solidFill>
              </a:rPr>
              <a:t>Open source = copyright + licence (MIT/Apache permissive vs GPL copyleft). CI = public/legal; espionage = theft/bribery/hacking/lies. Cybersquatting = bad-faith domain grab.</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89</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Intellectual property (IP) — </a:t>
            </a:r>
            <a:r>
              <a:rPr sz="1150">
                <a:solidFill>
                  <a:srgbClr val="1A1A1A"/>
                </a:solidFill>
              </a:rPr>
              <a:t>legal rights over creations of the mind.</a:t>
            </a:r>
          </a:p>
          <a:p>
            <a:pPr>
              <a:spcAft>
                <a:spcPts val="600"/>
              </a:spcAft>
            </a:pPr>
            <a:r>
              <a:rPr sz="1150" b="1">
                <a:solidFill>
                  <a:srgbClr val="0C2B4A"/>
                </a:solidFill>
              </a:rPr>
              <a:t>Copyright — </a:t>
            </a:r>
            <a:r>
              <a:rPr sz="1150">
                <a:solidFill>
                  <a:srgbClr val="1A1A1A"/>
                </a:solidFill>
              </a:rPr>
              <a:t>protects original expression fixed in form; automatic on creation.</a:t>
            </a:r>
          </a:p>
          <a:p>
            <a:pPr>
              <a:spcAft>
                <a:spcPts val="600"/>
              </a:spcAft>
            </a:pPr>
            <a:r>
              <a:rPr sz="1150" b="1">
                <a:solidFill>
                  <a:srgbClr val="0C2B4A"/>
                </a:solidFill>
              </a:rPr>
              <a:t>Idea vs expression — </a:t>
            </a:r>
            <a:r>
              <a:rPr sz="1150">
                <a:solidFill>
                  <a:srgbClr val="1A1A1A"/>
                </a:solidFill>
              </a:rPr>
              <a:t>copyright covers the expression, never the underlying idea.</a:t>
            </a:r>
          </a:p>
          <a:p>
            <a:pPr>
              <a:spcAft>
                <a:spcPts val="600"/>
              </a:spcAft>
            </a:pPr>
            <a:r>
              <a:rPr sz="1150" b="1">
                <a:solidFill>
                  <a:srgbClr val="0C2B4A"/>
                </a:solidFill>
              </a:rPr>
              <a:t>Fair use — </a:t>
            </a:r>
            <a:r>
              <a:rPr sz="1150">
                <a:solidFill>
                  <a:srgbClr val="1A1A1A"/>
                </a:solidFill>
              </a:rPr>
              <a:t>limited use for education, research, news, criticism, parody.</a:t>
            </a:r>
          </a:p>
          <a:p>
            <a:pPr>
              <a:spcAft>
                <a:spcPts val="600"/>
              </a:spcAft>
            </a:pPr>
            <a:r>
              <a:rPr sz="1150" b="1">
                <a:solidFill>
                  <a:srgbClr val="0C2B4A"/>
                </a:solidFill>
              </a:rPr>
              <a:t>Public domain — </a:t>
            </a:r>
            <a:r>
              <a:rPr sz="1150">
                <a:solidFill>
                  <a:srgbClr val="1A1A1A"/>
                </a:solidFill>
              </a:rPr>
              <a:t>status after copyright expires — free for all.</a:t>
            </a:r>
          </a:p>
          <a:p>
            <a:pPr>
              <a:spcAft>
                <a:spcPts val="600"/>
              </a:spcAft>
            </a:pPr>
            <a:r>
              <a:rPr sz="1150" b="1">
                <a:solidFill>
                  <a:srgbClr val="0C2B4A"/>
                </a:solidFill>
              </a:rPr>
              <a:t>Patent — </a:t>
            </a:r>
            <a:r>
              <a:rPr sz="1150">
                <a:solidFill>
                  <a:srgbClr val="1A1A1A"/>
                </a:solidFill>
              </a:rPr>
              <a:t>exclusive right over a new, useful, non-obvious invention (~20 yrs).</a:t>
            </a:r>
          </a:p>
          <a:p>
            <a:pPr>
              <a:spcAft>
                <a:spcPts val="600"/>
              </a:spcAft>
            </a:pPr>
            <a:r>
              <a:rPr sz="1150" b="1">
                <a:solidFill>
                  <a:srgbClr val="0C2B4A"/>
                </a:solidFill>
              </a:rPr>
              <a:t>Patentability tests — </a:t>
            </a:r>
            <a:r>
              <a:rPr sz="1150">
                <a:solidFill>
                  <a:srgbClr val="1A1A1A"/>
                </a:solidFill>
              </a:rPr>
              <a:t>novelty, inventiveness (non-obviousness), industrial applicability.</a:t>
            </a:r>
          </a:p>
          <a:p>
            <a:pPr>
              <a:spcAft>
                <a:spcPts val="600"/>
              </a:spcAft>
            </a:pPr>
            <a:r>
              <a:rPr sz="1150" b="1">
                <a:solidFill>
                  <a:srgbClr val="0C2B4A"/>
                </a:solidFill>
              </a:rPr>
              <a:t>Software patent — </a:t>
            </a:r>
            <a:r>
              <a:rPr sz="1150">
                <a:solidFill>
                  <a:srgbClr val="1A1A1A"/>
                </a:solidFill>
              </a:rPr>
              <a:t>patent on a method/algorithm — restricted/contested.</a:t>
            </a:r>
          </a:p>
          <a:p>
            <a:pPr>
              <a:spcAft>
                <a:spcPts val="600"/>
              </a:spcAft>
            </a:pPr>
            <a:r>
              <a:rPr sz="1150" b="1">
                <a:solidFill>
                  <a:srgbClr val="0C2B4A"/>
                </a:solidFill>
              </a:rPr>
              <a:t>Patent troll — </a:t>
            </a:r>
            <a:r>
              <a:rPr sz="1150">
                <a:solidFill>
                  <a:srgbClr val="1A1A1A"/>
                </a:solidFill>
              </a:rPr>
              <a:t>acquires patents only to sue, not to build.</a:t>
            </a:r>
          </a:p>
          <a:p>
            <a:pPr>
              <a:spcAft>
                <a:spcPts val="600"/>
              </a:spcAft>
            </a:pPr>
            <a:r>
              <a:rPr sz="1150" b="1">
                <a:solidFill>
                  <a:srgbClr val="0C2B4A"/>
                </a:solidFill>
              </a:rPr>
              <a:t>Territorial — </a:t>
            </a:r>
            <a:r>
              <a:rPr sz="1150">
                <a:solidFill>
                  <a:srgbClr val="1A1A1A"/>
                </a:solidFill>
              </a:rPr>
              <a:t>a patent protects only in the country that granted it.</a:t>
            </a:r>
          </a:p>
          <a:p>
            <a:pPr>
              <a:spcAft>
                <a:spcPts val="600"/>
              </a:spcAft>
            </a:pPr>
            <a:r>
              <a:rPr sz="1150" b="1">
                <a:solidFill>
                  <a:srgbClr val="0C2B4A"/>
                </a:solidFill>
              </a:rPr>
              <a:t>Trade secret — </a:t>
            </a:r>
            <a:r>
              <a:rPr sz="1150">
                <a:solidFill>
                  <a:srgbClr val="1A1A1A"/>
                </a:solidFill>
              </a:rPr>
              <a:t>confidential info kept secret through reasonable effort.</a:t>
            </a:r>
          </a:p>
          <a:p>
            <a:pPr>
              <a:spcAft>
                <a:spcPts val="600"/>
              </a:spcAft>
            </a:pPr>
            <a:r>
              <a:rPr sz="1150" b="1">
                <a:solidFill>
                  <a:srgbClr val="0C2B4A"/>
                </a:solidFill>
              </a:rPr>
              <a:t>NDA — </a:t>
            </a:r>
            <a:r>
              <a:rPr sz="1150">
                <a:solidFill>
                  <a:srgbClr val="1A1A1A"/>
                </a:solidFill>
              </a:rPr>
              <a:t>non-disclosure agreement binding insiders to confidentiality.</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Misappropriation — </a:t>
            </a:r>
            <a:r>
              <a:rPr sz="1150">
                <a:solidFill>
                  <a:srgbClr val="1A1A1A"/>
                </a:solidFill>
              </a:rPr>
              <a:t>theft/breach of confidence of a trade secret (the actionable wrong).</a:t>
            </a:r>
          </a:p>
          <a:p>
            <a:pPr>
              <a:spcAft>
                <a:spcPts val="600"/>
              </a:spcAft>
            </a:pPr>
            <a:r>
              <a:rPr sz="1150" b="1">
                <a:solidFill>
                  <a:srgbClr val="0C2B4A"/>
                </a:solidFill>
              </a:rPr>
              <a:t>Plagiarism — </a:t>
            </a:r>
            <a:r>
              <a:rPr sz="1150">
                <a:solidFill>
                  <a:srgbClr val="1A1A1A"/>
                </a:solidFill>
              </a:rPr>
              <a:t>passing off others' work/ideas as your own — an ethical offence.</a:t>
            </a:r>
          </a:p>
          <a:p>
            <a:pPr>
              <a:spcAft>
                <a:spcPts val="600"/>
              </a:spcAft>
            </a:pPr>
            <a:r>
              <a:rPr sz="1150" b="1">
                <a:solidFill>
                  <a:srgbClr val="0C2B4A"/>
                </a:solidFill>
              </a:rPr>
              <a:t>Reverse engineering — </a:t>
            </a:r>
            <a:r>
              <a:rPr sz="1150">
                <a:solidFill>
                  <a:srgbClr val="1A1A1A"/>
                </a:solidFill>
              </a:rPr>
              <a:t>analysing a product to learn how it works.</a:t>
            </a:r>
          </a:p>
          <a:p>
            <a:pPr>
              <a:spcAft>
                <a:spcPts val="600"/>
              </a:spcAft>
            </a:pPr>
            <a:r>
              <a:rPr sz="1150" b="1">
                <a:solidFill>
                  <a:srgbClr val="0C2B4A"/>
                </a:solidFill>
              </a:rPr>
              <a:t>Clean-room — </a:t>
            </a:r>
            <a:r>
              <a:rPr sz="1150">
                <a:solidFill>
                  <a:srgbClr val="1A1A1A"/>
                </a:solidFill>
              </a:rPr>
              <a:t>re-implementing from behaviour, not from the protected code.</a:t>
            </a:r>
          </a:p>
          <a:p>
            <a:pPr>
              <a:spcAft>
                <a:spcPts val="600"/>
              </a:spcAft>
            </a:pPr>
            <a:r>
              <a:rPr sz="1150" b="1">
                <a:solidFill>
                  <a:srgbClr val="0C2B4A"/>
                </a:solidFill>
              </a:rPr>
              <a:t>Open source — </a:t>
            </a:r>
            <a:r>
              <a:rPr sz="1150">
                <a:solidFill>
                  <a:srgbClr val="1A1A1A"/>
                </a:solidFill>
              </a:rPr>
              <a:t>code released under a licence (copyright + a licence).</a:t>
            </a:r>
          </a:p>
          <a:p>
            <a:pPr>
              <a:spcAft>
                <a:spcPts val="600"/>
              </a:spcAft>
            </a:pPr>
            <a:r>
              <a:rPr sz="1150" b="1">
                <a:solidFill>
                  <a:srgbClr val="0C2B4A"/>
                </a:solidFill>
              </a:rPr>
              <a:t>Permissive vs copyleft — </a:t>
            </a:r>
            <a:r>
              <a:rPr sz="1150">
                <a:solidFill>
                  <a:srgbClr val="1A1A1A"/>
                </a:solidFill>
              </a:rPr>
              <a:t>MIT/Apache (use freely) vs GPL (derivatives stay open).</a:t>
            </a:r>
          </a:p>
          <a:p>
            <a:pPr>
              <a:spcAft>
                <a:spcPts val="600"/>
              </a:spcAft>
            </a:pPr>
            <a:r>
              <a:rPr sz="1150" b="1">
                <a:solidFill>
                  <a:srgbClr val="0C2B4A"/>
                </a:solidFill>
              </a:rPr>
              <a:t>Competitive intelligence — </a:t>
            </a:r>
            <a:r>
              <a:rPr sz="1150">
                <a:solidFill>
                  <a:srgbClr val="1A1A1A"/>
                </a:solidFill>
              </a:rPr>
              <a:t>legally gathering public info on competitors.</a:t>
            </a:r>
          </a:p>
          <a:p>
            <a:pPr>
              <a:spcAft>
                <a:spcPts val="600"/>
              </a:spcAft>
            </a:pPr>
            <a:r>
              <a:rPr sz="1150" b="1">
                <a:solidFill>
                  <a:srgbClr val="0C2B4A"/>
                </a:solidFill>
              </a:rPr>
              <a:t>Industrial espionage — </a:t>
            </a:r>
            <a:r>
              <a:rPr sz="1150">
                <a:solidFill>
                  <a:srgbClr val="1A1A1A"/>
                </a:solidFill>
              </a:rPr>
              <a:t>gathering info via theft, bribery, hacking, or lies.</a:t>
            </a:r>
          </a:p>
          <a:p>
            <a:pPr>
              <a:spcAft>
                <a:spcPts val="600"/>
              </a:spcAft>
            </a:pPr>
            <a:r>
              <a:rPr sz="1150" b="1">
                <a:solidFill>
                  <a:srgbClr val="0C2B4A"/>
                </a:solidFill>
              </a:rPr>
              <a:t>Trademark — </a:t>
            </a:r>
            <a:r>
              <a:rPr sz="1150">
                <a:solidFill>
                  <a:srgbClr val="1A1A1A"/>
                </a:solidFill>
              </a:rPr>
              <a:t>a sign/name/logo identifying a product's source.</a:t>
            </a:r>
          </a:p>
          <a:p>
            <a:pPr>
              <a:spcAft>
                <a:spcPts val="600"/>
              </a:spcAft>
            </a:pPr>
            <a:r>
              <a:rPr sz="1150" b="1">
                <a:solidFill>
                  <a:srgbClr val="0C2B4A"/>
                </a:solidFill>
              </a:rPr>
              <a:t>Trademark infringement — </a:t>
            </a:r>
            <a:r>
              <a:rPr sz="1150">
                <a:solidFill>
                  <a:srgbClr val="1A1A1A"/>
                </a:solidFill>
              </a:rPr>
              <a:t>unauthorized use of a confusingly similar mark.</a:t>
            </a:r>
          </a:p>
          <a:p>
            <a:pPr>
              <a:spcAft>
                <a:spcPts val="600"/>
              </a:spcAft>
            </a:pPr>
            <a:r>
              <a:rPr sz="1150" b="1">
                <a:solidFill>
                  <a:srgbClr val="0C2B4A"/>
                </a:solidFill>
              </a:rPr>
              <a:t>Cybersquatting — </a:t>
            </a:r>
            <a:r>
              <a:rPr sz="1150">
                <a:solidFill>
                  <a:srgbClr val="1A1A1A"/>
                </a:solidFill>
              </a:rPr>
              <a:t>bad-faith registration of a brand's domain to resell/divert.</a:t>
            </a:r>
          </a:p>
          <a:p>
            <a:pPr>
              <a:spcAft>
                <a:spcPts val="600"/>
              </a:spcAft>
            </a:pPr>
            <a:r>
              <a:rPr sz="1150" b="1">
                <a:solidFill>
                  <a:srgbClr val="0C2B4A"/>
                </a:solidFill>
              </a:rPr>
              <a:t>UDRP — </a:t>
            </a:r>
            <a:r>
              <a:rPr sz="1150">
                <a:solidFill>
                  <a:srgbClr val="1A1A1A"/>
                </a:solidFill>
              </a:rPr>
              <a:t>ICANN process for resolving .com domain disputes.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89</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3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Unit3_material.md.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86 / 89</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Copyright protects   →  ✅ the expression, not the underlying idea</a:t>
            </a:r>
          </a:p>
          <a:p>
            <a:pPr lvl="1"/>
            <a:r>
              <a:rPr sz="1250" b="1">
                <a:solidFill>
                  <a:srgbClr val="0F6E56"/>
                </a:solidFill>
              </a:rPr>
              <a:t>2.  In Nepal, copyright generally lasts   →  ✅ the author's life + 50 years</a:t>
            </a:r>
          </a:p>
          <a:p>
            <a:pPr lvl="1"/>
            <a:r>
              <a:rPr sz="1250" b="1">
                <a:solidFill>
                  <a:srgbClr val="0F6E56"/>
                </a:solidFill>
              </a:rPr>
              <a:t>3.  NOT a patentability test   →  ✅ being widely popular (vs novelty/non-obviousness/usefulness)</a:t>
            </a:r>
          </a:p>
          <a:p>
            <a:pPr lvl="1"/>
            <a:r>
              <a:rPr sz="1250" b="1">
                <a:solidFill>
                  <a:srgbClr val="0F6E56"/>
                </a:solidFill>
              </a:rPr>
              <a:t>4.  A typical patent term is about   →  ✅ 20 years</a:t>
            </a:r>
          </a:p>
          <a:p>
            <a:pPr lvl="1"/>
            <a:r>
              <a:rPr sz="1250" b="1">
                <a:solidFill>
                  <a:srgbClr val="0F6E56"/>
                </a:solidFill>
              </a:rPr>
              <a:t>5.  A trade secret stays protected   →  ✅ as long as it remains secret</a:t>
            </a:r>
          </a:p>
          <a:p>
            <a:pPr lvl="1"/>
            <a:r>
              <a:rPr sz="1250" b="1">
                <a:solidFill>
                  <a:srgbClr val="0F6E56"/>
                </a:solidFill>
              </a:rPr>
              <a:t>6.  The main tool to protect a secret with employees is   →  ✅ an NDA / confidentiality agreement</a:t>
            </a:r>
          </a:p>
          <a:p>
            <a:pPr lvl="1"/>
            <a:r>
              <a:rPr sz="1250" b="1">
                <a:solidFill>
                  <a:srgbClr val="0F6E56"/>
                </a:solidFill>
              </a:rPr>
              <a:t>7.  Plagiarism is primarily a violation of   →  ✅ academic / ethical integrity</a:t>
            </a:r>
          </a:p>
          <a:p>
            <a:pPr lvl="1"/>
            <a:r>
              <a:rPr sz="1250" b="1">
                <a:solidFill>
                  <a:srgbClr val="0F6E56"/>
                </a:solidFill>
              </a:rPr>
              <a:t>8.  Reverse engineering is generally legal for   →  ✅ interoperability / security research</a:t>
            </a:r>
          </a:p>
          <a:p>
            <a:pPr lvl="1"/>
            <a:r>
              <a:rPr sz="1250" b="1">
                <a:solidFill>
                  <a:srgbClr val="0F6E56"/>
                </a:solidFill>
              </a:rPr>
              <a:t>9.  GPL (copyleft) licences require   →  ✅ derivative works also be released as open source</a:t>
            </a:r>
          </a:p>
          <a:p>
            <a:pPr lvl="1"/>
            <a:r>
              <a:rPr sz="1250" b="1">
                <a:solidFill>
                  <a:srgbClr val="0F6E56"/>
                </a:solidFill>
              </a:rPr>
              <a:t>10.  Competitive info-gathering becomes espionage with   →  ✅ theft, bribery, hacking, or misrepresentation</a:t>
            </a:r>
          </a:p>
          <a:p>
            <a:pPr lvl="1"/>
            <a:r>
              <a:rPr sz="1250" b="1">
                <a:solidFill>
                  <a:srgbClr val="0F6E56"/>
                </a:solidFill>
              </a:rPr>
              <a:t>11.  A brand name/logo identifying a product's source is   →  ✅ a trademark</a:t>
            </a:r>
          </a:p>
          <a:p>
            <a:pPr lvl="1"/>
            <a:r>
              <a:rPr sz="1250" b="1">
                <a:solidFill>
                  <a:srgbClr val="0F6E56"/>
                </a:solidFill>
              </a:rPr>
              <a:t>12.  Registering a brand's domain in bad faith to resell it is   →  ✅ cybersquatting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89</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a trade secret + 2 protection methods.   14. Explain fair use with one Nepal example.   15. Difference between patent and trade secret.</a:t>
            </a:r>
          </a:p>
          <a:p>
            <a:pPr lvl="1">
              <a:spcBef>
                <a:spcPts val="200"/>
              </a:spcBef>
            </a:pPr>
            <a:r>
              <a:rPr sz="1250" i="1">
                <a:solidFill>
                  <a:srgbClr val="1A1A1A"/>
                </a:solidFill>
              </a:rPr>
              <a:t>16. What makes reverse engineering legal vs illegal?   17. What is cybersquatting and how is a .np dispute resolved?</a:t>
            </a:r>
          </a:p>
          <a:p>
            <a:pPr>
              <a:spcBef>
                <a:spcPts val="500"/>
              </a:spcBef>
            </a:pPr>
            <a:r>
              <a:rPr sz="1400" b="1">
                <a:solidFill>
                  <a:srgbClr val="0C2B4A"/>
                </a:solidFill>
              </a:rPr>
              <a:t>Section C — Applied case</a:t>
            </a:r>
          </a:p>
          <a:p>
            <a:pPr lvl="1">
              <a:spcBef>
                <a:spcPts val="200"/>
              </a:spcBef>
            </a:pPr>
            <a:r>
              <a:rPr sz="1250" i="1">
                <a:solidFill>
                  <a:srgbClr val="1A1A1A"/>
                </a:solidFill>
              </a:rPr>
              <a:t>18. A Kathmandu startup invents an algorithm — recommend copyright / patent / trade secret / open source and justify.</a:t>
            </a:r>
          </a:p>
          <a:p>
            <a:pPr lvl="1">
              <a:spcBef>
                <a:spcPts val="200"/>
              </a:spcBef>
            </a:pPr>
            <a:r>
              <a:rPr sz="1250" i="1">
                <a:solidFill>
                  <a:srgbClr val="1A1A1A"/>
                </a:solidFill>
              </a:rPr>
              <a:t>19. Classify each as plagiarism / copyright infringement / fair use / none: (a) quoting 2 cited lines of a poem (b) uploading a full movie (c) copy-pasting a senior's report (d) building a rival bill-split app with your own code.</a:t>
            </a:r>
          </a:p>
          <a:p>
            <a:pPr>
              <a:spcBef>
                <a:spcPts val="500"/>
              </a:spcBef>
            </a:pPr>
            <a:r>
              <a:rPr sz="1400" b="1">
                <a:solidFill>
                  <a:srgbClr val="0C2B4A"/>
                </a:solidFill>
              </a:rPr>
              <a:t>Section D — Discussion</a:t>
            </a:r>
          </a:p>
          <a:p>
            <a:pPr lvl="1">
              <a:spcBef>
                <a:spcPts val="200"/>
              </a:spcBef>
            </a:pPr>
            <a:r>
              <a:rPr sz="1250" i="1">
                <a:solidFill>
                  <a:srgbClr val="1A1A1A"/>
                </a:solidFill>
              </a:rPr>
              <a:t>20. Should Nepal allow software patents? Weigh innovation incentives against harm to local startups.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89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3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S11–S16 complete: IP overview &amp; copyright · patents &amp; the software-patent debate · trade secrets · plagiarism &amp; reverse engineering · open source &amp; competitive intelligence · trademarks &amp; cybersquatting</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 4 — Ethics in Software Development &amp; IT Organizations.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89 / 89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