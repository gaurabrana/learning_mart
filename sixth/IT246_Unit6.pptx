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most personal security is basic hygiene nobody does. Agenda: what a security posture is → updates → antivirus → backups (3-2-1) → firewall.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Land the mindset shift: security is a posture you audit, not a product you buy. Keep returning to the four layers — they are the spine of the whole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The pirated-Windows point lands hard in Nepal: a cracked OS that can't update safely is a permanently open door, often shipping malware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The 'PC cleaner pop-up IS the malware' case is the teachable moment: unsolicited pop-up + urgency + 'pay to fix 5 viruses' are the red flags.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Localise it: cheap drives fail often and load-shedding surges kill hardware; a stolen laptop in a tempo takes everything with it. The offsite copy is what survives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Bust the 'firewall = unhackable' myth: it blocks unwanted connections but does nothing against a phished password or a malicious download you invited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the four-layer posture and the 3-2-1 rule; both MCQ traps ('more AV = safer', 'pay to unlock') are the misconceptions students actually hold.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Two hooks: over-broad permissions and default-password IoT. Agenda: app permissions → securing the phone → mobile banking/wallet safety → IoT risks.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Anchor on the fake-loan/OTP-stealer apps: they demand SMS + contacts precisely to read OTPs and harass your contacts for repayment.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'Dashain offer — win an iPhone! install this APK' case is the hook: the APK is a banking trojan that reads OTP SMS. Cheap phones that stop updating after a year are the local reality.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Work the scam-call script from the diagram: fake authority → panic story → 'read me the OTP to reverse it' → money gone. The red flags are unsolicited + urgency + asks for OTP.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Localise: home/shop IP cameras in Kathmandu left on default logins and exposed online; WorldLink/Vianet routers kept on the sticker admin password. The baby-monitor/CCTV case makes it visceral.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The two MCQs target the two highest-impact habits: least-privilege permissions and never sharing an OTP. Reinforce the IoT default-password point in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digital defences fail if the physical layer is ignored. Agenda: theft &amp; loss → shoulder-surfing → secure disposal → screen locks &amp;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snatching in crowded micros, tempos, and Thamel/New Road cafés. Walk the attack chain — a stolen phone still logged into eSewa/Facebook/Gmail is account takeover, not just lost hardware.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Localise: shoulder-surfing PINs at ATMs and while entering an MPIN in a shared room or cyber café. Work the 'helpful stranger at the ATM' mini-case.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the second-hand phone/laptop market (Hattisar, online resale) where buyers recover the seller's photos and logins from a careless wipe.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Bust the pattern-lock myth (smudge-readable, common shapes). The notification-preview leak is the underrated one: OTPs visible on a locked screen defeat the lock.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Both MCQs attack the 'delete = erased' and 'reset = safe' misconceptions. Tie back to the theft chain: physical loss becomes a data breach without encryption + lock.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home is now the office, but without the office's security. Agenda: securing the home network → VPNs → separating work &amp; personal → video-call safety.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WorldLink/Vianet/Subisu routers left on the sticker password, and shared-Wi-Fi buildings where everyone sees everyone's traffic. The guest-network split is the pro move.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Localise: working from a café/co-working space in Kathmandu on open Wi-Fi — and the concrete difference a VPN makes there. Bust the 'VPN = anonymous &amp; 100% safe' myth.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Work the mini-case: emailing a work file to personal Gmail 'to finish tonight' creates data leakage, no company control, and breach exposure. Bust the 'at home I can relax security' idea.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Localise: Zoom-bombing of online classes and Dashain/Tihar virtual meetings in Nepal during lockdown when links were shared openly. The background-leak point is underrated.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MCQ1 rewards the VPN-on-untrusted-Wi-Fi habit; MCQ2 the work/personal separation rule. Draw the router-as-gate and guest-network points out in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Land that accounts are the real target and passwords the lock. Agenda: strong passwords → password managers → MFA/2FA → breach awareness &amp; response.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the weak-password list: phone number, 'nepal123', favourite team/idol, DOB — and the reuse habit across every account. Use the strength ladder diagram.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Work the mini-case: with 60 accounts, no human uses 60 unique strong passwords unaided — that's WHY people reuse. Bust the 'manager = single point of failure' fear.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Localise: turning on 2FA for eSewa/Khalti, bank apps, Gmail, and Facebook, and WHY email 2FA matters most (email resets everything else). Bust 'MFA is too much hassle'.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leaked Nepali service/forum databases circulating, then targeted scam calls/SMS quoting your real details. Use the credential-stuffing domino diagram.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MCQ1 lands the email-is-the-master-key point; MCQ2 the credential-stuffing danger of reuse. Close the unit by tying passwords → manager → MFA → breach response together.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Unit6_material.md.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6 — Personal Cybersecurity</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S28–S32</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weak-vs-strong practices, scam types, do/don't.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92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PERSONAL CYBERSECURITY  ·  S28–S32</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6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Audit your home computer's security posture — updates, antivirus, backups, firewall — and fix the weak spots (S28)</a:t>
            </a:r>
          </a:p>
          <a:p>
            <a:pPr>
              <a:spcAft>
                <a:spcPts val="500"/>
              </a:spcAft>
            </a:pPr>
            <a:r>
              <a:rPr sz="1450">
                <a:solidFill>
                  <a:srgbClr val="1A1A1A"/>
                </a:solidFill>
              </a:rPr>
              <a:t>•  Harden your mobile phone and home IoT devices against permissions abuse, default passwords and insecure networks (S29)</a:t>
            </a:r>
          </a:p>
          <a:p>
            <a:pPr>
              <a:spcAft>
                <a:spcPts val="500"/>
              </a:spcAft>
            </a:pPr>
            <a:r>
              <a:rPr sz="1450">
                <a:solidFill>
                  <a:srgbClr val="1A1A1A"/>
                </a:solidFill>
              </a:rPr>
              <a:t>•  Apply physical-security habits against theft, shoulder-surfing and careless device disposal (S30)</a:t>
            </a:r>
          </a:p>
          <a:p>
            <a:pPr>
              <a:spcAft>
                <a:spcPts val="500"/>
              </a:spcAft>
            </a:pPr>
            <a:r>
              <a:rPr sz="1450">
                <a:solidFill>
                  <a:srgbClr val="1A1A1A"/>
                </a:solidFill>
              </a:rPr>
              <a:t>•  Configure a safer work-from-home setup: secured router, VPN, work/personal separation, safe video calls (S31)</a:t>
            </a:r>
          </a:p>
          <a:p>
            <a:pPr>
              <a:spcAft>
                <a:spcPts val="500"/>
              </a:spcAft>
            </a:pPr>
            <a:r>
              <a:rPr sz="1450">
                <a:solidFill>
                  <a:srgbClr val="1A1A1A"/>
                </a:solidFill>
              </a:rPr>
              <a:t>•  Secure your online accounts with strong unique passwords, a password manager and MFA, and respond to a breach (S32)</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6 of IT 246. It turns Units 1–4's ethics and Unit 5's cybersecurity fundamentals into YOUR own daily defence — the device in your hand, the router in your room, and the accounts that hold your money and identity.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92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(S28–S32)</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S28  Your home computer: posture, patching, AV, backups, firewall
S29  Mobile devices &amp; Internet of Things (IoT)
S30  Physical security: theft, shoulder-surfing, disposal
S31  Cybersecurity when working from home
S32  Securing your accounts &amp; passwords — closes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7   Social engineering &amp; cyber terrorism
Units 8–9   Digital forensics · Cyber law in Nepal (ETA)</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92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28 · LECTURE HOUR 1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Evaluating Your Cybersecurity Posture: Home Computer</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Your laptop has 47 pending updates, no backup, and an antivirus that expired in 2022 — but it 'feels fine.' If it got locked by ransomware tonight, what would you lose, and could you get it back?</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92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Security Posture — auditing yourself</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Your security posture is the overall state of how well your device and habits resist AND recover from threats. Audit it in layers: patch → protect → back up → contain. Risk = likelihood × impact — and a single laptop holds your photos, college files, and banking sessions.</a:t>
            </a:r>
          </a:p>
          <a:p>
            <a:pPr>
              <a:spcAft>
                <a:spcPts val="500"/>
              </a:spcAft>
            </a:pPr>
            <a:r>
              <a:rPr sz="1200" b="1">
                <a:solidFill>
                  <a:srgbClr val="185FA5"/>
                </a:solidFill>
              </a:rPr>
              <a:t>HOW IT WORKS</a:t>
            </a:r>
          </a:p>
          <a:p>
            <a:pPr>
              <a:spcAft>
                <a:spcPts val="600"/>
              </a:spcAft>
            </a:pPr>
            <a:r>
              <a:rPr sz="1400">
                <a:solidFill>
                  <a:srgbClr val="1A1A1A"/>
                </a:solidFill>
              </a:rPr>
              <a:t>•  Think in four layers, not one magic tool: patch, protect, back up, contain.</a:t>
            </a:r>
          </a:p>
          <a:p>
            <a:pPr>
              <a:spcAft>
                <a:spcPts val="600"/>
              </a:spcAft>
            </a:pPr>
            <a:r>
              <a:rPr sz="1400">
                <a:solidFill>
                  <a:srgbClr val="1A1A1A"/>
                </a:solidFill>
              </a:rPr>
              <a:t>•  Risk = likelihood × impact: low-effort attacks are very likely; the impact on one laptop is your whole digital life.</a:t>
            </a:r>
          </a:p>
          <a:p>
            <a:pPr>
              <a:spcAft>
                <a:spcPts val="600"/>
              </a:spcAft>
            </a:pPr>
            <a:r>
              <a:rPr sz="1400">
                <a:solidFill>
                  <a:srgbClr val="1A1A1A"/>
                </a:solidFill>
              </a:rPr>
              <a:t>•  Most attacks are automated and untargeted — they scan the internet and hit whoever is unpatched.</a:t>
            </a:r>
          </a:p>
          <a:p>
            <a:pPr>
              <a:spcAft>
                <a:spcPts val="600"/>
              </a:spcAft>
            </a:pPr>
            <a:r>
              <a:rPr sz="1400">
                <a:solidFill>
                  <a:srgbClr val="1A1A1A"/>
                </a:solidFill>
              </a:rPr>
              <a:t>•  A good posture assumes something WILL fail, and makes sure you can recover when it does.</a:t>
            </a:r>
          </a:p>
        </p:txBody>
      </p:sp>
      <p:pic>
        <p:nvPicPr>
          <p:cNvPr id="6" name="Picture 5" descr="s28_posture.png"/>
          <p:cNvPicPr>
            <a:picLocks noChangeAspect="1"/>
          </p:cNvPicPr>
          <p:nvPr/>
        </p:nvPicPr>
        <p:blipFill>
          <a:blip r:embed="rId2"/>
          <a:stretch>
            <a:fillRect/>
          </a:stretch>
        </p:blipFill>
        <p:spPr>
          <a:xfrm>
            <a:off x="6355080" y="2566492"/>
            <a:ext cx="5532120" cy="2502256"/>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Posture = patch + protect + back up + contain — layers, not one wall.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92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posture layers — what each one does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981199"/>
                <a:gridCol w="4572000"/>
                <a:gridCol w="4876800"/>
              </a:tblGrid>
              <a:tr h="883310">
                <a:tc>
                  <a:txBody>
                    <a:bodyPr wrap="square"/>
                    <a:lstStyle/>
                    <a:p>
                      <a:r>
                        <a:rPr sz="1150" b="1">
                          <a:solidFill>
                            <a:srgbClr val="FFFFFF"/>
                          </a:solidFill>
                        </a:rPr>
                        <a:t>Layer</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If you skip it (Nepal / IT)</a:t>
                      </a:r>
                    </a:p>
                  </a:txBody>
                  <a:tcPr anchor="ctr" marL="73152" marR="54864" marT="27432" marB="27432">
                    <a:solidFill>
                      <a:srgbClr val="0C2B4A"/>
                    </a:solidFill>
                  </a:tcPr>
                </a:tc>
              </a:tr>
              <a:tr h="883310">
                <a:tc>
                  <a:txBody>
                    <a:bodyPr wrap="square"/>
                    <a:lstStyle/>
                    <a:p>
                      <a:r>
                        <a:rPr sz="1100" b="1">
                          <a:solidFill>
                            <a:srgbClr val="0C2B4A"/>
                          </a:solidFill>
                        </a:rPr>
                        <a:t>Patch</a:t>
                      </a:r>
                    </a:p>
                  </a:txBody>
                  <a:tcPr anchor="ctr" marL="73152" marR="54864" marT="27432" marB="27432">
                    <a:solidFill>
                      <a:srgbClr val="FFFFFF"/>
                    </a:solidFill>
                  </a:tcPr>
                </a:tc>
                <a:tc>
                  <a:txBody>
                    <a:bodyPr wrap="square"/>
                    <a:lstStyle/>
                    <a:p>
                      <a:r>
                        <a:rPr sz="1100">
                          <a:solidFill>
                            <a:srgbClr val="1A1A1A"/>
                          </a:solidFill>
                        </a:rPr>
                        <a:t>Closes known holes attackers already exploit</a:t>
                      </a:r>
                    </a:p>
                  </a:txBody>
                  <a:tcPr anchor="ctr" marL="73152" marR="54864" marT="27432" marB="27432">
                    <a:solidFill>
                      <a:srgbClr val="FFFFFF"/>
                    </a:solidFill>
                  </a:tcPr>
                </a:tc>
                <a:tc>
                  <a:txBody>
                    <a:bodyPr wrap="square"/>
                    <a:lstStyle/>
                    <a:p>
                      <a:r>
                        <a:rPr sz="1100">
                          <a:solidFill>
                            <a:srgbClr val="1A1A1A"/>
                          </a:solidFill>
                        </a:rPr>
                        <a:t>An unpatched laptop caught by an automated worm (WannaCry-style)</a:t>
                      </a:r>
                    </a:p>
                  </a:txBody>
                  <a:tcPr anchor="ctr" marL="73152" marR="54864" marT="27432" marB="27432">
                    <a:solidFill>
                      <a:srgbClr val="FFFFFF"/>
                    </a:solidFill>
                  </a:tcPr>
                </a:tc>
              </a:tr>
              <a:tr h="883310">
                <a:tc>
                  <a:txBody>
                    <a:bodyPr wrap="square"/>
                    <a:lstStyle/>
                    <a:p>
                      <a:r>
                        <a:rPr sz="1100" b="1">
                          <a:solidFill>
                            <a:srgbClr val="0C2B4A"/>
                          </a:solidFill>
                        </a:rPr>
                        <a:t>Protect</a:t>
                      </a:r>
                    </a:p>
                  </a:txBody>
                  <a:tcPr anchor="ctr" marL="73152" marR="54864" marT="27432" marB="27432">
                    <a:solidFill>
                      <a:srgbClr val="EEF3F8"/>
                    </a:solidFill>
                  </a:tcPr>
                </a:tc>
                <a:tc>
                  <a:txBody>
                    <a:bodyPr wrap="square"/>
                    <a:lstStyle/>
                    <a:p>
                      <a:r>
                        <a:rPr sz="1100">
                          <a:solidFill>
                            <a:srgbClr val="1A1A1A"/>
                          </a:solidFill>
                        </a:rPr>
                        <a:t>Antivirus + firewall block malware &amp; bad traffic</a:t>
                      </a:r>
                    </a:p>
                  </a:txBody>
                  <a:tcPr anchor="ctr" marL="73152" marR="54864" marT="27432" marB="27432">
                    <a:solidFill>
                      <a:srgbClr val="EEF3F8"/>
                    </a:solidFill>
                  </a:tcPr>
                </a:tc>
                <a:tc>
                  <a:txBody>
                    <a:bodyPr wrap="square"/>
                    <a:lstStyle/>
                    <a:p>
                      <a:r>
                        <a:rPr sz="1100">
                          <a:solidFill>
                            <a:srgbClr val="1A1A1A"/>
                          </a:solidFill>
                        </a:rPr>
                        <a:t>A 'PC cleaner' pop-up installs the very malware it claims to remove</a:t>
                      </a:r>
                    </a:p>
                  </a:txBody>
                  <a:tcPr anchor="ctr" marL="73152" marR="54864" marT="27432" marB="27432">
                    <a:solidFill>
                      <a:srgbClr val="EEF3F8"/>
                    </a:solidFill>
                  </a:tcPr>
                </a:tc>
              </a:tr>
              <a:tr h="883310">
                <a:tc>
                  <a:txBody>
                    <a:bodyPr wrap="square"/>
                    <a:lstStyle/>
                    <a:p>
                      <a:r>
                        <a:rPr sz="1100" b="1">
                          <a:solidFill>
                            <a:srgbClr val="0C2B4A"/>
                          </a:solidFill>
                        </a:rPr>
                        <a:t>Back up</a:t>
                      </a:r>
                    </a:p>
                  </a:txBody>
                  <a:tcPr anchor="ctr" marL="73152" marR="54864" marT="27432" marB="27432">
                    <a:solidFill>
                      <a:srgbClr val="FFFFFF"/>
                    </a:solidFill>
                  </a:tcPr>
                </a:tc>
                <a:tc>
                  <a:txBody>
                    <a:bodyPr wrap="square"/>
                    <a:lstStyle/>
                    <a:p>
                      <a:r>
                        <a:rPr sz="1100">
                          <a:solidFill>
                            <a:srgbClr val="1A1A1A"/>
                          </a:solidFill>
                        </a:rPr>
                        <a:t>Recoverable copies survive ransomware/theft</a:t>
                      </a:r>
                    </a:p>
                  </a:txBody>
                  <a:tcPr anchor="ctr" marL="73152" marR="54864" marT="27432" marB="27432">
                    <a:solidFill>
                      <a:srgbClr val="FFFFFF"/>
                    </a:solidFill>
                  </a:tcPr>
                </a:tc>
                <a:tc>
                  <a:txBody>
                    <a:bodyPr wrap="square"/>
                    <a:lstStyle/>
                    <a:p>
                      <a:r>
                        <a:rPr sz="1100">
                          <a:solidFill>
                            <a:srgbClr val="1A1A1A"/>
                          </a:solidFill>
                        </a:rPr>
                        <a:t>Thesis files gone when a stolen laptop had the only copy</a:t>
                      </a:r>
                    </a:p>
                  </a:txBody>
                  <a:tcPr anchor="ctr" marL="73152" marR="54864" marT="27432" marB="27432">
                    <a:solidFill>
                      <a:srgbClr val="FFFFFF"/>
                    </a:solidFill>
                  </a:tcPr>
                </a:tc>
              </a:tr>
              <a:tr h="883312">
                <a:tc>
                  <a:txBody>
                    <a:bodyPr wrap="square"/>
                    <a:lstStyle/>
                    <a:p>
                      <a:r>
                        <a:rPr sz="1100" b="1">
                          <a:solidFill>
                            <a:srgbClr val="0C2B4A"/>
                          </a:solidFill>
                        </a:rPr>
                        <a:t>Contain</a:t>
                      </a:r>
                    </a:p>
                  </a:txBody>
                  <a:tcPr anchor="ctr" marL="73152" marR="54864" marT="27432" marB="27432">
                    <a:solidFill>
                      <a:srgbClr val="EEF3F8"/>
                    </a:solidFill>
                  </a:tcPr>
                </a:tc>
                <a:tc>
                  <a:txBody>
                    <a:bodyPr wrap="square"/>
                    <a:lstStyle/>
                    <a:p>
                      <a:r>
                        <a:rPr sz="1100">
                          <a:solidFill>
                            <a:srgbClr val="1A1A1A"/>
                          </a:solidFill>
                        </a:rPr>
                        <a:t>Limits damage when one layer fails</a:t>
                      </a:r>
                    </a:p>
                  </a:txBody>
                  <a:tcPr anchor="ctr" marL="73152" marR="54864" marT="27432" marB="27432">
                    <a:solidFill>
                      <a:srgbClr val="EEF3F8"/>
                    </a:solidFill>
                  </a:tcPr>
                </a:tc>
                <a:tc>
                  <a:txBody>
                    <a:bodyPr wrap="square"/>
                    <a:lstStyle/>
                    <a:p>
                      <a:r>
                        <a:rPr sz="1100">
                          <a:solidFill>
                            <a:srgbClr val="1A1A1A"/>
                          </a:solidFill>
                        </a:rPr>
                        <a:t>One phished password unlocks everything because nothing was segmented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 single layer is enough. Posture is the WHOLE stack — and the cheapest win is usually the layer you've been ignoring.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92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Security Posture — auditing yourself</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Pulchowk/BIM student's laptop was hit by ransomware days before thesis submission — no backup, files gone. Globally, WannaCry (2017) spread mostly to unpatched Windows machines. Neither victim was 'targeted': automated attacks simply found an unpatched, un-backed-up machine and took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"Hackers only target big companies, not me." Most attacks are automated and untargeted — they hit whoever is unpatched and un-backed-up, student or bank alike. You don't have to be interesting to be a victim; you only have to be reachable and unprotected.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security posture is the overall state of how well your device and habits resist and recover from threats, audited in four layers: patch (close known holes), protect (antivirus + firewall), back up (recoverable copies), and contain (limit damage when a layer fails). Risk = likelihood × impact, and because most attacks are automated and untargeted, everyone needs a posture — not just big organisations.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security posture · patch/protect/back up/contain · risk = likelihood × impact · automated &amp; untargeted attacks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92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Updates &amp; Patching</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patch fixes a known security hole that attackers already know about. Turn on automatic updates for the OS, browser, and apps. 'End-of-life' software (e.g. Windows 7) never gets fixed again — every hole found after that stays open forever.</a:t>
            </a:r>
          </a:p>
          <a:p>
            <a:pPr>
              <a:spcAft>
                <a:spcPts val="500"/>
              </a:spcAft>
            </a:pPr>
            <a:r>
              <a:rPr sz="1200" b="1">
                <a:solidFill>
                  <a:srgbClr val="185FA5"/>
                </a:solidFill>
              </a:rPr>
              <a:t>HOW IT WORKS</a:t>
            </a:r>
          </a:p>
          <a:p>
            <a:pPr>
              <a:spcAft>
                <a:spcPts val="600"/>
              </a:spcAft>
            </a:pPr>
            <a:r>
              <a:rPr sz="1400">
                <a:solidFill>
                  <a:srgbClr val="1A1A1A"/>
                </a:solidFill>
              </a:rPr>
              <a:t>•  Once a patch is public, the hole it fixes is public too — unpatched machines become easy, known targets.</a:t>
            </a:r>
          </a:p>
          <a:p>
            <a:pPr>
              <a:spcAft>
                <a:spcPts val="600"/>
              </a:spcAft>
            </a:pPr>
            <a:r>
              <a:rPr sz="1400">
                <a:solidFill>
                  <a:srgbClr val="1A1A1A"/>
                </a:solidFill>
              </a:rPr>
              <a:t>•  Automatic updates for OS + browser + apps close holes without you having to remember.</a:t>
            </a:r>
          </a:p>
          <a:p>
            <a:pPr>
              <a:spcAft>
                <a:spcPts val="600"/>
              </a:spcAft>
            </a:pPr>
            <a:r>
              <a:rPr sz="1400">
                <a:solidFill>
                  <a:srgbClr val="1A1A1A"/>
                </a:solidFill>
              </a:rPr>
              <a:t>•  End-of-life software (no more updates) only gets more dangerous over time.</a:t>
            </a:r>
          </a:p>
          <a:p>
            <a:pPr>
              <a:spcAft>
                <a:spcPts val="600"/>
              </a:spcAft>
            </a:pPr>
            <a:r>
              <a:rPr sz="1400">
                <a:solidFill>
                  <a:srgbClr val="1A1A1A"/>
                </a:solidFill>
              </a:rPr>
              <a:t>•  Most updates are security fixes, not new features — 'later' means 'exposed until later'.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patch closes a door attackers already have the key to — apply it before they walk in.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92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Patch or not? — real Nepali habits and their verdict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697260"/>
                <a:gridCol w="2035479"/>
                <a:gridCol w="4697260"/>
              </a:tblGrid>
              <a:tr h="630936">
                <a:tc>
                  <a:txBody>
                    <a:bodyPr wrap="square"/>
                    <a:lstStyle/>
                    <a:p>
                      <a:r>
                        <a:rPr sz="1150" b="1">
                          <a:solidFill>
                            <a:srgbClr val="FFFFFF"/>
                          </a:solidFill>
                        </a:rPr>
                        <a:t>Habit / situation</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 (consequence)</a:t>
                      </a:r>
                    </a:p>
                  </a:txBody>
                  <a:tcPr anchor="ctr" marL="73152" marR="54864" marT="27432" marB="27432">
                    <a:solidFill>
                      <a:srgbClr val="0C2B4A"/>
                    </a:solidFill>
                  </a:tcPr>
                </a:tc>
              </a:tr>
              <a:tr h="630936">
                <a:tc>
                  <a:txBody>
                    <a:bodyPr wrap="square"/>
                    <a:lstStyle/>
                    <a:p>
                      <a:r>
                        <a:rPr sz="1100" b="1">
                          <a:solidFill>
                            <a:srgbClr val="0C2B4A"/>
                          </a:solidFill>
                        </a:rPr>
                        <a:t>Auto-updates ON for Windows + Chrome</a:t>
                      </a:r>
                    </a:p>
                  </a:txBody>
                  <a:tcPr anchor="ctr" marL="73152" marR="54864" marT="27432" marB="27432">
                    <a:solidFill>
                      <a:srgbClr val="FFFFFF"/>
                    </a:solidFill>
                  </a:tcPr>
                </a:tc>
                <a:tc>
                  <a:txBody>
                    <a:bodyPr wrap="square"/>
                    <a:lstStyle/>
                    <a:p>
                      <a:r>
                        <a:rPr sz="1100">
                          <a:solidFill>
                            <a:srgbClr val="1A1A1A"/>
                          </a:solidFill>
                        </a:rPr>
                        <a:t>Safe</a:t>
                      </a:r>
                    </a:p>
                  </a:txBody>
                  <a:tcPr anchor="ctr" marL="73152" marR="54864" marT="27432" marB="27432">
                    <a:solidFill>
                      <a:srgbClr val="FFFFFF"/>
                    </a:solidFill>
                  </a:tcPr>
                </a:tc>
                <a:tc>
                  <a:txBody>
                    <a:bodyPr wrap="square"/>
                    <a:lstStyle/>
                    <a:p>
                      <a:r>
                        <a:rPr sz="1100">
                          <a:solidFill>
                            <a:srgbClr val="1A1A1A"/>
                          </a:solidFill>
                        </a:rPr>
                        <a:t>Holes close automatically before attackers arrive</a:t>
                      </a:r>
                    </a:p>
                  </a:txBody>
                  <a:tcPr anchor="ctr" marL="73152" marR="54864" marT="27432" marB="27432">
                    <a:solidFill>
                      <a:srgbClr val="FFFFFF"/>
                    </a:solidFill>
                  </a:tcPr>
                </a:tc>
              </a:tr>
              <a:tr h="630936">
                <a:tc>
                  <a:txBody>
                    <a:bodyPr wrap="square"/>
                    <a:lstStyle/>
                    <a:p>
                      <a:r>
                        <a:rPr sz="1100" b="1">
                          <a:solidFill>
                            <a:srgbClr val="0C2B4A"/>
                          </a:solidFill>
                        </a:rPr>
                        <a:t>'Remind me later' clicked for weeks</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Every known hole stays open the whole time</a:t>
                      </a:r>
                    </a:p>
                  </a:txBody>
                  <a:tcPr anchor="ctr" marL="73152" marR="54864" marT="27432" marB="27432">
                    <a:solidFill>
                      <a:srgbClr val="EEF3F8"/>
                    </a:solidFill>
                  </a:tcPr>
                </a:tc>
              </a:tr>
              <a:tr h="630936">
                <a:tc>
                  <a:txBody>
                    <a:bodyPr wrap="square"/>
                    <a:lstStyle/>
                    <a:p>
                      <a:r>
                        <a:rPr sz="1100" b="1">
                          <a:solidFill>
                            <a:srgbClr val="0C2B4A"/>
                          </a:solidFill>
                        </a:rPr>
                        <a:t>Pirated/cracked Windows that can't update</a:t>
                      </a:r>
                    </a:p>
                  </a:txBody>
                  <a:tcPr anchor="ctr" marL="73152" marR="54864" marT="27432" marB="27432">
                    <a:solidFill>
                      <a:srgbClr val="FFFFFF"/>
                    </a:solidFill>
                  </a:tcPr>
                </a:tc>
                <a:tc>
                  <a:txBody>
                    <a:bodyPr wrap="square"/>
                    <a:lstStyle/>
                    <a:p>
                      <a:r>
                        <a:rPr sz="1100">
                          <a:solidFill>
                            <a:srgbClr val="1A1A1A"/>
                          </a:solidFill>
                        </a:rPr>
                        <a:t>Dangerous</a:t>
                      </a:r>
                    </a:p>
                  </a:txBody>
                  <a:tcPr anchor="ctr" marL="73152" marR="54864" marT="27432" marB="27432">
                    <a:solidFill>
                      <a:srgbClr val="FFFFFF"/>
                    </a:solidFill>
                  </a:tcPr>
                </a:tc>
                <a:tc>
                  <a:txBody>
                    <a:bodyPr wrap="square"/>
                    <a:lstStyle/>
                    <a:p>
                      <a:r>
                        <a:rPr sz="1100">
                          <a:solidFill>
                            <a:srgbClr val="1A1A1A"/>
                          </a:solidFill>
                        </a:rPr>
                        <a:t>No safe patches + often ships bundled malware</a:t>
                      </a:r>
                    </a:p>
                  </a:txBody>
                  <a:tcPr anchor="ctr" marL="73152" marR="54864" marT="27432" marB="27432">
                    <a:solidFill>
                      <a:srgbClr val="FFFFFF"/>
                    </a:solidFill>
                  </a:tcPr>
                </a:tc>
              </a:tr>
              <a:tr h="630936">
                <a:tc>
                  <a:txBody>
                    <a:bodyPr wrap="square"/>
                    <a:lstStyle/>
                    <a:p>
                      <a:r>
                        <a:rPr sz="1100" b="1">
                          <a:solidFill>
                            <a:srgbClr val="0C2B4A"/>
                          </a:solidFill>
                        </a:rPr>
                        <a:t>Still running Windows 7 / an old Android</a:t>
                      </a:r>
                    </a:p>
                  </a:txBody>
                  <a:tcPr anchor="ctr" marL="73152" marR="54864" marT="27432" marB="27432">
                    <a:solidFill>
                      <a:srgbClr val="EEF3F8"/>
                    </a:solidFill>
                  </a:tcPr>
                </a:tc>
                <a:tc>
                  <a:txBody>
                    <a:bodyPr wrap="square"/>
                    <a:lstStyle/>
                    <a:p>
                      <a:r>
                        <a:rPr sz="1100">
                          <a:solidFill>
                            <a:srgbClr val="1A1A1A"/>
                          </a:solidFill>
                        </a:rPr>
                        <a:t>Dangerous</a:t>
                      </a:r>
                    </a:p>
                  </a:txBody>
                  <a:tcPr anchor="ctr" marL="73152" marR="54864" marT="27432" marB="27432">
                    <a:solidFill>
                      <a:srgbClr val="EEF3F8"/>
                    </a:solidFill>
                  </a:tcPr>
                </a:tc>
                <a:tc>
                  <a:txBody>
                    <a:bodyPr wrap="square"/>
                    <a:lstStyle/>
                    <a:p>
                      <a:r>
                        <a:rPr sz="1100">
                          <a:solidFill>
                            <a:srgbClr val="1A1A1A"/>
                          </a:solidFill>
                        </a:rPr>
                        <a:t>End-of-life: new holes are never fixed again</a:t>
                      </a:r>
                    </a:p>
                  </a:txBody>
                  <a:tcPr anchor="ctr" marL="73152" marR="54864" marT="27432" marB="27432">
                    <a:solidFill>
                      <a:srgbClr val="EEF3F8"/>
                    </a:solidFill>
                  </a:tcPr>
                </a:tc>
              </a:tr>
              <a:tr h="630936">
                <a:tc>
                  <a:txBody>
                    <a:bodyPr wrap="square"/>
                    <a:lstStyle/>
                    <a:p>
                      <a:r>
                        <a:rPr sz="1100" b="1">
                          <a:solidFill>
                            <a:srgbClr val="0C2B4A"/>
                          </a:solidFill>
                        </a:rPr>
                        <a:t>Ignoring app updates ('just new features')</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Most updates are security fixes, not cosmetics</a:t>
                      </a:r>
                    </a:p>
                  </a:txBody>
                  <a:tcPr anchor="ctr" marL="73152" marR="54864" marT="27432" marB="27432">
                    <a:solidFill>
                      <a:srgbClr val="FFFFFF"/>
                    </a:solidFill>
                  </a:tcPr>
                </a:tc>
              </a:tr>
              <a:tr h="630936">
                <a:tc>
                  <a:txBody>
                    <a:bodyPr wrap="square"/>
                    <a:lstStyle/>
                    <a:p>
                      <a:r>
                        <a:rPr sz="1100" b="1">
                          <a:solidFill>
                            <a:srgbClr val="0C2B4A"/>
                          </a:solidFill>
                        </a:rPr>
                        <a:t>Updating the OS but never the router firmware</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The router is a computer too — it has holes as well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Pirated/cracked software is common in Nepal and is the worst case: it usually cannot patch safely AND arrives with malware pre-installed.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92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Updates &amp; Patching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Pirated/cracked Windows is common in Nepal and often can't update safely — and frequently ships with bundled malware from the crack itself. A genuine, auto-updating OS closes holes the moment a fix ships; the cracked copy leaves them open forever and may already be compromised before you type a password.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"Updates are just annoying new features I can skip." Most updates are security fixes for holes attackers already know about — 'skip' means 'stay exposed'. And end-of-life software (Windows 7) is not merely old; it is permanently unpatchable, so it only gets more dangerous.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Patching applies vendor fixes for known security holes, which become public — and therefore easy to exploit — as soon as the patch ships. The defence is automatic updates for OS, browser, and apps, and retiring end-of-life software that no longer receives fixes. In Nepal, pirated/cracked software is the sharpest trap: it usually cannot patch safely and often ships with malware pre-installed.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patch · known vulnerability · automatic updates · end-of-life software · pirated software risk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92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Antivirus / Anti-Malware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Antivirus (anti-malware) is software that detects and blocks malicious files and behaviour. Windows Defender is built in, free, and fine for most users. It works by real-time scanning (as files arrive) plus on-demand scans, using both known signatures and suspicious-behaviour detection.</a:t>
            </a:r>
          </a:p>
          <a:p>
            <a:pPr>
              <a:spcAft>
                <a:spcPts val="500"/>
              </a:spcAft>
            </a:pPr>
            <a:r>
              <a:rPr sz="1200" b="1">
                <a:solidFill>
                  <a:srgbClr val="185FA5"/>
                </a:solidFill>
              </a:rPr>
              <a:t>HOW IT WORKS</a:t>
            </a:r>
          </a:p>
          <a:p>
            <a:pPr>
              <a:spcAft>
                <a:spcPts val="600"/>
              </a:spcAft>
            </a:pPr>
            <a:r>
              <a:rPr sz="1400">
                <a:solidFill>
                  <a:srgbClr val="1A1A1A"/>
                </a:solidFill>
              </a:rPr>
              <a:t>•  Real-time scanning catches threats as they arrive; on-demand scans sweep what's already there.</a:t>
            </a:r>
          </a:p>
          <a:p>
            <a:pPr>
              <a:spcAft>
                <a:spcPts val="600"/>
              </a:spcAft>
            </a:pPr>
            <a:r>
              <a:rPr sz="1400">
                <a:solidFill>
                  <a:srgbClr val="1A1A1A"/>
                </a:solidFill>
              </a:rPr>
              <a:t>•  Signature detection catches known malware; behaviour detection flags new, unseen threats acting badly.</a:t>
            </a:r>
          </a:p>
          <a:p>
            <a:pPr>
              <a:spcAft>
                <a:spcPts val="600"/>
              </a:spcAft>
            </a:pPr>
            <a:r>
              <a:rPr sz="1400">
                <a:solidFill>
                  <a:srgbClr val="1A1A1A"/>
                </a:solidFill>
              </a:rPr>
              <a:t>•  One good, updated AV is enough — Windows Defender covers most home users for free.</a:t>
            </a:r>
          </a:p>
          <a:p>
            <a:pPr>
              <a:spcAft>
                <a:spcPts val="600"/>
              </a:spcAft>
            </a:pPr>
            <a:r>
              <a:rPr sz="1400">
                <a:solidFill>
                  <a:srgbClr val="1A1A1A"/>
                </a:solidFill>
              </a:rPr>
              <a:t>•  Running two real-time antivirus programs at once causes conflicts and slowdowns, not extra safety.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 good, updated antivirus beats three fighting each other — and Defender is free.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92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antivirus / malware situations — spot the trap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633783"/>
                <a:gridCol w="2162432"/>
                <a:gridCol w="4633783"/>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 (the tell)</a:t>
                      </a:r>
                    </a:p>
                  </a:txBody>
                  <a:tcPr anchor="ctr" marL="73152" marR="54864" marT="27432" marB="27432">
                    <a:solidFill>
                      <a:srgbClr val="0C2B4A"/>
                    </a:solidFill>
                  </a:tcPr>
                </a:tc>
              </a:tr>
              <a:tr h="630936">
                <a:tc>
                  <a:txBody>
                    <a:bodyPr wrap="square"/>
                    <a:lstStyle/>
                    <a:p>
                      <a:r>
                        <a:rPr sz="1100" b="1">
                          <a:solidFill>
                            <a:srgbClr val="0C2B4A"/>
                          </a:solidFill>
                        </a:rPr>
                        <a:t>Windows Defender on, kept updated</a:t>
                      </a:r>
                    </a:p>
                  </a:txBody>
                  <a:tcPr anchor="ctr" marL="73152" marR="54864" marT="27432" marB="27432">
                    <a:solidFill>
                      <a:srgbClr val="FFFFFF"/>
                    </a:solidFill>
                  </a:tcPr>
                </a:tc>
                <a:tc>
                  <a:txBody>
                    <a:bodyPr wrap="square"/>
                    <a:lstStyle/>
                    <a:p>
                      <a:r>
                        <a:rPr sz="1100">
                          <a:solidFill>
                            <a:srgbClr val="1A1A1A"/>
                          </a:solidFill>
                        </a:rPr>
                        <a:t>Safe</a:t>
                      </a:r>
                    </a:p>
                  </a:txBody>
                  <a:tcPr anchor="ctr" marL="73152" marR="54864" marT="27432" marB="27432">
                    <a:solidFill>
                      <a:srgbClr val="FFFFFF"/>
                    </a:solidFill>
                  </a:tcPr>
                </a:tc>
                <a:tc>
                  <a:txBody>
                    <a:bodyPr wrap="square"/>
                    <a:lstStyle/>
                    <a:p>
                      <a:r>
                        <a:rPr sz="1100">
                          <a:solidFill>
                            <a:srgbClr val="1A1A1A"/>
                          </a:solidFill>
                        </a:rPr>
                        <a:t>One good real-time AV is enough for most users</a:t>
                      </a:r>
                    </a:p>
                  </a:txBody>
                  <a:tcPr anchor="ctr" marL="73152" marR="54864" marT="27432" marB="27432">
                    <a:solidFill>
                      <a:srgbClr val="FFFFFF"/>
                    </a:solidFill>
                  </a:tcPr>
                </a:tc>
              </a:tr>
              <a:tr h="630936">
                <a:tc>
                  <a:txBody>
                    <a:bodyPr wrap="square"/>
                    <a:lstStyle/>
                    <a:p>
                      <a:r>
                        <a:rPr sz="1100" b="1">
                          <a:solidFill>
                            <a:srgbClr val="0C2B4A"/>
                          </a:solidFill>
                        </a:rPr>
                        <a:t>Pop-up: 'Your PC has 5 viruses — pay to fix!'</a:t>
                      </a:r>
                    </a:p>
                  </a:txBody>
                  <a:tcPr anchor="ctr" marL="73152" marR="54864" marT="27432" marB="27432">
                    <a:solidFill>
                      <a:srgbClr val="EEF3F8"/>
                    </a:solidFill>
                  </a:tcPr>
                </a:tc>
                <a:tc>
                  <a:txBody>
                    <a:bodyPr wrap="square"/>
                    <a:lstStyle/>
                    <a:p>
                      <a:r>
                        <a:rPr sz="1100">
                          <a:solidFill>
                            <a:srgbClr val="1A1A1A"/>
                          </a:solidFill>
                        </a:rPr>
                        <a:t>Scam / malware</a:t>
                      </a:r>
                    </a:p>
                  </a:txBody>
                  <a:tcPr anchor="ctr" marL="73152" marR="54864" marT="27432" marB="27432">
                    <a:solidFill>
                      <a:srgbClr val="EEF3F8"/>
                    </a:solidFill>
                  </a:tcPr>
                </a:tc>
                <a:tc>
                  <a:txBody>
                    <a:bodyPr wrap="square"/>
                    <a:lstStyle/>
                    <a:p>
                      <a:r>
                        <a:rPr sz="1100">
                          <a:solidFill>
                            <a:srgbClr val="1A1A1A"/>
                          </a:solidFill>
                        </a:rPr>
                        <a:t>Unsolicited + urgency + pay-now = the malware itself</a:t>
                      </a:r>
                    </a:p>
                  </a:txBody>
                  <a:tcPr anchor="ctr" marL="73152" marR="54864" marT="27432" marB="27432">
                    <a:solidFill>
                      <a:srgbClr val="EEF3F8"/>
                    </a:solidFill>
                  </a:tcPr>
                </a:tc>
              </a:tr>
              <a:tr h="630936">
                <a:tc>
                  <a:txBody>
                    <a:bodyPr wrap="square"/>
                    <a:lstStyle/>
                    <a:p>
                      <a:r>
                        <a:rPr sz="1100" b="1">
                          <a:solidFill>
                            <a:srgbClr val="0C2B4A"/>
                          </a:solidFill>
                        </a:rPr>
                        <a:t>A free 'PC cleaner' from a random pop-up</a:t>
                      </a:r>
                    </a:p>
                  </a:txBody>
                  <a:tcPr anchor="ctr" marL="73152" marR="54864" marT="27432" marB="27432">
                    <a:solidFill>
                      <a:srgbClr val="FFFFFF"/>
                    </a:solidFill>
                  </a:tcPr>
                </a:tc>
                <a:tc>
                  <a:txBody>
                    <a:bodyPr wrap="square"/>
                    <a:lstStyle/>
                    <a:p>
                      <a:r>
                        <a:rPr sz="1100">
                          <a:solidFill>
                            <a:srgbClr val="1A1A1A"/>
                          </a:solidFill>
                        </a:rPr>
                        <a:t>Dangerous</a:t>
                      </a:r>
                    </a:p>
                  </a:txBody>
                  <a:tcPr anchor="ctr" marL="73152" marR="54864" marT="27432" marB="27432">
                    <a:solidFill>
                      <a:srgbClr val="FFFFFF"/>
                    </a:solidFill>
                  </a:tcPr>
                </a:tc>
                <a:tc>
                  <a:txBody>
                    <a:bodyPr wrap="square"/>
                    <a:lstStyle/>
                    <a:p>
                      <a:r>
                        <a:rPr sz="1100">
                          <a:solidFill>
                            <a:srgbClr val="1A1A1A"/>
                          </a:solidFill>
                        </a:rPr>
                        <a:t>Installs the threat it claims to remove</a:t>
                      </a:r>
                    </a:p>
                  </a:txBody>
                  <a:tcPr anchor="ctr" marL="73152" marR="54864" marT="27432" marB="27432">
                    <a:solidFill>
                      <a:srgbClr val="FFFFFF"/>
                    </a:solidFill>
                  </a:tcPr>
                </a:tc>
              </a:tr>
              <a:tr h="630936">
                <a:tc>
                  <a:txBody>
                    <a:bodyPr wrap="square"/>
                    <a:lstStyle/>
                    <a:p>
                      <a:r>
                        <a:rPr sz="1100" b="1">
                          <a:solidFill>
                            <a:srgbClr val="0C2B4A"/>
                          </a:solidFill>
                        </a:rPr>
                        <a:t>Installing 3 antiviruses 'to be extra safe'</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They conflict and slow the PC — no extra safety</a:t>
                      </a:r>
                    </a:p>
                  </a:txBody>
                  <a:tcPr anchor="ctr" marL="73152" marR="54864" marT="27432" marB="27432">
                    <a:solidFill>
                      <a:srgbClr val="EEF3F8"/>
                    </a:solidFill>
                  </a:tcPr>
                </a:tc>
              </a:tr>
              <a:tr h="630936">
                <a:tc>
                  <a:txBody>
                    <a:bodyPr wrap="square"/>
                    <a:lstStyle/>
                    <a:p>
                      <a:r>
                        <a:rPr sz="1100" b="1">
                          <a:solidFill>
                            <a:srgbClr val="0C2B4A"/>
                          </a:solidFill>
                        </a:rPr>
                        <a:t>Cracked 'premium' AV from a torrent</a:t>
                      </a:r>
                    </a:p>
                  </a:txBody>
                  <a:tcPr anchor="ctr" marL="73152" marR="54864" marT="27432" marB="27432">
                    <a:solidFill>
                      <a:srgbClr val="FFFFFF"/>
                    </a:solidFill>
                  </a:tcPr>
                </a:tc>
                <a:tc>
                  <a:txBody>
                    <a:bodyPr wrap="square"/>
                    <a:lstStyle/>
                    <a:p>
                      <a:r>
                        <a:rPr sz="1100">
                          <a:solidFill>
                            <a:srgbClr val="1A1A1A"/>
                          </a:solidFill>
                        </a:rPr>
                        <a:t>Dangerous</a:t>
                      </a:r>
                    </a:p>
                  </a:txBody>
                  <a:tcPr anchor="ctr" marL="73152" marR="54864" marT="27432" marB="27432">
                    <a:solidFill>
                      <a:srgbClr val="FFFFFF"/>
                    </a:solidFill>
                  </a:tcPr>
                </a:tc>
                <a:tc>
                  <a:txBody>
                    <a:bodyPr wrap="square"/>
                    <a:lstStyle/>
                    <a:p>
                      <a:r>
                        <a:rPr sz="1100">
                          <a:solidFill>
                            <a:srgbClr val="1A1A1A"/>
                          </a:solidFill>
                        </a:rPr>
                        <a:t>Cracks commonly carry trojans</a:t>
                      </a:r>
                    </a:p>
                  </a:txBody>
                  <a:tcPr anchor="ctr" marL="73152" marR="54864" marT="27432" marB="27432">
                    <a:solidFill>
                      <a:srgbClr val="FFFFFF"/>
                    </a:solidFill>
                  </a:tcPr>
                </a:tc>
              </a:tr>
              <a:tr h="630936">
                <a:tc>
                  <a:txBody>
                    <a:bodyPr wrap="square"/>
                    <a:lstStyle/>
                    <a:p>
                      <a:r>
                        <a:rPr sz="1100" b="1">
                          <a:solidFill>
                            <a:srgbClr val="0C2B4A"/>
                          </a:solidFill>
                        </a:rPr>
                        <a:t>Ignoring AV alerts to keep working</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Dismisses the one warning you actually got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strongest tell of fake-AV/scareware: it found you (a pop-up), rushes you, and asks for money. Real protection is quiet and already installed.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92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Antivirus / Anti-Malware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pop-up screams 'Your PC has 5 viruses — download our cleaner to fix them!' The 'cleaner' IS the malware. The tells: it was unsolicited (a pop-up found you), it manufactured urgency, and it demanded payment. Meanwhile Windows Defender — already on, quietly updating — is doing the real job for free.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 need to buy 3 antiviruses to be really safe." One good, updated AV is enough; multiple real-time scanners conflict, slow the machine, and can miss threats while fighting each other. More antivirus is not more security — it is more problems.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Antivirus/anti-malware detects and blocks malicious files and behaviour via real-time and on-demand scans, using signature detection (known threats) and behaviour detection (new ones). One good, updated product — Windows Defender is free and enough for most home users — suffices; running several at once causes conflicts, not safety. Scareware pop-ups rushing you to 'pay to fix' viruses are themselves the malware.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antivirus / anti-malware · real-time vs on-demand · signature vs behaviour · Windows Defender · scareware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92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Backups — the 3-2-1 Rule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backup is a recoverable copy of your important data. The rule to memorise: 3 copies, on 2 different media types, with 1 kept offsite (or in the cloud). Ransomware, theft, and disk failure are all defeated by one clean, recent backup you can restore from.</a:t>
            </a:r>
          </a:p>
          <a:p>
            <a:pPr>
              <a:spcAft>
                <a:spcPts val="500"/>
              </a:spcAft>
            </a:pPr>
            <a:r>
              <a:rPr sz="1200" b="1">
                <a:solidFill>
                  <a:srgbClr val="185FA5"/>
                </a:solidFill>
              </a:rPr>
              <a:t>HOW IT WORKS</a:t>
            </a:r>
          </a:p>
          <a:p>
            <a:pPr>
              <a:spcAft>
                <a:spcPts val="600"/>
              </a:spcAft>
            </a:pPr>
            <a:r>
              <a:rPr sz="1400">
                <a:solidFill>
                  <a:srgbClr val="1A1A1A"/>
                </a:solidFill>
              </a:rPr>
              <a:t>•  3 copies means the original plus two backups — one failure never leaves you with zero.</a:t>
            </a:r>
          </a:p>
          <a:p>
            <a:pPr>
              <a:spcAft>
                <a:spcPts val="600"/>
              </a:spcAft>
            </a:pPr>
            <a:r>
              <a:rPr sz="1400">
                <a:solidFill>
                  <a:srgbClr val="1A1A1A"/>
                </a:solidFill>
              </a:rPr>
              <a:t>•  2 media types (e.g. the laptop disk + an external drive) so a single fault can't kill all copies.</a:t>
            </a:r>
          </a:p>
          <a:p>
            <a:pPr>
              <a:spcAft>
                <a:spcPts val="600"/>
              </a:spcAft>
            </a:pPr>
            <a:r>
              <a:rPr sz="1400">
                <a:solidFill>
                  <a:srgbClr val="1A1A1A"/>
                </a:solidFill>
              </a:rPr>
              <a:t>•  1 offsite/cloud copy survives theft, fire, or a power surge that takes the whole room.</a:t>
            </a:r>
          </a:p>
          <a:p>
            <a:pPr>
              <a:spcAft>
                <a:spcPts val="600"/>
              </a:spcAft>
            </a:pPr>
            <a:r>
              <a:rPr sz="1400">
                <a:solidFill>
                  <a:srgbClr val="1A1A1A"/>
                </a:solidFill>
              </a:rPr>
              <a:t>•  A backup you have never test-restored is a hope, not a backup — verify it works.</a:t>
            </a:r>
          </a:p>
        </p:txBody>
      </p:sp>
      <p:pic>
        <p:nvPicPr>
          <p:cNvPr id="6" name="Picture 5" descr="s28_backup321.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3 copies · 2 media · 1 offsite — the single habit that beats ransomware.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92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each part of 3-2-1 defeats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857500"/>
                <a:gridCol w="4445000"/>
                <a:gridCol w="4127500"/>
              </a:tblGrid>
              <a:tr h="883310">
                <a:tc>
                  <a:txBody>
                    <a:bodyPr wrap="square"/>
                    <a:lstStyle/>
                    <a:p>
                      <a:r>
                        <a:rPr sz="1150" b="1">
                          <a:solidFill>
                            <a:srgbClr val="FFFFFF"/>
                          </a:solidFill>
                        </a:rPr>
                        <a:t>3-2-1 element</a:t>
                      </a:r>
                    </a:p>
                  </a:txBody>
                  <a:tcPr anchor="ctr" marL="73152" marR="54864" marT="27432" marB="27432">
                    <a:solidFill>
                      <a:srgbClr val="0C2B4A"/>
                    </a:solidFill>
                  </a:tcPr>
                </a:tc>
                <a:tc>
                  <a:txBody>
                    <a:bodyPr wrap="square"/>
                    <a:lstStyle/>
                    <a:p>
                      <a:r>
                        <a:rPr sz="1150" b="1">
                          <a:solidFill>
                            <a:srgbClr val="FFFFFF"/>
                          </a:solidFill>
                        </a:rPr>
                        <a:t>What it protects against</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883310">
                <a:tc>
                  <a:txBody>
                    <a:bodyPr wrap="square"/>
                    <a:lstStyle/>
                    <a:p>
                      <a:r>
                        <a:rPr sz="1100" b="1">
                          <a:solidFill>
                            <a:srgbClr val="0C2B4A"/>
                          </a:solidFill>
                        </a:rPr>
                        <a:t>3 copies</a:t>
                      </a:r>
                    </a:p>
                  </a:txBody>
                  <a:tcPr anchor="ctr" marL="73152" marR="54864" marT="27432" marB="27432">
                    <a:solidFill>
                      <a:srgbClr val="FFFFFF"/>
                    </a:solidFill>
                  </a:tcPr>
                </a:tc>
                <a:tc>
                  <a:txBody>
                    <a:bodyPr wrap="square"/>
                    <a:lstStyle/>
                    <a:p>
                      <a:r>
                        <a:rPr sz="1100">
                          <a:solidFill>
                            <a:srgbClr val="1A1A1A"/>
                          </a:solidFill>
                        </a:rPr>
                        <a:t>Any single copy being lost or corrupted</a:t>
                      </a:r>
                    </a:p>
                  </a:txBody>
                  <a:tcPr anchor="ctr" marL="73152" marR="54864" marT="27432" marB="27432">
                    <a:solidFill>
                      <a:srgbClr val="FFFFFF"/>
                    </a:solidFill>
                  </a:tcPr>
                </a:tc>
                <a:tc>
                  <a:txBody>
                    <a:bodyPr wrap="square"/>
                    <a:lstStyle/>
                    <a:p>
                      <a:r>
                        <a:rPr sz="1100">
                          <a:solidFill>
                            <a:srgbClr val="1A1A1A"/>
                          </a:solidFill>
                        </a:rPr>
                        <a:t>A file deleted or a drive that silently corrupts it</a:t>
                      </a:r>
                    </a:p>
                  </a:txBody>
                  <a:tcPr anchor="ctr" marL="73152" marR="54864" marT="27432" marB="27432">
                    <a:solidFill>
                      <a:srgbClr val="FFFFFF"/>
                    </a:solidFill>
                  </a:tcPr>
                </a:tc>
              </a:tr>
              <a:tr h="883310">
                <a:tc>
                  <a:txBody>
                    <a:bodyPr wrap="square"/>
                    <a:lstStyle/>
                    <a:p>
                      <a:r>
                        <a:rPr sz="1100" b="1">
                          <a:solidFill>
                            <a:srgbClr val="0C2B4A"/>
                          </a:solidFill>
                        </a:rPr>
                        <a:t>2 media types</a:t>
                      </a:r>
                    </a:p>
                  </a:txBody>
                  <a:tcPr anchor="ctr" marL="73152" marR="54864" marT="27432" marB="27432">
                    <a:solidFill>
                      <a:srgbClr val="EEF3F8"/>
                    </a:solidFill>
                  </a:tcPr>
                </a:tc>
                <a:tc>
                  <a:txBody>
                    <a:bodyPr wrap="square"/>
                    <a:lstStyle/>
                    <a:p>
                      <a:r>
                        <a:rPr sz="1100">
                          <a:solidFill>
                            <a:srgbClr val="1A1A1A"/>
                          </a:solidFill>
                        </a:rPr>
                        <a:t>One type of hardware failing</a:t>
                      </a:r>
                    </a:p>
                  </a:txBody>
                  <a:tcPr anchor="ctr" marL="73152" marR="54864" marT="27432" marB="27432">
                    <a:solidFill>
                      <a:srgbClr val="EEF3F8"/>
                    </a:solidFill>
                  </a:tcPr>
                </a:tc>
                <a:tc>
                  <a:txBody>
                    <a:bodyPr wrap="square"/>
                    <a:lstStyle/>
                    <a:p>
                      <a:r>
                        <a:rPr sz="1100">
                          <a:solidFill>
                            <a:srgbClr val="1A1A1A"/>
                          </a:solidFill>
                        </a:rPr>
                        <a:t>A cheap external drive that dies after a year</a:t>
                      </a:r>
                    </a:p>
                  </a:txBody>
                  <a:tcPr anchor="ctr" marL="73152" marR="54864" marT="27432" marB="27432">
                    <a:solidFill>
                      <a:srgbClr val="EEF3F8"/>
                    </a:solidFill>
                  </a:tcPr>
                </a:tc>
              </a:tr>
              <a:tr h="883310">
                <a:tc>
                  <a:txBody>
                    <a:bodyPr wrap="square"/>
                    <a:lstStyle/>
                    <a:p>
                      <a:r>
                        <a:rPr sz="1100" b="1">
                          <a:solidFill>
                            <a:srgbClr val="0C2B4A"/>
                          </a:solidFill>
                        </a:rPr>
                        <a:t>1 offsite / cloud</a:t>
                      </a:r>
                    </a:p>
                  </a:txBody>
                  <a:tcPr anchor="ctr" marL="73152" marR="54864" marT="27432" marB="27432">
                    <a:solidFill>
                      <a:srgbClr val="FFFFFF"/>
                    </a:solidFill>
                  </a:tcPr>
                </a:tc>
                <a:tc>
                  <a:txBody>
                    <a:bodyPr wrap="square"/>
                    <a:lstStyle/>
                    <a:p>
                      <a:r>
                        <a:rPr sz="1100">
                          <a:solidFill>
                            <a:srgbClr val="1A1A1A"/>
                          </a:solidFill>
                        </a:rPr>
                        <a:t>Theft, fire, or a whole-room disaster</a:t>
                      </a:r>
                    </a:p>
                  </a:txBody>
                  <a:tcPr anchor="ctr" marL="73152" marR="54864" marT="27432" marB="27432">
                    <a:solidFill>
                      <a:srgbClr val="FFFFFF"/>
                    </a:solidFill>
                  </a:tcPr>
                </a:tc>
                <a:tc>
                  <a:txBody>
                    <a:bodyPr wrap="square"/>
                    <a:lstStyle/>
                    <a:p>
                      <a:r>
                        <a:rPr sz="1100">
                          <a:solidFill>
                            <a:srgbClr val="1A1A1A"/>
                          </a:solidFill>
                        </a:rPr>
                        <a:t>Laptop snatched in a tempo — cloud copy survives</a:t>
                      </a:r>
                    </a:p>
                  </a:txBody>
                  <a:tcPr anchor="ctr" marL="73152" marR="54864" marT="27432" marB="27432">
                    <a:solidFill>
                      <a:srgbClr val="FFFFFF"/>
                    </a:solidFill>
                  </a:tcPr>
                </a:tc>
              </a:tr>
              <a:tr h="883312">
                <a:tc>
                  <a:txBody>
                    <a:bodyPr wrap="square"/>
                    <a:lstStyle/>
                    <a:p>
                      <a:r>
                        <a:rPr sz="1100" b="1">
                          <a:solidFill>
                            <a:srgbClr val="0C2B4A"/>
                          </a:solidFill>
                        </a:rPr>
                        <a:t>A tested restore</a:t>
                      </a:r>
                    </a:p>
                  </a:txBody>
                  <a:tcPr anchor="ctr" marL="73152" marR="54864" marT="27432" marB="27432">
                    <a:solidFill>
                      <a:srgbClr val="EEF3F8"/>
                    </a:solidFill>
                  </a:tcPr>
                </a:tc>
                <a:tc>
                  <a:txBody>
                    <a:bodyPr wrap="square"/>
                    <a:lstStyle/>
                    <a:p>
                      <a:r>
                        <a:rPr sz="1100">
                          <a:solidFill>
                            <a:srgbClr val="1A1A1A"/>
                          </a:solidFill>
                        </a:rPr>
                        <a:t>A backup that turns out to be broken</a:t>
                      </a:r>
                    </a:p>
                  </a:txBody>
                  <a:tcPr anchor="ctr" marL="73152" marR="54864" marT="27432" marB="27432">
                    <a:solidFill>
                      <a:srgbClr val="EEF3F8"/>
                    </a:solidFill>
                  </a:tcPr>
                </a:tc>
                <a:tc>
                  <a:txBody>
                    <a:bodyPr wrap="square"/>
                    <a:lstStyle/>
                    <a:p>
                      <a:r>
                        <a:rPr sz="1100">
                          <a:solidFill>
                            <a:srgbClr val="1A1A1A"/>
                          </a:solidFill>
                        </a:rPr>
                        <a:t>Discovering on thesis day that the backup was empty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part defeats a different disaster. Ransomware, theft, disk failure, and a load-shedding surge are ALL beaten by one recent, tested, offsite copy.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92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Backups — the 3-2-1 Rule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load-shedding surges and cheap drives fail often, and a stolen laptop in a tempo takes everything with it. A BIM student who kept the only copy of a thesis on one laptop lost it all to ransomware days before submission. A 3-2-1 setup — laptop + external drive + Google Drive — would have made it a shrug, not a catastrophe.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"Deleting files or having them on my laptop is basically a backup." One copy on one device is zero backups — theft, ransomware, or a dead disk wipes it out at once. A real backup is separate, on different media, and offsite, so no single event can reach all copies.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backup is a recoverable copy of important data, and the standard is 3-2-1: three copies, on two different media types, with one kept offsite or in the cloud — plus a tested restore. It defeats ransomware, theft, disk failure, and power surges because no single event can reach every copy. A backup that has never been test-restored is a hope, not a backup.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backup · 3-2-1 rule · media types · offsite/cloud copy · tested restore · ransomware recovery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92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5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Firewall Basics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firewall is a filter that controls which network traffic is allowed in and out. There are two kinds: a host firewall on your OS and a router firewall at your home gateway. The safe default is 'deny incoming by default' — and don't blindly click 'Allow' on every prompt.</a:t>
            </a:r>
          </a:p>
          <a:p>
            <a:pPr>
              <a:spcAft>
                <a:spcPts val="500"/>
              </a:spcAft>
            </a:pPr>
            <a:r>
              <a:rPr sz="1200" b="1">
                <a:solidFill>
                  <a:srgbClr val="185FA5"/>
                </a:solidFill>
              </a:rPr>
              <a:t>HOW IT WORKS</a:t>
            </a:r>
          </a:p>
          <a:p>
            <a:pPr>
              <a:spcAft>
                <a:spcPts val="600"/>
              </a:spcAft>
            </a:pPr>
            <a:r>
              <a:rPr sz="1400">
                <a:solidFill>
                  <a:srgbClr val="1A1A1A"/>
                </a:solidFill>
              </a:rPr>
              <a:t>•  A firewall decides what may connect to your machine and what your apps may connect out to.</a:t>
            </a:r>
          </a:p>
          <a:p>
            <a:pPr>
              <a:spcAft>
                <a:spcPts val="600"/>
              </a:spcAft>
            </a:pPr>
            <a:r>
              <a:rPr sz="1400">
                <a:solidFill>
                  <a:srgbClr val="1A1A1A"/>
                </a:solidFill>
              </a:rPr>
              <a:t>•  Host firewall (Windows/Mac, built in) protects the one device; router firewall protects the whole home.</a:t>
            </a:r>
          </a:p>
          <a:p>
            <a:pPr>
              <a:spcAft>
                <a:spcPts val="600"/>
              </a:spcAft>
            </a:pPr>
            <a:r>
              <a:rPr sz="1400">
                <a:solidFill>
                  <a:srgbClr val="1A1A1A"/>
                </a:solidFill>
              </a:rPr>
              <a:t>•  'Deny by default' for incoming means unrequested connections are blocked unless you allow them.</a:t>
            </a:r>
          </a:p>
          <a:p>
            <a:pPr>
              <a:spcAft>
                <a:spcPts val="600"/>
              </a:spcAft>
            </a:pPr>
            <a:r>
              <a:rPr sz="1400">
                <a:solidFill>
                  <a:srgbClr val="1A1A1A"/>
                </a:solidFill>
              </a:rPr>
              <a:t>•  Clicking 'Allow' on every pop-up defeats the point — allow only apps you actually trust and expect.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firewall is one wall of the castle, not the whole castle — keep the others too.</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92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5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Firewall decisions — allow or deny?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942702"/>
                <a:gridCol w="2162432"/>
                <a:gridCol w="4324864"/>
              </a:tblGrid>
              <a:tr h="630936">
                <a:tc>
                  <a:txBody>
                    <a:bodyPr wrap="square"/>
                    <a:lstStyle/>
                    <a:p>
                      <a:r>
                        <a:rPr sz="1150" b="1">
                          <a:solidFill>
                            <a:srgbClr val="FFFFFF"/>
                          </a:solidFill>
                        </a:rPr>
                        <a:t>Prompt / situation</a:t>
                      </a:r>
                    </a:p>
                  </a:txBody>
                  <a:tcPr anchor="ctr" marL="73152" marR="54864" marT="27432" marB="27432">
                    <a:solidFill>
                      <a:srgbClr val="0C2B4A"/>
                    </a:solidFill>
                  </a:tcPr>
                </a:tc>
                <a:tc>
                  <a:txBody>
                    <a:bodyPr wrap="square"/>
                    <a:lstStyle/>
                    <a:p>
                      <a:r>
                        <a:rPr sz="1150" b="1">
                          <a:solidFill>
                            <a:srgbClr val="FFFFFF"/>
                          </a:solidFill>
                        </a:rPr>
                        <a:t>Right move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Windows Defender Firewall is ON by default</a:t>
                      </a:r>
                    </a:p>
                  </a:txBody>
                  <a:tcPr anchor="ctr" marL="73152" marR="54864" marT="27432" marB="27432">
                    <a:solidFill>
                      <a:srgbClr val="FFFFFF"/>
                    </a:solidFill>
                  </a:tcPr>
                </a:tc>
                <a:tc>
                  <a:txBody>
                    <a:bodyPr wrap="square"/>
                    <a:lstStyle/>
                    <a:p>
                      <a:r>
                        <a:rPr sz="1100">
                          <a:solidFill>
                            <a:srgbClr val="1A1A1A"/>
                          </a:solidFill>
                        </a:rPr>
                        <a:t>Keep it on</a:t>
                      </a:r>
                    </a:p>
                  </a:txBody>
                  <a:tcPr anchor="ctr" marL="73152" marR="54864" marT="27432" marB="27432">
                    <a:solidFill>
                      <a:srgbClr val="FFFFFF"/>
                    </a:solidFill>
                  </a:tcPr>
                </a:tc>
                <a:tc>
                  <a:txBody>
                    <a:bodyPr wrap="square"/>
                    <a:lstStyle/>
                    <a:p>
                      <a:r>
                        <a:rPr sz="1100">
                          <a:solidFill>
                            <a:srgbClr val="1A1A1A"/>
                          </a:solidFill>
                        </a:rPr>
                        <a:t>Blocks unrequested incoming connections</a:t>
                      </a:r>
                    </a:p>
                  </a:txBody>
                  <a:tcPr anchor="ctr" marL="73152" marR="54864" marT="27432" marB="27432">
                    <a:solidFill>
                      <a:srgbClr val="FFFFFF"/>
                    </a:solidFill>
                  </a:tcPr>
                </a:tc>
              </a:tr>
              <a:tr h="630936">
                <a:tc>
                  <a:txBody>
                    <a:bodyPr wrap="square"/>
                    <a:lstStyle/>
                    <a:p>
                      <a:r>
                        <a:rPr sz="1100" b="1">
                          <a:solidFill>
                            <a:srgbClr val="0C2B4A"/>
                          </a:solidFill>
                        </a:rPr>
                        <a:t>Unknown app asks to accept incoming connections</a:t>
                      </a:r>
                    </a:p>
                  </a:txBody>
                  <a:tcPr anchor="ctr" marL="73152" marR="54864" marT="27432" marB="27432">
                    <a:solidFill>
                      <a:srgbClr val="EEF3F8"/>
                    </a:solidFill>
                  </a:tcPr>
                </a:tc>
                <a:tc>
                  <a:txBody>
                    <a:bodyPr wrap="square"/>
                    <a:lstStyle/>
                    <a:p>
                      <a:r>
                        <a:rPr sz="1100">
                          <a:solidFill>
                            <a:srgbClr val="1A1A1A"/>
                          </a:solidFill>
                        </a:rPr>
                        <a:t>Deny</a:t>
                      </a:r>
                    </a:p>
                  </a:txBody>
                  <a:tcPr anchor="ctr" marL="73152" marR="54864" marT="27432" marB="27432">
                    <a:solidFill>
                      <a:srgbClr val="EEF3F8"/>
                    </a:solidFill>
                  </a:tcPr>
                </a:tc>
                <a:tc>
                  <a:txBody>
                    <a:bodyPr wrap="square"/>
                    <a:lstStyle/>
                    <a:p>
                      <a:r>
                        <a:rPr sz="1100">
                          <a:solidFill>
                            <a:srgbClr val="1A1A1A"/>
                          </a:solidFill>
                        </a:rPr>
                        <a:t>If you didn't expect it, don't allow it</a:t>
                      </a:r>
                    </a:p>
                  </a:txBody>
                  <a:tcPr anchor="ctr" marL="73152" marR="54864" marT="27432" marB="27432">
                    <a:solidFill>
                      <a:srgbClr val="EEF3F8"/>
                    </a:solidFill>
                  </a:tcPr>
                </a:tc>
              </a:tr>
              <a:tr h="630936">
                <a:tc>
                  <a:txBody>
                    <a:bodyPr wrap="square"/>
                    <a:lstStyle/>
                    <a:p>
                      <a:r>
                        <a:rPr sz="1100" b="1">
                          <a:solidFill>
                            <a:srgbClr val="0C2B4A"/>
                          </a:solidFill>
                        </a:rPr>
                        <a:t>Your known game/app needs a port to play online</a:t>
                      </a:r>
                    </a:p>
                  </a:txBody>
                  <a:tcPr anchor="ctr" marL="73152" marR="54864" marT="27432" marB="27432">
                    <a:solidFill>
                      <a:srgbClr val="FFFFFF"/>
                    </a:solidFill>
                  </a:tcPr>
                </a:tc>
                <a:tc>
                  <a:txBody>
                    <a:bodyPr wrap="square"/>
                    <a:lstStyle/>
                    <a:p>
                      <a:r>
                        <a:rPr sz="1100">
                          <a:solidFill>
                            <a:srgbClr val="1A1A1A"/>
                          </a:solidFill>
                        </a:rPr>
                        <a:t>Allow (that app)</a:t>
                      </a:r>
                    </a:p>
                  </a:txBody>
                  <a:tcPr anchor="ctr" marL="73152" marR="54864" marT="27432" marB="27432">
                    <a:solidFill>
                      <a:srgbClr val="FFFFFF"/>
                    </a:solidFill>
                  </a:tcPr>
                </a:tc>
                <a:tc>
                  <a:txBody>
                    <a:bodyPr wrap="square"/>
                    <a:lstStyle/>
                    <a:p>
                      <a:r>
                        <a:rPr sz="1100">
                          <a:solidFill>
                            <a:srgbClr val="1A1A1A"/>
                          </a:solidFill>
                        </a:rPr>
                        <a:t>Trusted, expected — allow narrowly</a:t>
                      </a:r>
                    </a:p>
                  </a:txBody>
                  <a:tcPr anchor="ctr" marL="73152" marR="54864" marT="27432" marB="27432">
                    <a:solidFill>
                      <a:srgbClr val="FFFFFF"/>
                    </a:solidFill>
                  </a:tcPr>
                </a:tc>
              </a:tr>
              <a:tr h="630936">
                <a:tc>
                  <a:txBody>
                    <a:bodyPr wrap="square"/>
                    <a:lstStyle/>
                    <a:p>
                      <a:r>
                        <a:rPr sz="1100" b="1">
                          <a:solidFill>
                            <a:srgbClr val="0C2B4A"/>
                          </a:solidFill>
                        </a:rPr>
                        <a:t>A pop-up says 'disable firewall to speed up PC'</a:t>
                      </a:r>
                    </a:p>
                  </a:txBody>
                  <a:tcPr anchor="ctr" marL="73152" marR="54864" marT="27432" marB="27432">
                    <a:solidFill>
                      <a:srgbClr val="EEF3F8"/>
                    </a:solidFill>
                  </a:tcPr>
                </a:tc>
                <a:tc>
                  <a:txBody>
                    <a:bodyPr wrap="square"/>
                    <a:lstStyle/>
                    <a:p>
                      <a:r>
                        <a:rPr sz="1100">
                          <a:solidFill>
                            <a:srgbClr val="1A1A1A"/>
                          </a:solidFill>
                        </a:rPr>
                        <a:t>Ignore</a:t>
                      </a:r>
                    </a:p>
                  </a:txBody>
                  <a:tcPr anchor="ctr" marL="73152" marR="54864" marT="27432" marB="27432">
                    <a:solidFill>
                      <a:srgbClr val="EEF3F8"/>
                    </a:solidFill>
                  </a:tcPr>
                </a:tc>
                <a:tc>
                  <a:txBody>
                    <a:bodyPr wrap="square"/>
                    <a:lstStyle/>
                    <a:p>
                      <a:r>
                        <a:rPr sz="1100">
                          <a:solidFill>
                            <a:srgbClr val="1A1A1A"/>
                          </a:solidFill>
                        </a:rPr>
                        <a:t>No legitimate fix requires turning off the firewall</a:t>
                      </a:r>
                    </a:p>
                  </a:txBody>
                  <a:tcPr anchor="ctr" marL="73152" marR="54864" marT="27432" marB="27432">
                    <a:solidFill>
                      <a:srgbClr val="EEF3F8"/>
                    </a:solidFill>
                  </a:tcPr>
                </a:tc>
              </a:tr>
              <a:tr h="630936">
                <a:tc>
                  <a:txBody>
                    <a:bodyPr wrap="square"/>
                    <a:lstStyle/>
                    <a:p>
                      <a:r>
                        <a:rPr sz="1100" b="1">
                          <a:solidFill>
                            <a:srgbClr val="0C2B4A"/>
                          </a:solidFill>
                        </a:rPr>
                        <a:t>Router admin panel on default password</a:t>
                      </a:r>
                    </a:p>
                  </a:txBody>
                  <a:tcPr anchor="ctr" marL="73152" marR="54864" marT="27432" marB="27432">
                    <a:solidFill>
                      <a:srgbClr val="FFFFFF"/>
                    </a:solidFill>
                  </a:tcPr>
                </a:tc>
                <a:tc>
                  <a:txBody>
                    <a:bodyPr wrap="square"/>
                    <a:lstStyle/>
                    <a:p>
                      <a:r>
                        <a:rPr sz="1100">
                          <a:solidFill>
                            <a:srgbClr val="1A1A1A"/>
                          </a:solidFill>
                        </a:rPr>
                        <a:t>Change it</a:t>
                      </a:r>
                    </a:p>
                  </a:txBody>
                  <a:tcPr anchor="ctr" marL="73152" marR="54864" marT="27432" marB="27432">
                    <a:solidFill>
                      <a:srgbClr val="FFFFFF"/>
                    </a:solidFill>
                  </a:tcPr>
                </a:tc>
                <a:tc>
                  <a:txBody>
                    <a:bodyPr wrap="square"/>
                    <a:lstStyle/>
                    <a:p>
                      <a:r>
                        <a:rPr sz="1100">
                          <a:solidFill>
                            <a:srgbClr val="1A1A1A"/>
                          </a:solidFill>
                        </a:rPr>
                        <a:t>An open gateway firewall is no firewall</a:t>
                      </a:r>
                    </a:p>
                  </a:txBody>
                  <a:tcPr anchor="ctr" marL="73152" marR="54864" marT="27432" marB="27432">
                    <a:solidFill>
                      <a:srgbClr val="FFFFFF"/>
                    </a:solidFill>
                  </a:tcPr>
                </a:tc>
              </a:tr>
              <a:tr h="630936">
                <a:tc>
                  <a:txBody>
                    <a:bodyPr wrap="square"/>
                    <a:lstStyle/>
                    <a:p>
                      <a:r>
                        <a:rPr sz="1100" b="1">
                          <a:solidFill>
                            <a:srgbClr val="0C2B4A"/>
                          </a:solidFill>
                        </a:rPr>
                        <a:t>Assuming the firewall stops all malware</a:t>
                      </a:r>
                    </a:p>
                  </a:txBody>
                  <a:tcPr anchor="ctr" marL="73152" marR="54864" marT="27432" marB="27432">
                    <a:solidFill>
                      <a:srgbClr val="EEF3F8"/>
                    </a:solidFill>
                  </a:tcPr>
                </a:tc>
                <a:tc>
                  <a:txBody>
                    <a:bodyPr wrap="square"/>
                    <a:lstStyle/>
                    <a:p>
                      <a:r>
                        <a:rPr sz="1100">
                          <a:solidFill>
                            <a:srgbClr val="1A1A1A"/>
                          </a:solidFill>
                        </a:rPr>
                        <a:t>Wrong belief</a:t>
                      </a:r>
                    </a:p>
                  </a:txBody>
                  <a:tcPr anchor="ctr" marL="73152" marR="54864" marT="27432" marB="27432">
                    <a:solidFill>
                      <a:srgbClr val="EEF3F8"/>
                    </a:solidFill>
                  </a:tcPr>
                </a:tc>
                <a:tc>
                  <a:txBody>
                    <a:bodyPr wrap="square"/>
                    <a:lstStyle/>
                    <a:p>
                      <a:r>
                        <a:rPr sz="1100">
                          <a:solidFill>
                            <a:srgbClr val="1A1A1A"/>
                          </a:solidFill>
                        </a:rPr>
                        <a:t>It filters traffic; it can't stop a phished login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firewall controls connections; it does NOT stop malware you download or a password you hand over. It is one layer of the posture, not the whole thing.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92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S28 · CONCEPT 5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Firewall Basics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Your home has two firewalls: the one built into Windows/Mac guarding your laptop, and the one in your WorldLink/Vianet router guarding the whole house. Both should stay on with 'deny incoming by default' — but if the router still uses the sticker admin password, that gateway firewall is wide open regardless.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firewall makes me unhackable." It's one wall, not the whole castle. A firewall blocks unrequested connections, but it can't stop malware you download, a phishing site you log into, or a scam call that talks you out of your OTP. It complements the other layers; it doesn't replace them.</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firewall filters which network traffic is allowed in and out, at two levels: a host firewall on the OS (protects one device) and a router firewall at the home gateway (protects the network). The safe default is deny-incoming-by-default, allowing only trusted, expected apps rather than clicking 'Allow' on every prompt. It is one layer of a posture — it does not stop downloaded malware or a phished password.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firewall · host vs router firewall · deny by default · allow-listing trusted apps · one wall not the castle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92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S28 — 'Where is your only copy?'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the ONE file you'd be devastated to lose (thesis, project, photos).</a:t>
            </a:r>
          </a:p>
          <a:p>
            <a:pPr>
              <a:spcAft>
                <a:spcPts val="700"/>
              </a:spcAft>
            </a:pPr>
            <a:r>
              <a:rPr sz="1550">
                <a:solidFill>
                  <a:srgbClr val="1A1A1A"/>
                </a:solidFill>
              </a:rPr>
              <a:t>•  Say exactly where its only copy lives right now, and what happens if that device dies tonight.</a:t>
            </a:r>
          </a:p>
          <a:p>
            <a:pPr>
              <a:spcAft>
                <a:spcPts val="700"/>
              </a:spcAft>
            </a:pPr>
            <a:r>
              <a:rPr sz="1550">
                <a:solidFill>
                  <a:srgbClr val="1A1A1A"/>
                </a:solidFill>
              </a:rPr>
              <a:t>•  Take 3–4 answers aloud (3 min); for each, place it on the 3-2-1 rule — how many copies, how many media, any offsite?</a:t>
            </a:r>
          </a:p>
          <a:p>
            <a:pPr>
              <a:spcAft>
                <a:spcPts val="700"/>
              </a:spcAft>
            </a:pPr>
            <a:r>
              <a:rPr sz="1550">
                <a:solidFill>
                  <a:srgbClr val="1A1A1A"/>
                </a:solidFill>
              </a:rPr>
              <a:t>•  Close: agree one concrete backup each student will set up this week.</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Most students will admit the only copy is on one laptop or phone. Push them to convert 'it's on my laptop' into a real 3-2-1 plan, and to notice that a cloud copy is the single biggest upgrade.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92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best defence against ransomware locking your files is:</a:t>
            </a:r>
          </a:p>
          <a:p>
            <a:pPr lvl="1"/>
            <a:r>
              <a:rPr sz="1500" b="1">
                <a:solidFill>
                  <a:srgbClr val="0F6E56"/>
                </a:solidFill>
              </a:rPr>
              <a:t>a) a faster antivirus   b) ✅ recent offline/cloud backups (3-2-1)   c) a longer password   d) a new laptop</a:t>
            </a:r>
          </a:p>
          <a:p>
            <a:pPr lvl="1">
              <a:spcBef>
                <a:spcPts val="600"/>
              </a:spcBef>
            </a:pPr>
            <a:r>
              <a:rPr sz="1500" i="1">
                <a:solidFill>
                  <a:srgbClr val="1A1A1A"/>
                </a:solidFill>
              </a:rPr>
              <a:t>     Why: a clean, recent backup lets you restore instead of paying — it beats theft and disk failure too.</a:t>
            </a:r>
          </a:p>
          <a:p>
            <a:pPr>
              <a:spcBef>
                <a:spcPts val="900"/>
              </a:spcBef>
            </a:pPr>
            <a:r>
              <a:rPr sz="1700" b="1">
                <a:solidFill>
                  <a:srgbClr val="0C2B4A"/>
                </a:solidFill>
              </a:rPr>
              <a:t>Q2.  Running two real-time antivirus programs at once usually:</a:t>
            </a:r>
          </a:p>
          <a:p>
            <a:pPr lvl="1"/>
            <a:r>
              <a:rPr sz="1500" b="1">
                <a:solidFill>
                  <a:srgbClr val="0F6E56"/>
                </a:solidFill>
              </a:rPr>
              <a:t>a) doubles safety   b) ✅ causes conflicts/slowdowns with no extra safety   c) is required   d) speeds the PC up</a:t>
            </a:r>
          </a:p>
          <a:p>
            <a:pPr lvl="1">
              <a:spcBef>
                <a:spcPts val="600"/>
              </a:spcBef>
            </a:pPr>
            <a:r>
              <a:rPr sz="1500" i="1">
                <a:solidFill>
                  <a:srgbClr val="1A1A1A"/>
                </a:solidFill>
              </a:rPr>
              <a:t>     Why: multiple real-time scanners fight each other; one good, updated AV (e.g. Defender) is enough.</a:t>
            </a:r>
          </a:p>
          <a:p>
            <a:pPr lvl="1">
              <a:spcBef>
                <a:spcPts val="600"/>
              </a:spcBef>
            </a:pPr>
            <a:r>
              <a:rPr sz="1500" i="1">
                <a:solidFill>
                  <a:srgbClr val="1A1A1A"/>
                </a:solidFill>
              </a:rPr>
              <a:t>Discussion: right now, where is the ONLY copy of your most important file — and what if that device dies?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92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Security posture = patch + protect + back up + contain; most attacks are automated and hit whoever is unpatched.</a:t>
            </a:r>
          </a:p>
          <a:p>
            <a:pPr>
              <a:spcAft>
                <a:spcPts val="800"/>
              </a:spcAft>
            </a:pPr>
            <a:r>
              <a:rPr sz="1500">
                <a:solidFill>
                  <a:srgbClr val="1A1A1A"/>
                </a:solidFill>
              </a:rPr>
              <a:t>2.  Turn on automatic updates and drop end-of-life/pirated software; run one good, updated antivirus (Defender is fine).</a:t>
            </a:r>
          </a:p>
          <a:p>
            <a:pPr>
              <a:spcAft>
                <a:spcPts val="800"/>
              </a:spcAft>
            </a:pPr>
            <a:r>
              <a:rPr sz="1500">
                <a:solidFill>
                  <a:srgbClr val="1A1A1A"/>
                </a:solidFill>
              </a:rPr>
              <a:t>3.  Keep 3-2-1 backups (3 copies · 2 media · 1 offsite) and leave your firewall on with deny-by-default.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your own laptop, your own thesis, your own banking session. A 10-minute self-audit this week — auto-updates on, Defender confirmed, one cloud backup, firewall on — is the cheapest insurance you will ever buy.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S29 — the device in your pocket and the gadgets in your home: mobile &amp; IoT security.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92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29 · LECTURE HOUR 2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Mobile Devices &amp; Internet of Things (IoT)</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free torch app asks for your contacts, microphone, location, and SMS — why does a flashlight need to read your texts? And your neighbour's CCTV still uses 'admin/admin', so anyone online can watch their living room. Mobile and IoT are where most of us are weakest.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23 / 92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Mobile App Permissions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permission is the access — camera, mic, location, SMS, contacts, storage — that an app requests. The principle is least privilege: grant only what the app's actual function needs. Prefer 'while using the app' over 'always', and review and revoke permissions in Settings.</a:t>
            </a:r>
          </a:p>
          <a:p>
            <a:pPr>
              <a:spcAft>
                <a:spcPts val="500"/>
              </a:spcAft>
            </a:pPr>
            <a:r>
              <a:rPr sz="1200" b="1">
                <a:solidFill>
                  <a:srgbClr val="185FA5"/>
                </a:solidFill>
              </a:rPr>
              <a:t>HOW IT WORKS</a:t>
            </a:r>
          </a:p>
          <a:p>
            <a:pPr>
              <a:spcAft>
                <a:spcPts val="600"/>
              </a:spcAft>
            </a:pPr>
            <a:r>
              <a:rPr sz="1400">
                <a:solidFill>
                  <a:srgbClr val="1A1A1A"/>
                </a:solidFill>
              </a:rPr>
              <a:t>•  Least privilege: a torch needs the camera flash — not your SMS, contacts, or location.</a:t>
            </a:r>
          </a:p>
          <a:p>
            <a:pPr>
              <a:spcAft>
                <a:spcPts val="600"/>
              </a:spcAft>
            </a:pPr>
            <a:r>
              <a:rPr sz="1400">
                <a:solidFill>
                  <a:srgbClr val="1A1A1A"/>
                </a:solidFill>
              </a:rPr>
              <a:t>•  'While using the app' limits access to when it's open; 'always' lets it watch you in the background.</a:t>
            </a:r>
          </a:p>
          <a:p>
            <a:pPr>
              <a:spcAft>
                <a:spcPts val="600"/>
              </a:spcAft>
            </a:pPr>
            <a:r>
              <a:rPr sz="1400">
                <a:solidFill>
                  <a:srgbClr val="1A1A1A"/>
                </a:solidFill>
              </a:rPr>
              <a:t>•  Permissions can be reviewed and revoked any time in Settings → Apps → Permissions.</a:t>
            </a:r>
          </a:p>
          <a:p>
            <a:pPr>
              <a:spcAft>
                <a:spcPts val="600"/>
              </a:spcAft>
            </a:pPr>
            <a:r>
              <a:rPr sz="1400">
                <a:solidFill>
                  <a:srgbClr val="1A1A1A"/>
                </a:solidFill>
              </a:rPr>
              <a:t>•  Match the permission to the function: a map needs location, a chat app needs the mic — a flashlight needs neither.</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flashlight that wants your SMS is not a flashlight — it's a data grab.</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92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Does this app really need it? — permission red flags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788243"/>
                <a:gridCol w="2007972"/>
                <a:gridCol w="4633783"/>
              </a:tblGrid>
              <a:tr h="630936">
                <a:tc>
                  <a:txBody>
                    <a:bodyPr wrap="square"/>
                    <a:lstStyle/>
                    <a:p>
                      <a:r>
                        <a:rPr sz="1150" b="1">
                          <a:solidFill>
                            <a:srgbClr val="FFFFFF"/>
                          </a:solidFill>
                        </a:rPr>
                        <a:t>App asks for…</a:t>
                      </a:r>
                    </a:p>
                  </a:txBody>
                  <a:tcPr anchor="ctr" marL="73152" marR="54864" marT="27432" marB="27432">
                    <a:solidFill>
                      <a:srgbClr val="0C2B4A"/>
                    </a:solidFill>
                  </a:tcPr>
                </a:tc>
                <a:tc>
                  <a:txBody>
                    <a:bodyPr wrap="square"/>
                    <a:lstStyle/>
                    <a:p>
                      <a:r>
                        <a:rPr sz="1150" b="1">
                          <a:solidFill>
                            <a:srgbClr val="FFFFFF"/>
                          </a:solidFill>
                        </a:rPr>
                        <a:t>Reasonable?</a:t>
                      </a:r>
                    </a:p>
                  </a:txBody>
                  <a:tcPr anchor="ctr" marL="73152" marR="54864" marT="27432" marB="27432">
                    <a:solidFill>
                      <a:srgbClr val="0C2B4A"/>
                    </a:solidFill>
                  </a:tcPr>
                </a:tc>
                <a:tc>
                  <a:txBody>
                    <a:bodyPr wrap="square"/>
                    <a:lstStyle/>
                    <a:p>
                      <a:r>
                        <a:rPr sz="1150" b="1">
                          <a:solidFill>
                            <a:srgbClr val="FFFFFF"/>
                          </a:solidFill>
                        </a:rPr>
                        <a:t>Why (Nepal / IT)</a:t>
                      </a:r>
                    </a:p>
                  </a:txBody>
                  <a:tcPr anchor="ctr" marL="73152" marR="54864" marT="27432" marB="27432">
                    <a:solidFill>
                      <a:srgbClr val="0C2B4A"/>
                    </a:solidFill>
                  </a:tcPr>
                </a:tc>
              </a:tr>
              <a:tr h="630936">
                <a:tc>
                  <a:txBody>
                    <a:bodyPr wrap="square"/>
                    <a:lstStyle/>
                    <a:p>
                      <a:r>
                        <a:rPr sz="1100" b="1">
                          <a:solidFill>
                            <a:srgbClr val="0C2B4A"/>
                          </a:solidFill>
                        </a:rPr>
                        <a:t>Torch app → SMS + contacts + location</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A flashlight needs none of these — data grab</a:t>
                      </a:r>
                    </a:p>
                  </a:txBody>
                  <a:tcPr anchor="ctr" marL="73152" marR="54864" marT="27432" marB="27432">
                    <a:solidFill>
                      <a:srgbClr val="FFFFFF"/>
                    </a:solidFill>
                  </a:tcPr>
                </a:tc>
              </a:tr>
              <a:tr h="630936">
                <a:tc>
                  <a:txBody>
                    <a:bodyPr wrap="square"/>
                    <a:lstStyle/>
                    <a:p>
                      <a:r>
                        <a:rPr sz="1100" b="1">
                          <a:solidFill>
                            <a:srgbClr val="0C2B4A"/>
                          </a:solidFill>
                        </a:rPr>
                        <a:t>Map app → location while using</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Core to its function; 'while using' limits it</a:t>
                      </a:r>
                    </a:p>
                  </a:txBody>
                  <a:tcPr anchor="ctr" marL="73152" marR="54864" marT="27432" marB="27432">
                    <a:solidFill>
                      <a:srgbClr val="EEF3F8"/>
                    </a:solidFill>
                  </a:tcPr>
                </a:tc>
              </a:tr>
              <a:tr h="630936">
                <a:tc>
                  <a:txBody>
                    <a:bodyPr wrap="square"/>
                    <a:lstStyle/>
                    <a:p>
                      <a:r>
                        <a:rPr sz="1100" b="1">
                          <a:solidFill>
                            <a:srgbClr val="0C2B4A"/>
                          </a:solidFill>
                        </a:rPr>
                        <a:t>Fake 'loan' app → SMS + contacts</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Reads your OTPs and harasses contacts for repayment</a:t>
                      </a:r>
                    </a:p>
                  </a:txBody>
                  <a:tcPr anchor="ctr" marL="73152" marR="54864" marT="27432" marB="27432">
                    <a:solidFill>
                      <a:srgbClr val="FFFFFF"/>
                    </a:solidFill>
                  </a:tcPr>
                </a:tc>
              </a:tr>
              <a:tr h="630936">
                <a:tc>
                  <a:txBody>
                    <a:bodyPr wrap="square"/>
                    <a:lstStyle/>
                    <a:p>
                      <a:r>
                        <a:rPr sz="1100" b="1">
                          <a:solidFill>
                            <a:srgbClr val="0C2B4A"/>
                          </a:solidFill>
                        </a:rPr>
                        <a:t>Camera app → camera + mic</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Needed to record video with sound</a:t>
                      </a:r>
                    </a:p>
                  </a:txBody>
                  <a:tcPr anchor="ctr" marL="73152" marR="54864" marT="27432" marB="27432">
                    <a:solidFill>
                      <a:srgbClr val="EEF3F8"/>
                    </a:solidFill>
                  </a:tcPr>
                </a:tc>
              </a:tr>
              <a:tr h="630936">
                <a:tc>
                  <a:txBody>
                    <a:bodyPr wrap="square"/>
                    <a:lstStyle/>
                    <a:p>
                      <a:r>
                        <a:rPr sz="1100" b="1">
                          <a:solidFill>
                            <a:srgbClr val="0C2B4A"/>
                          </a:solidFill>
                        </a:rPr>
                        <a:t>Cloned 'eSewa' app → SMS + accessibility</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Steals OTPs and can control the screen</a:t>
                      </a:r>
                    </a:p>
                  </a:txBody>
                  <a:tcPr anchor="ctr" marL="73152" marR="54864" marT="27432" marB="27432">
                    <a:solidFill>
                      <a:srgbClr val="FFFFFF"/>
                    </a:solidFill>
                  </a:tcPr>
                </a:tc>
              </a:tr>
              <a:tr h="630936">
                <a:tc>
                  <a:txBody>
                    <a:bodyPr wrap="square"/>
                    <a:lstStyle/>
                    <a:p>
                      <a:r>
                        <a:rPr sz="1100" b="1">
                          <a:solidFill>
                            <a:srgbClr val="0C2B4A"/>
                          </a:solidFill>
                        </a:rPr>
                        <a:t>Game → contacts + call logs</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Unrelated to gameplay — revoke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test is function-fit: does the app's real job require this access? Fake loan and cloned-wallet apps demand SMS specifically to intercept your OTPs.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92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Mobile App Permissions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Fake/cloned 'loan' and 'eSewa/Khalti' apps circulate on Nepali phones demanding SMS access. That's not a coincidence: SMS access lets them read the OTPs sent by your bank and harvest your contacts, so they can drain accounts and then harass your friends and family for 'repayment'. The permission request is the whole attack.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it's on the Play Store, it must be safe." Malicious and cloned apps slip through store review regularly. Check the developer name, the review quality, and the install count — and above all, judge the permissions: an app asking for far more than its function needs is the warning, store or not.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permission is the access (camera, mic, location, SMS, contacts, storage) an app requests, and the rule is least privilege: grant only what the app's function needs, prefer 'while using the app' over 'always', and review/revoke in Settings. Being on an app store is not proof of safety — cloned and fake apps (e.g. loan/wallet apps demanding SMS to steal OTPs) pass review, so over-broad permissions are the real red flag.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permission · least privilege · while-using vs always · revoke in Settings · cloned/fake apps · OTP theft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92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Securing the Phone Itself</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Your phone is a computer holding your money, identity, and OTPs — secure it like one. The essentials: a screen lock + biometrics, a short auto-lock timeout, OS updates, installing only from official stores, and enabling 'Find My Device' / remote wipe. Avoid sideloading APKs shared on Facebook/Messenger.</a:t>
            </a:r>
          </a:p>
          <a:p>
            <a:pPr>
              <a:spcAft>
                <a:spcPts val="500"/>
              </a:spcAft>
            </a:pPr>
            <a:r>
              <a:rPr sz="1200" b="1">
                <a:solidFill>
                  <a:srgbClr val="185FA5"/>
                </a:solidFill>
              </a:rPr>
              <a:t>HOW IT WORKS</a:t>
            </a:r>
          </a:p>
          <a:p>
            <a:pPr>
              <a:spcAft>
                <a:spcPts val="600"/>
              </a:spcAft>
            </a:pPr>
            <a:r>
              <a:rPr sz="1400">
                <a:solidFill>
                  <a:srgbClr val="1A1A1A"/>
                </a:solidFill>
              </a:rPr>
              <a:t>•  Screen lock + biometrics + short auto-lock means a lost phone doesn't hand over everything.</a:t>
            </a:r>
          </a:p>
          <a:p>
            <a:pPr>
              <a:spcAft>
                <a:spcPts val="600"/>
              </a:spcAft>
            </a:pPr>
            <a:r>
              <a:rPr sz="1400">
                <a:solidFill>
                  <a:srgbClr val="1A1A1A"/>
                </a:solidFill>
              </a:rPr>
              <a:t>•  OS + app updates patch the phone just like a laptop — cheap phones that stop updating age dangerously.</a:t>
            </a:r>
          </a:p>
          <a:p>
            <a:pPr>
              <a:spcAft>
                <a:spcPts val="600"/>
              </a:spcAft>
            </a:pPr>
            <a:r>
              <a:rPr sz="1400">
                <a:solidFill>
                  <a:srgbClr val="1A1A1A"/>
                </a:solidFill>
              </a:rPr>
              <a:t>•  Official stores only; sideloaded APKs from Facebook groups are a common malware route.</a:t>
            </a:r>
          </a:p>
          <a:p>
            <a:pPr>
              <a:spcAft>
                <a:spcPts val="600"/>
              </a:spcAft>
            </a:pPr>
            <a:r>
              <a:rPr sz="1400">
                <a:solidFill>
                  <a:srgbClr val="1A1A1A"/>
                </a:solidFill>
              </a:rPr>
              <a:t>•  'Find My Device' / remote wipe lets you locate or erase a lost or stolen phone.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Your phone holds your bank and your OTPs — lock it, update it, and be able to wipe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92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Phone-hardening habits — strong vs weak</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697260"/>
                <a:gridCol w="2035479"/>
                <a:gridCol w="4697260"/>
              </a:tblGrid>
              <a:tr h="630936">
                <a:tc>
                  <a:txBody>
                    <a:bodyPr wrap="square"/>
                    <a:lstStyle/>
                    <a:p>
                      <a:r>
                        <a:rPr sz="1150" b="1">
                          <a:solidFill>
                            <a:srgbClr val="FFFFFF"/>
                          </a:solidFill>
                        </a:rPr>
                        <a:t>Habit</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 (consequence)</a:t>
                      </a:r>
                    </a:p>
                  </a:txBody>
                  <a:tcPr anchor="ctr" marL="73152" marR="54864" marT="27432" marB="27432">
                    <a:solidFill>
                      <a:srgbClr val="0C2B4A"/>
                    </a:solidFill>
                  </a:tcPr>
                </a:tc>
              </a:tr>
              <a:tr h="630936">
                <a:tc>
                  <a:txBody>
                    <a:bodyPr wrap="square"/>
                    <a:lstStyle/>
                    <a:p>
                      <a:r>
                        <a:rPr sz="1100" b="1">
                          <a:solidFill>
                            <a:srgbClr val="0C2B4A"/>
                          </a:solidFill>
                        </a:rPr>
                        <a:t>Biometric lock + 30-sec auto-lock</a:t>
                      </a:r>
                    </a:p>
                  </a:txBody>
                  <a:tcPr anchor="ctr" marL="73152" marR="54864" marT="27432" marB="27432">
                    <a:solidFill>
                      <a:srgbClr val="FFFFFF"/>
                    </a:solidFill>
                  </a:tcPr>
                </a:tc>
                <a:tc>
                  <a:txBody>
                    <a:bodyPr wrap="square"/>
                    <a:lstStyle/>
                    <a:p>
                      <a:r>
                        <a:rPr sz="1100">
                          <a:solidFill>
                            <a:srgbClr val="1A1A1A"/>
                          </a:solidFill>
                        </a:rPr>
                        <a:t>Strong</a:t>
                      </a:r>
                    </a:p>
                  </a:txBody>
                  <a:tcPr anchor="ctr" marL="73152" marR="54864" marT="27432" marB="27432">
                    <a:solidFill>
                      <a:srgbClr val="FFFFFF"/>
                    </a:solidFill>
                  </a:tcPr>
                </a:tc>
                <a:tc>
                  <a:txBody>
                    <a:bodyPr wrap="square"/>
                    <a:lstStyle/>
                    <a:p>
                      <a:r>
                        <a:rPr sz="1100">
                          <a:solidFill>
                            <a:srgbClr val="1A1A1A"/>
                          </a:solidFill>
                        </a:rPr>
                        <a:t>A lost phone stays locked to a thief</a:t>
                      </a:r>
                    </a:p>
                  </a:txBody>
                  <a:tcPr anchor="ctr" marL="73152" marR="54864" marT="27432" marB="27432">
                    <a:solidFill>
                      <a:srgbClr val="FFFFFF"/>
                    </a:solidFill>
                  </a:tcPr>
                </a:tc>
              </a:tr>
              <a:tr h="630936">
                <a:tc>
                  <a:txBody>
                    <a:bodyPr wrap="square"/>
                    <a:lstStyle/>
                    <a:p>
                      <a:r>
                        <a:rPr sz="1100" b="1">
                          <a:solidFill>
                            <a:srgbClr val="0C2B4A"/>
                          </a:solidFill>
                        </a:rPr>
                        <a:t>No lock 'because it's faster'</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Anyone who grabs it owns your accounts + OTPs</a:t>
                      </a:r>
                    </a:p>
                  </a:txBody>
                  <a:tcPr anchor="ctr" marL="73152" marR="54864" marT="27432" marB="27432">
                    <a:solidFill>
                      <a:srgbClr val="EEF3F8"/>
                    </a:solidFill>
                  </a:tcPr>
                </a:tc>
              </a:tr>
              <a:tr h="630936">
                <a:tc>
                  <a:txBody>
                    <a:bodyPr wrap="square"/>
                    <a:lstStyle/>
                    <a:p>
                      <a:r>
                        <a:rPr sz="1100" b="1">
                          <a:solidFill>
                            <a:srgbClr val="0C2B4A"/>
                          </a:solidFill>
                        </a:rPr>
                        <a:t>Installing a 'Dashain offer' APK from Messenger</a:t>
                      </a:r>
                    </a:p>
                  </a:txBody>
                  <a:tcPr anchor="ctr" marL="73152" marR="54864" marT="27432" marB="27432">
                    <a:solidFill>
                      <a:srgbClr val="FFFFFF"/>
                    </a:solidFill>
                  </a:tcPr>
                </a:tc>
                <a:tc>
                  <a:txBody>
                    <a:bodyPr wrap="square"/>
                    <a:lstStyle/>
                    <a:p>
                      <a:r>
                        <a:rPr sz="1100">
                          <a:solidFill>
                            <a:srgbClr val="1A1A1A"/>
                          </a:solidFill>
                        </a:rPr>
                        <a:t>Dangerous</a:t>
                      </a:r>
                    </a:p>
                  </a:txBody>
                  <a:tcPr anchor="ctr" marL="73152" marR="54864" marT="27432" marB="27432">
                    <a:solidFill>
                      <a:srgbClr val="FFFFFF"/>
                    </a:solidFill>
                  </a:tcPr>
                </a:tc>
                <a:tc>
                  <a:txBody>
                    <a:bodyPr wrap="square"/>
                    <a:lstStyle/>
                    <a:p>
                      <a:r>
                        <a:rPr sz="1100">
                          <a:solidFill>
                            <a:srgbClr val="1A1A1A"/>
                          </a:solidFill>
                        </a:rPr>
                        <a:t>Banking trojans arrive exactly this way</a:t>
                      </a:r>
                    </a:p>
                  </a:txBody>
                  <a:tcPr anchor="ctr" marL="73152" marR="54864" marT="27432" marB="27432">
                    <a:solidFill>
                      <a:srgbClr val="FFFFFF"/>
                    </a:solidFill>
                  </a:tcPr>
                </a:tc>
              </a:tr>
              <a:tr h="630936">
                <a:tc>
                  <a:txBody>
                    <a:bodyPr wrap="square"/>
                    <a:lstStyle/>
                    <a:p>
                      <a:r>
                        <a:rPr sz="1100" b="1">
                          <a:solidFill>
                            <a:srgbClr val="0C2B4A"/>
                          </a:solidFill>
                        </a:rPr>
                        <a:t>Apps only from the official store</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Far lower chance of malware</a:t>
                      </a:r>
                    </a:p>
                  </a:txBody>
                  <a:tcPr anchor="ctr" marL="73152" marR="54864" marT="27432" marB="27432">
                    <a:solidFill>
                      <a:srgbClr val="EEF3F8"/>
                    </a:solidFill>
                  </a:tcPr>
                </a:tc>
              </a:tr>
              <a:tr h="630936">
                <a:tc>
                  <a:txBody>
                    <a:bodyPr wrap="square"/>
                    <a:lstStyle/>
                    <a:p>
                      <a:r>
                        <a:rPr sz="1100" b="1">
                          <a:solidFill>
                            <a:srgbClr val="0C2B4A"/>
                          </a:solidFill>
                        </a:rPr>
                        <a:t>Cheap phone that stopped updating a year ago</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Unpatched holes never get fixed</a:t>
                      </a:r>
                    </a:p>
                  </a:txBody>
                  <a:tcPr anchor="ctr" marL="73152" marR="54864" marT="27432" marB="27432">
                    <a:solidFill>
                      <a:srgbClr val="FFFFFF"/>
                    </a:solidFill>
                  </a:tcPr>
                </a:tc>
              </a:tr>
              <a:tr h="630936">
                <a:tc>
                  <a:txBody>
                    <a:bodyPr wrap="square"/>
                    <a:lstStyle/>
                    <a:p>
                      <a:r>
                        <a:rPr sz="1100" b="1">
                          <a:solidFill>
                            <a:srgbClr val="0C2B4A"/>
                          </a:solidFill>
                        </a:rPr>
                        <a:t>'Find My Device' + remote wipe enabled</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Locate or erase a lost/stolen phone remotely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phone is a bank, an ID, and an OTP inbox in your pocket. Sideloaded APKs and no screen lock are the two habits that most often end in account takeover.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92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Securing the Phone Itself</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'Dashain offer — win an iPhone!' link asks you to install an APK outside the Play Store. That APK is typically a banking trojan: once installed, it reads your OTP SMS and drains your wallet. Cheap Android phones in Nepal that stop getting updates after a year make this worse — the holes the trojan uses never get patched.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"iPhones can't get hacked, so I don't need to worry." Less-common is not immune — phishing, account theft, and malicious profiles hit any platform. Security is about your habits (locks, updates, official stores, remote wipe), not a brand badge.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Securing the phone means treating it as the computer it is: a screen lock plus biometrics, a short auto-lock timeout, OS/app updates, installing only from official stores (never sideloaded APKs from social media), and enabling Find My Device / remote wipe. Cheap phones that stop updating age into risk, and no platform is immune — phishing and account theft hit iPhone and Android alike, so habits matter more than brand.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screen lock · auto-lock · OS updates · official stores only · sideloading APKs · Find My Device / remote wipe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92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Mobile Banking &amp; Wallet Safety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Mobile-money is a top target in Nepal, so guard the keys. Use an app-specific PIN, NEVER share your OTP or MPIN, beware SIM-swap, log out on shared devices, and watch URLs (esewa.com.np vs lookalikes). The core rule: eSewa, Khalti, and banks NEVER ask for your OTP or MPIN.</a:t>
            </a:r>
          </a:p>
          <a:p>
            <a:pPr>
              <a:spcAft>
                <a:spcPts val="500"/>
              </a:spcAft>
            </a:pPr>
            <a:r>
              <a:rPr sz="1200" b="1">
                <a:solidFill>
                  <a:srgbClr val="185FA5"/>
                </a:solidFill>
              </a:rPr>
              <a:t>HOW IT WORKS</a:t>
            </a:r>
          </a:p>
          <a:p>
            <a:pPr>
              <a:spcAft>
                <a:spcPts val="600"/>
              </a:spcAft>
            </a:pPr>
            <a:r>
              <a:rPr sz="1400">
                <a:solidFill>
                  <a:srgbClr val="1A1A1A"/>
                </a:solidFill>
              </a:rPr>
              <a:t>•  An OTP/MPIN is the last key to your money — anyone who has it can move your funds.</a:t>
            </a:r>
          </a:p>
          <a:p>
            <a:pPr>
              <a:spcAft>
                <a:spcPts val="600"/>
              </a:spcAft>
            </a:pPr>
            <a:r>
              <a:rPr sz="1400">
                <a:solidFill>
                  <a:srgbClr val="1A1A1A"/>
                </a:solidFill>
              </a:rPr>
              <a:t>•  SIM-swap: an attacker ports your number to their SIM to receive your OTPs — protect your SIM/number.</a:t>
            </a:r>
          </a:p>
          <a:p>
            <a:pPr>
              <a:spcAft>
                <a:spcPts val="600"/>
              </a:spcAft>
            </a:pPr>
            <a:r>
              <a:rPr sz="1400">
                <a:solidFill>
                  <a:srgbClr val="1A1A1A"/>
                </a:solidFill>
              </a:rPr>
              <a:t>•  Check the real domain (esewa.com.np) — lookalike sites and links harvest your login.</a:t>
            </a:r>
          </a:p>
          <a:p>
            <a:pPr>
              <a:spcAft>
                <a:spcPts val="600"/>
              </a:spcAft>
            </a:pPr>
            <a:r>
              <a:rPr sz="1400">
                <a:solidFill>
                  <a:srgbClr val="1A1A1A"/>
                </a:solidFill>
              </a:rPr>
              <a:t>•  Log out of wallet/banking on any shared or cyber-café device; never save the password there.</a:t>
            </a:r>
          </a:p>
        </p:txBody>
      </p:sp>
      <p:pic>
        <p:nvPicPr>
          <p:cNvPr id="6" name="Picture 5" descr="s29_otp_scam.png"/>
          <p:cNvPicPr>
            <a:picLocks noChangeAspect="1"/>
          </p:cNvPicPr>
          <p:nvPr/>
        </p:nvPicPr>
        <p:blipFill>
          <a:blip r:embed="rId2"/>
          <a:stretch>
            <a:fillRect/>
          </a:stretch>
        </p:blipFill>
        <p:spPr>
          <a:xfrm>
            <a:off x="6355080" y="2415018"/>
            <a:ext cx="5532120" cy="280520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eSewa/Khalti/banks NEVER ask for your OTP — sharing it hands over your money.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92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OTP / wallet scams — spot the red flag and respond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942702"/>
                <a:gridCol w="2625810"/>
                <a:gridCol w="3861486"/>
              </a:tblGrid>
              <a:tr h="630936">
                <a:tc>
                  <a:txBody>
                    <a:bodyPr wrap="square"/>
                    <a:lstStyle/>
                    <a:p>
                      <a:r>
                        <a:rPr sz="1150" b="1">
                          <a:solidFill>
                            <a:srgbClr val="FFFFFF"/>
                          </a:solidFill>
                        </a:rPr>
                        <a:t>Scenario (Nepal)</a:t>
                      </a:r>
                    </a:p>
                  </a:txBody>
                  <a:tcPr anchor="ctr" marL="73152" marR="54864" marT="27432" marB="27432">
                    <a:solidFill>
                      <a:srgbClr val="0C2B4A"/>
                    </a:solidFill>
                  </a:tcPr>
                </a:tc>
                <a:tc>
                  <a:txBody>
                    <a:bodyPr wrap="square"/>
                    <a:lstStyle/>
                    <a:p>
                      <a:r>
                        <a:rPr sz="1150" b="1">
                          <a:solidFill>
                            <a:srgbClr val="FFFFFF"/>
                          </a:solidFill>
                        </a:rPr>
                        <a:t>Red flag</a:t>
                      </a:r>
                    </a:p>
                  </a:txBody>
                  <a:tcPr anchor="ctr" marL="73152" marR="54864" marT="27432" marB="27432">
                    <a:solidFill>
                      <a:srgbClr val="0C2B4A"/>
                    </a:solidFill>
                  </a:tcPr>
                </a:tc>
                <a:tc>
                  <a:txBody>
                    <a:bodyPr wrap="square"/>
                    <a:lstStyle/>
                    <a:p>
                      <a:r>
                        <a:rPr sz="1150" b="1">
                          <a:solidFill>
                            <a:srgbClr val="FFFFFF"/>
                          </a:solidFill>
                        </a:rPr>
                        <a:t>Correct response</a:t>
                      </a:r>
                    </a:p>
                  </a:txBody>
                  <a:tcPr anchor="ctr" marL="73152" marR="54864" marT="27432" marB="27432">
                    <a:solidFill>
                      <a:srgbClr val="0C2B4A"/>
                    </a:solidFill>
                  </a:tcPr>
                </a:tc>
              </a:tr>
              <a:tr h="630936">
                <a:tc>
                  <a:txBody>
                    <a:bodyPr wrap="square"/>
                    <a:lstStyle/>
                    <a:p>
                      <a:r>
                        <a:rPr sz="1100" b="1">
                          <a:solidFill>
                            <a:srgbClr val="0C2B4A"/>
                          </a:solidFill>
                        </a:rPr>
                        <a:t>Call: 'I'm from eSewa, read the OTP to reverse a wrong transfer'</a:t>
                      </a:r>
                    </a:p>
                  </a:txBody>
                  <a:tcPr anchor="ctr" marL="73152" marR="54864" marT="27432" marB="27432">
                    <a:solidFill>
                      <a:srgbClr val="FFFFFF"/>
                    </a:solidFill>
                  </a:tcPr>
                </a:tc>
                <a:tc>
                  <a:txBody>
                    <a:bodyPr wrap="square"/>
                    <a:lstStyle/>
                    <a:p>
                      <a:r>
                        <a:rPr sz="1100">
                          <a:solidFill>
                            <a:srgbClr val="1A1A1A"/>
                          </a:solidFill>
                        </a:rPr>
                        <a:t>Asks for OTP + urgency</a:t>
                      </a:r>
                    </a:p>
                  </a:txBody>
                  <a:tcPr anchor="ctr" marL="73152" marR="54864" marT="27432" marB="27432">
                    <a:solidFill>
                      <a:srgbClr val="FFFFFF"/>
                    </a:solidFill>
                  </a:tcPr>
                </a:tc>
                <a:tc>
                  <a:txBody>
                    <a:bodyPr wrap="square"/>
                    <a:lstStyle/>
                    <a:p>
                      <a:r>
                        <a:rPr sz="1100">
                          <a:solidFill>
                            <a:srgbClr val="1A1A1A"/>
                          </a:solidFill>
                        </a:rPr>
                        <a:t>Refuse and hang up — they never ask for OTP</a:t>
                      </a:r>
                    </a:p>
                  </a:txBody>
                  <a:tcPr anchor="ctr" marL="73152" marR="54864" marT="27432" marB="27432">
                    <a:solidFill>
                      <a:srgbClr val="FFFFFF"/>
                    </a:solidFill>
                  </a:tcPr>
                </a:tc>
              </a:tr>
              <a:tr h="630936">
                <a:tc>
                  <a:txBody>
                    <a:bodyPr wrap="square"/>
                    <a:lstStyle/>
                    <a:p>
                      <a:r>
                        <a:rPr sz="1100" b="1">
                          <a:solidFill>
                            <a:srgbClr val="0C2B4A"/>
                          </a:solidFill>
                        </a:rPr>
                        <a:t>SMS link: 'Verify your Khalti account now or it's blocked'</a:t>
                      </a:r>
                    </a:p>
                  </a:txBody>
                  <a:tcPr anchor="ctr" marL="73152" marR="54864" marT="27432" marB="27432">
                    <a:solidFill>
                      <a:srgbClr val="EEF3F8"/>
                    </a:solidFill>
                  </a:tcPr>
                </a:tc>
                <a:tc>
                  <a:txBody>
                    <a:bodyPr wrap="square"/>
                    <a:lstStyle/>
                    <a:p>
                      <a:r>
                        <a:rPr sz="1100">
                          <a:solidFill>
                            <a:srgbClr val="1A1A1A"/>
                          </a:solidFill>
                        </a:rPr>
                        <a:t>Threat + unknown link</a:t>
                      </a:r>
                    </a:p>
                  </a:txBody>
                  <a:tcPr anchor="ctr" marL="73152" marR="54864" marT="27432" marB="27432">
                    <a:solidFill>
                      <a:srgbClr val="EEF3F8"/>
                    </a:solidFill>
                  </a:tcPr>
                </a:tc>
                <a:tc>
                  <a:txBody>
                    <a:bodyPr wrap="square"/>
                    <a:lstStyle/>
                    <a:p>
                      <a:r>
                        <a:rPr sz="1100">
                          <a:solidFill>
                            <a:srgbClr val="1A1A1A"/>
                          </a:solidFill>
                        </a:rPr>
                        <a:t>Don't click; open the app directly</a:t>
                      </a:r>
                    </a:p>
                  </a:txBody>
                  <a:tcPr anchor="ctr" marL="73152" marR="54864" marT="27432" marB="27432">
                    <a:solidFill>
                      <a:srgbClr val="EEF3F8"/>
                    </a:solidFill>
                  </a:tcPr>
                </a:tc>
              </a:tr>
              <a:tr h="630936">
                <a:tc>
                  <a:txBody>
                    <a:bodyPr wrap="square"/>
                    <a:lstStyle/>
                    <a:p>
                      <a:r>
                        <a:rPr sz="1100" b="1">
                          <a:solidFill>
                            <a:srgbClr val="0C2B4A"/>
                          </a:solidFill>
                        </a:rPr>
                        <a:t>Caller already knows your name and number</a:t>
                      </a:r>
                    </a:p>
                  </a:txBody>
                  <a:tcPr anchor="ctr" marL="73152" marR="54864" marT="27432" marB="27432">
                    <a:solidFill>
                      <a:srgbClr val="FFFFFF"/>
                    </a:solidFill>
                  </a:tcPr>
                </a:tc>
                <a:tc>
                  <a:txBody>
                    <a:bodyPr wrap="square"/>
                    <a:lstStyle/>
                    <a:p>
                      <a:r>
                        <a:rPr sz="1100">
                          <a:solidFill>
                            <a:srgbClr val="1A1A1A"/>
                          </a:solidFill>
                        </a:rPr>
                        <a:t>Feels 'legit'</a:t>
                      </a:r>
                    </a:p>
                  </a:txBody>
                  <a:tcPr anchor="ctr" marL="73152" marR="54864" marT="27432" marB="27432">
                    <a:solidFill>
                      <a:srgbClr val="FFFFFF"/>
                    </a:solidFill>
                  </a:tcPr>
                </a:tc>
                <a:tc>
                  <a:txBody>
                    <a:bodyPr wrap="square"/>
                    <a:lstStyle/>
                    <a:p>
                      <a:r>
                        <a:rPr sz="1100">
                          <a:solidFill>
                            <a:srgbClr val="1A1A1A"/>
                          </a:solidFill>
                        </a:rPr>
                        <a:t>Knowing your name is not proof — still refuse the OTP</a:t>
                      </a:r>
                    </a:p>
                  </a:txBody>
                  <a:tcPr anchor="ctr" marL="73152" marR="54864" marT="27432" marB="27432">
                    <a:solidFill>
                      <a:srgbClr val="FFFFFF"/>
                    </a:solidFill>
                  </a:tcPr>
                </a:tc>
              </a:tr>
              <a:tr h="630936">
                <a:tc>
                  <a:txBody>
                    <a:bodyPr wrap="square"/>
                    <a:lstStyle/>
                    <a:p>
                      <a:r>
                        <a:rPr sz="1100" b="1">
                          <a:solidFill>
                            <a:srgbClr val="0C2B4A"/>
                          </a:solidFill>
                        </a:rPr>
                        <a:t>Site 'esewa-rewards.com' asks you to log in</a:t>
                      </a:r>
                    </a:p>
                  </a:txBody>
                  <a:tcPr anchor="ctr" marL="73152" marR="54864" marT="27432" marB="27432">
                    <a:solidFill>
                      <a:srgbClr val="EEF3F8"/>
                    </a:solidFill>
                  </a:tcPr>
                </a:tc>
                <a:tc>
                  <a:txBody>
                    <a:bodyPr wrap="square"/>
                    <a:lstStyle/>
                    <a:p>
                      <a:r>
                        <a:rPr sz="1100">
                          <a:solidFill>
                            <a:srgbClr val="1A1A1A"/>
                          </a:solidFill>
                        </a:rPr>
                        <a:t>Lookalike domain</a:t>
                      </a:r>
                    </a:p>
                  </a:txBody>
                  <a:tcPr anchor="ctr" marL="73152" marR="54864" marT="27432" marB="27432">
                    <a:solidFill>
                      <a:srgbClr val="EEF3F8"/>
                    </a:solidFill>
                  </a:tcPr>
                </a:tc>
                <a:tc>
                  <a:txBody>
                    <a:bodyPr wrap="square"/>
                    <a:lstStyle/>
                    <a:p>
                      <a:r>
                        <a:rPr sz="1100">
                          <a:solidFill>
                            <a:srgbClr val="1A1A1A"/>
                          </a:solidFill>
                        </a:rPr>
                        <a:t>Only trust esewa.com.np / the official app</a:t>
                      </a:r>
                    </a:p>
                  </a:txBody>
                  <a:tcPr anchor="ctr" marL="73152" marR="54864" marT="27432" marB="27432">
                    <a:solidFill>
                      <a:srgbClr val="EEF3F8"/>
                    </a:solidFill>
                  </a:tcPr>
                </a:tc>
              </a:tr>
              <a:tr h="630936">
                <a:tc>
                  <a:txBody>
                    <a:bodyPr wrap="square"/>
                    <a:lstStyle/>
                    <a:p>
                      <a:r>
                        <a:rPr sz="1100" b="1">
                          <a:solidFill>
                            <a:srgbClr val="0C2B4A"/>
                          </a:solidFill>
                        </a:rPr>
                        <a:t>Your number suddenly loses signal, then OTPs stop</a:t>
                      </a:r>
                    </a:p>
                  </a:txBody>
                  <a:tcPr anchor="ctr" marL="73152" marR="54864" marT="27432" marB="27432">
                    <a:solidFill>
                      <a:srgbClr val="FFFFFF"/>
                    </a:solidFill>
                  </a:tcPr>
                </a:tc>
                <a:tc>
                  <a:txBody>
                    <a:bodyPr wrap="square"/>
                    <a:lstStyle/>
                    <a:p>
                      <a:r>
                        <a:rPr sz="1100">
                          <a:solidFill>
                            <a:srgbClr val="1A1A1A"/>
                          </a:solidFill>
                        </a:rPr>
                        <a:t>Possible SIM-swap</a:t>
                      </a:r>
                    </a:p>
                  </a:txBody>
                  <a:tcPr anchor="ctr" marL="73152" marR="54864" marT="27432" marB="27432">
                    <a:solidFill>
                      <a:srgbClr val="FFFFFF"/>
                    </a:solidFill>
                  </a:tcPr>
                </a:tc>
                <a:tc>
                  <a:txBody>
                    <a:bodyPr wrap="square"/>
                    <a:lstStyle/>
                    <a:p>
                      <a:r>
                        <a:rPr sz="1100">
                          <a:solidFill>
                            <a:srgbClr val="1A1A1A"/>
                          </a:solidFill>
                        </a:rPr>
                        <a:t>Contact your telco/bank immediately</a:t>
                      </a:r>
                    </a:p>
                  </a:txBody>
                  <a:tcPr anchor="ctr" marL="73152" marR="54864" marT="27432" marB="27432">
                    <a:solidFill>
                      <a:srgbClr val="FFFFFF"/>
                    </a:solidFill>
                  </a:tcPr>
                </a:tc>
              </a:tr>
              <a:tr h="630936">
                <a:tc>
                  <a:txBody>
                    <a:bodyPr wrap="square"/>
                    <a:lstStyle/>
                    <a:p>
                      <a:r>
                        <a:rPr sz="1100" b="1">
                          <a:solidFill>
                            <a:srgbClr val="0C2B4A"/>
                          </a:solidFill>
                        </a:rPr>
                        <a:t>Login saved on a cyber-café PC</a:t>
                      </a:r>
                    </a:p>
                  </a:txBody>
                  <a:tcPr anchor="ctr" marL="73152" marR="54864" marT="27432" marB="27432">
                    <a:solidFill>
                      <a:srgbClr val="EEF3F8"/>
                    </a:solidFill>
                  </a:tcPr>
                </a:tc>
                <a:tc>
                  <a:txBody>
                    <a:bodyPr wrap="square"/>
                    <a:lstStyle/>
                    <a:p>
                      <a:r>
                        <a:rPr sz="1100">
                          <a:solidFill>
                            <a:srgbClr val="1A1A1A"/>
                          </a:solidFill>
                        </a:rPr>
                        <a:t>Shared device</a:t>
                      </a:r>
                    </a:p>
                  </a:txBody>
                  <a:tcPr anchor="ctr" marL="73152" marR="54864" marT="27432" marB="27432">
                    <a:solidFill>
                      <a:srgbClr val="EEF3F8"/>
                    </a:solidFill>
                  </a:tcPr>
                </a:tc>
                <a:tc>
                  <a:txBody>
                    <a:bodyPr wrap="square"/>
                    <a:lstStyle/>
                    <a:p>
                      <a:r>
                        <a:rPr sz="1100">
                          <a:solidFill>
                            <a:srgbClr val="1A1A1A"/>
                          </a:solidFill>
                        </a:rPr>
                        <a:t>Log out; never save credentials there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One rule covers most of these: a real bank/wallet NEVER asks for your OTP or MPIN. Unsolicited + urgency + asks-for-OTP = scam, every time.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92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Mobile Banking &amp; Wallet Safety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classic Nepali scam: a call — 'I'm from eSewa/your bank, a wrong transfer hit your account, tell me the OTP to reverse it.' Sharing the OTP doesn't reverse anything; it authorises THEIR transfer out of your wallet. eSewa, Khalti, and every bank state plainly that they never ask for your OTP or MPIN — so the request itself is the proof of a scam.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"Telling the OTP is fine if they already know my name and number." An OTP is the LAST key — sharing it hands over your money regardless of what else the caller knows. Scammers buy or guess names and numbers precisely to sound legit; the one thing they still need is the OTP you must never give.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Mobile banking/wallet safety means guarding the keys: an app-specific PIN, never sharing your OTP or MPIN, watching for SIM-swap, logging out on shared devices, and checking the real domain (esewa.com.np) against lookalikes. The anchoring rule is that eSewa, Khalti, and banks never ask for your OTP/MPIN, so any unsolicited, urgent request for it — however much the caller seems to know — is a scam to refuse and report.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OTP / MPIN · never share · SIM-swap · lookalike domains · log out on shared devices · banks never ask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92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Internet of Things (IoT) Risks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IoT devices are everyday things with internet connectivity — IP/CCTV cameras, smart bulbs, smart TVs, routers, smartwatches. They tend to ship with default passwords, get few or no updates, are always-on, and are usually unmonitored — which makes them easy bots. The Mirai botnet enslaved millions of IoT devices using default passwords alone.</a:t>
            </a:r>
          </a:p>
          <a:p>
            <a:pPr>
              <a:spcAft>
                <a:spcPts val="500"/>
              </a:spcAft>
            </a:pPr>
            <a:r>
              <a:rPr sz="1200" b="1">
                <a:solidFill>
                  <a:srgbClr val="185FA5"/>
                </a:solidFill>
              </a:rPr>
              <a:t>HOW IT WORKS</a:t>
            </a:r>
          </a:p>
          <a:p>
            <a:pPr>
              <a:spcAft>
                <a:spcPts val="600"/>
              </a:spcAft>
            </a:pPr>
            <a:r>
              <a:rPr sz="1400">
                <a:solidFill>
                  <a:srgbClr val="1A1A1A"/>
                </a:solidFill>
              </a:rPr>
              <a:t>•  Default passwords ('admin/admin') on a device reachable online = anyone can log in.</a:t>
            </a:r>
          </a:p>
          <a:p>
            <a:pPr>
              <a:spcAft>
                <a:spcPts val="600"/>
              </a:spcAft>
            </a:pPr>
            <a:r>
              <a:rPr sz="1400">
                <a:solidFill>
                  <a:srgbClr val="1A1A1A"/>
                </a:solidFill>
              </a:rPr>
              <a:t>•  Rare/no updates mean known holes stay open for the device's whole life.</a:t>
            </a:r>
          </a:p>
          <a:p>
            <a:pPr>
              <a:spcAft>
                <a:spcPts val="600"/>
              </a:spcAft>
            </a:pPr>
            <a:r>
              <a:rPr sz="1400">
                <a:solidFill>
                  <a:srgbClr val="1A1A1A"/>
                </a:solidFill>
              </a:rPr>
              <a:t>•  Always-on and unmonitored: nobody notices when an IoT device is misused.</a:t>
            </a:r>
          </a:p>
          <a:p>
            <a:pPr>
              <a:spcAft>
                <a:spcPts val="600"/>
              </a:spcAft>
            </a:pPr>
            <a:r>
              <a:rPr sz="1400">
                <a:solidFill>
                  <a:srgbClr val="1A1A1A"/>
                </a:solidFill>
              </a:rPr>
              <a:t>•  Compromised IoT devices get herded into botnets (Mirai) to attack others — or to spy on you.</a:t>
            </a:r>
          </a:p>
        </p:txBody>
      </p:sp>
      <p:pic>
        <p:nvPicPr>
          <p:cNvPr id="6" name="Picture 5" descr="s29_iot_home.png"/>
          <p:cNvPicPr>
            <a:picLocks noChangeAspect="1"/>
          </p:cNvPicPr>
          <p:nvPr/>
        </p:nvPicPr>
        <p:blipFill>
          <a:blip r:embed="rId2"/>
          <a:stretch>
            <a:fillRect/>
          </a:stretch>
        </p:blipFill>
        <p:spPr>
          <a:xfrm>
            <a:off x="6355080" y="2349218"/>
            <a:ext cx="5532120" cy="2936804"/>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An IoT device on its default password is a house where the builder's key still works.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92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IoT devices are easy targets — and the fix</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88082"/>
                <a:gridCol w="4227534"/>
                <a:gridCol w="3914383"/>
              </a:tblGrid>
              <a:tr h="736092">
                <a:tc>
                  <a:txBody>
                    <a:bodyPr wrap="square"/>
                    <a:lstStyle/>
                    <a:p>
                      <a:r>
                        <a:rPr sz="1150" b="1">
                          <a:solidFill>
                            <a:srgbClr val="FFFFFF"/>
                          </a:solidFill>
                        </a:rPr>
                        <a:t>IoT weakness</a:t>
                      </a:r>
                    </a:p>
                  </a:txBody>
                  <a:tcPr anchor="ctr" marL="73152" marR="54864" marT="27432" marB="27432">
                    <a:solidFill>
                      <a:srgbClr val="0C2B4A"/>
                    </a:solidFill>
                  </a:tcPr>
                </a:tc>
                <a:tc>
                  <a:txBody>
                    <a:bodyPr wrap="square"/>
                    <a:lstStyle/>
                    <a:p>
                      <a:r>
                        <a:rPr sz="1150" b="1">
                          <a:solidFill>
                            <a:srgbClr val="FFFFFF"/>
                          </a:solidFill>
                        </a:rPr>
                        <a:t>Why it's dangerous</a:t>
                      </a:r>
                    </a:p>
                  </a:txBody>
                  <a:tcPr anchor="ctr" marL="73152" marR="54864" marT="27432" marB="27432">
                    <a:solidFill>
                      <a:srgbClr val="0C2B4A"/>
                    </a:solidFill>
                  </a:tcPr>
                </a:tc>
                <a:tc>
                  <a:txBody>
                    <a:bodyPr wrap="square"/>
                    <a:lstStyle/>
                    <a:p>
                      <a:r>
                        <a:rPr sz="1150" b="1">
                          <a:solidFill>
                            <a:srgbClr val="FFFFFF"/>
                          </a:solidFill>
                        </a:rPr>
                        <a:t>The fix</a:t>
                      </a:r>
                    </a:p>
                  </a:txBody>
                  <a:tcPr anchor="ctr" marL="73152" marR="54864" marT="27432" marB="27432">
                    <a:solidFill>
                      <a:srgbClr val="0C2B4A"/>
                    </a:solidFill>
                  </a:tcPr>
                </a:tc>
              </a:tr>
              <a:tr h="736092">
                <a:tc>
                  <a:txBody>
                    <a:bodyPr wrap="square"/>
                    <a:lstStyle/>
                    <a:p>
                      <a:r>
                        <a:rPr sz="1100" b="1">
                          <a:solidFill>
                            <a:srgbClr val="0C2B4A"/>
                          </a:solidFill>
                        </a:rPr>
                        <a:t>Default password (admin/admin)</a:t>
                      </a:r>
                    </a:p>
                  </a:txBody>
                  <a:tcPr anchor="ctr" marL="73152" marR="54864" marT="27432" marB="27432">
                    <a:solidFill>
                      <a:srgbClr val="FFFFFF"/>
                    </a:solidFill>
                  </a:tcPr>
                </a:tc>
                <a:tc>
                  <a:txBody>
                    <a:bodyPr wrap="square"/>
                    <a:lstStyle/>
                    <a:p>
                      <a:r>
                        <a:rPr sz="1100">
                          <a:solidFill>
                            <a:srgbClr val="1A1A1A"/>
                          </a:solidFill>
                        </a:rPr>
                        <a:t>Anyone online can just log in</a:t>
                      </a:r>
                    </a:p>
                  </a:txBody>
                  <a:tcPr anchor="ctr" marL="73152" marR="54864" marT="27432" marB="27432">
                    <a:solidFill>
                      <a:srgbClr val="FFFFFF"/>
                    </a:solidFill>
                  </a:tcPr>
                </a:tc>
                <a:tc>
                  <a:txBody>
                    <a:bodyPr wrap="square"/>
                    <a:lstStyle/>
                    <a:p>
                      <a:r>
                        <a:rPr sz="1100">
                          <a:solidFill>
                            <a:srgbClr val="1A1A1A"/>
                          </a:solidFill>
                        </a:rPr>
                        <a:t>Change it on first setup</a:t>
                      </a:r>
                    </a:p>
                  </a:txBody>
                  <a:tcPr anchor="ctr" marL="73152" marR="54864" marT="27432" marB="27432">
                    <a:solidFill>
                      <a:srgbClr val="FFFFFF"/>
                    </a:solidFill>
                  </a:tcPr>
                </a:tc>
              </a:tr>
              <a:tr h="736092">
                <a:tc>
                  <a:txBody>
                    <a:bodyPr wrap="square"/>
                    <a:lstStyle/>
                    <a:p>
                      <a:r>
                        <a:rPr sz="1100" b="1">
                          <a:solidFill>
                            <a:srgbClr val="0C2B4A"/>
                          </a:solidFill>
                        </a:rPr>
                        <a:t>Rare or no firmware updates</a:t>
                      </a:r>
                    </a:p>
                  </a:txBody>
                  <a:tcPr anchor="ctr" marL="73152" marR="54864" marT="27432" marB="27432">
                    <a:solidFill>
                      <a:srgbClr val="EEF3F8"/>
                    </a:solidFill>
                  </a:tcPr>
                </a:tc>
                <a:tc>
                  <a:txBody>
                    <a:bodyPr wrap="square"/>
                    <a:lstStyle/>
                    <a:p>
                      <a:r>
                        <a:rPr sz="1100">
                          <a:solidFill>
                            <a:srgbClr val="1A1A1A"/>
                          </a:solidFill>
                        </a:rPr>
                        <a:t>Known holes stay open for years</a:t>
                      </a:r>
                    </a:p>
                  </a:txBody>
                  <a:tcPr anchor="ctr" marL="73152" marR="54864" marT="27432" marB="27432">
                    <a:solidFill>
                      <a:srgbClr val="EEF3F8"/>
                    </a:solidFill>
                  </a:tcPr>
                </a:tc>
                <a:tc>
                  <a:txBody>
                    <a:bodyPr wrap="square"/>
                    <a:lstStyle/>
                    <a:p>
                      <a:r>
                        <a:rPr sz="1100">
                          <a:solidFill>
                            <a:srgbClr val="1A1A1A"/>
                          </a:solidFill>
                        </a:rPr>
                        <a:t>Update firmware; retire unsupported devices</a:t>
                      </a:r>
                    </a:p>
                  </a:txBody>
                  <a:tcPr anchor="ctr" marL="73152" marR="54864" marT="27432" marB="27432">
                    <a:solidFill>
                      <a:srgbClr val="EEF3F8"/>
                    </a:solidFill>
                  </a:tcPr>
                </a:tc>
              </a:tr>
              <a:tr h="736092">
                <a:tc>
                  <a:txBody>
                    <a:bodyPr wrap="square"/>
                    <a:lstStyle/>
                    <a:p>
                      <a:r>
                        <a:rPr sz="1100" b="1">
                          <a:solidFill>
                            <a:srgbClr val="0C2B4A"/>
                          </a:solidFill>
                        </a:rPr>
                        <a:t>Always-on, unmonitored</a:t>
                      </a:r>
                    </a:p>
                  </a:txBody>
                  <a:tcPr anchor="ctr" marL="73152" marR="54864" marT="27432" marB="27432">
                    <a:solidFill>
                      <a:srgbClr val="FFFFFF"/>
                    </a:solidFill>
                  </a:tcPr>
                </a:tc>
                <a:tc>
                  <a:txBody>
                    <a:bodyPr wrap="square"/>
                    <a:lstStyle/>
                    <a:p>
                      <a:r>
                        <a:rPr sz="1100">
                          <a:solidFill>
                            <a:srgbClr val="1A1A1A"/>
                          </a:solidFill>
                        </a:rPr>
                        <a:t>Misuse goes unnoticed for months</a:t>
                      </a:r>
                    </a:p>
                  </a:txBody>
                  <a:tcPr anchor="ctr" marL="73152" marR="54864" marT="27432" marB="27432">
                    <a:solidFill>
                      <a:srgbClr val="FFFFFF"/>
                    </a:solidFill>
                  </a:tcPr>
                </a:tc>
                <a:tc>
                  <a:txBody>
                    <a:bodyPr wrap="square"/>
                    <a:lstStyle/>
                    <a:p>
                      <a:r>
                        <a:rPr sz="1100">
                          <a:solidFill>
                            <a:srgbClr val="1A1A1A"/>
                          </a:solidFill>
                        </a:rPr>
                        <a:t>Put IoT on a separate guest network</a:t>
                      </a:r>
                    </a:p>
                  </a:txBody>
                  <a:tcPr anchor="ctr" marL="73152" marR="54864" marT="27432" marB="27432">
                    <a:solidFill>
                      <a:srgbClr val="FFFFFF"/>
                    </a:solidFill>
                  </a:tcPr>
                </a:tc>
              </a:tr>
              <a:tr h="736092">
                <a:tc>
                  <a:txBody>
                    <a:bodyPr wrap="square"/>
                    <a:lstStyle/>
                    <a:p>
                      <a:r>
                        <a:rPr sz="1100" b="1">
                          <a:solidFill>
                            <a:srgbClr val="0C2B4A"/>
                          </a:solidFill>
                        </a:rPr>
                        <a:t>Exposed directly to the internet</a:t>
                      </a:r>
                    </a:p>
                  </a:txBody>
                  <a:tcPr anchor="ctr" marL="73152" marR="54864" marT="27432" marB="27432">
                    <a:solidFill>
                      <a:srgbClr val="EEF3F8"/>
                    </a:solidFill>
                  </a:tcPr>
                </a:tc>
                <a:tc>
                  <a:txBody>
                    <a:bodyPr wrap="square"/>
                    <a:lstStyle/>
                    <a:p>
                      <a:r>
                        <a:rPr sz="1100">
                          <a:solidFill>
                            <a:srgbClr val="1A1A1A"/>
                          </a:solidFill>
                        </a:rPr>
                        <a:t>Scanners find it in minutes</a:t>
                      </a:r>
                    </a:p>
                  </a:txBody>
                  <a:tcPr anchor="ctr" marL="73152" marR="54864" marT="27432" marB="27432">
                    <a:solidFill>
                      <a:srgbClr val="EEF3F8"/>
                    </a:solidFill>
                  </a:tcPr>
                </a:tc>
                <a:tc>
                  <a:txBody>
                    <a:bodyPr wrap="square"/>
                    <a:lstStyle/>
                    <a:p>
                      <a:r>
                        <a:rPr sz="1100">
                          <a:solidFill>
                            <a:srgbClr val="1A1A1A"/>
                          </a:solidFill>
                        </a:rPr>
                        <a:t>Don't port-forward cameras; use the vendor app</a:t>
                      </a:r>
                    </a:p>
                  </a:txBody>
                  <a:tcPr anchor="ctr" marL="73152" marR="54864" marT="27432" marB="27432">
                    <a:solidFill>
                      <a:srgbClr val="EEF3F8"/>
                    </a:solidFill>
                  </a:tcPr>
                </a:tc>
              </a:tr>
              <a:tr h="736092">
                <a:tc>
                  <a:txBody>
                    <a:bodyPr wrap="square"/>
                    <a:lstStyle/>
                    <a:p>
                      <a:r>
                        <a:rPr sz="1100" b="1">
                          <a:solidFill>
                            <a:srgbClr val="0C2B4A"/>
                          </a:solidFill>
                        </a:rPr>
                        <a:t>Weak/no encryption</a:t>
                      </a:r>
                    </a:p>
                  </a:txBody>
                  <a:tcPr anchor="ctr" marL="73152" marR="54864" marT="27432" marB="27432">
                    <a:solidFill>
                      <a:srgbClr val="FFFFFF"/>
                    </a:solidFill>
                  </a:tcPr>
                </a:tc>
                <a:tc>
                  <a:txBody>
                    <a:bodyPr wrap="square"/>
                    <a:lstStyle/>
                    <a:p>
                      <a:r>
                        <a:rPr sz="1100">
                          <a:solidFill>
                            <a:srgbClr val="1A1A1A"/>
                          </a:solidFill>
                        </a:rPr>
                        <a:t>Traffic and feeds can be intercepted</a:t>
                      </a:r>
                    </a:p>
                  </a:txBody>
                  <a:tcPr anchor="ctr" marL="73152" marR="54864" marT="27432" marB="27432">
                    <a:solidFill>
                      <a:srgbClr val="FFFFFF"/>
                    </a:solidFill>
                  </a:tcPr>
                </a:tc>
                <a:tc>
                  <a:txBody>
                    <a:bodyPr wrap="square"/>
                    <a:lstStyle/>
                    <a:p>
                      <a:r>
                        <a:rPr sz="1100">
                          <a:solidFill>
                            <a:srgbClr val="1A1A1A"/>
                          </a:solidFill>
                        </a:rPr>
                        <a:t>Prefer devices with proper security</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Mirai enslaved millions of devices using default passwords alone. The single highest-value action is changing the default password on every IoT device you own.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92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S29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Internet of Things (IoT) Risks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Home and shop IP/CCTV cameras across Kathmandu sit on default logins and are exposed online — meaning a stranger can watch the feed. ISP routers (WorldLink/Vianet) are routinely left on the sticker admin password. A baby monitor or CCTV streaming to the open internet because nobody changed the password lets anyone watch, and lets attackers herd the device into a botnet.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 IoT gadget is too small/dumb to be a security problem." A default-password camera or router is a house where the builder's master key still opens the front door. Its size doesn't matter — it's always-on, reachable, and enslavable (Mirai proved it at the scale of millions).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IoT devices are everyday internet-connected things (CCTV/IP cameras, smart bulbs/TVs, routers) that commonly ship with default passwords, get few updates, and run always-on and unmonitored — making them easy to hijack, as the Mirai botnet showed at the scale of millions. The defences: change every default password, update firmware, and put IoT on a separate network so a hacked gadget can't reach your real devices.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IoT · default passwords · firmware updates · always-on/unmonitored · Mirai botnet · network segregation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92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S29 — 'Open your permission settings now'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Right now (2 min): open Settings → Apps → Permissions on your own phone.</a:t>
            </a:r>
          </a:p>
          <a:p>
            <a:pPr>
              <a:spcAft>
                <a:spcPts val="700"/>
              </a:spcAft>
            </a:pPr>
            <a:r>
              <a:rPr sz="1550">
                <a:solidFill>
                  <a:srgbClr val="1A1A1A"/>
                </a:solidFill>
              </a:rPr>
              <a:t>•  Find one app with access it doesn't actually need, and one home device (router/CCTV) — is it still on a default password?</a:t>
            </a:r>
          </a:p>
          <a:p>
            <a:pPr>
              <a:spcAft>
                <a:spcPts val="700"/>
              </a:spcAft>
            </a:pPr>
            <a:r>
              <a:rPr sz="1550">
                <a:solidFill>
                  <a:srgbClr val="1A1A1A"/>
                </a:solidFill>
              </a:rPr>
              <a:t>•  Share 3–4 examples aloud (3 min); name the permission you'll revoke and the password you'll change.</a:t>
            </a:r>
          </a:p>
          <a:p>
            <a:pPr>
              <a:spcAft>
                <a:spcPts val="700"/>
              </a:spcAft>
            </a:pPr>
            <a:r>
              <a:rPr sz="1550">
                <a:solidFill>
                  <a:srgbClr val="1A1A1A"/>
                </a:solidFill>
              </a:rPr>
              <a:t>•  Close: commit to revoking 2 permissions and changing 1 default password this week.</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Students almost always find a game or torch with contacts/location access, and a router on the sticker password. Reward concrete, do-it-now changes over abstract intentions.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92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flashlight app requesting SMS + contacts access is a sign of:</a:t>
            </a:r>
          </a:p>
          <a:p>
            <a:pPr lvl="1"/>
            <a:r>
              <a:rPr sz="1500" b="1">
                <a:solidFill>
                  <a:srgbClr val="0F6E56"/>
                </a:solidFill>
              </a:rPr>
              <a:t>a) a good feature   b) ✅ over-broad / suspicious permissions   c) faster performance   d) nothing</a:t>
            </a:r>
          </a:p>
          <a:p>
            <a:pPr lvl="1">
              <a:spcBef>
                <a:spcPts val="600"/>
              </a:spcBef>
            </a:pPr>
            <a:r>
              <a:rPr sz="1500" i="1">
                <a:solidFill>
                  <a:srgbClr val="1A1A1A"/>
                </a:solidFill>
              </a:rPr>
              <a:t>     Why: least privilege — an app should get only what its function needs; a torch needs neither.</a:t>
            </a:r>
          </a:p>
          <a:p>
            <a:pPr>
              <a:spcBef>
                <a:spcPts val="900"/>
              </a:spcBef>
            </a:pPr>
            <a:r>
              <a:rPr sz="1700" b="1">
                <a:solidFill>
                  <a:srgbClr val="0C2B4A"/>
                </a:solidFill>
              </a:rPr>
              <a:t>Q2.  A caller claiming to be from your bank asks for the OTP to 'fix' a transfer. You should:</a:t>
            </a:r>
          </a:p>
          <a:p>
            <a:pPr lvl="1"/>
            <a:r>
              <a:rPr sz="1500" b="1">
                <a:solidFill>
                  <a:srgbClr val="0F6E56"/>
                </a:solidFill>
              </a:rPr>
              <a:t>a) share it to help   b) ✅ refuse and hang up — banks never ask for OTP   c) share half of it   d) call back and share</a:t>
            </a:r>
          </a:p>
          <a:p>
            <a:pPr lvl="1">
              <a:spcBef>
                <a:spcPts val="600"/>
              </a:spcBef>
            </a:pPr>
            <a:r>
              <a:rPr sz="1500" i="1">
                <a:solidFill>
                  <a:srgbClr val="1A1A1A"/>
                </a:solidFill>
              </a:rPr>
              <a:t>     Why: the OTP is the last key to your money; a real bank/wallet never asks for it.</a:t>
            </a:r>
          </a:p>
          <a:p>
            <a:pPr lvl="1">
              <a:spcBef>
                <a:spcPts val="600"/>
              </a:spcBef>
            </a:pPr>
            <a:r>
              <a:rPr sz="1500" i="1">
                <a:solidFill>
                  <a:srgbClr val="1A1A1A"/>
                </a:solidFill>
              </a:rPr>
              <a:t>Discussion: name one app on your phone with access it doesn't actually need.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92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Grant least-privilege permissions — a flashlight needs neither your SMS nor your contacts; an app store is not proof of safety.</a:t>
            </a:r>
          </a:p>
          <a:p>
            <a:pPr>
              <a:spcAft>
                <a:spcPts val="800"/>
              </a:spcAft>
            </a:pPr>
            <a:r>
              <a:rPr sz="1500">
                <a:solidFill>
                  <a:srgbClr val="1A1A1A"/>
                </a:solidFill>
              </a:rPr>
              <a:t>2.  Lock, update, and official-stores-only your phone; enable remote wipe; never sideload APKs from social media.</a:t>
            </a:r>
          </a:p>
          <a:p>
            <a:pPr>
              <a:spcAft>
                <a:spcPts val="800"/>
              </a:spcAft>
            </a:pPr>
            <a:r>
              <a:rPr sz="1500">
                <a:solidFill>
                  <a:srgbClr val="1A1A1A"/>
                </a:solidFill>
              </a:rPr>
              <a:t>3.  Never share your OTP/MPIN (banks never ask), and change the default password on every IoT device — Mirai proves why.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device in your pocket holds your money, your OTPs, and your identity, and the gadgets in your home are doors onto your network. A ten-minute permission-and-password sweep this week closes the gaps most Nepali users leave wide open.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S30 — the physical world: theft, prying eyes, and what you throw away.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92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30 · LECTURE HOUR 3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Enhancing Physical Security</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Your password can be 20 characters long — and useless if someone watches you type it on the bus, or buys your old phone with your photos still on it. The cheapest hack is often physical, not digital.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39 / 92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Device Theft &amp; Loss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Losing a phone or laptop physically means losing everything logged in on it. The defences: full-disk encryption (BitLocker / FileVault / on by default on Android &amp; iOS), a strong screen lock, remote-find/remote-wipe enabled, and simply not leaving devices unattended.</a:t>
            </a:r>
          </a:p>
          <a:p>
            <a:pPr>
              <a:spcAft>
                <a:spcPts val="500"/>
              </a:spcAft>
            </a:pPr>
            <a:r>
              <a:rPr sz="1200" b="1">
                <a:solidFill>
                  <a:srgbClr val="185FA5"/>
                </a:solidFill>
              </a:rPr>
              <a:t>HOW IT WORKS</a:t>
            </a:r>
          </a:p>
          <a:p>
            <a:pPr>
              <a:spcAft>
                <a:spcPts val="600"/>
              </a:spcAft>
            </a:pPr>
            <a:r>
              <a:rPr sz="1400">
                <a:solidFill>
                  <a:srgbClr val="1A1A1A"/>
                </a:solidFill>
              </a:rPr>
              <a:t>•  Full-disk encryption makes the stored data unreadable without your key — theft yields a brick, not your files.</a:t>
            </a:r>
          </a:p>
          <a:p>
            <a:pPr>
              <a:spcAft>
                <a:spcPts val="600"/>
              </a:spcAft>
            </a:pPr>
            <a:r>
              <a:rPr sz="1400">
                <a:solidFill>
                  <a:srgbClr val="1A1A1A"/>
                </a:solidFill>
              </a:rPr>
              <a:t>•  A strong screen lock stops a thief using the still-logged-in apps immediately.</a:t>
            </a:r>
          </a:p>
          <a:p>
            <a:pPr>
              <a:spcAft>
                <a:spcPts val="600"/>
              </a:spcAft>
            </a:pPr>
            <a:r>
              <a:rPr sz="1400">
                <a:solidFill>
                  <a:srgbClr val="1A1A1A"/>
                </a:solidFill>
              </a:rPr>
              <a:t>•  Remote-find/remote-wipe lets you locate or erase the device once it's gone.</a:t>
            </a:r>
          </a:p>
          <a:p>
            <a:pPr>
              <a:spcAft>
                <a:spcPts val="600"/>
              </a:spcAft>
            </a:pPr>
            <a:r>
              <a:rPr sz="1400">
                <a:solidFill>
                  <a:srgbClr val="1A1A1A"/>
                </a:solidFill>
              </a:rPr>
              <a:t>•  Most loss is opportunistic — an unattended device on a café table is the easy grab.</a:t>
            </a:r>
          </a:p>
        </p:txBody>
      </p:sp>
      <p:pic>
        <p:nvPicPr>
          <p:cNvPr id="6" name="Picture 5" descr="s30_theft_chain.png"/>
          <p:cNvPicPr>
            <a:picLocks noChangeAspect="1"/>
          </p:cNvPicPr>
          <p:nvPr/>
        </p:nvPicPr>
        <p:blipFill>
          <a:blip r:embed="rId2"/>
          <a:stretch>
            <a:fillRect/>
          </a:stretch>
        </p:blipFill>
        <p:spPr>
          <a:xfrm>
            <a:off x="6355080" y="2586359"/>
            <a:ext cx="5532120" cy="246252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lost UNLOCKED/unencrypted device is a data breach — not just lost hardware.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92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Stolen device — encrypted/locked vs not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853835"/>
                <a:gridCol w="2505205"/>
                <a:gridCol w="4070958"/>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Outcome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Encrypted + locked phone snatched in a tempo</a:t>
                      </a:r>
                    </a:p>
                  </a:txBody>
                  <a:tcPr anchor="ctr" marL="73152" marR="54864" marT="27432" marB="27432">
                    <a:solidFill>
                      <a:srgbClr val="FFFFFF"/>
                    </a:solidFill>
                  </a:tcPr>
                </a:tc>
                <a:tc>
                  <a:txBody>
                    <a:bodyPr wrap="square"/>
                    <a:lstStyle/>
                    <a:p>
                      <a:r>
                        <a:rPr sz="1100">
                          <a:solidFill>
                            <a:srgbClr val="1A1A1A"/>
                          </a:solidFill>
                        </a:rPr>
                        <a:t>Thief gets a brick</a:t>
                      </a:r>
                    </a:p>
                  </a:txBody>
                  <a:tcPr anchor="ctr" marL="73152" marR="54864" marT="27432" marB="27432">
                    <a:solidFill>
                      <a:srgbClr val="FFFFFF"/>
                    </a:solidFill>
                  </a:tcPr>
                </a:tc>
                <a:tc>
                  <a:txBody>
                    <a:bodyPr wrap="square"/>
                    <a:lstStyle/>
                    <a:p>
                      <a:r>
                        <a:rPr sz="1100">
                          <a:solidFill>
                            <a:srgbClr val="1A1A1A"/>
                          </a:solidFill>
                        </a:rPr>
                        <a:t>Data unreadable; remote-wipe finishes it</a:t>
                      </a:r>
                    </a:p>
                  </a:txBody>
                  <a:tcPr anchor="ctr" marL="73152" marR="54864" marT="27432" marB="27432">
                    <a:solidFill>
                      <a:srgbClr val="FFFFFF"/>
                    </a:solidFill>
                  </a:tcPr>
                </a:tc>
              </a:tr>
              <a:tr h="630936">
                <a:tc>
                  <a:txBody>
                    <a:bodyPr wrap="square"/>
                    <a:lstStyle/>
                    <a:p>
                      <a:r>
                        <a:rPr sz="1100" b="1">
                          <a:solidFill>
                            <a:srgbClr val="0C2B4A"/>
                          </a:solidFill>
                        </a:rPr>
                        <a:t>Unlocked phone still in eSewa + Gmail</a:t>
                      </a:r>
                    </a:p>
                  </a:txBody>
                  <a:tcPr anchor="ctr" marL="73152" marR="54864" marT="27432" marB="27432">
                    <a:solidFill>
                      <a:srgbClr val="EEF3F8"/>
                    </a:solidFill>
                  </a:tcPr>
                </a:tc>
                <a:tc>
                  <a:txBody>
                    <a:bodyPr wrap="square"/>
                    <a:lstStyle/>
                    <a:p>
                      <a:r>
                        <a:rPr sz="1100">
                          <a:solidFill>
                            <a:srgbClr val="1A1A1A"/>
                          </a:solidFill>
                        </a:rPr>
                        <a:t>Account takeover</a:t>
                      </a:r>
                    </a:p>
                  </a:txBody>
                  <a:tcPr anchor="ctr" marL="73152" marR="54864" marT="27432" marB="27432">
                    <a:solidFill>
                      <a:srgbClr val="EEF3F8"/>
                    </a:solidFill>
                  </a:tcPr>
                </a:tc>
                <a:tc>
                  <a:txBody>
                    <a:bodyPr wrap="square"/>
                    <a:lstStyle/>
                    <a:p>
                      <a:r>
                        <a:rPr sz="1100">
                          <a:solidFill>
                            <a:srgbClr val="1A1A1A"/>
                          </a:solidFill>
                        </a:rPr>
                        <a:t>Thief resets passwords and drains the wallet</a:t>
                      </a:r>
                    </a:p>
                  </a:txBody>
                  <a:tcPr anchor="ctr" marL="73152" marR="54864" marT="27432" marB="27432">
                    <a:solidFill>
                      <a:srgbClr val="EEF3F8"/>
                    </a:solidFill>
                  </a:tcPr>
                </a:tc>
              </a:tr>
              <a:tr h="630936">
                <a:tc>
                  <a:txBody>
                    <a:bodyPr wrap="square"/>
                    <a:lstStyle/>
                    <a:p>
                      <a:r>
                        <a:rPr sz="1100" b="1">
                          <a:solidFill>
                            <a:srgbClr val="0C2B4A"/>
                          </a:solidFill>
                        </a:rPr>
                        <a:t>Laptop with no disk encryption stolen</a:t>
                      </a:r>
                    </a:p>
                  </a:txBody>
                  <a:tcPr anchor="ctr" marL="73152" marR="54864" marT="27432" marB="27432">
                    <a:solidFill>
                      <a:srgbClr val="FFFFFF"/>
                    </a:solidFill>
                  </a:tcPr>
                </a:tc>
                <a:tc>
                  <a:txBody>
                    <a:bodyPr wrap="square"/>
                    <a:lstStyle/>
                    <a:p>
                      <a:r>
                        <a:rPr sz="1100">
                          <a:solidFill>
                            <a:srgbClr val="1A1A1A"/>
                          </a:solidFill>
                        </a:rPr>
                        <a:t>Full data breach</a:t>
                      </a:r>
                    </a:p>
                  </a:txBody>
                  <a:tcPr anchor="ctr" marL="73152" marR="54864" marT="27432" marB="27432">
                    <a:solidFill>
                      <a:srgbClr val="FFFFFF"/>
                    </a:solidFill>
                  </a:tcPr>
                </a:tc>
                <a:tc>
                  <a:txBody>
                    <a:bodyPr wrap="square"/>
                    <a:lstStyle/>
                    <a:p>
                      <a:r>
                        <a:rPr sz="1100">
                          <a:solidFill>
                            <a:srgbClr val="1A1A1A"/>
                          </a:solidFill>
                        </a:rPr>
                        <a:t>Files readable by pulling the drive</a:t>
                      </a:r>
                    </a:p>
                  </a:txBody>
                  <a:tcPr anchor="ctr" marL="73152" marR="54864" marT="27432" marB="27432">
                    <a:solidFill>
                      <a:srgbClr val="FFFFFF"/>
                    </a:solidFill>
                  </a:tcPr>
                </a:tc>
              </a:tr>
              <a:tr h="630936">
                <a:tc>
                  <a:txBody>
                    <a:bodyPr wrap="square"/>
                    <a:lstStyle/>
                    <a:p>
                      <a:r>
                        <a:rPr sz="1100" b="1">
                          <a:solidFill>
                            <a:srgbClr val="0C2B4A"/>
                          </a:solidFill>
                        </a:rPr>
                        <a:t>Remote-wipe enabled on a lost phone</a:t>
                      </a:r>
                    </a:p>
                  </a:txBody>
                  <a:tcPr anchor="ctr" marL="73152" marR="54864" marT="27432" marB="27432">
                    <a:solidFill>
                      <a:srgbClr val="EEF3F8"/>
                    </a:solidFill>
                  </a:tcPr>
                </a:tc>
                <a:tc>
                  <a:txBody>
                    <a:bodyPr wrap="square"/>
                    <a:lstStyle/>
                    <a:p>
                      <a:r>
                        <a:rPr sz="1100">
                          <a:solidFill>
                            <a:srgbClr val="1A1A1A"/>
                          </a:solidFill>
                        </a:rPr>
                        <a:t>Data erased remotely</a:t>
                      </a:r>
                    </a:p>
                  </a:txBody>
                  <a:tcPr anchor="ctr" marL="73152" marR="54864" marT="27432" marB="27432">
                    <a:solidFill>
                      <a:srgbClr val="EEF3F8"/>
                    </a:solidFill>
                  </a:tcPr>
                </a:tc>
                <a:tc>
                  <a:txBody>
                    <a:bodyPr wrap="square"/>
                    <a:lstStyle/>
                    <a:p>
                      <a:r>
                        <a:rPr sz="1100">
                          <a:solidFill>
                            <a:srgbClr val="1A1A1A"/>
                          </a:solidFill>
                        </a:rPr>
                        <a:t>You cut off access once it's gone</a:t>
                      </a:r>
                    </a:p>
                  </a:txBody>
                  <a:tcPr anchor="ctr" marL="73152" marR="54864" marT="27432" marB="27432">
                    <a:solidFill>
                      <a:srgbClr val="EEF3F8"/>
                    </a:solidFill>
                  </a:tcPr>
                </a:tc>
              </a:tr>
              <a:tr h="630936">
                <a:tc>
                  <a:txBody>
                    <a:bodyPr wrap="square"/>
                    <a:lstStyle/>
                    <a:p>
                      <a:r>
                        <a:rPr sz="1100" b="1">
                          <a:solidFill>
                            <a:srgbClr val="0C2B4A"/>
                          </a:solidFill>
                        </a:rPr>
                        <a:t>Device left unattended on a café table</a:t>
                      </a:r>
                    </a:p>
                  </a:txBody>
                  <a:tcPr anchor="ctr" marL="73152" marR="54864" marT="27432" marB="27432">
                    <a:solidFill>
                      <a:srgbClr val="FFFFFF"/>
                    </a:solidFill>
                  </a:tcPr>
                </a:tc>
                <a:tc>
                  <a:txBody>
                    <a:bodyPr wrap="square"/>
                    <a:lstStyle/>
                    <a:p>
                      <a:r>
                        <a:rPr sz="1100">
                          <a:solidFill>
                            <a:srgbClr val="1A1A1A"/>
                          </a:solidFill>
                        </a:rPr>
                        <a:t>Opportunistic theft</a:t>
                      </a:r>
                    </a:p>
                  </a:txBody>
                  <a:tcPr anchor="ctr" marL="73152" marR="54864" marT="27432" marB="27432">
                    <a:solidFill>
                      <a:srgbClr val="FFFFFF"/>
                    </a:solidFill>
                  </a:tcPr>
                </a:tc>
                <a:tc>
                  <a:txBody>
                    <a:bodyPr wrap="square"/>
                    <a:lstStyle/>
                    <a:p>
                      <a:r>
                        <a:rPr sz="1100">
                          <a:solidFill>
                            <a:srgbClr val="1A1A1A"/>
                          </a:solidFill>
                        </a:rPr>
                        <a:t>Most loss is convenience, not a targeted heist</a:t>
                      </a:r>
                    </a:p>
                  </a:txBody>
                  <a:tcPr anchor="ctr" marL="73152" marR="54864" marT="27432" marB="27432">
                    <a:solidFill>
                      <a:srgbClr val="FFFFFF"/>
                    </a:solidFill>
                  </a:tcPr>
                </a:tc>
              </a:tr>
              <a:tr h="630936">
                <a:tc>
                  <a:txBody>
                    <a:bodyPr wrap="square"/>
                    <a:lstStyle/>
                    <a:p>
                      <a:r>
                        <a:rPr sz="1100" b="1">
                          <a:solidFill>
                            <a:srgbClr val="0C2B4A"/>
                          </a:solidFill>
                        </a:rPr>
                        <a:t>OTP SMS visible on the lock screen</a:t>
                      </a:r>
                    </a:p>
                  </a:txBody>
                  <a:tcPr anchor="ctr" marL="73152" marR="54864" marT="27432" marB="27432">
                    <a:solidFill>
                      <a:srgbClr val="EEF3F8"/>
                    </a:solidFill>
                  </a:tcPr>
                </a:tc>
                <a:tc>
                  <a:txBody>
                    <a:bodyPr wrap="square"/>
                    <a:lstStyle/>
                    <a:p>
                      <a:r>
                        <a:rPr sz="1100">
                          <a:solidFill>
                            <a:srgbClr val="1A1A1A"/>
                          </a:solidFill>
                        </a:rPr>
                        <a:t>Extra exposure</a:t>
                      </a:r>
                    </a:p>
                  </a:txBody>
                  <a:tcPr anchor="ctr" marL="73152" marR="54864" marT="27432" marB="27432">
                    <a:solidFill>
                      <a:srgbClr val="EEF3F8"/>
                    </a:solidFill>
                  </a:tcPr>
                </a:tc>
                <a:tc>
                  <a:txBody>
                    <a:bodyPr wrap="square"/>
                    <a:lstStyle/>
                    <a:p>
                      <a:r>
                        <a:rPr sz="1100">
                          <a:solidFill>
                            <a:srgbClr val="1A1A1A"/>
                          </a:solidFill>
                        </a:rPr>
                        <a:t>Thief reads reset codes without unlocking</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hardware is cheap to replace; the logged-in accounts are not. Encryption + lock + remote wipe turn a theft into an inconvenience instead of a breach.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92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Device Theft &amp; Loss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Phone and laptop snatching is common in crowded micros, tempos, and cafés around Thamel/New Road. A stolen phone still logged into eSewa, Facebook, and Gmail isn't just lost hardware — the thief resets passwords, reads OTP SMS, and empties the wallet. The same theft with encryption + a lock + remote wipe leaves them with a resettable brick.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"They'll just sell the hardware — my data is safe." An unlocked or unencrypted device exposes your accounts, OTP SMS, and saved passwords instantly. The resale value of the phone is trivial next to the eSewa balance and identity sitting unlocked inside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Device theft or loss means losing everything logged in on the device, so the defences are full-disk encryption (BitLocker/FileVault, default on modern phones), a strong screen lock, and remote-find/remote-wipe. Encryption and a lock turn a stolen device into unusable hardware; without them, a snatched phone still logged into eSewa/Gmail is an immediate account takeover, not merely lost hardware.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device theft · full-disk encryption · BitLocker/FileVault · remote wipe · still-logged-in = breach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92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Shoulder-Surfing &amp; Visual Exposure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Shoulder-surfing is someone watching your screen or keystrokes to steal a PIN or information. Defend by shielding the keypad, using a privacy screen protector, sitting with your back to a wall, and being wary of ATM/POS camera overlays and strangers 'helping' at the machine.</a:t>
            </a:r>
          </a:p>
          <a:p>
            <a:pPr>
              <a:spcAft>
                <a:spcPts val="500"/>
              </a:spcAft>
            </a:pPr>
            <a:r>
              <a:rPr sz="1200" b="1">
                <a:solidFill>
                  <a:srgbClr val="185FA5"/>
                </a:solidFill>
              </a:rPr>
              <a:t>HOW IT WORKS</a:t>
            </a:r>
          </a:p>
          <a:p>
            <a:pPr>
              <a:spcAft>
                <a:spcPts val="600"/>
              </a:spcAft>
            </a:pPr>
            <a:r>
              <a:rPr sz="1400">
                <a:solidFill>
                  <a:srgbClr val="1A1A1A"/>
                </a:solidFill>
              </a:rPr>
              <a:t>•  Cover the keypad with your free hand when entering a PIN/MPIN — cameras and eyes both lose it.</a:t>
            </a:r>
          </a:p>
          <a:p>
            <a:pPr>
              <a:spcAft>
                <a:spcPts val="600"/>
              </a:spcAft>
            </a:pPr>
            <a:r>
              <a:rPr sz="1400">
                <a:solidFill>
                  <a:srgbClr val="1A1A1A"/>
                </a:solidFill>
              </a:rPr>
              <a:t>•  A privacy screen protector narrows the viewing angle so onlookers see a dark screen.</a:t>
            </a:r>
          </a:p>
          <a:p>
            <a:pPr>
              <a:spcAft>
                <a:spcPts val="600"/>
              </a:spcAft>
            </a:pPr>
            <a:r>
              <a:rPr sz="1400">
                <a:solidFill>
                  <a:srgbClr val="1A1A1A"/>
                </a:solidFill>
              </a:rPr>
              <a:t>•  Sit with your back to a wall so no one is reading over your shoulder.</a:t>
            </a:r>
          </a:p>
          <a:p>
            <a:pPr>
              <a:spcAft>
                <a:spcPts val="600"/>
              </a:spcAft>
            </a:pPr>
            <a:r>
              <a:rPr sz="1400">
                <a:solidFill>
                  <a:srgbClr val="1A1A1A"/>
                </a:solidFill>
              </a:rPr>
              <a:t>•  Beware skimmers/camera overlays at ATMs and people crowding you 'to help'.</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Shield the keypad — the cheapest attack is just watching you type.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92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Shoulder-surfing situations — risk and defence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697260"/>
                <a:gridCol w="2818356"/>
                <a:gridCol w="3914383"/>
              </a:tblGrid>
              <a:tr h="630936">
                <a:tc>
                  <a:txBody>
                    <a:bodyPr wrap="square"/>
                    <a:lstStyle/>
                    <a:p>
                      <a:r>
                        <a:rPr sz="1150" b="1">
                          <a:solidFill>
                            <a:srgbClr val="FFFFFF"/>
                          </a:solidFill>
                        </a:rPr>
                        <a:t>Situation (Nepal)</a:t>
                      </a:r>
                    </a:p>
                  </a:txBody>
                  <a:tcPr anchor="ctr" marL="73152" marR="54864" marT="27432" marB="27432">
                    <a:solidFill>
                      <a:srgbClr val="0C2B4A"/>
                    </a:solidFill>
                  </a:tcPr>
                </a:tc>
                <a:tc>
                  <a:txBody>
                    <a:bodyPr wrap="square"/>
                    <a:lstStyle/>
                    <a:p>
                      <a:r>
                        <a:rPr sz="1150" b="1">
                          <a:solidFill>
                            <a:srgbClr val="FFFFFF"/>
                          </a:solidFill>
                        </a:rPr>
                        <a:t>Risk</a:t>
                      </a:r>
                    </a:p>
                  </a:txBody>
                  <a:tcPr anchor="ctr" marL="73152" marR="54864" marT="27432" marB="27432">
                    <a:solidFill>
                      <a:srgbClr val="0C2B4A"/>
                    </a:solidFill>
                  </a:tcPr>
                </a:tc>
                <a:tc>
                  <a:txBody>
                    <a:bodyPr wrap="square"/>
                    <a:lstStyle/>
                    <a:p>
                      <a:r>
                        <a:rPr sz="1150" b="1">
                          <a:solidFill>
                            <a:srgbClr val="FFFFFF"/>
                          </a:solidFill>
                        </a:rPr>
                        <a:t>Defence</a:t>
                      </a:r>
                    </a:p>
                  </a:txBody>
                  <a:tcPr anchor="ctr" marL="73152" marR="54864" marT="27432" marB="27432">
                    <a:solidFill>
                      <a:srgbClr val="0C2B4A"/>
                    </a:solidFill>
                  </a:tcPr>
                </a:tc>
              </a:tr>
              <a:tr h="630936">
                <a:tc>
                  <a:txBody>
                    <a:bodyPr wrap="square"/>
                    <a:lstStyle/>
                    <a:p>
                      <a:r>
                        <a:rPr sz="1100" b="1">
                          <a:solidFill>
                            <a:srgbClr val="0C2B4A"/>
                          </a:solidFill>
                        </a:rPr>
                        <a:t>Typing an ATM PIN in a busy queue</a:t>
                      </a:r>
                    </a:p>
                  </a:txBody>
                  <a:tcPr anchor="ctr" marL="73152" marR="54864" marT="27432" marB="27432">
                    <a:solidFill>
                      <a:srgbClr val="FFFFFF"/>
                    </a:solidFill>
                  </a:tcPr>
                </a:tc>
                <a:tc>
                  <a:txBody>
                    <a:bodyPr wrap="square"/>
                    <a:lstStyle/>
                    <a:p>
                      <a:r>
                        <a:rPr sz="1100">
                          <a:solidFill>
                            <a:srgbClr val="1A1A1A"/>
                          </a:solidFill>
                        </a:rPr>
                        <a:t>Someone/ a camera sees it</a:t>
                      </a:r>
                    </a:p>
                  </a:txBody>
                  <a:tcPr anchor="ctr" marL="73152" marR="54864" marT="27432" marB="27432">
                    <a:solidFill>
                      <a:srgbClr val="FFFFFF"/>
                    </a:solidFill>
                  </a:tcPr>
                </a:tc>
                <a:tc>
                  <a:txBody>
                    <a:bodyPr wrap="square"/>
                    <a:lstStyle/>
                    <a:p>
                      <a:r>
                        <a:rPr sz="1100">
                          <a:solidFill>
                            <a:srgbClr val="1A1A1A"/>
                          </a:solidFill>
                        </a:rPr>
                        <a:t>Cover the keypad with your hand</a:t>
                      </a:r>
                    </a:p>
                  </a:txBody>
                  <a:tcPr anchor="ctr" marL="73152" marR="54864" marT="27432" marB="27432">
                    <a:solidFill>
                      <a:srgbClr val="FFFFFF"/>
                    </a:solidFill>
                  </a:tcPr>
                </a:tc>
              </a:tr>
              <a:tr h="630936">
                <a:tc>
                  <a:txBody>
                    <a:bodyPr wrap="square"/>
                    <a:lstStyle/>
                    <a:p>
                      <a:r>
                        <a:rPr sz="1100" b="1">
                          <a:solidFill>
                            <a:srgbClr val="0C2B4A"/>
                          </a:solidFill>
                        </a:rPr>
                        <a:t>Stranger 'helps' you at the ATM, stands close</a:t>
                      </a:r>
                    </a:p>
                  </a:txBody>
                  <a:tcPr anchor="ctr" marL="73152" marR="54864" marT="27432" marB="27432">
                    <a:solidFill>
                      <a:srgbClr val="EEF3F8"/>
                    </a:solidFill>
                  </a:tcPr>
                </a:tc>
                <a:tc>
                  <a:txBody>
                    <a:bodyPr wrap="square"/>
                    <a:lstStyle/>
                    <a:p>
                      <a:r>
                        <a:rPr sz="1100">
                          <a:solidFill>
                            <a:srgbClr val="1A1A1A"/>
                          </a:solidFill>
                        </a:rPr>
                        <a:t>Watches PIN / swaps card</a:t>
                      </a:r>
                    </a:p>
                  </a:txBody>
                  <a:tcPr anchor="ctr" marL="73152" marR="54864" marT="27432" marB="27432">
                    <a:solidFill>
                      <a:srgbClr val="EEF3F8"/>
                    </a:solidFill>
                  </a:tcPr>
                </a:tc>
                <a:tc>
                  <a:txBody>
                    <a:bodyPr wrap="square"/>
                    <a:lstStyle/>
                    <a:p>
                      <a:r>
                        <a:rPr sz="1100">
                          <a:solidFill>
                            <a:srgbClr val="1A1A1A"/>
                          </a:solidFill>
                        </a:rPr>
                        <a:t>Decline help; keep your distance</a:t>
                      </a:r>
                    </a:p>
                  </a:txBody>
                  <a:tcPr anchor="ctr" marL="73152" marR="54864" marT="27432" marB="27432">
                    <a:solidFill>
                      <a:srgbClr val="EEF3F8"/>
                    </a:solidFill>
                  </a:tcPr>
                </a:tc>
              </a:tr>
              <a:tr h="630936">
                <a:tc>
                  <a:txBody>
                    <a:bodyPr wrap="square"/>
                    <a:lstStyle/>
                    <a:p>
                      <a:r>
                        <a:rPr sz="1100" b="1">
                          <a:solidFill>
                            <a:srgbClr val="0C2B4A"/>
                          </a:solidFill>
                        </a:rPr>
                        <a:t>Entering MPIN on a bus / micro</a:t>
                      </a:r>
                    </a:p>
                  </a:txBody>
                  <a:tcPr anchor="ctr" marL="73152" marR="54864" marT="27432" marB="27432">
                    <a:solidFill>
                      <a:srgbClr val="FFFFFF"/>
                    </a:solidFill>
                  </a:tcPr>
                </a:tc>
                <a:tc>
                  <a:txBody>
                    <a:bodyPr wrap="square"/>
                    <a:lstStyle/>
                    <a:p>
                      <a:r>
                        <a:rPr sz="1100">
                          <a:solidFill>
                            <a:srgbClr val="1A1A1A"/>
                          </a:solidFill>
                        </a:rPr>
                        <a:t>Seatmate reads it</a:t>
                      </a:r>
                    </a:p>
                  </a:txBody>
                  <a:tcPr anchor="ctr" marL="73152" marR="54864" marT="27432" marB="27432">
                    <a:solidFill>
                      <a:srgbClr val="FFFFFF"/>
                    </a:solidFill>
                  </a:tcPr>
                </a:tc>
                <a:tc>
                  <a:txBody>
                    <a:bodyPr wrap="square"/>
                    <a:lstStyle/>
                    <a:p>
                      <a:r>
                        <a:rPr sz="1100">
                          <a:solidFill>
                            <a:srgbClr val="1A1A1A"/>
                          </a:solidFill>
                        </a:rPr>
                        <a:t>Angle the screen; shield entry</a:t>
                      </a:r>
                    </a:p>
                  </a:txBody>
                  <a:tcPr anchor="ctr" marL="73152" marR="54864" marT="27432" marB="27432">
                    <a:solidFill>
                      <a:srgbClr val="FFFFFF"/>
                    </a:solidFill>
                  </a:tcPr>
                </a:tc>
              </a:tr>
              <a:tr h="630936">
                <a:tc>
                  <a:txBody>
                    <a:bodyPr wrap="square"/>
                    <a:lstStyle/>
                    <a:p>
                      <a:r>
                        <a:rPr sz="1100" b="1">
                          <a:solidFill>
                            <a:srgbClr val="0C2B4A"/>
                          </a:solidFill>
                        </a:rPr>
                        <a:t>Working on a laptop in a café</a:t>
                      </a:r>
                    </a:p>
                  </a:txBody>
                  <a:tcPr anchor="ctr" marL="73152" marR="54864" marT="27432" marB="27432">
                    <a:solidFill>
                      <a:srgbClr val="EEF3F8"/>
                    </a:solidFill>
                  </a:tcPr>
                </a:tc>
                <a:tc>
                  <a:txBody>
                    <a:bodyPr wrap="square"/>
                    <a:lstStyle/>
                    <a:p>
                      <a:r>
                        <a:rPr sz="1100">
                          <a:solidFill>
                            <a:srgbClr val="1A1A1A"/>
                          </a:solidFill>
                        </a:rPr>
                        <a:t>Screen visible behind you</a:t>
                      </a:r>
                    </a:p>
                  </a:txBody>
                  <a:tcPr anchor="ctr" marL="73152" marR="54864" marT="27432" marB="27432">
                    <a:solidFill>
                      <a:srgbClr val="EEF3F8"/>
                    </a:solidFill>
                  </a:tcPr>
                </a:tc>
                <a:tc>
                  <a:txBody>
                    <a:bodyPr wrap="square"/>
                    <a:lstStyle/>
                    <a:p>
                      <a:r>
                        <a:rPr sz="1100">
                          <a:solidFill>
                            <a:srgbClr val="1A1A1A"/>
                          </a:solidFill>
                        </a:rPr>
                        <a:t>Sit back-to-wall; privacy filter</a:t>
                      </a:r>
                    </a:p>
                  </a:txBody>
                  <a:tcPr anchor="ctr" marL="73152" marR="54864" marT="27432" marB="27432">
                    <a:solidFill>
                      <a:srgbClr val="EEF3F8"/>
                    </a:solidFill>
                  </a:tcPr>
                </a:tc>
              </a:tr>
              <a:tr h="630936">
                <a:tc>
                  <a:txBody>
                    <a:bodyPr wrap="square"/>
                    <a:lstStyle/>
                    <a:p>
                      <a:r>
                        <a:rPr sz="1100" b="1">
                          <a:solidFill>
                            <a:srgbClr val="0C2B4A"/>
                          </a:solidFill>
                        </a:rPr>
                        <a:t>Camera overlay/skimmer on an ATM slot</a:t>
                      </a:r>
                    </a:p>
                  </a:txBody>
                  <a:tcPr anchor="ctr" marL="73152" marR="54864" marT="27432" marB="27432">
                    <a:solidFill>
                      <a:srgbClr val="FFFFFF"/>
                    </a:solidFill>
                  </a:tcPr>
                </a:tc>
                <a:tc>
                  <a:txBody>
                    <a:bodyPr wrap="square"/>
                    <a:lstStyle/>
                    <a:p>
                      <a:r>
                        <a:rPr sz="1100">
                          <a:solidFill>
                            <a:srgbClr val="1A1A1A"/>
                          </a:solidFill>
                        </a:rPr>
                        <a:t>PIN + card captured</a:t>
                      </a:r>
                    </a:p>
                  </a:txBody>
                  <a:tcPr anchor="ctr" marL="73152" marR="54864" marT="27432" marB="27432">
                    <a:solidFill>
                      <a:srgbClr val="FFFFFF"/>
                    </a:solidFill>
                  </a:tcPr>
                </a:tc>
                <a:tc>
                  <a:txBody>
                    <a:bodyPr wrap="square"/>
                    <a:lstStyle/>
                    <a:p>
                      <a:r>
                        <a:rPr sz="1100">
                          <a:solidFill>
                            <a:srgbClr val="1A1A1A"/>
                          </a:solidFill>
                        </a:rPr>
                        <a:t>Check the slot; use trusted ATMs</a:t>
                      </a:r>
                    </a:p>
                  </a:txBody>
                  <a:tcPr anchor="ctr" marL="73152" marR="54864" marT="27432" marB="27432">
                    <a:solidFill>
                      <a:srgbClr val="FFFFFF"/>
                    </a:solidFill>
                  </a:tcPr>
                </a:tc>
              </a:tr>
              <a:tr h="630936">
                <a:tc>
                  <a:txBody>
                    <a:bodyPr wrap="square"/>
                    <a:lstStyle/>
                    <a:p>
                      <a:r>
                        <a:rPr sz="1100" b="1">
                          <a:solidFill>
                            <a:srgbClr val="0C2B4A"/>
                          </a:solidFill>
                        </a:rPr>
                        <a:t>Entering a password in a shared room</a:t>
                      </a:r>
                    </a:p>
                  </a:txBody>
                  <a:tcPr anchor="ctr" marL="73152" marR="54864" marT="27432" marB="27432">
                    <a:solidFill>
                      <a:srgbClr val="EEF3F8"/>
                    </a:solidFill>
                  </a:tcPr>
                </a:tc>
                <a:tc>
                  <a:txBody>
                    <a:bodyPr wrap="square"/>
                    <a:lstStyle/>
                    <a:p>
                      <a:r>
                        <a:rPr sz="1100">
                          <a:solidFill>
                            <a:srgbClr val="1A1A1A"/>
                          </a:solidFill>
                        </a:rPr>
                        <a:t>Roommate sees keystrokes</a:t>
                      </a:r>
                    </a:p>
                  </a:txBody>
                  <a:tcPr anchor="ctr" marL="73152" marR="54864" marT="27432" marB="27432">
                    <a:solidFill>
                      <a:srgbClr val="EEF3F8"/>
                    </a:solidFill>
                  </a:tcPr>
                </a:tc>
                <a:tc>
                  <a:txBody>
                    <a:bodyPr wrap="square"/>
                    <a:lstStyle/>
                    <a:p>
                      <a:r>
                        <a:rPr sz="1100">
                          <a:solidFill>
                            <a:srgbClr val="1A1A1A"/>
                          </a:solidFill>
                        </a:rPr>
                        <a:t>Shield; use a password manager autofill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attacks need no malware and no skill — just line of sight. Shielding the keypad and a privacy filter defeat almost all of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92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Shoulder-Surfing &amp; Visual Exposure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stranger at the ATM offers to 'help the queue move faster' and stands close while you enter your PIN. The risk is direct: they watch your PIN and may swap or grab your card. The same exposure happens entering an eSewa MPIN in a shared room or cyber café — anyone with line of sight has your key.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"No one bothers to watch what I type." Shoulder-surfing is the lowest-effort attack there is — no malware, no skill, just eyes or a hidden camera. It's common exactly because people assume no one is looking; shielding the keypad costs nothing and defeats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Shoulder-surfing is someone observing your screen or keystrokes to steal a PIN or sensitive information, and it requires only line of sight — no malware. Defences are shielding the keypad, a privacy screen protector, sitting back-to-wall, and watching for ATM/POS camera overlays and over-helpful strangers. It matters most where Nepali users enter PINs and MPINs in public — ATMs, buses, and shared cyber cafés.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shoulder-surfing · shield the keypad · privacy screen · ATM skimmer/overlay · line-of-sight attack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92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Secure Disposal &amp; Resale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Secure disposal means making data unrecoverable before you sell, donate, or discard a device. A factory reset alone is not always enough: sign out of all accounts first, remove the SIM/SD card, encrypt-then-wipe, and physically destroy dead drives.</a:t>
            </a:r>
          </a:p>
          <a:p>
            <a:pPr>
              <a:spcAft>
                <a:spcPts val="500"/>
              </a:spcAft>
            </a:pPr>
            <a:r>
              <a:rPr sz="1200" b="1">
                <a:solidFill>
                  <a:srgbClr val="185FA5"/>
                </a:solidFill>
              </a:rPr>
              <a:t>HOW IT WORKS</a:t>
            </a:r>
          </a:p>
          <a:p>
            <a:pPr>
              <a:spcAft>
                <a:spcPts val="600"/>
              </a:spcAft>
            </a:pPr>
            <a:r>
              <a:rPr sz="1400">
                <a:solidFill>
                  <a:srgbClr val="1A1A1A"/>
                </a:solidFill>
              </a:rPr>
              <a:t>•  Sign out of every account first — otherwise the next owner may inherit your logins.</a:t>
            </a:r>
          </a:p>
          <a:p>
            <a:pPr>
              <a:spcAft>
                <a:spcPts val="600"/>
              </a:spcAft>
            </a:pPr>
            <a:r>
              <a:rPr sz="1400">
                <a:solidFill>
                  <a:srgbClr val="1A1A1A"/>
                </a:solidFill>
              </a:rPr>
              <a:t>•  Remove the SIM and SD card; they carry contacts, photos, and your number.</a:t>
            </a:r>
          </a:p>
          <a:p>
            <a:pPr>
              <a:spcAft>
                <a:spcPts val="600"/>
              </a:spcAft>
            </a:pPr>
            <a:r>
              <a:rPr sz="1400">
                <a:solidFill>
                  <a:srgbClr val="1A1A1A"/>
                </a:solidFill>
              </a:rPr>
              <a:t>•  Encrypt-then-wipe: with encryption on, a wipe leaves only unreadable ciphertext.</a:t>
            </a:r>
          </a:p>
          <a:p>
            <a:pPr>
              <a:spcAft>
                <a:spcPts val="600"/>
              </a:spcAft>
            </a:pPr>
            <a:r>
              <a:rPr sz="1400">
                <a:solidFill>
                  <a:srgbClr val="1A1A1A"/>
                </a:solidFill>
              </a:rPr>
              <a:t>•  For a dead drive that can't be wiped, physical destruction is the only sure erase.</a:t>
            </a:r>
          </a:p>
        </p:txBody>
      </p:sp>
      <p:pic>
        <p:nvPicPr>
          <p:cNvPr id="6" name="Picture 5" descr="s30_delete_wipe.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Delete ≠ erased. Encrypt-then-wipe is what actually makes data unrecoverable.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92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Delete vs format vs factory reset vs encrypt-then-wipe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863661"/>
                <a:gridCol w="3702676"/>
                <a:gridCol w="3863661"/>
              </a:tblGrid>
              <a:tr h="736092">
                <a:tc>
                  <a:txBody>
                    <a:bodyPr wrap="square"/>
                    <a:lstStyle/>
                    <a:p>
                      <a:r>
                        <a:rPr sz="1150" b="1">
                          <a:solidFill>
                            <a:srgbClr val="FFFFFF"/>
                          </a:solidFill>
                        </a:rPr>
                        <a:t>Method</a:t>
                      </a:r>
                    </a:p>
                  </a:txBody>
                  <a:tcPr anchor="ctr" marL="73152" marR="54864" marT="27432" marB="27432">
                    <a:solidFill>
                      <a:srgbClr val="0C2B4A"/>
                    </a:solidFill>
                  </a:tcPr>
                </a:tc>
                <a:tc>
                  <a:txBody>
                    <a:bodyPr wrap="square"/>
                    <a:lstStyle/>
                    <a:p>
                      <a:r>
                        <a:rPr sz="1150" b="1">
                          <a:solidFill>
                            <a:srgbClr val="FFFFFF"/>
                          </a:solidFill>
                        </a:rPr>
                        <a:t>How recoverable?</a:t>
                      </a:r>
                    </a:p>
                  </a:txBody>
                  <a:tcPr anchor="ctr" marL="73152" marR="54864" marT="27432" marB="27432">
                    <a:solidFill>
                      <a:srgbClr val="0C2B4A"/>
                    </a:solidFill>
                  </a:tcPr>
                </a:tc>
                <a:tc>
                  <a:txBody>
                    <a:bodyPr wrap="square"/>
                    <a:lstStyle/>
                    <a:p>
                      <a:r>
                        <a:rPr sz="1150" b="1">
                          <a:solidFill>
                            <a:srgbClr val="FFFFFF"/>
                          </a:solidFill>
                        </a:rPr>
                        <a:t>Safe to sell after?</a:t>
                      </a:r>
                    </a:p>
                  </a:txBody>
                  <a:tcPr anchor="ctr" marL="73152" marR="54864" marT="27432" marB="27432">
                    <a:solidFill>
                      <a:srgbClr val="0C2B4A"/>
                    </a:solidFill>
                  </a:tcPr>
                </a:tc>
              </a:tr>
              <a:tr h="736092">
                <a:tc>
                  <a:txBody>
                    <a:bodyPr wrap="square"/>
                    <a:lstStyle/>
                    <a:p>
                      <a:r>
                        <a:rPr sz="1100" b="1">
                          <a:solidFill>
                            <a:srgbClr val="0C2B4A"/>
                          </a:solidFill>
                        </a:rPr>
                        <a:t>Delete / recycle bin</a:t>
                      </a:r>
                    </a:p>
                  </a:txBody>
                  <a:tcPr anchor="ctr" marL="73152" marR="54864" marT="27432" marB="27432">
                    <a:solidFill>
                      <a:srgbClr val="FFFFFF"/>
                    </a:solidFill>
                  </a:tcPr>
                </a:tc>
                <a:tc>
                  <a:txBody>
                    <a:bodyPr wrap="square"/>
                    <a:lstStyle/>
                    <a:p>
                      <a:r>
                        <a:rPr sz="1100">
                          <a:solidFill>
                            <a:srgbClr val="1A1A1A"/>
                          </a:solidFill>
                        </a:rPr>
                        <a:t>Fully recoverable</a:t>
                      </a:r>
                    </a:p>
                  </a:txBody>
                  <a:tcPr anchor="ctr" marL="73152" marR="54864" marT="27432" marB="27432">
                    <a:solidFill>
                      <a:srgbClr val="FFFFFF"/>
                    </a:solidFill>
                  </a:tcPr>
                </a:tc>
                <a:tc>
                  <a:txBody>
                    <a:bodyPr wrap="square"/>
                    <a:lstStyle/>
                    <a:p>
                      <a:r>
                        <a:rPr sz="1100">
                          <a:solidFill>
                            <a:srgbClr val="1A1A1A"/>
                          </a:solidFill>
                        </a:rPr>
                        <a:t>No — data is still there</a:t>
                      </a:r>
                    </a:p>
                  </a:txBody>
                  <a:tcPr anchor="ctr" marL="73152" marR="54864" marT="27432" marB="27432">
                    <a:solidFill>
                      <a:srgbClr val="FFFFFF"/>
                    </a:solidFill>
                  </a:tcPr>
                </a:tc>
              </a:tr>
              <a:tr h="736092">
                <a:tc>
                  <a:txBody>
                    <a:bodyPr wrap="square"/>
                    <a:lstStyle/>
                    <a:p>
                      <a:r>
                        <a:rPr sz="1100" b="1">
                          <a:solidFill>
                            <a:srgbClr val="0C2B4A"/>
                          </a:solidFill>
                        </a:rPr>
                        <a:t>Quick format</a:t>
                      </a:r>
                    </a:p>
                  </a:txBody>
                  <a:tcPr anchor="ctr" marL="73152" marR="54864" marT="27432" marB="27432">
                    <a:solidFill>
                      <a:srgbClr val="EEF3F8"/>
                    </a:solidFill>
                  </a:tcPr>
                </a:tc>
                <a:tc>
                  <a:txBody>
                    <a:bodyPr wrap="square"/>
                    <a:lstStyle/>
                    <a:p>
                      <a:r>
                        <a:rPr sz="1100">
                          <a:solidFill>
                            <a:srgbClr val="1A1A1A"/>
                          </a:solidFill>
                        </a:rPr>
                        <a:t>Mostly recoverable</a:t>
                      </a:r>
                    </a:p>
                  </a:txBody>
                  <a:tcPr anchor="ctr" marL="73152" marR="54864" marT="27432" marB="27432">
                    <a:solidFill>
                      <a:srgbClr val="EEF3F8"/>
                    </a:solidFill>
                  </a:tcPr>
                </a:tc>
                <a:tc>
                  <a:txBody>
                    <a:bodyPr wrap="square"/>
                    <a:lstStyle/>
                    <a:p>
                      <a:r>
                        <a:rPr sz="1100">
                          <a:solidFill>
                            <a:srgbClr val="1A1A1A"/>
                          </a:solidFill>
                        </a:rPr>
                        <a:t>No — easily undeleted</a:t>
                      </a:r>
                    </a:p>
                  </a:txBody>
                  <a:tcPr anchor="ctr" marL="73152" marR="54864" marT="27432" marB="27432">
                    <a:solidFill>
                      <a:srgbClr val="EEF3F8"/>
                    </a:solidFill>
                  </a:tcPr>
                </a:tc>
              </a:tr>
              <a:tr h="736092">
                <a:tc>
                  <a:txBody>
                    <a:bodyPr wrap="square"/>
                    <a:lstStyle/>
                    <a:p>
                      <a:r>
                        <a:rPr sz="1100" b="1">
                          <a:solidFill>
                            <a:srgbClr val="0C2B4A"/>
                          </a:solidFill>
                        </a:rPr>
                        <a:t>Factory reset (unencrypted)</a:t>
                      </a:r>
                    </a:p>
                  </a:txBody>
                  <a:tcPr anchor="ctr" marL="73152" marR="54864" marT="27432" marB="27432">
                    <a:solidFill>
                      <a:srgbClr val="FFFFFF"/>
                    </a:solidFill>
                  </a:tcPr>
                </a:tc>
                <a:tc>
                  <a:txBody>
                    <a:bodyPr wrap="square"/>
                    <a:lstStyle/>
                    <a:p>
                      <a:r>
                        <a:rPr sz="1100">
                          <a:solidFill>
                            <a:srgbClr val="1A1A1A"/>
                          </a:solidFill>
                        </a:rPr>
                        <a:t>Often recoverable</a:t>
                      </a:r>
                    </a:p>
                  </a:txBody>
                  <a:tcPr anchor="ctr" marL="73152" marR="54864" marT="27432" marB="27432">
                    <a:solidFill>
                      <a:srgbClr val="FFFFFF"/>
                    </a:solidFill>
                  </a:tcPr>
                </a:tc>
                <a:tc>
                  <a:txBody>
                    <a:bodyPr wrap="square"/>
                    <a:lstStyle/>
                    <a:p>
                      <a:r>
                        <a:rPr sz="1100">
                          <a:solidFill>
                            <a:srgbClr val="1A1A1A"/>
                          </a:solidFill>
                        </a:rPr>
                        <a:t>Risky — traces may remain</a:t>
                      </a:r>
                    </a:p>
                  </a:txBody>
                  <a:tcPr anchor="ctr" marL="73152" marR="54864" marT="27432" marB="27432">
                    <a:solidFill>
                      <a:srgbClr val="FFFFFF"/>
                    </a:solidFill>
                  </a:tcPr>
                </a:tc>
              </a:tr>
              <a:tr h="736092">
                <a:tc>
                  <a:txBody>
                    <a:bodyPr wrap="square"/>
                    <a:lstStyle/>
                    <a:p>
                      <a:r>
                        <a:rPr sz="1100" b="1">
                          <a:solidFill>
                            <a:srgbClr val="0C2B4A"/>
                          </a:solidFill>
                        </a:rPr>
                        <a:t>Encrypt, then wipe</a:t>
                      </a:r>
                    </a:p>
                  </a:txBody>
                  <a:tcPr anchor="ctr" marL="73152" marR="54864" marT="27432" marB="27432">
                    <a:solidFill>
                      <a:srgbClr val="EEF3F8"/>
                    </a:solidFill>
                  </a:tcPr>
                </a:tc>
                <a:tc>
                  <a:txBody>
                    <a:bodyPr wrap="square"/>
                    <a:lstStyle/>
                    <a:p>
                      <a:r>
                        <a:rPr sz="1100">
                          <a:solidFill>
                            <a:srgbClr val="1A1A1A"/>
                          </a:solidFill>
                        </a:rPr>
                        <a:t>Unrecoverable</a:t>
                      </a:r>
                    </a:p>
                  </a:txBody>
                  <a:tcPr anchor="ctr" marL="73152" marR="54864" marT="27432" marB="27432">
                    <a:solidFill>
                      <a:srgbClr val="EEF3F8"/>
                    </a:solidFill>
                  </a:tcPr>
                </a:tc>
                <a:tc>
                  <a:txBody>
                    <a:bodyPr wrap="square"/>
                    <a:lstStyle/>
                    <a:p>
                      <a:r>
                        <a:rPr sz="1100">
                          <a:solidFill>
                            <a:srgbClr val="1A1A1A"/>
                          </a:solidFill>
                        </a:rPr>
                        <a:t>Yes — only ciphertext left</a:t>
                      </a:r>
                    </a:p>
                  </a:txBody>
                  <a:tcPr anchor="ctr" marL="73152" marR="54864" marT="27432" marB="27432">
                    <a:solidFill>
                      <a:srgbClr val="EEF3F8"/>
                    </a:solidFill>
                  </a:tcPr>
                </a:tc>
              </a:tr>
              <a:tr h="736092">
                <a:tc>
                  <a:txBody>
                    <a:bodyPr wrap="square"/>
                    <a:lstStyle/>
                    <a:p>
                      <a:r>
                        <a:rPr sz="1100" b="1">
                          <a:solidFill>
                            <a:srgbClr val="0C2B4A"/>
                          </a:solidFill>
                        </a:rPr>
                        <a:t>Physically destroy the drive</a:t>
                      </a:r>
                    </a:p>
                  </a:txBody>
                  <a:tcPr anchor="ctr" marL="73152" marR="54864" marT="27432" marB="27432">
                    <a:solidFill>
                      <a:srgbClr val="FFFFFF"/>
                    </a:solidFill>
                  </a:tcPr>
                </a:tc>
                <a:tc>
                  <a:txBody>
                    <a:bodyPr wrap="square"/>
                    <a:lstStyle/>
                    <a:p>
                      <a:r>
                        <a:rPr sz="1100">
                          <a:solidFill>
                            <a:srgbClr val="1A1A1A"/>
                          </a:solidFill>
                        </a:rPr>
                        <a:t>Unrecoverable</a:t>
                      </a:r>
                    </a:p>
                  </a:txBody>
                  <a:tcPr anchor="ctr" marL="73152" marR="54864" marT="27432" marB="27432">
                    <a:solidFill>
                      <a:srgbClr val="FFFFFF"/>
                    </a:solidFill>
                  </a:tcPr>
                </a:tc>
                <a:tc>
                  <a:txBody>
                    <a:bodyPr wrap="square"/>
                    <a:lstStyle/>
                    <a:p>
                      <a:r>
                        <a:rPr sz="1100">
                          <a:solidFill>
                            <a:srgbClr val="1A1A1A"/>
                          </a:solidFill>
                        </a:rPr>
                        <a:t>Yes — for dead/failed drives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Deleting or formatting only removes the 'index'; the data stays until overwritten. Encryption-then-wipe (or destruction) is the reliable erase before resale.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92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Secure Disposal &amp; Resale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busy second-hand market (Hattisar, online resale groups) means your old device goes to a stranger. Buyers routinely recover the previous owner's photos, chats, and even logins from a careless 'factory reset'. Signing out of accounts, removing SIM/SD, and encrypt-then-wiping first is the difference between selling a phone and selling your identity with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"Deleting my files / formatting the disk erases them." Deleted data is usually recoverable until it's overwritten — delete and quick-format only remove the pointer, not the content. Reliable erasure means encryption-then-wipe, or physically destroying a drive that can't be wiped.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Secure disposal makes data unrecoverable before a device is sold, donated, or discarded. A factory reset alone can leave recoverable traces, so the process is: sign out of all accounts, remove SIM/SD, encrypt-then-wipe, and physically destroy dead drives. This matters acutely in Nepal's second-hand market, where careless wipes let buyers recover the seller's photos and logins.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secure disposal · factory reset is not enough · encrypt-then-wipe · remove SIM/SD · physical destruction · resale risk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92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Screen Locks &amp; Access Control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Access control is what stands between a person holding your device and your data. Use a PIN/password/biometric, a short auto-lock timeout, lock the screen when you walk away (Win+L), and disable lock-screen notification previews that leak OTPs and messages.</a:t>
            </a:r>
          </a:p>
          <a:p>
            <a:pPr>
              <a:spcAft>
                <a:spcPts val="500"/>
              </a:spcAft>
            </a:pPr>
            <a:r>
              <a:rPr sz="1200" b="1">
                <a:solidFill>
                  <a:srgbClr val="185FA5"/>
                </a:solidFill>
              </a:rPr>
              <a:t>HOW IT WORKS</a:t>
            </a:r>
          </a:p>
          <a:p>
            <a:pPr>
              <a:spcAft>
                <a:spcPts val="600"/>
              </a:spcAft>
            </a:pPr>
            <a:r>
              <a:rPr sz="1400">
                <a:solidFill>
                  <a:srgbClr val="1A1A1A"/>
                </a:solidFill>
              </a:rPr>
              <a:t>•  A PIN or biometric is far stronger than a pattern — patterns are guessable and smudge-readable.</a:t>
            </a:r>
          </a:p>
          <a:p>
            <a:pPr>
              <a:spcAft>
                <a:spcPts val="600"/>
              </a:spcAft>
            </a:pPr>
            <a:r>
              <a:rPr sz="1400">
                <a:solidFill>
                  <a:srgbClr val="1A1A1A"/>
                </a:solidFill>
              </a:rPr>
              <a:t>•  A short auto-lock (30 seconds) means a set-down device locks itself before anyone reaches it.</a:t>
            </a:r>
          </a:p>
          <a:p>
            <a:pPr>
              <a:spcAft>
                <a:spcPts val="600"/>
              </a:spcAft>
            </a:pPr>
            <a:r>
              <a:rPr sz="1400">
                <a:solidFill>
                  <a:srgbClr val="1A1A1A"/>
                </a:solidFill>
              </a:rPr>
              <a:t>•  Lock on walk-away (Win+L / power button) so an unattended machine is never open.</a:t>
            </a:r>
          </a:p>
          <a:p>
            <a:pPr>
              <a:spcAft>
                <a:spcPts val="600"/>
              </a:spcAft>
            </a:pPr>
            <a:r>
              <a:rPr sz="1400">
                <a:solidFill>
                  <a:srgbClr val="1A1A1A"/>
                </a:solidFill>
              </a:rPr>
              <a:t>•  Turn off lock-screen previews so OTPs and message contents aren't readable without unlocking.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short auto-lock + hidden OTP previews is the cheapest theft insurance you own.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92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4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Access-control habits — strong vs weak</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5010410"/>
                <a:gridCol w="2035479"/>
                <a:gridCol w="4384109"/>
              </a:tblGrid>
              <a:tr h="630936">
                <a:tc>
                  <a:txBody>
                    <a:bodyPr wrap="square"/>
                    <a:lstStyle/>
                    <a:p>
                      <a:r>
                        <a:rPr sz="1150" b="1">
                          <a:solidFill>
                            <a:srgbClr val="FFFFFF"/>
                          </a:solidFill>
                        </a:rPr>
                        <a:t>Habit</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6-digit PIN / biometric + 30-sec auto-lock</a:t>
                      </a:r>
                    </a:p>
                  </a:txBody>
                  <a:tcPr anchor="ctr" marL="73152" marR="54864" marT="27432" marB="27432">
                    <a:solidFill>
                      <a:srgbClr val="FFFFFF"/>
                    </a:solidFill>
                  </a:tcPr>
                </a:tc>
                <a:tc>
                  <a:txBody>
                    <a:bodyPr wrap="square"/>
                    <a:lstStyle/>
                    <a:p>
                      <a:r>
                        <a:rPr sz="1100">
                          <a:solidFill>
                            <a:srgbClr val="1A1A1A"/>
                          </a:solidFill>
                        </a:rPr>
                        <a:t>Strong</a:t>
                      </a:r>
                    </a:p>
                  </a:txBody>
                  <a:tcPr anchor="ctr" marL="73152" marR="54864" marT="27432" marB="27432">
                    <a:solidFill>
                      <a:srgbClr val="FFFFFF"/>
                    </a:solidFill>
                  </a:tcPr>
                </a:tc>
                <a:tc>
                  <a:txBody>
                    <a:bodyPr wrap="square"/>
                    <a:lstStyle/>
                    <a:p>
                      <a:r>
                        <a:rPr sz="1100">
                          <a:solidFill>
                            <a:srgbClr val="1A1A1A"/>
                          </a:solidFill>
                        </a:rPr>
                        <a:t>Fast for you, hard for a thief</a:t>
                      </a:r>
                    </a:p>
                  </a:txBody>
                  <a:tcPr anchor="ctr" marL="73152" marR="54864" marT="27432" marB="27432">
                    <a:solidFill>
                      <a:srgbClr val="FFFFFF"/>
                    </a:solidFill>
                  </a:tcPr>
                </a:tc>
              </a:tr>
              <a:tr h="630936">
                <a:tc>
                  <a:txBody>
                    <a:bodyPr wrap="square"/>
                    <a:lstStyle/>
                    <a:p>
                      <a:r>
                        <a:rPr sz="1100" b="1">
                          <a:solidFill>
                            <a:srgbClr val="0C2B4A"/>
                          </a:solidFill>
                        </a:rPr>
                        <a:t>Simple pattern lock (L or Z shape)</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Guessable + readable from screen smudges</a:t>
                      </a:r>
                    </a:p>
                  </a:txBody>
                  <a:tcPr anchor="ctr" marL="73152" marR="54864" marT="27432" marB="27432">
                    <a:solidFill>
                      <a:srgbClr val="EEF3F8"/>
                    </a:solidFill>
                  </a:tcPr>
                </a:tc>
              </a:tr>
              <a:tr h="630936">
                <a:tc>
                  <a:txBody>
                    <a:bodyPr wrap="square"/>
                    <a:lstStyle/>
                    <a:p>
                      <a:r>
                        <a:rPr sz="1100" b="1">
                          <a:solidFill>
                            <a:srgbClr val="0C2B4A"/>
                          </a:solidFill>
                        </a:rPr>
                        <a:t>No auto-lock, screen stays on</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A set-down device is wide open</a:t>
                      </a:r>
                    </a:p>
                  </a:txBody>
                  <a:tcPr anchor="ctr" marL="73152" marR="54864" marT="27432" marB="27432">
                    <a:solidFill>
                      <a:srgbClr val="FFFFFF"/>
                    </a:solidFill>
                  </a:tcPr>
                </a:tc>
              </a:tr>
              <a:tr h="630936">
                <a:tc>
                  <a:txBody>
                    <a:bodyPr wrap="square"/>
                    <a:lstStyle/>
                    <a:p>
                      <a:r>
                        <a:rPr sz="1100" b="1">
                          <a:solidFill>
                            <a:srgbClr val="0C2B4A"/>
                          </a:solidFill>
                        </a:rPr>
                        <a:t>Lock on walk-away (Win+L)</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No unattended open session</a:t>
                      </a:r>
                    </a:p>
                  </a:txBody>
                  <a:tcPr anchor="ctr" marL="73152" marR="54864" marT="27432" marB="27432">
                    <a:solidFill>
                      <a:srgbClr val="EEF3F8"/>
                    </a:solidFill>
                  </a:tcPr>
                </a:tc>
              </a:tr>
              <a:tr h="630936">
                <a:tc>
                  <a:txBody>
                    <a:bodyPr wrap="square"/>
                    <a:lstStyle/>
                    <a:p>
                      <a:r>
                        <a:rPr sz="1100" b="1">
                          <a:solidFill>
                            <a:srgbClr val="0C2B4A"/>
                          </a:solidFill>
                        </a:rPr>
                        <a:t>OTP/message previews shown on lock screen</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Codes readable without unlocking</a:t>
                      </a:r>
                    </a:p>
                  </a:txBody>
                  <a:tcPr anchor="ctr" marL="73152" marR="54864" marT="27432" marB="27432">
                    <a:solidFill>
                      <a:srgbClr val="FFFFFF"/>
                    </a:solidFill>
                  </a:tcPr>
                </a:tc>
              </a:tr>
              <a:tr h="630936">
                <a:tc>
                  <a:txBody>
                    <a:bodyPr wrap="square"/>
                    <a:lstStyle/>
                    <a:p>
                      <a:r>
                        <a:rPr sz="1100" b="1">
                          <a:solidFill>
                            <a:srgbClr val="0C2B4A"/>
                          </a:solidFill>
                        </a:rPr>
                        <a:t>Previews hidden until unlocked</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OTPs and messages stay private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lock you never trigger (no auto-lock) protects nothing, and previews that show OTPs defeat the lock entirely. Short timeout + hidden previews close both gaps.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92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S30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Screen Locks &amp; Access Control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Leaving a device unlocked is like leaving your house door open with a sign pointing to the cash. In practice: a laptop left unlocked at a café for two minutes, or a phone showing your bank OTP on its lock screen, hands over access without any hacking. A 30-second auto-lock and hidden notification previews shut both doors.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pattern lock is plenty." Common patterns (L, Z, box) are easy to guess and readable from the smudge trail on the screen; a PIN or biometric is markedly stronger. And any lock is undone if OTPs are previewed on the lock screen — hide previews too.</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Access control is the barrier between whoever holds the device and your data: a PIN/password/biometric (stronger than a guessable pattern), a short auto-lock timeout, locking on walk-away (Win+L), and disabling lock-screen notification previews that leak OTPs and messages. Each closes a common gap — an unattended open session, a smudge-readable pattern, or codes readable without ever unlocking the device.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screen lock · PIN/biometric vs pattern · auto-lock timeout · Win+L · hide notification previews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92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S30 — 'Where do you type a PIN in public?'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where you most often type a PIN/MPIN/password in public — and who could be watching.</a:t>
            </a:r>
          </a:p>
          <a:p>
            <a:pPr>
              <a:spcAft>
                <a:spcPts val="700"/>
              </a:spcAft>
            </a:pPr>
            <a:r>
              <a:rPr sz="1550">
                <a:solidFill>
                  <a:srgbClr val="1A1A1A"/>
                </a:solidFill>
              </a:rPr>
              <a:t>•  Trace what a thief would get from your phone RIGHT NOW if it were snatched unlocked.</a:t>
            </a:r>
          </a:p>
          <a:p>
            <a:pPr>
              <a:spcAft>
                <a:spcPts val="700"/>
              </a:spcAft>
            </a:pPr>
            <a:r>
              <a:rPr sz="1550">
                <a:solidFill>
                  <a:srgbClr val="1A1A1A"/>
                </a:solidFill>
              </a:rPr>
              <a:t>•  Take 3–4 answers aloud (3 min); separate 'lost hardware' from 'lost accounts'.</a:t>
            </a:r>
          </a:p>
          <a:p>
            <a:pPr>
              <a:spcAft>
                <a:spcPts val="700"/>
              </a:spcAft>
            </a:pPr>
            <a:r>
              <a:rPr sz="1550">
                <a:solidFill>
                  <a:srgbClr val="1A1A1A"/>
                </a:solidFill>
              </a:rPr>
              <a:t>•  Close: each student names one fix — encryption, auto-lock, hidden previews, or shielding the keypad.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Draw out that the accounts (eSewa, Gmail, Facebook) are the real loss, not the device. Reward students who connect a specific public habit to a specific fix they'll adopt.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92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Before selling your old phone you should FIRST:</a:t>
            </a:r>
          </a:p>
          <a:p>
            <a:pPr lvl="1"/>
            <a:r>
              <a:rPr sz="1500" b="1">
                <a:solidFill>
                  <a:srgbClr val="0F6E56"/>
                </a:solidFill>
              </a:rPr>
              <a:t>a) just factory reset   b) ✅ sign out of all accounts, then encrypt/reset &amp; remove SIM/SD   c) delete some files   d) nothing</a:t>
            </a:r>
          </a:p>
          <a:p>
            <a:pPr lvl="1">
              <a:spcBef>
                <a:spcPts val="600"/>
              </a:spcBef>
            </a:pPr>
            <a:r>
              <a:rPr sz="1500" i="1">
                <a:solidFill>
                  <a:srgbClr val="1A1A1A"/>
                </a:solidFill>
              </a:rPr>
              <a:t>     Why: a reset alone can leave recoverable data and inherited logins; sign out + encrypt-then-wipe is safe.</a:t>
            </a:r>
          </a:p>
          <a:p>
            <a:pPr>
              <a:spcBef>
                <a:spcPts val="900"/>
              </a:spcBef>
            </a:pPr>
            <a:r>
              <a:rPr sz="1700" b="1">
                <a:solidFill>
                  <a:srgbClr val="0C2B4A"/>
                </a:solidFill>
              </a:rPr>
              <a:t>Q2.  'A factory reset alone guarantees no one recovers my data' is:</a:t>
            </a:r>
          </a:p>
          <a:p>
            <a:pPr lvl="1"/>
            <a:r>
              <a:rPr sz="1500" b="1">
                <a:solidFill>
                  <a:srgbClr val="0F6E56"/>
                </a:solidFill>
              </a:rPr>
              <a:t>a) true   b) ✅ false — encrypt-then-wipe (or destroy the drive) is safer   c) true for phones only   d) true if it's fast</a:t>
            </a:r>
          </a:p>
          <a:p>
            <a:pPr lvl="1">
              <a:spcBef>
                <a:spcPts val="600"/>
              </a:spcBef>
            </a:pPr>
            <a:r>
              <a:rPr sz="1500" i="1">
                <a:solidFill>
                  <a:srgbClr val="1A1A1A"/>
                </a:solidFill>
              </a:rPr>
              <a:t>     Why: deleted/reset data is often recoverable until overwritten or the drive was encrypted.</a:t>
            </a:r>
          </a:p>
          <a:p>
            <a:pPr lvl="1">
              <a:spcBef>
                <a:spcPts val="600"/>
              </a:spcBef>
            </a:pPr>
            <a:r>
              <a:rPr sz="1500" i="1">
                <a:solidFill>
                  <a:srgbClr val="1A1A1A"/>
                </a:solidFill>
              </a:rPr>
              <a:t>Discussion: where do you most often type a PIN/password in public, and who could be watching?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92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 lost unencrypted/unlocked device is a data breach, not just lost hardware — encrypt, lock, and enable remote wipe.</a:t>
            </a:r>
          </a:p>
          <a:p>
            <a:pPr>
              <a:spcAft>
                <a:spcPts val="800"/>
              </a:spcAft>
            </a:pPr>
            <a:r>
              <a:rPr sz="1500">
                <a:solidFill>
                  <a:srgbClr val="1A1A1A"/>
                </a:solidFill>
              </a:rPr>
              <a:t>2.  Shoulder-surfing needs only line of sight — shield the keypad, use a privacy screen, sit back-to-wall.</a:t>
            </a:r>
          </a:p>
          <a:p>
            <a:pPr>
              <a:spcAft>
                <a:spcPts val="800"/>
              </a:spcAft>
            </a:pPr>
            <a:r>
              <a:rPr sz="1500">
                <a:solidFill>
                  <a:srgbClr val="1A1A1A"/>
                </a:solidFill>
              </a:rPr>
              <a:t>3.  Wipe properly before disposal (encrypt-then-wipe, remove SIM/SD, sign out); lock screens and hide OTP previews.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 carry your bank, your ID, and your OTPs in your pocket through crowded micros and cafés every day. Encryption, a short auto-lock, hidden previews, and a careful wipe before resale are the physical-layer habits that keep a snatch or a sale from becoming a breach.</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S31 — taking all this into the home office: cybersecurity when working from home.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92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31 · LECTURE HOUR 4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Cybersecurity When Working from Home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join an office Zoom from your bedroom on the same Wi-Fi as your smart TV, your roommate's torrents, and a CCTV with a default password — and you've saved the company database to your Desktop 'just for now.' Where could this go wrong?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55 / 92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Securing the Home Network</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Your router is the front gate of your digital home — secure it first. Change the default admin password, use WPA2/WPA3 with a strong Wi-Fi passphrase, update the router firmware, disable WPS, and set up a guest network for visitors and IoT devices.</a:t>
            </a:r>
          </a:p>
          <a:p>
            <a:pPr>
              <a:spcAft>
                <a:spcPts val="500"/>
              </a:spcAft>
            </a:pPr>
            <a:r>
              <a:rPr sz="1200" b="1">
                <a:solidFill>
                  <a:srgbClr val="185FA5"/>
                </a:solidFill>
              </a:rPr>
              <a:t>HOW IT WORKS</a:t>
            </a:r>
          </a:p>
          <a:p>
            <a:pPr>
              <a:spcAft>
                <a:spcPts val="600"/>
              </a:spcAft>
            </a:pPr>
            <a:r>
              <a:rPr sz="1400">
                <a:solidFill>
                  <a:srgbClr val="1A1A1A"/>
                </a:solidFill>
              </a:rPr>
              <a:t>•  Change the router's admin login off the sticker password — that panel controls everything.</a:t>
            </a:r>
          </a:p>
          <a:p>
            <a:pPr>
              <a:spcAft>
                <a:spcPts val="600"/>
              </a:spcAft>
            </a:pPr>
            <a:r>
              <a:rPr sz="1400">
                <a:solidFill>
                  <a:srgbClr val="1A1A1A"/>
                </a:solidFill>
              </a:rPr>
              <a:t>•  WPA2/WPA3 + a strong passphrase stops neighbours joining and snooping your traffic.</a:t>
            </a:r>
          </a:p>
          <a:p>
            <a:pPr>
              <a:spcAft>
                <a:spcPts val="600"/>
              </a:spcAft>
            </a:pPr>
            <a:r>
              <a:rPr sz="1400">
                <a:solidFill>
                  <a:srgbClr val="1A1A1A"/>
                </a:solidFill>
              </a:rPr>
              <a:t>•  Update firmware: the router is a computer with holes that need patching too.</a:t>
            </a:r>
          </a:p>
          <a:p>
            <a:pPr>
              <a:spcAft>
                <a:spcPts val="600"/>
              </a:spcAft>
            </a:pPr>
            <a:r>
              <a:rPr sz="1400">
                <a:solidFill>
                  <a:srgbClr val="1A1A1A"/>
                </a:solidFill>
              </a:rPr>
              <a:t>•  A guest/IoT network keeps a hacked camera or a visitor's laptop off your work devices.</a:t>
            </a:r>
          </a:p>
        </p:txBody>
      </p:sp>
      <p:pic>
        <p:nvPicPr>
          <p:cNvPr id="6" name="Picture 5" descr="s31_network.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Lock the router (the gate); split MAIN from a GUEST/IoT network.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92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Home-network setup — strong vs weak</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5010410"/>
                <a:gridCol w="2035479"/>
                <a:gridCol w="4384109"/>
              </a:tblGrid>
              <a:tr h="630936">
                <a:tc>
                  <a:txBody>
                    <a:bodyPr wrap="square"/>
                    <a:lstStyle/>
                    <a:p>
                      <a:r>
                        <a:rPr sz="1150" b="1">
                          <a:solidFill>
                            <a:srgbClr val="FFFFFF"/>
                          </a:solidFill>
                        </a:rPr>
                        <a:t>Setting (Nepal)</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 (consequence)</a:t>
                      </a:r>
                    </a:p>
                  </a:txBody>
                  <a:tcPr anchor="ctr" marL="73152" marR="54864" marT="27432" marB="27432">
                    <a:solidFill>
                      <a:srgbClr val="0C2B4A"/>
                    </a:solidFill>
                  </a:tcPr>
                </a:tc>
              </a:tr>
              <a:tr h="630936">
                <a:tc>
                  <a:txBody>
                    <a:bodyPr wrap="square"/>
                    <a:lstStyle/>
                    <a:p>
                      <a:r>
                        <a:rPr sz="1100" b="1">
                          <a:solidFill>
                            <a:srgbClr val="0C2B4A"/>
                          </a:solidFill>
                        </a:rPr>
                        <a:t>Router admin still on the sticker password</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Anyone nearby/online can reconfigure it</a:t>
                      </a:r>
                    </a:p>
                  </a:txBody>
                  <a:tcPr anchor="ctr" marL="73152" marR="54864" marT="27432" marB="27432">
                    <a:solidFill>
                      <a:srgbClr val="FFFFFF"/>
                    </a:solidFill>
                  </a:tcPr>
                </a:tc>
              </a:tr>
              <a:tr h="630936">
                <a:tc>
                  <a:txBody>
                    <a:bodyPr wrap="square"/>
                    <a:lstStyle/>
                    <a:p>
                      <a:r>
                        <a:rPr sz="1100" b="1">
                          <a:solidFill>
                            <a:srgbClr val="0C2B4A"/>
                          </a:solidFill>
                        </a:rPr>
                        <a:t>WPA3 (or WPA2) + a long passphrase</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Neighbours can't join or snoop your traffic</a:t>
                      </a:r>
                    </a:p>
                  </a:txBody>
                  <a:tcPr anchor="ctr" marL="73152" marR="54864" marT="27432" marB="27432">
                    <a:solidFill>
                      <a:srgbClr val="EEF3F8"/>
                    </a:solidFill>
                  </a:tcPr>
                </a:tc>
              </a:tr>
              <a:tr h="630936">
                <a:tc>
                  <a:txBody>
                    <a:bodyPr wrap="square"/>
                    <a:lstStyle/>
                    <a:p>
                      <a:r>
                        <a:rPr sz="1100" b="1">
                          <a:solidFill>
                            <a:srgbClr val="0C2B4A"/>
                          </a:solidFill>
                        </a:rPr>
                        <a:t>Open/'password123' Wi-Fi shared with the building</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Everyone sees everyone's traffic</a:t>
                      </a:r>
                    </a:p>
                  </a:txBody>
                  <a:tcPr anchor="ctr" marL="73152" marR="54864" marT="27432" marB="27432">
                    <a:solidFill>
                      <a:srgbClr val="FFFFFF"/>
                    </a:solidFill>
                  </a:tcPr>
                </a:tc>
              </a:tr>
              <a:tr h="630936">
                <a:tc>
                  <a:txBody>
                    <a:bodyPr wrap="square"/>
                    <a:lstStyle/>
                    <a:p>
                      <a:r>
                        <a:rPr sz="1100" b="1">
                          <a:solidFill>
                            <a:srgbClr val="0C2B4A"/>
                          </a:solidFill>
                        </a:rPr>
                        <a:t>Firmware updated on the router</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Known router holes get patched</a:t>
                      </a:r>
                    </a:p>
                  </a:txBody>
                  <a:tcPr anchor="ctr" marL="73152" marR="54864" marT="27432" marB="27432">
                    <a:solidFill>
                      <a:srgbClr val="EEF3F8"/>
                    </a:solidFill>
                  </a:tcPr>
                </a:tc>
              </a:tr>
              <a:tr h="630936">
                <a:tc>
                  <a:txBody>
                    <a:bodyPr wrap="square"/>
                    <a:lstStyle/>
                    <a:p>
                      <a:r>
                        <a:rPr sz="1100" b="1">
                          <a:solidFill>
                            <a:srgbClr val="0C2B4A"/>
                          </a:solidFill>
                        </a:rPr>
                        <a:t>WPS left enabled for convenience</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WPS PIN can be brute-forced</a:t>
                      </a:r>
                    </a:p>
                  </a:txBody>
                  <a:tcPr anchor="ctr" marL="73152" marR="54864" marT="27432" marB="27432">
                    <a:solidFill>
                      <a:srgbClr val="FFFFFF"/>
                    </a:solidFill>
                  </a:tcPr>
                </a:tc>
              </a:tr>
              <a:tr h="630936">
                <a:tc>
                  <a:txBody>
                    <a:bodyPr wrap="square"/>
                    <a:lstStyle/>
                    <a:p>
                      <a:r>
                        <a:rPr sz="1100" b="1">
                          <a:solidFill>
                            <a:srgbClr val="0C2B4A"/>
                          </a:solidFill>
                        </a:rPr>
                        <a:t>Guest/IoT network separate from work devices</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A hacked camera can't reach your laptop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'My Wi-Fi has a password' is not enough — a weak passphrase, default admin login, or old firmware still leaves the gate open. Lock all three, then segment.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92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Securing the Home Network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WorldLink/Vianet/Subisu routers are routinely left on the admin password printed on the sticker, and in shared-Wi-Fi buildings everyone can see everyone's traffic. Changing the admin login, setting a strong WPA2/WPA3 passphrase, updating firmware, and putting the CCTV/TV on a guest network turns that open gate into a locked, segmented one.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"My Wi-Fi has a password, so it's secure." A weak passphrase, a default router admin login, or outdated firmware still leaves you exposed even with 'a password' set. Wi-Fi security is the whole gate — passphrase, admin login, firmware, and segmentation — not just one lock.</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Securing the home network starts at the router — the gateway to everything — by changing the default admin password, using WPA2/WPA3 with a strong passphrase, updating firmware, disabling WPS, and adding a guest network for visitors and IoT. Having 'a Wi-Fi password' is not enough: a weak passphrase, a sticker admin login, or old firmware keeps the gate open, and segmenting IoT keeps a hacked device off your work machine.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router security · default admin password · WPA2/WPA3 · firmware update · disable WPS · guest/IoT network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92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VPNs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VPN (Virtual Private Network) encrypts your traffic through a secure tunnel. Use your company VPN to reach work resources, and a trusted VPN on public/untrusted Wi-Fi to stop local snooping. Be wary of 'free VPN' apps — some make money by selling your data.</a:t>
            </a:r>
          </a:p>
          <a:p>
            <a:pPr>
              <a:spcAft>
                <a:spcPts val="500"/>
              </a:spcAft>
            </a:pPr>
            <a:r>
              <a:rPr sz="1200" b="1">
                <a:solidFill>
                  <a:srgbClr val="185FA5"/>
                </a:solidFill>
              </a:rPr>
              <a:t>HOW IT WORKS</a:t>
            </a:r>
          </a:p>
          <a:p>
            <a:pPr>
              <a:spcAft>
                <a:spcPts val="600"/>
              </a:spcAft>
            </a:pPr>
            <a:r>
              <a:rPr sz="1400">
                <a:solidFill>
                  <a:srgbClr val="1A1A1A"/>
                </a:solidFill>
              </a:rPr>
              <a:t>•  The VPN tunnel encrypts your traffic so others on the same Wi-Fi can't read it.</a:t>
            </a:r>
          </a:p>
          <a:p>
            <a:pPr>
              <a:spcAft>
                <a:spcPts val="600"/>
              </a:spcAft>
            </a:pPr>
            <a:r>
              <a:rPr sz="1400">
                <a:solidFill>
                  <a:srgbClr val="1A1A1A"/>
                </a:solidFill>
              </a:rPr>
              <a:t>•  On café/public Wi-Fi a VPN stops local snooping of what you send and receive.</a:t>
            </a:r>
          </a:p>
          <a:p>
            <a:pPr>
              <a:spcAft>
                <a:spcPts val="600"/>
              </a:spcAft>
            </a:pPr>
            <a:r>
              <a:rPr sz="1400">
                <a:solidFill>
                  <a:srgbClr val="1A1A1A"/>
                </a:solidFill>
              </a:rPr>
              <a:t>•  A company VPN is often required to reach internal work systems securely.</a:t>
            </a:r>
          </a:p>
          <a:p>
            <a:pPr>
              <a:spcAft>
                <a:spcPts val="600"/>
              </a:spcAft>
            </a:pPr>
            <a:r>
              <a:rPr sz="1400">
                <a:solidFill>
                  <a:srgbClr val="1A1A1A"/>
                </a:solidFill>
              </a:rPr>
              <a:t>•  'Free' VPNs may log and sell your browsing — the product being sold is you.</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VPN protects the transport — not against phishing, malware, or a weak password.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92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VPN — when it helps and what it can't do</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697260"/>
                <a:gridCol w="2661780"/>
                <a:gridCol w="4070958"/>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Does a VPN help?</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Working on open café Wi-Fi in Kathmandu</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Encrypts traffic against local snooping</a:t>
                      </a:r>
                    </a:p>
                  </a:txBody>
                  <a:tcPr anchor="ctr" marL="73152" marR="54864" marT="27432" marB="27432">
                    <a:solidFill>
                      <a:srgbClr val="FFFFFF"/>
                    </a:solidFill>
                  </a:tcPr>
                </a:tc>
              </a:tr>
              <a:tr h="630936">
                <a:tc>
                  <a:txBody>
                    <a:bodyPr wrap="square"/>
                    <a:lstStyle/>
                    <a:p>
                      <a:r>
                        <a:rPr sz="1100" b="1">
                          <a:solidFill>
                            <a:srgbClr val="0C2B4A"/>
                          </a:solidFill>
                        </a:rPr>
                        <a:t>Reaching internal company systems from home</a:t>
                      </a:r>
                    </a:p>
                  </a:txBody>
                  <a:tcPr anchor="ctr" marL="73152" marR="54864" marT="27432" marB="27432">
                    <a:solidFill>
                      <a:srgbClr val="EEF3F8"/>
                    </a:solidFill>
                  </a:tcPr>
                </a:tc>
                <a:tc>
                  <a:txBody>
                    <a:bodyPr wrap="square"/>
                    <a:lstStyle/>
                    <a:p>
                      <a:r>
                        <a:rPr sz="1100">
                          <a:solidFill>
                            <a:srgbClr val="1A1A1A"/>
                          </a:solidFill>
                        </a:rPr>
                        <a:t>Yes (company VPN)</a:t>
                      </a:r>
                    </a:p>
                  </a:txBody>
                  <a:tcPr anchor="ctr" marL="73152" marR="54864" marT="27432" marB="27432">
                    <a:solidFill>
                      <a:srgbClr val="EEF3F8"/>
                    </a:solidFill>
                  </a:tcPr>
                </a:tc>
                <a:tc>
                  <a:txBody>
                    <a:bodyPr wrap="square"/>
                    <a:lstStyle/>
                    <a:p>
                      <a:r>
                        <a:rPr sz="1100">
                          <a:solidFill>
                            <a:srgbClr val="1A1A1A"/>
                          </a:solidFill>
                        </a:rPr>
                        <a:t>Secure tunnel into work resources</a:t>
                      </a:r>
                    </a:p>
                  </a:txBody>
                  <a:tcPr anchor="ctr" marL="73152" marR="54864" marT="27432" marB="27432">
                    <a:solidFill>
                      <a:srgbClr val="EEF3F8"/>
                    </a:solidFill>
                  </a:tcPr>
                </a:tc>
              </a:tr>
              <a:tr h="630936">
                <a:tc>
                  <a:txBody>
                    <a:bodyPr wrap="square"/>
                    <a:lstStyle/>
                    <a:p>
                      <a:r>
                        <a:rPr sz="1100" b="1">
                          <a:solidFill>
                            <a:srgbClr val="0C2B4A"/>
                          </a:solidFill>
                        </a:rPr>
                        <a:t>You click a phishing link and log in</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VPN protects transport, not your decisions</a:t>
                      </a:r>
                    </a:p>
                  </a:txBody>
                  <a:tcPr anchor="ctr" marL="73152" marR="54864" marT="27432" marB="27432">
                    <a:solidFill>
                      <a:srgbClr val="FFFFFF"/>
                    </a:solidFill>
                  </a:tcPr>
                </a:tc>
              </a:tr>
              <a:tr h="630936">
                <a:tc>
                  <a:txBody>
                    <a:bodyPr wrap="square"/>
                    <a:lstStyle/>
                    <a:p>
                      <a:r>
                        <a:rPr sz="1100" b="1">
                          <a:solidFill>
                            <a:srgbClr val="0C2B4A"/>
                          </a:solidFill>
                        </a:rPr>
                        <a:t>You download and run malware</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VPN doesn't scan or block files</a:t>
                      </a:r>
                    </a:p>
                  </a:txBody>
                  <a:tcPr anchor="ctr" marL="73152" marR="54864" marT="27432" marB="27432">
                    <a:solidFill>
                      <a:srgbClr val="EEF3F8"/>
                    </a:solidFill>
                  </a:tcPr>
                </a:tc>
              </a:tr>
              <a:tr h="630936">
                <a:tc>
                  <a:txBody>
                    <a:bodyPr wrap="square"/>
                    <a:lstStyle/>
                    <a:p>
                      <a:r>
                        <a:rPr sz="1100" b="1">
                          <a:solidFill>
                            <a:srgbClr val="0C2B4A"/>
                          </a:solidFill>
                        </a:rPr>
                        <a:t>Using a 'free' VPN of unknown origin</a:t>
                      </a:r>
                    </a:p>
                  </a:txBody>
                  <a:tcPr anchor="ctr" marL="73152" marR="54864" marT="27432" marB="27432">
                    <a:solidFill>
                      <a:srgbClr val="FFFFFF"/>
                    </a:solidFill>
                  </a:tcPr>
                </a:tc>
                <a:tc>
                  <a:txBody>
                    <a:bodyPr wrap="square"/>
                    <a:lstStyle/>
                    <a:p>
                      <a:r>
                        <a:rPr sz="1100">
                          <a:solidFill>
                            <a:srgbClr val="1A1A1A"/>
                          </a:solidFill>
                        </a:rPr>
                        <a:t>Risky</a:t>
                      </a:r>
                    </a:p>
                  </a:txBody>
                  <a:tcPr anchor="ctr" marL="73152" marR="54864" marT="27432" marB="27432">
                    <a:solidFill>
                      <a:srgbClr val="FFFFFF"/>
                    </a:solidFill>
                  </a:tcPr>
                </a:tc>
                <a:tc>
                  <a:txBody>
                    <a:bodyPr wrap="square"/>
                    <a:lstStyle/>
                    <a:p>
                      <a:r>
                        <a:rPr sz="1100">
                          <a:solidFill>
                            <a:srgbClr val="1A1A1A"/>
                          </a:solidFill>
                        </a:rPr>
                        <a:t>It may log and sell your traffic</a:t>
                      </a:r>
                    </a:p>
                  </a:txBody>
                  <a:tcPr anchor="ctr" marL="73152" marR="54864" marT="27432" marB="27432">
                    <a:solidFill>
                      <a:srgbClr val="FFFFFF"/>
                    </a:solidFill>
                  </a:tcPr>
                </a:tc>
              </a:tr>
              <a:tr h="630936">
                <a:tc>
                  <a:txBody>
                    <a:bodyPr wrap="square"/>
                    <a:lstStyle/>
                    <a:p>
                      <a:r>
                        <a:rPr sz="1100" b="1">
                          <a:solidFill>
                            <a:srgbClr val="0C2B4A"/>
                          </a:solidFill>
                        </a:rPr>
                        <a:t>Reusing a weak password over a VPN</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The password is still weak — VPN can't fix that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VPN secures the pipe, not the person. It's essential on untrusted Wi-Fi, but it won't save you from phishing, malware, or a weak/reused password.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92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VPNs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Working from a café or co-working space in Kathmandu on open Wi-Fi, anyone on that network can potentially snoop your traffic. A trusted VPN encrypts the tunnel so they see only scrambled data, and a company VPN lets you reach internal systems securely. But a random 'free VPN' app may be quietly logging and selling the very traffic you installed it to protect.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VPN makes me anonymous and 100% safe." It protects the transport — it won't save you from phishing, malware, a weak password, or a site you log into willingly. And a free VPN can be worse than none if it sells your data. Use a trusted VPN, but keep every other layer too.</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VPN encrypts your traffic through a secure tunnel, protecting it from local snooping on public/untrusted Wi-Fi and providing secure access to work systems via a company VPN. Its limit is important: it secures the transport only, not your choices — it does nothing against phishing, malware, or a weak password — and 'free' VPNs may log and sell your data, so trust matters.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VPN · encrypted tunnel · public Wi-Fi snooping · company VPN · free-VPN data risk · protects transport only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92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Separating Work and Personal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Keep work and personal data and logins apart. Use the work-issued device/account for work, don't store company data on personal cloud or email, and lock the machine when you step away — even at home.</a:t>
            </a:r>
          </a:p>
          <a:p>
            <a:pPr>
              <a:spcAft>
                <a:spcPts val="500"/>
              </a:spcAft>
            </a:pPr>
            <a:r>
              <a:rPr sz="1200" b="1">
                <a:solidFill>
                  <a:srgbClr val="185FA5"/>
                </a:solidFill>
              </a:rPr>
              <a:t>HOW IT WORKS</a:t>
            </a:r>
          </a:p>
          <a:p>
            <a:pPr>
              <a:spcAft>
                <a:spcPts val="600"/>
              </a:spcAft>
            </a:pPr>
            <a:r>
              <a:rPr sz="1400">
                <a:solidFill>
                  <a:srgbClr val="1A1A1A"/>
                </a:solidFill>
              </a:rPr>
              <a:t>•  Mixing work logins with personal accounts spreads a breach from one into the other.</a:t>
            </a:r>
          </a:p>
          <a:p>
            <a:pPr>
              <a:spcAft>
                <a:spcPts val="600"/>
              </a:spcAft>
            </a:pPr>
            <a:r>
              <a:rPr sz="1400">
                <a:solidFill>
                  <a:srgbClr val="1A1A1A"/>
                </a:solidFill>
              </a:rPr>
              <a:t>•  Company data on personal Gmail/Drive is outside the company's control and protection.</a:t>
            </a:r>
          </a:p>
          <a:p>
            <a:pPr>
              <a:spcAft>
                <a:spcPts val="600"/>
              </a:spcAft>
            </a:pPr>
            <a:r>
              <a:rPr sz="1400">
                <a:solidFill>
                  <a:srgbClr val="1A1A1A"/>
                </a:solidFill>
              </a:rPr>
              <a:t>•  Use the work device/account for work so security policy and monitoring apply.</a:t>
            </a:r>
          </a:p>
          <a:p>
            <a:pPr>
              <a:spcAft>
                <a:spcPts val="600"/>
              </a:spcAft>
            </a:pPr>
            <a:r>
              <a:rPr sz="1400">
                <a:solidFill>
                  <a:srgbClr val="1A1A1A"/>
                </a:solidFill>
              </a:rPr>
              <a:t>•  Lock the machine when AFK at home too — flatmates and family are still 'in scope'.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Emailing a work file to personal Gmail creates a leak the company can't see or control.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92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Work/personal separation — risk vs safe practice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5010410"/>
                <a:gridCol w="2035479"/>
                <a:gridCol w="4384109"/>
              </a:tblGrid>
              <a:tr h="630936">
                <a:tc>
                  <a:txBody>
                    <a:bodyPr wrap="square"/>
                    <a:lstStyle/>
                    <a:p>
                      <a:r>
                        <a:rPr sz="1150" b="1">
                          <a:solidFill>
                            <a:srgbClr val="FFFFFF"/>
                          </a:solidFill>
                        </a:rPr>
                        <a:t>Action</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 (consequence)</a:t>
                      </a:r>
                    </a:p>
                  </a:txBody>
                  <a:tcPr anchor="ctr" marL="73152" marR="54864" marT="27432" marB="27432">
                    <a:solidFill>
                      <a:srgbClr val="0C2B4A"/>
                    </a:solidFill>
                  </a:tcPr>
                </a:tc>
              </a:tr>
              <a:tr h="630936">
                <a:tc>
                  <a:txBody>
                    <a:bodyPr wrap="square"/>
                    <a:lstStyle/>
                    <a:p>
                      <a:r>
                        <a:rPr sz="1100" b="1">
                          <a:solidFill>
                            <a:srgbClr val="0C2B4A"/>
                          </a:solidFill>
                        </a:rPr>
                        <a:t>Emailing a company file to personal Gmail</a:t>
                      </a:r>
                    </a:p>
                  </a:txBody>
                  <a:tcPr anchor="ctr" marL="73152" marR="54864" marT="27432" marB="27432">
                    <a:solidFill>
                      <a:srgbClr val="FFFFFF"/>
                    </a:solidFill>
                  </a:tcPr>
                </a:tc>
                <a:tc>
                  <a:txBody>
                    <a:bodyPr wrap="square"/>
                    <a:lstStyle/>
                    <a:p>
                      <a:r>
                        <a:rPr sz="1100">
                          <a:solidFill>
                            <a:srgbClr val="1A1A1A"/>
                          </a:solidFill>
                        </a:rPr>
                        <a:t>Risky</a:t>
                      </a:r>
                    </a:p>
                  </a:txBody>
                  <a:tcPr anchor="ctr" marL="73152" marR="54864" marT="27432" marB="27432">
                    <a:solidFill>
                      <a:srgbClr val="FFFFFF"/>
                    </a:solidFill>
                  </a:tcPr>
                </a:tc>
                <a:tc>
                  <a:txBody>
                    <a:bodyPr wrap="square"/>
                    <a:lstStyle/>
                    <a:p>
                      <a:r>
                        <a:rPr sz="1100">
                          <a:solidFill>
                            <a:srgbClr val="1A1A1A"/>
                          </a:solidFill>
                        </a:rPr>
                        <a:t>Data leaves company control; breach exposure</a:t>
                      </a:r>
                    </a:p>
                  </a:txBody>
                  <a:tcPr anchor="ctr" marL="73152" marR="54864" marT="27432" marB="27432">
                    <a:solidFill>
                      <a:srgbClr val="FFFFFF"/>
                    </a:solidFill>
                  </a:tcPr>
                </a:tc>
              </a:tr>
              <a:tr h="630936">
                <a:tc>
                  <a:txBody>
                    <a:bodyPr wrap="square"/>
                    <a:lstStyle/>
                    <a:p>
                      <a:r>
                        <a:rPr sz="1100" b="1">
                          <a:solidFill>
                            <a:srgbClr val="0C2B4A"/>
                          </a:solidFill>
                        </a:rPr>
                        <a:t>Doing work on the work-issued device/account</a:t>
                      </a:r>
                    </a:p>
                  </a:txBody>
                  <a:tcPr anchor="ctr" marL="73152" marR="54864" marT="27432" marB="27432">
                    <a:solidFill>
                      <a:srgbClr val="EEF3F8"/>
                    </a:solidFill>
                  </a:tcPr>
                </a:tc>
                <a:tc>
                  <a:txBody>
                    <a:bodyPr wrap="square"/>
                    <a:lstStyle/>
                    <a:p>
                      <a:r>
                        <a:rPr sz="1100">
                          <a:solidFill>
                            <a:srgbClr val="1A1A1A"/>
                          </a:solidFill>
                        </a:rPr>
                        <a:t>Safe</a:t>
                      </a:r>
                    </a:p>
                  </a:txBody>
                  <a:tcPr anchor="ctr" marL="73152" marR="54864" marT="27432" marB="27432">
                    <a:solidFill>
                      <a:srgbClr val="EEF3F8"/>
                    </a:solidFill>
                  </a:tcPr>
                </a:tc>
                <a:tc>
                  <a:txBody>
                    <a:bodyPr wrap="square"/>
                    <a:lstStyle/>
                    <a:p>
                      <a:r>
                        <a:rPr sz="1100">
                          <a:solidFill>
                            <a:srgbClr val="1A1A1A"/>
                          </a:solidFill>
                        </a:rPr>
                        <a:t>Policy, backups, and monitoring apply</a:t>
                      </a:r>
                    </a:p>
                  </a:txBody>
                  <a:tcPr anchor="ctr" marL="73152" marR="54864" marT="27432" marB="27432">
                    <a:solidFill>
                      <a:srgbClr val="EEF3F8"/>
                    </a:solidFill>
                  </a:tcPr>
                </a:tc>
              </a:tr>
              <a:tr h="630936">
                <a:tc>
                  <a:txBody>
                    <a:bodyPr wrap="square"/>
                    <a:lstStyle/>
                    <a:p>
                      <a:r>
                        <a:rPr sz="1100" b="1">
                          <a:solidFill>
                            <a:srgbClr val="0C2B4A"/>
                          </a:solidFill>
                        </a:rPr>
                        <a:t>Saving the client database to your Desktop 'for now'</a:t>
                      </a:r>
                    </a:p>
                  </a:txBody>
                  <a:tcPr anchor="ctr" marL="73152" marR="54864" marT="27432" marB="27432">
                    <a:solidFill>
                      <a:srgbClr val="FFFFFF"/>
                    </a:solidFill>
                  </a:tcPr>
                </a:tc>
                <a:tc>
                  <a:txBody>
                    <a:bodyPr wrap="square"/>
                    <a:lstStyle/>
                    <a:p>
                      <a:r>
                        <a:rPr sz="1100">
                          <a:solidFill>
                            <a:srgbClr val="1A1A1A"/>
                          </a:solidFill>
                        </a:rPr>
                        <a:t>Risky</a:t>
                      </a:r>
                    </a:p>
                  </a:txBody>
                  <a:tcPr anchor="ctr" marL="73152" marR="54864" marT="27432" marB="27432">
                    <a:solidFill>
                      <a:srgbClr val="FFFFFF"/>
                    </a:solidFill>
                  </a:tcPr>
                </a:tc>
                <a:tc>
                  <a:txBody>
                    <a:bodyPr wrap="square"/>
                    <a:lstStyle/>
                    <a:p>
                      <a:r>
                        <a:rPr sz="1100">
                          <a:solidFill>
                            <a:srgbClr val="1A1A1A"/>
                          </a:solidFill>
                        </a:rPr>
                        <a:t>Uncontrolled copy on an unmanaged machine</a:t>
                      </a:r>
                    </a:p>
                  </a:txBody>
                  <a:tcPr anchor="ctr" marL="73152" marR="54864" marT="27432" marB="27432">
                    <a:solidFill>
                      <a:srgbClr val="FFFFFF"/>
                    </a:solidFill>
                  </a:tcPr>
                </a:tc>
              </a:tr>
              <a:tr h="630936">
                <a:tc>
                  <a:txBody>
                    <a:bodyPr wrap="square"/>
                    <a:lstStyle/>
                    <a:p>
                      <a:r>
                        <a:rPr sz="1100" b="1">
                          <a:solidFill>
                            <a:srgbClr val="0C2B4A"/>
                          </a:solidFill>
                        </a:rPr>
                        <a:t>Using a personal USB for work files</a:t>
                      </a:r>
                    </a:p>
                  </a:txBody>
                  <a:tcPr anchor="ctr" marL="73152" marR="54864" marT="27432" marB="27432">
                    <a:solidFill>
                      <a:srgbClr val="EEF3F8"/>
                    </a:solidFill>
                  </a:tcPr>
                </a:tc>
                <a:tc>
                  <a:txBody>
                    <a:bodyPr wrap="square"/>
                    <a:lstStyle/>
                    <a:p>
                      <a:r>
                        <a:rPr sz="1100">
                          <a:solidFill>
                            <a:srgbClr val="1A1A1A"/>
                          </a:solidFill>
                        </a:rPr>
                        <a:t>Risky</a:t>
                      </a:r>
                    </a:p>
                  </a:txBody>
                  <a:tcPr anchor="ctr" marL="73152" marR="54864" marT="27432" marB="27432">
                    <a:solidFill>
                      <a:srgbClr val="EEF3F8"/>
                    </a:solidFill>
                  </a:tcPr>
                </a:tc>
                <a:tc>
                  <a:txBody>
                    <a:bodyPr wrap="square"/>
                    <a:lstStyle/>
                    <a:p>
                      <a:r>
                        <a:rPr sz="1100">
                          <a:solidFill>
                            <a:srgbClr val="1A1A1A"/>
                          </a:solidFill>
                        </a:rPr>
                        <a:t>Easy to lose; may carry malware</a:t>
                      </a:r>
                    </a:p>
                  </a:txBody>
                  <a:tcPr anchor="ctr" marL="73152" marR="54864" marT="27432" marB="27432">
                    <a:solidFill>
                      <a:srgbClr val="EEF3F8"/>
                    </a:solidFill>
                  </a:tcPr>
                </a:tc>
              </a:tr>
              <a:tr h="630936">
                <a:tc>
                  <a:txBody>
                    <a:bodyPr wrap="square"/>
                    <a:lstStyle/>
                    <a:p>
                      <a:r>
                        <a:rPr sz="1100" b="1">
                          <a:solidFill>
                            <a:srgbClr val="0C2B4A"/>
                          </a:solidFill>
                        </a:rPr>
                        <a:t>Locking the laptop when you leave the room</a:t>
                      </a:r>
                    </a:p>
                  </a:txBody>
                  <a:tcPr anchor="ctr" marL="73152" marR="54864" marT="27432" marB="27432">
                    <a:solidFill>
                      <a:srgbClr val="FFFFFF"/>
                    </a:solidFill>
                  </a:tcPr>
                </a:tc>
                <a:tc>
                  <a:txBody>
                    <a:bodyPr wrap="square"/>
                    <a:lstStyle/>
                    <a:p>
                      <a:r>
                        <a:rPr sz="1100">
                          <a:solidFill>
                            <a:srgbClr val="1A1A1A"/>
                          </a:solidFill>
                        </a:rPr>
                        <a:t>Safe</a:t>
                      </a:r>
                    </a:p>
                  </a:txBody>
                  <a:tcPr anchor="ctr" marL="73152" marR="54864" marT="27432" marB="27432">
                    <a:solidFill>
                      <a:srgbClr val="FFFFFF"/>
                    </a:solidFill>
                  </a:tcPr>
                </a:tc>
                <a:tc>
                  <a:txBody>
                    <a:bodyPr wrap="square"/>
                    <a:lstStyle/>
                    <a:p>
                      <a:r>
                        <a:rPr sz="1100">
                          <a:solidFill>
                            <a:srgbClr val="1A1A1A"/>
                          </a:solidFill>
                        </a:rPr>
                        <a:t>Flatmates/family can't wander into work data</a:t>
                      </a:r>
                    </a:p>
                  </a:txBody>
                  <a:tcPr anchor="ctr" marL="73152" marR="54864" marT="27432" marB="27432">
                    <a:solidFill>
                      <a:srgbClr val="FFFFFF"/>
                    </a:solidFill>
                  </a:tcPr>
                </a:tc>
              </a:tr>
              <a:tr h="630936">
                <a:tc>
                  <a:txBody>
                    <a:bodyPr wrap="square"/>
                    <a:lstStyle/>
                    <a:p>
                      <a:r>
                        <a:rPr sz="1100" b="1">
                          <a:solidFill>
                            <a:srgbClr val="0C2B4A"/>
                          </a:solidFill>
                        </a:rPr>
                        <a:t>Same password for work and personal accounts</a:t>
                      </a:r>
                    </a:p>
                  </a:txBody>
                  <a:tcPr anchor="ctr" marL="73152" marR="54864" marT="27432" marB="27432">
                    <a:solidFill>
                      <a:srgbClr val="EEF3F8"/>
                    </a:solidFill>
                  </a:tcPr>
                </a:tc>
                <a:tc>
                  <a:txBody>
                    <a:bodyPr wrap="square"/>
                    <a:lstStyle/>
                    <a:p>
                      <a:r>
                        <a:rPr sz="1100">
                          <a:solidFill>
                            <a:srgbClr val="1A1A1A"/>
                          </a:solidFill>
                        </a:rPr>
                        <a:t>Risky</a:t>
                      </a:r>
                    </a:p>
                  </a:txBody>
                  <a:tcPr anchor="ctr" marL="73152" marR="54864" marT="27432" marB="27432">
                    <a:solidFill>
                      <a:srgbClr val="EEF3F8"/>
                    </a:solidFill>
                  </a:tcPr>
                </a:tc>
                <a:tc>
                  <a:txBody>
                    <a:bodyPr wrap="square"/>
                    <a:lstStyle/>
                    <a:p>
                      <a:r>
                        <a:rPr sz="1100">
                          <a:solidFill>
                            <a:srgbClr val="1A1A1A"/>
                          </a:solidFill>
                        </a:rPr>
                        <a:t>One breach cascades across both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At home there IS someone around — flatmates, family, guests, IoT, and remote attackers. 'Just for now' copies on personal accounts are exactly how home-work data leaks.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92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Separating Work and Personal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You email a work file to your personal Gmail to finish it at night. You've just created three problems: the data left the company's control, it now sits in an account with your (maybe weak) personal security, and if either account is breached the company is exposed with no visibility. Doing the work on the issued device/account keeps it inside the protections built for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"At home there's no one around, so I can relax security." Flatmates, family, guests, insecure IoT, and remote attackers are all still in scope — 'home' is not 'safe'. Lock the machine when you step away and keep work on work systems, exactly as you would in an office.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Separating work and personal means not mixing work logins/data with personal accounts: use the work-issued device/account for work, avoid storing company data on personal cloud/email or USBs, and lock the machine when away — even at home. Emailing a work file to personal Gmail leaks data outside company control and protection, and 'home' is not secure by default because flatmates, IoT, and remote attackers remain in scope.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work/personal separation · data leakage · company control · use work device · lock when AFK · home is in scope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92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Video-Call &amp; Collaboration Safety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Video calls and shared links leak more than people think. Require meeting passwords and waiting rooms (Zoom/Meet/Teams), don't post invite links publicly, mind what's visible and audible in your background, and beware screen-share leaks and fake meeting-invite phishing.</a:t>
            </a:r>
          </a:p>
          <a:p>
            <a:pPr>
              <a:spcAft>
                <a:spcPts val="500"/>
              </a:spcAft>
            </a:pPr>
            <a:r>
              <a:rPr sz="1200" b="1">
                <a:solidFill>
                  <a:srgbClr val="185FA5"/>
                </a:solidFill>
              </a:rPr>
              <a:t>HOW IT WORKS</a:t>
            </a:r>
          </a:p>
          <a:p>
            <a:pPr>
              <a:spcAft>
                <a:spcPts val="600"/>
              </a:spcAft>
            </a:pPr>
            <a:r>
              <a:rPr sz="1400">
                <a:solidFill>
                  <a:srgbClr val="1A1A1A"/>
                </a:solidFill>
              </a:rPr>
              <a:t>•  Meeting passwords + waiting rooms stop uninvited people 'walking in' (Zoom-bombing).</a:t>
            </a:r>
          </a:p>
          <a:p>
            <a:pPr>
              <a:spcAft>
                <a:spcPts val="600"/>
              </a:spcAft>
            </a:pPr>
            <a:r>
              <a:rPr sz="1400">
                <a:solidFill>
                  <a:srgbClr val="1A1A1A"/>
                </a:solidFill>
              </a:rPr>
              <a:t>•  Don't post invite links publicly — an open link is a public event anyone can join.</a:t>
            </a:r>
          </a:p>
          <a:p>
            <a:pPr>
              <a:spcAft>
                <a:spcPts val="600"/>
              </a:spcAft>
            </a:pPr>
            <a:r>
              <a:rPr sz="1400">
                <a:solidFill>
                  <a:srgbClr val="1A1A1A"/>
                </a:solidFill>
              </a:rPr>
              <a:t>•  Mind your background: whiteboards, screens, and documents behind you leak information.</a:t>
            </a:r>
          </a:p>
          <a:p>
            <a:pPr>
              <a:spcAft>
                <a:spcPts val="600"/>
              </a:spcAft>
            </a:pPr>
            <a:r>
              <a:rPr sz="1400">
                <a:solidFill>
                  <a:srgbClr val="1A1A1A"/>
                </a:solidFill>
              </a:rPr>
              <a:t>•  Beware screen-share slips (notifications, other tabs) and fake 'meeting invite' phishing links.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An open meeting link with no password is a public poster — anyone who finds it walks in.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92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4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Video-call safety — risk vs safe practice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5010410"/>
                <a:gridCol w="2035479"/>
                <a:gridCol w="4384109"/>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Meeting link posted publicly on Facebook</a:t>
                      </a:r>
                    </a:p>
                  </a:txBody>
                  <a:tcPr anchor="ctr" marL="73152" marR="54864" marT="27432" marB="27432">
                    <a:solidFill>
                      <a:srgbClr val="FFFFFF"/>
                    </a:solidFill>
                  </a:tcPr>
                </a:tc>
                <a:tc>
                  <a:txBody>
                    <a:bodyPr wrap="square"/>
                    <a:lstStyle/>
                    <a:p>
                      <a:r>
                        <a:rPr sz="1100">
                          <a:solidFill>
                            <a:srgbClr val="1A1A1A"/>
                          </a:solidFill>
                        </a:rPr>
                        <a:t>Risky</a:t>
                      </a:r>
                    </a:p>
                  </a:txBody>
                  <a:tcPr anchor="ctr" marL="73152" marR="54864" marT="27432" marB="27432">
                    <a:solidFill>
                      <a:srgbClr val="FFFFFF"/>
                    </a:solidFill>
                  </a:tcPr>
                </a:tc>
                <a:tc>
                  <a:txBody>
                    <a:bodyPr wrap="square"/>
                    <a:lstStyle/>
                    <a:p>
                      <a:r>
                        <a:rPr sz="1100">
                          <a:solidFill>
                            <a:srgbClr val="1A1A1A"/>
                          </a:solidFill>
                        </a:rPr>
                        <a:t>Anyone can join — 'Zoom-bombing'</a:t>
                      </a:r>
                    </a:p>
                  </a:txBody>
                  <a:tcPr anchor="ctr" marL="73152" marR="54864" marT="27432" marB="27432">
                    <a:solidFill>
                      <a:srgbClr val="FFFFFF"/>
                    </a:solidFill>
                  </a:tcPr>
                </a:tc>
              </a:tr>
              <a:tr h="630936">
                <a:tc>
                  <a:txBody>
                    <a:bodyPr wrap="square"/>
                    <a:lstStyle/>
                    <a:p>
                      <a:r>
                        <a:rPr sz="1100" b="1">
                          <a:solidFill>
                            <a:srgbClr val="0C2B4A"/>
                          </a:solidFill>
                        </a:rPr>
                        <a:t>Meeting password + waiting room enabled</a:t>
                      </a:r>
                    </a:p>
                  </a:txBody>
                  <a:tcPr anchor="ctr" marL="73152" marR="54864" marT="27432" marB="27432">
                    <a:solidFill>
                      <a:srgbClr val="EEF3F8"/>
                    </a:solidFill>
                  </a:tcPr>
                </a:tc>
                <a:tc>
                  <a:txBody>
                    <a:bodyPr wrap="square"/>
                    <a:lstStyle/>
                    <a:p>
                      <a:r>
                        <a:rPr sz="1100">
                          <a:solidFill>
                            <a:srgbClr val="1A1A1A"/>
                          </a:solidFill>
                        </a:rPr>
                        <a:t>Safe</a:t>
                      </a:r>
                    </a:p>
                  </a:txBody>
                  <a:tcPr anchor="ctr" marL="73152" marR="54864" marT="27432" marB="27432">
                    <a:solidFill>
                      <a:srgbClr val="EEF3F8"/>
                    </a:solidFill>
                  </a:tcPr>
                </a:tc>
                <a:tc>
                  <a:txBody>
                    <a:bodyPr wrap="square"/>
                    <a:lstStyle/>
                    <a:p>
                      <a:r>
                        <a:rPr sz="1100">
                          <a:solidFill>
                            <a:srgbClr val="1A1A1A"/>
                          </a:solidFill>
                        </a:rPr>
                        <a:t>Only admitted, invited people get in</a:t>
                      </a:r>
                    </a:p>
                  </a:txBody>
                  <a:tcPr anchor="ctr" marL="73152" marR="54864" marT="27432" marB="27432">
                    <a:solidFill>
                      <a:srgbClr val="EEF3F8"/>
                    </a:solidFill>
                  </a:tcPr>
                </a:tc>
              </a:tr>
              <a:tr h="630936">
                <a:tc>
                  <a:txBody>
                    <a:bodyPr wrap="square"/>
                    <a:lstStyle/>
                    <a:p>
                      <a:r>
                        <a:rPr sz="1100" b="1">
                          <a:solidFill>
                            <a:srgbClr val="0C2B4A"/>
                          </a:solidFill>
                        </a:rPr>
                        <a:t>Screen-sharing with other tabs/notifications open</a:t>
                      </a:r>
                    </a:p>
                  </a:txBody>
                  <a:tcPr anchor="ctr" marL="73152" marR="54864" marT="27432" marB="27432">
                    <a:solidFill>
                      <a:srgbClr val="FFFFFF"/>
                    </a:solidFill>
                  </a:tcPr>
                </a:tc>
                <a:tc>
                  <a:txBody>
                    <a:bodyPr wrap="square"/>
                    <a:lstStyle/>
                    <a:p>
                      <a:r>
                        <a:rPr sz="1100">
                          <a:solidFill>
                            <a:srgbClr val="1A1A1A"/>
                          </a:solidFill>
                        </a:rPr>
                        <a:t>Risky</a:t>
                      </a:r>
                    </a:p>
                  </a:txBody>
                  <a:tcPr anchor="ctr" marL="73152" marR="54864" marT="27432" marB="27432">
                    <a:solidFill>
                      <a:srgbClr val="FFFFFF"/>
                    </a:solidFill>
                  </a:tcPr>
                </a:tc>
                <a:tc>
                  <a:txBody>
                    <a:bodyPr wrap="square"/>
                    <a:lstStyle/>
                    <a:p>
                      <a:r>
                        <a:rPr sz="1100">
                          <a:solidFill>
                            <a:srgbClr val="1A1A1A"/>
                          </a:solidFill>
                        </a:rPr>
                        <a:t>Leaks messages, emails, other data</a:t>
                      </a:r>
                    </a:p>
                  </a:txBody>
                  <a:tcPr anchor="ctr" marL="73152" marR="54864" marT="27432" marB="27432">
                    <a:solidFill>
                      <a:srgbClr val="FFFFFF"/>
                    </a:solidFill>
                  </a:tcPr>
                </a:tc>
              </a:tr>
              <a:tr h="630936">
                <a:tc>
                  <a:txBody>
                    <a:bodyPr wrap="square"/>
                    <a:lstStyle/>
                    <a:p>
                      <a:r>
                        <a:rPr sz="1100" b="1">
                          <a:solidFill>
                            <a:srgbClr val="0C2B4A"/>
                          </a:solidFill>
                        </a:rPr>
                        <a:t>Sensitive documents visible in your background</a:t>
                      </a:r>
                    </a:p>
                  </a:txBody>
                  <a:tcPr anchor="ctr" marL="73152" marR="54864" marT="27432" marB="27432">
                    <a:solidFill>
                      <a:srgbClr val="EEF3F8"/>
                    </a:solidFill>
                  </a:tcPr>
                </a:tc>
                <a:tc>
                  <a:txBody>
                    <a:bodyPr wrap="square"/>
                    <a:lstStyle/>
                    <a:p>
                      <a:r>
                        <a:rPr sz="1100">
                          <a:solidFill>
                            <a:srgbClr val="1A1A1A"/>
                          </a:solidFill>
                        </a:rPr>
                        <a:t>Risky</a:t>
                      </a:r>
                    </a:p>
                  </a:txBody>
                  <a:tcPr anchor="ctr" marL="73152" marR="54864" marT="27432" marB="27432">
                    <a:solidFill>
                      <a:srgbClr val="EEF3F8"/>
                    </a:solidFill>
                  </a:tcPr>
                </a:tc>
                <a:tc>
                  <a:txBody>
                    <a:bodyPr wrap="square"/>
                    <a:lstStyle/>
                    <a:p>
                      <a:r>
                        <a:rPr sz="1100">
                          <a:solidFill>
                            <a:srgbClr val="1A1A1A"/>
                          </a:solidFill>
                        </a:rPr>
                        <a:t>On-camera info leak</a:t>
                      </a:r>
                    </a:p>
                  </a:txBody>
                  <a:tcPr anchor="ctr" marL="73152" marR="54864" marT="27432" marB="27432">
                    <a:solidFill>
                      <a:srgbClr val="EEF3F8"/>
                    </a:solidFill>
                  </a:tcPr>
                </a:tc>
              </a:tr>
              <a:tr h="630936">
                <a:tc>
                  <a:txBody>
                    <a:bodyPr wrap="square"/>
                    <a:lstStyle/>
                    <a:p>
                      <a:r>
                        <a:rPr sz="1100" b="1">
                          <a:solidFill>
                            <a:srgbClr val="0C2B4A"/>
                          </a:solidFill>
                        </a:rPr>
                        <a:t>Clicking a 'meeting invite' from an unknown sender</a:t>
                      </a:r>
                    </a:p>
                  </a:txBody>
                  <a:tcPr anchor="ctr" marL="73152" marR="54864" marT="27432" marB="27432">
                    <a:solidFill>
                      <a:srgbClr val="FFFFFF"/>
                    </a:solidFill>
                  </a:tcPr>
                </a:tc>
                <a:tc>
                  <a:txBody>
                    <a:bodyPr wrap="square"/>
                    <a:lstStyle/>
                    <a:p>
                      <a:r>
                        <a:rPr sz="1100">
                          <a:solidFill>
                            <a:srgbClr val="1A1A1A"/>
                          </a:solidFill>
                        </a:rPr>
                        <a:t>Risky</a:t>
                      </a:r>
                    </a:p>
                  </a:txBody>
                  <a:tcPr anchor="ctr" marL="73152" marR="54864" marT="27432" marB="27432">
                    <a:solidFill>
                      <a:srgbClr val="FFFFFF"/>
                    </a:solidFill>
                  </a:tcPr>
                </a:tc>
                <a:tc>
                  <a:txBody>
                    <a:bodyPr wrap="square"/>
                    <a:lstStyle/>
                    <a:p>
                      <a:r>
                        <a:rPr sz="1100">
                          <a:solidFill>
                            <a:srgbClr val="1A1A1A"/>
                          </a:solidFill>
                        </a:rPr>
                        <a:t>Fake-invite phishing / malware</a:t>
                      </a:r>
                    </a:p>
                  </a:txBody>
                  <a:tcPr anchor="ctr" marL="73152" marR="54864" marT="27432" marB="27432">
                    <a:solidFill>
                      <a:srgbClr val="FFFFFF"/>
                    </a:solidFill>
                  </a:tcPr>
                </a:tc>
              </a:tr>
              <a:tr h="630936">
                <a:tc>
                  <a:txBody>
                    <a:bodyPr wrap="square"/>
                    <a:lstStyle/>
                    <a:p>
                      <a:r>
                        <a:rPr sz="1100" b="1">
                          <a:solidFill>
                            <a:srgbClr val="0C2B4A"/>
                          </a:solidFill>
                        </a:rPr>
                        <a:t>Blurred/neutral background + shared window only</a:t>
                      </a:r>
                    </a:p>
                  </a:txBody>
                  <a:tcPr anchor="ctr" marL="73152" marR="54864" marT="27432" marB="27432">
                    <a:solidFill>
                      <a:srgbClr val="EEF3F8"/>
                    </a:solidFill>
                  </a:tcPr>
                </a:tc>
                <a:tc>
                  <a:txBody>
                    <a:bodyPr wrap="square"/>
                    <a:lstStyle/>
                    <a:p>
                      <a:r>
                        <a:rPr sz="1100">
                          <a:solidFill>
                            <a:srgbClr val="1A1A1A"/>
                          </a:solidFill>
                        </a:rPr>
                        <a:t>Safe</a:t>
                      </a:r>
                    </a:p>
                  </a:txBody>
                  <a:tcPr anchor="ctr" marL="73152" marR="54864" marT="27432" marB="27432">
                    <a:solidFill>
                      <a:srgbClr val="EEF3F8"/>
                    </a:solidFill>
                  </a:tcPr>
                </a:tc>
                <a:tc>
                  <a:txBody>
                    <a:bodyPr wrap="square"/>
                    <a:lstStyle/>
                    <a:p>
                      <a:r>
                        <a:rPr sz="1100">
                          <a:solidFill>
                            <a:srgbClr val="1A1A1A"/>
                          </a:solidFill>
                        </a:rPr>
                        <a:t>Nothing extra leaks on camera or screen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Two habits prevent most incidents: password + waiting room on every meeting, and sharing only the one window you intend (not the whole screen).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92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S31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Video-Call &amp; Collaboration Safety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During lockdown, Nepali online classes and virtual Dashain/Tihar gatherings were 'Zoom-bombed' because links were shared openly with no password. The same carelessness leaks data today: screen-sharing your whole desktop shows your notifications and open tabs, and a sensitive document on the wall behind you is broadcast to everyone on the call.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"It's just a quick call — I don't need a password or to check my background/share." An open link with no password is a public poster anyone can walk into, and a whole-screen share or a cluttered background leaks information silently. Passwords, waiting rooms, and sharing only one window cost seconds.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Video-call and collaboration safety means requiring meeting passwords and waiting rooms, never posting invite links publicly, minding what's visible/audible in your background, and guarding against screen-share leaks and fake meeting-invite phishing. An unprotected link is a public event (the cause of 'Zoom-bombing'), and sharing the whole screen or an exposed background leaks data even when the meeting itself is legitimate.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meeting password · waiting room · Zoom-bombing · background leak · screen-share slips · fake-invite phishing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92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S31 — 'Weakest link on your Wi-Fi'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list three devices on your home Wi-Fi right now (phone, laptop, TV, CCTV, roommate's PC…).</a:t>
            </a:r>
          </a:p>
          <a:p>
            <a:pPr>
              <a:spcAft>
                <a:spcPts val="700"/>
              </a:spcAft>
            </a:pPr>
            <a:r>
              <a:rPr sz="1550">
                <a:solidFill>
                  <a:srgbClr val="1A1A1A"/>
                </a:solidFill>
              </a:rPr>
              <a:t>•  Decide which is the weakest link an attacker would target, and why.</a:t>
            </a:r>
          </a:p>
          <a:p>
            <a:pPr>
              <a:spcAft>
                <a:spcPts val="700"/>
              </a:spcAft>
            </a:pPr>
            <a:r>
              <a:rPr sz="1550">
                <a:solidFill>
                  <a:srgbClr val="1A1A1A"/>
                </a:solidFill>
              </a:rPr>
              <a:t>•  Take 3–4 answers aloud (3 min); note how many homes still have the router on its sticker password.</a:t>
            </a:r>
          </a:p>
          <a:p>
            <a:pPr>
              <a:spcAft>
                <a:spcPts val="700"/>
              </a:spcAft>
            </a:pPr>
            <a:r>
              <a:rPr sz="1550">
                <a:solidFill>
                  <a:srgbClr val="1A1A1A"/>
                </a:solidFill>
              </a:rPr>
              <a:t>•  Close: each student names one fix (change router admin, make a guest network, or set meeting passwords).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 weakest link is usually a default-password IoT device or the router itself. Reward students who connect the weak device to the guest-network fix and to the S29 IoT lesson.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92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On open café Wi-Fi, the best protection for work traffic is:</a:t>
            </a:r>
          </a:p>
          <a:p>
            <a:pPr lvl="1"/>
            <a:r>
              <a:rPr sz="1500" b="1">
                <a:solidFill>
                  <a:srgbClr val="0F6E56"/>
                </a:solidFill>
              </a:rPr>
              <a:t>a) hoping no one looks   b) ✅ a trusted / company VPN   c) a longer password   d) airplane mode</a:t>
            </a:r>
          </a:p>
          <a:p>
            <a:pPr lvl="1">
              <a:spcBef>
                <a:spcPts val="600"/>
              </a:spcBef>
            </a:pPr>
            <a:r>
              <a:rPr sz="1500" i="1">
                <a:solidFill>
                  <a:srgbClr val="1A1A1A"/>
                </a:solidFill>
              </a:rPr>
              <a:t>     Why: a VPN encrypts the tunnel so others on the same Wi-Fi can't snoop your traffic.</a:t>
            </a:r>
          </a:p>
          <a:p>
            <a:pPr>
              <a:spcBef>
                <a:spcPts val="900"/>
              </a:spcBef>
            </a:pPr>
            <a:r>
              <a:rPr sz="1700" b="1">
                <a:solidFill>
                  <a:srgbClr val="0C2B4A"/>
                </a:solidFill>
              </a:rPr>
              <a:t>Q2.  Emailing a company file to your personal Gmail to finish later is:</a:t>
            </a:r>
          </a:p>
          <a:p>
            <a:pPr lvl="1"/>
            <a:r>
              <a:rPr sz="1500" b="1">
                <a:solidFill>
                  <a:srgbClr val="0F6E56"/>
                </a:solidFill>
              </a:rPr>
              <a:t>a) fine and efficient   b) ✅ a data-leakage risk — avoid it   c) required for backup   d) safe if you delete it after</a:t>
            </a:r>
          </a:p>
          <a:p>
            <a:pPr lvl="1">
              <a:spcBef>
                <a:spcPts val="600"/>
              </a:spcBef>
            </a:pPr>
            <a:r>
              <a:rPr sz="1500" i="1">
                <a:solidFill>
                  <a:srgbClr val="1A1A1A"/>
                </a:solidFill>
              </a:rPr>
              <a:t>     Why: the data leaves company control and protection, exposing it (and you) if either account is breached.</a:t>
            </a:r>
          </a:p>
          <a:p>
            <a:pPr lvl="1">
              <a:spcBef>
                <a:spcPts val="600"/>
              </a:spcBef>
            </a:pPr>
            <a:r>
              <a:rPr sz="1500" i="1">
                <a:solidFill>
                  <a:srgbClr val="1A1A1A"/>
                </a:solidFill>
              </a:rPr>
              <a:t>Discussion: list three devices on your home Wi-Fi — which is the weakest link an attacker would target?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92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Lock down the router (the gate): change admin password, use WPA2/WPA3, update firmware, add a guest/IoT network.</a:t>
            </a:r>
          </a:p>
          <a:p>
            <a:pPr>
              <a:spcAft>
                <a:spcPts val="800"/>
              </a:spcAft>
            </a:pPr>
            <a:r>
              <a:rPr sz="1500">
                <a:solidFill>
                  <a:srgbClr val="1A1A1A"/>
                </a:solidFill>
              </a:rPr>
              <a:t>2.  Use a trusted/company VPN on untrusted networks — but it protects transport only, not against phishing or weak passwords.</a:t>
            </a:r>
          </a:p>
          <a:p>
            <a:pPr>
              <a:spcAft>
                <a:spcPts val="800"/>
              </a:spcAft>
            </a:pPr>
            <a:r>
              <a:rPr sz="1500">
                <a:solidFill>
                  <a:srgbClr val="1A1A1A"/>
                </a:solidFill>
              </a:rPr>
              <a:t>3.  Keep work and personal separate, and protect meetings with passwords + waiting rooms while minding your background.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Home is the office now, without the office's IT team. The habits here — a locked, segmented router, a VPN on café Wi-Fi, work kept on work systems, and password-protected calls — are exactly what a remote Nepali developer or BPO worker needs to work safely and keep a client's trust.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S32 — the keys to everything: securing your accounts and passwords (closes Unit 6).</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92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32 · LECTURE HOUR 5 (OF 5) — CLOSES UNIT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Securing Your Accounts &amp; Passwords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reuse one password across Facebook, Gmail, eSewa, and your college portal. One of those sites gets breached — now attackers try that same password everywhere (credential stuffing). How many of your accounts just fell with one domino?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71 / 92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Strong Passwords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strong password is long, unique, and hard to guess. Length beats complexity: a passphrase like 'hariyo!gai-khana-25' beats 'P@ss123'. Make every account unique, and never use names, DOB, 'password', or '123456'.</a:t>
            </a:r>
          </a:p>
          <a:p>
            <a:pPr>
              <a:spcAft>
                <a:spcPts val="500"/>
              </a:spcAft>
            </a:pPr>
            <a:r>
              <a:rPr sz="1200" b="1">
                <a:solidFill>
                  <a:srgbClr val="185FA5"/>
                </a:solidFill>
              </a:rPr>
              <a:t>HOW IT WORKS</a:t>
            </a:r>
          </a:p>
          <a:p>
            <a:pPr>
              <a:spcAft>
                <a:spcPts val="600"/>
              </a:spcAft>
            </a:pPr>
            <a:r>
              <a:rPr sz="1400">
                <a:solidFill>
                  <a:srgbClr val="1A1A1A"/>
                </a:solidFill>
              </a:rPr>
              <a:t>•  Length beats complexity — a long passphrase has far more combinations than a short symbolic one.</a:t>
            </a:r>
          </a:p>
          <a:p>
            <a:pPr>
              <a:spcAft>
                <a:spcPts val="600"/>
              </a:spcAft>
            </a:pPr>
            <a:r>
              <a:rPr sz="1400">
                <a:solidFill>
                  <a:srgbClr val="1A1A1A"/>
                </a:solidFill>
              </a:rPr>
              <a:t>•  Unique per site: reuse means one breach unlocks everything (credential stuffing).</a:t>
            </a:r>
          </a:p>
          <a:p>
            <a:pPr>
              <a:spcAft>
                <a:spcPts val="600"/>
              </a:spcAft>
            </a:pPr>
            <a:r>
              <a:rPr sz="1400">
                <a:solidFill>
                  <a:srgbClr val="1A1A1A"/>
                </a:solidFill>
              </a:rPr>
              <a:t>•  Avoid personal, guessable bases: phone number, DOB, favourite team/idol, 'nepal123'.</a:t>
            </a:r>
          </a:p>
          <a:p>
            <a:pPr>
              <a:spcAft>
                <a:spcPts val="600"/>
              </a:spcAft>
            </a:pPr>
            <a:r>
              <a:rPr sz="1400">
                <a:solidFill>
                  <a:srgbClr val="1A1A1A"/>
                </a:solidFill>
              </a:rPr>
              <a:t>•  A memorable passphrase of a few unrelated words is both strong and usable.</a:t>
            </a:r>
          </a:p>
        </p:txBody>
      </p:sp>
      <p:pic>
        <p:nvPicPr>
          <p:cNvPr id="6" name="Picture 5" descr="s32_strength.png"/>
          <p:cNvPicPr>
            <a:picLocks noChangeAspect="1"/>
          </p:cNvPicPr>
          <p:nvPr/>
        </p:nvPicPr>
        <p:blipFill>
          <a:blip r:embed="rId2"/>
          <a:stretch>
            <a:fillRect/>
          </a:stretch>
        </p:blipFill>
        <p:spPr>
          <a:xfrm>
            <a:off x="6355080" y="2531230"/>
            <a:ext cx="5532120" cy="257277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long unique passphrase beats a short symbolic one — and never reuse 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92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Weak vs strong passwords — why length wins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603750"/>
                <a:gridCol w="2540000"/>
                <a:gridCol w="4286250"/>
              </a:tblGrid>
              <a:tr h="630936">
                <a:tc>
                  <a:txBody>
                    <a:bodyPr wrap="square"/>
                    <a:lstStyle/>
                    <a:p>
                      <a:r>
                        <a:rPr sz="1150" b="1">
                          <a:solidFill>
                            <a:srgbClr val="FFFFFF"/>
                          </a:solidFill>
                        </a:rPr>
                        <a:t>Password</a:t>
                      </a:r>
                    </a:p>
                  </a:txBody>
                  <a:tcPr anchor="ctr" marL="73152" marR="54864" marT="27432" marB="27432">
                    <a:solidFill>
                      <a:srgbClr val="0C2B4A"/>
                    </a:solidFill>
                  </a:tcPr>
                </a:tc>
                <a:tc>
                  <a:txBody>
                    <a:bodyPr wrap="square"/>
                    <a:lstStyle/>
                    <a:p>
                      <a:r>
                        <a:rPr sz="1150" b="1">
                          <a:solidFill>
                            <a:srgbClr val="FFFFFF"/>
                          </a:solidFill>
                        </a:rPr>
                        <a:t>Weak or strong?</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nepal123 / your phone number</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Guessable, common, in every wordlist</a:t>
                      </a:r>
                    </a:p>
                  </a:txBody>
                  <a:tcPr anchor="ctr" marL="73152" marR="54864" marT="27432" marB="27432">
                    <a:solidFill>
                      <a:srgbClr val="FFFFFF"/>
                    </a:solidFill>
                  </a:tcPr>
                </a:tc>
              </a:tr>
              <a:tr h="630936">
                <a:tc>
                  <a:txBody>
                    <a:bodyPr wrap="square"/>
                    <a:lstStyle/>
                    <a:p>
                      <a:r>
                        <a:rPr sz="1100" b="1">
                          <a:solidFill>
                            <a:srgbClr val="0C2B4A"/>
                          </a:solidFill>
                        </a:rPr>
                        <a:t>P@ss123 (short + symbols)</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Short — cracked in seconds despite symbols</a:t>
                      </a:r>
                    </a:p>
                  </a:txBody>
                  <a:tcPr anchor="ctr" marL="73152" marR="54864" marT="27432" marB="27432">
                    <a:solidFill>
                      <a:srgbClr val="EEF3F8"/>
                    </a:solidFill>
                  </a:tcPr>
                </a:tc>
              </a:tr>
              <a:tr h="630936">
                <a:tc>
                  <a:txBody>
                    <a:bodyPr wrap="square"/>
                    <a:lstStyle/>
                    <a:p>
                      <a:r>
                        <a:rPr sz="1100" b="1">
                          <a:solidFill>
                            <a:srgbClr val="0C2B4A"/>
                          </a:solidFill>
                        </a:rPr>
                        <a:t>Ram@2003 (name + DOB)</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Personal info is easy to find/guess</a:t>
                      </a:r>
                    </a:p>
                  </a:txBody>
                  <a:tcPr anchor="ctr" marL="73152" marR="54864" marT="27432" marB="27432">
                    <a:solidFill>
                      <a:srgbClr val="FFFFFF"/>
                    </a:solidFill>
                  </a:tcPr>
                </a:tc>
              </a:tr>
              <a:tr h="630936">
                <a:tc>
                  <a:txBody>
                    <a:bodyPr wrap="square"/>
                    <a:lstStyle/>
                    <a:p>
                      <a:r>
                        <a:rPr sz="1100" b="1">
                          <a:solidFill>
                            <a:srgbClr val="0C2B4A"/>
                          </a:solidFill>
                        </a:rPr>
                        <a:t>Kathmandu@2026</a:t>
                      </a:r>
                    </a:p>
                  </a:txBody>
                  <a:tcPr anchor="ctr" marL="73152" marR="54864" marT="27432" marB="27432">
                    <a:solidFill>
                      <a:srgbClr val="EEF3F8"/>
                    </a:solidFill>
                  </a:tcPr>
                </a:tc>
                <a:tc>
                  <a:txBody>
                    <a:bodyPr wrap="square"/>
                    <a:lstStyle/>
                    <a:p>
                      <a:r>
                        <a:rPr sz="1100">
                          <a:solidFill>
                            <a:srgbClr val="1A1A1A"/>
                          </a:solidFill>
                        </a:rPr>
                        <a:t>Medium</a:t>
                      </a:r>
                    </a:p>
                  </a:txBody>
                  <a:tcPr anchor="ctr" marL="73152" marR="54864" marT="27432" marB="27432">
                    <a:solidFill>
                      <a:srgbClr val="EEF3F8"/>
                    </a:solidFill>
                  </a:tcPr>
                </a:tc>
                <a:tc>
                  <a:txBody>
                    <a:bodyPr wrap="square"/>
                    <a:lstStyle/>
                    <a:p>
                      <a:r>
                        <a:rPr sz="1100">
                          <a:solidFill>
                            <a:srgbClr val="1A1A1A"/>
                          </a:solidFill>
                        </a:rPr>
                        <a:t>Better, but still short and guessable</a:t>
                      </a:r>
                    </a:p>
                  </a:txBody>
                  <a:tcPr anchor="ctr" marL="73152" marR="54864" marT="27432" marB="27432">
                    <a:solidFill>
                      <a:srgbClr val="EEF3F8"/>
                    </a:solidFill>
                  </a:tcPr>
                </a:tc>
              </a:tr>
              <a:tr h="630936">
                <a:tc>
                  <a:txBody>
                    <a:bodyPr wrap="square"/>
                    <a:lstStyle/>
                    <a:p>
                      <a:r>
                        <a:rPr sz="1100" b="1">
                          <a:solidFill>
                            <a:srgbClr val="0C2B4A"/>
                          </a:solidFill>
                        </a:rPr>
                        <a:t>hariyo!gai-khana-25 (passphrase)</a:t>
                      </a:r>
                    </a:p>
                  </a:txBody>
                  <a:tcPr anchor="ctr" marL="73152" marR="54864" marT="27432" marB="27432">
                    <a:solidFill>
                      <a:srgbClr val="FFFFFF"/>
                    </a:solidFill>
                  </a:tcPr>
                </a:tc>
                <a:tc>
                  <a:txBody>
                    <a:bodyPr wrap="square"/>
                    <a:lstStyle/>
                    <a:p>
                      <a:r>
                        <a:rPr sz="1100">
                          <a:solidFill>
                            <a:srgbClr val="1A1A1A"/>
                          </a:solidFill>
                        </a:rPr>
                        <a:t>Strong</a:t>
                      </a:r>
                    </a:p>
                  </a:txBody>
                  <a:tcPr anchor="ctr" marL="73152" marR="54864" marT="27432" marB="27432">
                    <a:solidFill>
                      <a:srgbClr val="FFFFFF"/>
                    </a:solidFill>
                  </a:tcPr>
                </a:tc>
                <a:tc>
                  <a:txBody>
                    <a:bodyPr wrap="square"/>
                    <a:lstStyle/>
                    <a:p>
                      <a:r>
                        <a:rPr sz="1100">
                          <a:solidFill>
                            <a:srgbClr val="1A1A1A"/>
                          </a:solidFill>
                        </a:rPr>
                        <a:t>Long + unique — huge search space</a:t>
                      </a:r>
                    </a:p>
                  </a:txBody>
                  <a:tcPr anchor="ctr" marL="73152" marR="54864" marT="27432" marB="27432">
                    <a:solidFill>
                      <a:srgbClr val="FFFFFF"/>
                    </a:solidFill>
                  </a:tcPr>
                </a:tc>
              </a:tr>
              <a:tr h="630936">
                <a:tc>
                  <a:txBody>
                    <a:bodyPr wrap="square"/>
                    <a:lstStyle/>
                    <a:p>
                      <a:r>
                        <a:rPr sz="1100" b="1">
                          <a:solidFill>
                            <a:srgbClr val="0C2B4A"/>
                          </a:solidFill>
                        </a:rPr>
                        <a:t>Same password reused everywhere</a:t>
                      </a:r>
                    </a:p>
                  </a:txBody>
                  <a:tcPr anchor="ctr" marL="73152" marR="54864" marT="27432" marB="27432">
                    <a:solidFill>
                      <a:srgbClr val="EEF3F8"/>
                    </a:solidFill>
                  </a:tcPr>
                </a:tc>
                <a:tc>
                  <a:txBody>
                    <a:bodyPr wrap="square"/>
                    <a:lstStyle/>
                    <a:p>
                      <a:r>
                        <a:rPr sz="1100">
                          <a:solidFill>
                            <a:srgbClr val="1A1A1A"/>
                          </a:solidFill>
                        </a:rPr>
                        <a:t>Weak</a:t>
                      </a:r>
                    </a:p>
                  </a:txBody>
                  <a:tcPr anchor="ctr" marL="73152" marR="54864" marT="27432" marB="27432">
                    <a:solidFill>
                      <a:srgbClr val="EEF3F8"/>
                    </a:solidFill>
                  </a:tcPr>
                </a:tc>
                <a:tc>
                  <a:txBody>
                    <a:bodyPr wrap="square"/>
                    <a:lstStyle/>
                    <a:p>
                      <a:r>
                        <a:rPr sz="1100">
                          <a:solidFill>
                            <a:srgbClr val="1A1A1A"/>
                          </a:solidFill>
                        </a:rPr>
                        <a:t>One breach topples every account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Length beats complexity, and uniqueness beats everything: a long passphrase is strong, but reusing even a strong password across sites makes it weak again.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92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Strong Passwords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Common Nepali passwords — a phone number, 'nepal123', a favourite football team or idol, a date of birth — are exactly what attackers try first, and reusing one across Facebook, Gmail, eSewa, and the college portal means one leak unlocks them all. A passphrase like 'hariyo!gai-khana-25', unique per site, is both easy to remember and hard to crack.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"Adding @ and a number makes a password strong." Short-but-symbolic ('P@ss123') is still weak — length and uniqueness matter most. A long passphrase of a few words beats a short cryptic one, and no amount of symbols saves a password that's reused everywhere.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strong password is long, unique, and hard to guess, and length beats complexity — a multi-word passphrase ('hariyo!gai-khana-25') outperforms a short symbolic one ('P@ss123'). Every account needs a unique password so one breach can't unlock the rest, and guessable bases (phone number, DOB, favourite team, 'nepal123') must be avoided. Symbols alone don't rescue a short or reused password.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strong password · length beats complexity · passphrase · unique per site · avoid personal/common bases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92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Password Managers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password manager generates and stores a unique password for every site behind one master password. You remember one strong master password (plus MFA on it), and the manager does the rest — which is what makes 'unique everywhere' realistic.</a:t>
            </a:r>
          </a:p>
          <a:p>
            <a:pPr>
              <a:spcAft>
                <a:spcPts val="500"/>
              </a:spcAft>
            </a:pPr>
            <a:r>
              <a:rPr sz="1200" b="1">
                <a:solidFill>
                  <a:srgbClr val="185FA5"/>
                </a:solidFill>
              </a:rPr>
              <a:t>HOW IT WORKS</a:t>
            </a:r>
          </a:p>
          <a:p>
            <a:pPr>
              <a:spcAft>
                <a:spcPts val="600"/>
              </a:spcAft>
            </a:pPr>
            <a:r>
              <a:rPr sz="1400">
                <a:solidFill>
                  <a:srgbClr val="1A1A1A"/>
                </a:solidFill>
              </a:rPr>
              <a:t>•  The manager generates long, random, unique passwords you never have to memorise.</a:t>
            </a:r>
          </a:p>
          <a:p>
            <a:pPr>
              <a:spcAft>
                <a:spcPts val="600"/>
              </a:spcAft>
            </a:pPr>
            <a:r>
              <a:rPr sz="1400">
                <a:solidFill>
                  <a:srgbClr val="1A1A1A"/>
                </a:solidFill>
              </a:rPr>
              <a:t>•  You remember only one strong master password — protect it with MFA.</a:t>
            </a:r>
          </a:p>
          <a:p>
            <a:pPr>
              <a:spcAft>
                <a:spcPts val="600"/>
              </a:spcAft>
            </a:pPr>
            <a:r>
              <a:rPr sz="1400">
                <a:solidFill>
                  <a:srgbClr val="1A1A1A"/>
                </a:solidFill>
              </a:rPr>
              <a:t>•  It removes the reason people reuse passwords: no human can recall 60 unique ones.</a:t>
            </a:r>
          </a:p>
          <a:p>
            <a:pPr>
              <a:spcAft>
                <a:spcPts val="600"/>
              </a:spcAft>
            </a:pPr>
            <a:r>
              <a:rPr sz="1400">
                <a:solidFill>
                  <a:srgbClr val="1A1A1A"/>
                </a:solidFill>
              </a:rPr>
              <a:t>•  Options: Bitwarden, the built-in browser manager, or Google's — pick one and use it consistently.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You can't remember 60 unique passwords — a manager is how 'unique everywhere' becomes real.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92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Password manager — myth vs reality</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921250"/>
                <a:gridCol w="2222500"/>
                <a:gridCol w="4286250"/>
              </a:tblGrid>
              <a:tr h="630936">
                <a:tc>
                  <a:txBody>
                    <a:bodyPr wrap="square"/>
                    <a:lstStyle/>
                    <a:p>
                      <a:r>
                        <a:rPr sz="1150" b="1">
                          <a:solidFill>
                            <a:srgbClr val="FFFFFF"/>
                          </a:solidFill>
                        </a:rPr>
                        <a:t>Claim / situation</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'I can remember 60 unique strong passwords'</a:t>
                      </a:r>
                    </a:p>
                  </a:txBody>
                  <a:tcPr anchor="ctr" marL="73152" marR="54864" marT="27432" marB="27432">
                    <a:solidFill>
                      <a:srgbClr val="FFFFFF"/>
                    </a:solidFill>
                  </a:tcPr>
                </a:tc>
                <a:tc>
                  <a:txBody>
                    <a:bodyPr wrap="square"/>
                    <a:lstStyle/>
                    <a:p>
                      <a:r>
                        <a:rPr sz="1100">
                          <a:solidFill>
                            <a:srgbClr val="1A1A1A"/>
                          </a:solidFill>
                        </a:rPr>
                        <a:t>Unrealistic</a:t>
                      </a:r>
                    </a:p>
                  </a:txBody>
                  <a:tcPr anchor="ctr" marL="73152" marR="54864" marT="27432" marB="27432">
                    <a:solidFill>
                      <a:srgbClr val="FFFFFF"/>
                    </a:solidFill>
                  </a:tcPr>
                </a:tc>
                <a:tc>
                  <a:txBody>
                    <a:bodyPr wrap="square"/>
                    <a:lstStyle/>
                    <a:p>
                      <a:r>
                        <a:rPr sz="1100">
                          <a:solidFill>
                            <a:srgbClr val="1A1A1A"/>
                          </a:solidFill>
                        </a:rPr>
                        <a:t>No one can — which is why people reuse</a:t>
                      </a:r>
                    </a:p>
                  </a:txBody>
                  <a:tcPr anchor="ctr" marL="73152" marR="54864" marT="27432" marB="27432">
                    <a:solidFill>
                      <a:srgbClr val="FFFFFF"/>
                    </a:solidFill>
                  </a:tcPr>
                </a:tc>
              </a:tr>
              <a:tr h="630936">
                <a:tc>
                  <a:txBody>
                    <a:bodyPr wrap="square"/>
                    <a:lstStyle/>
                    <a:p>
                      <a:r>
                        <a:rPr sz="1100" b="1">
                          <a:solidFill>
                            <a:srgbClr val="0C2B4A"/>
                          </a:solidFill>
                        </a:rPr>
                        <a:t>Manager + strong master password + MFA</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One secured vault beats reuse everywhere</a:t>
                      </a:r>
                    </a:p>
                  </a:txBody>
                  <a:tcPr anchor="ctr" marL="73152" marR="54864" marT="27432" marB="27432">
                    <a:solidFill>
                      <a:srgbClr val="EEF3F8"/>
                    </a:solidFill>
                  </a:tcPr>
                </a:tc>
              </a:tr>
              <a:tr h="630936">
                <a:tc>
                  <a:txBody>
                    <a:bodyPr wrap="square"/>
                    <a:lstStyle/>
                    <a:p>
                      <a:r>
                        <a:rPr sz="1100" b="1">
                          <a:solidFill>
                            <a:srgbClr val="0C2B4A"/>
                          </a:solidFill>
                        </a:rPr>
                        <a:t>Writing passwords on sticky notes / a notes app</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Easily seen, lost, or synced insecurely</a:t>
                      </a:r>
                    </a:p>
                  </a:txBody>
                  <a:tcPr anchor="ctr" marL="73152" marR="54864" marT="27432" marB="27432">
                    <a:solidFill>
                      <a:srgbClr val="FFFFFF"/>
                    </a:solidFill>
                  </a:tcPr>
                </a:tc>
              </a:tr>
              <a:tr h="630936">
                <a:tc>
                  <a:txBody>
                    <a:bodyPr wrap="square"/>
                    <a:lstStyle/>
                    <a:p>
                      <a:r>
                        <a:rPr sz="1100" b="1">
                          <a:solidFill>
                            <a:srgbClr val="0C2B4A"/>
                          </a:solidFill>
                        </a:rPr>
                        <a:t>'A manager is one single point of failure'</a:t>
                      </a:r>
                    </a:p>
                  </a:txBody>
                  <a:tcPr anchor="ctr" marL="73152" marR="54864" marT="27432" marB="27432">
                    <a:solidFill>
                      <a:srgbClr val="EEF3F8"/>
                    </a:solidFill>
                  </a:tcPr>
                </a:tc>
                <a:tc>
                  <a:txBody>
                    <a:bodyPr wrap="square"/>
                    <a:lstStyle/>
                    <a:p>
                      <a:r>
                        <a:rPr sz="1100">
                          <a:solidFill>
                            <a:srgbClr val="1A1A1A"/>
                          </a:solidFill>
                        </a:rPr>
                        <a:t>Overstated</a:t>
                      </a:r>
                    </a:p>
                  </a:txBody>
                  <a:tcPr anchor="ctr" marL="73152" marR="54864" marT="27432" marB="27432">
                    <a:solidFill>
                      <a:srgbClr val="EEF3F8"/>
                    </a:solidFill>
                  </a:tcPr>
                </a:tc>
                <a:tc>
                  <a:txBody>
                    <a:bodyPr wrap="square"/>
                    <a:lstStyle/>
                    <a:p>
                      <a:r>
                        <a:rPr sz="1100">
                          <a:solidFill>
                            <a:srgbClr val="1A1A1A"/>
                          </a:solidFill>
                        </a:rPr>
                        <a:t>A well-secured vault is far safer than reuse</a:t>
                      </a:r>
                    </a:p>
                  </a:txBody>
                  <a:tcPr anchor="ctr" marL="73152" marR="54864" marT="27432" marB="27432">
                    <a:solidFill>
                      <a:srgbClr val="EEF3F8"/>
                    </a:solidFill>
                  </a:tcPr>
                </a:tc>
              </a:tr>
              <a:tr h="630936">
                <a:tc>
                  <a:txBody>
                    <a:bodyPr wrap="square"/>
                    <a:lstStyle/>
                    <a:p>
                      <a:r>
                        <a:rPr sz="1100" b="1">
                          <a:solidFill>
                            <a:srgbClr val="0C2B4A"/>
                          </a:solidFill>
                        </a:rPr>
                        <a:t>Reusing one password to 'keep it simple'</a:t>
                      </a:r>
                    </a:p>
                  </a:txBody>
                  <a:tcPr anchor="ctr" marL="73152" marR="54864" marT="27432" marB="27432">
                    <a:solidFill>
                      <a:srgbClr val="FFFFFF"/>
                    </a:solidFill>
                  </a:tcPr>
                </a:tc>
                <a:tc>
                  <a:txBody>
                    <a:bodyPr wrap="square"/>
                    <a:lstStyle/>
                    <a:p>
                      <a:r>
                        <a:rPr sz="1100">
                          <a:solidFill>
                            <a:srgbClr val="1A1A1A"/>
                          </a:solidFill>
                        </a:rPr>
                        <a:t>Weak</a:t>
                      </a:r>
                    </a:p>
                  </a:txBody>
                  <a:tcPr anchor="ctr" marL="73152" marR="54864" marT="27432" marB="27432">
                    <a:solidFill>
                      <a:srgbClr val="FFFFFF"/>
                    </a:solidFill>
                  </a:tcPr>
                </a:tc>
                <a:tc>
                  <a:txBody>
                    <a:bodyPr wrap="square"/>
                    <a:lstStyle/>
                    <a:p>
                      <a:r>
                        <a:rPr sz="1100">
                          <a:solidFill>
                            <a:srgbClr val="1A1A1A"/>
                          </a:solidFill>
                        </a:rPr>
                        <a:t>One breach = credential stuffing everywhere</a:t>
                      </a:r>
                    </a:p>
                  </a:txBody>
                  <a:tcPr anchor="ctr" marL="73152" marR="54864" marT="27432" marB="27432">
                    <a:solidFill>
                      <a:srgbClr val="FFFFFF"/>
                    </a:solidFill>
                  </a:tcPr>
                </a:tc>
              </a:tr>
              <a:tr h="630936">
                <a:tc>
                  <a:txBody>
                    <a:bodyPr wrap="square"/>
                    <a:lstStyle/>
                    <a:p>
                      <a:r>
                        <a:rPr sz="1100" b="1">
                          <a:solidFill>
                            <a:srgbClr val="0C2B4A"/>
                          </a:solidFill>
                        </a:rPr>
                        <a:t>Letting the manager autofill on the real site</a:t>
                      </a:r>
                    </a:p>
                  </a:txBody>
                  <a:tcPr anchor="ctr" marL="73152" marR="54864" marT="27432" marB="27432">
                    <a:solidFill>
                      <a:srgbClr val="EEF3F8"/>
                    </a:solidFill>
                  </a:tcPr>
                </a:tc>
                <a:tc>
                  <a:txBody>
                    <a:bodyPr wrap="square"/>
                    <a:lstStyle/>
                    <a:p>
                      <a:r>
                        <a:rPr sz="1100">
                          <a:solidFill>
                            <a:srgbClr val="1A1A1A"/>
                          </a:solidFill>
                        </a:rPr>
                        <a:t>Strong</a:t>
                      </a:r>
                    </a:p>
                  </a:txBody>
                  <a:tcPr anchor="ctr" marL="73152" marR="54864" marT="27432" marB="27432">
                    <a:solidFill>
                      <a:srgbClr val="EEF3F8"/>
                    </a:solidFill>
                  </a:tcPr>
                </a:tc>
                <a:tc>
                  <a:txBody>
                    <a:bodyPr wrap="square"/>
                    <a:lstStyle/>
                    <a:p>
                      <a:r>
                        <a:rPr sz="1100">
                          <a:solidFill>
                            <a:srgbClr val="1A1A1A"/>
                          </a:solidFill>
                        </a:rPr>
                        <a:t>Also resists lookalike-phishing domains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realistic choice isn't 'manager vs perfect memory' — it's 'manager vs reuse and sticky notes'. A strong master password + MFA makes the vault the safe option.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92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Password Managers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You realistically have 50–60 accounts. No human can use 60 unique strong passwords from memory — so people reuse one, which is exactly the vulnerability. A password manager (Bitwarden, your browser's, or Google's) generates and stores a unique password for each, so you memorise one strong master password and the reuse problem disappears.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password manager is a single point of failure / unsafe." A well-secured manager — a strong master password plus MFA — is far safer than reusing one password across every site and scribbling others on sticky notes. The real comparison is manager vs reuse, and the manager wins decisively.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password manager generates and stores a unique password for every site behind one master password (itself protected with MFA), making 'unique everywhere' achievable — which is impossible from memory across 50-60 accounts. The common fear that a manager is a single point of failure is outweighed by the alternative it replaces: password reuse and sticky notes. A well-secured vault is the safer, realistic choice.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password manager · master password · unique-everywhere · Bitwarden/browser/Google · manager vs reuse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92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MFA / 2FA</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MFA (multi-factor authentication) adds a second proof beyond your password — something you have or are. The strength ladder: SMS OTP &lt; authenticator app (TOTP) &lt; hardware key. Turn it on for your email and banking and social accounts first — and note that SMS-OTP is weakened by SIM-swap.</a:t>
            </a:r>
          </a:p>
          <a:p>
            <a:pPr>
              <a:spcAft>
                <a:spcPts val="500"/>
              </a:spcAft>
            </a:pPr>
            <a:r>
              <a:rPr sz="1200" b="1">
                <a:solidFill>
                  <a:srgbClr val="185FA5"/>
                </a:solidFill>
              </a:rPr>
              <a:t>HOW IT WORKS</a:t>
            </a:r>
          </a:p>
          <a:p>
            <a:pPr>
              <a:spcAft>
                <a:spcPts val="600"/>
              </a:spcAft>
            </a:pPr>
            <a:r>
              <a:rPr sz="1400">
                <a:solidFill>
                  <a:srgbClr val="1A1A1A"/>
                </a:solidFill>
              </a:rPr>
              <a:t>•  A second factor means a stolen password alone isn't enough to get in.</a:t>
            </a:r>
          </a:p>
          <a:p>
            <a:pPr>
              <a:spcAft>
                <a:spcPts val="600"/>
              </a:spcAft>
            </a:pPr>
            <a:r>
              <a:rPr sz="1400">
                <a:solidFill>
                  <a:srgbClr val="1A1A1A"/>
                </a:solidFill>
              </a:rPr>
              <a:t>•  SMS OTP is good but vulnerable to SIM-swap; an authenticator app (Google/Microsoft, TOTP) is stronger.</a:t>
            </a:r>
          </a:p>
          <a:p>
            <a:pPr>
              <a:spcAft>
                <a:spcPts val="600"/>
              </a:spcAft>
            </a:pPr>
            <a:r>
              <a:rPr sz="1400">
                <a:solidFill>
                  <a:srgbClr val="1A1A1A"/>
                </a:solidFill>
              </a:rPr>
              <a:t>•  A hardware key is strongest, resisting phishing outright.</a:t>
            </a:r>
          </a:p>
          <a:p>
            <a:pPr>
              <a:spcAft>
                <a:spcPts val="600"/>
              </a:spcAft>
            </a:pPr>
            <a:r>
              <a:rPr sz="1400">
                <a:solidFill>
                  <a:srgbClr val="1A1A1A"/>
                </a:solidFill>
              </a:rPr>
              <a:t>•  Enable MFA on email first — your email can reset every other account.</a:t>
            </a:r>
          </a:p>
        </p:txBody>
      </p:sp>
      <p:pic>
        <p:nvPicPr>
          <p:cNvPr id="6" name="Picture 5" descr="s32_mfa.png"/>
          <p:cNvPicPr>
            <a:picLocks noChangeAspect="1"/>
          </p:cNvPicPr>
          <p:nvPr/>
        </p:nvPicPr>
        <p:blipFill>
          <a:blip r:embed="rId2"/>
          <a:stretch>
            <a:fillRect/>
          </a:stretch>
        </p:blipFill>
        <p:spPr>
          <a:xfrm>
            <a:off x="6355080" y="2736231"/>
            <a:ext cx="5532120" cy="216277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MFA blocks most takeovers even when your password is stolen — start with email.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92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MFA factors — weakest to strongest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918857"/>
                <a:gridCol w="2939142"/>
                <a:gridCol w="4572000"/>
              </a:tblGrid>
              <a:tr h="736092">
                <a:tc>
                  <a:txBody>
                    <a:bodyPr wrap="square"/>
                    <a:lstStyle/>
                    <a:p>
                      <a:r>
                        <a:rPr sz="1150" b="1">
                          <a:solidFill>
                            <a:srgbClr val="FFFFFF"/>
                          </a:solidFill>
                        </a:rPr>
                        <a:t>Factor</a:t>
                      </a:r>
                    </a:p>
                  </a:txBody>
                  <a:tcPr anchor="ctr" marL="73152" marR="54864" marT="27432" marB="27432">
                    <a:solidFill>
                      <a:srgbClr val="0C2B4A"/>
                    </a:solidFill>
                  </a:tcPr>
                </a:tc>
                <a:tc>
                  <a:txBody>
                    <a:bodyPr wrap="square"/>
                    <a:lstStyle/>
                    <a:p>
                      <a:r>
                        <a:rPr sz="1150" b="1">
                          <a:solidFill>
                            <a:srgbClr val="FFFFFF"/>
                          </a:solidFill>
                        </a:rPr>
                        <a:t>Strength</a:t>
                      </a:r>
                    </a:p>
                  </a:txBody>
                  <a:tcPr anchor="ctr" marL="73152" marR="54864" marT="27432" marB="27432">
                    <a:solidFill>
                      <a:srgbClr val="0C2B4A"/>
                    </a:solidFill>
                  </a:tcPr>
                </a:tc>
                <a:tc>
                  <a:txBody>
                    <a:bodyPr wrap="square"/>
                    <a:lstStyle/>
                    <a:p>
                      <a:r>
                        <a:rPr sz="1150" b="1">
                          <a:solidFill>
                            <a:srgbClr val="FFFFFF"/>
                          </a:solidFill>
                        </a:rPr>
                        <a:t>Trade-off</a:t>
                      </a:r>
                    </a:p>
                  </a:txBody>
                  <a:tcPr anchor="ctr" marL="73152" marR="54864" marT="27432" marB="27432">
                    <a:solidFill>
                      <a:srgbClr val="0C2B4A"/>
                    </a:solidFill>
                  </a:tcPr>
                </a:tc>
              </a:tr>
              <a:tr h="736092">
                <a:tc>
                  <a:txBody>
                    <a:bodyPr wrap="square"/>
                    <a:lstStyle/>
                    <a:p>
                      <a:r>
                        <a:rPr sz="1100" b="1">
                          <a:solidFill>
                            <a:srgbClr val="0C2B4A"/>
                          </a:solidFill>
                        </a:rPr>
                        <a:t>Password only</a:t>
                      </a:r>
                    </a:p>
                  </a:txBody>
                  <a:tcPr anchor="ctr" marL="73152" marR="54864" marT="27432" marB="27432">
                    <a:solidFill>
                      <a:srgbClr val="FFFFFF"/>
                    </a:solidFill>
                  </a:tcPr>
                </a:tc>
                <a:tc>
                  <a:txBody>
                    <a:bodyPr wrap="square"/>
                    <a:lstStyle/>
                    <a:p>
                      <a:r>
                        <a:rPr sz="1100">
                          <a:solidFill>
                            <a:srgbClr val="1A1A1A"/>
                          </a:solidFill>
                        </a:rPr>
                        <a:t>Weakest</a:t>
                      </a:r>
                    </a:p>
                  </a:txBody>
                  <a:tcPr anchor="ctr" marL="73152" marR="54864" marT="27432" marB="27432">
                    <a:solidFill>
                      <a:srgbClr val="FFFFFF"/>
                    </a:solidFill>
                  </a:tcPr>
                </a:tc>
                <a:tc>
                  <a:txBody>
                    <a:bodyPr wrap="square"/>
                    <a:lstStyle/>
                    <a:p>
                      <a:r>
                        <a:rPr sz="1100">
                          <a:solidFill>
                            <a:srgbClr val="1A1A1A"/>
                          </a:solidFill>
                        </a:rPr>
                        <a:t>One stolen secret = full access</a:t>
                      </a:r>
                    </a:p>
                  </a:txBody>
                  <a:tcPr anchor="ctr" marL="73152" marR="54864" marT="27432" marB="27432">
                    <a:solidFill>
                      <a:srgbClr val="FFFFFF"/>
                    </a:solidFill>
                  </a:tcPr>
                </a:tc>
              </a:tr>
              <a:tr h="736092">
                <a:tc>
                  <a:txBody>
                    <a:bodyPr wrap="square"/>
                    <a:lstStyle/>
                    <a:p>
                      <a:r>
                        <a:rPr sz="1100" b="1">
                          <a:solidFill>
                            <a:srgbClr val="0C2B4A"/>
                          </a:solidFill>
                        </a:rPr>
                        <a:t>SMS OTP</a:t>
                      </a:r>
                    </a:p>
                  </a:txBody>
                  <a:tcPr anchor="ctr" marL="73152" marR="54864" marT="27432" marB="27432">
                    <a:solidFill>
                      <a:srgbClr val="EEF3F8"/>
                    </a:solidFill>
                  </a:tcPr>
                </a:tc>
                <a:tc>
                  <a:txBody>
                    <a:bodyPr wrap="square"/>
                    <a:lstStyle/>
                    <a:p>
                      <a:r>
                        <a:rPr sz="1100">
                          <a:solidFill>
                            <a:srgbClr val="1A1A1A"/>
                          </a:solidFill>
                        </a:rPr>
                        <a:t>Better</a:t>
                      </a:r>
                    </a:p>
                  </a:txBody>
                  <a:tcPr anchor="ctr" marL="73152" marR="54864" marT="27432" marB="27432">
                    <a:solidFill>
                      <a:srgbClr val="EEF3F8"/>
                    </a:solidFill>
                  </a:tcPr>
                </a:tc>
                <a:tc>
                  <a:txBody>
                    <a:bodyPr wrap="square"/>
                    <a:lstStyle/>
                    <a:p>
                      <a:r>
                        <a:rPr sz="1100">
                          <a:solidFill>
                            <a:srgbClr val="1A1A1A"/>
                          </a:solidFill>
                        </a:rPr>
                        <a:t>Vulnerable to SIM-swap; still far better than none</a:t>
                      </a:r>
                    </a:p>
                  </a:txBody>
                  <a:tcPr anchor="ctr" marL="73152" marR="54864" marT="27432" marB="27432">
                    <a:solidFill>
                      <a:srgbClr val="EEF3F8"/>
                    </a:solidFill>
                  </a:tcPr>
                </a:tc>
              </a:tr>
              <a:tr h="736092">
                <a:tc>
                  <a:txBody>
                    <a:bodyPr wrap="square"/>
                    <a:lstStyle/>
                    <a:p>
                      <a:r>
                        <a:rPr sz="1100" b="1">
                          <a:solidFill>
                            <a:srgbClr val="0C2B4A"/>
                          </a:solidFill>
                        </a:rPr>
                        <a:t>Authenticator app (TOTP)</a:t>
                      </a:r>
                    </a:p>
                  </a:txBody>
                  <a:tcPr anchor="ctr" marL="73152" marR="54864" marT="27432" marB="27432">
                    <a:solidFill>
                      <a:srgbClr val="FFFFFF"/>
                    </a:solidFill>
                  </a:tcPr>
                </a:tc>
                <a:tc>
                  <a:txBody>
                    <a:bodyPr wrap="square"/>
                    <a:lstStyle/>
                    <a:p>
                      <a:r>
                        <a:rPr sz="1100">
                          <a:solidFill>
                            <a:srgbClr val="1A1A1A"/>
                          </a:solidFill>
                        </a:rPr>
                        <a:t>Strong</a:t>
                      </a:r>
                    </a:p>
                  </a:txBody>
                  <a:tcPr anchor="ctr" marL="73152" marR="54864" marT="27432" marB="27432">
                    <a:solidFill>
                      <a:srgbClr val="FFFFFF"/>
                    </a:solidFill>
                  </a:tcPr>
                </a:tc>
                <a:tc>
                  <a:txBody>
                    <a:bodyPr wrap="square"/>
                    <a:lstStyle/>
                    <a:p>
                      <a:r>
                        <a:rPr sz="1100">
                          <a:solidFill>
                            <a:srgbClr val="1A1A1A"/>
                          </a:solidFill>
                        </a:rPr>
                        <a:t>Codes on your device, no SIM-swap risk</a:t>
                      </a:r>
                    </a:p>
                  </a:txBody>
                  <a:tcPr anchor="ctr" marL="73152" marR="54864" marT="27432" marB="27432">
                    <a:solidFill>
                      <a:srgbClr val="FFFFFF"/>
                    </a:solidFill>
                  </a:tcPr>
                </a:tc>
              </a:tr>
              <a:tr h="736092">
                <a:tc>
                  <a:txBody>
                    <a:bodyPr wrap="square"/>
                    <a:lstStyle/>
                    <a:p>
                      <a:r>
                        <a:rPr sz="1100" b="1">
                          <a:solidFill>
                            <a:srgbClr val="0C2B4A"/>
                          </a:solidFill>
                        </a:rPr>
                        <a:t>Hardware security key</a:t>
                      </a:r>
                    </a:p>
                  </a:txBody>
                  <a:tcPr anchor="ctr" marL="73152" marR="54864" marT="27432" marB="27432">
                    <a:solidFill>
                      <a:srgbClr val="EEF3F8"/>
                    </a:solidFill>
                  </a:tcPr>
                </a:tc>
                <a:tc>
                  <a:txBody>
                    <a:bodyPr wrap="square"/>
                    <a:lstStyle/>
                    <a:p>
                      <a:r>
                        <a:rPr sz="1100">
                          <a:solidFill>
                            <a:srgbClr val="1A1A1A"/>
                          </a:solidFill>
                        </a:rPr>
                        <a:t>Strongest</a:t>
                      </a:r>
                    </a:p>
                  </a:txBody>
                  <a:tcPr anchor="ctr" marL="73152" marR="54864" marT="27432" marB="27432">
                    <a:solidFill>
                      <a:srgbClr val="EEF3F8"/>
                    </a:solidFill>
                  </a:tcPr>
                </a:tc>
                <a:tc>
                  <a:txBody>
                    <a:bodyPr wrap="square"/>
                    <a:lstStyle/>
                    <a:p>
                      <a:r>
                        <a:rPr sz="1100">
                          <a:solidFill>
                            <a:srgbClr val="1A1A1A"/>
                          </a:solidFill>
                        </a:rPr>
                        <a:t>Resists phishing; small cost/effort</a:t>
                      </a:r>
                    </a:p>
                  </a:txBody>
                  <a:tcPr anchor="ctr" marL="73152" marR="54864" marT="27432" marB="27432">
                    <a:solidFill>
                      <a:srgbClr val="EEF3F8"/>
                    </a:solidFill>
                  </a:tcPr>
                </a:tc>
              </a:tr>
              <a:tr h="736092">
                <a:tc>
                  <a:txBody>
                    <a:bodyPr wrap="square"/>
                    <a:lstStyle/>
                    <a:p>
                      <a:r>
                        <a:rPr sz="1100" b="1">
                          <a:solidFill>
                            <a:srgbClr val="0C2B4A"/>
                          </a:solidFill>
                        </a:rPr>
                        <a:t>MFA on email specifically</a:t>
                      </a:r>
                    </a:p>
                  </a:txBody>
                  <a:tcPr anchor="ctr" marL="73152" marR="54864" marT="27432" marB="27432">
                    <a:solidFill>
                      <a:srgbClr val="FFFFFF"/>
                    </a:solidFill>
                  </a:tcPr>
                </a:tc>
                <a:tc>
                  <a:txBody>
                    <a:bodyPr wrap="square"/>
                    <a:lstStyle/>
                    <a:p>
                      <a:r>
                        <a:rPr sz="1100">
                          <a:solidFill>
                            <a:srgbClr val="1A1A1A"/>
                          </a:solidFill>
                        </a:rPr>
                        <a:t>Highest priority</a:t>
                      </a:r>
                    </a:p>
                  </a:txBody>
                  <a:tcPr anchor="ctr" marL="73152" marR="54864" marT="27432" marB="27432">
                    <a:solidFill>
                      <a:srgbClr val="FFFFFF"/>
                    </a:solidFill>
                  </a:tcPr>
                </a:tc>
                <a:tc>
                  <a:txBody>
                    <a:bodyPr wrap="square"/>
                    <a:lstStyle/>
                    <a:p>
                      <a:r>
                        <a:rPr sz="1100">
                          <a:solidFill>
                            <a:srgbClr val="1A1A1A"/>
                          </a:solidFill>
                        </a:rPr>
                        <a:t>Email resets all other accounts — protect it first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Move up the ladder where you can (app over SMS), but any MFA beats none. Enable it on email first — it's the master key that resets everything else.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92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MFA / 2FA</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Turn on 2FA for eSewa/Khalti, your bank app, Gmail, and Facebook — but do email FIRST, because whoever controls your email can reset the password on every other account. Prefer an authenticator app over SMS where offered: SMS OTP can be intercepted via SIM-swap, while a TOTP app generates codes on your device with no SIM to hijack.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"MFA is too much hassle for what it's worth." MFA blocks the vast majority of account takeovers even when your password is stolen — a few seconds per login against losing your wallet and identity. It's the single highest-value habit after not reusing passwords.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MFA/2FA adds a second proof beyond the password (something you have or are), and its strength runs SMS OTP &lt; authenticator app (TOTP) &lt; hardware key. It blocks most account takeovers even when the password is stolen, so it should go on email first (email resets everything else), then banking and social. SMS-OTP is weakened by SIM-swap, so an authenticator app is preferable where available.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MFA / 2FA · second factor · SMS vs authenticator app vs hardware key · SIM-swap · email first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92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Breach Awareness &amp; Response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Breach awareness is knowing when your credentials leak and acting fast. Check haveibeenpwned.com; if you're breached, change that password everywhere it was reused, enable MFA, and watch for follow-on phishing that uses your real leaked details to seem legit.</a:t>
            </a:r>
          </a:p>
          <a:p>
            <a:pPr>
              <a:spcAft>
                <a:spcPts val="500"/>
              </a:spcAft>
            </a:pPr>
            <a:r>
              <a:rPr sz="1200" b="1">
                <a:solidFill>
                  <a:srgbClr val="185FA5"/>
                </a:solidFill>
              </a:rPr>
              <a:t>HOW IT WORKS</a:t>
            </a:r>
          </a:p>
          <a:p>
            <a:pPr>
              <a:spcAft>
                <a:spcPts val="600"/>
              </a:spcAft>
            </a:pPr>
            <a:r>
              <a:rPr sz="1400">
                <a:solidFill>
                  <a:srgbClr val="1A1A1A"/>
                </a:solidFill>
              </a:rPr>
              <a:t>•  Leaks are normal — check haveibeenpwned.com to see if your email appears in known breaches.</a:t>
            </a:r>
          </a:p>
          <a:p>
            <a:pPr>
              <a:spcAft>
                <a:spcPts val="600"/>
              </a:spcAft>
            </a:pPr>
            <a:r>
              <a:rPr sz="1400">
                <a:solidFill>
                  <a:srgbClr val="1A1A1A"/>
                </a:solidFill>
              </a:rPr>
              <a:t>•  On a breach: change that password (and anywhere it was reused), then enable MFA.</a:t>
            </a:r>
          </a:p>
          <a:p>
            <a:pPr>
              <a:spcAft>
                <a:spcPts val="600"/>
              </a:spcAft>
            </a:pPr>
            <a:r>
              <a:rPr sz="1400">
                <a:solidFill>
                  <a:srgbClr val="1A1A1A"/>
                </a:solidFill>
              </a:rPr>
              <a:t>•  Expect follow-on scams: attackers use your real leaked details to make phishing convincing.</a:t>
            </a:r>
          </a:p>
          <a:p>
            <a:pPr>
              <a:spcAft>
                <a:spcPts val="600"/>
              </a:spcAft>
            </a:pPr>
            <a:r>
              <a:rPr sz="1400">
                <a:solidFill>
                  <a:srgbClr val="1A1A1A"/>
                </a:solidFill>
              </a:rPr>
              <a:t>•  This is why reuse is so dangerous — one leaked password is tried everywhere (credential stuffing).</a:t>
            </a:r>
          </a:p>
        </p:txBody>
      </p:sp>
      <p:pic>
        <p:nvPicPr>
          <p:cNvPr id="6" name="Picture 5" descr="s32_domino.png"/>
          <p:cNvPicPr>
            <a:picLocks noChangeAspect="1"/>
          </p:cNvPicPr>
          <p:nvPr/>
        </p:nvPicPr>
        <p:blipFill>
          <a:blip r:embed="rId2"/>
          <a:stretch>
            <a:fillRect/>
          </a:stretch>
        </p:blipFill>
        <p:spPr>
          <a:xfrm>
            <a:off x="6355080" y="2670970"/>
            <a:ext cx="5532120" cy="229330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 leaked reused password topples every account — unique passwords contain the blast.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92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4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Breach response — right vs wrong moves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921250"/>
                <a:gridCol w="3175000"/>
                <a:gridCol w="3333750"/>
              </a:tblGrid>
              <a:tr h="630936">
                <a:tc>
                  <a:txBody>
                    <a:bodyPr wrap="square"/>
                    <a:lstStyle/>
                    <a:p>
                      <a:r>
                        <a:rPr sz="1150" b="1">
                          <a:solidFill>
                            <a:srgbClr val="FFFFFF"/>
                          </a:solidFill>
                        </a:rPr>
                        <a:t>Situation</a:t>
                      </a:r>
                    </a:p>
                  </a:txBody>
                  <a:tcPr anchor="ctr" marL="73152" marR="54864" marT="27432" marB="27432">
                    <a:solidFill>
                      <a:srgbClr val="0C2B4A"/>
                    </a:solidFill>
                  </a:tcPr>
                </a:tc>
                <a:tc>
                  <a:txBody>
                    <a:bodyPr wrap="square"/>
                    <a:lstStyle/>
                    <a:p>
                      <a:r>
                        <a:rPr sz="1150" b="1">
                          <a:solidFill>
                            <a:srgbClr val="FFFFFF"/>
                          </a:solidFill>
                        </a:rPr>
                        <a:t>Right move</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Your email shows up on haveibeenpwned</a:t>
                      </a:r>
                    </a:p>
                  </a:txBody>
                  <a:tcPr anchor="ctr" marL="73152" marR="54864" marT="27432" marB="27432">
                    <a:solidFill>
                      <a:srgbClr val="FFFFFF"/>
                    </a:solidFill>
                  </a:tcPr>
                </a:tc>
                <a:tc>
                  <a:txBody>
                    <a:bodyPr wrap="square"/>
                    <a:lstStyle/>
                    <a:p>
                      <a:r>
                        <a:rPr sz="1100">
                          <a:solidFill>
                            <a:srgbClr val="1A1A1A"/>
                          </a:solidFill>
                        </a:rPr>
                        <a:t>Change that password + enable MFA</a:t>
                      </a:r>
                    </a:p>
                  </a:txBody>
                  <a:tcPr anchor="ctr" marL="73152" marR="54864" marT="27432" marB="27432">
                    <a:solidFill>
                      <a:srgbClr val="FFFFFF"/>
                    </a:solidFill>
                  </a:tcPr>
                </a:tc>
                <a:tc>
                  <a:txBody>
                    <a:bodyPr wrap="square"/>
                    <a:lstStyle/>
                    <a:p>
                      <a:r>
                        <a:rPr sz="1100">
                          <a:solidFill>
                            <a:srgbClr val="1A1A1A"/>
                          </a:solidFill>
                        </a:rPr>
                        <a:t>Assume the leaked password is now public</a:t>
                      </a:r>
                    </a:p>
                  </a:txBody>
                  <a:tcPr anchor="ctr" marL="73152" marR="54864" marT="27432" marB="27432">
                    <a:solidFill>
                      <a:srgbClr val="FFFFFF"/>
                    </a:solidFill>
                  </a:tcPr>
                </a:tc>
              </a:tr>
              <a:tr h="630936">
                <a:tc>
                  <a:txBody>
                    <a:bodyPr wrap="square"/>
                    <a:lstStyle/>
                    <a:p>
                      <a:r>
                        <a:rPr sz="1100" b="1">
                          <a:solidFill>
                            <a:srgbClr val="0C2B4A"/>
                          </a:solidFill>
                        </a:rPr>
                        <a:t>You reused that password on 5 sites</a:t>
                      </a:r>
                    </a:p>
                  </a:txBody>
                  <a:tcPr anchor="ctr" marL="73152" marR="54864" marT="27432" marB="27432">
                    <a:solidFill>
                      <a:srgbClr val="EEF3F8"/>
                    </a:solidFill>
                  </a:tcPr>
                </a:tc>
                <a:tc>
                  <a:txBody>
                    <a:bodyPr wrap="square"/>
                    <a:lstStyle/>
                    <a:p>
                      <a:r>
                        <a:rPr sz="1100">
                          <a:solidFill>
                            <a:srgbClr val="1A1A1A"/>
                          </a:solidFill>
                        </a:rPr>
                        <a:t>Change it on all 5</a:t>
                      </a:r>
                    </a:p>
                  </a:txBody>
                  <a:tcPr anchor="ctr" marL="73152" marR="54864" marT="27432" marB="27432">
                    <a:solidFill>
                      <a:srgbClr val="EEF3F8"/>
                    </a:solidFill>
                  </a:tcPr>
                </a:tc>
                <a:tc>
                  <a:txBody>
                    <a:bodyPr wrap="square"/>
                    <a:lstStyle/>
                    <a:p>
                      <a:r>
                        <a:rPr sz="1100">
                          <a:solidFill>
                            <a:srgbClr val="1A1A1A"/>
                          </a:solidFill>
                        </a:rPr>
                        <a:t>Credential stuffing tries it everywhere</a:t>
                      </a:r>
                    </a:p>
                  </a:txBody>
                  <a:tcPr anchor="ctr" marL="73152" marR="54864" marT="27432" marB="27432">
                    <a:solidFill>
                      <a:srgbClr val="EEF3F8"/>
                    </a:solidFill>
                  </a:tcPr>
                </a:tc>
              </a:tr>
              <a:tr h="630936">
                <a:tc>
                  <a:txBody>
                    <a:bodyPr wrap="square"/>
                    <a:lstStyle/>
                    <a:p>
                      <a:r>
                        <a:rPr sz="1100" b="1">
                          <a:solidFill>
                            <a:srgbClr val="0C2B4A"/>
                          </a:solidFill>
                        </a:rPr>
                        <a:t>A scam SMS quotes your real name + last order</a:t>
                      </a:r>
                    </a:p>
                  </a:txBody>
                  <a:tcPr anchor="ctr" marL="73152" marR="54864" marT="27432" marB="27432">
                    <a:solidFill>
                      <a:srgbClr val="FFFFFF"/>
                    </a:solidFill>
                  </a:tcPr>
                </a:tc>
                <a:tc>
                  <a:txBody>
                    <a:bodyPr wrap="square"/>
                    <a:lstStyle/>
                    <a:p>
                      <a:r>
                        <a:rPr sz="1100">
                          <a:solidFill>
                            <a:srgbClr val="1A1A1A"/>
                          </a:solidFill>
                        </a:rPr>
                        <a:t>Treat as phishing; don't click</a:t>
                      </a:r>
                    </a:p>
                  </a:txBody>
                  <a:tcPr anchor="ctr" marL="73152" marR="54864" marT="27432" marB="27432">
                    <a:solidFill>
                      <a:srgbClr val="FFFFFF"/>
                    </a:solidFill>
                  </a:tcPr>
                </a:tc>
                <a:tc>
                  <a:txBody>
                    <a:bodyPr wrap="square"/>
                    <a:lstStyle/>
                    <a:p>
                      <a:r>
                        <a:rPr sz="1100">
                          <a:solidFill>
                            <a:srgbClr val="1A1A1A"/>
                          </a:solidFill>
                        </a:rPr>
                        <a:t>Leaked data makes scams look legit</a:t>
                      </a:r>
                    </a:p>
                  </a:txBody>
                  <a:tcPr anchor="ctr" marL="73152" marR="54864" marT="27432" marB="27432">
                    <a:solidFill>
                      <a:srgbClr val="FFFFFF"/>
                    </a:solidFill>
                  </a:tcPr>
                </a:tc>
              </a:tr>
              <a:tr h="630936">
                <a:tc>
                  <a:txBody>
                    <a:bodyPr wrap="square"/>
                    <a:lstStyle/>
                    <a:p>
                      <a:r>
                        <a:rPr sz="1100" b="1">
                          <a:solidFill>
                            <a:srgbClr val="0C2B4A"/>
                          </a:solidFill>
                        </a:rPr>
                        <a:t>Ignoring a breach notice 'it's probably nothing'</a:t>
                      </a:r>
                    </a:p>
                  </a:txBody>
                  <a:tcPr anchor="ctr" marL="73152" marR="54864" marT="27432" marB="27432">
                    <a:solidFill>
                      <a:srgbClr val="EEF3F8"/>
                    </a:solidFill>
                  </a:tcPr>
                </a:tc>
                <a:tc>
                  <a:txBody>
                    <a:bodyPr wrap="square"/>
                    <a:lstStyle/>
                    <a:p>
                      <a:r>
                        <a:rPr sz="1100">
                          <a:solidFill>
                            <a:srgbClr val="1A1A1A"/>
                          </a:solidFill>
                        </a:rPr>
                        <a:t>Wrong</a:t>
                      </a:r>
                    </a:p>
                  </a:txBody>
                  <a:tcPr anchor="ctr" marL="73152" marR="54864" marT="27432" marB="27432">
                    <a:solidFill>
                      <a:srgbClr val="EEF3F8"/>
                    </a:solidFill>
                  </a:tcPr>
                </a:tc>
                <a:tc>
                  <a:txBody>
                    <a:bodyPr wrap="square"/>
                    <a:lstStyle/>
                    <a:p>
                      <a:r>
                        <a:rPr sz="1100">
                          <a:solidFill>
                            <a:srgbClr val="1A1A1A"/>
                          </a:solidFill>
                        </a:rPr>
                        <a:t>The password is already circulating</a:t>
                      </a:r>
                    </a:p>
                  </a:txBody>
                  <a:tcPr anchor="ctr" marL="73152" marR="54864" marT="27432" marB="27432">
                    <a:solidFill>
                      <a:srgbClr val="EEF3F8"/>
                    </a:solidFill>
                  </a:tcPr>
                </a:tc>
              </a:tr>
              <a:tr h="630936">
                <a:tc>
                  <a:txBody>
                    <a:bodyPr wrap="square"/>
                    <a:lstStyle/>
                    <a:p>
                      <a:r>
                        <a:rPr sz="1100" b="1">
                          <a:solidFill>
                            <a:srgbClr val="0C2B4A"/>
                          </a:solidFill>
                        </a:rPr>
                        <a:t>Adding MFA after a breach</a:t>
                      </a:r>
                    </a:p>
                  </a:txBody>
                  <a:tcPr anchor="ctr" marL="73152" marR="54864" marT="27432" marB="27432">
                    <a:solidFill>
                      <a:srgbClr val="FFFFFF"/>
                    </a:solidFill>
                  </a:tcPr>
                </a:tc>
                <a:tc>
                  <a:txBody>
                    <a:bodyPr wrap="square"/>
                    <a:lstStyle/>
                    <a:p>
                      <a:r>
                        <a:rPr sz="1100">
                          <a:solidFill>
                            <a:srgbClr val="1A1A1A"/>
                          </a:solidFill>
                        </a:rPr>
                        <a:t>Right</a:t>
                      </a:r>
                    </a:p>
                  </a:txBody>
                  <a:tcPr anchor="ctr" marL="73152" marR="54864" marT="27432" marB="27432">
                    <a:solidFill>
                      <a:srgbClr val="FFFFFF"/>
                    </a:solidFill>
                  </a:tcPr>
                </a:tc>
                <a:tc>
                  <a:txBody>
                    <a:bodyPr wrap="square"/>
                    <a:lstStyle/>
                    <a:p>
                      <a:r>
                        <a:rPr sz="1100">
                          <a:solidFill>
                            <a:srgbClr val="1A1A1A"/>
                          </a:solidFill>
                        </a:rPr>
                        <a:t>Blocks takeover even with the leaked password</a:t>
                      </a:r>
                    </a:p>
                  </a:txBody>
                  <a:tcPr anchor="ctr" marL="73152" marR="54864" marT="27432" marB="27432">
                    <a:solidFill>
                      <a:srgbClr val="FFFFFF"/>
                    </a:solidFill>
                  </a:tcPr>
                </a:tc>
              </a:tr>
              <a:tr h="630936">
                <a:tc>
                  <a:txBody>
                    <a:bodyPr wrap="square"/>
                    <a:lstStyle/>
                    <a:p>
                      <a:r>
                        <a:rPr sz="1100" b="1">
                          <a:solidFill>
                            <a:srgbClr val="0C2B4A"/>
                          </a:solidFill>
                        </a:rPr>
                        <a:t>Using the same 'new' password again everywhere</a:t>
                      </a:r>
                    </a:p>
                  </a:txBody>
                  <a:tcPr anchor="ctr" marL="73152" marR="54864" marT="27432" marB="27432">
                    <a:solidFill>
                      <a:srgbClr val="EEF3F8"/>
                    </a:solidFill>
                  </a:tcPr>
                </a:tc>
                <a:tc>
                  <a:txBody>
                    <a:bodyPr wrap="square"/>
                    <a:lstStyle/>
                    <a:p>
                      <a:r>
                        <a:rPr sz="1100">
                          <a:solidFill>
                            <a:srgbClr val="1A1A1A"/>
                          </a:solidFill>
                        </a:rPr>
                        <a:t>Wrong</a:t>
                      </a:r>
                    </a:p>
                  </a:txBody>
                  <a:tcPr anchor="ctr" marL="73152" marR="54864" marT="27432" marB="27432">
                    <a:solidFill>
                      <a:srgbClr val="EEF3F8"/>
                    </a:solidFill>
                  </a:tcPr>
                </a:tc>
                <a:tc>
                  <a:txBody>
                    <a:bodyPr wrap="square"/>
                    <a:lstStyle/>
                    <a:p>
                      <a:r>
                        <a:rPr sz="1100">
                          <a:solidFill>
                            <a:srgbClr val="1A1A1A"/>
                          </a:solidFill>
                        </a:rPr>
                        <a:t>Re-creates the reuse vulnerability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breach is a when, not an if. Fast response — change + de-reuse + MFA — plus scepticism toward follow-on phishing is what limits the damage.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92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S32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Breach Awareness &amp; Response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Leaked Nepali service and forum databases circulate, and are often followed by targeted scam calls and SMS that quote your real name, number, or recent activity to seem legitimate. Running your email through haveibeenpwned.com tells you if you're exposed; if so, change that password everywhere it was reused, enable MFA, and treat any 'official' follow-up that knows your details as likely phishing.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"Reusing one password is fine if it's a strong one." Once any one site leaks it, attackers replay it across all your accounts — credential stuffing — so a strong-but-reused password topples like a domino. Uniqueness (via a manager) is what contains a single leak to a single account.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Breach awareness is knowing when your credentials leak (e.g. via haveibeenpwned.com) and responding fast: change the exposed password everywhere it was reused, enable MFA, and stay alert to follow-on phishing that uses your real leaked details. Credential stuffing — replaying one leaked password across your accounts — is why reuse is so dangerous, and unique passwords per site are what contain a single breach.</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breach awareness · haveibeenpwned · credential stuffing · change + de-reuse + MFA · follow-on phishing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92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S32 — 'How many accounts share a password?'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honestly, how many of your accounts share a password right now?</a:t>
            </a:r>
          </a:p>
          <a:p>
            <a:pPr>
              <a:spcAft>
                <a:spcPts val="700"/>
              </a:spcAft>
            </a:pPr>
            <a:r>
              <a:rPr sz="1550">
                <a:solidFill>
                  <a:srgbClr val="1A1A1A"/>
                </a:solidFill>
              </a:rPr>
              <a:t>•  Identify which account breaking would hurt the most (usually your primary email) and why.</a:t>
            </a:r>
          </a:p>
          <a:p>
            <a:pPr>
              <a:spcAft>
                <a:spcPts val="700"/>
              </a:spcAft>
            </a:pPr>
            <a:r>
              <a:rPr sz="1550">
                <a:solidFill>
                  <a:srgbClr val="1A1A1A"/>
                </a:solidFill>
              </a:rPr>
              <a:t>•  Take 3–4 answers aloud (3 min); connect reuse to the credential-stuffing domino.</a:t>
            </a:r>
          </a:p>
          <a:p>
            <a:pPr>
              <a:spcAft>
                <a:spcPts val="700"/>
              </a:spcAft>
            </a:pPr>
            <a:r>
              <a:rPr sz="1550">
                <a:solidFill>
                  <a:srgbClr val="1A1A1A"/>
                </a:solidFill>
              </a:rPr>
              <a:t>•  Close: each student names their plan — set up a manager, make email unique, and turn on email MFA this week.</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Most students share one password widely and haven't protected email first. Reward the realisation that email is the master key and that a manager + MFA is the concrete fix, not more willpower.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92</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single most important account to protect with a strong password + MFA is usually:</a:t>
            </a:r>
          </a:p>
          <a:p>
            <a:pPr lvl="1"/>
            <a:r>
              <a:rPr sz="1500" b="1">
                <a:solidFill>
                  <a:srgbClr val="0F6E56"/>
                </a:solidFill>
              </a:rPr>
              <a:t>a) a game account   b) ✅ your primary email (it can reset all the others)   c) a shopping app   d) a news site</a:t>
            </a:r>
          </a:p>
          <a:p>
            <a:pPr lvl="1">
              <a:spcBef>
                <a:spcPts val="600"/>
              </a:spcBef>
            </a:pPr>
            <a:r>
              <a:rPr sz="1500" i="1">
                <a:solidFill>
                  <a:srgbClr val="1A1A1A"/>
                </a:solidFill>
              </a:rPr>
              <a:t>     Why: whoever controls your email can trigger password resets on everything linked to it.</a:t>
            </a:r>
          </a:p>
          <a:p>
            <a:pPr>
              <a:spcBef>
                <a:spcPts val="900"/>
              </a:spcBef>
            </a:pPr>
            <a:r>
              <a:rPr sz="1700" b="1">
                <a:solidFill>
                  <a:srgbClr val="0C2B4A"/>
                </a:solidFill>
              </a:rPr>
              <a:t>Q2.  Reusing one password and having one site breached enables:</a:t>
            </a:r>
          </a:p>
          <a:p>
            <a:pPr lvl="1"/>
            <a:r>
              <a:rPr sz="1500" b="1">
                <a:solidFill>
                  <a:srgbClr val="0F6E56"/>
                </a:solidFill>
              </a:rPr>
              <a:t>a) faster login   b) ✅ credential stuffing across your other accounts   c) stronger security   d) nothing</a:t>
            </a:r>
          </a:p>
          <a:p>
            <a:pPr lvl="1">
              <a:spcBef>
                <a:spcPts val="600"/>
              </a:spcBef>
            </a:pPr>
            <a:r>
              <a:rPr sz="1500" i="1">
                <a:solidFill>
                  <a:srgbClr val="1A1A1A"/>
                </a:solidFill>
              </a:rPr>
              <a:t>     Why: attackers replay the leaked password everywhere; unique passwords contain the breach to one account.</a:t>
            </a:r>
          </a:p>
          <a:p>
            <a:pPr lvl="1">
              <a:spcBef>
                <a:spcPts val="600"/>
              </a:spcBef>
            </a:pPr>
            <a:r>
              <a:rPr sz="1500" i="1">
                <a:solidFill>
                  <a:srgbClr val="1A1A1A"/>
                </a:solidFill>
              </a:rPr>
              <a:t>Discussion: how many of your accounts share a password right now — and which one breaking would hurt most?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92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Use long, unique passphrases per site — length beats complexity, and reuse is the real weakness.</a:t>
            </a:r>
          </a:p>
          <a:p>
            <a:pPr>
              <a:spcAft>
                <a:spcPts val="800"/>
              </a:spcAft>
            </a:pPr>
            <a:r>
              <a:rPr sz="1500">
                <a:solidFill>
                  <a:srgbClr val="1A1A1A"/>
                </a:solidFill>
              </a:rPr>
              <a:t>2.  A password manager makes 'unique everywhere' realistic; MFA (authenticator app &gt; SMS) stops most takeovers — protect email first.</a:t>
            </a:r>
          </a:p>
          <a:p>
            <a:pPr>
              <a:spcAft>
                <a:spcPts val="800"/>
              </a:spcAft>
            </a:pPr>
            <a:r>
              <a:rPr sz="1500">
                <a:solidFill>
                  <a:srgbClr val="1A1A1A"/>
                </a:solidFill>
              </a:rPr>
              <a:t>3.  Assume breaches happen: check haveibeenpwned, change + de-reuse the password, enable MFA, and expect follow-on phishing.</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Your accounts — email, eSewa, bank, Facebook — are the real prize, and passwords are the lock. Setting up a manager, making your email password unique, and turning on authenticator-app MFA this week is the highest-return hour of security work you can do.</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End of Unit 6. Next unit: Social Engineering &amp; Cyber Terrorism — how attackers target the human, not the machine.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92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Home computer (S28)</a:t>
            </a:r>
          </a:p>
          <a:p>
            <a:pPr>
              <a:spcBef>
                <a:spcPts val="300"/>
              </a:spcBef>
            </a:pPr>
            <a:r>
              <a:rPr sz="1200">
                <a:solidFill>
                  <a:srgbClr val="1A1A1A"/>
                </a:solidFill>
              </a:rPr>
              <a:t>Posture = patch + protect + back up + contain. Auto-update; drop end-of-life/pirated OS. One good AV (Defender). 3-2-1 backups (3 copies · 2 media · 1 offsite). Firewall on, deny-by-default.</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Mobile &amp; IoT (S29)</a:t>
            </a:r>
          </a:p>
          <a:p>
            <a:pPr>
              <a:spcBef>
                <a:spcPts val="300"/>
              </a:spcBef>
            </a:pPr>
            <a:r>
              <a:rPr sz="1200">
                <a:solidFill>
                  <a:srgbClr val="1A1A1A"/>
                </a:solidFill>
              </a:rPr>
              <a:t>Least-privilege permissions (a torch needs no SMS). Lock + update + official stores + remote wipe. NEVER share OTP/MPIN — banks never ask. Change EVERY IoT default password (Mirai).</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Physical security (S30)</a:t>
            </a:r>
          </a:p>
          <a:p>
            <a:pPr>
              <a:spcBef>
                <a:spcPts val="300"/>
              </a:spcBef>
            </a:pPr>
            <a:r>
              <a:rPr sz="1200">
                <a:solidFill>
                  <a:srgbClr val="1A1A1A"/>
                </a:solidFill>
              </a:rPr>
              <a:t>Lost unlocked/unencrypted device = data breach. Encrypt + lock + remote wipe. Shield the keypad (shoulder-surfing). Encrypt-then-wipe before resale; hide OTP lock-screen previews.</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Work from home (S31)</a:t>
            </a:r>
          </a:p>
          <a:p>
            <a:pPr>
              <a:spcBef>
                <a:spcPts val="300"/>
              </a:spcBef>
            </a:pPr>
            <a:r>
              <a:rPr sz="1200">
                <a:solidFill>
                  <a:srgbClr val="1A1A1A"/>
                </a:solidFill>
              </a:rPr>
              <a:t>Router = the gate: change admin pw, WPA2/3, update firmware, guest/IoT network. VPN on untrusted Wi-Fi (transport only). Keep work/personal separate. Meeting passwords + waiting rooms.</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Accounts &amp; passwords (S32)</a:t>
            </a:r>
          </a:p>
          <a:p>
            <a:pPr>
              <a:spcBef>
                <a:spcPts val="300"/>
              </a:spcBef>
            </a:pPr>
            <a:r>
              <a:rPr sz="1200">
                <a:solidFill>
                  <a:srgbClr val="1A1A1A"/>
                </a:solidFill>
              </a:rPr>
              <a:t>Long unique passphrases (length &gt; complexity). Password manager makes unique realistic. MFA (app &gt; SMS), email FIRST. Check haveibeenpwned; on breach change + de-reuse + MFA.</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The one-line unit</a:t>
            </a:r>
          </a:p>
          <a:p>
            <a:pPr>
              <a:spcBef>
                <a:spcPts val="300"/>
              </a:spcBef>
            </a:pPr>
            <a:r>
              <a:rPr sz="1200">
                <a:solidFill>
                  <a:srgbClr val="1A1A1A"/>
                </a:solidFill>
              </a:rPr>
              <a:t>Most personal security is basic hygiene: patch, back up, least privilege, never share OTPs, unique passwords + MFA. Automated attacks hit whoever skipped a layer.</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92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6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Security posture — </a:t>
            </a:r>
            <a:r>
              <a:rPr sz="1150">
                <a:solidFill>
                  <a:srgbClr val="1A1A1A"/>
                </a:solidFill>
              </a:rPr>
              <a:t>overall state of how well your device/habits resist and recover from threats.</a:t>
            </a:r>
          </a:p>
          <a:p>
            <a:pPr>
              <a:spcAft>
                <a:spcPts val="600"/>
              </a:spcAft>
            </a:pPr>
            <a:r>
              <a:rPr sz="1150" b="1">
                <a:solidFill>
                  <a:srgbClr val="0C2B4A"/>
                </a:solidFill>
              </a:rPr>
              <a:t>Patch — </a:t>
            </a:r>
            <a:r>
              <a:rPr sz="1150">
                <a:solidFill>
                  <a:srgbClr val="1A1A1A"/>
                </a:solidFill>
              </a:rPr>
              <a:t>a fix for a known security hole; apply via automatic updates.</a:t>
            </a:r>
          </a:p>
          <a:p>
            <a:pPr>
              <a:spcAft>
                <a:spcPts val="600"/>
              </a:spcAft>
            </a:pPr>
            <a:r>
              <a:rPr sz="1150" b="1">
                <a:solidFill>
                  <a:srgbClr val="0C2B4A"/>
                </a:solidFill>
              </a:rPr>
              <a:t>End-of-life software — </a:t>
            </a:r>
            <a:r>
              <a:rPr sz="1150">
                <a:solidFill>
                  <a:srgbClr val="1A1A1A"/>
                </a:solidFill>
              </a:rPr>
              <a:t>software no longer receiving security updates (e.g. Windows 7).</a:t>
            </a:r>
          </a:p>
          <a:p>
            <a:pPr>
              <a:spcAft>
                <a:spcPts val="600"/>
              </a:spcAft>
            </a:pPr>
            <a:r>
              <a:rPr sz="1150" b="1">
                <a:solidFill>
                  <a:srgbClr val="0C2B4A"/>
                </a:solidFill>
              </a:rPr>
              <a:t>Antivirus / anti-malware — </a:t>
            </a:r>
            <a:r>
              <a:rPr sz="1150">
                <a:solidFill>
                  <a:srgbClr val="1A1A1A"/>
                </a:solidFill>
              </a:rPr>
              <a:t>software that detects and blocks malicious files/behaviour.</a:t>
            </a:r>
          </a:p>
          <a:p>
            <a:pPr>
              <a:spcAft>
                <a:spcPts val="600"/>
              </a:spcAft>
            </a:pPr>
            <a:r>
              <a:rPr sz="1150" b="1">
                <a:solidFill>
                  <a:srgbClr val="0C2B4A"/>
                </a:solidFill>
              </a:rPr>
              <a:t>Scareware — </a:t>
            </a:r>
            <a:r>
              <a:rPr sz="1150">
                <a:solidFill>
                  <a:srgbClr val="1A1A1A"/>
                </a:solidFill>
              </a:rPr>
              <a:t>fake-AV pop-up that rushes you to 'pay to fix' viruses — itself malware.</a:t>
            </a:r>
          </a:p>
          <a:p>
            <a:pPr>
              <a:spcAft>
                <a:spcPts val="600"/>
              </a:spcAft>
            </a:pPr>
            <a:r>
              <a:rPr sz="1150" b="1">
                <a:solidFill>
                  <a:srgbClr val="0C2B4A"/>
                </a:solidFill>
              </a:rPr>
              <a:t>Backup (3-2-1) — </a:t>
            </a:r>
            <a:r>
              <a:rPr sz="1150">
                <a:solidFill>
                  <a:srgbClr val="1A1A1A"/>
                </a:solidFill>
              </a:rPr>
              <a:t>3 copies, 2 media types, 1 offsite/cloud copy of your data.</a:t>
            </a:r>
          </a:p>
          <a:p>
            <a:pPr>
              <a:spcAft>
                <a:spcPts val="600"/>
              </a:spcAft>
            </a:pPr>
            <a:r>
              <a:rPr sz="1150" b="1">
                <a:solidFill>
                  <a:srgbClr val="0C2B4A"/>
                </a:solidFill>
              </a:rPr>
              <a:t>Firewall — </a:t>
            </a:r>
            <a:r>
              <a:rPr sz="1150">
                <a:solidFill>
                  <a:srgbClr val="1A1A1A"/>
                </a:solidFill>
              </a:rPr>
              <a:t>filter controlling which network traffic is allowed in/out.</a:t>
            </a:r>
          </a:p>
          <a:p>
            <a:pPr>
              <a:spcAft>
                <a:spcPts val="600"/>
              </a:spcAft>
            </a:pPr>
            <a:r>
              <a:rPr sz="1150" b="1">
                <a:solidFill>
                  <a:srgbClr val="0C2B4A"/>
                </a:solidFill>
              </a:rPr>
              <a:t>Permission — </a:t>
            </a:r>
            <a:r>
              <a:rPr sz="1150">
                <a:solidFill>
                  <a:srgbClr val="1A1A1A"/>
                </a:solidFill>
              </a:rPr>
              <a:t>the access (camera, SMS, location…) an app requests.</a:t>
            </a:r>
          </a:p>
          <a:p>
            <a:pPr>
              <a:spcAft>
                <a:spcPts val="600"/>
              </a:spcAft>
            </a:pPr>
            <a:r>
              <a:rPr sz="1150" b="1">
                <a:solidFill>
                  <a:srgbClr val="0C2B4A"/>
                </a:solidFill>
              </a:rPr>
              <a:t>Least privilege — </a:t>
            </a:r>
            <a:r>
              <a:rPr sz="1150">
                <a:solidFill>
                  <a:srgbClr val="1A1A1A"/>
                </a:solidFill>
              </a:rPr>
              <a:t>grant only the access an app's function actually needs.</a:t>
            </a:r>
          </a:p>
          <a:p>
            <a:pPr>
              <a:spcAft>
                <a:spcPts val="600"/>
              </a:spcAft>
            </a:pPr>
            <a:r>
              <a:rPr sz="1150" b="1">
                <a:solidFill>
                  <a:srgbClr val="0C2B4A"/>
                </a:solidFill>
              </a:rPr>
              <a:t>OTP / MPIN — </a:t>
            </a:r>
            <a:r>
              <a:rPr sz="1150">
                <a:solidFill>
                  <a:srgbClr val="1A1A1A"/>
                </a:solidFill>
              </a:rPr>
              <a:t>one-time / mobile PIN — the last key; banks NEVER ask for it.</a:t>
            </a:r>
          </a:p>
          <a:p>
            <a:pPr>
              <a:spcAft>
                <a:spcPts val="600"/>
              </a:spcAft>
            </a:pPr>
            <a:r>
              <a:rPr sz="1150" b="1">
                <a:solidFill>
                  <a:srgbClr val="0C2B4A"/>
                </a:solidFill>
              </a:rPr>
              <a:t>SIM-swap — </a:t>
            </a:r>
            <a:r>
              <a:rPr sz="1150">
                <a:solidFill>
                  <a:srgbClr val="1A1A1A"/>
                </a:solidFill>
              </a:rPr>
              <a:t>attacker ports your number to their SIM to steal SMS OTPs.</a:t>
            </a:r>
          </a:p>
          <a:p>
            <a:pPr>
              <a:spcAft>
                <a:spcPts val="600"/>
              </a:spcAft>
            </a:pPr>
            <a:r>
              <a:rPr sz="1150" b="1">
                <a:solidFill>
                  <a:srgbClr val="0C2B4A"/>
                </a:solidFill>
              </a:rPr>
              <a:t>IoT — </a:t>
            </a:r>
            <a:r>
              <a:rPr sz="1150">
                <a:solidFill>
                  <a:srgbClr val="1A1A1A"/>
                </a:solidFill>
              </a:rPr>
              <a:t>everyday internet-connected devices (CCTV, bulbs, TVs, routers).</a:t>
            </a:r>
          </a:p>
          <a:p>
            <a:pPr>
              <a:spcAft>
                <a:spcPts val="600"/>
              </a:spcAft>
            </a:pPr>
            <a:r>
              <a:rPr sz="1150" b="1">
                <a:solidFill>
                  <a:srgbClr val="0C2B4A"/>
                </a:solidFill>
              </a:rPr>
              <a:t>Mirai botnet — </a:t>
            </a:r>
            <a:r>
              <a:rPr sz="1150">
                <a:solidFill>
                  <a:srgbClr val="1A1A1A"/>
                </a:solidFill>
              </a:rPr>
              <a:t>malware that enslaved millions of default-password IoT devices.</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Full-disk encryption — </a:t>
            </a:r>
            <a:r>
              <a:rPr sz="1150">
                <a:solidFill>
                  <a:srgbClr val="1A1A1A"/>
                </a:solidFill>
              </a:rPr>
              <a:t>BitLocker/FileVault — makes stored data unreadable without the key.</a:t>
            </a:r>
          </a:p>
          <a:p>
            <a:pPr>
              <a:spcAft>
                <a:spcPts val="600"/>
              </a:spcAft>
            </a:pPr>
            <a:r>
              <a:rPr sz="1150" b="1">
                <a:solidFill>
                  <a:srgbClr val="0C2B4A"/>
                </a:solidFill>
              </a:rPr>
              <a:t>Remote wipe — </a:t>
            </a:r>
            <a:r>
              <a:rPr sz="1150">
                <a:solidFill>
                  <a:srgbClr val="1A1A1A"/>
                </a:solidFill>
              </a:rPr>
              <a:t>erasing a lost/stolen device remotely (Find My Device).</a:t>
            </a:r>
          </a:p>
          <a:p>
            <a:pPr>
              <a:spcAft>
                <a:spcPts val="600"/>
              </a:spcAft>
            </a:pPr>
            <a:r>
              <a:rPr sz="1150" b="1">
                <a:solidFill>
                  <a:srgbClr val="0C2B4A"/>
                </a:solidFill>
              </a:rPr>
              <a:t>Shoulder-surfing — </a:t>
            </a:r>
            <a:r>
              <a:rPr sz="1150">
                <a:solidFill>
                  <a:srgbClr val="1A1A1A"/>
                </a:solidFill>
              </a:rPr>
              <a:t>watching your screen/keystrokes to steal a PIN or data.</a:t>
            </a:r>
          </a:p>
          <a:p>
            <a:pPr>
              <a:spcAft>
                <a:spcPts val="600"/>
              </a:spcAft>
            </a:pPr>
            <a:r>
              <a:rPr sz="1150" b="1">
                <a:solidFill>
                  <a:srgbClr val="0C2B4A"/>
                </a:solidFill>
              </a:rPr>
              <a:t>Encrypt-then-wipe — </a:t>
            </a:r>
            <a:r>
              <a:rPr sz="1150">
                <a:solidFill>
                  <a:srgbClr val="1A1A1A"/>
                </a:solidFill>
              </a:rPr>
              <a:t>reliable erase before disposal; delete/format is recoverable.</a:t>
            </a:r>
          </a:p>
          <a:p>
            <a:pPr>
              <a:spcAft>
                <a:spcPts val="600"/>
              </a:spcAft>
            </a:pPr>
            <a:r>
              <a:rPr sz="1150" b="1">
                <a:solidFill>
                  <a:srgbClr val="0C2B4A"/>
                </a:solidFill>
              </a:rPr>
              <a:t>VPN — </a:t>
            </a:r>
            <a:r>
              <a:rPr sz="1150">
                <a:solidFill>
                  <a:srgbClr val="1A1A1A"/>
                </a:solidFill>
              </a:rPr>
              <a:t>encrypted tunnel protecting traffic on untrusted networks (transport only).</a:t>
            </a:r>
          </a:p>
          <a:p>
            <a:pPr>
              <a:spcAft>
                <a:spcPts val="600"/>
              </a:spcAft>
            </a:pPr>
            <a:r>
              <a:rPr sz="1150" b="1">
                <a:solidFill>
                  <a:srgbClr val="0C2B4A"/>
                </a:solidFill>
              </a:rPr>
              <a:t>Guest network — </a:t>
            </a:r>
            <a:r>
              <a:rPr sz="1150">
                <a:solidFill>
                  <a:srgbClr val="1A1A1A"/>
                </a:solidFill>
              </a:rPr>
              <a:t>separate Wi-Fi keeping IoT/visitors off your work devices.</a:t>
            </a:r>
          </a:p>
          <a:p>
            <a:pPr>
              <a:spcAft>
                <a:spcPts val="600"/>
              </a:spcAft>
            </a:pPr>
            <a:r>
              <a:rPr sz="1150" b="1">
                <a:solidFill>
                  <a:srgbClr val="0C2B4A"/>
                </a:solidFill>
              </a:rPr>
              <a:t>WPA2/WPA3 — </a:t>
            </a:r>
            <a:r>
              <a:rPr sz="1150">
                <a:solidFill>
                  <a:srgbClr val="1A1A1A"/>
                </a:solidFill>
              </a:rPr>
              <a:t>strong Wi-Fi encryption standards for your home network.</a:t>
            </a:r>
          </a:p>
          <a:p>
            <a:pPr>
              <a:spcAft>
                <a:spcPts val="600"/>
              </a:spcAft>
            </a:pPr>
            <a:r>
              <a:rPr sz="1150" b="1">
                <a:solidFill>
                  <a:srgbClr val="0C2B4A"/>
                </a:solidFill>
              </a:rPr>
              <a:t>Zoom-bombing — </a:t>
            </a:r>
            <a:r>
              <a:rPr sz="1150">
                <a:solidFill>
                  <a:srgbClr val="1A1A1A"/>
                </a:solidFill>
              </a:rPr>
              <a:t>uninvited people joining a meeting whose link had no password.</a:t>
            </a:r>
          </a:p>
          <a:p>
            <a:pPr>
              <a:spcAft>
                <a:spcPts val="600"/>
              </a:spcAft>
            </a:pPr>
            <a:r>
              <a:rPr sz="1150" b="1">
                <a:solidFill>
                  <a:srgbClr val="0C2B4A"/>
                </a:solidFill>
              </a:rPr>
              <a:t>Password manager — </a:t>
            </a:r>
            <a:r>
              <a:rPr sz="1150">
                <a:solidFill>
                  <a:srgbClr val="1A1A1A"/>
                </a:solidFill>
              </a:rPr>
              <a:t>tool that generates/stores unique passwords behind one master password.</a:t>
            </a:r>
          </a:p>
          <a:p>
            <a:pPr>
              <a:spcAft>
                <a:spcPts val="600"/>
              </a:spcAft>
            </a:pPr>
            <a:r>
              <a:rPr sz="1150" b="1">
                <a:solidFill>
                  <a:srgbClr val="0C2B4A"/>
                </a:solidFill>
              </a:rPr>
              <a:t>Passphrase — </a:t>
            </a:r>
            <a:r>
              <a:rPr sz="1150">
                <a:solidFill>
                  <a:srgbClr val="1A1A1A"/>
                </a:solidFill>
              </a:rPr>
              <a:t>a long multi-word password; length beats complexity.</a:t>
            </a:r>
          </a:p>
          <a:p>
            <a:pPr>
              <a:spcAft>
                <a:spcPts val="600"/>
              </a:spcAft>
            </a:pPr>
            <a:r>
              <a:rPr sz="1150" b="1">
                <a:solidFill>
                  <a:srgbClr val="0C2B4A"/>
                </a:solidFill>
              </a:rPr>
              <a:t>MFA / 2FA — </a:t>
            </a:r>
            <a:r>
              <a:rPr sz="1150">
                <a:solidFill>
                  <a:srgbClr val="1A1A1A"/>
                </a:solidFill>
              </a:rPr>
              <a:t>a second proof beyond the password (SMS &lt; app &lt; hardware key).</a:t>
            </a:r>
          </a:p>
          <a:p>
            <a:pPr>
              <a:spcAft>
                <a:spcPts val="600"/>
              </a:spcAft>
            </a:pPr>
            <a:r>
              <a:rPr sz="1150" b="1">
                <a:solidFill>
                  <a:srgbClr val="0C2B4A"/>
                </a:solidFill>
              </a:rPr>
              <a:t>Credential stuffing — </a:t>
            </a:r>
            <a:r>
              <a:rPr sz="1150">
                <a:solidFill>
                  <a:srgbClr val="1A1A1A"/>
                </a:solidFill>
              </a:rPr>
              <a:t>replaying one leaked password across your other accounts.</a:t>
            </a:r>
          </a:p>
          <a:p>
            <a:pPr>
              <a:spcAft>
                <a:spcPts val="600"/>
              </a:spcAft>
            </a:pPr>
            <a:r>
              <a:rPr sz="1150" b="1">
                <a:solidFill>
                  <a:srgbClr val="0C2B4A"/>
                </a:solidFill>
              </a:rPr>
              <a:t>haveibeenpwned — </a:t>
            </a:r>
            <a:r>
              <a:rPr sz="1150">
                <a:solidFill>
                  <a:srgbClr val="1A1A1A"/>
                </a:solidFill>
              </a:rPr>
              <a:t>site to check if your email appears in known data breaches.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92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6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Eleven MCQs across the whole unit (answers shown), then short-answer, applied-case, and discussion questions to work from the concept slides and Unit6_material.md.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89 / 92</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'Security posture' means   →  ✅ how well your device+habits resist AND recover from threats</a:t>
            </a:r>
          </a:p>
          <a:p>
            <a:pPr lvl="1"/>
            <a:r>
              <a:rPr sz="1250" b="1">
                <a:solidFill>
                  <a:srgbClr val="0F6E56"/>
                </a:solidFill>
              </a:rPr>
              <a:t>2.  The 3-2-1 backup rule is   →  ✅ 3 copies · 2 media types · 1 offsite/cloud</a:t>
            </a:r>
          </a:p>
          <a:p>
            <a:pPr lvl="1"/>
            <a:r>
              <a:rPr sz="1250" b="1">
                <a:solidFill>
                  <a:srgbClr val="0F6E56"/>
                </a:solidFill>
              </a:rPr>
              <a:t>3.  The purpose of patching is   →  ✅ to close known security holes attackers exploit</a:t>
            </a:r>
          </a:p>
          <a:p>
            <a:pPr lvl="1"/>
            <a:r>
              <a:rPr sz="1250" b="1">
                <a:solidFill>
                  <a:srgbClr val="0F6E56"/>
                </a:solidFill>
              </a:rPr>
              <a:t>4.  Running two real-time antiviruses at once   →  ✅ causes conflicts, no extra safety</a:t>
            </a:r>
          </a:p>
          <a:p>
            <a:pPr lvl="1"/>
            <a:r>
              <a:rPr sz="1250" b="1">
                <a:solidFill>
                  <a:srgbClr val="0F6E56"/>
                </a:solidFill>
              </a:rPr>
              <a:t>5.  A torch app wanting SMS + contacts is   →  ✅ over-broad / suspicious permissions</a:t>
            </a:r>
          </a:p>
          <a:p>
            <a:pPr lvl="1"/>
            <a:r>
              <a:rPr sz="1250" b="1">
                <a:solidFill>
                  <a:srgbClr val="0F6E56"/>
                </a:solidFill>
              </a:rPr>
              <a:t>6.  If a 'bank' caller asks for your OTP you should   →  ✅ refuse and hang up — banks never ask</a:t>
            </a:r>
          </a:p>
          <a:p>
            <a:pPr lvl="1"/>
            <a:r>
              <a:rPr sz="1250" b="1">
                <a:solidFill>
                  <a:srgbClr val="0F6E56"/>
                </a:solidFill>
              </a:rPr>
              <a:t>7.  The main IoT risk is   →  ✅ default passwords + no updates (enslaved by Mirai)</a:t>
            </a:r>
          </a:p>
          <a:p>
            <a:pPr lvl="1"/>
            <a:r>
              <a:rPr sz="1250" b="1">
                <a:solidFill>
                  <a:srgbClr val="0F6E56"/>
                </a:solidFill>
              </a:rPr>
              <a:t>8.  Before selling a phone you should   →  ✅ sign out, encrypt-then-wipe, remove SIM/SD</a:t>
            </a:r>
          </a:p>
          <a:p>
            <a:pPr lvl="1"/>
            <a:r>
              <a:rPr sz="1250" b="1">
                <a:solidFill>
                  <a:srgbClr val="0F6E56"/>
                </a:solidFill>
              </a:rPr>
              <a:t>9.  On public café Wi-Fi, best protection is   →  ✅ a trusted / company VPN</a:t>
            </a:r>
          </a:p>
          <a:p>
            <a:pPr lvl="1"/>
            <a:r>
              <a:rPr sz="1250" b="1">
                <a:solidFill>
                  <a:srgbClr val="0F6E56"/>
                </a:solidFill>
              </a:rPr>
              <a:t>10.  Reusing one leaked password enables   →  ✅ credential stuffing across accounts</a:t>
            </a:r>
          </a:p>
          <a:p>
            <a:pPr lvl="1"/>
            <a:r>
              <a:rPr sz="1250" b="1">
                <a:solidFill>
                  <a:srgbClr val="0F6E56"/>
                </a:solidFill>
              </a:rPr>
              <a:t>11.  The account to protect with MFA first is   →  ✅ your primary email (it resets the rest)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92</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12. Explain the 3-2-1 backup rule.   13. List 3 things to check when auditing a phone.   14. Why is a factory reset not always enough?</a:t>
            </a:r>
          </a:p>
          <a:p>
            <a:pPr lvl="1">
              <a:spcBef>
                <a:spcPts val="200"/>
              </a:spcBef>
            </a:pPr>
            <a:r>
              <a:rPr sz="1250" i="1">
                <a:solidFill>
                  <a:srgbClr val="1A1A1A"/>
                </a:solidFill>
              </a:rPr>
              <a:t>15. Name the MFA factor types from weakest to strongest.   16. What is credential stuffing?</a:t>
            </a:r>
          </a:p>
          <a:p>
            <a:pPr>
              <a:spcBef>
                <a:spcPts val="500"/>
              </a:spcBef>
            </a:pPr>
            <a:r>
              <a:rPr sz="1400" b="1">
                <a:solidFill>
                  <a:srgbClr val="0C2B4A"/>
                </a:solidFill>
              </a:rPr>
              <a:t>Section C — Applied case</a:t>
            </a:r>
          </a:p>
          <a:p>
            <a:pPr lvl="1">
              <a:spcBef>
                <a:spcPts val="200"/>
              </a:spcBef>
            </a:pPr>
            <a:r>
              <a:rPr sz="1250" i="1">
                <a:solidFill>
                  <a:srgbClr val="1A1A1A"/>
                </a:solidFill>
              </a:rPr>
              <a:t>17. A messy home setup: default router password, no backups, reused passwords, IoT on default logins — write a PRIORITISED hardening plan.</a:t>
            </a:r>
          </a:p>
          <a:p>
            <a:pPr lvl="1">
              <a:spcBef>
                <a:spcPts val="200"/>
              </a:spcBef>
            </a:pPr>
            <a:r>
              <a:rPr sz="1250" i="1">
                <a:solidFill>
                  <a:srgbClr val="1A1A1A"/>
                </a:solidFill>
              </a:rPr>
              <a:t>18. You get a 'from eSewa' call asking for an OTP plus an SMS link — identify the red flags and the correct response.</a:t>
            </a:r>
          </a:p>
          <a:p>
            <a:pPr>
              <a:spcBef>
                <a:spcPts val="500"/>
              </a:spcBef>
            </a:pPr>
            <a:r>
              <a:rPr sz="1400" b="1">
                <a:solidFill>
                  <a:srgbClr val="0C2B4A"/>
                </a:solidFill>
              </a:rPr>
              <a:t>Section D — Discussion</a:t>
            </a:r>
          </a:p>
          <a:p>
            <a:pPr lvl="1">
              <a:spcBef>
                <a:spcPts val="200"/>
              </a:spcBef>
            </a:pPr>
            <a:r>
              <a:rPr sz="1250" i="1">
                <a:solidFill>
                  <a:srgbClr val="1A1A1A"/>
                </a:solidFill>
              </a:rPr>
              <a:t>19. Are password managers safer or riskier than memorising passwords? Argue both sides, then take a position.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92</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6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S28–S32 complete: home-computer posture · mobile &amp; IoT · physical security · work-from-home · accounts &amp; passwords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 Next: Unit 7 — Social Engineering &amp; Cyber Terrorism.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92 / 92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