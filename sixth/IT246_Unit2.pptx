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sessions: workers (S6–S7), users (S8), privacy (S9), social media (S10).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[~5 min]: 2 scenarios — a vendor offers the IT manager a 'free' iPhone the week before a Rs 2-crore tender; a dev moonlights for a client's competitor. Ask 'has anyone broken a LAW?' (no) then 'does it feel WRONG?' (yes). That gap is the lesson. HOLD the gift/bribe question — resolve in Concept 4. Agenda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the definition on the board. Land the logic chain slowly — it's the session's spine. Global: a sysadmin reading executives' emails with root — the system LET them, only ethics should have stopped it. Transition: 'we have six arrows — follow each and ask what you owe the person at the other end.'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Access = power = responsibility. Each spoke carries a duty. The 'free iPhone' lives on the SUPPLIER spoke; moonlighting for a competitor lives on EMPLOYER.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Employer (~9 min): explain loyalty + honesty WITH why; name the 4 strain points (conflict of interest, resume fraud, license compliance, whistle-blowing). Mini case: boss says install pirated MS/AutoCAD — 'what do you do?' AND 'who is liable?' Tie to Unit 1 blind-obedience trap. Client (~8 min): the e-governance over-promise to a municipality — they lack expertise to catch under-delivery until it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Resolve the hook now. Gift-vs-bribe test: would it survive going public? timed around a decision? could it sway judgment? The iPhone fails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Makes the six-relationship web concrete and personal. Good seeds: support tech reading a user's private files 'to fix it'; analyst selling insights to a supplier.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APPLICATION [~3 min]: your first job hands you access + vendor contacts on day one; how you handle gifts/access/honesty in week one sets your reputation for years. SUMMARY [~2 min]: 6 relationships; privileged access creates duties; loyalty/honesty/no-conflict run through all. Next: how the profession encourages good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[~5 min]: a doctor swears an oath and can lose a license; an engineer signs off on a bridge. But anyone can call themselves an 'IT professional' tomorrow — there's usually no license to lose. Is IT really a profession? Should it be regulated like the others?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whole session's debate: does IT meet the bar of a 'profession'? Keep it open — resolved through codes/cert/licensing.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the 'avoid harm' case live — the code converts a vague feeling into a clear obligation to refuse or disclose.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line: certification proves SKILL (voluntary); licensing grants the RIGHT to practice (legal). In Nepal doctors/engineers are licensed; IT workers usually aren't — that's the S7 debate.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Lean on the comparison table: certification = voluntary proof of skill; licensing = legal right to practice. Nepali grads chase CCNA/CEH for outsourcing work — a cert signals competence, not character.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Primes the S7 discussion question. Good FOR points: safety-critical systems, accountability. AGAINST: IT changes too fast, stifles innovation, who sets the syllabus?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APPLICATION [~3 min]: employers/outsourcing clients want certs + adherence to a code — shapes hireability and pay. SUMMARY [~2 min]: IT = partial profession; codes guide, certs prove skill, licensing has legal force; bodies set standards. Next: keeping USERS ethical.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[~5 min]: one shared Wi-Fi password — someone torrents movies, another installs cracked Photoshop, a third runs a crypto miner on the server overnight. No outsider hacked anything. Whose problem is it? Users need rules, not just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 security as everyone's job, not just IT's. The insider risk is the thread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 the allowed/prohibited card next slide. Tell students they'll sign one of these on day one of any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job hands you an AUP on day one. Breaking it (piracy, misuse) is a common reason people are fired or sued. Use the shared-Wi-Fi hook to populate both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Piracy (~9 min): forms — counterfeiting, unlicensed installs, license violation; legal AND ethical harm. Inappropriate use (~5 min): the line-drawing case — is checking eSewa + a family message at work 'inappropriate'? Discuss reasonableness vs the AUP.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and fun. Watch for rules with no enforcement (a 'poster') — tie back to Unit 1's enforceability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APPLICATION [~3 min]: you'll sign an AUP on day one; breaking it (piracy/misuse) is a common reason people are fired or sued. SUMMARY [~2 min]: users cause most incidents; AUPs set the rules; piracy + inappropriate use are the big two. Next: the user's flip side — privacy.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[~5 min]: you fill a loan form, hand your number to a SIM dealer, scan a QR to enter a mall — a week later you're flooded with spam loan calls. Your data traveled somewhere. When did you consent?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 the 'locked door' rebuttal to 'nothing to hide': you lock your door not because you're doing wrong inside, but because it's yours to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Mini case: employer logs every keystroke + screenshot — ethical? Does telling staff in advance change your answer? See the data-trail diagram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spam-call hook IS this trail. 'I have nothing to hide' misses the point — privacy is about control at each hop, not hiding.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Anonymity (~8 min): same tool exposes corruption AND spreads rumors — Nepali examples both ways. Identity (~5 min): identity theft via phishing previews Unit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Makes the data-trail diagram personal. Connects consent + data minimization to their own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APPLICATION [~3 min]: you'll handle customer data; mishandling breaks Nepal's privacy law and destroys trust. SUMMARY [~2 min]: privacy = control; surveillance trades security for privacy; anonymity cuts both ways; identity is the new target. Next: where privacy &amp; harm collide — social media.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[~5 min]: a doctored celebrity screenshot goes viral before lunch; by evening a teen is mocked in a school group chat and a 'breaking news' rumor sparks panic. Nobody hacked a server — ordinary users did all of it. Social media weaponizes everyday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back to S5 of Unit 1 (scale/speed/permanence). The bystander effect sets up the cyberbullying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Bystander mini case: you stay silent while a group chat mocks a classmate — are you complicit? Nepal: disaster rumors, fake cures, election misinformation.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'shop X overcharges' vs 'shop X is a fraud' case maps onto criticism vs defamation. In Nepal defamation can trigger arrest under the ETA 2063 (Unit 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VERIFY ETA 2063 specifics against current law before teaching (active reform debate). Full law treatment is Unit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classify-4-posts task is the assessment skill. Close the unit on personal responsibility — the share button is an ethical 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APPLICATION [~3 min]: public posts are part of your professional reputation; in Nepal a defamatory/harassing post can lead to arrest under the ETA. SUMMARY [~2 min]: social media scales everyday acts; bullying/fake news/defamation are the core issues; verify before you share. Next unit: Intellectual Property.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MCQ + 5 short answer + 2 applied cases + 1 discussion. Full questions and answer key are in Unit2_material.md.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lines map to the most common exam questions. Full quiz + answer key in the markdown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88920"/>
            <a:ext cx="1463040" cy="91440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Unit 2 — Ethics for IT Workers and IT Users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CFDDEA"/>
                </a:solidFill>
              </a:rPr>
              <a:t>IT 246: IT Ethics and Cybersecurity  ·  BIM 6th Semester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AB2C6"/>
                </a:solidFill>
              </a:rPr>
              <a:t>5 lecture hours (S6–S10)  ·  50 min each  ·  Nepal / South Asia context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Unit 2 — 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By the end of this unit, you will be able to: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Identify the 6 IT-worker relationships and the ethical duty in each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Explain codes, certification, licensing, and professional organizations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Describe Acceptable Use Policies and user ethics issues (piracy, misuse)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Explain privacy, surveillance, anonymity, and identity issues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Reason about social-networking issues: bullying, fake news, defamation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6 · LECTURE HOUR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</a:rPr>
              <a:t>Managing the IT Worker Relationship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S6 · CONCEPT 1  [THEORY]  ·  ~8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Access = Power =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IT worker = designs/builds/maintains IT systems AND the data inside them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What makes them different: PRIVILEGED ACCESS — admin/root, personal data, source code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Logic chain: access is power, and power is responsibility — 'can' ≠ 'should'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Nepal: a bank IT staffer COULD view any balance — only trust &amp; ethics stop them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Misconception: 'IT is back-office, ethics is for managers.' Access IS power.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S6 · CONCEPT 1  · 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The IT Worker's Six Relationships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6035040" y="2080260"/>
            <a:ext cx="0" cy="1257300"/>
          </a:xfrm>
          <a:prstGeom prst="line">
            <a:avLst/>
          </a:prstGeom>
          <a:ln w="25400">
            <a:solidFill>
              <a:srgbClr val="C7C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2148839" y="2857500"/>
            <a:ext cx="3886201" cy="480060"/>
          </a:xfrm>
          <a:prstGeom prst="line">
            <a:avLst/>
          </a:prstGeom>
          <a:ln w="25400">
            <a:solidFill>
              <a:srgbClr val="C7C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6035040" y="2857500"/>
            <a:ext cx="3794760" cy="480060"/>
          </a:xfrm>
          <a:prstGeom prst="line">
            <a:avLst/>
          </a:prstGeom>
          <a:ln w="25400">
            <a:solidFill>
              <a:srgbClr val="C7C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148839" y="3337560"/>
            <a:ext cx="3886201" cy="1485899"/>
          </a:xfrm>
          <a:prstGeom prst="line">
            <a:avLst/>
          </a:prstGeom>
          <a:ln w="25400">
            <a:solidFill>
              <a:srgbClr val="C7C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35040" y="3337560"/>
            <a:ext cx="3794760" cy="1485899"/>
          </a:xfrm>
          <a:prstGeom prst="line">
            <a:avLst/>
          </a:prstGeom>
          <a:ln w="25400">
            <a:solidFill>
              <a:srgbClr val="C7C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35040" y="3337560"/>
            <a:ext cx="0" cy="2217420"/>
          </a:xfrm>
          <a:prstGeom prst="line">
            <a:avLst/>
          </a:prstGeom>
          <a:ln w="25400">
            <a:solidFill>
              <a:srgbClr val="C7C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983480" y="1691640"/>
            <a:ext cx="2103120" cy="777240"/>
          </a:xfrm>
          <a:prstGeom prst="round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FFFFFF"/>
                </a:solidFill>
              </a:rPr>
              <a:t>EMPLOYER</a:t>
            </a:r>
          </a:p>
          <a:p>
            <a:pPr algn="ctr"/>
            <a:r>
              <a:rPr sz="1250" b="1">
                <a:solidFill>
                  <a:srgbClr val="FFFFFF"/>
                </a:solidFill>
              </a:rPr>
              <a:t>loyalty · IP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2468880"/>
            <a:ext cx="2103120" cy="777240"/>
          </a:xfrm>
          <a:prstGeom prst="round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FFFFFF"/>
                </a:solidFill>
              </a:rPr>
              <a:t>SUPPLIER</a:t>
            </a:r>
          </a:p>
          <a:p>
            <a:pPr algn="ctr"/>
            <a:r>
              <a:rPr sz="1250" b="1">
                <a:solidFill>
                  <a:srgbClr val="FFFFFF"/>
                </a:solidFill>
              </a:rPr>
              <a:t>no bribery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2468880"/>
            <a:ext cx="2103120" cy="777240"/>
          </a:xfrm>
          <a:prstGeom prst="round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FFFFFF"/>
                </a:solidFill>
              </a:rPr>
              <a:t>CLIENT</a:t>
            </a:r>
          </a:p>
          <a:p>
            <a:pPr algn="ctr"/>
            <a:r>
              <a:rPr sz="1250" b="1">
                <a:solidFill>
                  <a:srgbClr val="FFFFFF"/>
                </a:solidFill>
              </a:rPr>
              <a:t>honest advice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4434840"/>
            <a:ext cx="2103120" cy="777240"/>
          </a:xfrm>
          <a:prstGeom prst="round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FFFFFF"/>
                </a:solidFill>
              </a:rPr>
              <a:t>PEERS</a:t>
            </a:r>
          </a:p>
          <a:p>
            <a:pPr algn="ctr"/>
            <a:r>
              <a:rPr sz="1250" b="1">
                <a:solidFill>
                  <a:srgbClr val="FFFFFF"/>
                </a:solidFill>
              </a:rPr>
              <a:t>respect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434840"/>
            <a:ext cx="2103120" cy="777240"/>
          </a:xfrm>
          <a:prstGeom prst="round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FFFFFF"/>
                </a:solidFill>
              </a:rPr>
              <a:t>SOCIETY</a:t>
            </a:r>
          </a:p>
          <a:p>
            <a:pPr algn="ctr"/>
            <a:r>
              <a:rPr sz="1250" b="1">
                <a:solidFill>
                  <a:srgbClr val="FFFFFF"/>
                </a:solidFill>
              </a:rPr>
              <a:t>safe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5166360"/>
            <a:ext cx="2103120" cy="777240"/>
          </a:xfrm>
          <a:prstGeom prst="roundRect">
            <a:avLst/>
          </a:prstGeom>
          <a:solidFill>
            <a:srgbClr val="993C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FFFFFF"/>
                </a:solidFill>
              </a:rPr>
              <a:t>IT USERS</a:t>
            </a:r>
          </a:p>
          <a:p>
            <a:pPr algn="ctr"/>
            <a:r>
              <a:rPr sz="1250" b="1">
                <a:solidFill>
                  <a:srgbClr val="FFFFFF"/>
                </a:solidFill>
              </a:rPr>
              <a:t>support, don't exploit</a:t>
            </a:r>
          </a:p>
        </p:txBody>
      </p:sp>
      <p:sp>
        <p:nvSpPr>
          <p:cNvPr id="17" name="Oval 16"/>
          <p:cNvSpPr/>
          <p:nvPr/>
        </p:nvSpPr>
        <p:spPr>
          <a:xfrm>
            <a:off x="4983480" y="2880360"/>
            <a:ext cx="2103120" cy="914400"/>
          </a:xfrm>
          <a:prstGeom prst="ellipse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IT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WORKER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S6 · CONCEPTS 2–3  [THEORY] [EXAMPLE]  ·  ~9 + ~8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Employer &amp;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EMPLOYER — duties of loyalty (protect assets/IP) and honesty (no resume fraud)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Strain points: conflicts of interest, resume fraud, license compliance, whistle-blowing tension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Nepal: copying client source code for a weekend gig = IP theft, betrays employer AND client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CLIENT — honest advice, deliver what's promised, disclose risks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Information asymmetry: the client can't judge technical quality — they rely on your honesty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Misconception: 'if the contract doesn't ban it, it's fine.' Duty goes beyond the contract.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S6 · CONCEPT 4  [THEORY]  ·  ~5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Suppliers · Peers · Users · Society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Suppliers: no bribery/kickbacks — the 'free iPhone' IS a bribe (resolve the hook here)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Peers: respect, no resume inflation, no poaching trade secrets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IT users: support &amp; train them; don't exploit their lack of skill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Society: build safe systems; don't enable harm (e.g. a system that leaks citizen data)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Analogy: an IT worker is a pharmacist — trusted with powerful 'medicine' (access/data)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S6 — 'Map your future job'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</a:rPr>
              <a:t>Think–Pair–Share (2 min pairs, 3 min sharing)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Each pair picks an IT role (developer, sysadmin, support, data analyst)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Name one realistic ethical risk on TWO of the six relationship arrows for that role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Share aloud; place each on the relationship web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S6 — Quick Check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Q1. A supplier's phone gift right before a tender is…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b) A conflict of interest / bribery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Q2. Honest technical advice is owed most directly to the…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c) Client</a:t>
            </a:r>
          </a:p>
          <a:p>
            <a:pPr lvl="1"/>
            <a:r>
              <a:rPr sz="1600">
                <a:solidFill>
                  <a:srgbClr val="1A1A1A"/>
                </a:solidFill>
              </a:rPr>
              <a:t>Discussion: which relationship is hardest for a junior IT worker in Nepal to manage honestly?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7 · LECTURE HOUR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</a:rPr>
              <a:t>Encouraging Professionalism of IT Workers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S7 · CONCEPT 1  [THEORY]  ·  ~7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Is IT a Profession?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Profession = specialized education + body of knowledge + code of ethics + self-regulation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IT partly qualifies (knowledge + codes) but lacks UNIVERSAL licensing — debated status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Nepal: doctors (NMC) &amp; engineers (NEC) are licensed; IT workers generally are not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Misconception: 'anyone who fixes computers is a professional.' Standards &amp; accountability &gt; skill.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S7 · CONCEPT 2  [THEORY] [EXAMPLE]  ·  ~8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Professional Codes of 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Code of ethics = published principles members commit to (ACM Code, IEEE-CS)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Codes set expectations, build public trust, guide decisions, and enable discipline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Nepal: a software firm adopting an ACM-style internal code; CAN community norms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Mini case: ACM 'avoid harm' — a dev asked to build a HIDDEN tracking feature; what does the code say?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S7 · CONCEPTS 3–4  · 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Certification vs Licensing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63040" y="1920240"/>
          <a:ext cx="92354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383280"/>
                <a:gridCol w="3383280"/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b="1" sz="1600">
                          <a:solidFill>
                            <a:srgbClr val="0C2B4A"/>
                          </a:solidFill>
                        </a:rPr>
                        <a:t/>
                      </a:r>
                    </a:p>
                  </a:txBody>
                  <a:tcPr anchor="ctr" marL="10972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Certification</a:t>
                      </a:r>
                    </a:p>
                  </a:txBody>
                  <a:tcPr anchor="ctr" marL="109728" marT="27432" marB="27432">
                    <a:solidFill>
                      <a:srgbClr val="185F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Licensing</a:t>
                      </a:r>
                    </a:p>
                  </a:txBody>
                  <a:tcPr anchor="ctr" marL="109728" marT="27432" marB="27432">
                    <a:solidFill>
                      <a:srgbClr val="0F6E5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Granted by</a:t>
                      </a:r>
                    </a:p>
                  </a:txBody>
                  <a:tcPr anchor="ctr" marL="109728" marT="27432" marB="27432">
                    <a:solidFill>
                      <a:srgbClr val="0C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A1A1A"/>
                          </a:solidFill>
                        </a:rPr>
                        <a:t>Vendor / industry body</a:t>
                      </a:r>
                    </a:p>
                  </a:txBody>
                  <a:tcPr anchor="ctr" marL="109728" marT="27432" marB="27432"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A1A1A"/>
                          </a:solidFill>
                        </a:rPr>
                        <a:t>Government</a:t>
                      </a:r>
                    </a:p>
                  </a:txBody>
                  <a:tcPr anchor="ctr" marL="109728" marT="27432" marB="27432">
                    <a:solidFill>
                      <a:srgbClr val="E1F5E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Legal force</a:t>
                      </a:r>
                    </a:p>
                  </a:txBody>
                  <a:tcPr anchor="ctr" marL="109728" marT="27432" marB="27432">
                    <a:solidFill>
                      <a:srgbClr val="0C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A1A1A"/>
                          </a:solidFill>
                        </a:rPr>
                        <a:t>None (voluntary)</a:t>
                      </a:r>
                    </a:p>
                  </a:txBody>
                  <a:tcPr anchor="ctr" marL="109728" marT="27432" marB="27432"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A1A1A"/>
                          </a:solidFill>
                        </a:rPr>
                        <a:t>Yes — legally required</a:t>
                      </a:r>
                    </a:p>
                  </a:txBody>
                  <a:tcPr anchor="ctr" marL="109728" marT="27432" marB="27432">
                    <a:solidFill>
                      <a:srgbClr val="E1F5E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Proves</a:t>
                      </a:r>
                    </a:p>
                  </a:txBody>
                  <a:tcPr anchor="ctr" marL="109728" marT="27432" marB="27432">
                    <a:solidFill>
                      <a:srgbClr val="0C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A1A1A"/>
                          </a:solidFill>
                        </a:rPr>
                        <a:t>A specific skill</a:t>
                      </a:r>
                    </a:p>
                  </a:txBody>
                  <a:tcPr anchor="ctr" marL="109728" marT="27432" marB="27432"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A1A1A"/>
                          </a:solidFill>
                        </a:rPr>
                        <a:t>Right to practice</a:t>
                      </a:r>
                    </a:p>
                  </a:txBody>
                  <a:tcPr anchor="ctr" marL="109728" marT="27432" marB="27432">
                    <a:solidFill>
                      <a:srgbClr val="E1F5E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anchor="ctr" marL="109728" marT="27432" marB="27432">
                    <a:solidFill>
                      <a:srgbClr val="0C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A1A1A"/>
                          </a:solidFill>
                        </a:rPr>
                        <a:t>CCNA, CISSP, AWS</a:t>
                      </a:r>
                    </a:p>
                  </a:txBody>
                  <a:tcPr anchor="ctr" marL="109728" marT="27432" marB="27432"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A1A1A"/>
                          </a:solidFill>
                        </a:rPr>
                        <a:t>NMC (doctors), NEC (engineers)</a:t>
                      </a:r>
                    </a:p>
                  </a:txBody>
                  <a:tcPr anchor="ctr" marL="109728" marT="27432" marB="27432">
                    <a:solidFill>
                      <a:srgbClr val="E1F5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S7 · CONCEPTS 3–5  [THEORY]  ·  ~9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Certification · Licensing · Professional Bodies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Certification = vendor/industry proof of a SKILL (CCNA, CISSP, AWS); voluntary; not a license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Misconception: 'certification = ethical behavior.' It proves skill, NOT integrity.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Licensing = government permission with LEGAL force; protects the public (US 'PE-Software' debate)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Professional bodies set standards, run certs, publish codes: ACM, IEEE-CS, ISACA, CAN-Nepal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Analogy: a code of ethics is the 'terms of service' you accept to be trusted as a pro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S7 — 'License IT? — quick debate'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</a:rPr>
              <a:t>Split the room: half argue FOR licensing IT workers in Nepal, half AGAINST (2 min prep)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Take 2 points from each side (3 min)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Surface the trade-off: public safety vs innovation/cost/who-decides-the-standard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S7 — Quick Check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Q1. A government-granted, legally enforced permission to practice is…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b) A license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Q2. ACM and IEEE-CS are examples of…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c) Professional organizations (with codes of ethics)</a:t>
            </a:r>
          </a:p>
          <a:p>
            <a:pPr lvl="1"/>
            <a:r>
              <a:rPr sz="1600">
                <a:solidFill>
                  <a:srgbClr val="1A1A1A"/>
                </a:solidFill>
              </a:rPr>
              <a:t>Discussion: should IT workers in Nepal be licensed like engineers and doctors?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8 · LECTURE HOUR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</a:rPr>
              <a:t>Ethical Use of IT Resources among Users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S8 · CONCEPT 1  [THEORY]  ·  ~8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IT Users &amp; the Insider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IT user = anyone using the org's IT resources (staff, students, customers)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Most security &amp; ethics incidents start with ordinary USERS, not hackers — the insider risk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Nepal: a college lab where students install games/cracked software on shared PCs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Misconception: 'only the IT dept is responsible for misuse.' Every user shares responsibility.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S8 · CONCEPT 2  [THEORY] [EXAMPLE]  ·  ~8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Acceptable Use Policy (AUP)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AUP = a document of what users MAY and MAY NOT do with the org's IT resources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Defines: permitted use, prohibited use, monitoring, and consequences — users sign/acknowledge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Nepal: NTC/Ncell staff AUP bans personal USBs &amp; unlicensed software; a university IT policy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S8 · CONCEPT 2  · 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Acceptable Use Policy — Allowed vs Prohibited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5120640" cy="640080"/>
          </a:xfrm>
          <a:prstGeom prst="round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✔  ALLOWED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965960"/>
            <a:ext cx="5120640" cy="640080"/>
          </a:xfrm>
          <a:prstGeom prst="roundRect">
            <a:avLst/>
          </a:prstGeom>
          <a:solidFill>
            <a:srgbClr val="993C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✘  PROHIBITED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A1A1A"/>
                </a:solidFill>
              </a:rPr>
              <a:t>•  Work tasks &amp; approved software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1A"/>
                </a:solidFill>
              </a:rPr>
              <a:t>•  Reasonable, brief personal use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1A"/>
                </a:solidFill>
              </a:rPr>
              <a:t>•  Reporting security issues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1A"/>
                </a:solidFill>
              </a:rPr>
              <a:t>•  Using your own credentials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78892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A1A1A"/>
                </a:solidFill>
              </a:rPr>
              <a:t>•  Pirated / cracked software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1A"/>
                </a:solidFill>
              </a:rPr>
              <a:t>•  Torrenting, crypto-mining, gaming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1A"/>
                </a:solidFill>
              </a:rPr>
              <a:t>•  Sharing passwords / USB drives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1A"/>
                </a:solidFill>
              </a:rPr>
              <a:t>•  Personal side-business on company email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S8 · CONCEPTS 3–4  [THEORY] [EXAMPLE]  ·  ~9 + ~5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Software Piracy · Inappropriate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Piracy = copying/installing/distributing software without a valid license (→ Unit 3 IP)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Nepal: high piracy rates; offices on cracked Windows/Office; 'everyone does it' normalization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Misconception: 'it's only piracy if I sell it.' Using an unlicensed copy is ALREADY a violation.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Analogy: cracked software = sneaking into a movie hall — cheaper today, never entitled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Inappropriate use = org resources for unauthorized/personal/harmful purposes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S8 — 'Draft the lab AUP'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</a:rPr>
              <a:t>In pairs (2 min), then collect aloud (3 min)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Write 3 rules you'd put in YOUR college lab's Acceptable Use Policy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For each: state the rule, why it exists, and the consequence for breaking it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S8 — Quick Check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Q1. The document defining permitted/prohibited IT use is the…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b) Acceptable Use Policy (AUP)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Q2. Installing a cracked Office copy for work (not selling) is…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b) Software piracy</a:t>
            </a:r>
          </a:p>
          <a:p>
            <a:pPr lvl="1"/>
            <a:r>
              <a:rPr sz="1600">
                <a:solidFill>
                  <a:srgbClr val="1A1A1A"/>
                </a:solidFill>
              </a:rPr>
              <a:t>Discussion: is piracy in Nepal mainly an ethics, affordability, or enforcement problem?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9 · LECTURE HOUR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</a:rPr>
              <a:t>Key Privacy and Anonymity Issues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S9 · CONCEPT 1  [THEORY] [EXAMPLE]  ·  ~9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Data Privacy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Data privacy = your right to CONTROL how personal data is collected, used, shared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Principles: consent, purpose limitation, data minimization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Nepal: KYC data at banks/telecoms; Individual Privacy Act 2075 (2018); citizen-data leaks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Misconception: 'nothing to hide, so privacy doesn't matter.' Privacy = control &amp; power, not hiding.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S9 · CONCEPT 2  [THEORY]  ·  ~8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Surveillance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Surveillance = systematic monitoring of activities, communications, or location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Forms: workplace monitoring, CCTV, government surveillance, app/location tracking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Core tension: security vs privacy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Nepal: rising CCTV in Kathmandu; employer email/screen monitoring; SIM/biometric registration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S9 · CONCEPT 1  · 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Your Data Trail — where consent disappears</a:t>
            </a:r>
          </a:p>
        </p:txBody>
      </p:sp>
      <p:sp>
        <p:nvSpPr>
          <p:cNvPr id="5" name="Pentagon 4"/>
          <p:cNvSpPr/>
          <p:nvPr/>
        </p:nvSpPr>
        <p:spPr>
          <a:xfrm>
            <a:off x="719175" y="2743200"/>
            <a:ext cx="2606040" cy="1463040"/>
          </a:xfrm>
          <a:prstGeom prst="homePlate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FFFFFF"/>
                </a:solidFill>
              </a:rPr>
              <a:t>YOU</a:t>
            </a:r>
          </a:p>
          <a:p>
            <a:pPr algn="ctr"/>
            <a:r>
              <a:rPr sz="1350" b="1">
                <a:solidFill>
                  <a:srgbClr val="FFFFFF"/>
                </a:solidFill>
              </a:rPr>
              <a:t>your personal data</a:t>
            </a:r>
          </a:p>
        </p:txBody>
      </p:sp>
      <p:sp>
        <p:nvSpPr>
          <p:cNvPr id="6" name="Pentagon 5"/>
          <p:cNvSpPr/>
          <p:nvPr/>
        </p:nvSpPr>
        <p:spPr>
          <a:xfrm>
            <a:off x="3434943" y="2743200"/>
            <a:ext cx="2606040" cy="1463040"/>
          </a:xfrm>
          <a:prstGeom prst="homePlate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FFFFFF"/>
                </a:solidFill>
              </a:rPr>
              <a:t>Loan form · SIM ·</a:t>
            </a:r>
          </a:p>
          <a:p>
            <a:pPr algn="ctr"/>
            <a:r>
              <a:rPr sz="1350" b="1">
                <a:solidFill>
                  <a:srgbClr val="FFFFFF"/>
                </a:solidFill>
              </a:rPr>
              <a:t>QR · KYC</a:t>
            </a:r>
          </a:p>
        </p:txBody>
      </p:sp>
      <p:sp>
        <p:nvSpPr>
          <p:cNvPr id="7" name="Pentagon 6"/>
          <p:cNvSpPr/>
          <p:nvPr/>
        </p:nvSpPr>
        <p:spPr>
          <a:xfrm>
            <a:off x="6150711" y="2743200"/>
            <a:ext cx="2606040" cy="1463040"/>
          </a:xfrm>
          <a:prstGeom prst="homePlate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FFFFFF"/>
                </a:solidFill>
              </a:rPr>
              <a:t>Company</a:t>
            </a:r>
          </a:p>
          <a:p>
            <a:pPr algn="ctr"/>
            <a:r>
              <a:rPr sz="1350" b="1">
                <a:solidFill>
                  <a:srgbClr val="FFFFFF"/>
                </a:solidFill>
              </a:rPr>
              <a:t>collects &amp; stores</a:t>
            </a:r>
          </a:p>
        </p:txBody>
      </p:sp>
      <p:sp>
        <p:nvSpPr>
          <p:cNvPr id="8" name="Pentagon 7"/>
          <p:cNvSpPr/>
          <p:nvPr/>
        </p:nvSpPr>
        <p:spPr>
          <a:xfrm>
            <a:off x="8866479" y="2743200"/>
            <a:ext cx="2606040" cy="1463040"/>
          </a:xfrm>
          <a:prstGeom prst="homePlate">
            <a:avLst/>
          </a:prstGeom>
          <a:solidFill>
            <a:srgbClr val="993C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FFFFFF"/>
                </a:solidFill>
              </a:rPr>
              <a:t>Third parties</a:t>
            </a:r>
          </a:p>
          <a:p>
            <a:pPr algn="ctr"/>
            <a:r>
              <a:rPr sz="1350" b="1">
                <a:solidFill>
                  <a:srgbClr val="FFFFFF"/>
                </a:solidFill>
              </a:rPr>
              <a:t>spam · profiling · resale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606B"/>
                </a:solidFill>
              </a:rPr>
              <a:t>At each hop you lose control. Data minimization + consent are the brakes. (Nepal: Individual Privacy Act 2075.)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S9 · CONCEPTS 3–4  [THEORY] [EXAMPLE]  ·  ~8 + ~5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Anonymity · Identity &amp; Identity Theft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Anonymity = acting without revealing identity — a DOUBLE-EDGED tool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Protects whistle-blowers/activists; shields trolls/scammers/criminals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Misconception: 'I'm completely anonymous online.' IP logs/metadata/fingerprints leave a trail.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Identity = the data representing you (citizenship no., eSewa/bank logins, biometrics)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Nepal: fake FB profiles of public figures; phishing SMS posing as eSewa/bank to steal OTPs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Analogy: your data is a house key — easy to copy, noticed only once someone's inside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S9 — 'Audit your data trail'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</a:rPr>
              <a:t>In pairs (2 min), then share (3 min)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List 3 places this WEEK you handed over personal data (form, app, QR, SIM, KYC)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For each: did you give real consent? did they collect more than needed? where might it go?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S9 — Quick Check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Q1. 'Collect only the data you need' is the principle of…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b) Data minimization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Q2. Online anonymity is best described as…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c) A double-edged tool</a:t>
            </a:r>
          </a:p>
          <a:p>
            <a:pPr lvl="1"/>
            <a:r>
              <a:rPr sz="1600">
                <a:solidFill>
                  <a:srgbClr val="1A1A1A"/>
                </a:solidFill>
              </a:rPr>
              <a:t>Discussion: should the government require real-name registration to post on social media?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10 · LECTURE HOUR 5 — CLOSES UNIT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</a:rPr>
              <a:t>Social Networking Ethical Issues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S10 · CONCEPT 1  [THEORY]  ·  ~8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Why Social Networking is an Ethics Hotspot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Social networking = platforms to create, share, connect (FB, TikTok, Instagram, X, YouTube)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Scale + speed + anonymity + virality turn small acts into LARGE harm; online bystander effect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Nepal: very high FB/TikTok usage; viral content shaping opinion and elections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Misconception: 'it's just online, it isn't real.' Real legal, social &amp; psychological harm.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S10 · CONCEPTS 2–3  [THEORY] [EXAMPLE]  ·  ~8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Cyberbullying · Fake News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Cyberbullying/harassment: trolling, doxxing, group pile-ons, gendered harassment; mental-health harm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Nepal: harassment of women/public figures in comment sections; school group-chat bullying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Misinformation (careless) vs disinformation (deliberate); algorithms reward outrage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Misconception: 'sharing isn't creating, so I'm not responsible.' Forwarding spreads the harm.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Analogy: a lie online travels like a forwarded festival greeting — impossible to recall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S10 · CONCEPT 4  · 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Opinion → Criticism → Harassment → Defamation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735" y="2651760"/>
            <a:ext cx="2651760" cy="1554480"/>
          </a:xfrm>
          <a:prstGeom prst="round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OPINION</a:t>
            </a:r>
          </a:p>
          <a:p>
            <a:pPr algn="ctr"/>
            <a:r>
              <a:rPr sz="1250">
                <a:solidFill>
                  <a:srgbClr val="FFFFFF"/>
                </a:solidFill>
              </a:rPr>
              <a:t>'I didn't enjoy it'
low risk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42919" y="3300984"/>
            <a:ext cx="128015" cy="256032"/>
          </a:xfrm>
          <a:prstGeom prst="rightArrow">
            <a:avLst/>
          </a:prstGeom>
          <a:solidFill>
            <a:srgbClr val="C7C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9223" y="2651760"/>
            <a:ext cx="2651760" cy="1554480"/>
          </a:xfrm>
          <a:prstGeom prst="round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CRITICISM</a:t>
            </a:r>
          </a:p>
          <a:p>
            <a:pPr algn="ctr"/>
            <a:r>
              <a:rPr sz="1250">
                <a:solidFill>
                  <a:srgbClr val="FFFFFF"/>
                </a:solidFill>
              </a:rPr>
              <a:t>'Service is slow
&amp; overpriced'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04407" y="3300984"/>
            <a:ext cx="128015" cy="256032"/>
          </a:xfrm>
          <a:prstGeom prst="rightArrow">
            <a:avLst/>
          </a:prstGeom>
          <a:solidFill>
            <a:srgbClr val="C7C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50711" y="2651760"/>
            <a:ext cx="2651760" cy="1554480"/>
          </a:xfrm>
          <a:prstGeom prst="round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HARASSMENT</a:t>
            </a:r>
          </a:p>
          <a:p>
            <a:pPr algn="ctr"/>
            <a:r>
              <a:rPr sz="1250">
                <a:solidFill>
                  <a:srgbClr val="FFFFFF"/>
                </a:solidFill>
              </a:rPr>
              <a:t>repeated targeting
of a person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65895" y="3300984"/>
            <a:ext cx="128015" cy="256032"/>
          </a:xfrm>
          <a:prstGeom prst="rightArrow">
            <a:avLst/>
          </a:prstGeom>
          <a:solidFill>
            <a:srgbClr val="C7C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12199" y="2651760"/>
            <a:ext cx="2651760" cy="1554480"/>
          </a:xfrm>
          <a:prstGeom prst="roundRect">
            <a:avLst/>
          </a:prstGeom>
          <a:solidFill>
            <a:srgbClr val="993C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DEFAMATION</a:t>
            </a:r>
          </a:p>
          <a:p>
            <a:pPr algn="ctr"/>
            <a:r>
              <a:rPr sz="1250">
                <a:solidFill>
                  <a:srgbClr val="FFFFFF"/>
                </a:solidFill>
              </a:rPr>
              <a:t>false claim of fact
that harms — ETA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606B"/>
                </a:solidFill>
              </a:rPr>
              <a:t>Legal &amp; ethical risk rises left → right. Opinion/criticism are protected; defamation is a false statement of FACT.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S10 · CONCEPT 4  [THEORY] [EXAMPLE]  ·  ~5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Defamation &amp; Reputation Harm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Defamation = a false statement of FACT, presented as true, that damages reputation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Opinion/criticism ≠ defamation — the line is fact vs opinion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Nepal: arrests under the ETA 2063 for defamatory FB posts; free-speech-vs-misuse debate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Case: 'shop X overcharges' (opinion) vs 'shop X is a fraud that steals' (defamation)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S10 — 'Verify before you share'  ·  ~6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</a:rPr>
              <a:t>In pairs (2 min), then share (4 min)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Build a 2-step check you'd run before sharing a shocking post (source? evidence? reverse-image?)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Apply it to a recent Nepali viral rumor — would your check have stopped it?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Then classify 4 sample posts: opinion / criticism / harassment / defamation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S10 — Quick Check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Q1. Deliberately spreading false info to mislead is…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b) Disinformation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Q2. A false factual statement that damages reputation is…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c) Defamation</a:t>
            </a:r>
          </a:p>
          <a:p>
            <a:pPr lvl="1"/>
            <a:r>
              <a:rPr sz="1600">
                <a:solidFill>
                  <a:srgbClr val="1A1A1A"/>
                </a:solidFill>
              </a:rPr>
              <a:t>Discussion: 2 checks to do before sharing a shocking post — would they stop a recent Nepali rumor?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</a:rPr>
              <a:t>Unit 2 — End-of-Unit Quiz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UNIT 2 ·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Exam pointers — what to master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The 6 IT-worker relationships + one ethical risk each; gift vs bribe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Certification vs licensing (granted by / legal force / proves what)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What an AUP contains; software piracy (using unlicensed = violation)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Privacy = control; data minimization; anonymity as double-edged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Misinformation vs disinformation vs defamation; opinion ≠ defamation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88920"/>
            <a:ext cx="1463040" cy="91440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End of Unit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CFDDEA"/>
                </a:solidFill>
              </a:rPr>
              <a:t>Next: Unit 3 — Intellectual Property (copyright, patent, trade secret, trademark)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AB2C6"/>
                </a:solidFill>
              </a:rPr>
              <a:t>Generated for IT 246 · diagrams are native shapes (editable) · speaker notes in each slide's Notes pane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