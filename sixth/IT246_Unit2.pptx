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Run the two votes ('broken a law?' vs 'feels wrong?'); DON'T resolve the iPhone — hold it until Concept 4. Agenda: why IT workers face special pressure → employer → client → suppliers/peers/users/society.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Keep the six-arrow web on screen all session. The gap between 'can' and 'should' is exactly where IT-worker ethics lives.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If a student says 'the boss told me to', connect to Unit 1's blind-obedience trap — obedience does not erase personal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Land 'information asymmetry' slowly — it's why a professional duty exists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Resolve the iPhone here. Deliver the pharmacist analogy: trusted with powerful 'medicine' that heals or harms depending on whose hand holds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Expect 'employer vs society' (pressure to install pirated software) and 'supplier' (festival gifts blur the bribe 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Take a show of hands on the two driving questions: is IT really a profession? Should it be regulated like medicine? Keep 'should IT be licensed?' alive as a thread to the CFU debate. Agenda: is IT a profession? → codes → certification → licensing → bodies.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Professionalism is about standards and accountability, not just skill. A brilliant coder who hides bugs is skilled, not professional.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Connect to S6: this is the employer-vs-society tension again, now with a code to lean on — 'the code gives you language to say no professionally.'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 Nepali IT grads pursue CCNA/CEH to get a CV past a foreign client's first filter. Certification proves skill, not integrity.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Note the US 'Professional Engineer — Software' licence was created, then largely discontinued for lack of demand — shows how unsettled this is even in mature markets.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Reward the TRADE-OFF: for = safety-critical accountability; against = slows a fast field, raises barriers, hard to enforce across borders.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Frame it as an ethics + responsibility problem FIRST (security units 5–8 come later). Agenda: who is a 'user' → Acceptable Use Policy → software piracy → inappropriate 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Resist calling it 'a security problem' — it's an ethics/responsibility problem first. The lab example: 100% insider damage, every student who installed something contributed.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Reward rules that name a CONSEQUENCE — students forget that an unenforced rule is just a suggestion (echoes Unit 1: enforcement beats the document).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High piracy rates across Nepal/South Asia; offices on cracked Windows/Office. Make the dual-harm point: the wrong isn't profiting, it's using value you never paid for.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Most real cases are about degree and impact, which is exactly why the AUP exists to draw the line before the situation arises.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Reward 'all three interacting': affordability tempts, weak enforcement removes deterrence, 'everyone does it' erodes ethics (Unit 1's situational view).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Keep it personal — every student has had an unexplained spam call. Agenda: data privacy → surveillance → online anonymity → identity &amp; identity theft.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KYC data is among Nepal's richest datasets. Nepal's Individual Privacy Act 2075 (2018) recognises a legal right to privacy; reported leaks show the gap between law and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Rising CCTV in Kathmandu; employer email/screen monitoring; SIM/biometric registration. Ask if each trade is proportionate.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Anonymous Nepali pages exposing corruption vs anonymous pages spreading rumours — same tool, opposite uses, which is why it's hard to regulate.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Fake Facebook profiles impersonating public figures (reputation + fraud harm); phishing SMS posing as eSewa/bank to steal an OTP — the attack ordinary Nepalis actually face.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Force the trade-off: for = less trolling/fake accounts; against = silences whistle-blowers, builds a dangerous ID database, easily evaded by real criminals.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This session ties Unit 1 (scale/speed/permanence) and S9 (privacy/anonymity) into recognisable Nepali events. Agenda: why it's an ethics hotspot → cyberbullying/harassment → fake news → defamation.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Nepal's very high Facebook/TikTok usage, where viral content shapes public opinion and elections. The harm grows in the silence of the bystanders.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Harassment of Nepali women and public figures in comment sections; ordinary school group-chat bullying — the same dynamic at national and classroom scale.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False earthquake/disaster rumours that trigger panic, fake health cures, election misinformation — each a careless share doing real damage.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VERIFY current cyber-law before teaching specifics — ETA 2063 is older and the landscape is evolving. Present 'arrests for Facebook posts' as illustrating the debate, not settled current law.</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[~6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Expect 'check the source' and 'check a reputable outlet'. Push them to add 'does it just trigger emotion?' and apply it to a concrete recent rumour.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Unit2_material.md. Q19: (a)=opinion, (b)=criticism, (c)=defamation, (d)=harassment.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2 — Ethics for IT Workers &amp; IT Users</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S6–S10</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 / IT localised) — no abstraction without instances.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WORKERS &amp; USERS  ·  S6–S10</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2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Identify the six relationships an IT worker manages and the ethical duty in each (S6)</a:t>
            </a:r>
          </a:p>
          <a:p>
            <a:pPr>
              <a:spcAft>
                <a:spcPts val="500"/>
              </a:spcAft>
            </a:pPr>
            <a:r>
              <a:rPr sz="1450">
                <a:solidFill>
                  <a:srgbClr val="1A1A1A"/>
                </a:solidFill>
              </a:rPr>
              <a:t>•  Explain how codes, certification, licensing &amp; professional bodies encourage professionalism (S7)</a:t>
            </a:r>
          </a:p>
          <a:p>
            <a:pPr>
              <a:spcAft>
                <a:spcPts val="500"/>
              </a:spcAft>
            </a:pPr>
            <a:r>
              <a:rPr sz="1450">
                <a:solidFill>
                  <a:srgbClr val="1A1A1A"/>
                </a:solidFill>
              </a:rPr>
              <a:t>•  Describe acceptable use policies and the main IT-use issues — piracy, inappropriate use (S8)</a:t>
            </a:r>
          </a:p>
          <a:p>
            <a:pPr>
              <a:spcAft>
                <a:spcPts val="500"/>
              </a:spcAft>
            </a:pPr>
            <a:r>
              <a:rPr sz="1450">
                <a:solidFill>
                  <a:srgbClr val="1A1A1A"/>
                </a:solidFill>
              </a:rPr>
              <a:t>•  Explain key privacy, surveillance, and anonymity/identity issues in IT (S9)</a:t>
            </a:r>
          </a:p>
          <a:p>
            <a:pPr>
              <a:spcAft>
                <a:spcPts val="500"/>
              </a:spcAft>
            </a:pPr>
            <a:r>
              <a:rPr sz="1450">
                <a:solidFill>
                  <a:srgbClr val="1A1A1A"/>
                </a:solidFill>
              </a:rPr>
              <a:t>•  Recognise and reason about social-networking harms — cyberbullying, fake news, defamation (S10)</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2 of IT 246. It applies Unit 1's reasoning (legal≠ethical, can-vs-should, decision traps) to the working IT professional and the everyday IT user.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2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(S6–S10)</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S6   The IT-worker relationship web (6 duties)
S7   Professionalism: codes · certs · licensing · bodies
S8   Ethical IT use: AUP · piracy · inappropriate use
S9   Privacy · surveillance · anonymity · identity
S10  Social-networking harms (closes Unit 2)</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3   Intellectual property (copyright, patents…)
Unit 4   Whistle-blowing &amp; professional dilemmas
Units 5–8   Cybersecurity &amp; digital forensics
Unit 9   Cyber law in Nepal (ETA, Privacy Act)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6 · LECTURE HOUR 1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Managing the IT Worker Relationship</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vendor offers the bank's IT manager a 'free' iPhone the week before a Rs 2-crore tender. A developer quietly moonlights for a client's competitor on weekends. Nobody broke a law yet — so why does it already feel wrong? Because an IT worker doesn't serve one boss; they juggle many relationships that pull on their loyalty at once.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IT Workers Face Special Pressure — access = power = responsibility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An IT worker designs, builds, maintains, or manages IT systems and the data inside them. What makes them ethically different is privileged access: a clerk sees their own desk; a database admin can see everyone's records. Access is power, and power is responsibility.</a:t>
            </a:r>
          </a:p>
          <a:p>
            <a:pPr>
              <a:spcAft>
                <a:spcPts val="500"/>
              </a:spcAft>
            </a:pPr>
            <a:r>
              <a:rPr sz="1200" b="1">
                <a:solidFill>
                  <a:srgbClr val="185FA5"/>
                </a:solidFill>
              </a:rPr>
              <a:t>HOW IT WORKS</a:t>
            </a:r>
          </a:p>
          <a:p>
            <a:pPr>
              <a:spcAft>
                <a:spcPts val="600"/>
              </a:spcAft>
            </a:pPr>
            <a:r>
              <a:rPr sz="1400">
                <a:solidFill>
                  <a:srgbClr val="1A1A1A"/>
                </a:solidFill>
              </a:rPr>
              <a:t>•  A developer holds the source code; a sysadmin holds root/admin rights; support can read your files 'to fix it'.</a:t>
            </a:r>
          </a:p>
          <a:p>
            <a:pPr>
              <a:spcAft>
                <a:spcPts val="600"/>
              </a:spcAft>
            </a:pPr>
            <a:r>
              <a:rPr sz="1400">
                <a:solidFill>
                  <a:srgbClr val="1A1A1A"/>
                </a:solidFill>
              </a:rPr>
              <a:t>•  Being technically able to read a balance or reset a password does NOT make it right to do so.</a:t>
            </a:r>
          </a:p>
          <a:p>
            <a:pPr>
              <a:spcAft>
                <a:spcPts val="600"/>
              </a:spcAft>
            </a:pPr>
            <a:r>
              <a:rPr sz="1400">
                <a:solidFill>
                  <a:srgbClr val="1A1A1A"/>
                </a:solidFill>
              </a:rPr>
              <a:t>•  Every relationship therefore comes with a built-in duty of care — a duty not to abuse the trust access represents.</a:t>
            </a:r>
          </a:p>
          <a:p>
            <a:pPr>
              <a:spcAft>
                <a:spcPts val="600"/>
              </a:spcAft>
            </a:pPr>
            <a:r>
              <a:rPr sz="1400">
                <a:solidFill>
                  <a:srgbClr val="1A1A1A"/>
                </a:solidFill>
              </a:rPr>
              <a:t>•  This is Unit 1's 'can vs should', now with real power behind the 'can'.</a:t>
            </a:r>
          </a:p>
        </p:txBody>
      </p:sp>
      <p:pic>
        <p:nvPicPr>
          <p:cNvPr id="6" name="Picture 5" descr="s6_web.png"/>
          <p:cNvPicPr>
            <a:picLocks noChangeAspect="1"/>
          </p:cNvPicPr>
          <p:nvPr/>
        </p:nvPicPr>
        <p:blipFill>
          <a:blip r:embed="rId2"/>
          <a:stretch>
            <a:fillRect/>
          </a:stretch>
        </p:blipFill>
        <p:spPr>
          <a:xfrm>
            <a:off x="6355080" y="2231775"/>
            <a:ext cx="5532120" cy="317168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Access is power; power is responsibility — 'can' is not 'should'.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Privileged access — what each role CAN do, and the duty it creates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671948"/>
                <a:gridCol w="4304805"/>
                <a:gridCol w="4453246"/>
              </a:tblGrid>
              <a:tr h="630936">
                <a:tc>
                  <a:txBody>
                    <a:bodyPr wrap="square"/>
                    <a:lstStyle/>
                    <a:p>
                      <a:r>
                        <a:rPr sz="1150" b="1">
                          <a:solidFill>
                            <a:srgbClr val="FFFFFF"/>
                          </a:solidFill>
                        </a:rPr>
                        <a:t>IT role</a:t>
                      </a:r>
                    </a:p>
                  </a:txBody>
                  <a:tcPr anchor="ctr" marL="73152" marR="54864" marT="27432" marB="27432">
                    <a:solidFill>
                      <a:srgbClr val="0C2B4A"/>
                    </a:solidFill>
                  </a:tcPr>
                </a:tc>
                <a:tc>
                  <a:txBody>
                    <a:bodyPr wrap="square"/>
                    <a:lstStyle/>
                    <a:p>
                      <a:r>
                        <a:rPr sz="1150" b="1">
                          <a:solidFill>
                            <a:srgbClr val="FFFFFF"/>
                          </a:solidFill>
                        </a:rPr>
                        <a:t>What they can technically do</a:t>
                      </a:r>
                    </a:p>
                  </a:txBody>
                  <a:tcPr anchor="ctr" marL="73152" marR="54864" marT="27432" marB="27432">
                    <a:solidFill>
                      <a:srgbClr val="0C2B4A"/>
                    </a:solidFill>
                  </a:tcPr>
                </a:tc>
                <a:tc>
                  <a:txBody>
                    <a:bodyPr wrap="square"/>
                    <a:lstStyle/>
                    <a:p>
                      <a:r>
                        <a:rPr sz="1150" b="1">
                          <a:solidFill>
                            <a:srgbClr val="FFFFFF"/>
                          </a:solidFill>
                        </a:rPr>
                        <a:t>The duty their access creates</a:t>
                      </a:r>
                    </a:p>
                  </a:txBody>
                  <a:tcPr anchor="ctr" marL="73152" marR="54864" marT="27432" marB="27432">
                    <a:solidFill>
                      <a:srgbClr val="0C2B4A"/>
                    </a:solidFill>
                  </a:tcPr>
                </a:tc>
              </a:tr>
              <a:tr h="630936">
                <a:tc>
                  <a:txBody>
                    <a:bodyPr wrap="square"/>
                    <a:lstStyle/>
                    <a:p>
                      <a:r>
                        <a:rPr sz="1100" b="1">
                          <a:solidFill>
                            <a:srgbClr val="0C2B4A"/>
                          </a:solidFill>
                        </a:rPr>
                        <a:t>Database administrator</a:t>
                      </a:r>
                    </a:p>
                  </a:txBody>
                  <a:tcPr anchor="ctr" marL="73152" marR="54864" marT="27432" marB="27432">
                    <a:solidFill>
                      <a:srgbClr val="FFFFFF"/>
                    </a:solidFill>
                  </a:tcPr>
                </a:tc>
                <a:tc>
                  <a:txBody>
                    <a:bodyPr wrap="square"/>
                    <a:lstStyle/>
                    <a:p>
                      <a:r>
                        <a:rPr sz="1100">
                          <a:solidFill>
                            <a:srgbClr val="1A1A1A"/>
                          </a:solidFill>
                        </a:rPr>
                        <a:t>Read/edit any record — every customer's balance, any citizen's KYC</a:t>
                      </a:r>
                    </a:p>
                  </a:txBody>
                  <a:tcPr anchor="ctr" marL="73152" marR="54864" marT="27432" marB="27432">
                    <a:solidFill>
                      <a:srgbClr val="FFFFFF"/>
                    </a:solidFill>
                  </a:tcPr>
                </a:tc>
                <a:tc>
                  <a:txBody>
                    <a:bodyPr wrap="square"/>
                    <a:lstStyle/>
                    <a:p>
                      <a:r>
                        <a:rPr sz="1100">
                          <a:solidFill>
                            <a:srgbClr val="1A1A1A"/>
                          </a:solidFill>
                        </a:rPr>
                        <a:t>View only what the job needs; never browse out of curiosity</a:t>
                      </a:r>
                    </a:p>
                  </a:txBody>
                  <a:tcPr anchor="ctr" marL="73152" marR="54864" marT="27432" marB="27432">
                    <a:solidFill>
                      <a:srgbClr val="FFFFFF"/>
                    </a:solidFill>
                  </a:tcPr>
                </a:tc>
              </a:tr>
              <a:tr h="630936">
                <a:tc>
                  <a:txBody>
                    <a:bodyPr wrap="square"/>
                    <a:lstStyle/>
                    <a:p>
                      <a:r>
                        <a:rPr sz="1100" b="1">
                          <a:solidFill>
                            <a:srgbClr val="0C2B4A"/>
                          </a:solidFill>
                        </a:rPr>
                        <a:t>Developer</a:t>
                      </a:r>
                    </a:p>
                  </a:txBody>
                  <a:tcPr anchor="ctr" marL="73152" marR="54864" marT="27432" marB="27432">
                    <a:solidFill>
                      <a:srgbClr val="EEF3F8"/>
                    </a:solidFill>
                  </a:tcPr>
                </a:tc>
                <a:tc>
                  <a:txBody>
                    <a:bodyPr wrap="square"/>
                    <a:lstStyle/>
                    <a:p>
                      <a:r>
                        <a:rPr sz="1100">
                          <a:solidFill>
                            <a:srgbClr val="1A1A1A"/>
                          </a:solidFill>
                        </a:rPr>
                        <a:t>Hold the full source code and business logic</a:t>
                      </a:r>
                    </a:p>
                  </a:txBody>
                  <a:tcPr anchor="ctr" marL="73152" marR="54864" marT="27432" marB="27432">
                    <a:solidFill>
                      <a:srgbClr val="EEF3F8"/>
                    </a:solidFill>
                  </a:tcPr>
                </a:tc>
                <a:tc>
                  <a:txBody>
                    <a:bodyPr wrap="square"/>
                    <a:lstStyle/>
                    <a:p>
                      <a:r>
                        <a:rPr sz="1100">
                          <a:solidFill>
                            <a:srgbClr val="1A1A1A"/>
                          </a:solidFill>
                        </a:rPr>
                        <a:t>Not leak, sell, or reuse the employer's/client's code</a:t>
                      </a:r>
                    </a:p>
                  </a:txBody>
                  <a:tcPr anchor="ctr" marL="73152" marR="54864" marT="27432" marB="27432">
                    <a:solidFill>
                      <a:srgbClr val="EEF3F8"/>
                    </a:solidFill>
                  </a:tcPr>
                </a:tc>
              </a:tr>
              <a:tr h="630936">
                <a:tc>
                  <a:txBody>
                    <a:bodyPr wrap="square"/>
                    <a:lstStyle/>
                    <a:p>
                      <a:r>
                        <a:rPr sz="1100" b="1">
                          <a:solidFill>
                            <a:srgbClr val="0C2B4A"/>
                          </a:solidFill>
                        </a:rPr>
                        <a:t>System administrator</a:t>
                      </a:r>
                    </a:p>
                  </a:txBody>
                  <a:tcPr anchor="ctr" marL="73152" marR="54864" marT="27432" marB="27432">
                    <a:solidFill>
                      <a:srgbClr val="FFFFFF"/>
                    </a:solidFill>
                  </a:tcPr>
                </a:tc>
                <a:tc>
                  <a:txBody>
                    <a:bodyPr wrap="square"/>
                    <a:lstStyle/>
                    <a:p>
                      <a:r>
                        <a:rPr sz="1100">
                          <a:solidFill>
                            <a:srgbClr val="1A1A1A"/>
                          </a:solidFill>
                        </a:rPr>
                        <a:t>Root rights — read anyone's email, reset any password</a:t>
                      </a:r>
                    </a:p>
                  </a:txBody>
                  <a:tcPr anchor="ctr" marL="73152" marR="54864" marT="27432" marB="27432">
                    <a:solidFill>
                      <a:srgbClr val="FFFFFF"/>
                    </a:solidFill>
                  </a:tcPr>
                </a:tc>
                <a:tc>
                  <a:txBody>
                    <a:bodyPr wrap="square"/>
                    <a:lstStyle/>
                    <a:p>
                      <a:r>
                        <a:rPr sz="1100">
                          <a:solidFill>
                            <a:srgbClr val="1A1A1A"/>
                          </a:solidFill>
                        </a:rPr>
                        <a:t>Not snoop on colleagues or executives; act only on authorised tasks</a:t>
                      </a:r>
                    </a:p>
                  </a:txBody>
                  <a:tcPr anchor="ctr" marL="73152" marR="54864" marT="27432" marB="27432">
                    <a:solidFill>
                      <a:srgbClr val="FFFFFF"/>
                    </a:solidFill>
                  </a:tcPr>
                </a:tc>
              </a:tr>
              <a:tr h="630936">
                <a:tc>
                  <a:txBody>
                    <a:bodyPr wrap="square"/>
                    <a:lstStyle/>
                    <a:p>
                      <a:r>
                        <a:rPr sz="1100" b="1">
                          <a:solidFill>
                            <a:srgbClr val="0C2B4A"/>
                          </a:solidFill>
                        </a:rPr>
                        <a:t>Support technician</a:t>
                      </a:r>
                    </a:p>
                  </a:txBody>
                  <a:tcPr anchor="ctr" marL="73152" marR="54864" marT="27432" marB="27432">
                    <a:solidFill>
                      <a:srgbClr val="EEF3F8"/>
                    </a:solidFill>
                  </a:tcPr>
                </a:tc>
                <a:tc>
                  <a:txBody>
                    <a:bodyPr wrap="square"/>
                    <a:lstStyle/>
                    <a:p>
                      <a:r>
                        <a:rPr sz="1100">
                          <a:solidFill>
                            <a:srgbClr val="1A1A1A"/>
                          </a:solidFill>
                        </a:rPr>
                        <a:t>Open your files, install software, take remote control</a:t>
                      </a:r>
                    </a:p>
                  </a:txBody>
                  <a:tcPr anchor="ctr" marL="73152" marR="54864" marT="27432" marB="27432">
                    <a:solidFill>
                      <a:srgbClr val="EEF3F8"/>
                    </a:solidFill>
                  </a:tcPr>
                </a:tc>
                <a:tc>
                  <a:txBody>
                    <a:bodyPr wrap="square"/>
                    <a:lstStyle/>
                    <a:p>
                      <a:r>
                        <a:rPr sz="1100">
                          <a:solidFill>
                            <a:srgbClr val="1A1A1A"/>
                          </a:solidFill>
                        </a:rPr>
                        <a:t>Touch only what fixes the stated problem; keep what they see private</a:t>
                      </a:r>
                    </a:p>
                  </a:txBody>
                  <a:tcPr anchor="ctr" marL="73152" marR="54864" marT="27432" marB="27432">
                    <a:solidFill>
                      <a:srgbClr val="EEF3F8"/>
                    </a:solidFill>
                  </a:tcPr>
                </a:tc>
              </a:tr>
              <a:tr h="630936">
                <a:tc>
                  <a:txBody>
                    <a:bodyPr wrap="square"/>
                    <a:lstStyle/>
                    <a:p>
                      <a:r>
                        <a:rPr sz="1100" b="1">
                          <a:solidFill>
                            <a:srgbClr val="0C2B4A"/>
                          </a:solidFill>
                        </a:rPr>
                        <a:t>Network administrator</a:t>
                      </a:r>
                    </a:p>
                  </a:txBody>
                  <a:tcPr anchor="ctr" marL="73152" marR="54864" marT="27432" marB="27432">
                    <a:solidFill>
                      <a:srgbClr val="FFFFFF"/>
                    </a:solidFill>
                  </a:tcPr>
                </a:tc>
                <a:tc>
                  <a:txBody>
                    <a:bodyPr wrap="square"/>
                    <a:lstStyle/>
                    <a:p>
                      <a:r>
                        <a:rPr sz="1100">
                          <a:solidFill>
                            <a:srgbClr val="1A1A1A"/>
                          </a:solidFill>
                        </a:rPr>
                        <a:t>See all traffic, block or log any user</a:t>
                      </a:r>
                    </a:p>
                  </a:txBody>
                  <a:tcPr anchor="ctr" marL="73152" marR="54864" marT="27432" marB="27432">
                    <a:solidFill>
                      <a:srgbClr val="FFFFFF"/>
                    </a:solidFill>
                  </a:tcPr>
                </a:tc>
                <a:tc>
                  <a:txBody>
                    <a:bodyPr wrap="square"/>
                    <a:lstStyle/>
                    <a:p>
                      <a:r>
                        <a:rPr sz="1100">
                          <a:solidFill>
                            <a:srgbClr val="1A1A1A"/>
                          </a:solidFill>
                        </a:rPr>
                        <a:t>Monitor per policy, not to spy on individuals</a:t>
                      </a:r>
                    </a:p>
                  </a:txBody>
                  <a:tcPr anchor="ctr" marL="73152" marR="54864" marT="27432" marB="27432">
                    <a:solidFill>
                      <a:srgbClr val="FFFFFF"/>
                    </a:solidFill>
                  </a:tcPr>
                </a:tc>
              </a:tr>
              <a:tr h="630936">
                <a:tc>
                  <a:txBody>
                    <a:bodyPr wrap="square"/>
                    <a:lstStyle/>
                    <a:p>
                      <a:r>
                        <a:rPr sz="1100" b="1">
                          <a:solidFill>
                            <a:srgbClr val="0C2B4A"/>
                          </a:solidFill>
                        </a:rPr>
                        <a:t>Bank IT staffer (Nepal)</a:t>
                      </a:r>
                    </a:p>
                  </a:txBody>
                  <a:tcPr anchor="ctr" marL="73152" marR="54864" marT="27432" marB="27432">
                    <a:solidFill>
                      <a:srgbClr val="EEF3F8"/>
                    </a:solidFill>
                  </a:tcPr>
                </a:tc>
                <a:tc>
                  <a:txBody>
                    <a:bodyPr wrap="square"/>
                    <a:lstStyle/>
                    <a:p>
                      <a:r>
                        <a:rPr sz="1100">
                          <a:solidFill>
                            <a:srgbClr val="1A1A1A"/>
                          </a:solidFill>
                        </a:rPr>
                        <a:t>Look up any account — a neighbour's, a celebrity's, an ex's</a:t>
                      </a:r>
                    </a:p>
                  </a:txBody>
                  <a:tcPr anchor="ctr" marL="73152" marR="54864" marT="27432" marB="27432">
                    <a:solidFill>
                      <a:srgbClr val="EEF3F8"/>
                    </a:solidFill>
                  </a:tcPr>
                </a:tc>
                <a:tc>
                  <a:txBody>
                    <a:bodyPr wrap="square"/>
                    <a:lstStyle/>
                    <a:p>
                      <a:r>
                        <a:rPr sz="1100">
                          <a:solidFill>
                            <a:srgbClr val="1A1A1A"/>
                          </a:solidFill>
                        </a:rPr>
                        <a:t>Look only for a work reason; the system permits it, ethics forbids 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Nothing on the right column is enforced by the system — the system GRANTS the access. Only trust and ethics stop the abuse.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IT Workers Face Special Pressure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 IT staffer with database access could view any customer's balance — your neighbour's, a celebrity's, an ex's. What stops them is not lack of permission (the system grants it); it is trust and ethics. Globally: a sysadmin abusing root to read executives' private emails — nothing technical stopped them, only ethics should have.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"IT is just a back-office technical job — ethics is for managers." Access IS power: the more you can technically do, the more responsibility you carry, whether or not you hold a manager's title. A junior with admin rights holds more trust than a senior manager without them.</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IT workers are ethically distinct because of privileged access to systems and data. Since access is power and power is responsibility, technical ability ('can') never settles what is right ('should'). Every relationship an IT worker has therefore carries a duty of care — a duty not to abuse the trust that access represents.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IT worker · privileged access · duty of care · can vs should · access = power = responsibility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Access abused — real 'can' vs 'should' cases (Nepal / IT)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386666"/>
                <a:gridCol w="3951111"/>
                <a:gridCol w="4092222"/>
              </a:tblGrid>
              <a:tr h="630936">
                <a:tc>
                  <a:txBody>
                    <a:bodyPr wrap="square"/>
                    <a:lstStyle/>
                    <a:p>
                      <a:r>
                        <a:rPr sz="1150" b="1">
                          <a:solidFill>
                            <a:srgbClr val="FFFFFF"/>
                          </a:solidFill>
                        </a:rPr>
                        <a:t>Scenario</a:t>
                      </a:r>
                    </a:p>
                  </a:txBody>
                  <a:tcPr anchor="ctr" marL="73152" marR="54864" marT="27432" marB="27432">
                    <a:solidFill>
                      <a:srgbClr val="0C2B4A"/>
                    </a:solidFill>
                  </a:tcPr>
                </a:tc>
                <a:tc>
                  <a:txBody>
                    <a:bodyPr wrap="square"/>
                    <a:lstStyle/>
                    <a:p>
                      <a:r>
                        <a:rPr sz="1150" b="1">
                          <a:solidFill>
                            <a:srgbClr val="FFFFFF"/>
                          </a:solidFill>
                        </a:rPr>
                        <a:t>What the access let them do</a:t>
                      </a:r>
                    </a:p>
                  </a:txBody>
                  <a:tcPr anchor="ctr" marL="73152" marR="54864" marT="27432" marB="27432">
                    <a:solidFill>
                      <a:srgbClr val="0C2B4A"/>
                    </a:solidFill>
                  </a:tcPr>
                </a:tc>
                <a:tc>
                  <a:txBody>
                    <a:bodyPr wrap="square"/>
                    <a:lstStyle/>
                    <a:p>
                      <a:r>
                        <a:rPr sz="1150" b="1">
                          <a:solidFill>
                            <a:srgbClr val="FFFFFF"/>
                          </a:solidFill>
                        </a:rPr>
                        <a:t>Verdict — can vs should</a:t>
                      </a:r>
                    </a:p>
                  </a:txBody>
                  <a:tcPr anchor="ctr" marL="73152" marR="54864" marT="27432" marB="27432">
                    <a:solidFill>
                      <a:srgbClr val="0C2B4A"/>
                    </a:solidFill>
                  </a:tcPr>
                </a:tc>
              </a:tr>
              <a:tr h="630936">
                <a:tc>
                  <a:txBody>
                    <a:bodyPr wrap="square"/>
                    <a:lstStyle/>
                    <a:p>
                      <a:r>
                        <a:rPr sz="1100" b="1">
                          <a:solidFill>
                            <a:srgbClr val="0C2B4A"/>
                          </a:solidFill>
                        </a:rPr>
                        <a:t>Bank staffer checks an ex's balance</a:t>
                      </a:r>
                    </a:p>
                  </a:txBody>
                  <a:tcPr anchor="ctr" marL="73152" marR="54864" marT="27432" marB="27432">
                    <a:solidFill>
                      <a:srgbClr val="FFFFFF"/>
                    </a:solidFill>
                  </a:tcPr>
                </a:tc>
                <a:tc>
                  <a:txBody>
                    <a:bodyPr wrap="square"/>
                    <a:lstStyle/>
                    <a:p>
                      <a:r>
                        <a:rPr sz="1100">
                          <a:solidFill>
                            <a:srgbClr val="1A1A1A"/>
                          </a:solidFill>
                        </a:rPr>
                        <a:t>System permits the lookup instantly</a:t>
                      </a:r>
                    </a:p>
                  </a:txBody>
                  <a:tcPr anchor="ctr" marL="73152" marR="54864" marT="27432" marB="27432">
                    <a:solidFill>
                      <a:srgbClr val="FFFFFF"/>
                    </a:solidFill>
                  </a:tcPr>
                </a:tc>
                <a:tc>
                  <a:txBody>
                    <a:bodyPr wrap="square"/>
                    <a:lstStyle/>
                    <a:p>
                      <a:r>
                        <a:rPr sz="1100">
                          <a:solidFill>
                            <a:srgbClr val="1A1A1A"/>
                          </a:solidFill>
                        </a:rPr>
                        <a:t>Can ✓ — should ✗: no work reason, betrayal of trust</a:t>
                      </a:r>
                    </a:p>
                  </a:txBody>
                  <a:tcPr anchor="ctr" marL="73152" marR="54864" marT="27432" marB="27432">
                    <a:solidFill>
                      <a:srgbClr val="FFFFFF"/>
                    </a:solidFill>
                  </a:tcPr>
                </a:tc>
              </a:tr>
              <a:tr h="630936">
                <a:tc>
                  <a:txBody>
                    <a:bodyPr wrap="square"/>
                    <a:lstStyle/>
                    <a:p>
                      <a:r>
                        <a:rPr sz="1100" b="1">
                          <a:solidFill>
                            <a:srgbClr val="0C2B4A"/>
                          </a:solidFill>
                        </a:rPr>
                        <a:t>Sysadmin reads the CEO's private email</a:t>
                      </a:r>
                    </a:p>
                  </a:txBody>
                  <a:tcPr anchor="ctr" marL="73152" marR="54864" marT="27432" marB="27432">
                    <a:solidFill>
                      <a:srgbClr val="EEF3F8"/>
                    </a:solidFill>
                  </a:tcPr>
                </a:tc>
                <a:tc>
                  <a:txBody>
                    <a:bodyPr wrap="square"/>
                    <a:lstStyle/>
                    <a:p>
                      <a:r>
                        <a:rPr sz="1100">
                          <a:solidFill>
                            <a:srgbClr val="1A1A1A"/>
                          </a:solidFill>
                        </a:rPr>
                        <a:t>Root rights make every inbox readable</a:t>
                      </a:r>
                    </a:p>
                  </a:txBody>
                  <a:tcPr anchor="ctr" marL="73152" marR="54864" marT="27432" marB="27432">
                    <a:solidFill>
                      <a:srgbClr val="EEF3F8"/>
                    </a:solidFill>
                  </a:tcPr>
                </a:tc>
                <a:tc>
                  <a:txBody>
                    <a:bodyPr wrap="square"/>
                    <a:lstStyle/>
                    <a:p>
                      <a:r>
                        <a:rPr sz="1100">
                          <a:solidFill>
                            <a:srgbClr val="1A1A1A"/>
                          </a:solidFill>
                        </a:rPr>
                        <a:t>Can ✓ — should ✗: snooping, not an authorised task</a:t>
                      </a:r>
                    </a:p>
                  </a:txBody>
                  <a:tcPr anchor="ctr" marL="73152" marR="54864" marT="27432" marB="27432">
                    <a:solidFill>
                      <a:srgbClr val="EEF3F8"/>
                    </a:solidFill>
                  </a:tcPr>
                </a:tc>
              </a:tr>
              <a:tr h="630936">
                <a:tc>
                  <a:txBody>
                    <a:bodyPr wrap="square"/>
                    <a:lstStyle/>
                    <a:p>
                      <a:r>
                        <a:rPr sz="1100" b="1">
                          <a:solidFill>
                            <a:srgbClr val="0C2B4A"/>
                          </a:solidFill>
                        </a:rPr>
                        <a:t>Support tech copies a customer's photos</a:t>
                      </a:r>
                    </a:p>
                  </a:txBody>
                  <a:tcPr anchor="ctr" marL="73152" marR="54864" marT="27432" marB="27432">
                    <a:solidFill>
                      <a:srgbClr val="FFFFFF"/>
                    </a:solidFill>
                  </a:tcPr>
                </a:tc>
                <a:tc>
                  <a:txBody>
                    <a:bodyPr wrap="square"/>
                    <a:lstStyle/>
                    <a:p>
                      <a:r>
                        <a:rPr sz="1100">
                          <a:solidFill>
                            <a:srgbClr val="1A1A1A"/>
                          </a:solidFill>
                        </a:rPr>
                        <a:t>Remote control opens all their files</a:t>
                      </a:r>
                    </a:p>
                  </a:txBody>
                  <a:tcPr anchor="ctr" marL="73152" marR="54864" marT="27432" marB="27432">
                    <a:solidFill>
                      <a:srgbClr val="FFFFFF"/>
                    </a:solidFill>
                  </a:tcPr>
                </a:tc>
                <a:tc>
                  <a:txBody>
                    <a:bodyPr wrap="square"/>
                    <a:lstStyle/>
                    <a:p>
                      <a:r>
                        <a:rPr sz="1100">
                          <a:solidFill>
                            <a:srgbClr val="1A1A1A"/>
                          </a:solidFill>
                        </a:rPr>
                        <a:t>Can ✓ — should ✗: touch only what fixes the fault</a:t>
                      </a:r>
                    </a:p>
                  </a:txBody>
                  <a:tcPr anchor="ctr" marL="73152" marR="54864" marT="27432" marB="27432">
                    <a:solidFill>
                      <a:srgbClr val="FFFFFF"/>
                    </a:solidFill>
                  </a:tcPr>
                </a:tc>
              </a:tr>
              <a:tr h="630936">
                <a:tc>
                  <a:txBody>
                    <a:bodyPr wrap="square"/>
                    <a:lstStyle/>
                    <a:p>
                      <a:r>
                        <a:rPr sz="1100" b="1">
                          <a:solidFill>
                            <a:srgbClr val="0C2B4A"/>
                          </a:solidFill>
                        </a:rPr>
                        <a:t>Developer keeps a copy of employer's source</a:t>
                      </a:r>
                    </a:p>
                  </a:txBody>
                  <a:tcPr anchor="ctr" marL="73152" marR="54864" marT="27432" marB="27432">
                    <a:solidFill>
                      <a:srgbClr val="EEF3F8"/>
                    </a:solidFill>
                  </a:tcPr>
                </a:tc>
                <a:tc>
                  <a:txBody>
                    <a:bodyPr wrap="square"/>
                    <a:lstStyle/>
                    <a:p>
                      <a:r>
                        <a:rPr sz="1100">
                          <a:solidFill>
                            <a:srgbClr val="1A1A1A"/>
                          </a:solidFill>
                        </a:rPr>
                        <a:t>Already holds the full codebase</a:t>
                      </a:r>
                    </a:p>
                  </a:txBody>
                  <a:tcPr anchor="ctr" marL="73152" marR="54864" marT="27432" marB="27432">
                    <a:solidFill>
                      <a:srgbClr val="EEF3F8"/>
                    </a:solidFill>
                  </a:tcPr>
                </a:tc>
                <a:tc>
                  <a:txBody>
                    <a:bodyPr wrap="square"/>
                    <a:lstStyle/>
                    <a:p>
                      <a:r>
                        <a:rPr sz="1100">
                          <a:solidFill>
                            <a:srgbClr val="1A1A1A"/>
                          </a:solidFill>
                        </a:rPr>
                        <a:t>Can ✓ — should ✗: reusing it elsewhere is IP theft</a:t>
                      </a:r>
                    </a:p>
                  </a:txBody>
                  <a:tcPr anchor="ctr" marL="73152" marR="54864" marT="27432" marB="27432">
                    <a:solidFill>
                      <a:srgbClr val="EEF3F8"/>
                    </a:solidFill>
                  </a:tcPr>
                </a:tc>
              </a:tr>
              <a:tr h="630936">
                <a:tc>
                  <a:txBody>
                    <a:bodyPr wrap="square"/>
                    <a:lstStyle/>
                    <a:p>
                      <a:r>
                        <a:rPr sz="1100" b="1">
                          <a:solidFill>
                            <a:srgbClr val="0C2B4A"/>
                          </a:solidFill>
                        </a:rPr>
                        <a:t>Telco engineer pulls a celebrity's call records</a:t>
                      </a:r>
                    </a:p>
                  </a:txBody>
                  <a:tcPr anchor="ctr" marL="73152" marR="54864" marT="27432" marB="27432">
                    <a:solidFill>
                      <a:srgbClr val="FFFFFF"/>
                    </a:solidFill>
                  </a:tcPr>
                </a:tc>
                <a:tc>
                  <a:txBody>
                    <a:bodyPr wrap="square"/>
                    <a:lstStyle/>
                    <a:p>
                      <a:r>
                        <a:rPr sz="1100">
                          <a:solidFill>
                            <a:srgbClr val="1A1A1A"/>
                          </a:solidFill>
                        </a:rPr>
                        <a:t>Network logs expose everyone's metadata</a:t>
                      </a:r>
                    </a:p>
                  </a:txBody>
                  <a:tcPr anchor="ctr" marL="73152" marR="54864" marT="27432" marB="27432">
                    <a:solidFill>
                      <a:srgbClr val="FFFFFF"/>
                    </a:solidFill>
                  </a:tcPr>
                </a:tc>
                <a:tc>
                  <a:txBody>
                    <a:bodyPr wrap="square"/>
                    <a:lstStyle/>
                    <a:p>
                      <a:r>
                        <a:rPr sz="1100">
                          <a:solidFill>
                            <a:srgbClr val="1A1A1A"/>
                          </a:solidFill>
                        </a:rPr>
                        <a:t>Can ✓ — should ✗: curiosity is not authorisation</a:t>
                      </a:r>
                    </a:p>
                  </a:txBody>
                  <a:tcPr anchor="ctr" marL="73152" marR="54864" marT="27432" marB="27432">
                    <a:solidFill>
                      <a:srgbClr val="FFFFFF"/>
                    </a:solidFill>
                  </a:tcPr>
                </a:tc>
              </a:tr>
              <a:tr h="630936">
                <a:tc>
                  <a:txBody>
                    <a:bodyPr wrap="square"/>
                    <a:lstStyle/>
                    <a:p>
                      <a:r>
                        <a:rPr sz="1100" b="1">
                          <a:solidFill>
                            <a:srgbClr val="0C2B4A"/>
                          </a:solidFill>
                        </a:rPr>
                        <a:t>Hospital IT clerk browses a neighbour's records</a:t>
                      </a:r>
                    </a:p>
                  </a:txBody>
                  <a:tcPr anchor="ctr" marL="73152" marR="54864" marT="27432" marB="27432">
                    <a:solidFill>
                      <a:srgbClr val="EEF3F8"/>
                    </a:solidFill>
                  </a:tcPr>
                </a:tc>
                <a:tc>
                  <a:txBody>
                    <a:bodyPr wrap="square"/>
                    <a:lstStyle/>
                    <a:p>
                      <a:r>
                        <a:rPr sz="1100">
                          <a:solidFill>
                            <a:srgbClr val="1A1A1A"/>
                          </a:solidFill>
                        </a:rPr>
                        <a:t>Database shows any patient's history</a:t>
                      </a:r>
                    </a:p>
                  </a:txBody>
                  <a:tcPr anchor="ctr" marL="73152" marR="54864" marT="27432" marB="27432">
                    <a:solidFill>
                      <a:srgbClr val="EEF3F8"/>
                    </a:solidFill>
                  </a:tcPr>
                </a:tc>
                <a:tc>
                  <a:txBody>
                    <a:bodyPr wrap="square"/>
                    <a:lstStyle/>
                    <a:p>
                      <a:r>
                        <a:rPr sz="1100">
                          <a:solidFill>
                            <a:srgbClr val="1A1A1A"/>
                          </a:solidFill>
                        </a:rPr>
                        <a:t>Can ✓ — should ✗: the privacy duty forbids 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row is technically permitted and ethically forbidden — the system grants the 'can', only ethics supplies the 'should'.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Relationship 1 — the Employer: loyalty &amp; honesty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first arrow points to your employer. Two core duties: LOYALTY — protect the employer's assets and IP (source code, client lists, internal data); and HONESTY — be truthful about your work and your qualifications (this is where resume fraud lives).</a:t>
            </a:r>
          </a:p>
          <a:p>
            <a:pPr>
              <a:spcAft>
                <a:spcPts val="500"/>
              </a:spcAft>
            </a:pPr>
            <a:r>
              <a:rPr sz="1200" b="1">
                <a:solidFill>
                  <a:srgbClr val="185FA5"/>
                </a:solidFill>
              </a:rPr>
              <a:t>HOW IT WORKS</a:t>
            </a:r>
          </a:p>
          <a:p>
            <a:pPr>
              <a:spcAft>
                <a:spcPts val="600"/>
              </a:spcAft>
            </a:pPr>
            <a:r>
              <a:rPr sz="1400">
                <a:solidFill>
                  <a:srgbClr val="1A1A1A"/>
                </a:solidFill>
              </a:rPr>
              <a:t>•  Loyalty means not leaking, selling, or carrying the employer's IP out the door to your next job.</a:t>
            </a:r>
          </a:p>
          <a:p>
            <a:pPr>
              <a:spcAft>
                <a:spcPts val="600"/>
              </a:spcAft>
            </a:pPr>
            <a:r>
              <a:rPr sz="1400">
                <a:solidFill>
                  <a:srgbClr val="1A1A1A"/>
                </a:solidFill>
              </a:rPr>
              <a:t>•  Honesty starts before day one: claiming a certification you don't hold is a breach against your employer.</a:t>
            </a:r>
          </a:p>
          <a:p>
            <a:pPr>
              <a:spcAft>
                <a:spcPts val="600"/>
              </a:spcAft>
            </a:pPr>
            <a:r>
              <a:rPr sz="1400">
                <a:solidFill>
                  <a:srgbClr val="1A1A1A"/>
                </a:solidFill>
              </a:rPr>
              <a:t>•  Four pressure points strain this bond: conflicts of interest, resume fraud, software-license compliance (S8), whistle-blowing.</a:t>
            </a:r>
          </a:p>
          <a:p>
            <a:pPr>
              <a:spcAft>
                <a:spcPts val="600"/>
              </a:spcAft>
            </a:pPr>
            <a:r>
              <a:rPr sz="1400">
                <a:solidFill>
                  <a:srgbClr val="1A1A1A"/>
                </a:solidFill>
              </a:rPr>
              <a:t>•  Loyalty has a LIMIT — it does not extend to covering up harm (whistle-blowing is treated fully in Unit 4).</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Loyalty protects the employer's assets; honesty protects the truth — but neither obliges you to hide harm.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Four pressure points on the employer relationship</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784230"/>
                <a:gridCol w="4396153"/>
                <a:gridCol w="4249615"/>
              </a:tblGrid>
              <a:tr h="883310">
                <a:tc>
                  <a:txBody>
                    <a:bodyPr wrap="square"/>
                    <a:lstStyle/>
                    <a:p>
                      <a:r>
                        <a:rPr sz="1200" b="1">
                          <a:solidFill>
                            <a:srgbClr val="FFFFFF"/>
                          </a:solidFill>
                        </a:rPr>
                        <a:t>Pressure point</a:t>
                      </a:r>
                    </a:p>
                  </a:txBody>
                  <a:tcPr anchor="ctr" marL="73152" marR="54864" marT="27432" marB="27432">
                    <a:solidFill>
                      <a:srgbClr val="0C2B4A"/>
                    </a:solidFill>
                  </a:tcPr>
                </a:tc>
                <a:tc>
                  <a:txBody>
                    <a:bodyPr wrap="square"/>
                    <a:lstStyle/>
                    <a:p>
                      <a:r>
                        <a:rPr sz="1200" b="1">
                          <a:solidFill>
                            <a:srgbClr val="FFFFFF"/>
                          </a:solidFill>
                        </a:rPr>
                        <a:t>What it looks like</a:t>
                      </a:r>
                    </a:p>
                  </a:txBody>
                  <a:tcPr anchor="ctr" marL="73152" marR="54864" marT="27432" marB="27432">
                    <a:solidFill>
                      <a:srgbClr val="0C2B4A"/>
                    </a:solidFill>
                  </a:tcPr>
                </a:tc>
                <a:tc>
                  <a:txBody>
                    <a:bodyPr wrap="square"/>
                    <a:lstStyle/>
                    <a:p>
                      <a:r>
                        <a:rPr sz="1200" b="1">
                          <a:solidFill>
                            <a:srgbClr val="FFFFFF"/>
                          </a:solidFill>
                        </a:rPr>
                        <a:t>Why it's an ethical problem</a:t>
                      </a:r>
                    </a:p>
                  </a:txBody>
                  <a:tcPr anchor="ctr" marL="73152" marR="54864" marT="27432" marB="27432">
                    <a:solidFill>
                      <a:srgbClr val="0C2B4A"/>
                    </a:solidFill>
                  </a:tcPr>
                </a:tc>
              </a:tr>
              <a:tr h="883310">
                <a:tc>
                  <a:txBody>
                    <a:bodyPr wrap="square"/>
                    <a:lstStyle/>
                    <a:p>
                      <a:r>
                        <a:rPr sz="1150" b="1">
                          <a:solidFill>
                            <a:srgbClr val="0C2B4A"/>
                          </a:solidFill>
                        </a:rPr>
                        <a:t>Conflict of interest</a:t>
                      </a:r>
                    </a:p>
                  </a:txBody>
                  <a:tcPr anchor="ctr" marL="73152" marR="54864" marT="27432" marB="27432">
                    <a:solidFill>
                      <a:srgbClr val="FFFFFF"/>
                    </a:solidFill>
                  </a:tcPr>
                </a:tc>
                <a:tc>
                  <a:txBody>
                    <a:bodyPr wrap="square"/>
                    <a:lstStyle/>
                    <a:p>
                      <a:r>
                        <a:rPr sz="1150">
                          <a:solidFill>
                            <a:srgbClr val="1A1A1A"/>
                          </a:solidFill>
                        </a:rPr>
                        <a:t>A side interest that competes with the employer (moonlighting for a rival)</a:t>
                      </a:r>
                    </a:p>
                  </a:txBody>
                  <a:tcPr anchor="ctr" marL="73152" marR="54864" marT="27432" marB="27432">
                    <a:solidFill>
                      <a:srgbClr val="FFFFFF"/>
                    </a:solidFill>
                  </a:tcPr>
                </a:tc>
                <a:tc>
                  <a:txBody>
                    <a:bodyPr wrap="square"/>
                    <a:lstStyle/>
                    <a:p>
                      <a:r>
                        <a:rPr sz="1150">
                          <a:solidFill>
                            <a:srgbClr val="1A1A1A"/>
                          </a:solidFill>
                        </a:rPr>
                        <a:t>Your judgment now serves two masters; the employer can't trust your loyalty</a:t>
                      </a:r>
                    </a:p>
                  </a:txBody>
                  <a:tcPr anchor="ctr" marL="73152" marR="54864" marT="27432" marB="27432">
                    <a:solidFill>
                      <a:srgbClr val="FFFFFF"/>
                    </a:solidFill>
                  </a:tcPr>
                </a:tc>
              </a:tr>
              <a:tr h="883310">
                <a:tc>
                  <a:txBody>
                    <a:bodyPr wrap="square"/>
                    <a:lstStyle/>
                    <a:p>
                      <a:r>
                        <a:rPr sz="1150" b="1">
                          <a:solidFill>
                            <a:srgbClr val="0C2B4A"/>
                          </a:solidFill>
                        </a:rPr>
                        <a:t>Resume fraud</a:t>
                      </a:r>
                    </a:p>
                  </a:txBody>
                  <a:tcPr anchor="ctr" marL="73152" marR="54864" marT="27432" marB="27432">
                    <a:solidFill>
                      <a:srgbClr val="EEF3F8"/>
                    </a:solidFill>
                  </a:tcPr>
                </a:tc>
                <a:tc>
                  <a:txBody>
                    <a:bodyPr wrap="square"/>
                    <a:lstStyle/>
                    <a:p>
                      <a:r>
                        <a:rPr sz="1150">
                          <a:solidFill>
                            <a:srgbClr val="1A1A1A"/>
                          </a:solidFill>
                        </a:rPr>
                        <a:t>Claiming a certification or skill you don't have</a:t>
                      </a:r>
                    </a:p>
                  </a:txBody>
                  <a:tcPr anchor="ctr" marL="73152" marR="54864" marT="27432" marB="27432">
                    <a:solidFill>
                      <a:srgbClr val="EEF3F8"/>
                    </a:solidFill>
                  </a:tcPr>
                </a:tc>
                <a:tc>
                  <a:txBody>
                    <a:bodyPr wrap="square"/>
                    <a:lstStyle/>
                    <a:p>
                      <a:r>
                        <a:rPr sz="1150">
                          <a:solidFill>
                            <a:srgbClr val="1A1A1A"/>
                          </a:solidFill>
                        </a:rPr>
                        <a:t>A breach of honesty before you even start — the employer relied on a lie</a:t>
                      </a:r>
                    </a:p>
                  </a:txBody>
                  <a:tcPr anchor="ctr" marL="73152" marR="54864" marT="27432" marB="27432">
                    <a:solidFill>
                      <a:srgbClr val="EEF3F8"/>
                    </a:solidFill>
                  </a:tcPr>
                </a:tc>
              </a:tr>
              <a:tr h="883310">
                <a:tc>
                  <a:txBody>
                    <a:bodyPr wrap="square"/>
                    <a:lstStyle/>
                    <a:p>
                      <a:r>
                        <a:rPr sz="1150" b="1">
                          <a:solidFill>
                            <a:srgbClr val="0C2B4A"/>
                          </a:solidFill>
                        </a:rPr>
                        <a:t>Software-license compliance</a:t>
                      </a:r>
                    </a:p>
                  </a:txBody>
                  <a:tcPr anchor="ctr" marL="73152" marR="54864" marT="27432" marB="27432">
                    <a:solidFill>
                      <a:srgbClr val="FFFFFF"/>
                    </a:solidFill>
                  </a:tcPr>
                </a:tc>
                <a:tc>
                  <a:txBody>
                    <a:bodyPr wrap="square"/>
                    <a:lstStyle/>
                    <a:p>
                      <a:r>
                        <a:rPr sz="1150">
                          <a:solidFill>
                            <a:srgbClr val="1A1A1A"/>
                          </a:solidFill>
                        </a:rPr>
                        <a:t>Using unlicensed/pirated software on the job (see S8)</a:t>
                      </a:r>
                    </a:p>
                  </a:txBody>
                  <a:tcPr anchor="ctr" marL="73152" marR="54864" marT="27432" marB="27432">
                    <a:solidFill>
                      <a:srgbClr val="FFFFFF"/>
                    </a:solidFill>
                  </a:tcPr>
                </a:tc>
                <a:tc>
                  <a:txBody>
                    <a:bodyPr wrap="square"/>
                    <a:lstStyle/>
                    <a:p>
                      <a:r>
                        <a:rPr sz="1150">
                          <a:solidFill>
                            <a:srgbClr val="1A1A1A"/>
                          </a:solidFill>
                        </a:rPr>
                        <a:t>Legal liability for the firm AND you; 'orders' don't transfer the blame</a:t>
                      </a:r>
                    </a:p>
                  </a:txBody>
                  <a:tcPr anchor="ctr" marL="73152" marR="54864" marT="27432" marB="27432">
                    <a:solidFill>
                      <a:srgbClr val="FFFFFF"/>
                    </a:solidFill>
                  </a:tcPr>
                </a:tc>
              </a:tr>
              <a:tr h="883312">
                <a:tc>
                  <a:txBody>
                    <a:bodyPr wrap="square"/>
                    <a:lstStyle/>
                    <a:p>
                      <a:r>
                        <a:rPr sz="1150" b="1">
                          <a:solidFill>
                            <a:srgbClr val="0C2B4A"/>
                          </a:solidFill>
                        </a:rPr>
                        <a:t>Whistle-blowing tension</a:t>
                      </a:r>
                    </a:p>
                  </a:txBody>
                  <a:tcPr anchor="ctr" marL="73152" marR="54864" marT="27432" marB="27432">
                    <a:solidFill>
                      <a:srgbClr val="EEF3F8"/>
                    </a:solidFill>
                  </a:tcPr>
                </a:tc>
                <a:tc>
                  <a:txBody>
                    <a:bodyPr wrap="square"/>
                    <a:lstStyle/>
                    <a:p>
                      <a:r>
                        <a:rPr sz="1150">
                          <a:solidFill>
                            <a:srgbClr val="1A1A1A"/>
                          </a:solidFill>
                        </a:rPr>
                        <a:t>The employer itself is doing wrong; do you stay loyal?</a:t>
                      </a:r>
                    </a:p>
                  </a:txBody>
                  <a:tcPr anchor="ctr" marL="73152" marR="54864" marT="27432" marB="27432">
                    <a:solidFill>
                      <a:srgbClr val="EEF3F8"/>
                    </a:solidFill>
                  </a:tcPr>
                </a:tc>
                <a:tc>
                  <a:txBody>
                    <a:bodyPr wrap="square"/>
                    <a:lstStyle/>
                    <a:p>
                      <a:r>
                        <a:rPr sz="1150">
                          <a:solidFill>
                            <a:srgbClr val="1A1A1A"/>
                          </a:solidFill>
                        </a:rPr>
                        <a:t>Loyalty has a limit — it never requires covering up harm (Unit 4)</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Loyalty and honesty are the duties; these four are where they get tested in a real job.</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Relationship 1 — the Employer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Kathmandu IT-firm staffer copies client source code to reuse at a weekend side gig. The code isn't theirs — it belongs to the employer (and often contractually to the client). Reusing it is theft of IP, betraying TWO relationships at once, even though 'no one will notice' and 'I wrote it anyway'.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boss orders it, it's on them." Your employer asks you to install pirated Office/AutoCAD on all machines to cut costs. Liability can fall on the company AND the individual who installed it — 'I was just following orders' is the blind-obedience trap and does not transfer responsibility off you.</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IT worker owes the employer loyalty (protect assets and IP) and honesty (truthful work and qualifications). This is strained by conflicts of interest, resume fraud, license non-compliance, and the whistle-blowing tension. Loyalty is real but limited: it never extends to concealing harm, and obeying an order does not erase personal accountability.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loyalty · honesty · IP protection · conflict of interest · resume fraud · loyalty has a limit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Loyalty &amp; honesty to the employer — breaches and their fallout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396153"/>
                <a:gridCol w="3223846"/>
                <a:gridCol w="3809999"/>
              </a:tblGrid>
              <a:tr h="630936">
                <a:tc>
                  <a:txBody>
                    <a:bodyPr wrap="square"/>
                    <a:lstStyle/>
                    <a:p>
                      <a:r>
                        <a:rPr sz="1150" b="1">
                          <a:solidFill>
                            <a:srgbClr val="FFFFFF"/>
                          </a:solidFill>
                        </a:rPr>
                        <a:t>What the worker did</a:t>
                      </a:r>
                    </a:p>
                  </a:txBody>
                  <a:tcPr anchor="ctr" marL="73152" marR="54864" marT="27432" marB="27432">
                    <a:solidFill>
                      <a:srgbClr val="0C2B4A"/>
                    </a:solidFill>
                  </a:tcPr>
                </a:tc>
                <a:tc>
                  <a:txBody>
                    <a:bodyPr wrap="square"/>
                    <a:lstStyle/>
                    <a:p>
                      <a:r>
                        <a:rPr sz="1150" b="1">
                          <a:solidFill>
                            <a:srgbClr val="FFFFFF"/>
                          </a:solidFill>
                        </a:rPr>
                        <a:t>Duty broken</a:t>
                      </a:r>
                    </a:p>
                  </a:txBody>
                  <a:tcPr anchor="ctr" marL="73152" marR="54864" marT="27432" marB="27432">
                    <a:solidFill>
                      <a:srgbClr val="0C2B4A"/>
                    </a:solidFill>
                  </a:tcPr>
                </a:tc>
                <a:tc>
                  <a:txBody>
                    <a:bodyPr wrap="square"/>
                    <a:lstStyle/>
                    <a:p>
                      <a:r>
                        <a:rPr sz="1150" b="1">
                          <a:solidFill>
                            <a:srgbClr val="FFFFFF"/>
                          </a:solidFill>
                        </a:rPr>
                        <a:t>Consequence</a:t>
                      </a:r>
                    </a:p>
                  </a:txBody>
                  <a:tcPr anchor="ctr" marL="73152" marR="54864" marT="27432" marB="27432">
                    <a:solidFill>
                      <a:srgbClr val="0C2B4A"/>
                    </a:solidFill>
                  </a:tcPr>
                </a:tc>
              </a:tr>
              <a:tr h="630936">
                <a:tc>
                  <a:txBody>
                    <a:bodyPr wrap="square"/>
                    <a:lstStyle/>
                    <a:p>
                      <a:r>
                        <a:rPr sz="1100" b="1">
                          <a:solidFill>
                            <a:srgbClr val="0C2B4A"/>
                          </a:solidFill>
                        </a:rPr>
                        <a:t>Copied client source code for a weekend side gig</a:t>
                      </a:r>
                    </a:p>
                  </a:txBody>
                  <a:tcPr anchor="ctr" marL="73152" marR="54864" marT="27432" marB="27432">
                    <a:solidFill>
                      <a:srgbClr val="FFFFFF"/>
                    </a:solidFill>
                  </a:tcPr>
                </a:tc>
                <a:tc>
                  <a:txBody>
                    <a:bodyPr wrap="square"/>
                    <a:lstStyle/>
                    <a:p>
                      <a:r>
                        <a:rPr sz="1100">
                          <a:solidFill>
                            <a:srgbClr val="1A1A1A"/>
                          </a:solidFill>
                        </a:rPr>
                        <a:t>Loyalty (IP protection)</a:t>
                      </a:r>
                    </a:p>
                  </a:txBody>
                  <a:tcPr anchor="ctr" marL="73152" marR="54864" marT="27432" marB="27432">
                    <a:solidFill>
                      <a:srgbClr val="FFFFFF"/>
                    </a:solidFill>
                  </a:tcPr>
                </a:tc>
                <a:tc>
                  <a:txBody>
                    <a:bodyPr wrap="square"/>
                    <a:lstStyle/>
                    <a:p>
                      <a:r>
                        <a:rPr sz="1100">
                          <a:solidFill>
                            <a:srgbClr val="1A1A1A"/>
                          </a:solidFill>
                        </a:rPr>
                        <a:t>IP theft; betrays employer AND client</a:t>
                      </a:r>
                    </a:p>
                  </a:txBody>
                  <a:tcPr anchor="ctr" marL="73152" marR="54864" marT="27432" marB="27432">
                    <a:solidFill>
                      <a:srgbClr val="FFFFFF"/>
                    </a:solidFill>
                  </a:tcPr>
                </a:tc>
              </a:tr>
              <a:tr h="630936">
                <a:tc>
                  <a:txBody>
                    <a:bodyPr wrap="square"/>
                    <a:lstStyle/>
                    <a:p>
                      <a:r>
                        <a:rPr sz="1100" b="1">
                          <a:solidFill>
                            <a:srgbClr val="0C2B4A"/>
                          </a:solidFill>
                        </a:rPr>
                        <a:t>Listed a CCNA on the CV without holding it</a:t>
                      </a:r>
                    </a:p>
                  </a:txBody>
                  <a:tcPr anchor="ctr" marL="73152" marR="54864" marT="27432" marB="27432">
                    <a:solidFill>
                      <a:srgbClr val="EEF3F8"/>
                    </a:solidFill>
                  </a:tcPr>
                </a:tc>
                <a:tc>
                  <a:txBody>
                    <a:bodyPr wrap="square"/>
                    <a:lstStyle/>
                    <a:p>
                      <a:r>
                        <a:rPr sz="1100">
                          <a:solidFill>
                            <a:srgbClr val="1A1A1A"/>
                          </a:solidFill>
                        </a:rPr>
                        <a:t>Honesty (qualifications)</a:t>
                      </a:r>
                    </a:p>
                  </a:txBody>
                  <a:tcPr anchor="ctr" marL="73152" marR="54864" marT="27432" marB="27432">
                    <a:solidFill>
                      <a:srgbClr val="EEF3F8"/>
                    </a:solidFill>
                  </a:tcPr>
                </a:tc>
                <a:tc>
                  <a:txBody>
                    <a:bodyPr wrap="square"/>
                    <a:lstStyle/>
                    <a:p>
                      <a:r>
                        <a:rPr sz="1100">
                          <a:solidFill>
                            <a:srgbClr val="1A1A1A"/>
                          </a:solidFill>
                        </a:rPr>
                        <a:t>Resume fraud — grounds for dismissal</a:t>
                      </a:r>
                    </a:p>
                  </a:txBody>
                  <a:tcPr anchor="ctr" marL="73152" marR="54864" marT="27432" marB="27432">
                    <a:solidFill>
                      <a:srgbClr val="EEF3F8"/>
                    </a:solidFill>
                  </a:tcPr>
                </a:tc>
              </a:tr>
              <a:tr h="630936">
                <a:tc>
                  <a:txBody>
                    <a:bodyPr wrap="square"/>
                    <a:lstStyle/>
                    <a:p>
                      <a:r>
                        <a:rPr sz="1100" b="1">
                          <a:solidFill>
                            <a:srgbClr val="0C2B4A"/>
                          </a:solidFill>
                        </a:rPr>
                        <a:t>Installed pirated AutoCAD 'to cut costs' on orders</a:t>
                      </a:r>
                    </a:p>
                  </a:txBody>
                  <a:tcPr anchor="ctr" marL="73152" marR="54864" marT="27432" marB="27432">
                    <a:solidFill>
                      <a:srgbClr val="FFFFFF"/>
                    </a:solidFill>
                  </a:tcPr>
                </a:tc>
                <a:tc>
                  <a:txBody>
                    <a:bodyPr wrap="square"/>
                    <a:lstStyle/>
                    <a:p>
                      <a:r>
                        <a:rPr sz="1100">
                          <a:solidFill>
                            <a:srgbClr val="1A1A1A"/>
                          </a:solidFill>
                        </a:rPr>
                        <a:t>Loyalty (license compliance)</a:t>
                      </a:r>
                    </a:p>
                  </a:txBody>
                  <a:tcPr anchor="ctr" marL="73152" marR="54864" marT="27432" marB="27432">
                    <a:solidFill>
                      <a:srgbClr val="FFFFFF"/>
                    </a:solidFill>
                  </a:tcPr>
                </a:tc>
                <a:tc>
                  <a:txBody>
                    <a:bodyPr wrap="square"/>
                    <a:lstStyle/>
                    <a:p>
                      <a:r>
                        <a:rPr sz="1100">
                          <a:solidFill>
                            <a:srgbClr val="1A1A1A"/>
                          </a:solidFill>
                        </a:rPr>
                        <a:t>Legal liability for the firm AND the installer</a:t>
                      </a:r>
                    </a:p>
                  </a:txBody>
                  <a:tcPr anchor="ctr" marL="73152" marR="54864" marT="27432" marB="27432">
                    <a:solidFill>
                      <a:srgbClr val="FFFFFF"/>
                    </a:solidFill>
                  </a:tcPr>
                </a:tc>
              </a:tr>
              <a:tr h="630936">
                <a:tc>
                  <a:txBody>
                    <a:bodyPr wrap="square"/>
                    <a:lstStyle/>
                    <a:p>
                      <a:r>
                        <a:rPr sz="1100" b="1">
                          <a:solidFill>
                            <a:srgbClr val="0C2B4A"/>
                          </a:solidFill>
                        </a:rPr>
                        <a:t>Moonlighted for the employer's direct rival</a:t>
                      </a:r>
                    </a:p>
                  </a:txBody>
                  <a:tcPr anchor="ctr" marL="73152" marR="54864" marT="27432" marB="27432">
                    <a:solidFill>
                      <a:srgbClr val="EEF3F8"/>
                    </a:solidFill>
                  </a:tcPr>
                </a:tc>
                <a:tc>
                  <a:txBody>
                    <a:bodyPr wrap="square"/>
                    <a:lstStyle/>
                    <a:p>
                      <a:r>
                        <a:rPr sz="1100">
                          <a:solidFill>
                            <a:srgbClr val="1A1A1A"/>
                          </a:solidFill>
                        </a:rPr>
                        <a:t>Loyalty (conflict of interest)</a:t>
                      </a:r>
                    </a:p>
                  </a:txBody>
                  <a:tcPr anchor="ctr" marL="73152" marR="54864" marT="27432" marB="27432">
                    <a:solidFill>
                      <a:srgbClr val="EEF3F8"/>
                    </a:solidFill>
                  </a:tcPr>
                </a:tc>
                <a:tc>
                  <a:txBody>
                    <a:bodyPr wrap="square"/>
                    <a:lstStyle/>
                    <a:p>
                      <a:r>
                        <a:rPr sz="1100">
                          <a:solidFill>
                            <a:srgbClr val="1A1A1A"/>
                          </a:solidFill>
                        </a:rPr>
                        <a:t>Judgment serves two masters — trust lost</a:t>
                      </a:r>
                    </a:p>
                  </a:txBody>
                  <a:tcPr anchor="ctr" marL="73152" marR="54864" marT="27432" marB="27432">
                    <a:solidFill>
                      <a:srgbClr val="EEF3F8"/>
                    </a:solidFill>
                  </a:tcPr>
                </a:tc>
              </a:tr>
              <a:tr h="630936">
                <a:tc>
                  <a:txBody>
                    <a:bodyPr wrap="square"/>
                    <a:lstStyle/>
                    <a:p>
                      <a:r>
                        <a:rPr sz="1100" b="1">
                          <a:solidFill>
                            <a:srgbClr val="0C2B4A"/>
                          </a:solidFill>
                        </a:rPr>
                        <a:t>Leaked the internal client list to a friend's startup</a:t>
                      </a:r>
                    </a:p>
                  </a:txBody>
                  <a:tcPr anchor="ctr" marL="73152" marR="54864" marT="27432" marB="27432">
                    <a:solidFill>
                      <a:srgbClr val="FFFFFF"/>
                    </a:solidFill>
                  </a:tcPr>
                </a:tc>
                <a:tc>
                  <a:txBody>
                    <a:bodyPr wrap="square"/>
                    <a:lstStyle/>
                    <a:p>
                      <a:r>
                        <a:rPr sz="1100">
                          <a:solidFill>
                            <a:srgbClr val="1A1A1A"/>
                          </a:solidFill>
                        </a:rPr>
                        <a:t>Loyalty (protect assets)</a:t>
                      </a:r>
                    </a:p>
                  </a:txBody>
                  <a:tcPr anchor="ctr" marL="73152" marR="54864" marT="27432" marB="27432">
                    <a:solidFill>
                      <a:srgbClr val="FFFFFF"/>
                    </a:solidFill>
                  </a:tcPr>
                </a:tc>
                <a:tc>
                  <a:txBody>
                    <a:bodyPr wrap="square"/>
                    <a:lstStyle/>
                    <a:p>
                      <a:r>
                        <a:rPr sz="1100">
                          <a:solidFill>
                            <a:srgbClr val="1A1A1A"/>
                          </a:solidFill>
                        </a:rPr>
                        <a:t>Confidential asset gone; possible legal action</a:t>
                      </a:r>
                    </a:p>
                  </a:txBody>
                  <a:tcPr anchor="ctr" marL="73152" marR="54864" marT="27432" marB="27432">
                    <a:solidFill>
                      <a:srgbClr val="FFFFFF"/>
                    </a:solidFill>
                  </a:tcPr>
                </a:tc>
              </a:tr>
              <a:tr h="630936">
                <a:tc>
                  <a:txBody>
                    <a:bodyPr wrap="square"/>
                    <a:lstStyle/>
                    <a:p>
                      <a:r>
                        <a:rPr sz="1100" b="1">
                          <a:solidFill>
                            <a:srgbClr val="0C2B4A"/>
                          </a:solidFill>
                        </a:rPr>
                        <a:t>Inflated hours on a project timesheet</a:t>
                      </a:r>
                    </a:p>
                  </a:txBody>
                  <a:tcPr anchor="ctr" marL="73152" marR="54864" marT="27432" marB="27432">
                    <a:solidFill>
                      <a:srgbClr val="EEF3F8"/>
                    </a:solidFill>
                  </a:tcPr>
                </a:tc>
                <a:tc>
                  <a:txBody>
                    <a:bodyPr wrap="square"/>
                    <a:lstStyle/>
                    <a:p>
                      <a:r>
                        <a:rPr sz="1100">
                          <a:solidFill>
                            <a:srgbClr val="1A1A1A"/>
                          </a:solidFill>
                        </a:rPr>
                        <a:t>Honesty (truthful work)</a:t>
                      </a:r>
                    </a:p>
                  </a:txBody>
                  <a:tcPr anchor="ctr" marL="73152" marR="54864" marT="27432" marB="27432">
                    <a:solidFill>
                      <a:srgbClr val="EEF3F8"/>
                    </a:solidFill>
                  </a:tcPr>
                </a:tc>
                <a:tc>
                  <a:txBody>
                    <a:bodyPr wrap="square"/>
                    <a:lstStyle/>
                    <a:p>
                      <a:r>
                        <a:rPr sz="1100">
                          <a:solidFill>
                            <a:srgbClr val="1A1A1A"/>
                          </a:solidFill>
                        </a:rPr>
                        <a:t>Billing fraud; erodes the employer's trust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Loyalty and honesty are the two duties; each row shows one being broken — and 'the boss ordered it' never transfers the blame off you.</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Relationship 2 — the Client: duty beyond the contract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client is who you build for. Three professional duties: give HONEST technical advice, DELIVER what was promised, and DISCLOSE risks (don't hide that a system might fail, leak, or not scale). What makes this relationship ethically loaded is information asymmetry.</a:t>
            </a:r>
          </a:p>
          <a:p>
            <a:pPr>
              <a:spcAft>
                <a:spcPts val="500"/>
              </a:spcAft>
            </a:pPr>
            <a:r>
              <a:rPr sz="1200" b="1">
                <a:solidFill>
                  <a:srgbClr val="185FA5"/>
                </a:solidFill>
              </a:rPr>
              <a:t>HOW IT WORKS</a:t>
            </a:r>
          </a:p>
          <a:p>
            <a:pPr>
              <a:spcAft>
                <a:spcPts val="600"/>
              </a:spcAft>
            </a:pPr>
            <a:r>
              <a:rPr sz="1400">
                <a:solidFill>
                  <a:srgbClr val="1A1A1A"/>
                </a:solidFill>
              </a:rPr>
              <a:t>•  The client usually cannot judge technical quality — they can't read your code or spot a shortcut.</a:t>
            </a:r>
          </a:p>
          <a:p>
            <a:pPr>
              <a:spcAft>
                <a:spcPts val="600"/>
              </a:spcAft>
            </a:pPr>
            <a:r>
              <a:rPr sz="1400">
                <a:solidFill>
                  <a:srgbClr val="1A1A1A"/>
                </a:solidFill>
              </a:rPr>
              <a:t>•  They are forced to rely on your honesty, the way a patient must trust a doctor.</a:t>
            </a:r>
          </a:p>
          <a:p>
            <a:pPr>
              <a:spcAft>
                <a:spcPts val="600"/>
              </a:spcAft>
            </a:pPr>
            <a:r>
              <a:rPr sz="1400">
                <a:solidFill>
                  <a:srgbClr val="1A1A1A"/>
                </a:solidFill>
              </a:rPr>
              <a:t>•  When one party can't verify and the other can exploit that, ethics is the weaker party's only protection.</a:t>
            </a:r>
          </a:p>
          <a:p>
            <a:pPr>
              <a:spcAft>
                <a:spcPts val="600"/>
              </a:spcAft>
            </a:pPr>
            <a:r>
              <a:rPr sz="1400">
                <a:solidFill>
                  <a:srgbClr val="1A1A1A"/>
                </a:solidFill>
              </a:rPr>
              <a:t>•  So the duty is professional, not just contractual — the contract is a floor, not the ceiling (Unit 1).</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When the client can't check your work, your ethics is the only thing protecting them.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Three duties to the client — and the failure when each is broken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784230"/>
                <a:gridCol w="4249615"/>
                <a:gridCol w="4396153"/>
              </a:tblGrid>
              <a:tr h="1104138">
                <a:tc>
                  <a:txBody>
                    <a:bodyPr wrap="square"/>
                    <a:lstStyle/>
                    <a:p>
                      <a:r>
                        <a:rPr sz="1250" b="1">
                          <a:solidFill>
                            <a:srgbClr val="FFFFFF"/>
                          </a:solidFill>
                        </a:rPr>
                        <a:t>Duty to the client</a:t>
                      </a:r>
                    </a:p>
                  </a:txBody>
                  <a:tcPr anchor="ctr" marL="73152" marR="54864" marT="27432" marB="27432">
                    <a:solidFill>
                      <a:srgbClr val="0C2B4A"/>
                    </a:solidFill>
                  </a:tcPr>
                </a:tc>
                <a:tc>
                  <a:txBody>
                    <a:bodyPr wrap="square"/>
                    <a:lstStyle/>
                    <a:p>
                      <a:r>
                        <a:rPr sz="1250" b="1">
                          <a:solidFill>
                            <a:srgbClr val="FFFFFF"/>
                          </a:solidFill>
                        </a:rPr>
                        <a:t>What it means</a:t>
                      </a:r>
                    </a:p>
                  </a:txBody>
                  <a:tcPr anchor="ctr" marL="73152" marR="54864" marT="27432" marB="27432">
                    <a:solidFill>
                      <a:srgbClr val="0C2B4A"/>
                    </a:solidFill>
                  </a:tcPr>
                </a:tc>
                <a:tc>
                  <a:txBody>
                    <a:bodyPr wrap="square"/>
                    <a:lstStyle/>
                    <a:p>
                      <a:r>
                        <a:rPr sz="1250" b="1">
                          <a:solidFill>
                            <a:srgbClr val="FFFFFF"/>
                          </a:solidFill>
                        </a:rPr>
                        <a:t>Failure example (Nepal / IT)</a:t>
                      </a:r>
                    </a:p>
                  </a:txBody>
                  <a:tcPr anchor="ctr" marL="73152" marR="54864" marT="27432" marB="27432">
                    <a:solidFill>
                      <a:srgbClr val="0C2B4A"/>
                    </a:solidFill>
                  </a:tcPr>
                </a:tc>
              </a:tr>
              <a:tr h="1104138">
                <a:tc>
                  <a:txBody>
                    <a:bodyPr wrap="square"/>
                    <a:lstStyle/>
                    <a:p>
                      <a:r>
                        <a:rPr sz="1200" b="1">
                          <a:solidFill>
                            <a:srgbClr val="0C2B4A"/>
                          </a:solidFill>
                        </a:rPr>
                        <a:t>Honest technical advice</a:t>
                      </a:r>
                    </a:p>
                  </a:txBody>
                  <a:tcPr anchor="ctr" marL="73152" marR="54864" marT="27432" marB="27432">
                    <a:solidFill>
                      <a:srgbClr val="FFFFFF"/>
                    </a:solidFill>
                  </a:tcPr>
                </a:tc>
                <a:tc>
                  <a:txBody>
                    <a:bodyPr wrap="square"/>
                    <a:lstStyle/>
                    <a:p>
                      <a:r>
                        <a:rPr sz="1200">
                          <a:solidFill>
                            <a:srgbClr val="1A1A1A"/>
                          </a:solidFill>
                        </a:rPr>
                        <a:t>Recommend what the client needs, not what pays you most</a:t>
                      </a:r>
                    </a:p>
                  </a:txBody>
                  <a:tcPr anchor="ctr" marL="73152" marR="54864" marT="27432" marB="27432">
                    <a:solidFill>
                      <a:srgbClr val="FFFFFF"/>
                    </a:solidFill>
                  </a:tcPr>
                </a:tc>
                <a:tc>
                  <a:txBody>
                    <a:bodyPr wrap="square"/>
                    <a:lstStyle/>
                    <a:p>
                      <a:r>
                        <a:rPr sz="1200">
                          <a:solidFill>
                            <a:srgbClr val="1A1A1A"/>
                          </a:solidFill>
                        </a:rPr>
                        <a:t>Selling an over-sized system a small NGO doesn't need</a:t>
                      </a:r>
                    </a:p>
                  </a:txBody>
                  <a:tcPr anchor="ctr" marL="73152" marR="54864" marT="27432" marB="27432">
                    <a:solidFill>
                      <a:srgbClr val="FFFFFF"/>
                    </a:solidFill>
                  </a:tcPr>
                </a:tc>
              </a:tr>
              <a:tr h="1104138">
                <a:tc>
                  <a:txBody>
                    <a:bodyPr wrap="square"/>
                    <a:lstStyle/>
                    <a:p>
                      <a:r>
                        <a:rPr sz="1200" b="1">
                          <a:solidFill>
                            <a:srgbClr val="0C2B4A"/>
                          </a:solidFill>
                        </a:rPr>
                        <a:t>Deliver what was promised</a:t>
                      </a:r>
                    </a:p>
                  </a:txBody>
                  <a:tcPr anchor="ctr" marL="73152" marR="54864" marT="27432" marB="27432">
                    <a:solidFill>
                      <a:srgbClr val="EEF3F8"/>
                    </a:solidFill>
                  </a:tcPr>
                </a:tc>
                <a:tc>
                  <a:txBody>
                    <a:bodyPr wrap="square"/>
                    <a:lstStyle/>
                    <a:p>
                      <a:r>
                        <a:rPr sz="1200">
                          <a:solidFill>
                            <a:srgbClr val="1A1A1A"/>
                          </a:solidFill>
                        </a:rPr>
                        <a:t>Build the agreed scope to the agreed quality</a:t>
                      </a:r>
                    </a:p>
                  </a:txBody>
                  <a:tcPr anchor="ctr" marL="73152" marR="54864" marT="27432" marB="27432">
                    <a:solidFill>
                      <a:srgbClr val="EEF3F8"/>
                    </a:solidFill>
                  </a:tcPr>
                </a:tc>
                <a:tc>
                  <a:txBody>
                    <a:bodyPr wrap="square"/>
                    <a:lstStyle/>
                    <a:p>
                      <a:r>
                        <a:rPr sz="1200">
                          <a:solidFill>
                            <a:srgbClr val="1A1A1A"/>
                          </a:solidFill>
                        </a:rPr>
                        <a:t>Marking a half-built e-gov module 'done' to trigger payment</a:t>
                      </a:r>
                    </a:p>
                  </a:txBody>
                  <a:tcPr anchor="ctr" marL="73152" marR="54864" marT="27432" marB="27432">
                    <a:solidFill>
                      <a:srgbClr val="EEF3F8"/>
                    </a:solidFill>
                  </a:tcPr>
                </a:tc>
              </a:tr>
              <a:tr h="1104138">
                <a:tc>
                  <a:txBody>
                    <a:bodyPr wrap="square"/>
                    <a:lstStyle/>
                    <a:p>
                      <a:r>
                        <a:rPr sz="1200" b="1">
                          <a:solidFill>
                            <a:srgbClr val="0C2B4A"/>
                          </a:solidFill>
                        </a:rPr>
                        <a:t>Disclose risks</a:t>
                      </a:r>
                    </a:p>
                  </a:txBody>
                  <a:tcPr anchor="ctr" marL="73152" marR="54864" marT="27432" marB="27432">
                    <a:solidFill>
                      <a:srgbClr val="FFFFFF"/>
                    </a:solidFill>
                  </a:tcPr>
                </a:tc>
                <a:tc>
                  <a:txBody>
                    <a:bodyPr wrap="square"/>
                    <a:lstStyle/>
                    <a:p>
                      <a:r>
                        <a:rPr sz="1200">
                          <a:solidFill>
                            <a:srgbClr val="1A1A1A"/>
                          </a:solidFill>
                        </a:rPr>
                        <a:t>Tell them what might fail, leak, or not scale</a:t>
                      </a:r>
                    </a:p>
                  </a:txBody>
                  <a:tcPr anchor="ctr" marL="73152" marR="54864" marT="27432" marB="27432">
                    <a:solidFill>
                      <a:srgbClr val="FFFFFF"/>
                    </a:solidFill>
                  </a:tcPr>
                </a:tc>
                <a:tc>
                  <a:txBody>
                    <a:bodyPr wrap="square"/>
                    <a:lstStyle/>
                    <a:p>
                      <a:r>
                        <a:rPr sz="1200">
                          <a:solidFill>
                            <a:srgbClr val="1A1A1A"/>
                          </a:solidFill>
                        </a:rPr>
                        <a:t>Hiding that the system can't handle election-day load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three exploit information asymmetry — the client literally cannot catch the breach until it's too late. That's what makes it a PROFESSIONAL duty.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Relationship 2 — the Client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software vendor over-promises an e-governance module to a municipality, then quietly under-delivers. The municipality lacks the technical expertise to catch it until the system fails in production — months later, after payment. The asymmetry let the vendor sell air; good ethics here protects a party that literally cannot protect itself.</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contract doesn't ban it, it's fine." Professional duty goes beyond the contract's letter. The contract is a floor, not the limit of your responsibility (the Unit 1 'floor, not ceiling' idea). A loophole in the contract is not an ethical permission slip.</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IT worker owes the client honest technical advice, delivery of what was promised, and disclosure of risks. Because of information asymmetry — the client usually cannot verify technical quality — the worker holds a professional duty like a doctor's, extending beyond the contract's letter. Ethics is the only protection the weaker party has.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honest advice · deliver as promised · disclose risk · information asymmetry · contract is a floor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When the client can't check — asymmetry exploited (Nepal / IT)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249615"/>
                <a:gridCol w="2784230"/>
                <a:gridCol w="4396153"/>
              </a:tblGrid>
              <a:tr h="630936">
                <a:tc>
                  <a:txBody>
                    <a:bodyPr wrap="square"/>
                    <a:lstStyle/>
                    <a:p>
                      <a:r>
                        <a:rPr sz="1150" b="1">
                          <a:solidFill>
                            <a:srgbClr val="FFFFFF"/>
                          </a:solidFill>
                        </a:rPr>
                        <a:t>What the vendor did</a:t>
                      </a:r>
                    </a:p>
                  </a:txBody>
                  <a:tcPr anchor="ctr" marL="73152" marR="54864" marT="27432" marB="27432">
                    <a:solidFill>
                      <a:srgbClr val="0C2B4A"/>
                    </a:solidFill>
                  </a:tcPr>
                </a:tc>
                <a:tc>
                  <a:txBody>
                    <a:bodyPr wrap="square"/>
                    <a:lstStyle/>
                    <a:p>
                      <a:r>
                        <a:rPr sz="1150" b="1">
                          <a:solidFill>
                            <a:srgbClr val="FFFFFF"/>
                          </a:solidFill>
                        </a:rPr>
                        <a:t>Duty broken</a:t>
                      </a:r>
                    </a:p>
                  </a:txBody>
                  <a:tcPr anchor="ctr" marL="73152" marR="54864" marT="27432" marB="27432">
                    <a:solidFill>
                      <a:srgbClr val="0C2B4A"/>
                    </a:solidFill>
                  </a:tcPr>
                </a:tc>
                <a:tc>
                  <a:txBody>
                    <a:bodyPr wrap="square"/>
                    <a:lstStyle/>
                    <a:p>
                      <a:r>
                        <a:rPr sz="1150" b="1">
                          <a:solidFill>
                            <a:srgbClr val="FFFFFF"/>
                          </a:solidFill>
                        </a:rPr>
                        <a:t>Why the client couldn't catch it</a:t>
                      </a:r>
                    </a:p>
                  </a:txBody>
                  <a:tcPr anchor="ctr" marL="73152" marR="54864" marT="27432" marB="27432">
                    <a:solidFill>
                      <a:srgbClr val="0C2B4A"/>
                    </a:solidFill>
                  </a:tcPr>
                </a:tc>
              </a:tr>
              <a:tr h="630936">
                <a:tc>
                  <a:txBody>
                    <a:bodyPr wrap="square"/>
                    <a:lstStyle/>
                    <a:p>
                      <a:r>
                        <a:rPr sz="1100" b="1">
                          <a:solidFill>
                            <a:srgbClr val="0C2B4A"/>
                          </a:solidFill>
                        </a:rPr>
                        <a:t>Sold an NGO an over-sized ERP it didn't need</a:t>
                      </a:r>
                    </a:p>
                  </a:txBody>
                  <a:tcPr anchor="ctr" marL="73152" marR="54864" marT="27432" marB="27432">
                    <a:solidFill>
                      <a:srgbClr val="FFFFFF"/>
                    </a:solidFill>
                  </a:tcPr>
                </a:tc>
                <a:tc>
                  <a:txBody>
                    <a:bodyPr wrap="square"/>
                    <a:lstStyle/>
                    <a:p>
                      <a:r>
                        <a:rPr sz="1100">
                          <a:solidFill>
                            <a:srgbClr val="1A1A1A"/>
                          </a:solidFill>
                        </a:rPr>
                        <a:t>Honest advice</a:t>
                      </a:r>
                    </a:p>
                  </a:txBody>
                  <a:tcPr anchor="ctr" marL="73152" marR="54864" marT="27432" marB="27432">
                    <a:solidFill>
                      <a:srgbClr val="FFFFFF"/>
                    </a:solidFill>
                  </a:tcPr>
                </a:tc>
                <a:tc>
                  <a:txBody>
                    <a:bodyPr wrap="square"/>
                    <a:lstStyle/>
                    <a:p>
                      <a:r>
                        <a:rPr sz="1100">
                          <a:solidFill>
                            <a:srgbClr val="1A1A1A"/>
                          </a:solidFill>
                        </a:rPr>
                        <a:t>They can't judge what capacity they actually need</a:t>
                      </a:r>
                    </a:p>
                  </a:txBody>
                  <a:tcPr anchor="ctr" marL="73152" marR="54864" marT="27432" marB="27432">
                    <a:solidFill>
                      <a:srgbClr val="FFFFFF"/>
                    </a:solidFill>
                  </a:tcPr>
                </a:tc>
              </a:tr>
              <a:tr h="630936">
                <a:tc>
                  <a:txBody>
                    <a:bodyPr wrap="square"/>
                    <a:lstStyle/>
                    <a:p>
                      <a:r>
                        <a:rPr sz="1100" b="1">
                          <a:solidFill>
                            <a:srgbClr val="0C2B4A"/>
                          </a:solidFill>
                        </a:rPr>
                        <a:t>Marked a half-built e-gov module 'done'</a:t>
                      </a:r>
                    </a:p>
                  </a:txBody>
                  <a:tcPr anchor="ctr" marL="73152" marR="54864" marT="27432" marB="27432">
                    <a:solidFill>
                      <a:srgbClr val="EEF3F8"/>
                    </a:solidFill>
                  </a:tcPr>
                </a:tc>
                <a:tc>
                  <a:txBody>
                    <a:bodyPr wrap="square"/>
                    <a:lstStyle/>
                    <a:p>
                      <a:r>
                        <a:rPr sz="1100">
                          <a:solidFill>
                            <a:srgbClr val="1A1A1A"/>
                          </a:solidFill>
                        </a:rPr>
                        <a:t>Deliver as promised</a:t>
                      </a:r>
                    </a:p>
                  </a:txBody>
                  <a:tcPr anchor="ctr" marL="73152" marR="54864" marT="27432" marB="27432">
                    <a:solidFill>
                      <a:srgbClr val="EEF3F8"/>
                    </a:solidFill>
                  </a:tcPr>
                </a:tc>
                <a:tc>
                  <a:txBody>
                    <a:bodyPr wrap="square"/>
                    <a:lstStyle/>
                    <a:p>
                      <a:r>
                        <a:rPr sz="1100">
                          <a:solidFill>
                            <a:srgbClr val="1A1A1A"/>
                          </a:solidFill>
                        </a:rPr>
                        <a:t>No technical staff to test the code before paying</a:t>
                      </a:r>
                    </a:p>
                  </a:txBody>
                  <a:tcPr anchor="ctr" marL="73152" marR="54864" marT="27432" marB="27432">
                    <a:solidFill>
                      <a:srgbClr val="EEF3F8"/>
                    </a:solidFill>
                  </a:tcPr>
                </a:tc>
              </a:tr>
              <a:tr h="630936">
                <a:tc>
                  <a:txBody>
                    <a:bodyPr wrap="square"/>
                    <a:lstStyle/>
                    <a:p>
                      <a:r>
                        <a:rPr sz="1100" b="1">
                          <a:solidFill>
                            <a:srgbClr val="0C2B4A"/>
                          </a:solidFill>
                        </a:rPr>
                        <a:t>Hid that the portal can't handle election-day load</a:t>
                      </a:r>
                    </a:p>
                  </a:txBody>
                  <a:tcPr anchor="ctr" marL="73152" marR="54864" marT="27432" marB="27432">
                    <a:solidFill>
                      <a:srgbClr val="FFFFFF"/>
                    </a:solidFill>
                  </a:tcPr>
                </a:tc>
                <a:tc>
                  <a:txBody>
                    <a:bodyPr wrap="square"/>
                    <a:lstStyle/>
                    <a:p>
                      <a:r>
                        <a:rPr sz="1100">
                          <a:solidFill>
                            <a:srgbClr val="1A1A1A"/>
                          </a:solidFill>
                        </a:rPr>
                        <a:t>Disclose risks</a:t>
                      </a:r>
                    </a:p>
                  </a:txBody>
                  <a:tcPr anchor="ctr" marL="73152" marR="54864" marT="27432" marB="27432">
                    <a:solidFill>
                      <a:srgbClr val="FFFFFF"/>
                    </a:solidFill>
                  </a:tcPr>
                </a:tc>
                <a:tc>
                  <a:txBody>
                    <a:bodyPr wrap="square"/>
                    <a:lstStyle/>
                    <a:p>
                      <a:r>
                        <a:rPr sz="1100">
                          <a:solidFill>
                            <a:srgbClr val="1A1A1A"/>
                          </a:solidFill>
                        </a:rPr>
                        <a:t>Load only shows up in production, months later</a:t>
                      </a:r>
                    </a:p>
                  </a:txBody>
                  <a:tcPr anchor="ctr" marL="73152" marR="54864" marT="27432" marB="27432">
                    <a:solidFill>
                      <a:srgbClr val="FFFFFF"/>
                    </a:solidFill>
                  </a:tcPr>
                </a:tc>
              </a:tr>
              <a:tr h="630936">
                <a:tc>
                  <a:txBody>
                    <a:bodyPr wrap="square"/>
                    <a:lstStyle/>
                    <a:p>
                      <a:r>
                        <a:rPr sz="1100" b="1">
                          <a:solidFill>
                            <a:srgbClr val="0C2B4A"/>
                          </a:solidFill>
                        </a:rPr>
                        <a:t>Used cheap unlicensed libraries without saying</a:t>
                      </a:r>
                    </a:p>
                  </a:txBody>
                  <a:tcPr anchor="ctr" marL="73152" marR="54864" marT="27432" marB="27432">
                    <a:solidFill>
                      <a:srgbClr val="EEF3F8"/>
                    </a:solidFill>
                  </a:tcPr>
                </a:tc>
                <a:tc>
                  <a:txBody>
                    <a:bodyPr wrap="square"/>
                    <a:lstStyle/>
                    <a:p>
                      <a:r>
                        <a:rPr sz="1100">
                          <a:solidFill>
                            <a:srgbClr val="1A1A1A"/>
                          </a:solidFill>
                        </a:rPr>
                        <a:t>Disclose risks</a:t>
                      </a:r>
                    </a:p>
                  </a:txBody>
                  <a:tcPr anchor="ctr" marL="73152" marR="54864" marT="27432" marB="27432">
                    <a:solidFill>
                      <a:srgbClr val="EEF3F8"/>
                    </a:solidFill>
                  </a:tcPr>
                </a:tc>
                <a:tc>
                  <a:txBody>
                    <a:bodyPr wrap="square"/>
                    <a:lstStyle/>
                    <a:p>
                      <a:r>
                        <a:rPr sz="1100">
                          <a:solidFill>
                            <a:srgbClr val="1A1A1A"/>
                          </a:solidFill>
                        </a:rPr>
                        <a:t>Client can't read the dependency list</a:t>
                      </a:r>
                    </a:p>
                  </a:txBody>
                  <a:tcPr anchor="ctr" marL="73152" marR="54864" marT="27432" marB="27432">
                    <a:solidFill>
                      <a:srgbClr val="EEF3F8"/>
                    </a:solidFill>
                  </a:tcPr>
                </a:tc>
              </a:tr>
              <a:tr h="630936">
                <a:tc>
                  <a:txBody>
                    <a:bodyPr wrap="square"/>
                    <a:lstStyle/>
                    <a:p>
                      <a:r>
                        <a:rPr sz="1100" b="1">
                          <a:solidFill>
                            <a:srgbClr val="0C2B4A"/>
                          </a:solidFill>
                        </a:rPr>
                        <a:t>Left no documentation, to lock in future work</a:t>
                      </a:r>
                    </a:p>
                  </a:txBody>
                  <a:tcPr anchor="ctr" marL="73152" marR="54864" marT="27432" marB="27432">
                    <a:solidFill>
                      <a:srgbClr val="FFFFFF"/>
                    </a:solidFill>
                  </a:tcPr>
                </a:tc>
                <a:tc>
                  <a:txBody>
                    <a:bodyPr wrap="square"/>
                    <a:lstStyle/>
                    <a:p>
                      <a:r>
                        <a:rPr sz="1100">
                          <a:solidFill>
                            <a:srgbClr val="1A1A1A"/>
                          </a:solidFill>
                        </a:rPr>
                        <a:t>Honest advice</a:t>
                      </a:r>
                    </a:p>
                  </a:txBody>
                  <a:tcPr anchor="ctr" marL="73152" marR="54864" marT="27432" marB="27432">
                    <a:solidFill>
                      <a:srgbClr val="FFFFFF"/>
                    </a:solidFill>
                  </a:tcPr>
                </a:tc>
                <a:tc>
                  <a:txBody>
                    <a:bodyPr wrap="square"/>
                    <a:lstStyle/>
                    <a:p>
                      <a:r>
                        <a:rPr sz="1100">
                          <a:solidFill>
                            <a:srgbClr val="1A1A1A"/>
                          </a:solidFill>
                        </a:rPr>
                        <a:t>They don't know documentation was owed</a:t>
                      </a:r>
                    </a:p>
                  </a:txBody>
                  <a:tcPr anchor="ctr" marL="73152" marR="54864" marT="27432" marB="27432">
                    <a:solidFill>
                      <a:srgbClr val="FFFFFF"/>
                    </a:solidFill>
                  </a:tcPr>
                </a:tc>
              </a:tr>
              <a:tr h="630936">
                <a:tc>
                  <a:txBody>
                    <a:bodyPr wrap="square"/>
                    <a:lstStyle/>
                    <a:p>
                      <a:r>
                        <a:rPr sz="1100" b="1">
                          <a:solidFill>
                            <a:srgbClr val="0C2B4A"/>
                          </a:solidFill>
                        </a:rPr>
                        <a:t>Quietly stored client data on a free foreign host</a:t>
                      </a:r>
                    </a:p>
                  </a:txBody>
                  <a:tcPr anchor="ctr" marL="73152" marR="54864" marT="27432" marB="27432">
                    <a:solidFill>
                      <a:srgbClr val="EEF3F8"/>
                    </a:solidFill>
                  </a:tcPr>
                </a:tc>
                <a:tc>
                  <a:txBody>
                    <a:bodyPr wrap="square"/>
                    <a:lstStyle/>
                    <a:p>
                      <a:r>
                        <a:rPr sz="1100">
                          <a:solidFill>
                            <a:srgbClr val="1A1A1A"/>
                          </a:solidFill>
                        </a:rPr>
                        <a:t>Disclose risks</a:t>
                      </a:r>
                    </a:p>
                  </a:txBody>
                  <a:tcPr anchor="ctr" marL="73152" marR="54864" marT="27432" marB="27432">
                    <a:solidFill>
                      <a:srgbClr val="EEF3F8"/>
                    </a:solidFill>
                  </a:tcPr>
                </a:tc>
                <a:tc>
                  <a:txBody>
                    <a:bodyPr wrap="square"/>
                    <a:lstStyle/>
                    <a:p>
                      <a:r>
                        <a:rPr sz="1100">
                          <a:solidFill>
                            <a:srgbClr val="1A1A1A"/>
                          </a:solidFill>
                        </a:rPr>
                        <a:t>Invisible unless a leak exposes 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breach survives only because of information asymmetry — the client cannot verify until it's too late. That is why the duty is professional, not just contractual.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4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Relationships 3–6 — Suppliers, Peers, Users &amp; Society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remaining four arrows share a theme: fairness to people who aren't your boss or your client. Suppliers — deal fairly, no bribery/kickbacks. Peers — mutual respect, no resume inflation or poaching trade secrets. Users — support and train them, don't exploit their lack of skill. Society — build safe systems, don't enable harm.</a:t>
            </a:r>
          </a:p>
          <a:p>
            <a:pPr>
              <a:spcAft>
                <a:spcPts val="500"/>
              </a:spcAft>
            </a:pPr>
            <a:r>
              <a:rPr sz="1200" b="1">
                <a:solidFill>
                  <a:srgbClr val="185FA5"/>
                </a:solidFill>
              </a:rPr>
              <a:t>HOW IT WORKS</a:t>
            </a:r>
          </a:p>
          <a:p>
            <a:pPr>
              <a:spcAft>
                <a:spcPts val="600"/>
              </a:spcAft>
            </a:pPr>
            <a:r>
              <a:rPr sz="1400">
                <a:solidFill>
                  <a:srgbClr val="1A1A1A"/>
                </a:solidFill>
              </a:rPr>
              <a:t>•  Resolve the hook: the 'free iPhone' is a bribe disguised as a gift — timed around a tender, meant to influence.</a:t>
            </a:r>
          </a:p>
          <a:p>
            <a:pPr>
              <a:spcAft>
                <a:spcPts val="600"/>
              </a:spcAft>
            </a:pPr>
            <a:r>
              <a:rPr sz="1400">
                <a:solidFill>
                  <a:srgbClr val="1A1A1A"/>
                </a:solidFill>
              </a:rPr>
              <a:t>•  The profession's reputation is shared: one fraud damages every IT worker's credibility.</a:t>
            </a:r>
          </a:p>
          <a:p>
            <a:pPr>
              <a:spcAft>
                <a:spcPts val="600"/>
              </a:spcAft>
            </a:pPr>
            <a:r>
              <a:rPr sz="1400">
                <a:solidFill>
                  <a:srgbClr val="1A1A1A"/>
                </a:solidFill>
              </a:rPr>
              <a:t>•  Don't bury a non-technical user in jargon to overcharge or scare them into an unneeded purchase.</a:t>
            </a:r>
          </a:p>
          <a:p>
            <a:pPr>
              <a:spcAft>
                <a:spcPts val="600"/>
              </a:spcAft>
            </a:pPr>
            <a:r>
              <a:rPr sz="1400">
                <a:solidFill>
                  <a:srgbClr val="1A1A1A"/>
                </a:solidFill>
              </a:rPr>
              <a:t>•  A system that leaks citizen data or powers a scam harms people who never agreed to anything.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Gift or bribe? Public? Timed? Influences you? Fail any → it's a bribe.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104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4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Gift vs Bribe — the three-question test</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3505199"/>
                <a:gridCol w="3962399"/>
                <a:gridCol w="3962399"/>
              </a:tblGrid>
              <a:tr h="1104138">
                <a:tc>
                  <a:txBody>
                    <a:bodyPr wrap="square"/>
                    <a:lstStyle/>
                    <a:p>
                      <a:r>
                        <a:rPr sz="1250" b="1">
                          <a:solidFill>
                            <a:srgbClr val="FFFFFF"/>
                          </a:solidFill>
                        </a:rPr>
                        <a:t>Test question</a:t>
                      </a:r>
                    </a:p>
                  </a:txBody>
                  <a:tcPr anchor="ctr" marL="73152" marR="54864" marT="27432" marB="27432">
                    <a:solidFill>
                      <a:srgbClr val="0C2B4A"/>
                    </a:solidFill>
                  </a:tcPr>
                </a:tc>
                <a:tc>
                  <a:txBody>
                    <a:bodyPr wrap="square"/>
                    <a:lstStyle/>
                    <a:p>
                      <a:r>
                        <a:rPr sz="1250" b="1">
                          <a:solidFill>
                            <a:srgbClr val="FFFFFF"/>
                          </a:solidFill>
                        </a:rPr>
                        <a:t>A genuine gift</a:t>
                      </a:r>
                    </a:p>
                  </a:txBody>
                  <a:tcPr anchor="ctr" marL="73152" marR="54864" marT="27432" marB="27432">
                    <a:solidFill>
                      <a:srgbClr val="0C2B4A"/>
                    </a:solidFill>
                  </a:tcPr>
                </a:tc>
                <a:tc>
                  <a:txBody>
                    <a:bodyPr wrap="square"/>
                    <a:lstStyle/>
                    <a:p>
                      <a:r>
                        <a:rPr sz="1250" b="1">
                          <a:solidFill>
                            <a:srgbClr val="FFFFFF"/>
                          </a:solidFill>
                        </a:rPr>
                        <a:t>A bribe</a:t>
                      </a:r>
                    </a:p>
                  </a:txBody>
                  <a:tcPr anchor="ctr" marL="73152" marR="54864" marT="27432" marB="27432">
                    <a:solidFill>
                      <a:srgbClr val="0C2B4A"/>
                    </a:solidFill>
                  </a:tcPr>
                </a:tc>
              </a:tr>
              <a:tr h="1104138">
                <a:tc>
                  <a:txBody>
                    <a:bodyPr wrap="square"/>
                    <a:lstStyle/>
                    <a:p>
                      <a:r>
                        <a:rPr sz="1200" b="1">
                          <a:solidFill>
                            <a:srgbClr val="0C2B4A"/>
                          </a:solidFill>
                        </a:rPr>
                        <a:t>Would it survive being made PUBLIC?</a:t>
                      </a:r>
                    </a:p>
                  </a:txBody>
                  <a:tcPr anchor="ctr" marL="73152" marR="54864" marT="27432" marB="27432">
                    <a:solidFill>
                      <a:srgbClr val="FFFFFF"/>
                    </a:solidFill>
                  </a:tcPr>
                </a:tc>
                <a:tc>
                  <a:txBody>
                    <a:bodyPr wrap="square"/>
                    <a:lstStyle/>
                    <a:p>
                      <a:r>
                        <a:rPr sz="1200">
                          <a:solidFill>
                            <a:srgbClr val="1A1A1A"/>
                          </a:solidFill>
                        </a:rPr>
                        <a:t>Yes — a logo pen at a conference is fine to disclose</a:t>
                      </a:r>
                    </a:p>
                  </a:txBody>
                  <a:tcPr anchor="ctr" marL="73152" marR="54864" marT="27432" marB="27432">
                    <a:solidFill>
                      <a:srgbClr val="FFFFFF"/>
                    </a:solidFill>
                  </a:tcPr>
                </a:tc>
                <a:tc>
                  <a:txBody>
                    <a:bodyPr wrap="square"/>
                    <a:lstStyle/>
                    <a:p>
                      <a:r>
                        <a:rPr sz="1200">
                          <a:solidFill>
                            <a:srgbClr val="1A1A1A"/>
                          </a:solidFill>
                        </a:rPr>
                        <a:t>No — you'd hide the 'free iPhone' from your boss</a:t>
                      </a:r>
                    </a:p>
                  </a:txBody>
                  <a:tcPr anchor="ctr" marL="73152" marR="54864" marT="27432" marB="27432">
                    <a:solidFill>
                      <a:srgbClr val="FFFFFF"/>
                    </a:solidFill>
                  </a:tcPr>
                </a:tc>
              </a:tr>
              <a:tr h="1104138">
                <a:tc>
                  <a:txBody>
                    <a:bodyPr wrap="square"/>
                    <a:lstStyle/>
                    <a:p>
                      <a:r>
                        <a:rPr sz="1200" b="1">
                          <a:solidFill>
                            <a:srgbClr val="0C2B4A"/>
                          </a:solidFill>
                        </a:rPr>
                        <a:t>Is it TIMED around a decision?</a:t>
                      </a:r>
                    </a:p>
                  </a:txBody>
                  <a:tcPr anchor="ctr" marL="73152" marR="54864" marT="27432" marB="27432">
                    <a:solidFill>
                      <a:srgbClr val="EEF3F8"/>
                    </a:solidFill>
                  </a:tcPr>
                </a:tc>
                <a:tc>
                  <a:txBody>
                    <a:bodyPr wrap="square"/>
                    <a:lstStyle/>
                    <a:p>
                      <a:r>
                        <a:rPr sz="1200">
                          <a:solidFill>
                            <a:srgbClr val="1A1A1A"/>
                          </a:solidFill>
                        </a:rPr>
                        <a:t>No — unrelated to any pending choice</a:t>
                      </a:r>
                    </a:p>
                  </a:txBody>
                  <a:tcPr anchor="ctr" marL="73152" marR="54864" marT="27432" marB="27432">
                    <a:solidFill>
                      <a:srgbClr val="EEF3F8"/>
                    </a:solidFill>
                  </a:tcPr>
                </a:tc>
                <a:tc>
                  <a:txBody>
                    <a:bodyPr wrap="square"/>
                    <a:lstStyle/>
                    <a:p>
                      <a:r>
                        <a:rPr sz="1200">
                          <a:solidFill>
                            <a:srgbClr val="1A1A1A"/>
                          </a:solidFill>
                        </a:rPr>
                        <a:t>Yes — arrives the week before the tender</a:t>
                      </a:r>
                    </a:p>
                  </a:txBody>
                  <a:tcPr anchor="ctr" marL="73152" marR="54864" marT="27432" marB="27432">
                    <a:solidFill>
                      <a:srgbClr val="EEF3F8"/>
                    </a:solidFill>
                  </a:tcPr>
                </a:tc>
              </a:tr>
              <a:tr h="1104138">
                <a:tc>
                  <a:txBody>
                    <a:bodyPr wrap="square"/>
                    <a:lstStyle/>
                    <a:p>
                      <a:r>
                        <a:rPr sz="1200" b="1">
                          <a:solidFill>
                            <a:srgbClr val="0C2B4A"/>
                          </a:solidFill>
                        </a:rPr>
                        <a:t>Could it INFLUENCE your judgment?</a:t>
                      </a:r>
                    </a:p>
                  </a:txBody>
                  <a:tcPr anchor="ctr" marL="73152" marR="54864" marT="27432" marB="27432">
                    <a:solidFill>
                      <a:srgbClr val="FFFFFF"/>
                    </a:solidFill>
                  </a:tcPr>
                </a:tc>
                <a:tc>
                  <a:txBody>
                    <a:bodyPr wrap="square"/>
                    <a:lstStyle/>
                    <a:p>
                      <a:r>
                        <a:rPr sz="1200">
                          <a:solidFill>
                            <a:srgbClr val="1A1A1A"/>
                          </a:solidFill>
                        </a:rPr>
                        <a:t>No — token value, no leverage</a:t>
                      </a:r>
                    </a:p>
                  </a:txBody>
                  <a:tcPr anchor="ctr" marL="73152" marR="54864" marT="27432" marB="27432">
                    <a:solidFill>
                      <a:srgbClr val="FFFFFF"/>
                    </a:solidFill>
                  </a:tcPr>
                </a:tc>
                <a:tc>
                  <a:txBody>
                    <a:bodyPr wrap="square"/>
                    <a:lstStyle/>
                    <a:p>
                      <a:r>
                        <a:rPr sz="1200">
                          <a:solidFill>
                            <a:srgbClr val="1A1A1A"/>
                          </a:solidFill>
                        </a:rPr>
                        <a:t>Yes — that's the entire point of giving it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iPhone fails all three → bribe. The logo pen passes all three → gift. In Nepal, festival ('Dashain') gifting is cultural — the test is what keeps a normal gift from becoming a bribe.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4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relationships on one page — duty &amp; a concrete Nepal risk</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222500"/>
                <a:gridCol w="3810000"/>
                <a:gridCol w="5397500"/>
              </a:tblGrid>
              <a:tr h="630936">
                <a:tc>
                  <a:txBody>
                    <a:bodyPr wrap="square"/>
                    <a:lstStyle/>
                    <a:p>
                      <a:r>
                        <a:rPr sz="1150" b="1">
                          <a:solidFill>
                            <a:srgbClr val="FFFFFF"/>
                          </a:solidFill>
                        </a:rPr>
                        <a:t>Relationship</a:t>
                      </a:r>
                    </a:p>
                  </a:txBody>
                  <a:tcPr anchor="ctr" marL="73152" marR="54864" marT="27432" marB="27432">
                    <a:solidFill>
                      <a:srgbClr val="0C2B4A"/>
                    </a:solidFill>
                  </a:tcPr>
                </a:tc>
                <a:tc>
                  <a:txBody>
                    <a:bodyPr wrap="square"/>
                    <a:lstStyle/>
                    <a:p>
                      <a:r>
                        <a:rPr sz="1150" b="1">
                          <a:solidFill>
                            <a:srgbClr val="FFFFFF"/>
                          </a:solidFill>
                        </a:rPr>
                        <a:t>Core duty</a:t>
                      </a:r>
                    </a:p>
                  </a:txBody>
                  <a:tcPr anchor="ctr" marL="73152" marR="54864" marT="27432" marB="27432">
                    <a:solidFill>
                      <a:srgbClr val="0C2B4A"/>
                    </a:solidFill>
                  </a:tcPr>
                </a:tc>
                <a:tc>
                  <a:txBody>
                    <a:bodyPr wrap="square"/>
                    <a:lstStyle/>
                    <a:p>
                      <a:r>
                        <a:rPr sz="1150" b="1">
                          <a:solidFill>
                            <a:srgbClr val="FFFFFF"/>
                          </a:solidFill>
                        </a:rPr>
                        <a:t>A concrete ethical risk (Nepal / IT)</a:t>
                      </a:r>
                    </a:p>
                  </a:txBody>
                  <a:tcPr anchor="ctr" marL="73152" marR="54864" marT="27432" marB="27432">
                    <a:solidFill>
                      <a:srgbClr val="0C2B4A"/>
                    </a:solidFill>
                  </a:tcPr>
                </a:tc>
              </a:tr>
              <a:tr h="630936">
                <a:tc>
                  <a:txBody>
                    <a:bodyPr wrap="square"/>
                    <a:lstStyle/>
                    <a:p>
                      <a:r>
                        <a:rPr sz="1100" b="1">
                          <a:solidFill>
                            <a:srgbClr val="0C2B4A"/>
                          </a:solidFill>
                        </a:rPr>
                        <a:t>Employer</a:t>
                      </a:r>
                    </a:p>
                  </a:txBody>
                  <a:tcPr anchor="ctr" marL="73152" marR="54864" marT="27432" marB="27432">
                    <a:solidFill>
                      <a:srgbClr val="FFFFFF"/>
                    </a:solidFill>
                  </a:tcPr>
                </a:tc>
                <a:tc>
                  <a:txBody>
                    <a:bodyPr wrap="square"/>
                    <a:lstStyle/>
                    <a:p>
                      <a:r>
                        <a:rPr sz="1100">
                          <a:solidFill>
                            <a:srgbClr val="1A1A1A"/>
                          </a:solidFill>
                        </a:rPr>
                        <a:t>Loyalty + honesty; protect assets/IP</a:t>
                      </a:r>
                    </a:p>
                  </a:txBody>
                  <a:tcPr anchor="ctr" marL="73152" marR="54864" marT="27432" marB="27432">
                    <a:solidFill>
                      <a:srgbClr val="FFFFFF"/>
                    </a:solidFill>
                  </a:tcPr>
                </a:tc>
                <a:tc>
                  <a:txBody>
                    <a:bodyPr wrap="square"/>
                    <a:lstStyle/>
                    <a:p>
                      <a:r>
                        <a:rPr sz="1100">
                          <a:solidFill>
                            <a:srgbClr val="1A1A1A"/>
                          </a:solidFill>
                        </a:rPr>
                        <a:t>Copying source code to a personal side project</a:t>
                      </a:r>
                    </a:p>
                  </a:txBody>
                  <a:tcPr anchor="ctr" marL="73152" marR="54864" marT="27432" marB="27432">
                    <a:solidFill>
                      <a:srgbClr val="FFFFFF"/>
                    </a:solidFill>
                  </a:tcPr>
                </a:tc>
              </a:tr>
              <a:tr h="630936">
                <a:tc>
                  <a:txBody>
                    <a:bodyPr wrap="square"/>
                    <a:lstStyle/>
                    <a:p>
                      <a:r>
                        <a:rPr sz="1100" b="1">
                          <a:solidFill>
                            <a:srgbClr val="0C2B4A"/>
                          </a:solidFill>
                        </a:rPr>
                        <a:t>Client</a:t>
                      </a:r>
                    </a:p>
                  </a:txBody>
                  <a:tcPr anchor="ctr" marL="73152" marR="54864" marT="27432" marB="27432">
                    <a:solidFill>
                      <a:srgbClr val="EEF3F8"/>
                    </a:solidFill>
                  </a:tcPr>
                </a:tc>
                <a:tc>
                  <a:txBody>
                    <a:bodyPr wrap="square"/>
                    <a:lstStyle/>
                    <a:p>
                      <a:r>
                        <a:rPr sz="1100">
                          <a:solidFill>
                            <a:srgbClr val="1A1A1A"/>
                          </a:solidFill>
                        </a:rPr>
                        <a:t>Honest advice; deliver; disclose risk</a:t>
                      </a:r>
                    </a:p>
                  </a:txBody>
                  <a:tcPr anchor="ctr" marL="73152" marR="54864" marT="27432" marB="27432">
                    <a:solidFill>
                      <a:srgbClr val="EEF3F8"/>
                    </a:solidFill>
                  </a:tcPr>
                </a:tc>
                <a:tc>
                  <a:txBody>
                    <a:bodyPr wrap="square"/>
                    <a:lstStyle/>
                    <a:p>
                      <a:r>
                        <a:rPr sz="1100">
                          <a:solidFill>
                            <a:srgbClr val="1A1A1A"/>
                          </a:solidFill>
                        </a:rPr>
                        <a:t>Hiding a security flaw to hit a deadline</a:t>
                      </a:r>
                    </a:p>
                  </a:txBody>
                  <a:tcPr anchor="ctr" marL="73152" marR="54864" marT="27432" marB="27432">
                    <a:solidFill>
                      <a:srgbClr val="EEF3F8"/>
                    </a:solidFill>
                  </a:tcPr>
                </a:tc>
              </a:tr>
              <a:tr h="630936">
                <a:tc>
                  <a:txBody>
                    <a:bodyPr wrap="square"/>
                    <a:lstStyle/>
                    <a:p>
                      <a:r>
                        <a:rPr sz="1100" b="1">
                          <a:solidFill>
                            <a:srgbClr val="0C2B4A"/>
                          </a:solidFill>
                        </a:rPr>
                        <a:t>Suppliers</a:t>
                      </a:r>
                    </a:p>
                  </a:txBody>
                  <a:tcPr anchor="ctr" marL="73152" marR="54864" marT="27432" marB="27432">
                    <a:solidFill>
                      <a:srgbClr val="FFFFFF"/>
                    </a:solidFill>
                  </a:tcPr>
                </a:tc>
                <a:tc>
                  <a:txBody>
                    <a:bodyPr wrap="square"/>
                    <a:lstStyle/>
                    <a:p>
                      <a:r>
                        <a:rPr sz="1100">
                          <a:solidFill>
                            <a:srgbClr val="1A1A1A"/>
                          </a:solidFill>
                        </a:rPr>
                        <a:t>Deal fairly; no bribes/kickbacks</a:t>
                      </a:r>
                    </a:p>
                  </a:txBody>
                  <a:tcPr anchor="ctr" marL="73152" marR="54864" marT="27432" marB="27432">
                    <a:solidFill>
                      <a:srgbClr val="FFFFFF"/>
                    </a:solidFill>
                  </a:tcPr>
                </a:tc>
                <a:tc>
                  <a:txBody>
                    <a:bodyPr wrap="square"/>
                    <a:lstStyle/>
                    <a:p>
                      <a:r>
                        <a:rPr sz="1100">
                          <a:solidFill>
                            <a:srgbClr val="1A1A1A"/>
                          </a:solidFill>
                        </a:rPr>
                        <a:t>Accepting a vendor's pre-tender 'gift'</a:t>
                      </a:r>
                    </a:p>
                  </a:txBody>
                  <a:tcPr anchor="ctr" marL="73152" marR="54864" marT="27432" marB="27432">
                    <a:solidFill>
                      <a:srgbClr val="FFFFFF"/>
                    </a:solidFill>
                  </a:tcPr>
                </a:tc>
              </a:tr>
              <a:tr h="630936">
                <a:tc>
                  <a:txBody>
                    <a:bodyPr wrap="square"/>
                    <a:lstStyle/>
                    <a:p>
                      <a:r>
                        <a:rPr sz="1100" b="1">
                          <a:solidFill>
                            <a:srgbClr val="0C2B4A"/>
                          </a:solidFill>
                        </a:rPr>
                        <a:t>Peers</a:t>
                      </a:r>
                    </a:p>
                  </a:txBody>
                  <a:tcPr anchor="ctr" marL="73152" marR="54864" marT="27432" marB="27432">
                    <a:solidFill>
                      <a:srgbClr val="EEF3F8"/>
                    </a:solidFill>
                  </a:tcPr>
                </a:tc>
                <a:tc>
                  <a:txBody>
                    <a:bodyPr wrap="square"/>
                    <a:lstStyle/>
                    <a:p>
                      <a:r>
                        <a:rPr sz="1100">
                          <a:solidFill>
                            <a:srgbClr val="1A1A1A"/>
                          </a:solidFill>
                        </a:rPr>
                        <a:t>Mutual respect; no poaching/inflation</a:t>
                      </a:r>
                    </a:p>
                  </a:txBody>
                  <a:tcPr anchor="ctr" marL="73152" marR="54864" marT="27432" marB="27432">
                    <a:solidFill>
                      <a:srgbClr val="EEF3F8"/>
                    </a:solidFill>
                  </a:tcPr>
                </a:tc>
                <a:tc>
                  <a:txBody>
                    <a:bodyPr wrap="square"/>
                    <a:lstStyle/>
                    <a:p>
                      <a:r>
                        <a:rPr sz="1100">
                          <a:solidFill>
                            <a:srgbClr val="1A1A1A"/>
                          </a:solidFill>
                        </a:rPr>
                        <a:t>Blaming a teammate to look better; stealing a rival's trade secrets</a:t>
                      </a:r>
                    </a:p>
                  </a:txBody>
                  <a:tcPr anchor="ctr" marL="73152" marR="54864" marT="27432" marB="27432">
                    <a:solidFill>
                      <a:srgbClr val="EEF3F8"/>
                    </a:solidFill>
                  </a:tcPr>
                </a:tc>
              </a:tr>
              <a:tr h="630936">
                <a:tc>
                  <a:txBody>
                    <a:bodyPr wrap="square"/>
                    <a:lstStyle/>
                    <a:p>
                      <a:r>
                        <a:rPr sz="1100" b="1">
                          <a:solidFill>
                            <a:srgbClr val="0C2B4A"/>
                          </a:solidFill>
                        </a:rPr>
                        <a:t>Users</a:t>
                      </a:r>
                    </a:p>
                  </a:txBody>
                  <a:tcPr anchor="ctr" marL="73152" marR="54864" marT="27432" marB="27432">
                    <a:solidFill>
                      <a:srgbClr val="FFFFFF"/>
                    </a:solidFill>
                  </a:tcPr>
                </a:tc>
                <a:tc>
                  <a:txBody>
                    <a:bodyPr wrap="square"/>
                    <a:lstStyle/>
                    <a:p>
                      <a:r>
                        <a:rPr sz="1100">
                          <a:solidFill>
                            <a:srgbClr val="1A1A1A"/>
                          </a:solidFill>
                        </a:rPr>
                        <a:t>Support &amp; train; don't exploit skill gaps</a:t>
                      </a:r>
                    </a:p>
                  </a:txBody>
                  <a:tcPr anchor="ctr" marL="73152" marR="54864" marT="27432" marB="27432">
                    <a:solidFill>
                      <a:srgbClr val="FFFFFF"/>
                    </a:solidFill>
                  </a:tcPr>
                </a:tc>
                <a:tc>
                  <a:txBody>
                    <a:bodyPr wrap="square"/>
                    <a:lstStyle/>
                    <a:p>
                      <a:r>
                        <a:rPr sz="1100">
                          <a:solidFill>
                            <a:srgbClr val="1A1A1A"/>
                          </a:solidFill>
                        </a:rPr>
                        <a:t>Burying a customer in jargon to overcharge</a:t>
                      </a:r>
                    </a:p>
                  </a:txBody>
                  <a:tcPr anchor="ctr" marL="73152" marR="54864" marT="27432" marB="27432">
                    <a:solidFill>
                      <a:srgbClr val="FFFFFF"/>
                    </a:solidFill>
                  </a:tcPr>
                </a:tc>
              </a:tr>
              <a:tr h="630936">
                <a:tc>
                  <a:txBody>
                    <a:bodyPr wrap="square"/>
                    <a:lstStyle/>
                    <a:p>
                      <a:r>
                        <a:rPr sz="1100" b="1">
                          <a:solidFill>
                            <a:srgbClr val="0C2B4A"/>
                          </a:solidFill>
                        </a:rPr>
                        <a:t>Society</a:t>
                      </a:r>
                    </a:p>
                  </a:txBody>
                  <a:tcPr anchor="ctr" marL="73152" marR="54864" marT="27432" marB="27432">
                    <a:solidFill>
                      <a:srgbClr val="EEF3F8"/>
                    </a:solidFill>
                  </a:tcPr>
                </a:tc>
                <a:tc>
                  <a:txBody>
                    <a:bodyPr wrap="square"/>
                    <a:lstStyle/>
                    <a:p>
                      <a:r>
                        <a:rPr sz="1100">
                          <a:solidFill>
                            <a:srgbClr val="1A1A1A"/>
                          </a:solidFill>
                        </a:rPr>
                        <a:t>Build safe systems; don't enable harm</a:t>
                      </a:r>
                    </a:p>
                  </a:txBody>
                  <a:tcPr anchor="ctr" marL="73152" marR="54864" marT="27432" marB="27432">
                    <a:solidFill>
                      <a:srgbClr val="EEF3F8"/>
                    </a:solidFill>
                  </a:tcPr>
                </a:tc>
                <a:tc>
                  <a:txBody>
                    <a:bodyPr wrap="square"/>
                    <a:lstStyle/>
                    <a:p>
                      <a:r>
                        <a:rPr sz="1100">
                          <a:solidFill>
                            <a:srgbClr val="1A1A1A"/>
                          </a:solidFill>
                        </a:rPr>
                        <a:t>Shipping a system that leaks citizen data</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None of these risks required hacking — every one came from ordinary access plus a pull on your loyalty.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S6 · CONCEPT 4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Relationships 3–6 — Suppliers, Peers, Users &amp; Society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Resolving the hook: the vendor's 'free iPhone' is a bribe, not a gift — it fails the three-question test (you'd hide it, it's timed around the tender, and it's meant to influence the Rs 2-crore decision). A logo pen at a conference passes all three and is a genuine gift.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gift is just good manners — accepting it is polite." A gift timed around a decision you control, that you'd hide, and that could sway you, is a bribe regardless of how it's wrapped. Cultural festival-gifting blurs the line, which is exactly why you apply the public/timed/influence test.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Beyond employer and client, the IT worker owes suppliers fair dealing (no bribes), peers respect (no poaching or inflation), users honest support (no exploiting skill gaps), and society safe systems (no enabling harm). A gift becomes a bribe when it fails the public-timed-influence test. Like a pharmacist, the worker's ethics — not their skill — is the safeguard.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fair dealing · bribery vs gift · trade secrets · don't exploit users · safe systems · pharmacist analogy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S6 — 'Map your own six arrows'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imagine you've just joined a Nepali bank's or fintech's IT team.</a:t>
            </a:r>
          </a:p>
          <a:p>
            <a:pPr>
              <a:spcAft>
                <a:spcPts val="700"/>
              </a:spcAft>
            </a:pPr>
            <a:r>
              <a:rPr sz="1550">
                <a:solidFill>
                  <a:srgbClr val="1A1A1A"/>
                </a:solidFill>
              </a:rPr>
              <a:t>•  For ANY THREE of the six relationships, write one concrete ethical risk you'd face in that role.</a:t>
            </a:r>
          </a:p>
          <a:p>
            <a:pPr>
              <a:spcAft>
                <a:spcPts val="700"/>
              </a:spcAft>
            </a:pPr>
            <a:r>
              <a:rPr sz="1550">
                <a:solidFill>
                  <a:srgbClr val="1A1A1A"/>
                </a:solidFill>
              </a:rPr>
              <a:t>•  Take 3–4 answers aloud (3 min) and place each on the relationship web on screen.</a:t>
            </a:r>
          </a:p>
          <a:p>
            <a:pPr>
              <a:spcAft>
                <a:spcPts val="700"/>
              </a:spcAft>
            </a:pPr>
            <a:r>
              <a:rPr sz="1550">
                <a:solidFill>
                  <a:srgbClr val="1A1A1A"/>
                </a:solidFill>
              </a:rPr>
              <a:t>•  Close: notice none required hacking — every risk came from ordinary access plus a pull on your loyalty.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if a pair stalls: employer (copying code to a side project), client (hiding a security flaw to hit a deadline), peers (inflating a teammate's mistake to look better), supplier (a vendor's Dashain gift).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supplier gifting an IT manager a phone right before a tender decision is best described as:</a:t>
            </a:r>
          </a:p>
          <a:p>
            <a:pPr lvl="1"/>
            <a:r>
              <a:rPr sz="1500" b="1">
                <a:solidFill>
                  <a:srgbClr val="0F6E56"/>
                </a:solidFill>
              </a:rPr>
              <a:t>a) good manners   b) ✅ a conflict of interest / bribery   c) a loyalty bonus   d) fair dealing</a:t>
            </a:r>
          </a:p>
          <a:p>
            <a:pPr lvl="1">
              <a:spcBef>
                <a:spcPts val="600"/>
              </a:spcBef>
            </a:pPr>
            <a:r>
              <a:rPr sz="1500" i="1">
                <a:solidFill>
                  <a:srgbClr val="1A1A1A"/>
                </a:solidFill>
              </a:rPr>
              <a:t>     Why: it's timed around a decision, you'd hide it, and it's meant to influence — it fails the gift test.</a:t>
            </a:r>
          </a:p>
          <a:p>
            <a:pPr>
              <a:spcBef>
                <a:spcPts val="900"/>
              </a:spcBef>
            </a:pPr>
            <a:r>
              <a:rPr sz="1700" b="1">
                <a:solidFill>
                  <a:srgbClr val="0C2B4A"/>
                </a:solidFill>
              </a:rPr>
              <a:t>Q2.  The duty to give honest technical advice applies most directly to the:</a:t>
            </a:r>
          </a:p>
          <a:p>
            <a:pPr lvl="1"/>
            <a:r>
              <a:rPr sz="1500" b="1">
                <a:solidFill>
                  <a:srgbClr val="0F6E56"/>
                </a:solidFill>
              </a:rPr>
              <a:t>a) supplier   b) competitor   c) ✅ the client   d) regulator</a:t>
            </a:r>
          </a:p>
          <a:p>
            <a:pPr lvl="1">
              <a:spcBef>
                <a:spcPts val="600"/>
              </a:spcBef>
            </a:pPr>
            <a:r>
              <a:rPr sz="1500" i="1">
                <a:solidFill>
                  <a:srgbClr val="1A1A1A"/>
                </a:solidFill>
              </a:rPr>
              <a:t>     Why: the client can't verify technical quality (information asymmetry), so they depend on your honesty.</a:t>
            </a:r>
          </a:p>
          <a:p>
            <a:pPr lvl="1">
              <a:spcBef>
                <a:spcPts val="600"/>
              </a:spcBef>
            </a:pPr>
            <a:r>
              <a:rPr sz="1500" i="1">
                <a:solidFill>
                  <a:srgbClr val="1A1A1A"/>
                </a:solidFill>
              </a:rPr>
              <a:t>Discussion: which relationship is hardest for a junior IT worker in Nepal to manage honestly —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IT workers manage six key relationships: employer, client, supplier, peers, users, society.</a:t>
            </a:r>
          </a:p>
          <a:p>
            <a:pPr>
              <a:spcAft>
                <a:spcPts val="800"/>
              </a:spcAft>
            </a:pPr>
            <a:r>
              <a:rPr sz="1500">
                <a:solidFill>
                  <a:srgbClr val="1A1A1A"/>
                </a:solidFill>
              </a:rPr>
              <a:t>2.  Privileged access creates duties — it's about power, not just permission; 'can' ≠ 'should'.</a:t>
            </a:r>
          </a:p>
          <a:p>
            <a:pPr>
              <a:spcAft>
                <a:spcPts val="800"/>
              </a:spcAft>
            </a:pPr>
            <a:r>
              <a:rPr sz="1500">
                <a:solidFill>
                  <a:srgbClr val="1A1A1A"/>
                </a:solidFill>
              </a:rPr>
              <a:t>3.  Loyalty, honesty, and no conflicts of interest run through all six; the contract is a floor, not the ceiling.</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Your first IT job hands you access and vendor contacts on day one — before anyone has tested your character. How you handle gifts, access, and honesty in those first weeks quietly sets your reputation for years, and in Nepal's small IT market, reputation travels fast between firms.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S7 — how the profession itself encourages good behaviour: codes, certification, and licensing.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7 · LECTURE HOUR 2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Encouraging Professionalism of IT Workers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doctor swears an oath and can be struck off the NMC register. An engineer signs off on a bridge and answers to the NEC. But anyone can call themselves an 'IT professional' tomorrow — and an IT worker who ships dangerous, negligent software usually faces… nothing formal. There's often no licence to lose.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24 / 104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a 'Profession'? — the four-part test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'Profession' doesn't just mean 'a serious job'. There's a four-part test: (1) specialized education, (2) a recognized body of knowledge, (3) a code of ethics, (4) self-regulation — the field can license and discipline its own members.</a:t>
            </a:r>
          </a:p>
          <a:p>
            <a:pPr>
              <a:spcAft>
                <a:spcPts val="500"/>
              </a:spcAft>
            </a:pPr>
            <a:r>
              <a:rPr sz="1200" b="1">
                <a:solidFill>
                  <a:srgbClr val="185FA5"/>
                </a:solidFill>
              </a:rPr>
              <a:t>HOW IT WORKS</a:t>
            </a:r>
          </a:p>
          <a:p>
            <a:pPr>
              <a:spcAft>
                <a:spcPts val="600"/>
              </a:spcAft>
            </a:pPr>
            <a:r>
              <a:rPr sz="1400">
                <a:solidFill>
                  <a:srgbClr val="1A1A1A"/>
                </a:solidFill>
              </a:rPr>
              <a:t>•  IT clearly has (1) degrees like this one, (2) documented shared expertise, and (3) codes (ACM, IEEE-CS).</a:t>
            </a:r>
          </a:p>
          <a:p>
            <a:pPr>
              <a:spcAft>
                <a:spcPts val="600"/>
              </a:spcAft>
            </a:pPr>
            <a:r>
              <a:rPr sz="1400">
                <a:solidFill>
                  <a:srgbClr val="1A1A1A"/>
                </a:solidFill>
              </a:rPr>
              <a:t>•  IT LACKS (4) universal licensing — you can build banking software tomorrow with no government permission.</a:t>
            </a:r>
          </a:p>
          <a:p>
            <a:pPr>
              <a:spcAft>
                <a:spcPts val="600"/>
              </a:spcAft>
            </a:pPr>
            <a:r>
              <a:rPr sz="1400">
                <a:solidFill>
                  <a:srgbClr val="1A1A1A"/>
                </a:solidFill>
              </a:rPr>
              <a:t>•  Verdict: IT partly qualifies — knowledge and codes, but not the self-regulation medicine and law have.</a:t>
            </a:r>
          </a:p>
          <a:p>
            <a:pPr>
              <a:spcAft>
                <a:spcPts val="600"/>
              </a:spcAft>
            </a:pPr>
            <a:r>
              <a:rPr sz="1400">
                <a:solidFill>
                  <a:srgbClr val="1A1A1A"/>
                </a:solidFill>
              </a:rPr>
              <a:t>•  That single gap is why IT's status as a 'profession' is genuinely debated, not just an exam phrase.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Education ✓ knowledge ✓ code ✓ self-regulation ✗ — IT is a partial profession.</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four-part profession test — IT vs medicine/engineering</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3505199"/>
                <a:gridCol w="3962399"/>
                <a:gridCol w="3962399"/>
              </a:tblGrid>
              <a:tr h="883310">
                <a:tc>
                  <a:txBody>
                    <a:bodyPr wrap="square"/>
                    <a:lstStyle/>
                    <a:p>
                      <a:r>
                        <a:rPr sz="1200" b="1">
                          <a:solidFill>
                            <a:srgbClr val="FFFFFF"/>
                          </a:solidFill>
                        </a:rPr>
                        <a:t>Criterion</a:t>
                      </a:r>
                    </a:p>
                  </a:txBody>
                  <a:tcPr anchor="ctr" marL="73152" marR="54864" marT="27432" marB="27432">
                    <a:solidFill>
                      <a:srgbClr val="0C2B4A"/>
                    </a:solidFill>
                  </a:tcPr>
                </a:tc>
                <a:tc>
                  <a:txBody>
                    <a:bodyPr wrap="square"/>
                    <a:lstStyle/>
                    <a:p>
                      <a:r>
                        <a:rPr sz="1200" b="1">
                          <a:solidFill>
                            <a:srgbClr val="FFFFFF"/>
                          </a:solidFill>
                        </a:rPr>
                        <a:t>Medicine / Engineering</a:t>
                      </a:r>
                    </a:p>
                  </a:txBody>
                  <a:tcPr anchor="ctr" marL="73152" marR="54864" marT="27432" marB="27432">
                    <a:solidFill>
                      <a:srgbClr val="0C2B4A"/>
                    </a:solidFill>
                  </a:tcPr>
                </a:tc>
                <a:tc>
                  <a:txBody>
                    <a:bodyPr wrap="square"/>
                    <a:lstStyle/>
                    <a:p>
                      <a:r>
                        <a:rPr sz="1200" b="1">
                          <a:solidFill>
                            <a:srgbClr val="FFFFFF"/>
                          </a:solidFill>
                        </a:rPr>
                        <a:t>Information Technology</a:t>
                      </a:r>
                    </a:p>
                  </a:txBody>
                  <a:tcPr anchor="ctr" marL="73152" marR="54864" marT="27432" marB="27432">
                    <a:solidFill>
                      <a:srgbClr val="0C2B4A"/>
                    </a:solidFill>
                  </a:tcPr>
                </a:tc>
              </a:tr>
              <a:tr h="883310">
                <a:tc>
                  <a:txBody>
                    <a:bodyPr wrap="square"/>
                    <a:lstStyle/>
                    <a:p>
                      <a:r>
                        <a:rPr sz="1150" b="1">
                          <a:solidFill>
                            <a:srgbClr val="0C2B4A"/>
                          </a:solidFill>
                        </a:rPr>
                        <a:t>Specialized education</a:t>
                      </a:r>
                    </a:p>
                  </a:txBody>
                  <a:tcPr anchor="ctr" marL="73152" marR="54864" marT="27432" marB="27432">
                    <a:solidFill>
                      <a:srgbClr val="FFFFFF"/>
                    </a:solidFill>
                  </a:tcPr>
                </a:tc>
                <a:tc>
                  <a:txBody>
                    <a:bodyPr wrap="square"/>
                    <a:lstStyle/>
                    <a:p>
                      <a:r>
                        <a:rPr sz="1150">
                          <a:solidFill>
                            <a:srgbClr val="1A1A1A"/>
                          </a:solidFill>
                        </a:rPr>
                        <a:t>Medical / engineering degree required</a:t>
                      </a:r>
                    </a:p>
                  </a:txBody>
                  <a:tcPr anchor="ctr" marL="73152" marR="54864" marT="27432" marB="27432">
                    <a:solidFill>
                      <a:srgbClr val="FFFFFF"/>
                    </a:solidFill>
                  </a:tcPr>
                </a:tc>
                <a:tc>
                  <a:txBody>
                    <a:bodyPr wrap="square"/>
                    <a:lstStyle/>
                    <a:p>
                      <a:r>
                        <a:rPr sz="1150">
                          <a:solidFill>
                            <a:srgbClr val="1A1A1A"/>
                          </a:solidFill>
                        </a:rPr>
                        <a:t>✅ Yes — IT degrees (like this BIM)</a:t>
                      </a:r>
                    </a:p>
                  </a:txBody>
                  <a:tcPr anchor="ctr" marL="73152" marR="54864" marT="27432" marB="27432">
                    <a:solidFill>
                      <a:srgbClr val="FFFFFF"/>
                    </a:solidFill>
                  </a:tcPr>
                </a:tc>
              </a:tr>
              <a:tr h="883310">
                <a:tc>
                  <a:txBody>
                    <a:bodyPr wrap="square"/>
                    <a:lstStyle/>
                    <a:p>
                      <a:r>
                        <a:rPr sz="1150" b="1">
                          <a:solidFill>
                            <a:srgbClr val="0C2B4A"/>
                          </a:solidFill>
                        </a:rPr>
                        <a:t>Recognized body of knowledge</a:t>
                      </a:r>
                    </a:p>
                  </a:txBody>
                  <a:tcPr anchor="ctr" marL="73152" marR="54864" marT="27432" marB="27432">
                    <a:solidFill>
                      <a:srgbClr val="EEF3F8"/>
                    </a:solidFill>
                  </a:tcPr>
                </a:tc>
                <a:tc>
                  <a:txBody>
                    <a:bodyPr wrap="square"/>
                    <a:lstStyle/>
                    <a:p>
                      <a:r>
                        <a:rPr sz="1150">
                          <a:solidFill>
                            <a:srgbClr val="1A1A1A"/>
                          </a:solidFill>
                        </a:rPr>
                        <a:t>Established, documented, examined</a:t>
                      </a:r>
                    </a:p>
                  </a:txBody>
                  <a:tcPr anchor="ctr" marL="73152" marR="54864" marT="27432" marB="27432">
                    <a:solidFill>
                      <a:srgbClr val="EEF3F8"/>
                    </a:solidFill>
                  </a:tcPr>
                </a:tc>
                <a:tc>
                  <a:txBody>
                    <a:bodyPr wrap="square"/>
                    <a:lstStyle/>
                    <a:p>
                      <a:r>
                        <a:rPr sz="1150">
                          <a:solidFill>
                            <a:srgbClr val="1A1A1A"/>
                          </a:solidFill>
                        </a:rPr>
                        <a:t>✅ Yes — shared, documented expertise</a:t>
                      </a:r>
                    </a:p>
                  </a:txBody>
                  <a:tcPr anchor="ctr" marL="73152" marR="54864" marT="27432" marB="27432">
                    <a:solidFill>
                      <a:srgbClr val="EEF3F8"/>
                    </a:solidFill>
                  </a:tcPr>
                </a:tc>
              </a:tr>
              <a:tr h="883310">
                <a:tc>
                  <a:txBody>
                    <a:bodyPr wrap="square"/>
                    <a:lstStyle/>
                    <a:p>
                      <a:r>
                        <a:rPr sz="1150" b="1">
                          <a:solidFill>
                            <a:srgbClr val="0C2B4A"/>
                          </a:solidFill>
                        </a:rPr>
                        <a:t>Code of ethics</a:t>
                      </a:r>
                    </a:p>
                  </a:txBody>
                  <a:tcPr anchor="ctr" marL="73152" marR="54864" marT="27432" marB="27432">
                    <a:solidFill>
                      <a:srgbClr val="FFFFFF"/>
                    </a:solidFill>
                  </a:tcPr>
                </a:tc>
                <a:tc>
                  <a:txBody>
                    <a:bodyPr wrap="square"/>
                    <a:lstStyle/>
                    <a:p>
                      <a:r>
                        <a:rPr sz="1150">
                          <a:solidFill>
                            <a:srgbClr val="1A1A1A"/>
                          </a:solidFill>
                        </a:rPr>
                        <a:t>Yes — enforced by the council</a:t>
                      </a:r>
                    </a:p>
                  </a:txBody>
                  <a:tcPr anchor="ctr" marL="73152" marR="54864" marT="27432" marB="27432">
                    <a:solidFill>
                      <a:srgbClr val="FFFFFF"/>
                    </a:solidFill>
                  </a:tcPr>
                </a:tc>
                <a:tc>
                  <a:txBody>
                    <a:bodyPr wrap="square"/>
                    <a:lstStyle/>
                    <a:p>
                      <a:r>
                        <a:rPr sz="1150">
                          <a:solidFill>
                            <a:srgbClr val="1A1A1A"/>
                          </a:solidFill>
                        </a:rPr>
                        <a:t>✅ Yes — ACM, IEEE-CS (voluntary)</a:t>
                      </a:r>
                    </a:p>
                  </a:txBody>
                  <a:tcPr anchor="ctr" marL="73152" marR="54864" marT="27432" marB="27432">
                    <a:solidFill>
                      <a:srgbClr val="FFFFFF"/>
                    </a:solidFill>
                  </a:tcPr>
                </a:tc>
              </a:tr>
              <a:tr h="883312">
                <a:tc>
                  <a:txBody>
                    <a:bodyPr wrap="square"/>
                    <a:lstStyle/>
                    <a:p>
                      <a:r>
                        <a:rPr sz="1150" b="1">
                          <a:solidFill>
                            <a:srgbClr val="0C2B4A"/>
                          </a:solidFill>
                        </a:rPr>
                        <a:t>Self-regulation (licensing + discipline)</a:t>
                      </a:r>
                    </a:p>
                  </a:txBody>
                  <a:tcPr anchor="ctr" marL="73152" marR="54864" marT="27432" marB="27432">
                    <a:solidFill>
                      <a:srgbClr val="EEF3F8"/>
                    </a:solidFill>
                  </a:tcPr>
                </a:tc>
                <a:tc>
                  <a:txBody>
                    <a:bodyPr wrap="square"/>
                    <a:lstStyle/>
                    <a:p>
                      <a:r>
                        <a:rPr sz="1150">
                          <a:solidFill>
                            <a:srgbClr val="1A1A1A"/>
                          </a:solidFill>
                        </a:rPr>
                        <a:t>Yes — NMC / NEC can strike you off</a:t>
                      </a:r>
                    </a:p>
                  </a:txBody>
                  <a:tcPr anchor="ctr" marL="73152" marR="54864" marT="27432" marB="27432">
                    <a:solidFill>
                      <a:srgbClr val="EEF3F8"/>
                    </a:solidFill>
                  </a:tcPr>
                </a:tc>
                <a:tc>
                  <a:txBody>
                    <a:bodyPr wrap="square"/>
                    <a:lstStyle/>
                    <a:p>
                      <a:r>
                        <a:rPr sz="1150">
                          <a:solidFill>
                            <a:srgbClr val="1A1A1A"/>
                          </a:solidFill>
                        </a:rPr>
                        <a:t>❌ No universal licensing to lose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IT scores 3 of 4. The missing self-regulation — no licence, no strike-off — is the whole reason 'is IT a profession?' is a live debate.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a 'Profession'?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doctors are licensed by the NMC and engineers by the NEC — you legally cannot practise without it. IT workers generally are NOT licensed: you can build banking software tomorrow with no government permission. That single fact is the heart of the 'is IT a profession?' debate.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"Anyone who fixes computers is an IT professional." Professionalism is about standards and accountability, not just technical skill. A brilliant coder who hides bugs and pads invoices is skilled, not professional — the title is earned by how you're held to account, not by what you can build.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profession has four marks: specialized education, a recognized body of knowledge, a code of ethics, and self-regulation (licensing + discipline). IT has the first three but lacks universal licensing, so it is a partial profession — which is precisely why its status is debated. Professionalism is defined by standards and accountability, not skill alone.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four-part test · self-regulation · licensing · partial profession · standards over skill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Profession or not? — fields against the four-part test (Nepal)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472405"/>
                <a:gridCol w="4340506"/>
                <a:gridCol w="3617088"/>
              </a:tblGrid>
              <a:tr h="630936">
                <a:tc>
                  <a:txBody>
                    <a:bodyPr wrap="square"/>
                    <a:lstStyle/>
                    <a:p>
                      <a:r>
                        <a:rPr sz="1150" b="1">
                          <a:solidFill>
                            <a:srgbClr val="FFFFFF"/>
                          </a:solidFill>
                        </a:rPr>
                        <a:t>Field</a:t>
                      </a:r>
                    </a:p>
                  </a:txBody>
                  <a:tcPr anchor="ctr" marL="73152" marR="54864" marT="27432" marB="27432">
                    <a:solidFill>
                      <a:srgbClr val="0C2B4A"/>
                    </a:solidFill>
                  </a:tcPr>
                </a:tc>
                <a:tc>
                  <a:txBody>
                    <a:bodyPr wrap="square"/>
                    <a:lstStyle/>
                    <a:p>
                      <a:r>
                        <a:rPr sz="1150" b="1">
                          <a:solidFill>
                            <a:srgbClr val="FFFFFF"/>
                          </a:solidFill>
                        </a:rPr>
                        <a:t>Licensed / self-regulated?</a:t>
                      </a:r>
                    </a:p>
                  </a:txBody>
                  <a:tcPr anchor="ctr" marL="73152" marR="54864" marT="27432" marB="27432">
                    <a:solidFill>
                      <a:srgbClr val="0C2B4A"/>
                    </a:solidFill>
                  </a:tcPr>
                </a:tc>
                <a:tc>
                  <a:txBody>
                    <a:bodyPr wrap="square"/>
                    <a:lstStyle/>
                    <a:p>
                      <a:r>
                        <a:rPr sz="1150" b="1">
                          <a:solidFill>
                            <a:srgbClr val="FFFFFF"/>
                          </a:solidFill>
                        </a:rPr>
                        <a:t>Profession verdict</a:t>
                      </a:r>
                    </a:p>
                  </a:txBody>
                  <a:tcPr anchor="ctr" marL="73152" marR="54864" marT="27432" marB="27432">
                    <a:solidFill>
                      <a:srgbClr val="0C2B4A"/>
                    </a:solidFill>
                  </a:tcPr>
                </a:tc>
              </a:tr>
              <a:tr h="630936">
                <a:tc>
                  <a:txBody>
                    <a:bodyPr wrap="square"/>
                    <a:lstStyle/>
                    <a:p>
                      <a:r>
                        <a:rPr sz="1100" b="1">
                          <a:solidFill>
                            <a:srgbClr val="0C2B4A"/>
                          </a:solidFill>
                        </a:rPr>
                        <a:t>Doctor (Nepal, NMC)</a:t>
                      </a:r>
                    </a:p>
                  </a:txBody>
                  <a:tcPr anchor="ctr" marL="73152" marR="54864" marT="27432" marB="27432">
                    <a:solidFill>
                      <a:srgbClr val="FFFFFF"/>
                    </a:solidFill>
                  </a:tcPr>
                </a:tc>
                <a:tc>
                  <a:txBody>
                    <a:bodyPr wrap="square"/>
                    <a:lstStyle/>
                    <a:p>
                      <a:r>
                        <a:rPr sz="1100">
                          <a:solidFill>
                            <a:srgbClr val="1A1A1A"/>
                          </a:solidFill>
                        </a:rPr>
                        <a:t>Yes — NMC licenses and can strike off</a:t>
                      </a:r>
                    </a:p>
                  </a:txBody>
                  <a:tcPr anchor="ctr" marL="73152" marR="54864" marT="27432" marB="27432">
                    <a:solidFill>
                      <a:srgbClr val="FFFFFF"/>
                    </a:solidFill>
                  </a:tcPr>
                </a:tc>
                <a:tc>
                  <a:txBody>
                    <a:bodyPr wrap="square"/>
                    <a:lstStyle/>
                    <a:p>
                      <a:r>
                        <a:rPr sz="1100">
                          <a:solidFill>
                            <a:srgbClr val="1A1A1A"/>
                          </a:solidFill>
                        </a:rPr>
                        <a:t>Full profession — all four marks</a:t>
                      </a:r>
                    </a:p>
                  </a:txBody>
                  <a:tcPr anchor="ctr" marL="73152" marR="54864" marT="27432" marB="27432">
                    <a:solidFill>
                      <a:srgbClr val="FFFFFF"/>
                    </a:solidFill>
                  </a:tcPr>
                </a:tc>
              </a:tr>
              <a:tr h="630936">
                <a:tc>
                  <a:txBody>
                    <a:bodyPr wrap="square"/>
                    <a:lstStyle/>
                    <a:p>
                      <a:r>
                        <a:rPr sz="1100" b="1">
                          <a:solidFill>
                            <a:srgbClr val="0C2B4A"/>
                          </a:solidFill>
                        </a:rPr>
                        <a:t>Civil engineer (Nepal, NEC)</a:t>
                      </a:r>
                    </a:p>
                  </a:txBody>
                  <a:tcPr anchor="ctr" marL="73152" marR="54864" marT="27432" marB="27432">
                    <a:solidFill>
                      <a:srgbClr val="EEF3F8"/>
                    </a:solidFill>
                  </a:tcPr>
                </a:tc>
                <a:tc>
                  <a:txBody>
                    <a:bodyPr wrap="square"/>
                    <a:lstStyle/>
                    <a:p>
                      <a:r>
                        <a:rPr sz="1100">
                          <a:solidFill>
                            <a:srgbClr val="1A1A1A"/>
                          </a:solidFill>
                        </a:rPr>
                        <a:t>Yes — NEC registration required</a:t>
                      </a:r>
                    </a:p>
                  </a:txBody>
                  <a:tcPr anchor="ctr" marL="73152" marR="54864" marT="27432" marB="27432">
                    <a:solidFill>
                      <a:srgbClr val="EEF3F8"/>
                    </a:solidFill>
                  </a:tcPr>
                </a:tc>
                <a:tc>
                  <a:txBody>
                    <a:bodyPr wrap="square"/>
                    <a:lstStyle/>
                    <a:p>
                      <a:r>
                        <a:rPr sz="1100">
                          <a:solidFill>
                            <a:srgbClr val="1A1A1A"/>
                          </a:solidFill>
                        </a:rPr>
                        <a:t>Full profession — all four marks</a:t>
                      </a:r>
                    </a:p>
                  </a:txBody>
                  <a:tcPr anchor="ctr" marL="73152" marR="54864" marT="27432" marB="27432">
                    <a:solidFill>
                      <a:srgbClr val="EEF3F8"/>
                    </a:solidFill>
                  </a:tcPr>
                </a:tc>
              </a:tr>
              <a:tr h="630936">
                <a:tc>
                  <a:txBody>
                    <a:bodyPr wrap="square"/>
                    <a:lstStyle/>
                    <a:p>
                      <a:r>
                        <a:rPr sz="1100" b="1">
                          <a:solidFill>
                            <a:srgbClr val="0C2B4A"/>
                          </a:solidFill>
                        </a:rPr>
                        <a:t>Lawyer (Nepal Bar Council)</a:t>
                      </a:r>
                    </a:p>
                  </a:txBody>
                  <a:tcPr anchor="ctr" marL="73152" marR="54864" marT="27432" marB="27432">
                    <a:solidFill>
                      <a:srgbClr val="FFFFFF"/>
                    </a:solidFill>
                  </a:tcPr>
                </a:tc>
                <a:tc>
                  <a:txBody>
                    <a:bodyPr wrap="square"/>
                    <a:lstStyle/>
                    <a:p>
                      <a:r>
                        <a:rPr sz="1100">
                          <a:solidFill>
                            <a:srgbClr val="1A1A1A"/>
                          </a:solidFill>
                        </a:rPr>
                        <a:t>Yes — must be enrolled to practise</a:t>
                      </a:r>
                    </a:p>
                  </a:txBody>
                  <a:tcPr anchor="ctr" marL="73152" marR="54864" marT="27432" marB="27432">
                    <a:solidFill>
                      <a:srgbClr val="FFFFFF"/>
                    </a:solidFill>
                  </a:tcPr>
                </a:tc>
                <a:tc>
                  <a:txBody>
                    <a:bodyPr wrap="square"/>
                    <a:lstStyle/>
                    <a:p>
                      <a:r>
                        <a:rPr sz="1100">
                          <a:solidFill>
                            <a:srgbClr val="1A1A1A"/>
                          </a:solidFill>
                        </a:rPr>
                        <a:t>Full profession</a:t>
                      </a:r>
                    </a:p>
                  </a:txBody>
                  <a:tcPr anchor="ctr" marL="73152" marR="54864" marT="27432" marB="27432">
                    <a:solidFill>
                      <a:srgbClr val="FFFFFF"/>
                    </a:solidFill>
                  </a:tcPr>
                </a:tc>
              </a:tr>
              <a:tr h="630936">
                <a:tc>
                  <a:txBody>
                    <a:bodyPr wrap="square"/>
                    <a:lstStyle/>
                    <a:p>
                      <a:r>
                        <a:rPr sz="1100" b="1">
                          <a:solidFill>
                            <a:srgbClr val="0C2B4A"/>
                          </a:solidFill>
                        </a:rPr>
                        <a:t>Chartered accountant (ICAN)</a:t>
                      </a:r>
                    </a:p>
                  </a:txBody>
                  <a:tcPr anchor="ctr" marL="73152" marR="54864" marT="27432" marB="27432">
                    <a:solidFill>
                      <a:srgbClr val="EEF3F8"/>
                    </a:solidFill>
                  </a:tcPr>
                </a:tc>
                <a:tc>
                  <a:txBody>
                    <a:bodyPr wrap="square"/>
                    <a:lstStyle/>
                    <a:p>
                      <a:r>
                        <a:rPr sz="1100">
                          <a:solidFill>
                            <a:srgbClr val="1A1A1A"/>
                          </a:solidFill>
                        </a:rPr>
                        <a:t>Yes — licensed and disciplined</a:t>
                      </a:r>
                    </a:p>
                  </a:txBody>
                  <a:tcPr anchor="ctr" marL="73152" marR="54864" marT="27432" marB="27432">
                    <a:solidFill>
                      <a:srgbClr val="EEF3F8"/>
                    </a:solidFill>
                  </a:tcPr>
                </a:tc>
                <a:tc>
                  <a:txBody>
                    <a:bodyPr wrap="square"/>
                    <a:lstStyle/>
                    <a:p>
                      <a:r>
                        <a:rPr sz="1100">
                          <a:solidFill>
                            <a:srgbClr val="1A1A1A"/>
                          </a:solidFill>
                        </a:rPr>
                        <a:t>Full profession</a:t>
                      </a:r>
                    </a:p>
                  </a:txBody>
                  <a:tcPr anchor="ctr" marL="73152" marR="54864" marT="27432" marB="27432">
                    <a:solidFill>
                      <a:srgbClr val="EEF3F8"/>
                    </a:solidFill>
                  </a:tcPr>
                </a:tc>
              </a:tr>
              <a:tr h="630936">
                <a:tc>
                  <a:txBody>
                    <a:bodyPr wrap="square"/>
                    <a:lstStyle/>
                    <a:p>
                      <a:r>
                        <a:rPr sz="1100" b="1">
                          <a:solidFill>
                            <a:srgbClr val="0C2B4A"/>
                          </a:solidFill>
                        </a:rPr>
                        <a:t>Software developer</a:t>
                      </a:r>
                    </a:p>
                  </a:txBody>
                  <a:tcPr anchor="ctr" marL="73152" marR="54864" marT="27432" marB="27432">
                    <a:solidFill>
                      <a:srgbClr val="FFFFFF"/>
                    </a:solidFill>
                  </a:tcPr>
                </a:tc>
                <a:tc>
                  <a:txBody>
                    <a:bodyPr wrap="square"/>
                    <a:lstStyle/>
                    <a:p>
                      <a:r>
                        <a:rPr sz="1100">
                          <a:solidFill>
                            <a:srgbClr val="1A1A1A"/>
                          </a:solidFill>
                        </a:rPr>
                        <a:t>No licence to build banking software</a:t>
                      </a:r>
                    </a:p>
                  </a:txBody>
                  <a:tcPr anchor="ctr" marL="73152" marR="54864" marT="27432" marB="27432">
                    <a:solidFill>
                      <a:srgbClr val="FFFFFF"/>
                    </a:solidFill>
                  </a:tcPr>
                </a:tc>
                <a:tc>
                  <a:txBody>
                    <a:bodyPr wrap="square"/>
                    <a:lstStyle/>
                    <a:p>
                      <a:r>
                        <a:rPr sz="1100">
                          <a:solidFill>
                            <a:srgbClr val="1A1A1A"/>
                          </a:solidFill>
                        </a:rPr>
                        <a:t>Partial — has knowledge + codes, no licensing</a:t>
                      </a:r>
                    </a:p>
                  </a:txBody>
                  <a:tcPr anchor="ctr" marL="73152" marR="54864" marT="27432" marB="27432">
                    <a:solidFill>
                      <a:srgbClr val="FFFFFF"/>
                    </a:solidFill>
                  </a:tcPr>
                </a:tc>
              </a:tr>
              <a:tr h="630936">
                <a:tc>
                  <a:txBody>
                    <a:bodyPr wrap="square"/>
                    <a:lstStyle/>
                    <a:p>
                      <a:r>
                        <a:rPr sz="1100" b="1">
                          <a:solidFill>
                            <a:srgbClr val="0C2B4A"/>
                          </a:solidFill>
                        </a:rPr>
                        <a:t>Freelance 'computer technician'</a:t>
                      </a:r>
                    </a:p>
                  </a:txBody>
                  <a:tcPr anchor="ctr" marL="73152" marR="54864" marT="27432" marB="27432">
                    <a:solidFill>
                      <a:srgbClr val="EEF3F8"/>
                    </a:solidFill>
                  </a:tcPr>
                </a:tc>
                <a:tc>
                  <a:txBody>
                    <a:bodyPr wrap="square"/>
                    <a:lstStyle/>
                    <a:p>
                      <a:r>
                        <a:rPr sz="1100">
                          <a:solidFill>
                            <a:srgbClr val="1A1A1A"/>
                          </a:solidFill>
                        </a:rPr>
                        <a:t>No credential required at all</a:t>
                      </a:r>
                    </a:p>
                  </a:txBody>
                  <a:tcPr anchor="ctr" marL="73152" marR="54864" marT="27432" marB="27432">
                    <a:solidFill>
                      <a:srgbClr val="EEF3F8"/>
                    </a:solidFill>
                  </a:tcPr>
                </a:tc>
                <a:tc>
                  <a:txBody>
                    <a:bodyPr wrap="square"/>
                    <a:lstStyle/>
                    <a:p>
                      <a:r>
                        <a:rPr sz="1100">
                          <a:solidFill>
                            <a:srgbClr val="1A1A1A"/>
                          </a:solidFill>
                        </a:rPr>
                        <a:t>Not a profession — anyone can claim the title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single differentiator is self-regulation — a licence you can lose. IT has education, knowledge and codes but no strike-off, so it is a partial profession.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Professional Codes of Ethics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code of ethics is a published set of principles members commit to upholding. The big two in IT are the ACM Code of Ethics and IEEE-CS. A code does four jobs: sets expectations, builds public trust, guides decisions, and provides a basis for discipline.</a:t>
            </a:r>
          </a:p>
          <a:p>
            <a:pPr>
              <a:spcAft>
                <a:spcPts val="500"/>
              </a:spcAft>
            </a:pPr>
            <a:r>
              <a:rPr sz="1200" b="1">
                <a:solidFill>
                  <a:srgbClr val="185FA5"/>
                </a:solidFill>
              </a:rPr>
              <a:t>HOW IT WORKS</a:t>
            </a:r>
          </a:p>
          <a:p>
            <a:pPr>
              <a:spcAft>
                <a:spcPts val="600"/>
              </a:spcAft>
            </a:pPr>
            <a:r>
              <a:rPr sz="1400">
                <a:solidFill>
                  <a:srgbClr val="1A1A1A"/>
                </a:solidFill>
              </a:rPr>
              <a:t>•  Sets expectations — turns 'be good' into specifics: 'avoid harm', 'respect privacy', 'be honest about limitations'.</a:t>
            </a:r>
          </a:p>
          <a:p>
            <a:pPr>
              <a:spcAft>
                <a:spcPts val="600"/>
              </a:spcAft>
            </a:pPr>
            <a:r>
              <a:rPr sz="1400">
                <a:solidFill>
                  <a:srgbClr val="1A1A1A"/>
                </a:solidFill>
              </a:rPr>
              <a:t>•  Builds public trust — outsiders can see what the field holds itself to.</a:t>
            </a:r>
          </a:p>
          <a:p>
            <a:pPr>
              <a:spcAft>
                <a:spcPts val="600"/>
              </a:spcAft>
            </a:pPr>
            <a:r>
              <a:rPr sz="1400">
                <a:solidFill>
                  <a:srgbClr val="1A1A1A"/>
                </a:solidFill>
              </a:rPr>
              <a:t>•  Guides decisions — when stuck, the code is a reference, not just your gut.</a:t>
            </a:r>
          </a:p>
          <a:p>
            <a:pPr>
              <a:spcAft>
                <a:spcPts val="600"/>
              </a:spcAft>
            </a:pPr>
            <a:r>
              <a:rPr sz="1400">
                <a:solidFill>
                  <a:srgbClr val="1A1A1A"/>
                </a:solidFill>
              </a:rPr>
              <a:t>•  Basis for discipline — membership/employment can be tied to it, giving it teeth even without a government licence.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code turns 'be good' into commitments you can be held to.</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jobs a code of ethics does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07105"/>
                <a:gridCol w="4211052"/>
                <a:gridCol w="4511842"/>
              </a:tblGrid>
              <a:tr h="883310">
                <a:tc>
                  <a:txBody>
                    <a:bodyPr wrap="square"/>
                    <a:lstStyle/>
                    <a:p>
                      <a:r>
                        <a:rPr sz="1150" b="1">
                          <a:solidFill>
                            <a:srgbClr val="FFFFFF"/>
                          </a:solidFill>
                        </a:rPr>
                        <a:t>Job of the code</a:t>
                      </a:r>
                    </a:p>
                  </a:txBody>
                  <a:tcPr anchor="ctr" marL="73152" marR="54864" marT="27432" marB="27432">
                    <a:solidFill>
                      <a:srgbClr val="0C2B4A"/>
                    </a:solidFill>
                  </a:tcPr>
                </a:tc>
                <a:tc>
                  <a:txBody>
                    <a:bodyPr wrap="square"/>
                    <a:lstStyle/>
                    <a:p>
                      <a:r>
                        <a:rPr sz="1150" b="1">
                          <a:solidFill>
                            <a:srgbClr val="FFFFFF"/>
                          </a:solidFill>
                        </a:rPr>
                        <a:t>What it achieves</a:t>
                      </a:r>
                    </a:p>
                  </a:txBody>
                  <a:tcPr anchor="ctr" marL="73152" marR="54864" marT="27432" marB="27432">
                    <a:solidFill>
                      <a:srgbClr val="0C2B4A"/>
                    </a:solidFill>
                  </a:tcPr>
                </a:tc>
                <a:tc>
                  <a:txBody>
                    <a:bodyPr wrap="square"/>
                    <a:lstStyle/>
                    <a:p>
                      <a:r>
                        <a:rPr sz="1150" b="1">
                          <a:solidFill>
                            <a:srgbClr val="FFFFFF"/>
                          </a:solidFill>
                        </a:rPr>
                        <a:t>Concrete example</a:t>
                      </a:r>
                    </a:p>
                  </a:txBody>
                  <a:tcPr anchor="ctr" marL="73152" marR="54864" marT="27432" marB="27432">
                    <a:solidFill>
                      <a:srgbClr val="0C2B4A"/>
                    </a:solidFill>
                  </a:tcPr>
                </a:tc>
              </a:tr>
              <a:tr h="883310">
                <a:tc>
                  <a:txBody>
                    <a:bodyPr wrap="square"/>
                    <a:lstStyle/>
                    <a:p>
                      <a:r>
                        <a:rPr sz="1100" b="1">
                          <a:solidFill>
                            <a:srgbClr val="0C2B4A"/>
                          </a:solidFill>
                        </a:rPr>
                        <a:t>Sets expectations</a:t>
                      </a:r>
                    </a:p>
                  </a:txBody>
                  <a:tcPr anchor="ctr" marL="73152" marR="54864" marT="27432" marB="27432">
                    <a:solidFill>
                      <a:srgbClr val="FFFFFF"/>
                    </a:solidFill>
                  </a:tcPr>
                </a:tc>
                <a:tc>
                  <a:txBody>
                    <a:bodyPr wrap="square"/>
                    <a:lstStyle/>
                    <a:p>
                      <a:r>
                        <a:rPr sz="1100">
                          <a:solidFill>
                            <a:srgbClr val="1A1A1A"/>
                          </a:solidFill>
                        </a:rPr>
                        <a:t>Turns vague 'be good' into specific commitments</a:t>
                      </a:r>
                    </a:p>
                  </a:txBody>
                  <a:tcPr anchor="ctr" marL="73152" marR="54864" marT="27432" marB="27432">
                    <a:solidFill>
                      <a:srgbClr val="FFFFFF"/>
                    </a:solidFill>
                  </a:tcPr>
                </a:tc>
                <a:tc>
                  <a:txBody>
                    <a:bodyPr wrap="square"/>
                    <a:lstStyle/>
                    <a:p>
                      <a:r>
                        <a:rPr sz="1100">
                          <a:solidFill>
                            <a:srgbClr val="1A1A1A"/>
                          </a:solidFill>
                        </a:rPr>
                        <a:t>ACM: 'avoid harm', 'respect privacy', 'be honest about limitations'</a:t>
                      </a:r>
                    </a:p>
                  </a:txBody>
                  <a:tcPr anchor="ctr" marL="73152" marR="54864" marT="27432" marB="27432">
                    <a:solidFill>
                      <a:srgbClr val="FFFFFF"/>
                    </a:solidFill>
                  </a:tcPr>
                </a:tc>
              </a:tr>
              <a:tr h="883310">
                <a:tc>
                  <a:txBody>
                    <a:bodyPr wrap="square"/>
                    <a:lstStyle/>
                    <a:p>
                      <a:r>
                        <a:rPr sz="1100" b="1">
                          <a:solidFill>
                            <a:srgbClr val="0C2B4A"/>
                          </a:solidFill>
                        </a:rPr>
                        <a:t>Builds public trust</a:t>
                      </a:r>
                    </a:p>
                  </a:txBody>
                  <a:tcPr anchor="ctr" marL="73152" marR="54864" marT="27432" marB="27432">
                    <a:solidFill>
                      <a:srgbClr val="EEF3F8"/>
                    </a:solidFill>
                  </a:tcPr>
                </a:tc>
                <a:tc>
                  <a:txBody>
                    <a:bodyPr wrap="square"/>
                    <a:lstStyle/>
                    <a:p>
                      <a:r>
                        <a:rPr sz="1100">
                          <a:solidFill>
                            <a:srgbClr val="1A1A1A"/>
                          </a:solidFill>
                        </a:rPr>
                        <a:t>Outsiders can see the standard the field holds itself to</a:t>
                      </a:r>
                    </a:p>
                  </a:txBody>
                  <a:tcPr anchor="ctr" marL="73152" marR="54864" marT="27432" marB="27432">
                    <a:solidFill>
                      <a:srgbClr val="EEF3F8"/>
                    </a:solidFill>
                  </a:tcPr>
                </a:tc>
                <a:tc>
                  <a:txBody>
                    <a:bodyPr wrap="square"/>
                    <a:lstStyle/>
                    <a:p>
                      <a:r>
                        <a:rPr sz="1100">
                          <a:solidFill>
                            <a:srgbClr val="1A1A1A"/>
                          </a:solidFill>
                        </a:rPr>
                        <a:t>Clients/outsourcing partners trust a firm that follows ACM norms</a:t>
                      </a:r>
                    </a:p>
                  </a:txBody>
                  <a:tcPr anchor="ctr" marL="73152" marR="54864" marT="27432" marB="27432">
                    <a:solidFill>
                      <a:srgbClr val="EEF3F8"/>
                    </a:solidFill>
                  </a:tcPr>
                </a:tc>
              </a:tr>
              <a:tr h="883310">
                <a:tc>
                  <a:txBody>
                    <a:bodyPr wrap="square"/>
                    <a:lstStyle/>
                    <a:p>
                      <a:r>
                        <a:rPr sz="1100" b="1">
                          <a:solidFill>
                            <a:srgbClr val="0C2B4A"/>
                          </a:solidFill>
                        </a:rPr>
                        <a:t>Guides decisions</a:t>
                      </a:r>
                    </a:p>
                  </a:txBody>
                  <a:tcPr anchor="ctr" marL="73152" marR="54864" marT="27432" marB="27432">
                    <a:solidFill>
                      <a:srgbClr val="FFFFFF"/>
                    </a:solidFill>
                  </a:tcPr>
                </a:tc>
                <a:tc>
                  <a:txBody>
                    <a:bodyPr wrap="square"/>
                    <a:lstStyle/>
                    <a:p>
                      <a:r>
                        <a:rPr sz="1100">
                          <a:solidFill>
                            <a:srgbClr val="1A1A1A"/>
                          </a:solidFill>
                        </a:rPr>
                        <a:t>A reference when you're unsure, not just your gut</a:t>
                      </a:r>
                    </a:p>
                  </a:txBody>
                  <a:tcPr anchor="ctr" marL="73152" marR="54864" marT="27432" marB="27432">
                    <a:solidFill>
                      <a:srgbClr val="FFFFFF"/>
                    </a:solidFill>
                  </a:tcPr>
                </a:tc>
                <a:tc>
                  <a:txBody>
                    <a:bodyPr wrap="square"/>
                    <a:lstStyle/>
                    <a:p>
                      <a:r>
                        <a:rPr sz="1100">
                          <a:solidFill>
                            <a:srgbClr val="1A1A1A"/>
                          </a:solidFill>
                        </a:rPr>
                        <a:t>Asked to build hidden tracking → the code says object/disclose/refuse</a:t>
                      </a:r>
                    </a:p>
                  </a:txBody>
                  <a:tcPr anchor="ctr" marL="73152" marR="54864" marT="27432" marB="27432">
                    <a:solidFill>
                      <a:srgbClr val="FFFFFF"/>
                    </a:solidFill>
                  </a:tcPr>
                </a:tc>
              </a:tr>
              <a:tr h="883312">
                <a:tc>
                  <a:txBody>
                    <a:bodyPr wrap="square"/>
                    <a:lstStyle/>
                    <a:p>
                      <a:r>
                        <a:rPr sz="1100" b="1">
                          <a:solidFill>
                            <a:srgbClr val="0C2B4A"/>
                          </a:solidFill>
                        </a:rPr>
                        <a:t>Basis for discipline</a:t>
                      </a:r>
                    </a:p>
                  </a:txBody>
                  <a:tcPr anchor="ctr" marL="73152" marR="54864" marT="27432" marB="27432">
                    <a:solidFill>
                      <a:srgbClr val="EEF3F8"/>
                    </a:solidFill>
                  </a:tcPr>
                </a:tc>
                <a:tc>
                  <a:txBody>
                    <a:bodyPr wrap="square"/>
                    <a:lstStyle/>
                    <a:p>
                      <a:r>
                        <a:rPr sz="1100">
                          <a:solidFill>
                            <a:srgbClr val="1A1A1A"/>
                          </a:solidFill>
                        </a:rPr>
                        <a:t>Membership or employment can be tied to it</a:t>
                      </a:r>
                    </a:p>
                  </a:txBody>
                  <a:tcPr anchor="ctr" marL="73152" marR="54864" marT="27432" marB="27432">
                    <a:solidFill>
                      <a:srgbClr val="EEF3F8"/>
                    </a:solidFill>
                  </a:tcPr>
                </a:tc>
                <a:tc>
                  <a:txBody>
                    <a:bodyPr wrap="square"/>
                    <a:lstStyle/>
                    <a:p>
                      <a:r>
                        <a:rPr sz="1100">
                          <a:solidFill>
                            <a:srgbClr val="1A1A1A"/>
                          </a:solidFill>
                        </a:rPr>
                        <a:t>Breach → lose membership or your job, even with no state licence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code has 'some teeth' without a government licence — the last row is how the field disciplines its own even though IT lacks NMC/NEC-style regulation.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104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Professional Codes of Ethics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developer is asked to build a hidden tracking feature users don't know about. The ACM principle 'avoid harm' applies: undisclosed tracking harms users' privacy and autonomy without consent → the code says object, disclose, or refuse. In Nepal, firms adopt internal codes modeled on ACM and rally around CAN (Computer Association of Nepal) because clients expect professional standards.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code of ethics is just words on a website." A code is only useful if you can APPLY it to a concrete ask — and it gives you professional language to refuse. Voluntary firms import ACM standards precisely because clients and outsourcing partners demand them; the code has real market teeth.</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code of ethics is a published set of principles members commit to (ACM, IEEE-CS). It sets expectations, builds public trust, guides decisions, and provides a basis for discipline — giving the field some accountability even without government licensing. Its value shows when applied to a concrete ask, such as refusing to build undisclosed user tracking.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code of ethics · ACM · IEEE-CS · avoid harm · CAN-Nepal · apply the code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Applying the code — an ask, the principle, the answer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396153"/>
                <a:gridCol w="3370384"/>
                <a:gridCol w="3663461"/>
              </a:tblGrid>
              <a:tr h="630936">
                <a:tc>
                  <a:txBody>
                    <a:bodyPr wrap="square"/>
                    <a:lstStyle/>
                    <a:p>
                      <a:r>
                        <a:rPr sz="1150" b="1">
                          <a:solidFill>
                            <a:srgbClr val="FFFFFF"/>
                          </a:solidFill>
                        </a:rPr>
                        <a:t>The ask at work</a:t>
                      </a:r>
                    </a:p>
                  </a:txBody>
                  <a:tcPr anchor="ctr" marL="73152" marR="54864" marT="27432" marB="27432">
                    <a:solidFill>
                      <a:srgbClr val="0C2B4A"/>
                    </a:solidFill>
                  </a:tcPr>
                </a:tc>
                <a:tc>
                  <a:txBody>
                    <a:bodyPr wrap="square"/>
                    <a:lstStyle/>
                    <a:p>
                      <a:r>
                        <a:rPr sz="1150" b="1">
                          <a:solidFill>
                            <a:srgbClr val="FFFFFF"/>
                          </a:solidFill>
                        </a:rPr>
                        <a:t>Principle invoked</a:t>
                      </a:r>
                    </a:p>
                  </a:txBody>
                  <a:tcPr anchor="ctr" marL="73152" marR="54864" marT="27432" marB="27432">
                    <a:solidFill>
                      <a:srgbClr val="0C2B4A"/>
                    </a:solidFill>
                  </a:tcPr>
                </a:tc>
                <a:tc>
                  <a:txBody>
                    <a:bodyPr wrap="square"/>
                    <a:lstStyle/>
                    <a:p>
                      <a:r>
                        <a:rPr sz="1150" b="1">
                          <a:solidFill>
                            <a:srgbClr val="FFFFFF"/>
                          </a:solidFill>
                        </a:rPr>
                        <a:t>What the code says to do</a:t>
                      </a:r>
                    </a:p>
                  </a:txBody>
                  <a:tcPr anchor="ctr" marL="73152" marR="54864" marT="27432" marB="27432">
                    <a:solidFill>
                      <a:srgbClr val="0C2B4A"/>
                    </a:solidFill>
                  </a:tcPr>
                </a:tc>
              </a:tr>
              <a:tr h="630936">
                <a:tc>
                  <a:txBody>
                    <a:bodyPr wrap="square"/>
                    <a:lstStyle/>
                    <a:p>
                      <a:r>
                        <a:rPr sz="1100" b="1">
                          <a:solidFill>
                            <a:srgbClr val="0C2B4A"/>
                          </a:solidFill>
                        </a:rPr>
                        <a:t>Build hidden user tracking without consent</a:t>
                      </a:r>
                    </a:p>
                  </a:txBody>
                  <a:tcPr anchor="ctr" marL="73152" marR="54864" marT="27432" marB="27432">
                    <a:solidFill>
                      <a:srgbClr val="FFFFFF"/>
                    </a:solidFill>
                  </a:tcPr>
                </a:tc>
                <a:tc>
                  <a:txBody>
                    <a:bodyPr wrap="square"/>
                    <a:lstStyle/>
                    <a:p>
                      <a:r>
                        <a:rPr sz="1100">
                          <a:solidFill>
                            <a:srgbClr val="1A1A1A"/>
                          </a:solidFill>
                        </a:rPr>
                        <a:t>Avoid harm; respect privacy</a:t>
                      </a:r>
                    </a:p>
                  </a:txBody>
                  <a:tcPr anchor="ctr" marL="73152" marR="54864" marT="27432" marB="27432">
                    <a:solidFill>
                      <a:srgbClr val="FFFFFF"/>
                    </a:solidFill>
                  </a:tcPr>
                </a:tc>
                <a:tc>
                  <a:txBody>
                    <a:bodyPr wrap="square"/>
                    <a:lstStyle/>
                    <a:p>
                      <a:r>
                        <a:rPr sz="1100">
                          <a:solidFill>
                            <a:srgbClr val="1A1A1A"/>
                          </a:solidFill>
                        </a:rPr>
                        <a:t>Object, disclose, or refuse</a:t>
                      </a:r>
                    </a:p>
                  </a:txBody>
                  <a:tcPr anchor="ctr" marL="73152" marR="54864" marT="27432" marB="27432">
                    <a:solidFill>
                      <a:srgbClr val="FFFFFF"/>
                    </a:solidFill>
                  </a:tcPr>
                </a:tc>
              </a:tr>
              <a:tr h="630936">
                <a:tc>
                  <a:txBody>
                    <a:bodyPr wrap="square"/>
                    <a:lstStyle/>
                    <a:p>
                      <a:r>
                        <a:rPr sz="1100" b="1">
                          <a:solidFill>
                            <a:srgbClr val="0C2B4A"/>
                          </a:solidFill>
                        </a:rPr>
                        <a:t>Ship now with a known security hole</a:t>
                      </a:r>
                    </a:p>
                  </a:txBody>
                  <a:tcPr anchor="ctr" marL="73152" marR="54864" marT="27432" marB="27432">
                    <a:solidFill>
                      <a:srgbClr val="EEF3F8"/>
                    </a:solidFill>
                  </a:tcPr>
                </a:tc>
                <a:tc>
                  <a:txBody>
                    <a:bodyPr wrap="square"/>
                    <a:lstStyle/>
                    <a:p>
                      <a:r>
                        <a:rPr sz="1100">
                          <a:solidFill>
                            <a:srgbClr val="1A1A1A"/>
                          </a:solidFill>
                        </a:rPr>
                        <a:t>Avoid harm; be honest about limits</a:t>
                      </a:r>
                    </a:p>
                  </a:txBody>
                  <a:tcPr anchor="ctr" marL="73152" marR="54864" marT="27432" marB="27432">
                    <a:solidFill>
                      <a:srgbClr val="EEF3F8"/>
                    </a:solidFill>
                  </a:tcPr>
                </a:tc>
                <a:tc>
                  <a:txBody>
                    <a:bodyPr wrap="square"/>
                    <a:lstStyle/>
                    <a:p>
                      <a:r>
                        <a:rPr sz="1100">
                          <a:solidFill>
                            <a:srgbClr val="1A1A1A"/>
                          </a:solidFill>
                        </a:rPr>
                        <a:t>Disclose the risk; don't hide it</a:t>
                      </a:r>
                    </a:p>
                  </a:txBody>
                  <a:tcPr anchor="ctr" marL="73152" marR="54864" marT="27432" marB="27432">
                    <a:solidFill>
                      <a:srgbClr val="EEF3F8"/>
                    </a:solidFill>
                  </a:tcPr>
                </a:tc>
              </a:tr>
              <a:tr h="630936">
                <a:tc>
                  <a:txBody>
                    <a:bodyPr wrap="square"/>
                    <a:lstStyle/>
                    <a:p>
                      <a:r>
                        <a:rPr sz="1100" b="1">
                          <a:solidFill>
                            <a:srgbClr val="0C2B4A"/>
                          </a:solidFill>
                        </a:rPr>
                        <a:t>Claim a system is more secure than it is</a:t>
                      </a:r>
                    </a:p>
                  </a:txBody>
                  <a:tcPr anchor="ctr" marL="73152" marR="54864" marT="27432" marB="27432">
                    <a:solidFill>
                      <a:srgbClr val="FFFFFF"/>
                    </a:solidFill>
                  </a:tcPr>
                </a:tc>
                <a:tc>
                  <a:txBody>
                    <a:bodyPr wrap="square"/>
                    <a:lstStyle/>
                    <a:p>
                      <a:r>
                        <a:rPr sz="1100">
                          <a:solidFill>
                            <a:srgbClr val="1A1A1A"/>
                          </a:solidFill>
                        </a:rPr>
                        <a:t>Be honest about limitations</a:t>
                      </a:r>
                    </a:p>
                  </a:txBody>
                  <a:tcPr anchor="ctr" marL="73152" marR="54864" marT="27432" marB="27432">
                    <a:solidFill>
                      <a:srgbClr val="FFFFFF"/>
                    </a:solidFill>
                  </a:tcPr>
                </a:tc>
                <a:tc>
                  <a:txBody>
                    <a:bodyPr wrap="square"/>
                    <a:lstStyle/>
                    <a:p>
                      <a:r>
                        <a:rPr sz="1100">
                          <a:solidFill>
                            <a:srgbClr val="1A1A1A"/>
                          </a:solidFill>
                        </a:rPr>
                        <a:t>State the real capabilities to the client</a:t>
                      </a:r>
                    </a:p>
                  </a:txBody>
                  <a:tcPr anchor="ctr" marL="73152" marR="54864" marT="27432" marB="27432">
                    <a:solidFill>
                      <a:srgbClr val="FFFFFF"/>
                    </a:solidFill>
                  </a:tcPr>
                </a:tc>
              </a:tr>
              <a:tr h="630936">
                <a:tc>
                  <a:txBody>
                    <a:bodyPr wrap="square"/>
                    <a:lstStyle/>
                    <a:p>
                      <a:r>
                        <a:rPr sz="1100" b="1">
                          <a:solidFill>
                            <a:srgbClr val="0C2B4A"/>
                          </a:solidFill>
                        </a:rPr>
                        <a:t>Reuse a rival's leaked source code</a:t>
                      </a:r>
                    </a:p>
                  </a:txBody>
                  <a:tcPr anchor="ctr" marL="73152" marR="54864" marT="27432" marB="27432">
                    <a:solidFill>
                      <a:srgbClr val="EEF3F8"/>
                    </a:solidFill>
                  </a:tcPr>
                </a:tc>
                <a:tc>
                  <a:txBody>
                    <a:bodyPr wrap="square"/>
                    <a:lstStyle/>
                    <a:p>
                      <a:r>
                        <a:rPr sz="1100">
                          <a:solidFill>
                            <a:srgbClr val="1A1A1A"/>
                          </a:solidFill>
                        </a:rPr>
                        <a:t>Respect property / IP</a:t>
                      </a:r>
                    </a:p>
                  </a:txBody>
                  <a:tcPr anchor="ctr" marL="73152" marR="54864" marT="27432" marB="27432">
                    <a:solidFill>
                      <a:srgbClr val="EEF3F8"/>
                    </a:solidFill>
                  </a:tcPr>
                </a:tc>
                <a:tc>
                  <a:txBody>
                    <a:bodyPr wrap="square"/>
                    <a:lstStyle/>
                    <a:p>
                      <a:r>
                        <a:rPr sz="1100">
                          <a:solidFill>
                            <a:srgbClr val="1A1A1A"/>
                          </a:solidFill>
                        </a:rPr>
                        <a:t>Refuse — it isn't yours to use</a:t>
                      </a:r>
                    </a:p>
                  </a:txBody>
                  <a:tcPr anchor="ctr" marL="73152" marR="54864" marT="27432" marB="27432">
                    <a:solidFill>
                      <a:srgbClr val="EEF3F8"/>
                    </a:solidFill>
                  </a:tcPr>
                </a:tc>
              </a:tr>
              <a:tr h="630936">
                <a:tc>
                  <a:txBody>
                    <a:bodyPr wrap="square"/>
                    <a:lstStyle/>
                    <a:p>
                      <a:r>
                        <a:rPr sz="1100" b="1">
                          <a:solidFill>
                            <a:srgbClr val="0C2B4A"/>
                          </a:solidFill>
                        </a:rPr>
                        <a:t>Quietly weaken data protection to cut cost</a:t>
                      </a:r>
                    </a:p>
                  </a:txBody>
                  <a:tcPr anchor="ctr" marL="73152" marR="54864" marT="27432" marB="27432">
                    <a:solidFill>
                      <a:srgbClr val="FFFFFF"/>
                    </a:solidFill>
                  </a:tcPr>
                </a:tc>
                <a:tc>
                  <a:txBody>
                    <a:bodyPr wrap="square"/>
                    <a:lstStyle/>
                    <a:p>
                      <a:r>
                        <a:rPr sz="1100">
                          <a:solidFill>
                            <a:srgbClr val="1A1A1A"/>
                          </a:solidFill>
                        </a:rPr>
                        <a:t>Respect privacy</a:t>
                      </a:r>
                    </a:p>
                  </a:txBody>
                  <a:tcPr anchor="ctr" marL="73152" marR="54864" marT="27432" marB="27432">
                    <a:solidFill>
                      <a:srgbClr val="FFFFFF"/>
                    </a:solidFill>
                  </a:tcPr>
                </a:tc>
                <a:tc>
                  <a:txBody>
                    <a:bodyPr wrap="square"/>
                    <a:lstStyle/>
                    <a:p>
                      <a:r>
                        <a:rPr sz="1100">
                          <a:solidFill>
                            <a:srgbClr val="1A1A1A"/>
                          </a:solidFill>
                        </a:rPr>
                        <a:t>Push back; protect the user's data</a:t>
                      </a:r>
                    </a:p>
                  </a:txBody>
                  <a:tcPr anchor="ctr" marL="73152" marR="54864" marT="27432" marB="27432">
                    <a:solidFill>
                      <a:srgbClr val="FFFFFF"/>
                    </a:solidFill>
                  </a:tcPr>
                </a:tc>
              </a:tr>
              <a:tr h="630936">
                <a:tc>
                  <a:txBody>
                    <a:bodyPr wrap="square"/>
                    <a:lstStyle/>
                    <a:p>
                      <a:r>
                        <a:rPr sz="1100" b="1">
                          <a:solidFill>
                            <a:srgbClr val="0C2B4A"/>
                          </a:solidFill>
                        </a:rPr>
                        <a:t>Blame a junior for your own bug</a:t>
                      </a:r>
                    </a:p>
                  </a:txBody>
                  <a:tcPr anchor="ctr" marL="73152" marR="54864" marT="27432" marB="27432">
                    <a:solidFill>
                      <a:srgbClr val="EEF3F8"/>
                    </a:solidFill>
                  </a:tcPr>
                </a:tc>
                <a:tc>
                  <a:txBody>
                    <a:bodyPr wrap="square"/>
                    <a:lstStyle/>
                    <a:p>
                      <a:r>
                        <a:rPr sz="1100">
                          <a:solidFill>
                            <a:srgbClr val="1A1A1A"/>
                          </a:solidFill>
                        </a:rPr>
                        <a:t>Be honest; give fair credit</a:t>
                      </a:r>
                    </a:p>
                  </a:txBody>
                  <a:tcPr anchor="ctr" marL="73152" marR="54864" marT="27432" marB="27432">
                    <a:solidFill>
                      <a:srgbClr val="EEF3F8"/>
                    </a:solidFill>
                  </a:tcPr>
                </a:tc>
                <a:tc>
                  <a:txBody>
                    <a:bodyPr wrap="square"/>
                    <a:lstStyle/>
                    <a:p>
                      <a:r>
                        <a:rPr sz="1100">
                          <a:solidFill>
                            <a:srgbClr val="1A1A1A"/>
                          </a:solidFill>
                        </a:rPr>
                        <a:t>Own the error; don't scapegoat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code is only useful when applied to a concrete ask — and it hands you professional language to say no, even without a government licence behind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Certification — proof of a specific skill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certification is a vendor or industry credential proving a specific skill — CCNA, CISSP, CompTIA, AWS, PMP. Four defining traits, because students routinely over-trust certs: it signals competence, it is voluntary, it can become outdated, and it is NOT a licence.</a:t>
            </a:r>
          </a:p>
          <a:p>
            <a:pPr>
              <a:spcAft>
                <a:spcPts val="500"/>
              </a:spcAft>
            </a:pPr>
            <a:r>
              <a:rPr sz="1200" b="1">
                <a:solidFill>
                  <a:srgbClr val="185FA5"/>
                </a:solidFill>
              </a:rPr>
              <a:t>HOW IT WORKS</a:t>
            </a:r>
          </a:p>
          <a:p>
            <a:pPr>
              <a:spcAft>
                <a:spcPts val="600"/>
              </a:spcAft>
            </a:pPr>
            <a:r>
              <a:rPr sz="1400">
                <a:solidFill>
                  <a:srgbClr val="1A1A1A"/>
                </a:solidFill>
              </a:rPr>
              <a:t>•  Signals competence — a fast, trusted filter for employers scanning a CV.</a:t>
            </a:r>
          </a:p>
          <a:p>
            <a:pPr>
              <a:spcAft>
                <a:spcPts val="600"/>
              </a:spcAft>
            </a:pPr>
            <a:r>
              <a:rPr sz="1400">
                <a:solidFill>
                  <a:srgbClr val="1A1A1A"/>
                </a:solidFill>
              </a:rPr>
              <a:t>•  Voluntary — no law requires it; you choose to pursue it.</a:t>
            </a:r>
          </a:p>
          <a:p>
            <a:pPr>
              <a:spcAft>
                <a:spcPts val="600"/>
              </a:spcAft>
            </a:pPr>
            <a:r>
              <a:rPr sz="1400">
                <a:solidFill>
                  <a:srgbClr val="1A1A1A"/>
                </a:solidFill>
              </a:rPr>
              <a:t>•  Can become outdated — a 2015 cloud cert may be stale today; certs expire and renew.</a:t>
            </a:r>
          </a:p>
          <a:p>
            <a:pPr>
              <a:spcAft>
                <a:spcPts val="600"/>
              </a:spcAft>
            </a:pPr>
            <a:r>
              <a:rPr sz="1400">
                <a:solidFill>
                  <a:srgbClr val="1A1A1A"/>
                </a:solidFill>
              </a:rPr>
              <a:t>•  Not a licence — passing an exam grants no legal right to practise anything.</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cert proves you CAN do the skill — not that you WILL do it ethically.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Common IT certifications — what each proves &amp; who issues it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49285"/>
                <a:gridCol w="5225142"/>
                <a:gridCol w="3755571"/>
              </a:tblGrid>
              <a:tr h="630936">
                <a:tc>
                  <a:txBody>
                    <a:bodyPr wrap="square"/>
                    <a:lstStyle/>
                    <a:p>
                      <a:r>
                        <a:rPr sz="1200" b="1">
                          <a:solidFill>
                            <a:srgbClr val="FFFFFF"/>
                          </a:solidFill>
                        </a:rPr>
                        <a:t>Certification</a:t>
                      </a:r>
                    </a:p>
                  </a:txBody>
                  <a:tcPr anchor="ctr" marL="73152" marR="54864" marT="27432" marB="27432">
                    <a:solidFill>
                      <a:srgbClr val="0C2B4A"/>
                    </a:solidFill>
                  </a:tcPr>
                </a:tc>
                <a:tc>
                  <a:txBody>
                    <a:bodyPr wrap="square"/>
                    <a:lstStyle/>
                    <a:p>
                      <a:r>
                        <a:rPr sz="1200" b="1">
                          <a:solidFill>
                            <a:srgbClr val="FFFFFF"/>
                          </a:solidFill>
                        </a:rPr>
                        <a:t>What it proves</a:t>
                      </a:r>
                    </a:p>
                  </a:txBody>
                  <a:tcPr anchor="ctr" marL="73152" marR="54864" marT="27432" marB="27432">
                    <a:solidFill>
                      <a:srgbClr val="0C2B4A"/>
                    </a:solidFill>
                  </a:tcPr>
                </a:tc>
                <a:tc>
                  <a:txBody>
                    <a:bodyPr wrap="square"/>
                    <a:lstStyle/>
                    <a:p>
                      <a:r>
                        <a:rPr sz="1200" b="1">
                          <a:solidFill>
                            <a:srgbClr val="FFFFFF"/>
                          </a:solidFill>
                        </a:rPr>
                        <a:t>Issued by</a:t>
                      </a:r>
                    </a:p>
                  </a:txBody>
                  <a:tcPr anchor="ctr" marL="73152" marR="54864" marT="27432" marB="27432">
                    <a:solidFill>
                      <a:srgbClr val="0C2B4A"/>
                    </a:solidFill>
                  </a:tcPr>
                </a:tc>
              </a:tr>
              <a:tr h="630936">
                <a:tc>
                  <a:txBody>
                    <a:bodyPr wrap="square"/>
                    <a:lstStyle/>
                    <a:p>
                      <a:r>
                        <a:rPr sz="1150" b="1">
                          <a:solidFill>
                            <a:srgbClr val="0C2B4A"/>
                          </a:solidFill>
                        </a:rPr>
                        <a:t>CCNA</a:t>
                      </a:r>
                    </a:p>
                  </a:txBody>
                  <a:tcPr anchor="ctr" marL="73152" marR="54864" marT="27432" marB="27432">
                    <a:solidFill>
                      <a:srgbClr val="FFFFFF"/>
                    </a:solidFill>
                  </a:tcPr>
                </a:tc>
                <a:tc>
                  <a:txBody>
                    <a:bodyPr wrap="square"/>
                    <a:lstStyle/>
                    <a:p>
                      <a:r>
                        <a:rPr sz="1150">
                          <a:solidFill>
                            <a:srgbClr val="1A1A1A"/>
                          </a:solidFill>
                        </a:rPr>
                        <a:t>Cisco networking fundamentals</a:t>
                      </a:r>
                    </a:p>
                  </a:txBody>
                  <a:tcPr anchor="ctr" marL="73152" marR="54864" marT="27432" marB="27432">
                    <a:solidFill>
                      <a:srgbClr val="FFFFFF"/>
                    </a:solidFill>
                  </a:tcPr>
                </a:tc>
                <a:tc>
                  <a:txBody>
                    <a:bodyPr wrap="square"/>
                    <a:lstStyle/>
                    <a:p>
                      <a:r>
                        <a:rPr sz="1150">
                          <a:solidFill>
                            <a:srgbClr val="1A1A1A"/>
                          </a:solidFill>
                        </a:rPr>
                        <a:t>Cisco (vendor)</a:t>
                      </a:r>
                    </a:p>
                  </a:txBody>
                  <a:tcPr anchor="ctr" marL="73152" marR="54864" marT="27432" marB="27432">
                    <a:solidFill>
                      <a:srgbClr val="FFFFFF"/>
                    </a:solidFill>
                  </a:tcPr>
                </a:tc>
              </a:tr>
              <a:tr h="630936">
                <a:tc>
                  <a:txBody>
                    <a:bodyPr wrap="square"/>
                    <a:lstStyle/>
                    <a:p>
                      <a:r>
                        <a:rPr sz="1150" b="1">
                          <a:solidFill>
                            <a:srgbClr val="0C2B4A"/>
                          </a:solidFill>
                        </a:rPr>
                        <a:t>CISSP</a:t>
                      </a:r>
                    </a:p>
                  </a:txBody>
                  <a:tcPr anchor="ctr" marL="73152" marR="54864" marT="27432" marB="27432">
                    <a:solidFill>
                      <a:srgbClr val="EEF3F8"/>
                    </a:solidFill>
                  </a:tcPr>
                </a:tc>
                <a:tc>
                  <a:txBody>
                    <a:bodyPr wrap="square"/>
                    <a:lstStyle/>
                    <a:p>
                      <a:r>
                        <a:rPr sz="1150">
                          <a:solidFill>
                            <a:srgbClr val="1A1A1A"/>
                          </a:solidFill>
                        </a:rPr>
                        <a:t>Information-security management expertise</a:t>
                      </a:r>
                    </a:p>
                  </a:txBody>
                  <a:tcPr anchor="ctr" marL="73152" marR="54864" marT="27432" marB="27432">
                    <a:solidFill>
                      <a:srgbClr val="EEF3F8"/>
                    </a:solidFill>
                  </a:tcPr>
                </a:tc>
                <a:tc>
                  <a:txBody>
                    <a:bodyPr wrap="square"/>
                    <a:lstStyle/>
                    <a:p>
                      <a:r>
                        <a:rPr sz="1150">
                          <a:solidFill>
                            <a:srgbClr val="1A1A1A"/>
                          </a:solidFill>
                        </a:rPr>
                        <a:t>(ISC)² (industry body)</a:t>
                      </a:r>
                    </a:p>
                  </a:txBody>
                  <a:tcPr anchor="ctr" marL="73152" marR="54864" marT="27432" marB="27432">
                    <a:solidFill>
                      <a:srgbClr val="EEF3F8"/>
                    </a:solidFill>
                  </a:tcPr>
                </a:tc>
              </a:tr>
              <a:tr h="630936">
                <a:tc>
                  <a:txBody>
                    <a:bodyPr wrap="square"/>
                    <a:lstStyle/>
                    <a:p>
                      <a:r>
                        <a:rPr sz="1150" b="1">
                          <a:solidFill>
                            <a:srgbClr val="0C2B4A"/>
                          </a:solidFill>
                        </a:rPr>
                        <a:t>CEH</a:t>
                      </a:r>
                    </a:p>
                  </a:txBody>
                  <a:tcPr anchor="ctr" marL="73152" marR="54864" marT="27432" marB="27432">
                    <a:solidFill>
                      <a:srgbClr val="FFFFFF"/>
                    </a:solidFill>
                  </a:tcPr>
                </a:tc>
                <a:tc>
                  <a:txBody>
                    <a:bodyPr wrap="square"/>
                    <a:lstStyle/>
                    <a:p>
                      <a:r>
                        <a:rPr sz="1150">
                          <a:solidFill>
                            <a:srgbClr val="1A1A1A"/>
                          </a:solidFill>
                        </a:rPr>
                        <a:t>Skill in ethical hacking / penetration testing</a:t>
                      </a:r>
                    </a:p>
                  </a:txBody>
                  <a:tcPr anchor="ctr" marL="73152" marR="54864" marT="27432" marB="27432">
                    <a:solidFill>
                      <a:srgbClr val="FFFFFF"/>
                    </a:solidFill>
                  </a:tcPr>
                </a:tc>
                <a:tc>
                  <a:txBody>
                    <a:bodyPr wrap="square"/>
                    <a:lstStyle/>
                    <a:p>
                      <a:r>
                        <a:rPr sz="1150">
                          <a:solidFill>
                            <a:srgbClr val="1A1A1A"/>
                          </a:solidFill>
                        </a:rPr>
                        <a:t>EC-Council (industry body)</a:t>
                      </a:r>
                    </a:p>
                  </a:txBody>
                  <a:tcPr anchor="ctr" marL="73152" marR="54864" marT="27432" marB="27432">
                    <a:solidFill>
                      <a:srgbClr val="FFFFFF"/>
                    </a:solidFill>
                  </a:tcPr>
                </a:tc>
              </a:tr>
              <a:tr h="630936">
                <a:tc>
                  <a:txBody>
                    <a:bodyPr wrap="square"/>
                    <a:lstStyle/>
                    <a:p>
                      <a:r>
                        <a:rPr sz="1150" b="1">
                          <a:solidFill>
                            <a:srgbClr val="0C2B4A"/>
                          </a:solidFill>
                        </a:rPr>
                        <a:t>CompTIA A+</a:t>
                      </a:r>
                    </a:p>
                  </a:txBody>
                  <a:tcPr anchor="ctr" marL="73152" marR="54864" marT="27432" marB="27432">
                    <a:solidFill>
                      <a:srgbClr val="EEF3F8"/>
                    </a:solidFill>
                  </a:tcPr>
                </a:tc>
                <a:tc>
                  <a:txBody>
                    <a:bodyPr wrap="square"/>
                    <a:lstStyle/>
                    <a:p>
                      <a:r>
                        <a:rPr sz="1150">
                          <a:solidFill>
                            <a:srgbClr val="1A1A1A"/>
                          </a:solidFill>
                        </a:rPr>
                        <a:t>Core IT support / hardware &amp; OS troubleshooting</a:t>
                      </a:r>
                    </a:p>
                  </a:txBody>
                  <a:tcPr anchor="ctr" marL="73152" marR="54864" marT="27432" marB="27432">
                    <a:solidFill>
                      <a:srgbClr val="EEF3F8"/>
                    </a:solidFill>
                  </a:tcPr>
                </a:tc>
                <a:tc>
                  <a:txBody>
                    <a:bodyPr wrap="square"/>
                    <a:lstStyle/>
                    <a:p>
                      <a:r>
                        <a:rPr sz="1150">
                          <a:solidFill>
                            <a:srgbClr val="1A1A1A"/>
                          </a:solidFill>
                        </a:rPr>
                        <a:t>CompTIA (industry body)</a:t>
                      </a:r>
                    </a:p>
                  </a:txBody>
                  <a:tcPr anchor="ctr" marL="73152" marR="54864" marT="27432" marB="27432">
                    <a:solidFill>
                      <a:srgbClr val="EEF3F8"/>
                    </a:solidFill>
                  </a:tcPr>
                </a:tc>
              </a:tr>
              <a:tr h="630936">
                <a:tc>
                  <a:txBody>
                    <a:bodyPr wrap="square"/>
                    <a:lstStyle/>
                    <a:p>
                      <a:r>
                        <a:rPr sz="1150" b="1">
                          <a:solidFill>
                            <a:srgbClr val="0C2B4A"/>
                          </a:solidFill>
                        </a:rPr>
                        <a:t>AWS Certified</a:t>
                      </a:r>
                    </a:p>
                  </a:txBody>
                  <a:tcPr anchor="ctr" marL="73152" marR="54864" marT="27432" marB="27432">
                    <a:solidFill>
                      <a:srgbClr val="FFFFFF"/>
                    </a:solidFill>
                  </a:tcPr>
                </a:tc>
                <a:tc>
                  <a:txBody>
                    <a:bodyPr wrap="square"/>
                    <a:lstStyle/>
                    <a:p>
                      <a:r>
                        <a:rPr sz="1150">
                          <a:solidFill>
                            <a:srgbClr val="1A1A1A"/>
                          </a:solidFill>
                        </a:rPr>
                        <a:t>Building/operating on Amazon Web Services</a:t>
                      </a:r>
                    </a:p>
                  </a:txBody>
                  <a:tcPr anchor="ctr" marL="73152" marR="54864" marT="27432" marB="27432">
                    <a:solidFill>
                      <a:srgbClr val="FFFFFF"/>
                    </a:solidFill>
                  </a:tcPr>
                </a:tc>
                <a:tc>
                  <a:txBody>
                    <a:bodyPr wrap="square"/>
                    <a:lstStyle/>
                    <a:p>
                      <a:r>
                        <a:rPr sz="1150">
                          <a:solidFill>
                            <a:srgbClr val="1A1A1A"/>
                          </a:solidFill>
                        </a:rPr>
                        <a:t>Amazon (vendor)</a:t>
                      </a:r>
                    </a:p>
                  </a:txBody>
                  <a:tcPr anchor="ctr" marL="73152" marR="54864" marT="27432" marB="27432">
                    <a:solidFill>
                      <a:srgbClr val="FFFFFF"/>
                    </a:solidFill>
                  </a:tcPr>
                </a:tc>
              </a:tr>
              <a:tr h="630936">
                <a:tc>
                  <a:txBody>
                    <a:bodyPr wrap="square"/>
                    <a:lstStyle/>
                    <a:p>
                      <a:r>
                        <a:rPr sz="1150" b="1">
                          <a:solidFill>
                            <a:srgbClr val="0C2B4A"/>
                          </a:solidFill>
                        </a:rPr>
                        <a:t>CISA / CISM</a:t>
                      </a:r>
                    </a:p>
                  </a:txBody>
                  <a:tcPr anchor="ctr" marL="73152" marR="54864" marT="27432" marB="27432">
                    <a:solidFill>
                      <a:srgbClr val="EEF3F8"/>
                    </a:solidFill>
                  </a:tcPr>
                </a:tc>
                <a:tc>
                  <a:txBody>
                    <a:bodyPr wrap="square"/>
                    <a:lstStyle/>
                    <a:p>
                      <a:r>
                        <a:rPr sz="1150">
                          <a:solidFill>
                            <a:srgbClr val="1A1A1A"/>
                          </a:solidFill>
                        </a:rPr>
                        <a:t>IT audit / security governance</a:t>
                      </a:r>
                    </a:p>
                  </a:txBody>
                  <a:tcPr anchor="ctr" marL="73152" marR="54864" marT="27432" marB="27432">
                    <a:solidFill>
                      <a:srgbClr val="EEF3F8"/>
                    </a:solidFill>
                  </a:tcPr>
                </a:tc>
                <a:tc>
                  <a:txBody>
                    <a:bodyPr wrap="square"/>
                    <a:lstStyle/>
                    <a:p>
                      <a:r>
                        <a:rPr sz="1150">
                          <a:solidFill>
                            <a:srgbClr val="1A1A1A"/>
                          </a:solidFill>
                        </a:rPr>
                        <a:t>ISACA (professional body)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are voluntary, expire over time, and prove SKILL — none grants a legal right to practise. CEH proves the skill to break into systems; whether it's used ethically is a separate question.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Certification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IT graduates pursue CCNA / CEH to compete for jobs and remote/outsourcing work — a cert is often what gets a Kathmandu graduate's CV past a foreign client's first filter. It signals a specific, verified skill to someone who has never met them.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"Certification = guaranteed ethical behaviour." Certification proves skill, not integrity. A Certified Ethical Hacker (CEH) has the skill to break into systems — whether they use it ethically is a separate question the certificate can't answer. A cert filters competence, never character.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certification is a voluntary vendor/industry credential proving a specific skill (CCNA, CISSP, CEH, AWS, PMP). It signals competence to employers, can expire and become outdated, and — crucially — is not a licence: it grants no legal right to practise and says nothing about integrity.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certification · signals skill · voluntary · expires · not a licence · skill ≠ integrity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Licensing &amp; Professional Organizations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licence is government-granted permission to practise, legally enforced — its point is to protect the public in high-stakes fields where mistakes kill people. Professional organizations are the bodies that set standards, run certifications, publish codes, and represent members.</a:t>
            </a:r>
          </a:p>
          <a:p>
            <a:pPr>
              <a:spcAft>
                <a:spcPts val="500"/>
              </a:spcAft>
            </a:pPr>
            <a:r>
              <a:rPr sz="1200" b="1">
                <a:solidFill>
                  <a:srgbClr val="185FA5"/>
                </a:solidFill>
              </a:rPr>
              <a:t>HOW IT WORKS</a:t>
            </a:r>
          </a:p>
          <a:p>
            <a:pPr>
              <a:spcAft>
                <a:spcPts val="600"/>
              </a:spcAft>
            </a:pPr>
            <a:r>
              <a:rPr sz="1400">
                <a:solidFill>
                  <a:srgbClr val="1A1A1A"/>
                </a:solidFill>
              </a:rPr>
              <a:t>•  Licensing protects the public (medicine, structural engineering) but adds gatekeeping, fees, and slower entry.</a:t>
            </a:r>
          </a:p>
          <a:p>
            <a:pPr>
              <a:spcAft>
                <a:spcPts val="600"/>
              </a:spcAft>
            </a:pPr>
            <a:r>
              <a:rPr sz="1400">
                <a:solidFill>
                  <a:srgbClr val="1A1A1A"/>
                </a:solidFill>
              </a:rPr>
              <a:t>•  Live debate: should safety-critical software (medical devices, aviation, banking cores) need a licensed engineer?</a:t>
            </a:r>
          </a:p>
          <a:p>
            <a:pPr>
              <a:spcAft>
                <a:spcPts val="600"/>
              </a:spcAft>
            </a:pPr>
            <a:r>
              <a:rPr sz="1400">
                <a:solidFill>
                  <a:srgbClr val="1A1A1A"/>
                </a:solidFill>
              </a:rPr>
              <a:t>•  The bodies: ACM &amp; IEEE-CS (global standards/codes), ISACA (audit/security), CAN-Nepal (advocacy/events/training).</a:t>
            </a:r>
          </a:p>
          <a:p>
            <a:pPr>
              <a:spcAft>
                <a:spcPts val="600"/>
              </a:spcAft>
            </a:pPr>
            <a:r>
              <a:rPr sz="1400">
                <a:solidFill>
                  <a:srgbClr val="1A1A1A"/>
                </a:solidFill>
              </a:rPr>
              <a:t>•  The map: organizations publish CODES and run CERTS; only GOVERNMENT runs LICENSING.</a:t>
            </a:r>
          </a:p>
        </p:txBody>
      </p:sp>
      <p:pic>
        <p:nvPicPr>
          <p:cNvPr id="6" name="Picture 5" descr="s7_map.png"/>
          <p:cNvPicPr>
            <a:picLocks noChangeAspect="1"/>
          </p:cNvPicPr>
          <p:nvPr/>
        </p:nvPicPr>
        <p:blipFill>
          <a:blip r:embed="rId2"/>
          <a:stretch>
            <a:fillRect/>
          </a:stretch>
        </p:blipFill>
        <p:spPr>
          <a:xfrm>
            <a:off x="6355080" y="2731860"/>
            <a:ext cx="5532120" cy="217152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Bodies write codes &amp; run certs; only government grants a licence.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4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Certification vs Licence vs Code vs Professional body — the confusable four</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1785937"/>
                <a:gridCol w="2262187"/>
                <a:gridCol w="2024062"/>
                <a:gridCol w="2976562"/>
                <a:gridCol w="2381250"/>
              </a:tblGrid>
              <a:tr h="883310">
                <a:tc>
                  <a:txBody>
                    <a:bodyPr wrap="square"/>
                    <a:lstStyle/>
                    <a:p>
                      <a:r>
                        <a:rPr sz="1100" b="1">
                          <a:solidFill>
                            <a:srgbClr val="FFFFFF"/>
                          </a:solidFill>
                        </a:rPr>
                        <a:t>Mechanism</a:t>
                      </a:r>
                    </a:p>
                  </a:txBody>
                  <a:tcPr anchor="ctr" marL="73152" marR="54864" marT="27432" marB="27432">
                    <a:solidFill>
                      <a:srgbClr val="0C2B4A"/>
                    </a:solidFill>
                  </a:tcPr>
                </a:tc>
                <a:tc>
                  <a:txBody>
                    <a:bodyPr wrap="square"/>
                    <a:lstStyle/>
                    <a:p>
                      <a:r>
                        <a:rPr sz="1100" b="1">
                          <a:solidFill>
                            <a:srgbClr val="FFFFFF"/>
                          </a:solidFill>
                        </a:rPr>
                        <a:t>Who grants it</a:t>
                      </a:r>
                    </a:p>
                  </a:txBody>
                  <a:tcPr anchor="ctr" marL="73152" marR="54864" marT="27432" marB="27432">
                    <a:solidFill>
                      <a:srgbClr val="0C2B4A"/>
                    </a:solidFill>
                  </a:tcPr>
                </a:tc>
                <a:tc>
                  <a:txBody>
                    <a:bodyPr wrap="square"/>
                    <a:lstStyle/>
                    <a:p>
                      <a:r>
                        <a:rPr sz="1100" b="1">
                          <a:solidFill>
                            <a:srgbClr val="FFFFFF"/>
                          </a:solidFill>
                        </a:rPr>
                        <a:t>Legal force?</a:t>
                      </a:r>
                    </a:p>
                  </a:txBody>
                  <a:tcPr anchor="ctr" marL="73152" marR="54864" marT="27432" marB="27432">
                    <a:solidFill>
                      <a:srgbClr val="0C2B4A"/>
                    </a:solidFill>
                  </a:tcPr>
                </a:tc>
                <a:tc>
                  <a:txBody>
                    <a:bodyPr wrap="square"/>
                    <a:lstStyle/>
                    <a:p>
                      <a:r>
                        <a:rPr sz="1100" b="1">
                          <a:solidFill>
                            <a:srgbClr val="FFFFFF"/>
                          </a:solidFill>
                        </a:rPr>
                        <a:t>What it proves / does</a:t>
                      </a:r>
                    </a:p>
                  </a:txBody>
                  <a:tcPr anchor="ctr" marL="73152" marR="54864" marT="27432" marB="27432">
                    <a:solidFill>
                      <a:srgbClr val="0C2B4A"/>
                    </a:solidFill>
                  </a:tcPr>
                </a:tc>
                <a:tc>
                  <a:txBody>
                    <a:bodyPr wrap="square"/>
                    <a:lstStyle/>
                    <a:p>
                      <a:r>
                        <a:rPr sz="1100" b="1">
                          <a:solidFill>
                            <a:srgbClr val="FFFFFF"/>
                          </a:solidFill>
                        </a:rPr>
                        <a:t>Example</a:t>
                      </a:r>
                    </a:p>
                  </a:txBody>
                  <a:tcPr anchor="ctr" marL="73152" marR="54864" marT="27432" marB="27432">
                    <a:solidFill>
                      <a:srgbClr val="0C2B4A"/>
                    </a:solidFill>
                  </a:tcPr>
                </a:tc>
              </a:tr>
              <a:tr h="883310">
                <a:tc>
                  <a:txBody>
                    <a:bodyPr wrap="square"/>
                    <a:lstStyle/>
                    <a:p>
                      <a:r>
                        <a:rPr sz="1050" b="1">
                          <a:solidFill>
                            <a:srgbClr val="0C2B4A"/>
                          </a:solidFill>
                        </a:rPr>
                        <a:t>Certification</a:t>
                      </a:r>
                    </a:p>
                  </a:txBody>
                  <a:tcPr anchor="ctr" marL="73152" marR="54864" marT="27432" marB="27432">
                    <a:solidFill>
                      <a:srgbClr val="FFFFFF"/>
                    </a:solidFill>
                  </a:tcPr>
                </a:tc>
                <a:tc>
                  <a:txBody>
                    <a:bodyPr wrap="square"/>
                    <a:lstStyle/>
                    <a:p>
                      <a:r>
                        <a:rPr sz="1050">
                          <a:solidFill>
                            <a:srgbClr val="1A1A1A"/>
                          </a:solidFill>
                        </a:rPr>
                        <a:t>A vendor or industry body</a:t>
                      </a:r>
                    </a:p>
                  </a:txBody>
                  <a:tcPr anchor="ctr" marL="73152" marR="54864" marT="27432" marB="27432">
                    <a:solidFill>
                      <a:srgbClr val="FFFFFF"/>
                    </a:solidFill>
                  </a:tcPr>
                </a:tc>
                <a:tc>
                  <a:txBody>
                    <a:bodyPr wrap="square"/>
                    <a:lstStyle/>
                    <a:p>
                      <a:r>
                        <a:rPr sz="1050">
                          <a:solidFill>
                            <a:srgbClr val="1A1A1A"/>
                          </a:solidFill>
                        </a:rPr>
                        <a:t>No — voluntary</a:t>
                      </a:r>
                    </a:p>
                  </a:txBody>
                  <a:tcPr anchor="ctr" marL="73152" marR="54864" marT="27432" marB="27432">
                    <a:solidFill>
                      <a:srgbClr val="FFFFFF"/>
                    </a:solidFill>
                  </a:tcPr>
                </a:tc>
                <a:tc>
                  <a:txBody>
                    <a:bodyPr wrap="square"/>
                    <a:lstStyle/>
                    <a:p>
                      <a:r>
                        <a:rPr sz="1050">
                          <a:solidFill>
                            <a:srgbClr val="1A1A1A"/>
                          </a:solidFill>
                        </a:rPr>
                        <a:t>You have a specific skill</a:t>
                      </a:r>
                    </a:p>
                  </a:txBody>
                  <a:tcPr anchor="ctr" marL="73152" marR="54864" marT="27432" marB="27432">
                    <a:solidFill>
                      <a:srgbClr val="FFFFFF"/>
                    </a:solidFill>
                  </a:tcPr>
                </a:tc>
                <a:tc>
                  <a:txBody>
                    <a:bodyPr wrap="square"/>
                    <a:lstStyle/>
                    <a:p>
                      <a:r>
                        <a:rPr sz="1050">
                          <a:solidFill>
                            <a:srgbClr val="1A1A1A"/>
                          </a:solidFill>
                        </a:rPr>
                        <a:t>CCNA, CISSP, AWS</a:t>
                      </a:r>
                    </a:p>
                  </a:txBody>
                  <a:tcPr anchor="ctr" marL="73152" marR="54864" marT="27432" marB="27432">
                    <a:solidFill>
                      <a:srgbClr val="FFFFFF"/>
                    </a:solidFill>
                  </a:tcPr>
                </a:tc>
              </a:tr>
              <a:tr h="883310">
                <a:tc>
                  <a:txBody>
                    <a:bodyPr wrap="square"/>
                    <a:lstStyle/>
                    <a:p>
                      <a:r>
                        <a:rPr sz="1050" b="1">
                          <a:solidFill>
                            <a:srgbClr val="0C2B4A"/>
                          </a:solidFill>
                        </a:rPr>
                        <a:t>Licence</a:t>
                      </a:r>
                    </a:p>
                  </a:txBody>
                  <a:tcPr anchor="ctr" marL="73152" marR="54864" marT="27432" marB="27432">
                    <a:solidFill>
                      <a:srgbClr val="EEF3F8"/>
                    </a:solidFill>
                  </a:tcPr>
                </a:tc>
                <a:tc>
                  <a:txBody>
                    <a:bodyPr wrap="square"/>
                    <a:lstStyle/>
                    <a:p>
                      <a:r>
                        <a:rPr sz="1050">
                          <a:solidFill>
                            <a:srgbClr val="1A1A1A"/>
                          </a:solidFill>
                        </a:rPr>
                        <a:t>Government</a:t>
                      </a:r>
                    </a:p>
                  </a:txBody>
                  <a:tcPr anchor="ctr" marL="73152" marR="54864" marT="27432" marB="27432">
                    <a:solidFill>
                      <a:srgbClr val="EEF3F8"/>
                    </a:solidFill>
                  </a:tcPr>
                </a:tc>
                <a:tc>
                  <a:txBody>
                    <a:bodyPr wrap="square"/>
                    <a:lstStyle/>
                    <a:p>
                      <a:r>
                        <a:rPr sz="1050">
                          <a:solidFill>
                            <a:srgbClr val="1A1A1A"/>
                          </a:solidFill>
                        </a:rPr>
                        <a:t>Yes — legally enforced</a:t>
                      </a:r>
                    </a:p>
                  </a:txBody>
                  <a:tcPr anchor="ctr" marL="73152" marR="54864" marT="27432" marB="27432">
                    <a:solidFill>
                      <a:srgbClr val="EEF3F8"/>
                    </a:solidFill>
                  </a:tcPr>
                </a:tc>
                <a:tc>
                  <a:txBody>
                    <a:bodyPr wrap="square"/>
                    <a:lstStyle/>
                    <a:p>
                      <a:r>
                        <a:rPr sz="1050">
                          <a:solidFill>
                            <a:srgbClr val="1A1A1A"/>
                          </a:solidFill>
                        </a:rPr>
                        <a:t>Legal right to practise</a:t>
                      </a:r>
                    </a:p>
                  </a:txBody>
                  <a:tcPr anchor="ctr" marL="73152" marR="54864" marT="27432" marB="27432">
                    <a:solidFill>
                      <a:srgbClr val="EEF3F8"/>
                    </a:solidFill>
                  </a:tcPr>
                </a:tc>
                <a:tc>
                  <a:txBody>
                    <a:bodyPr wrap="square"/>
                    <a:lstStyle/>
                    <a:p>
                      <a:r>
                        <a:rPr sz="1050">
                          <a:solidFill>
                            <a:srgbClr val="1A1A1A"/>
                          </a:solidFill>
                        </a:rPr>
                        <a:t>NMC doctor reg., driving licence</a:t>
                      </a:r>
                    </a:p>
                  </a:txBody>
                  <a:tcPr anchor="ctr" marL="73152" marR="54864" marT="27432" marB="27432">
                    <a:solidFill>
                      <a:srgbClr val="EEF3F8"/>
                    </a:solidFill>
                  </a:tcPr>
                </a:tc>
              </a:tr>
              <a:tr h="883310">
                <a:tc>
                  <a:txBody>
                    <a:bodyPr wrap="square"/>
                    <a:lstStyle/>
                    <a:p>
                      <a:r>
                        <a:rPr sz="1050" b="1">
                          <a:solidFill>
                            <a:srgbClr val="0C2B4A"/>
                          </a:solidFill>
                        </a:rPr>
                        <a:t>Code of ethics</a:t>
                      </a:r>
                    </a:p>
                  </a:txBody>
                  <a:tcPr anchor="ctr" marL="73152" marR="54864" marT="27432" marB="27432">
                    <a:solidFill>
                      <a:srgbClr val="FFFFFF"/>
                    </a:solidFill>
                  </a:tcPr>
                </a:tc>
                <a:tc>
                  <a:txBody>
                    <a:bodyPr wrap="square"/>
                    <a:lstStyle/>
                    <a:p>
                      <a:r>
                        <a:rPr sz="1050">
                          <a:solidFill>
                            <a:srgbClr val="1A1A1A"/>
                          </a:solidFill>
                        </a:rPr>
                        <a:t>A professional body</a:t>
                      </a:r>
                    </a:p>
                  </a:txBody>
                  <a:tcPr anchor="ctr" marL="73152" marR="54864" marT="27432" marB="27432">
                    <a:solidFill>
                      <a:srgbClr val="FFFFFF"/>
                    </a:solidFill>
                  </a:tcPr>
                </a:tc>
                <a:tc>
                  <a:txBody>
                    <a:bodyPr wrap="square"/>
                    <a:lstStyle/>
                    <a:p>
                      <a:r>
                        <a:rPr sz="1050">
                          <a:solidFill>
                            <a:srgbClr val="1A1A1A"/>
                          </a:solidFill>
                        </a:rPr>
                        <a:t>No — but can discipline members</a:t>
                      </a:r>
                    </a:p>
                  </a:txBody>
                  <a:tcPr anchor="ctr" marL="73152" marR="54864" marT="27432" marB="27432">
                    <a:solidFill>
                      <a:srgbClr val="FFFFFF"/>
                    </a:solidFill>
                  </a:tcPr>
                </a:tc>
                <a:tc>
                  <a:txBody>
                    <a:bodyPr wrap="square"/>
                    <a:lstStyle/>
                    <a:p>
                      <a:r>
                        <a:rPr sz="1050">
                          <a:solidFill>
                            <a:srgbClr val="1A1A1A"/>
                          </a:solidFill>
                        </a:rPr>
                        <a:t>Shared ethical commitments</a:t>
                      </a:r>
                    </a:p>
                  </a:txBody>
                  <a:tcPr anchor="ctr" marL="73152" marR="54864" marT="27432" marB="27432">
                    <a:solidFill>
                      <a:srgbClr val="FFFFFF"/>
                    </a:solidFill>
                  </a:tcPr>
                </a:tc>
                <a:tc>
                  <a:txBody>
                    <a:bodyPr wrap="square"/>
                    <a:lstStyle/>
                    <a:p>
                      <a:r>
                        <a:rPr sz="1050">
                          <a:solidFill>
                            <a:srgbClr val="1A1A1A"/>
                          </a:solidFill>
                        </a:rPr>
                        <a:t>ACM 'avoid harm'</a:t>
                      </a:r>
                    </a:p>
                  </a:txBody>
                  <a:tcPr anchor="ctr" marL="73152" marR="54864" marT="27432" marB="27432">
                    <a:solidFill>
                      <a:srgbClr val="FFFFFF"/>
                    </a:solidFill>
                  </a:tcPr>
                </a:tc>
              </a:tr>
              <a:tr h="883312">
                <a:tc>
                  <a:txBody>
                    <a:bodyPr wrap="square"/>
                    <a:lstStyle/>
                    <a:p>
                      <a:r>
                        <a:rPr sz="1050" b="1">
                          <a:solidFill>
                            <a:srgbClr val="0C2B4A"/>
                          </a:solidFill>
                        </a:rPr>
                        <a:t>Professional body</a:t>
                      </a:r>
                    </a:p>
                  </a:txBody>
                  <a:tcPr anchor="ctr" marL="73152" marR="54864" marT="27432" marB="27432">
                    <a:solidFill>
                      <a:srgbClr val="EEF3F8"/>
                    </a:solidFill>
                  </a:tcPr>
                </a:tc>
                <a:tc>
                  <a:txBody>
                    <a:bodyPr wrap="square"/>
                    <a:lstStyle/>
                    <a:p>
                      <a:r>
                        <a:rPr sz="1050">
                          <a:solidFill>
                            <a:srgbClr val="1A1A1A"/>
                          </a:solidFill>
                        </a:rPr>
                        <a:t>(is itself the organization)</a:t>
                      </a:r>
                    </a:p>
                  </a:txBody>
                  <a:tcPr anchor="ctr" marL="73152" marR="54864" marT="27432" marB="27432">
                    <a:solidFill>
                      <a:srgbClr val="EEF3F8"/>
                    </a:solidFill>
                  </a:tcPr>
                </a:tc>
                <a:tc>
                  <a:txBody>
                    <a:bodyPr wrap="square"/>
                    <a:lstStyle/>
                    <a:p>
                      <a:r>
                        <a:rPr sz="1050">
                          <a:solidFill>
                            <a:srgbClr val="1A1A1A"/>
                          </a:solidFill>
                        </a:rPr>
                        <a:t>No — sets standards</a:t>
                      </a:r>
                    </a:p>
                  </a:txBody>
                  <a:tcPr anchor="ctr" marL="73152" marR="54864" marT="27432" marB="27432">
                    <a:solidFill>
                      <a:srgbClr val="EEF3F8"/>
                    </a:solidFill>
                  </a:tcPr>
                </a:tc>
                <a:tc>
                  <a:txBody>
                    <a:bodyPr wrap="square"/>
                    <a:lstStyle/>
                    <a:p>
                      <a:r>
                        <a:rPr sz="1050">
                          <a:solidFill>
                            <a:srgbClr val="1A1A1A"/>
                          </a:solidFill>
                        </a:rPr>
                        <a:t>Publishes codes, runs certs, advocates</a:t>
                      </a:r>
                    </a:p>
                  </a:txBody>
                  <a:tcPr anchor="ctr" marL="73152" marR="54864" marT="27432" marB="27432">
                    <a:solidFill>
                      <a:srgbClr val="EEF3F8"/>
                    </a:solidFill>
                  </a:tcPr>
                </a:tc>
                <a:tc>
                  <a:txBody>
                    <a:bodyPr wrap="square"/>
                    <a:lstStyle/>
                    <a:p>
                      <a:r>
                        <a:rPr sz="1050">
                          <a:solidFill>
                            <a:srgbClr val="1A1A1A"/>
                          </a:solidFill>
                        </a:rPr>
                        <a:t>ACM, IEEE-CS, ISACA, CAN-Nepal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test that separates them: WHO grants it, and does it have LEGAL FORCE? A driving licence is a licence (government, legal). CAN is a body (may run certs, isn't itself a cert).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4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professional bodies that keep IT professional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007894"/>
                <a:gridCol w="3910263"/>
                <a:gridCol w="4511842"/>
              </a:tblGrid>
              <a:tr h="883310">
                <a:tc>
                  <a:txBody>
                    <a:bodyPr wrap="square"/>
                    <a:lstStyle/>
                    <a:p>
                      <a:r>
                        <a:rPr sz="1200" b="1">
                          <a:solidFill>
                            <a:srgbClr val="FFFFFF"/>
                          </a:solidFill>
                        </a:rPr>
                        <a:t>Body</a:t>
                      </a:r>
                    </a:p>
                  </a:txBody>
                  <a:tcPr anchor="ctr" marL="73152" marR="54864" marT="27432" marB="27432">
                    <a:solidFill>
                      <a:srgbClr val="0C2B4A"/>
                    </a:solidFill>
                  </a:tcPr>
                </a:tc>
                <a:tc>
                  <a:txBody>
                    <a:bodyPr wrap="square"/>
                    <a:lstStyle/>
                    <a:p>
                      <a:r>
                        <a:rPr sz="1200" b="1">
                          <a:solidFill>
                            <a:srgbClr val="FFFFFF"/>
                          </a:solidFill>
                        </a:rPr>
                        <a:t>Focus</a:t>
                      </a:r>
                    </a:p>
                  </a:txBody>
                  <a:tcPr anchor="ctr" marL="73152" marR="54864" marT="27432" marB="27432">
                    <a:solidFill>
                      <a:srgbClr val="0C2B4A"/>
                    </a:solidFill>
                  </a:tcPr>
                </a:tc>
                <a:tc>
                  <a:txBody>
                    <a:bodyPr wrap="square"/>
                    <a:lstStyle/>
                    <a:p>
                      <a:r>
                        <a:rPr sz="1200" b="1">
                          <a:solidFill>
                            <a:srgbClr val="FFFFFF"/>
                          </a:solidFill>
                        </a:rPr>
                        <a:t>What it runs / offers</a:t>
                      </a:r>
                    </a:p>
                  </a:txBody>
                  <a:tcPr anchor="ctr" marL="73152" marR="54864" marT="27432" marB="27432">
                    <a:solidFill>
                      <a:srgbClr val="0C2B4A"/>
                    </a:solidFill>
                  </a:tcPr>
                </a:tc>
              </a:tr>
              <a:tr h="883310">
                <a:tc>
                  <a:txBody>
                    <a:bodyPr wrap="square"/>
                    <a:lstStyle/>
                    <a:p>
                      <a:r>
                        <a:rPr sz="1150" b="1">
                          <a:solidFill>
                            <a:srgbClr val="0C2B4A"/>
                          </a:solidFill>
                        </a:rPr>
                        <a:t>ACM</a:t>
                      </a:r>
                    </a:p>
                  </a:txBody>
                  <a:tcPr anchor="ctr" marL="73152" marR="54864" marT="27432" marB="27432">
                    <a:solidFill>
                      <a:srgbClr val="FFFFFF"/>
                    </a:solidFill>
                  </a:tcPr>
                </a:tc>
                <a:tc>
                  <a:txBody>
                    <a:bodyPr wrap="square"/>
                    <a:lstStyle/>
                    <a:p>
                      <a:r>
                        <a:rPr sz="1150">
                          <a:solidFill>
                            <a:srgbClr val="1A1A1A"/>
                          </a:solidFill>
                        </a:rPr>
                        <a:t>Global computing standards &amp; ethics</a:t>
                      </a:r>
                    </a:p>
                  </a:txBody>
                  <a:tcPr anchor="ctr" marL="73152" marR="54864" marT="27432" marB="27432">
                    <a:solidFill>
                      <a:srgbClr val="FFFFFF"/>
                    </a:solidFill>
                  </a:tcPr>
                </a:tc>
                <a:tc>
                  <a:txBody>
                    <a:bodyPr wrap="square"/>
                    <a:lstStyle/>
                    <a:p>
                      <a:r>
                        <a:rPr sz="1150">
                          <a:solidFill>
                            <a:srgbClr val="1A1A1A"/>
                          </a:solidFill>
                        </a:rPr>
                        <a:t>The ACM Code of Ethics; conferences, digital library</a:t>
                      </a:r>
                    </a:p>
                  </a:txBody>
                  <a:tcPr anchor="ctr" marL="73152" marR="54864" marT="27432" marB="27432">
                    <a:solidFill>
                      <a:srgbClr val="FFFFFF"/>
                    </a:solidFill>
                  </a:tcPr>
                </a:tc>
              </a:tr>
              <a:tr h="883310">
                <a:tc>
                  <a:txBody>
                    <a:bodyPr wrap="square"/>
                    <a:lstStyle/>
                    <a:p>
                      <a:r>
                        <a:rPr sz="1150" b="1">
                          <a:solidFill>
                            <a:srgbClr val="0C2B4A"/>
                          </a:solidFill>
                        </a:rPr>
                        <a:t>IEEE-CS</a:t>
                      </a:r>
                    </a:p>
                  </a:txBody>
                  <a:tcPr anchor="ctr" marL="73152" marR="54864" marT="27432" marB="27432">
                    <a:solidFill>
                      <a:srgbClr val="EEF3F8"/>
                    </a:solidFill>
                  </a:tcPr>
                </a:tc>
                <a:tc>
                  <a:txBody>
                    <a:bodyPr wrap="square"/>
                    <a:lstStyle/>
                    <a:p>
                      <a:r>
                        <a:rPr sz="1150">
                          <a:solidFill>
                            <a:srgbClr val="1A1A1A"/>
                          </a:solidFill>
                        </a:rPr>
                        <a:t>Computing/engineering standards</a:t>
                      </a:r>
                    </a:p>
                  </a:txBody>
                  <a:tcPr anchor="ctr" marL="73152" marR="54864" marT="27432" marB="27432">
                    <a:solidFill>
                      <a:srgbClr val="EEF3F8"/>
                    </a:solidFill>
                  </a:tcPr>
                </a:tc>
                <a:tc>
                  <a:txBody>
                    <a:bodyPr wrap="square"/>
                    <a:lstStyle/>
                    <a:p>
                      <a:r>
                        <a:rPr sz="1150">
                          <a:solidFill>
                            <a:srgbClr val="1A1A1A"/>
                          </a:solidFill>
                        </a:rPr>
                        <a:t>Standards, the software-engineering code (with ACM)</a:t>
                      </a:r>
                    </a:p>
                  </a:txBody>
                  <a:tcPr anchor="ctr" marL="73152" marR="54864" marT="27432" marB="27432">
                    <a:solidFill>
                      <a:srgbClr val="EEF3F8"/>
                    </a:solidFill>
                  </a:tcPr>
                </a:tc>
              </a:tr>
              <a:tr h="883310">
                <a:tc>
                  <a:txBody>
                    <a:bodyPr wrap="square"/>
                    <a:lstStyle/>
                    <a:p>
                      <a:r>
                        <a:rPr sz="1150" b="1">
                          <a:solidFill>
                            <a:srgbClr val="0C2B4A"/>
                          </a:solidFill>
                        </a:rPr>
                        <a:t>ISACA</a:t>
                      </a:r>
                    </a:p>
                  </a:txBody>
                  <a:tcPr anchor="ctr" marL="73152" marR="54864" marT="27432" marB="27432">
                    <a:solidFill>
                      <a:srgbClr val="FFFFFF"/>
                    </a:solidFill>
                  </a:tcPr>
                </a:tc>
                <a:tc>
                  <a:txBody>
                    <a:bodyPr wrap="square"/>
                    <a:lstStyle/>
                    <a:p>
                      <a:r>
                        <a:rPr sz="1150">
                          <a:solidFill>
                            <a:srgbClr val="1A1A1A"/>
                          </a:solidFill>
                        </a:rPr>
                        <a:t>Governance, audit &amp; security</a:t>
                      </a:r>
                    </a:p>
                  </a:txBody>
                  <a:tcPr anchor="ctr" marL="73152" marR="54864" marT="27432" marB="27432">
                    <a:solidFill>
                      <a:srgbClr val="FFFFFF"/>
                    </a:solidFill>
                  </a:tcPr>
                </a:tc>
                <a:tc>
                  <a:txBody>
                    <a:bodyPr wrap="square"/>
                    <a:lstStyle/>
                    <a:p>
                      <a:r>
                        <a:rPr sz="1150">
                          <a:solidFill>
                            <a:srgbClr val="1A1A1A"/>
                          </a:solidFill>
                        </a:rPr>
                        <a:t>The CISA and CISM certifications</a:t>
                      </a:r>
                    </a:p>
                  </a:txBody>
                  <a:tcPr anchor="ctr" marL="73152" marR="54864" marT="27432" marB="27432">
                    <a:solidFill>
                      <a:srgbClr val="FFFFFF"/>
                    </a:solidFill>
                  </a:tcPr>
                </a:tc>
              </a:tr>
              <a:tr h="883312">
                <a:tc>
                  <a:txBody>
                    <a:bodyPr wrap="square"/>
                    <a:lstStyle/>
                    <a:p>
                      <a:r>
                        <a:rPr sz="1150" b="1">
                          <a:solidFill>
                            <a:srgbClr val="0C2B4A"/>
                          </a:solidFill>
                        </a:rPr>
                        <a:t>CAN (Computer Association of Nepal)</a:t>
                      </a:r>
                    </a:p>
                  </a:txBody>
                  <a:tcPr anchor="ctr" marL="73152" marR="54864" marT="27432" marB="27432">
                    <a:solidFill>
                      <a:srgbClr val="EEF3F8"/>
                    </a:solidFill>
                  </a:tcPr>
                </a:tc>
                <a:tc>
                  <a:txBody>
                    <a:bodyPr wrap="square"/>
                    <a:lstStyle/>
                    <a:p>
                      <a:r>
                        <a:rPr sz="1150">
                          <a:solidFill>
                            <a:srgbClr val="1A1A1A"/>
                          </a:solidFill>
                        </a:rPr>
                        <a:t>Nepal's IT community</a:t>
                      </a:r>
                    </a:p>
                  </a:txBody>
                  <a:tcPr anchor="ctr" marL="73152" marR="54864" marT="27432" marB="27432">
                    <a:solidFill>
                      <a:srgbClr val="EEF3F8"/>
                    </a:solidFill>
                  </a:tcPr>
                </a:tc>
                <a:tc>
                  <a:txBody>
                    <a:bodyPr wrap="square"/>
                    <a:lstStyle/>
                    <a:p>
                      <a:r>
                        <a:rPr sz="1150">
                          <a:solidFill>
                            <a:srgbClr val="1A1A1A"/>
                          </a:solidFill>
                        </a:rPr>
                        <a:t>Advocacy, events, training for local professionals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Organizations publish the codes and run the certifications; government runs the licensing. That's the whole map of 'who keeps IT professional'.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104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Licensing &amp; Professional Organizations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US 'Professional Engineer (PE) — Software' licence was created and then largely discontinued for lack of demand — telling you how unsettled software licensing is even in mature markets. Meanwhile ACM/IEEE-CS write the codes, ISACA runs CISA/CISM, and CAN-Nepal advocates for the local community.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"Certification and licence are basically the same thing." They're not: a certification is voluntary and issued by a vendor/body to prove a skill; a licence is government-granted, legally enforced, and confers the right to practise. Ask 'who grants it, and does it have legal force?' to tell them apart every time.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licence is government-granted, legally enforced permission to practise, used to protect the public in high-stakes fields — but it adds gatekeeping and cost, which is why IT has resisted it. Professional organizations (ACM, IEEE-CS, ISACA, CAN-Nepal) set standards, publish codes, and run certifications. The map: bodies write codes and run certs; only government licenses.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licence · legal force · protect the public · ACM/IEEE-CS/ISACA/CAN · bodies vs government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104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S7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Who grants it? — real credentials &amp; bodies classified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663461"/>
                <a:gridCol w="4396153"/>
                <a:gridCol w="3370384"/>
              </a:tblGrid>
              <a:tr h="630936">
                <a:tc>
                  <a:txBody>
                    <a:bodyPr wrap="square"/>
                    <a:lstStyle/>
                    <a:p>
                      <a:r>
                        <a:rPr sz="1150" b="1">
                          <a:solidFill>
                            <a:srgbClr val="FFFFFF"/>
                          </a:solidFill>
                        </a:rPr>
                        <a:t>Item</a:t>
                      </a:r>
                    </a:p>
                  </a:txBody>
                  <a:tcPr anchor="ctr" marL="73152" marR="54864" marT="27432" marB="27432">
                    <a:solidFill>
                      <a:srgbClr val="0C2B4A"/>
                    </a:solidFill>
                  </a:tcPr>
                </a:tc>
                <a:tc>
                  <a:txBody>
                    <a:bodyPr wrap="square"/>
                    <a:lstStyle/>
                    <a:p>
                      <a:r>
                        <a:rPr sz="1150" b="1">
                          <a:solidFill>
                            <a:srgbClr val="FFFFFF"/>
                          </a:solidFill>
                        </a:rPr>
                        <a:t>What it is</a:t>
                      </a:r>
                    </a:p>
                  </a:txBody>
                  <a:tcPr anchor="ctr" marL="73152" marR="54864" marT="27432" marB="27432">
                    <a:solidFill>
                      <a:srgbClr val="0C2B4A"/>
                    </a:solidFill>
                  </a:tcPr>
                </a:tc>
                <a:tc>
                  <a:txBody>
                    <a:bodyPr wrap="square"/>
                    <a:lstStyle/>
                    <a:p>
                      <a:r>
                        <a:rPr sz="1150" b="1">
                          <a:solidFill>
                            <a:srgbClr val="FFFFFF"/>
                          </a:solidFill>
                        </a:rPr>
                        <a:t>Legal force?</a:t>
                      </a:r>
                    </a:p>
                  </a:txBody>
                  <a:tcPr anchor="ctr" marL="73152" marR="54864" marT="27432" marB="27432">
                    <a:solidFill>
                      <a:srgbClr val="0C2B4A"/>
                    </a:solidFill>
                  </a:tcPr>
                </a:tc>
              </a:tr>
              <a:tr h="630936">
                <a:tc>
                  <a:txBody>
                    <a:bodyPr wrap="square"/>
                    <a:lstStyle/>
                    <a:p>
                      <a:r>
                        <a:rPr sz="1100" b="1">
                          <a:solidFill>
                            <a:srgbClr val="0C2B4A"/>
                          </a:solidFill>
                        </a:rPr>
                        <a:t>NMC doctor registration</a:t>
                      </a:r>
                    </a:p>
                  </a:txBody>
                  <a:tcPr anchor="ctr" marL="73152" marR="54864" marT="27432" marB="27432">
                    <a:solidFill>
                      <a:srgbClr val="FFFFFF"/>
                    </a:solidFill>
                  </a:tcPr>
                </a:tc>
                <a:tc>
                  <a:txBody>
                    <a:bodyPr wrap="square"/>
                    <a:lstStyle/>
                    <a:p>
                      <a:r>
                        <a:rPr sz="1100">
                          <a:solidFill>
                            <a:srgbClr val="1A1A1A"/>
                          </a:solidFill>
                        </a:rPr>
                        <a:t>A licence (government)</a:t>
                      </a:r>
                    </a:p>
                  </a:txBody>
                  <a:tcPr anchor="ctr" marL="73152" marR="54864" marT="27432" marB="27432">
                    <a:solidFill>
                      <a:srgbClr val="FFFFFF"/>
                    </a:solidFill>
                  </a:tcPr>
                </a:tc>
                <a:tc>
                  <a:txBody>
                    <a:bodyPr wrap="square"/>
                    <a:lstStyle/>
                    <a:p>
                      <a:r>
                        <a:rPr sz="1100">
                          <a:solidFill>
                            <a:srgbClr val="1A1A1A"/>
                          </a:solidFill>
                        </a:rPr>
                        <a:t>Yes — can't practise without it</a:t>
                      </a:r>
                    </a:p>
                  </a:txBody>
                  <a:tcPr anchor="ctr" marL="73152" marR="54864" marT="27432" marB="27432">
                    <a:solidFill>
                      <a:srgbClr val="FFFFFF"/>
                    </a:solidFill>
                  </a:tcPr>
                </a:tc>
              </a:tr>
              <a:tr h="630936">
                <a:tc>
                  <a:txBody>
                    <a:bodyPr wrap="square"/>
                    <a:lstStyle/>
                    <a:p>
                      <a:r>
                        <a:rPr sz="1100" b="1">
                          <a:solidFill>
                            <a:srgbClr val="0C2B4A"/>
                          </a:solidFill>
                        </a:rPr>
                        <a:t>Nepal driving licence</a:t>
                      </a:r>
                    </a:p>
                  </a:txBody>
                  <a:tcPr anchor="ctr" marL="73152" marR="54864" marT="27432" marB="27432">
                    <a:solidFill>
                      <a:srgbClr val="EEF3F8"/>
                    </a:solidFill>
                  </a:tcPr>
                </a:tc>
                <a:tc>
                  <a:txBody>
                    <a:bodyPr wrap="square"/>
                    <a:lstStyle/>
                    <a:p>
                      <a:r>
                        <a:rPr sz="1100">
                          <a:solidFill>
                            <a:srgbClr val="1A1A1A"/>
                          </a:solidFill>
                        </a:rPr>
                        <a:t>A licence (government)</a:t>
                      </a:r>
                    </a:p>
                  </a:txBody>
                  <a:tcPr anchor="ctr" marL="73152" marR="54864" marT="27432" marB="27432">
                    <a:solidFill>
                      <a:srgbClr val="EEF3F8"/>
                    </a:solidFill>
                  </a:tcPr>
                </a:tc>
                <a:tc>
                  <a:txBody>
                    <a:bodyPr wrap="square"/>
                    <a:lstStyle/>
                    <a:p>
                      <a:r>
                        <a:rPr sz="1100">
                          <a:solidFill>
                            <a:srgbClr val="1A1A1A"/>
                          </a:solidFill>
                        </a:rPr>
                        <a:t>Yes — legally required to drive</a:t>
                      </a:r>
                    </a:p>
                  </a:txBody>
                  <a:tcPr anchor="ctr" marL="73152" marR="54864" marT="27432" marB="27432">
                    <a:solidFill>
                      <a:srgbClr val="EEF3F8"/>
                    </a:solidFill>
                  </a:tcPr>
                </a:tc>
              </a:tr>
              <a:tr h="630936">
                <a:tc>
                  <a:txBody>
                    <a:bodyPr wrap="square"/>
                    <a:lstStyle/>
                    <a:p>
                      <a:r>
                        <a:rPr sz="1100" b="1">
                          <a:solidFill>
                            <a:srgbClr val="0C2B4A"/>
                          </a:solidFill>
                        </a:rPr>
                        <a:t>CCNA</a:t>
                      </a:r>
                    </a:p>
                  </a:txBody>
                  <a:tcPr anchor="ctr" marL="73152" marR="54864" marT="27432" marB="27432">
                    <a:solidFill>
                      <a:srgbClr val="FFFFFF"/>
                    </a:solidFill>
                  </a:tcPr>
                </a:tc>
                <a:tc>
                  <a:txBody>
                    <a:bodyPr wrap="square"/>
                    <a:lstStyle/>
                    <a:p>
                      <a:r>
                        <a:rPr sz="1100">
                          <a:solidFill>
                            <a:srgbClr val="1A1A1A"/>
                          </a:solidFill>
                        </a:rPr>
                        <a:t>A certification (Cisco, a vendor)</a:t>
                      </a:r>
                    </a:p>
                  </a:txBody>
                  <a:tcPr anchor="ctr" marL="73152" marR="54864" marT="27432" marB="27432">
                    <a:solidFill>
                      <a:srgbClr val="FFFFFF"/>
                    </a:solidFill>
                  </a:tcPr>
                </a:tc>
                <a:tc>
                  <a:txBody>
                    <a:bodyPr wrap="square"/>
                    <a:lstStyle/>
                    <a:p>
                      <a:r>
                        <a:rPr sz="1100">
                          <a:solidFill>
                            <a:srgbClr val="1A1A1A"/>
                          </a:solidFill>
                        </a:rPr>
                        <a:t>No — voluntary skill proof</a:t>
                      </a:r>
                    </a:p>
                  </a:txBody>
                  <a:tcPr anchor="ctr" marL="73152" marR="54864" marT="27432" marB="27432">
                    <a:solidFill>
                      <a:srgbClr val="FFFFFF"/>
                    </a:solidFill>
                  </a:tcPr>
                </a:tc>
              </a:tr>
              <a:tr h="630936">
                <a:tc>
                  <a:txBody>
                    <a:bodyPr wrap="square"/>
                    <a:lstStyle/>
                    <a:p>
                      <a:r>
                        <a:rPr sz="1100" b="1">
                          <a:solidFill>
                            <a:srgbClr val="0C2B4A"/>
                          </a:solidFill>
                        </a:rPr>
                        <a:t>CISA / CISM</a:t>
                      </a:r>
                    </a:p>
                  </a:txBody>
                  <a:tcPr anchor="ctr" marL="73152" marR="54864" marT="27432" marB="27432">
                    <a:solidFill>
                      <a:srgbClr val="EEF3F8"/>
                    </a:solidFill>
                  </a:tcPr>
                </a:tc>
                <a:tc>
                  <a:txBody>
                    <a:bodyPr wrap="square"/>
                    <a:lstStyle/>
                    <a:p>
                      <a:r>
                        <a:rPr sz="1100">
                          <a:solidFill>
                            <a:srgbClr val="1A1A1A"/>
                          </a:solidFill>
                        </a:rPr>
                        <a:t>Certifications run by ISACA (a body)</a:t>
                      </a:r>
                    </a:p>
                  </a:txBody>
                  <a:tcPr anchor="ctr" marL="73152" marR="54864" marT="27432" marB="27432">
                    <a:solidFill>
                      <a:srgbClr val="EEF3F8"/>
                    </a:solidFill>
                  </a:tcPr>
                </a:tc>
                <a:tc>
                  <a:txBody>
                    <a:bodyPr wrap="square"/>
                    <a:lstStyle/>
                    <a:p>
                      <a:r>
                        <a:rPr sz="1100">
                          <a:solidFill>
                            <a:srgbClr val="1A1A1A"/>
                          </a:solidFill>
                        </a:rPr>
                        <a:t>No — voluntary</a:t>
                      </a:r>
                    </a:p>
                  </a:txBody>
                  <a:tcPr anchor="ctr" marL="73152" marR="54864" marT="27432" marB="27432">
                    <a:solidFill>
                      <a:srgbClr val="EEF3F8"/>
                    </a:solidFill>
                  </a:tcPr>
                </a:tc>
              </a:tr>
              <a:tr h="630936">
                <a:tc>
                  <a:txBody>
                    <a:bodyPr wrap="square"/>
                    <a:lstStyle/>
                    <a:p>
                      <a:r>
                        <a:rPr sz="1100" b="1">
                          <a:solidFill>
                            <a:srgbClr val="0C2B4A"/>
                          </a:solidFill>
                        </a:rPr>
                        <a:t>ACM Code of Ethics</a:t>
                      </a:r>
                    </a:p>
                  </a:txBody>
                  <a:tcPr anchor="ctr" marL="73152" marR="54864" marT="27432" marB="27432">
                    <a:solidFill>
                      <a:srgbClr val="FFFFFF"/>
                    </a:solidFill>
                  </a:tcPr>
                </a:tc>
                <a:tc>
                  <a:txBody>
                    <a:bodyPr wrap="square"/>
                    <a:lstStyle/>
                    <a:p>
                      <a:r>
                        <a:rPr sz="1100">
                          <a:solidFill>
                            <a:srgbClr val="1A1A1A"/>
                          </a:solidFill>
                        </a:rPr>
                        <a:t>A code (professional body)</a:t>
                      </a:r>
                    </a:p>
                  </a:txBody>
                  <a:tcPr anchor="ctr" marL="73152" marR="54864" marT="27432" marB="27432">
                    <a:solidFill>
                      <a:srgbClr val="FFFFFF"/>
                    </a:solidFill>
                  </a:tcPr>
                </a:tc>
                <a:tc>
                  <a:txBody>
                    <a:bodyPr wrap="square"/>
                    <a:lstStyle/>
                    <a:p>
                      <a:r>
                        <a:rPr sz="1100">
                          <a:solidFill>
                            <a:srgbClr val="1A1A1A"/>
                          </a:solidFill>
                        </a:rPr>
                        <a:t>No — but can discipline members</a:t>
                      </a:r>
                    </a:p>
                  </a:txBody>
                  <a:tcPr anchor="ctr" marL="73152" marR="54864" marT="27432" marB="27432">
                    <a:solidFill>
                      <a:srgbClr val="FFFFFF"/>
                    </a:solidFill>
                  </a:tcPr>
                </a:tc>
              </a:tr>
              <a:tr h="630936">
                <a:tc>
                  <a:txBody>
                    <a:bodyPr wrap="square"/>
                    <a:lstStyle/>
                    <a:p>
                      <a:r>
                        <a:rPr sz="1100" b="1">
                          <a:solidFill>
                            <a:srgbClr val="0C2B4A"/>
                          </a:solidFill>
                        </a:rPr>
                        <a:t>CAN (Computer Association of Nepal)</a:t>
                      </a:r>
                    </a:p>
                  </a:txBody>
                  <a:tcPr anchor="ctr" marL="73152" marR="54864" marT="27432" marB="27432">
                    <a:solidFill>
                      <a:srgbClr val="EEF3F8"/>
                    </a:solidFill>
                  </a:tcPr>
                </a:tc>
                <a:tc>
                  <a:txBody>
                    <a:bodyPr wrap="square"/>
                    <a:lstStyle/>
                    <a:p>
                      <a:r>
                        <a:rPr sz="1100">
                          <a:solidFill>
                            <a:srgbClr val="1A1A1A"/>
                          </a:solidFill>
                        </a:rPr>
                        <a:t>A professional body</a:t>
                      </a:r>
                    </a:p>
                  </a:txBody>
                  <a:tcPr anchor="ctr" marL="73152" marR="54864" marT="27432" marB="27432">
                    <a:solidFill>
                      <a:srgbClr val="EEF3F8"/>
                    </a:solidFill>
                  </a:tcPr>
                </a:tc>
                <a:tc>
                  <a:txBody>
                    <a:bodyPr wrap="square"/>
                    <a:lstStyle/>
                    <a:p>
                      <a:r>
                        <a:rPr sz="1100">
                          <a:solidFill>
                            <a:srgbClr val="1A1A1A"/>
                          </a:solidFill>
                        </a:rPr>
                        <a:t>No — advocacy, events, training</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test that sorts every row: WHO grants it, and does it carry LEGAL FORCE? Only government-granted items are licences.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104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S7 — 'Cert, licence, or code?'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label each of six items as Certification / Licence / Code of Ethics / Professional Body.</a:t>
            </a:r>
          </a:p>
          <a:p>
            <a:pPr>
              <a:spcAft>
                <a:spcPts val="700"/>
              </a:spcAft>
            </a:pPr>
            <a:r>
              <a:rPr sz="1550">
                <a:solidFill>
                  <a:srgbClr val="1A1A1A"/>
                </a:solidFill>
              </a:rPr>
              <a:t>•  The six: (1) CCNA, (2) NMC doctor registration, (3) the ACM 'avoid harm' rule, (4) ISACA, (5) a driving licence, (6) CAN-Nepal.</a:t>
            </a:r>
          </a:p>
          <a:p>
            <a:pPr>
              <a:spcAft>
                <a:spcPts val="700"/>
              </a:spcAft>
            </a:pPr>
            <a:r>
              <a:rPr sz="1550">
                <a:solidFill>
                  <a:srgbClr val="1A1A1A"/>
                </a:solidFill>
              </a:rPr>
              <a:t>•  Take answers aloud (3 min) and resolve the two that trip people up.</a:t>
            </a:r>
          </a:p>
          <a:p>
            <a:pPr>
              <a:spcAft>
                <a:spcPts val="700"/>
              </a:spcAft>
            </a:pPr>
            <a:r>
              <a:rPr sz="1550">
                <a:solidFill>
                  <a:srgbClr val="1A1A1A"/>
                </a:solidFill>
              </a:rPr>
              <a:t>•  A driving licence is a LICENCE (government, legal force); CAN is a BODY (may run certs, isn't itself a cert).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The deliberate confusable is cert-vs-licence — keep returning to 'who grants it, and does it have legal force?' as the test. Answers: 1=cert, 2=licence, 3=code, 4=body, 5=licence, 6=body.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government-granted, legally enforced permission to practise is:</a:t>
            </a:r>
          </a:p>
          <a:p>
            <a:pPr lvl="1"/>
            <a:r>
              <a:rPr sz="1500" b="1">
                <a:solidFill>
                  <a:srgbClr val="0F6E56"/>
                </a:solidFill>
              </a:rPr>
              <a:t>a) a certificate   b) ✅ a licence   c) a code of ethics   d) a degree</a:t>
            </a:r>
          </a:p>
          <a:p>
            <a:pPr lvl="1">
              <a:spcBef>
                <a:spcPts val="600"/>
              </a:spcBef>
            </a:pPr>
            <a:r>
              <a:rPr sz="1500" i="1">
                <a:solidFill>
                  <a:srgbClr val="1A1A1A"/>
                </a:solidFill>
              </a:rPr>
              <a:t>     Why: only a licence is granted by government and carries legal force; the rest are voluntary.</a:t>
            </a:r>
          </a:p>
          <a:p>
            <a:pPr>
              <a:spcBef>
                <a:spcPts val="900"/>
              </a:spcBef>
            </a:pPr>
            <a:r>
              <a:rPr sz="1700" b="1">
                <a:solidFill>
                  <a:srgbClr val="0C2B4A"/>
                </a:solidFill>
              </a:rPr>
              <a:t>Q2.  ACM and IEEE-CS are examples of:</a:t>
            </a:r>
          </a:p>
          <a:p>
            <a:pPr lvl="1"/>
            <a:r>
              <a:rPr sz="1500" b="1">
                <a:solidFill>
                  <a:srgbClr val="0F6E56"/>
                </a:solidFill>
              </a:rPr>
              <a:t>a) certifications   b) laws   c) ✅ professional organizations (with codes of ethics)   d) employers</a:t>
            </a:r>
          </a:p>
          <a:p>
            <a:pPr lvl="1">
              <a:spcBef>
                <a:spcPts val="600"/>
              </a:spcBef>
            </a:pPr>
            <a:r>
              <a:rPr sz="1500" i="1">
                <a:solidFill>
                  <a:srgbClr val="1A1A1A"/>
                </a:solidFill>
              </a:rPr>
              <a:t>     Why: they are bodies that publish codes and set standards — not certs, laws, or employers.</a:t>
            </a:r>
          </a:p>
          <a:p>
            <a:pPr lvl="1">
              <a:spcBef>
                <a:spcPts val="600"/>
              </a:spcBef>
            </a:pPr>
            <a:r>
              <a:rPr sz="1500" i="1">
                <a:solidFill>
                  <a:srgbClr val="1A1A1A"/>
                </a:solidFill>
              </a:rPr>
              <a:t>Discussion: should IT workers in Nepal be licensed like engineers and doctors? Pick a side and argue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104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IT is a partial profession — it has knowledge and codes, but no universal licensing.</a:t>
            </a:r>
          </a:p>
          <a:p>
            <a:pPr>
              <a:spcAft>
                <a:spcPts val="800"/>
              </a:spcAft>
            </a:pPr>
            <a:r>
              <a:rPr sz="1500">
                <a:solidFill>
                  <a:srgbClr val="1A1A1A"/>
                </a:solidFill>
              </a:rPr>
              <a:t>2.  Codes guide behaviour; certification proves a skill (not integrity); licensing has legal force.</a:t>
            </a:r>
          </a:p>
          <a:p>
            <a:pPr>
              <a:spcAft>
                <a:spcPts val="800"/>
              </a:spcAft>
            </a:pPr>
            <a:r>
              <a:rPr sz="1500">
                <a:solidFill>
                  <a:srgbClr val="1A1A1A"/>
                </a:solidFill>
              </a:rPr>
              <a:t>3.  Professional bodies (ACM, IEEE-CS, ISACA, CAN-Nepal) set the standards and run the certs.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Employers and outsourcing clients increasingly require certifications plus adherence to a code of conduct, which directly shape your hireability and pay. Knowing the difference between a cert (skill), a licence (legal force), and a code (commitment) lets you build a credential strategy on purpose instead of collecting random badges.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S8 — turning from workers to users: keeping everyday IT use ethical.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104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8 · LECTURE HOUR 3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Encouraging Ethical Use of IT Resources among Users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One shared office Wi-Fi password, three problems: someone torrents movies, another installs cracked Photoshop, a third runs a crypto miner on the server overnight. No outsider hacked anything — so whose problem is it? The threat came from inside, from ordinary users. The lesson in one line: users need rules, not just tools.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44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Who Is an 'IT User' — and Why Their Behaviour Matters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An IT user is anyone who uses an organization's IT resources — staff, students, customers, contractors, not just 'the IT department'. The key idea: most security and ethics incidents start with ordinary users, not hackers. This is the insider risk — usually not malicious, just careless.</a:t>
            </a:r>
          </a:p>
          <a:p>
            <a:pPr>
              <a:spcAft>
                <a:spcPts val="500"/>
              </a:spcAft>
            </a:pPr>
            <a:r>
              <a:rPr sz="1200" b="1">
                <a:solidFill>
                  <a:srgbClr val="185FA5"/>
                </a:solidFill>
              </a:rPr>
              <a:t>HOW IT WORKS</a:t>
            </a:r>
          </a:p>
          <a:p>
            <a:pPr>
              <a:spcAft>
                <a:spcPts val="600"/>
              </a:spcAft>
            </a:pPr>
            <a:r>
              <a:rPr sz="1400">
                <a:solidFill>
                  <a:srgbClr val="1A1A1A"/>
                </a:solidFill>
              </a:rPr>
              <a:t>•  Careless, everyday acts: a clicked phishing link, a reused password, a home USB, a cracked app 'to get work done'.</a:t>
            </a:r>
          </a:p>
          <a:p>
            <a:pPr>
              <a:spcAft>
                <a:spcPts val="600"/>
              </a:spcAft>
            </a:pPr>
            <a:r>
              <a:rPr sz="1400">
                <a:solidFill>
                  <a:srgbClr val="1A1A1A"/>
                </a:solidFill>
              </a:rPr>
              <a:t>•  If most harm starts inside, buying more security tools won't fix it — you must change user behaviour.</a:t>
            </a:r>
          </a:p>
          <a:p>
            <a:pPr>
              <a:spcAft>
                <a:spcPts val="600"/>
              </a:spcAft>
            </a:pPr>
            <a:r>
              <a:rPr sz="1400">
                <a:solidFill>
                  <a:srgbClr val="1A1A1A"/>
                </a:solidFill>
              </a:rPr>
              <a:t>•  That's what the rest of the session (AUP, anti-piracy, use norms) is actually for.</a:t>
            </a:r>
          </a:p>
          <a:p>
            <a:pPr>
              <a:spcAft>
                <a:spcPts val="600"/>
              </a:spcAft>
            </a:pPr>
            <a:r>
              <a:rPr sz="1400">
                <a:solidFill>
                  <a:srgbClr val="1A1A1A"/>
                </a:solidFill>
              </a:rPr>
              <a:t>•  Security is a shared duty, not a department.</a:t>
            </a:r>
          </a:p>
        </p:txBody>
      </p:sp>
      <p:pic>
        <p:nvPicPr>
          <p:cNvPr id="6" name="Picture 5" descr="s8_insider.png"/>
          <p:cNvPicPr>
            <a:picLocks noChangeAspect="1"/>
          </p:cNvPicPr>
          <p:nvPr/>
        </p:nvPicPr>
        <p:blipFill>
          <a:blip r:embed="rId2"/>
          <a:stretch>
            <a:fillRect/>
          </a:stretch>
        </p:blipFill>
        <p:spPr>
          <a:xfrm>
            <a:off x="6355080" y="2378822"/>
            <a:ext cx="5532120" cy="287759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danger isn't the hacker at the door — it's the user who props it open.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104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insider risk — careless (not malicious) acts that cause real harm</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918857"/>
                <a:gridCol w="4245428"/>
                <a:gridCol w="3265714"/>
              </a:tblGrid>
              <a:tr h="630936">
                <a:tc>
                  <a:txBody>
                    <a:bodyPr wrap="square"/>
                    <a:lstStyle/>
                    <a:p>
                      <a:r>
                        <a:rPr sz="1150" b="1">
                          <a:solidFill>
                            <a:srgbClr val="FFFFFF"/>
                          </a:solidFill>
                        </a:rPr>
                        <a:t>Everyday user action</a:t>
                      </a:r>
                    </a:p>
                  </a:txBody>
                  <a:tcPr anchor="ctr" marL="73152" marR="54864" marT="27432" marB="27432">
                    <a:solidFill>
                      <a:srgbClr val="0C2B4A"/>
                    </a:solidFill>
                  </a:tcPr>
                </a:tc>
                <a:tc>
                  <a:txBody>
                    <a:bodyPr wrap="square"/>
                    <a:lstStyle/>
                    <a:p>
                      <a:r>
                        <a:rPr sz="1150" b="1">
                          <a:solidFill>
                            <a:srgbClr val="FFFFFF"/>
                          </a:solidFill>
                        </a:rPr>
                        <a:t>The harm it causes</a:t>
                      </a:r>
                    </a:p>
                  </a:txBody>
                  <a:tcPr anchor="ctr" marL="73152" marR="54864" marT="27432" marB="27432">
                    <a:solidFill>
                      <a:srgbClr val="0C2B4A"/>
                    </a:solidFill>
                  </a:tcPr>
                </a:tc>
                <a:tc>
                  <a:txBody>
                    <a:bodyPr wrap="square"/>
                    <a:lstStyle/>
                    <a:p>
                      <a:r>
                        <a:rPr sz="1150" b="1">
                          <a:solidFill>
                            <a:srgbClr val="FFFFFF"/>
                          </a:solidFill>
                        </a:rPr>
                        <a:t>Who is affected</a:t>
                      </a:r>
                    </a:p>
                  </a:txBody>
                  <a:tcPr anchor="ctr" marL="73152" marR="54864" marT="27432" marB="27432">
                    <a:solidFill>
                      <a:srgbClr val="0C2B4A"/>
                    </a:solidFill>
                  </a:tcPr>
                </a:tc>
              </a:tr>
              <a:tr h="630936">
                <a:tc>
                  <a:txBody>
                    <a:bodyPr wrap="square"/>
                    <a:lstStyle/>
                    <a:p>
                      <a:r>
                        <a:rPr sz="1100" b="1">
                          <a:solidFill>
                            <a:srgbClr val="0C2B4A"/>
                          </a:solidFill>
                        </a:rPr>
                        <a:t>Clicking a phishing link</a:t>
                      </a:r>
                    </a:p>
                  </a:txBody>
                  <a:tcPr anchor="ctr" marL="73152" marR="54864" marT="27432" marB="27432">
                    <a:solidFill>
                      <a:srgbClr val="FFFFFF"/>
                    </a:solidFill>
                  </a:tcPr>
                </a:tc>
                <a:tc>
                  <a:txBody>
                    <a:bodyPr wrap="square"/>
                    <a:lstStyle/>
                    <a:p>
                      <a:r>
                        <a:rPr sz="1100">
                          <a:solidFill>
                            <a:srgbClr val="1A1A1A"/>
                          </a:solidFill>
                        </a:rPr>
                        <a:t>Credentials stolen, malware installed</a:t>
                      </a:r>
                    </a:p>
                  </a:txBody>
                  <a:tcPr anchor="ctr" marL="73152" marR="54864" marT="27432" marB="27432">
                    <a:solidFill>
                      <a:srgbClr val="FFFFFF"/>
                    </a:solidFill>
                  </a:tcPr>
                </a:tc>
                <a:tc>
                  <a:txBody>
                    <a:bodyPr wrap="square"/>
                    <a:lstStyle/>
                    <a:p>
                      <a:r>
                        <a:rPr sz="1100">
                          <a:solidFill>
                            <a:srgbClr val="1A1A1A"/>
                          </a:solidFill>
                        </a:rPr>
                        <a:t>The whole organization's network</a:t>
                      </a:r>
                    </a:p>
                  </a:txBody>
                  <a:tcPr anchor="ctr" marL="73152" marR="54864" marT="27432" marB="27432">
                    <a:solidFill>
                      <a:srgbClr val="FFFFFF"/>
                    </a:solidFill>
                  </a:tcPr>
                </a:tc>
              </a:tr>
              <a:tr h="630936">
                <a:tc>
                  <a:txBody>
                    <a:bodyPr wrap="square"/>
                    <a:lstStyle/>
                    <a:p>
                      <a:r>
                        <a:rPr sz="1100" b="1">
                          <a:solidFill>
                            <a:srgbClr val="0C2B4A"/>
                          </a:solidFill>
                        </a:rPr>
                        <a:t>Reusing one password everywhere</a:t>
                      </a:r>
                    </a:p>
                  </a:txBody>
                  <a:tcPr anchor="ctr" marL="73152" marR="54864" marT="27432" marB="27432">
                    <a:solidFill>
                      <a:srgbClr val="EEF3F8"/>
                    </a:solidFill>
                  </a:tcPr>
                </a:tc>
                <a:tc>
                  <a:txBody>
                    <a:bodyPr wrap="square"/>
                    <a:lstStyle/>
                    <a:p>
                      <a:r>
                        <a:rPr sz="1100">
                          <a:solidFill>
                            <a:srgbClr val="1A1A1A"/>
                          </a:solidFill>
                        </a:rPr>
                        <a:t>One leak unlocks every account</a:t>
                      </a:r>
                    </a:p>
                  </a:txBody>
                  <a:tcPr anchor="ctr" marL="73152" marR="54864" marT="27432" marB="27432">
                    <a:solidFill>
                      <a:srgbClr val="EEF3F8"/>
                    </a:solidFill>
                  </a:tcPr>
                </a:tc>
                <a:tc>
                  <a:txBody>
                    <a:bodyPr wrap="square"/>
                    <a:lstStyle/>
                    <a:p>
                      <a:r>
                        <a:rPr sz="1100">
                          <a:solidFill>
                            <a:srgbClr val="1A1A1A"/>
                          </a:solidFill>
                        </a:rPr>
                        <a:t>The user and everyone in shared systems</a:t>
                      </a:r>
                    </a:p>
                  </a:txBody>
                  <a:tcPr anchor="ctr" marL="73152" marR="54864" marT="27432" marB="27432">
                    <a:solidFill>
                      <a:srgbClr val="EEF3F8"/>
                    </a:solidFill>
                  </a:tcPr>
                </a:tc>
              </a:tr>
              <a:tr h="630936">
                <a:tc>
                  <a:txBody>
                    <a:bodyPr wrap="square"/>
                    <a:lstStyle/>
                    <a:p>
                      <a:r>
                        <a:rPr sz="1100" b="1">
                          <a:solidFill>
                            <a:srgbClr val="0C2B4A"/>
                          </a:solidFill>
                        </a:rPr>
                        <a:t>Plugging in a personal USB</a:t>
                      </a:r>
                    </a:p>
                  </a:txBody>
                  <a:tcPr anchor="ctr" marL="73152" marR="54864" marT="27432" marB="27432">
                    <a:solidFill>
                      <a:srgbClr val="FFFFFF"/>
                    </a:solidFill>
                  </a:tcPr>
                </a:tc>
                <a:tc>
                  <a:txBody>
                    <a:bodyPr wrap="square"/>
                    <a:lstStyle/>
                    <a:p>
                      <a:r>
                        <a:rPr sz="1100">
                          <a:solidFill>
                            <a:srgbClr val="1A1A1A"/>
                          </a:solidFill>
                        </a:rPr>
                        <a:t>Malware jumps onto work machines</a:t>
                      </a:r>
                    </a:p>
                  </a:txBody>
                  <a:tcPr anchor="ctr" marL="73152" marR="54864" marT="27432" marB="27432">
                    <a:solidFill>
                      <a:srgbClr val="FFFFFF"/>
                    </a:solidFill>
                  </a:tcPr>
                </a:tc>
                <a:tc>
                  <a:txBody>
                    <a:bodyPr wrap="square"/>
                    <a:lstStyle/>
                    <a:p>
                      <a:r>
                        <a:rPr sz="1100">
                          <a:solidFill>
                            <a:srgbClr val="1A1A1A"/>
                          </a:solidFill>
                        </a:rPr>
                        <a:t>Colleagues, shared servers</a:t>
                      </a:r>
                    </a:p>
                  </a:txBody>
                  <a:tcPr anchor="ctr" marL="73152" marR="54864" marT="27432" marB="27432">
                    <a:solidFill>
                      <a:srgbClr val="FFFFFF"/>
                    </a:solidFill>
                  </a:tcPr>
                </a:tc>
              </a:tr>
              <a:tr h="630936">
                <a:tc>
                  <a:txBody>
                    <a:bodyPr wrap="square"/>
                    <a:lstStyle/>
                    <a:p>
                      <a:r>
                        <a:rPr sz="1100" b="1">
                          <a:solidFill>
                            <a:srgbClr val="0C2B4A"/>
                          </a:solidFill>
                        </a:rPr>
                        <a:t>Installing a cracked app 'to get work done'</a:t>
                      </a:r>
                    </a:p>
                  </a:txBody>
                  <a:tcPr anchor="ctr" marL="73152" marR="54864" marT="27432" marB="27432">
                    <a:solidFill>
                      <a:srgbClr val="EEF3F8"/>
                    </a:solidFill>
                  </a:tcPr>
                </a:tc>
                <a:tc>
                  <a:txBody>
                    <a:bodyPr wrap="square"/>
                    <a:lstStyle/>
                    <a:p>
                      <a:r>
                        <a:rPr sz="1100">
                          <a:solidFill>
                            <a:srgbClr val="1A1A1A"/>
                          </a:solidFill>
                        </a:rPr>
                        <a:t>Malware + licence violation</a:t>
                      </a:r>
                    </a:p>
                  </a:txBody>
                  <a:tcPr anchor="ctr" marL="73152" marR="54864" marT="27432" marB="27432">
                    <a:solidFill>
                      <a:srgbClr val="EEF3F8"/>
                    </a:solidFill>
                  </a:tcPr>
                </a:tc>
                <a:tc>
                  <a:txBody>
                    <a:bodyPr wrap="square"/>
                    <a:lstStyle/>
                    <a:p>
                      <a:r>
                        <a:rPr sz="1100">
                          <a:solidFill>
                            <a:srgbClr val="1A1A1A"/>
                          </a:solidFill>
                        </a:rPr>
                        <a:t>The firm (legal + security)</a:t>
                      </a:r>
                    </a:p>
                  </a:txBody>
                  <a:tcPr anchor="ctr" marL="73152" marR="54864" marT="27432" marB="27432">
                    <a:solidFill>
                      <a:srgbClr val="EEF3F8"/>
                    </a:solidFill>
                  </a:tcPr>
                </a:tc>
              </a:tr>
              <a:tr h="630936">
                <a:tc>
                  <a:txBody>
                    <a:bodyPr wrap="square"/>
                    <a:lstStyle/>
                    <a:p>
                      <a:r>
                        <a:rPr sz="1100" b="1">
                          <a:solidFill>
                            <a:srgbClr val="0C2B4A"/>
                          </a:solidFill>
                        </a:rPr>
                        <a:t>Installing games on a shared lab PC</a:t>
                      </a:r>
                    </a:p>
                  </a:txBody>
                  <a:tcPr anchor="ctr" marL="73152" marR="54864" marT="27432" marB="27432">
                    <a:solidFill>
                      <a:srgbClr val="FFFFFF"/>
                    </a:solidFill>
                  </a:tcPr>
                </a:tc>
                <a:tc>
                  <a:txBody>
                    <a:bodyPr wrap="square"/>
                    <a:lstStyle/>
                    <a:p>
                      <a:r>
                        <a:rPr sz="1100">
                          <a:solidFill>
                            <a:srgbClr val="1A1A1A"/>
                          </a:solidFill>
                        </a:rPr>
                        <a:t>Slows the machine, fills it with malware</a:t>
                      </a:r>
                    </a:p>
                  </a:txBody>
                  <a:tcPr anchor="ctr" marL="73152" marR="54864" marT="27432" marB="27432">
                    <a:solidFill>
                      <a:srgbClr val="FFFFFF"/>
                    </a:solidFill>
                  </a:tcPr>
                </a:tc>
                <a:tc>
                  <a:txBody>
                    <a:bodyPr wrap="square"/>
                    <a:lstStyle/>
                    <a:p>
                      <a:r>
                        <a:rPr sz="1100">
                          <a:solidFill>
                            <a:srgbClr val="1A1A1A"/>
                          </a:solidFill>
                        </a:rPr>
                        <a:t>The next class / every other student</a:t>
                      </a:r>
                    </a:p>
                  </a:txBody>
                  <a:tcPr anchor="ctr" marL="73152" marR="54864" marT="27432" marB="27432">
                    <a:solidFill>
                      <a:srgbClr val="FFFFFF"/>
                    </a:solidFill>
                  </a:tcPr>
                </a:tc>
              </a:tr>
              <a:tr h="630936">
                <a:tc>
                  <a:txBody>
                    <a:bodyPr wrap="square"/>
                    <a:lstStyle/>
                    <a:p>
                      <a:r>
                        <a:rPr sz="1100" b="1">
                          <a:solidFill>
                            <a:srgbClr val="0C2B4A"/>
                          </a:solidFill>
                        </a:rPr>
                        <a:t>Sharing the Wi-Fi/server password freely</a:t>
                      </a:r>
                    </a:p>
                  </a:txBody>
                  <a:tcPr anchor="ctr" marL="73152" marR="54864" marT="27432" marB="27432">
                    <a:solidFill>
                      <a:srgbClr val="EEF3F8"/>
                    </a:solidFill>
                  </a:tcPr>
                </a:tc>
                <a:tc>
                  <a:txBody>
                    <a:bodyPr wrap="square"/>
                    <a:lstStyle/>
                    <a:p>
                      <a:r>
                        <a:rPr sz="1100">
                          <a:solidFill>
                            <a:srgbClr val="1A1A1A"/>
                          </a:solidFill>
                        </a:rPr>
                        <a:t>Untraceable misuse (torrents, mining)</a:t>
                      </a:r>
                    </a:p>
                  </a:txBody>
                  <a:tcPr anchor="ctr" marL="73152" marR="54864" marT="27432" marB="27432">
                    <a:solidFill>
                      <a:srgbClr val="EEF3F8"/>
                    </a:solidFill>
                  </a:tcPr>
                </a:tc>
                <a:tc>
                  <a:txBody>
                    <a:bodyPr wrap="square"/>
                    <a:lstStyle/>
                    <a:p>
                      <a:r>
                        <a:rPr sz="1100">
                          <a:solidFill>
                            <a:srgbClr val="1A1A1A"/>
                          </a:solidFill>
                        </a:rPr>
                        <a:t>The organization that owns the network</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None of these is a 'hacker' — the damage is 100% insider and usually careless, not malicious. That's why the fix is behaviour, not just tools.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104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Who Is an 'IT User'</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college computer lab where students install games and cracked software on shared PCs — slowing them, filling them with malware, ruining them for the next class. No hacker involved; the damage is 100% insider, and every student who installed something contributed to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"Only the IT department is responsible for misuse." Every user shares responsibility for safe, ethical use. The IT department locks the doors — but if you prop them open, that's on you. Because most incidents start inside, no amount of security tooling substitutes for responsible user behaviour.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IT user is anyone who uses an organization's IT resources, not just the IT department. Most security and ethics incidents begin with ordinary users — the insider risk — and are usually careless rather than malicious. Since harm starts inside, the remedy is changing user behaviour (AUPs, anti-piracy, use norms), because security is a shared duty, not a department.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IT user · insider risk · careless not malicious · shared responsibility · behaviour over tools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Acceptable Use Policy (AUP)</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An AUP is a document stating what users may and may not do with the organization's IT resources. It defines four things: permitted use, prohibited use, monitoring, and consequences. What gives it ethical force is that users acknowledge/sign it.</a:t>
            </a:r>
          </a:p>
          <a:p>
            <a:pPr>
              <a:spcAft>
                <a:spcPts val="500"/>
              </a:spcAft>
            </a:pPr>
            <a:r>
              <a:rPr sz="1200" b="1">
                <a:solidFill>
                  <a:srgbClr val="185FA5"/>
                </a:solidFill>
              </a:rPr>
              <a:t>HOW IT WORKS</a:t>
            </a:r>
          </a:p>
          <a:p>
            <a:pPr>
              <a:spcAft>
                <a:spcPts val="600"/>
              </a:spcAft>
            </a:pPr>
            <a:r>
              <a:rPr sz="1400">
                <a:solidFill>
                  <a:srgbClr val="1A1A1A"/>
                </a:solidFill>
              </a:rPr>
              <a:t>•  Permitted — work tasks, reasonable limited personal use.</a:t>
            </a:r>
          </a:p>
          <a:p>
            <a:pPr>
              <a:spcAft>
                <a:spcPts val="600"/>
              </a:spcAft>
            </a:pPr>
            <a:r>
              <a:rPr sz="1400">
                <a:solidFill>
                  <a:srgbClr val="1A1A1A"/>
                </a:solidFill>
              </a:rPr>
              <a:t>•  Prohibited — piracy, personal USBs, offensive content, side businesses on company email.</a:t>
            </a:r>
          </a:p>
          <a:p>
            <a:pPr>
              <a:spcAft>
                <a:spcPts val="600"/>
              </a:spcAft>
            </a:pPr>
            <a:r>
              <a:rPr sz="1400">
                <a:solidFill>
                  <a:srgbClr val="1A1A1A"/>
                </a:solidFill>
              </a:rPr>
              <a:t>•  Monitoring — a clear statement the org MAY monitor use (this makes later monitoring fair; ties to S9).</a:t>
            </a:r>
          </a:p>
          <a:p>
            <a:pPr>
              <a:spcAft>
                <a:spcPts val="600"/>
              </a:spcAft>
            </a:pPr>
            <a:r>
              <a:rPr sz="1400">
                <a:solidFill>
                  <a:srgbClr val="1A1A1A"/>
                </a:solidFill>
              </a:rPr>
              <a:t>•  Consequences — warning → dismissal → legal action. The signature turns a vague expectation into informed consent.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signed AUP means you can never say 'I didn't know'.</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104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things every AUP defines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471351"/>
                <a:gridCol w="3707027"/>
                <a:gridCol w="5251621"/>
              </a:tblGrid>
              <a:tr h="883310">
                <a:tc>
                  <a:txBody>
                    <a:bodyPr wrap="square"/>
                    <a:lstStyle/>
                    <a:p>
                      <a:r>
                        <a:rPr sz="1200" b="1">
                          <a:solidFill>
                            <a:srgbClr val="FFFFFF"/>
                          </a:solidFill>
                        </a:rPr>
                        <a:t>AUP element</a:t>
                      </a:r>
                    </a:p>
                  </a:txBody>
                  <a:tcPr anchor="ctr" marL="73152" marR="54864" marT="27432" marB="27432">
                    <a:solidFill>
                      <a:srgbClr val="0C2B4A"/>
                    </a:solidFill>
                  </a:tcPr>
                </a:tc>
                <a:tc>
                  <a:txBody>
                    <a:bodyPr wrap="square"/>
                    <a:lstStyle/>
                    <a:p>
                      <a:r>
                        <a:rPr sz="1200" b="1">
                          <a:solidFill>
                            <a:srgbClr val="FFFFFF"/>
                          </a:solidFill>
                        </a:rPr>
                        <a:t>What it states</a:t>
                      </a:r>
                    </a:p>
                  </a:txBody>
                  <a:tcPr anchor="ctr" marL="73152" marR="54864" marT="27432" marB="27432">
                    <a:solidFill>
                      <a:srgbClr val="0C2B4A"/>
                    </a:solidFill>
                  </a:tcPr>
                </a:tc>
                <a:tc>
                  <a:txBody>
                    <a:bodyPr wrap="square"/>
                    <a:lstStyle/>
                    <a:p>
                      <a:r>
                        <a:rPr sz="1200" b="1">
                          <a:solidFill>
                            <a:srgbClr val="FFFFFF"/>
                          </a:solidFill>
                        </a:rPr>
                        <a:t>Example clause</a:t>
                      </a:r>
                    </a:p>
                  </a:txBody>
                  <a:tcPr anchor="ctr" marL="73152" marR="54864" marT="27432" marB="27432">
                    <a:solidFill>
                      <a:srgbClr val="0C2B4A"/>
                    </a:solidFill>
                  </a:tcPr>
                </a:tc>
              </a:tr>
              <a:tr h="883310">
                <a:tc>
                  <a:txBody>
                    <a:bodyPr wrap="square"/>
                    <a:lstStyle/>
                    <a:p>
                      <a:r>
                        <a:rPr sz="1150" b="1">
                          <a:solidFill>
                            <a:srgbClr val="0C2B4A"/>
                          </a:solidFill>
                        </a:rPr>
                        <a:t>Permitted use</a:t>
                      </a:r>
                    </a:p>
                  </a:txBody>
                  <a:tcPr anchor="ctr" marL="73152" marR="54864" marT="27432" marB="27432">
                    <a:solidFill>
                      <a:srgbClr val="FFFFFF"/>
                    </a:solidFill>
                  </a:tcPr>
                </a:tc>
                <a:tc>
                  <a:txBody>
                    <a:bodyPr wrap="square"/>
                    <a:lstStyle/>
                    <a:p>
                      <a:r>
                        <a:rPr sz="1150">
                          <a:solidFill>
                            <a:srgbClr val="1A1A1A"/>
                          </a:solidFill>
                        </a:rPr>
                        <a:t>What you may do</a:t>
                      </a:r>
                    </a:p>
                  </a:txBody>
                  <a:tcPr anchor="ctr" marL="73152" marR="54864" marT="27432" marB="27432">
                    <a:solidFill>
                      <a:srgbClr val="FFFFFF"/>
                    </a:solidFill>
                  </a:tcPr>
                </a:tc>
                <a:tc>
                  <a:txBody>
                    <a:bodyPr wrap="square"/>
                    <a:lstStyle/>
                    <a:p>
                      <a:r>
                        <a:rPr sz="1150">
                          <a:solidFill>
                            <a:srgbClr val="1A1A1A"/>
                          </a:solidFill>
                        </a:rPr>
                        <a:t>Work tasks; reasonable limited personal browsing</a:t>
                      </a:r>
                    </a:p>
                  </a:txBody>
                  <a:tcPr anchor="ctr" marL="73152" marR="54864" marT="27432" marB="27432">
                    <a:solidFill>
                      <a:srgbClr val="FFFFFF"/>
                    </a:solidFill>
                  </a:tcPr>
                </a:tc>
              </a:tr>
              <a:tr h="883310">
                <a:tc>
                  <a:txBody>
                    <a:bodyPr wrap="square"/>
                    <a:lstStyle/>
                    <a:p>
                      <a:r>
                        <a:rPr sz="1150" b="1">
                          <a:solidFill>
                            <a:srgbClr val="0C2B4A"/>
                          </a:solidFill>
                        </a:rPr>
                        <a:t>Prohibited use</a:t>
                      </a:r>
                    </a:p>
                  </a:txBody>
                  <a:tcPr anchor="ctr" marL="73152" marR="54864" marT="27432" marB="27432">
                    <a:solidFill>
                      <a:srgbClr val="EEF3F8"/>
                    </a:solidFill>
                  </a:tcPr>
                </a:tc>
                <a:tc>
                  <a:txBody>
                    <a:bodyPr wrap="square"/>
                    <a:lstStyle/>
                    <a:p>
                      <a:r>
                        <a:rPr sz="1150">
                          <a:solidFill>
                            <a:srgbClr val="1A1A1A"/>
                          </a:solidFill>
                        </a:rPr>
                        <a:t>What you may not do</a:t>
                      </a:r>
                    </a:p>
                  </a:txBody>
                  <a:tcPr anchor="ctr" marL="73152" marR="54864" marT="27432" marB="27432">
                    <a:solidFill>
                      <a:srgbClr val="EEF3F8"/>
                    </a:solidFill>
                  </a:tcPr>
                </a:tc>
                <a:tc>
                  <a:txBody>
                    <a:bodyPr wrap="square"/>
                    <a:lstStyle/>
                    <a:p>
                      <a:r>
                        <a:rPr sz="1150">
                          <a:solidFill>
                            <a:srgbClr val="1A1A1A"/>
                          </a:solidFill>
                        </a:rPr>
                        <a:t>No piracy, no personal USBs, no side business on company email</a:t>
                      </a:r>
                    </a:p>
                  </a:txBody>
                  <a:tcPr anchor="ctr" marL="73152" marR="54864" marT="27432" marB="27432">
                    <a:solidFill>
                      <a:srgbClr val="EEF3F8"/>
                    </a:solidFill>
                  </a:tcPr>
                </a:tc>
              </a:tr>
              <a:tr h="883310">
                <a:tc>
                  <a:txBody>
                    <a:bodyPr wrap="square"/>
                    <a:lstStyle/>
                    <a:p>
                      <a:r>
                        <a:rPr sz="1150" b="1">
                          <a:solidFill>
                            <a:srgbClr val="0C2B4A"/>
                          </a:solidFill>
                        </a:rPr>
                        <a:t>Monitoring</a:t>
                      </a:r>
                    </a:p>
                  </a:txBody>
                  <a:tcPr anchor="ctr" marL="73152" marR="54864" marT="27432" marB="27432">
                    <a:solidFill>
                      <a:srgbClr val="FFFFFF"/>
                    </a:solidFill>
                  </a:tcPr>
                </a:tc>
                <a:tc>
                  <a:txBody>
                    <a:bodyPr wrap="square"/>
                    <a:lstStyle/>
                    <a:p>
                      <a:r>
                        <a:rPr sz="1150">
                          <a:solidFill>
                            <a:srgbClr val="1A1A1A"/>
                          </a:solidFill>
                        </a:rPr>
                        <a:t>That the org may watch use</a:t>
                      </a:r>
                    </a:p>
                  </a:txBody>
                  <a:tcPr anchor="ctr" marL="73152" marR="54864" marT="27432" marB="27432">
                    <a:solidFill>
                      <a:srgbClr val="FFFFFF"/>
                    </a:solidFill>
                  </a:tcPr>
                </a:tc>
                <a:tc>
                  <a:txBody>
                    <a:bodyPr wrap="square"/>
                    <a:lstStyle/>
                    <a:p>
                      <a:r>
                        <a:rPr sz="1150">
                          <a:solidFill>
                            <a:srgbClr val="1A1A1A"/>
                          </a:solidFill>
                        </a:rPr>
                        <a:t>'Your email and web use may be monitored' (makes later monitoring fair)</a:t>
                      </a:r>
                    </a:p>
                  </a:txBody>
                  <a:tcPr anchor="ctr" marL="73152" marR="54864" marT="27432" marB="27432">
                    <a:solidFill>
                      <a:srgbClr val="FFFFFF"/>
                    </a:solidFill>
                  </a:tcPr>
                </a:tc>
              </a:tr>
              <a:tr h="883312">
                <a:tc>
                  <a:txBody>
                    <a:bodyPr wrap="square"/>
                    <a:lstStyle/>
                    <a:p>
                      <a:r>
                        <a:rPr sz="1150" b="1">
                          <a:solidFill>
                            <a:srgbClr val="0C2B4A"/>
                          </a:solidFill>
                        </a:rPr>
                        <a:t>Consequences</a:t>
                      </a:r>
                    </a:p>
                  </a:txBody>
                  <a:tcPr anchor="ctr" marL="73152" marR="54864" marT="27432" marB="27432">
                    <a:solidFill>
                      <a:srgbClr val="EEF3F8"/>
                    </a:solidFill>
                  </a:tcPr>
                </a:tc>
                <a:tc>
                  <a:txBody>
                    <a:bodyPr wrap="square"/>
                    <a:lstStyle/>
                    <a:p>
                      <a:r>
                        <a:rPr sz="1150">
                          <a:solidFill>
                            <a:srgbClr val="1A1A1A"/>
                          </a:solidFill>
                        </a:rPr>
                        <a:t>What happens on breach</a:t>
                      </a:r>
                    </a:p>
                  </a:txBody>
                  <a:tcPr anchor="ctr" marL="73152" marR="54864" marT="27432" marB="27432">
                    <a:solidFill>
                      <a:srgbClr val="EEF3F8"/>
                    </a:solidFill>
                  </a:tcPr>
                </a:tc>
                <a:tc>
                  <a:txBody>
                    <a:bodyPr wrap="square"/>
                    <a:lstStyle/>
                    <a:p>
                      <a:r>
                        <a:rPr sz="1150">
                          <a:solidFill>
                            <a:srgbClr val="1A1A1A"/>
                          </a:solidFill>
                        </a:rPr>
                        <a:t>Warning → suspension → dismissal → legal action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signature is the ethical hinge: it converts a vague expectation into informed, consented agreement — 'I didn't know' stops being available.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104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 lab/office AUP — Allowed vs Prohibited</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5715000"/>
                <a:gridCol w="5715000"/>
              </a:tblGrid>
              <a:tr h="630936">
                <a:tc>
                  <a:txBody>
                    <a:bodyPr wrap="square"/>
                    <a:lstStyle/>
                    <a:p>
                      <a:r>
                        <a:rPr sz="1250" b="1">
                          <a:solidFill>
                            <a:srgbClr val="FFFFFF"/>
                          </a:solidFill>
                        </a:rPr>
                        <a:t>Allowed</a:t>
                      </a:r>
                    </a:p>
                  </a:txBody>
                  <a:tcPr anchor="ctr" marL="73152" marR="54864" marT="27432" marB="27432">
                    <a:solidFill>
                      <a:srgbClr val="0C2B4A"/>
                    </a:solidFill>
                  </a:tcPr>
                </a:tc>
                <a:tc>
                  <a:txBody>
                    <a:bodyPr wrap="square"/>
                    <a:lstStyle/>
                    <a:p>
                      <a:r>
                        <a:rPr sz="1250" b="1">
                          <a:solidFill>
                            <a:srgbClr val="FFFFFF"/>
                          </a:solidFill>
                        </a:rPr>
                        <a:t>Prohibited</a:t>
                      </a:r>
                    </a:p>
                  </a:txBody>
                  <a:tcPr anchor="ctr" marL="73152" marR="54864" marT="27432" marB="27432">
                    <a:solidFill>
                      <a:srgbClr val="0C2B4A"/>
                    </a:solidFill>
                  </a:tcPr>
                </a:tc>
              </a:tr>
              <a:tr h="630936">
                <a:tc>
                  <a:txBody>
                    <a:bodyPr wrap="square"/>
                    <a:lstStyle/>
                    <a:p>
                      <a:r>
                        <a:rPr sz="1200" b="1">
                          <a:solidFill>
                            <a:srgbClr val="0C2B4A"/>
                          </a:solidFill>
                        </a:rPr>
                        <a:t>Using PCs for coursework and assignments</a:t>
                      </a:r>
                    </a:p>
                  </a:txBody>
                  <a:tcPr anchor="ctr" marL="73152" marR="54864" marT="27432" marB="27432">
                    <a:solidFill>
                      <a:srgbClr val="FFFFFF"/>
                    </a:solidFill>
                  </a:tcPr>
                </a:tc>
                <a:tc>
                  <a:txBody>
                    <a:bodyPr wrap="square"/>
                    <a:lstStyle/>
                    <a:p>
                      <a:r>
                        <a:rPr sz="1200">
                          <a:solidFill>
                            <a:srgbClr val="1A1A1A"/>
                          </a:solidFill>
                        </a:rPr>
                        <a:t>Installing cracked or unlicensed software</a:t>
                      </a:r>
                    </a:p>
                  </a:txBody>
                  <a:tcPr anchor="ctr" marL="73152" marR="54864" marT="27432" marB="27432">
                    <a:solidFill>
                      <a:srgbClr val="FFFFFF"/>
                    </a:solidFill>
                  </a:tcPr>
                </a:tc>
              </a:tr>
              <a:tr h="630936">
                <a:tc>
                  <a:txBody>
                    <a:bodyPr wrap="square"/>
                    <a:lstStyle/>
                    <a:p>
                      <a:r>
                        <a:rPr sz="1200" b="1">
                          <a:solidFill>
                            <a:srgbClr val="0C2B4A"/>
                          </a:solidFill>
                        </a:rPr>
                        <a:t>Reasonable, brief personal use on a break</a:t>
                      </a:r>
                    </a:p>
                  </a:txBody>
                  <a:tcPr anchor="ctr" marL="73152" marR="54864" marT="27432" marB="27432">
                    <a:solidFill>
                      <a:srgbClr val="EEF3F8"/>
                    </a:solidFill>
                  </a:tcPr>
                </a:tc>
                <a:tc>
                  <a:txBody>
                    <a:bodyPr wrap="square"/>
                    <a:lstStyle/>
                    <a:p>
                      <a:r>
                        <a:rPr sz="1200">
                          <a:solidFill>
                            <a:srgbClr val="1A1A1A"/>
                          </a:solidFill>
                        </a:rPr>
                        <a:t>Torrenting movies or games on the network</a:t>
                      </a:r>
                    </a:p>
                  </a:txBody>
                  <a:tcPr anchor="ctr" marL="73152" marR="54864" marT="27432" marB="27432">
                    <a:solidFill>
                      <a:srgbClr val="EEF3F8"/>
                    </a:solidFill>
                  </a:tcPr>
                </a:tc>
              </a:tr>
              <a:tr h="630936">
                <a:tc>
                  <a:txBody>
                    <a:bodyPr wrap="square"/>
                    <a:lstStyle/>
                    <a:p>
                      <a:r>
                        <a:rPr sz="1200" b="1">
                          <a:solidFill>
                            <a:srgbClr val="0C2B4A"/>
                          </a:solidFill>
                        </a:rPr>
                        <a:t>Saving work to approved storage</a:t>
                      </a:r>
                    </a:p>
                  </a:txBody>
                  <a:tcPr anchor="ctr" marL="73152" marR="54864" marT="27432" marB="27432">
                    <a:solidFill>
                      <a:srgbClr val="FFFFFF"/>
                    </a:solidFill>
                  </a:tcPr>
                </a:tc>
                <a:tc>
                  <a:txBody>
                    <a:bodyPr wrap="square"/>
                    <a:lstStyle/>
                    <a:p>
                      <a:r>
                        <a:rPr sz="1200">
                          <a:solidFill>
                            <a:srgbClr val="1A1A1A"/>
                          </a:solidFill>
                        </a:rPr>
                        <a:t>Plugging in personal USB drives without scanning</a:t>
                      </a:r>
                    </a:p>
                  </a:txBody>
                  <a:tcPr anchor="ctr" marL="73152" marR="54864" marT="27432" marB="27432">
                    <a:solidFill>
                      <a:srgbClr val="FFFFFF"/>
                    </a:solidFill>
                  </a:tcPr>
                </a:tc>
              </a:tr>
              <a:tr h="630936">
                <a:tc>
                  <a:txBody>
                    <a:bodyPr wrap="square"/>
                    <a:lstStyle/>
                    <a:p>
                      <a:r>
                        <a:rPr sz="1200" b="1">
                          <a:solidFill>
                            <a:srgbClr val="0C2B4A"/>
                          </a:solidFill>
                        </a:rPr>
                        <a:t>Printing documents you need</a:t>
                      </a:r>
                    </a:p>
                  </a:txBody>
                  <a:tcPr anchor="ctr" marL="73152" marR="54864" marT="27432" marB="27432">
                    <a:solidFill>
                      <a:srgbClr val="EEF3F8"/>
                    </a:solidFill>
                  </a:tcPr>
                </a:tc>
                <a:tc>
                  <a:txBody>
                    <a:bodyPr wrap="square"/>
                    <a:lstStyle/>
                    <a:p>
                      <a:r>
                        <a:rPr sz="1200">
                          <a:solidFill>
                            <a:srgbClr val="1A1A1A"/>
                          </a:solidFill>
                        </a:rPr>
                        <a:t>Accessing offensive or illegal content</a:t>
                      </a:r>
                    </a:p>
                  </a:txBody>
                  <a:tcPr anchor="ctr" marL="73152" marR="54864" marT="27432" marB="27432">
                    <a:solidFill>
                      <a:srgbClr val="EEF3F8"/>
                    </a:solidFill>
                  </a:tcPr>
                </a:tc>
              </a:tr>
              <a:tr h="630936">
                <a:tc>
                  <a:txBody>
                    <a:bodyPr wrap="square"/>
                    <a:lstStyle/>
                    <a:p>
                      <a:r>
                        <a:rPr sz="1200" b="1">
                          <a:solidFill>
                            <a:srgbClr val="0C2B4A"/>
                          </a:solidFill>
                        </a:rPr>
                        <a:t>Reporting a fault to IT</a:t>
                      </a:r>
                    </a:p>
                  </a:txBody>
                  <a:tcPr anchor="ctr" marL="73152" marR="54864" marT="27432" marB="27432">
                    <a:solidFill>
                      <a:srgbClr val="FFFFFF"/>
                    </a:solidFill>
                  </a:tcPr>
                </a:tc>
                <a:tc>
                  <a:txBody>
                    <a:bodyPr wrap="square"/>
                    <a:lstStyle/>
                    <a:p>
                      <a:r>
                        <a:rPr sz="1200">
                          <a:solidFill>
                            <a:srgbClr val="1A1A1A"/>
                          </a:solidFill>
                        </a:rPr>
                        <a:t>Running a side business on company email/resources</a:t>
                      </a:r>
                    </a:p>
                  </a:txBody>
                  <a:tcPr anchor="ctr" marL="73152" marR="54864" marT="27432" marB="27432">
                    <a:solidFill>
                      <a:srgbClr val="FFFFFF"/>
                    </a:solidFill>
                  </a:tcPr>
                </a:tc>
              </a:tr>
              <a:tr h="630936">
                <a:tc>
                  <a:txBody>
                    <a:bodyPr wrap="square"/>
                    <a:lstStyle/>
                    <a:p>
                      <a:r>
                        <a:rPr sz="1200" b="1">
                          <a:solidFill>
                            <a:srgbClr val="0C2B4A"/>
                          </a:solidFill>
                        </a:rPr>
                        <a:t>Using licensed, provided applications</a:t>
                      </a:r>
                    </a:p>
                  </a:txBody>
                  <a:tcPr anchor="ctr" marL="73152" marR="54864" marT="27432" marB="27432">
                    <a:solidFill>
                      <a:srgbClr val="EEF3F8"/>
                    </a:solidFill>
                  </a:tcPr>
                </a:tc>
                <a:tc>
                  <a:txBody>
                    <a:bodyPr wrap="square"/>
                    <a:lstStyle/>
                    <a:p>
                      <a:r>
                        <a:rPr sz="1200">
                          <a:solidFill>
                            <a:srgbClr val="1A1A1A"/>
                          </a:solidFill>
                        </a:rPr>
                        <a:t>Crypto-mining or unauthorised background jobs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two-column card IS the AUP for most everyday cases — it draws the line in advance, before anyone can claim ambiguity.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Acceptable Use Policy (AUP)</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bank or telecom (NTC / Ncell) staff AUP bans personal USB drives and unlicensed software; a university's IT-use policy is agreed to at enrolment. These are the same insider risks from Concept 1, now governed by a signed rule everyone has consented to.</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 AUP is just paperwork nobody reads." Its power is the signature: it converts a vague expectation into informed consent, so 'I didn't know' is gone. And an AUP with no named consequence is just a suggestion — enforcement, as in Unit 1, beats the document.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 Acceptable Use Policy states what users may and may not do with IT resources, defining permitted use, prohibited use, monitoring, and consequences. Because users sign it, it becomes an informed, consented agreement — the basis for fair monitoring (S9) and for discipline. Its force depends on named consequences and real enforcement.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AUP · permitted/prohibited · monitoring clause · consequences · signed = informed consent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104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3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Software Piracy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Software piracy is copying, installing, or distributing software without a valid licence. Its forms: counterfeiting (selling fakes as genuine), unlicensed installs (one copy on ten machines, or a cracked version), and licence violation (a 5-seat licence used by 50 people). It is BOTH a legal and an ethical harm.</a:t>
            </a:r>
          </a:p>
          <a:p>
            <a:pPr>
              <a:spcAft>
                <a:spcPts val="500"/>
              </a:spcAft>
            </a:pPr>
            <a:r>
              <a:rPr sz="1200" b="1">
                <a:solidFill>
                  <a:srgbClr val="185FA5"/>
                </a:solidFill>
              </a:rPr>
              <a:t>HOW IT WORKS</a:t>
            </a:r>
          </a:p>
          <a:p>
            <a:pPr>
              <a:spcAft>
                <a:spcPts val="600"/>
              </a:spcAft>
            </a:pPr>
            <a:r>
              <a:rPr sz="1400">
                <a:solidFill>
                  <a:srgbClr val="1A1A1A"/>
                </a:solidFill>
              </a:rPr>
              <a:t>•  Legal harm — copyright infringement (full treatment in Unit 3, Intellectual Property).</a:t>
            </a:r>
          </a:p>
          <a:p>
            <a:pPr>
              <a:spcAft>
                <a:spcPts val="600"/>
              </a:spcAft>
            </a:pPr>
            <a:r>
              <a:rPr sz="1400">
                <a:solidFill>
                  <a:srgbClr val="1A1A1A"/>
                </a:solidFill>
              </a:rPr>
              <a:t>•  Ethical harm — you took the value of someone's work without paying: a fairness violation.</a:t>
            </a:r>
          </a:p>
          <a:p>
            <a:pPr>
              <a:spcAft>
                <a:spcPts val="600"/>
              </a:spcAft>
            </a:pPr>
            <a:r>
              <a:rPr sz="1400">
                <a:solidFill>
                  <a:srgbClr val="1A1A1A"/>
                </a:solidFill>
              </a:rPr>
              <a:t>•  Don't let it collapse into 'just illegal' — the ethics stands on its own even where enforcement is weak.</a:t>
            </a:r>
          </a:p>
          <a:p>
            <a:pPr>
              <a:spcAft>
                <a:spcPts val="600"/>
              </a:spcAft>
            </a:pPr>
            <a:r>
              <a:rPr sz="1400">
                <a:solidFill>
                  <a:srgbClr val="1A1A1A"/>
                </a:solidFill>
              </a:rPr>
              <a:t>•  'Everyone does it' is the Unit 1 normalization trap — name it as a trap, not an excuse.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Piracy isn't just illegal — it's taking value you never paid for.</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Three forms of software piracy</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590800"/>
                <a:gridCol w="4572000"/>
                <a:gridCol w="4267200"/>
              </a:tblGrid>
              <a:tr h="1104138">
                <a:tc>
                  <a:txBody>
                    <a:bodyPr wrap="square"/>
                    <a:lstStyle/>
                    <a:p>
                      <a:r>
                        <a:rPr sz="1250" b="1">
                          <a:solidFill>
                            <a:srgbClr val="FFFFFF"/>
                          </a:solidFill>
                        </a:rPr>
                        <a:t>Form</a:t>
                      </a:r>
                    </a:p>
                  </a:txBody>
                  <a:tcPr anchor="ctr" marL="73152" marR="54864" marT="27432" marB="27432">
                    <a:solidFill>
                      <a:srgbClr val="0C2B4A"/>
                    </a:solidFill>
                  </a:tcPr>
                </a:tc>
                <a:tc>
                  <a:txBody>
                    <a:bodyPr wrap="square"/>
                    <a:lstStyle/>
                    <a:p>
                      <a:r>
                        <a:rPr sz="1250" b="1">
                          <a:solidFill>
                            <a:srgbClr val="FFFFFF"/>
                          </a:solidFill>
                        </a:rPr>
                        <a:t>What it is</a:t>
                      </a:r>
                    </a:p>
                  </a:txBody>
                  <a:tcPr anchor="ctr" marL="73152" marR="54864" marT="27432" marB="27432">
                    <a:solidFill>
                      <a:srgbClr val="0C2B4A"/>
                    </a:solidFill>
                  </a:tcPr>
                </a:tc>
                <a:tc>
                  <a:txBody>
                    <a:bodyPr wrap="square"/>
                    <a:lstStyle/>
                    <a:p>
                      <a:r>
                        <a:rPr sz="1250" b="1">
                          <a:solidFill>
                            <a:srgbClr val="FFFFFF"/>
                          </a:solidFill>
                        </a:rPr>
                        <a:t>Example</a:t>
                      </a:r>
                    </a:p>
                  </a:txBody>
                  <a:tcPr anchor="ctr" marL="73152" marR="54864" marT="27432" marB="27432">
                    <a:solidFill>
                      <a:srgbClr val="0C2B4A"/>
                    </a:solidFill>
                  </a:tcPr>
                </a:tc>
              </a:tr>
              <a:tr h="1104138">
                <a:tc>
                  <a:txBody>
                    <a:bodyPr wrap="square"/>
                    <a:lstStyle/>
                    <a:p>
                      <a:r>
                        <a:rPr sz="1200" b="1">
                          <a:solidFill>
                            <a:srgbClr val="0C2B4A"/>
                          </a:solidFill>
                        </a:rPr>
                        <a:t>Counterfeiting</a:t>
                      </a:r>
                    </a:p>
                  </a:txBody>
                  <a:tcPr anchor="ctr" marL="73152" marR="54864" marT="27432" marB="27432">
                    <a:solidFill>
                      <a:srgbClr val="FFFFFF"/>
                    </a:solidFill>
                  </a:tcPr>
                </a:tc>
                <a:tc>
                  <a:txBody>
                    <a:bodyPr wrap="square"/>
                    <a:lstStyle/>
                    <a:p>
                      <a:r>
                        <a:rPr sz="1200">
                          <a:solidFill>
                            <a:srgbClr val="1A1A1A"/>
                          </a:solidFill>
                        </a:rPr>
                        <a:t>Selling fake copies as if genuine</a:t>
                      </a:r>
                    </a:p>
                  </a:txBody>
                  <a:tcPr anchor="ctr" marL="73152" marR="54864" marT="27432" marB="27432">
                    <a:solidFill>
                      <a:srgbClr val="FFFFFF"/>
                    </a:solidFill>
                  </a:tcPr>
                </a:tc>
                <a:tc>
                  <a:txBody>
                    <a:bodyPr wrap="square"/>
                    <a:lstStyle/>
                    <a:p>
                      <a:r>
                        <a:rPr sz="1200">
                          <a:solidFill>
                            <a:srgbClr val="1A1A1A"/>
                          </a:solidFill>
                        </a:rPr>
                        <a:t>A shop selling pirated Windows DVDs as 'original'</a:t>
                      </a:r>
                    </a:p>
                  </a:txBody>
                  <a:tcPr anchor="ctr" marL="73152" marR="54864" marT="27432" marB="27432">
                    <a:solidFill>
                      <a:srgbClr val="FFFFFF"/>
                    </a:solidFill>
                  </a:tcPr>
                </a:tc>
              </a:tr>
              <a:tr h="1104138">
                <a:tc>
                  <a:txBody>
                    <a:bodyPr wrap="square"/>
                    <a:lstStyle/>
                    <a:p>
                      <a:r>
                        <a:rPr sz="1200" b="1">
                          <a:solidFill>
                            <a:srgbClr val="0C2B4A"/>
                          </a:solidFill>
                        </a:rPr>
                        <a:t>Unlicensed install</a:t>
                      </a:r>
                    </a:p>
                  </a:txBody>
                  <a:tcPr anchor="ctr" marL="73152" marR="54864" marT="27432" marB="27432">
                    <a:solidFill>
                      <a:srgbClr val="EEF3F8"/>
                    </a:solidFill>
                  </a:tcPr>
                </a:tc>
                <a:tc>
                  <a:txBody>
                    <a:bodyPr wrap="square"/>
                    <a:lstStyle/>
                    <a:p>
                      <a:r>
                        <a:rPr sz="1200">
                          <a:solidFill>
                            <a:srgbClr val="1A1A1A"/>
                          </a:solidFill>
                        </a:rPr>
                        <a:t>One purchased copy on many machines, or a cracked version</a:t>
                      </a:r>
                    </a:p>
                  </a:txBody>
                  <a:tcPr anchor="ctr" marL="73152" marR="54864" marT="27432" marB="27432">
                    <a:solidFill>
                      <a:srgbClr val="EEF3F8"/>
                    </a:solidFill>
                  </a:tcPr>
                </a:tc>
                <a:tc>
                  <a:txBody>
                    <a:bodyPr wrap="square"/>
                    <a:lstStyle/>
                    <a:p>
                      <a:r>
                        <a:rPr sz="1200">
                          <a:solidFill>
                            <a:srgbClr val="1A1A1A"/>
                          </a:solidFill>
                        </a:rPr>
                        <a:t>Installing cracked AutoCAD across a whole office</a:t>
                      </a:r>
                    </a:p>
                  </a:txBody>
                  <a:tcPr anchor="ctr" marL="73152" marR="54864" marT="27432" marB="27432">
                    <a:solidFill>
                      <a:srgbClr val="EEF3F8"/>
                    </a:solidFill>
                  </a:tcPr>
                </a:tc>
              </a:tr>
              <a:tr h="1104138">
                <a:tc>
                  <a:txBody>
                    <a:bodyPr wrap="square"/>
                    <a:lstStyle/>
                    <a:p>
                      <a:r>
                        <a:rPr sz="1200" b="1">
                          <a:solidFill>
                            <a:srgbClr val="0C2B4A"/>
                          </a:solidFill>
                        </a:rPr>
                        <a:t>Licence violation</a:t>
                      </a:r>
                    </a:p>
                  </a:txBody>
                  <a:tcPr anchor="ctr" marL="73152" marR="54864" marT="27432" marB="27432">
                    <a:solidFill>
                      <a:srgbClr val="FFFFFF"/>
                    </a:solidFill>
                  </a:tcPr>
                </a:tc>
                <a:tc>
                  <a:txBody>
                    <a:bodyPr wrap="square"/>
                    <a:lstStyle/>
                    <a:p>
                      <a:r>
                        <a:rPr sz="1200">
                          <a:solidFill>
                            <a:srgbClr val="1A1A1A"/>
                          </a:solidFill>
                        </a:rPr>
                        <a:t>Exceeding what the licence permits</a:t>
                      </a:r>
                    </a:p>
                  </a:txBody>
                  <a:tcPr anchor="ctr" marL="73152" marR="54864" marT="27432" marB="27432">
                    <a:solidFill>
                      <a:srgbClr val="FFFFFF"/>
                    </a:solidFill>
                  </a:tcPr>
                </a:tc>
                <a:tc>
                  <a:txBody>
                    <a:bodyPr wrap="square"/>
                    <a:lstStyle/>
                    <a:p>
                      <a:r>
                        <a:rPr sz="1200">
                          <a:solidFill>
                            <a:srgbClr val="1A1A1A"/>
                          </a:solidFill>
                        </a:rPr>
                        <a:t>A 5-seat licence actually used by 50 staff</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All three are piracy even with no sale involved — the harm is USING value you never paid for, not profiting from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104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3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Software Piracy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High software-piracy rates across Nepal / South Asia; countless offices running cracked Windows / Office; and the 'everyone does it' normalization — the Unit 1 trap where something stops feeling wrong because it's everywhere. Name it as a trap, not an excuse.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"It's only piracy if I sell it." Using an unlicensed copy is already a violation — no sale required. The wrong isn't profiting; it's using value you never paid for. Installing one cracked copy for yourself already crosses the line — like sneaking into a movie hall, you were never entitled to the seat.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Software piracy is using, copying, or distributing software without a valid licence, in forms including counterfeiting, unlicensed installs, and licence violation. It is both a legal harm (copyright infringement — Unit 3) and an ethical one (taking the value of someone's work without paying). 'Everyone does it' is normalization, a decision trap, not a justification.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software piracy · counterfeiting · unlicensed install · licence violation · legal + ethical harm · normalization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it piracy? — everyday cases (Nepal / IT)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72000"/>
                <a:gridCol w="2895600"/>
                <a:gridCol w="3962399"/>
              </a:tblGrid>
              <a:tr h="630936">
                <a:tc>
                  <a:txBody>
                    <a:bodyPr wrap="square"/>
                    <a:lstStyle/>
                    <a:p>
                      <a:r>
                        <a:rPr sz="1150" b="1">
                          <a:solidFill>
                            <a:srgbClr val="FFFFFF"/>
                          </a:solidFill>
                        </a:rPr>
                        <a:t>The act</a:t>
                      </a:r>
                    </a:p>
                  </a:txBody>
                  <a:tcPr anchor="ctr" marL="73152" marR="54864" marT="27432" marB="27432">
                    <a:solidFill>
                      <a:srgbClr val="0C2B4A"/>
                    </a:solidFill>
                  </a:tcPr>
                </a:tc>
                <a:tc>
                  <a:txBody>
                    <a:bodyPr wrap="square"/>
                    <a:lstStyle/>
                    <a:p>
                      <a:r>
                        <a:rPr sz="1150" b="1">
                          <a:solidFill>
                            <a:srgbClr val="FFFFFF"/>
                          </a:solidFill>
                        </a:rPr>
                        <a:t>Form of piracy</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r>
              <a:tr h="630936">
                <a:tc>
                  <a:txBody>
                    <a:bodyPr wrap="square"/>
                    <a:lstStyle/>
                    <a:p>
                      <a:r>
                        <a:rPr sz="1100" b="1">
                          <a:solidFill>
                            <a:srgbClr val="0C2B4A"/>
                          </a:solidFill>
                        </a:rPr>
                        <a:t>Office runs cracked Windows on every PC</a:t>
                      </a:r>
                    </a:p>
                  </a:txBody>
                  <a:tcPr anchor="ctr" marL="73152" marR="54864" marT="27432" marB="27432">
                    <a:solidFill>
                      <a:srgbClr val="FFFFFF"/>
                    </a:solidFill>
                  </a:tcPr>
                </a:tc>
                <a:tc>
                  <a:txBody>
                    <a:bodyPr wrap="square"/>
                    <a:lstStyle/>
                    <a:p>
                      <a:r>
                        <a:rPr sz="1100">
                          <a:solidFill>
                            <a:srgbClr val="1A1A1A"/>
                          </a:solidFill>
                        </a:rPr>
                        <a:t>Unlicensed install</a:t>
                      </a:r>
                    </a:p>
                  </a:txBody>
                  <a:tcPr anchor="ctr" marL="73152" marR="54864" marT="27432" marB="27432">
                    <a:solidFill>
                      <a:srgbClr val="FFFFFF"/>
                    </a:solidFill>
                  </a:tcPr>
                </a:tc>
                <a:tc>
                  <a:txBody>
                    <a:bodyPr wrap="square"/>
                    <a:lstStyle/>
                    <a:p>
                      <a:r>
                        <a:rPr sz="1100">
                          <a:solidFill>
                            <a:srgbClr val="1A1A1A"/>
                          </a:solidFill>
                        </a:rPr>
                        <a:t>Piracy — no valid licence, even unsold</a:t>
                      </a:r>
                    </a:p>
                  </a:txBody>
                  <a:tcPr anchor="ctr" marL="73152" marR="54864" marT="27432" marB="27432">
                    <a:solidFill>
                      <a:srgbClr val="FFFFFF"/>
                    </a:solidFill>
                  </a:tcPr>
                </a:tc>
              </a:tr>
              <a:tr h="630936">
                <a:tc>
                  <a:txBody>
                    <a:bodyPr wrap="square"/>
                    <a:lstStyle/>
                    <a:p>
                      <a:r>
                        <a:rPr sz="1100" b="1">
                          <a:solidFill>
                            <a:srgbClr val="0C2B4A"/>
                          </a:solidFill>
                        </a:rPr>
                        <a:t>Shop sells 'original' Windows DVDs that are fake</a:t>
                      </a:r>
                    </a:p>
                  </a:txBody>
                  <a:tcPr anchor="ctr" marL="73152" marR="54864" marT="27432" marB="27432">
                    <a:solidFill>
                      <a:srgbClr val="EEF3F8"/>
                    </a:solidFill>
                  </a:tcPr>
                </a:tc>
                <a:tc>
                  <a:txBody>
                    <a:bodyPr wrap="square"/>
                    <a:lstStyle/>
                    <a:p>
                      <a:r>
                        <a:rPr sz="1100">
                          <a:solidFill>
                            <a:srgbClr val="1A1A1A"/>
                          </a:solidFill>
                        </a:rPr>
                        <a:t>Counterfeiting</a:t>
                      </a:r>
                    </a:p>
                  </a:txBody>
                  <a:tcPr anchor="ctr" marL="73152" marR="54864" marT="27432" marB="27432">
                    <a:solidFill>
                      <a:srgbClr val="EEF3F8"/>
                    </a:solidFill>
                  </a:tcPr>
                </a:tc>
                <a:tc>
                  <a:txBody>
                    <a:bodyPr wrap="square"/>
                    <a:lstStyle/>
                    <a:p>
                      <a:r>
                        <a:rPr sz="1100">
                          <a:solidFill>
                            <a:srgbClr val="1A1A1A"/>
                          </a:solidFill>
                        </a:rPr>
                        <a:t>Piracy — passing fakes as genuine</a:t>
                      </a:r>
                    </a:p>
                  </a:txBody>
                  <a:tcPr anchor="ctr" marL="73152" marR="54864" marT="27432" marB="27432">
                    <a:solidFill>
                      <a:srgbClr val="EEF3F8"/>
                    </a:solidFill>
                  </a:tcPr>
                </a:tc>
              </a:tr>
              <a:tr h="630936">
                <a:tc>
                  <a:txBody>
                    <a:bodyPr wrap="square"/>
                    <a:lstStyle/>
                    <a:p>
                      <a:r>
                        <a:rPr sz="1100" b="1">
                          <a:solidFill>
                            <a:srgbClr val="0C2B4A"/>
                          </a:solidFill>
                        </a:rPr>
                        <a:t>A 5-seat design licence used by 50 staff</a:t>
                      </a:r>
                    </a:p>
                  </a:txBody>
                  <a:tcPr anchor="ctr" marL="73152" marR="54864" marT="27432" marB="27432">
                    <a:solidFill>
                      <a:srgbClr val="FFFFFF"/>
                    </a:solidFill>
                  </a:tcPr>
                </a:tc>
                <a:tc>
                  <a:txBody>
                    <a:bodyPr wrap="square"/>
                    <a:lstStyle/>
                    <a:p>
                      <a:r>
                        <a:rPr sz="1100">
                          <a:solidFill>
                            <a:srgbClr val="1A1A1A"/>
                          </a:solidFill>
                        </a:rPr>
                        <a:t>Licence violation</a:t>
                      </a:r>
                    </a:p>
                  </a:txBody>
                  <a:tcPr anchor="ctr" marL="73152" marR="54864" marT="27432" marB="27432">
                    <a:solidFill>
                      <a:srgbClr val="FFFFFF"/>
                    </a:solidFill>
                  </a:tcPr>
                </a:tc>
                <a:tc>
                  <a:txBody>
                    <a:bodyPr wrap="square"/>
                    <a:lstStyle/>
                    <a:p>
                      <a:r>
                        <a:rPr sz="1100">
                          <a:solidFill>
                            <a:srgbClr val="1A1A1A"/>
                          </a:solidFill>
                        </a:rPr>
                        <a:t>Piracy — exceeds what was purchased</a:t>
                      </a:r>
                    </a:p>
                  </a:txBody>
                  <a:tcPr anchor="ctr" marL="73152" marR="54864" marT="27432" marB="27432">
                    <a:solidFill>
                      <a:srgbClr val="FFFFFF"/>
                    </a:solidFill>
                  </a:tcPr>
                </a:tc>
              </a:tr>
              <a:tr h="630936">
                <a:tc>
                  <a:txBody>
                    <a:bodyPr wrap="square"/>
                    <a:lstStyle/>
                    <a:p>
                      <a:r>
                        <a:rPr sz="1100" b="1">
                          <a:solidFill>
                            <a:srgbClr val="0C2B4A"/>
                          </a:solidFill>
                        </a:rPr>
                        <a:t>Installing one cracked Photoshop for yourself</a:t>
                      </a:r>
                    </a:p>
                  </a:txBody>
                  <a:tcPr anchor="ctr" marL="73152" marR="54864" marT="27432" marB="27432">
                    <a:solidFill>
                      <a:srgbClr val="EEF3F8"/>
                    </a:solidFill>
                  </a:tcPr>
                </a:tc>
                <a:tc>
                  <a:txBody>
                    <a:bodyPr wrap="square"/>
                    <a:lstStyle/>
                    <a:p>
                      <a:r>
                        <a:rPr sz="1100">
                          <a:solidFill>
                            <a:srgbClr val="1A1A1A"/>
                          </a:solidFill>
                        </a:rPr>
                        <a:t>Unlicensed install</a:t>
                      </a:r>
                    </a:p>
                  </a:txBody>
                  <a:tcPr anchor="ctr" marL="73152" marR="54864" marT="27432" marB="27432">
                    <a:solidFill>
                      <a:srgbClr val="EEF3F8"/>
                    </a:solidFill>
                  </a:tcPr>
                </a:tc>
                <a:tc>
                  <a:txBody>
                    <a:bodyPr wrap="square"/>
                    <a:lstStyle/>
                    <a:p>
                      <a:r>
                        <a:rPr sz="1100">
                          <a:solidFill>
                            <a:srgbClr val="1A1A1A"/>
                          </a:solidFill>
                        </a:rPr>
                        <a:t>Piracy — no sale needed to violate</a:t>
                      </a:r>
                    </a:p>
                  </a:txBody>
                  <a:tcPr anchor="ctr" marL="73152" marR="54864" marT="27432" marB="27432">
                    <a:solidFill>
                      <a:srgbClr val="EEF3F8"/>
                    </a:solidFill>
                  </a:tcPr>
                </a:tc>
              </a:tr>
              <a:tr h="630936">
                <a:tc>
                  <a:txBody>
                    <a:bodyPr wrap="square"/>
                    <a:lstStyle/>
                    <a:p>
                      <a:r>
                        <a:rPr sz="1100" b="1">
                          <a:solidFill>
                            <a:srgbClr val="0C2B4A"/>
                          </a:solidFill>
                        </a:rPr>
                        <a:t>Downloading a 'nulled' paid plugin to save money</a:t>
                      </a:r>
                    </a:p>
                  </a:txBody>
                  <a:tcPr anchor="ctr" marL="73152" marR="54864" marT="27432" marB="27432">
                    <a:solidFill>
                      <a:srgbClr val="FFFFFF"/>
                    </a:solidFill>
                  </a:tcPr>
                </a:tc>
                <a:tc>
                  <a:txBody>
                    <a:bodyPr wrap="square"/>
                    <a:lstStyle/>
                    <a:p>
                      <a:r>
                        <a:rPr sz="1100">
                          <a:solidFill>
                            <a:srgbClr val="1A1A1A"/>
                          </a:solidFill>
                        </a:rPr>
                        <a:t>Unlicensed install</a:t>
                      </a:r>
                    </a:p>
                  </a:txBody>
                  <a:tcPr anchor="ctr" marL="73152" marR="54864" marT="27432" marB="27432">
                    <a:solidFill>
                      <a:srgbClr val="FFFFFF"/>
                    </a:solidFill>
                  </a:tcPr>
                </a:tc>
                <a:tc>
                  <a:txBody>
                    <a:bodyPr wrap="square"/>
                    <a:lstStyle/>
                    <a:p>
                      <a:r>
                        <a:rPr sz="1100">
                          <a:solidFill>
                            <a:srgbClr val="1A1A1A"/>
                          </a:solidFill>
                        </a:rPr>
                        <a:t>Piracy — using value you never paid for</a:t>
                      </a:r>
                    </a:p>
                  </a:txBody>
                  <a:tcPr anchor="ctr" marL="73152" marR="54864" marT="27432" marB="27432">
                    <a:solidFill>
                      <a:srgbClr val="FFFFFF"/>
                    </a:solidFill>
                  </a:tcPr>
                </a:tc>
              </a:tr>
              <a:tr h="630936">
                <a:tc>
                  <a:txBody>
                    <a:bodyPr wrap="square"/>
                    <a:lstStyle/>
                    <a:p>
                      <a:r>
                        <a:rPr sz="1100" b="1">
                          <a:solidFill>
                            <a:srgbClr val="0C2B4A"/>
                          </a:solidFill>
                        </a:rPr>
                        <a:t>Buying one Windows key, reusing it on 10 laptops</a:t>
                      </a:r>
                    </a:p>
                  </a:txBody>
                  <a:tcPr anchor="ctr" marL="73152" marR="54864" marT="27432" marB="27432">
                    <a:solidFill>
                      <a:srgbClr val="EEF3F8"/>
                    </a:solidFill>
                  </a:tcPr>
                </a:tc>
                <a:tc>
                  <a:txBody>
                    <a:bodyPr wrap="square"/>
                    <a:lstStyle/>
                    <a:p>
                      <a:r>
                        <a:rPr sz="1100">
                          <a:solidFill>
                            <a:srgbClr val="1A1A1A"/>
                          </a:solidFill>
                        </a:rPr>
                        <a:t>Licence violation</a:t>
                      </a:r>
                    </a:p>
                  </a:txBody>
                  <a:tcPr anchor="ctr" marL="73152" marR="54864" marT="27432" marB="27432">
                    <a:solidFill>
                      <a:srgbClr val="EEF3F8"/>
                    </a:solidFill>
                  </a:tcPr>
                </a:tc>
                <a:tc>
                  <a:txBody>
                    <a:bodyPr wrap="square"/>
                    <a:lstStyle/>
                    <a:p>
                      <a:r>
                        <a:rPr sz="1100">
                          <a:solidFill>
                            <a:srgbClr val="1A1A1A"/>
                          </a:solidFill>
                        </a:rPr>
                        <a:t>Piracy — one licence, many machines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None of these require a sale — the wrong is USING value you never paid for. 'Everyone does it' is the Unit 1 normalization trap, not a defence.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104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Inappropriate Use of IT Resources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Inappropriate use is using organizational resources for unauthorized, personal, or harmful purposes. Unlike piracy, the software may be perfectly licensed — the problem is the PURPOSE. The common thread: resources provided for work, diverted to non-work or harmful ends.</a:t>
            </a:r>
          </a:p>
          <a:p>
            <a:pPr>
              <a:spcAft>
                <a:spcPts val="500"/>
              </a:spcAft>
            </a:pPr>
            <a:r>
              <a:rPr sz="1200" b="1">
                <a:solidFill>
                  <a:srgbClr val="185FA5"/>
                </a:solidFill>
              </a:rPr>
              <a:t>HOW IT WORKS</a:t>
            </a:r>
          </a:p>
          <a:p>
            <a:pPr>
              <a:spcAft>
                <a:spcPts val="600"/>
              </a:spcAft>
            </a:pPr>
            <a:r>
              <a:rPr sz="1400">
                <a:solidFill>
                  <a:srgbClr val="1A1A1A"/>
                </a:solidFill>
              </a:rPr>
              <a:t>•  Examples: excessive personal browsing/streaming/gaming, accessing offensive content, a side business on company email, unauthorized apps.</a:t>
            </a:r>
          </a:p>
          <a:p>
            <a:pPr>
              <a:spcAft>
                <a:spcPts val="600"/>
              </a:spcAft>
            </a:pPr>
            <a:r>
              <a:rPr sz="1400">
                <a:solidFill>
                  <a:srgbClr val="1A1A1A"/>
                </a:solidFill>
              </a:rPr>
              <a:t>•  The line is usually about degree and impact, not a bright rule.</a:t>
            </a:r>
          </a:p>
          <a:p>
            <a:pPr>
              <a:spcAft>
                <a:spcPts val="600"/>
              </a:spcAft>
            </a:pPr>
            <a:r>
              <a:rPr sz="1400">
                <a:solidFill>
                  <a:srgbClr val="1A1A1A"/>
                </a:solidFill>
              </a:rPr>
              <a:t>•  A workable test: reasonableness + the AUP + impact on your work.</a:t>
            </a:r>
          </a:p>
          <a:p>
            <a:pPr>
              <a:spcAft>
                <a:spcPts val="600"/>
              </a:spcAft>
            </a:pPr>
            <a:r>
              <a:rPr sz="1400">
                <a:solidFill>
                  <a:srgbClr val="1A1A1A"/>
                </a:solidFill>
              </a:rPr>
              <a:t>•  A 30-second eSewa payment on a break is reasonable; streaming cricket all afternoon isn't.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Right tools, wrong purpose — the AUP draws the line in advance.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104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Where's the line? — everyday office actions (Nepal AUP)</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898571"/>
                <a:gridCol w="2286000"/>
                <a:gridCol w="4245428"/>
              </a:tblGrid>
              <a:tr h="630936">
                <a:tc>
                  <a:txBody>
                    <a:bodyPr wrap="square"/>
                    <a:lstStyle/>
                    <a:p>
                      <a:r>
                        <a:rPr sz="1150" b="1">
                          <a:solidFill>
                            <a:srgbClr val="FFFFFF"/>
                          </a:solidFill>
                        </a:rPr>
                        <a:t>Action</a:t>
                      </a:r>
                    </a:p>
                  </a:txBody>
                  <a:tcPr anchor="ctr" marL="73152" marR="54864" marT="27432" marB="27432">
                    <a:solidFill>
                      <a:srgbClr val="0C2B4A"/>
                    </a:solidFill>
                  </a:tcPr>
                </a:tc>
                <a:tc>
                  <a:txBody>
                    <a:bodyPr wrap="square"/>
                    <a:lstStyle/>
                    <a:p>
                      <a:r>
                        <a:rPr sz="1150" b="1">
                          <a:solidFill>
                            <a:srgbClr val="FFFFFF"/>
                          </a:solidFill>
                        </a:rPr>
                        <a:t>Typical verdict</a:t>
                      </a:r>
                    </a:p>
                  </a:txBody>
                  <a:tcPr anchor="ctr" marL="73152" marR="54864" marT="27432" marB="27432">
                    <a:solidFill>
                      <a:srgbClr val="0C2B4A"/>
                    </a:solidFill>
                  </a:tcPr>
                </a:tc>
                <a:tc>
                  <a:txBody>
                    <a:bodyPr wrap="square"/>
                    <a:lstStyle/>
                    <a:p>
                      <a:r>
                        <a:rPr sz="1150" b="1">
                          <a:solidFill>
                            <a:srgbClr val="FFFFFF"/>
                          </a:solidFill>
                        </a:rPr>
                        <a:t>Why</a:t>
                      </a:r>
                    </a:p>
                  </a:txBody>
                  <a:tcPr anchor="ctr" marL="73152" marR="54864" marT="27432" marB="27432">
                    <a:solidFill>
                      <a:srgbClr val="0C2B4A"/>
                    </a:solidFill>
                  </a:tcPr>
                </a:tc>
              </a:tr>
              <a:tr h="630936">
                <a:tc>
                  <a:txBody>
                    <a:bodyPr wrap="square"/>
                    <a:lstStyle/>
                    <a:p>
                      <a:r>
                        <a:rPr sz="1100" b="1">
                          <a:solidFill>
                            <a:srgbClr val="0C2B4A"/>
                          </a:solidFill>
                        </a:rPr>
                        <a:t>Charging your phone on the office PC</a:t>
                      </a:r>
                    </a:p>
                  </a:txBody>
                  <a:tcPr anchor="ctr" marL="73152" marR="54864" marT="27432" marB="27432">
                    <a:solidFill>
                      <a:srgbClr val="FFFFFF"/>
                    </a:solidFill>
                  </a:tcPr>
                </a:tc>
                <a:tc>
                  <a:txBody>
                    <a:bodyPr wrap="square"/>
                    <a:lstStyle/>
                    <a:p>
                      <a:r>
                        <a:rPr sz="1100">
                          <a:solidFill>
                            <a:srgbClr val="1A1A1A"/>
                          </a:solidFill>
                        </a:rPr>
                        <a:t>Depends</a:t>
                      </a:r>
                    </a:p>
                  </a:txBody>
                  <a:tcPr anchor="ctr" marL="73152" marR="54864" marT="27432" marB="27432">
                    <a:solidFill>
                      <a:srgbClr val="FFFFFF"/>
                    </a:solidFill>
                  </a:tcPr>
                </a:tc>
                <a:tc>
                  <a:txBody>
                    <a:bodyPr wrap="square"/>
                    <a:lstStyle/>
                    <a:p>
                      <a:r>
                        <a:rPr sz="1100">
                          <a:solidFill>
                            <a:srgbClr val="1A1A1A"/>
                          </a:solidFill>
                        </a:rPr>
                        <a:t>Trivial, but some AUPs restrict USB ports</a:t>
                      </a:r>
                    </a:p>
                  </a:txBody>
                  <a:tcPr anchor="ctr" marL="73152" marR="54864" marT="27432" marB="27432">
                    <a:solidFill>
                      <a:srgbClr val="FFFFFF"/>
                    </a:solidFill>
                  </a:tcPr>
                </a:tc>
              </a:tr>
              <a:tr h="630936">
                <a:tc>
                  <a:txBody>
                    <a:bodyPr wrap="square"/>
                    <a:lstStyle/>
                    <a:p>
                      <a:r>
                        <a:rPr sz="1100" b="1">
                          <a:solidFill>
                            <a:srgbClr val="0C2B4A"/>
                          </a:solidFill>
                        </a:rPr>
                        <a:t>Installing a cracked PDF editor</a:t>
                      </a:r>
                    </a:p>
                  </a:txBody>
                  <a:tcPr anchor="ctr" marL="73152" marR="54864" marT="27432" marB="27432">
                    <a:solidFill>
                      <a:srgbClr val="EEF3F8"/>
                    </a:solidFill>
                  </a:tcPr>
                </a:tc>
                <a:tc>
                  <a:txBody>
                    <a:bodyPr wrap="square"/>
                    <a:lstStyle/>
                    <a:p>
                      <a:r>
                        <a:rPr sz="1100">
                          <a:solidFill>
                            <a:srgbClr val="1A1A1A"/>
                          </a:solidFill>
                        </a:rPr>
                        <a:t>Prohibited</a:t>
                      </a:r>
                    </a:p>
                  </a:txBody>
                  <a:tcPr anchor="ctr" marL="73152" marR="54864" marT="27432" marB="27432">
                    <a:solidFill>
                      <a:srgbClr val="EEF3F8"/>
                    </a:solidFill>
                  </a:tcPr>
                </a:tc>
                <a:tc>
                  <a:txBody>
                    <a:bodyPr wrap="square"/>
                    <a:lstStyle/>
                    <a:p>
                      <a:r>
                        <a:rPr sz="1100">
                          <a:solidFill>
                            <a:srgbClr val="1A1A1A"/>
                          </a:solidFill>
                        </a:rPr>
                        <a:t>Software piracy — a clear licence violation</a:t>
                      </a:r>
                    </a:p>
                  </a:txBody>
                  <a:tcPr anchor="ctr" marL="73152" marR="54864" marT="27432" marB="27432">
                    <a:solidFill>
                      <a:srgbClr val="EEF3F8"/>
                    </a:solidFill>
                  </a:tcPr>
                </a:tc>
              </a:tr>
              <a:tr h="630936">
                <a:tc>
                  <a:txBody>
                    <a:bodyPr wrap="square"/>
                    <a:lstStyle/>
                    <a:p>
                      <a:r>
                        <a:rPr sz="1100" b="1">
                          <a:solidFill>
                            <a:srgbClr val="0C2B4A"/>
                          </a:solidFill>
                        </a:rPr>
                        <a:t>A quick eSewa / Khalti payment on a break</a:t>
                      </a:r>
                    </a:p>
                  </a:txBody>
                  <a:tcPr anchor="ctr" marL="73152" marR="54864" marT="27432" marB="27432">
                    <a:solidFill>
                      <a:srgbClr val="FFFFFF"/>
                    </a:solidFill>
                  </a:tcPr>
                </a:tc>
                <a:tc>
                  <a:txBody>
                    <a:bodyPr wrap="square"/>
                    <a:lstStyle/>
                    <a:p>
                      <a:r>
                        <a:rPr sz="1100">
                          <a:solidFill>
                            <a:srgbClr val="1A1A1A"/>
                          </a:solidFill>
                        </a:rPr>
                        <a:t>Allowed</a:t>
                      </a:r>
                    </a:p>
                  </a:txBody>
                  <a:tcPr anchor="ctr" marL="73152" marR="54864" marT="27432" marB="27432">
                    <a:solidFill>
                      <a:srgbClr val="FFFFFF"/>
                    </a:solidFill>
                  </a:tcPr>
                </a:tc>
                <a:tc>
                  <a:txBody>
                    <a:bodyPr wrap="square"/>
                    <a:lstStyle/>
                    <a:p>
                      <a:r>
                        <a:rPr sz="1100">
                          <a:solidFill>
                            <a:srgbClr val="1A1A1A"/>
                          </a:solidFill>
                        </a:rPr>
                        <a:t>Reasonable, brief, no impact on work</a:t>
                      </a:r>
                    </a:p>
                  </a:txBody>
                  <a:tcPr anchor="ctr" marL="73152" marR="54864" marT="27432" marB="27432">
                    <a:solidFill>
                      <a:srgbClr val="FFFFFF"/>
                    </a:solidFill>
                  </a:tcPr>
                </a:tc>
              </a:tr>
              <a:tr h="630936">
                <a:tc>
                  <a:txBody>
                    <a:bodyPr wrap="square"/>
                    <a:lstStyle/>
                    <a:p>
                      <a:r>
                        <a:rPr sz="1100" b="1">
                          <a:solidFill>
                            <a:srgbClr val="0C2B4A"/>
                          </a:solidFill>
                        </a:rPr>
                        <a:t>Running a weekend freelance project on the work laptop</a:t>
                      </a:r>
                    </a:p>
                  </a:txBody>
                  <a:tcPr anchor="ctr" marL="73152" marR="54864" marT="27432" marB="27432">
                    <a:solidFill>
                      <a:srgbClr val="EEF3F8"/>
                    </a:solidFill>
                  </a:tcPr>
                </a:tc>
                <a:tc>
                  <a:txBody>
                    <a:bodyPr wrap="square"/>
                    <a:lstStyle/>
                    <a:p>
                      <a:r>
                        <a:rPr sz="1100">
                          <a:solidFill>
                            <a:srgbClr val="1A1A1A"/>
                          </a:solidFill>
                        </a:rPr>
                        <a:t>Prohibited</a:t>
                      </a:r>
                    </a:p>
                  </a:txBody>
                  <a:tcPr anchor="ctr" marL="73152" marR="54864" marT="27432" marB="27432">
                    <a:solidFill>
                      <a:srgbClr val="EEF3F8"/>
                    </a:solidFill>
                  </a:tcPr>
                </a:tc>
                <a:tc>
                  <a:txBody>
                    <a:bodyPr wrap="square"/>
                    <a:lstStyle/>
                    <a:p>
                      <a:r>
                        <a:rPr sz="1100">
                          <a:solidFill>
                            <a:srgbClr val="1A1A1A"/>
                          </a:solidFill>
                        </a:rPr>
                        <a:t>Resource misuse + IP conflict with the employer</a:t>
                      </a:r>
                    </a:p>
                  </a:txBody>
                  <a:tcPr anchor="ctr" marL="73152" marR="54864" marT="27432" marB="27432">
                    <a:solidFill>
                      <a:srgbClr val="EEF3F8"/>
                    </a:solidFill>
                  </a:tcPr>
                </a:tc>
              </a:tr>
              <a:tr h="630936">
                <a:tc>
                  <a:txBody>
                    <a:bodyPr wrap="square"/>
                    <a:lstStyle/>
                    <a:p>
                      <a:r>
                        <a:rPr sz="1100" b="1">
                          <a:solidFill>
                            <a:srgbClr val="0C2B4A"/>
                          </a:solidFill>
                        </a:rPr>
                        <a:t>Plugging in a personal USB to print a file</a:t>
                      </a:r>
                    </a:p>
                  </a:txBody>
                  <a:tcPr anchor="ctr" marL="73152" marR="54864" marT="27432" marB="27432">
                    <a:solidFill>
                      <a:srgbClr val="FFFFFF"/>
                    </a:solidFill>
                  </a:tcPr>
                </a:tc>
                <a:tc>
                  <a:txBody>
                    <a:bodyPr wrap="square"/>
                    <a:lstStyle/>
                    <a:p>
                      <a:r>
                        <a:rPr sz="1100">
                          <a:solidFill>
                            <a:srgbClr val="1A1A1A"/>
                          </a:solidFill>
                        </a:rPr>
                        <a:t>Depends</a:t>
                      </a:r>
                    </a:p>
                  </a:txBody>
                  <a:tcPr anchor="ctr" marL="73152" marR="54864" marT="27432" marB="27432">
                    <a:solidFill>
                      <a:srgbClr val="FFFFFF"/>
                    </a:solidFill>
                  </a:tcPr>
                </a:tc>
                <a:tc>
                  <a:txBody>
                    <a:bodyPr wrap="square"/>
                    <a:lstStyle/>
                    <a:p>
                      <a:r>
                        <a:rPr sz="1100">
                          <a:solidFill>
                            <a:srgbClr val="1A1A1A"/>
                          </a:solidFill>
                        </a:rPr>
                        <a:t>Malware risk; often needs a scan or is banned outright</a:t>
                      </a:r>
                    </a:p>
                  </a:txBody>
                  <a:tcPr anchor="ctr" marL="73152" marR="54864" marT="27432" marB="27432">
                    <a:solidFill>
                      <a:srgbClr val="FFFFFF"/>
                    </a:solidFill>
                  </a:tcPr>
                </a:tc>
              </a:tr>
              <a:tr h="630936">
                <a:tc>
                  <a:txBody>
                    <a:bodyPr wrap="square"/>
                    <a:lstStyle/>
                    <a:p>
                      <a:r>
                        <a:rPr sz="1100" b="1">
                          <a:solidFill>
                            <a:srgbClr val="0C2B4A"/>
                          </a:solidFill>
                        </a:rPr>
                        <a:t>Streaming cricket all afternoon</a:t>
                      </a:r>
                    </a:p>
                  </a:txBody>
                  <a:tcPr anchor="ctr" marL="73152" marR="54864" marT="27432" marB="27432">
                    <a:solidFill>
                      <a:srgbClr val="EEF3F8"/>
                    </a:solidFill>
                  </a:tcPr>
                </a:tc>
                <a:tc>
                  <a:txBody>
                    <a:bodyPr wrap="square"/>
                    <a:lstStyle/>
                    <a:p>
                      <a:r>
                        <a:rPr sz="1100">
                          <a:solidFill>
                            <a:srgbClr val="1A1A1A"/>
                          </a:solidFill>
                        </a:rPr>
                        <a:t>Prohibited</a:t>
                      </a:r>
                    </a:p>
                  </a:txBody>
                  <a:tcPr anchor="ctr" marL="73152" marR="54864" marT="27432" marB="27432">
                    <a:solidFill>
                      <a:srgbClr val="EEF3F8"/>
                    </a:solidFill>
                  </a:tcPr>
                </a:tc>
                <a:tc>
                  <a:txBody>
                    <a:bodyPr wrap="square"/>
                    <a:lstStyle/>
                    <a:p>
                      <a:r>
                        <a:rPr sz="1100">
                          <a:solidFill>
                            <a:srgbClr val="1A1A1A"/>
                          </a:solidFill>
                        </a:rPr>
                        <a:t>Excessive personal use — impacts work and bandwidth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'depends' rows are exactly the ones an AUP must spell out in advance — ambiguity is where misuse hides. Test each with reasonableness + AUP + impact.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104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S8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Inappropriate Use of IT Resources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government-office computer used for personal Facebook and online shopping during work hours — a familiar sight, and a clean example of inappropriate use that isn't illegal but wastes public resources and time. Is a quick eSewa payment and a family message the same thing? The test is reasonableness + AUP + impact.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it's not illegal, using work resources for personal things is fine." Inappropriate use is usually legal — the wrong is diverting resources given for work to non-work or harmful ends. Most cases turn on degree and impact, which is why the AUP draws the line in advance rather than leaving it to each person's judgment.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Inappropriate use is using organizational IT resources for unauthorized, personal, or harmful purposes — the software may be fully licensed; the problem is the purpose. Examples range from excessive personal browsing to side businesses on company email. The workable test is reasonableness + the AUP + impact on work, and the AUP exists to draw that line before the situation arises.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inappropriate use · right tools wrong purpose · reasonableness + AUP + impact · degree and impact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104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S8 — 'Where's the line?'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sort five actions into Allowed / Prohibited / Depends for a typical Nepali office AUP.</a:t>
            </a:r>
          </a:p>
          <a:p>
            <a:pPr>
              <a:spcAft>
                <a:spcPts val="700"/>
              </a:spcAft>
            </a:pPr>
            <a:r>
              <a:rPr sz="1550">
                <a:solidFill>
                  <a:srgbClr val="1A1A1A"/>
                </a:solidFill>
              </a:rPr>
              <a:t>•  The five: (1) charging your phone on the office PC, (2) installing a cracked PDF editor, (3) a quick eSewa payment, (4) a weekend freelance project on the work laptop, (5) a personal USB to print a file.</a:t>
            </a:r>
          </a:p>
          <a:p>
            <a:pPr>
              <a:spcAft>
                <a:spcPts val="700"/>
              </a:spcAft>
            </a:pPr>
            <a:r>
              <a:rPr sz="1550">
                <a:solidFill>
                  <a:srgbClr val="1A1A1A"/>
                </a:solidFill>
              </a:rPr>
              <a:t>•  Take answers aloud (3 min).</a:t>
            </a:r>
          </a:p>
          <a:p>
            <a:pPr>
              <a:spcAft>
                <a:spcPts val="700"/>
              </a:spcAft>
            </a:pPr>
            <a:r>
              <a:rPr sz="1550">
                <a:solidFill>
                  <a:srgbClr val="1A1A1A"/>
                </a:solidFill>
              </a:rPr>
              <a:t>•  The point: the 'depends' cases are exactly what an AUP must spell out — ambiguity is where misuse hides.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(2) is clearly prohibited (piracy); (4) is usually prohibited (resource + IP issues); (1), (3), (5) are the genuine 'depends' — push students to justify with reasonableness + impact.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104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document defining what users may/may not do with IT resources is the:</a:t>
            </a:r>
          </a:p>
          <a:p>
            <a:pPr lvl="1"/>
            <a:r>
              <a:rPr sz="1500" b="1">
                <a:solidFill>
                  <a:srgbClr val="0F6E56"/>
                </a:solidFill>
              </a:rPr>
              <a:t>a) EULA   b) ✅ Acceptable Use Policy (AUP)   c) invoice   d) warranty</a:t>
            </a:r>
          </a:p>
          <a:p>
            <a:pPr lvl="1">
              <a:spcBef>
                <a:spcPts val="600"/>
              </a:spcBef>
            </a:pPr>
            <a:r>
              <a:rPr sz="1500" i="1">
                <a:solidFill>
                  <a:srgbClr val="1A1A1A"/>
                </a:solidFill>
              </a:rPr>
              <a:t>     Why: the AUP is the signed rulebook of permitted/prohibited use, monitoring, and consequences.</a:t>
            </a:r>
          </a:p>
          <a:p>
            <a:pPr>
              <a:spcBef>
                <a:spcPts val="900"/>
              </a:spcBef>
            </a:pPr>
            <a:r>
              <a:rPr sz="1700" b="1">
                <a:solidFill>
                  <a:srgbClr val="0C2B4A"/>
                </a:solidFill>
              </a:rPr>
              <a:t>Q2.  Installing a cracked copy of Office for office work (not selling it) is:</a:t>
            </a:r>
          </a:p>
          <a:p>
            <a:pPr lvl="1"/>
            <a:r>
              <a:rPr sz="1500" b="1">
                <a:solidFill>
                  <a:srgbClr val="0F6E56"/>
                </a:solidFill>
              </a:rPr>
              <a:t>a) fine if unsold   b) ✅ software piracy   c) fair use   d) open source</a:t>
            </a:r>
          </a:p>
          <a:p>
            <a:pPr lvl="1">
              <a:spcBef>
                <a:spcPts val="600"/>
              </a:spcBef>
            </a:pPr>
            <a:r>
              <a:rPr sz="1500" i="1">
                <a:solidFill>
                  <a:srgbClr val="1A1A1A"/>
                </a:solidFill>
              </a:rPr>
              <a:t>     Why: using an unlicensed copy is already piracy — no sale is required for the violation.</a:t>
            </a:r>
          </a:p>
          <a:p>
            <a:pPr lvl="1">
              <a:spcBef>
                <a:spcPts val="600"/>
              </a:spcBef>
            </a:pPr>
            <a:r>
              <a:rPr sz="1500" i="1">
                <a:solidFill>
                  <a:srgbClr val="1A1A1A"/>
                </a:solidFill>
              </a:rPr>
              <a:t>Discussion: is software piracy in Nepal mainly an ethics, affordability, or enforcement problem?</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Users cause most incidents — the insider risk is real, and every user shares responsibility.</a:t>
            </a:r>
          </a:p>
          <a:p>
            <a:pPr>
              <a:spcAft>
                <a:spcPts val="800"/>
              </a:spcAft>
            </a:pPr>
            <a:r>
              <a:rPr sz="1500">
                <a:solidFill>
                  <a:srgbClr val="1A1A1A"/>
                </a:solidFill>
              </a:rPr>
              <a:t>2.  AUPs set the rules everyone signs (permitted, prohibited, monitoring, consequences).</a:t>
            </a:r>
          </a:p>
          <a:p>
            <a:pPr>
              <a:spcAft>
                <a:spcPts val="800"/>
              </a:spcAft>
            </a:pPr>
            <a:r>
              <a:rPr sz="1500">
                <a:solidFill>
                  <a:srgbClr val="1A1A1A"/>
                </a:solidFill>
              </a:rPr>
              <a:t>3.  Piracy (using unlicensed software) and inappropriate use (right tools, wrong purpose) are the two biggest user-ethics issues.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On day one of any job you'll sign an AUP, and breaking it — through piracy or misuse — is one of the most common reasons people are fired or sued. It's rarely a dramatic hack that ends a career; it's a cracked install traced back to you, or company resources caught powering a side hustle.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S9 — the user's flip side: their privacy and anonymity.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104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9 · LECTURE HOUR 4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Key Privacy and Anonymity Issues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fill a loan form at a bank. You hand your number to a SIM dealer. You scan a QR to enter a mall. A week later you're flooded with spam calls about loans you never asked for. Your data clearly travelled somewhere — so when did you consent to THIS?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62 / 104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1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Privacy — control over your personal data</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Data privacy is the right of individuals to control how their personal data is collected, used, and shared. The keyword is CONTROL: privacy isn't secrecy, it's who decides. Three operational principles: consent, purpose limitation, and data minimization.</a:t>
            </a:r>
          </a:p>
          <a:p>
            <a:pPr>
              <a:spcAft>
                <a:spcPts val="500"/>
              </a:spcAft>
            </a:pPr>
            <a:r>
              <a:rPr sz="1200" b="1">
                <a:solidFill>
                  <a:srgbClr val="185FA5"/>
                </a:solidFill>
              </a:rPr>
              <a:t>HOW IT WORKS</a:t>
            </a:r>
          </a:p>
          <a:p>
            <a:pPr>
              <a:spcAft>
                <a:spcPts val="600"/>
              </a:spcAft>
            </a:pPr>
            <a:r>
              <a:rPr sz="1400">
                <a:solidFill>
                  <a:srgbClr val="1A1A1A"/>
                </a:solidFill>
              </a:rPr>
              <a:t>•  Consent — data should be collected with your informed agreement, not silently.</a:t>
            </a:r>
          </a:p>
          <a:p>
            <a:pPr>
              <a:spcAft>
                <a:spcPts val="600"/>
              </a:spcAft>
            </a:pPr>
            <a:r>
              <a:rPr sz="1400">
                <a:solidFill>
                  <a:srgbClr val="1A1A1A"/>
                </a:solidFill>
              </a:rPr>
              <a:t>•  Purpose limitation — data collected for one reason (a loan) shouldn't be reused for another (marketing) without asking.</a:t>
            </a:r>
          </a:p>
          <a:p>
            <a:pPr>
              <a:spcAft>
                <a:spcPts val="600"/>
              </a:spcAft>
            </a:pPr>
            <a:r>
              <a:rPr sz="1400">
                <a:solidFill>
                  <a:srgbClr val="1A1A1A"/>
                </a:solidFill>
              </a:rPr>
              <a:t>•  Data minimization — collect only what you actually need; a SIM purchase doesn't need your blood group.</a:t>
            </a:r>
          </a:p>
          <a:p>
            <a:pPr>
              <a:spcAft>
                <a:spcPts val="600"/>
              </a:spcAft>
            </a:pPr>
            <a:r>
              <a:rPr sz="1400">
                <a:solidFill>
                  <a:srgbClr val="1A1A1A"/>
                </a:solidFill>
              </a:rPr>
              <a:t>•  When these fail, the harms are profiling (silent targeting) and fraud (leaked data enabling impersonation).</a:t>
            </a:r>
          </a:p>
        </p:txBody>
      </p:sp>
      <p:pic>
        <p:nvPicPr>
          <p:cNvPr id="6" name="Picture 5" descr="s9_trail.png"/>
          <p:cNvPicPr>
            <a:picLocks noChangeAspect="1"/>
          </p:cNvPicPr>
          <p:nvPr/>
        </p:nvPicPr>
        <p:blipFill>
          <a:blip r:embed="rId2"/>
          <a:stretch>
            <a:fillRect/>
          </a:stretch>
        </p:blipFill>
        <p:spPr>
          <a:xfrm>
            <a:off x="6355080" y="2610611"/>
            <a:ext cx="5532120" cy="2414016"/>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Privacy is about control, not secrecy — you close the curtains even with nothing to hide.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104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data-privacy principles — and what breaking each looks like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743200"/>
                <a:gridCol w="4114800"/>
                <a:gridCol w="4572000"/>
              </a:tblGrid>
              <a:tr h="1104138">
                <a:tc>
                  <a:txBody>
                    <a:bodyPr wrap="square"/>
                    <a:lstStyle/>
                    <a:p>
                      <a:r>
                        <a:rPr sz="1250" b="1">
                          <a:solidFill>
                            <a:srgbClr val="FFFFFF"/>
                          </a:solidFill>
                        </a:rPr>
                        <a:t>Principle</a:t>
                      </a:r>
                    </a:p>
                  </a:txBody>
                  <a:tcPr anchor="ctr" marL="73152" marR="54864" marT="27432" marB="27432">
                    <a:solidFill>
                      <a:srgbClr val="0C2B4A"/>
                    </a:solidFill>
                  </a:tcPr>
                </a:tc>
                <a:tc>
                  <a:txBody>
                    <a:bodyPr wrap="square"/>
                    <a:lstStyle/>
                    <a:p>
                      <a:r>
                        <a:rPr sz="1250" b="1">
                          <a:solidFill>
                            <a:srgbClr val="FFFFFF"/>
                          </a:solidFill>
                        </a:rPr>
                        <a:t>One-line meaning</a:t>
                      </a:r>
                    </a:p>
                  </a:txBody>
                  <a:tcPr anchor="ctr" marL="73152" marR="54864" marT="27432" marB="27432">
                    <a:solidFill>
                      <a:srgbClr val="0C2B4A"/>
                    </a:solidFill>
                  </a:tcPr>
                </a:tc>
                <a:tc>
                  <a:txBody>
                    <a:bodyPr wrap="square"/>
                    <a:lstStyle/>
                    <a:p>
                      <a:r>
                        <a:rPr sz="1250" b="1">
                          <a:solidFill>
                            <a:srgbClr val="FFFFFF"/>
                          </a:solidFill>
                        </a:rPr>
                        <a:t>Violation example (Nepal / IT)</a:t>
                      </a:r>
                    </a:p>
                  </a:txBody>
                  <a:tcPr anchor="ctr" marL="73152" marR="54864" marT="27432" marB="27432">
                    <a:solidFill>
                      <a:srgbClr val="0C2B4A"/>
                    </a:solidFill>
                  </a:tcPr>
                </a:tc>
              </a:tr>
              <a:tr h="1104138">
                <a:tc>
                  <a:txBody>
                    <a:bodyPr wrap="square"/>
                    <a:lstStyle/>
                    <a:p>
                      <a:r>
                        <a:rPr sz="1200" b="1">
                          <a:solidFill>
                            <a:srgbClr val="0C2B4A"/>
                          </a:solidFill>
                        </a:rPr>
                        <a:t>Consent</a:t>
                      </a:r>
                    </a:p>
                  </a:txBody>
                  <a:tcPr anchor="ctr" marL="73152" marR="54864" marT="27432" marB="27432">
                    <a:solidFill>
                      <a:srgbClr val="FFFFFF"/>
                    </a:solidFill>
                  </a:tcPr>
                </a:tc>
                <a:tc>
                  <a:txBody>
                    <a:bodyPr wrap="square"/>
                    <a:lstStyle/>
                    <a:p>
                      <a:r>
                        <a:rPr sz="1200">
                          <a:solidFill>
                            <a:srgbClr val="1A1A1A"/>
                          </a:solidFill>
                        </a:rPr>
                        <a:t>Collect data only with informed agreement</a:t>
                      </a:r>
                    </a:p>
                  </a:txBody>
                  <a:tcPr anchor="ctr" marL="73152" marR="54864" marT="27432" marB="27432">
                    <a:solidFill>
                      <a:srgbClr val="FFFFFF"/>
                    </a:solidFill>
                  </a:tcPr>
                </a:tc>
                <a:tc>
                  <a:txBody>
                    <a:bodyPr wrap="square"/>
                    <a:lstStyle/>
                    <a:p>
                      <a:r>
                        <a:rPr sz="1200">
                          <a:solidFill>
                            <a:srgbClr val="1A1A1A"/>
                          </a:solidFill>
                        </a:rPr>
                        <a:t>A SIM dealer selling your number to loan marketers</a:t>
                      </a:r>
                    </a:p>
                  </a:txBody>
                  <a:tcPr anchor="ctr" marL="73152" marR="54864" marT="27432" marB="27432">
                    <a:solidFill>
                      <a:srgbClr val="FFFFFF"/>
                    </a:solidFill>
                  </a:tcPr>
                </a:tc>
              </a:tr>
              <a:tr h="1104138">
                <a:tc>
                  <a:txBody>
                    <a:bodyPr wrap="square"/>
                    <a:lstStyle/>
                    <a:p>
                      <a:r>
                        <a:rPr sz="1200" b="1">
                          <a:solidFill>
                            <a:srgbClr val="0C2B4A"/>
                          </a:solidFill>
                        </a:rPr>
                        <a:t>Purpose limitation</a:t>
                      </a:r>
                    </a:p>
                  </a:txBody>
                  <a:tcPr anchor="ctr" marL="73152" marR="54864" marT="27432" marB="27432">
                    <a:solidFill>
                      <a:srgbClr val="EEF3F8"/>
                    </a:solidFill>
                  </a:tcPr>
                </a:tc>
                <a:tc>
                  <a:txBody>
                    <a:bodyPr wrap="square"/>
                    <a:lstStyle/>
                    <a:p>
                      <a:r>
                        <a:rPr sz="1200">
                          <a:solidFill>
                            <a:srgbClr val="1A1A1A"/>
                          </a:solidFill>
                        </a:rPr>
                        <a:t>Use data only for the reason it was collected</a:t>
                      </a:r>
                    </a:p>
                  </a:txBody>
                  <a:tcPr anchor="ctr" marL="73152" marR="54864" marT="27432" marB="27432">
                    <a:solidFill>
                      <a:srgbClr val="EEF3F8"/>
                    </a:solidFill>
                  </a:tcPr>
                </a:tc>
                <a:tc>
                  <a:txBody>
                    <a:bodyPr wrap="square"/>
                    <a:lstStyle/>
                    <a:p>
                      <a:r>
                        <a:rPr sz="1200">
                          <a:solidFill>
                            <a:srgbClr val="1A1A1A"/>
                          </a:solidFill>
                        </a:rPr>
                        <a:t>Loan-form data reused to target you with ads</a:t>
                      </a:r>
                    </a:p>
                  </a:txBody>
                  <a:tcPr anchor="ctr" marL="73152" marR="54864" marT="27432" marB="27432">
                    <a:solidFill>
                      <a:srgbClr val="EEF3F8"/>
                    </a:solidFill>
                  </a:tcPr>
                </a:tc>
              </a:tr>
              <a:tr h="1104138">
                <a:tc>
                  <a:txBody>
                    <a:bodyPr wrap="square"/>
                    <a:lstStyle/>
                    <a:p>
                      <a:r>
                        <a:rPr sz="1200" b="1">
                          <a:solidFill>
                            <a:srgbClr val="0C2B4A"/>
                          </a:solidFill>
                        </a:rPr>
                        <a:t>Data minimization</a:t>
                      </a:r>
                    </a:p>
                  </a:txBody>
                  <a:tcPr anchor="ctr" marL="73152" marR="54864" marT="27432" marB="27432">
                    <a:solidFill>
                      <a:srgbClr val="FFFFFF"/>
                    </a:solidFill>
                  </a:tcPr>
                </a:tc>
                <a:tc>
                  <a:txBody>
                    <a:bodyPr wrap="square"/>
                    <a:lstStyle/>
                    <a:p>
                      <a:r>
                        <a:rPr sz="1200">
                          <a:solidFill>
                            <a:srgbClr val="1A1A1A"/>
                          </a:solidFill>
                        </a:rPr>
                        <a:t>Collect only what you actually need</a:t>
                      </a:r>
                    </a:p>
                  </a:txBody>
                  <a:tcPr anchor="ctr" marL="73152" marR="54864" marT="27432" marB="27432">
                    <a:solidFill>
                      <a:srgbClr val="FFFFFF"/>
                    </a:solidFill>
                  </a:tcPr>
                </a:tc>
                <a:tc>
                  <a:txBody>
                    <a:bodyPr wrap="square"/>
                    <a:lstStyle/>
                    <a:p>
                      <a:r>
                        <a:rPr sz="1200">
                          <a:solidFill>
                            <a:srgbClr val="1A1A1A"/>
                          </a:solidFill>
                        </a:rPr>
                        <a:t>A mall QR form demanding your citizenship number</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Nepal's Individual Privacy Act 2075 recognises these rights; reported citizen-data leaks show the gap between a law existing and being enforced.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1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Privacy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KYC data held by Nepali banks and telecoms is among the richest personal datasets in the country. Nepal's Individual Privacy Act, 2075 (2018) recognises a legal right to privacy of personal information — yet reported leaks of citizen data show the gap between having a law and enforcing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 have nothing to hide, so privacy doesn't matter to me." Privacy is about control and power, not hiding wrongdoing. You lock your door not because you're doing something wrong inside, but because it's yours to control who enters. 'Nothing to hide' confuses secrecy with control — you still close the curtains.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Data privacy is the right to control how your personal data is collected, used, and shared — control, not secrecy. It rests on consent (informed agreement), purpose limitation (use only for the collected reason), and data minimization (collect only what's needed). When these fail, the harms are profiling and fraud. Nepal's Individual Privacy Act 2075 gives legal backing, unevenly enforced.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data privacy · control not secrecy · consent · purpose limitation · minimization · Individual Privacy Act 2075</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104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Privacy principle broken — everyday data grabs (Nepal)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72000"/>
                <a:gridCol w="3352800"/>
                <a:gridCol w="3505199"/>
              </a:tblGrid>
              <a:tr h="630936">
                <a:tc>
                  <a:txBody>
                    <a:bodyPr wrap="square"/>
                    <a:lstStyle/>
                    <a:p>
                      <a:r>
                        <a:rPr sz="1150" b="1">
                          <a:solidFill>
                            <a:srgbClr val="FFFFFF"/>
                          </a:solidFill>
                        </a:rPr>
                        <a:t>What happened</a:t>
                      </a:r>
                    </a:p>
                  </a:txBody>
                  <a:tcPr anchor="ctr" marL="73152" marR="54864" marT="27432" marB="27432">
                    <a:solidFill>
                      <a:srgbClr val="0C2B4A"/>
                    </a:solidFill>
                  </a:tcPr>
                </a:tc>
                <a:tc>
                  <a:txBody>
                    <a:bodyPr wrap="square"/>
                    <a:lstStyle/>
                    <a:p>
                      <a:r>
                        <a:rPr sz="1150" b="1">
                          <a:solidFill>
                            <a:srgbClr val="FFFFFF"/>
                          </a:solidFill>
                        </a:rPr>
                        <a:t>Principle violated</a:t>
                      </a:r>
                    </a:p>
                  </a:txBody>
                  <a:tcPr anchor="ctr" marL="73152" marR="54864" marT="27432" marB="27432">
                    <a:solidFill>
                      <a:srgbClr val="0C2B4A"/>
                    </a:solidFill>
                  </a:tcPr>
                </a:tc>
                <a:tc>
                  <a:txBody>
                    <a:bodyPr wrap="square"/>
                    <a:lstStyle/>
                    <a:p>
                      <a:r>
                        <a:rPr sz="1150" b="1">
                          <a:solidFill>
                            <a:srgbClr val="FFFFFF"/>
                          </a:solidFill>
                        </a:rPr>
                        <a:t>The harm</a:t>
                      </a:r>
                    </a:p>
                  </a:txBody>
                  <a:tcPr anchor="ctr" marL="73152" marR="54864" marT="27432" marB="27432">
                    <a:solidFill>
                      <a:srgbClr val="0C2B4A"/>
                    </a:solidFill>
                  </a:tcPr>
                </a:tc>
              </a:tr>
              <a:tr h="630936">
                <a:tc>
                  <a:txBody>
                    <a:bodyPr wrap="square"/>
                    <a:lstStyle/>
                    <a:p>
                      <a:r>
                        <a:rPr sz="1100" b="1">
                          <a:solidFill>
                            <a:srgbClr val="0C2B4A"/>
                          </a:solidFill>
                        </a:rPr>
                        <a:t>SIM dealer sells your number to loan marketers</a:t>
                      </a:r>
                    </a:p>
                  </a:txBody>
                  <a:tcPr anchor="ctr" marL="73152" marR="54864" marT="27432" marB="27432">
                    <a:solidFill>
                      <a:srgbClr val="FFFFFF"/>
                    </a:solidFill>
                  </a:tcPr>
                </a:tc>
                <a:tc>
                  <a:txBody>
                    <a:bodyPr wrap="square"/>
                    <a:lstStyle/>
                    <a:p>
                      <a:r>
                        <a:rPr sz="1100">
                          <a:solidFill>
                            <a:srgbClr val="1A1A1A"/>
                          </a:solidFill>
                        </a:rPr>
                        <a:t>Consent</a:t>
                      </a:r>
                    </a:p>
                  </a:txBody>
                  <a:tcPr anchor="ctr" marL="73152" marR="54864" marT="27432" marB="27432">
                    <a:solidFill>
                      <a:srgbClr val="FFFFFF"/>
                    </a:solidFill>
                  </a:tcPr>
                </a:tc>
                <a:tc>
                  <a:txBody>
                    <a:bodyPr wrap="square"/>
                    <a:lstStyle/>
                    <a:p>
                      <a:r>
                        <a:rPr sz="1100">
                          <a:solidFill>
                            <a:srgbClr val="1A1A1A"/>
                          </a:solidFill>
                        </a:rPr>
                        <a:t>A flood of unsolicited loan calls</a:t>
                      </a:r>
                    </a:p>
                  </a:txBody>
                  <a:tcPr anchor="ctr" marL="73152" marR="54864" marT="27432" marB="27432">
                    <a:solidFill>
                      <a:srgbClr val="FFFFFF"/>
                    </a:solidFill>
                  </a:tcPr>
                </a:tc>
              </a:tr>
              <a:tr h="630936">
                <a:tc>
                  <a:txBody>
                    <a:bodyPr wrap="square"/>
                    <a:lstStyle/>
                    <a:p>
                      <a:r>
                        <a:rPr sz="1100" b="1">
                          <a:solidFill>
                            <a:srgbClr val="0C2B4A"/>
                          </a:solidFill>
                        </a:rPr>
                        <a:t>Loan-form data reused to target you with ads</a:t>
                      </a:r>
                    </a:p>
                  </a:txBody>
                  <a:tcPr anchor="ctr" marL="73152" marR="54864" marT="27432" marB="27432">
                    <a:solidFill>
                      <a:srgbClr val="EEF3F8"/>
                    </a:solidFill>
                  </a:tcPr>
                </a:tc>
                <a:tc>
                  <a:txBody>
                    <a:bodyPr wrap="square"/>
                    <a:lstStyle/>
                    <a:p>
                      <a:r>
                        <a:rPr sz="1100">
                          <a:solidFill>
                            <a:srgbClr val="1A1A1A"/>
                          </a:solidFill>
                        </a:rPr>
                        <a:t>Purpose limitation</a:t>
                      </a:r>
                    </a:p>
                  </a:txBody>
                  <a:tcPr anchor="ctr" marL="73152" marR="54864" marT="27432" marB="27432">
                    <a:solidFill>
                      <a:srgbClr val="EEF3F8"/>
                    </a:solidFill>
                  </a:tcPr>
                </a:tc>
                <a:tc>
                  <a:txBody>
                    <a:bodyPr wrap="square"/>
                    <a:lstStyle/>
                    <a:p>
                      <a:r>
                        <a:rPr sz="1100">
                          <a:solidFill>
                            <a:srgbClr val="1A1A1A"/>
                          </a:solidFill>
                        </a:rPr>
                        <a:t>Profiling you never agreed to</a:t>
                      </a:r>
                    </a:p>
                  </a:txBody>
                  <a:tcPr anchor="ctr" marL="73152" marR="54864" marT="27432" marB="27432">
                    <a:solidFill>
                      <a:srgbClr val="EEF3F8"/>
                    </a:solidFill>
                  </a:tcPr>
                </a:tc>
              </a:tr>
              <a:tr h="630936">
                <a:tc>
                  <a:txBody>
                    <a:bodyPr wrap="square"/>
                    <a:lstStyle/>
                    <a:p>
                      <a:r>
                        <a:rPr sz="1100" b="1">
                          <a:solidFill>
                            <a:srgbClr val="0C2B4A"/>
                          </a:solidFill>
                        </a:rPr>
                        <a:t>Mall QR form demands your citizenship number</a:t>
                      </a:r>
                    </a:p>
                  </a:txBody>
                  <a:tcPr anchor="ctr" marL="73152" marR="54864" marT="27432" marB="27432">
                    <a:solidFill>
                      <a:srgbClr val="FFFFFF"/>
                    </a:solidFill>
                  </a:tcPr>
                </a:tc>
                <a:tc>
                  <a:txBody>
                    <a:bodyPr wrap="square"/>
                    <a:lstStyle/>
                    <a:p>
                      <a:r>
                        <a:rPr sz="1100">
                          <a:solidFill>
                            <a:srgbClr val="1A1A1A"/>
                          </a:solidFill>
                        </a:rPr>
                        <a:t>Data minimization</a:t>
                      </a:r>
                    </a:p>
                  </a:txBody>
                  <a:tcPr anchor="ctr" marL="73152" marR="54864" marT="27432" marB="27432">
                    <a:solidFill>
                      <a:srgbClr val="FFFFFF"/>
                    </a:solidFill>
                  </a:tcPr>
                </a:tc>
                <a:tc>
                  <a:txBody>
                    <a:bodyPr wrap="square"/>
                    <a:lstStyle/>
                    <a:p>
                      <a:r>
                        <a:rPr sz="1100">
                          <a:solidFill>
                            <a:srgbClr val="1A1A1A"/>
                          </a:solidFill>
                        </a:rPr>
                        <a:t>Over-collection you can't take back</a:t>
                      </a:r>
                    </a:p>
                  </a:txBody>
                  <a:tcPr anchor="ctr" marL="73152" marR="54864" marT="27432" marB="27432">
                    <a:solidFill>
                      <a:srgbClr val="FFFFFF"/>
                    </a:solidFill>
                  </a:tcPr>
                </a:tc>
              </a:tr>
              <a:tr h="630936">
                <a:tc>
                  <a:txBody>
                    <a:bodyPr wrap="square"/>
                    <a:lstStyle/>
                    <a:p>
                      <a:r>
                        <a:rPr sz="1100" b="1">
                          <a:solidFill>
                            <a:srgbClr val="0C2B4A"/>
                          </a:solidFill>
                        </a:rPr>
                        <a:t>Bank KYC records leak to a data broker</a:t>
                      </a:r>
                    </a:p>
                  </a:txBody>
                  <a:tcPr anchor="ctr" marL="73152" marR="54864" marT="27432" marB="27432">
                    <a:solidFill>
                      <a:srgbClr val="EEF3F8"/>
                    </a:solidFill>
                  </a:tcPr>
                </a:tc>
                <a:tc>
                  <a:txBody>
                    <a:bodyPr wrap="square"/>
                    <a:lstStyle/>
                    <a:p>
                      <a:r>
                        <a:rPr sz="1100">
                          <a:solidFill>
                            <a:srgbClr val="1A1A1A"/>
                          </a:solidFill>
                        </a:rPr>
                        <a:t>Consent + minimization</a:t>
                      </a:r>
                    </a:p>
                  </a:txBody>
                  <a:tcPr anchor="ctr" marL="73152" marR="54864" marT="27432" marB="27432">
                    <a:solidFill>
                      <a:srgbClr val="EEF3F8"/>
                    </a:solidFill>
                  </a:tcPr>
                </a:tc>
                <a:tc>
                  <a:txBody>
                    <a:bodyPr wrap="square"/>
                    <a:lstStyle/>
                    <a:p>
                      <a:r>
                        <a:rPr sz="1100">
                          <a:solidFill>
                            <a:srgbClr val="1A1A1A"/>
                          </a:solidFill>
                        </a:rPr>
                        <a:t>Fraud and impersonation risk</a:t>
                      </a:r>
                    </a:p>
                  </a:txBody>
                  <a:tcPr anchor="ctr" marL="73152" marR="54864" marT="27432" marB="27432">
                    <a:solidFill>
                      <a:srgbClr val="EEF3F8"/>
                    </a:solidFill>
                  </a:tcPr>
                </a:tc>
              </a:tr>
              <a:tr h="630936">
                <a:tc>
                  <a:txBody>
                    <a:bodyPr wrap="square"/>
                    <a:lstStyle/>
                    <a:p>
                      <a:r>
                        <a:rPr sz="1100" b="1">
                          <a:solidFill>
                            <a:srgbClr val="0C2B4A"/>
                          </a:solidFill>
                        </a:rPr>
                        <a:t>An app asks for contacts it doesn't need</a:t>
                      </a:r>
                    </a:p>
                  </a:txBody>
                  <a:tcPr anchor="ctr" marL="73152" marR="54864" marT="27432" marB="27432">
                    <a:solidFill>
                      <a:srgbClr val="FFFFFF"/>
                    </a:solidFill>
                  </a:tcPr>
                </a:tc>
                <a:tc>
                  <a:txBody>
                    <a:bodyPr wrap="square"/>
                    <a:lstStyle/>
                    <a:p>
                      <a:r>
                        <a:rPr sz="1100">
                          <a:solidFill>
                            <a:srgbClr val="1A1A1A"/>
                          </a:solidFill>
                        </a:rPr>
                        <a:t>Data minimization</a:t>
                      </a:r>
                    </a:p>
                  </a:txBody>
                  <a:tcPr anchor="ctr" marL="73152" marR="54864" marT="27432" marB="27432">
                    <a:solidFill>
                      <a:srgbClr val="FFFFFF"/>
                    </a:solidFill>
                  </a:tcPr>
                </a:tc>
                <a:tc>
                  <a:txBody>
                    <a:bodyPr wrap="square"/>
                    <a:lstStyle/>
                    <a:p>
                      <a:r>
                        <a:rPr sz="1100">
                          <a:solidFill>
                            <a:srgbClr val="1A1A1A"/>
                          </a:solidFill>
                        </a:rPr>
                        <a:t>Your friends' data exposed too</a:t>
                      </a:r>
                    </a:p>
                  </a:txBody>
                  <a:tcPr anchor="ctr" marL="73152" marR="54864" marT="27432" marB="27432">
                    <a:solidFill>
                      <a:srgbClr val="FFFFFF"/>
                    </a:solidFill>
                  </a:tcPr>
                </a:tc>
              </a:tr>
              <a:tr h="630936">
                <a:tc>
                  <a:txBody>
                    <a:bodyPr wrap="square"/>
                    <a:lstStyle/>
                    <a:p>
                      <a:r>
                        <a:rPr sz="1100" b="1">
                          <a:solidFill>
                            <a:srgbClr val="0C2B4A"/>
                          </a:solidFill>
                        </a:rPr>
                        <a:t>Clinic shares its patient list with a pharmacy</a:t>
                      </a:r>
                    </a:p>
                  </a:txBody>
                  <a:tcPr anchor="ctr" marL="73152" marR="54864" marT="27432" marB="27432">
                    <a:solidFill>
                      <a:srgbClr val="EEF3F8"/>
                    </a:solidFill>
                  </a:tcPr>
                </a:tc>
                <a:tc>
                  <a:txBody>
                    <a:bodyPr wrap="square"/>
                    <a:lstStyle/>
                    <a:p>
                      <a:r>
                        <a:rPr sz="1100">
                          <a:solidFill>
                            <a:srgbClr val="1A1A1A"/>
                          </a:solidFill>
                        </a:rPr>
                        <a:t>Purpose limitation</a:t>
                      </a:r>
                    </a:p>
                  </a:txBody>
                  <a:tcPr anchor="ctr" marL="73152" marR="54864" marT="27432" marB="27432">
                    <a:solidFill>
                      <a:srgbClr val="EEF3F8"/>
                    </a:solidFill>
                  </a:tcPr>
                </a:tc>
                <a:tc>
                  <a:txBody>
                    <a:bodyPr wrap="square"/>
                    <a:lstStyle/>
                    <a:p>
                      <a:r>
                        <a:rPr sz="1100">
                          <a:solidFill>
                            <a:srgbClr val="1A1A1A"/>
                          </a:solidFill>
                        </a:rPr>
                        <a:t>Sensitive health data misused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Nepal's Individual Privacy Act 2075 recognises these rights; the gap is enforcement. Privacy is control, not secrecy — each row is control taken away.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Surveillance — systematic monitoring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Surveillance is the systematic monitoring of people's activities, communications, or location. 'Systematic' matters — a one-off glance isn't surveillance; a system that logs everyone, always, is. Its forms: workplace monitoring, CCTV, government surveillance, and app/location tracking.</a:t>
            </a:r>
          </a:p>
          <a:p>
            <a:pPr>
              <a:spcAft>
                <a:spcPts val="500"/>
              </a:spcAft>
            </a:pPr>
            <a:r>
              <a:rPr sz="1200" b="1">
                <a:solidFill>
                  <a:srgbClr val="185FA5"/>
                </a:solidFill>
              </a:rPr>
              <a:t>HOW IT WORKS</a:t>
            </a:r>
          </a:p>
          <a:p>
            <a:pPr>
              <a:spcAft>
                <a:spcPts val="600"/>
              </a:spcAft>
            </a:pPr>
            <a:r>
              <a:rPr sz="1400">
                <a:solidFill>
                  <a:srgbClr val="1A1A1A"/>
                </a:solidFill>
              </a:rPr>
              <a:t>•  The central tension is security vs privacy — more monitoring can mean more safety, but every increment costs privacy.</a:t>
            </a:r>
          </a:p>
          <a:p>
            <a:pPr>
              <a:spcAft>
                <a:spcPts val="600"/>
              </a:spcAft>
            </a:pPr>
            <a:r>
              <a:rPr sz="1400">
                <a:solidFill>
                  <a:srgbClr val="1A1A1A"/>
                </a:solidFill>
              </a:rPr>
              <a:t>•  There is no free lunch: the ethical work is deciding how much monitoring is PROPORTIONATE to the real risk.</a:t>
            </a:r>
          </a:p>
          <a:p>
            <a:pPr>
              <a:spcAft>
                <a:spcPts val="600"/>
              </a:spcAft>
            </a:pPr>
            <a:r>
              <a:rPr sz="1400">
                <a:solidFill>
                  <a:srgbClr val="1A1A1A"/>
                </a:solidFill>
              </a:rPr>
              <a:t>•  And whether people were TOLD — transparency + consent is the ethical lever.</a:t>
            </a:r>
          </a:p>
          <a:p>
            <a:pPr>
              <a:spcAft>
                <a:spcPts val="600"/>
              </a:spcAft>
            </a:pPr>
            <a:r>
              <a:rPr sz="1400">
                <a:solidFill>
                  <a:srgbClr val="1A1A1A"/>
                </a:solidFill>
              </a:rPr>
              <a:t>•  This is why the AUP's 'monitoring' clause from S8 exists: disclosure is what separates monitoring from spying.</a:t>
            </a:r>
          </a:p>
        </p:txBody>
      </p:sp>
      <p:pic>
        <p:nvPicPr>
          <p:cNvPr id="6" name="Picture 5" descr="s9_seesaw.png"/>
          <p:cNvPicPr>
            <a:picLocks noChangeAspect="1"/>
          </p:cNvPicPr>
          <p:nvPr/>
        </p:nvPicPr>
        <p:blipFill>
          <a:blip r:embed="rId2"/>
          <a:stretch>
            <a:fillRect/>
          </a:stretch>
        </p:blipFill>
        <p:spPr>
          <a:xfrm>
            <a:off x="6355080" y="2717166"/>
            <a:ext cx="5532120" cy="220090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Every gain in security costs some privacy — the question is proportionality + disclosure.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Same technology, different ethics — spying vs legitimate monitoring</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65714"/>
                <a:gridCol w="4082142"/>
                <a:gridCol w="4082142"/>
              </a:tblGrid>
              <a:tr h="883310">
                <a:tc>
                  <a:txBody>
                    <a:bodyPr wrap="square"/>
                    <a:lstStyle/>
                    <a:p>
                      <a:r>
                        <a:rPr sz="1200" b="1">
                          <a:solidFill>
                            <a:srgbClr val="FFFFFF"/>
                          </a:solidFill>
                        </a:rPr>
                        <a:t>Question</a:t>
                      </a:r>
                    </a:p>
                  </a:txBody>
                  <a:tcPr anchor="ctr" marL="73152" marR="54864" marT="27432" marB="27432">
                    <a:solidFill>
                      <a:srgbClr val="0C2B4A"/>
                    </a:solidFill>
                  </a:tcPr>
                </a:tc>
                <a:tc>
                  <a:txBody>
                    <a:bodyPr wrap="square"/>
                    <a:lstStyle/>
                    <a:p>
                      <a:r>
                        <a:rPr sz="1200" b="1">
                          <a:solidFill>
                            <a:srgbClr val="FFFFFF"/>
                          </a:solidFill>
                        </a:rPr>
                        <a:t>Secret surveillance (spying)</a:t>
                      </a:r>
                    </a:p>
                  </a:txBody>
                  <a:tcPr anchor="ctr" marL="73152" marR="54864" marT="27432" marB="27432">
                    <a:solidFill>
                      <a:srgbClr val="0C2B4A"/>
                    </a:solidFill>
                  </a:tcPr>
                </a:tc>
                <a:tc>
                  <a:txBody>
                    <a:bodyPr wrap="square"/>
                    <a:lstStyle/>
                    <a:p>
                      <a:r>
                        <a:rPr sz="1200" b="1">
                          <a:solidFill>
                            <a:srgbClr val="FFFFFF"/>
                          </a:solidFill>
                        </a:rPr>
                        <a:t>Legitimate monitoring</a:t>
                      </a:r>
                    </a:p>
                  </a:txBody>
                  <a:tcPr anchor="ctr" marL="73152" marR="54864" marT="27432" marB="27432">
                    <a:solidFill>
                      <a:srgbClr val="0C2B4A"/>
                    </a:solidFill>
                  </a:tcPr>
                </a:tc>
              </a:tr>
              <a:tr h="883310">
                <a:tc>
                  <a:txBody>
                    <a:bodyPr wrap="square"/>
                    <a:lstStyle/>
                    <a:p>
                      <a:r>
                        <a:rPr sz="1150" b="1">
                          <a:solidFill>
                            <a:srgbClr val="0C2B4A"/>
                          </a:solidFill>
                        </a:rPr>
                        <a:t>Were people told in advance?</a:t>
                      </a:r>
                    </a:p>
                  </a:txBody>
                  <a:tcPr anchor="ctr" marL="73152" marR="54864" marT="27432" marB="27432">
                    <a:solidFill>
                      <a:srgbClr val="FFFFFF"/>
                    </a:solidFill>
                  </a:tcPr>
                </a:tc>
                <a:tc>
                  <a:txBody>
                    <a:bodyPr wrap="square"/>
                    <a:lstStyle/>
                    <a:p>
                      <a:r>
                        <a:rPr sz="1150">
                          <a:solidFill>
                            <a:srgbClr val="1A1A1A"/>
                          </a:solidFill>
                        </a:rPr>
                        <a:t>No — it's hidden</a:t>
                      </a:r>
                    </a:p>
                  </a:txBody>
                  <a:tcPr anchor="ctr" marL="73152" marR="54864" marT="27432" marB="27432">
                    <a:solidFill>
                      <a:srgbClr val="FFFFFF"/>
                    </a:solidFill>
                  </a:tcPr>
                </a:tc>
                <a:tc>
                  <a:txBody>
                    <a:bodyPr wrap="square"/>
                    <a:lstStyle/>
                    <a:p>
                      <a:r>
                        <a:rPr sz="1150">
                          <a:solidFill>
                            <a:srgbClr val="1A1A1A"/>
                          </a:solidFill>
                        </a:rPr>
                        <a:t>Yes — stated in a signed AUP (S8)</a:t>
                      </a:r>
                    </a:p>
                  </a:txBody>
                  <a:tcPr anchor="ctr" marL="73152" marR="54864" marT="27432" marB="27432">
                    <a:solidFill>
                      <a:srgbClr val="FFFFFF"/>
                    </a:solidFill>
                  </a:tcPr>
                </a:tc>
              </a:tr>
              <a:tr h="883310">
                <a:tc>
                  <a:txBody>
                    <a:bodyPr wrap="square"/>
                    <a:lstStyle/>
                    <a:p>
                      <a:r>
                        <a:rPr sz="1150" b="1">
                          <a:solidFill>
                            <a:srgbClr val="0C2B4A"/>
                          </a:solidFill>
                        </a:rPr>
                        <a:t>Did they consent?</a:t>
                      </a:r>
                    </a:p>
                  </a:txBody>
                  <a:tcPr anchor="ctr" marL="73152" marR="54864" marT="27432" marB="27432">
                    <a:solidFill>
                      <a:srgbClr val="EEF3F8"/>
                    </a:solidFill>
                  </a:tcPr>
                </a:tc>
                <a:tc>
                  <a:txBody>
                    <a:bodyPr wrap="square"/>
                    <a:lstStyle/>
                    <a:p>
                      <a:r>
                        <a:rPr sz="1150">
                          <a:solidFill>
                            <a:srgbClr val="1A1A1A"/>
                          </a:solidFill>
                        </a:rPr>
                        <a:t>No</a:t>
                      </a:r>
                    </a:p>
                  </a:txBody>
                  <a:tcPr anchor="ctr" marL="73152" marR="54864" marT="27432" marB="27432">
                    <a:solidFill>
                      <a:srgbClr val="EEF3F8"/>
                    </a:solidFill>
                  </a:tcPr>
                </a:tc>
                <a:tc>
                  <a:txBody>
                    <a:bodyPr wrap="square"/>
                    <a:lstStyle/>
                    <a:p>
                      <a:r>
                        <a:rPr sz="1150">
                          <a:solidFill>
                            <a:srgbClr val="1A1A1A"/>
                          </a:solidFill>
                        </a:rPr>
                        <a:t>Yes — acknowledged the policy</a:t>
                      </a:r>
                    </a:p>
                  </a:txBody>
                  <a:tcPr anchor="ctr" marL="73152" marR="54864" marT="27432" marB="27432">
                    <a:solidFill>
                      <a:srgbClr val="EEF3F8"/>
                    </a:solidFill>
                  </a:tcPr>
                </a:tc>
              </a:tr>
              <a:tr h="883310">
                <a:tc>
                  <a:txBody>
                    <a:bodyPr wrap="square"/>
                    <a:lstStyle/>
                    <a:p>
                      <a:r>
                        <a:rPr sz="1150" b="1">
                          <a:solidFill>
                            <a:srgbClr val="0C2B4A"/>
                          </a:solidFill>
                        </a:rPr>
                        <a:t>Is the scope proportionate?</a:t>
                      </a:r>
                    </a:p>
                  </a:txBody>
                  <a:tcPr anchor="ctr" marL="73152" marR="54864" marT="27432" marB="27432">
                    <a:solidFill>
                      <a:srgbClr val="FFFFFF"/>
                    </a:solidFill>
                  </a:tcPr>
                </a:tc>
                <a:tc>
                  <a:txBody>
                    <a:bodyPr wrap="square"/>
                    <a:lstStyle/>
                    <a:p>
                      <a:r>
                        <a:rPr sz="1150">
                          <a:solidFill>
                            <a:srgbClr val="1A1A1A"/>
                          </a:solidFill>
                        </a:rPr>
                        <a:t>Often excessive — everything, always</a:t>
                      </a:r>
                    </a:p>
                  </a:txBody>
                  <a:tcPr anchor="ctr" marL="73152" marR="54864" marT="27432" marB="27432">
                    <a:solidFill>
                      <a:srgbClr val="FFFFFF"/>
                    </a:solidFill>
                  </a:tcPr>
                </a:tc>
                <a:tc>
                  <a:txBody>
                    <a:bodyPr wrap="square"/>
                    <a:lstStyle/>
                    <a:p>
                      <a:r>
                        <a:rPr sz="1150">
                          <a:solidFill>
                            <a:srgbClr val="1A1A1A"/>
                          </a:solidFill>
                        </a:rPr>
                        <a:t>Limited to a stated, work-related purpose</a:t>
                      </a:r>
                    </a:p>
                  </a:txBody>
                  <a:tcPr anchor="ctr" marL="73152" marR="54864" marT="27432" marB="27432">
                    <a:solidFill>
                      <a:srgbClr val="FFFFFF"/>
                    </a:solidFill>
                  </a:tcPr>
                </a:tc>
              </a:tr>
              <a:tr h="883312">
                <a:tc>
                  <a:txBody>
                    <a:bodyPr wrap="square"/>
                    <a:lstStyle/>
                    <a:p>
                      <a:r>
                        <a:rPr sz="1150" b="1">
                          <a:solidFill>
                            <a:srgbClr val="0C2B4A"/>
                          </a:solidFill>
                        </a:rPr>
                        <a:t>Ethical verdict</a:t>
                      </a:r>
                    </a:p>
                  </a:txBody>
                  <a:tcPr anchor="ctr" marL="73152" marR="54864" marT="27432" marB="27432">
                    <a:solidFill>
                      <a:srgbClr val="EEF3F8"/>
                    </a:solidFill>
                  </a:tcPr>
                </a:tc>
                <a:tc>
                  <a:txBody>
                    <a:bodyPr wrap="square"/>
                    <a:lstStyle/>
                    <a:p>
                      <a:r>
                        <a:rPr sz="1150">
                          <a:solidFill>
                            <a:srgbClr val="1A1A1A"/>
                          </a:solidFill>
                        </a:rPr>
                        <a:t>Violates privacy / autonomy</a:t>
                      </a:r>
                    </a:p>
                  </a:txBody>
                  <a:tcPr anchor="ctr" marL="73152" marR="54864" marT="27432" marB="27432">
                    <a:solidFill>
                      <a:srgbClr val="EEF3F8"/>
                    </a:solidFill>
                  </a:tcPr>
                </a:tc>
                <a:tc>
                  <a:txBody>
                    <a:bodyPr wrap="square"/>
                    <a:lstStyle/>
                    <a:p>
                      <a:r>
                        <a:rPr sz="1150">
                          <a:solidFill>
                            <a:srgbClr val="1A1A1A"/>
                          </a:solidFill>
                        </a:rPr>
                        <a:t>Fair — transparency + consent make it legitimate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Keystroke logging + screenshots can be either — the SAME technology. Transparency and consent (the S8 AUP clause) are what shift it from spying to monitoring.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104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Surveillance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Rising CCTV across Kathmandu, employers monitoring staff email and screens, and SIM / biometric registration linking your identity to your activity — each trades some privacy for some claimed security. Your employer logging every keystroke and taking screenshots is ethical only once staff are told in advance and consent (the S8 AUP clause).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 improves security, more monitoring is always good." Every increment of monitoring costs privacy — there's no free lunch. The ethical test is proportionality (is this much watching justified by the actual risk?) and disclosure (were people told?). A disclosed policy is the difference between monitoring and spying.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Surveillance is the systematic monitoring of activities, communications, or location (workplace, CCTV, government, app tracking). It sits on a security-vs-privacy trade-off: every gain in security costs privacy. What makes monitoring legitimate rather than spying is proportionality to the real risk plus transparency and consent — exactly why the AUP declares monitoring in advance.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surveillance · systematic monitoring · security vs privacy · proportionality · transparency + consent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104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Monitoring or spying? — same tech, disclosure decides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572000"/>
                <a:gridCol w="3657600"/>
                <a:gridCol w="3200400"/>
              </a:tblGrid>
              <a:tr h="630936">
                <a:tc>
                  <a:txBody>
                    <a:bodyPr wrap="square"/>
                    <a:lstStyle/>
                    <a:p>
                      <a:r>
                        <a:rPr sz="1150" b="1">
                          <a:solidFill>
                            <a:srgbClr val="FFFFFF"/>
                          </a:solidFill>
                        </a:rPr>
                        <a:t>The monitoring</a:t>
                      </a:r>
                    </a:p>
                  </a:txBody>
                  <a:tcPr anchor="ctr" marL="73152" marR="54864" marT="27432" marB="27432">
                    <a:solidFill>
                      <a:srgbClr val="0C2B4A"/>
                    </a:solidFill>
                  </a:tcPr>
                </a:tc>
                <a:tc>
                  <a:txBody>
                    <a:bodyPr wrap="square"/>
                    <a:lstStyle/>
                    <a:p>
                      <a:r>
                        <a:rPr sz="1150" b="1">
                          <a:solidFill>
                            <a:srgbClr val="FFFFFF"/>
                          </a:solidFill>
                        </a:rPr>
                        <a:t>Disclosed &amp; consented?</a:t>
                      </a:r>
                    </a:p>
                  </a:txBody>
                  <a:tcPr anchor="ctr" marL="73152" marR="54864" marT="27432" marB="27432">
                    <a:solidFill>
                      <a:srgbClr val="0C2B4A"/>
                    </a:solidFill>
                  </a:tcPr>
                </a:tc>
                <a:tc>
                  <a:txBody>
                    <a:bodyPr wrap="square"/>
                    <a:lstStyle/>
                    <a:p>
                      <a:r>
                        <a:rPr sz="1150" b="1">
                          <a:solidFill>
                            <a:srgbClr val="FFFFFF"/>
                          </a:solidFill>
                        </a:rPr>
                        <a:t>Verdict</a:t>
                      </a:r>
                    </a:p>
                  </a:txBody>
                  <a:tcPr anchor="ctr" marL="73152" marR="54864" marT="27432" marB="27432">
                    <a:solidFill>
                      <a:srgbClr val="0C2B4A"/>
                    </a:solidFill>
                  </a:tcPr>
                </a:tc>
              </a:tr>
              <a:tr h="630936">
                <a:tc>
                  <a:txBody>
                    <a:bodyPr wrap="square"/>
                    <a:lstStyle/>
                    <a:p>
                      <a:r>
                        <a:rPr sz="1100" b="1">
                          <a:solidFill>
                            <a:srgbClr val="0C2B4A"/>
                          </a:solidFill>
                        </a:rPr>
                        <a:t>Employer logs email, stated in a signed AUP</a:t>
                      </a:r>
                    </a:p>
                  </a:txBody>
                  <a:tcPr anchor="ctr" marL="73152" marR="54864" marT="27432" marB="27432">
                    <a:solidFill>
                      <a:srgbClr val="FFFFFF"/>
                    </a:solidFill>
                  </a:tcPr>
                </a:tc>
                <a:tc>
                  <a:txBody>
                    <a:bodyPr wrap="square"/>
                    <a:lstStyle/>
                    <a:p>
                      <a:r>
                        <a:rPr sz="1100">
                          <a:solidFill>
                            <a:srgbClr val="1A1A1A"/>
                          </a:solidFill>
                        </a:rPr>
                        <a:t>Yes — in the AUP</a:t>
                      </a:r>
                    </a:p>
                  </a:txBody>
                  <a:tcPr anchor="ctr" marL="73152" marR="54864" marT="27432" marB="27432">
                    <a:solidFill>
                      <a:srgbClr val="FFFFFF"/>
                    </a:solidFill>
                  </a:tcPr>
                </a:tc>
                <a:tc>
                  <a:txBody>
                    <a:bodyPr wrap="square"/>
                    <a:lstStyle/>
                    <a:p>
                      <a:r>
                        <a:rPr sz="1100">
                          <a:solidFill>
                            <a:srgbClr val="1A1A1A"/>
                          </a:solidFill>
                        </a:rPr>
                        <a:t>Legitimate monitoring</a:t>
                      </a:r>
                    </a:p>
                  </a:txBody>
                  <a:tcPr anchor="ctr" marL="73152" marR="54864" marT="27432" marB="27432">
                    <a:solidFill>
                      <a:srgbClr val="FFFFFF"/>
                    </a:solidFill>
                  </a:tcPr>
                </a:tc>
              </a:tr>
              <a:tr h="630936">
                <a:tc>
                  <a:txBody>
                    <a:bodyPr wrap="square"/>
                    <a:lstStyle/>
                    <a:p>
                      <a:r>
                        <a:rPr sz="1100" b="1">
                          <a:solidFill>
                            <a:srgbClr val="0C2B4A"/>
                          </a:solidFill>
                        </a:rPr>
                        <a:t>Boss secretly installs a keylogger on your PC</a:t>
                      </a:r>
                    </a:p>
                  </a:txBody>
                  <a:tcPr anchor="ctr" marL="73152" marR="54864" marT="27432" marB="27432">
                    <a:solidFill>
                      <a:srgbClr val="EEF3F8"/>
                    </a:solidFill>
                  </a:tcPr>
                </a:tc>
                <a:tc>
                  <a:txBody>
                    <a:bodyPr wrap="square"/>
                    <a:lstStyle/>
                    <a:p>
                      <a:r>
                        <a:rPr sz="1100">
                          <a:solidFill>
                            <a:srgbClr val="1A1A1A"/>
                          </a:solidFill>
                        </a:rPr>
                        <a:t>No — hidden</a:t>
                      </a:r>
                    </a:p>
                  </a:txBody>
                  <a:tcPr anchor="ctr" marL="73152" marR="54864" marT="27432" marB="27432">
                    <a:solidFill>
                      <a:srgbClr val="EEF3F8"/>
                    </a:solidFill>
                  </a:tcPr>
                </a:tc>
                <a:tc>
                  <a:txBody>
                    <a:bodyPr wrap="square"/>
                    <a:lstStyle/>
                    <a:p>
                      <a:r>
                        <a:rPr sz="1100">
                          <a:solidFill>
                            <a:srgbClr val="1A1A1A"/>
                          </a:solidFill>
                        </a:rPr>
                        <a:t>Spying — violates privacy</a:t>
                      </a:r>
                    </a:p>
                  </a:txBody>
                  <a:tcPr anchor="ctr" marL="73152" marR="54864" marT="27432" marB="27432">
                    <a:solidFill>
                      <a:srgbClr val="EEF3F8"/>
                    </a:solidFill>
                  </a:tcPr>
                </a:tc>
              </a:tr>
              <a:tr h="630936">
                <a:tc>
                  <a:txBody>
                    <a:bodyPr wrap="square"/>
                    <a:lstStyle/>
                    <a:p>
                      <a:r>
                        <a:rPr sz="1100" b="1">
                          <a:solidFill>
                            <a:srgbClr val="0C2B4A"/>
                          </a:solidFill>
                        </a:rPr>
                        <a:t>CCTV at a bank entrance with visible signage</a:t>
                      </a:r>
                    </a:p>
                  </a:txBody>
                  <a:tcPr anchor="ctr" marL="73152" marR="54864" marT="27432" marB="27432">
                    <a:solidFill>
                      <a:srgbClr val="FFFFFF"/>
                    </a:solidFill>
                  </a:tcPr>
                </a:tc>
                <a:tc>
                  <a:txBody>
                    <a:bodyPr wrap="square"/>
                    <a:lstStyle/>
                    <a:p>
                      <a:r>
                        <a:rPr sz="1100">
                          <a:solidFill>
                            <a:srgbClr val="1A1A1A"/>
                          </a:solidFill>
                        </a:rPr>
                        <a:t>Yes — signposted</a:t>
                      </a:r>
                    </a:p>
                  </a:txBody>
                  <a:tcPr anchor="ctr" marL="73152" marR="54864" marT="27432" marB="27432">
                    <a:solidFill>
                      <a:srgbClr val="FFFFFF"/>
                    </a:solidFill>
                  </a:tcPr>
                </a:tc>
                <a:tc>
                  <a:txBody>
                    <a:bodyPr wrap="square"/>
                    <a:lstStyle/>
                    <a:p>
                      <a:r>
                        <a:rPr sz="1100">
                          <a:solidFill>
                            <a:srgbClr val="1A1A1A"/>
                          </a:solidFill>
                        </a:rPr>
                        <a:t>Legitimate, proportionate</a:t>
                      </a:r>
                    </a:p>
                  </a:txBody>
                  <a:tcPr anchor="ctr" marL="73152" marR="54864" marT="27432" marB="27432">
                    <a:solidFill>
                      <a:srgbClr val="FFFFFF"/>
                    </a:solidFill>
                  </a:tcPr>
                </a:tc>
              </a:tr>
              <a:tr h="630936">
                <a:tc>
                  <a:txBody>
                    <a:bodyPr wrap="square"/>
                    <a:lstStyle/>
                    <a:p>
                      <a:r>
                        <a:rPr sz="1100" b="1">
                          <a:solidFill>
                            <a:srgbClr val="0C2B4A"/>
                          </a:solidFill>
                        </a:rPr>
                        <a:t>Hidden camera in a staff changing room</a:t>
                      </a:r>
                    </a:p>
                  </a:txBody>
                  <a:tcPr anchor="ctr" marL="73152" marR="54864" marT="27432" marB="27432">
                    <a:solidFill>
                      <a:srgbClr val="EEF3F8"/>
                    </a:solidFill>
                  </a:tcPr>
                </a:tc>
                <a:tc>
                  <a:txBody>
                    <a:bodyPr wrap="square"/>
                    <a:lstStyle/>
                    <a:p>
                      <a:r>
                        <a:rPr sz="1100">
                          <a:solidFill>
                            <a:srgbClr val="1A1A1A"/>
                          </a:solidFill>
                        </a:rPr>
                        <a:t>No — and disproportionate</a:t>
                      </a:r>
                    </a:p>
                  </a:txBody>
                  <a:tcPr anchor="ctr" marL="73152" marR="54864" marT="27432" marB="27432">
                    <a:solidFill>
                      <a:srgbClr val="EEF3F8"/>
                    </a:solidFill>
                  </a:tcPr>
                </a:tc>
                <a:tc>
                  <a:txBody>
                    <a:bodyPr wrap="square"/>
                    <a:lstStyle/>
                    <a:p>
                      <a:r>
                        <a:rPr sz="1100">
                          <a:solidFill>
                            <a:srgbClr val="1A1A1A"/>
                          </a:solidFill>
                        </a:rPr>
                        <a:t>Spying — a clear violation</a:t>
                      </a:r>
                    </a:p>
                  </a:txBody>
                  <a:tcPr anchor="ctr" marL="73152" marR="54864" marT="27432" marB="27432">
                    <a:solidFill>
                      <a:srgbClr val="EEF3F8"/>
                    </a:solidFill>
                  </a:tcPr>
                </a:tc>
              </a:tr>
              <a:tr h="630936">
                <a:tc>
                  <a:txBody>
                    <a:bodyPr wrap="square"/>
                    <a:lstStyle/>
                    <a:p>
                      <a:r>
                        <a:rPr sz="1100" b="1">
                          <a:solidFill>
                            <a:srgbClr val="0C2B4A"/>
                          </a:solidFill>
                        </a:rPr>
                        <a:t>ISP logs traffic per a disclosed policy</a:t>
                      </a:r>
                    </a:p>
                  </a:txBody>
                  <a:tcPr anchor="ctr" marL="73152" marR="54864" marT="27432" marB="27432">
                    <a:solidFill>
                      <a:srgbClr val="FFFFFF"/>
                    </a:solidFill>
                  </a:tcPr>
                </a:tc>
                <a:tc>
                  <a:txBody>
                    <a:bodyPr wrap="square"/>
                    <a:lstStyle/>
                    <a:p>
                      <a:r>
                        <a:rPr sz="1100">
                          <a:solidFill>
                            <a:srgbClr val="1A1A1A"/>
                          </a:solidFill>
                        </a:rPr>
                        <a:t>Yes — stated policy</a:t>
                      </a:r>
                    </a:p>
                  </a:txBody>
                  <a:tcPr anchor="ctr" marL="73152" marR="54864" marT="27432" marB="27432">
                    <a:solidFill>
                      <a:srgbClr val="FFFFFF"/>
                    </a:solidFill>
                  </a:tcPr>
                </a:tc>
                <a:tc>
                  <a:txBody>
                    <a:bodyPr wrap="square"/>
                    <a:lstStyle/>
                    <a:p>
                      <a:r>
                        <a:rPr sz="1100">
                          <a:solidFill>
                            <a:srgbClr val="1A1A1A"/>
                          </a:solidFill>
                        </a:rPr>
                        <a:t>Legitimate if proportionate</a:t>
                      </a:r>
                    </a:p>
                  </a:txBody>
                  <a:tcPr anchor="ctr" marL="73152" marR="54864" marT="27432" marB="27432">
                    <a:solidFill>
                      <a:srgbClr val="FFFFFF"/>
                    </a:solidFill>
                  </a:tcPr>
                </a:tc>
              </a:tr>
              <a:tr h="630936">
                <a:tc>
                  <a:txBody>
                    <a:bodyPr wrap="square"/>
                    <a:lstStyle/>
                    <a:p>
                      <a:r>
                        <a:rPr sz="1100" b="1">
                          <a:solidFill>
                            <a:srgbClr val="0C2B4A"/>
                          </a:solidFill>
                        </a:rPr>
                        <a:t>Manager reads staff personal DMs 'to be safe'</a:t>
                      </a:r>
                    </a:p>
                  </a:txBody>
                  <a:tcPr anchor="ctr" marL="73152" marR="54864" marT="27432" marB="27432">
                    <a:solidFill>
                      <a:srgbClr val="EEF3F8"/>
                    </a:solidFill>
                  </a:tcPr>
                </a:tc>
                <a:tc>
                  <a:txBody>
                    <a:bodyPr wrap="square"/>
                    <a:lstStyle/>
                    <a:p>
                      <a:r>
                        <a:rPr sz="1100">
                          <a:solidFill>
                            <a:srgbClr val="1A1A1A"/>
                          </a:solidFill>
                        </a:rPr>
                        <a:t>No — undisclosed, excessive</a:t>
                      </a:r>
                    </a:p>
                  </a:txBody>
                  <a:tcPr anchor="ctr" marL="73152" marR="54864" marT="27432" marB="27432">
                    <a:solidFill>
                      <a:srgbClr val="EEF3F8"/>
                    </a:solidFill>
                  </a:tcPr>
                </a:tc>
                <a:tc>
                  <a:txBody>
                    <a:bodyPr wrap="square"/>
                    <a:lstStyle/>
                    <a:p>
                      <a:r>
                        <a:rPr sz="1100">
                          <a:solidFill>
                            <a:srgbClr val="1A1A1A"/>
                          </a:solidFill>
                        </a:rPr>
                        <a:t>Spying — no consent, over-broad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technology is identical row to row — transparency and consent (the S8 AUP clause) plus proportionality are what shift it from spying to monitoring.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104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Anonymity Online — a double-edged tool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Anonymity is acting online without revealing your real identity. The whole point: it is neither good nor bad — it's a tool with two edges, and the same feature does both jobs.</a:t>
            </a:r>
          </a:p>
          <a:p>
            <a:pPr>
              <a:spcAft>
                <a:spcPts val="500"/>
              </a:spcAft>
            </a:pPr>
            <a:r>
              <a:rPr sz="1200" b="1">
                <a:solidFill>
                  <a:srgbClr val="185FA5"/>
                </a:solidFill>
              </a:rPr>
              <a:t>HOW IT WORKS</a:t>
            </a:r>
          </a:p>
          <a:p>
            <a:pPr>
              <a:spcAft>
                <a:spcPts val="600"/>
              </a:spcAft>
            </a:pPr>
            <a:r>
              <a:rPr sz="1400">
                <a:solidFill>
                  <a:srgbClr val="1A1A1A"/>
                </a:solidFill>
              </a:rPr>
              <a:t>•  It PROTECTS whistle-blowers exposing corruption, activists under pressure, and free speech for the vulnerable.</a:t>
            </a:r>
          </a:p>
          <a:p>
            <a:pPr>
              <a:spcAft>
                <a:spcPts val="600"/>
              </a:spcAft>
            </a:pPr>
            <a:r>
              <a:rPr sz="1400">
                <a:solidFill>
                  <a:srgbClr val="1A1A1A"/>
                </a:solidFill>
              </a:rPr>
              <a:t>•  It SHIELDS trolls, scammers, and criminals who use the same cover to harass and defraud.</a:t>
            </a:r>
          </a:p>
          <a:p>
            <a:pPr>
              <a:spcAft>
                <a:spcPts val="600"/>
              </a:spcAft>
            </a:pPr>
            <a:r>
              <a:rPr sz="1400">
                <a:solidFill>
                  <a:srgbClr val="1A1A1A"/>
                </a:solidFill>
              </a:rPr>
              <a:t>•  You can't simply ban or fully allow it — any rule that silences the troll also silences the whistle-blower.</a:t>
            </a:r>
          </a:p>
          <a:p>
            <a:pPr>
              <a:spcAft>
                <a:spcPts val="600"/>
              </a:spcAft>
            </a:pPr>
            <a:r>
              <a:rPr sz="1400">
                <a:solidFill>
                  <a:srgbClr val="1A1A1A"/>
                </a:solidFill>
              </a:rPr>
              <a:t>•  That's why real-name policies are so contested (the CFU debate).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same mask that protects the whistle-blower shields the troll.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Anonymity — the same tool, two opposite edges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058732"/>
                <a:gridCol w="4185633"/>
                <a:gridCol w="4185633"/>
              </a:tblGrid>
              <a:tr h="883310">
                <a:tc>
                  <a:txBody>
                    <a:bodyPr wrap="square"/>
                    <a:lstStyle/>
                    <a:p>
                      <a:r>
                        <a:rPr sz="1200" b="1">
                          <a:solidFill>
                            <a:srgbClr val="FFFFFF"/>
                          </a:solidFill>
                        </a:rPr>
                        <a:t>Anonymity...</a:t>
                      </a:r>
                    </a:p>
                  </a:txBody>
                  <a:tcPr anchor="ctr" marL="73152" marR="54864" marT="27432" marB="27432">
                    <a:solidFill>
                      <a:srgbClr val="0C2B4A"/>
                    </a:solidFill>
                  </a:tcPr>
                </a:tc>
                <a:tc>
                  <a:txBody>
                    <a:bodyPr wrap="square"/>
                    <a:lstStyle/>
                    <a:p>
                      <a:r>
                        <a:rPr sz="1200" b="1">
                          <a:solidFill>
                            <a:srgbClr val="FFFFFF"/>
                          </a:solidFill>
                        </a:rPr>
                        <a:t>Protective edge (good)</a:t>
                      </a:r>
                    </a:p>
                  </a:txBody>
                  <a:tcPr anchor="ctr" marL="73152" marR="54864" marT="27432" marB="27432">
                    <a:solidFill>
                      <a:srgbClr val="0C2B4A"/>
                    </a:solidFill>
                  </a:tcPr>
                </a:tc>
                <a:tc>
                  <a:txBody>
                    <a:bodyPr wrap="square"/>
                    <a:lstStyle/>
                    <a:p>
                      <a:r>
                        <a:rPr sz="1200" b="1">
                          <a:solidFill>
                            <a:srgbClr val="FFFFFF"/>
                          </a:solidFill>
                        </a:rPr>
                        <a:t>Harmful edge (bad)</a:t>
                      </a:r>
                    </a:p>
                  </a:txBody>
                  <a:tcPr anchor="ctr" marL="73152" marR="54864" marT="27432" marB="27432">
                    <a:solidFill>
                      <a:srgbClr val="0C2B4A"/>
                    </a:solidFill>
                  </a:tcPr>
                </a:tc>
              </a:tr>
              <a:tr h="883310">
                <a:tc>
                  <a:txBody>
                    <a:bodyPr wrap="square"/>
                    <a:lstStyle/>
                    <a:p>
                      <a:r>
                        <a:rPr sz="1150" b="1">
                          <a:solidFill>
                            <a:srgbClr val="0C2B4A"/>
                          </a:solidFill>
                        </a:rPr>
                        <a:t>Who uses it</a:t>
                      </a:r>
                    </a:p>
                  </a:txBody>
                  <a:tcPr anchor="ctr" marL="73152" marR="54864" marT="27432" marB="27432">
                    <a:solidFill>
                      <a:srgbClr val="FFFFFF"/>
                    </a:solidFill>
                  </a:tcPr>
                </a:tc>
                <a:tc>
                  <a:txBody>
                    <a:bodyPr wrap="square"/>
                    <a:lstStyle/>
                    <a:p>
                      <a:r>
                        <a:rPr sz="1150">
                          <a:solidFill>
                            <a:srgbClr val="1A1A1A"/>
                          </a:solidFill>
                        </a:rPr>
                        <a:t>Whistle-blowers, activists, the vulnerable</a:t>
                      </a:r>
                    </a:p>
                  </a:txBody>
                  <a:tcPr anchor="ctr" marL="73152" marR="54864" marT="27432" marB="27432">
                    <a:solidFill>
                      <a:srgbClr val="FFFFFF"/>
                    </a:solidFill>
                  </a:tcPr>
                </a:tc>
                <a:tc>
                  <a:txBody>
                    <a:bodyPr wrap="square"/>
                    <a:lstStyle/>
                    <a:p>
                      <a:r>
                        <a:rPr sz="1150">
                          <a:solidFill>
                            <a:srgbClr val="1A1A1A"/>
                          </a:solidFill>
                        </a:rPr>
                        <a:t>Trolls, scammers, harassers</a:t>
                      </a:r>
                    </a:p>
                  </a:txBody>
                  <a:tcPr anchor="ctr" marL="73152" marR="54864" marT="27432" marB="27432">
                    <a:solidFill>
                      <a:srgbClr val="FFFFFF"/>
                    </a:solidFill>
                  </a:tcPr>
                </a:tc>
              </a:tr>
              <a:tr h="883310">
                <a:tc>
                  <a:txBody>
                    <a:bodyPr wrap="square"/>
                    <a:lstStyle/>
                    <a:p>
                      <a:r>
                        <a:rPr sz="1150" b="1">
                          <a:solidFill>
                            <a:srgbClr val="0C2B4A"/>
                          </a:solidFill>
                        </a:rPr>
                        <a:t>What it enables</a:t>
                      </a:r>
                    </a:p>
                  </a:txBody>
                  <a:tcPr anchor="ctr" marL="73152" marR="54864" marT="27432" marB="27432">
                    <a:solidFill>
                      <a:srgbClr val="EEF3F8"/>
                    </a:solidFill>
                  </a:tcPr>
                </a:tc>
                <a:tc>
                  <a:txBody>
                    <a:bodyPr wrap="square"/>
                    <a:lstStyle/>
                    <a:p>
                      <a:r>
                        <a:rPr sz="1150">
                          <a:solidFill>
                            <a:srgbClr val="1A1A1A"/>
                          </a:solidFill>
                        </a:rPr>
                        <a:t>Exposing corruption; free speech under pressure</a:t>
                      </a:r>
                    </a:p>
                  </a:txBody>
                  <a:tcPr anchor="ctr" marL="73152" marR="54864" marT="27432" marB="27432">
                    <a:solidFill>
                      <a:srgbClr val="EEF3F8"/>
                    </a:solidFill>
                  </a:tcPr>
                </a:tc>
                <a:tc>
                  <a:txBody>
                    <a:bodyPr wrap="square"/>
                    <a:lstStyle/>
                    <a:p>
                      <a:r>
                        <a:rPr sz="1150">
                          <a:solidFill>
                            <a:srgbClr val="1A1A1A"/>
                          </a:solidFill>
                        </a:rPr>
                        <a:t>Harassment and fraud without consequence</a:t>
                      </a:r>
                    </a:p>
                  </a:txBody>
                  <a:tcPr anchor="ctr" marL="73152" marR="54864" marT="27432" marB="27432">
                    <a:solidFill>
                      <a:srgbClr val="EEF3F8"/>
                    </a:solidFill>
                  </a:tcPr>
                </a:tc>
              </a:tr>
              <a:tr h="883310">
                <a:tc>
                  <a:txBody>
                    <a:bodyPr wrap="square"/>
                    <a:lstStyle/>
                    <a:p>
                      <a:r>
                        <a:rPr sz="1150" b="1">
                          <a:solidFill>
                            <a:srgbClr val="0C2B4A"/>
                          </a:solidFill>
                        </a:rPr>
                        <a:t>Nepal example</a:t>
                      </a:r>
                    </a:p>
                  </a:txBody>
                  <a:tcPr anchor="ctr" marL="73152" marR="54864" marT="27432" marB="27432">
                    <a:solidFill>
                      <a:srgbClr val="FFFFFF"/>
                    </a:solidFill>
                  </a:tcPr>
                </a:tc>
                <a:tc>
                  <a:txBody>
                    <a:bodyPr wrap="square"/>
                    <a:lstStyle/>
                    <a:p>
                      <a:r>
                        <a:rPr sz="1150">
                          <a:solidFill>
                            <a:srgbClr val="1A1A1A"/>
                          </a:solidFill>
                        </a:rPr>
                        <a:t>Pages exposing corruption safely</a:t>
                      </a:r>
                    </a:p>
                  </a:txBody>
                  <a:tcPr anchor="ctr" marL="73152" marR="54864" marT="27432" marB="27432">
                    <a:solidFill>
                      <a:srgbClr val="FFFFFF"/>
                    </a:solidFill>
                  </a:tcPr>
                </a:tc>
                <a:tc>
                  <a:txBody>
                    <a:bodyPr wrap="square"/>
                    <a:lstStyle/>
                    <a:p>
                      <a:r>
                        <a:rPr sz="1150">
                          <a:solidFill>
                            <a:srgbClr val="1A1A1A"/>
                          </a:solidFill>
                        </a:rPr>
                        <a:t>Pages spreading rumours and harassing people</a:t>
                      </a:r>
                    </a:p>
                  </a:txBody>
                  <a:tcPr anchor="ctr" marL="73152" marR="54864" marT="27432" marB="27432">
                    <a:solidFill>
                      <a:srgbClr val="FFFFFF"/>
                    </a:solidFill>
                  </a:tcPr>
                </a:tc>
              </a:tr>
              <a:tr h="883312">
                <a:tc>
                  <a:txBody>
                    <a:bodyPr wrap="square"/>
                    <a:lstStyle/>
                    <a:p>
                      <a:r>
                        <a:rPr sz="1150" b="1">
                          <a:solidFill>
                            <a:srgbClr val="0C2B4A"/>
                          </a:solidFill>
                        </a:rPr>
                        <a:t>Why it can't be banned</a:t>
                      </a:r>
                    </a:p>
                  </a:txBody>
                  <a:tcPr anchor="ctr" marL="73152" marR="54864" marT="27432" marB="27432">
                    <a:solidFill>
                      <a:srgbClr val="EEF3F8"/>
                    </a:solidFill>
                  </a:tcPr>
                </a:tc>
                <a:tc>
                  <a:txBody>
                    <a:bodyPr wrap="square"/>
                    <a:lstStyle/>
                    <a:p>
                      <a:r>
                        <a:rPr sz="1150">
                          <a:solidFill>
                            <a:srgbClr val="1A1A1A"/>
                          </a:solidFill>
                        </a:rPr>
                        <a:t>Silencing the troll also silences the whistle-blower</a:t>
                      </a:r>
                    </a:p>
                  </a:txBody>
                  <a:tcPr anchor="ctr" marL="73152" marR="54864" marT="27432" marB="27432">
                    <a:solidFill>
                      <a:srgbClr val="EEF3F8"/>
                    </a:solidFill>
                  </a:tcPr>
                </a:tc>
                <a:tc>
                  <a:txBody>
                    <a:bodyPr wrap="square"/>
                    <a:lstStyle/>
                    <a:p>
                      <a:r>
                        <a:rPr sz="1150">
                          <a:solidFill>
                            <a:srgbClr val="1A1A1A"/>
                          </a:solidFill>
                        </a:rPr>
                        <a:t>Allowing it fully shields the criminal too</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Same tool, opposite uses — which is exactly why real-name registration is so contested (S9 CFU). Note: true anonymity is rare — IP logs, metadata, and device fingerprints leave a trail.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Anonymity Online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Anonymous Nepali Facebook / X pages exposing corruption (anonymity protecting public-interest speech) versus anonymous pages spreading rumours and harassment (anonymity shielding harm). Same tool, opposite uses — which is exactly why it's so hard to regulate.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"Online, I'm completely anonymous." IP logs, metadata, and device fingerprints make true anonymity rare — you almost always leave a trail, which is why people do get traced and arrested for anonymous posts. Feeling anonymous is not the same as being anonymous.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Anonymity is acting online without revealing your real identity — a double-edged tool. The same feature protects whistle-blowers, activists, and free speech while shielding trolls, scammers, and criminals. It can be neither fully banned nor fully allowed, because any rule that silences the troll also silences the whistle-blower. And true anonymity is rare: logs and metadata leave a trail.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anonymity · double-edged tool · whistle-blower vs troll · real-name debate · true anonymity is rare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104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Anonymity's two edges — the same cover, opposite uses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962399"/>
                <a:gridCol w="4572000"/>
                <a:gridCol w="2895600"/>
              </a:tblGrid>
              <a:tr h="630936">
                <a:tc>
                  <a:txBody>
                    <a:bodyPr wrap="square"/>
                    <a:lstStyle/>
                    <a:p>
                      <a:r>
                        <a:rPr sz="1150" b="1">
                          <a:solidFill>
                            <a:srgbClr val="FFFFFF"/>
                          </a:solidFill>
                        </a:rPr>
                        <a:t>Who is behind the mask</a:t>
                      </a:r>
                    </a:p>
                  </a:txBody>
                  <a:tcPr anchor="ctr" marL="73152" marR="54864" marT="27432" marB="27432">
                    <a:solidFill>
                      <a:srgbClr val="0C2B4A"/>
                    </a:solidFill>
                  </a:tcPr>
                </a:tc>
                <a:tc>
                  <a:txBody>
                    <a:bodyPr wrap="square"/>
                    <a:lstStyle/>
                    <a:p>
                      <a:r>
                        <a:rPr sz="1150" b="1">
                          <a:solidFill>
                            <a:srgbClr val="FFFFFF"/>
                          </a:solidFill>
                        </a:rPr>
                        <a:t>How anonymity is used</a:t>
                      </a:r>
                    </a:p>
                  </a:txBody>
                  <a:tcPr anchor="ctr" marL="73152" marR="54864" marT="27432" marB="27432">
                    <a:solidFill>
                      <a:srgbClr val="0C2B4A"/>
                    </a:solidFill>
                  </a:tcPr>
                </a:tc>
                <a:tc>
                  <a:txBody>
                    <a:bodyPr wrap="square"/>
                    <a:lstStyle/>
                    <a:p>
                      <a:r>
                        <a:rPr sz="1150" b="1">
                          <a:solidFill>
                            <a:srgbClr val="FFFFFF"/>
                          </a:solidFill>
                        </a:rPr>
                        <a:t>Edge</a:t>
                      </a:r>
                    </a:p>
                  </a:txBody>
                  <a:tcPr anchor="ctr" marL="73152" marR="54864" marT="27432" marB="27432">
                    <a:solidFill>
                      <a:srgbClr val="0C2B4A"/>
                    </a:solidFill>
                  </a:tcPr>
                </a:tc>
              </a:tr>
              <a:tr h="630936">
                <a:tc>
                  <a:txBody>
                    <a:bodyPr wrap="square"/>
                    <a:lstStyle/>
                    <a:p>
                      <a:r>
                        <a:rPr sz="1100" b="1">
                          <a:solidFill>
                            <a:srgbClr val="0C2B4A"/>
                          </a:solidFill>
                        </a:rPr>
                        <a:t>Whistle-blower leaking proof of corruption</a:t>
                      </a:r>
                    </a:p>
                  </a:txBody>
                  <a:tcPr anchor="ctr" marL="73152" marR="54864" marT="27432" marB="27432">
                    <a:solidFill>
                      <a:srgbClr val="FFFFFF"/>
                    </a:solidFill>
                  </a:tcPr>
                </a:tc>
                <a:tc>
                  <a:txBody>
                    <a:bodyPr wrap="square"/>
                    <a:lstStyle/>
                    <a:p>
                      <a:r>
                        <a:rPr sz="1100">
                          <a:solidFill>
                            <a:srgbClr val="1A1A1A"/>
                          </a:solidFill>
                        </a:rPr>
                        <a:t>Exposes wrongdoing without being fired</a:t>
                      </a:r>
                    </a:p>
                  </a:txBody>
                  <a:tcPr anchor="ctr" marL="73152" marR="54864" marT="27432" marB="27432">
                    <a:solidFill>
                      <a:srgbClr val="FFFFFF"/>
                    </a:solidFill>
                  </a:tcPr>
                </a:tc>
                <a:tc>
                  <a:txBody>
                    <a:bodyPr wrap="square"/>
                    <a:lstStyle/>
                    <a:p>
                      <a:r>
                        <a:rPr sz="1100">
                          <a:solidFill>
                            <a:srgbClr val="1A1A1A"/>
                          </a:solidFill>
                        </a:rPr>
                        <a:t>Protective — good</a:t>
                      </a:r>
                    </a:p>
                  </a:txBody>
                  <a:tcPr anchor="ctr" marL="73152" marR="54864" marT="27432" marB="27432">
                    <a:solidFill>
                      <a:srgbClr val="FFFFFF"/>
                    </a:solidFill>
                  </a:tcPr>
                </a:tc>
              </a:tr>
              <a:tr h="630936">
                <a:tc>
                  <a:txBody>
                    <a:bodyPr wrap="square"/>
                    <a:lstStyle/>
                    <a:p>
                      <a:r>
                        <a:rPr sz="1100" b="1">
                          <a:solidFill>
                            <a:srgbClr val="0C2B4A"/>
                          </a:solidFill>
                        </a:rPr>
                        <a:t>Activist under political pressure</a:t>
                      </a:r>
                    </a:p>
                  </a:txBody>
                  <a:tcPr anchor="ctr" marL="73152" marR="54864" marT="27432" marB="27432">
                    <a:solidFill>
                      <a:srgbClr val="EEF3F8"/>
                    </a:solidFill>
                  </a:tcPr>
                </a:tc>
                <a:tc>
                  <a:txBody>
                    <a:bodyPr wrap="square"/>
                    <a:lstStyle/>
                    <a:p>
                      <a:r>
                        <a:rPr sz="1100">
                          <a:solidFill>
                            <a:srgbClr val="1A1A1A"/>
                          </a:solidFill>
                        </a:rPr>
                        <a:t>Speaks freely without reprisal</a:t>
                      </a:r>
                    </a:p>
                  </a:txBody>
                  <a:tcPr anchor="ctr" marL="73152" marR="54864" marT="27432" marB="27432">
                    <a:solidFill>
                      <a:srgbClr val="EEF3F8"/>
                    </a:solidFill>
                  </a:tcPr>
                </a:tc>
                <a:tc>
                  <a:txBody>
                    <a:bodyPr wrap="square"/>
                    <a:lstStyle/>
                    <a:p>
                      <a:r>
                        <a:rPr sz="1100">
                          <a:solidFill>
                            <a:srgbClr val="1A1A1A"/>
                          </a:solidFill>
                        </a:rPr>
                        <a:t>Protective — good</a:t>
                      </a:r>
                    </a:p>
                  </a:txBody>
                  <a:tcPr anchor="ctr" marL="73152" marR="54864" marT="27432" marB="27432">
                    <a:solidFill>
                      <a:srgbClr val="EEF3F8"/>
                    </a:solidFill>
                  </a:tcPr>
                </a:tc>
              </a:tr>
              <a:tr h="630936">
                <a:tc>
                  <a:txBody>
                    <a:bodyPr wrap="square"/>
                    <a:lstStyle/>
                    <a:p>
                      <a:r>
                        <a:rPr sz="1100" b="1">
                          <a:solidFill>
                            <a:srgbClr val="0C2B4A"/>
                          </a:solidFill>
                        </a:rPr>
                        <a:t>Domestic-abuse survivor seeking help</a:t>
                      </a:r>
                    </a:p>
                  </a:txBody>
                  <a:tcPr anchor="ctr" marL="73152" marR="54864" marT="27432" marB="27432">
                    <a:solidFill>
                      <a:srgbClr val="FFFFFF"/>
                    </a:solidFill>
                  </a:tcPr>
                </a:tc>
                <a:tc>
                  <a:txBody>
                    <a:bodyPr wrap="square"/>
                    <a:lstStyle/>
                    <a:p>
                      <a:r>
                        <a:rPr sz="1100">
                          <a:solidFill>
                            <a:srgbClr val="1A1A1A"/>
                          </a:solidFill>
                        </a:rPr>
                        <a:t>Asks for support without being traced</a:t>
                      </a:r>
                    </a:p>
                  </a:txBody>
                  <a:tcPr anchor="ctr" marL="73152" marR="54864" marT="27432" marB="27432">
                    <a:solidFill>
                      <a:srgbClr val="FFFFFF"/>
                    </a:solidFill>
                  </a:tcPr>
                </a:tc>
                <a:tc>
                  <a:txBody>
                    <a:bodyPr wrap="square"/>
                    <a:lstStyle/>
                    <a:p>
                      <a:r>
                        <a:rPr sz="1100">
                          <a:solidFill>
                            <a:srgbClr val="1A1A1A"/>
                          </a:solidFill>
                        </a:rPr>
                        <a:t>Protective — good</a:t>
                      </a:r>
                    </a:p>
                  </a:txBody>
                  <a:tcPr anchor="ctr" marL="73152" marR="54864" marT="27432" marB="27432">
                    <a:solidFill>
                      <a:srgbClr val="FFFFFF"/>
                    </a:solidFill>
                  </a:tcPr>
                </a:tc>
              </a:tr>
              <a:tr h="630936">
                <a:tc>
                  <a:txBody>
                    <a:bodyPr wrap="square"/>
                    <a:lstStyle/>
                    <a:p>
                      <a:r>
                        <a:rPr sz="1100" b="1">
                          <a:solidFill>
                            <a:srgbClr val="0C2B4A"/>
                          </a:solidFill>
                        </a:rPr>
                        <a:t>Troll on a throwaway account</a:t>
                      </a:r>
                    </a:p>
                  </a:txBody>
                  <a:tcPr anchor="ctr" marL="73152" marR="54864" marT="27432" marB="27432">
                    <a:solidFill>
                      <a:srgbClr val="EEF3F8"/>
                    </a:solidFill>
                  </a:tcPr>
                </a:tc>
                <a:tc>
                  <a:txBody>
                    <a:bodyPr wrap="square"/>
                    <a:lstStyle/>
                    <a:p>
                      <a:r>
                        <a:rPr sz="1100">
                          <a:solidFill>
                            <a:srgbClr val="1A1A1A"/>
                          </a:solidFill>
                        </a:rPr>
                        <a:t>Harasses a public figure consequence-free</a:t>
                      </a:r>
                    </a:p>
                  </a:txBody>
                  <a:tcPr anchor="ctr" marL="73152" marR="54864" marT="27432" marB="27432">
                    <a:solidFill>
                      <a:srgbClr val="EEF3F8"/>
                    </a:solidFill>
                  </a:tcPr>
                </a:tc>
                <a:tc>
                  <a:txBody>
                    <a:bodyPr wrap="square"/>
                    <a:lstStyle/>
                    <a:p>
                      <a:r>
                        <a:rPr sz="1100">
                          <a:solidFill>
                            <a:srgbClr val="1A1A1A"/>
                          </a:solidFill>
                        </a:rPr>
                        <a:t>Harmful — bad</a:t>
                      </a:r>
                    </a:p>
                  </a:txBody>
                  <a:tcPr anchor="ctr" marL="73152" marR="54864" marT="27432" marB="27432">
                    <a:solidFill>
                      <a:srgbClr val="EEF3F8"/>
                    </a:solidFill>
                  </a:tcPr>
                </a:tc>
              </a:tr>
              <a:tr h="630936">
                <a:tc>
                  <a:txBody>
                    <a:bodyPr wrap="square"/>
                    <a:lstStyle/>
                    <a:p>
                      <a:r>
                        <a:rPr sz="1100" b="1">
                          <a:solidFill>
                            <a:srgbClr val="0C2B4A"/>
                          </a:solidFill>
                        </a:rPr>
                        <a:t>Scammer running a fake profile</a:t>
                      </a:r>
                    </a:p>
                  </a:txBody>
                  <a:tcPr anchor="ctr" marL="73152" marR="54864" marT="27432" marB="27432">
                    <a:solidFill>
                      <a:srgbClr val="FFFFFF"/>
                    </a:solidFill>
                  </a:tcPr>
                </a:tc>
                <a:tc>
                  <a:txBody>
                    <a:bodyPr wrap="square"/>
                    <a:lstStyle/>
                    <a:p>
                      <a:r>
                        <a:rPr sz="1100">
                          <a:solidFill>
                            <a:srgbClr val="1A1A1A"/>
                          </a:solidFill>
                        </a:rPr>
                        <a:t>Defrauds contacts while hiding identity</a:t>
                      </a:r>
                    </a:p>
                  </a:txBody>
                  <a:tcPr anchor="ctr" marL="73152" marR="54864" marT="27432" marB="27432">
                    <a:solidFill>
                      <a:srgbClr val="FFFFFF"/>
                    </a:solidFill>
                  </a:tcPr>
                </a:tc>
                <a:tc>
                  <a:txBody>
                    <a:bodyPr wrap="square"/>
                    <a:lstStyle/>
                    <a:p>
                      <a:r>
                        <a:rPr sz="1100">
                          <a:solidFill>
                            <a:srgbClr val="1A1A1A"/>
                          </a:solidFill>
                        </a:rPr>
                        <a:t>Harmful — bad</a:t>
                      </a:r>
                    </a:p>
                  </a:txBody>
                  <a:tcPr anchor="ctr" marL="73152" marR="54864" marT="27432" marB="27432">
                    <a:solidFill>
                      <a:srgbClr val="FFFFFF"/>
                    </a:solidFill>
                  </a:tcPr>
                </a:tc>
              </a:tr>
              <a:tr h="630936">
                <a:tc>
                  <a:txBody>
                    <a:bodyPr wrap="square"/>
                    <a:lstStyle/>
                    <a:p>
                      <a:r>
                        <a:rPr sz="1100" b="1">
                          <a:solidFill>
                            <a:srgbClr val="0C2B4A"/>
                          </a:solidFill>
                        </a:rPr>
                        <a:t>Rumour page spreading fake news</a:t>
                      </a:r>
                    </a:p>
                  </a:txBody>
                  <a:tcPr anchor="ctr" marL="73152" marR="54864" marT="27432" marB="27432">
                    <a:solidFill>
                      <a:srgbClr val="EEF3F8"/>
                    </a:solidFill>
                  </a:tcPr>
                </a:tc>
                <a:tc>
                  <a:txBody>
                    <a:bodyPr wrap="square"/>
                    <a:lstStyle/>
                    <a:p>
                      <a:r>
                        <a:rPr sz="1100">
                          <a:solidFill>
                            <a:srgbClr val="1A1A1A"/>
                          </a:solidFill>
                        </a:rPr>
                        <a:t>Panics the public with no accountability</a:t>
                      </a:r>
                    </a:p>
                  </a:txBody>
                  <a:tcPr anchor="ctr" marL="73152" marR="54864" marT="27432" marB="27432">
                    <a:solidFill>
                      <a:srgbClr val="EEF3F8"/>
                    </a:solidFill>
                  </a:tcPr>
                </a:tc>
                <a:tc>
                  <a:txBody>
                    <a:bodyPr wrap="square"/>
                    <a:lstStyle/>
                    <a:p>
                      <a:r>
                        <a:rPr sz="1100">
                          <a:solidFill>
                            <a:srgbClr val="1A1A1A"/>
                          </a:solidFill>
                        </a:rPr>
                        <a:t>Harmful — bad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Any rule that silences the bottom three also silences the top three — which is why real-name registration is contested. And true anonymity is rare: logs and metadata leave a trail.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104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4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Identity &amp; Identity Theft — you are your data</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Online, your identity is the data that represents you — your name, citizenship number, bank/eSewa logins, biometrics. To a system you are not a person but a bundle of data fields, and whoever controls those fields can BE you. That's identity theft: fake profiles and stolen credentials.</a:t>
            </a:r>
          </a:p>
          <a:p>
            <a:pPr>
              <a:spcAft>
                <a:spcPts val="500"/>
              </a:spcAft>
            </a:pPr>
            <a:r>
              <a:rPr sz="1200" b="1">
                <a:solidFill>
                  <a:srgbClr val="185FA5"/>
                </a:solidFill>
              </a:rPr>
              <a:t>HOW IT WORKS</a:t>
            </a:r>
          </a:p>
          <a:p>
            <a:pPr>
              <a:spcAft>
                <a:spcPts val="600"/>
              </a:spcAft>
            </a:pPr>
            <a:r>
              <a:rPr sz="1400">
                <a:solidFill>
                  <a:srgbClr val="1A1A1A"/>
                </a:solidFill>
              </a:rPr>
              <a:t>•  Identity theft/impersonation happens through fake profiles and stolen credentials.</a:t>
            </a:r>
          </a:p>
          <a:p>
            <a:pPr>
              <a:spcAft>
                <a:spcPts val="600"/>
              </a:spcAft>
            </a:pPr>
            <a:r>
              <a:rPr sz="1400">
                <a:solidFill>
                  <a:srgbClr val="1A1A1A"/>
                </a:solidFill>
              </a:rPr>
              <a:t>•  The usual method is phishing — tricking you into handing over your own keys (previewed fully in Unit 7).</a:t>
            </a:r>
          </a:p>
          <a:p>
            <a:pPr>
              <a:spcAft>
                <a:spcPts val="600"/>
              </a:spcAft>
            </a:pPr>
            <a:r>
              <a:rPr sz="1400">
                <a:solidFill>
                  <a:srgbClr val="1A1A1A"/>
                </a:solidFill>
              </a:rPr>
              <a:t>•  In Nepal the most common attack is a phishing SMS posing as eSewa or a bank to steal your OTP.</a:t>
            </a:r>
          </a:p>
          <a:p>
            <a:pPr>
              <a:spcAft>
                <a:spcPts val="600"/>
              </a:spcAft>
            </a:pPr>
            <a:r>
              <a:rPr sz="1400">
                <a:solidFill>
                  <a:srgbClr val="1A1A1A"/>
                </a:solidFill>
              </a:rPr>
              <a:t>•  Your data is like your house key: easy to copy, and you don't notice until someone's already inside.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You are a bundle of data fields — control them, or someone else becomes you.</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identity gets stolen — method, Nepal example, defence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4697260"/>
                <a:gridCol w="4070958"/>
              </a:tblGrid>
              <a:tr h="883310">
                <a:tc>
                  <a:txBody>
                    <a:bodyPr wrap="square"/>
                    <a:lstStyle/>
                    <a:p>
                      <a:r>
                        <a:rPr sz="1200" b="1">
                          <a:solidFill>
                            <a:srgbClr val="FFFFFF"/>
                          </a:solidFill>
                        </a:rPr>
                        <a:t>Method</a:t>
                      </a:r>
                    </a:p>
                  </a:txBody>
                  <a:tcPr anchor="ctr" marL="73152" marR="54864" marT="27432" marB="27432">
                    <a:solidFill>
                      <a:srgbClr val="0C2B4A"/>
                    </a:solidFill>
                  </a:tcPr>
                </a:tc>
                <a:tc>
                  <a:txBody>
                    <a:bodyPr wrap="square"/>
                    <a:lstStyle/>
                    <a:p>
                      <a:r>
                        <a:rPr sz="1200" b="1">
                          <a:solidFill>
                            <a:srgbClr val="FFFFFF"/>
                          </a:solidFill>
                        </a:rPr>
                        <a:t>How it works</a:t>
                      </a:r>
                    </a:p>
                  </a:txBody>
                  <a:tcPr anchor="ctr" marL="73152" marR="54864" marT="27432" marB="27432">
                    <a:solidFill>
                      <a:srgbClr val="0C2B4A"/>
                    </a:solidFill>
                  </a:tcPr>
                </a:tc>
                <a:tc>
                  <a:txBody>
                    <a:bodyPr wrap="square"/>
                    <a:lstStyle/>
                    <a:p>
                      <a:r>
                        <a:rPr sz="1200" b="1">
                          <a:solidFill>
                            <a:srgbClr val="FFFFFF"/>
                          </a:solidFill>
                        </a:rPr>
                        <a:t>Everyday defence</a:t>
                      </a:r>
                    </a:p>
                  </a:txBody>
                  <a:tcPr anchor="ctr" marL="73152" marR="54864" marT="27432" marB="27432">
                    <a:solidFill>
                      <a:srgbClr val="0C2B4A"/>
                    </a:solidFill>
                  </a:tcPr>
                </a:tc>
              </a:tr>
              <a:tr h="883310">
                <a:tc>
                  <a:txBody>
                    <a:bodyPr wrap="square"/>
                    <a:lstStyle/>
                    <a:p>
                      <a:r>
                        <a:rPr sz="1150" b="1">
                          <a:solidFill>
                            <a:srgbClr val="0C2B4A"/>
                          </a:solidFill>
                        </a:rPr>
                        <a:t>Phishing SMS / call</a:t>
                      </a:r>
                    </a:p>
                  </a:txBody>
                  <a:tcPr anchor="ctr" marL="73152" marR="54864" marT="27432" marB="27432">
                    <a:solidFill>
                      <a:srgbClr val="FFFFFF"/>
                    </a:solidFill>
                  </a:tcPr>
                </a:tc>
                <a:tc>
                  <a:txBody>
                    <a:bodyPr wrap="square"/>
                    <a:lstStyle/>
                    <a:p>
                      <a:r>
                        <a:rPr sz="1150">
                          <a:solidFill>
                            <a:srgbClr val="1A1A1A"/>
                          </a:solidFill>
                        </a:rPr>
                        <a:t>Fake 'eSewa/bank' message tricks you into sharing an OTP</a:t>
                      </a:r>
                    </a:p>
                  </a:txBody>
                  <a:tcPr anchor="ctr" marL="73152" marR="54864" marT="27432" marB="27432">
                    <a:solidFill>
                      <a:srgbClr val="FFFFFF"/>
                    </a:solidFill>
                  </a:tcPr>
                </a:tc>
                <a:tc>
                  <a:txBody>
                    <a:bodyPr wrap="square"/>
                    <a:lstStyle/>
                    <a:p>
                      <a:r>
                        <a:rPr sz="1150">
                          <a:solidFill>
                            <a:srgbClr val="1A1A1A"/>
                          </a:solidFill>
                        </a:rPr>
                        <a:t>Never share an OTP; banks never ask for it</a:t>
                      </a:r>
                    </a:p>
                  </a:txBody>
                  <a:tcPr anchor="ctr" marL="73152" marR="54864" marT="27432" marB="27432">
                    <a:solidFill>
                      <a:srgbClr val="FFFFFF"/>
                    </a:solidFill>
                  </a:tcPr>
                </a:tc>
              </a:tr>
              <a:tr h="883310">
                <a:tc>
                  <a:txBody>
                    <a:bodyPr wrap="square"/>
                    <a:lstStyle/>
                    <a:p>
                      <a:r>
                        <a:rPr sz="1150" b="1">
                          <a:solidFill>
                            <a:srgbClr val="0C2B4A"/>
                          </a:solidFill>
                        </a:rPr>
                        <a:t>Fake social profile</a:t>
                      </a:r>
                    </a:p>
                  </a:txBody>
                  <a:tcPr anchor="ctr" marL="73152" marR="54864" marT="27432" marB="27432">
                    <a:solidFill>
                      <a:srgbClr val="EEF3F8"/>
                    </a:solidFill>
                  </a:tcPr>
                </a:tc>
                <a:tc>
                  <a:txBody>
                    <a:bodyPr wrap="square"/>
                    <a:lstStyle/>
                    <a:p>
                      <a:r>
                        <a:rPr sz="1150">
                          <a:solidFill>
                            <a:srgbClr val="1A1A1A"/>
                          </a:solidFill>
                        </a:rPr>
                        <a:t>Impersonates you or a public figure to defraud contacts</a:t>
                      </a:r>
                    </a:p>
                  </a:txBody>
                  <a:tcPr anchor="ctr" marL="73152" marR="54864" marT="27432" marB="27432">
                    <a:solidFill>
                      <a:srgbClr val="EEF3F8"/>
                    </a:solidFill>
                  </a:tcPr>
                </a:tc>
                <a:tc>
                  <a:txBody>
                    <a:bodyPr wrap="square"/>
                    <a:lstStyle/>
                    <a:p>
                      <a:r>
                        <a:rPr sz="1150">
                          <a:solidFill>
                            <a:srgbClr val="1A1A1A"/>
                          </a:solidFill>
                        </a:rPr>
                        <a:t>Report it; verify before trusting a request</a:t>
                      </a:r>
                    </a:p>
                  </a:txBody>
                  <a:tcPr anchor="ctr" marL="73152" marR="54864" marT="27432" marB="27432">
                    <a:solidFill>
                      <a:srgbClr val="EEF3F8"/>
                    </a:solidFill>
                  </a:tcPr>
                </a:tc>
              </a:tr>
              <a:tr h="883310">
                <a:tc>
                  <a:txBody>
                    <a:bodyPr wrap="square"/>
                    <a:lstStyle/>
                    <a:p>
                      <a:r>
                        <a:rPr sz="1150" b="1">
                          <a:solidFill>
                            <a:srgbClr val="0C2B4A"/>
                          </a:solidFill>
                        </a:rPr>
                        <a:t>Stolen credentials</a:t>
                      </a:r>
                    </a:p>
                  </a:txBody>
                  <a:tcPr anchor="ctr" marL="73152" marR="54864" marT="27432" marB="27432">
                    <a:solidFill>
                      <a:srgbClr val="FFFFFF"/>
                    </a:solidFill>
                  </a:tcPr>
                </a:tc>
                <a:tc>
                  <a:txBody>
                    <a:bodyPr wrap="square"/>
                    <a:lstStyle/>
                    <a:p>
                      <a:r>
                        <a:rPr sz="1150">
                          <a:solidFill>
                            <a:srgbClr val="1A1A1A"/>
                          </a:solidFill>
                        </a:rPr>
                        <a:t>A leaked/reused password unlocks your accounts</a:t>
                      </a:r>
                    </a:p>
                  </a:txBody>
                  <a:tcPr anchor="ctr" marL="73152" marR="54864" marT="27432" marB="27432">
                    <a:solidFill>
                      <a:srgbClr val="FFFFFF"/>
                    </a:solidFill>
                  </a:tcPr>
                </a:tc>
                <a:tc>
                  <a:txBody>
                    <a:bodyPr wrap="square"/>
                    <a:lstStyle/>
                    <a:p>
                      <a:r>
                        <a:rPr sz="1150">
                          <a:solidFill>
                            <a:srgbClr val="1A1A1A"/>
                          </a:solidFill>
                        </a:rPr>
                        <a:t>Unique passwords + two-factor authentication</a:t>
                      </a:r>
                    </a:p>
                  </a:txBody>
                  <a:tcPr anchor="ctr" marL="73152" marR="54864" marT="27432" marB="27432">
                    <a:solidFill>
                      <a:srgbClr val="FFFFFF"/>
                    </a:solidFill>
                  </a:tcPr>
                </a:tc>
              </a:tr>
              <a:tr h="883312">
                <a:tc>
                  <a:txBody>
                    <a:bodyPr wrap="square"/>
                    <a:lstStyle/>
                    <a:p>
                      <a:r>
                        <a:rPr sz="1150" b="1">
                          <a:solidFill>
                            <a:srgbClr val="0C2B4A"/>
                          </a:solidFill>
                        </a:rPr>
                        <a:t>Data-leak reuse</a:t>
                      </a:r>
                    </a:p>
                  </a:txBody>
                  <a:tcPr anchor="ctr" marL="73152" marR="54864" marT="27432" marB="27432">
                    <a:solidFill>
                      <a:srgbClr val="EEF3F8"/>
                    </a:solidFill>
                  </a:tcPr>
                </a:tc>
                <a:tc>
                  <a:txBody>
                    <a:bodyPr wrap="square"/>
                    <a:lstStyle/>
                    <a:p>
                      <a:r>
                        <a:rPr sz="1150">
                          <a:solidFill>
                            <a:srgbClr val="1A1A1A"/>
                          </a:solidFill>
                        </a:rPr>
                        <a:t>Leaked KYC data used to impersonate you elsewhere</a:t>
                      </a:r>
                    </a:p>
                  </a:txBody>
                  <a:tcPr anchor="ctr" marL="73152" marR="54864" marT="27432" marB="27432">
                    <a:solidFill>
                      <a:srgbClr val="EEF3F8"/>
                    </a:solidFill>
                  </a:tcPr>
                </a:tc>
                <a:tc>
                  <a:txBody>
                    <a:bodyPr wrap="square"/>
                    <a:lstStyle/>
                    <a:p>
                      <a:r>
                        <a:rPr sz="1150">
                          <a:solidFill>
                            <a:srgbClr val="1A1A1A"/>
                          </a:solidFill>
                        </a:rPr>
                        <a:t>Minimise what you share; watch for misuse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Phishing is the single most common entry point (full treatment in Unit 7). Nobody 'steals the house' — they copy the key (your data) and walk in the front door.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104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S9 · CONCEPT 4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Identity &amp; Identity Theft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Fake Facebook profiles impersonating Nepali public figures (reputation + fraud harm); and phishing SMS posing as eSewa or a bank to steal your OTP — the single most common attack ordinary Nepalis actually face. The attacker doesn't need to hack a server; they just need you to hand over your key.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"Identity theft only happens to careless or rich people." Your personal data is like your house key — easy to copy, and you usually don't notice until someone is already inside. Anyone who shares an OTP once, or reuses a leaked password, is exposed; the attack targets ordinary people precisely because it's cheap and scalable.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Online, identity is the data that represents you (name, citizenship number, logins, biometrics) — to a system you are a bundle of data fields, and whoever controls them can impersonate you. Identity theft uses fake profiles and stolen credentials, most often obtained via phishing. In Nepal, OTP-stealing phishing SMS posing as eSewa or a bank is the most common case.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identity · you are your data · identity theft · impersonation · phishing · OTP · never share your key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104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S9 — 'Trace your data trail'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one routine action from this morning (SIM top-up, QR scan, eSewa login, TikTok post).</a:t>
            </a:r>
          </a:p>
          <a:p>
            <a:pPr>
              <a:spcAft>
                <a:spcPts val="700"/>
              </a:spcAft>
            </a:pPr>
            <a:r>
              <a:rPr sz="1550">
                <a:solidFill>
                  <a:srgbClr val="1A1A1A"/>
                </a:solidFill>
              </a:rPr>
              <a:t>•  Map: (a) what personal data you handed over, (b) who else might now have it, (c) whether you actually consented.</a:t>
            </a:r>
          </a:p>
          <a:p>
            <a:pPr>
              <a:spcAft>
                <a:spcPts val="700"/>
              </a:spcAft>
            </a:pPr>
            <a:r>
              <a:rPr sz="1550">
                <a:solidFill>
                  <a:srgbClr val="1A1A1A"/>
                </a:solidFill>
              </a:rPr>
              <a:t>•  Take 3 answers aloud (3 min) and plot each on the 'data trail' visual.</a:t>
            </a:r>
          </a:p>
          <a:p>
            <a:pPr>
              <a:spcAft>
                <a:spcPts val="700"/>
              </a:spcAft>
            </a:pPr>
            <a:r>
              <a:rPr sz="1550">
                <a:solidFill>
                  <a:srgbClr val="1A1A1A"/>
                </a:solidFill>
              </a:rPr>
              <a:t>•  Close: most of you couldn't fully answer (b) and (c) — and that uncertainty IS the privacy problem in one sentence.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Use the hook's spam-call chain (form/SIM/QR → company → third parties → spam) as the model if a pair stalls. The point is that the trail is invisible and unconsented — that's the harm.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104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'Collect only the data you actually need' is the principle of:</a:t>
            </a:r>
          </a:p>
          <a:p>
            <a:pPr lvl="1"/>
            <a:r>
              <a:rPr sz="1500" b="1">
                <a:solidFill>
                  <a:srgbClr val="0F6E56"/>
                </a:solidFill>
              </a:rPr>
              <a:t>a) surveillance   b) ✅ data minimization   c) anonymity   d) profiling</a:t>
            </a:r>
          </a:p>
          <a:p>
            <a:pPr lvl="1">
              <a:spcBef>
                <a:spcPts val="600"/>
              </a:spcBef>
            </a:pPr>
            <a:r>
              <a:rPr sz="1500" i="1">
                <a:solidFill>
                  <a:srgbClr val="1A1A1A"/>
                </a:solidFill>
              </a:rPr>
              <a:t>     Why: minimization limits collection to what's necessary — a SIM sale doesn't need your blood group.</a:t>
            </a:r>
          </a:p>
          <a:p>
            <a:pPr>
              <a:spcBef>
                <a:spcPts val="900"/>
              </a:spcBef>
            </a:pPr>
            <a:r>
              <a:rPr sz="1700" b="1">
                <a:solidFill>
                  <a:srgbClr val="0C2B4A"/>
                </a:solidFill>
              </a:rPr>
              <a:t>Q2.  Online anonymity is best described as:</a:t>
            </a:r>
          </a:p>
          <a:p>
            <a:pPr lvl="1"/>
            <a:r>
              <a:rPr sz="1500" b="1">
                <a:solidFill>
                  <a:srgbClr val="0F6E56"/>
                </a:solidFill>
              </a:rPr>
              <a:t>a) always good   b) always harmful   c) ✅ a double-edged tool   d) impossible</a:t>
            </a:r>
          </a:p>
          <a:p>
            <a:pPr lvl="1">
              <a:spcBef>
                <a:spcPts val="600"/>
              </a:spcBef>
            </a:pPr>
            <a:r>
              <a:rPr sz="1500" i="1">
                <a:solidFill>
                  <a:srgbClr val="1A1A1A"/>
                </a:solidFill>
              </a:rPr>
              <a:t>     Why: the same cover protects whistle-blowers and shields trolls — it is neither wholly good nor bad.</a:t>
            </a:r>
          </a:p>
          <a:p>
            <a:pPr lvl="1">
              <a:spcBef>
                <a:spcPts val="600"/>
              </a:spcBef>
            </a:pPr>
            <a:r>
              <a:rPr sz="1500" i="1">
                <a:solidFill>
                  <a:srgbClr val="1A1A1A"/>
                </a:solidFill>
              </a:rPr>
              <a:t>Discussion: should the government require real-name registration to post on social media?</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104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Privacy = control over your data — built on consent, minimization, purpose limitation (not 'nothing to hide').</a:t>
            </a:r>
          </a:p>
          <a:p>
            <a:pPr>
              <a:spcAft>
                <a:spcPts val="800"/>
              </a:spcAft>
            </a:pPr>
            <a:r>
              <a:rPr sz="1500">
                <a:solidFill>
                  <a:srgbClr val="1A1A1A"/>
                </a:solidFill>
              </a:rPr>
              <a:t>2.  Surveillance trades security for privacy; transparency and consent are what make monitoring legitimate.</a:t>
            </a:r>
          </a:p>
          <a:p>
            <a:pPr>
              <a:spcAft>
                <a:spcPts val="800"/>
              </a:spcAft>
            </a:pPr>
            <a:r>
              <a:rPr sz="1500">
                <a:solidFill>
                  <a:srgbClr val="1A1A1A"/>
                </a:solidFill>
              </a:rPr>
              <a:t>3.  Anonymity cuts both ways; your identity is now the target, and phishing is the usual entry point.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a BIM graduate you'll handle customer data — KYC records, payment details, account logins. Mishandling it can break Nepal's Individual Privacy Act 2075 AND destroy customer trust, a business risk, not just a legal one. Consent, purpose limitation, and minimization are the design rules you'll build into the systems you ship.</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S10 — where privacy, anonymity, and harm collide most: social networking.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10 · LECTURE HOUR 5 (OF 5) — CLOSES UNIT 2</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Social Networking Ethical Issues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doctored screenshot of a Nepali celebrity goes viral on TikTok/Facebook before lunch. By evening a teenager is being mocked in her school group chat, and a 'breaking news' rumour has sparked a panic. How many servers were hacked? None. Ordinary people did all the damage, using the apps exactly as designed.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81 / 104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Social Networking Is an Ethics Hotspot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Social networking = platforms where users create, share, and connect (Facebook, TikTok, Instagram, X, YouTube). Four amplifiers turn ordinary behaviour into outsized harm — these are the Unit 1 IT factors, now made personal: scale, speed, anonymity, virality.</a:t>
            </a:r>
          </a:p>
          <a:p>
            <a:pPr>
              <a:spcAft>
                <a:spcPts val="500"/>
              </a:spcAft>
            </a:pPr>
            <a:r>
              <a:rPr sz="1200" b="1">
                <a:solidFill>
                  <a:srgbClr val="185FA5"/>
                </a:solidFill>
              </a:rPr>
              <a:t>HOW IT WORKS</a:t>
            </a:r>
          </a:p>
          <a:p>
            <a:pPr>
              <a:spcAft>
                <a:spcPts val="600"/>
              </a:spcAft>
            </a:pPr>
            <a:r>
              <a:rPr sz="1400">
                <a:solidFill>
                  <a:srgbClr val="1A1A1A"/>
                </a:solidFill>
              </a:rPr>
              <a:t>•  Scale — one post reaches thousands instantly, not the few people in a room.</a:t>
            </a:r>
          </a:p>
          <a:p>
            <a:pPr>
              <a:spcAft>
                <a:spcPts val="600"/>
              </a:spcAft>
            </a:pPr>
            <a:r>
              <a:rPr sz="1400">
                <a:solidFill>
                  <a:srgbClr val="1A1A1A"/>
                </a:solidFill>
              </a:rPr>
              <a:t>•  Speed — it spreads before anyone can check or correct it.</a:t>
            </a:r>
          </a:p>
          <a:p>
            <a:pPr>
              <a:spcAft>
                <a:spcPts val="600"/>
              </a:spcAft>
            </a:pPr>
            <a:r>
              <a:rPr sz="1400">
                <a:solidFill>
                  <a:srgbClr val="1A1A1A"/>
                </a:solidFill>
              </a:rPr>
              <a:t>•  Anonymity — people say things they'd never say to your face (S9's double edge).</a:t>
            </a:r>
          </a:p>
          <a:p>
            <a:pPr>
              <a:spcAft>
                <a:spcPts val="600"/>
              </a:spcAft>
            </a:pPr>
            <a:r>
              <a:rPr sz="1400">
                <a:solidFill>
                  <a:srgbClr val="1A1A1A"/>
                </a:solidFill>
              </a:rPr>
              <a:t>•  Virality + the online bystander effect — the algorithm amplifies outrage, and in a crowd of thousands everyone assumes someone else will speak up, so no one does.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Scale + speed + anonymity + virality turn one careless act into mass harm.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104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amplifiers — how a small act becomes mass harm</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449285"/>
                <a:gridCol w="4572000"/>
                <a:gridCol w="4408714"/>
              </a:tblGrid>
              <a:tr h="736092">
                <a:tc>
                  <a:txBody>
                    <a:bodyPr wrap="square"/>
                    <a:lstStyle/>
                    <a:p>
                      <a:r>
                        <a:rPr sz="1200" b="1">
                          <a:solidFill>
                            <a:srgbClr val="FFFFFF"/>
                          </a:solidFill>
                        </a:rPr>
                        <a:t>Amplifier</a:t>
                      </a:r>
                    </a:p>
                  </a:txBody>
                  <a:tcPr anchor="ctr" marL="73152" marR="54864" marT="27432" marB="27432">
                    <a:solidFill>
                      <a:srgbClr val="0C2B4A"/>
                    </a:solidFill>
                  </a:tcPr>
                </a:tc>
                <a:tc>
                  <a:txBody>
                    <a:bodyPr wrap="square"/>
                    <a:lstStyle/>
                    <a:p>
                      <a:r>
                        <a:rPr sz="1200" b="1">
                          <a:solidFill>
                            <a:srgbClr val="FFFFFF"/>
                          </a:solidFill>
                        </a:rPr>
                        <a:t>What it does</a:t>
                      </a:r>
                    </a:p>
                  </a:txBody>
                  <a:tcPr anchor="ctr" marL="73152" marR="54864" marT="27432" marB="27432">
                    <a:solidFill>
                      <a:srgbClr val="0C2B4A"/>
                    </a:solidFill>
                  </a:tcPr>
                </a:tc>
                <a:tc>
                  <a:txBody>
                    <a:bodyPr wrap="square"/>
                    <a:lstStyle/>
                    <a:p>
                      <a:r>
                        <a:rPr sz="1200" b="1">
                          <a:solidFill>
                            <a:srgbClr val="FFFFFF"/>
                          </a:solidFill>
                        </a:rPr>
                        <a:t>Everyday example</a:t>
                      </a:r>
                    </a:p>
                  </a:txBody>
                  <a:tcPr anchor="ctr" marL="73152" marR="54864" marT="27432" marB="27432">
                    <a:solidFill>
                      <a:srgbClr val="0C2B4A"/>
                    </a:solidFill>
                  </a:tcPr>
                </a:tc>
              </a:tr>
              <a:tr h="736092">
                <a:tc>
                  <a:txBody>
                    <a:bodyPr wrap="square"/>
                    <a:lstStyle/>
                    <a:p>
                      <a:r>
                        <a:rPr sz="1150" b="1">
                          <a:solidFill>
                            <a:srgbClr val="0C2B4A"/>
                          </a:solidFill>
                        </a:rPr>
                        <a:t>Scale</a:t>
                      </a:r>
                    </a:p>
                  </a:txBody>
                  <a:tcPr anchor="ctr" marL="73152" marR="54864" marT="27432" marB="27432">
                    <a:solidFill>
                      <a:srgbClr val="FFFFFF"/>
                    </a:solidFill>
                  </a:tcPr>
                </a:tc>
                <a:tc>
                  <a:txBody>
                    <a:bodyPr wrap="square"/>
                    <a:lstStyle/>
                    <a:p>
                      <a:r>
                        <a:rPr sz="1150">
                          <a:solidFill>
                            <a:srgbClr val="1A1A1A"/>
                          </a:solidFill>
                        </a:rPr>
                        <a:t>One post reaches thousands, not a roomful</a:t>
                      </a:r>
                    </a:p>
                  </a:txBody>
                  <a:tcPr anchor="ctr" marL="73152" marR="54864" marT="27432" marB="27432">
                    <a:solidFill>
                      <a:srgbClr val="FFFFFF"/>
                    </a:solidFill>
                  </a:tcPr>
                </a:tc>
                <a:tc>
                  <a:txBody>
                    <a:bodyPr wrap="square"/>
                    <a:lstStyle/>
                    <a:p>
                      <a:r>
                        <a:rPr sz="1150">
                          <a:solidFill>
                            <a:srgbClr val="1A1A1A"/>
                          </a:solidFill>
                        </a:rPr>
                        <a:t>A rumour shared to a 50k-follower page</a:t>
                      </a:r>
                    </a:p>
                  </a:txBody>
                  <a:tcPr anchor="ctr" marL="73152" marR="54864" marT="27432" marB="27432">
                    <a:solidFill>
                      <a:srgbClr val="FFFFFF"/>
                    </a:solidFill>
                  </a:tcPr>
                </a:tc>
              </a:tr>
              <a:tr h="736092">
                <a:tc>
                  <a:txBody>
                    <a:bodyPr wrap="square"/>
                    <a:lstStyle/>
                    <a:p>
                      <a:r>
                        <a:rPr sz="1150" b="1">
                          <a:solidFill>
                            <a:srgbClr val="0C2B4A"/>
                          </a:solidFill>
                        </a:rPr>
                        <a:t>Speed</a:t>
                      </a:r>
                    </a:p>
                  </a:txBody>
                  <a:tcPr anchor="ctr" marL="73152" marR="54864" marT="27432" marB="27432">
                    <a:solidFill>
                      <a:srgbClr val="EEF3F8"/>
                    </a:solidFill>
                  </a:tcPr>
                </a:tc>
                <a:tc>
                  <a:txBody>
                    <a:bodyPr wrap="square"/>
                    <a:lstStyle/>
                    <a:p>
                      <a:r>
                        <a:rPr sz="1150">
                          <a:solidFill>
                            <a:srgbClr val="1A1A1A"/>
                          </a:solidFill>
                        </a:rPr>
                        <a:t>Spreads before anyone can check or correct</a:t>
                      </a:r>
                    </a:p>
                  </a:txBody>
                  <a:tcPr anchor="ctr" marL="73152" marR="54864" marT="27432" marB="27432">
                    <a:solidFill>
                      <a:srgbClr val="EEF3F8"/>
                    </a:solidFill>
                  </a:tcPr>
                </a:tc>
                <a:tc>
                  <a:txBody>
                    <a:bodyPr wrap="square"/>
                    <a:lstStyle/>
                    <a:p>
                      <a:r>
                        <a:rPr sz="1150">
                          <a:solidFill>
                            <a:srgbClr val="1A1A1A"/>
                          </a:solidFill>
                        </a:rPr>
                        <a:t>A fake 'breaking news' clip trending in minutes</a:t>
                      </a:r>
                    </a:p>
                  </a:txBody>
                  <a:tcPr anchor="ctr" marL="73152" marR="54864" marT="27432" marB="27432">
                    <a:solidFill>
                      <a:srgbClr val="EEF3F8"/>
                    </a:solidFill>
                  </a:tcPr>
                </a:tc>
              </a:tr>
              <a:tr h="736092">
                <a:tc>
                  <a:txBody>
                    <a:bodyPr wrap="square"/>
                    <a:lstStyle/>
                    <a:p>
                      <a:r>
                        <a:rPr sz="1150" b="1">
                          <a:solidFill>
                            <a:srgbClr val="0C2B4A"/>
                          </a:solidFill>
                        </a:rPr>
                        <a:t>Anonymity</a:t>
                      </a:r>
                    </a:p>
                  </a:txBody>
                  <a:tcPr anchor="ctr" marL="73152" marR="54864" marT="27432" marB="27432">
                    <a:solidFill>
                      <a:srgbClr val="FFFFFF"/>
                    </a:solidFill>
                  </a:tcPr>
                </a:tc>
                <a:tc>
                  <a:txBody>
                    <a:bodyPr wrap="square"/>
                    <a:lstStyle/>
                    <a:p>
                      <a:r>
                        <a:rPr sz="1150">
                          <a:solidFill>
                            <a:srgbClr val="1A1A1A"/>
                          </a:solidFill>
                        </a:rPr>
                        <a:t>People say what they'd never say to your face</a:t>
                      </a:r>
                    </a:p>
                  </a:txBody>
                  <a:tcPr anchor="ctr" marL="73152" marR="54864" marT="27432" marB="27432">
                    <a:solidFill>
                      <a:srgbClr val="FFFFFF"/>
                    </a:solidFill>
                  </a:tcPr>
                </a:tc>
                <a:tc>
                  <a:txBody>
                    <a:bodyPr wrap="square"/>
                    <a:lstStyle/>
                    <a:p>
                      <a:r>
                        <a:rPr sz="1150">
                          <a:solidFill>
                            <a:srgbClr val="1A1A1A"/>
                          </a:solidFill>
                        </a:rPr>
                        <a:t>Abusive comments from throwaway accounts</a:t>
                      </a:r>
                    </a:p>
                  </a:txBody>
                  <a:tcPr anchor="ctr" marL="73152" marR="54864" marT="27432" marB="27432">
                    <a:solidFill>
                      <a:srgbClr val="FFFFFF"/>
                    </a:solidFill>
                  </a:tcPr>
                </a:tc>
              </a:tr>
              <a:tr h="736092">
                <a:tc>
                  <a:txBody>
                    <a:bodyPr wrap="square"/>
                    <a:lstStyle/>
                    <a:p>
                      <a:r>
                        <a:rPr sz="1150" b="1">
                          <a:solidFill>
                            <a:srgbClr val="0C2B4A"/>
                          </a:solidFill>
                        </a:rPr>
                        <a:t>Virality</a:t>
                      </a:r>
                    </a:p>
                  </a:txBody>
                  <a:tcPr anchor="ctr" marL="73152" marR="54864" marT="27432" marB="27432">
                    <a:solidFill>
                      <a:srgbClr val="EEF3F8"/>
                    </a:solidFill>
                  </a:tcPr>
                </a:tc>
                <a:tc>
                  <a:txBody>
                    <a:bodyPr wrap="square"/>
                    <a:lstStyle/>
                    <a:p>
                      <a:r>
                        <a:rPr sz="1150">
                          <a:solidFill>
                            <a:srgbClr val="1A1A1A"/>
                          </a:solidFill>
                        </a:rPr>
                        <a:t>The algorithm boosts the most emotional content</a:t>
                      </a:r>
                    </a:p>
                  </a:txBody>
                  <a:tcPr anchor="ctr" marL="73152" marR="54864" marT="27432" marB="27432">
                    <a:solidFill>
                      <a:srgbClr val="EEF3F8"/>
                    </a:solidFill>
                  </a:tcPr>
                </a:tc>
                <a:tc>
                  <a:txBody>
                    <a:bodyPr wrap="square"/>
                    <a:lstStyle/>
                    <a:p>
                      <a:r>
                        <a:rPr sz="1150">
                          <a:solidFill>
                            <a:srgbClr val="1A1A1A"/>
                          </a:solidFill>
                        </a:rPr>
                        <a:t>An outrage post pushed to millions of feeds</a:t>
                      </a:r>
                    </a:p>
                  </a:txBody>
                  <a:tcPr anchor="ctr" marL="73152" marR="54864" marT="27432" marB="27432">
                    <a:solidFill>
                      <a:srgbClr val="EEF3F8"/>
                    </a:solidFill>
                  </a:tcPr>
                </a:tc>
              </a:tr>
              <a:tr h="736092">
                <a:tc>
                  <a:txBody>
                    <a:bodyPr wrap="square"/>
                    <a:lstStyle/>
                    <a:p>
                      <a:r>
                        <a:rPr sz="1150" b="1">
                          <a:solidFill>
                            <a:srgbClr val="0C2B4A"/>
                          </a:solidFill>
                        </a:rPr>
                        <a:t>Bystander effect</a:t>
                      </a:r>
                    </a:p>
                  </a:txBody>
                  <a:tcPr anchor="ctr" marL="73152" marR="54864" marT="27432" marB="27432">
                    <a:solidFill>
                      <a:srgbClr val="FFFFFF"/>
                    </a:solidFill>
                  </a:tcPr>
                </a:tc>
                <a:tc>
                  <a:txBody>
                    <a:bodyPr wrap="square"/>
                    <a:lstStyle/>
                    <a:p>
                      <a:r>
                        <a:rPr sz="1150">
                          <a:solidFill>
                            <a:srgbClr val="1A1A1A"/>
                          </a:solidFill>
                        </a:rPr>
                        <a:t>In a huge crowd, everyone assumes someone else will act</a:t>
                      </a:r>
                    </a:p>
                  </a:txBody>
                  <a:tcPr anchor="ctr" marL="73152" marR="54864" marT="27432" marB="27432">
                    <a:solidFill>
                      <a:srgbClr val="FFFFFF"/>
                    </a:solidFill>
                  </a:tcPr>
                </a:tc>
                <a:tc>
                  <a:txBody>
                    <a:bodyPr wrap="square"/>
                    <a:lstStyle/>
                    <a:p>
                      <a:r>
                        <a:rPr sz="1150">
                          <a:solidFill>
                            <a:srgbClr val="1A1A1A"/>
                          </a:solidFill>
                        </a:rPr>
                        <a:t>Thousands watch a pile-on; no one intervenes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are Unit 1's scale/speed/permanence factors, now personal. The harm grows in the silence — passive bystanders are part of the mechanism.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104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Social Networking Is an Ethics Hotspot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very high Facebook / TikTok usage, where viral content shapes public opinion and even elections — a scale of influence that ordinary individuals now hold in their thumbs. One share button connects a careless act to thousands of strangers in minutes.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"It's just online — it isn't real / it doesn't count." Online harm has real legal, social, and psychological consequences — lost jobs, depression, arrests under the ETA. The screen is not a shield between the act and the harm; the amplifiers make the harm bigger, not less real.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Social networking is an ethics hotspot because four amplifiers — scale, speed, anonymity, and virality — turn ordinary behaviour into outsized harm, compounded by the online bystander effect where everyone assumes someone else will intervene. These are Unit 1's IT factors made personal; online harm carries real legal, social, and psychological consequences.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social networking · scale · speed · anonymity · virality · bystander effect · online harm is real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104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1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Amplifiers in action — small act, mass harm (Nepal)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156363"/>
                <a:gridCol w="3265714"/>
                <a:gridCol w="4007922"/>
              </a:tblGrid>
              <a:tr h="630936">
                <a:tc>
                  <a:txBody>
                    <a:bodyPr wrap="square"/>
                    <a:lstStyle/>
                    <a:p>
                      <a:r>
                        <a:rPr sz="1150" b="1">
                          <a:solidFill>
                            <a:srgbClr val="FFFFFF"/>
                          </a:solidFill>
                        </a:rPr>
                        <a:t>Ordinary act</a:t>
                      </a:r>
                    </a:p>
                  </a:txBody>
                  <a:tcPr anchor="ctr" marL="73152" marR="54864" marT="27432" marB="27432">
                    <a:solidFill>
                      <a:srgbClr val="0C2B4A"/>
                    </a:solidFill>
                  </a:tcPr>
                </a:tc>
                <a:tc>
                  <a:txBody>
                    <a:bodyPr wrap="square"/>
                    <a:lstStyle/>
                    <a:p>
                      <a:r>
                        <a:rPr sz="1150" b="1">
                          <a:solidFill>
                            <a:srgbClr val="FFFFFF"/>
                          </a:solidFill>
                        </a:rPr>
                        <a:t>Amplifier at work</a:t>
                      </a:r>
                    </a:p>
                  </a:txBody>
                  <a:tcPr anchor="ctr" marL="73152" marR="54864" marT="27432" marB="27432">
                    <a:solidFill>
                      <a:srgbClr val="0C2B4A"/>
                    </a:solidFill>
                  </a:tcPr>
                </a:tc>
                <a:tc>
                  <a:txBody>
                    <a:bodyPr wrap="square"/>
                    <a:lstStyle/>
                    <a:p>
                      <a:r>
                        <a:rPr sz="1150" b="1">
                          <a:solidFill>
                            <a:srgbClr val="FFFFFF"/>
                          </a:solidFill>
                        </a:rPr>
                        <a:t>The outsized harm</a:t>
                      </a:r>
                    </a:p>
                  </a:txBody>
                  <a:tcPr anchor="ctr" marL="73152" marR="54864" marT="27432" marB="27432">
                    <a:solidFill>
                      <a:srgbClr val="0C2B4A"/>
                    </a:solidFill>
                  </a:tcPr>
                </a:tc>
              </a:tr>
              <a:tr h="630936">
                <a:tc>
                  <a:txBody>
                    <a:bodyPr wrap="square"/>
                    <a:lstStyle/>
                    <a:p>
                      <a:r>
                        <a:rPr sz="1100" b="1">
                          <a:solidFill>
                            <a:srgbClr val="0C2B4A"/>
                          </a:solidFill>
                        </a:rPr>
                        <a:t>A doctored celebrity screenshot posted once</a:t>
                      </a:r>
                    </a:p>
                  </a:txBody>
                  <a:tcPr anchor="ctr" marL="73152" marR="54864" marT="27432" marB="27432">
                    <a:solidFill>
                      <a:srgbClr val="FFFFFF"/>
                    </a:solidFill>
                  </a:tcPr>
                </a:tc>
                <a:tc>
                  <a:txBody>
                    <a:bodyPr wrap="square"/>
                    <a:lstStyle/>
                    <a:p>
                      <a:r>
                        <a:rPr sz="1100">
                          <a:solidFill>
                            <a:srgbClr val="1A1A1A"/>
                          </a:solidFill>
                        </a:rPr>
                        <a:t>Scale + virality</a:t>
                      </a:r>
                    </a:p>
                  </a:txBody>
                  <a:tcPr anchor="ctr" marL="73152" marR="54864" marT="27432" marB="27432">
                    <a:solidFill>
                      <a:srgbClr val="FFFFFF"/>
                    </a:solidFill>
                  </a:tcPr>
                </a:tc>
                <a:tc>
                  <a:txBody>
                    <a:bodyPr wrap="square"/>
                    <a:lstStyle/>
                    <a:p>
                      <a:r>
                        <a:rPr sz="1100">
                          <a:solidFill>
                            <a:srgbClr val="1A1A1A"/>
                          </a:solidFill>
                        </a:rPr>
                        <a:t>Seen by thousands before lunch</a:t>
                      </a:r>
                    </a:p>
                  </a:txBody>
                  <a:tcPr anchor="ctr" marL="73152" marR="54864" marT="27432" marB="27432">
                    <a:solidFill>
                      <a:srgbClr val="FFFFFF"/>
                    </a:solidFill>
                  </a:tcPr>
                </a:tc>
              </a:tr>
              <a:tr h="630936">
                <a:tc>
                  <a:txBody>
                    <a:bodyPr wrap="square"/>
                    <a:lstStyle/>
                    <a:p>
                      <a:r>
                        <a:rPr sz="1100" b="1">
                          <a:solidFill>
                            <a:srgbClr val="0C2B4A"/>
                          </a:solidFill>
                        </a:rPr>
                        <a:t>A fake 'bank X is collapsing' clip</a:t>
                      </a:r>
                    </a:p>
                  </a:txBody>
                  <a:tcPr anchor="ctr" marL="73152" marR="54864" marT="27432" marB="27432">
                    <a:solidFill>
                      <a:srgbClr val="EEF3F8"/>
                    </a:solidFill>
                  </a:tcPr>
                </a:tc>
                <a:tc>
                  <a:txBody>
                    <a:bodyPr wrap="square"/>
                    <a:lstStyle/>
                    <a:p>
                      <a:r>
                        <a:rPr sz="1100">
                          <a:solidFill>
                            <a:srgbClr val="1A1A1A"/>
                          </a:solidFill>
                        </a:rPr>
                        <a:t>Speed</a:t>
                      </a:r>
                    </a:p>
                  </a:txBody>
                  <a:tcPr anchor="ctr" marL="73152" marR="54864" marT="27432" marB="27432">
                    <a:solidFill>
                      <a:srgbClr val="EEF3F8"/>
                    </a:solidFill>
                  </a:tcPr>
                </a:tc>
                <a:tc>
                  <a:txBody>
                    <a:bodyPr wrap="square"/>
                    <a:lstStyle/>
                    <a:p>
                      <a:r>
                        <a:rPr sz="1100">
                          <a:solidFill>
                            <a:srgbClr val="1A1A1A"/>
                          </a:solidFill>
                        </a:rPr>
                        <a:t>Panic withdrawals before it's corrected</a:t>
                      </a:r>
                    </a:p>
                  </a:txBody>
                  <a:tcPr anchor="ctr" marL="73152" marR="54864" marT="27432" marB="27432">
                    <a:solidFill>
                      <a:srgbClr val="EEF3F8"/>
                    </a:solidFill>
                  </a:tcPr>
                </a:tc>
              </a:tr>
              <a:tr h="630936">
                <a:tc>
                  <a:txBody>
                    <a:bodyPr wrap="square"/>
                    <a:lstStyle/>
                    <a:p>
                      <a:r>
                        <a:rPr sz="1100" b="1">
                          <a:solidFill>
                            <a:srgbClr val="0C2B4A"/>
                          </a:solidFill>
                        </a:rPr>
                        <a:t>Abusive comments from throwaway accounts</a:t>
                      </a:r>
                    </a:p>
                  </a:txBody>
                  <a:tcPr anchor="ctr" marL="73152" marR="54864" marT="27432" marB="27432">
                    <a:solidFill>
                      <a:srgbClr val="FFFFFF"/>
                    </a:solidFill>
                  </a:tcPr>
                </a:tc>
                <a:tc>
                  <a:txBody>
                    <a:bodyPr wrap="square"/>
                    <a:lstStyle/>
                    <a:p>
                      <a:r>
                        <a:rPr sz="1100">
                          <a:solidFill>
                            <a:srgbClr val="1A1A1A"/>
                          </a:solidFill>
                        </a:rPr>
                        <a:t>Anonymity</a:t>
                      </a:r>
                    </a:p>
                  </a:txBody>
                  <a:tcPr anchor="ctr" marL="73152" marR="54864" marT="27432" marB="27432">
                    <a:solidFill>
                      <a:srgbClr val="FFFFFF"/>
                    </a:solidFill>
                  </a:tcPr>
                </a:tc>
                <a:tc>
                  <a:txBody>
                    <a:bodyPr wrap="square"/>
                    <a:lstStyle/>
                    <a:p>
                      <a:r>
                        <a:rPr sz="1100">
                          <a:solidFill>
                            <a:srgbClr val="1A1A1A"/>
                          </a:solidFill>
                        </a:rPr>
                        <a:t>Said what they'd never say face-to-face</a:t>
                      </a:r>
                    </a:p>
                  </a:txBody>
                  <a:tcPr anchor="ctr" marL="73152" marR="54864" marT="27432" marB="27432">
                    <a:solidFill>
                      <a:srgbClr val="FFFFFF"/>
                    </a:solidFill>
                  </a:tcPr>
                </a:tc>
              </a:tr>
              <a:tr h="630936">
                <a:tc>
                  <a:txBody>
                    <a:bodyPr wrap="square"/>
                    <a:lstStyle/>
                    <a:p>
                      <a:r>
                        <a:rPr sz="1100" b="1">
                          <a:solidFill>
                            <a:srgbClr val="0C2B4A"/>
                          </a:solidFill>
                        </a:rPr>
                        <a:t>An outrage post the algorithm boosts</a:t>
                      </a:r>
                    </a:p>
                  </a:txBody>
                  <a:tcPr anchor="ctr" marL="73152" marR="54864" marT="27432" marB="27432">
                    <a:solidFill>
                      <a:srgbClr val="EEF3F8"/>
                    </a:solidFill>
                  </a:tcPr>
                </a:tc>
                <a:tc>
                  <a:txBody>
                    <a:bodyPr wrap="square"/>
                    <a:lstStyle/>
                    <a:p>
                      <a:r>
                        <a:rPr sz="1100">
                          <a:solidFill>
                            <a:srgbClr val="1A1A1A"/>
                          </a:solidFill>
                        </a:rPr>
                        <a:t>Virality</a:t>
                      </a:r>
                    </a:p>
                  </a:txBody>
                  <a:tcPr anchor="ctr" marL="73152" marR="54864" marT="27432" marB="27432">
                    <a:solidFill>
                      <a:srgbClr val="EEF3F8"/>
                    </a:solidFill>
                  </a:tcPr>
                </a:tc>
                <a:tc>
                  <a:txBody>
                    <a:bodyPr wrap="square"/>
                    <a:lstStyle/>
                    <a:p>
                      <a:r>
                        <a:rPr sz="1100">
                          <a:solidFill>
                            <a:srgbClr val="1A1A1A"/>
                          </a:solidFill>
                        </a:rPr>
                        <a:t>Pushed into millions of feeds</a:t>
                      </a:r>
                    </a:p>
                  </a:txBody>
                  <a:tcPr anchor="ctr" marL="73152" marR="54864" marT="27432" marB="27432">
                    <a:solidFill>
                      <a:srgbClr val="EEF3F8"/>
                    </a:solidFill>
                  </a:tcPr>
                </a:tc>
              </a:tr>
              <a:tr h="630936">
                <a:tc>
                  <a:txBody>
                    <a:bodyPr wrap="square"/>
                    <a:lstStyle/>
                    <a:p>
                      <a:r>
                        <a:rPr sz="1100" b="1">
                          <a:solidFill>
                            <a:srgbClr val="0C2B4A"/>
                          </a:solidFill>
                        </a:rPr>
                        <a:t>Thousands watch a pile-on, no one steps in</a:t>
                      </a:r>
                    </a:p>
                  </a:txBody>
                  <a:tcPr anchor="ctr" marL="73152" marR="54864" marT="27432" marB="27432">
                    <a:solidFill>
                      <a:srgbClr val="FFFFFF"/>
                    </a:solidFill>
                  </a:tcPr>
                </a:tc>
                <a:tc>
                  <a:txBody>
                    <a:bodyPr wrap="square"/>
                    <a:lstStyle/>
                    <a:p>
                      <a:r>
                        <a:rPr sz="1100">
                          <a:solidFill>
                            <a:srgbClr val="1A1A1A"/>
                          </a:solidFill>
                        </a:rPr>
                        <a:t>Bystander effect</a:t>
                      </a:r>
                    </a:p>
                  </a:txBody>
                  <a:tcPr anchor="ctr" marL="73152" marR="54864" marT="27432" marB="27432">
                    <a:solidFill>
                      <a:srgbClr val="FFFFFF"/>
                    </a:solidFill>
                  </a:tcPr>
                </a:tc>
                <a:tc>
                  <a:txBody>
                    <a:bodyPr wrap="square"/>
                    <a:lstStyle/>
                    <a:p>
                      <a:r>
                        <a:rPr sz="1100">
                          <a:solidFill>
                            <a:srgbClr val="1A1A1A"/>
                          </a:solidFill>
                        </a:rPr>
                        <a:t>Silence reads as approval; harm grows</a:t>
                      </a:r>
                    </a:p>
                  </a:txBody>
                  <a:tcPr anchor="ctr" marL="73152" marR="54864" marT="27432" marB="27432">
                    <a:solidFill>
                      <a:srgbClr val="FFFFFF"/>
                    </a:solidFill>
                  </a:tcPr>
                </a:tc>
              </a:tr>
              <a:tr h="630936">
                <a:tc>
                  <a:txBody>
                    <a:bodyPr wrap="square"/>
                    <a:lstStyle/>
                    <a:p>
                      <a:r>
                        <a:rPr sz="1100" b="1">
                          <a:solidFill>
                            <a:srgbClr val="0C2B4A"/>
                          </a:solidFill>
                        </a:rPr>
                        <a:t>A false earthquake rumour forwarded 'to warn'</a:t>
                      </a:r>
                    </a:p>
                  </a:txBody>
                  <a:tcPr anchor="ctr" marL="73152" marR="54864" marT="27432" marB="27432">
                    <a:solidFill>
                      <a:srgbClr val="EEF3F8"/>
                    </a:solidFill>
                  </a:tcPr>
                </a:tc>
                <a:tc>
                  <a:txBody>
                    <a:bodyPr wrap="square"/>
                    <a:lstStyle/>
                    <a:p>
                      <a:r>
                        <a:rPr sz="1100">
                          <a:solidFill>
                            <a:srgbClr val="1A1A1A"/>
                          </a:solidFill>
                        </a:rPr>
                        <a:t>Speed + scale</a:t>
                      </a:r>
                    </a:p>
                  </a:txBody>
                  <a:tcPr anchor="ctr" marL="73152" marR="54864" marT="27432" marB="27432">
                    <a:solidFill>
                      <a:srgbClr val="EEF3F8"/>
                    </a:solidFill>
                  </a:tcPr>
                </a:tc>
                <a:tc>
                  <a:txBody>
                    <a:bodyPr wrap="square"/>
                    <a:lstStyle/>
                    <a:p>
                      <a:r>
                        <a:rPr sz="1100">
                          <a:solidFill>
                            <a:srgbClr val="1A1A1A"/>
                          </a:solidFill>
                        </a:rPr>
                        <a:t>Public panic in minutes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are Unit 1's scale/speed/permanence factors made personal — and online harm carries real legal, social and psychological consequences.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104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2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Cyberbullying &amp; Online Harassment</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Cyberbullying/harassment is using digital tools to REPEATEDLY threaten, humiliate, or target a person. The word 'repeatedly' matters — a single rude comment is unkind; a pattern aimed at someone is harassment. Its forms: trolling, doxxing, group pile-ons, and gendered harassment.</a:t>
            </a:r>
          </a:p>
          <a:p>
            <a:pPr>
              <a:spcAft>
                <a:spcPts val="500"/>
              </a:spcAft>
            </a:pPr>
            <a:r>
              <a:rPr sz="1200" b="1">
                <a:solidFill>
                  <a:srgbClr val="185FA5"/>
                </a:solidFill>
              </a:rPr>
              <a:t>HOW IT WORKS</a:t>
            </a:r>
          </a:p>
          <a:p>
            <a:pPr>
              <a:spcAft>
                <a:spcPts val="600"/>
              </a:spcAft>
            </a:pPr>
            <a:r>
              <a:rPr sz="1400">
                <a:solidFill>
                  <a:srgbClr val="1A1A1A"/>
                </a:solidFill>
              </a:rPr>
              <a:t>•  Trolling — deliberately provoking to upset.</a:t>
            </a:r>
          </a:p>
          <a:p>
            <a:pPr>
              <a:spcAft>
                <a:spcPts val="600"/>
              </a:spcAft>
            </a:pPr>
            <a:r>
              <a:rPr sz="1400">
                <a:solidFill>
                  <a:srgbClr val="1A1A1A"/>
                </a:solidFill>
              </a:rPr>
              <a:t>•  Doxxing — publishing someone's private details to expose them to harm.</a:t>
            </a:r>
          </a:p>
          <a:p>
            <a:pPr>
              <a:spcAft>
                <a:spcPts val="600"/>
              </a:spcAft>
            </a:pPr>
            <a:r>
              <a:rPr sz="1400">
                <a:solidFill>
                  <a:srgbClr val="1A1A1A"/>
                </a:solidFill>
              </a:rPr>
              <a:t>•  Group pile-ons — many people targeting one, amplified by scale.</a:t>
            </a:r>
          </a:p>
          <a:p>
            <a:pPr>
              <a:spcAft>
                <a:spcPts val="600"/>
              </a:spcAft>
            </a:pPr>
            <a:r>
              <a:rPr sz="1400">
                <a:solidFill>
                  <a:srgbClr val="1A1A1A"/>
                </a:solidFill>
              </a:rPr>
              <a:t>•  Gendered harassment — aimed especially at women. The mental-health impact is severe: anxiety, withdrawal, in extreme cases self-harm.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One rude comment is unkind; a repeated pattern aimed at a person is harassment.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2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Forms of cyberbullying &amp; harassment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5857"/>
                <a:gridCol w="4572000"/>
                <a:gridCol w="4082142"/>
              </a:tblGrid>
              <a:tr h="630936">
                <a:tc>
                  <a:txBody>
                    <a:bodyPr wrap="square"/>
                    <a:lstStyle/>
                    <a:p>
                      <a:r>
                        <a:rPr sz="1150" b="1">
                          <a:solidFill>
                            <a:srgbClr val="FFFFFF"/>
                          </a:solidFill>
                        </a:rPr>
                        <a:t>Form</a:t>
                      </a:r>
                    </a:p>
                  </a:txBody>
                  <a:tcPr anchor="ctr" marL="73152" marR="54864" marT="27432" marB="27432">
                    <a:solidFill>
                      <a:srgbClr val="0C2B4A"/>
                    </a:solidFill>
                  </a:tcPr>
                </a:tc>
                <a:tc>
                  <a:txBody>
                    <a:bodyPr wrap="square"/>
                    <a:lstStyle/>
                    <a:p>
                      <a:r>
                        <a:rPr sz="1150" b="1">
                          <a:solidFill>
                            <a:srgbClr val="FFFFFF"/>
                          </a:solidFill>
                        </a:rPr>
                        <a:t>What it is</a:t>
                      </a:r>
                    </a:p>
                  </a:txBody>
                  <a:tcPr anchor="ctr" marL="73152" marR="54864" marT="27432" marB="27432">
                    <a:solidFill>
                      <a:srgbClr val="0C2B4A"/>
                    </a:solidFill>
                  </a:tcPr>
                </a:tc>
                <a:tc>
                  <a:txBody>
                    <a:bodyPr wrap="square"/>
                    <a:lstStyle/>
                    <a:p>
                      <a:r>
                        <a:rPr sz="1150" b="1">
                          <a:solidFill>
                            <a:srgbClr val="FFFFFF"/>
                          </a:solidFill>
                        </a:rPr>
                        <a:t>Example</a:t>
                      </a:r>
                    </a:p>
                  </a:txBody>
                  <a:tcPr anchor="ctr" marL="73152" marR="54864" marT="27432" marB="27432">
                    <a:solidFill>
                      <a:srgbClr val="0C2B4A"/>
                    </a:solidFill>
                  </a:tcPr>
                </a:tc>
              </a:tr>
              <a:tr h="630936">
                <a:tc>
                  <a:txBody>
                    <a:bodyPr wrap="square"/>
                    <a:lstStyle/>
                    <a:p>
                      <a:r>
                        <a:rPr sz="1100" b="1">
                          <a:solidFill>
                            <a:srgbClr val="0C2B4A"/>
                          </a:solidFill>
                        </a:rPr>
                        <a:t>Trolling</a:t>
                      </a:r>
                    </a:p>
                  </a:txBody>
                  <a:tcPr anchor="ctr" marL="73152" marR="54864" marT="27432" marB="27432">
                    <a:solidFill>
                      <a:srgbClr val="FFFFFF"/>
                    </a:solidFill>
                  </a:tcPr>
                </a:tc>
                <a:tc>
                  <a:txBody>
                    <a:bodyPr wrap="square"/>
                    <a:lstStyle/>
                    <a:p>
                      <a:r>
                        <a:rPr sz="1100">
                          <a:solidFill>
                            <a:srgbClr val="1A1A1A"/>
                          </a:solidFill>
                        </a:rPr>
                        <a:t>Deliberately provoking to upset or derail</a:t>
                      </a:r>
                    </a:p>
                  </a:txBody>
                  <a:tcPr anchor="ctr" marL="73152" marR="54864" marT="27432" marB="27432">
                    <a:solidFill>
                      <a:srgbClr val="FFFFFF"/>
                    </a:solidFill>
                  </a:tcPr>
                </a:tc>
                <a:tc>
                  <a:txBody>
                    <a:bodyPr wrap="square"/>
                    <a:lstStyle/>
                    <a:p>
                      <a:r>
                        <a:rPr sz="1100">
                          <a:solidFill>
                            <a:srgbClr val="1A1A1A"/>
                          </a:solidFill>
                        </a:rPr>
                        <a:t>Posting inflammatory replies to bait a reaction</a:t>
                      </a:r>
                    </a:p>
                  </a:txBody>
                  <a:tcPr anchor="ctr" marL="73152" marR="54864" marT="27432" marB="27432">
                    <a:solidFill>
                      <a:srgbClr val="FFFFFF"/>
                    </a:solidFill>
                  </a:tcPr>
                </a:tc>
              </a:tr>
              <a:tr h="630936">
                <a:tc>
                  <a:txBody>
                    <a:bodyPr wrap="square"/>
                    <a:lstStyle/>
                    <a:p>
                      <a:r>
                        <a:rPr sz="1100" b="1">
                          <a:solidFill>
                            <a:srgbClr val="0C2B4A"/>
                          </a:solidFill>
                        </a:rPr>
                        <a:t>Doxxing</a:t>
                      </a:r>
                    </a:p>
                  </a:txBody>
                  <a:tcPr anchor="ctr" marL="73152" marR="54864" marT="27432" marB="27432">
                    <a:solidFill>
                      <a:srgbClr val="EEF3F8"/>
                    </a:solidFill>
                  </a:tcPr>
                </a:tc>
                <a:tc>
                  <a:txBody>
                    <a:bodyPr wrap="square"/>
                    <a:lstStyle/>
                    <a:p>
                      <a:r>
                        <a:rPr sz="1100">
                          <a:solidFill>
                            <a:srgbClr val="1A1A1A"/>
                          </a:solidFill>
                        </a:rPr>
                        <a:t>Publishing private details to expose someone to harm</a:t>
                      </a:r>
                    </a:p>
                  </a:txBody>
                  <a:tcPr anchor="ctr" marL="73152" marR="54864" marT="27432" marB="27432">
                    <a:solidFill>
                      <a:srgbClr val="EEF3F8"/>
                    </a:solidFill>
                  </a:tcPr>
                </a:tc>
                <a:tc>
                  <a:txBody>
                    <a:bodyPr wrap="square"/>
                    <a:lstStyle/>
                    <a:p>
                      <a:r>
                        <a:rPr sz="1100">
                          <a:solidFill>
                            <a:srgbClr val="1A1A1A"/>
                          </a:solidFill>
                        </a:rPr>
                        <a:t>Leaking a person's home address and phone number</a:t>
                      </a:r>
                    </a:p>
                  </a:txBody>
                  <a:tcPr anchor="ctr" marL="73152" marR="54864" marT="27432" marB="27432">
                    <a:solidFill>
                      <a:srgbClr val="EEF3F8"/>
                    </a:solidFill>
                  </a:tcPr>
                </a:tc>
              </a:tr>
              <a:tr h="630936">
                <a:tc>
                  <a:txBody>
                    <a:bodyPr wrap="square"/>
                    <a:lstStyle/>
                    <a:p>
                      <a:r>
                        <a:rPr sz="1100" b="1">
                          <a:solidFill>
                            <a:srgbClr val="0C2B4A"/>
                          </a:solidFill>
                        </a:rPr>
                        <a:t>Group pile-on</a:t>
                      </a:r>
                    </a:p>
                  </a:txBody>
                  <a:tcPr anchor="ctr" marL="73152" marR="54864" marT="27432" marB="27432">
                    <a:solidFill>
                      <a:srgbClr val="FFFFFF"/>
                    </a:solidFill>
                  </a:tcPr>
                </a:tc>
                <a:tc>
                  <a:txBody>
                    <a:bodyPr wrap="square"/>
                    <a:lstStyle/>
                    <a:p>
                      <a:r>
                        <a:rPr sz="1100">
                          <a:solidFill>
                            <a:srgbClr val="1A1A1A"/>
                          </a:solidFill>
                        </a:rPr>
                        <a:t>Many people targeting one, amplified by scale</a:t>
                      </a:r>
                    </a:p>
                  </a:txBody>
                  <a:tcPr anchor="ctr" marL="73152" marR="54864" marT="27432" marB="27432">
                    <a:solidFill>
                      <a:srgbClr val="FFFFFF"/>
                    </a:solidFill>
                  </a:tcPr>
                </a:tc>
                <a:tc>
                  <a:txBody>
                    <a:bodyPr wrap="square"/>
                    <a:lstStyle/>
                    <a:p>
                      <a:r>
                        <a:rPr sz="1100">
                          <a:solidFill>
                            <a:srgbClr val="1A1A1A"/>
                          </a:solidFill>
                        </a:rPr>
                        <a:t>A comment section swarming one individual</a:t>
                      </a:r>
                    </a:p>
                  </a:txBody>
                  <a:tcPr anchor="ctr" marL="73152" marR="54864" marT="27432" marB="27432">
                    <a:solidFill>
                      <a:srgbClr val="FFFFFF"/>
                    </a:solidFill>
                  </a:tcPr>
                </a:tc>
              </a:tr>
              <a:tr h="630936">
                <a:tc>
                  <a:txBody>
                    <a:bodyPr wrap="square"/>
                    <a:lstStyle/>
                    <a:p>
                      <a:r>
                        <a:rPr sz="1100" b="1">
                          <a:solidFill>
                            <a:srgbClr val="0C2B4A"/>
                          </a:solidFill>
                        </a:rPr>
                        <a:t>Gendered harassment</a:t>
                      </a:r>
                    </a:p>
                  </a:txBody>
                  <a:tcPr anchor="ctr" marL="73152" marR="54864" marT="27432" marB="27432">
                    <a:solidFill>
                      <a:srgbClr val="EEF3F8"/>
                    </a:solidFill>
                  </a:tcPr>
                </a:tc>
                <a:tc>
                  <a:txBody>
                    <a:bodyPr wrap="square"/>
                    <a:lstStyle/>
                    <a:p>
                      <a:r>
                        <a:rPr sz="1100">
                          <a:solidFill>
                            <a:srgbClr val="1A1A1A"/>
                          </a:solidFill>
                        </a:rPr>
                        <a:t>Targeting aimed especially at women</a:t>
                      </a:r>
                    </a:p>
                  </a:txBody>
                  <a:tcPr anchor="ctr" marL="73152" marR="54864" marT="27432" marB="27432">
                    <a:solidFill>
                      <a:srgbClr val="EEF3F8"/>
                    </a:solidFill>
                  </a:tcPr>
                </a:tc>
                <a:tc>
                  <a:txBody>
                    <a:bodyPr wrap="square"/>
                    <a:lstStyle/>
                    <a:p>
                      <a:r>
                        <a:rPr sz="1100">
                          <a:solidFill>
                            <a:srgbClr val="1A1A1A"/>
                          </a:solidFill>
                        </a:rPr>
                        <a:t>Sexualised abuse of women public figures online</a:t>
                      </a:r>
                    </a:p>
                  </a:txBody>
                  <a:tcPr anchor="ctr" marL="73152" marR="54864" marT="27432" marB="27432">
                    <a:solidFill>
                      <a:srgbClr val="EEF3F8"/>
                    </a:solidFill>
                  </a:tcPr>
                </a:tc>
              </a:tr>
              <a:tr h="630936">
                <a:tc>
                  <a:txBody>
                    <a:bodyPr wrap="square"/>
                    <a:lstStyle/>
                    <a:p>
                      <a:r>
                        <a:rPr sz="1100" b="1">
                          <a:solidFill>
                            <a:srgbClr val="0C2B4A"/>
                          </a:solidFill>
                        </a:rPr>
                        <a:t>Group-chat bullying</a:t>
                      </a:r>
                    </a:p>
                  </a:txBody>
                  <a:tcPr anchor="ctr" marL="73152" marR="54864" marT="27432" marB="27432">
                    <a:solidFill>
                      <a:srgbClr val="FFFFFF"/>
                    </a:solidFill>
                  </a:tcPr>
                </a:tc>
                <a:tc>
                  <a:txBody>
                    <a:bodyPr wrap="square"/>
                    <a:lstStyle/>
                    <a:p>
                      <a:r>
                        <a:rPr sz="1100">
                          <a:solidFill>
                            <a:srgbClr val="1A1A1A"/>
                          </a:solidFill>
                        </a:rPr>
                        <a:t>Repeated mocking in a shared chat</a:t>
                      </a:r>
                    </a:p>
                  </a:txBody>
                  <a:tcPr anchor="ctr" marL="73152" marR="54864" marT="27432" marB="27432">
                    <a:solidFill>
                      <a:srgbClr val="FFFFFF"/>
                    </a:solidFill>
                  </a:tcPr>
                </a:tc>
                <a:tc>
                  <a:txBody>
                    <a:bodyPr wrap="square"/>
                    <a:lstStyle/>
                    <a:p>
                      <a:r>
                        <a:rPr sz="1100">
                          <a:solidFill>
                            <a:srgbClr val="1A1A1A"/>
                          </a:solidFill>
                        </a:rPr>
                        <a:t>A class group chat mocking one classmate</a:t>
                      </a:r>
                    </a:p>
                  </a:txBody>
                  <a:tcPr anchor="ctr" marL="73152" marR="54864" marT="27432" marB="27432">
                    <a:solidFill>
                      <a:srgbClr val="FFFFFF"/>
                    </a:solidFill>
                  </a:tcPr>
                </a:tc>
              </a:tr>
              <a:tr h="630936">
                <a:tc>
                  <a:txBody>
                    <a:bodyPr wrap="square"/>
                    <a:lstStyle/>
                    <a:p>
                      <a:r>
                        <a:rPr sz="1100" b="1">
                          <a:solidFill>
                            <a:srgbClr val="0C2B4A"/>
                          </a:solidFill>
                        </a:rPr>
                        <a:t>Threats / intimidation</a:t>
                      </a:r>
                    </a:p>
                  </a:txBody>
                  <a:tcPr anchor="ctr" marL="73152" marR="54864" marT="27432" marB="27432">
                    <a:solidFill>
                      <a:srgbClr val="EEF3F8"/>
                    </a:solidFill>
                  </a:tcPr>
                </a:tc>
                <a:tc>
                  <a:txBody>
                    <a:bodyPr wrap="square"/>
                    <a:lstStyle/>
                    <a:p>
                      <a:r>
                        <a:rPr sz="1100">
                          <a:solidFill>
                            <a:srgbClr val="1A1A1A"/>
                          </a:solidFill>
                        </a:rPr>
                        <a:t>Direct threats of harm</a:t>
                      </a:r>
                    </a:p>
                  </a:txBody>
                  <a:tcPr anchor="ctr" marL="73152" marR="54864" marT="27432" marB="27432">
                    <a:solidFill>
                      <a:srgbClr val="EEF3F8"/>
                    </a:solidFill>
                  </a:tcPr>
                </a:tc>
                <a:tc>
                  <a:txBody>
                    <a:bodyPr wrap="square"/>
                    <a:lstStyle/>
                    <a:p>
                      <a:r>
                        <a:rPr sz="1100">
                          <a:solidFill>
                            <a:srgbClr val="1A1A1A"/>
                          </a:solidFill>
                        </a:rPr>
                        <a:t>Menacing DMs meant to frighten a target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common thread is a REPEATED pattern aimed at a person — and the well-documented, severe mental-health impact (anxiety, withdrawal, self-harm).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2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Cyberbullying &amp; Online Harassment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Harassment of Nepali women and public figures in Facebook / TikTok comment sections, and ordinary school group-chat bullying — the same dynamic at national and classroom scale. Your friend group starts mocking a classmate in a shared chat and you say nothing: the online bystander effect means silence reads as agreement and fuels the pile-on.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 just didn't join in, so I'm not part of it." Passive bystanders are part of the mechanism that makes pile-ons hurt — silence in a group chat reads as agreement. There's a duty to intervene, even at low cost: DM the target, name it as too far, or leave the chat.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Cyberbullying/harassment is using digital tools to repeatedly threaten, humiliate, or target a person; the pattern (not a single comment) is what defines it. Forms include trolling, doxxing, group pile-ons, and gendered harassment, with severe mental-health impact. The online bystander effect makes silence complicit, creating a duty to intervene.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cyberbullying · repeated targeting · trolling · doxxing · pile-on · gendered harassment · bystander duty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104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Fake News &amp; Misinformation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key distinction students conflate: MISinformation is false info spread carelessly (you believed it and shared without checking — no intent to deceive). DISinformation is false info spread deliberately to mislead (intent to deceive — propaganda, scams, coordinated campaigns).</a:t>
            </a:r>
          </a:p>
          <a:p>
            <a:pPr>
              <a:spcAft>
                <a:spcPts val="500"/>
              </a:spcAft>
            </a:pPr>
            <a:r>
              <a:rPr sz="1200" b="1">
                <a:solidFill>
                  <a:srgbClr val="185FA5"/>
                </a:solidFill>
              </a:rPr>
              <a:t>HOW IT WORKS</a:t>
            </a:r>
          </a:p>
          <a:p>
            <a:pPr>
              <a:spcAft>
                <a:spcPts val="600"/>
              </a:spcAft>
            </a:pPr>
            <a:r>
              <a:rPr sz="1400">
                <a:solidFill>
                  <a:srgbClr val="1A1A1A"/>
                </a:solidFill>
              </a:rPr>
              <a:t>•  The difference is INTENT — careless sharing vs deliberate deception.</a:t>
            </a:r>
          </a:p>
          <a:p>
            <a:pPr>
              <a:spcAft>
                <a:spcPts val="600"/>
              </a:spcAft>
            </a:pPr>
            <a:r>
              <a:rPr sz="1400">
                <a:solidFill>
                  <a:srgbClr val="1A1A1A"/>
                </a:solidFill>
              </a:rPr>
              <a:t>•  Why it spreads faster than truth: it exploits emotion (fear, outrage).</a:t>
            </a:r>
          </a:p>
          <a:p>
            <a:pPr>
              <a:spcAft>
                <a:spcPts val="600"/>
              </a:spcAft>
            </a:pPr>
            <a:r>
              <a:rPr sz="1400">
                <a:solidFill>
                  <a:srgbClr val="1A1A1A"/>
                </a:solidFill>
              </a:rPr>
              <a:t>•  It rides confirmation bias — we share what fits our existing beliefs.</a:t>
            </a:r>
          </a:p>
          <a:p>
            <a:pPr>
              <a:spcAft>
                <a:spcPts val="600"/>
              </a:spcAft>
            </a:pPr>
            <a:r>
              <a:rPr sz="1400">
                <a:solidFill>
                  <a:srgbClr val="1A1A1A"/>
                </a:solidFill>
              </a:rPr>
              <a:t>•  And engagement algorithms boost outrage because it keeps people scrolling. Truth is boring; outrage is viral.</a:t>
            </a:r>
          </a:p>
        </p:txBody>
      </p:sp>
      <p:pic>
        <p:nvPicPr>
          <p:cNvPr id="6" name="Picture 5" descr="s10_verify.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Mis- = careless, no intent; Dis- = deliberate deception. The difference is intent.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104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Misinformation vs Disinformation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9142"/>
                <a:gridCol w="4245428"/>
                <a:gridCol w="4245428"/>
              </a:tblGrid>
              <a:tr h="883310">
                <a:tc>
                  <a:txBody>
                    <a:bodyPr wrap="square"/>
                    <a:lstStyle/>
                    <a:p>
                      <a:r>
                        <a:rPr sz="1200" b="1">
                          <a:solidFill>
                            <a:srgbClr val="FFFFFF"/>
                          </a:solidFill>
                        </a:rPr>
                        <a:t>Dimension</a:t>
                      </a:r>
                    </a:p>
                  </a:txBody>
                  <a:tcPr anchor="ctr" marL="73152" marR="54864" marT="27432" marB="27432">
                    <a:solidFill>
                      <a:srgbClr val="0C2B4A"/>
                    </a:solidFill>
                  </a:tcPr>
                </a:tc>
                <a:tc>
                  <a:txBody>
                    <a:bodyPr wrap="square"/>
                    <a:lstStyle/>
                    <a:p>
                      <a:r>
                        <a:rPr sz="1200" b="1">
                          <a:solidFill>
                            <a:srgbClr val="FFFFFF"/>
                          </a:solidFill>
                        </a:rPr>
                        <a:t>Misinformation</a:t>
                      </a:r>
                    </a:p>
                  </a:txBody>
                  <a:tcPr anchor="ctr" marL="73152" marR="54864" marT="27432" marB="27432">
                    <a:solidFill>
                      <a:srgbClr val="0C2B4A"/>
                    </a:solidFill>
                  </a:tcPr>
                </a:tc>
                <a:tc>
                  <a:txBody>
                    <a:bodyPr wrap="square"/>
                    <a:lstStyle/>
                    <a:p>
                      <a:r>
                        <a:rPr sz="1200" b="1">
                          <a:solidFill>
                            <a:srgbClr val="FFFFFF"/>
                          </a:solidFill>
                        </a:rPr>
                        <a:t>Disinformation</a:t>
                      </a:r>
                    </a:p>
                  </a:txBody>
                  <a:tcPr anchor="ctr" marL="73152" marR="54864" marT="27432" marB="27432">
                    <a:solidFill>
                      <a:srgbClr val="0C2B4A"/>
                    </a:solidFill>
                  </a:tcPr>
                </a:tc>
              </a:tr>
              <a:tr h="883310">
                <a:tc>
                  <a:txBody>
                    <a:bodyPr wrap="square"/>
                    <a:lstStyle/>
                    <a:p>
                      <a:r>
                        <a:rPr sz="1150" b="1">
                          <a:solidFill>
                            <a:srgbClr val="0C2B4A"/>
                          </a:solidFill>
                        </a:rPr>
                        <a:t>Intent</a:t>
                      </a:r>
                    </a:p>
                  </a:txBody>
                  <a:tcPr anchor="ctr" marL="73152" marR="54864" marT="27432" marB="27432">
                    <a:solidFill>
                      <a:srgbClr val="FFFFFF"/>
                    </a:solidFill>
                  </a:tcPr>
                </a:tc>
                <a:tc>
                  <a:txBody>
                    <a:bodyPr wrap="square"/>
                    <a:lstStyle/>
                    <a:p>
                      <a:r>
                        <a:rPr sz="1150">
                          <a:solidFill>
                            <a:srgbClr val="1A1A1A"/>
                          </a:solidFill>
                        </a:rPr>
                        <a:t>None — believed it, shared carelessly</a:t>
                      </a:r>
                    </a:p>
                  </a:txBody>
                  <a:tcPr anchor="ctr" marL="73152" marR="54864" marT="27432" marB="27432">
                    <a:solidFill>
                      <a:srgbClr val="FFFFFF"/>
                    </a:solidFill>
                  </a:tcPr>
                </a:tc>
                <a:tc>
                  <a:txBody>
                    <a:bodyPr wrap="square"/>
                    <a:lstStyle/>
                    <a:p>
                      <a:r>
                        <a:rPr sz="1150">
                          <a:solidFill>
                            <a:srgbClr val="1A1A1A"/>
                          </a:solidFill>
                        </a:rPr>
                        <a:t>Deliberate — intent to deceive</a:t>
                      </a:r>
                    </a:p>
                  </a:txBody>
                  <a:tcPr anchor="ctr" marL="73152" marR="54864" marT="27432" marB="27432">
                    <a:solidFill>
                      <a:srgbClr val="FFFFFF"/>
                    </a:solidFill>
                  </a:tcPr>
                </a:tc>
              </a:tr>
              <a:tr h="883310">
                <a:tc>
                  <a:txBody>
                    <a:bodyPr wrap="square"/>
                    <a:lstStyle/>
                    <a:p>
                      <a:r>
                        <a:rPr sz="1150" b="1">
                          <a:solidFill>
                            <a:srgbClr val="0C2B4A"/>
                          </a:solidFill>
                        </a:rPr>
                        <a:t>Typical source</a:t>
                      </a:r>
                    </a:p>
                  </a:txBody>
                  <a:tcPr anchor="ctr" marL="73152" marR="54864" marT="27432" marB="27432">
                    <a:solidFill>
                      <a:srgbClr val="EEF3F8"/>
                    </a:solidFill>
                  </a:tcPr>
                </a:tc>
                <a:tc>
                  <a:txBody>
                    <a:bodyPr wrap="square"/>
                    <a:lstStyle/>
                    <a:p>
                      <a:r>
                        <a:rPr sz="1150">
                          <a:solidFill>
                            <a:srgbClr val="1A1A1A"/>
                          </a:solidFill>
                        </a:rPr>
                        <a:t>An ordinary user who didn't check</a:t>
                      </a:r>
                    </a:p>
                  </a:txBody>
                  <a:tcPr anchor="ctr" marL="73152" marR="54864" marT="27432" marB="27432">
                    <a:solidFill>
                      <a:srgbClr val="EEF3F8"/>
                    </a:solidFill>
                  </a:tcPr>
                </a:tc>
                <a:tc>
                  <a:txBody>
                    <a:bodyPr wrap="square"/>
                    <a:lstStyle/>
                    <a:p>
                      <a:r>
                        <a:rPr sz="1150">
                          <a:solidFill>
                            <a:srgbClr val="1A1A1A"/>
                          </a:solidFill>
                        </a:rPr>
                        <a:t>Propagandists, scammers, coordinated campaigns</a:t>
                      </a:r>
                    </a:p>
                  </a:txBody>
                  <a:tcPr anchor="ctr" marL="73152" marR="54864" marT="27432" marB="27432">
                    <a:solidFill>
                      <a:srgbClr val="EEF3F8"/>
                    </a:solidFill>
                  </a:tcPr>
                </a:tc>
              </a:tr>
              <a:tr h="883310">
                <a:tc>
                  <a:txBody>
                    <a:bodyPr wrap="square"/>
                    <a:lstStyle/>
                    <a:p>
                      <a:r>
                        <a:rPr sz="1150" b="1">
                          <a:solidFill>
                            <a:srgbClr val="0C2B4A"/>
                          </a:solidFill>
                        </a:rPr>
                        <a:t>Example (Nepal)</a:t>
                      </a:r>
                    </a:p>
                  </a:txBody>
                  <a:tcPr anchor="ctr" marL="73152" marR="54864" marT="27432" marB="27432">
                    <a:solidFill>
                      <a:srgbClr val="FFFFFF"/>
                    </a:solidFill>
                  </a:tcPr>
                </a:tc>
                <a:tc>
                  <a:txBody>
                    <a:bodyPr wrap="square"/>
                    <a:lstStyle/>
                    <a:p>
                      <a:r>
                        <a:rPr sz="1150">
                          <a:solidFill>
                            <a:srgbClr val="1A1A1A"/>
                          </a:solidFill>
                        </a:rPr>
                        <a:t>Forwarding a fake 'health cure' you trusted</a:t>
                      </a:r>
                    </a:p>
                  </a:txBody>
                  <a:tcPr anchor="ctr" marL="73152" marR="54864" marT="27432" marB="27432">
                    <a:solidFill>
                      <a:srgbClr val="FFFFFF"/>
                    </a:solidFill>
                  </a:tcPr>
                </a:tc>
                <a:tc>
                  <a:txBody>
                    <a:bodyPr wrap="square"/>
                    <a:lstStyle/>
                    <a:p>
                      <a:r>
                        <a:rPr sz="1150">
                          <a:solidFill>
                            <a:srgbClr val="1A1A1A"/>
                          </a:solidFill>
                        </a:rPr>
                        <a:t>A staged rumour to sway an election or scam money</a:t>
                      </a:r>
                    </a:p>
                  </a:txBody>
                  <a:tcPr anchor="ctr" marL="73152" marR="54864" marT="27432" marB="27432">
                    <a:solidFill>
                      <a:srgbClr val="FFFFFF"/>
                    </a:solidFill>
                  </a:tcPr>
                </a:tc>
              </a:tr>
              <a:tr h="883312">
                <a:tc>
                  <a:txBody>
                    <a:bodyPr wrap="square"/>
                    <a:lstStyle/>
                    <a:p>
                      <a:r>
                        <a:rPr sz="1150" b="1">
                          <a:solidFill>
                            <a:srgbClr val="0C2B4A"/>
                          </a:solidFill>
                        </a:rPr>
                        <a:t>Are you responsible?</a:t>
                      </a:r>
                    </a:p>
                  </a:txBody>
                  <a:tcPr anchor="ctr" marL="73152" marR="54864" marT="27432" marB="27432">
                    <a:solidFill>
                      <a:srgbClr val="EEF3F8"/>
                    </a:solidFill>
                  </a:tcPr>
                </a:tc>
                <a:tc>
                  <a:txBody>
                    <a:bodyPr wrap="square"/>
                    <a:lstStyle/>
                    <a:p>
                      <a:r>
                        <a:rPr sz="1150">
                          <a:solidFill>
                            <a:srgbClr val="1A1A1A"/>
                          </a:solidFill>
                        </a:rPr>
                        <a:t>Yes — the share button is an act</a:t>
                      </a:r>
                    </a:p>
                  </a:txBody>
                  <a:tcPr anchor="ctr" marL="73152" marR="54864" marT="27432" marB="27432">
                    <a:solidFill>
                      <a:srgbClr val="EEF3F8"/>
                    </a:solidFill>
                  </a:tcPr>
                </a:tc>
                <a:tc>
                  <a:txBody>
                    <a:bodyPr wrap="square"/>
                    <a:lstStyle/>
                    <a:p>
                      <a:r>
                        <a:rPr sz="1150">
                          <a:solidFill>
                            <a:srgbClr val="1A1A1A"/>
                          </a:solidFill>
                        </a:rPr>
                        <a:t>Yes — and the intent makes it worse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Both spread because they exploit emotion, ride confirmation bias, and are boosted by engagement algorithms — truth is boring, outrage is viral.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104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Fake News &amp; Misinformation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False earthquake / disaster rumours that trigger panic, fake health cures, and election misinformation circulating on Nepali social media — each a case where a careless share did real damage to real people. The person who forwarded it 'just to warn friends' became the reason it reached thousands more.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"Sharing isn't creating it, so I'm not responsible." Forwarding unverified content spreads the harm — the share button is an act. You become a link in the chain that delivers the lie to a thousand more people. 'I only forwarded it' is not a defence; it's a description of how the harm scaled. A lie online is cheap to send, impossible to recall.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Misinformation is false information shared carelessly (no intent to deceive); disinformation is false information spread deliberately to mislead — the difference is intent. Both outrun the truth because they exploit emotion, ride confirmation bias, and are boosted by engagement algorithms. Forwarding unverified content makes you a link in the chain: the share button is an ethical act.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misinformation · disinformation · intent to deceive · confirmation bias · engagement algorithms · share button is an act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3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Mis- or dis-information? — classify the share (Nepal)</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72000"/>
                <a:gridCol w="3505199"/>
                <a:gridCol w="3352800"/>
              </a:tblGrid>
              <a:tr h="630936">
                <a:tc>
                  <a:txBody>
                    <a:bodyPr wrap="square"/>
                    <a:lstStyle/>
                    <a:p>
                      <a:r>
                        <a:rPr sz="1150" b="1">
                          <a:solidFill>
                            <a:srgbClr val="FFFFFF"/>
                          </a:solidFill>
                        </a:rPr>
                        <a:t>The content</a:t>
                      </a:r>
                    </a:p>
                  </a:txBody>
                  <a:tcPr anchor="ctr" marL="73152" marR="54864" marT="27432" marB="27432">
                    <a:solidFill>
                      <a:srgbClr val="0C2B4A"/>
                    </a:solidFill>
                  </a:tcPr>
                </a:tc>
                <a:tc>
                  <a:txBody>
                    <a:bodyPr wrap="square"/>
                    <a:lstStyle/>
                    <a:p>
                      <a:r>
                        <a:rPr sz="1150" b="1">
                          <a:solidFill>
                            <a:srgbClr val="FFFFFF"/>
                          </a:solidFill>
                        </a:rPr>
                        <a:t>Intent</a:t>
                      </a:r>
                    </a:p>
                  </a:txBody>
                  <a:tcPr anchor="ctr" marL="73152" marR="54864" marT="27432" marB="27432">
                    <a:solidFill>
                      <a:srgbClr val="0C2B4A"/>
                    </a:solidFill>
                  </a:tcPr>
                </a:tc>
                <a:tc>
                  <a:txBody>
                    <a:bodyPr wrap="square"/>
                    <a:lstStyle/>
                    <a:p>
                      <a:r>
                        <a:rPr sz="1150" b="1">
                          <a:solidFill>
                            <a:srgbClr val="FFFFFF"/>
                          </a:solidFill>
                        </a:rPr>
                        <a:t>Mis- or dis-?</a:t>
                      </a:r>
                    </a:p>
                  </a:txBody>
                  <a:tcPr anchor="ctr" marL="73152" marR="54864" marT="27432" marB="27432">
                    <a:solidFill>
                      <a:srgbClr val="0C2B4A"/>
                    </a:solidFill>
                  </a:tcPr>
                </a:tc>
              </a:tr>
              <a:tr h="630936">
                <a:tc>
                  <a:txBody>
                    <a:bodyPr wrap="square"/>
                    <a:lstStyle/>
                    <a:p>
                      <a:r>
                        <a:rPr sz="1100" b="1">
                          <a:solidFill>
                            <a:srgbClr val="0C2B4A"/>
                          </a:solidFill>
                        </a:rPr>
                        <a:t>Forwarding a fake health cure you believed</a:t>
                      </a:r>
                    </a:p>
                  </a:txBody>
                  <a:tcPr anchor="ctr" marL="73152" marR="54864" marT="27432" marB="27432">
                    <a:solidFill>
                      <a:srgbClr val="FFFFFF"/>
                    </a:solidFill>
                  </a:tcPr>
                </a:tc>
                <a:tc>
                  <a:txBody>
                    <a:bodyPr wrap="square"/>
                    <a:lstStyle/>
                    <a:p>
                      <a:r>
                        <a:rPr sz="1100">
                          <a:solidFill>
                            <a:srgbClr val="1A1A1A"/>
                          </a:solidFill>
                        </a:rPr>
                        <a:t>None — shared carelessly</a:t>
                      </a:r>
                    </a:p>
                  </a:txBody>
                  <a:tcPr anchor="ctr" marL="73152" marR="54864" marT="27432" marB="27432">
                    <a:solidFill>
                      <a:srgbClr val="FFFFFF"/>
                    </a:solidFill>
                  </a:tcPr>
                </a:tc>
                <a:tc>
                  <a:txBody>
                    <a:bodyPr wrap="square"/>
                    <a:lstStyle/>
                    <a:p>
                      <a:r>
                        <a:rPr sz="1100">
                          <a:solidFill>
                            <a:srgbClr val="1A1A1A"/>
                          </a:solidFill>
                        </a:rPr>
                        <a:t>Misinformation</a:t>
                      </a:r>
                    </a:p>
                  </a:txBody>
                  <a:tcPr anchor="ctr" marL="73152" marR="54864" marT="27432" marB="27432">
                    <a:solidFill>
                      <a:srgbClr val="FFFFFF"/>
                    </a:solidFill>
                  </a:tcPr>
                </a:tc>
              </a:tr>
              <a:tr h="630936">
                <a:tc>
                  <a:txBody>
                    <a:bodyPr wrap="square"/>
                    <a:lstStyle/>
                    <a:p>
                      <a:r>
                        <a:rPr sz="1100" b="1">
                          <a:solidFill>
                            <a:srgbClr val="0C2B4A"/>
                          </a:solidFill>
                        </a:rPr>
                        <a:t>A staged rumour planted to sway an election</a:t>
                      </a:r>
                    </a:p>
                  </a:txBody>
                  <a:tcPr anchor="ctr" marL="73152" marR="54864" marT="27432" marB="27432">
                    <a:solidFill>
                      <a:srgbClr val="EEF3F8"/>
                    </a:solidFill>
                  </a:tcPr>
                </a:tc>
                <a:tc>
                  <a:txBody>
                    <a:bodyPr wrap="square"/>
                    <a:lstStyle/>
                    <a:p>
                      <a:r>
                        <a:rPr sz="1100">
                          <a:solidFill>
                            <a:srgbClr val="1A1A1A"/>
                          </a:solidFill>
                        </a:rPr>
                        <a:t>Deliberate deception</a:t>
                      </a:r>
                    </a:p>
                  </a:txBody>
                  <a:tcPr anchor="ctr" marL="73152" marR="54864" marT="27432" marB="27432">
                    <a:solidFill>
                      <a:srgbClr val="EEF3F8"/>
                    </a:solidFill>
                  </a:tcPr>
                </a:tc>
                <a:tc>
                  <a:txBody>
                    <a:bodyPr wrap="square"/>
                    <a:lstStyle/>
                    <a:p>
                      <a:r>
                        <a:rPr sz="1100">
                          <a:solidFill>
                            <a:srgbClr val="1A1A1A"/>
                          </a:solidFill>
                        </a:rPr>
                        <a:t>Disinformation</a:t>
                      </a:r>
                    </a:p>
                  </a:txBody>
                  <a:tcPr anchor="ctr" marL="73152" marR="54864" marT="27432" marB="27432">
                    <a:solidFill>
                      <a:srgbClr val="EEF3F8"/>
                    </a:solidFill>
                  </a:tcPr>
                </a:tc>
              </a:tr>
              <a:tr h="630936">
                <a:tc>
                  <a:txBody>
                    <a:bodyPr wrap="square"/>
                    <a:lstStyle/>
                    <a:p>
                      <a:r>
                        <a:rPr sz="1100" b="1">
                          <a:solidFill>
                            <a:srgbClr val="0C2B4A"/>
                          </a:solidFill>
                        </a:rPr>
                        <a:t>Sharing an old photo as 'today's flood'</a:t>
                      </a:r>
                    </a:p>
                  </a:txBody>
                  <a:tcPr anchor="ctr" marL="73152" marR="54864" marT="27432" marB="27432">
                    <a:solidFill>
                      <a:srgbClr val="FFFFFF"/>
                    </a:solidFill>
                  </a:tcPr>
                </a:tc>
                <a:tc>
                  <a:txBody>
                    <a:bodyPr wrap="square"/>
                    <a:lstStyle/>
                    <a:p>
                      <a:r>
                        <a:rPr sz="1100">
                          <a:solidFill>
                            <a:srgbClr val="1A1A1A"/>
                          </a:solidFill>
                        </a:rPr>
                        <a:t>None — didn't check the date</a:t>
                      </a:r>
                    </a:p>
                  </a:txBody>
                  <a:tcPr anchor="ctr" marL="73152" marR="54864" marT="27432" marB="27432">
                    <a:solidFill>
                      <a:srgbClr val="FFFFFF"/>
                    </a:solidFill>
                  </a:tcPr>
                </a:tc>
                <a:tc>
                  <a:txBody>
                    <a:bodyPr wrap="square"/>
                    <a:lstStyle/>
                    <a:p>
                      <a:r>
                        <a:rPr sz="1100">
                          <a:solidFill>
                            <a:srgbClr val="1A1A1A"/>
                          </a:solidFill>
                        </a:rPr>
                        <a:t>Misinformation</a:t>
                      </a:r>
                    </a:p>
                  </a:txBody>
                  <a:tcPr anchor="ctr" marL="73152" marR="54864" marT="27432" marB="27432">
                    <a:solidFill>
                      <a:srgbClr val="FFFFFF"/>
                    </a:solidFill>
                  </a:tcPr>
                </a:tc>
              </a:tr>
              <a:tr h="630936">
                <a:tc>
                  <a:txBody>
                    <a:bodyPr wrap="square"/>
                    <a:lstStyle/>
                    <a:p>
                      <a:r>
                        <a:rPr sz="1100" b="1">
                          <a:solidFill>
                            <a:srgbClr val="0C2B4A"/>
                          </a:solidFill>
                        </a:rPr>
                        <a:t>A scam page inventing a fake lottery win</a:t>
                      </a:r>
                    </a:p>
                  </a:txBody>
                  <a:tcPr anchor="ctr" marL="73152" marR="54864" marT="27432" marB="27432">
                    <a:solidFill>
                      <a:srgbClr val="EEF3F8"/>
                    </a:solidFill>
                  </a:tcPr>
                </a:tc>
                <a:tc>
                  <a:txBody>
                    <a:bodyPr wrap="square"/>
                    <a:lstStyle/>
                    <a:p>
                      <a:r>
                        <a:rPr sz="1100">
                          <a:solidFill>
                            <a:srgbClr val="1A1A1A"/>
                          </a:solidFill>
                        </a:rPr>
                        <a:t>Deliberate — to defraud</a:t>
                      </a:r>
                    </a:p>
                  </a:txBody>
                  <a:tcPr anchor="ctr" marL="73152" marR="54864" marT="27432" marB="27432">
                    <a:solidFill>
                      <a:srgbClr val="EEF3F8"/>
                    </a:solidFill>
                  </a:tcPr>
                </a:tc>
                <a:tc>
                  <a:txBody>
                    <a:bodyPr wrap="square"/>
                    <a:lstStyle/>
                    <a:p>
                      <a:r>
                        <a:rPr sz="1100">
                          <a:solidFill>
                            <a:srgbClr val="1A1A1A"/>
                          </a:solidFill>
                        </a:rPr>
                        <a:t>Disinformation</a:t>
                      </a:r>
                    </a:p>
                  </a:txBody>
                  <a:tcPr anchor="ctr" marL="73152" marR="54864" marT="27432" marB="27432">
                    <a:solidFill>
                      <a:srgbClr val="EEF3F8"/>
                    </a:solidFill>
                  </a:tcPr>
                </a:tc>
              </a:tr>
              <a:tr h="630936">
                <a:tc>
                  <a:txBody>
                    <a:bodyPr wrap="square"/>
                    <a:lstStyle/>
                    <a:p>
                      <a:r>
                        <a:rPr sz="1100" b="1">
                          <a:solidFill>
                            <a:srgbClr val="0C2B4A"/>
                          </a:solidFill>
                        </a:rPr>
                        <a:t>Resharing a 'breaking news' clip unverified</a:t>
                      </a:r>
                    </a:p>
                  </a:txBody>
                  <a:tcPr anchor="ctr" marL="73152" marR="54864" marT="27432" marB="27432">
                    <a:solidFill>
                      <a:srgbClr val="FFFFFF"/>
                    </a:solidFill>
                  </a:tcPr>
                </a:tc>
                <a:tc>
                  <a:txBody>
                    <a:bodyPr wrap="square"/>
                    <a:lstStyle/>
                    <a:p>
                      <a:r>
                        <a:rPr sz="1100">
                          <a:solidFill>
                            <a:srgbClr val="1A1A1A"/>
                          </a:solidFill>
                        </a:rPr>
                        <a:t>None — but still harmful</a:t>
                      </a:r>
                    </a:p>
                  </a:txBody>
                  <a:tcPr anchor="ctr" marL="73152" marR="54864" marT="27432" marB="27432">
                    <a:solidFill>
                      <a:srgbClr val="FFFFFF"/>
                    </a:solidFill>
                  </a:tcPr>
                </a:tc>
                <a:tc>
                  <a:txBody>
                    <a:bodyPr wrap="square"/>
                    <a:lstStyle/>
                    <a:p>
                      <a:r>
                        <a:rPr sz="1100">
                          <a:solidFill>
                            <a:srgbClr val="1A1A1A"/>
                          </a:solidFill>
                        </a:rPr>
                        <a:t>Misinformation</a:t>
                      </a:r>
                    </a:p>
                  </a:txBody>
                  <a:tcPr anchor="ctr" marL="73152" marR="54864" marT="27432" marB="27432">
                    <a:solidFill>
                      <a:srgbClr val="FFFFFF"/>
                    </a:solidFill>
                  </a:tcPr>
                </a:tc>
              </a:tr>
              <a:tr h="630936">
                <a:tc>
                  <a:txBody>
                    <a:bodyPr wrap="square"/>
                    <a:lstStyle/>
                    <a:p>
                      <a:r>
                        <a:rPr sz="1100" b="1">
                          <a:solidFill>
                            <a:srgbClr val="0C2B4A"/>
                          </a:solidFill>
                        </a:rPr>
                        <a:t>Coordinated fake reviews to destroy a rival</a:t>
                      </a:r>
                    </a:p>
                  </a:txBody>
                  <a:tcPr anchor="ctr" marL="73152" marR="54864" marT="27432" marB="27432">
                    <a:solidFill>
                      <a:srgbClr val="EEF3F8"/>
                    </a:solidFill>
                  </a:tcPr>
                </a:tc>
                <a:tc>
                  <a:txBody>
                    <a:bodyPr wrap="square"/>
                    <a:lstStyle/>
                    <a:p>
                      <a:r>
                        <a:rPr sz="1100">
                          <a:solidFill>
                            <a:srgbClr val="1A1A1A"/>
                          </a:solidFill>
                        </a:rPr>
                        <a:t>Deliberate — to mislead</a:t>
                      </a:r>
                    </a:p>
                  </a:txBody>
                  <a:tcPr anchor="ctr" marL="73152" marR="54864" marT="27432" marB="27432">
                    <a:solidFill>
                      <a:srgbClr val="EEF3F8"/>
                    </a:solidFill>
                  </a:tcPr>
                </a:tc>
                <a:tc>
                  <a:txBody>
                    <a:bodyPr wrap="square"/>
                    <a:lstStyle/>
                    <a:p>
                      <a:r>
                        <a:rPr sz="1100">
                          <a:solidFill>
                            <a:srgbClr val="1A1A1A"/>
                          </a:solidFill>
                        </a:rPr>
                        <a:t>Disinformation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only difference is intent — but you are responsible either way, because the share button is an act that scales the lie.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4 · [THEORY] [EXAMPLE]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Defamation &amp; Reputation Harm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Defamation is a false statement, presented as fact, that damages someone's reputation. The dividing line: opinion/criticism is NOT defamation. 'I didn't like this café' is opinion; 'this café's owner is a thief' is a false statement of fact — that's what crosses into defamation. The test: fact vs opinion, and true vs false.</a:t>
            </a:r>
          </a:p>
          <a:p>
            <a:pPr>
              <a:spcAft>
                <a:spcPts val="500"/>
              </a:spcAft>
            </a:pPr>
            <a:r>
              <a:rPr sz="1200" b="1">
                <a:solidFill>
                  <a:srgbClr val="185FA5"/>
                </a:solidFill>
              </a:rPr>
              <a:t>HOW IT WORKS</a:t>
            </a:r>
          </a:p>
          <a:p>
            <a:pPr>
              <a:spcAft>
                <a:spcPts val="600"/>
              </a:spcAft>
            </a:pPr>
            <a:r>
              <a:rPr sz="1400">
                <a:solidFill>
                  <a:srgbClr val="1A1A1A"/>
                </a:solidFill>
              </a:rPr>
              <a:t>•  Opinion and honest criticism are protected — they aren't statements of fact that can be 'false'.</a:t>
            </a:r>
          </a:p>
          <a:p>
            <a:pPr>
              <a:spcAft>
                <a:spcPts val="600"/>
              </a:spcAft>
            </a:pPr>
            <a:r>
              <a:rPr sz="1400">
                <a:solidFill>
                  <a:srgbClr val="1A1A1A"/>
                </a:solidFill>
              </a:rPr>
              <a:t>•  Defamation requires a false statement OF FACT that harms reputation.</a:t>
            </a:r>
          </a:p>
          <a:p>
            <a:pPr>
              <a:spcAft>
                <a:spcPts val="600"/>
              </a:spcAft>
            </a:pPr>
            <a:r>
              <a:rPr sz="1400">
                <a:solidFill>
                  <a:srgbClr val="1A1A1A"/>
                </a:solidFill>
              </a:rPr>
              <a:t>•  In Nepal, online defamation can be treated as a cybercrime under the Electronic Transactions Act, 2063 (full law in Unit 9).</a:t>
            </a:r>
          </a:p>
          <a:p>
            <a:pPr>
              <a:spcAft>
                <a:spcPts val="600"/>
              </a:spcAft>
            </a:pPr>
            <a:r>
              <a:rPr sz="1400">
                <a:solidFill>
                  <a:srgbClr val="1A1A1A"/>
                </a:solidFill>
              </a:rPr>
              <a:t>•  Live tension: the same law has been criticised for chilling free speech.</a:t>
            </a:r>
          </a:p>
        </p:txBody>
      </p:sp>
      <p:pic>
        <p:nvPicPr>
          <p:cNvPr id="6" name="Picture 5" descr="s10_spectrum.png"/>
          <p:cNvPicPr>
            <a:picLocks noChangeAspect="1"/>
          </p:cNvPicPr>
          <p:nvPr/>
        </p:nvPicPr>
        <p:blipFill>
          <a:blip r:embed="rId2"/>
          <a:stretch>
            <a:fillRect/>
          </a:stretch>
        </p:blipFill>
        <p:spPr>
          <a:xfrm>
            <a:off x="6355080" y="2701084"/>
            <a:ext cx="5532120" cy="223307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Opinion &amp; criticism are protected; a false statement of fact is defamation.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4 ·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Opinion vs Criticism vs Defamation — classify the statement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898571"/>
                <a:gridCol w="2449285"/>
                <a:gridCol w="4082142"/>
              </a:tblGrid>
              <a:tr h="630936">
                <a:tc>
                  <a:txBody>
                    <a:bodyPr wrap="square"/>
                    <a:lstStyle/>
                    <a:p>
                      <a:r>
                        <a:rPr sz="1150" b="1">
                          <a:solidFill>
                            <a:srgbClr val="FFFFFF"/>
                          </a:solidFill>
                        </a:rPr>
                        <a:t>Statement</a:t>
                      </a:r>
                    </a:p>
                  </a:txBody>
                  <a:tcPr anchor="ctr" marL="73152" marR="54864" marT="27432" marB="27432">
                    <a:solidFill>
                      <a:srgbClr val="0C2B4A"/>
                    </a:solidFill>
                  </a:tcPr>
                </a:tc>
                <a:tc>
                  <a:txBody>
                    <a:bodyPr wrap="square"/>
                    <a:lstStyle/>
                    <a:p>
                      <a:r>
                        <a:rPr sz="1150" b="1">
                          <a:solidFill>
                            <a:srgbClr val="FFFFFF"/>
                          </a:solidFill>
                        </a:rPr>
                        <a:t>Classification</a:t>
                      </a:r>
                    </a:p>
                  </a:txBody>
                  <a:tcPr anchor="ctr" marL="73152" marR="54864" marT="27432" marB="27432">
                    <a:solidFill>
                      <a:srgbClr val="0C2B4A"/>
                    </a:solidFill>
                  </a:tcPr>
                </a:tc>
                <a:tc>
                  <a:txBody>
                    <a:bodyPr wrap="square"/>
                    <a:lstStyle/>
                    <a:p>
                      <a:r>
                        <a:rPr sz="1150" b="1">
                          <a:solidFill>
                            <a:srgbClr val="FFFFFF"/>
                          </a:solidFill>
                        </a:rPr>
                        <a:t>Why / legal risk</a:t>
                      </a:r>
                    </a:p>
                  </a:txBody>
                  <a:tcPr anchor="ctr" marL="73152" marR="54864" marT="27432" marB="27432">
                    <a:solidFill>
                      <a:srgbClr val="0C2B4A"/>
                    </a:solidFill>
                  </a:tcPr>
                </a:tc>
              </a:tr>
              <a:tr h="630936">
                <a:tc>
                  <a:txBody>
                    <a:bodyPr wrap="square"/>
                    <a:lstStyle/>
                    <a:p>
                      <a:r>
                        <a:rPr sz="1100" b="1">
                          <a:solidFill>
                            <a:srgbClr val="0C2B4A"/>
                          </a:solidFill>
                        </a:rPr>
                        <a:t>'I didn't enjoy this café's coffee.'</a:t>
                      </a:r>
                    </a:p>
                  </a:txBody>
                  <a:tcPr anchor="ctr" marL="73152" marR="54864" marT="27432" marB="27432">
                    <a:solidFill>
                      <a:srgbClr val="FFFFFF"/>
                    </a:solidFill>
                  </a:tcPr>
                </a:tc>
                <a:tc>
                  <a:txBody>
                    <a:bodyPr wrap="square"/>
                    <a:lstStyle/>
                    <a:p>
                      <a:r>
                        <a:rPr sz="1100">
                          <a:solidFill>
                            <a:srgbClr val="1A1A1A"/>
                          </a:solidFill>
                        </a:rPr>
                        <a:t>Opinion</a:t>
                      </a:r>
                    </a:p>
                  </a:txBody>
                  <a:tcPr anchor="ctr" marL="73152" marR="54864" marT="27432" marB="27432">
                    <a:solidFill>
                      <a:srgbClr val="FFFFFF"/>
                    </a:solidFill>
                  </a:tcPr>
                </a:tc>
                <a:tc>
                  <a:txBody>
                    <a:bodyPr wrap="square"/>
                    <a:lstStyle/>
                    <a:p>
                      <a:r>
                        <a:rPr sz="1100">
                          <a:solidFill>
                            <a:srgbClr val="1A1A1A"/>
                          </a:solidFill>
                        </a:rPr>
                        <a:t>Personal taste — not a factual claim; protected</a:t>
                      </a:r>
                    </a:p>
                  </a:txBody>
                  <a:tcPr anchor="ctr" marL="73152" marR="54864" marT="27432" marB="27432">
                    <a:solidFill>
                      <a:srgbClr val="FFFFFF"/>
                    </a:solidFill>
                  </a:tcPr>
                </a:tc>
              </a:tr>
              <a:tr h="630936">
                <a:tc>
                  <a:txBody>
                    <a:bodyPr wrap="square"/>
                    <a:lstStyle/>
                    <a:p>
                      <a:r>
                        <a:rPr sz="1100" b="1">
                          <a:solidFill>
                            <a:srgbClr val="0C2B4A"/>
                          </a:solidFill>
                        </a:rPr>
                        <a:t>'This café's service is slow and overpriced.'</a:t>
                      </a:r>
                    </a:p>
                  </a:txBody>
                  <a:tcPr anchor="ctr" marL="73152" marR="54864" marT="27432" marB="27432">
                    <a:solidFill>
                      <a:srgbClr val="EEF3F8"/>
                    </a:solidFill>
                  </a:tcPr>
                </a:tc>
                <a:tc>
                  <a:txBody>
                    <a:bodyPr wrap="square"/>
                    <a:lstStyle/>
                    <a:p>
                      <a:r>
                        <a:rPr sz="1100">
                          <a:solidFill>
                            <a:srgbClr val="1A1A1A"/>
                          </a:solidFill>
                        </a:rPr>
                        <a:t>Criticism</a:t>
                      </a:r>
                    </a:p>
                  </a:txBody>
                  <a:tcPr anchor="ctr" marL="73152" marR="54864" marT="27432" marB="27432">
                    <a:solidFill>
                      <a:srgbClr val="EEF3F8"/>
                    </a:solidFill>
                  </a:tcPr>
                </a:tc>
                <a:tc>
                  <a:txBody>
                    <a:bodyPr wrap="square"/>
                    <a:lstStyle/>
                    <a:p>
                      <a:r>
                        <a:rPr sz="1100">
                          <a:solidFill>
                            <a:srgbClr val="1A1A1A"/>
                          </a:solidFill>
                        </a:rPr>
                        <a:t>Honest evaluation of experience; low risk</a:t>
                      </a:r>
                    </a:p>
                  </a:txBody>
                  <a:tcPr anchor="ctr" marL="73152" marR="54864" marT="27432" marB="27432">
                    <a:solidFill>
                      <a:srgbClr val="EEF3F8"/>
                    </a:solidFill>
                  </a:tcPr>
                </a:tc>
              </a:tr>
              <a:tr h="630936">
                <a:tc>
                  <a:txBody>
                    <a:bodyPr wrap="square"/>
                    <a:lstStyle/>
                    <a:p>
                      <a:r>
                        <a:rPr sz="1100" b="1">
                          <a:solidFill>
                            <a:srgbClr val="0C2B4A"/>
                          </a:solidFill>
                        </a:rPr>
                        <a:t>'The owner of this café is a thief.'</a:t>
                      </a:r>
                    </a:p>
                  </a:txBody>
                  <a:tcPr anchor="ctr" marL="73152" marR="54864" marT="27432" marB="27432">
                    <a:solidFill>
                      <a:srgbClr val="FFFFFF"/>
                    </a:solidFill>
                  </a:tcPr>
                </a:tc>
                <a:tc>
                  <a:txBody>
                    <a:bodyPr wrap="square"/>
                    <a:lstStyle/>
                    <a:p>
                      <a:r>
                        <a:rPr sz="1100">
                          <a:solidFill>
                            <a:srgbClr val="1A1A1A"/>
                          </a:solidFill>
                        </a:rPr>
                        <a:t>Defamation</a:t>
                      </a:r>
                    </a:p>
                  </a:txBody>
                  <a:tcPr anchor="ctr" marL="73152" marR="54864" marT="27432" marB="27432">
                    <a:solidFill>
                      <a:srgbClr val="FFFFFF"/>
                    </a:solidFill>
                  </a:tcPr>
                </a:tc>
                <a:tc>
                  <a:txBody>
                    <a:bodyPr wrap="square"/>
                    <a:lstStyle/>
                    <a:p>
                      <a:r>
                        <a:rPr sz="1100">
                          <a:solidFill>
                            <a:srgbClr val="1A1A1A"/>
                          </a:solidFill>
                        </a:rPr>
                        <a:t>False statement of fact alleging a crime; high risk</a:t>
                      </a:r>
                    </a:p>
                  </a:txBody>
                  <a:tcPr anchor="ctr" marL="73152" marR="54864" marT="27432" marB="27432">
                    <a:solidFill>
                      <a:srgbClr val="FFFFFF"/>
                    </a:solidFill>
                  </a:tcPr>
                </a:tc>
              </a:tr>
              <a:tr h="630936">
                <a:tc>
                  <a:txBody>
                    <a:bodyPr wrap="square"/>
                    <a:lstStyle/>
                    <a:p>
                      <a:r>
                        <a:rPr sz="1100" b="1">
                          <a:solidFill>
                            <a:srgbClr val="0C2B4A"/>
                          </a:solidFill>
                        </a:rPr>
                        <a:t>'I think shop X overcharges.'</a:t>
                      </a:r>
                    </a:p>
                  </a:txBody>
                  <a:tcPr anchor="ctr" marL="73152" marR="54864" marT="27432" marB="27432">
                    <a:solidFill>
                      <a:srgbClr val="EEF3F8"/>
                    </a:solidFill>
                  </a:tcPr>
                </a:tc>
                <a:tc>
                  <a:txBody>
                    <a:bodyPr wrap="square"/>
                    <a:lstStyle/>
                    <a:p>
                      <a:r>
                        <a:rPr sz="1100">
                          <a:solidFill>
                            <a:srgbClr val="1A1A1A"/>
                          </a:solidFill>
                        </a:rPr>
                        <a:t>Opinion</a:t>
                      </a:r>
                    </a:p>
                  </a:txBody>
                  <a:tcPr anchor="ctr" marL="73152" marR="54864" marT="27432" marB="27432">
                    <a:solidFill>
                      <a:srgbClr val="EEF3F8"/>
                    </a:solidFill>
                  </a:tcPr>
                </a:tc>
                <a:tc>
                  <a:txBody>
                    <a:bodyPr wrap="square"/>
                    <a:lstStyle/>
                    <a:p>
                      <a:r>
                        <a:rPr sz="1100">
                          <a:solidFill>
                            <a:srgbClr val="1A1A1A"/>
                          </a:solidFill>
                        </a:rPr>
                        <a:t>Framed as a personal view; lower risk</a:t>
                      </a:r>
                    </a:p>
                  </a:txBody>
                  <a:tcPr anchor="ctr" marL="73152" marR="54864" marT="27432" marB="27432">
                    <a:solidFill>
                      <a:srgbClr val="EEF3F8"/>
                    </a:solidFill>
                  </a:tcPr>
                </a:tc>
              </a:tr>
              <a:tr h="630936">
                <a:tc>
                  <a:txBody>
                    <a:bodyPr wrap="square"/>
                    <a:lstStyle/>
                    <a:p>
                      <a:r>
                        <a:rPr sz="1100" b="1">
                          <a:solidFill>
                            <a:srgbClr val="0C2B4A"/>
                          </a:solidFill>
                        </a:rPr>
                        <a:t>'Shop X is a fraud that steals money.'</a:t>
                      </a:r>
                    </a:p>
                  </a:txBody>
                  <a:tcPr anchor="ctr" marL="73152" marR="54864" marT="27432" marB="27432">
                    <a:solidFill>
                      <a:srgbClr val="FFFFFF"/>
                    </a:solidFill>
                  </a:tcPr>
                </a:tc>
                <a:tc>
                  <a:txBody>
                    <a:bodyPr wrap="square"/>
                    <a:lstStyle/>
                    <a:p>
                      <a:r>
                        <a:rPr sz="1100">
                          <a:solidFill>
                            <a:srgbClr val="1A1A1A"/>
                          </a:solidFill>
                        </a:rPr>
                        <a:t>Defamation</a:t>
                      </a:r>
                    </a:p>
                  </a:txBody>
                  <a:tcPr anchor="ctr" marL="73152" marR="54864" marT="27432" marB="27432">
                    <a:solidFill>
                      <a:srgbClr val="FFFFFF"/>
                    </a:solidFill>
                  </a:tcPr>
                </a:tc>
                <a:tc>
                  <a:txBody>
                    <a:bodyPr wrap="square"/>
                    <a:lstStyle/>
                    <a:p>
                      <a:r>
                        <a:rPr sz="1100">
                          <a:solidFill>
                            <a:srgbClr val="1A1A1A"/>
                          </a:solidFill>
                        </a:rPr>
                        <a:t>False factual accusation of a crime; high risk</a:t>
                      </a:r>
                    </a:p>
                  </a:txBody>
                  <a:tcPr anchor="ctr" marL="73152" marR="54864" marT="27432" marB="27432">
                    <a:solidFill>
                      <a:srgbClr val="FFFFFF"/>
                    </a:solidFill>
                  </a:tcPr>
                </a:tc>
              </a:tr>
              <a:tr h="630936">
                <a:tc>
                  <a:txBody>
                    <a:bodyPr wrap="square"/>
                    <a:lstStyle/>
                    <a:p>
                      <a:r>
                        <a:rPr sz="1100" b="1">
                          <a:solidFill>
                            <a:srgbClr val="0C2B4A"/>
                          </a:solidFill>
                        </a:rPr>
                        <a:t>Repeatedly posting a classmate's photo with insults</a:t>
                      </a:r>
                    </a:p>
                  </a:txBody>
                  <a:tcPr anchor="ctr" marL="73152" marR="54864" marT="27432" marB="27432">
                    <a:solidFill>
                      <a:srgbClr val="EEF3F8"/>
                    </a:solidFill>
                  </a:tcPr>
                </a:tc>
                <a:tc>
                  <a:txBody>
                    <a:bodyPr wrap="square"/>
                    <a:lstStyle/>
                    <a:p>
                      <a:r>
                        <a:rPr sz="1100">
                          <a:solidFill>
                            <a:srgbClr val="1A1A1A"/>
                          </a:solidFill>
                        </a:rPr>
                        <a:t>Harassment</a:t>
                      </a:r>
                    </a:p>
                  </a:txBody>
                  <a:tcPr anchor="ctr" marL="73152" marR="54864" marT="27432" marB="27432">
                    <a:solidFill>
                      <a:srgbClr val="EEF3F8"/>
                    </a:solidFill>
                  </a:tcPr>
                </a:tc>
                <a:tc>
                  <a:txBody>
                    <a:bodyPr wrap="square"/>
                    <a:lstStyle/>
                    <a:p>
                      <a:r>
                        <a:rPr sz="1100">
                          <a:solidFill>
                            <a:srgbClr val="1A1A1A"/>
                          </a:solidFill>
                        </a:rPr>
                        <a:t>Repeated targeting of a person (not defamation)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 Verify the current legal position (ETA 2063 and later amendments) before teaching specifics. Rule of thumb: state experiences and opinions, not invented facts about people.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104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S10 · CONCEPT 4 · [THEORY] [EXAMPLE]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Defamation &amp; Reputation Harm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people have been arrested under the ETA for defamatory Facebook posts — alongside an ongoing public debate over free speech vs misuse of the law (critics argue it's been used to silence criticism, not just punish genuine lies). Present both sides. Compare 'I think shop X overcharges' (opinion) with 'Shop X is a fraud that steals money' (a false statement of fact — defamation risk).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 write it as my honest view, it can't be defamation." What matters is fact vs opinion and true vs false — dressing a false factual accusation as 'my view' doesn't protect you. But the reverse trap is real too: the ETA has been criticised for chilling legitimate criticism, so genuine opinion is not defamation. Verify current law before relying on specifics.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Defamation is a false statement, presented as fact, that damages someone's reputation; opinion and honest criticism are excluded because they aren't falsifiable statements of fact. The test is fact-vs-opinion and true-vs-false. In Nepal online defamation can fall under the ETA 2063 (Unit 9), a law also criticised for chilling free speech — so verify the current position before teaching specifics.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defamation · false statement of fact · opinion ≠ defamation · fact vs opinion · ETA 2063 · free-speech tension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104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S10 — 'Verify before you share'  ·  ~6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take a plausible shocking headline (e.g. 'BREAKING: bank X collapses, withdraw your money now').</a:t>
            </a:r>
          </a:p>
          <a:p>
            <a:pPr>
              <a:spcAft>
                <a:spcPts val="700"/>
              </a:spcAft>
            </a:pPr>
            <a:r>
              <a:rPr sz="1550">
                <a:solidFill>
                  <a:srgbClr val="1A1A1A"/>
                </a:solidFill>
              </a:rPr>
              <a:t>•  Apply three pre-share checks: (1) who is the SOURCE, and is it credible? (2) is it REPORTED anywhere reputable, or only forwarded? (3) does it just TRIGGER emotion/urgency (a red flag)?</a:t>
            </a:r>
          </a:p>
          <a:p>
            <a:pPr>
              <a:spcAft>
                <a:spcPts val="700"/>
              </a:spcAft>
            </a:pPr>
            <a:r>
              <a:rPr sz="1550">
                <a:solidFill>
                  <a:srgbClr val="1A1A1A"/>
                </a:solidFill>
              </a:rPr>
              <a:t>•  Decide: share, hold, or report. Take 3 pairs aloud (4 min).</a:t>
            </a:r>
          </a:p>
          <a:p>
            <a:pPr>
              <a:spcAft>
                <a:spcPts val="700"/>
              </a:spcAft>
            </a:pPr>
            <a:r>
              <a:rPr sz="1550">
                <a:solidFill>
                  <a:srgbClr val="1A1A1A"/>
                </a:solidFill>
              </a:rPr>
              <a:t>•  Close by tying it to a real recent Nepali viral rumour — 'would these three checks have stopped it?'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The 'withdraw your money now' urgency is the tell — manufactured urgency is the single most common signature of disinformation and scams. Make students name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104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S10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Deliberately spreading false information to mislead is:</a:t>
            </a:r>
          </a:p>
          <a:p>
            <a:pPr lvl="1"/>
            <a:r>
              <a:rPr sz="1500" b="1">
                <a:solidFill>
                  <a:srgbClr val="0F6E56"/>
                </a:solidFill>
              </a:rPr>
              <a:t>a) misinformation   b) ✅ disinformation   c) satire   d) opinion</a:t>
            </a:r>
          </a:p>
          <a:p>
            <a:pPr lvl="1">
              <a:spcBef>
                <a:spcPts val="600"/>
              </a:spcBef>
            </a:pPr>
            <a:r>
              <a:rPr sz="1500" i="1">
                <a:solidFill>
                  <a:srgbClr val="1A1A1A"/>
                </a:solidFill>
              </a:rPr>
              <a:t>     Why: disinformation carries intent to deceive; misinformation is careless sharing without intent.</a:t>
            </a:r>
          </a:p>
          <a:p>
            <a:pPr>
              <a:spcBef>
                <a:spcPts val="900"/>
              </a:spcBef>
            </a:pPr>
            <a:r>
              <a:rPr sz="1700" b="1">
                <a:solidFill>
                  <a:srgbClr val="0C2B4A"/>
                </a:solidFill>
              </a:rPr>
              <a:t>Q2.  A false factual statement that damages someone's reputation is:</a:t>
            </a:r>
          </a:p>
          <a:p>
            <a:pPr lvl="1"/>
            <a:r>
              <a:rPr sz="1500" b="1">
                <a:solidFill>
                  <a:srgbClr val="0F6E56"/>
                </a:solidFill>
              </a:rPr>
              <a:t>a) criticism   b) opinion   c) ✅ defamation   d) anonymity</a:t>
            </a:r>
          </a:p>
          <a:p>
            <a:pPr lvl="1">
              <a:spcBef>
                <a:spcPts val="600"/>
              </a:spcBef>
            </a:pPr>
            <a:r>
              <a:rPr sz="1500" i="1">
                <a:solidFill>
                  <a:srgbClr val="1A1A1A"/>
                </a:solidFill>
              </a:rPr>
              <a:t>     Why: defamation is a false statement of FACT — opinion and honest criticism are excluded.</a:t>
            </a:r>
          </a:p>
          <a:p>
            <a:pPr lvl="1">
              <a:spcBef>
                <a:spcPts val="600"/>
              </a:spcBef>
            </a:pPr>
            <a:r>
              <a:rPr sz="1500" i="1">
                <a:solidFill>
                  <a:srgbClr val="1A1A1A"/>
                </a:solidFill>
              </a:rPr>
              <a:t>Discussion: before sharing a shocking post, what 2 checks should you do? Would they stop a recent rumour?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97 / 104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S10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Social media scales everyday acts into big harm (scale + speed + anonymity + virality + bystander effect).</a:t>
            </a:r>
          </a:p>
          <a:p>
            <a:pPr>
              <a:spcAft>
                <a:spcPts val="800"/>
              </a:spcAft>
            </a:pPr>
            <a:r>
              <a:rPr sz="1500">
                <a:solidFill>
                  <a:srgbClr val="1A1A1A"/>
                </a:solidFill>
              </a:rPr>
              <a:t>2.  The core issues are cyberbullying/harassment, fake news (mis- vs disinformation), and defamation (which excludes genuine opinion/criticism).</a:t>
            </a:r>
          </a:p>
          <a:p>
            <a:pPr>
              <a:spcAft>
                <a:spcPts val="800"/>
              </a:spcAft>
            </a:pPr>
            <a:r>
              <a:rPr sz="1500">
                <a:solidFill>
                  <a:srgbClr val="1A1A1A"/>
                </a:solidFill>
              </a:rPr>
              <a:t>3.  Verify before you share — the share button is an ethical act with legal consequences.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Your public posts are part of your professional reputation — recruiters check them before they interview you. And in Nepal, a careless defamatory or harassing post can lead to arrest under the ETA. A single bad share can cost you a job AND land you in a police station — which is why 'verify before you share' is a professional habit.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Unit 3 — Intellectual Property: copyright, patents, trade secrets, trademarks, and IP misuse.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104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2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IT-worker relationships (S6)</a:t>
            </a:r>
          </a:p>
          <a:p>
            <a:pPr>
              <a:spcBef>
                <a:spcPts val="300"/>
              </a:spcBef>
            </a:pPr>
            <a:r>
              <a:rPr sz="1200">
                <a:solidFill>
                  <a:srgbClr val="1A1A1A"/>
                </a:solidFill>
              </a:rPr>
              <a:t>Six arrows: employer (loyalty/honesty), client (advice/disclose), suppliers (no bribes), peers (respect), users (support), society (safe systems). Access = power = responsibility.</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Gift vs bribe test (S6)</a:t>
            </a:r>
          </a:p>
          <a:p>
            <a:pPr>
              <a:spcBef>
                <a:spcPts val="300"/>
              </a:spcBef>
            </a:pPr>
            <a:r>
              <a:rPr sz="1200">
                <a:solidFill>
                  <a:srgbClr val="1A1A1A"/>
                </a:solidFill>
              </a:rPr>
              <a:t>Public? Timed around a decision? Could it influence you? Fail any → bribe.</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Professionalism (S7)</a:t>
            </a:r>
          </a:p>
          <a:p>
            <a:pPr>
              <a:spcBef>
                <a:spcPts val="300"/>
              </a:spcBef>
            </a:pPr>
            <a:r>
              <a:rPr sz="1200">
                <a:solidFill>
                  <a:srgbClr val="1A1A1A"/>
                </a:solidFill>
              </a:rPr>
              <a:t>IT = partial profession (has knowledge+codes, no licensing). Cert = skill (voluntary); licence = legal force (government); code = commitment; bodies = ACM/IEEE-CS/ISACA/CAN.</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Ethical use (S8)</a:t>
            </a:r>
          </a:p>
          <a:p>
            <a:pPr>
              <a:spcBef>
                <a:spcPts val="300"/>
              </a:spcBef>
            </a:pPr>
            <a:r>
              <a:rPr sz="1200">
                <a:solidFill>
                  <a:srgbClr val="1A1A1A"/>
                </a:solidFill>
              </a:rPr>
              <a:t>Insider risk = most incidents. AUP defines permitted/prohibited/monitoring/consequences (signed). Piracy = using unlicensed software; inappropriate use = right tools, wrong purpose.</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Privacy &amp; anonymity (S9)</a:t>
            </a:r>
          </a:p>
          <a:p>
            <a:pPr>
              <a:spcBef>
                <a:spcPts val="300"/>
              </a:spcBef>
            </a:pPr>
            <a:r>
              <a:rPr sz="1200">
                <a:solidFill>
                  <a:srgbClr val="1A1A1A"/>
                </a:solidFill>
              </a:rPr>
              <a:t>Privacy = control (consent, purpose limitation, minimization). Surveillance = security vs privacy (needs proportionality + disclosure). Anonymity = double-edged. Identity theft via phishing.</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Social networking (S10)</a:t>
            </a:r>
          </a:p>
          <a:p>
            <a:pPr>
              <a:spcBef>
                <a:spcPts val="300"/>
              </a:spcBef>
            </a:pPr>
            <a:r>
              <a:rPr sz="1200">
                <a:solidFill>
                  <a:srgbClr val="1A1A1A"/>
                </a:solidFill>
              </a:rPr>
              <a:t>Amplifiers: scale/speed/anonymity/virality/bystander. Mis- (careless) vs dis-information (deliberate). Defamation = false statement of FACT; opinion/criticism excluded. Verify before you share.</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2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IT worker — </a:t>
            </a:r>
            <a:r>
              <a:rPr sz="1150">
                <a:solidFill>
                  <a:srgbClr val="1A1A1A"/>
                </a:solidFill>
              </a:rPr>
              <a:t>one who designs, builds, maintains, or manages IT systems and their data.</a:t>
            </a:r>
          </a:p>
          <a:p>
            <a:pPr>
              <a:spcAft>
                <a:spcPts val="600"/>
              </a:spcAft>
            </a:pPr>
            <a:r>
              <a:rPr sz="1150" b="1">
                <a:solidFill>
                  <a:srgbClr val="0C2B4A"/>
                </a:solidFill>
              </a:rPr>
              <a:t>Privileged access — </a:t>
            </a:r>
            <a:r>
              <a:rPr sz="1150">
                <a:solidFill>
                  <a:srgbClr val="1A1A1A"/>
                </a:solidFill>
              </a:rPr>
              <a:t>the technical ability to see/do far more than an ordinary user — creates a duty of care.</a:t>
            </a:r>
          </a:p>
          <a:p>
            <a:pPr>
              <a:spcAft>
                <a:spcPts val="600"/>
              </a:spcAft>
            </a:pPr>
            <a:r>
              <a:rPr sz="1150" b="1">
                <a:solidFill>
                  <a:srgbClr val="0C2B4A"/>
                </a:solidFill>
              </a:rPr>
              <a:t>Conflict of interest — </a:t>
            </a:r>
            <a:r>
              <a:rPr sz="1150">
                <a:solidFill>
                  <a:srgbClr val="1A1A1A"/>
                </a:solidFill>
              </a:rPr>
              <a:t>a competing interest that compromises loyalty to the employer.</a:t>
            </a:r>
          </a:p>
          <a:p>
            <a:pPr>
              <a:spcAft>
                <a:spcPts val="600"/>
              </a:spcAft>
            </a:pPr>
            <a:r>
              <a:rPr sz="1150" b="1">
                <a:solidFill>
                  <a:srgbClr val="0C2B4A"/>
                </a:solidFill>
              </a:rPr>
              <a:t>Information asymmetry — </a:t>
            </a:r>
            <a:r>
              <a:rPr sz="1150">
                <a:solidFill>
                  <a:srgbClr val="1A1A1A"/>
                </a:solidFill>
              </a:rPr>
              <a:t>the client can't judge technical quality, so must rely on the worker's honesty.</a:t>
            </a:r>
          </a:p>
          <a:p>
            <a:pPr>
              <a:spcAft>
                <a:spcPts val="600"/>
              </a:spcAft>
            </a:pPr>
            <a:r>
              <a:rPr sz="1150" b="1">
                <a:solidFill>
                  <a:srgbClr val="0C2B4A"/>
                </a:solidFill>
              </a:rPr>
              <a:t>Gift vs bribe — </a:t>
            </a:r>
            <a:r>
              <a:rPr sz="1150">
                <a:solidFill>
                  <a:srgbClr val="1A1A1A"/>
                </a:solidFill>
              </a:rPr>
              <a:t>a bribe fails the public / timed / influence test.</a:t>
            </a:r>
          </a:p>
          <a:p>
            <a:pPr>
              <a:spcAft>
                <a:spcPts val="600"/>
              </a:spcAft>
            </a:pPr>
            <a:r>
              <a:rPr sz="1150" b="1">
                <a:solidFill>
                  <a:srgbClr val="0C2B4A"/>
                </a:solidFill>
              </a:rPr>
              <a:t>Profession (four-part test) — </a:t>
            </a:r>
            <a:r>
              <a:rPr sz="1150">
                <a:solidFill>
                  <a:srgbClr val="1A1A1A"/>
                </a:solidFill>
              </a:rPr>
              <a:t>specialized education, body of knowledge, code of ethics, self-regulation.</a:t>
            </a:r>
          </a:p>
          <a:p>
            <a:pPr>
              <a:spcAft>
                <a:spcPts val="600"/>
              </a:spcAft>
            </a:pPr>
            <a:r>
              <a:rPr sz="1150" b="1">
                <a:solidFill>
                  <a:srgbClr val="0C2B4A"/>
                </a:solidFill>
              </a:rPr>
              <a:t>Code of ethics — </a:t>
            </a:r>
            <a:r>
              <a:rPr sz="1150">
                <a:solidFill>
                  <a:srgbClr val="1A1A1A"/>
                </a:solidFill>
              </a:rPr>
              <a:t>published principles members commit to (ACM, IEEE-CS).</a:t>
            </a:r>
          </a:p>
          <a:p>
            <a:pPr>
              <a:spcAft>
                <a:spcPts val="600"/>
              </a:spcAft>
            </a:pPr>
            <a:r>
              <a:rPr sz="1150" b="1">
                <a:solidFill>
                  <a:srgbClr val="0C2B4A"/>
                </a:solidFill>
              </a:rPr>
              <a:t>Certification — </a:t>
            </a:r>
            <a:r>
              <a:rPr sz="1150">
                <a:solidFill>
                  <a:srgbClr val="1A1A1A"/>
                </a:solidFill>
              </a:rPr>
              <a:t>a voluntary credential proving a specific skill; not a licence.</a:t>
            </a:r>
          </a:p>
          <a:p>
            <a:pPr>
              <a:spcAft>
                <a:spcPts val="600"/>
              </a:spcAft>
            </a:pPr>
            <a:r>
              <a:rPr sz="1150" b="1">
                <a:solidFill>
                  <a:srgbClr val="0C2B4A"/>
                </a:solidFill>
              </a:rPr>
              <a:t>Licence — </a:t>
            </a:r>
            <a:r>
              <a:rPr sz="1150">
                <a:solidFill>
                  <a:srgbClr val="1A1A1A"/>
                </a:solidFill>
              </a:rPr>
              <a:t>government-granted, legally enforced right to practise.</a:t>
            </a:r>
          </a:p>
          <a:p>
            <a:pPr>
              <a:spcAft>
                <a:spcPts val="600"/>
              </a:spcAft>
            </a:pPr>
            <a:r>
              <a:rPr sz="1150" b="1">
                <a:solidFill>
                  <a:srgbClr val="0C2B4A"/>
                </a:solidFill>
              </a:rPr>
              <a:t>Professional body — </a:t>
            </a:r>
            <a:r>
              <a:rPr sz="1150">
                <a:solidFill>
                  <a:srgbClr val="1A1A1A"/>
                </a:solidFill>
              </a:rPr>
              <a:t>an organization that sets standards, runs certs, publishes codes (ACM, ISACA, CAN).</a:t>
            </a:r>
          </a:p>
          <a:p>
            <a:pPr>
              <a:spcAft>
                <a:spcPts val="600"/>
              </a:spcAft>
            </a:pPr>
            <a:r>
              <a:rPr sz="1150" b="1">
                <a:solidFill>
                  <a:srgbClr val="0C2B4A"/>
                </a:solidFill>
              </a:rPr>
              <a:t>IT user — </a:t>
            </a:r>
            <a:r>
              <a:rPr sz="1150">
                <a:solidFill>
                  <a:srgbClr val="1A1A1A"/>
                </a:solidFill>
              </a:rPr>
              <a:t>anyone who uses an organization's IT resources.</a:t>
            </a:r>
          </a:p>
          <a:p>
            <a:pPr>
              <a:spcAft>
                <a:spcPts val="600"/>
              </a:spcAft>
            </a:pPr>
            <a:r>
              <a:rPr sz="1150" b="1">
                <a:solidFill>
                  <a:srgbClr val="0C2B4A"/>
                </a:solidFill>
              </a:rPr>
              <a:t>Insider risk — </a:t>
            </a:r>
            <a:r>
              <a:rPr sz="1150">
                <a:solidFill>
                  <a:srgbClr val="1A1A1A"/>
                </a:solidFill>
              </a:rPr>
              <a:t>most incidents start with ordinary users, usually careless not malicious.</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AUP — </a:t>
            </a:r>
            <a:r>
              <a:rPr sz="1150">
                <a:solidFill>
                  <a:srgbClr val="1A1A1A"/>
                </a:solidFill>
              </a:rPr>
              <a:t>Acceptable Use Policy — signed rules: permitted, prohibited, monitoring, consequences.</a:t>
            </a:r>
          </a:p>
          <a:p>
            <a:pPr>
              <a:spcAft>
                <a:spcPts val="600"/>
              </a:spcAft>
            </a:pPr>
            <a:r>
              <a:rPr sz="1150" b="1">
                <a:solidFill>
                  <a:srgbClr val="0C2B4A"/>
                </a:solidFill>
              </a:rPr>
              <a:t>Software piracy — </a:t>
            </a:r>
            <a:r>
              <a:rPr sz="1150">
                <a:solidFill>
                  <a:srgbClr val="1A1A1A"/>
                </a:solidFill>
              </a:rPr>
              <a:t>using/copying/distributing software without a valid licence.</a:t>
            </a:r>
          </a:p>
          <a:p>
            <a:pPr>
              <a:spcAft>
                <a:spcPts val="600"/>
              </a:spcAft>
            </a:pPr>
            <a:r>
              <a:rPr sz="1150" b="1">
                <a:solidFill>
                  <a:srgbClr val="0C2B4A"/>
                </a:solidFill>
              </a:rPr>
              <a:t>Inappropriate use — </a:t>
            </a:r>
            <a:r>
              <a:rPr sz="1150">
                <a:solidFill>
                  <a:srgbClr val="1A1A1A"/>
                </a:solidFill>
              </a:rPr>
              <a:t>using org resources for unauthorized, personal, or harmful purposes.</a:t>
            </a:r>
          </a:p>
          <a:p>
            <a:pPr>
              <a:spcAft>
                <a:spcPts val="600"/>
              </a:spcAft>
            </a:pPr>
            <a:r>
              <a:rPr sz="1150" b="1">
                <a:solidFill>
                  <a:srgbClr val="0C2B4A"/>
                </a:solidFill>
              </a:rPr>
              <a:t>Data privacy — </a:t>
            </a:r>
            <a:r>
              <a:rPr sz="1150">
                <a:solidFill>
                  <a:srgbClr val="1A1A1A"/>
                </a:solidFill>
              </a:rPr>
              <a:t>the right to control how your personal data is collected, used, shared.</a:t>
            </a:r>
          </a:p>
          <a:p>
            <a:pPr>
              <a:spcAft>
                <a:spcPts val="600"/>
              </a:spcAft>
            </a:pPr>
            <a:r>
              <a:rPr sz="1150" b="1">
                <a:solidFill>
                  <a:srgbClr val="0C2B4A"/>
                </a:solidFill>
              </a:rPr>
              <a:t>Data minimization — </a:t>
            </a:r>
            <a:r>
              <a:rPr sz="1150">
                <a:solidFill>
                  <a:srgbClr val="1A1A1A"/>
                </a:solidFill>
              </a:rPr>
              <a:t>collect only the data you actually need.</a:t>
            </a:r>
          </a:p>
          <a:p>
            <a:pPr>
              <a:spcAft>
                <a:spcPts val="600"/>
              </a:spcAft>
            </a:pPr>
            <a:r>
              <a:rPr sz="1150" b="1">
                <a:solidFill>
                  <a:srgbClr val="0C2B4A"/>
                </a:solidFill>
              </a:rPr>
              <a:t>Surveillance — </a:t>
            </a:r>
            <a:r>
              <a:rPr sz="1150">
                <a:solidFill>
                  <a:srgbClr val="1A1A1A"/>
                </a:solidFill>
              </a:rPr>
              <a:t>systematic monitoring of activity, communications, or location.</a:t>
            </a:r>
          </a:p>
          <a:p>
            <a:pPr>
              <a:spcAft>
                <a:spcPts val="600"/>
              </a:spcAft>
            </a:pPr>
            <a:r>
              <a:rPr sz="1150" b="1">
                <a:solidFill>
                  <a:srgbClr val="0C2B4A"/>
                </a:solidFill>
              </a:rPr>
              <a:t>Anonymity — </a:t>
            </a:r>
            <a:r>
              <a:rPr sz="1150">
                <a:solidFill>
                  <a:srgbClr val="1A1A1A"/>
                </a:solidFill>
              </a:rPr>
              <a:t>acting online without revealing your real identity — a double-edged tool.</a:t>
            </a:r>
          </a:p>
          <a:p>
            <a:pPr>
              <a:spcAft>
                <a:spcPts val="600"/>
              </a:spcAft>
            </a:pPr>
            <a:r>
              <a:rPr sz="1150" b="1">
                <a:solidFill>
                  <a:srgbClr val="0C2B4A"/>
                </a:solidFill>
              </a:rPr>
              <a:t>Identity theft — </a:t>
            </a:r>
            <a:r>
              <a:rPr sz="1150">
                <a:solidFill>
                  <a:srgbClr val="1A1A1A"/>
                </a:solidFill>
              </a:rPr>
              <a:t>impersonation via fake profiles or stolen credentials (often via phishing).</a:t>
            </a:r>
          </a:p>
          <a:p>
            <a:pPr>
              <a:spcAft>
                <a:spcPts val="600"/>
              </a:spcAft>
            </a:pPr>
            <a:r>
              <a:rPr sz="1150" b="1">
                <a:solidFill>
                  <a:srgbClr val="0C2B4A"/>
                </a:solidFill>
              </a:rPr>
              <a:t>Misinformation — </a:t>
            </a:r>
            <a:r>
              <a:rPr sz="1150">
                <a:solidFill>
                  <a:srgbClr val="1A1A1A"/>
                </a:solidFill>
              </a:rPr>
              <a:t>false info shared carelessly, without intent to deceive.</a:t>
            </a:r>
          </a:p>
          <a:p>
            <a:pPr>
              <a:spcAft>
                <a:spcPts val="600"/>
              </a:spcAft>
            </a:pPr>
            <a:r>
              <a:rPr sz="1150" b="1">
                <a:solidFill>
                  <a:srgbClr val="0C2B4A"/>
                </a:solidFill>
              </a:rPr>
              <a:t>Disinformation — </a:t>
            </a:r>
            <a:r>
              <a:rPr sz="1150">
                <a:solidFill>
                  <a:srgbClr val="1A1A1A"/>
                </a:solidFill>
              </a:rPr>
              <a:t>false info spread deliberately to mislead.</a:t>
            </a:r>
          </a:p>
          <a:p>
            <a:pPr>
              <a:spcAft>
                <a:spcPts val="600"/>
              </a:spcAft>
            </a:pPr>
            <a:r>
              <a:rPr sz="1150" b="1">
                <a:solidFill>
                  <a:srgbClr val="0C2B4A"/>
                </a:solidFill>
              </a:rPr>
              <a:t>Defamation — </a:t>
            </a:r>
            <a:r>
              <a:rPr sz="1150">
                <a:solidFill>
                  <a:srgbClr val="1A1A1A"/>
                </a:solidFill>
              </a:rPr>
              <a:t>a false statement of fact that damages someone's reputation.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100 / 104</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2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Twelve MCQs across the whole unit (answers shown), then short-answer, applied-case, and discussion questions to work from the concept slides and Unit2_material.md.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101 / 104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Privileged access (admin rights, personal data) means an IT worker has extra   →  ✅ responsibility</a:t>
            </a:r>
          </a:p>
          <a:p>
            <a:pPr lvl="1"/>
            <a:r>
              <a:rPr sz="1250" b="1">
                <a:solidFill>
                  <a:srgbClr val="0F6E56"/>
                </a:solidFill>
              </a:rPr>
              <a:t>2.  A vendor's 'free iPhone' before a tender is best described as   →  ✅ a conflict of interest / bribery</a:t>
            </a:r>
          </a:p>
          <a:p>
            <a:pPr lvl="1"/>
            <a:r>
              <a:rPr sz="1250" b="1">
                <a:solidFill>
                  <a:srgbClr val="0F6E56"/>
                </a:solidFill>
              </a:rPr>
              <a:t>3.  The duty to give honest technical advice applies most directly to the   →  ✅ client</a:t>
            </a:r>
          </a:p>
          <a:p>
            <a:pPr lvl="1"/>
            <a:r>
              <a:rPr sz="1250" b="1">
                <a:solidFill>
                  <a:srgbClr val="0F6E56"/>
                </a:solidFill>
              </a:rPr>
              <a:t>4.  A government-granted, legally enforced permission to practise is   →  ✅ a licence</a:t>
            </a:r>
          </a:p>
          <a:p>
            <a:pPr lvl="1"/>
            <a:r>
              <a:rPr sz="1250" b="1">
                <a:solidFill>
                  <a:srgbClr val="0F6E56"/>
                </a:solidFill>
              </a:rPr>
              <a:t>5.  ACM and IEEE-CS are examples of   →  ✅ professional organizations</a:t>
            </a:r>
          </a:p>
          <a:p>
            <a:pPr lvl="1"/>
            <a:r>
              <a:rPr sz="1250" b="1">
                <a:solidFill>
                  <a:srgbClr val="0F6E56"/>
                </a:solidFill>
              </a:rPr>
              <a:t>6.  Certification mainly proves   →  ✅ a specific skill</a:t>
            </a:r>
          </a:p>
          <a:p>
            <a:pPr lvl="1"/>
            <a:r>
              <a:rPr sz="1250" b="1">
                <a:solidFill>
                  <a:srgbClr val="0F6E56"/>
                </a:solidFill>
              </a:rPr>
              <a:t>7.  The document defining what users may/may not do with IT resources is the   →  ✅ AUP</a:t>
            </a:r>
          </a:p>
          <a:p>
            <a:pPr lvl="1"/>
            <a:r>
              <a:rPr sz="1250" b="1">
                <a:solidFill>
                  <a:srgbClr val="0F6E56"/>
                </a:solidFill>
              </a:rPr>
              <a:t>8.  Installing a cracked copy of Office for office use (not selling) is   →  ✅ software piracy</a:t>
            </a:r>
          </a:p>
          <a:p>
            <a:pPr lvl="1"/>
            <a:r>
              <a:rPr sz="1250" b="1">
                <a:solidFill>
                  <a:srgbClr val="0F6E56"/>
                </a:solidFill>
              </a:rPr>
              <a:t>9.  'Collect only the data you actually need' is the principle of   →  ✅ data minimization</a:t>
            </a:r>
          </a:p>
          <a:p>
            <a:pPr lvl="1"/>
            <a:r>
              <a:rPr sz="1250" b="1">
                <a:solidFill>
                  <a:srgbClr val="0F6E56"/>
                </a:solidFill>
              </a:rPr>
              <a:t>10.  Online anonymity is best described as   →  ✅ a double-edged tool</a:t>
            </a:r>
          </a:p>
          <a:p>
            <a:pPr lvl="1"/>
            <a:r>
              <a:rPr sz="1250" b="1">
                <a:solidFill>
                  <a:srgbClr val="0F6E56"/>
                </a:solidFill>
              </a:rPr>
              <a:t>11.  Deliberately spreading false information to mislead is   →  ✅ disinformation</a:t>
            </a:r>
          </a:p>
          <a:p>
            <a:pPr lvl="1"/>
            <a:r>
              <a:rPr sz="1250" b="1">
                <a:solidFill>
                  <a:srgbClr val="0F6E56"/>
                </a:solidFill>
              </a:rPr>
              <a:t>12.  A false factual statement that harms someone's reputation is   →  ✅ defamation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102 / 104</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13. List &amp; explain three of the six IT-worker relationships + one risk each.   14. Differentiate certification vs licensing (who grants, legal force, what it proves).</a:t>
            </a:r>
          </a:p>
          <a:p>
            <a:pPr lvl="1">
              <a:spcBef>
                <a:spcPts val="200"/>
              </a:spcBef>
            </a:pPr>
            <a:r>
              <a:rPr sz="1250" i="1">
                <a:solidFill>
                  <a:srgbClr val="1A1A1A"/>
                </a:solidFill>
              </a:rPr>
              <a:t>15. What four things does an AUP define?   16. Explain the 'I have nothing to hide' fallacy.   17. Distinguish misinformation, disinformation &amp; defamation with one example each.</a:t>
            </a:r>
          </a:p>
          <a:p>
            <a:pPr>
              <a:spcBef>
                <a:spcPts val="500"/>
              </a:spcBef>
            </a:pPr>
            <a:r>
              <a:rPr sz="1400" b="1">
                <a:solidFill>
                  <a:srgbClr val="0C2B4A"/>
                </a:solidFill>
              </a:rPr>
              <a:t>Section C — Applied case</a:t>
            </a:r>
          </a:p>
          <a:p>
            <a:pPr lvl="1">
              <a:spcBef>
                <a:spcPts val="200"/>
              </a:spcBef>
            </a:pPr>
            <a:r>
              <a:rPr sz="1250" i="1">
                <a:solidFill>
                  <a:srgbClr val="1A1A1A"/>
                </a:solidFill>
              </a:rPr>
              <a:t>18. Analyse the 'vendor gift before a tender' scenario with the Unit 1 5-step process: stakeholders, conflict, what the IT manager should do.</a:t>
            </a:r>
          </a:p>
          <a:p>
            <a:pPr lvl="1">
              <a:spcBef>
                <a:spcPts val="200"/>
              </a:spcBef>
            </a:pPr>
            <a:r>
              <a:rPr sz="1250" i="1">
                <a:solidFill>
                  <a:srgbClr val="1A1A1A"/>
                </a:solidFill>
              </a:rPr>
              <a:t>19. Classify with reasons: (a) 'I didn't enjoy this café's coffee' (b) 'service is slow and overpriced' (c) 'the owner is a thief who poisons customers' (d) repeatedly posting a classmate's photo with insulting captions.</a:t>
            </a:r>
          </a:p>
          <a:p>
            <a:pPr>
              <a:spcBef>
                <a:spcPts val="500"/>
              </a:spcBef>
            </a:pPr>
            <a:r>
              <a:rPr sz="1400" b="1">
                <a:solidFill>
                  <a:srgbClr val="0C2B4A"/>
                </a:solidFill>
              </a:rPr>
              <a:t>Section D — Discussion</a:t>
            </a:r>
          </a:p>
          <a:p>
            <a:pPr lvl="1">
              <a:spcBef>
                <a:spcPts val="200"/>
              </a:spcBef>
            </a:pPr>
            <a:r>
              <a:rPr sz="1250" i="1">
                <a:solidFill>
                  <a:srgbClr val="1A1A1A"/>
                </a:solidFill>
              </a:rPr>
              <a:t>20. 'IT workers in Nepal should be licensed like doctors and engineers.' Argue both sides, then state your own position.</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103 / 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2  ·  IT 246</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S6–S10 complete: the IT-worker relationship web · professionalism (codes/certs/licensing/bodies) · ethical IT use (AUP, piracy, misuse) · privacy/surveillance/anonymity/identity · social-networking harms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 Next: Unit 3 — Intellectual Property.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104 /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