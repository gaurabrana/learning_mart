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Contrast Asan Bazaar with buying on Daraz. Agenda: what a digital market is + its 4 characteristics -&gt; the 5 components it runs on -&gt; the 5 types (B2C/B2B/C2C/C2B/P2P).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diagram. Cross-ref Unit 2 for network effects &amp; low marginal cost — here they are two of four DEFINING traits of a digital market.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Stress that a missing component breaks the market — great platform but no delivery, or no trust layer, and buyers leave. Nepal's weak logistics is the usual bottleneck.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Have students place Nepali platforms into the five boxes; note many are hybrids (Daraz = B2C + marketplace).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the 4 characteristics (esp. LOW marginal cost) and classifying by type.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Contrast ten rice shops with one search engine. Agenda: traditional vs digital competition (+ a light Porter Five Forces) -&gt; winner-take-most &amp; dominance -&gt; effects on consumers &amp; startups.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Introduce Porter's Five Forces LIGHTLY as a lens; the deep point is HOW digital shifts each force. Cross-ref Unit 2 network effects.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Explicitly a callback to Unit 2 S13 tipping — reuse, don't re-derive. Contrast search (tipped) with ride-hailing (contested).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Balance the story: competition benefits consumers UNTIL dominance; startups face an easy-entry/hard-scale trap. Sets up why cooperation (S18) is often the survival move.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the basis-of-competition shift and tipped-vs-contested (callback to Unit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Point out rivals sharing ConnectIPS/QR rails. Agenda: what cooperation is + why digital encourages it -&gt; the 5 reasons ('grow the pie first') -&gt; the 3 forms of cooperation.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Contrast with zero-sum bazaar thinking. The key: online, a shared standard makes the whole market bigger — cooperation and competition coexist.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'Grow the pie first, then compete for slices' is the memory hook. In Nepal, collaboration is often survival, not luxury.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Give one Nepal case per form. Note these set up S19: cooperating on rails while competing for customers = co-opetition.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the 3 forms and the 'grow the pie' mindset — the bridge to co-opetition.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Name the eSewa+Nabil paradox. Agenda: co-opetition = cooperate upstream + compete downstream (+ the Value-Net) -&gt; why it's so common -&gt; its benefits &amp; risks.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diagram. Introduce the Value-Net LIGHTLY: the fresh framework naming complementors alongside competitors. Upstream/downstream is the exam line.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Tie to S20's layered model coming next. The point: layered products FORCE some cooperation even among rivals.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Balance: co-opetition is powerful but not free. Nepal's small wallets gain scale via shared rails yet depend on banks that could squeeze them.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Nail the upstream/compete-downstream line and one real benefit + risk.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Trace one Netflix stream down through the layers. Agenda: the 3 layers (+ user) -&gt; value flows bottom-up -&gt; power: control lower = power over higher.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stacked diagram. Flag the divergence: this is the business framing, NOT the 7-layer OSI model — students confuse them.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a worked trace (banking or Netflix). The bottom-up flow sets up why the bottom holds power (Concept 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This is the strategic punchline of the unit — links to co-opetition (S19) and control points (S25). Nepal owns apps but rents the layers beneath.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the 3 layers, bottom-up value, and top-down power — plus Nepal's dependence.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Contrast an unused lab invention with eSewa's impact. Agenda: definition + innovation != invention + sustaining vs disruptive -&gt; the 6 types -&gt; enablers, process &amp; Nepal challenges.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disruptive-innovation curve. The exam line: innovation = value from an idea; disruptive = low-end entry that rises. Add Christensen lightly.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Stress that business-model innovation (S22) is often the biggest lever — Netflix's shift beat any single product feature.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'Innovation is about context, not just technology.' Nepal fintech/agri-tech succeed by fitting local realities, not importing models wholesale.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Nail innovation != invention and sustaining vs disruptive.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List four firms' money logic. Agenda: the value triad (create/deliver/capture) -&gt; the 10 model types (part 1) -&gt; the 10 model types (part 2) + hybrids.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triad frames all 10 models: they differ mainly in the CAPTURE mechanism. Cross-ref Unit 2 two-sided pricing for capture on 'free' products.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the big table (paginated). Cross-ref Unit 2: platform &amp; marketplace are MSPs; freemium/subscription are capture choices.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Reuse the 10-model table. Stress hybrids are the norm and advertising = Unit 2's subsidy-side monetization.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the value triad, the 10 models, and that hybrids are normal.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Contrast factory, hospital, and Pathao. Agenda: value creation vs capture + chain/shop/network -&gt; the 7 digital value-creation models -&gt; orchestration + Inputs-&gt;Process-&gt;Outputs-&gt;Impact.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3-configuration diagram. This is the fresh Stabell-Fjeldstad framework. The punchline: digital platforms are value NETWORKS.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Reconcile with the classic three: these seven are digital variants of the value-NETWORK logic. Cross-ref Unit 2 flywheel for the value-loop.</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'Uber doesn't drive cars — it orchestrates value creation' is the memory line. Tie orchestration to the value-network logic and Nepal impact (jobs, inclusion).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Nail chain/shop/network and the creation-vs-capture distinction.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Snapshot vs motion picture. Agenda: business model (static) vs market model (dynamic) -&gt; pricing as a lever + dynamic/algorithmic pricing -&gt; two-sided balance &amp; tipping (cross-ref U2).</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Contrast snapshot vs motion. The four flows (acquire/convert/retain/churn) are the dynamic variables — link back to Unit 2 flywheel.</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Pathao surge is the local dynamic-pricing case. Note the fairness tension: efficient but resented. Cross-ref Unit 2 negative network effect (surge).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Explicit callback to Unit 2 S11 (two-sided pricing) &amp; S13 (tipping). Here they're VARIABLES in a dynamic market model, not new theory.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static-vs-dynamic, dynamic pricing, and two-sided balance/tipping (Unit 2 callback).</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Pose the 'who keeps the profit?' puzzle. Agenda: strategy = create+capture+DEFEND value + control points -&gt; strategy trade-offs -&gt; the integrated framework applied to Pathao + trends &amp; Nepal.</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control-points diagram. Link to S20 layer power: owning a lower layer or a control point is the moat. This is the unit's strategic climax.</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Amazon = growth/cross-subsidy for years; Daraz = scale + data. A Nepali startup often must pick focus + profit. No single right answer.</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capstone synthesis — show the four dimensions as one picture. Close with trends + Nepal's 'focus, not scale'. This closes Unit 3.</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Cement control points and 'focus, not scale' — and rehearse the integration question.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15–20 min in-class quiz or take-home review. (No genuine IT 250 past-paper exists — built from the syllabus + the concept slides. Answer key follows Section A.)</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 A. Answer key: 1-b 2-c 3-a 4-d 5-b 6-a 7-b 8-c 9-b 10-c 11-d 12-a.</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Sections B–D. Model answers on the concept slides and in Unit3_material.md.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3 — Digital Markets, Strategy &amp; Innovation</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250: Digital Economy  ·  BIM 8th Semester  ·  Sessions S16–S25 (10 lecture hours)</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Self-contained slides with depth: every concept grounded in comparison &amp; concrete-example TABLES (Nepal-localised) — no abstraction without instances. Builds on Unit 2 (platforms, network effects). Exports to PDF with no information lost.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142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DIGITAL MARKETS &amp; STRATEGY  ·  S16–S25</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3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Describe digital markets — their 4 characteristics, 5 components, and 5 types (S16)</a:t>
            </a:r>
          </a:p>
          <a:p>
            <a:pPr>
              <a:spcAft>
                <a:spcPts val="500"/>
              </a:spcAft>
            </a:pPr>
            <a:r>
              <a:rPr sz="1450">
                <a:solidFill>
                  <a:srgbClr val="1A1A1A"/>
                </a:solidFill>
              </a:rPr>
              <a:t>•  Distinguish competition, cooperation &amp; co-opetition, and explain why digital markets reward cooperation (S17–S19)</a:t>
            </a:r>
          </a:p>
          <a:p>
            <a:pPr>
              <a:spcAft>
                <a:spcPts val="500"/>
              </a:spcAft>
            </a:pPr>
            <a:r>
              <a:rPr sz="1450">
                <a:solidFill>
                  <a:srgbClr val="1A1A1A"/>
                </a:solidFill>
              </a:rPr>
              <a:t>•  Explain the layered internet model (infrastructure/platform/application) and why layer control confers power (S20)</a:t>
            </a:r>
          </a:p>
          <a:p>
            <a:pPr>
              <a:spcAft>
                <a:spcPts val="500"/>
              </a:spcAft>
            </a:pPr>
            <a:r>
              <a:rPr sz="1450">
                <a:solidFill>
                  <a:srgbClr val="1A1A1A"/>
                </a:solidFill>
              </a:rPr>
              <a:t>•  Define digital innovation, its types &amp; enablers, and distinguish innovation from invention (sustaining vs disruptive) (S21)</a:t>
            </a:r>
          </a:p>
          <a:p>
            <a:pPr>
              <a:spcAft>
                <a:spcPts val="500"/>
              </a:spcAft>
            </a:pPr>
            <a:r>
              <a:rPr sz="1450">
                <a:solidFill>
                  <a:srgbClr val="1A1A1A"/>
                </a:solidFill>
              </a:rPr>
              <a:t>•  Compare the 10 digital business models and the value-creation models (incl. value chain/shop/network) (S22–S23)</a:t>
            </a:r>
          </a:p>
          <a:p>
            <a:pPr>
              <a:spcAft>
                <a:spcPts val="500"/>
              </a:spcAft>
            </a:pPr>
            <a:r>
              <a:rPr sz="1450">
                <a:solidFill>
                  <a:srgbClr val="1A1A1A"/>
                </a:solidFill>
              </a:rPr>
              <a:t>•  Explain how digital markets are modelled — pricing, dynamic pricing, two-sided markets, tipping (S24)</a:t>
            </a:r>
          </a:p>
          <a:p>
            <a:pPr>
              <a:spcAft>
                <a:spcPts val="500"/>
              </a:spcAft>
            </a:pPr>
            <a:r>
              <a:rPr sz="1450">
                <a:solidFill>
                  <a:srgbClr val="1A1A1A"/>
                </a:solidFill>
              </a:rPr>
              <a:t>•  Explain digital strategy — value capture, ecosystem strategy, control points — and integrate all dimensions (S25)</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Unit 3 of IT 250. Unit 2 opened the 'engine room' (why platforms win). Unit 3 zooms out to the MARKET: how digital firms compete AND cooperate, how the internet is layered, how they innovate, the business &amp; value models they run on, and the STRATEGY that ties it together.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142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3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(S16–S25)</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S1–S5</a:t>
            </a:r>
          </a:p>
          <a:p>
            <a:pPr>
              <a:spcBef>
                <a:spcPts val="300"/>
              </a:spcBef>
            </a:pPr>
            <a:r>
              <a:rPr sz="1400">
                <a:solidFill>
                  <a:srgbClr val="1A1A1A"/>
                </a:solidFill>
              </a:rPr>
              <a:t>S16  Introduction to digital markets
S17  Competition in digital markets
S18  Cooperation in digital markets
S19  Co-opetition (cooperate + compete)
S20  The layered internet model
S21  Digital innovation
S22  Digital business models (the 10)
S23  Value-creation models
S24  Modelling digital markets
S25  Strategy &amp; integration (closes unit)</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LATER UNITS</a:t>
            </a:r>
          </a:p>
          <a:p>
            <a:pPr>
              <a:spcBef>
                <a:spcPts val="300"/>
              </a:spcBef>
            </a:pPr>
            <a:r>
              <a:rPr sz="1400">
                <a:solidFill>
                  <a:srgbClr val="1A1A1A"/>
                </a:solidFill>
              </a:rPr>
              <a:t>Unit 1  Introduction (digital/K-economy, 4IR) — done
Unit 2  Fundamentals (platforms, network effects) — done
Unit 4  Digital transformation &amp; currencies
Unit 5  Economics of information
Unit 6  Digitalization — the Nepalese perspective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142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16 · LECTURE HOUR 1 (OF 10)</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Introduction to Digital Markets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Fifty years ago a 'market' was a physical place — Asan Bazaar, a shop, a mandi — where you went, haggled, and carried goods home. Today you buy a phone on Daraz at midnight, pay with eSewa, and a rider brings it tomorrow. The market never closed and you never left home. What exactly IS a digital market, and how is it different from the bazaar?</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142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a Digital Market Is + 4 Characteristics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digital market is an online space where buyers and sellers discover each other, agree a price, and transact — matched, priced, and settled electronically instead of in a physical place. Four characteristics set it apart from a traditional market: SPEED (near-instant search and transactions), SCALE (reach beyond geography), NETWORK EFFECTS (more users make it more valuable — see Unit 2), and LOW MARGINAL COST (serving one more buyer costs almost nothing).</a:t>
            </a:r>
          </a:p>
          <a:p>
            <a:pPr>
              <a:spcAft>
                <a:spcPts val="500"/>
              </a:spcAft>
            </a:pPr>
            <a:r>
              <a:rPr sz="1200" b="1">
                <a:solidFill>
                  <a:srgbClr val="185FA5"/>
                </a:solidFill>
              </a:rPr>
              <a:t>HOW IT WORKS</a:t>
            </a:r>
          </a:p>
          <a:p>
            <a:pPr>
              <a:spcAft>
                <a:spcPts val="600"/>
              </a:spcAft>
            </a:pPr>
            <a:r>
              <a:rPr sz="1400">
                <a:solidFill>
                  <a:srgbClr val="1A1A1A"/>
                </a:solidFill>
              </a:rPr>
              <a:t>•  Speed: search, compare, pay and confirm in seconds, 24/7 — no travel, no opening hours.</a:t>
            </a:r>
          </a:p>
          <a:p>
            <a:pPr>
              <a:spcAft>
                <a:spcPts val="600"/>
              </a:spcAft>
            </a:pPr>
            <a:r>
              <a:rPr sz="1400">
                <a:solidFill>
                  <a:srgbClr val="1A1A1A"/>
                </a:solidFill>
              </a:rPr>
              <a:t>•  Scale: a Kathmandu seller can reach all of Nepal (and abroad) without a second shop.</a:t>
            </a:r>
          </a:p>
          <a:p>
            <a:pPr>
              <a:spcAft>
                <a:spcPts val="600"/>
              </a:spcAft>
            </a:pPr>
            <a:r>
              <a:rPr sz="1400">
                <a:solidFill>
                  <a:srgbClr val="1A1A1A"/>
                </a:solidFill>
              </a:rPr>
              <a:t>•  Network effects (from Unit 2): each extra buyer/seller makes the market more useful to the others.</a:t>
            </a:r>
          </a:p>
          <a:p>
            <a:pPr>
              <a:spcAft>
                <a:spcPts val="600"/>
              </a:spcAft>
            </a:pPr>
            <a:r>
              <a:rPr sz="1400">
                <a:solidFill>
                  <a:srgbClr val="1A1A1A"/>
                </a:solidFill>
              </a:rPr>
              <a:t>•  Low marginal cost: once the platform exists, one more listing or user is almost free to serve.</a:t>
            </a:r>
          </a:p>
        </p:txBody>
      </p:sp>
      <p:pic>
        <p:nvPicPr>
          <p:cNvPr id="6" name="Picture 5" descr="s16_digital_market.png"/>
          <p:cNvPicPr>
            <a:picLocks noChangeAspect="1"/>
          </p:cNvPicPr>
          <p:nvPr/>
        </p:nvPicPr>
        <p:blipFill>
          <a:blip r:embed="rId2"/>
          <a:stretch>
            <a:fillRect/>
          </a:stretch>
        </p:blipFill>
        <p:spPr>
          <a:xfrm>
            <a:off x="6355080" y="2435624"/>
            <a:ext cx="5532120" cy="2763991"/>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Digital market = buyers + sellers meeting online; marked by speed, scale, network effects, low marginal cost.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 / 142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Traditional market vs digital market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981739"/>
                <a:gridCol w="4141304"/>
                <a:gridCol w="4306956"/>
              </a:tblGrid>
              <a:tr h="630936">
                <a:tc>
                  <a:txBody>
                    <a:bodyPr wrap="square"/>
                    <a:lstStyle/>
                    <a:p>
                      <a:r>
                        <a:rPr sz="1150" b="1">
                          <a:solidFill>
                            <a:srgbClr val="FFFFFF"/>
                          </a:solidFill>
                        </a:rPr>
                        <a:t>Dimension</a:t>
                      </a:r>
                    </a:p>
                  </a:txBody>
                  <a:tcPr anchor="ctr" marL="73152" marR="54864" marT="27432" marB="27432">
                    <a:solidFill>
                      <a:srgbClr val="0C2B4A"/>
                    </a:solidFill>
                  </a:tcPr>
                </a:tc>
                <a:tc>
                  <a:txBody>
                    <a:bodyPr wrap="square"/>
                    <a:lstStyle/>
                    <a:p>
                      <a:r>
                        <a:rPr sz="1150" b="1">
                          <a:solidFill>
                            <a:srgbClr val="FFFFFF"/>
                          </a:solidFill>
                        </a:rPr>
                        <a:t>Traditional market</a:t>
                      </a:r>
                    </a:p>
                  </a:txBody>
                  <a:tcPr anchor="ctr" marL="73152" marR="54864" marT="27432" marB="27432">
                    <a:solidFill>
                      <a:srgbClr val="0C2B4A"/>
                    </a:solidFill>
                  </a:tcPr>
                </a:tc>
                <a:tc>
                  <a:txBody>
                    <a:bodyPr wrap="square"/>
                    <a:lstStyle/>
                    <a:p>
                      <a:r>
                        <a:rPr sz="1150" b="1">
                          <a:solidFill>
                            <a:srgbClr val="FFFFFF"/>
                          </a:solidFill>
                        </a:rPr>
                        <a:t>Digital market</a:t>
                      </a:r>
                    </a:p>
                  </a:txBody>
                  <a:tcPr anchor="ctr" marL="73152" marR="54864" marT="27432" marB="27432">
                    <a:solidFill>
                      <a:srgbClr val="0C2B4A"/>
                    </a:solidFill>
                  </a:tcPr>
                </a:tc>
              </a:tr>
              <a:tr h="630936">
                <a:tc>
                  <a:txBody>
                    <a:bodyPr wrap="square"/>
                    <a:lstStyle/>
                    <a:p>
                      <a:r>
                        <a:rPr sz="1100" b="1">
                          <a:solidFill>
                            <a:srgbClr val="0C2B4A"/>
                          </a:solidFill>
                        </a:rPr>
                        <a:t>Where it happens</a:t>
                      </a:r>
                    </a:p>
                  </a:txBody>
                  <a:tcPr anchor="ctr" marL="73152" marR="54864" marT="27432" marB="27432">
                    <a:solidFill>
                      <a:srgbClr val="FFFFFF"/>
                    </a:solidFill>
                  </a:tcPr>
                </a:tc>
                <a:tc>
                  <a:txBody>
                    <a:bodyPr wrap="square"/>
                    <a:lstStyle/>
                    <a:p>
                      <a:r>
                        <a:rPr sz="1100">
                          <a:solidFill>
                            <a:srgbClr val="1A1A1A"/>
                          </a:solidFill>
                        </a:rPr>
                        <a:t>A physical place (shop, bazaar)</a:t>
                      </a:r>
                    </a:p>
                  </a:txBody>
                  <a:tcPr anchor="ctr" marL="73152" marR="54864" marT="27432" marB="27432">
                    <a:solidFill>
                      <a:srgbClr val="FFFFFF"/>
                    </a:solidFill>
                  </a:tcPr>
                </a:tc>
                <a:tc>
                  <a:txBody>
                    <a:bodyPr wrap="square"/>
                    <a:lstStyle/>
                    <a:p>
                      <a:r>
                        <a:rPr sz="1100">
                          <a:solidFill>
                            <a:srgbClr val="1A1A1A"/>
                          </a:solidFill>
                        </a:rPr>
                        <a:t>An online platform (app/website)</a:t>
                      </a:r>
                    </a:p>
                  </a:txBody>
                  <a:tcPr anchor="ctr" marL="73152" marR="54864" marT="27432" marB="27432">
                    <a:solidFill>
                      <a:srgbClr val="FFFFFF"/>
                    </a:solidFill>
                  </a:tcPr>
                </a:tc>
              </a:tr>
              <a:tr h="630936">
                <a:tc>
                  <a:txBody>
                    <a:bodyPr wrap="square"/>
                    <a:lstStyle/>
                    <a:p>
                      <a:r>
                        <a:rPr sz="1100" b="1">
                          <a:solidFill>
                            <a:srgbClr val="0C2B4A"/>
                          </a:solidFill>
                        </a:rPr>
                        <a:t>Hours &amp; speed</a:t>
                      </a:r>
                    </a:p>
                  </a:txBody>
                  <a:tcPr anchor="ctr" marL="73152" marR="54864" marT="27432" marB="27432">
                    <a:solidFill>
                      <a:srgbClr val="EEF3F8"/>
                    </a:solidFill>
                  </a:tcPr>
                </a:tc>
                <a:tc>
                  <a:txBody>
                    <a:bodyPr wrap="square"/>
                    <a:lstStyle/>
                    <a:p>
                      <a:r>
                        <a:rPr sz="1100">
                          <a:solidFill>
                            <a:srgbClr val="1A1A1A"/>
                          </a:solidFill>
                        </a:rPr>
                        <a:t>Opening hours; slow search</a:t>
                      </a:r>
                    </a:p>
                  </a:txBody>
                  <a:tcPr anchor="ctr" marL="73152" marR="54864" marT="27432" marB="27432">
                    <a:solidFill>
                      <a:srgbClr val="EEF3F8"/>
                    </a:solidFill>
                  </a:tcPr>
                </a:tc>
                <a:tc>
                  <a:txBody>
                    <a:bodyPr wrap="square"/>
                    <a:lstStyle/>
                    <a:p>
                      <a:r>
                        <a:rPr sz="1100">
                          <a:solidFill>
                            <a:srgbClr val="1A1A1A"/>
                          </a:solidFill>
                        </a:rPr>
                        <a:t>24/7; near-instant search &amp; pay</a:t>
                      </a:r>
                    </a:p>
                  </a:txBody>
                  <a:tcPr anchor="ctr" marL="73152" marR="54864" marT="27432" marB="27432">
                    <a:solidFill>
                      <a:srgbClr val="EEF3F8"/>
                    </a:solidFill>
                  </a:tcPr>
                </a:tc>
              </a:tr>
              <a:tr h="630936">
                <a:tc>
                  <a:txBody>
                    <a:bodyPr wrap="square"/>
                    <a:lstStyle/>
                    <a:p>
                      <a:r>
                        <a:rPr sz="1100" b="1">
                          <a:solidFill>
                            <a:srgbClr val="0C2B4A"/>
                          </a:solidFill>
                        </a:rPr>
                        <a:t>Reach</a:t>
                      </a:r>
                    </a:p>
                  </a:txBody>
                  <a:tcPr anchor="ctr" marL="73152" marR="54864" marT="27432" marB="27432">
                    <a:solidFill>
                      <a:srgbClr val="FFFFFF"/>
                    </a:solidFill>
                  </a:tcPr>
                </a:tc>
                <a:tc>
                  <a:txBody>
                    <a:bodyPr wrap="square"/>
                    <a:lstStyle/>
                    <a:p>
                      <a:r>
                        <a:rPr sz="1100">
                          <a:solidFill>
                            <a:srgbClr val="1A1A1A"/>
                          </a:solidFill>
                        </a:rPr>
                        <a:t>Local, limited by geography</a:t>
                      </a:r>
                    </a:p>
                  </a:txBody>
                  <a:tcPr anchor="ctr" marL="73152" marR="54864" marT="27432" marB="27432">
                    <a:solidFill>
                      <a:srgbClr val="FFFFFF"/>
                    </a:solidFill>
                  </a:tcPr>
                </a:tc>
                <a:tc>
                  <a:txBody>
                    <a:bodyPr wrap="square"/>
                    <a:lstStyle/>
                    <a:p>
                      <a:r>
                        <a:rPr sz="1100">
                          <a:solidFill>
                            <a:srgbClr val="1A1A1A"/>
                          </a:solidFill>
                        </a:rPr>
                        <a:t>National/global, geography-free</a:t>
                      </a:r>
                    </a:p>
                  </a:txBody>
                  <a:tcPr anchor="ctr" marL="73152" marR="54864" marT="27432" marB="27432">
                    <a:solidFill>
                      <a:srgbClr val="FFFFFF"/>
                    </a:solidFill>
                  </a:tcPr>
                </a:tc>
              </a:tr>
              <a:tr h="630936">
                <a:tc>
                  <a:txBody>
                    <a:bodyPr wrap="square"/>
                    <a:lstStyle/>
                    <a:p>
                      <a:r>
                        <a:rPr sz="1100" b="1">
                          <a:solidFill>
                            <a:srgbClr val="0C2B4A"/>
                          </a:solidFill>
                        </a:rPr>
                        <a:t>Cost of one more sale</a:t>
                      </a:r>
                    </a:p>
                  </a:txBody>
                  <a:tcPr anchor="ctr" marL="73152" marR="54864" marT="27432" marB="27432">
                    <a:solidFill>
                      <a:srgbClr val="EEF3F8"/>
                    </a:solidFill>
                  </a:tcPr>
                </a:tc>
                <a:tc>
                  <a:txBody>
                    <a:bodyPr wrap="square"/>
                    <a:lstStyle/>
                    <a:p>
                      <a:r>
                        <a:rPr sz="1100">
                          <a:solidFill>
                            <a:srgbClr val="1A1A1A"/>
                          </a:solidFill>
                        </a:rPr>
                        <a:t>Real (space, stock, staff)</a:t>
                      </a:r>
                    </a:p>
                  </a:txBody>
                  <a:tcPr anchor="ctr" marL="73152" marR="54864" marT="27432" marB="27432">
                    <a:solidFill>
                      <a:srgbClr val="EEF3F8"/>
                    </a:solidFill>
                  </a:tcPr>
                </a:tc>
                <a:tc>
                  <a:txBody>
                    <a:bodyPr wrap="square"/>
                    <a:lstStyle/>
                    <a:p>
                      <a:r>
                        <a:rPr sz="1100">
                          <a:solidFill>
                            <a:srgbClr val="1A1A1A"/>
                          </a:solidFill>
                        </a:rPr>
                        <a:t>Near-zero (a listing, a login)</a:t>
                      </a:r>
                    </a:p>
                  </a:txBody>
                  <a:tcPr anchor="ctr" marL="73152" marR="54864" marT="27432" marB="27432">
                    <a:solidFill>
                      <a:srgbClr val="EEF3F8"/>
                    </a:solidFill>
                  </a:tcPr>
                </a:tc>
              </a:tr>
              <a:tr h="630936">
                <a:tc>
                  <a:txBody>
                    <a:bodyPr wrap="square"/>
                    <a:lstStyle/>
                    <a:p>
                      <a:r>
                        <a:rPr sz="1100" b="1">
                          <a:solidFill>
                            <a:srgbClr val="0C2B4A"/>
                          </a:solidFill>
                        </a:rPr>
                        <a:t>Information</a:t>
                      </a:r>
                    </a:p>
                  </a:txBody>
                  <a:tcPr anchor="ctr" marL="73152" marR="54864" marT="27432" marB="27432">
                    <a:solidFill>
                      <a:srgbClr val="FFFFFF"/>
                    </a:solidFill>
                  </a:tcPr>
                </a:tc>
                <a:tc>
                  <a:txBody>
                    <a:bodyPr wrap="square"/>
                    <a:lstStyle/>
                    <a:p>
                      <a:r>
                        <a:rPr sz="1100">
                          <a:solidFill>
                            <a:srgbClr val="1A1A1A"/>
                          </a:solidFill>
                        </a:rPr>
                        <a:t>Scarce; you must ask around</a:t>
                      </a:r>
                    </a:p>
                  </a:txBody>
                  <a:tcPr anchor="ctr" marL="73152" marR="54864" marT="27432" marB="27432">
                    <a:solidFill>
                      <a:srgbClr val="FFFFFF"/>
                    </a:solidFill>
                  </a:tcPr>
                </a:tc>
                <a:tc>
                  <a:txBody>
                    <a:bodyPr wrap="square"/>
                    <a:lstStyle/>
                    <a:p>
                      <a:r>
                        <a:rPr sz="1100">
                          <a:solidFill>
                            <a:srgbClr val="1A1A1A"/>
                          </a:solidFill>
                        </a:rPr>
                        <a:t>Abundant: prices, reviews, ratings</a:t>
                      </a:r>
                    </a:p>
                  </a:txBody>
                  <a:tcPr anchor="ctr" marL="73152" marR="54864" marT="27432" marB="27432">
                    <a:solidFill>
                      <a:srgbClr val="FFFFFF"/>
                    </a:solidFill>
                  </a:tcPr>
                </a:tc>
              </a:tr>
              <a:tr h="630936">
                <a:tc>
                  <a:txBody>
                    <a:bodyPr wrap="square"/>
                    <a:lstStyle/>
                    <a:p>
                      <a:r>
                        <a:rPr sz="1100" b="1">
                          <a:solidFill>
                            <a:srgbClr val="0C2B4A"/>
                          </a:solidFill>
                        </a:rPr>
                        <a:t>Value with more users</a:t>
                      </a:r>
                    </a:p>
                  </a:txBody>
                  <a:tcPr anchor="ctr" marL="73152" marR="54864" marT="27432" marB="27432">
                    <a:solidFill>
                      <a:srgbClr val="EEF3F8"/>
                    </a:solidFill>
                  </a:tcPr>
                </a:tc>
                <a:tc>
                  <a:txBody>
                    <a:bodyPr wrap="square"/>
                    <a:lstStyle/>
                    <a:p>
                      <a:r>
                        <a:rPr sz="1100">
                          <a:solidFill>
                            <a:srgbClr val="1A1A1A"/>
                          </a:solidFill>
                        </a:rPr>
                        <a:t>Roughly flat</a:t>
                      </a:r>
                    </a:p>
                  </a:txBody>
                  <a:tcPr anchor="ctr" marL="73152" marR="54864" marT="27432" marB="27432">
                    <a:solidFill>
                      <a:srgbClr val="EEF3F8"/>
                    </a:solidFill>
                  </a:tcPr>
                </a:tc>
                <a:tc>
                  <a:txBody>
                    <a:bodyPr wrap="square"/>
                    <a:lstStyle/>
                    <a:p>
                      <a:r>
                        <a:rPr sz="1100">
                          <a:solidFill>
                            <a:srgbClr val="1A1A1A"/>
                          </a:solidFill>
                        </a:rPr>
                        <a:t>Rises (network effects)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four characteristics — speed, scale, network effects, low marginal cost — are exactly the columns where a digital market pulls away from the bazaar. They are why online markets grow so fast.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 / 142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a Digital Market Is + 4 Characteristics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Daraz is a digital market: at midnight you search thousands of products (speed), from sellers across Nepal you'd never reach on foot (scale), on a platform that is more useful because millions already shop there (network effect), and Daraz can add your order at almost no extra cost (low marginal cost). Asan Bazaar has none of these four at the same time — that is the structural leap from bazaar to platform.</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digital market is just a shop with a website." A website is only a shopfront. A digital market is where independent buyers and sellers actually meet, match, price, and settle online — with speed, geography-free scale, network effects, and near-zero marginal cost. Those four traits, not the web address, make it a market.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digital market is an online space where buyers and sellers discover each other, agree a price, and transact electronically rather than in a physical place. Four characteristics distinguish it from a traditional market: speed (instant search/transactions, 24/7), scale (reach beyond geography), network effects (more users add value — Unit 2), and low marginal cost (serving one more user is almost free). Daraz shows all four at once.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digital market · speed · scale · network effects · low marginal cost · online matching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 / 142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5 Components of a Digital Market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digital market is not one thing — it runs on five components working together. (1) The PLATFORM (app/website) hosts the marketplace and matches sides. (2) PAYMENTS move money safely (wallets, gateways, banks). (3) LOGISTICS deliver the goods (couriers, tracking, warehouses). (4) DATA &amp; ANALYTICS power search, recommendations, pricing, and fraud checks. (5) SUPPORT &amp; TRUST (ratings, returns, help desks, dispute resolution) keep strangers transacting.</a:t>
            </a:r>
          </a:p>
          <a:p>
            <a:pPr>
              <a:spcAft>
                <a:spcPts val="500"/>
              </a:spcAft>
            </a:pPr>
            <a:r>
              <a:rPr sz="1200" b="1">
                <a:solidFill>
                  <a:srgbClr val="185FA5"/>
                </a:solidFill>
              </a:rPr>
              <a:t>HOW IT WORKS</a:t>
            </a:r>
          </a:p>
          <a:p>
            <a:pPr>
              <a:spcAft>
                <a:spcPts val="600"/>
              </a:spcAft>
            </a:pPr>
            <a:r>
              <a:rPr sz="1400">
                <a:solidFill>
                  <a:srgbClr val="1A1A1A"/>
                </a:solidFill>
              </a:rPr>
              <a:t>•  Platform: the software that lists, searches, and matches buyers and sellers.</a:t>
            </a:r>
          </a:p>
          <a:p>
            <a:pPr>
              <a:spcAft>
                <a:spcPts val="600"/>
              </a:spcAft>
            </a:pPr>
            <a:r>
              <a:rPr sz="1400">
                <a:solidFill>
                  <a:srgbClr val="1A1A1A"/>
                </a:solidFill>
              </a:rPr>
              <a:t>•  Payments + logistics: the two rails that turn a click into money moved and goods delivered.</a:t>
            </a:r>
          </a:p>
          <a:p>
            <a:pPr>
              <a:spcAft>
                <a:spcPts val="600"/>
              </a:spcAft>
            </a:pPr>
            <a:r>
              <a:rPr sz="1400">
                <a:solidFill>
                  <a:srgbClr val="1A1A1A"/>
                </a:solidFill>
              </a:rPr>
              <a:t>•  Data &amp; analytics: recommendations, dynamic pricing, and fraud detection all run on data.</a:t>
            </a:r>
          </a:p>
          <a:p>
            <a:pPr>
              <a:spcAft>
                <a:spcPts val="600"/>
              </a:spcAft>
            </a:pPr>
            <a:r>
              <a:rPr sz="1400">
                <a:solidFill>
                  <a:srgbClr val="1A1A1A"/>
                </a:solidFill>
              </a:rPr>
              <a:t>•  Support &amp; trust: ratings, returns, and dispute handling — without trust the market collapses.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Five components: platform · payments · logistics · data &amp; analytics · support/trust.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 / 142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5 components — with Nepal examples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897746"/>
                <a:gridCol w="4346619"/>
                <a:gridCol w="4185633"/>
              </a:tblGrid>
              <a:tr h="736092">
                <a:tc>
                  <a:txBody>
                    <a:bodyPr wrap="square"/>
                    <a:lstStyle/>
                    <a:p>
                      <a:r>
                        <a:rPr sz="1150" b="1">
                          <a:solidFill>
                            <a:srgbClr val="FFFFFF"/>
                          </a:solidFill>
                        </a:rPr>
                        <a:t>Component</a:t>
                      </a:r>
                    </a:p>
                  </a:txBody>
                  <a:tcPr anchor="ctr" marL="73152" marR="54864" marT="27432" marB="27432">
                    <a:solidFill>
                      <a:srgbClr val="0C2B4A"/>
                    </a:solidFill>
                  </a:tcPr>
                </a:tc>
                <a:tc>
                  <a:txBody>
                    <a:bodyPr wrap="square"/>
                    <a:lstStyle/>
                    <a:p>
                      <a:r>
                        <a:rPr sz="1150" b="1">
                          <a:solidFill>
                            <a:srgbClr val="FFFFFF"/>
                          </a:solidFill>
                        </a:rPr>
                        <a:t>What it does</a:t>
                      </a:r>
                    </a:p>
                  </a:txBody>
                  <a:tcPr anchor="ctr" marL="73152" marR="54864" marT="27432" marB="27432">
                    <a:solidFill>
                      <a:srgbClr val="0C2B4A"/>
                    </a:solidFill>
                  </a:tcPr>
                </a:tc>
                <a:tc>
                  <a:txBody>
                    <a:bodyPr wrap="square"/>
                    <a:lstStyle/>
                    <a:p>
                      <a:r>
                        <a:rPr sz="1150" b="1">
                          <a:solidFill>
                            <a:srgbClr val="FFFFFF"/>
                          </a:solidFill>
                        </a:rPr>
                        <a:t>Nepal example</a:t>
                      </a:r>
                    </a:p>
                  </a:txBody>
                  <a:tcPr anchor="ctr" marL="73152" marR="54864" marT="27432" marB="27432">
                    <a:solidFill>
                      <a:srgbClr val="0C2B4A"/>
                    </a:solidFill>
                  </a:tcPr>
                </a:tc>
              </a:tr>
              <a:tr h="736092">
                <a:tc>
                  <a:txBody>
                    <a:bodyPr wrap="square"/>
                    <a:lstStyle/>
                    <a:p>
                      <a:r>
                        <a:rPr sz="1100" b="1">
                          <a:solidFill>
                            <a:srgbClr val="0C2B4A"/>
                          </a:solidFill>
                        </a:rPr>
                        <a:t>Platform</a:t>
                      </a:r>
                    </a:p>
                  </a:txBody>
                  <a:tcPr anchor="ctr" marL="73152" marR="54864" marT="27432" marB="27432">
                    <a:solidFill>
                      <a:srgbClr val="FFFFFF"/>
                    </a:solidFill>
                  </a:tcPr>
                </a:tc>
                <a:tc>
                  <a:txBody>
                    <a:bodyPr wrap="square"/>
                    <a:lstStyle/>
                    <a:p>
                      <a:r>
                        <a:rPr sz="1100">
                          <a:solidFill>
                            <a:srgbClr val="1A1A1A"/>
                          </a:solidFill>
                        </a:rPr>
                        <a:t>Hosts listings, search &amp; matching</a:t>
                      </a:r>
                    </a:p>
                  </a:txBody>
                  <a:tcPr anchor="ctr" marL="73152" marR="54864" marT="27432" marB="27432">
                    <a:solidFill>
                      <a:srgbClr val="FFFFFF"/>
                    </a:solidFill>
                  </a:tcPr>
                </a:tc>
                <a:tc>
                  <a:txBody>
                    <a:bodyPr wrap="square"/>
                    <a:lstStyle/>
                    <a:p>
                      <a:r>
                        <a:rPr sz="1100">
                          <a:solidFill>
                            <a:srgbClr val="1A1A1A"/>
                          </a:solidFill>
                        </a:rPr>
                        <a:t>Daraz app, Foodmandu, Hamrobazar</a:t>
                      </a:r>
                    </a:p>
                  </a:txBody>
                  <a:tcPr anchor="ctr" marL="73152" marR="54864" marT="27432" marB="27432">
                    <a:solidFill>
                      <a:srgbClr val="FFFFFF"/>
                    </a:solidFill>
                  </a:tcPr>
                </a:tc>
              </a:tr>
              <a:tr h="736092">
                <a:tc>
                  <a:txBody>
                    <a:bodyPr wrap="square"/>
                    <a:lstStyle/>
                    <a:p>
                      <a:r>
                        <a:rPr sz="1100" b="1">
                          <a:solidFill>
                            <a:srgbClr val="0C2B4A"/>
                          </a:solidFill>
                        </a:rPr>
                        <a:t>Payments</a:t>
                      </a:r>
                    </a:p>
                  </a:txBody>
                  <a:tcPr anchor="ctr" marL="73152" marR="54864" marT="27432" marB="27432">
                    <a:solidFill>
                      <a:srgbClr val="EEF3F8"/>
                    </a:solidFill>
                  </a:tcPr>
                </a:tc>
                <a:tc>
                  <a:txBody>
                    <a:bodyPr wrap="square"/>
                    <a:lstStyle/>
                    <a:p>
                      <a:r>
                        <a:rPr sz="1100">
                          <a:solidFill>
                            <a:srgbClr val="1A1A1A"/>
                          </a:solidFill>
                        </a:rPr>
                        <a:t>Moves money safely</a:t>
                      </a:r>
                    </a:p>
                  </a:txBody>
                  <a:tcPr anchor="ctr" marL="73152" marR="54864" marT="27432" marB="27432">
                    <a:solidFill>
                      <a:srgbClr val="EEF3F8"/>
                    </a:solidFill>
                  </a:tcPr>
                </a:tc>
                <a:tc>
                  <a:txBody>
                    <a:bodyPr wrap="square"/>
                    <a:lstStyle/>
                    <a:p>
                      <a:r>
                        <a:rPr sz="1100">
                          <a:solidFill>
                            <a:srgbClr val="1A1A1A"/>
                          </a:solidFill>
                        </a:rPr>
                        <a:t>eSewa, Khalti, Fonepay, ConnectIPS</a:t>
                      </a:r>
                    </a:p>
                  </a:txBody>
                  <a:tcPr anchor="ctr" marL="73152" marR="54864" marT="27432" marB="27432">
                    <a:solidFill>
                      <a:srgbClr val="EEF3F8"/>
                    </a:solidFill>
                  </a:tcPr>
                </a:tc>
              </a:tr>
              <a:tr h="736092">
                <a:tc>
                  <a:txBody>
                    <a:bodyPr wrap="square"/>
                    <a:lstStyle/>
                    <a:p>
                      <a:r>
                        <a:rPr sz="1100" b="1">
                          <a:solidFill>
                            <a:srgbClr val="0C2B4A"/>
                          </a:solidFill>
                        </a:rPr>
                        <a:t>Logistics</a:t>
                      </a:r>
                    </a:p>
                  </a:txBody>
                  <a:tcPr anchor="ctr" marL="73152" marR="54864" marT="27432" marB="27432">
                    <a:solidFill>
                      <a:srgbClr val="FFFFFF"/>
                    </a:solidFill>
                  </a:tcPr>
                </a:tc>
                <a:tc>
                  <a:txBody>
                    <a:bodyPr wrap="square"/>
                    <a:lstStyle/>
                    <a:p>
                      <a:r>
                        <a:rPr sz="1100">
                          <a:solidFill>
                            <a:srgbClr val="1A1A1A"/>
                          </a:solidFill>
                        </a:rPr>
                        <a:t>Delivers goods, tracks orders</a:t>
                      </a:r>
                    </a:p>
                  </a:txBody>
                  <a:tcPr anchor="ctr" marL="73152" marR="54864" marT="27432" marB="27432">
                    <a:solidFill>
                      <a:srgbClr val="FFFFFF"/>
                    </a:solidFill>
                  </a:tcPr>
                </a:tc>
                <a:tc>
                  <a:txBody>
                    <a:bodyPr wrap="square"/>
                    <a:lstStyle/>
                    <a:p>
                      <a:r>
                        <a:rPr sz="1100">
                          <a:solidFill>
                            <a:srgbClr val="1A1A1A"/>
                          </a:solidFill>
                        </a:rPr>
                        <a:t>Pathao/Aramex couriers, Daraz hubs</a:t>
                      </a:r>
                    </a:p>
                  </a:txBody>
                  <a:tcPr anchor="ctr" marL="73152" marR="54864" marT="27432" marB="27432">
                    <a:solidFill>
                      <a:srgbClr val="FFFFFF"/>
                    </a:solidFill>
                  </a:tcPr>
                </a:tc>
              </a:tr>
              <a:tr h="736092">
                <a:tc>
                  <a:txBody>
                    <a:bodyPr wrap="square"/>
                    <a:lstStyle/>
                    <a:p>
                      <a:r>
                        <a:rPr sz="1100" b="1">
                          <a:solidFill>
                            <a:srgbClr val="0C2B4A"/>
                          </a:solidFill>
                        </a:rPr>
                        <a:t>Data &amp; analytics</a:t>
                      </a:r>
                    </a:p>
                  </a:txBody>
                  <a:tcPr anchor="ctr" marL="73152" marR="54864" marT="27432" marB="27432">
                    <a:solidFill>
                      <a:srgbClr val="EEF3F8"/>
                    </a:solidFill>
                  </a:tcPr>
                </a:tc>
                <a:tc>
                  <a:txBody>
                    <a:bodyPr wrap="square"/>
                    <a:lstStyle/>
                    <a:p>
                      <a:r>
                        <a:rPr sz="1100">
                          <a:solidFill>
                            <a:srgbClr val="1A1A1A"/>
                          </a:solidFill>
                        </a:rPr>
                        <a:t>Search, recommendations, pricing, fraud</a:t>
                      </a:r>
                    </a:p>
                  </a:txBody>
                  <a:tcPr anchor="ctr" marL="73152" marR="54864" marT="27432" marB="27432">
                    <a:solidFill>
                      <a:srgbClr val="EEF3F8"/>
                    </a:solidFill>
                  </a:tcPr>
                </a:tc>
                <a:tc>
                  <a:txBody>
                    <a:bodyPr wrap="square"/>
                    <a:lstStyle/>
                    <a:p>
                      <a:r>
                        <a:rPr sz="1100">
                          <a:solidFill>
                            <a:srgbClr val="1A1A1A"/>
                          </a:solidFill>
                        </a:rPr>
                        <a:t>Daraz recommendations; surge pricing</a:t>
                      </a:r>
                    </a:p>
                  </a:txBody>
                  <a:tcPr anchor="ctr" marL="73152" marR="54864" marT="27432" marB="27432">
                    <a:solidFill>
                      <a:srgbClr val="EEF3F8"/>
                    </a:solidFill>
                  </a:tcPr>
                </a:tc>
              </a:tr>
              <a:tr h="736092">
                <a:tc>
                  <a:txBody>
                    <a:bodyPr wrap="square"/>
                    <a:lstStyle/>
                    <a:p>
                      <a:r>
                        <a:rPr sz="1100" b="1">
                          <a:solidFill>
                            <a:srgbClr val="0C2B4A"/>
                          </a:solidFill>
                        </a:rPr>
                        <a:t>Support &amp; trust</a:t>
                      </a:r>
                    </a:p>
                  </a:txBody>
                  <a:tcPr anchor="ctr" marL="73152" marR="54864" marT="27432" marB="27432">
                    <a:solidFill>
                      <a:srgbClr val="FFFFFF"/>
                    </a:solidFill>
                  </a:tcPr>
                </a:tc>
                <a:tc>
                  <a:txBody>
                    <a:bodyPr wrap="square"/>
                    <a:lstStyle/>
                    <a:p>
                      <a:r>
                        <a:rPr sz="1100">
                          <a:solidFill>
                            <a:srgbClr val="1A1A1A"/>
                          </a:solidFill>
                        </a:rPr>
                        <a:t>Ratings, returns, help, disputes</a:t>
                      </a:r>
                    </a:p>
                  </a:txBody>
                  <a:tcPr anchor="ctr" marL="73152" marR="54864" marT="27432" marB="27432">
                    <a:solidFill>
                      <a:srgbClr val="FFFFFF"/>
                    </a:solidFill>
                  </a:tcPr>
                </a:tc>
                <a:tc>
                  <a:txBody>
                    <a:bodyPr wrap="square"/>
                    <a:lstStyle/>
                    <a:p>
                      <a:r>
                        <a:rPr sz="1100">
                          <a:solidFill>
                            <a:srgbClr val="1A1A1A"/>
                          </a:solidFill>
                        </a:rPr>
                        <a:t>Seller ratings, return policy, call centre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digital market is only as strong as its weakest component. In Nepal, payments and platforms are mature, but logistics (last-mile delivery outside cities) and trust (fake products) are the common weak links.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 / 142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5 Components of a Digital Market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When you order on Daraz, all five components fire: the platform lists and matches the product, Khalti/eSewa or cash-on-delivery handles payment, a Pathao/Aramex rider delivers it, data decides what Daraz showed you and flags fraud, and ratings + a return policy give you the confidence to buy from an unknown seller. Remove any one — say delivery fails outside the valley — and the market stops working there.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platform IS the digital market." The platform is only one of five components. Payments, logistics, data, and trust are equally load-bearing: a slick app with no reliable delivery or no return policy will not sustain a market. In Nepal, logistics and trust — not the app — are usually what limits growth.</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digital market runs on five components: the platform (hosts and matches), payments (move money — eSewa/Khalti/Fonepay), logistics (deliver goods — couriers, tracking), data &amp; analytics (search, recommendations, pricing, fraud), and support &amp; trust (ratings, returns, dispute resolution). All five must work together; the market is only as strong as its weakest component — in Nepal usually logistics or trust.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platform · payments · logistics · data &amp; analytics · support/trust · weakest-link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142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5 Types of Digital Market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 markets are classified by WHO transacts with WHOM. B2C (business-to-consumer): a firm sells to individuals (Daraz, Netflix). B2B (business-to-business): firms sell to firms (a cloud provider, a wholesale portal). C2C (consumer-to-consumer): individuals sell to each other (Hamrobazar, Facebook Marketplace). C2B (consumer-to-business): individuals sell to firms (a freelancer on Fiverr, a creator selling content). P2P (peer-to-peer): individuals share/exchange directly, often an asset (a room on Airbnb, a ride on InDrive).</a:t>
            </a:r>
          </a:p>
          <a:p>
            <a:pPr>
              <a:spcAft>
                <a:spcPts val="500"/>
              </a:spcAft>
            </a:pPr>
            <a:r>
              <a:rPr sz="1200" b="1">
                <a:solidFill>
                  <a:srgbClr val="185FA5"/>
                </a:solidFill>
              </a:rPr>
              <a:t>HOW IT WORKS</a:t>
            </a:r>
          </a:p>
          <a:p>
            <a:pPr>
              <a:spcAft>
                <a:spcPts val="600"/>
              </a:spcAft>
            </a:pPr>
            <a:r>
              <a:rPr sz="1400">
                <a:solidFill>
                  <a:srgbClr val="1A1A1A"/>
                </a:solidFill>
              </a:rPr>
              <a:t>•  B2C &amp; B2B are the two 'business-sells' types — to consumers or to other businesses.</a:t>
            </a:r>
          </a:p>
          <a:p>
            <a:pPr>
              <a:spcAft>
                <a:spcPts val="600"/>
              </a:spcAft>
            </a:pPr>
            <a:r>
              <a:rPr sz="1400">
                <a:solidFill>
                  <a:srgbClr val="1A1A1A"/>
                </a:solidFill>
              </a:rPr>
              <a:t>•  C2C &amp; C2B flip the direction: individuals are the sellers (to peers, or to firms).</a:t>
            </a:r>
          </a:p>
          <a:p>
            <a:pPr>
              <a:spcAft>
                <a:spcPts val="600"/>
              </a:spcAft>
            </a:pPr>
            <a:r>
              <a:rPr sz="1400">
                <a:solidFill>
                  <a:srgbClr val="1A1A1A"/>
                </a:solidFill>
              </a:rPr>
              <a:t>•  P2P: peers transact/share directly, with the platform only mediating (Airbnb, InDrive).</a:t>
            </a:r>
          </a:p>
          <a:p>
            <a:pPr>
              <a:spcAft>
                <a:spcPts val="600"/>
              </a:spcAft>
            </a:pPr>
            <a:r>
              <a:rPr sz="1400">
                <a:solidFill>
                  <a:srgbClr val="1A1A1A"/>
                </a:solidFill>
              </a:rPr>
              <a:t>•  A single platform can span types: Daraz is mainly B2C but its marketplace sellers add C2C/B2B.</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Five types by who-sells-to-whom: B2C · B2B · C2C · C2B · P2P.</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142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5 types of digital market — Nepal &amp; global</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017058"/>
                <a:gridCol w="4370294"/>
                <a:gridCol w="5042647"/>
              </a:tblGrid>
              <a:tr h="736092">
                <a:tc>
                  <a:txBody>
                    <a:bodyPr wrap="square"/>
                    <a:lstStyle/>
                    <a:p>
                      <a:r>
                        <a:rPr sz="1150" b="1">
                          <a:solidFill>
                            <a:srgbClr val="FFFFFF"/>
                          </a:solidFill>
                        </a:rPr>
                        <a:t>Type</a:t>
                      </a:r>
                    </a:p>
                  </a:txBody>
                  <a:tcPr anchor="ctr" marL="73152" marR="54864" marT="27432" marB="27432">
                    <a:solidFill>
                      <a:srgbClr val="0C2B4A"/>
                    </a:solidFill>
                  </a:tcPr>
                </a:tc>
                <a:tc>
                  <a:txBody>
                    <a:bodyPr wrap="square"/>
                    <a:lstStyle/>
                    <a:p>
                      <a:r>
                        <a:rPr sz="1150" b="1">
                          <a:solidFill>
                            <a:srgbClr val="FFFFFF"/>
                          </a:solidFill>
                        </a:rPr>
                        <a:t>Who -&gt; who</a:t>
                      </a:r>
                    </a:p>
                  </a:txBody>
                  <a:tcPr anchor="ctr" marL="73152" marR="54864" marT="27432" marB="27432">
                    <a:solidFill>
                      <a:srgbClr val="0C2B4A"/>
                    </a:solidFill>
                  </a:tcPr>
                </a:tc>
                <a:tc>
                  <a:txBody>
                    <a:bodyPr wrap="square"/>
                    <a:lstStyle/>
                    <a:p>
                      <a:r>
                        <a:rPr sz="1150" b="1">
                          <a:solidFill>
                            <a:srgbClr val="FFFFFF"/>
                          </a:solidFill>
                        </a:rPr>
                        <a:t>Example</a:t>
                      </a:r>
                    </a:p>
                  </a:txBody>
                  <a:tcPr anchor="ctr" marL="73152" marR="54864" marT="27432" marB="27432">
                    <a:solidFill>
                      <a:srgbClr val="0C2B4A"/>
                    </a:solidFill>
                  </a:tcPr>
                </a:tc>
              </a:tr>
              <a:tr h="736092">
                <a:tc>
                  <a:txBody>
                    <a:bodyPr wrap="square"/>
                    <a:lstStyle/>
                    <a:p>
                      <a:r>
                        <a:rPr sz="1100" b="1">
                          <a:solidFill>
                            <a:srgbClr val="0C2B4A"/>
                          </a:solidFill>
                        </a:rPr>
                        <a:t>B2C</a:t>
                      </a:r>
                    </a:p>
                  </a:txBody>
                  <a:tcPr anchor="ctr" marL="73152" marR="54864" marT="27432" marB="27432">
                    <a:solidFill>
                      <a:srgbClr val="FFFFFF"/>
                    </a:solidFill>
                  </a:tcPr>
                </a:tc>
                <a:tc>
                  <a:txBody>
                    <a:bodyPr wrap="square"/>
                    <a:lstStyle/>
                    <a:p>
                      <a:r>
                        <a:rPr sz="1100">
                          <a:solidFill>
                            <a:srgbClr val="1A1A1A"/>
                          </a:solidFill>
                        </a:rPr>
                        <a:t>Business sells to consumers</a:t>
                      </a:r>
                    </a:p>
                  </a:txBody>
                  <a:tcPr anchor="ctr" marL="73152" marR="54864" marT="27432" marB="27432">
                    <a:solidFill>
                      <a:srgbClr val="FFFFFF"/>
                    </a:solidFill>
                  </a:tcPr>
                </a:tc>
                <a:tc>
                  <a:txBody>
                    <a:bodyPr wrap="square"/>
                    <a:lstStyle/>
                    <a:p>
                      <a:r>
                        <a:rPr sz="1100">
                          <a:solidFill>
                            <a:srgbClr val="1A1A1A"/>
                          </a:solidFill>
                        </a:rPr>
                        <a:t>Daraz, Foodmandu, Netflix, Sastodeal</a:t>
                      </a:r>
                    </a:p>
                  </a:txBody>
                  <a:tcPr anchor="ctr" marL="73152" marR="54864" marT="27432" marB="27432">
                    <a:solidFill>
                      <a:srgbClr val="FFFFFF"/>
                    </a:solidFill>
                  </a:tcPr>
                </a:tc>
              </a:tr>
              <a:tr h="736092">
                <a:tc>
                  <a:txBody>
                    <a:bodyPr wrap="square"/>
                    <a:lstStyle/>
                    <a:p>
                      <a:r>
                        <a:rPr sz="1100" b="1">
                          <a:solidFill>
                            <a:srgbClr val="0C2B4A"/>
                          </a:solidFill>
                        </a:rPr>
                        <a:t>B2B</a:t>
                      </a:r>
                    </a:p>
                  </a:txBody>
                  <a:tcPr anchor="ctr" marL="73152" marR="54864" marT="27432" marB="27432">
                    <a:solidFill>
                      <a:srgbClr val="EEF3F8"/>
                    </a:solidFill>
                  </a:tcPr>
                </a:tc>
                <a:tc>
                  <a:txBody>
                    <a:bodyPr wrap="square"/>
                    <a:lstStyle/>
                    <a:p>
                      <a:r>
                        <a:rPr sz="1100">
                          <a:solidFill>
                            <a:srgbClr val="1A1A1A"/>
                          </a:solidFill>
                        </a:rPr>
                        <a:t>Business sells to business</a:t>
                      </a:r>
                    </a:p>
                  </a:txBody>
                  <a:tcPr anchor="ctr" marL="73152" marR="54864" marT="27432" marB="27432">
                    <a:solidFill>
                      <a:srgbClr val="EEF3F8"/>
                    </a:solidFill>
                  </a:tcPr>
                </a:tc>
                <a:tc>
                  <a:txBody>
                    <a:bodyPr wrap="square"/>
                    <a:lstStyle/>
                    <a:p>
                      <a:r>
                        <a:rPr sz="1100">
                          <a:solidFill>
                            <a:srgbClr val="1A1A1A"/>
                          </a:solidFill>
                        </a:rPr>
                        <a:t>AWS/cloud, wholesale portals, SaaS tools</a:t>
                      </a:r>
                    </a:p>
                  </a:txBody>
                  <a:tcPr anchor="ctr" marL="73152" marR="54864" marT="27432" marB="27432">
                    <a:solidFill>
                      <a:srgbClr val="EEF3F8"/>
                    </a:solidFill>
                  </a:tcPr>
                </a:tc>
              </a:tr>
              <a:tr h="736092">
                <a:tc>
                  <a:txBody>
                    <a:bodyPr wrap="square"/>
                    <a:lstStyle/>
                    <a:p>
                      <a:r>
                        <a:rPr sz="1100" b="1">
                          <a:solidFill>
                            <a:srgbClr val="0C2B4A"/>
                          </a:solidFill>
                        </a:rPr>
                        <a:t>C2C</a:t>
                      </a:r>
                    </a:p>
                  </a:txBody>
                  <a:tcPr anchor="ctr" marL="73152" marR="54864" marT="27432" marB="27432">
                    <a:solidFill>
                      <a:srgbClr val="FFFFFF"/>
                    </a:solidFill>
                  </a:tcPr>
                </a:tc>
                <a:tc>
                  <a:txBody>
                    <a:bodyPr wrap="square"/>
                    <a:lstStyle/>
                    <a:p>
                      <a:r>
                        <a:rPr sz="1100">
                          <a:solidFill>
                            <a:srgbClr val="1A1A1A"/>
                          </a:solidFill>
                        </a:rPr>
                        <a:t>Consumer sells to consumer</a:t>
                      </a:r>
                    </a:p>
                  </a:txBody>
                  <a:tcPr anchor="ctr" marL="73152" marR="54864" marT="27432" marB="27432">
                    <a:solidFill>
                      <a:srgbClr val="FFFFFF"/>
                    </a:solidFill>
                  </a:tcPr>
                </a:tc>
                <a:tc>
                  <a:txBody>
                    <a:bodyPr wrap="square"/>
                    <a:lstStyle/>
                    <a:p>
                      <a:r>
                        <a:rPr sz="1100">
                          <a:solidFill>
                            <a:srgbClr val="1A1A1A"/>
                          </a:solidFill>
                        </a:rPr>
                        <a:t>Hamrobazar, Facebook Marketplace, eBay</a:t>
                      </a:r>
                    </a:p>
                  </a:txBody>
                  <a:tcPr anchor="ctr" marL="73152" marR="54864" marT="27432" marB="27432">
                    <a:solidFill>
                      <a:srgbClr val="FFFFFF"/>
                    </a:solidFill>
                  </a:tcPr>
                </a:tc>
              </a:tr>
              <a:tr h="736092">
                <a:tc>
                  <a:txBody>
                    <a:bodyPr wrap="square"/>
                    <a:lstStyle/>
                    <a:p>
                      <a:r>
                        <a:rPr sz="1100" b="1">
                          <a:solidFill>
                            <a:srgbClr val="0C2B4A"/>
                          </a:solidFill>
                        </a:rPr>
                        <a:t>C2B</a:t>
                      </a:r>
                    </a:p>
                  </a:txBody>
                  <a:tcPr anchor="ctr" marL="73152" marR="54864" marT="27432" marB="27432">
                    <a:solidFill>
                      <a:srgbClr val="EEF3F8"/>
                    </a:solidFill>
                  </a:tcPr>
                </a:tc>
                <a:tc>
                  <a:txBody>
                    <a:bodyPr wrap="square"/>
                    <a:lstStyle/>
                    <a:p>
                      <a:r>
                        <a:rPr sz="1100">
                          <a:solidFill>
                            <a:srgbClr val="1A1A1A"/>
                          </a:solidFill>
                        </a:rPr>
                        <a:t>Consumer sells to business</a:t>
                      </a:r>
                    </a:p>
                  </a:txBody>
                  <a:tcPr anchor="ctr" marL="73152" marR="54864" marT="27432" marB="27432">
                    <a:solidFill>
                      <a:srgbClr val="EEF3F8"/>
                    </a:solidFill>
                  </a:tcPr>
                </a:tc>
                <a:tc>
                  <a:txBody>
                    <a:bodyPr wrap="square"/>
                    <a:lstStyle/>
                    <a:p>
                      <a:r>
                        <a:rPr sz="1100">
                          <a:solidFill>
                            <a:srgbClr val="1A1A1A"/>
                          </a:solidFill>
                        </a:rPr>
                        <a:t>Freelancers on Fiverr/Upwork; stock photos</a:t>
                      </a:r>
                    </a:p>
                  </a:txBody>
                  <a:tcPr anchor="ctr" marL="73152" marR="54864" marT="27432" marB="27432">
                    <a:solidFill>
                      <a:srgbClr val="EEF3F8"/>
                    </a:solidFill>
                  </a:tcPr>
                </a:tc>
              </a:tr>
              <a:tr h="736092">
                <a:tc>
                  <a:txBody>
                    <a:bodyPr wrap="square"/>
                    <a:lstStyle/>
                    <a:p>
                      <a:r>
                        <a:rPr sz="1100" b="1">
                          <a:solidFill>
                            <a:srgbClr val="0C2B4A"/>
                          </a:solidFill>
                        </a:rPr>
                        <a:t>P2P</a:t>
                      </a:r>
                    </a:p>
                  </a:txBody>
                  <a:tcPr anchor="ctr" marL="73152" marR="54864" marT="27432" marB="27432">
                    <a:solidFill>
                      <a:srgbClr val="FFFFFF"/>
                    </a:solidFill>
                  </a:tcPr>
                </a:tc>
                <a:tc>
                  <a:txBody>
                    <a:bodyPr wrap="square"/>
                    <a:lstStyle/>
                    <a:p>
                      <a:r>
                        <a:rPr sz="1100">
                          <a:solidFill>
                            <a:srgbClr val="1A1A1A"/>
                          </a:solidFill>
                        </a:rPr>
                        <a:t>Peers share/exchange directly</a:t>
                      </a:r>
                    </a:p>
                  </a:txBody>
                  <a:tcPr anchor="ctr" marL="73152" marR="54864" marT="27432" marB="27432">
                    <a:solidFill>
                      <a:srgbClr val="FFFFFF"/>
                    </a:solidFill>
                  </a:tcPr>
                </a:tc>
                <a:tc>
                  <a:txBody>
                    <a:bodyPr wrap="square"/>
                    <a:lstStyle/>
                    <a:p>
                      <a:r>
                        <a:rPr sz="1100">
                          <a:solidFill>
                            <a:srgbClr val="1A1A1A"/>
                          </a:solidFill>
                        </a:rPr>
                        <a:t>Airbnb (rooms), InDrive, ride/asset sharing</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type tells you who the customer is and how money flows. Many real platforms are hybrids — Daraz is B2C for its own stock and C2C/B2B for third-party sellers — so name the DOMINANT relationship first.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142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S16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5 Types of Digital Market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Hamrobazar is C2C — ordinary Nepalis buy and sell used goods to each other, with the platform only providing the meeting place and trust tools. Daraz is mainly B2C (businesses selling to consumers) but becomes C2C/B2B where independent sellers list. A Nepali designer selling gigs on Fiverr is C2B (an individual selling to firms). Naming the type tells you instantly who the paying customer is.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"All e-commerce is B2C." B2C is only one of five types. C2C (Hamrobazar), C2B (freelancers selling to firms), B2B (cloud/wholesale), and P2P (Airbnb/InDrive) are all digital markets with different customers and money flows. Classifying by who-sells-to-whom, not just 'it's online', is what the exam rewards.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markets are classified by who transacts with whom: B2C (business to consumer — Daraz, Netflix), B2B (business to business — cloud, wholesale), C2C (consumer to consumer — Hamrobazar, Marketplace), C2B (consumer to business — freelancers, creators), and P2P (peers share/exchange directly — Airbnb, InDrive). Many platforms are hybrids, so identify the dominant relationship first.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B2C · B2B · C2C · C2B · P2P · classify by who-sells-to-whom · hybrids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142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S16 — 'Classify the market'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pick 3 Nepali digital services (Daraz, eSewa, Hamrobazar, Foodmandu, InDrive…).</a:t>
            </a:r>
          </a:p>
          <a:p>
            <a:pPr>
              <a:spcAft>
                <a:spcPts val="700"/>
              </a:spcAft>
            </a:pPr>
            <a:r>
              <a:rPr sz="1550">
                <a:solidFill>
                  <a:srgbClr val="1A1A1A"/>
                </a:solidFill>
              </a:rPr>
              <a:t>•  For each, name its TYPE (B2C/B2B/C2C/C2B/P2P) and the 5 components it relies on.</a:t>
            </a:r>
          </a:p>
          <a:p>
            <a:pPr>
              <a:spcAft>
                <a:spcPts val="700"/>
              </a:spcAft>
            </a:pPr>
            <a:r>
              <a:rPr sz="1550">
                <a:solidFill>
                  <a:srgbClr val="1A1A1A"/>
                </a:solidFill>
              </a:rPr>
              <a:t>•  Flag any component that is weak for that service in Nepal.</a:t>
            </a:r>
          </a:p>
          <a:p>
            <a:pPr>
              <a:spcAft>
                <a:spcPts val="700"/>
              </a:spcAft>
            </a:pPr>
            <a:r>
              <a:rPr sz="1550">
                <a:solidFill>
                  <a:srgbClr val="1A1A1A"/>
                </a:solidFill>
              </a:rPr>
              <a:t>•  Take 3 answers aloud (3 min); resolve hybrids by naming the dominant relationship.</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answers: Daraz = mainly B2C (weak link: logistics outside valley + trust/fake goods); Hamrobazar = C2C (weak link: trust/escrow); Foodmandu = B2C (weak link: rider logistics at peak). Reward naming the DOMINANT type and a real weak component.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142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S16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Which is NOT one of the four characteristics of a digital market?</a:t>
            </a:r>
          </a:p>
          <a:p>
            <a:pPr lvl="1"/>
            <a:r>
              <a:rPr sz="1500" b="1">
                <a:solidFill>
                  <a:srgbClr val="0F6E56"/>
                </a:solidFill>
              </a:rPr>
              <a:t>a) speed   b) scale   c) ✅ high marginal cost per user   d) network effects</a:t>
            </a:r>
          </a:p>
          <a:p>
            <a:pPr lvl="1">
              <a:spcBef>
                <a:spcPts val="600"/>
              </a:spcBef>
            </a:pPr>
            <a:r>
              <a:rPr sz="1500" i="1">
                <a:solidFill>
                  <a:srgbClr val="1A1A1A"/>
                </a:solidFill>
              </a:rPr>
              <a:t>     Why: digital markets have LOW (near-zero) marginal cost — the opposite of high.</a:t>
            </a:r>
          </a:p>
          <a:p>
            <a:pPr>
              <a:spcBef>
                <a:spcPts val="900"/>
              </a:spcBef>
            </a:pPr>
            <a:r>
              <a:rPr sz="1700" b="1">
                <a:solidFill>
                  <a:srgbClr val="0C2B4A"/>
                </a:solidFill>
              </a:rPr>
              <a:t>Q2.  Ordinary people buying and selling used phones to each other on Hamrobazar is:</a:t>
            </a:r>
          </a:p>
          <a:p>
            <a:pPr lvl="1"/>
            <a:r>
              <a:rPr sz="1500" b="1">
                <a:solidFill>
                  <a:srgbClr val="0F6E56"/>
                </a:solidFill>
              </a:rPr>
              <a:t>a) B2C   b) ✅ C2C (consumer-to-consumer)   c) B2B   d) C2B</a:t>
            </a:r>
          </a:p>
          <a:p>
            <a:pPr lvl="1">
              <a:spcBef>
                <a:spcPts val="600"/>
              </a:spcBef>
            </a:pPr>
            <a:r>
              <a:rPr sz="1500" i="1">
                <a:solidFill>
                  <a:srgbClr val="1A1A1A"/>
                </a:solidFill>
              </a:rPr>
              <a:t>     Why: both sides are consumers; the platform only provides the meeting place and trust.</a:t>
            </a:r>
          </a:p>
          <a:p>
            <a:pPr lvl="1">
              <a:spcBef>
                <a:spcPts val="600"/>
              </a:spcBef>
            </a:pPr>
            <a:r>
              <a:rPr sz="1500" i="1">
                <a:solidFill>
                  <a:srgbClr val="1A1A1A"/>
                </a:solidFill>
              </a:rPr>
              <a:t>Discussion: pick a Nepali platform — name its type and its weakest of the 5 components.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142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S16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 digital market matches buyers &amp; sellers online; 4 traits: speed, scale, network effects, low marginal cost.</a:t>
            </a:r>
          </a:p>
          <a:p>
            <a:pPr>
              <a:spcAft>
                <a:spcPts val="800"/>
              </a:spcAft>
            </a:pPr>
            <a:r>
              <a:rPr sz="1500">
                <a:solidFill>
                  <a:srgbClr val="1A1A1A"/>
                </a:solidFill>
              </a:rPr>
              <a:t>2.  It runs on 5 components: platform, payments, logistics, data &amp; analytics, support/trust — only as strong as the weakest.</a:t>
            </a:r>
          </a:p>
          <a:p>
            <a:pPr>
              <a:spcAft>
                <a:spcPts val="800"/>
              </a:spcAft>
            </a:pPr>
            <a:r>
              <a:rPr sz="1500">
                <a:solidFill>
                  <a:srgbClr val="1A1A1A"/>
                </a:solidFill>
              </a:rPr>
              <a:t>3.  Five types by who-sells-to-whom: B2C, B2B, C2C, C2B, P2P — many platforms are hybrids.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Nepali digital business you use is one of these types running on these five components — spotting the type and the weak component is exactly how a founder finds a gap (e.g. better rural logistics) or how you assess where a platform is fragile.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S17 — how digital markets COMPETE: why online competition differs from the bazaar, and winner-take-most.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142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17 · LECTURE HOUR 2 (OF 10)</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Competition in Digital Markets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In Asan, ten shops sell the same rice and compete on price and a friendly smile. Online, one search engine has ~90% of the world and one messenger owns Nepal. Why does competition online so often end with ONE big winner, when the bazaar keeps many sellers alive? Digital competition follows different rules.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17 / 142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Traditional vs Digital Competition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Traditional firms compete mainly on price, location, and product quality within a local area. Digital firms compete on data, network size, speed of innovation, ecosystem, and user experience — often globally and at near-zero marginal cost. A useful lens is Porter's Five Forces (rivalry, new entrants, buyer power, supplier power, substitutes): online, low entry cost raises the threat of new entrants, but network effects and data raise the barriers protecting the leader — so competition is fiercer AND more concentrated.</a:t>
            </a:r>
          </a:p>
          <a:p>
            <a:pPr>
              <a:spcAft>
                <a:spcPts val="500"/>
              </a:spcAft>
            </a:pPr>
            <a:r>
              <a:rPr sz="1200" b="1">
                <a:solidFill>
                  <a:srgbClr val="185FA5"/>
                </a:solidFill>
              </a:rPr>
              <a:t>HOW IT WORKS</a:t>
            </a:r>
          </a:p>
          <a:p>
            <a:pPr>
              <a:spcAft>
                <a:spcPts val="600"/>
              </a:spcAft>
            </a:pPr>
            <a:r>
              <a:rPr sz="1400">
                <a:solidFill>
                  <a:srgbClr val="1A1A1A"/>
                </a:solidFill>
              </a:rPr>
              <a:t>•  Basis of competition shifts: from price/location to data, network size, and user experience.</a:t>
            </a:r>
          </a:p>
          <a:p>
            <a:pPr>
              <a:spcAft>
                <a:spcPts val="600"/>
              </a:spcAft>
            </a:pPr>
            <a:r>
              <a:rPr sz="1400">
                <a:solidFill>
                  <a:srgbClr val="1A1A1A"/>
                </a:solidFill>
              </a:rPr>
              <a:t>•  Reach &amp; speed: local and slow becomes global and near-instant.</a:t>
            </a:r>
          </a:p>
          <a:p>
            <a:pPr>
              <a:spcAft>
                <a:spcPts val="600"/>
              </a:spcAft>
            </a:pPr>
            <a:r>
              <a:rPr sz="1400">
                <a:solidFill>
                  <a:srgbClr val="1A1A1A"/>
                </a:solidFill>
              </a:rPr>
              <a:t>•  Switching costs &amp; data become weapons — the leader learns faster and locks users in (Unit 2).</a:t>
            </a:r>
          </a:p>
          <a:p>
            <a:pPr>
              <a:spcAft>
                <a:spcPts val="600"/>
              </a:spcAft>
            </a:pPr>
            <a:r>
              <a:rPr sz="1400">
                <a:solidFill>
                  <a:srgbClr val="1A1A1A"/>
                </a:solidFill>
              </a:rPr>
              <a:t>•  Porter's Five Forces still apply, but digital changes their strength (easy entry, high moats).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Traditional competes on price/place/quality; digital competes on data, network, speed, UX — global &amp; concentrated.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18 / 142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Traditional competition vs digital competition</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816086"/>
                <a:gridCol w="4141304"/>
                <a:gridCol w="4472608"/>
              </a:tblGrid>
              <a:tr h="552069">
                <a:tc>
                  <a:txBody>
                    <a:bodyPr wrap="square"/>
                    <a:lstStyle/>
                    <a:p>
                      <a:r>
                        <a:rPr sz="1150" b="1">
                          <a:solidFill>
                            <a:srgbClr val="FFFFFF"/>
                          </a:solidFill>
                        </a:rPr>
                        <a:t>Dimension</a:t>
                      </a:r>
                    </a:p>
                  </a:txBody>
                  <a:tcPr anchor="ctr" marL="73152" marR="54864" marT="27432" marB="27432">
                    <a:solidFill>
                      <a:srgbClr val="0C2B4A"/>
                    </a:solidFill>
                  </a:tcPr>
                </a:tc>
                <a:tc>
                  <a:txBody>
                    <a:bodyPr wrap="square"/>
                    <a:lstStyle/>
                    <a:p>
                      <a:r>
                        <a:rPr sz="1150" b="1">
                          <a:solidFill>
                            <a:srgbClr val="FFFFFF"/>
                          </a:solidFill>
                        </a:rPr>
                        <a:t>Traditional competition</a:t>
                      </a:r>
                    </a:p>
                  </a:txBody>
                  <a:tcPr anchor="ctr" marL="73152" marR="54864" marT="27432" marB="27432">
                    <a:solidFill>
                      <a:srgbClr val="0C2B4A"/>
                    </a:solidFill>
                  </a:tcPr>
                </a:tc>
                <a:tc>
                  <a:txBody>
                    <a:bodyPr wrap="square"/>
                    <a:lstStyle/>
                    <a:p>
                      <a:r>
                        <a:rPr sz="1150" b="1">
                          <a:solidFill>
                            <a:srgbClr val="FFFFFF"/>
                          </a:solidFill>
                        </a:rPr>
                        <a:t>Digital competition</a:t>
                      </a:r>
                    </a:p>
                  </a:txBody>
                  <a:tcPr anchor="ctr" marL="73152" marR="54864" marT="27432" marB="27432">
                    <a:solidFill>
                      <a:srgbClr val="0C2B4A"/>
                    </a:solidFill>
                  </a:tcPr>
                </a:tc>
              </a:tr>
              <a:tr h="552069">
                <a:tc>
                  <a:txBody>
                    <a:bodyPr wrap="square"/>
                    <a:lstStyle/>
                    <a:p>
                      <a:r>
                        <a:rPr sz="1100" b="1">
                          <a:solidFill>
                            <a:srgbClr val="0C2B4A"/>
                          </a:solidFill>
                        </a:rPr>
                        <a:t>Basis</a:t>
                      </a:r>
                    </a:p>
                  </a:txBody>
                  <a:tcPr anchor="ctr" marL="73152" marR="54864" marT="27432" marB="27432">
                    <a:solidFill>
                      <a:srgbClr val="FFFFFF"/>
                    </a:solidFill>
                  </a:tcPr>
                </a:tc>
                <a:tc>
                  <a:txBody>
                    <a:bodyPr wrap="square"/>
                    <a:lstStyle/>
                    <a:p>
                      <a:r>
                        <a:rPr sz="1100">
                          <a:solidFill>
                            <a:srgbClr val="1A1A1A"/>
                          </a:solidFill>
                        </a:rPr>
                        <a:t>Price, location, product quality</a:t>
                      </a:r>
                    </a:p>
                  </a:txBody>
                  <a:tcPr anchor="ctr" marL="73152" marR="54864" marT="27432" marB="27432">
                    <a:solidFill>
                      <a:srgbClr val="FFFFFF"/>
                    </a:solidFill>
                  </a:tcPr>
                </a:tc>
                <a:tc>
                  <a:txBody>
                    <a:bodyPr wrap="square"/>
                    <a:lstStyle/>
                    <a:p>
                      <a:r>
                        <a:rPr sz="1100">
                          <a:solidFill>
                            <a:srgbClr val="1A1A1A"/>
                          </a:solidFill>
                        </a:rPr>
                        <a:t>Data, network size, UX, speed of innovation</a:t>
                      </a:r>
                    </a:p>
                  </a:txBody>
                  <a:tcPr anchor="ctr" marL="73152" marR="54864" marT="27432" marB="27432">
                    <a:solidFill>
                      <a:srgbClr val="FFFFFF"/>
                    </a:solidFill>
                  </a:tcPr>
                </a:tc>
              </a:tr>
              <a:tr h="552069">
                <a:tc>
                  <a:txBody>
                    <a:bodyPr wrap="square"/>
                    <a:lstStyle/>
                    <a:p>
                      <a:r>
                        <a:rPr sz="1100" b="1">
                          <a:solidFill>
                            <a:srgbClr val="0C2B4A"/>
                          </a:solidFill>
                        </a:rPr>
                        <a:t>Reach</a:t>
                      </a:r>
                    </a:p>
                  </a:txBody>
                  <a:tcPr anchor="ctr" marL="73152" marR="54864" marT="27432" marB="27432">
                    <a:solidFill>
                      <a:srgbClr val="EEF3F8"/>
                    </a:solidFill>
                  </a:tcPr>
                </a:tc>
                <a:tc>
                  <a:txBody>
                    <a:bodyPr wrap="square"/>
                    <a:lstStyle/>
                    <a:p>
                      <a:r>
                        <a:rPr sz="1100">
                          <a:solidFill>
                            <a:srgbClr val="1A1A1A"/>
                          </a:solidFill>
                        </a:rPr>
                        <a:t>Local / regional</a:t>
                      </a:r>
                    </a:p>
                  </a:txBody>
                  <a:tcPr anchor="ctr" marL="73152" marR="54864" marT="27432" marB="27432">
                    <a:solidFill>
                      <a:srgbClr val="EEF3F8"/>
                    </a:solidFill>
                  </a:tcPr>
                </a:tc>
                <a:tc>
                  <a:txBody>
                    <a:bodyPr wrap="square"/>
                    <a:lstStyle/>
                    <a:p>
                      <a:r>
                        <a:rPr sz="1100">
                          <a:solidFill>
                            <a:srgbClr val="1A1A1A"/>
                          </a:solidFill>
                        </a:rPr>
                        <a:t>National / global</a:t>
                      </a:r>
                    </a:p>
                  </a:txBody>
                  <a:tcPr anchor="ctr" marL="73152" marR="54864" marT="27432" marB="27432">
                    <a:solidFill>
                      <a:srgbClr val="EEF3F8"/>
                    </a:solidFill>
                  </a:tcPr>
                </a:tc>
              </a:tr>
              <a:tr h="552069">
                <a:tc>
                  <a:txBody>
                    <a:bodyPr wrap="square"/>
                    <a:lstStyle/>
                    <a:p>
                      <a:r>
                        <a:rPr sz="1100" b="1">
                          <a:solidFill>
                            <a:srgbClr val="0C2B4A"/>
                          </a:solidFill>
                        </a:rPr>
                        <a:t>Speed</a:t>
                      </a:r>
                    </a:p>
                  </a:txBody>
                  <a:tcPr anchor="ctr" marL="73152" marR="54864" marT="27432" marB="27432">
                    <a:solidFill>
                      <a:srgbClr val="FFFFFF"/>
                    </a:solidFill>
                  </a:tcPr>
                </a:tc>
                <a:tc>
                  <a:txBody>
                    <a:bodyPr wrap="square"/>
                    <a:lstStyle/>
                    <a:p>
                      <a:r>
                        <a:rPr sz="1100">
                          <a:solidFill>
                            <a:srgbClr val="1A1A1A"/>
                          </a:solidFill>
                        </a:rPr>
                        <a:t>Slow (months to react)</a:t>
                      </a:r>
                    </a:p>
                  </a:txBody>
                  <a:tcPr anchor="ctr" marL="73152" marR="54864" marT="27432" marB="27432">
                    <a:solidFill>
                      <a:srgbClr val="FFFFFF"/>
                    </a:solidFill>
                  </a:tcPr>
                </a:tc>
                <a:tc>
                  <a:txBody>
                    <a:bodyPr wrap="square"/>
                    <a:lstStyle/>
                    <a:p>
                      <a:r>
                        <a:rPr sz="1100">
                          <a:solidFill>
                            <a:srgbClr val="1A1A1A"/>
                          </a:solidFill>
                        </a:rPr>
                        <a:t>Fast (features ship in days)</a:t>
                      </a:r>
                    </a:p>
                  </a:txBody>
                  <a:tcPr anchor="ctr" marL="73152" marR="54864" marT="27432" marB="27432">
                    <a:solidFill>
                      <a:srgbClr val="FFFFFF"/>
                    </a:solidFill>
                  </a:tcPr>
                </a:tc>
              </a:tr>
              <a:tr h="552069">
                <a:tc>
                  <a:txBody>
                    <a:bodyPr wrap="square"/>
                    <a:lstStyle/>
                    <a:p>
                      <a:r>
                        <a:rPr sz="1100" b="1">
                          <a:solidFill>
                            <a:srgbClr val="0C2B4A"/>
                          </a:solidFill>
                        </a:rPr>
                        <a:t>Cost of growth</a:t>
                      </a:r>
                    </a:p>
                  </a:txBody>
                  <a:tcPr anchor="ctr" marL="73152" marR="54864" marT="27432" marB="27432">
                    <a:solidFill>
                      <a:srgbClr val="EEF3F8"/>
                    </a:solidFill>
                  </a:tcPr>
                </a:tc>
                <a:tc>
                  <a:txBody>
                    <a:bodyPr wrap="square"/>
                    <a:lstStyle/>
                    <a:p>
                      <a:r>
                        <a:rPr sz="1100">
                          <a:solidFill>
                            <a:srgbClr val="1A1A1A"/>
                          </a:solidFill>
                        </a:rPr>
                        <a:t>High (each unit costs)</a:t>
                      </a:r>
                    </a:p>
                  </a:txBody>
                  <a:tcPr anchor="ctr" marL="73152" marR="54864" marT="27432" marB="27432">
                    <a:solidFill>
                      <a:srgbClr val="EEF3F8"/>
                    </a:solidFill>
                  </a:tcPr>
                </a:tc>
                <a:tc>
                  <a:txBody>
                    <a:bodyPr wrap="square"/>
                    <a:lstStyle/>
                    <a:p>
                      <a:r>
                        <a:rPr sz="1100">
                          <a:solidFill>
                            <a:srgbClr val="1A1A1A"/>
                          </a:solidFill>
                        </a:rPr>
                        <a:t>Low (near-zero marginal cost)</a:t>
                      </a:r>
                    </a:p>
                  </a:txBody>
                  <a:tcPr anchor="ctr" marL="73152" marR="54864" marT="27432" marB="27432">
                    <a:solidFill>
                      <a:srgbClr val="EEF3F8"/>
                    </a:solidFill>
                  </a:tcPr>
                </a:tc>
              </a:tr>
              <a:tr h="552069">
                <a:tc>
                  <a:txBody>
                    <a:bodyPr wrap="square"/>
                    <a:lstStyle/>
                    <a:p>
                      <a:r>
                        <a:rPr sz="1100" b="1">
                          <a:solidFill>
                            <a:srgbClr val="0C2B4A"/>
                          </a:solidFill>
                        </a:rPr>
                        <a:t>Switching cost for buyer</a:t>
                      </a:r>
                    </a:p>
                  </a:txBody>
                  <a:tcPr anchor="ctr" marL="73152" marR="54864" marT="27432" marB="27432">
                    <a:solidFill>
                      <a:srgbClr val="FFFFFF"/>
                    </a:solidFill>
                  </a:tcPr>
                </a:tc>
                <a:tc>
                  <a:txBody>
                    <a:bodyPr wrap="square"/>
                    <a:lstStyle/>
                    <a:p>
                      <a:r>
                        <a:rPr sz="1100">
                          <a:solidFill>
                            <a:srgbClr val="1A1A1A"/>
                          </a:solidFill>
                        </a:rPr>
                        <a:t>Low (walk to next shop)</a:t>
                      </a:r>
                    </a:p>
                  </a:txBody>
                  <a:tcPr anchor="ctr" marL="73152" marR="54864" marT="27432" marB="27432">
                    <a:solidFill>
                      <a:srgbClr val="FFFFFF"/>
                    </a:solidFill>
                  </a:tcPr>
                </a:tc>
                <a:tc>
                  <a:txBody>
                    <a:bodyPr wrap="square"/>
                    <a:lstStyle/>
                    <a:p>
                      <a:r>
                        <a:rPr sz="1100">
                          <a:solidFill>
                            <a:srgbClr val="1A1A1A"/>
                          </a:solidFill>
                        </a:rPr>
                        <a:t>Often high (data, habit, network)</a:t>
                      </a:r>
                    </a:p>
                  </a:txBody>
                  <a:tcPr anchor="ctr" marL="73152" marR="54864" marT="27432" marB="27432">
                    <a:solidFill>
                      <a:srgbClr val="FFFFFF"/>
                    </a:solidFill>
                  </a:tcPr>
                </a:tc>
              </a:tr>
              <a:tr h="552069">
                <a:tc>
                  <a:txBody>
                    <a:bodyPr wrap="square"/>
                    <a:lstStyle/>
                    <a:p>
                      <a:r>
                        <a:rPr sz="1100" b="1">
                          <a:solidFill>
                            <a:srgbClr val="0C2B4A"/>
                          </a:solidFill>
                        </a:rPr>
                        <a:t>Role of data</a:t>
                      </a:r>
                    </a:p>
                  </a:txBody>
                  <a:tcPr anchor="ctr" marL="73152" marR="54864" marT="27432" marB="27432">
                    <a:solidFill>
                      <a:srgbClr val="EEF3F8"/>
                    </a:solidFill>
                  </a:tcPr>
                </a:tc>
                <a:tc>
                  <a:txBody>
                    <a:bodyPr wrap="square"/>
                    <a:lstStyle/>
                    <a:p>
                      <a:r>
                        <a:rPr sz="1100">
                          <a:solidFill>
                            <a:srgbClr val="1A1A1A"/>
                          </a:solidFill>
                        </a:rPr>
                        <a:t>Minor</a:t>
                      </a:r>
                    </a:p>
                  </a:txBody>
                  <a:tcPr anchor="ctr" marL="73152" marR="54864" marT="27432" marB="27432">
                    <a:solidFill>
                      <a:srgbClr val="EEF3F8"/>
                    </a:solidFill>
                  </a:tcPr>
                </a:tc>
                <a:tc>
                  <a:txBody>
                    <a:bodyPr wrap="square"/>
                    <a:lstStyle/>
                    <a:p>
                      <a:r>
                        <a:rPr sz="1100">
                          <a:solidFill>
                            <a:srgbClr val="1A1A1A"/>
                          </a:solidFill>
                        </a:rPr>
                        <a:t>Central — a competitive weapon</a:t>
                      </a:r>
                    </a:p>
                  </a:txBody>
                  <a:tcPr anchor="ctr" marL="73152" marR="54864" marT="27432" marB="27432">
                    <a:solidFill>
                      <a:srgbClr val="EEF3F8"/>
                    </a:solidFill>
                  </a:tcPr>
                </a:tc>
              </a:tr>
              <a:tr h="552069">
                <a:tc>
                  <a:txBody>
                    <a:bodyPr wrap="square"/>
                    <a:lstStyle/>
                    <a:p>
                      <a:r>
                        <a:rPr sz="1100" b="1">
                          <a:solidFill>
                            <a:srgbClr val="0C2B4A"/>
                          </a:solidFill>
                        </a:rPr>
                        <a:t>Typical outcome</a:t>
                      </a:r>
                    </a:p>
                  </a:txBody>
                  <a:tcPr anchor="ctr" marL="73152" marR="54864" marT="27432" marB="27432">
                    <a:solidFill>
                      <a:srgbClr val="FFFFFF"/>
                    </a:solidFill>
                  </a:tcPr>
                </a:tc>
                <a:tc>
                  <a:txBody>
                    <a:bodyPr wrap="square"/>
                    <a:lstStyle/>
                    <a:p>
                      <a:r>
                        <a:rPr sz="1100">
                          <a:solidFill>
                            <a:srgbClr val="1A1A1A"/>
                          </a:solidFill>
                        </a:rPr>
                        <a:t>Many firms coexist</a:t>
                      </a:r>
                    </a:p>
                  </a:txBody>
                  <a:tcPr anchor="ctr" marL="73152" marR="54864" marT="27432" marB="27432">
                    <a:solidFill>
                      <a:srgbClr val="FFFFFF"/>
                    </a:solidFill>
                  </a:tcPr>
                </a:tc>
                <a:tc>
                  <a:txBody>
                    <a:bodyPr wrap="square"/>
                    <a:lstStyle/>
                    <a:p>
                      <a:r>
                        <a:rPr sz="1100">
                          <a:solidFill>
                            <a:srgbClr val="1A1A1A"/>
                          </a:solidFill>
                        </a:rPr>
                        <a:t>Winner-take-most (one dominant)</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Same five Porter forces, different strengths: online entry is cheap (more entrants) yet network effects and data build high moats (fewer survive) — which is why digital competition is both fiercer and more concentrated.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142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Porter's Five Forces — the digital twist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058732"/>
                <a:gridCol w="3541690"/>
                <a:gridCol w="4829577"/>
              </a:tblGrid>
              <a:tr h="736092">
                <a:tc>
                  <a:txBody>
                    <a:bodyPr wrap="square"/>
                    <a:lstStyle/>
                    <a:p>
                      <a:r>
                        <a:rPr sz="1100" b="1">
                          <a:solidFill>
                            <a:srgbClr val="FFFFFF"/>
                          </a:solidFill>
                        </a:rPr>
                        <a:t>Force</a:t>
                      </a:r>
                    </a:p>
                  </a:txBody>
                  <a:tcPr anchor="ctr" marL="73152" marR="54864" marT="27432" marB="27432">
                    <a:solidFill>
                      <a:srgbClr val="0C2B4A"/>
                    </a:solidFill>
                  </a:tcPr>
                </a:tc>
                <a:tc>
                  <a:txBody>
                    <a:bodyPr wrap="square"/>
                    <a:lstStyle/>
                    <a:p>
                      <a:r>
                        <a:rPr sz="1100" b="1">
                          <a:solidFill>
                            <a:srgbClr val="FFFFFF"/>
                          </a:solidFill>
                        </a:rPr>
                        <a:t>What it asks</a:t>
                      </a:r>
                    </a:p>
                  </a:txBody>
                  <a:tcPr anchor="ctr" marL="73152" marR="54864" marT="27432" marB="27432">
                    <a:solidFill>
                      <a:srgbClr val="0C2B4A"/>
                    </a:solidFill>
                  </a:tcPr>
                </a:tc>
                <a:tc>
                  <a:txBody>
                    <a:bodyPr wrap="square"/>
                    <a:lstStyle/>
                    <a:p>
                      <a:r>
                        <a:rPr sz="1100" b="1">
                          <a:solidFill>
                            <a:srgbClr val="FFFFFF"/>
                          </a:solidFill>
                        </a:rPr>
                        <a:t>Digital twist (example)</a:t>
                      </a:r>
                    </a:p>
                  </a:txBody>
                  <a:tcPr anchor="ctr" marL="73152" marR="54864" marT="27432" marB="27432">
                    <a:solidFill>
                      <a:srgbClr val="0C2B4A"/>
                    </a:solidFill>
                  </a:tcPr>
                </a:tc>
              </a:tr>
              <a:tr h="736092">
                <a:tc>
                  <a:txBody>
                    <a:bodyPr wrap="square"/>
                    <a:lstStyle/>
                    <a:p>
                      <a:r>
                        <a:rPr sz="1050" b="1">
                          <a:solidFill>
                            <a:srgbClr val="0C2B4A"/>
                          </a:solidFill>
                        </a:rPr>
                        <a:t>Rivalry among firms</a:t>
                      </a:r>
                    </a:p>
                  </a:txBody>
                  <a:tcPr anchor="ctr" marL="73152" marR="54864" marT="27432" marB="27432">
                    <a:solidFill>
                      <a:srgbClr val="FFFFFF"/>
                    </a:solidFill>
                  </a:tcPr>
                </a:tc>
                <a:tc>
                  <a:txBody>
                    <a:bodyPr wrap="square"/>
                    <a:lstStyle/>
                    <a:p>
                      <a:r>
                        <a:rPr sz="1050">
                          <a:solidFill>
                            <a:srgbClr val="1A1A1A"/>
                          </a:solidFill>
                        </a:rPr>
                        <a:t>How intense is competition?</a:t>
                      </a:r>
                    </a:p>
                  </a:txBody>
                  <a:tcPr anchor="ctr" marL="73152" marR="54864" marT="27432" marB="27432">
                    <a:solidFill>
                      <a:srgbClr val="FFFFFF"/>
                    </a:solidFill>
                  </a:tcPr>
                </a:tc>
                <a:tc>
                  <a:txBody>
                    <a:bodyPr wrap="square"/>
                    <a:lstStyle/>
                    <a:p>
                      <a:r>
                        <a:rPr sz="1050">
                          <a:solidFill>
                            <a:srgbClr val="1A1A1A"/>
                          </a:solidFill>
                        </a:rPr>
                        <a:t>Fierce but often winner-take-most (search)</a:t>
                      </a:r>
                    </a:p>
                  </a:txBody>
                  <a:tcPr anchor="ctr" marL="73152" marR="54864" marT="27432" marB="27432">
                    <a:solidFill>
                      <a:srgbClr val="FFFFFF"/>
                    </a:solidFill>
                  </a:tcPr>
                </a:tc>
              </a:tr>
              <a:tr h="736092">
                <a:tc>
                  <a:txBody>
                    <a:bodyPr wrap="square"/>
                    <a:lstStyle/>
                    <a:p>
                      <a:r>
                        <a:rPr sz="1050" b="1">
                          <a:solidFill>
                            <a:srgbClr val="0C2B4A"/>
                          </a:solidFill>
                        </a:rPr>
                        <a:t>Threat of new entrants</a:t>
                      </a:r>
                    </a:p>
                  </a:txBody>
                  <a:tcPr anchor="ctr" marL="73152" marR="54864" marT="27432" marB="27432">
                    <a:solidFill>
                      <a:srgbClr val="EEF3F8"/>
                    </a:solidFill>
                  </a:tcPr>
                </a:tc>
                <a:tc>
                  <a:txBody>
                    <a:bodyPr wrap="square"/>
                    <a:lstStyle/>
                    <a:p>
                      <a:r>
                        <a:rPr sz="1050">
                          <a:solidFill>
                            <a:srgbClr val="1A1A1A"/>
                          </a:solidFill>
                        </a:rPr>
                        <a:t>How easy to enter?</a:t>
                      </a:r>
                    </a:p>
                  </a:txBody>
                  <a:tcPr anchor="ctr" marL="73152" marR="54864" marT="27432" marB="27432">
                    <a:solidFill>
                      <a:srgbClr val="EEF3F8"/>
                    </a:solidFill>
                  </a:tcPr>
                </a:tc>
                <a:tc>
                  <a:txBody>
                    <a:bodyPr wrap="square"/>
                    <a:lstStyle/>
                    <a:p>
                      <a:r>
                        <a:rPr sz="1050">
                          <a:solidFill>
                            <a:srgbClr val="1A1A1A"/>
                          </a:solidFill>
                        </a:rPr>
                        <a:t>Easy to start, hard to scale vs network effects</a:t>
                      </a:r>
                    </a:p>
                  </a:txBody>
                  <a:tcPr anchor="ctr" marL="73152" marR="54864" marT="27432" marB="27432">
                    <a:solidFill>
                      <a:srgbClr val="EEF3F8"/>
                    </a:solidFill>
                  </a:tcPr>
                </a:tc>
              </a:tr>
              <a:tr h="736092">
                <a:tc>
                  <a:txBody>
                    <a:bodyPr wrap="square"/>
                    <a:lstStyle/>
                    <a:p>
                      <a:r>
                        <a:rPr sz="1050" b="1">
                          <a:solidFill>
                            <a:srgbClr val="0C2B4A"/>
                          </a:solidFill>
                        </a:rPr>
                        <a:t>Buyer power</a:t>
                      </a:r>
                    </a:p>
                  </a:txBody>
                  <a:tcPr anchor="ctr" marL="73152" marR="54864" marT="27432" marB="27432">
                    <a:solidFill>
                      <a:srgbClr val="FFFFFF"/>
                    </a:solidFill>
                  </a:tcPr>
                </a:tc>
                <a:tc>
                  <a:txBody>
                    <a:bodyPr wrap="square"/>
                    <a:lstStyle/>
                    <a:p>
                      <a:r>
                        <a:rPr sz="1050">
                          <a:solidFill>
                            <a:srgbClr val="1A1A1A"/>
                          </a:solidFill>
                        </a:rPr>
                        <a:t>Can buyers push back?</a:t>
                      </a:r>
                    </a:p>
                  </a:txBody>
                  <a:tcPr anchor="ctr" marL="73152" marR="54864" marT="27432" marB="27432">
                    <a:solidFill>
                      <a:srgbClr val="FFFFFF"/>
                    </a:solidFill>
                  </a:tcPr>
                </a:tc>
                <a:tc>
                  <a:txBody>
                    <a:bodyPr wrap="square"/>
                    <a:lstStyle/>
                    <a:p>
                      <a:r>
                        <a:rPr sz="1050">
                          <a:solidFill>
                            <a:srgbClr val="1A1A1A"/>
                          </a:solidFill>
                        </a:rPr>
                        <a:t>High — reviews &amp; one-click switching (small items)</a:t>
                      </a:r>
                    </a:p>
                  </a:txBody>
                  <a:tcPr anchor="ctr" marL="73152" marR="54864" marT="27432" marB="27432">
                    <a:solidFill>
                      <a:srgbClr val="FFFFFF"/>
                    </a:solidFill>
                  </a:tcPr>
                </a:tc>
              </a:tr>
              <a:tr h="736092">
                <a:tc>
                  <a:txBody>
                    <a:bodyPr wrap="square"/>
                    <a:lstStyle/>
                    <a:p>
                      <a:r>
                        <a:rPr sz="1050" b="1">
                          <a:solidFill>
                            <a:srgbClr val="0C2B4A"/>
                          </a:solidFill>
                        </a:rPr>
                        <a:t>Supplier power</a:t>
                      </a:r>
                    </a:p>
                  </a:txBody>
                  <a:tcPr anchor="ctr" marL="73152" marR="54864" marT="27432" marB="27432">
                    <a:solidFill>
                      <a:srgbClr val="EEF3F8"/>
                    </a:solidFill>
                  </a:tcPr>
                </a:tc>
                <a:tc>
                  <a:txBody>
                    <a:bodyPr wrap="square"/>
                    <a:lstStyle/>
                    <a:p>
                      <a:r>
                        <a:rPr sz="1050">
                          <a:solidFill>
                            <a:srgbClr val="1A1A1A"/>
                          </a:solidFill>
                        </a:rPr>
                        <a:t>Can suppliers squeeze you?</a:t>
                      </a:r>
                    </a:p>
                  </a:txBody>
                  <a:tcPr anchor="ctr" marL="73152" marR="54864" marT="27432" marB="27432">
                    <a:solidFill>
                      <a:srgbClr val="EEF3F8"/>
                    </a:solidFill>
                  </a:tcPr>
                </a:tc>
                <a:tc>
                  <a:txBody>
                    <a:bodyPr wrap="square"/>
                    <a:lstStyle/>
                    <a:p>
                      <a:r>
                        <a:rPr sz="1050">
                          <a:solidFill>
                            <a:srgbClr val="1A1A1A"/>
                          </a:solidFill>
                        </a:rPr>
                        <a:t>Sellers depend on the platform (low power)</a:t>
                      </a:r>
                    </a:p>
                  </a:txBody>
                  <a:tcPr anchor="ctr" marL="73152" marR="54864" marT="27432" marB="27432">
                    <a:solidFill>
                      <a:srgbClr val="EEF3F8"/>
                    </a:solidFill>
                  </a:tcPr>
                </a:tc>
              </a:tr>
              <a:tr h="736092">
                <a:tc>
                  <a:txBody>
                    <a:bodyPr wrap="square"/>
                    <a:lstStyle/>
                    <a:p>
                      <a:r>
                        <a:rPr sz="1050" b="1">
                          <a:solidFill>
                            <a:srgbClr val="0C2B4A"/>
                          </a:solidFill>
                        </a:rPr>
                        <a:t>Threat of substitutes</a:t>
                      </a:r>
                    </a:p>
                  </a:txBody>
                  <a:tcPr anchor="ctr" marL="73152" marR="54864" marT="27432" marB="27432">
                    <a:solidFill>
                      <a:srgbClr val="FFFFFF"/>
                    </a:solidFill>
                  </a:tcPr>
                </a:tc>
                <a:tc>
                  <a:txBody>
                    <a:bodyPr wrap="square"/>
                    <a:lstStyle/>
                    <a:p>
                      <a:r>
                        <a:rPr sz="1050">
                          <a:solidFill>
                            <a:srgbClr val="1A1A1A"/>
                          </a:solidFill>
                        </a:rPr>
                        <a:t>Is there another way?</a:t>
                      </a:r>
                    </a:p>
                  </a:txBody>
                  <a:tcPr anchor="ctr" marL="73152" marR="54864" marT="27432" marB="27432">
                    <a:solidFill>
                      <a:srgbClr val="FFFFFF"/>
                    </a:solidFill>
                  </a:tcPr>
                </a:tc>
                <a:tc>
                  <a:txBody>
                    <a:bodyPr wrap="square"/>
                    <a:lstStyle/>
                    <a:p>
                      <a:r>
                        <a:rPr sz="1050">
                          <a:solidFill>
                            <a:srgbClr val="1A1A1A"/>
                          </a:solidFill>
                        </a:rPr>
                        <a:t>Many apps substitute (super-apps absorb them)</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Porter's framework still works as a checklist, but network effects, data, and low marginal cost bend every force toward the incumbent once a platform gets ahead — the moat, not the smile, wins online.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20 / 142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Traditional vs Digital Competition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Two Kathmandu grocery shops compete on price and location; a customer walks to whichever is cheaper. Daraz vs a new e-commerce startup is different — Daraz competes with data (it knows what you buy), a huge seller network, faster feature updates, and switching costs (your saved cards, order history). The startup can copy the app in months but cannot copy Daraz's network or data, so digital competition concentrates.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"Online competition is just offline competition with a website." The BASIS changes: from price/location to data, network size, speed, and user experience, at global scale and near-zero marginal cost. Porter's five forces still apply, but network effects and data tilt them toward whoever leads — so digital markets concentrate far more than the bazaar.</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Traditional firms compete on price, location, and quality locally; digital firms compete on data, network size, speed of innovation, ecosystem, and user experience, usually globally and at near-zero marginal cost. Porter's Five Forces (rivalry, entrants, buyer power, supplier power, substitutes) still apply, but online, easy entry raises the entrant threat while network effects and data raise the incumbent's moat — making competition both fiercer and more concentrated.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basis of competition · data as weapon · global reach · Porter's Five Forces · concentration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142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Winner-Take-Most &amp; Platform Dominance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In many digital markets competition ends in 'winner-take-most' — the leader captures the bulk of the market, one small rival survives, and the rest fade. This is the same mechanism as Unit 2's tipping: network effects + economies of scale + switching costs create increasing returns, so being slightly ahead compounds into dominance. But not every market tips — where multi-homing is easy and needs are local (ride-hailing, food delivery), several players coexist.</a:t>
            </a:r>
          </a:p>
          <a:p>
            <a:pPr>
              <a:spcAft>
                <a:spcPts val="500"/>
              </a:spcAft>
            </a:pPr>
            <a:r>
              <a:rPr sz="1200" b="1">
                <a:solidFill>
                  <a:srgbClr val="185FA5"/>
                </a:solidFill>
              </a:rPr>
              <a:t>HOW IT WORKS</a:t>
            </a:r>
          </a:p>
          <a:p>
            <a:pPr>
              <a:spcAft>
                <a:spcPts val="600"/>
              </a:spcAft>
            </a:pPr>
            <a:r>
              <a:rPr sz="1400">
                <a:solidFill>
                  <a:srgbClr val="1A1A1A"/>
                </a:solidFill>
              </a:rPr>
              <a:t>•  Winner-take-most, not always winner-take-ALL: a small rival usually lingers.</a:t>
            </a:r>
          </a:p>
          <a:p>
            <a:pPr>
              <a:spcAft>
                <a:spcPts val="600"/>
              </a:spcAft>
            </a:pPr>
            <a:r>
              <a:rPr sz="1400">
                <a:solidFill>
                  <a:srgbClr val="1A1A1A"/>
                </a:solidFill>
              </a:rPr>
              <a:t>•  Driver = increasing returns (network effects + scale + lock-in — all from Unit 2).</a:t>
            </a:r>
          </a:p>
          <a:p>
            <a:pPr>
              <a:spcAft>
                <a:spcPts val="600"/>
              </a:spcAft>
            </a:pPr>
            <a:r>
              <a:rPr sz="1400">
                <a:solidFill>
                  <a:srgbClr val="1A1A1A"/>
                </a:solidFill>
              </a:rPr>
              <a:t>•  Past a tipping point, users pile onto the leader and reversal becomes very hard.</a:t>
            </a:r>
          </a:p>
          <a:p>
            <a:pPr>
              <a:spcAft>
                <a:spcPts val="600"/>
              </a:spcAft>
            </a:pPr>
            <a:r>
              <a:rPr sz="1400">
                <a:solidFill>
                  <a:srgbClr val="1A1A1A"/>
                </a:solidFill>
              </a:rPr>
              <a:t>•  Not universal: easy multi-homing + local needs keep some markets contested (Pathao vs InDrive).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Winner-take-most: increasing returns tip many digital markets to one leader — but not all (multi-homing keeps some contested).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142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Nepali digital markets — tipped vs contested</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143125"/>
                <a:gridCol w="2571750"/>
                <a:gridCol w="2714625"/>
                <a:gridCol w="4000500"/>
              </a:tblGrid>
              <a:tr h="630936">
                <a:tc>
                  <a:txBody>
                    <a:bodyPr wrap="square"/>
                    <a:lstStyle/>
                    <a:p>
                      <a:r>
                        <a:rPr sz="1100" b="1">
                          <a:solidFill>
                            <a:srgbClr val="FFFFFF"/>
                          </a:solidFill>
                        </a:rPr>
                        <a:t>Market</a:t>
                      </a:r>
                    </a:p>
                  </a:txBody>
                  <a:tcPr anchor="ctr" marL="73152" marR="54864" marT="27432" marB="27432">
                    <a:solidFill>
                      <a:srgbClr val="0C2B4A"/>
                    </a:solidFill>
                  </a:tcPr>
                </a:tc>
                <a:tc>
                  <a:txBody>
                    <a:bodyPr wrap="square"/>
                    <a:lstStyle/>
                    <a:p>
                      <a:r>
                        <a:rPr sz="1100" b="1">
                          <a:solidFill>
                            <a:srgbClr val="FFFFFF"/>
                          </a:solidFill>
                        </a:rPr>
                        <a:t>Leader(s)</a:t>
                      </a:r>
                    </a:p>
                  </a:txBody>
                  <a:tcPr anchor="ctr" marL="73152" marR="54864" marT="27432" marB="27432">
                    <a:solidFill>
                      <a:srgbClr val="0C2B4A"/>
                    </a:solidFill>
                  </a:tcPr>
                </a:tc>
                <a:tc>
                  <a:txBody>
                    <a:bodyPr wrap="square"/>
                    <a:lstStyle/>
                    <a:p>
                      <a:r>
                        <a:rPr sz="1100" b="1">
                          <a:solidFill>
                            <a:srgbClr val="FFFFFF"/>
                          </a:solidFill>
                        </a:rPr>
                        <a:t>Tipped or contested?</a:t>
                      </a:r>
                    </a:p>
                  </a:txBody>
                  <a:tcPr anchor="ctr" marL="73152" marR="54864" marT="27432" marB="27432">
                    <a:solidFill>
                      <a:srgbClr val="0C2B4A"/>
                    </a:solidFill>
                  </a:tcPr>
                </a:tc>
                <a:tc>
                  <a:txBody>
                    <a:bodyPr wrap="square"/>
                    <a:lstStyle/>
                    <a:p>
                      <a:r>
                        <a:rPr sz="1100" b="1">
                          <a:solidFill>
                            <a:srgbClr val="FFFFFF"/>
                          </a:solidFill>
                        </a:rPr>
                        <a:t>Why</a:t>
                      </a:r>
                    </a:p>
                  </a:txBody>
                  <a:tcPr anchor="ctr" marL="73152" marR="54864" marT="27432" marB="27432">
                    <a:solidFill>
                      <a:srgbClr val="0C2B4A"/>
                    </a:solidFill>
                  </a:tcPr>
                </a:tc>
              </a:tr>
              <a:tr h="630936">
                <a:tc>
                  <a:txBody>
                    <a:bodyPr wrap="square"/>
                    <a:lstStyle/>
                    <a:p>
                      <a:r>
                        <a:rPr sz="1050" b="1">
                          <a:solidFill>
                            <a:srgbClr val="0C2B4A"/>
                          </a:solidFill>
                        </a:rPr>
                        <a:t>Search</a:t>
                      </a:r>
                    </a:p>
                  </a:txBody>
                  <a:tcPr anchor="ctr" marL="73152" marR="54864" marT="27432" marB="27432">
                    <a:solidFill>
                      <a:srgbClr val="FFFFFF"/>
                    </a:solidFill>
                  </a:tcPr>
                </a:tc>
                <a:tc>
                  <a:txBody>
                    <a:bodyPr wrap="square"/>
                    <a:lstStyle/>
                    <a:p>
                      <a:r>
                        <a:rPr sz="1050">
                          <a:solidFill>
                            <a:srgbClr val="1A1A1A"/>
                          </a:solidFill>
                        </a:rPr>
                        <a:t>Google</a:t>
                      </a:r>
                    </a:p>
                  </a:txBody>
                  <a:tcPr anchor="ctr" marL="73152" marR="54864" marT="27432" marB="27432">
                    <a:solidFill>
                      <a:srgbClr val="FFFFFF"/>
                    </a:solidFill>
                  </a:tcPr>
                </a:tc>
                <a:tc>
                  <a:txBody>
                    <a:bodyPr wrap="square"/>
                    <a:lstStyle/>
                    <a:p>
                      <a:r>
                        <a:rPr sz="1050">
                          <a:solidFill>
                            <a:srgbClr val="1A1A1A"/>
                          </a:solidFill>
                        </a:rPr>
                        <a:t>Tipped (global)</a:t>
                      </a:r>
                    </a:p>
                  </a:txBody>
                  <a:tcPr anchor="ctr" marL="73152" marR="54864" marT="27432" marB="27432">
                    <a:solidFill>
                      <a:srgbClr val="FFFFFF"/>
                    </a:solidFill>
                  </a:tcPr>
                </a:tc>
                <a:tc>
                  <a:txBody>
                    <a:bodyPr wrap="square"/>
                    <a:lstStyle/>
                    <a:p>
                      <a:r>
                        <a:rPr sz="1050">
                          <a:solidFill>
                            <a:srgbClr val="1A1A1A"/>
                          </a:solidFill>
                        </a:rPr>
                        <a:t>Strong data + habit; no reason to multi-home</a:t>
                      </a:r>
                    </a:p>
                  </a:txBody>
                  <a:tcPr anchor="ctr" marL="73152" marR="54864" marT="27432" marB="27432">
                    <a:solidFill>
                      <a:srgbClr val="FFFFFF"/>
                    </a:solidFill>
                  </a:tcPr>
                </a:tc>
              </a:tr>
              <a:tr h="630936">
                <a:tc>
                  <a:txBody>
                    <a:bodyPr wrap="square"/>
                    <a:lstStyle/>
                    <a:p>
                      <a:r>
                        <a:rPr sz="1050" b="1">
                          <a:solidFill>
                            <a:srgbClr val="0C2B4A"/>
                          </a:solidFill>
                        </a:rPr>
                        <a:t>Messaging</a:t>
                      </a:r>
                    </a:p>
                  </a:txBody>
                  <a:tcPr anchor="ctr" marL="73152" marR="54864" marT="27432" marB="27432">
                    <a:solidFill>
                      <a:srgbClr val="EEF3F8"/>
                    </a:solidFill>
                  </a:tcPr>
                </a:tc>
                <a:tc>
                  <a:txBody>
                    <a:bodyPr wrap="square"/>
                    <a:lstStyle/>
                    <a:p>
                      <a:r>
                        <a:rPr sz="1050">
                          <a:solidFill>
                            <a:srgbClr val="1A1A1A"/>
                          </a:solidFill>
                        </a:rPr>
                        <a:t>WhatsApp/Viber</a:t>
                      </a:r>
                    </a:p>
                  </a:txBody>
                  <a:tcPr anchor="ctr" marL="73152" marR="54864" marT="27432" marB="27432">
                    <a:solidFill>
                      <a:srgbClr val="EEF3F8"/>
                    </a:solidFill>
                  </a:tcPr>
                </a:tc>
                <a:tc>
                  <a:txBody>
                    <a:bodyPr wrap="square"/>
                    <a:lstStyle/>
                    <a:p>
                      <a:r>
                        <a:rPr sz="1050">
                          <a:solidFill>
                            <a:srgbClr val="1A1A1A"/>
                          </a:solidFill>
                        </a:rPr>
                        <a:t>Tipped to WhatsApp</a:t>
                      </a:r>
                    </a:p>
                  </a:txBody>
                  <a:tcPr anchor="ctr" marL="73152" marR="54864" marT="27432" marB="27432">
                    <a:solidFill>
                      <a:srgbClr val="EEF3F8"/>
                    </a:solidFill>
                  </a:tcPr>
                </a:tc>
                <a:tc>
                  <a:txBody>
                    <a:bodyPr wrap="square"/>
                    <a:lstStyle/>
                    <a:p>
                      <a:r>
                        <a:rPr sz="1050">
                          <a:solidFill>
                            <a:srgbClr val="1A1A1A"/>
                          </a:solidFill>
                        </a:rPr>
                        <a:t>Contacts settled on one; high switching cost</a:t>
                      </a:r>
                    </a:p>
                  </a:txBody>
                  <a:tcPr anchor="ctr" marL="73152" marR="54864" marT="27432" marB="27432">
                    <a:solidFill>
                      <a:srgbClr val="EEF3F8"/>
                    </a:solidFill>
                  </a:tcPr>
                </a:tc>
              </a:tr>
              <a:tr h="630936">
                <a:tc>
                  <a:txBody>
                    <a:bodyPr wrap="square"/>
                    <a:lstStyle/>
                    <a:p>
                      <a:r>
                        <a:rPr sz="1050" b="1">
                          <a:solidFill>
                            <a:srgbClr val="0C2B4A"/>
                          </a:solidFill>
                        </a:rPr>
                        <a:t>Digital wallet</a:t>
                      </a:r>
                    </a:p>
                  </a:txBody>
                  <a:tcPr anchor="ctr" marL="73152" marR="54864" marT="27432" marB="27432">
                    <a:solidFill>
                      <a:srgbClr val="FFFFFF"/>
                    </a:solidFill>
                  </a:tcPr>
                </a:tc>
                <a:tc>
                  <a:txBody>
                    <a:bodyPr wrap="square"/>
                    <a:lstStyle/>
                    <a:p>
                      <a:r>
                        <a:rPr sz="1050">
                          <a:solidFill>
                            <a:srgbClr val="1A1A1A"/>
                          </a:solidFill>
                        </a:rPr>
                        <a:t>eSewa, Khalti</a:t>
                      </a:r>
                    </a:p>
                  </a:txBody>
                  <a:tcPr anchor="ctr" marL="73152" marR="54864" marT="27432" marB="27432">
                    <a:solidFill>
                      <a:srgbClr val="FFFFFF"/>
                    </a:solidFill>
                  </a:tcPr>
                </a:tc>
                <a:tc>
                  <a:txBody>
                    <a:bodyPr wrap="square"/>
                    <a:lstStyle/>
                    <a:p>
                      <a:r>
                        <a:rPr sz="1050">
                          <a:solidFill>
                            <a:srgbClr val="1A1A1A"/>
                          </a:solidFill>
                        </a:rPr>
                        <a:t>Concentrating</a:t>
                      </a:r>
                    </a:p>
                  </a:txBody>
                  <a:tcPr anchor="ctr" marL="73152" marR="54864" marT="27432" marB="27432">
                    <a:solidFill>
                      <a:srgbClr val="FFFFFF"/>
                    </a:solidFill>
                  </a:tcPr>
                </a:tc>
                <a:tc>
                  <a:txBody>
                    <a:bodyPr wrap="square"/>
                    <a:lstStyle/>
                    <a:p>
                      <a:r>
                        <a:rPr sz="1050">
                          <a:solidFill>
                            <a:srgbClr val="1A1A1A"/>
                          </a:solidFill>
                        </a:rPr>
                        <a:t>Network + merchant lock-in, but 2-3 survive</a:t>
                      </a:r>
                    </a:p>
                  </a:txBody>
                  <a:tcPr anchor="ctr" marL="73152" marR="54864" marT="27432" marB="27432">
                    <a:solidFill>
                      <a:srgbClr val="FFFFFF"/>
                    </a:solidFill>
                  </a:tcPr>
                </a:tc>
              </a:tr>
              <a:tr h="630936">
                <a:tc>
                  <a:txBody>
                    <a:bodyPr wrap="square"/>
                    <a:lstStyle/>
                    <a:p>
                      <a:r>
                        <a:rPr sz="1050" b="1">
                          <a:solidFill>
                            <a:srgbClr val="0C2B4A"/>
                          </a:solidFill>
                        </a:rPr>
                        <a:t>Ride-hailing</a:t>
                      </a:r>
                    </a:p>
                  </a:txBody>
                  <a:tcPr anchor="ctr" marL="73152" marR="54864" marT="27432" marB="27432">
                    <a:solidFill>
                      <a:srgbClr val="EEF3F8"/>
                    </a:solidFill>
                  </a:tcPr>
                </a:tc>
                <a:tc>
                  <a:txBody>
                    <a:bodyPr wrap="square"/>
                    <a:lstStyle/>
                    <a:p>
                      <a:r>
                        <a:rPr sz="1050">
                          <a:solidFill>
                            <a:srgbClr val="1A1A1A"/>
                          </a:solidFill>
                        </a:rPr>
                        <a:t>Pathao, InDrive</a:t>
                      </a:r>
                    </a:p>
                  </a:txBody>
                  <a:tcPr anchor="ctr" marL="73152" marR="54864" marT="27432" marB="27432">
                    <a:solidFill>
                      <a:srgbClr val="EEF3F8"/>
                    </a:solidFill>
                  </a:tcPr>
                </a:tc>
                <a:tc>
                  <a:txBody>
                    <a:bodyPr wrap="square"/>
                    <a:lstStyle/>
                    <a:p>
                      <a:r>
                        <a:rPr sz="1050">
                          <a:solidFill>
                            <a:srgbClr val="1A1A1A"/>
                          </a:solidFill>
                        </a:rPr>
                        <a:t>Contested</a:t>
                      </a:r>
                    </a:p>
                  </a:txBody>
                  <a:tcPr anchor="ctr" marL="73152" marR="54864" marT="27432" marB="27432">
                    <a:solidFill>
                      <a:srgbClr val="EEF3F8"/>
                    </a:solidFill>
                  </a:tcPr>
                </a:tc>
                <a:tc>
                  <a:txBody>
                    <a:bodyPr wrap="square"/>
                    <a:lstStyle/>
                    <a:p>
                      <a:r>
                        <a:rPr sz="1050">
                          <a:solidFill>
                            <a:srgbClr val="1A1A1A"/>
                          </a:solidFill>
                        </a:rPr>
                        <a:t>Easy multi-homing; local, low switching cost</a:t>
                      </a:r>
                    </a:p>
                  </a:txBody>
                  <a:tcPr anchor="ctr" marL="73152" marR="54864" marT="27432" marB="27432">
                    <a:solidFill>
                      <a:srgbClr val="EEF3F8"/>
                    </a:solidFill>
                  </a:tcPr>
                </a:tc>
              </a:tr>
              <a:tr h="630936">
                <a:tc>
                  <a:txBody>
                    <a:bodyPr wrap="square"/>
                    <a:lstStyle/>
                    <a:p>
                      <a:r>
                        <a:rPr sz="1050" b="1">
                          <a:solidFill>
                            <a:srgbClr val="0C2B4A"/>
                          </a:solidFill>
                        </a:rPr>
                        <a:t>Food delivery</a:t>
                      </a:r>
                    </a:p>
                  </a:txBody>
                  <a:tcPr anchor="ctr" marL="73152" marR="54864" marT="27432" marB="27432">
                    <a:solidFill>
                      <a:srgbClr val="FFFFFF"/>
                    </a:solidFill>
                  </a:tcPr>
                </a:tc>
                <a:tc>
                  <a:txBody>
                    <a:bodyPr wrap="square"/>
                    <a:lstStyle/>
                    <a:p>
                      <a:r>
                        <a:rPr sz="1050">
                          <a:solidFill>
                            <a:srgbClr val="1A1A1A"/>
                          </a:solidFill>
                        </a:rPr>
                        <a:t>Foodmandu, Pathao</a:t>
                      </a:r>
                    </a:p>
                  </a:txBody>
                  <a:tcPr anchor="ctr" marL="73152" marR="54864" marT="27432" marB="27432">
                    <a:solidFill>
                      <a:srgbClr val="FFFFFF"/>
                    </a:solidFill>
                  </a:tcPr>
                </a:tc>
                <a:tc>
                  <a:txBody>
                    <a:bodyPr wrap="square"/>
                    <a:lstStyle/>
                    <a:p>
                      <a:r>
                        <a:rPr sz="1050">
                          <a:solidFill>
                            <a:srgbClr val="1A1A1A"/>
                          </a:solidFill>
                        </a:rPr>
                        <a:t>Contested</a:t>
                      </a:r>
                    </a:p>
                  </a:txBody>
                  <a:tcPr anchor="ctr" marL="73152" marR="54864" marT="27432" marB="27432">
                    <a:solidFill>
                      <a:srgbClr val="FFFFFF"/>
                    </a:solidFill>
                  </a:tcPr>
                </a:tc>
                <a:tc>
                  <a:txBody>
                    <a:bodyPr wrap="square"/>
                    <a:lstStyle/>
                    <a:p>
                      <a:r>
                        <a:rPr sz="1050">
                          <a:solidFill>
                            <a:srgbClr val="1A1A1A"/>
                          </a:solidFill>
                        </a:rPr>
                        <a:t>Restaurants &amp; riders multi-home; local needs</a:t>
                      </a:r>
                    </a:p>
                  </a:txBody>
                  <a:tcPr anchor="ctr" marL="73152" marR="54864" marT="27432" marB="27432">
                    <a:solidFill>
                      <a:srgbClr val="FFFFFF"/>
                    </a:solidFill>
                  </a:tcPr>
                </a:tc>
              </a:tr>
              <a:tr h="630936">
                <a:tc>
                  <a:txBody>
                    <a:bodyPr wrap="square"/>
                    <a:lstStyle/>
                    <a:p>
                      <a:r>
                        <a:rPr sz="1050" b="1">
                          <a:solidFill>
                            <a:srgbClr val="0C2B4A"/>
                          </a:solidFill>
                        </a:rPr>
                        <a:t>E-commerce</a:t>
                      </a:r>
                    </a:p>
                  </a:txBody>
                  <a:tcPr anchor="ctr" marL="73152" marR="54864" marT="27432" marB="27432">
                    <a:solidFill>
                      <a:srgbClr val="EEF3F8"/>
                    </a:solidFill>
                  </a:tcPr>
                </a:tc>
                <a:tc>
                  <a:txBody>
                    <a:bodyPr wrap="square"/>
                    <a:lstStyle/>
                    <a:p>
                      <a:r>
                        <a:rPr sz="1050">
                          <a:solidFill>
                            <a:srgbClr val="1A1A1A"/>
                          </a:solidFill>
                        </a:rPr>
                        <a:t>Daraz</a:t>
                      </a:r>
                    </a:p>
                  </a:txBody>
                  <a:tcPr anchor="ctr" marL="73152" marR="54864" marT="27432" marB="27432">
                    <a:solidFill>
                      <a:srgbClr val="EEF3F8"/>
                    </a:solidFill>
                  </a:tcPr>
                </a:tc>
                <a:tc>
                  <a:txBody>
                    <a:bodyPr wrap="square"/>
                    <a:lstStyle/>
                    <a:p>
                      <a:r>
                        <a:rPr sz="1050">
                          <a:solidFill>
                            <a:srgbClr val="1A1A1A"/>
                          </a:solidFill>
                        </a:rPr>
                        <a:t>Leading, not sole</a:t>
                      </a:r>
                    </a:p>
                  </a:txBody>
                  <a:tcPr anchor="ctr" marL="73152" marR="54864" marT="27432" marB="27432">
                    <a:solidFill>
                      <a:srgbClr val="EEF3F8"/>
                    </a:solidFill>
                  </a:tcPr>
                </a:tc>
                <a:tc>
                  <a:txBody>
                    <a:bodyPr wrap="square"/>
                    <a:lstStyle/>
                    <a:p>
                      <a:r>
                        <a:rPr sz="1050">
                          <a:solidFill>
                            <a:srgbClr val="1A1A1A"/>
                          </a:solidFill>
                        </a:rPr>
                        <a:t>Scale + data lead, but niche sellers persist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Same country, different outcomes: search and messaging tip to one winner (strong effects, high switching); ride-hailing and food delivery stay contested (easy multi-homing, local needs). Knowing which is a strategic and regulatory question.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142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Winner-Take-Most &amp; Platform Dominance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messaging market tipped to WhatsApp — once contacts settled there, its value rose for everyone and Viber faded (high network effects, high switching cost, little multi-homing). Ride-hailing has NOT tipped: Pathao and InDrive coexist because drivers and riders happily run both apps and needs are local. Same digital economy, opposite outcomes, decided by network-effect strength and multi-homing.</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"Every digital market ends in one monopoly." Only markets with strong network effects, high switching costs, and little multi-homing tip to one winner (search, messaging). Where multi-homing is easy and needs differ (ride-hailing, food delivery), several players persist. Tipping is a tendency, not a law — this is Unit 2's tipping applied to competition.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competition often ends in 'winner-take-most' — the leader takes the bulk, a small rival survives, and the rest fade — driven by increasing returns (network effects + scale + switching costs, from Unit 2). Past a tipping point the leader is hard to beat. But not every market tips: where multi-homing is easy and needs are local (ride-hailing, food delivery), several platforms coexist. WhatsApp tipped in Nepal; ride-hailing did not.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winner-take-most · increasing returns · tipping point (Unit 2) · multi-homing keeps markets contested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142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Effects on Consumers &amp; Startups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 competition is double-edged. For CONSUMERS, early competition brings lower prices, more choice, and better service — but once a market tips, dominance can mean fewer choices, data harvesting, and terms set by the gatekeeper. For STARTUPS, low entry cost makes it easy to launch but brutally hard to scale against an incumbent's network effects and data. The result: a burst of new entrants, most of whom cannot cross the chasm to critical mass.</a:t>
            </a:r>
          </a:p>
          <a:p>
            <a:pPr>
              <a:spcAft>
                <a:spcPts val="500"/>
              </a:spcAft>
            </a:pPr>
            <a:r>
              <a:rPr sz="1200" b="1">
                <a:solidFill>
                  <a:srgbClr val="185FA5"/>
                </a:solidFill>
              </a:rPr>
              <a:t>HOW IT WORKS</a:t>
            </a:r>
          </a:p>
          <a:p>
            <a:pPr>
              <a:spcAft>
                <a:spcPts val="600"/>
              </a:spcAft>
            </a:pPr>
            <a:r>
              <a:rPr sz="1400">
                <a:solidFill>
                  <a:srgbClr val="1A1A1A"/>
                </a:solidFill>
              </a:rPr>
              <a:t>•  Consumers early: lower prices, more choice, better UX from fierce competition.</a:t>
            </a:r>
          </a:p>
          <a:p>
            <a:pPr>
              <a:spcAft>
                <a:spcPts val="600"/>
              </a:spcAft>
            </a:pPr>
            <a:r>
              <a:rPr sz="1400">
                <a:solidFill>
                  <a:srgbClr val="1A1A1A"/>
                </a:solidFill>
              </a:rPr>
              <a:t>•  Consumers late: after tipping — fewer alternatives, data extraction, gatekeeper terms.</a:t>
            </a:r>
          </a:p>
          <a:p>
            <a:pPr>
              <a:spcAft>
                <a:spcPts val="600"/>
              </a:spcAft>
            </a:pPr>
            <a:r>
              <a:rPr sz="1400">
                <a:solidFill>
                  <a:srgbClr val="1A1A1A"/>
                </a:solidFill>
              </a:rPr>
              <a:t>•  Startups: cheap to launch, hard to scale past the incumbent's network effect (the moat).</a:t>
            </a:r>
          </a:p>
          <a:p>
            <a:pPr>
              <a:spcAft>
                <a:spcPts val="600"/>
              </a:spcAft>
            </a:pPr>
            <a:r>
              <a:rPr sz="1400">
                <a:solidFill>
                  <a:srgbClr val="1A1A1A"/>
                </a:solidFill>
              </a:rPr>
              <a:t>•  Net effect: many launch, few reach critical mass — a 'winner-take-most' funnel.</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Consumers: cheaper &amp; better early, then fewer choices after tipping. Startups: easy to launch, hard to scale vs the moat.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142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Dominance — effect on consumers vs startups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775857"/>
                <a:gridCol w="4245428"/>
                <a:gridCol w="4408714"/>
              </a:tblGrid>
              <a:tr h="736092">
                <a:tc>
                  <a:txBody>
                    <a:bodyPr wrap="square"/>
                    <a:lstStyle/>
                    <a:p>
                      <a:r>
                        <a:rPr sz="1150" b="1">
                          <a:solidFill>
                            <a:srgbClr val="FFFFFF"/>
                          </a:solidFill>
                        </a:rPr>
                        <a:t>Aspect</a:t>
                      </a:r>
                    </a:p>
                  </a:txBody>
                  <a:tcPr anchor="ctr" marL="73152" marR="54864" marT="27432" marB="27432">
                    <a:solidFill>
                      <a:srgbClr val="0C2B4A"/>
                    </a:solidFill>
                  </a:tcPr>
                </a:tc>
                <a:tc>
                  <a:txBody>
                    <a:bodyPr wrap="square"/>
                    <a:lstStyle/>
                    <a:p>
                      <a:r>
                        <a:rPr sz="1150" b="1">
                          <a:solidFill>
                            <a:srgbClr val="FFFFFF"/>
                          </a:solidFill>
                        </a:rPr>
                        <a:t>Effect on consumers</a:t>
                      </a:r>
                    </a:p>
                  </a:txBody>
                  <a:tcPr anchor="ctr" marL="73152" marR="54864" marT="27432" marB="27432">
                    <a:solidFill>
                      <a:srgbClr val="0C2B4A"/>
                    </a:solidFill>
                  </a:tcPr>
                </a:tc>
                <a:tc>
                  <a:txBody>
                    <a:bodyPr wrap="square"/>
                    <a:lstStyle/>
                    <a:p>
                      <a:r>
                        <a:rPr sz="1150" b="1">
                          <a:solidFill>
                            <a:srgbClr val="FFFFFF"/>
                          </a:solidFill>
                        </a:rPr>
                        <a:t>Effect on startups</a:t>
                      </a:r>
                    </a:p>
                  </a:txBody>
                  <a:tcPr anchor="ctr" marL="73152" marR="54864" marT="27432" marB="27432">
                    <a:solidFill>
                      <a:srgbClr val="0C2B4A"/>
                    </a:solidFill>
                  </a:tcPr>
                </a:tc>
              </a:tr>
              <a:tr h="736092">
                <a:tc>
                  <a:txBody>
                    <a:bodyPr wrap="square"/>
                    <a:lstStyle/>
                    <a:p>
                      <a:r>
                        <a:rPr sz="1100" b="1">
                          <a:solidFill>
                            <a:srgbClr val="0C2B4A"/>
                          </a:solidFill>
                        </a:rPr>
                        <a:t>Early competition</a:t>
                      </a:r>
                    </a:p>
                  </a:txBody>
                  <a:tcPr anchor="ctr" marL="73152" marR="54864" marT="27432" marB="27432">
                    <a:solidFill>
                      <a:srgbClr val="FFFFFF"/>
                    </a:solidFill>
                  </a:tcPr>
                </a:tc>
                <a:tc>
                  <a:txBody>
                    <a:bodyPr wrap="square"/>
                    <a:lstStyle/>
                    <a:p>
                      <a:r>
                        <a:rPr sz="1100">
                          <a:solidFill>
                            <a:srgbClr val="1A1A1A"/>
                          </a:solidFill>
                        </a:rPr>
                        <a:t>Lower prices, more choice</a:t>
                      </a:r>
                    </a:p>
                  </a:txBody>
                  <a:tcPr anchor="ctr" marL="73152" marR="54864" marT="27432" marB="27432">
                    <a:solidFill>
                      <a:srgbClr val="FFFFFF"/>
                    </a:solidFill>
                  </a:tcPr>
                </a:tc>
                <a:tc>
                  <a:txBody>
                    <a:bodyPr wrap="square"/>
                    <a:lstStyle/>
                    <a:p>
                      <a:r>
                        <a:rPr sz="1100">
                          <a:solidFill>
                            <a:srgbClr val="1A1A1A"/>
                          </a:solidFill>
                        </a:rPr>
                        <a:t>Easy, cheap to launch</a:t>
                      </a:r>
                    </a:p>
                  </a:txBody>
                  <a:tcPr anchor="ctr" marL="73152" marR="54864" marT="27432" marB="27432">
                    <a:solidFill>
                      <a:srgbClr val="FFFFFF"/>
                    </a:solidFill>
                  </a:tcPr>
                </a:tc>
              </a:tr>
              <a:tr h="736092">
                <a:tc>
                  <a:txBody>
                    <a:bodyPr wrap="square"/>
                    <a:lstStyle/>
                    <a:p>
                      <a:r>
                        <a:rPr sz="1100" b="1">
                          <a:solidFill>
                            <a:srgbClr val="0C2B4A"/>
                          </a:solidFill>
                        </a:rPr>
                        <a:t>After tipping</a:t>
                      </a:r>
                    </a:p>
                  </a:txBody>
                  <a:tcPr anchor="ctr" marL="73152" marR="54864" marT="27432" marB="27432">
                    <a:solidFill>
                      <a:srgbClr val="EEF3F8"/>
                    </a:solidFill>
                  </a:tcPr>
                </a:tc>
                <a:tc>
                  <a:txBody>
                    <a:bodyPr wrap="square"/>
                    <a:lstStyle/>
                    <a:p>
                      <a:r>
                        <a:rPr sz="1100">
                          <a:solidFill>
                            <a:srgbClr val="1A1A1A"/>
                          </a:solidFill>
                        </a:rPr>
                        <a:t>Fewer alternatives, lock-in</a:t>
                      </a:r>
                    </a:p>
                  </a:txBody>
                  <a:tcPr anchor="ctr" marL="73152" marR="54864" marT="27432" marB="27432">
                    <a:solidFill>
                      <a:srgbClr val="EEF3F8"/>
                    </a:solidFill>
                  </a:tcPr>
                </a:tc>
                <a:tc>
                  <a:txBody>
                    <a:bodyPr wrap="square"/>
                    <a:lstStyle/>
                    <a:p>
                      <a:r>
                        <a:rPr sz="1100">
                          <a:solidFill>
                            <a:srgbClr val="1A1A1A"/>
                          </a:solidFill>
                        </a:rPr>
                        <a:t>Hard to scale vs incumbent moat</a:t>
                      </a:r>
                    </a:p>
                  </a:txBody>
                  <a:tcPr anchor="ctr" marL="73152" marR="54864" marT="27432" marB="27432">
                    <a:solidFill>
                      <a:srgbClr val="EEF3F8"/>
                    </a:solidFill>
                  </a:tcPr>
                </a:tc>
              </a:tr>
              <a:tr h="736092">
                <a:tc>
                  <a:txBody>
                    <a:bodyPr wrap="square"/>
                    <a:lstStyle/>
                    <a:p>
                      <a:r>
                        <a:rPr sz="1100" b="1">
                          <a:solidFill>
                            <a:srgbClr val="0C2B4A"/>
                          </a:solidFill>
                        </a:rPr>
                        <a:t>Data</a:t>
                      </a:r>
                    </a:p>
                  </a:txBody>
                  <a:tcPr anchor="ctr" marL="73152" marR="54864" marT="27432" marB="27432">
                    <a:solidFill>
                      <a:srgbClr val="FFFFFF"/>
                    </a:solidFill>
                  </a:tcPr>
                </a:tc>
                <a:tc>
                  <a:txBody>
                    <a:bodyPr wrap="square"/>
                    <a:lstStyle/>
                    <a:p>
                      <a:r>
                        <a:rPr sz="1100">
                          <a:solidFill>
                            <a:srgbClr val="1A1A1A"/>
                          </a:solidFill>
                        </a:rPr>
                        <a:t>Personalised service…</a:t>
                      </a:r>
                    </a:p>
                  </a:txBody>
                  <a:tcPr anchor="ctr" marL="73152" marR="54864" marT="27432" marB="27432">
                    <a:solidFill>
                      <a:srgbClr val="FFFFFF"/>
                    </a:solidFill>
                  </a:tcPr>
                </a:tc>
                <a:tc>
                  <a:txBody>
                    <a:bodyPr wrap="square"/>
                    <a:lstStyle/>
                    <a:p>
                      <a:r>
                        <a:rPr sz="1100">
                          <a:solidFill>
                            <a:srgbClr val="1A1A1A"/>
                          </a:solidFill>
                        </a:rPr>
                        <a:t>…but incumbent's data edge is un-catchable</a:t>
                      </a:r>
                    </a:p>
                  </a:txBody>
                  <a:tcPr anchor="ctr" marL="73152" marR="54864" marT="27432" marB="27432">
                    <a:solidFill>
                      <a:srgbClr val="FFFFFF"/>
                    </a:solidFill>
                  </a:tcPr>
                </a:tc>
              </a:tr>
              <a:tr h="736092">
                <a:tc>
                  <a:txBody>
                    <a:bodyPr wrap="square"/>
                    <a:lstStyle/>
                    <a:p>
                      <a:r>
                        <a:rPr sz="1100" b="1">
                          <a:solidFill>
                            <a:srgbClr val="0C2B4A"/>
                          </a:solidFill>
                        </a:rPr>
                        <a:t>Innovation</a:t>
                      </a:r>
                    </a:p>
                  </a:txBody>
                  <a:tcPr anchor="ctr" marL="73152" marR="54864" marT="27432" marB="27432">
                    <a:solidFill>
                      <a:srgbClr val="EEF3F8"/>
                    </a:solidFill>
                  </a:tcPr>
                </a:tc>
                <a:tc>
                  <a:txBody>
                    <a:bodyPr wrap="square"/>
                    <a:lstStyle/>
                    <a:p>
                      <a:r>
                        <a:rPr sz="1100">
                          <a:solidFill>
                            <a:srgbClr val="1A1A1A"/>
                          </a:solidFill>
                        </a:rPr>
                        <a:t>Fast at first, can stall later</a:t>
                      </a:r>
                    </a:p>
                  </a:txBody>
                  <a:tcPr anchor="ctr" marL="73152" marR="54864" marT="27432" marB="27432">
                    <a:solidFill>
                      <a:srgbClr val="EEF3F8"/>
                    </a:solidFill>
                  </a:tcPr>
                </a:tc>
                <a:tc>
                  <a:txBody>
                    <a:bodyPr wrap="square"/>
                    <a:lstStyle/>
                    <a:p>
                      <a:r>
                        <a:rPr sz="1100">
                          <a:solidFill>
                            <a:srgbClr val="1A1A1A"/>
                          </a:solidFill>
                        </a:rPr>
                        <a:t>Must find a niche the giant ignores</a:t>
                      </a:r>
                    </a:p>
                  </a:txBody>
                  <a:tcPr anchor="ctr" marL="73152" marR="54864" marT="27432" marB="27432">
                    <a:solidFill>
                      <a:srgbClr val="EEF3F8"/>
                    </a:solidFill>
                  </a:tcPr>
                </a:tc>
              </a:tr>
              <a:tr h="736092">
                <a:tc>
                  <a:txBody>
                    <a:bodyPr wrap="square"/>
                    <a:lstStyle/>
                    <a:p>
                      <a:r>
                        <a:rPr sz="1100" b="1">
                          <a:solidFill>
                            <a:srgbClr val="0C2B4A"/>
                          </a:solidFill>
                        </a:rPr>
                        <a:t>Prices/terms</a:t>
                      </a:r>
                    </a:p>
                  </a:txBody>
                  <a:tcPr anchor="ctr" marL="73152" marR="54864" marT="27432" marB="27432">
                    <a:solidFill>
                      <a:srgbClr val="FFFFFF"/>
                    </a:solidFill>
                  </a:tcPr>
                </a:tc>
                <a:tc>
                  <a:txBody>
                    <a:bodyPr wrap="square"/>
                    <a:lstStyle/>
                    <a:p>
                      <a:r>
                        <a:rPr sz="1100">
                          <a:solidFill>
                            <a:srgbClr val="1A1A1A"/>
                          </a:solidFill>
                        </a:rPr>
                        <a:t>Gatekeeper can raise fees/terms</a:t>
                      </a:r>
                    </a:p>
                  </a:txBody>
                  <a:tcPr anchor="ctr" marL="73152" marR="54864" marT="27432" marB="27432">
                    <a:solidFill>
                      <a:srgbClr val="FFFFFF"/>
                    </a:solidFill>
                  </a:tcPr>
                </a:tc>
                <a:tc>
                  <a:txBody>
                    <a:bodyPr wrap="square"/>
                    <a:lstStyle/>
                    <a:p>
                      <a:r>
                        <a:rPr sz="1100">
                          <a:solidFill>
                            <a:srgbClr val="1A1A1A"/>
                          </a:solidFill>
                        </a:rPr>
                        <a:t>Commissions &amp; platform rules squeeze margins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same dominance that once delivered cheap, convenient service can later reduce choice and squeeze the small players who depend on the platform — which is exactly why Nepali startups so often COOPERATE rather than fight head-on (S18).</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142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S17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Effects on Consumers &amp; Startups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wallet war benefited consumers with cashbacks and free transfers while eSewa and Khalti fought hard. A new wallet startup, though, faces the trap: launching an app is cheap, but pulling users off eSewa/Khalti's merchant network is nearly impossible. So many Nepali startups do NOT fight the giant head-on — they integrate with it (build on Fonepay rails) or serve a niche the giant ignores, which is the cooperation logic of the next session.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"Competition is always good for consumers, always bad for big firms." Competition helps consumers EARLY (price, choice) but a tipped market can then reduce choice and set terms. And low entry cost flatters startups — the hard part is scaling against the moat, not launching. Dominance is double-edged for both sides.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competition is double-edged. Consumers gain lower prices, more choice, and better service while competition is fierce, but a tipped market can bring fewer alternatives, data harvesting, and gatekeeper-set terms. Startups find it cheap to launch but brutally hard to scale against an incumbent's network effects and data, so most cannot reach critical mass. This is why many Nepali startups cooperate or find niches rather than fight head-on (S18).</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consumer benefit early · lock-in late · easy launch, hard scale · incumbent moat · niche or cooperate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142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S17 — 'Will it tip, and who wins?'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pick a Nepali digital market (wallets, ride-hailing, e-commerce, food, messaging).</a:t>
            </a:r>
          </a:p>
          <a:p>
            <a:pPr>
              <a:spcAft>
                <a:spcPts val="700"/>
              </a:spcAft>
            </a:pPr>
            <a:r>
              <a:rPr sz="1550">
                <a:solidFill>
                  <a:srgbClr val="1A1A1A"/>
                </a:solidFill>
              </a:rPr>
              <a:t>•  Decide: will it tip to one winner or stay contested? Use network effects, switching cost, multi-homing.</a:t>
            </a:r>
          </a:p>
          <a:p>
            <a:pPr>
              <a:spcAft>
                <a:spcPts val="700"/>
              </a:spcAft>
            </a:pPr>
            <a:r>
              <a:rPr sz="1550">
                <a:solidFill>
                  <a:srgbClr val="1A1A1A"/>
                </a:solidFill>
              </a:rPr>
              <a:t>•  Name one effect on consumers and one on a would-be startup entrant.</a:t>
            </a:r>
          </a:p>
          <a:p>
            <a:pPr>
              <a:spcAft>
                <a:spcPts val="700"/>
              </a:spcAft>
            </a:pPr>
            <a:r>
              <a:rPr sz="1550">
                <a:solidFill>
                  <a:srgbClr val="1A1A1A"/>
                </a:solidFill>
              </a:rPr>
              <a:t>•  Take 3–4 answers aloud (2 min); compare predictions with the tipped/contested table.</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reasoning: messaging/search tip (strong effects, high switching); ride-hailing/food stay contested (easy multi-homing). Consumers gain early then risk lock-in; startups launch easily but struggle to scale. Reward using the factors explicitly.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142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S17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Compared with a bazaar, digital competition is mainly fought on:</a:t>
            </a:r>
          </a:p>
          <a:p>
            <a:pPr lvl="1"/>
            <a:r>
              <a:rPr sz="1500" b="1">
                <a:solidFill>
                  <a:srgbClr val="0F6E56"/>
                </a:solidFill>
              </a:rPr>
              <a:t>a) rent &amp; smiles   b) ✅ data, network size, speed &amp; user experience   c) shop location   d) shouting</a:t>
            </a:r>
          </a:p>
          <a:p>
            <a:pPr lvl="1">
              <a:spcBef>
                <a:spcPts val="600"/>
              </a:spcBef>
            </a:pPr>
            <a:r>
              <a:rPr sz="1500" i="1">
                <a:solidFill>
                  <a:srgbClr val="1A1A1A"/>
                </a:solidFill>
              </a:rPr>
              <a:t>     Why: online the basis shifts from price/location to data, network, speed, and UX — often global.</a:t>
            </a:r>
          </a:p>
          <a:p>
            <a:pPr>
              <a:spcBef>
                <a:spcPts val="900"/>
              </a:spcBef>
            </a:pPr>
            <a:r>
              <a:rPr sz="1700" b="1">
                <a:solidFill>
                  <a:srgbClr val="0C2B4A"/>
                </a:solidFill>
              </a:rPr>
              <a:t>Q2.  Ride-hailing in Nepal stays contested (Pathao + InDrive) mainly because:</a:t>
            </a:r>
          </a:p>
          <a:p>
            <a:pPr lvl="1"/>
            <a:r>
              <a:rPr sz="1500" b="1">
                <a:solidFill>
                  <a:srgbClr val="0F6E56"/>
                </a:solidFill>
              </a:rPr>
              <a:t>a) weak apps   b) ✅ easy multi-homing &amp; local needs   c) no network effects at all   d) government rule</a:t>
            </a:r>
          </a:p>
          <a:p>
            <a:pPr lvl="1">
              <a:spcBef>
                <a:spcPts val="600"/>
              </a:spcBef>
            </a:pPr>
            <a:r>
              <a:rPr sz="1500" i="1">
                <a:solidFill>
                  <a:srgbClr val="1A1A1A"/>
                </a:solidFill>
              </a:rPr>
              <a:t>     Why: drivers/riders run both apps and needs are local, so the market does not tip to one.</a:t>
            </a:r>
          </a:p>
          <a:p>
            <a:pPr lvl="1">
              <a:spcBef>
                <a:spcPts val="600"/>
              </a:spcBef>
            </a:pPr>
            <a:r>
              <a:rPr sz="1500" i="1">
                <a:solidFill>
                  <a:srgbClr val="1A1A1A"/>
                </a:solidFill>
              </a:rPr>
              <a:t>Discussion: name a Nepali market that tipped and one that stayed contested —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142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S17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Digital competition shifts the basis from price/location to data, network size, speed &amp; UX — global, near-zero marginal cost.</a:t>
            </a:r>
          </a:p>
          <a:p>
            <a:pPr>
              <a:spcAft>
                <a:spcPts val="800"/>
              </a:spcAft>
            </a:pPr>
            <a:r>
              <a:rPr sz="1500">
                <a:solidFill>
                  <a:srgbClr val="1A1A1A"/>
                </a:solidFill>
              </a:rPr>
              <a:t>2.  Winner-take-most via increasing returns (Unit 2 tipping) — but easy multi-homing &amp; local needs keep some markets contested.</a:t>
            </a:r>
          </a:p>
          <a:p>
            <a:pPr>
              <a:spcAft>
                <a:spcPts val="800"/>
              </a:spcAft>
            </a:pPr>
            <a:r>
              <a:rPr sz="1500">
                <a:solidFill>
                  <a:srgbClr val="1A1A1A"/>
                </a:solidFill>
              </a:rPr>
              <a:t>3.  Double-edged: consumers gain early then risk lock-in; startups launch easily but struggle to scale vs the moat.</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explains why Nepal tends to get one dominant player per category and why challengers struggle — and it sets up the surprising survival strategy of the next three sessions: in digital markets, firms often COOPERATE with rivals rather than only fight them.</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S18 — the counter-move: cooperation in digital markets, and why 'grow the pie first' beats fighting.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30 / 142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18 · LECTURE HOUR 3 (OF 10)</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Cooperation in Digital Markets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eSewa and Khalti are rivals — yet both settle through the same NCHL/ConnectIPS rails, and any wallet can scan a Fonepay QR. Rivals sharing the very pipes they compete on sounds mad in the bazaar. Online it is normal, even necessary. Why do digital firms cooperate with their competitors?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31 / 142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Cooperation Is + Why Digital Encourages It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Cooperation is when firms work together — sharing infrastructure, standards, data, or customers — to create value they could not create alone. Digital markets encourage it more than traditional ones for four reasons: MODULARITY (products are built from interchangeable parts that must interconnect), APIs (software makes plugging systems together cheap), NETWORK EFFECTS (a shared standard grows everyone's value), and CONVENIENCE (users want one seamless experience, not ten disconnected apps).</a:t>
            </a:r>
          </a:p>
          <a:p>
            <a:pPr>
              <a:spcAft>
                <a:spcPts val="500"/>
              </a:spcAft>
            </a:pPr>
            <a:r>
              <a:rPr sz="1200" b="1">
                <a:solidFill>
                  <a:srgbClr val="185FA5"/>
                </a:solidFill>
              </a:rPr>
              <a:t>HOW IT WORKS</a:t>
            </a:r>
          </a:p>
          <a:p>
            <a:pPr>
              <a:spcAft>
                <a:spcPts val="600"/>
              </a:spcAft>
            </a:pPr>
            <a:r>
              <a:rPr sz="1400">
                <a:solidFill>
                  <a:srgbClr val="1A1A1A"/>
                </a:solidFill>
              </a:rPr>
              <a:t>•  Cooperation = jointly creating value (shared rails, standards, data) beyond what one firm can.</a:t>
            </a:r>
          </a:p>
          <a:p>
            <a:pPr>
              <a:spcAft>
                <a:spcPts val="600"/>
              </a:spcAft>
            </a:pPr>
            <a:r>
              <a:rPr sz="1400">
                <a:solidFill>
                  <a:srgbClr val="1A1A1A"/>
                </a:solidFill>
              </a:rPr>
              <a:t>•  Modularity + APIs make interconnection cheap and technical — plug in, don't rebuild.</a:t>
            </a:r>
          </a:p>
          <a:p>
            <a:pPr>
              <a:spcAft>
                <a:spcPts val="600"/>
              </a:spcAft>
            </a:pPr>
            <a:r>
              <a:rPr sz="1400">
                <a:solidFill>
                  <a:srgbClr val="1A1A1A"/>
                </a:solidFill>
              </a:rPr>
              <a:t>•  Network effects reward shared standards: a QR everyone accepts is worth more to all.</a:t>
            </a:r>
          </a:p>
          <a:p>
            <a:pPr>
              <a:spcAft>
                <a:spcPts val="600"/>
              </a:spcAft>
            </a:pPr>
            <a:r>
              <a:rPr sz="1400">
                <a:solidFill>
                  <a:srgbClr val="1A1A1A"/>
                </a:solidFill>
              </a:rPr>
              <a:t>•  Convenience: users demand seamless journeys, forcing rivals to interoperate.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Cooperation = create value together; digital encourages it via modularity, APIs, network effects &amp; convenience.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142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digital markets encourage cooperation — cause -&gt; effect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612571"/>
                <a:gridCol w="4898571"/>
                <a:gridCol w="3918857"/>
              </a:tblGrid>
              <a:tr h="736092">
                <a:tc>
                  <a:txBody>
                    <a:bodyPr wrap="square"/>
                    <a:lstStyle/>
                    <a:p>
                      <a:r>
                        <a:rPr sz="1150" b="1">
                          <a:solidFill>
                            <a:srgbClr val="FFFFFF"/>
                          </a:solidFill>
                        </a:rPr>
                        <a:t>Driver</a:t>
                      </a:r>
                    </a:p>
                  </a:txBody>
                  <a:tcPr anchor="ctr" marL="73152" marR="54864" marT="27432" marB="27432">
                    <a:solidFill>
                      <a:srgbClr val="0C2B4A"/>
                    </a:solidFill>
                  </a:tcPr>
                </a:tc>
                <a:tc>
                  <a:txBody>
                    <a:bodyPr wrap="square"/>
                    <a:lstStyle/>
                    <a:p>
                      <a:r>
                        <a:rPr sz="1150" b="1">
                          <a:solidFill>
                            <a:srgbClr val="FFFFFF"/>
                          </a:solidFill>
                        </a:rPr>
                        <a:t>Why it pushes firms to cooperate</a:t>
                      </a:r>
                    </a:p>
                  </a:txBody>
                  <a:tcPr anchor="ctr" marL="73152" marR="54864" marT="27432" marB="27432">
                    <a:solidFill>
                      <a:srgbClr val="0C2B4A"/>
                    </a:solidFill>
                  </a:tcPr>
                </a:tc>
                <a:tc>
                  <a:txBody>
                    <a:bodyPr wrap="square"/>
                    <a:lstStyle/>
                    <a:p>
                      <a:r>
                        <a:rPr sz="1150" b="1">
                          <a:solidFill>
                            <a:srgbClr val="FFFFFF"/>
                          </a:solidFill>
                        </a:rPr>
                        <a:t>Nepal example</a:t>
                      </a:r>
                    </a:p>
                  </a:txBody>
                  <a:tcPr anchor="ctr" marL="73152" marR="54864" marT="27432" marB="27432">
                    <a:solidFill>
                      <a:srgbClr val="0C2B4A"/>
                    </a:solidFill>
                  </a:tcPr>
                </a:tc>
              </a:tr>
              <a:tr h="736092">
                <a:tc>
                  <a:txBody>
                    <a:bodyPr wrap="square"/>
                    <a:lstStyle/>
                    <a:p>
                      <a:r>
                        <a:rPr sz="1100" b="1">
                          <a:solidFill>
                            <a:srgbClr val="0C2B4A"/>
                          </a:solidFill>
                        </a:rPr>
                        <a:t>Modularity</a:t>
                      </a:r>
                    </a:p>
                  </a:txBody>
                  <a:tcPr anchor="ctr" marL="73152" marR="54864" marT="27432" marB="27432">
                    <a:solidFill>
                      <a:srgbClr val="FFFFFF"/>
                    </a:solidFill>
                  </a:tcPr>
                </a:tc>
                <a:tc>
                  <a:txBody>
                    <a:bodyPr wrap="square"/>
                    <a:lstStyle/>
                    <a:p>
                      <a:r>
                        <a:rPr sz="1100">
                          <a:solidFill>
                            <a:srgbClr val="1A1A1A"/>
                          </a:solidFill>
                        </a:rPr>
                        <a:t>Products are parts that must interconnect</a:t>
                      </a:r>
                    </a:p>
                  </a:txBody>
                  <a:tcPr anchor="ctr" marL="73152" marR="54864" marT="27432" marB="27432">
                    <a:solidFill>
                      <a:srgbClr val="FFFFFF"/>
                    </a:solidFill>
                  </a:tcPr>
                </a:tc>
                <a:tc>
                  <a:txBody>
                    <a:bodyPr wrap="square"/>
                    <a:lstStyle/>
                    <a:p>
                      <a:r>
                        <a:rPr sz="1100">
                          <a:solidFill>
                            <a:srgbClr val="1A1A1A"/>
                          </a:solidFill>
                        </a:rPr>
                        <a:t>Wallet + bank + biller must link up</a:t>
                      </a:r>
                    </a:p>
                  </a:txBody>
                  <a:tcPr anchor="ctr" marL="73152" marR="54864" marT="27432" marB="27432">
                    <a:solidFill>
                      <a:srgbClr val="FFFFFF"/>
                    </a:solidFill>
                  </a:tcPr>
                </a:tc>
              </a:tr>
              <a:tr h="736092">
                <a:tc>
                  <a:txBody>
                    <a:bodyPr wrap="square"/>
                    <a:lstStyle/>
                    <a:p>
                      <a:r>
                        <a:rPr sz="1100" b="1">
                          <a:solidFill>
                            <a:srgbClr val="0C2B4A"/>
                          </a:solidFill>
                        </a:rPr>
                        <a:t>APIs</a:t>
                      </a:r>
                    </a:p>
                  </a:txBody>
                  <a:tcPr anchor="ctr" marL="73152" marR="54864" marT="27432" marB="27432">
                    <a:solidFill>
                      <a:srgbClr val="EEF3F8"/>
                    </a:solidFill>
                  </a:tcPr>
                </a:tc>
                <a:tc>
                  <a:txBody>
                    <a:bodyPr wrap="square"/>
                    <a:lstStyle/>
                    <a:p>
                      <a:r>
                        <a:rPr sz="1100">
                          <a:solidFill>
                            <a:srgbClr val="1A1A1A"/>
                          </a:solidFill>
                        </a:rPr>
                        <a:t>Plugging systems together is cheap &amp; fast</a:t>
                      </a:r>
                    </a:p>
                  </a:txBody>
                  <a:tcPr anchor="ctr" marL="73152" marR="54864" marT="27432" marB="27432">
                    <a:solidFill>
                      <a:srgbClr val="EEF3F8"/>
                    </a:solidFill>
                  </a:tcPr>
                </a:tc>
                <a:tc>
                  <a:txBody>
                    <a:bodyPr wrap="square"/>
                    <a:lstStyle/>
                    <a:p>
                      <a:r>
                        <a:rPr sz="1100">
                          <a:solidFill>
                            <a:srgbClr val="1A1A1A"/>
                          </a:solidFill>
                        </a:rPr>
                        <a:t>eSewa integrating a bank via API</a:t>
                      </a:r>
                    </a:p>
                  </a:txBody>
                  <a:tcPr anchor="ctr" marL="73152" marR="54864" marT="27432" marB="27432">
                    <a:solidFill>
                      <a:srgbClr val="EEF3F8"/>
                    </a:solidFill>
                  </a:tcPr>
                </a:tc>
              </a:tr>
              <a:tr h="736092">
                <a:tc>
                  <a:txBody>
                    <a:bodyPr wrap="square"/>
                    <a:lstStyle/>
                    <a:p>
                      <a:r>
                        <a:rPr sz="1100" b="1">
                          <a:solidFill>
                            <a:srgbClr val="0C2B4A"/>
                          </a:solidFill>
                        </a:rPr>
                        <a:t>Network effects</a:t>
                      </a:r>
                    </a:p>
                  </a:txBody>
                  <a:tcPr anchor="ctr" marL="73152" marR="54864" marT="27432" marB="27432">
                    <a:solidFill>
                      <a:srgbClr val="FFFFFF"/>
                    </a:solidFill>
                  </a:tcPr>
                </a:tc>
                <a:tc>
                  <a:txBody>
                    <a:bodyPr wrap="square"/>
                    <a:lstStyle/>
                    <a:p>
                      <a:r>
                        <a:rPr sz="1100">
                          <a:solidFill>
                            <a:srgbClr val="1A1A1A"/>
                          </a:solidFill>
                        </a:rPr>
                        <a:t>A shared standard grows everyone's value</a:t>
                      </a:r>
                    </a:p>
                  </a:txBody>
                  <a:tcPr anchor="ctr" marL="73152" marR="54864" marT="27432" marB="27432">
                    <a:solidFill>
                      <a:srgbClr val="FFFFFF"/>
                    </a:solidFill>
                  </a:tcPr>
                </a:tc>
                <a:tc>
                  <a:txBody>
                    <a:bodyPr wrap="square"/>
                    <a:lstStyle/>
                    <a:p>
                      <a:r>
                        <a:rPr sz="1100">
                          <a:solidFill>
                            <a:srgbClr val="1A1A1A"/>
                          </a:solidFill>
                        </a:rPr>
                        <a:t>QR interoperability (any wallet, any QR)</a:t>
                      </a:r>
                    </a:p>
                  </a:txBody>
                  <a:tcPr anchor="ctr" marL="73152" marR="54864" marT="27432" marB="27432">
                    <a:solidFill>
                      <a:srgbClr val="FFFFFF"/>
                    </a:solidFill>
                  </a:tcPr>
                </a:tc>
              </a:tr>
              <a:tr h="736092">
                <a:tc>
                  <a:txBody>
                    <a:bodyPr wrap="square"/>
                    <a:lstStyle/>
                    <a:p>
                      <a:r>
                        <a:rPr sz="1100" b="1">
                          <a:solidFill>
                            <a:srgbClr val="0C2B4A"/>
                          </a:solidFill>
                        </a:rPr>
                        <a:t>Convenience</a:t>
                      </a:r>
                    </a:p>
                  </a:txBody>
                  <a:tcPr anchor="ctr" marL="73152" marR="54864" marT="27432" marB="27432">
                    <a:solidFill>
                      <a:srgbClr val="EEF3F8"/>
                    </a:solidFill>
                  </a:tcPr>
                </a:tc>
                <a:tc>
                  <a:txBody>
                    <a:bodyPr wrap="square"/>
                    <a:lstStyle/>
                    <a:p>
                      <a:r>
                        <a:rPr sz="1100">
                          <a:solidFill>
                            <a:srgbClr val="1A1A1A"/>
                          </a:solidFill>
                        </a:rPr>
                        <a:t>Users want one seamless experience</a:t>
                      </a:r>
                    </a:p>
                  </a:txBody>
                  <a:tcPr anchor="ctr" marL="73152" marR="54864" marT="27432" marB="27432">
                    <a:solidFill>
                      <a:srgbClr val="EEF3F8"/>
                    </a:solidFill>
                  </a:tcPr>
                </a:tc>
                <a:tc>
                  <a:txBody>
                    <a:bodyPr wrap="square"/>
                    <a:lstStyle/>
                    <a:p>
                      <a:r>
                        <a:rPr sz="1100">
                          <a:solidFill>
                            <a:srgbClr val="1A1A1A"/>
                          </a:solidFill>
                        </a:rPr>
                        <a:t>Pay any biller from one wallet app</a:t>
                      </a:r>
                    </a:p>
                  </a:txBody>
                  <a:tcPr anchor="ctr" marL="73152" marR="54864" marT="27432" marB="27432">
                    <a:solidFill>
                      <a:srgbClr val="EEF3F8"/>
                    </a:solidFill>
                  </a:tcPr>
                </a:tc>
              </a:tr>
              <a:tr h="736092">
                <a:tc>
                  <a:txBody>
                    <a:bodyPr wrap="square"/>
                    <a:lstStyle/>
                    <a:p>
                      <a:r>
                        <a:rPr sz="1100" b="1">
                          <a:solidFill>
                            <a:srgbClr val="0C2B4A"/>
                          </a:solidFill>
                        </a:rPr>
                        <a:t>Cost sharing</a:t>
                      </a:r>
                    </a:p>
                  </a:txBody>
                  <a:tcPr anchor="ctr" marL="73152" marR="54864" marT="27432" marB="27432">
                    <a:solidFill>
                      <a:srgbClr val="FFFFFF"/>
                    </a:solidFill>
                  </a:tcPr>
                </a:tc>
                <a:tc>
                  <a:txBody>
                    <a:bodyPr wrap="square"/>
                    <a:lstStyle/>
                    <a:p>
                      <a:r>
                        <a:rPr sz="1100">
                          <a:solidFill>
                            <a:srgbClr val="1A1A1A"/>
                          </a:solidFill>
                        </a:rPr>
                        <a:t>Building rails alone is too expensive</a:t>
                      </a:r>
                    </a:p>
                  </a:txBody>
                  <a:tcPr anchor="ctr" marL="73152" marR="54864" marT="27432" marB="27432">
                    <a:solidFill>
                      <a:srgbClr val="FFFFFF"/>
                    </a:solidFill>
                  </a:tcPr>
                </a:tc>
                <a:tc>
                  <a:txBody>
                    <a:bodyPr wrap="square"/>
                    <a:lstStyle/>
                    <a:p>
                      <a:r>
                        <a:rPr sz="1100">
                          <a:solidFill>
                            <a:srgbClr val="1A1A1A"/>
                          </a:solidFill>
                        </a:rPr>
                        <a:t>Banks jointly funding NCHL/ConnectIPS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In the bazaar, helping a rival is loss. Online, shared standards and rails make the WHOLE market bigger and cheaper to serve — so cooperating on the plumbing while competing on the product is rational.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142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Cooperation Is + Why Digital Encourages It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banks jointly built and fund NCHL/ConnectIPS — shared payment rails no single bank would build alone. Because payments are modular and API-connected, and because a standard everyone accepts is worth more to everyone (network effect), rivals cooperate on the plumbing. QR interoperability is the clearest case: eSewa, Khalti, and banks agreed a common QR so any customer can pay any merchant — growing the whole cashless market.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"Cooperating with a competitor is always a mistake." In digital markets, shared standards and rails enlarge the whole market via network effects, and modular/API architecture makes interconnection cheap. Firms cooperate on the infrastructure (the pipes) while still competing on the product (the app and customers) — cooperation and competition coexist.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Cooperation is firms working together — sharing infrastructure, standards, data, or customers — to create value none could alone. Digital markets encourage it more than traditional ones because of modularity (products are interconnecting parts), APIs (cheap technical integration), network effects (a shared standard grows everyone's value), and convenience (users want one seamless experience). Nepal's banks cooperating on ConnectIPS and QR interoperability shows the logic.</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cooperation · modularity · APIs · network effects · convenience · shared standards/rails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142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5 Reasons to Cooperate ('Grow the Pie First')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Firms cooperate for five concrete reasons: (1) GROW THE MARKET — a bigger cashless pie helps every wallet before they fight for slices; (2) SHARE COSTS &amp; RISK — jointly building rails or standards no one can afford alone; (3) ACCESS CAPABILITIES — borrow a partner's logistics, licence, or user base; (4) SET STANDARDS — agree a common format so the market interoperates; (5) SPEED &amp; REACH — enter a market or launch faster together than alone. The mindset: 'grow the pie first, then compete for slices.'</a:t>
            </a:r>
          </a:p>
          <a:p>
            <a:pPr>
              <a:spcAft>
                <a:spcPts val="500"/>
              </a:spcAft>
            </a:pPr>
            <a:r>
              <a:rPr sz="1200" b="1">
                <a:solidFill>
                  <a:srgbClr val="185FA5"/>
                </a:solidFill>
              </a:rPr>
              <a:t>HOW IT WORKS</a:t>
            </a:r>
          </a:p>
          <a:p>
            <a:pPr>
              <a:spcAft>
                <a:spcPts val="600"/>
              </a:spcAft>
            </a:pPr>
            <a:r>
              <a:rPr sz="1400">
                <a:solidFill>
                  <a:srgbClr val="1A1A1A"/>
                </a:solidFill>
              </a:rPr>
              <a:t>•  Grow the market: cooperation expands total demand before anyone competes for share.</a:t>
            </a:r>
          </a:p>
          <a:p>
            <a:pPr>
              <a:spcAft>
                <a:spcPts val="600"/>
              </a:spcAft>
            </a:pPr>
            <a:r>
              <a:rPr sz="1400">
                <a:solidFill>
                  <a:srgbClr val="1A1A1A"/>
                </a:solidFill>
              </a:rPr>
              <a:t>•  Share cost &amp; risk: expensive infrastructure (rails, standards) is built jointly.</a:t>
            </a:r>
          </a:p>
          <a:p>
            <a:pPr>
              <a:spcAft>
                <a:spcPts val="600"/>
              </a:spcAft>
            </a:pPr>
            <a:r>
              <a:rPr sz="1400">
                <a:solidFill>
                  <a:srgbClr val="1A1A1A"/>
                </a:solidFill>
              </a:rPr>
              <a:t>•  Access capabilities &amp; set standards: borrow strengths; agree interoperable formats.</a:t>
            </a:r>
          </a:p>
          <a:p>
            <a:pPr>
              <a:spcAft>
                <a:spcPts val="600"/>
              </a:spcAft>
            </a:pPr>
            <a:r>
              <a:rPr sz="1400">
                <a:solidFill>
                  <a:srgbClr val="1A1A1A"/>
                </a:solidFill>
              </a:rPr>
              <a:t>•  Speed &amp; reach: partnerships enter markets and scale faster than going alone.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Five reasons: grow the market · share cost/risk · access capabilities · set standards · speed &amp; reach.</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142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5 reasons to cooperate — with payoff</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775857"/>
                <a:gridCol w="3918857"/>
                <a:gridCol w="4735285"/>
              </a:tblGrid>
              <a:tr h="736092">
                <a:tc>
                  <a:txBody>
                    <a:bodyPr wrap="square"/>
                    <a:lstStyle/>
                    <a:p>
                      <a:r>
                        <a:rPr sz="1150" b="1">
                          <a:solidFill>
                            <a:srgbClr val="FFFFFF"/>
                          </a:solidFill>
                        </a:rPr>
                        <a:t>Reason</a:t>
                      </a:r>
                    </a:p>
                  </a:txBody>
                  <a:tcPr anchor="ctr" marL="73152" marR="54864" marT="27432" marB="27432">
                    <a:solidFill>
                      <a:srgbClr val="0C2B4A"/>
                    </a:solidFill>
                  </a:tcPr>
                </a:tc>
                <a:tc>
                  <a:txBody>
                    <a:bodyPr wrap="square"/>
                    <a:lstStyle/>
                    <a:p>
                      <a:r>
                        <a:rPr sz="1150" b="1">
                          <a:solidFill>
                            <a:srgbClr val="FFFFFF"/>
                          </a:solidFill>
                        </a:rPr>
                        <a:t>What the firm gains</a:t>
                      </a:r>
                    </a:p>
                  </a:txBody>
                  <a:tcPr anchor="ctr" marL="73152" marR="54864" marT="27432" marB="27432">
                    <a:solidFill>
                      <a:srgbClr val="0C2B4A"/>
                    </a:solidFill>
                  </a:tcPr>
                </a:tc>
                <a:tc>
                  <a:txBody>
                    <a:bodyPr wrap="square"/>
                    <a:lstStyle/>
                    <a:p>
                      <a:r>
                        <a:rPr sz="1150" b="1">
                          <a:solidFill>
                            <a:srgbClr val="FFFFFF"/>
                          </a:solidFill>
                        </a:rPr>
                        <a:t>Nepal example</a:t>
                      </a:r>
                    </a:p>
                  </a:txBody>
                  <a:tcPr anchor="ctr" marL="73152" marR="54864" marT="27432" marB="27432">
                    <a:solidFill>
                      <a:srgbClr val="0C2B4A"/>
                    </a:solidFill>
                  </a:tcPr>
                </a:tc>
              </a:tr>
              <a:tr h="736092">
                <a:tc>
                  <a:txBody>
                    <a:bodyPr wrap="square"/>
                    <a:lstStyle/>
                    <a:p>
                      <a:r>
                        <a:rPr sz="1100" b="1">
                          <a:solidFill>
                            <a:srgbClr val="0C2B4A"/>
                          </a:solidFill>
                        </a:rPr>
                        <a:t>Grow the market</a:t>
                      </a:r>
                    </a:p>
                  </a:txBody>
                  <a:tcPr anchor="ctr" marL="73152" marR="54864" marT="27432" marB="27432">
                    <a:solidFill>
                      <a:srgbClr val="FFFFFF"/>
                    </a:solidFill>
                  </a:tcPr>
                </a:tc>
                <a:tc>
                  <a:txBody>
                    <a:bodyPr wrap="square"/>
                    <a:lstStyle/>
                    <a:p>
                      <a:r>
                        <a:rPr sz="1100">
                          <a:solidFill>
                            <a:srgbClr val="1A1A1A"/>
                          </a:solidFill>
                        </a:rPr>
                        <a:t>A bigger total pie for all</a:t>
                      </a:r>
                    </a:p>
                  </a:txBody>
                  <a:tcPr anchor="ctr" marL="73152" marR="54864" marT="27432" marB="27432">
                    <a:solidFill>
                      <a:srgbClr val="FFFFFF"/>
                    </a:solidFill>
                  </a:tcPr>
                </a:tc>
                <a:tc>
                  <a:txBody>
                    <a:bodyPr wrap="square"/>
                    <a:lstStyle/>
                    <a:p>
                      <a:r>
                        <a:rPr sz="1100">
                          <a:solidFill>
                            <a:srgbClr val="1A1A1A"/>
                          </a:solidFill>
                        </a:rPr>
                        <a:t>Wallets pushing 'go cashless' together</a:t>
                      </a:r>
                    </a:p>
                  </a:txBody>
                  <a:tcPr anchor="ctr" marL="73152" marR="54864" marT="27432" marB="27432">
                    <a:solidFill>
                      <a:srgbClr val="FFFFFF"/>
                    </a:solidFill>
                  </a:tcPr>
                </a:tc>
              </a:tr>
              <a:tr h="736092">
                <a:tc>
                  <a:txBody>
                    <a:bodyPr wrap="square"/>
                    <a:lstStyle/>
                    <a:p>
                      <a:r>
                        <a:rPr sz="1100" b="1">
                          <a:solidFill>
                            <a:srgbClr val="0C2B4A"/>
                          </a:solidFill>
                        </a:rPr>
                        <a:t>Share cost &amp; risk</a:t>
                      </a:r>
                    </a:p>
                  </a:txBody>
                  <a:tcPr anchor="ctr" marL="73152" marR="54864" marT="27432" marB="27432">
                    <a:solidFill>
                      <a:srgbClr val="EEF3F8"/>
                    </a:solidFill>
                  </a:tcPr>
                </a:tc>
                <a:tc>
                  <a:txBody>
                    <a:bodyPr wrap="square"/>
                    <a:lstStyle/>
                    <a:p>
                      <a:r>
                        <a:rPr sz="1100">
                          <a:solidFill>
                            <a:srgbClr val="1A1A1A"/>
                          </a:solidFill>
                        </a:rPr>
                        <a:t>Afford what none could alone</a:t>
                      </a:r>
                    </a:p>
                  </a:txBody>
                  <a:tcPr anchor="ctr" marL="73152" marR="54864" marT="27432" marB="27432">
                    <a:solidFill>
                      <a:srgbClr val="EEF3F8"/>
                    </a:solidFill>
                  </a:tcPr>
                </a:tc>
                <a:tc>
                  <a:txBody>
                    <a:bodyPr wrap="square"/>
                    <a:lstStyle/>
                    <a:p>
                      <a:r>
                        <a:rPr sz="1100">
                          <a:solidFill>
                            <a:srgbClr val="1A1A1A"/>
                          </a:solidFill>
                        </a:rPr>
                        <a:t>Banks co-funding NCHL/ConnectIPS</a:t>
                      </a:r>
                    </a:p>
                  </a:txBody>
                  <a:tcPr anchor="ctr" marL="73152" marR="54864" marT="27432" marB="27432">
                    <a:solidFill>
                      <a:srgbClr val="EEF3F8"/>
                    </a:solidFill>
                  </a:tcPr>
                </a:tc>
              </a:tr>
              <a:tr h="736092">
                <a:tc>
                  <a:txBody>
                    <a:bodyPr wrap="square"/>
                    <a:lstStyle/>
                    <a:p>
                      <a:r>
                        <a:rPr sz="1100" b="1">
                          <a:solidFill>
                            <a:srgbClr val="0C2B4A"/>
                          </a:solidFill>
                        </a:rPr>
                        <a:t>Access capabilities</a:t>
                      </a:r>
                    </a:p>
                  </a:txBody>
                  <a:tcPr anchor="ctr" marL="73152" marR="54864" marT="27432" marB="27432">
                    <a:solidFill>
                      <a:srgbClr val="FFFFFF"/>
                    </a:solidFill>
                  </a:tcPr>
                </a:tc>
                <a:tc>
                  <a:txBody>
                    <a:bodyPr wrap="square"/>
                    <a:lstStyle/>
                    <a:p>
                      <a:r>
                        <a:rPr sz="1100">
                          <a:solidFill>
                            <a:srgbClr val="1A1A1A"/>
                          </a:solidFill>
                        </a:rPr>
                        <a:t>Borrow a partner's strength</a:t>
                      </a:r>
                    </a:p>
                  </a:txBody>
                  <a:tcPr anchor="ctr" marL="73152" marR="54864" marT="27432" marB="27432">
                    <a:solidFill>
                      <a:srgbClr val="FFFFFF"/>
                    </a:solidFill>
                  </a:tcPr>
                </a:tc>
                <a:tc>
                  <a:txBody>
                    <a:bodyPr wrap="square"/>
                    <a:lstStyle/>
                    <a:p>
                      <a:r>
                        <a:rPr sz="1100">
                          <a:solidFill>
                            <a:srgbClr val="1A1A1A"/>
                          </a:solidFill>
                        </a:rPr>
                        <a:t>Daraz using Pathao/Aramex for delivery</a:t>
                      </a:r>
                    </a:p>
                  </a:txBody>
                  <a:tcPr anchor="ctr" marL="73152" marR="54864" marT="27432" marB="27432">
                    <a:solidFill>
                      <a:srgbClr val="FFFFFF"/>
                    </a:solidFill>
                  </a:tcPr>
                </a:tc>
              </a:tr>
              <a:tr h="736092">
                <a:tc>
                  <a:txBody>
                    <a:bodyPr wrap="square"/>
                    <a:lstStyle/>
                    <a:p>
                      <a:r>
                        <a:rPr sz="1100" b="1">
                          <a:solidFill>
                            <a:srgbClr val="0C2B4A"/>
                          </a:solidFill>
                        </a:rPr>
                        <a:t>Set standards</a:t>
                      </a:r>
                    </a:p>
                  </a:txBody>
                  <a:tcPr anchor="ctr" marL="73152" marR="54864" marT="27432" marB="27432">
                    <a:solidFill>
                      <a:srgbClr val="EEF3F8"/>
                    </a:solidFill>
                  </a:tcPr>
                </a:tc>
                <a:tc>
                  <a:txBody>
                    <a:bodyPr wrap="square"/>
                    <a:lstStyle/>
                    <a:p>
                      <a:r>
                        <a:rPr sz="1100">
                          <a:solidFill>
                            <a:srgbClr val="1A1A1A"/>
                          </a:solidFill>
                        </a:rPr>
                        <a:t>An interoperable market</a:t>
                      </a:r>
                    </a:p>
                  </a:txBody>
                  <a:tcPr anchor="ctr" marL="73152" marR="54864" marT="27432" marB="27432">
                    <a:solidFill>
                      <a:srgbClr val="EEF3F8"/>
                    </a:solidFill>
                  </a:tcPr>
                </a:tc>
                <a:tc>
                  <a:txBody>
                    <a:bodyPr wrap="square"/>
                    <a:lstStyle/>
                    <a:p>
                      <a:r>
                        <a:rPr sz="1100">
                          <a:solidFill>
                            <a:srgbClr val="1A1A1A"/>
                          </a:solidFill>
                        </a:rPr>
                        <a:t>Common QR standard across wallets</a:t>
                      </a:r>
                    </a:p>
                  </a:txBody>
                  <a:tcPr anchor="ctr" marL="73152" marR="54864" marT="27432" marB="27432">
                    <a:solidFill>
                      <a:srgbClr val="EEF3F8"/>
                    </a:solidFill>
                  </a:tcPr>
                </a:tc>
              </a:tr>
              <a:tr h="736092">
                <a:tc>
                  <a:txBody>
                    <a:bodyPr wrap="square"/>
                    <a:lstStyle/>
                    <a:p>
                      <a:r>
                        <a:rPr sz="1100" b="1">
                          <a:solidFill>
                            <a:srgbClr val="0C2B4A"/>
                          </a:solidFill>
                        </a:rPr>
                        <a:t>Speed &amp; reach</a:t>
                      </a:r>
                    </a:p>
                  </a:txBody>
                  <a:tcPr anchor="ctr" marL="73152" marR="54864" marT="27432" marB="27432">
                    <a:solidFill>
                      <a:srgbClr val="FFFFFF"/>
                    </a:solidFill>
                  </a:tcPr>
                </a:tc>
                <a:tc>
                  <a:txBody>
                    <a:bodyPr wrap="square"/>
                    <a:lstStyle/>
                    <a:p>
                      <a:r>
                        <a:rPr sz="1100">
                          <a:solidFill>
                            <a:srgbClr val="1A1A1A"/>
                          </a:solidFill>
                        </a:rPr>
                        <a:t>Enter/scale faster</a:t>
                      </a:r>
                    </a:p>
                  </a:txBody>
                  <a:tcPr anchor="ctr" marL="73152" marR="54864" marT="27432" marB="27432">
                    <a:solidFill>
                      <a:srgbClr val="FFFFFF"/>
                    </a:solidFill>
                  </a:tcPr>
                </a:tc>
                <a:tc>
                  <a:txBody>
                    <a:bodyPr wrap="square"/>
                    <a:lstStyle/>
                    <a:p>
                      <a:r>
                        <a:rPr sz="1100">
                          <a:solidFill>
                            <a:srgbClr val="1A1A1A"/>
                          </a:solidFill>
                        </a:rPr>
                        <a:t>A bank + fintech co-launching a product</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Each reason is a payoff: cooperation is not charity but strategy. 'Grow the pie first, then compete for slices' — in a small market like Nepal, cooperation is often the only way any player reaches scale.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36 / 142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5 Reasons to Cooperate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Daraz doesn't own a delivery fleet — it partners with Pathao and Aramex (accessing a capability) rather than burning cash to build logistics alone. Nepali wallets jointly promote 'go cashless' (growing the market) before fighting for users, and co-fund shared rails (sharing cost &amp; risk). Each is a concrete reason from the five: cooperation lets a Nepali firm reach scale it could never afford by fighting alone.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"Firms only cooperate when they're weak." Cooperation is a deliberate strategy for the strong too: grow the total market, share the cost of expensive infrastructure, borrow capabilities, set standards, and move faster. 'Grow the pie first, then compete for slices' — enlarging the market first often beats fighting over today's small one.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Firms cooperate for five reasons: grow the total market (a bigger pie for all), share cost and risk (build expensive rails jointly), access capabilities (borrow a partner's logistics/licence/users), set standards (make the market interoperable), and gain speed and reach (enter or scale faster). The mindset is 'grow the pie first, then compete for slices' — in a small market like Nepal, cooperation is often survival, not luxury.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grow the market · share cost &amp; risk · access capabilities · set standards · speed &amp; reach · grow the pie first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142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3 Forms of Cooperation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Cooperation takes three main forms. (1) JOINT PLATFORMS / shared infrastructure — rivals build or use common rails (NCHL, ConnectIPS, SWIFT, a shared QR). (2) PARTNERSHIPS — two firms combine strengths through co-branding, logistics deals, or joint marketing (Daraz + a courier; a bank + a fintech). (3) SERVICE INTEGRATION — one service embeds another so the user gets a seamless experience (pay a utility bill inside a wallet; log in with Google). Each deepens interdependence.</a:t>
            </a:r>
          </a:p>
          <a:p>
            <a:pPr>
              <a:spcAft>
                <a:spcPts val="500"/>
              </a:spcAft>
            </a:pPr>
            <a:r>
              <a:rPr sz="1200" b="1">
                <a:solidFill>
                  <a:srgbClr val="185FA5"/>
                </a:solidFill>
              </a:rPr>
              <a:t>HOW IT WORKS</a:t>
            </a:r>
          </a:p>
          <a:p>
            <a:pPr>
              <a:spcAft>
                <a:spcPts val="600"/>
              </a:spcAft>
            </a:pPr>
            <a:r>
              <a:rPr sz="1400">
                <a:solidFill>
                  <a:srgbClr val="1A1A1A"/>
                </a:solidFill>
              </a:rPr>
              <a:t>•  Joint platforms: shared rails/standards owned or used by rivals (ConnectIPS, SWIFT, QR).</a:t>
            </a:r>
          </a:p>
          <a:p>
            <a:pPr>
              <a:spcAft>
                <a:spcPts val="600"/>
              </a:spcAft>
            </a:pPr>
            <a:r>
              <a:rPr sz="1400">
                <a:solidFill>
                  <a:srgbClr val="1A1A1A"/>
                </a:solidFill>
              </a:rPr>
              <a:t>•  Partnerships: co-branding, logistics, or marketing deals combining two firms' strengths.</a:t>
            </a:r>
          </a:p>
          <a:p>
            <a:pPr>
              <a:spcAft>
                <a:spcPts val="600"/>
              </a:spcAft>
            </a:pPr>
            <a:r>
              <a:rPr sz="1400">
                <a:solidFill>
                  <a:srgbClr val="1A1A1A"/>
                </a:solidFill>
              </a:rPr>
              <a:t>•  Service integration: one app embeds another's service for a seamless user journey.</a:t>
            </a:r>
          </a:p>
          <a:p>
            <a:pPr>
              <a:spcAft>
                <a:spcPts val="600"/>
              </a:spcAft>
            </a:pPr>
            <a:r>
              <a:rPr sz="1400">
                <a:solidFill>
                  <a:srgbClr val="1A1A1A"/>
                </a:solidFill>
              </a:rPr>
              <a:t>•  The forms stack: two firms can partner AND integrate AND share a platform at once.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Three forms: joint platforms (shared rails) · partnerships (co-brand/logistics/marketing) · service integration.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142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3 forms of cooperation — Nepal examples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102428"/>
                <a:gridCol w="3755571"/>
                <a:gridCol w="4572000"/>
              </a:tblGrid>
              <a:tr h="630936">
                <a:tc>
                  <a:txBody>
                    <a:bodyPr wrap="square"/>
                    <a:lstStyle/>
                    <a:p>
                      <a:r>
                        <a:rPr sz="1100" b="1">
                          <a:solidFill>
                            <a:srgbClr val="FFFFFF"/>
                          </a:solidFill>
                        </a:rPr>
                        <a:t>Form</a:t>
                      </a:r>
                    </a:p>
                  </a:txBody>
                  <a:tcPr anchor="ctr" marL="73152" marR="54864" marT="27432" marB="27432">
                    <a:solidFill>
                      <a:srgbClr val="0C2B4A"/>
                    </a:solidFill>
                  </a:tcPr>
                </a:tc>
                <a:tc>
                  <a:txBody>
                    <a:bodyPr wrap="square"/>
                    <a:lstStyle/>
                    <a:p>
                      <a:r>
                        <a:rPr sz="1100" b="1">
                          <a:solidFill>
                            <a:srgbClr val="FFFFFF"/>
                          </a:solidFill>
                        </a:rPr>
                        <a:t>How it works</a:t>
                      </a:r>
                    </a:p>
                  </a:txBody>
                  <a:tcPr anchor="ctr" marL="73152" marR="54864" marT="27432" marB="27432">
                    <a:solidFill>
                      <a:srgbClr val="0C2B4A"/>
                    </a:solidFill>
                  </a:tcPr>
                </a:tc>
                <a:tc>
                  <a:txBody>
                    <a:bodyPr wrap="square"/>
                    <a:lstStyle/>
                    <a:p>
                      <a:r>
                        <a:rPr sz="1100" b="1">
                          <a:solidFill>
                            <a:srgbClr val="FFFFFF"/>
                          </a:solidFill>
                        </a:rPr>
                        <a:t>Nepal / global example</a:t>
                      </a:r>
                    </a:p>
                  </a:txBody>
                  <a:tcPr anchor="ctr" marL="73152" marR="54864" marT="27432" marB="27432">
                    <a:solidFill>
                      <a:srgbClr val="0C2B4A"/>
                    </a:solidFill>
                  </a:tcPr>
                </a:tc>
              </a:tr>
              <a:tr h="630936">
                <a:tc>
                  <a:txBody>
                    <a:bodyPr wrap="square"/>
                    <a:lstStyle/>
                    <a:p>
                      <a:r>
                        <a:rPr sz="1050" b="1">
                          <a:solidFill>
                            <a:srgbClr val="0C2B4A"/>
                          </a:solidFill>
                        </a:rPr>
                        <a:t>Joint platform</a:t>
                      </a:r>
                    </a:p>
                  </a:txBody>
                  <a:tcPr anchor="ctr" marL="73152" marR="54864" marT="27432" marB="27432">
                    <a:solidFill>
                      <a:srgbClr val="FFFFFF"/>
                    </a:solidFill>
                  </a:tcPr>
                </a:tc>
                <a:tc>
                  <a:txBody>
                    <a:bodyPr wrap="square"/>
                    <a:lstStyle/>
                    <a:p>
                      <a:r>
                        <a:rPr sz="1050">
                          <a:solidFill>
                            <a:srgbClr val="1A1A1A"/>
                          </a:solidFill>
                        </a:rPr>
                        <a:t>Rivals share common rails/standards</a:t>
                      </a:r>
                    </a:p>
                  </a:txBody>
                  <a:tcPr anchor="ctr" marL="73152" marR="54864" marT="27432" marB="27432">
                    <a:solidFill>
                      <a:srgbClr val="FFFFFF"/>
                    </a:solidFill>
                  </a:tcPr>
                </a:tc>
                <a:tc>
                  <a:txBody>
                    <a:bodyPr wrap="square"/>
                    <a:lstStyle/>
                    <a:p>
                      <a:r>
                        <a:rPr sz="1050">
                          <a:solidFill>
                            <a:srgbClr val="1A1A1A"/>
                          </a:solidFill>
                        </a:rPr>
                        <a:t>NCHL, ConnectIPS, SWIFT, shared QR</a:t>
                      </a:r>
                    </a:p>
                  </a:txBody>
                  <a:tcPr anchor="ctr" marL="73152" marR="54864" marT="27432" marB="27432">
                    <a:solidFill>
                      <a:srgbClr val="FFFFFF"/>
                    </a:solidFill>
                  </a:tcPr>
                </a:tc>
              </a:tr>
              <a:tr h="630936">
                <a:tc>
                  <a:txBody>
                    <a:bodyPr wrap="square"/>
                    <a:lstStyle/>
                    <a:p>
                      <a:r>
                        <a:rPr sz="1050" b="1">
                          <a:solidFill>
                            <a:srgbClr val="0C2B4A"/>
                          </a:solidFill>
                        </a:rPr>
                        <a:t>Partnership (logistics)</a:t>
                      </a:r>
                    </a:p>
                  </a:txBody>
                  <a:tcPr anchor="ctr" marL="73152" marR="54864" marT="27432" marB="27432">
                    <a:solidFill>
                      <a:srgbClr val="EEF3F8"/>
                    </a:solidFill>
                  </a:tcPr>
                </a:tc>
                <a:tc>
                  <a:txBody>
                    <a:bodyPr wrap="square"/>
                    <a:lstStyle/>
                    <a:p>
                      <a:r>
                        <a:rPr sz="1050">
                          <a:solidFill>
                            <a:srgbClr val="1A1A1A"/>
                          </a:solidFill>
                        </a:rPr>
                        <a:t>Combine delivery strengths</a:t>
                      </a:r>
                    </a:p>
                  </a:txBody>
                  <a:tcPr anchor="ctr" marL="73152" marR="54864" marT="27432" marB="27432">
                    <a:solidFill>
                      <a:srgbClr val="EEF3F8"/>
                    </a:solidFill>
                  </a:tcPr>
                </a:tc>
                <a:tc>
                  <a:txBody>
                    <a:bodyPr wrap="square"/>
                    <a:lstStyle/>
                    <a:p>
                      <a:r>
                        <a:rPr sz="1050">
                          <a:solidFill>
                            <a:srgbClr val="1A1A1A"/>
                          </a:solidFill>
                        </a:rPr>
                        <a:t>Daraz + Pathao/Aramex couriers</a:t>
                      </a:r>
                    </a:p>
                  </a:txBody>
                  <a:tcPr anchor="ctr" marL="73152" marR="54864" marT="27432" marB="27432">
                    <a:solidFill>
                      <a:srgbClr val="EEF3F8"/>
                    </a:solidFill>
                  </a:tcPr>
                </a:tc>
              </a:tr>
              <a:tr h="630936">
                <a:tc>
                  <a:txBody>
                    <a:bodyPr wrap="square"/>
                    <a:lstStyle/>
                    <a:p>
                      <a:r>
                        <a:rPr sz="1050" b="1">
                          <a:solidFill>
                            <a:srgbClr val="0C2B4A"/>
                          </a:solidFill>
                        </a:rPr>
                        <a:t>Partnership (co-brand)</a:t>
                      </a:r>
                    </a:p>
                  </a:txBody>
                  <a:tcPr anchor="ctr" marL="73152" marR="54864" marT="27432" marB="27432">
                    <a:solidFill>
                      <a:srgbClr val="FFFFFF"/>
                    </a:solidFill>
                  </a:tcPr>
                </a:tc>
                <a:tc>
                  <a:txBody>
                    <a:bodyPr wrap="square"/>
                    <a:lstStyle/>
                    <a:p>
                      <a:r>
                        <a:rPr sz="1050">
                          <a:solidFill>
                            <a:srgbClr val="1A1A1A"/>
                          </a:solidFill>
                        </a:rPr>
                        <a:t>Two brands launch together</a:t>
                      </a:r>
                    </a:p>
                  </a:txBody>
                  <a:tcPr anchor="ctr" marL="73152" marR="54864" marT="27432" marB="27432">
                    <a:solidFill>
                      <a:srgbClr val="FFFFFF"/>
                    </a:solidFill>
                  </a:tcPr>
                </a:tc>
                <a:tc>
                  <a:txBody>
                    <a:bodyPr wrap="square"/>
                    <a:lstStyle/>
                    <a:p>
                      <a:r>
                        <a:rPr sz="1050">
                          <a:solidFill>
                            <a:srgbClr val="1A1A1A"/>
                          </a:solidFill>
                        </a:rPr>
                        <a:t>Bank + fintech co-branded card/wallet</a:t>
                      </a:r>
                    </a:p>
                  </a:txBody>
                  <a:tcPr anchor="ctr" marL="73152" marR="54864" marT="27432" marB="27432">
                    <a:solidFill>
                      <a:srgbClr val="FFFFFF"/>
                    </a:solidFill>
                  </a:tcPr>
                </a:tc>
              </a:tr>
              <a:tr h="630936">
                <a:tc>
                  <a:txBody>
                    <a:bodyPr wrap="square"/>
                    <a:lstStyle/>
                    <a:p>
                      <a:r>
                        <a:rPr sz="1050" b="1">
                          <a:solidFill>
                            <a:srgbClr val="0C2B4A"/>
                          </a:solidFill>
                        </a:rPr>
                        <a:t>Partnership (marketing)</a:t>
                      </a:r>
                    </a:p>
                  </a:txBody>
                  <a:tcPr anchor="ctr" marL="73152" marR="54864" marT="27432" marB="27432">
                    <a:solidFill>
                      <a:srgbClr val="EEF3F8"/>
                    </a:solidFill>
                  </a:tcPr>
                </a:tc>
                <a:tc>
                  <a:txBody>
                    <a:bodyPr wrap="square"/>
                    <a:lstStyle/>
                    <a:p>
                      <a:r>
                        <a:rPr sz="1050">
                          <a:solidFill>
                            <a:srgbClr val="1A1A1A"/>
                          </a:solidFill>
                        </a:rPr>
                        <a:t>Joint campaigns/cashback</a:t>
                      </a:r>
                    </a:p>
                  </a:txBody>
                  <a:tcPr anchor="ctr" marL="73152" marR="54864" marT="27432" marB="27432">
                    <a:solidFill>
                      <a:srgbClr val="EEF3F8"/>
                    </a:solidFill>
                  </a:tcPr>
                </a:tc>
                <a:tc>
                  <a:txBody>
                    <a:bodyPr wrap="square"/>
                    <a:lstStyle/>
                    <a:p>
                      <a:r>
                        <a:rPr sz="1050">
                          <a:solidFill>
                            <a:srgbClr val="1A1A1A"/>
                          </a:solidFill>
                        </a:rPr>
                        <a:t>Wallet + merchant festival offers</a:t>
                      </a:r>
                    </a:p>
                  </a:txBody>
                  <a:tcPr anchor="ctr" marL="73152" marR="54864" marT="27432" marB="27432">
                    <a:solidFill>
                      <a:srgbClr val="EEF3F8"/>
                    </a:solidFill>
                  </a:tcPr>
                </a:tc>
              </a:tr>
              <a:tr h="630936">
                <a:tc>
                  <a:txBody>
                    <a:bodyPr wrap="square"/>
                    <a:lstStyle/>
                    <a:p>
                      <a:r>
                        <a:rPr sz="1050" b="1">
                          <a:solidFill>
                            <a:srgbClr val="0C2B4A"/>
                          </a:solidFill>
                        </a:rPr>
                        <a:t>Service integration</a:t>
                      </a:r>
                    </a:p>
                  </a:txBody>
                  <a:tcPr anchor="ctr" marL="73152" marR="54864" marT="27432" marB="27432">
                    <a:solidFill>
                      <a:srgbClr val="FFFFFF"/>
                    </a:solidFill>
                  </a:tcPr>
                </a:tc>
                <a:tc>
                  <a:txBody>
                    <a:bodyPr wrap="square"/>
                    <a:lstStyle/>
                    <a:p>
                      <a:r>
                        <a:rPr sz="1050">
                          <a:solidFill>
                            <a:srgbClr val="1A1A1A"/>
                          </a:solidFill>
                        </a:rPr>
                        <a:t>Embed one service in another</a:t>
                      </a:r>
                    </a:p>
                  </a:txBody>
                  <a:tcPr anchor="ctr" marL="73152" marR="54864" marT="27432" marB="27432">
                    <a:solidFill>
                      <a:srgbClr val="FFFFFF"/>
                    </a:solidFill>
                  </a:tcPr>
                </a:tc>
                <a:tc>
                  <a:txBody>
                    <a:bodyPr wrap="square"/>
                    <a:lstStyle/>
                    <a:p>
                      <a:r>
                        <a:rPr sz="1050">
                          <a:solidFill>
                            <a:srgbClr val="1A1A1A"/>
                          </a:solidFill>
                        </a:rPr>
                        <a:t>Pay NEA/water bills inside eSewa/Khalti</a:t>
                      </a:r>
                    </a:p>
                  </a:txBody>
                  <a:tcPr anchor="ctr" marL="73152" marR="54864" marT="27432" marB="27432">
                    <a:solidFill>
                      <a:srgbClr val="FFFFFF"/>
                    </a:solidFill>
                  </a:tcPr>
                </a:tc>
              </a:tr>
              <a:tr h="630936">
                <a:tc>
                  <a:txBody>
                    <a:bodyPr wrap="square"/>
                    <a:lstStyle/>
                    <a:p>
                      <a:r>
                        <a:rPr sz="1050" b="1">
                          <a:solidFill>
                            <a:srgbClr val="0C2B4A"/>
                          </a:solidFill>
                        </a:rPr>
                        <a:t>Service integration</a:t>
                      </a:r>
                    </a:p>
                  </a:txBody>
                  <a:tcPr anchor="ctr" marL="73152" marR="54864" marT="27432" marB="27432">
                    <a:solidFill>
                      <a:srgbClr val="EEF3F8"/>
                    </a:solidFill>
                  </a:tcPr>
                </a:tc>
                <a:tc>
                  <a:txBody>
                    <a:bodyPr wrap="square"/>
                    <a:lstStyle/>
                    <a:p>
                      <a:r>
                        <a:rPr sz="1050">
                          <a:solidFill>
                            <a:srgbClr val="1A1A1A"/>
                          </a:solidFill>
                        </a:rPr>
                        <a:t>Single sign-on / embedded pay</a:t>
                      </a:r>
                    </a:p>
                  </a:txBody>
                  <a:tcPr anchor="ctr" marL="73152" marR="54864" marT="27432" marB="27432">
                    <a:solidFill>
                      <a:srgbClr val="EEF3F8"/>
                    </a:solidFill>
                  </a:tcPr>
                </a:tc>
                <a:tc>
                  <a:txBody>
                    <a:bodyPr wrap="square"/>
                    <a:lstStyle/>
                    <a:p>
                      <a:r>
                        <a:rPr sz="1050">
                          <a:solidFill>
                            <a:srgbClr val="1A1A1A"/>
                          </a:solidFill>
                        </a:rPr>
                        <a:t>'Login with Google'; in-app Fonepay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These forms explain HOW Nepali firms cooperate in practice — and they set up S19: when firms cooperate on the rails (upstream) while competing for customers (downstream), that is co-opetition.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142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S18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3 Forms of Cooperation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eSewa lets you pay your NEA electricity bill and Ncell top-up inside the app — service integration that makes the wallet stickier. Daraz partners with Pathao and Aramex for delivery (a logistics partnership). And every wallet plugs into NCHL/ConnectIPS (a joint platform). Often all three stack: two firms partner, integrate services, and share rails at once — deepening cooperation while they still compete for the customer.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"Cooperation means merging or becoming friends." It has three concrete forms — joint platforms (shared rails), partnerships (co-branding, logistics, marketing), and service integration (embedding one service in another) — none of which require merging. Firms stay independent rivals while cooperating on specific layers, which is exactly the setup for co-opetition (S19).</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Cooperation takes three forms: joint platforms / shared infrastructure (rivals build or use common rails — NCHL, ConnectIPS, SWIFT, a shared QR); partnerships (co-branding, logistics, or marketing deals combining strengths — Daraz + a courier); and service integration (one service embeds another for a seamless experience — bill payment inside a wallet, 'login with Google'). The forms stack, deepening interdependence while firms stay independent.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joint platforms · partnerships (co-brand/logistics/marketing) · service integration · forms stack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142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S18 — 'Design a cooperation'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you run a small Nepali fintech. Pick ONE rival or partner to cooperate with.</a:t>
            </a:r>
          </a:p>
          <a:p>
            <a:pPr>
              <a:spcAft>
                <a:spcPts val="700"/>
              </a:spcAft>
            </a:pPr>
            <a:r>
              <a:rPr sz="1550">
                <a:solidFill>
                  <a:srgbClr val="1A1A1A"/>
                </a:solidFill>
              </a:rPr>
              <a:t>•  Choose the FORM (joint platform / partnership / service integration) and the REASON (one of the 5).</a:t>
            </a:r>
          </a:p>
          <a:p>
            <a:pPr>
              <a:spcAft>
                <a:spcPts val="700"/>
              </a:spcAft>
            </a:pPr>
            <a:r>
              <a:rPr sz="1550">
                <a:solidFill>
                  <a:srgbClr val="1A1A1A"/>
                </a:solidFill>
              </a:rPr>
              <a:t>•  State what you'd still compete on afterwards.</a:t>
            </a:r>
          </a:p>
          <a:p>
            <a:pPr>
              <a:spcAft>
                <a:spcPts val="700"/>
              </a:spcAft>
            </a:pPr>
            <a:r>
              <a:rPr sz="1550">
                <a:solidFill>
                  <a:srgbClr val="1A1A1A"/>
                </a:solidFill>
              </a:rPr>
              <a:t>•  Take 3–4 answers aloud (2 min); check the reason and form are named explicitly.</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 integrate with ConnectIPS (joint platform) to share cost &amp; grow the cashless market, partner with a courier for reach — but still compete on app UX and cashback. Reward naming FORM + REASON and what stays competitive (the S19 hook).</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142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S18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Nepali banks jointly building and funding ConnectIPS is cooperation via:</a:t>
            </a:r>
          </a:p>
          <a:p>
            <a:pPr lvl="1"/>
            <a:r>
              <a:rPr sz="1500" b="1">
                <a:solidFill>
                  <a:srgbClr val="0F6E56"/>
                </a:solidFill>
              </a:rPr>
              <a:t>a) a price war   b) ✅ a joint platform (shared rails)   c) an acquisition   d) advertising</a:t>
            </a:r>
          </a:p>
          <a:p>
            <a:pPr lvl="1">
              <a:spcBef>
                <a:spcPts val="600"/>
              </a:spcBef>
            </a:pPr>
            <a:r>
              <a:rPr sz="1500" i="1">
                <a:solidFill>
                  <a:srgbClr val="1A1A1A"/>
                </a:solidFill>
              </a:rPr>
              <a:t>     Why: rivals share common payment infrastructure none would build alone — a joint platform.</a:t>
            </a:r>
          </a:p>
          <a:p>
            <a:pPr>
              <a:spcBef>
                <a:spcPts val="900"/>
              </a:spcBef>
            </a:pPr>
            <a:r>
              <a:rPr sz="1700" b="1">
                <a:solidFill>
                  <a:srgbClr val="0C2B4A"/>
                </a:solidFill>
              </a:rPr>
              <a:t>Q2.  'Grow the pie first, then compete for slices' means:</a:t>
            </a:r>
          </a:p>
          <a:p>
            <a:pPr lvl="1"/>
            <a:r>
              <a:rPr sz="1500" b="1">
                <a:solidFill>
                  <a:srgbClr val="0F6E56"/>
                </a:solidFill>
              </a:rPr>
              <a:t>a) never compete   b) ✅ enlarge the whole market together before fighting for share   c) merge   d) cut prices</a:t>
            </a:r>
          </a:p>
          <a:p>
            <a:pPr lvl="1">
              <a:spcBef>
                <a:spcPts val="600"/>
              </a:spcBef>
            </a:pPr>
            <a:r>
              <a:rPr sz="1500" i="1">
                <a:solidFill>
                  <a:srgbClr val="1A1A1A"/>
                </a:solidFill>
              </a:rPr>
              <a:t>     Why: cooperation expands total demand first; firms compete for share of the bigger market after.</a:t>
            </a:r>
          </a:p>
          <a:p>
            <a:pPr lvl="1">
              <a:spcBef>
                <a:spcPts val="600"/>
              </a:spcBef>
            </a:pPr>
            <a:r>
              <a:rPr sz="1500" i="1">
                <a:solidFill>
                  <a:srgbClr val="1A1A1A"/>
                </a:solidFill>
              </a:rPr>
              <a:t>Discussion: name a Nepali cooperation and its form (joint platform / partnership / integration).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142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S18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Cooperation = creating value together (rails, standards, data); digital encourages it via modularity, APIs, network effects, convenience.</a:t>
            </a:r>
          </a:p>
          <a:p>
            <a:pPr>
              <a:spcAft>
                <a:spcPts val="800"/>
              </a:spcAft>
            </a:pPr>
            <a:r>
              <a:rPr sz="1500">
                <a:solidFill>
                  <a:srgbClr val="1A1A1A"/>
                </a:solidFill>
              </a:rPr>
              <a:t>2.  Five reasons: grow the market, share cost/risk, access capabilities, set standards, speed &amp; reach ('grow the pie first').</a:t>
            </a:r>
          </a:p>
          <a:p>
            <a:pPr>
              <a:spcAft>
                <a:spcPts val="800"/>
              </a:spcAft>
            </a:pPr>
            <a:r>
              <a:rPr sz="1500">
                <a:solidFill>
                  <a:srgbClr val="1A1A1A"/>
                </a:solidFill>
              </a:rPr>
              <a:t>3.  Three forms: joint platforms (shared rails), partnerships (co-brand/logistics/marketing), service integration.</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In a small market like Nepal, cooperation is often the only route to scale — which is why rivals share rails like ConnectIPS while still fighting for customers. That exact combination is the subject of the next session.</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S19 — the paradox resolved: co-opetition — cooperating and competing with the same firm at once.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43 / 142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19 · LECTURE HOUR 4 (OF 10)</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Co-opetition: Cooperate + Compete at Once</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eSewa and Nabil Bank need each other — the wallet needs the bank's accounts, the bank wants the wallet's reach — yet both chase the same customer's money. They cooperate and compete at the same time, with the same firm. That is co-opetition, and in layered digital markets it is the norm, not the exception.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44 / 142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Co-opetition = Cooperate Upstream, Compete Downstream</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Co-opetition is cooperating and competing with the same firm at the same time. The pattern is UPSTREAM cooperation (shared technology, infrastructure, and standards — the 'pipes') and DOWNSTREAM competition (for customers, brand, and price — the 'product'). Brandenburger &amp; Nalebuff's Value-Net names the players around a firm: customers, suppliers, competitors, and complementors — and shows a rival can be a complementor upstream while a competitor downstream.</a:t>
            </a:r>
          </a:p>
          <a:p>
            <a:pPr>
              <a:spcAft>
                <a:spcPts val="500"/>
              </a:spcAft>
            </a:pPr>
            <a:r>
              <a:rPr sz="1200" b="1">
                <a:solidFill>
                  <a:srgbClr val="185FA5"/>
                </a:solidFill>
              </a:rPr>
              <a:t>HOW IT WORKS</a:t>
            </a:r>
          </a:p>
          <a:p>
            <a:pPr>
              <a:spcAft>
                <a:spcPts val="600"/>
              </a:spcAft>
            </a:pPr>
            <a:r>
              <a:rPr sz="1400">
                <a:solidFill>
                  <a:srgbClr val="1A1A1A"/>
                </a:solidFill>
              </a:rPr>
              <a:t>•  Upstream (pipes): cooperate on shared rails, tech, and standards — cheaper and interoperable.</a:t>
            </a:r>
          </a:p>
          <a:p>
            <a:pPr>
              <a:spcAft>
                <a:spcPts val="600"/>
              </a:spcAft>
            </a:pPr>
            <a:r>
              <a:rPr sz="1400">
                <a:solidFill>
                  <a:srgbClr val="1A1A1A"/>
                </a:solidFill>
              </a:rPr>
              <a:t>•  Downstream (product): compete hard for the customer, the brand, and the price.</a:t>
            </a:r>
          </a:p>
          <a:p>
            <a:pPr>
              <a:spcAft>
                <a:spcPts val="600"/>
              </a:spcAft>
            </a:pPr>
            <a:r>
              <a:rPr sz="1400">
                <a:solidFill>
                  <a:srgbClr val="1A1A1A"/>
                </a:solidFill>
              </a:rPr>
              <a:t>•  Value-Net: customers + suppliers + competitors + complementors surround every firm.</a:t>
            </a:r>
          </a:p>
          <a:p>
            <a:pPr>
              <a:spcAft>
                <a:spcPts val="600"/>
              </a:spcAft>
            </a:pPr>
            <a:r>
              <a:rPr sz="1400">
                <a:solidFill>
                  <a:srgbClr val="1A1A1A"/>
                </a:solidFill>
              </a:rPr>
              <a:t>•  A rival can be a complementor (grows the market) AND a competitor (splits it) at once.</a:t>
            </a:r>
          </a:p>
        </p:txBody>
      </p:sp>
      <p:pic>
        <p:nvPicPr>
          <p:cNvPr id="6" name="Picture 5" descr="s19_coopetition.png"/>
          <p:cNvPicPr>
            <a:picLocks noChangeAspect="1"/>
          </p:cNvPicPr>
          <p:nvPr/>
        </p:nvPicPr>
        <p:blipFill>
          <a:blip r:embed="rId2"/>
          <a:stretch>
            <a:fillRect/>
          </a:stretch>
        </p:blipFill>
        <p:spPr>
          <a:xfrm>
            <a:off x="6355080" y="2339485"/>
            <a:ext cx="5532120" cy="295627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Co-opetition = cooperate UPSTREAM (shared tech/rails) + compete DOWNSTREAM (customers/brand).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142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Cooperate upstream vs compete downstream</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12571"/>
                <a:gridCol w="4082142"/>
                <a:gridCol w="4735285"/>
              </a:tblGrid>
              <a:tr h="630936">
                <a:tc>
                  <a:txBody>
                    <a:bodyPr wrap="square"/>
                    <a:lstStyle/>
                    <a:p>
                      <a:r>
                        <a:rPr sz="1100" b="1">
                          <a:solidFill>
                            <a:srgbClr val="FFFFFF"/>
                          </a:solidFill>
                        </a:rPr>
                        <a:t>Case</a:t>
                      </a:r>
                    </a:p>
                  </a:txBody>
                  <a:tcPr anchor="ctr" marL="73152" marR="54864" marT="27432" marB="27432">
                    <a:solidFill>
                      <a:srgbClr val="0C2B4A"/>
                    </a:solidFill>
                  </a:tcPr>
                </a:tc>
                <a:tc>
                  <a:txBody>
                    <a:bodyPr wrap="square"/>
                    <a:lstStyle/>
                    <a:p>
                      <a:r>
                        <a:rPr sz="1100" b="1">
                          <a:solidFill>
                            <a:srgbClr val="FFFFFF"/>
                          </a:solidFill>
                        </a:rPr>
                        <a:t>Cooperate UPSTREAM (shared)</a:t>
                      </a:r>
                    </a:p>
                  </a:txBody>
                  <a:tcPr anchor="ctr" marL="73152" marR="54864" marT="27432" marB="27432">
                    <a:solidFill>
                      <a:srgbClr val="0C2B4A"/>
                    </a:solidFill>
                  </a:tcPr>
                </a:tc>
                <a:tc>
                  <a:txBody>
                    <a:bodyPr wrap="square"/>
                    <a:lstStyle/>
                    <a:p>
                      <a:r>
                        <a:rPr sz="1100" b="1">
                          <a:solidFill>
                            <a:srgbClr val="FFFFFF"/>
                          </a:solidFill>
                        </a:rPr>
                        <a:t>Compete DOWNSTREAM (for customers)</a:t>
                      </a:r>
                    </a:p>
                  </a:txBody>
                  <a:tcPr anchor="ctr" marL="73152" marR="54864" marT="27432" marB="27432">
                    <a:solidFill>
                      <a:srgbClr val="0C2B4A"/>
                    </a:solidFill>
                  </a:tcPr>
                </a:tc>
              </a:tr>
              <a:tr h="630936">
                <a:tc>
                  <a:txBody>
                    <a:bodyPr wrap="square"/>
                    <a:lstStyle/>
                    <a:p>
                      <a:r>
                        <a:rPr sz="1050" b="1">
                          <a:solidFill>
                            <a:srgbClr val="0C2B4A"/>
                          </a:solidFill>
                        </a:rPr>
                        <a:t>eSewa &amp; Khalti</a:t>
                      </a:r>
                    </a:p>
                  </a:txBody>
                  <a:tcPr anchor="ctr" marL="73152" marR="54864" marT="27432" marB="27432">
                    <a:solidFill>
                      <a:srgbClr val="FFFFFF"/>
                    </a:solidFill>
                  </a:tcPr>
                </a:tc>
                <a:tc>
                  <a:txBody>
                    <a:bodyPr wrap="square"/>
                    <a:lstStyle/>
                    <a:p>
                      <a:r>
                        <a:rPr sz="1050">
                          <a:solidFill>
                            <a:srgbClr val="1A1A1A"/>
                          </a:solidFill>
                        </a:rPr>
                        <a:t>Same ConnectIPS/QR rails</a:t>
                      </a:r>
                    </a:p>
                  </a:txBody>
                  <a:tcPr anchor="ctr" marL="73152" marR="54864" marT="27432" marB="27432">
                    <a:solidFill>
                      <a:srgbClr val="FFFFFF"/>
                    </a:solidFill>
                  </a:tcPr>
                </a:tc>
                <a:tc>
                  <a:txBody>
                    <a:bodyPr wrap="square"/>
                    <a:lstStyle/>
                    <a:p>
                      <a:r>
                        <a:rPr sz="1050">
                          <a:solidFill>
                            <a:srgbClr val="1A1A1A"/>
                          </a:solidFill>
                        </a:rPr>
                        <a:t>App UX, cashback, merchant deals</a:t>
                      </a:r>
                    </a:p>
                  </a:txBody>
                  <a:tcPr anchor="ctr" marL="73152" marR="54864" marT="27432" marB="27432">
                    <a:solidFill>
                      <a:srgbClr val="FFFFFF"/>
                    </a:solidFill>
                  </a:tcPr>
                </a:tc>
              </a:tr>
              <a:tr h="630936">
                <a:tc>
                  <a:txBody>
                    <a:bodyPr wrap="square"/>
                    <a:lstStyle/>
                    <a:p>
                      <a:r>
                        <a:rPr sz="1050" b="1">
                          <a:solidFill>
                            <a:srgbClr val="0C2B4A"/>
                          </a:solidFill>
                        </a:rPr>
                        <a:t>Daraz &amp; Pathao</a:t>
                      </a:r>
                    </a:p>
                  </a:txBody>
                  <a:tcPr anchor="ctr" marL="73152" marR="54864" marT="27432" marB="27432">
                    <a:solidFill>
                      <a:srgbClr val="EEF3F8"/>
                    </a:solidFill>
                  </a:tcPr>
                </a:tc>
                <a:tc>
                  <a:txBody>
                    <a:bodyPr wrap="square"/>
                    <a:lstStyle/>
                    <a:p>
                      <a:r>
                        <a:rPr sz="1050">
                          <a:solidFill>
                            <a:srgbClr val="1A1A1A"/>
                          </a:solidFill>
                        </a:rPr>
                        <a:t>Share delivery logistics</a:t>
                      </a:r>
                    </a:p>
                  </a:txBody>
                  <a:tcPr anchor="ctr" marL="73152" marR="54864" marT="27432" marB="27432">
                    <a:solidFill>
                      <a:srgbClr val="EEF3F8"/>
                    </a:solidFill>
                  </a:tcPr>
                </a:tc>
                <a:tc>
                  <a:txBody>
                    <a:bodyPr wrap="square"/>
                    <a:lstStyle/>
                    <a:p>
                      <a:r>
                        <a:rPr sz="1050">
                          <a:solidFill>
                            <a:srgbClr val="1A1A1A"/>
                          </a:solidFill>
                        </a:rPr>
                        <a:t>Pathao's own Foodmandu-style services</a:t>
                      </a:r>
                    </a:p>
                  </a:txBody>
                  <a:tcPr anchor="ctr" marL="73152" marR="54864" marT="27432" marB="27432">
                    <a:solidFill>
                      <a:srgbClr val="EEF3F8"/>
                    </a:solidFill>
                  </a:tcPr>
                </a:tc>
              </a:tr>
              <a:tr h="630936">
                <a:tc>
                  <a:txBody>
                    <a:bodyPr wrap="square"/>
                    <a:lstStyle/>
                    <a:p>
                      <a:r>
                        <a:rPr sz="1050" b="1">
                          <a:solidFill>
                            <a:srgbClr val="0C2B4A"/>
                          </a:solidFill>
                        </a:rPr>
                        <a:t>Banks &amp; ConnectIPS</a:t>
                      </a:r>
                    </a:p>
                  </a:txBody>
                  <a:tcPr anchor="ctr" marL="73152" marR="54864" marT="27432" marB="27432">
                    <a:solidFill>
                      <a:srgbClr val="FFFFFF"/>
                    </a:solidFill>
                  </a:tcPr>
                </a:tc>
                <a:tc>
                  <a:txBody>
                    <a:bodyPr wrap="square"/>
                    <a:lstStyle/>
                    <a:p>
                      <a:r>
                        <a:rPr sz="1050">
                          <a:solidFill>
                            <a:srgbClr val="1A1A1A"/>
                          </a:solidFill>
                        </a:rPr>
                        <a:t>Shared clearing/settlement</a:t>
                      </a:r>
                    </a:p>
                  </a:txBody>
                  <a:tcPr anchor="ctr" marL="73152" marR="54864" marT="27432" marB="27432">
                    <a:solidFill>
                      <a:srgbClr val="FFFFFF"/>
                    </a:solidFill>
                  </a:tcPr>
                </a:tc>
                <a:tc>
                  <a:txBody>
                    <a:bodyPr wrap="square"/>
                    <a:lstStyle/>
                    <a:p>
                      <a:r>
                        <a:rPr sz="1050">
                          <a:solidFill>
                            <a:srgbClr val="1A1A1A"/>
                          </a:solidFill>
                        </a:rPr>
                        <a:t>Interest rates, branches, own apps</a:t>
                      </a:r>
                    </a:p>
                  </a:txBody>
                  <a:tcPr anchor="ctr" marL="73152" marR="54864" marT="27432" marB="27432">
                    <a:solidFill>
                      <a:srgbClr val="FFFFFF"/>
                    </a:solidFill>
                  </a:tcPr>
                </a:tc>
              </a:tr>
              <a:tr h="630936">
                <a:tc>
                  <a:txBody>
                    <a:bodyPr wrap="square"/>
                    <a:lstStyle/>
                    <a:p>
                      <a:r>
                        <a:rPr sz="1050" b="1">
                          <a:solidFill>
                            <a:srgbClr val="0C2B4A"/>
                          </a:solidFill>
                        </a:rPr>
                        <a:t>Apple &amp; Samsung</a:t>
                      </a:r>
                    </a:p>
                  </a:txBody>
                  <a:tcPr anchor="ctr" marL="73152" marR="54864" marT="27432" marB="27432">
                    <a:solidFill>
                      <a:srgbClr val="EEF3F8"/>
                    </a:solidFill>
                  </a:tcPr>
                </a:tc>
                <a:tc>
                  <a:txBody>
                    <a:bodyPr wrap="square"/>
                    <a:lstStyle/>
                    <a:p>
                      <a:r>
                        <a:rPr sz="1050">
                          <a:solidFill>
                            <a:srgbClr val="1A1A1A"/>
                          </a:solidFill>
                        </a:rPr>
                        <a:t>Samsung supplies Apple chips/screens</a:t>
                      </a:r>
                    </a:p>
                  </a:txBody>
                  <a:tcPr anchor="ctr" marL="73152" marR="54864" marT="27432" marB="27432">
                    <a:solidFill>
                      <a:srgbClr val="EEF3F8"/>
                    </a:solidFill>
                  </a:tcPr>
                </a:tc>
                <a:tc>
                  <a:txBody>
                    <a:bodyPr wrap="square"/>
                    <a:lstStyle/>
                    <a:p>
                      <a:r>
                        <a:rPr sz="1050">
                          <a:solidFill>
                            <a:srgbClr val="1A1A1A"/>
                          </a:solidFill>
                        </a:rPr>
                        <a:t>Compete fiercely in phone sales</a:t>
                      </a:r>
                    </a:p>
                  </a:txBody>
                  <a:tcPr anchor="ctr" marL="73152" marR="54864" marT="27432" marB="27432">
                    <a:solidFill>
                      <a:srgbClr val="EEF3F8"/>
                    </a:solidFill>
                  </a:tcPr>
                </a:tc>
              </a:tr>
              <a:tr h="630936">
                <a:tc>
                  <a:txBody>
                    <a:bodyPr wrap="square"/>
                    <a:lstStyle/>
                    <a:p>
                      <a:r>
                        <a:rPr sz="1050" b="1">
                          <a:solidFill>
                            <a:srgbClr val="0C2B4A"/>
                          </a:solidFill>
                        </a:rPr>
                        <a:t>Airlines (codeshare)</a:t>
                      </a:r>
                    </a:p>
                  </a:txBody>
                  <a:tcPr anchor="ctr" marL="73152" marR="54864" marT="27432" marB="27432">
                    <a:solidFill>
                      <a:srgbClr val="FFFFFF"/>
                    </a:solidFill>
                  </a:tcPr>
                </a:tc>
                <a:tc>
                  <a:txBody>
                    <a:bodyPr wrap="square"/>
                    <a:lstStyle/>
                    <a:p>
                      <a:r>
                        <a:rPr sz="1050">
                          <a:solidFill>
                            <a:srgbClr val="1A1A1A"/>
                          </a:solidFill>
                        </a:rPr>
                        <a:t>Share routes &amp; booking systems</a:t>
                      </a:r>
                    </a:p>
                  </a:txBody>
                  <a:tcPr anchor="ctr" marL="73152" marR="54864" marT="27432" marB="27432">
                    <a:solidFill>
                      <a:srgbClr val="FFFFFF"/>
                    </a:solidFill>
                  </a:tcPr>
                </a:tc>
                <a:tc>
                  <a:txBody>
                    <a:bodyPr wrap="square"/>
                    <a:lstStyle/>
                    <a:p>
                      <a:r>
                        <a:rPr sz="1050">
                          <a:solidFill>
                            <a:srgbClr val="1A1A1A"/>
                          </a:solidFill>
                        </a:rPr>
                        <a:t>Compete on price &amp; loyalty</a:t>
                      </a:r>
                    </a:p>
                  </a:txBody>
                  <a:tcPr anchor="ctr" marL="73152" marR="54864" marT="27432" marB="27432">
                    <a:solidFill>
                      <a:srgbClr val="FFFFFF"/>
                    </a:solidFill>
                  </a:tcPr>
                </a:tc>
              </a:tr>
              <a:tr h="630936">
                <a:tc>
                  <a:txBody>
                    <a:bodyPr wrap="square"/>
                    <a:lstStyle/>
                    <a:p>
                      <a:r>
                        <a:rPr sz="1050" b="1">
                          <a:solidFill>
                            <a:srgbClr val="0C2B4A"/>
                          </a:solidFill>
                        </a:rPr>
                        <a:t>Google &amp; Apple</a:t>
                      </a:r>
                    </a:p>
                  </a:txBody>
                  <a:tcPr anchor="ctr" marL="73152" marR="54864" marT="27432" marB="27432">
                    <a:solidFill>
                      <a:srgbClr val="EEF3F8"/>
                    </a:solidFill>
                  </a:tcPr>
                </a:tc>
                <a:tc>
                  <a:txBody>
                    <a:bodyPr wrap="square"/>
                    <a:lstStyle/>
                    <a:p>
                      <a:r>
                        <a:rPr sz="1050">
                          <a:solidFill>
                            <a:srgbClr val="1A1A1A"/>
                          </a:solidFill>
                        </a:rPr>
                        <a:t>Google pays to be default on iPhone</a:t>
                      </a:r>
                    </a:p>
                  </a:txBody>
                  <a:tcPr anchor="ctr" marL="73152" marR="54864" marT="27432" marB="27432">
                    <a:solidFill>
                      <a:srgbClr val="EEF3F8"/>
                    </a:solidFill>
                  </a:tcPr>
                </a:tc>
                <a:tc>
                  <a:txBody>
                    <a:bodyPr wrap="square"/>
                    <a:lstStyle/>
                    <a:p>
                      <a:r>
                        <a:rPr sz="1050">
                          <a:solidFill>
                            <a:srgbClr val="1A1A1A"/>
                          </a:solidFill>
                        </a:rPr>
                        <a:t>Android vs iOS ecosystems compete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consistent split: cooperate on the expensive shared 'pipes' (rails, chips, routes) that grow the whole market, then compete on the 'product' the customer actually chooses. That is co-opetition in one line.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46 / 142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Co-opetition = Cooperate Upstream, Compete Downstream</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eSewa and Nabil Bank co-opete: upstream they cooperate — eSewa needs Nabil's banking rails and accounts, and both use ConnectIPS — while downstream they compete for the same customer's wallet share and daily transactions. Globally, Samsung sells Apple the screens and chips for iPhones (upstream) while battling Apple in phone sales (downstream). Cooperate on the pipes, compete for the customer.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"You either compete with a firm or cooperate with it — not both." Co-opetition is doing both at once with the SAME firm: cooperate upstream on shared tech/rails/standards, compete downstream for customers and brand. The Value-Net shows a rival can be a complementor (grows the pie) and a competitor (splits it) simultaneously.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Co-opetition is cooperating and competing with the same firm at the same time: cooperate UPSTREAM on shared technology, infrastructure, and standards (the pipes), and compete DOWNSTREAM for customers, brand, and price (the product). Brandenburger &amp; Nalebuff's Value-Net names the players around a firm — customers, suppliers, competitors, complementors — and shows a rival can be a complementor upstream and a competitor downstream (eSewa &amp; Nabil; Samsung &amp; Apple).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co-opetition · cooperate upstream · compete downstream · Value-Net · complementor vs competitor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142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Co-opetition Is So Common Online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Co-opetition is common in digital markets because products are LAYERED and MODULAR: no single firm owns the whole stack (device, OS, network, payment, app), so firms must interconnect at some layers even while competing at others. Ecosystems, not lone products, win — a firm that cooperates to enrich a shared platform captures more value than one that walls itself off. Network effects reward shared standards, and specialisation means everyone depends on partners' pieces.</a:t>
            </a:r>
          </a:p>
          <a:p>
            <a:pPr>
              <a:spcAft>
                <a:spcPts val="500"/>
              </a:spcAft>
            </a:pPr>
            <a:r>
              <a:rPr sz="1200" b="1">
                <a:solidFill>
                  <a:srgbClr val="185FA5"/>
                </a:solidFill>
              </a:rPr>
              <a:t>HOW IT WORKS</a:t>
            </a:r>
          </a:p>
          <a:p>
            <a:pPr>
              <a:spcAft>
                <a:spcPts val="600"/>
              </a:spcAft>
            </a:pPr>
            <a:r>
              <a:rPr sz="1400">
                <a:solidFill>
                  <a:srgbClr val="1A1A1A"/>
                </a:solidFill>
              </a:rPr>
              <a:t>•  Layered products: no one owns device + OS + network + payment + app — you must interconnect.</a:t>
            </a:r>
          </a:p>
          <a:p>
            <a:pPr>
              <a:spcAft>
                <a:spcPts val="600"/>
              </a:spcAft>
            </a:pPr>
            <a:r>
              <a:rPr sz="1400">
                <a:solidFill>
                  <a:srgbClr val="1A1A1A"/>
                </a:solidFill>
              </a:rPr>
              <a:t>•  Ecosystems win: a rich shared platform beats an isolated product (complementors add value).</a:t>
            </a:r>
          </a:p>
          <a:p>
            <a:pPr>
              <a:spcAft>
                <a:spcPts val="600"/>
              </a:spcAft>
            </a:pPr>
            <a:r>
              <a:rPr sz="1400">
                <a:solidFill>
                  <a:srgbClr val="1A1A1A"/>
                </a:solidFill>
              </a:rPr>
              <a:t>•  Standards &amp; network effects reward cooperating on the interface everyone uses.</a:t>
            </a:r>
          </a:p>
          <a:p>
            <a:pPr>
              <a:spcAft>
                <a:spcPts val="600"/>
              </a:spcAft>
            </a:pPr>
            <a:r>
              <a:rPr sz="1400">
                <a:solidFill>
                  <a:srgbClr val="1A1A1A"/>
                </a:solidFill>
              </a:rPr>
              <a:t>•  Specialisation: each firm is best at one layer, so it buys/partners for the rest.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Common because products are layered/modular: no one owns the whole stack, and ecosystems beat isolated products.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142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co-opetition happens — the forces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058732"/>
                <a:gridCol w="4346619"/>
                <a:gridCol w="4024647"/>
              </a:tblGrid>
              <a:tr h="883310">
                <a:tc>
                  <a:txBody>
                    <a:bodyPr wrap="square"/>
                    <a:lstStyle/>
                    <a:p>
                      <a:r>
                        <a:rPr sz="1150" b="1">
                          <a:solidFill>
                            <a:srgbClr val="FFFFFF"/>
                          </a:solidFill>
                        </a:rPr>
                        <a:t>Force</a:t>
                      </a:r>
                    </a:p>
                  </a:txBody>
                  <a:tcPr anchor="ctr" marL="73152" marR="54864" marT="27432" marB="27432">
                    <a:solidFill>
                      <a:srgbClr val="0C2B4A"/>
                    </a:solidFill>
                  </a:tcPr>
                </a:tc>
                <a:tc>
                  <a:txBody>
                    <a:bodyPr wrap="square"/>
                    <a:lstStyle/>
                    <a:p>
                      <a:r>
                        <a:rPr sz="1150" b="1">
                          <a:solidFill>
                            <a:srgbClr val="FFFFFF"/>
                          </a:solidFill>
                        </a:rPr>
                        <a:t>Why it drives co-opetition</a:t>
                      </a:r>
                    </a:p>
                  </a:txBody>
                  <a:tcPr anchor="ctr" marL="73152" marR="54864" marT="27432" marB="27432">
                    <a:solidFill>
                      <a:srgbClr val="0C2B4A"/>
                    </a:solidFill>
                  </a:tcPr>
                </a:tc>
                <a:tc>
                  <a:txBody>
                    <a:bodyPr wrap="square"/>
                    <a:lstStyle/>
                    <a:p>
                      <a:r>
                        <a:rPr sz="1150" b="1">
                          <a:solidFill>
                            <a:srgbClr val="FFFFFF"/>
                          </a:solidFill>
                        </a:rPr>
                        <a:t>Example</a:t>
                      </a:r>
                    </a:p>
                  </a:txBody>
                  <a:tcPr anchor="ctr" marL="73152" marR="54864" marT="27432" marB="27432">
                    <a:solidFill>
                      <a:srgbClr val="0C2B4A"/>
                    </a:solidFill>
                  </a:tcPr>
                </a:tc>
              </a:tr>
              <a:tr h="883310">
                <a:tc>
                  <a:txBody>
                    <a:bodyPr wrap="square"/>
                    <a:lstStyle/>
                    <a:p>
                      <a:r>
                        <a:rPr sz="1100" b="1">
                          <a:solidFill>
                            <a:srgbClr val="0C2B4A"/>
                          </a:solidFill>
                        </a:rPr>
                        <a:t>Layered products</a:t>
                      </a:r>
                    </a:p>
                  </a:txBody>
                  <a:tcPr anchor="ctr" marL="73152" marR="54864" marT="27432" marB="27432">
                    <a:solidFill>
                      <a:srgbClr val="FFFFFF"/>
                    </a:solidFill>
                  </a:tcPr>
                </a:tc>
                <a:tc>
                  <a:txBody>
                    <a:bodyPr wrap="square"/>
                    <a:lstStyle/>
                    <a:p>
                      <a:r>
                        <a:rPr sz="1100">
                          <a:solidFill>
                            <a:srgbClr val="1A1A1A"/>
                          </a:solidFill>
                        </a:rPr>
                        <a:t>No one owns the whole stack</a:t>
                      </a:r>
                    </a:p>
                  </a:txBody>
                  <a:tcPr anchor="ctr" marL="73152" marR="54864" marT="27432" marB="27432">
                    <a:solidFill>
                      <a:srgbClr val="FFFFFF"/>
                    </a:solidFill>
                  </a:tcPr>
                </a:tc>
                <a:tc>
                  <a:txBody>
                    <a:bodyPr wrap="square"/>
                    <a:lstStyle/>
                    <a:p>
                      <a:r>
                        <a:rPr sz="1100">
                          <a:solidFill>
                            <a:srgbClr val="1A1A1A"/>
                          </a:solidFill>
                        </a:rPr>
                        <a:t>Wallet needs bank + network + device</a:t>
                      </a:r>
                    </a:p>
                  </a:txBody>
                  <a:tcPr anchor="ctr" marL="73152" marR="54864" marT="27432" marB="27432">
                    <a:solidFill>
                      <a:srgbClr val="FFFFFF"/>
                    </a:solidFill>
                  </a:tcPr>
                </a:tc>
              </a:tr>
              <a:tr h="883310">
                <a:tc>
                  <a:txBody>
                    <a:bodyPr wrap="square"/>
                    <a:lstStyle/>
                    <a:p>
                      <a:r>
                        <a:rPr sz="1100" b="1">
                          <a:solidFill>
                            <a:srgbClr val="0C2B4A"/>
                          </a:solidFill>
                        </a:rPr>
                        <a:t>Ecosystem advantage</a:t>
                      </a:r>
                    </a:p>
                  </a:txBody>
                  <a:tcPr anchor="ctr" marL="73152" marR="54864" marT="27432" marB="27432">
                    <a:solidFill>
                      <a:srgbClr val="EEF3F8"/>
                    </a:solidFill>
                  </a:tcPr>
                </a:tc>
                <a:tc>
                  <a:txBody>
                    <a:bodyPr wrap="square"/>
                    <a:lstStyle/>
                    <a:p>
                      <a:r>
                        <a:rPr sz="1100">
                          <a:solidFill>
                            <a:srgbClr val="1A1A1A"/>
                          </a:solidFill>
                        </a:rPr>
                        <a:t>Rich shared platform beats isolation</a:t>
                      </a:r>
                    </a:p>
                  </a:txBody>
                  <a:tcPr anchor="ctr" marL="73152" marR="54864" marT="27432" marB="27432">
                    <a:solidFill>
                      <a:srgbClr val="EEF3F8"/>
                    </a:solidFill>
                  </a:tcPr>
                </a:tc>
                <a:tc>
                  <a:txBody>
                    <a:bodyPr wrap="square"/>
                    <a:lstStyle/>
                    <a:p>
                      <a:r>
                        <a:rPr sz="1100">
                          <a:solidFill>
                            <a:srgbClr val="1A1A1A"/>
                          </a:solidFill>
                        </a:rPr>
                        <a:t>App stores enrich iOS/Android</a:t>
                      </a:r>
                    </a:p>
                  </a:txBody>
                  <a:tcPr anchor="ctr" marL="73152" marR="54864" marT="27432" marB="27432">
                    <a:solidFill>
                      <a:srgbClr val="EEF3F8"/>
                    </a:solidFill>
                  </a:tcPr>
                </a:tc>
              </a:tr>
              <a:tr h="883310">
                <a:tc>
                  <a:txBody>
                    <a:bodyPr wrap="square"/>
                    <a:lstStyle/>
                    <a:p>
                      <a:r>
                        <a:rPr sz="1100" b="1">
                          <a:solidFill>
                            <a:srgbClr val="0C2B4A"/>
                          </a:solidFill>
                        </a:rPr>
                        <a:t>Standards &amp; network effects</a:t>
                      </a:r>
                    </a:p>
                  </a:txBody>
                  <a:tcPr anchor="ctr" marL="73152" marR="54864" marT="27432" marB="27432">
                    <a:solidFill>
                      <a:srgbClr val="FFFFFF"/>
                    </a:solidFill>
                  </a:tcPr>
                </a:tc>
                <a:tc>
                  <a:txBody>
                    <a:bodyPr wrap="square"/>
                    <a:lstStyle/>
                    <a:p>
                      <a:r>
                        <a:rPr sz="1100">
                          <a:solidFill>
                            <a:srgbClr val="1A1A1A"/>
                          </a:solidFill>
                        </a:rPr>
                        <a:t>Shared interface grows all value</a:t>
                      </a:r>
                    </a:p>
                  </a:txBody>
                  <a:tcPr anchor="ctr" marL="73152" marR="54864" marT="27432" marB="27432">
                    <a:solidFill>
                      <a:srgbClr val="FFFFFF"/>
                    </a:solidFill>
                  </a:tcPr>
                </a:tc>
                <a:tc>
                  <a:txBody>
                    <a:bodyPr wrap="square"/>
                    <a:lstStyle/>
                    <a:p>
                      <a:r>
                        <a:rPr sz="1100">
                          <a:solidFill>
                            <a:srgbClr val="1A1A1A"/>
                          </a:solidFill>
                        </a:rPr>
                        <a:t>QR standard adopted by all wallets</a:t>
                      </a:r>
                    </a:p>
                  </a:txBody>
                  <a:tcPr anchor="ctr" marL="73152" marR="54864" marT="27432" marB="27432">
                    <a:solidFill>
                      <a:srgbClr val="FFFFFF"/>
                    </a:solidFill>
                  </a:tcPr>
                </a:tc>
              </a:tr>
              <a:tr h="883312">
                <a:tc>
                  <a:txBody>
                    <a:bodyPr wrap="square"/>
                    <a:lstStyle/>
                    <a:p>
                      <a:r>
                        <a:rPr sz="1100" b="1">
                          <a:solidFill>
                            <a:srgbClr val="0C2B4A"/>
                          </a:solidFill>
                        </a:rPr>
                        <a:t>Specialisation</a:t>
                      </a:r>
                    </a:p>
                  </a:txBody>
                  <a:tcPr anchor="ctr" marL="73152" marR="54864" marT="27432" marB="27432">
                    <a:solidFill>
                      <a:srgbClr val="EEF3F8"/>
                    </a:solidFill>
                  </a:tcPr>
                </a:tc>
                <a:tc>
                  <a:txBody>
                    <a:bodyPr wrap="square"/>
                    <a:lstStyle/>
                    <a:p>
                      <a:r>
                        <a:rPr sz="1100">
                          <a:solidFill>
                            <a:srgbClr val="1A1A1A"/>
                          </a:solidFill>
                        </a:rPr>
                        <a:t>Each firm best at one layer</a:t>
                      </a:r>
                    </a:p>
                  </a:txBody>
                  <a:tcPr anchor="ctr" marL="73152" marR="54864" marT="27432" marB="27432">
                    <a:solidFill>
                      <a:srgbClr val="EEF3F8"/>
                    </a:solidFill>
                  </a:tcPr>
                </a:tc>
                <a:tc>
                  <a:txBody>
                    <a:bodyPr wrap="square"/>
                    <a:lstStyle/>
                    <a:p>
                      <a:r>
                        <a:rPr sz="1100">
                          <a:solidFill>
                            <a:srgbClr val="1A1A1A"/>
                          </a:solidFill>
                        </a:rPr>
                        <a:t>Daraz retails; Pathao delivers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Because digital products are stacks of layers owned by different firms, interconnection is unavoidable — so rivals cooperate at some layers while competing at others. Co-opetition is the natural shape of a layered market (S20).</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49 / 142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Co-opetition Is So Common Online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wallet cannot function alone: it needs banks (accounts), telecoms (data/SMS), device makers (phones), and merchants — none of which it owns. So it cooperates across the stack while competing for the customer's daily use. Globally, Apple's App Store thrives because it lets even rival developers build on it — the ecosystem enriched by 'complementors' beats a walled-off product. Layered markets make co-opetition unavoidable.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"Firms should own their whole stack to avoid depending on rivals." In layered digital markets no one can own device + OS + network + payment + app, and a rich ecosystem (with complementors, even rivals) beats an isolated product. Interconnection is unavoidable, so cooperating at some layers while competing at others is the rational default.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Co-opetition is common online because digital products are layered and modular: no single firm owns the whole stack (device, OS, network, payment, app), so firms must interconnect at some layers while competing at others. Ecosystems beat isolated products — cooperating to enrich a shared platform (with complementors, even rivals) captures more value than walling off. Network effects reward shared standards, and specialisation makes every firm depend on partners' pieces.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layered products · ecosystems win · shared standards · specialisation · interconnection unavoidable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142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Benefits &amp; Risks of Co-opetition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Co-opetition has real benefits: it grows the whole market, shares cost and risk, speeds innovation, and lets small firms reach scale via shared rails. But it carries risks: DEPENDENCY (you rely on a rival's infrastructure), POWER IMBALANCE (the bigger partner sets terms), LOCK-IN (hard to leave a shared standard), knowledge/data LEAKAGE (a partner learns your moves), and conflict when cooperation and competition collide. The skill is deciding which layers to share and which to guard.</a:t>
            </a:r>
          </a:p>
          <a:p>
            <a:pPr>
              <a:spcAft>
                <a:spcPts val="500"/>
              </a:spcAft>
            </a:pPr>
            <a:r>
              <a:rPr sz="1200" b="1">
                <a:solidFill>
                  <a:srgbClr val="185FA5"/>
                </a:solidFill>
              </a:rPr>
              <a:t>HOW IT WORKS</a:t>
            </a:r>
          </a:p>
          <a:p>
            <a:pPr>
              <a:spcAft>
                <a:spcPts val="600"/>
              </a:spcAft>
            </a:pPr>
            <a:r>
              <a:rPr sz="1400">
                <a:solidFill>
                  <a:srgbClr val="1A1A1A"/>
                </a:solidFill>
              </a:rPr>
              <a:t>•  Benefits: bigger market, shared cost/risk, faster innovation, scale for small players.</a:t>
            </a:r>
          </a:p>
          <a:p>
            <a:pPr>
              <a:spcAft>
                <a:spcPts val="600"/>
              </a:spcAft>
            </a:pPr>
            <a:r>
              <a:rPr sz="1400">
                <a:solidFill>
                  <a:srgbClr val="1A1A1A"/>
                </a:solidFill>
              </a:rPr>
              <a:t>•  Risks: dependency on a rival's rails; power imbalance (big partner dictates terms).</a:t>
            </a:r>
          </a:p>
          <a:p>
            <a:pPr>
              <a:spcAft>
                <a:spcPts val="600"/>
              </a:spcAft>
            </a:pPr>
            <a:r>
              <a:rPr sz="1400">
                <a:solidFill>
                  <a:srgbClr val="1A1A1A"/>
                </a:solidFill>
              </a:rPr>
              <a:t>•  Risks: lock-in to a shared standard; data/knowledge leakage to the partner-rival.</a:t>
            </a:r>
          </a:p>
          <a:p>
            <a:pPr>
              <a:spcAft>
                <a:spcPts val="600"/>
              </a:spcAft>
            </a:pPr>
            <a:r>
              <a:rPr sz="1400">
                <a:solidFill>
                  <a:srgbClr val="1A1A1A"/>
                </a:solidFill>
              </a:rPr>
              <a:t>•  The skill: choose which layers to cooperate on (pipes) and which to protect (data, customer).</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Benefits (bigger market, shared cost, speed, scale) vs risks (dependency, power imbalance, lock-in, leakage).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142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Co-opetition — benefits vs risks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50434"/>
                <a:gridCol w="4306956"/>
                <a:gridCol w="4472608"/>
              </a:tblGrid>
              <a:tr h="736092">
                <a:tc>
                  <a:txBody>
                    <a:bodyPr wrap="square"/>
                    <a:lstStyle/>
                    <a:p>
                      <a:r>
                        <a:rPr sz="1150" b="1">
                          <a:solidFill>
                            <a:srgbClr val="FFFFFF"/>
                          </a:solidFill>
                        </a:rPr>
                        <a:t>Dimension</a:t>
                      </a:r>
                    </a:p>
                  </a:txBody>
                  <a:tcPr anchor="ctr" marL="73152" marR="54864" marT="27432" marB="27432">
                    <a:solidFill>
                      <a:srgbClr val="0C2B4A"/>
                    </a:solidFill>
                  </a:tcPr>
                </a:tc>
                <a:tc>
                  <a:txBody>
                    <a:bodyPr wrap="square"/>
                    <a:lstStyle/>
                    <a:p>
                      <a:r>
                        <a:rPr sz="1150" b="1">
                          <a:solidFill>
                            <a:srgbClr val="FFFFFF"/>
                          </a:solidFill>
                        </a:rPr>
                        <a:t>Benefit</a:t>
                      </a:r>
                    </a:p>
                  </a:txBody>
                  <a:tcPr anchor="ctr" marL="73152" marR="54864" marT="27432" marB="27432">
                    <a:solidFill>
                      <a:srgbClr val="0C2B4A"/>
                    </a:solidFill>
                  </a:tcPr>
                </a:tc>
                <a:tc>
                  <a:txBody>
                    <a:bodyPr wrap="square"/>
                    <a:lstStyle/>
                    <a:p>
                      <a:r>
                        <a:rPr sz="1150" b="1">
                          <a:solidFill>
                            <a:srgbClr val="FFFFFF"/>
                          </a:solidFill>
                        </a:rPr>
                        <a:t>Risk</a:t>
                      </a:r>
                    </a:p>
                  </a:txBody>
                  <a:tcPr anchor="ctr" marL="73152" marR="54864" marT="27432" marB="27432">
                    <a:solidFill>
                      <a:srgbClr val="0C2B4A"/>
                    </a:solidFill>
                  </a:tcPr>
                </a:tc>
              </a:tr>
              <a:tr h="736092">
                <a:tc>
                  <a:txBody>
                    <a:bodyPr wrap="square"/>
                    <a:lstStyle/>
                    <a:p>
                      <a:r>
                        <a:rPr sz="1100" b="1">
                          <a:solidFill>
                            <a:srgbClr val="0C2B4A"/>
                          </a:solidFill>
                        </a:rPr>
                        <a:t>Market size</a:t>
                      </a:r>
                    </a:p>
                  </a:txBody>
                  <a:tcPr anchor="ctr" marL="73152" marR="54864" marT="27432" marB="27432">
                    <a:solidFill>
                      <a:srgbClr val="FFFFFF"/>
                    </a:solidFill>
                  </a:tcPr>
                </a:tc>
                <a:tc>
                  <a:txBody>
                    <a:bodyPr wrap="square"/>
                    <a:lstStyle/>
                    <a:p>
                      <a:r>
                        <a:rPr sz="1100">
                          <a:solidFill>
                            <a:srgbClr val="1A1A1A"/>
                          </a:solidFill>
                        </a:rPr>
                        <a:t>Grows the whole pie</a:t>
                      </a:r>
                    </a:p>
                  </a:txBody>
                  <a:tcPr anchor="ctr" marL="73152" marR="54864" marT="27432" marB="27432">
                    <a:solidFill>
                      <a:srgbClr val="FFFFFF"/>
                    </a:solidFill>
                  </a:tcPr>
                </a:tc>
                <a:tc>
                  <a:txBody>
                    <a:bodyPr wrap="square"/>
                    <a:lstStyle/>
                    <a:p>
                      <a:r>
                        <a:rPr sz="1100">
                          <a:solidFill>
                            <a:srgbClr val="1A1A1A"/>
                          </a:solidFill>
                        </a:rPr>
                        <a:t>Rival grows too — you may lose share</a:t>
                      </a:r>
                    </a:p>
                  </a:txBody>
                  <a:tcPr anchor="ctr" marL="73152" marR="54864" marT="27432" marB="27432">
                    <a:solidFill>
                      <a:srgbClr val="FFFFFF"/>
                    </a:solidFill>
                  </a:tcPr>
                </a:tc>
              </a:tr>
              <a:tr h="736092">
                <a:tc>
                  <a:txBody>
                    <a:bodyPr wrap="square"/>
                    <a:lstStyle/>
                    <a:p>
                      <a:r>
                        <a:rPr sz="1100" b="1">
                          <a:solidFill>
                            <a:srgbClr val="0C2B4A"/>
                          </a:solidFill>
                        </a:rPr>
                        <a:t>Cost &amp; risk</a:t>
                      </a:r>
                    </a:p>
                  </a:txBody>
                  <a:tcPr anchor="ctr" marL="73152" marR="54864" marT="27432" marB="27432">
                    <a:solidFill>
                      <a:srgbClr val="EEF3F8"/>
                    </a:solidFill>
                  </a:tcPr>
                </a:tc>
                <a:tc>
                  <a:txBody>
                    <a:bodyPr wrap="square"/>
                    <a:lstStyle/>
                    <a:p>
                      <a:r>
                        <a:rPr sz="1100">
                          <a:solidFill>
                            <a:srgbClr val="1A1A1A"/>
                          </a:solidFill>
                        </a:rPr>
                        <a:t>Shared, so affordable</a:t>
                      </a:r>
                    </a:p>
                  </a:txBody>
                  <a:tcPr anchor="ctr" marL="73152" marR="54864" marT="27432" marB="27432">
                    <a:solidFill>
                      <a:srgbClr val="EEF3F8"/>
                    </a:solidFill>
                  </a:tcPr>
                </a:tc>
                <a:tc>
                  <a:txBody>
                    <a:bodyPr wrap="square"/>
                    <a:lstStyle/>
                    <a:p>
                      <a:r>
                        <a:rPr sz="1100">
                          <a:solidFill>
                            <a:srgbClr val="1A1A1A"/>
                          </a:solidFill>
                        </a:rPr>
                        <a:t>Dependency on a rival's infrastructure</a:t>
                      </a:r>
                    </a:p>
                  </a:txBody>
                  <a:tcPr anchor="ctr" marL="73152" marR="54864" marT="27432" marB="27432">
                    <a:solidFill>
                      <a:srgbClr val="EEF3F8"/>
                    </a:solidFill>
                  </a:tcPr>
                </a:tc>
              </a:tr>
              <a:tr h="736092">
                <a:tc>
                  <a:txBody>
                    <a:bodyPr wrap="square"/>
                    <a:lstStyle/>
                    <a:p>
                      <a:r>
                        <a:rPr sz="1100" b="1">
                          <a:solidFill>
                            <a:srgbClr val="0C2B4A"/>
                          </a:solidFill>
                        </a:rPr>
                        <a:t>Innovation</a:t>
                      </a:r>
                    </a:p>
                  </a:txBody>
                  <a:tcPr anchor="ctr" marL="73152" marR="54864" marT="27432" marB="27432">
                    <a:solidFill>
                      <a:srgbClr val="FFFFFF"/>
                    </a:solidFill>
                  </a:tcPr>
                </a:tc>
                <a:tc>
                  <a:txBody>
                    <a:bodyPr wrap="square"/>
                    <a:lstStyle/>
                    <a:p>
                      <a:r>
                        <a:rPr sz="1100">
                          <a:solidFill>
                            <a:srgbClr val="1A1A1A"/>
                          </a:solidFill>
                        </a:rPr>
                        <a:t>Faster via shared standards</a:t>
                      </a:r>
                    </a:p>
                  </a:txBody>
                  <a:tcPr anchor="ctr" marL="73152" marR="54864" marT="27432" marB="27432">
                    <a:solidFill>
                      <a:srgbClr val="FFFFFF"/>
                    </a:solidFill>
                  </a:tcPr>
                </a:tc>
                <a:tc>
                  <a:txBody>
                    <a:bodyPr wrap="square"/>
                    <a:lstStyle/>
                    <a:p>
                      <a:r>
                        <a:rPr sz="1100">
                          <a:solidFill>
                            <a:srgbClr val="1A1A1A"/>
                          </a:solidFill>
                        </a:rPr>
                        <a:t>Lock-in to a standard you can't leave</a:t>
                      </a:r>
                    </a:p>
                  </a:txBody>
                  <a:tcPr anchor="ctr" marL="73152" marR="54864" marT="27432" marB="27432">
                    <a:solidFill>
                      <a:srgbClr val="FFFFFF"/>
                    </a:solidFill>
                  </a:tcPr>
                </a:tc>
              </a:tr>
              <a:tr h="736092">
                <a:tc>
                  <a:txBody>
                    <a:bodyPr wrap="square"/>
                    <a:lstStyle/>
                    <a:p>
                      <a:r>
                        <a:rPr sz="1100" b="1">
                          <a:solidFill>
                            <a:srgbClr val="0C2B4A"/>
                          </a:solidFill>
                        </a:rPr>
                        <a:t>Bargaining</a:t>
                      </a:r>
                    </a:p>
                  </a:txBody>
                  <a:tcPr anchor="ctr" marL="73152" marR="54864" marT="27432" marB="27432">
                    <a:solidFill>
                      <a:srgbClr val="EEF3F8"/>
                    </a:solidFill>
                  </a:tcPr>
                </a:tc>
                <a:tc>
                  <a:txBody>
                    <a:bodyPr wrap="square"/>
                    <a:lstStyle/>
                    <a:p>
                      <a:r>
                        <a:rPr sz="1100">
                          <a:solidFill>
                            <a:srgbClr val="1A1A1A"/>
                          </a:solidFill>
                        </a:rPr>
                        <a:t>Small firm gains scale</a:t>
                      </a:r>
                    </a:p>
                  </a:txBody>
                  <a:tcPr anchor="ctr" marL="73152" marR="54864" marT="27432" marB="27432">
                    <a:solidFill>
                      <a:srgbClr val="EEF3F8"/>
                    </a:solidFill>
                  </a:tcPr>
                </a:tc>
                <a:tc>
                  <a:txBody>
                    <a:bodyPr wrap="square"/>
                    <a:lstStyle/>
                    <a:p>
                      <a:r>
                        <a:rPr sz="1100">
                          <a:solidFill>
                            <a:srgbClr val="1A1A1A"/>
                          </a:solidFill>
                        </a:rPr>
                        <a:t>Power imbalance — big partner sets terms</a:t>
                      </a:r>
                    </a:p>
                  </a:txBody>
                  <a:tcPr anchor="ctr" marL="73152" marR="54864" marT="27432" marB="27432">
                    <a:solidFill>
                      <a:srgbClr val="EEF3F8"/>
                    </a:solidFill>
                  </a:tcPr>
                </a:tc>
              </a:tr>
              <a:tr h="736092">
                <a:tc>
                  <a:txBody>
                    <a:bodyPr wrap="square"/>
                    <a:lstStyle/>
                    <a:p>
                      <a:r>
                        <a:rPr sz="1100" b="1">
                          <a:solidFill>
                            <a:srgbClr val="0C2B4A"/>
                          </a:solidFill>
                        </a:rPr>
                        <a:t>Information</a:t>
                      </a:r>
                    </a:p>
                  </a:txBody>
                  <a:tcPr anchor="ctr" marL="73152" marR="54864" marT="27432" marB="27432">
                    <a:solidFill>
                      <a:srgbClr val="FFFFFF"/>
                    </a:solidFill>
                  </a:tcPr>
                </a:tc>
                <a:tc>
                  <a:txBody>
                    <a:bodyPr wrap="square"/>
                    <a:lstStyle/>
                    <a:p>
                      <a:r>
                        <a:rPr sz="1100">
                          <a:solidFill>
                            <a:srgbClr val="1A1A1A"/>
                          </a:solidFill>
                        </a:rPr>
                        <a:t>Learn from the partner</a:t>
                      </a:r>
                    </a:p>
                  </a:txBody>
                  <a:tcPr anchor="ctr" marL="73152" marR="54864" marT="27432" marB="27432">
                    <a:solidFill>
                      <a:srgbClr val="FFFFFF"/>
                    </a:solidFill>
                  </a:tcPr>
                </a:tc>
                <a:tc>
                  <a:txBody>
                    <a:bodyPr wrap="square"/>
                    <a:lstStyle/>
                    <a:p>
                      <a:r>
                        <a:rPr sz="1100">
                          <a:solidFill>
                            <a:srgbClr val="1A1A1A"/>
                          </a:solidFill>
                        </a:rPr>
                        <a:t>Data/knowledge leaks to the rival</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Every benefit has a shadow risk. The strategic question is WHICH layers to share (the expensive pipes) and WHICH to guard (your data and the customer relationship — the control points of S25).</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142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S19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Benefits &amp; Risks of Co-opetition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small Nepali wallet gains huge benefit from shared ConnectIPS/QR rails — instant national reach it could never build alone. But the risk is dependency and power imbalance: it relies on banks that also run their own apps and could change terms or fees. The wallet's skill is cooperating on the shared rails (cheap, necessary) while guarding its own customer data and app experience — the assets that keep it independent.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"Co-opetition is win-win with no downside." Cooperating with a rival creates dependency, power imbalance, lock-in, and data leakage — the partner can squeeze or out-learn you. The benefits (scale, shared cost, speed) are real, but so are the risks; the skill is choosing which layers to share and which to protect.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Co-opetition's benefits: it grows the whole market, shares cost and risk, speeds innovation via shared standards, and gives small firms scale through shared rails. Its risks: dependency on a rival's infrastructure, power imbalance (the bigger partner dictates terms), lock-in to a shared standard, and data/knowledge leakage. The skill is deciding which layers to cooperate on (the expensive pipes) and which to guard (data, the customer relationship).</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benefits: bigger market/shared cost/speed/scale · risks: dependency/power imbalance/lock-in/leakage · guard control points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53 / 142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S19 — 'Split the layers'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pick two Nepali rivals (eSewa &amp; Khalti, Daraz &amp; Pathao, two banks).</a:t>
            </a:r>
          </a:p>
          <a:p>
            <a:pPr>
              <a:spcAft>
                <a:spcPts val="700"/>
              </a:spcAft>
            </a:pPr>
            <a:r>
              <a:rPr sz="1550">
                <a:solidFill>
                  <a:srgbClr val="1A1A1A"/>
                </a:solidFill>
              </a:rPr>
              <a:t>•  List what they cooperate on UPSTREAM and what they compete on DOWNSTREAM.</a:t>
            </a:r>
          </a:p>
          <a:p>
            <a:pPr>
              <a:spcAft>
                <a:spcPts val="700"/>
              </a:spcAft>
            </a:pPr>
            <a:r>
              <a:rPr sz="1550">
                <a:solidFill>
                  <a:srgbClr val="1A1A1A"/>
                </a:solidFill>
              </a:rPr>
              <a:t>•  Name one benefit and one risk of that co-opetition for the smaller firm.</a:t>
            </a:r>
          </a:p>
          <a:p>
            <a:pPr>
              <a:spcAft>
                <a:spcPts val="700"/>
              </a:spcAft>
            </a:pPr>
            <a:r>
              <a:rPr sz="1550">
                <a:solidFill>
                  <a:srgbClr val="1A1A1A"/>
                </a:solidFill>
              </a:rPr>
              <a:t>•  Take 3–4 answers aloud (2 min); check the upstream/downstream split is explicit.</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 (eSewa &amp; Khalti): cooperate on ConnectIPS/QR rails (upstream), compete on app UX &amp; cashback (downstream); benefit = national reach cheaply, risk = dependency on bank rails/power imbalance. Reward the explicit split + one benefit/risk.</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142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S19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Co-opetition typically means firms:</a:t>
            </a:r>
          </a:p>
          <a:p>
            <a:pPr lvl="1"/>
            <a:r>
              <a:rPr sz="1500" b="1">
                <a:solidFill>
                  <a:srgbClr val="0F6E56"/>
                </a:solidFill>
              </a:rPr>
              <a:t>a) compete on everything   b) cooperate on everything   c) merge   d) ✅ cooperate upstream (tech/rails) and compete downstream (customers)</a:t>
            </a:r>
          </a:p>
          <a:p>
            <a:pPr lvl="1">
              <a:spcBef>
                <a:spcPts val="600"/>
              </a:spcBef>
            </a:pPr>
            <a:r>
              <a:rPr sz="1500" i="1">
                <a:solidFill>
                  <a:srgbClr val="1A1A1A"/>
                </a:solidFill>
              </a:rPr>
              <a:t>     Why: shared infrastructure/standards upstream; competition for customers and brand downstream.</a:t>
            </a:r>
          </a:p>
          <a:p>
            <a:pPr>
              <a:spcBef>
                <a:spcPts val="900"/>
              </a:spcBef>
            </a:pPr>
            <a:r>
              <a:rPr sz="1700" b="1">
                <a:solidFill>
                  <a:srgbClr val="0C2B4A"/>
                </a:solidFill>
              </a:rPr>
              <a:t>Q2.  A key RISK of co-opetition for a small firm is:</a:t>
            </a:r>
          </a:p>
          <a:p>
            <a:pPr lvl="1"/>
            <a:r>
              <a:rPr sz="1500" b="1">
                <a:solidFill>
                  <a:srgbClr val="0F6E56"/>
                </a:solidFill>
              </a:rPr>
              <a:t>a) lower costs   b) ✅ dependency &amp; power imbalance vs the larger partner   c) more customers   d) faster innovation</a:t>
            </a:r>
          </a:p>
          <a:p>
            <a:pPr lvl="1">
              <a:spcBef>
                <a:spcPts val="600"/>
              </a:spcBef>
            </a:pPr>
            <a:r>
              <a:rPr sz="1500" i="1">
                <a:solidFill>
                  <a:srgbClr val="1A1A1A"/>
                </a:solidFill>
              </a:rPr>
              <a:t>     Why: relying on a rival's rails creates dependency; the bigger partner can set terms.</a:t>
            </a:r>
          </a:p>
          <a:p>
            <a:pPr lvl="1">
              <a:spcBef>
                <a:spcPts val="600"/>
              </a:spcBef>
            </a:pPr>
            <a:r>
              <a:rPr sz="1500" i="1">
                <a:solidFill>
                  <a:srgbClr val="1A1A1A"/>
                </a:solidFill>
              </a:rPr>
              <a:t>Discussion: name a Nepali co-opetition and split its upstream cooperation vs downstream competition.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142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S19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Co-opetition = cooperate + compete with the same firm: cooperate UPSTREAM (tech/rails/standards), compete DOWNSTREAM (customers/brand). Value-Net adds complementors.</a:t>
            </a:r>
          </a:p>
          <a:p>
            <a:pPr>
              <a:spcAft>
                <a:spcPts val="800"/>
              </a:spcAft>
            </a:pPr>
            <a:r>
              <a:rPr sz="1500">
                <a:solidFill>
                  <a:srgbClr val="1A1A1A"/>
                </a:solidFill>
              </a:rPr>
              <a:t>2.  Common online because products are layered/modular — no one owns the whole stack; ecosystems beat isolated products.</a:t>
            </a:r>
          </a:p>
          <a:p>
            <a:pPr>
              <a:spcAft>
                <a:spcPts val="800"/>
              </a:spcAft>
            </a:pPr>
            <a:r>
              <a:rPr sz="1500">
                <a:solidFill>
                  <a:srgbClr val="1A1A1A"/>
                </a:solidFill>
              </a:rPr>
              <a:t>3.  Benefits (bigger market, shared cost, speed, scale) come with risks (dependency, power imbalance, lock-in, data leakage).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Co-opetition is how Nepal's small digital firms survive giants — sharing rails to reach scale while guarding the customer. Deciding which layers to share and which to protect is a strategic choice we'll formalise as 'control points' in S25.</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S20 — WHY 'upstream' and 'downstream' exist at all: the layered internet model and layer power.</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56 / 142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20 · LECTURE HOUR 5 (OF 10)</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The Layered Internet Model</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When you watch a video on Foodmandu's app, you touch an APPLICATION — but under it sits a PLATFORM (Android, cloud), and under that the INFRASTRUCTURE (Ncell's network, data centres, fibre). You see the top; the power often sits at the bottom. Why does controlling a lower layer give power over everything above it?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57 / 142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Three Layers (+ the User)</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layered internet model (a business/economic view, not the technical OSI/TCP-IP stack) has three layers plus the user. INFRASTRUCTURE — the technical base: fibre, data centres, connectivity, devices, cloud (NTC/Ncell, AWS). PLATFORM — the capability layer: operating systems, payment rails, cloud services, app stores (Android/iOS, eSewa/Fonepay, AWS). APPLICATION — the experience layer: the apps people actually use (Daraz, Foodmandu, Netflix). The USER sits on top, consuming the experience.</a:t>
            </a:r>
          </a:p>
          <a:p>
            <a:pPr>
              <a:spcAft>
                <a:spcPts val="500"/>
              </a:spcAft>
            </a:pPr>
            <a:r>
              <a:rPr sz="1200" b="1">
                <a:solidFill>
                  <a:srgbClr val="185FA5"/>
                </a:solidFill>
              </a:rPr>
              <a:t>HOW IT WORKS</a:t>
            </a:r>
          </a:p>
          <a:p>
            <a:pPr>
              <a:spcAft>
                <a:spcPts val="600"/>
              </a:spcAft>
            </a:pPr>
            <a:r>
              <a:rPr sz="1400">
                <a:solidFill>
                  <a:srgbClr val="1A1A1A"/>
                </a:solidFill>
              </a:rPr>
              <a:t>•  Infrastructure = the technical base (networks, data centres, devices, cloud).</a:t>
            </a:r>
          </a:p>
          <a:p>
            <a:pPr>
              <a:spcAft>
                <a:spcPts val="600"/>
              </a:spcAft>
            </a:pPr>
            <a:r>
              <a:rPr sz="1400">
                <a:solidFill>
                  <a:srgbClr val="1A1A1A"/>
                </a:solidFill>
              </a:rPr>
              <a:t>•  Platform = the capability layer (OS, payment rails, cloud services, app stores).</a:t>
            </a:r>
          </a:p>
          <a:p>
            <a:pPr>
              <a:spcAft>
                <a:spcPts val="600"/>
              </a:spcAft>
            </a:pPr>
            <a:r>
              <a:rPr sz="1400">
                <a:solidFill>
                  <a:srgbClr val="1A1A1A"/>
                </a:solidFill>
              </a:rPr>
              <a:t>•  Application = the experience layer (the apps users open — Daraz, Netflix).</a:t>
            </a:r>
          </a:p>
          <a:p>
            <a:pPr>
              <a:spcAft>
                <a:spcPts val="600"/>
              </a:spcAft>
            </a:pPr>
            <a:r>
              <a:rPr sz="1400">
                <a:solidFill>
                  <a:srgbClr val="1A1A1A"/>
                </a:solidFill>
              </a:rPr>
              <a:t>•  This is the ECONOMIC 3-layer view, distinct from the technical OSI/TCP-IP layers.</a:t>
            </a:r>
          </a:p>
        </p:txBody>
      </p:sp>
      <p:pic>
        <p:nvPicPr>
          <p:cNvPr id="6" name="Picture 5" descr="s20_layers.png"/>
          <p:cNvPicPr>
            <a:picLocks noChangeAspect="1"/>
          </p:cNvPicPr>
          <p:nvPr/>
        </p:nvPicPr>
        <p:blipFill>
          <a:blip r:embed="rId2"/>
          <a:stretch>
            <a:fillRect/>
          </a:stretch>
        </p:blipFill>
        <p:spPr>
          <a:xfrm>
            <a:off x="6355080" y="2286776"/>
            <a:ext cx="5532120" cy="306168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Three layers: Infrastructure (base) -&gt; Platform (capability) -&gt; Application (experience) -&gt; User.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142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3 layers — role, global vs Nepal example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1882588"/>
                <a:gridCol w="3227294"/>
                <a:gridCol w="3092823"/>
                <a:gridCol w="3227294"/>
              </a:tblGrid>
              <a:tr h="883310">
                <a:tc>
                  <a:txBody>
                    <a:bodyPr wrap="square"/>
                    <a:lstStyle/>
                    <a:p>
                      <a:r>
                        <a:rPr sz="1100" b="1">
                          <a:solidFill>
                            <a:srgbClr val="FFFFFF"/>
                          </a:solidFill>
                        </a:rPr>
                        <a:t>Layer</a:t>
                      </a:r>
                    </a:p>
                  </a:txBody>
                  <a:tcPr anchor="ctr" marL="73152" marR="54864" marT="27432" marB="27432">
                    <a:solidFill>
                      <a:srgbClr val="0C2B4A"/>
                    </a:solidFill>
                  </a:tcPr>
                </a:tc>
                <a:tc>
                  <a:txBody>
                    <a:bodyPr wrap="square"/>
                    <a:lstStyle/>
                    <a:p>
                      <a:r>
                        <a:rPr sz="1100" b="1">
                          <a:solidFill>
                            <a:srgbClr val="FFFFFF"/>
                          </a:solidFill>
                        </a:rPr>
                        <a:t>Role</a:t>
                      </a:r>
                    </a:p>
                  </a:txBody>
                  <a:tcPr anchor="ctr" marL="73152" marR="54864" marT="27432" marB="27432">
                    <a:solidFill>
                      <a:srgbClr val="0C2B4A"/>
                    </a:solidFill>
                  </a:tcPr>
                </a:tc>
                <a:tc>
                  <a:txBody>
                    <a:bodyPr wrap="square"/>
                    <a:lstStyle/>
                    <a:p>
                      <a:r>
                        <a:rPr sz="1100" b="1">
                          <a:solidFill>
                            <a:srgbClr val="FFFFFF"/>
                          </a:solidFill>
                        </a:rPr>
                        <a:t>Global example</a:t>
                      </a:r>
                    </a:p>
                  </a:txBody>
                  <a:tcPr anchor="ctr" marL="73152" marR="54864" marT="27432" marB="27432">
                    <a:solidFill>
                      <a:srgbClr val="0C2B4A"/>
                    </a:solidFill>
                  </a:tcPr>
                </a:tc>
                <a:tc>
                  <a:txBody>
                    <a:bodyPr wrap="square"/>
                    <a:lstStyle/>
                    <a:p>
                      <a:r>
                        <a:rPr sz="1100" b="1">
                          <a:solidFill>
                            <a:srgbClr val="FFFFFF"/>
                          </a:solidFill>
                        </a:rPr>
                        <a:t>Nepal example</a:t>
                      </a:r>
                    </a:p>
                  </a:txBody>
                  <a:tcPr anchor="ctr" marL="73152" marR="54864" marT="27432" marB="27432">
                    <a:solidFill>
                      <a:srgbClr val="0C2B4A"/>
                    </a:solidFill>
                  </a:tcPr>
                </a:tc>
              </a:tr>
              <a:tr h="883310">
                <a:tc>
                  <a:txBody>
                    <a:bodyPr wrap="square"/>
                    <a:lstStyle/>
                    <a:p>
                      <a:r>
                        <a:rPr sz="1050" b="1">
                          <a:solidFill>
                            <a:srgbClr val="0C2B4A"/>
                          </a:solidFill>
                        </a:rPr>
                        <a:t>Infrastructure</a:t>
                      </a:r>
                    </a:p>
                  </a:txBody>
                  <a:tcPr anchor="ctr" marL="73152" marR="54864" marT="27432" marB="27432">
                    <a:solidFill>
                      <a:srgbClr val="FFFFFF"/>
                    </a:solidFill>
                  </a:tcPr>
                </a:tc>
                <a:tc>
                  <a:txBody>
                    <a:bodyPr wrap="square"/>
                    <a:lstStyle/>
                    <a:p>
                      <a:r>
                        <a:rPr sz="1050">
                          <a:solidFill>
                            <a:srgbClr val="1A1A1A"/>
                          </a:solidFill>
                        </a:rPr>
                        <a:t>Technical base: network, data centre, device</a:t>
                      </a:r>
                    </a:p>
                  </a:txBody>
                  <a:tcPr anchor="ctr" marL="73152" marR="54864" marT="27432" marB="27432">
                    <a:solidFill>
                      <a:srgbClr val="FFFFFF"/>
                    </a:solidFill>
                  </a:tcPr>
                </a:tc>
                <a:tc>
                  <a:txBody>
                    <a:bodyPr wrap="square"/>
                    <a:lstStyle/>
                    <a:p>
                      <a:r>
                        <a:rPr sz="1050">
                          <a:solidFill>
                            <a:srgbClr val="1A1A1A"/>
                          </a:solidFill>
                        </a:rPr>
                        <a:t>AWS, Google fibre, cables</a:t>
                      </a:r>
                    </a:p>
                  </a:txBody>
                  <a:tcPr anchor="ctr" marL="73152" marR="54864" marT="27432" marB="27432">
                    <a:solidFill>
                      <a:srgbClr val="FFFFFF"/>
                    </a:solidFill>
                  </a:tcPr>
                </a:tc>
                <a:tc>
                  <a:txBody>
                    <a:bodyPr wrap="square"/>
                    <a:lstStyle/>
                    <a:p>
                      <a:r>
                        <a:rPr sz="1050">
                          <a:solidFill>
                            <a:srgbClr val="1A1A1A"/>
                          </a:solidFill>
                        </a:rPr>
                        <a:t>NTC/Ncell, data centres, ISPs</a:t>
                      </a:r>
                    </a:p>
                  </a:txBody>
                  <a:tcPr anchor="ctr" marL="73152" marR="54864" marT="27432" marB="27432">
                    <a:solidFill>
                      <a:srgbClr val="FFFFFF"/>
                    </a:solidFill>
                  </a:tcPr>
                </a:tc>
              </a:tr>
              <a:tr h="883310">
                <a:tc>
                  <a:txBody>
                    <a:bodyPr wrap="square"/>
                    <a:lstStyle/>
                    <a:p>
                      <a:r>
                        <a:rPr sz="1050" b="1">
                          <a:solidFill>
                            <a:srgbClr val="0C2B4A"/>
                          </a:solidFill>
                        </a:rPr>
                        <a:t>Platform</a:t>
                      </a:r>
                    </a:p>
                  </a:txBody>
                  <a:tcPr anchor="ctr" marL="73152" marR="54864" marT="27432" marB="27432">
                    <a:solidFill>
                      <a:srgbClr val="EEF3F8"/>
                    </a:solidFill>
                  </a:tcPr>
                </a:tc>
                <a:tc>
                  <a:txBody>
                    <a:bodyPr wrap="square"/>
                    <a:lstStyle/>
                    <a:p>
                      <a:r>
                        <a:rPr sz="1050">
                          <a:solidFill>
                            <a:srgbClr val="1A1A1A"/>
                          </a:solidFill>
                        </a:rPr>
                        <a:t>Capability: OS, payment rails, cloud, app store</a:t>
                      </a:r>
                    </a:p>
                  </a:txBody>
                  <a:tcPr anchor="ctr" marL="73152" marR="54864" marT="27432" marB="27432">
                    <a:solidFill>
                      <a:srgbClr val="EEF3F8"/>
                    </a:solidFill>
                  </a:tcPr>
                </a:tc>
                <a:tc>
                  <a:txBody>
                    <a:bodyPr wrap="square"/>
                    <a:lstStyle/>
                    <a:p>
                      <a:r>
                        <a:rPr sz="1050">
                          <a:solidFill>
                            <a:srgbClr val="1A1A1A"/>
                          </a:solidFill>
                        </a:rPr>
                        <a:t>Android/iOS, AWS, Visa</a:t>
                      </a:r>
                    </a:p>
                  </a:txBody>
                  <a:tcPr anchor="ctr" marL="73152" marR="54864" marT="27432" marB="27432">
                    <a:solidFill>
                      <a:srgbClr val="EEF3F8"/>
                    </a:solidFill>
                  </a:tcPr>
                </a:tc>
                <a:tc>
                  <a:txBody>
                    <a:bodyPr wrap="square"/>
                    <a:lstStyle/>
                    <a:p>
                      <a:r>
                        <a:rPr sz="1050">
                          <a:solidFill>
                            <a:srgbClr val="1A1A1A"/>
                          </a:solidFill>
                        </a:rPr>
                        <a:t>eSewa/Fonepay, ConnectIPS, Android</a:t>
                      </a:r>
                    </a:p>
                  </a:txBody>
                  <a:tcPr anchor="ctr" marL="73152" marR="54864" marT="27432" marB="27432">
                    <a:solidFill>
                      <a:srgbClr val="EEF3F8"/>
                    </a:solidFill>
                  </a:tcPr>
                </a:tc>
              </a:tr>
              <a:tr h="883310">
                <a:tc>
                  <a:txBody>
                    <a:bodyPr wrap="square"/>
                    <a:lstStyle/>
                    <a:p>
                      <a:r>
                        <a:rPr sz="1050" b="1">
                          <a:solidFill>
                            <a:srgbClr val="0C2B4A"/>
                          </a:solidFill>
                        </a:rPr>
                        <a:t>Application</a:t>
                      </a:r>
                    </a:p>
                  </a:txBody>
                  <a:tcPr anchor="ctr" marL="73152" marR="54864" marT="27432" marB="27432">
                    <a:solidFill>
                      <a:srgbClr val="FFFFFF"/>
                    </a:solidFill>
                  </a:tcPr>
                </a:tc>
                <a:tc>
                  <a:txBody>
                    <a:bodyPr wrap="square"/>
                    <a:lstStyle/>
                    <a:p>
                      <a:r>
                        <a:rPr sz="1050">
                          <a:solidFill>
                            <a:srgbClr val="1A1A1A"/>
                          </a:solidFill>
                        </a:rPr>
                        <a:t>Experience: the app users open</a:t>
                      </a:r>
                    </a:p>
                  </a:txBody>
                  <a:tcPr anchor="ctr" marL="73152" marR="54864" marT="27432" marB="27432">
                    <a:solidFill>
                      <a:srgbClr val="FFFFFF"/>
                    </a:solidFill>
                  </a:tcPr>
                </a:tc>
                <a:tc>
                  <a:txBody>
                    <a:bodyPr wrap="square"/>
                    <a:lstStyle/>
                    <a:p>
                      <a:r>
                        <a:rPr sz="1050">
                          <a:solidFill>
                            <a:srgbClr val="1A1A1A"/>
                          </a:solidFill>
                        </a:rPr>
                        <a:t>Netflix, Uber, Amazon app</a:t>
                      </a:r>
                    </a:p>
                  </a:txBody>
                  <a:tcPr anchor="ctr" marL="73152" marR="54864" marT="27432" marB="27432">
                    <a:solidFill>
                      <a:srgbClr val="FFFFFF"/>
                    </a:solidFill>
                  </a:tcPr>
                </a:tc>
                <a:tc>
                  <a:txBody>
                    <a:bodyPr wrap="square"/>
                    <a:lstStyle/>
                    <a:p>
                      <a:r>
                        <a:rPr sz="1050">
                          <a:solidFill>
                            <a:srgbClr val="1A1A1A"/>
                          </a:solidFill>
                        </a:rPr>
                        <a:t>Daraz, Foodmandu, Pathao app</a:t>
                      </a:r>
                    </a:p>
                  </a:txBody>
                  <a:tcPr anchor="ctr" marL="73152" marR="54864" marT="27432" marB="27432">
                    <a:solidFill>
                      <a:srgbClr val="FFFFFF"/>
                    </a:solidFill>
                  </a:tcPr>
                </a:tc>
              </a:tr>
              <a:tr h="883312">
                <a:tc>
                  <a:txBody>
                    <a:bodyPr wrap="square"/>
                    <a:lstStyle/>
                    <a:p>
                      <a:r>
                        <a:rPr sz="1050" b="1">
                          <a:solidFill>
                            <a:srgbClr val="0C2B4A"/>
                          </a:solidFill>
                        </a:rPr>
                        <a:t>User</a:t>
                      </a:r>
                    </a:p>
                  </a:txBody>
                  <a:tcPr anchor="ctr" marL="73152" marR="54864" marT="27432" marB="27432">
                    <a:solidFill>
                      <a:srgbClr val="EEF3F8"/>
                    </a:solidFill>
                  </a:tcPr>
                </a:tc>
                <a:tc>
                  <a:txBody>
                    <a:bodyPr wrap="square"/>
                    <a:lstStyle/>
                    <a:p>
                      <a:r>
                        <a:rPr sz="1050">
                          <a:solidFill>
                            <a:srgbClr val="1A1A1A"/>
                          </a:solidFill>
                        </a:rPr>
                        <a:t>Consumes the experience</a:t>
                      </a:r>
                    </a:p>
                  </a:txBody>
                  <a:tcPr anchor="ctr" marL="73152" marR="54864" marT="27432" marB="27432">
                    <a:solidFill>
                      <a:srgbClr val="EEF3F8"/>
                    </a:solidFill>
                  </a:tcPr>
                </a:tc>
                <a:tc>
                  <a:txBody>
                    <a:bodyPr wrap="square"/>
                    <a:lstStyle/>
                    <a:p>
                      <a:r>
                        <a:rPr sz="1050">
                          <a:solidFill>
                            <a:srgbClr val="1A1A1A"/>
                          </a:solidFill>
                        </a:rPr>
                        <a:t>People, firms, government</a:t>
                      </a:r>
                    </a:p>
                  </a:txBody>
                  <a:tcPr anchor="ctr" marL="73152" marR="54864" marT="27432" marB="27432">
                    <a:solidFill>
                      <a:srgbClr val="EEF3F8"/>
                    </a:solidFill>
                  </a:tcPr>
                </a:tc>
                <a:tc>
                  <a:txBody>
                    <a:bodyPr wrap="square"/>
                    <a:lstStyle/>
                    <a:p>
                      <a:r>
                        <a:rPr sz="1050">
                          <a:solidFill>
                            <a:srgbClr val="1A1A1A"/>
                          </a:solidFill>
                        </a:rPr>
                        <a:t>Nepali consumers &amp; businesses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Read any digital service top-to-bottom and you'll find all three layers. Note Nepal mostly owns the APPLICATION layer while depending on foreign PLATFORM and INFRASTRUCTURE (Android, AWS) — the structural-dependence point of Concept 3.</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142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Three Layers (+ the User)</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Trace a Foodmandu order: you use the APPLICATION (Foodmandu app), which runs on a PLATFORM (Android/iOS, cloud hosting, a payment rail like Khalti/Fonepay), which sits on INFRASTRUCTURE (Ncell/NTC data, servers, fibre). You, the USER, only see the top layer. Netflix is the same: app on top, AWS/Android platform beneath, global fibre and data centres at the base.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internet is one flat thing." It is a STACK of layers: infrastructure (base), platform (capability), application (experience), with the user on top. And note this is the ECONOMIC layered model — not the technical 7-layer OSI/TCP-IP stack, which students often confuse it with. The business layers are about who owns value and power, not protocols.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layered internet model (a business/economic view, distinct from the technical OSI/TCP-IP stack) has three layers plus the user: infrastructure (the technical base — fibre, data centres, connectivity, devices, cloud), platform (the capability layer — OS, payment rails, cloud services, app stores), and application (the experience layer — the apps people use). The user sits on top, consuming the experience. Every digital service can be read down through all three.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layered internet model · infrastructure · platform · application · user · business (not OSI) view</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142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Value Flows Bottom-Up</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Value is built from the bottom up: each layer adds value to the one below it. Infrastructure provides raw TECHNICAL capability (bandwidth, compute, connectivity). The platform turns that into usable CAPABILITY (an OS, a payment rail, cloud services others can build on). The application turns capability into EXPERIENCE (a service the user enjoys). So raw fibre becomes cloud compute becomes a streaming app becomes a movie night — technical to capability to experience.</a:t>
            </a:r>
          </a:p>
          <a:p>
            <a:pPr>
              <a:spcAft>
                <a:spcPts val="500"/>
              </a:spcAft>
            </a:pPr>
            <a:r>
              <a:rPr sz="1200" b="1">
                <a:solidFill>
                  <a:srgbClr val="185FA5"/>
                </a:solidFill>
              </a:rPr>
              <a:t>HOW IT WORKS</a:t>
            </a:r>
          </a:p>
          <a:p>
            <a:pPr>
              <a:spcAft>
                <a:spcPts val="600"/>
              </a:spcAft>
            </a:pPr>
            <a:r>
              <a:rPr sz="1400">
                <a:solidFill>
                  <a:srgbClr val="1A1A1A"/>
                </a:solidFill>
              </a:rPr>
              <a:t>•  Infrastructure -&gt; technical value (bandwidth, compute, connectivity).</a:t>
            </a:r>
          </a:p>
          <a:p>
            <a:pPr>
              <a:spcAft>
                <a:spcPts val="600"/>
              </a:spcAft>
            </a:pPr>
            <a:r>
              <a:rPr sz="1400">
                <a:solidFill>
                  <a:srgbClr val="1A1A1A"/>
                </a:solidFill>
              </a:rPr>
              <a:t>•  Platform -&gt; capability value (usable services others build on).</a:t>
            </a:r>
          </a:p>
          <a:p>
            <a:pPr>
              <a:spcAft>
                <a:spcPts val="600"/>
              </a:spcAft>
            </a:pPr>
            <a:r>
              <a:rPr sz="1400">
                <a:solidFill>
                  <a:srgbClr val="1A1A1A"/>
                </a:solidFill>
              </a:rPr>
              <a:t>•  Application -&gt; experience value (what the user actually enjoys).</a:t>
            </a:r>
          </a:p>
          <a:p>
            <a:pPr>
              <a:spcAft>
                <a:spcPts val="600"/>
              </a:spcAft>
            </a:pPr>
            <a:r>
              <a:rPr sz="1400">
                <a:solidFill>
                  <a:srgbClr val="1A1A1A"/>
                </a:solidFill>
              </a:rPr>
              <a:t>•  Each layer is worthless to the user without the layers below carrying it up.</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Value flows UP: technical (infra) -&gt; capability (platform) -&gt; experience (application).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142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Value type by layer — a worked trace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017058"/>
                <a:gridCol w="2823882"/>
                <a:gridCol w="3227294"/>
                <a:gridCol w="3361764"/>
              </a:tblGrid>
              <a:tr h="883310">
                <a:tc>
                  <a:txBody>
                    <a:bodyPr wrap="square"/>
                    <a:lstStyle/>
                    <a:p>
                      <a:r>
                        <a:rPr sz="1100" b="1">
                          <a:solidFill>
                            <a:srgbClr val="FFFFFF"/>
                          </a:solidFill>
                        </a:rPr>
                        <a:t>Layer</a:t>
                      </a:r>
                    </a:p>
                  </a:txBody>
                  <a:tcPr anchor="ctr" marL="73152" marR="54864" marT="27432" marB="27432">
                    <a:solidFill>
                      <a:srgbClr val="0C2B4A"/>
                    </a:solidFill>
                  </a:tcPr>
                </a:tc>
                <a:tc>
                  <a:txBody>
                    <a:bodyPr wrap="square"/>
                    <a:lstStyle/>
                    <a:p>
                      <a:r>
                        <a:rPr sz="1100" b="1">
                          <a:solidFill>
                            <a:srgbClr val="FFFFFF"/>
                          </a:solidFill>
                        </a:rPr>
                        <a:t>Value type</a:t>
                      </a:r>
                    </a:p>
                  </a:txBody>
                  <a:tcPr anchor="ctr" marL="73152" marR="54864" marT="27432" marB="27432">
                    <a:solidFill>
                      <a:srgbClr val="0C2B4A"/>
                    </a:solidFill>
                  </a:tcPr>
                </a:tc>
                <a:tc>
                  <a:txBody>
                    <a:bodyPr wrap="square"/>
                    <a:lstStyle/>
                    <a:p>
                      <a:r>
                        <a:rPr sz="1100" b="1">
                          <a:solidFill>
                            <a:srgbClr val="FFFFFF"/>
                          </a:solidFill>
                        </a:rPr>
                        <a:t>Banking example</a:t>
                      </a:r>
                    </a:p>
                  </a:txBody>
                  <a:tcPr anchor="ctr" marL="73152" marR="54864" marT="27432" marB="27432">
                    <a:solidFill>
                      <a:srgbClr val="0C2B4A"/>
                    </a:solidFill>
                  </a:tcPr>
                </a:tc>
                <a:tc>
                  <a:txBody>
                    <a:bodyPr wrap="square"/>
                    <a:lstStyle/>
                    <a:p>
                      <a:r>
                        <a:rPr sz="1100" b="1">
                          <a:solidFill>
                            <a:srgbClr val="FFFFFF"/>
                          </a:solidFill>
                        </a:rPr>
                        <a:t>Netflix example</a:t>
                      </a:r>
                    </a:p>
                  </a:txBody>
                  <a:tcPr anchor="ctr" marL="73152" marR="54864" marT="27432" marB="27432">
                    <a:solidFill>
                      <a:srgbClr val="0C2B4A"/>
                    </a:solidFill>
                  </a:tcPr>
                </a:tc>
              </a:tr>
              <a:tr h="883310">
                <a:tc>
                  <a:txBody>
                    <a:bodyPr wrap="square"/>
                    <a:lstStyle/>
                    <a:p>
                      <a:r>
                        <a:rPr sz="1050" b="1">
                          <a:solidFill>
                            <a:srgbClr val="0C2B4A"/>
                          </a:solidFill>
                        </a:rPr>
                        <a:t>Infrastructure</a:t>
                      </a:r>
                    </a:p>
                  </a:txBody>
                  <a:tcPr anchor="ctr" marL="73152" marR="54864" marT="27432" marB="27432">
                    <a:solidFill>
                      <a:srgbClr val="FFFFFF"/>
                    </a:solidFill>
                  </a:tcPr>
                </a:tc>
                <a:tc>
                  <a:txBody>
                    <a:bodyPr wrap="square"/>
                    <a:lstStyle/>
                    <a:p>
                      <a:r>
                        <a:rPr sz="1050">
                          <a:solidFill>
                            <a:srgbClr val="1A1A1A"/>
                          </a:solidFill>
                        </a:rPr>
                        <a:t>Technical (compute, network)</a:t>
                      </a:r>
                    </a:p>
                  </a:txBody>
                  <a:tcPr anchor="ctr" marL="73152" marR="54864" marT="27432" marB="27432">
                    <a:solidFill>
                      <a:srgbClr val="FFFFFF"/>
                    </a:solidFill>
                  </a:tcPr>
                </a:tc>
                <a:tc>
                  <a:txBody>
                    <a:bodyPr wrap="square"/>
                    <a:lstStyle/>
                    <a:p>
                      <a:r>
                        <a:rPr sz="1050">
                          <a:solidFill>
                            <a:srgbClr val="1A1A1A"/>
                          </a:solidFill>
                        </a:rPr>
                        <a:t>Data centre, bank network</a:t>
                      </a:r>
                    </a:p>
                  </a:txBody>
                  <a:tcPr anchor="ctr" marL="73152" marR="54864" marT="27432" marB="27432">
                    <a:solidFill>
                      <a:srgbClr val="FFFFFF"/>
                    </a:solidFill>
                  </a:tcPr>
                </a:tc>
                <a:tc>
                  <a:txBody>
                    <a:bodyPr wrap="square"/>
                    <a:lstStyle/>
                    <a:p>
                      <a:r>
                        <a:rPr sz="1050">
                          <a:solidFill>
                            <a:srgbClr val="1A1A1A"/>
                          </a:solidFill>
                        </a:rPr>
                        <a:t>AWS servers, global fibre</a:t>
                      </a:r>
                    </a:p>
                  </a:txBody>
                  <a:tcPr anchor="ctr" marL="73152" marR="54864" marT="27432" marB="27432">
                    <a:solidFill>
                      <a:srgbClr val="FFFFFF"/>
                    </a:solidFill>
                  </a:tcPr>
                </a:tc>
              </a:tr>
              <a:tr h="883310">
                <a:tc>
                  <a:txBody>
                    <a:bodyPr wrap="square"/>
                    <a:lstStyle/>
                    <a:p>
                      <a:r>
                        <a:rPr sz="1050" b="1">
                          <a:solidFill>
                            <a:srgbClr val="0C2B4A"/>
                          </a:solidFill>
                        </a:rPr>
                        <a:t>Platform</a:t>
                      </a:r>
                    </a:p>
                  </a:txBody>
                  <a:tcPr anchor="ctr" marL="73152" marR="54864" marT="27432" marB="27432">
                    <a:solidFill>
                      <a:srgbClr val="EEF3F8"/>
                    </a:solidFill>
                  </a:tcPr>
                </a:tc>
                <a:tc>
                  <a:txBody>
                    <a:bodyPr wrap="square"/>
                    <a:lstStyle/>
                    <a:p>
                      <a:r>
                        <a:rPr sz="1050">
                          <a:solidFill>
                            <a:srgbClr val="1A1A1A"/>
                          </a:solidFill>
                        </a:rPr>
                        <a:t>Capability (usable service)</a:t>
                      </a:r>
                    </a:p>
                  </a:txBody>
                  <a:tcPr anchor="ctr" marL="73152" marR="54864" marT="27432" marB="27432">
                    <a:solidFill>
                      <a:srgbClr val="EEF3F8"/>
                    </a:solidFill>
                  </a:tcPr>
                </a:tc>
                <a:tc>
                  <a:txBody>
                    <a:bodyPr wrap="square"/>
                    <a:lstStyle/>
                    <a:p>
                      <a:r>
                        <a:rPr sz="1050">
                          <a:solidFill>
                            <a:srgbClr val="1A1A1A"/>
                          </a:solidFill>
                        </a:rPr>
                        <a:t>ConnectIPS rails, core banking</a:t>
                      </a:r>
                    </a:p>
                  </a:txBody>
                  <a:tcPr anchor="ctr" marL="73152" marR="54864" marT="27432" marB="27432">
                    <a:solidFill>
                      <a:srgbClr val="EEF3F8"/>
                    </a:solidFill>
                  </a:tcPr>
                </a:tc>
                <a:tc>
                  <a:txBody>
                    <a:bodyPr wrap="square"/>
                    <a:lstStyle/>
                    <a:p>
                      <a:r>
                        <a:rPr sz="1050">
                          <a:solidFill>
                            <a:srgbClr val="1A1A1A"/>
                          </a:solidFill>
                        </a:rPr>
                        <a:t>AWS services, Android/iOS</a:t>
                      </a:r>
                    </a:p>
                  </a:txBody>
                  <a:tcPr anchor="ctr" marL="73152" marR="54864" marT="27432" marB="27432">
                    <a:solidFill>
                      <a:srgbClr val="EEF3F8"/>
                    </a:solidFill>
                  </a:tcPr>
                </a:tc>
              </a:tr>
              <a:tr h="883310">
                <a:tc>
                  <a:txBody>
                    <a:bodyPr wrap="square"/>
                    <a:lstStyle/>
                    <a:p>
                      <a:r>
                        <a:rPr sz="1050" b="1">
                          <a:solidFill>
                            <a:srgbClr val="0C2B4A"/>
                          </a:solidFill>
                        </a:rPr>
                        <a:t>Application</a:t>
                      </a:r>
                    </a:p>
                  </a:txBody>
                  <a:tcPr anchor="ctr" marL="73152" marR="54864" marT="27432" marB="27432">
                    <a:solidFill>
                      <a:srgbClr val="FFFFFF"/>
                    </a:solidFill>
                  </a:tcPr>
                </a:tc>
                <a:tc>
                  <a:txBody>
                    <a:bodyPr wrap="square"/>
                    <a:lstStyle/>
                    <a:p>
                      <a:r>
                        <a:rPr sz="1050">
                          <a:solidFill>
                            <a:srgbClr val="1A1A1A"/>
                          </a:solidFill>
                        </a:rPr>
                        <a:t>Experience (what user enjoys)</a:t>
                      </a:r>
                    </a:p>
                  </a:txBody>
                  <a:tcPr anchor="ctr" marL="73152" marR="54864" marT="27432" marB="27432">
                    <a:solidFill>
                      <a:srgbClr val="FFFFFF"/>
                    </a:solidFill>
                  </a:tcPr>
                </a:tc>
                <a:tc>
                  <a:txBody>
                    <a:bodyPr wrap="square"/>
                    <a:lstStyle/>
                    <a:p>
                      <a:r>
                        <a:rPr sz="1050">
                          <a:solidFill>
                            <a:srgbClr val="1A1A1A"/>
                          </a:solidFill>
                        </a:rPr>
                        <a:t>Your bank's mobile app</a:t>
                      </a:r>
                    </a:p>
                  </a:txBody>
                  <a:tcPr anchor="ctr" marL="73152" marR="54864" marT="27432" marB="27432">
                    <a:solidFill>
                      <a:srgbClr val="FFFFFF"/>
                    </a:solidFill>
                  </a:tcPr>
                </a:tc>
                <a:tc>
                  <a:txBody>
                    <a:bodyPr wrap="square"/>
                    <a:lstStyle/>
                    <a:p>
                      <a:r>
                        <a:rPr sz="1050">
                          <a:solidFill>
                            <a:srgbClr val="1A1A1A"/>
                          </a:solidFill>
                        </a:rPr>
                        <a:t>Netflix app &amp; recommendations</a:t>
                      </a:r>
                    </a:p>
                  </a:txBody>
                  <a:tcPr anchor="ctr" marL="73152" marR="54864" marT="27432" marB="27432">
                    <a:solidFill>
                      <a:srgbClr val="FFFFFF"/>
                    </a:solidFill>
                  </a:tcPr>
                </a:tc>
              </a:tr>
              <a:tr h="883312">
                <a:tc>
                  <a:txBody>
                    <a:bodyPr wrap="square"/>
                    <a:lstStyle/>
                    <a:p>
                      <a:r>
                        <a:rPr sz="1050" b="1">
                          <a:solidFill>
                            <a:srgbClr val="0C2B4A"/>
                          </a:solidFill>
                        </a:rPr>
                        <a:t>User</a:t>
                      </a:r>
                    </a:p>
                  </a:txBody>
                  <a:tcPr anchor="ctr" marL="73152" marR="54864" marT="27432" marB="27432">
                    <a:solidFill>
                      <a:srgbClr val="EEF3F8"/>
                    </a:solidFill>
                  </a:tcPr>
                </a:tc>
                <a:tc>
                  <a:txBody>
                    <a:bodyPr wrap="square"/>
                    <a:lstStyle/>
                    <a:p>
                      <a:r>
                        <a:rPr sz="1050">
                          <a:solidFill>
                            <a:srgbClr val="1A1A1A"/>
                          </a:solidFill>
                        </a:rPr>
                        <a:t>Consumption</a:t>
                      </a:r>
                    </a:p>
                  </a:txBody>
                  <a:tcPr anchor="ctr" marL="73152" marR="54864" marT="27432" marB="27432">
                    <a:solidFill>
                      <a:srgbClr val="EEF3F8"/>
                    </a:solidFill>
                  </a:tcPr>
                </a:tc>
                <a:tc>
                  <a:txBody>
                    <a:bodyPr wrap="square"/>
                    <a:lstStyle/>
                    <a:p>
                      <a:r>
                        <a:rPr sz="1050">
                          <a:solidFill>
                            <a:srgbClr val="1A1A1A"/>
                          </a:solidFill>
                        </a:rPr>
                        <a:t>You transfer money in seconds</a:t>
                      </a:r>
                    </a:p>
                  </a:txBody>
                  <a:tcPr anchor="ctr" marL="73152" marR="54864" marT="27432" marB="27432">
                    <a:solidFill>
                      <a:srgbClr val="EEF3F8"/>
                    </a:solidFill>
                  </a:tcPr>
                </a:tc>
                <a:tc>
                  <a:txBody>
                    <a:bodyPr wrap="square"/>
                    <a:lstStyle/>
                    <a:p>
                      <a:r>
                        <a:rPr sz="1050">
                          <a:solidFill>
                            <a:srgbClr val="1A1A1A"/>
                          </a:solidFill>
                        </a:rPr>
                        <a:t>You watch a film instantly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Trace any service down and value climbs back up: technical capacity becomes a usable platform becomes an experience. The user sees only the experience but relies on every layer beneath.</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62 / 142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Value Flows Bottom-Up</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Your bank's app (application) gives you the EXPERIENCE of transferring money in seconds. That rests on ConnectIPS and core-banking CAPABILITY (platform), which rests on data centres and the bank network's TECHNICAL capacity (infrastructure). Netflix is identical: AWS fibre and servers (technical) become AWS/Android services (capability) become the Netflix app (experience). Value is assembled bottom-up, layer by layer.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app creates all the value." The app only delivers the EXPERIENCE; the value beneath it — capability from the platform, technical capacity from infrastructure — is what makes the experience possible. Value flows bottom-up (technical -&gt; capability -&gt; experience); the visible top layer sits on invisible value from below.</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Value flows bottom-up: each layer adds value to the one below. Infrastructure provides technical value (bandwidth, compute, connectivity); the platform turns it into capability value (usable services others build on — OS, payment rails, cloud); the application turns capability into experience value (the service the user enjoys). Raw fibre becomes cloud compute becomes a streaming app becomes a movie night — technical to capability to experience.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value flows up · technical -&gt; capability -&gt; experience · each layer adds to the one below</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142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Layer Power: Control Lower = Power Over Higher</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While value flows UP, power flows DOWN: whoever controls a lower layer holds power over everything above it. An app depends on the platform (app-store rules, payment cut), and the platform depends on infrastructure. Apple's App Store (platform) can take ~30% from any app; a cloud provider can raise prices on everyone hosted on it. This is why Nepal's structural dependence matters: Nepali firms own the APPLICATION layer but rent the PLATFORM and INFRASTRUCTURE (Android, AWS, foreign cloud) — so foreign firms hold power over local apps.</a:t>
            </a:r>
          </a:p>
          <a:p>
            <a:pPr>
              <a:spcAft>
                <a:spcPts val="500"/>
              </a:spcAft>
            </a:pPr>
            <a:r>
              <a:rPr sz="1200" b="1">
                <a:solidFill>
                  <a:srgbClr val="185FA5"/>
                </a:solidFill>
              </a:rPr>
              <a:t>HOW IT WORKS</a:t>
            </a:r>
          </a:p>
          <a:p>
            <a:pPr>
              <a:spcAft>
                <a:spcPts val="600"/>
              </a:spcAft>
            </a:pPr>
            <a:r>
              <a:rPr sz="1400">
                <a:solidFill>
                  <a:srgbClr val="1A1A1A"/>
                </a:solidFill>
              </a:rPr>
              <a:t>•  Value flows up, but POWER flows down — the lower layer sets terms for the higher.</a:t>
            </a:r>
          </a:p>
          <a:p>
            <a:pPr>
              <a:spcAft>
                <a:spcPts val="600"/>
              </a:spcAft>
            </a:pPr>
            <a:r>
              <a:rPr sz="1400">
                <a:solidFill>
                  <a:srgbClr val="1A1A1A"/>
                </a:solidFill>
              </a:rPr>
              <a:t>•  App-store cut, cloud pricing, OS rules: the platform controls the apps on it.</a:t>
            </a:r>
          </a:p>
          <a:p>
            <a:pPr>
              <a:spcAft>
                <a:spcPts val="600"/>
              </a:spcAft>
            </a:pPr>
            <a:r>
              <a:rPr sz="1400">
                <a:solidFill>
                  <a:srgbClr val="1A1A1A"/>
                </a:solidFill>
              </a:rPr>
              <a:t>•  Owning infrastructure/platform is the deepest moat — hardest to replace.</a:t>
            </a:r>
          </a:p>
          <a:p>
            <a:pPr>
              <a:spcAft>
                <a:spcPts val="600"/>
              </a:spcAft>
            </a:pPr>
            <a:r>
              <a:rPr sz="1400">
                <a:solidFill>
                  <a:srgbClr val="1A1A1A"/>
                </a:solidFill>
              </a:rPr>
              <a:t>•  Nepal dependence: local apps, foreign platform &amp; infrastructure = power sits abroad.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Power flows DOWN: control a lower layer (platform/infra) and you hold power over every layer above.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142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Benefits of layered architecture (and the power it hides)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857499"/>
                <a:gridCol w="4202205"/>
                <a:gridCol w="4370294"/>
              </a:tblGrid>
              <a:tr h="736092">
                <a:tc>
                  <a:txBody>
                    <a:bodyPr wrap="square"/>
                    <a:lstStyle/>
                    <a:p>
                      <a:r>
                        <a:rPr sz="1150" b="1">
                          <a:solidFill>
                            <a:srgbClr val="FFFFFF"/>
                          </a:solidFill>
                        </a:rPr>
                        <a:t>Benefit</a:t>
                      </a:r>
                    </a:p>
                  </a:txBody>
                  <a:tcPr anchor="ctr" marL="73152" marR="54864" marT="27432" marB="27432">
                    <a:solidFill>
                      <a:srgbClr val="0C2B4A"/>
                    </a:solidFill>
                  </a:tcPr>
                </a:tc>
                <a:tc>
                  <a:txBody>
                    <a:bodyPr wrap="square"/>
                    <a:lstStyle/>
                    <a:p>
                      <a:r>
                        <a:rPr sz="1150" b="1">
                          <a:solidFill>
                            <a:srgbClr val="FFFFFF"/>
                          </a:solidFill>
                        </a:rPr>
                        <a:t>What it enables</a:t>
                      </a:r>
                    </a:p>
                  </a:txBody>
                  <a:tcPr anchor="ctr" marL="73152" marR="54864" marT="27432" marB="27432">
                    <a:solidFill>
                      <a:srgbClr val="0C2B4A"/>
                    </a:solidFill>
                  </a:tcPr>
                </a:tc>
                <a:tc>
                  <a:txBody>
                    <a:bodyPr wrap="square"/>
                    <a:lstStyle/>
                    <a:p>
                      <a:r>
                        <a:rPr sz="1150" b="1">
                          <a:solidFill>
                            <a:srgbClr val="FFFFFF"/>
                          </a:solidFill>
                        </a:rPr>
                        <a:t>But note the power</a:t>
                      </a:r>
                    </a:p>
                  </a:txBody>
                  <a:tcPr anchor="ctr" marL="73152" marR="54864" marT="27432" marB="27432">
                    <a:solidFill>
                      <a:srgbClr val="0C2B4A"/>
                    </a:solidFill>
                  </a:tcPr>
                </a:tc>
              </a:tr>
              <a:tr h="736092">
                <a:tc>
                  <a:txBody>
                    <a:bodyPr wrap="square"/>
                    <a:lstStyle/>
                    <a:p>
                      <a:r>
                        <a:rPr sz="1100" b="1">
                          <a:solidFill>
                            <a:srgbClr val="0C2B4A"/>
                          </a:solidFill>
                        </a:rPr>
                        <a:t>Specialisation</a:t>
                      </a:r>
                    </a:p>
                  </a:txBody>
                  <a:tcPr anchor="ctr" marL="73152" marR="54864" marT="27432" marB="27432">
                    <a:solidFill>
                      <a:srgbClr val="FFFFFF"/>
                    </a:solidFill>
                  </a:tcPr>
                </a:tc>
                <a:tc>
                  <a:txBody>
                    <a:bodyPr wrap="square"/>
                    <a:lstStyle/>
                    <a:p>
                      <a:r>
                        <a:rPr sz="1100">
                          <a:solidFill>
                            <a:srgbClr val="1A1A1A"/>
                          </a:solidFill>
                        </a:rPr>
                        <a:t>Each firm masters one layer</a:t>
                      </a:r>
                    </a:p>
                  </a:txBody>
                  <a:tcPr anchor="ctr" marL="73152" marR="54864" marT="27432" marB="27432">
                    <a:solidFill>
                      <a:srgbClr val="FFFFFF"/>
                    </a:solidFill>
                  </a:tcPr>
                </a:tc>
                <a:tc>
                  <a:txBody>
                    <a:bodyPr wrap="square"/>
                    <a:lstStyle/>
                    <a:p>
                      <a:r>
                        <a:rPr sz="1100">
                          <a:solidFill>
                            <a:srgbClr val="1A1A1A"/>
                          </a:solidFill>
                        </a:rPr>
                        <a:t>Layer owners set terms for others</a:t>
                      </a:r>
                    </a:p>
                  </a:txBody>
                  <a:tcPr anchor="ctr" marL="73152" marR="54864" marT="27432" marB="27432">
                    <a:solidFill>
                      <a:srgbClr val="FFFFFF"/>
                    </a:solidFill>
                  </a:tcPr>
                </a:tc>
              </a:tr>
              <a:tr h="736092">
                <a:tc>
                  <a:txBody>
                    <a:bodyPr wrap="square"/>
                    <a:lstStyle/>
                    <a:p>
                      <a:r>
                        <a:rPr sz="1100" b="1">
                          <a:solidFill>
                            <a:srgbClr val="0C2B4A"/>
                          </a:solidFill>
                        </a:rPr>
                        <a:t>Modularity / reuse</a:t>
                      </a:r>
                    </a:p>
                  </a:txBody>
                  <a:tcPr anchor="ctr" marL="73152" marR="54864" marT="27432" marB="27432">
                    <a:solidFill>
                      <a:srgbClr val="EEF3F8"/>
                    </a:solidFill>
                  </a:tcPr>
                </a:tc>
                <a:tc>
                  <a:txBody>
                    <a:bodyPr wrap="square"/>
                    <a:lstStyle/>
                    <a:p>
                      <a:r>
                        <a:rPr sz="1100">
                          <a:solidFill>
                            <a:srgbClr val="1A1A1A"/>
                          </a:solidFill>
                        </a:rPr>
                        <a:t>Build apps fast on shared platforms</a:t>
                      </a:r>
                    </a:p>
                  </a:txBody>
                  <a:tcPr anchor="ctr" marL="73152" marR="54864" marT="27432" marB="27432">
                    <a:solidFill>
                      <a:srgbClr val="EEF3F8"/>
                    </a:solidFill>
                  </a:tcPr>
                </a:tc>
                <a:tc>
                  <a:txBody>
                    <a:bodyPr wrap="square"/>
                    <a:lstStyle/>
                    <a:p>
                      <a:r>
                        <a:rPr sz="1100">
                          <a:solidFill>
                            <a:srgbClr val="1A1A1A"/>
                          </a:solidFill>
                        </a:rPr>
                        <a:t>App depends on platform's rules</a:t>
                      </a:r>
                    </a:p>
                  </a:txBody>
                  <a:tcPr anchor="ctr" marL="73152" marR="54864" marT="27432" marB="27432">
                    <a:solidFill>
                      <a:srgbClr val="EEF3F8"/>
                    </a:solidFill>
                  </a:tcPr>
                </a:tc>
              </a:tr>
              <a:tr h="736092">
                <a:tc>
                  <a:txBody>
                    <a:bodyPr wrap="square"/>
                    <a:lstStyle/>
                    <a:p>
                      <a:r>
                        <a:rPr sz="1100" b="1">
                          <a:solidFill>
                            <a:srgbClr val="0C2B4A"/>
                          </a:solidFill>
                        </a:rPr>
                        <a:t>Innovation at the top</a:t>
                      </a:r>
                    </a:p>
                  </a:txBody>
                  <a:tcPr anchor="ctr" marL="73152" marR="54864" marT="27432" marB="27432">
                    <a:solidFill>
                      <a:srgbClr val="FFFFFF"/>
                    </a:solidFill>
                  </a:tcPr>
                </a:tc>
                <a:tc>
                  <a:txBody>
                    <a:bodyPr wrap="square"/>
                    <a:lstStyle/>
                    <a:p>
                      <a:r>
                        <a:rPr sz="1100">
                          <a:solidFill>
                            <a:srgbClr val="1A1A1A"/>
                          </a:solidFill>
                        </a:rPr>
                        <a:t>Anyone can launch an app</a:t>
                      </a:r>
                    </a:p>
                  </a:txBody>
                  <a:tcPr anchor="ctr" marL="73152" marR="54864" marT="27432" marB="27432">
                    <a:solidFill>
                      <a:srgbClr val="FFFFFF"/>
                    </a:solidFill>
                  </a:tcPr>
                </a:tc>
                <a:tc>
                  <a:txBody>
                    <a:bodyPr wrap="square"/>
                    <a:lstStyle/>
                    <a:p>
                      <a:r>
                        <a:rPr sz="1100">
                          <a:solidFill>
                            <a:srgbClr val="1A1A1A"/>
                          </a:solidFill>
                        </a:rPr>
                        <a:t>Platform can copy or tax the app</a:t>
                      </a:r>
                    </a:p>
                  </a:txBody>
                  <a:tcPr anchor="ctr" marL="73152" marR="54864" marT="27432" marB="27432">
                    <a:solidFill>
                      <a:srgbClr val="FFFFFF"/>
                    </a:solidFill>
                  </a:tcPr>
                </a:tc>
              </a:tr>
              <a:tr h="736092">
                <a:tc>
                  <a:txBody>
                    <a:bodyPr wrap="square"/>
                    <a:lstStyle/>
                    <a:p>
                      <a:r>
                        <a:rPr sz="1100" b="1">
                          <a:solidFill>
                            <a:srgbClr val="0C2B4A"/>
                          </a:solidFill>
                        </a:rPr>
                        <a:t>Scalability</a:t>
                      </a:r>
                    </a:p>
                  </a:txBody>
                  <a:tcPr anchor="ctr" marL="73152" marR="54864" marT="27432" marB="27432">
                    <a:solidFill>
                      <a:srgbClr val="EEF3F8"/>
                    </a:solidFill>
                  </a:tcPr>
                </a:tc>
                <a:tc>
                  <a:txBody>
                    <a:bodyPr wrap="square"/>
                    <a:lstStyle/>
                    <a:p>
                      <a:r>
                        <a:rPr sz="1100">
                          <a:solidFill>
                            <a:srgbClr val="1A1A1A"/>
                          </a:solidFill>
                        </a:rPr>
                        <a:t>Cloud scales apps instantly</a:t>
                      </a:r>
                    </a:p>
                  </a:txBody>
                  <a:tcPr anchor="ctr" marL="73152" marR="54864" marT="27432" marB="27432">
                    <a:solidFill>
                      <a:srgbClr val="EEF3F8"/>
                    </a:solidFill>
                  </a:tcPr>
                </a:tc>
                <a:tc>
                  <a:txBody>
                    <a:bodyPr wrap="square"/>
                    <a:lstStyle/>
                    <a:p>
                      <a:r>
                        <a:rPr sz="1100">
                          <a:solidFill>
                            <a:srgbClr val="1A1A1A"/>
                          </a:solidFill>
                        </a:rPr>
                        <a:t>Cloud provider controls pricing</a:t>
                      </a:r>
                    </a:p>
                  </a:txBody>
                  <a:tcPr anchor="ctr" marL="73152" marR="54864" marT="27432" marB="27432">
                    <a:solidFill>
                      <a:srgbClr val="EEF3F8"/>
                    </a:solidFill>
                  </a:tcPr>
                </a:tc>
              </a:tr>
              <a:tr h="736092">
                <a:tc>
                  <a:txBody>
                    <a:bodyPr wrap="square"/>
                    <a:lstStyle/>
                    <a:p>
                      <a:r>
                        <a:rPr sz="1100" b="1">
                          <a:solidFill>
                            <a:srgbClr val="0C2B4A"/>
                          </a:solidFill>
                        </a:rPr>
                        <a:t>Lower entry cost</a:t>
                      </a:r>
                    </a:p>
                  </a:txBody>
                  <a:tcPr anchor="ctr" marL="73152" marR="54864" marT="27432" marB="27432">
                    <a:solidFill>
                      <a:srgbClr val="FFFFFF"/>
                    </a:solidFill>
                  </a:tcPr>
                </a:tc>
                <a:tc>
                  <a:txBody>
                    <a:bodyPr wrap="square"/>
                    <a:lstStyle/>
                    <a:p>
                      <a:r>
                        <a:rPr sz="1100">
                          <a:solidFill>
                            <a:srgbClr val="1A1A1A"/>
                          </a:solidFill>
                        </a:rPr>
                        <a:t>No need to build infra</a:t>
                      </a:r>
                    </a:p>
                  </a:txBody>
                  <a:tcPr anchor="ctr" marL="73152" marR="54864" marT="27432" marB="27432">
                    <a:solidFill>
                      <a:srgbClr val="FFFFFF"/>
                    </a:solidFill>
                  </a:tcPr>
                </a:tc>
                <a:tc>
                  <a:txBody>
                    <a:bodyPr wrap="square"/>
                    <a:lstStyle/>
                    <a:p>
                      <a:r>
                        <a:rPr sz="1100">
                          <a:solidFill>
                            <a:srgbClr val="1A1A1A"/>
                          </a:solidFill>
                        </a:rPr>
                        <a:t>Deep dependence on infra/platform owner</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Layering is hugely beneficial — it lets a Nepali startup launch an app without building fibre or a cloud. But every benefit comes with dependence: whoever owns the layer you build on holds power over you (the App Store's 30%).</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142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S20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Layer Power: Control Lower = Power Over Higher</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app maker owns the APPLICATION but rents everything below: it ships through Apple/Google's app stores (which can take a cut or set rules), hosts on AWS/foreign cloud (which sets prices), and runs on Android/iOS. So power over a local app sits with foreign platform and infrastructure owners — the App Store's ~30% cut is felt by any Nepali developer. This is why owning a lower layer (or a control point, S25) is the real strategic prize.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app on top is the most powerful part." Value flows up but POWER flows down: the platform and infrastructure beneath set the terms (app-store cut, cloud pricing, OS rules). The visible top layer is often the least powerful — which is why Nepal owning apps but renting the layers beneath leaves real power abroad.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While value flows up, power flows down: whoever controls a lower layer holds power over everything above it. An app depends on the platform (app-store rules, ~30% cut), and the platform depends on infrastructure (cloud pricing). Owning the platform or infrastructure is the deepest moat. Nepal's structural dependence follows: local firms own the application layer but rent the platform and infrastructure (Android, AWS), so foreign firms hold power over Nepali apps.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power flows down · lower layer controls higher · App Store 30% · structural dependence · own the layer beneath</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142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S20 — 'Trace the stack'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pick a Nepali service (your bank app, Daraz, Foodmandu, Netflix in Nepal).</a:t>
            </a:r>
          </a:p>
          <a:p>
            <a:pPr>
              <a:spcAft>
                <a:spcPts val="700"/>
              </a:spcAft>
            </a:pPr>
            <a:r>
              <a:rPr sz="1550">
                <a:solidFill>
                  <a:srgbClr val="1A1A1A"/>
                </a:solidFill>
              </a:rPr>
              <a:t>•  Name what sits at each layer: infrastructure, platform, application, user.</a:t>
            </a:r>
          </a:p>
          <a:p>
            <a:pPr>
              <a:spcAft>
                <a:spcPts val="700"/>
              </a:spcAft>
            </a:pPr>
            <a:r>
              <a:rPr sz="1550">
                <a:solidFill>
                  <a:srgbClr val="1A1A1A"/>
                </a:solidFill>
              </a:rPr>
              <a:t>•  Identify which layers are Nepali-owned and which are foreign — where does power sit?</a:t>
            </a:r>
          </a:p>
          <a:p>
            <a:pPr>
              <a:spcAft>
                <a:spcPts val="700"/>
              </a:spcAft>
            </a:pPr>
            <a:r>
              <a:rPr sz="1550">
                <a:solidFill>
                  <a:srgbClr val="1A1A1A"/>
                </a:solidFill>
              </a:rPr>
              <a:t>•  Take 3–4 answers aloud (2 min); highlight the app-owned-locally, platform-rented pattern.</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 (Daraz): app = Daraz (application), platform = Android/iOS + cloud + Fonepay rails, infrastructure = NTC/Ncell + foreign cloud + devices. Nepal owns the app; platform/infra largely foreign -&gt; power sits abroad. Reward the ownership/power observation.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142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S20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Cloud, data centres, connectivity and devices belong to which layer?</a:t>
            </a:r>
          </a:p>
          <a:p>
            <a:pPr lvl="1"/>
            <a:r>
              <a:rPr sz="1500" b="1">
                <a:solidFill>
                  <a:srgbClr val="0F6E56"/>
                </a:solidFill>
              </a:rPr>
              <a:t>a) application   b) ✅ infrastructure   c) user   d) payment</a:t>
            </a:r>
          </a:p>
          <a:p>
            <a:pPr lvl="1">
              <a:spcBef>
                <a:spcPts val="600"/>
              </a:spcBef>
            </a:pPr>
            <a:r>
              <a:rPr sz="1500" i="1">
                <a:solidFill>
                  <a:srgbClr val="1A1A1A"/>
                </a:solidFill>
              </a:rPr>
              <a:t>     Why: infrastructure is the technical base — networks, data centres, devices, cloud.</a:t>
            </a:r>
          </a:p>
          <a:p>
            <a:pPr>
              <a:spcBef>
                <a:spcPts val="900"/>
              </a:spcBef>
            </a:pPr>
            <a:r>
              <a:rPr sz="1700" b="1">
                <a:solidFill>
                  <a:srgbClr val="0C2B4A"/>
                </a:solidFill>
              </a:rPr>
              <a:t>Q2.  'Control of a lower layer gives power over higher layers' is shown by:</a:t>
            </a:r>
          </a:p>
          <a:p>
            <a:pPr lvl="1"/>
            <a:r>
              <a:rPr sz="1500" b="1">
                <a:solidFill>
                  <a:srgbClr val="0F6E56"/>
                </a:solidFill>
              </a:rPr>
              <a:t>a) users choosing apps   b) ✅ an app store taking a ~30% cut from every app   c) fast internet   d) free apps</a:t>
            </a:r>
          </a:p>
          <a:p>
            <a:pPr lvl="1">
              <a:spcBef>
                <a:spcPts val="600"/>
              </a:spcBef>
            </a:pPr>
            <a:r>
              <a:rPr sz="1500" i="1">
                <a:solidFill>
                  <a:srgbClr val="1A1A1A"/>
                </a:solidFill>
              </a:rPr>
              <a:t>     Why: the platform (app store) beneath the app sets terms the app must accept — power flows down.</a:t>
            </a:r>
          </a:p>
          <a:p>
            <a:pPr lvl="1">
              <a:spcBef>
                <a:spcPts val="600"/>
              </a:spcBef>
            </a:pPr>
            <a:r>
              <a:rPr sz="1500" i="1">
                <a:solidFill>
                  <a:srgbClr val="1A1A1A"/>
                </a:solidFill>
              </a:rPr>
              <a:t>Discussion: for a Nepali service, which layers are local and which foreign — where's the power?</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68 / 142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S20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Three layers (+ user): infrastructure (technical base), platform (capability), application (experience) — the business, not OSI, view.</a:t>
            </a:r>
          </a:p>
          <a:p>
            <a:pPr>
              <a:spcAft>
                <a:spcPts val="800"/>
              </a:spcAft>
            </a:pPr>
            <a:r>
              <a:rPr sz="1500">
                <a:solidFill>
                  <a:srgbClr val="1A1A1A"/>
                </a:solidFill>
              </a:rPr>
              <a:t>2.  Value flows bottom-up: technical -&gt; capability -&gt; experience; each layer adds to the one below.</a:t>
            </a:r>
          </a:p>
          <a:p>
            <a:pPr>
              <a:spcAft>
                <a:spcPts val="800"/>
              </a:spcAft>
            </a:pPr>
            <a:r>
              <a:rPr sz="1500">
                <a:solidFill>
                  <a:srgbClr val="1A1A1A"/>
                </a:solidFill>
              </a:rPr>
              <a:t>3.  Power flows top-down: control a lower layer and you hold power over higher ones — Nepal owns apps but rents platform &amp; infrastructure.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The layered model explains WHY co-opetition happens (S19) and where real power lives — and it sets up S25's 'control points'. For Nepal, it's a strategic warning: owning apps while renting the layers beneath leaves power (and profit) abroad.</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S21 — what drives NEW value in these markets: digital innovation, and innovation vs invention.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69 / 142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21 · LECTURE HOUR 6 (OF 10)</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Digital Innovation</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eSewa didn't invent the internet, smartphones, or QR codes — yet it changed how millions of Nepalis pay. Meanwhile, brilliant inventions sit unused in labs. What is the difference between INVENTING something and INNOVATING with it — and why do cheap, 'good-enough' newcomers so often topple better-funded incumbents?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70 / 142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Innovation != Invention; Sustaining vs Disruptive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Digital innovation is creating new value — in products, processes, services, or business models — using digital technology. Crucially, INNOVATION != INVENTION: invention is creating something new (a technology); innovation is turning an idea into VALUE that people actually use. Innovation also comes in two strategic kinds: SUSTAINING (improving an existing product for existing customers — a better camera each year) and DISRUPTIVE (a cheaper, simpler, 'good-enough' offering that enters at the low end and rises to overtake incumbents — Christensen).</a:t>
            </a:r>
          </a:p>
          <a:p>
            <a:pPr>
              <a:spcAft>
                <a:spcPts val="500"/>
              </a:spcAft>
            </a:pPr>
            <a:r>
              <a:rPr sz="1200" b="1">
                <a:solidFill>
                  <a:srgbClr val="185FA5"/>
                </a:solidFill>
              </a:rPr>
              <a:t>HOW IT WORKS</a:t>
            </a:r>
          </a:p>
          <a:p>
            <a:pPr>
              <a:spcAft>
                <a:spcPts val="600"/>
              </a:spcAft>
            </a:pPr>
            <a:r>
              <a:rPr sz="1400">
                <a:solidFill>
                  <a:srgbClr val="1A1A1A"/>
                </a:solidFill>
              </a:rPr>
              <a:t>•  Invention = create a new technology; innovation = create VALUE people use from it.</a:t>
            </a:r>
          </a:p>
          <a:p>
            <a:pPr>
              <a:spcAft>
                <a:spcPts val="600"/>
              </a:spcAft>
            </a:pPr>
            <a:r>
              <a:rPr sz="1400">
                <a:solidFill>
                  <a:srgbClr val="1A1A1A"/>
                </a:solidFill>
              </a:rPr>
              <a:t>•  Innovation can be about context/business model, not just new technology.</a:t>
            </a:r>
          </a:p>
          <a:p>
            <a:pPr>
              <a:spcAft>
                <a:spcPts val="600"/>
              </a:spcAft>
            </a:pPr>
            <a:r>
              <a:rPr sz="1400">
                <a:solidFill>
                  <a:srgbClr val="1A1A1A"/>
                </a:solidFill>
              </a:rPr>
              <a:t>•  Sustaining: improve for existing customers (incremental or radical, but same market).</a:t>
            </a:r>
          </a:p>
          <a:p>
            <a:pPr>
              <a:spcAft>
                <a:spcPts val="600"/>
              </a:spcAft>
            </a:pPr>
            <a:r>
              <a:rPr sz="1400">
                <a:solidFill>
                  <a:srgbClr val="1A1A1A"/>
                </a:solidFill>
              </a:rPr>
              <a:t>•  Disruptive: enter cheap &amp; 'good enough' at the bottom, then climb to overtake the incumbent.</a:t>
            </a:r>
          </a:p>
        </p:txBody>
      </p:sp>
      <p:pic>
        <p:nvPicPr>
          <p:cNvPr id="6" name="Picture 5" descr="s21_innovation.png"/>
          <p:cNvPicPr>
            <a:picLocks noChangeAspect="1"/>
          </p:cNvPicPr>
          <p:nvPr/>
        </p:nvPicPr>
        <p:blipFill>
          <a:blip r:embed="rId2"/>
          <a:stretch>
            <a:fillRect/>
          </a:stretch>
        </p:blipFill>
        <p:spPr>
          <a:xfrm>
            <a:off x="6355080" y="2517249"/>
            <a:ext cx="5532120" cy="260074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Innovation != invention (value, not just new tech). Sustaining improves; disruptive enters low, then overtakes.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71 / 142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Sustaining vs disruptive innovation</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50434"/>
                <a:gridCol w="4306956"/>
                <a:gridCol w="4472608"/>
              </a:tblGrid>
              <a:tr h="630936">
                <a:tc>
                  <a:txBody>
                    <a:bodyPr wrap="square"/>
                    <a:lstStyle/>
                    <a:p>
                      <a:r>
                        <a:rPr sz="1150" b="1">
                          <a:solidFill>
                            <a:srgbClr val="FFFFFF"/>
                          </a:solidFill>
                        </a:rPr>
                        <a:t>Dimension</a:t>
                      </a:r>
                    </a:p>
                  </a:txBody>
                  <a:tcPr anchor="ctr" marL="73152" marR="54864" marT="27432" marB="27432">
                    <a:solidFill>
                      <a:srgbClr val="0C2B4A"/>
                    </a:solidFill>
                  </a:tcPr>
                </a:tc>
                <a:tc>
                  <a:txBody>
                    <a:bodyPr wrap="square"/>
                    <a:lstStyle/>
                    <a:p>
                      <a:r>
                        <a:rPr sz="1150" b="1">
                          <a:solidFill>
                            <a:srgbClr val="FFFFFF"/>
                          </a:solidFill>
                        </a:rPr>
                        <a:t>Sustaining innovation</a:t>
                      </a:r>
                    </a:p>
                  </a:txBody>
                  <a:tcPr anchor="ctr" marL="73152" marR="54864" marT="27432" marB="27432">
                    <a:solidFill>
                      <a:srgbClr val="0C2B4A"/>
                    </a:solidFill>
                  </a:tcPr>
                </a:tc>
                <a:tc>
                  <a:txBody>
                    <a:bodyPr wrap="square"/>
                    <a:lstStyle/>
                    <a:p>
                      <a:r>
                        <a:rPr sz="1150" b="1">
                          <a:solidFill>
                            <a:srgbClr val="FFFFFF"/>
                          </a:solidFill>
                        </a:rPr>
                        <a:t>Disruptive innovation</a:t>
                      </a:r>
                    </a:p>
                  </a:txBody>
                  <a:tcPr anchor="ctr" marL="73152" marR="54864" marT="27432" marB="27432">
                    <a:solidFill>
                      <a:srgbClr val="0C2B4A"/>
                    </a:solidFill>
                  </a:tcPr>
                </a:tc>
              </a:tr>
              <a:tr h="630936">
                <a:tc>
                  <a:txBody>
                    <a:bodyPr wrap="square"/>
                    <a:lstStyle/>
                    <a:p>
                      <a:r>
                        <a:rPr sz="1100" b="1">
                          <a:solidFill>
                            <a:srgbClr val="0C2B4A"/>
                          </a:solidFill>
                        </a:rPr>
                        <a:t>Aim</a:t>
                      </a:r>
                    </a:p>
                  </a:txBody>
                  <a:tcPr anchor="ctr" marL="73152" marR="54864" marT="27432" marB="27432">
                    <a:solidFill>
                      <a:srgbClr val="FFFFFF"/>
                    </a:solidFill>
                  </a:tcPr>
                </a:tc>
                <a:tc>
                  <a:txBody>
                    <a:bodyPr wrap="square"/>
                    <a:lstStyle/>
                    <a:p>
                      <a:r>
                        <a:rPr sz="1100">
                          <a:solidFill>
                            <a:srgbClr val="1A1A1A"/>
                          </a:solidFill>
                        </a:rPr>
                        <a:t>Improve for existing customers</a:t>
                      </a:r>
                    </a:p>
                  </a:txBody>
                  <a:tcPr anchor="ctr" marL="73152" marR="54864" marT="27432" marB="27432">
                    <a:solidFill>
                      <a:srgbClr val="FFFFFF"/>
                    </a:solidFill>
                  </a:tcPr>
                </a:tc>
                <a:tc>
                  <a:txBody>
                    <a:bodyPr wrap="square"/>
                    <a:lstStyle/>
                    <a:p>
                      <a:r>
                        <a:rPr sz="1100">
                          <a:solidFill>
                            <a:srgbClr val="1A1A1A"/>
                          </a:solidFill>
                        </a:rPr>
                        <a:t>Serve overlooked / new customers</a:t>
                      </a:r>
                    </a:p>
                  </a:txBody>
                  <a:tcPr anchor="ctr" marL="73152" marR="54864" marT="27432" marB="27432">
                    <a:solidFill>
                      <a:srgbClr val="FFFFFF"/>
                    </a:solidFill>
                  </a:tcPr>
                </a:tc>
              </a:tr>
              <a:tr h="630936">
                <a:tc>
                  <a:txBody>
                    <a:bodyPr wrap="square"/>
                    <a:lstStyle/>
                    <a:p>
                      <a:r>
                        <a:rPr sz="1100" b="1">
                          <a:solidFill>
                            <a:srgbClr val="0C2B4A"/>
                          </a:solidFill>
                        </a:rPr>
                        <a:t>Starting point</a:t>
                      </a:r>
                    </a:p>
                  </a:txBody>
                  <a:tcPr anchor="ctr" marL="73152" marR="54864" marT="27432" marB="27432">
                    <a:solidFill>
                      <a:srgbClr val="EEF3F8"/>
                    </a:solidFill>
                  </a:tcPr>
                </a:tc>
                <a:tc>
                  <a:txBody>
                    <a:bodyPr wrap="square"/>
                    <a:lstStyle/>
                    <a:p>
                      <a:r>
                        <a:rPr sz="1100">
                          <a:solidFill>
                            <a:srgbClr val="1A1A1A"/>
                          </a:solidFill>
                        </a:rPr>
                        <a:t>Better than current product</a:t>
                      </a:r>
                    </a:p>
                  </a:txBody>
                  <a:tcPr anchor="ctr" marL="73152" marR="54864" marT="27432" marB="27432">
                    <a:solidFill>
                      <a:srgbClr val="EEF3F8"/>
                    </a:solidFill>
                  </a:tcPr>
                </a:tc>
                <a:tc>
                  <a:txBody>
                    <a:bodyPr wrap="square"/>
                    <a:lstStyle/>
                    <a:p>
                      <a:r>
                        <a:rPr sz="1100">
                          <a:solidFill>
                            <a:srgbClr val="1A1A1A"/>
                          </a:solidFill>
                        </a:rPr>
                        <a:t>Simpler, cheaper, 'good enough'</a:t>
                      </a:r>
                    </a:p>
                  </a:txBody>
                  <a:tcPr anchor="ctr" marL="73152" marR="54864" marT="27432" marB="27432">
                    <a:solidFill>
                      <a:srgbClr val="EEF3F8"/>
                    </a:solidFill>
                  </a:tcPr>
                </a:tc>
              </a:tr>
              <a:tr h="630936">
                <a:tc>
                  <a:txBody>
                    <a:bodyPr wrap="square"/>
                    <a:lstStyle/>
                    <a:p>
                      <a:r>
                        <a:rPr sz="1100" b="1">
                          <a:solidFill>
                            <a:srgbClr val="0C2B4A"/>
                          </a:solidFill>
                        </a:rPr>
                        <a:t>Who does it</a:t>
                      </a:r>
                    </a:p>
                  </a:txBody>
                  <a:tcPr anchor="ctr" marL="73152" marR="54864" marT="27432" marB="27432">
                    <a:solidFill>
                      <a:srgbClr val="FFFFFF"/>
                    </a:solidFill>
                  </a:tcPr>
                </a:tc>
                <a:tc>
                  <a:txBody>
                    <a:bodyPr wrap="square"/>
                    <a:lstStyle/>
                    <a:p>
                      <a:r>
                        <a:rPr sz="1100">
                          <a:solidFill>
                            <a:srgbClr val="1A1A1A"/>
                          </a:solidFill>
                        </a:rPr>
                        <a:t>Usually incumbents</a:t>
                      </a:r>
                    </a:p>
                  </a:txBody>
                  <a:tcPr anchor="ctr" marL="73152" marR="54864" marT="27432" marB="27432">
                    <a:solidFill>
                      <a:srgbClr val="FFFFFF"/>
                    </a:solidFill>
                  </a:tcPr>
                </a:tc>
                <a:tc>
                  <a:txBody>
                    <a:bodyPr wrap="square"/>
                    <a:lstStyle/>
                    <a:p>
                      <a:r>
                        <a:rPr sz="1100">
                          <a:solidFill>
                            <a:srgbClr val="1A1A1A"/>
                          </a:solidFill>
                        </a:rPr>
                        <a:t>Usually new entrants</a:t>
                      </a:r>
                    </a:p>
                  </a:txBody>
                  <a:tcPr anchor="ctr" marL="73152" marR="54864" marT="27432" marB="27432">
                    <a:solidFill>
                      <a:srgbClr val="FFFFFF"/>
                    </a:solidFill>
                  </a:tcPr>
                </a:tc>
              </a:tr>
              <a:tr h="630936">
                <a:tc>
                  <a:txBody>
                    <a:bodyPr wrap="square"/>
                    <a:lstStyle/>
                    <a:p>
                      <a:r>
                        <a:rPr sz="1100" b="1">
                          <a:solidFill>
                            <a:srgbClr val="0C2B4A"/>
                          </a:solidFill>
                        </a:rPr>
                        <a:t>Price</a:t>
                      </a:r>
                    </a:p>
                  </a:txBody>
                  <a:tcPr anchor="ctr" marL="73152" marR="54864" marT="27432" marB="27432">
                    <a:solidFill>
                      <a:srgbClr val="EEF3F8"/>
                    </a:solidFill>
                  </a:tcPr>
                </a:tc>
                <a:tc>
                  <a:txBody>
                    <a:bodyPr wrap="square"/>
                    <a:lstStyle/>
                    <a:p>
                      <a:r>
                        <a:rPr sz="1100">
                          <a:solidFill>
                            <a:srgbClr val="1A1A1A"/>
                          </a:solidFill>
                        </a:rPr>
                        <a:t>Same or higher</a:t>
                      </a:r>
                    </a:p>
                  </a:txBody>
                  <a:tcPr anchor="ctr" marL="73152" marR="54864" marT="27432" marB="27432">
                    <a:solidFill>
                      <a:srgbClr val="EEF3F8"/>
                    </a:solidFill>
                  </a:tcPr>
                </a:tc>
                <a:tc>
                  <a:txBody>
                    <a:bodyPr wrap="square"/>
                    <a:lstStyle/>
                    <a:p>
                      <a:r>
                        <a:rPr sz="1100">
                          <a:solidFill>
                            <a:srgbClr val="1A1A1A"/>
                          </a:solidFill>
                        </a:rPr>
                        <a:t>Lower / more accessible</a:t>
                      </a:r>
                    </a:p>
                  </a:txBody>
                  <a:tcPr anchor="ctr" marL="73152" marR="54864" marT="27432" marB="27432">
                    <a:solidFill>
                      <a:srgbClr val="EEF3F8"/>
                    </a:solidFill>
                  </a:tcPr>
                </a:tc>
              </a:tr>
              <a:tr h="630936">
                <a:tc>
                  <a:txBody>
                    <a:bodyPr wrap="square"/>
                    <a:lstStyle/>
                    <a:p>
                      <a:r>
                        <a:rPr sz="1100" b="1">
                          <a:solidFill>
                            <a:srgbClr val="0C2B4A"/>
                          </a:solidFill>
                        </a:rPr>
                        <a:t>Trajectory</a:t>
                      </a:r>
                    </a:p>
                  </a:txBody>
                  <a:tcPr anchor="ctr" marL="73152" marR="54864" marT="27432" marB="27432">
                    <a:solidFill>
                      <a:srgbClr val="FFFFFF"/>
                    </a:solidFill>
                  </a:tcPr>
                </a:tc>
                <a:tc>
                  <a:txBody>
                    <a:bodyPr wrap="square"/>
                    <a:lstStyle/>
                    <a:p>
                      <a:r>
                        <a:rPr sz="1100">
                          <a:solidFill>
                            <a:srgbClr val="1A1A1A"/>
                          </a:solidFill>
                        </a:rPr>
                        <a:t>Steady improvement</a:t>
                      </a:r>
                    </a:p>
                  </a:txBody>
                  <a:tcPr anchor="ctr" marL="73152" marR="54864" marT="27432" marB="27432">
                    <a:solidFill>
                      <a:srgbClr val="FFFFFF"/>
                    </a:solidFill>
                  </a:tcPr>
                </a:tc>
                <a:tc>
                  <a:txBody>
                    <a:bodyPr wrap="square"/>
                    <a:lstStyle/>
                    <a:p>
                      <a:r>
                        <a:rPr sz="1100">
                          <a:solidFill>
                            <a:srgbClr val="1A1A1A"/>
                          </a:solidFill>
                        </a:rPr>
                        <a:t>Enters low, then climbs to overtake</a:t>
                      </a:r>
                    </a:p>
                  </a:txBody>
                  <a:tcPr anchor="ctr" marL="73152" marR="54864" marT="27432" marB="27432">
                    <a:solidFill>
                      <a:srgbClr val="FFFFFF"/>
                    </a:solidFill>
                  </a:tcPr>
                </a:tc>
              </a:tr>
              <a:tr h="630936">
                <a:tc>
                  <a:txBody>
                    <a:bodyPr wrap="square"/>
                    <a:lstStyle/>
                    <a:p>
                      <a:r>
                        <a:rPr sz="1100" b="1">
                          <a:solidFill>
                            <a:srgbClr val="0C2B4A"/>
                          </a:solidFill>
                        </a:rPr>
                        <a:t>Example</a:t>
                      </a:r>
                    </a:p>
                  </a:txBody>
                  <a:tcPr anchor="ctr" marL="73152" marR="54864" marT="27432" marB="27432">
                    <a:solidFill>
                      <a:srgbClr val="EEF3F8"/>
                    </a:solidFill>
                  </a:tcPr>
                </a:tc>
                <a:tc>
                  <a:txBody>
                    <a:bodyPr wrap="square"/>
                    <a:lstStyle/>
                    <a:p>
                      <a:r>
                        <a:rPr sz="1100">
                          <a:solidFill>
                            <a:srgbClr val="1A1A1A"/>
                          </a:solidFill>
                        </a:rPr>
                        <a:t>Yearly phone camera upgrade</a:t>
                      </a:r>
                    </a:p>
                  </a:txBody>
                  <a:tcPr anchor="ctr" marL="73152" marR="54864" marT="27432" marB="27432">
                    <a:solidFill>
                      <a:srgbClr val="EEF3F8"/>
                    </a:solidFill>
                  </a:tcPr>
                </a:tc>
                <a:tc>
                  <a:txBody>
                    <a:bodyPr wrap="square"/>
                    <a:lstStyle/>
                    <a:p>
                      <a:r>
                        <a:rPr sz="1100">
                          <a:solidFill>
                            <a:srgbClr val="1A1A1A"/>
                          </a:solidFill>
                        </a:rPr>
                        <a:t>eSewa vs bank queues; Netflix vs cable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Incumbents win at sustaining innovation but are blindsided by disruption because the newcomer looks too cheap/basic to matter — until it climbs. This is why 'good enough &amp; cheap' beats 'better &amp; pricey' in digital markets.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142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Innovation != Invention; Sustaining vs Disruptive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eSewa invented nothing new technically — QR, internet, and phones already existed — but it INNOVATED by turning them into a payment service millions use, creating real value. It was also DISRUPTIVE: a simpler, cheaper alternative to bank queues that started with small top-ups and bills, then climbed to serious payments. Banks did sustaining innovation (better branch apps) and were caught off guard by the 'good-enough' wallet.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"Innovation means inventing brand-new technology." Innovation is creating VALUE people use, which often reuses existing tech in a new context or business model — eSewa invented nothing but changed everything. And the dangerous kind is disruptive: a cheap, 'good-enough' entrant that looks unthreatening until it climbs and overtakes the incumbent.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innovation is creating new value — in products, processes, services, or business models — using digital technology. Innovation is not invention: invention creates a new technology, while innovation turns an idea into value people actually use (often reusing existing tech). It comes in two strategic kinds: sustaining (improving an existing product for existing customers) and disruptive (a cheaper, simpler, 'good-enough' entrant that starts at the low end and rises to overtake incumbents — Christensen). eSewa is both an innovation and a disruptor.</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innovation != invention · value not just tech · sustaining vs disruptive · low-end entry · Christensen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73 / 142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Six Types of Digital Innovation</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 innovation shows up in six types. PRODUCT (a new/improved offering — a smart device). PROCESS (a better way of doing work — automated warehousing). BUSINESS-MODEL (a new way to create/capture value — subscription instead of sale). SERVICE (a new service experience — online support, streaming). MARKETING (new ways to reach/engage customers — social, influencer). ORGANIZATIONAL (new internal structures/culture — agile teams, remote work). The most powerful digital shifts are usually business-model innovations, not just product ones.</a:t>
            </a:r>
          </a:p>
          <a:p>
            <a:pPr>
              <a:spcAft>
                <a:spcPts val="500"/>
              </a:spcAft>
            </a:pPr>
            <a:r>
              <a:rPr sz="1200" b="1">
                <a:solidFill>
                  <a:srgbClr val="185FA5"/>
                </a:solidFill>
              </a:rPr>
              <a:t>HOW IT WORKS</a:t>
            </a:r>
          </a:p>
          <a:p>
            <a:pPr>
              <a:spcAft>
                <a:spcPts val="600"/>
              </a:spcAft>
            </a:pPr>
            <a:r>
              <a:rPr sz="1400">
                <a:solidFill>
                  <a:srgbClr val="1A1A1A"/>
                </a:solidFill>
              </a:rPr>
              <a:t>•  Product &amp; process: what you offer, and how you make/deliver it.</a:t>
            </a:r>
          </a:p>
          <a:p>
            <a:pPr>
              <a:spcAft>
                <a:spcPts val="600"/>
              </a:spcAft>
            </a:pPr>
            <a:r>
              <a:rPr sz="1400">
                <a:solidFill>
                  <a:srgbClr val="1A1A1A"/>
                </a:solidFill>
              </a:rPr>
              <a:t>•  Business-model &amp; service: how you create/capture value, and the experience delivered.</a:t>
            </a:r>
          </a:p>
          <a:p>
            <a:pPr>
              <a:spcAft>
                <a:spcPts val="600"/>
              </a:spcAft>
            </a:pPr>
            <a:r>
              <a:rPr sz="1400">
                <a:solidFill>
                  <a:srgbClr val="1A1A1A"/>
                </a:solidFill>
              </a:rPr>
              <a:t>•  Marketing &amp; organizational: how you reach customers, and how you're structured inside.</a:t>
            </a:r>
          </a:p>
          <a:p>
            <a:pPr>
              <a:spcAft>
                <a:spcPts val="600"/>
              </a:spcAft>
            </a:pPr>
            <a:r>
              <a:rPr sz="1400">
                <a:solidFill>
                  <a:srgbClr val="1A1A1A"/>
                </a:solidFill>
              </a:rPr>
              <a:t>•  Business-model innovation often matters most digitally (subscription, platform, freemium).</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Six types: product · process · business-model · service · marketing · organizational.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74 / 142</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6 types of digital innovation — Nepal &amp; global</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775857"/>
                <a:gridCol w="3918857"/>
                <a:gridCol w="4735285"/>
              </a:tblGrid>
              <a:tr h="630936">
                <a:tc>
                  <a:txBody>
                    <a:bodyPr wrap="square"/>
                    <a:lstStyle/>
                    <a:p>
                      <a:r>
                        <a:rPr sz="1100" b="1">
                          <a:solidFill>
                            <a:srgbClr val="FFFFFF"/>
                          </a:solidFill>
                        </a:rPr>
                        <a:t>Type</a:t>
                      </a:r>
                    </a:p>
                  </a:txBody>
                  <a:tcPr anchor="ctr" marL="73152" marR="54864" marT="27432" marB="27432">
                    <a:solidFill>
                      <a:srgbClr val="0C2B4A"/>
                    </a:solidFill>
                  </a:tcPr>
                </a:tc>
                <a:tc>
                  <a:txBody>
                    <a:bodyPr wrap="square"/>
                    <a:lstStyle/>
                    <a:p>
                      <a:r>
                        <a:rPr sz="1100" b="1">
                          <a:solidFill>
                            <a:srgbClr val="FFFFFF"/>
                          </a:solidFill>
                        </a:rPr>
                        <a:t>What changes</a:t>
                      </a:r>
                    </a:p>
                  </a:txBody>
                  <a:tcPr anchor="ctr" marL="73152" marR="54864" marT="27432" marB="27432">
                    <a:solidFill>
                      <a:srgbClr val="0C2B4A"/>
                    </a:solidFill>
                  </a:tcPr>
                </a:tc>
                <a:tc>
                  <a:txBody>
                    <a:bodyPr wrap="square"/>
                    <a:lstStyle/>
                    <a:p>
                      <a:r>
                        <a:rPr sz="1100" b="1">
                          <a:solidFill>
                            <a:srgbClr val="FFFFFF"/>
                          </a:solidFill>
                        </a:rPr>
                        <a:t>Example</a:t>
                      </a:r>
                    </a:p>
                  </a:txBody>
                  <a:tcPr anchor="ctr" marL="73152" marR="54864" marT="27432" marB="27432">
                    <a:solidFill>
                      <a:srgbClr val="0C2B4A"/>
                    </a:solidFill>
                  </a:tcPr>
                </a:tc>
              </a:tr>
              <a:tr h="630936">
                <a:tc>
                  <a:txBody>
                    <a:bodyPr wrap="square"/>
                    <a:lstStyle/>
                    <a:p>
                      <a:r>
                        <a:rPr sz="1050" b="1">
                          <a:solidFill>
                            <a:srgbClr val="0C2B4A"/>
                          </a:solidFill>
                        </a:rPr>
                        <a:t>Product</a:t>
                      </a:r>
                    </a:p>
                  </a:txBody>
                  <a:tcPr anchor="ctr" marL="73152" marR="54864" marT="27432" marB="27432">
                    <a:solidFill>
                      <a:srgbClr val="FFFFFF"/>
                    </a:solidFill>
                  </a:tcPr>
                </a:tc>
                <a:tc>
                  <a:txBody>
                    <a:bodyPr wrap="square"/>
                    <a:lstStyle/>
                    <a:p>
                      <a:r>
                        <a:rPr sz="1050">
                          <a:solidFill>
                            <a:srgbClr val="1A1A1A"/>
                          </a:solidFill>
                        </a:rPr>
                        <a:t>A new/improved offering</a:t>
                      </a:r>
                    </a:p>
                  </a:txBody>
                  <a:tcPr anchor="ctr" marL="73152" marR="54864" marT="27432" marB="27432">
                    <a:solidFill>
                      <a:srgbClr val="FFFFFF"/>
                    </a:solidFill>
                  </a:tcPr>
                </a:tc>
                <a:tc>
                  <a:txBody>
                    <a:bodyPr wrap="square"/>
                    <a:lstStyle/>
                    <a:p>
                      <a:r>
                        <a:rPr sz="1050">
                          <a:solidFill>
                            <a:srgbClr val="1A1A1A"/>
                          </a:solidFill>
                        </a:rPr>
                        <a:t>Smart devices; a new app feature</a:t>
                      </a:r>
                    </a:p>
                  </a:txBody>
                  <a:tcPr anchor="ctr" marL="73152" marR="54864" marT="27432" marB="27432">
                    <a:solidFill>
                      <a:srgbClr val="FFFFFF"/>
                    </a:solidFill>
                  </a:tcPr>
                </a:tc>
              </a:tr>
              <a:tr h="630936">
                <a:tc>
                  <a:txBody>
                    <a:bodyPr wrap="square"/>
                    <a:lstStyle/>
                    <a:p>
                      <a:r>
                        <a:rPr sz="1050" b="1">
                          <a:solidFill>
                            <a:srgbClr val="0C2B4A"/>
                          </a:solidFill>
                        </a:rPr>
                        <a:t>Process</a:t>
                      </a:r>
                    </a:p>
                  </a:txBody>
                  <a:tcPr anchor="ctr" marL="73152" marR="54864" marT="27432" marB="27432">
                    <a:solidFill>
                      <a:srgbClr val="EEF3F8"/>
                    </a:solidFill>
                  </a:tcPr>
                </a:tc>
                <a:tc>
                  <a:txBody>
                    <a:bodyPr wrap="square"/>
                    <a:lstStyle/>
                    <a:p>
                      <a:r>
                        <a:rPr sz="1050">
                          <a:solidFill>
                            <a:srgbClr val="1A1A1A"/>
                          </a:solidFill>
                        </a:rPr>
                        <a:t>A better way of working</a:t>
                      </a:r>
                    </a:p>
                  </a:txBody>
                  <a:tcPr anchor="ctr" marL="73152" marR="54864" marT="27432" marB="27432">
                    <a:solidFill>
                      <a:srgbClr val="EEF3F8"/>
                    </a:solidFill>
                  </a:tcPr>
                </a:tc>
                <a:tc>
                  <a:txBody>
                    <a:bodyPr wrap="square"/>
                    <a:lstStyle/>
                    <a:p>
                      <a:r>
                        <a:rPr sz="1050">
                          <a:solidFill>
                            <a:srgbClr val="1A1A1A"/>
                          </a:solidFill>
                        </a:rPr>
                        <a:t>Daraz automated warehousing; e-invoicing</a:t>
                      </a:r>
                    </a:p>
                  </a:txBody>
                  <a:tcPr anchor="ctr" marL="73152" marR="54864" marT="27432" marB="27432">
                    <a:solidFill>
                      <a:srgbClr val="EEF3F8"/>
                    </a:solidFill>
                  </a:tcPr>
                </a:tc>
              </a:tr>
              <a:tr h="630936">
                <a:tc>
                  <a:txBody>
                    <a:bodyPr wrap="square"/>
                    <a:lstStyle/>
                    <a:p>
                      <a:r>
                        <a:rPr sz="1050" b="1">
                          <a:solidFill>
                            <a:srgbClr val="0C2B4A"/>
                          </a:solidFill>
                        </a:rPr>
                        <a:t>Business-model</a:t>
                      </a:r>
                    </a:p>
                  </a:txBody>
                  <a:tcPr anchor="ctr" marL="73152" marR="54864" marT="27432" marB="27432">
                    <a:solidFill>
                      <a:srgbClr val="FFFFFF"/>
                    </a:solidFill>
                  </a:tcPr>
                </a:tc>
                <a:tc>
                  <a:txBody>
                    <a:bodyPr wrap="square"/>
                    <a:lstStyle/>
                    <a:p>
                      <a:r>
                        <a:rPr sz="1050">
                          <a:solidFill>
                            <a:srgbClr val="1A1A1A"/>
                          </a:solidFill>
                        </a:rPr>
                        <a:t>New way to create/capture value</a:t>
                      </a:r>
                    </a:p>
                  </a:txBody>
                  <a:tcPr anchor="ctr" marL="73152" marR="54864" marT="27432" marB="27432">
                    <a:solidFill>
                      <a:srgbClr val="FFFFFF"/>
                    </a:solidFill>
                  </a:tcPr>
                </a:tc>
                <a:tc>
                  <a:txBody>
                    <a:bodyPr wrap="square"/>
                    <a:lstStyle/>
                    <a:p>
                      <a:r>
                        <a:rPr sz="1050">
                          <a:solidFill>
                            <a:srgbClr val="1A1A1A"/>
                          </a:solidFill>
                        </a:rPr>
                        <a:t>Netflix subscription; eSewa wallet model</a:t>
                      </a:r>
                    </a:p>
                  </a:txBody>
                  <a:tcPr anchor="ctr" marL="73152" marR="54864" marT="27432" marB="27432">
                    <a:solidFill>
                      <a:srgbClr val="FFFFFF"/>
                    </a:solidFill>
                  </a:tcPr>
                </a:tc>
              </a:tr>
              <a:tr h="630936">
                <a:tc>
                  <a:txBody>
                    <a:bodyPr wrap="square"/>
                    <a:lstStyle/>
                    <a:p>
                      <a:r>
                        <a:rPr sz="1050" b="1">
                          <a:solidFill>
                            <a:srgbClr val="0C2B4A"/>
                          </a:solidFill>
                        </a:rPr>
                        <a:t>Service</a:t>
                      </a:r>
                    </a:p>
                  </a:txBody>
                  <a:tcPr anchor="ctr" marL="73152" marR="54864" marT="27432" marB="27432">
                    <a:solidFill>
                      <a:srgbClr val="EEF3F8"/>
                    </a:solidFill>
                  </a:tcPr>
                </a:tc>
                <a:tc>
                  <a:txBody>
                    <a:bodyPr wrap="square"/>
                    <a:lstStyle/>
                    <a:p>
                      <a:r>
                        <a:rPr sz="1050">
                          <a:solidFill>
                            <a:srgbClr val="1A1A1A"/>
                          </a:solidFill>
                        </a:rPr>
                        <a:t>A new service experience</a:t>
                      </a:r>
                    </a:p>
                  </a:txBody>
                  <a:tcPr anchor="ctr" marL="73152" marR="54864" marT="27432" marB="27432">
                    <a:solidFill>
                      <a:srgbClr val="EEF3F8"/>
                    </a:solidFill>
                  </a:tcPr>
                </a:tc>
                <a:tc>
                  <a:txBody>
                    <a:bodyPr wrap="square"/>
                    <a:lstStyle/>
                    <a:p>
                      <a:r>
                        <a:rPr sz="1050">
                          <a:solidFill>
                            <a:srgbClr val="1A1A1A"/>
                          </a:solidFill>
                        </a:rPr>
                        <a:t>Online banking; streaming; e-tickets</a:t>
                      </a:r>
                    </a:p>
                  </a:txBody>
                  <a:tcPr anchor="ctr" marL="73152" marR="54864" marT="27432" marB="27432">
                    <a:solidFill>
                      <a:srgbClr val="EEF3F8"/>
                    </a:solidFill>
                  </a:tcPr>
                </a:tc>
              </a:tr>
              <a:tr h="630936">
                <a:tc>
                  <a:txBody>
                    <a:bodyPr wrap="square"/>
                    <a:lstStyle/>
                    <a:p>
                      <a:r>
                        <a:rPr sz="1050" b="1">
                          <a:solidFill>
                            <a:srgbClr val="0C2B4A"/>
                          </a:solidFill>
                        </a:rPr>
                        <a:t>Marketing</a:t>
                      </a:r>
                    </a:p>
                  </a:txBody>
                  <a:tcPr anchor="ctr" marL="73152" marR="54864" marT="27432" marB="27432">
                    <a:solidFill>
                      <a:srgbClr val="FFFFFF"/>
                    </a:solidFill>
                  </a:tcPr>
                </a:tc>
                <a:tc>
                  <a:txBody>
                    <a:bodyPr wrap="square"/>
                    <a:lstStyle/>
                    <a:p>
                      <a:r>
                        <a:rPr sz="1050">
                          <a:solidFill>
                            <a:srgbClr val="1A1A1A"/>
                          </a:solidFill>
                        </a:rPr>
                        <a:t>New ways to reach customers</a:t>
                      </a:r>
                    </a:p>
                  </a:txBody>
                  <a:tcPr anchor="ctr" marL="73152" marR="54864" marT="27432" marB="27432">
                    <a:solidFill>
                      <a:srgbClr val="FFFFFF"/>
                    </a:solidFill>
                  </a:tcPr>
                </a:tc>
                <a:tc>
                  <a:txBody>
                    <a:bodyPr wrap="square"/>
                    <a:lstStyle/>
                    <a:p>
                      <a:r>
                        <a:rPr sz="1050">
                          <a:solidFill>
                            <a:srgbClr val="1A1A1A"/>
                          </a:solidFill>
                        </a:rPr>
                        <a:t>TikTok/influencer marketing; app cashback</a:t>
                      </a:r>
                    </a:p>
                  </a:txBody>
                  <a:tcPr anchor="ctr" marL="73152" marR="54864" marT="27432" marB="27432">
                    <a:solidFill>
                      <a:srgbClr val="FFFFFF"/>
                    </a:solidFill>
                  </a:tcPr>
                </a:tc>
              </a:tr>
              <a:tr h="630936">
                <a:tc>
                  <a:txBody>
                    <a:bodyPr wrap="square"/>
                    <a:lstStyle/>
                    <a:p>
                      <a:r>
                        <a:rPr sz="1050" b="1">
                          <a:solidFill>
                            <a:srgbClr val="0C2B4A"/>
                          </a:solidFill>
                        </a:rPr>
                        <a:t>Organizational</a:t>
                      </a:r>
                    </a:p>
                  </a:txBody>
                  <a:tcPr anchor="ctr" marL="73152" marR="54864" marT="27432" marB="27432">
                    <a:solidFill>
                      <a:srgbClr val="EEF3F8"/>
                    </a:solidFill>
                  </a:tcPr>
                </a:tc>
                <a:tc>
                  <a:txBody>
                    <a:bodyPr wrap="square"/>
                    <a:lstStyle/>
                    <a:p>
                      <a:r>
                        <a:rPr sz="1050">
                          <a:solidFill>
                            <a:srgbClr val="1A1A1A"/>
                          </a:solidFill>
                        </a:rPr>
                        <a:t>New internal structure/culture</a:t>
                      </a:r>
                    </a:p>
                  </a:txBody>
                  <a:tcPr anchor="ctr" marL="73152" marR="54864" marT="27432" marB="27432">
                    <a:solidFill>
                      <a:srgbClr val="EEF3F8"/>
                    </a:solidFill>
                  </a:tcPr>
                </a:tc>
                <a:tc>
                  <a:txBody>
                    <a:bodyPr wrap="square"/>
                    <a:lstStyle/>
                    <a:p>
                      <a:r>
                        <a:rPr sz="1050">
                          <a:solidFill>
                            <a:srgbClr val="1A1A1A"/>
                          </a:solidFill>
                        </a:rPr>
                        <a:t>Agile teams; remote work; digital HR</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single company often innovates on several types at once. The type that reshapes an industry is usually business-model innovation (S22) — changing HOW value is earned, not just WHAT is sold.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75 / 142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Six Types of Digital Innovation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Daraz shows several types: automated warehousing (process), app features and recommendations (product), a marketplace-commission model (business-model), buyer protection &amp; returns (service), festival cashback campaigns (marketing), and agile internal teams (organizational). The biggest lever, though, was business-model innovation — the marketplace model itself — not any single feature. Netflix likewise won on its subscription business model, not one product tweak.</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"Innovation just means new products/features." Product is only one of six types — process, business-model, service, marketing, and organizational innovation matter too, and business-model innovation often reshapes whole industries (subscription, platform). Focusing only on product features misses the innovations that actually move markets.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innovation appears in six types: product (a new/improved offering), process (a better way of working), business-model (a new way to create/capture value), service (a new service experience), marketing (new ways to reach customers), and organizational (new internal structure/culture). A firm often innovates on several at once, but the most powerful digital shifts are usually business-model innovations (subscription, platform, freemium) rather than single product features.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product · process · business-model · service · marketing · organizational · business-model matters most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76 / 142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Enablers, the Process &amp; Nepal's Challenges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Six technologies enable most digital innovation: AI, IoT, cloud, big data, AR, and VR. The innovation PROCESS runs ideation (spot a problem/idea) -&gt; MVP (build a minimum viable product to test) -&gt; scale (grow what works). But innovation faces challenges — especially in Nepal: limited funding/venture capital, small market size, talent and skills gaps, weak digital infrastructure outside cities, regulatory uncertainty, and low digital/financial literacy. Innovation is about CONTEXT, not just technology — an idea must fit Nepal's realities.</a:t>
            </a:r>
          </a:p>
          <a:p>
            <a:pPr>
              <a:spcAft>
                <a:spcPts val="500"/>
              </a:spcAft>
            </a:pPr>
            <a:r>
              <a:rPr sz="1200" b="1">
                <a:solidFill>
                  <a:srgbClr val="185FA5"/>
                </a:solidFill>
              </a:rPr>
              <a:t>HOW IT WORKS</a:t>
            </a:r>
          </a:p>
          <a:p>
            <a:pPr>
              <a:spcAft>
                <a:spcPts val="600"/>
              </a:spcAft>
            </a:pPr>
            <a:r>
              <a:rPr sz="1400">
                <a:solidFill>
                  <a:srgbClr val="1A1A1A"/>
                </a:solidFill>
              </a:rPr>
              <a:t>•  Enablers: AI, IoT, cloud, big data, AR, VR — the toolkit of digital innovation.</a:t>
            </a:r>
          </a:p>
          <a:p>
            <a:pPr>
              <a:spcAft>
                <a:spcPts val="600"/>
              </a:spcAft>
            </a:pPr>
            <a:r>
              <a:rPr sz="1400">
                <a:solidFill>
                  <a:srgbClr val="1A1A1A"/>
                </a:solidFill>
              </a:rPr>
              <a:t>•  Process: ideation -&gt; MVP (test cheaply) -&gt; scale (grow what works).</a:t>
            </a:r>
          </a:p>
          <a:p>
            <a:pPr>
              <a:spcAft>
                <a:spcPts val="600"/>
              </a:spcAft>
            </a:pPr>
            <a:r>
              <a:rPr sz="1400">
                <a:solidFill>
                  <a:srgbClr val="1A1A1A"/>
                </a:solidFill>
              </a:rPr>
              <a:t>•  Nepal challenges: funding, small market, talent gap, weak rural infra, regulation, literacy.</a:t>
            </a:r>
          </a:p>
          <a:p>
            <a:pPr>
              <a:spcAft>
                <a:spcPts val="600"/>
              </a:spcAft>
            </a:pPr>
            <a:r>
              <a:rPr sz="1400">
                <a:solidFill>
                  <a:srgbClr val="1A1A1A"/>
                </a:solidFill>
              </a:rPr>
              <a:t>•  Innovation is about CONTEXT — fitting the idea to local realities, not copying Silicon Valley.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Enablers: AI/IoT/cloud/big data/AR/VR. Process: ideation -&gt; MVP -&gt; scale. Nepal: funding, market, talent, infra, regulation.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77 / 142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Innovation challenges — general vs Nepal-specific</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50434"/>
                <a:gridCol w="3809999"/>
                <a:gridCol w="4969565"/>
              </a:tblGrid>
              <a:tr h="630936">
                <a:tc>
                  <a:txBody>
                    <a:bodyPr wrap="square"/>
                    <a:lstStyle/>
                    <a:p>
                      <a:r>
                        <a:rPr sz="1100" b="1">
                          <a:solidFill>
                            <a:srgbClr val="FFFFFF"/>
                          </a:solidFill>
                        </a:rPr>
                        <a:t>Challenge</a:t>
                      </a:r>
                    </a:p>
                  </a:txBody>
                  <a:tcPr anchor="ctr" marL="73152" marR="54864" marT="27432" marB="27432">
                    <a:solidFill>
                      <a:srgbClr val="0C2B4A"/>
                    </a:solidFill>
                  </a:tcPr>
                </a:tc>
                <a:tc>
                  <a:txBody>
                    <a:bodyPr wrap="square"/>
                    <a:lstStyle/>
                    <a:p>
                      <a:r>
                        <a:rPr sz="1100" b="1">
                          <a:solidFill>
                            <a:srgbClr val="FFFFFF"/>
                          </a:solidFill>
                        </a:rPr>
                        <a:t>General</a:t>
                      </a:r>
                    </a:p>
                  </a:txBody>
                  <a:tcPr anchor="ctr" marL="73152" marR="54864" marT="27432" marB="27432">
                    <a:solidFill>
                      <a:srgbClr val="0C2B4A"/>
                    </a:solidFill>
                  </a:tcPr>
                </a:tc>
                <a:tc>
                  <a:txBody>
                    <a:bodyPr wrap="square"/>
                    <a:lstStyle/>
                    <a:p>
                      <a:r>
                        <a:rPr sz="1100" b="1">
                          <a:solidFill>
                            <a:srgbClr val="FFFFFF"/>
                          </a:solidFill>
                        </a:rPr>
                        <a:t>Nepal-specific angle</a:t>
                      </a:r>
                    </a:p>
                  </a:txBody>
                  <a:tcPr anchor="ctr" marL="73152" marR="54864" marT="27432" marB="27432">
                    <a:solidFill>
                      <a:srgbClr val="0C2B4A"/>
                    </a:solidFill>
                  </a:tcPr>
                </a:tc>
              </a:tr>
              <a:tr h="630936">
                <a:tc>
                  <a:txBody>
                    <a:bodyPr wrap="square"/>
                    <a:lstStyle/>
                    <a:p>
                      <a:r>
                        <a:rPr sz="1050" b="1">
                          <a:solidFill>
                            <a:srgbClr val="0C2B4A"/>
                          </a:solidFill>
                        </a:rPr>
                        <a:t>Funding</a:t>
                      </a:r>
                    </a:p>
                  </a:txBody>
                  <a:tcPr anchor="ctr" marL="73152" marR="54864" marT="27432" marB="27432">
                    <a:solidFill>
                      <a:srgbClr val="FFFFFF"/>
                    </a:solidFill>
                  </a:tcPr>
                </a:tc>
                <a:tc>
                  <a:txBody>
                    <a:bodyPr wrap="square"/>
                    <a:lstStyle/>
                    <a:p>
                      <a:r>
                        <a:rPr sz="1050">
                          <a:solidFill>
                            <a:srgbClr val="1A1A1A"/>
                          </a:solidFill>
                        </a:rPr>
                        <a:t>Scaling needs capital</a:t>
                      </a:r>
                    </a:p>
                  </a:txBody>
                  <a:tcPr anchor="ctr" marL="73152" marR="54864" marT="27432" marB="27432">
                    <a:solidFill>
                      <a:srgbClr val="FFFFFF"/>
                    </a:solidFill>
                  </a:tcPr>
                </a:tc>
                <a:tc>
                  <a:txBody>
                    <a:bodyPr wrap="square"/>
                    <a:lstStyle/>
                    <a:p>
                      <a:r>
                        <a:rPr sz="1050">
                          <a:solidFill>
                            <a:srgbClr val="1A1A1A"/>
                          </a:solidFill>
                        </a:rPr>
                        <a:t>Thin VC/angel ecosystem; hard to raise</a:t>
                      </a:r>
                    </a:p>
                  </a:txBody>
                  <a:tcPr anchor="ctr" marL="73152" marR="54864" marT="27432" marB="27432">
                    <a:solidFill>
                      <a:srgbClr val="FFFFFF"/>
                    </a:solidFill>
                  </a:tcPr>
                </a:tc>
              </a:tr>
              <a:tr h="630936">
                <a:tc>
                  <a:txBody>
                    <a:bodyPr wrap="square"/>
                    <a:lstStyle/>
                    <a:p>
                      <a:r>
                        <a:rPr sz="1050" b="1">
                          <a:solidFill>
                            <a:srgbClr val="0C2B4A"/>
                          </a:solidFill>
                        </a:rPr>
                        <a:t>Market size</a:t>
                      </a:r>
                    </a:p>
                  </a:txBody>
                  <a:tcPr anchor="ctr" marL="73152" marR="54864" marT="27432" marB="27432">
                    <a:solidFill>
                      <a:srgbClr val="EEF3F8"/>
                    </a:solidFill>
                  </a:tcPr>
                </a:tc>
                <a:tc>
                  <a:txBody>
                    <a:bodyPr wrap="square"/>
                    <a:lstStyle/>
                    <a:p>
                      <a:r>
                        <a:rPr sz="1050">
                          <a:solidFill>
                            <a:srgbClr val="1A1A1A"/>
                          </a:solidFill>
                        </a:rPr>
                        <a:t>Need enough users</a:t>
                      </a:r>
                    </a:p>
                  </a:txBody>
                  <a:tcPr anchor="ctr" marL="73152" marR="54864" marT="27432" marB="27432">
                    <a:solidFill>
                      <a:srgbClr val="EEF3F8"/>
                    </a:solidFill>
                  </a:tcPr>
                </a:tc>
                <a:tc>
                  <a:txBody>
                    <a:bodyPr wrap="square"/>
                    <a:lstStyle/>
                    <a:p>
                      <a:r>
                        <a:rPr sz="1050">
                          <a:solidFill>
                            <a:srgbClr val="1A1A1A"/>
                          </a:solidFill>
                        </a:rPr>
                        <a:t>Small population; low per-capita spend</a:t>
                      </a:r>
                    </a:p>
                  </a:txBody>
                  <a:tcPr anchor="ctr" marL="73152" marR="54864" marT="27432" marB="27432">
                    <a:solidFill>
                      <a:srgbClr val="EEF3F8"/>
                    </a:solidFill>
                  </a:tcPr>
                </a:tc>
              </a:tr>
              <a:tr h="630936">
                <a:tc>
                  <a:txBody>
                    <a:bodyPr wrap="square"/>
                    <a:lstStyle/>
                    <a:p>
                      <a:r>
                        <a:rPr sz="1050" b="1">
                          <a:solidFill>
                            <a:srgbClr val="0C2B4A"/>
                          </a:solidFill>
                        </a:rPr>
                        <a:t>Talent</a:t>
                      </a:r>
                    </a:p>
                  </a:txBody>
                  <a:tcPr anchor="ctr" marL="73152" marR="54864" marT="27432" marB="27432">
                    <a:solidFill>
                      <a:srgbClr val="FFFFFF"/>
                    </a:solidFill>
                  </a:tcPr>
                </a:tc>
                <a:tc>
                  <a:txBody>
                    <a:bodyPr wrap="square"/>
                    <a:lstStyle/>
                    <a:p>
                      <a:r>
                        <a:rPr sz="1050">
                          <a:solidFill>
                            <a:srgbClr val="1A1A1A"/>
                          </a:solidFill>
                        </a:rPr>
                        <a:t>Skilled builders scarce</a:t>
                      </a:r>
                    </a:p>
                  </a:txBody>
                  <a:tcPr anchor="ctr" marL="73152" marR="54864" marT="27432" marB="27432">
                    <a:solidFill>
                      <a:srgbClr val="FFFFFF"/>
                    </a:solidFill>
                  </a:tcPr>
                </a:tc>
                <a:tc>
                  <a:txBody>
                    <a:bodyPr wrap="square"/>
                    <a:lstStyle/>
                    <a:p>
                      <a:r>
                        <a:rPr sz="1050">
                          <a:solidFill>
                            <a:srgbClr val="1A1A1A"/>
                          </a:solidFill>
                        </a:rPr>
                        <a:t>Brain-drain of engineers abroad</a:t>
                      </a:r>
                    </a:p>
                  </a:txBody>
                  <a:tcPr anchor="ctr" marL="73152" marR="54864" marT="27432" marB="27432">
                    <a:solidFill>
                      <a:srgbClr val="FFFFFF"/>
                    </a:solidFill>
                  </a:tcPr>
                </a:tc>
              </a:tr>
              <a:tr h="630936">
                <a:tc>
                  <a:txBody>
                    <a:bodyPr wrap="square"/>
                    <a:lstStyle/>
                    <a:p>
                      <a:r>
                        <a:rPr sz="1050" b="1">
                          <a:solidFill>
                            <a:srgbClr val="0C2B4A"/>
                          </a:solidFill>
                        </a:rPr>
                        <a:t>Infrastructure</a:t>
                      </a:r>
                    </a:p>
                  </a:txBody>
                  <a:tcPr anchor="ctr" marL="73152" marR="54864" marT="27432" marB="27432">
                    <a:solidFill>
                      <a:srgbClr val="EEF3F8"/>
                    </a:solidFill>
                  </a:tcPr>
                </a:tc>
                <a:tc>
                  <a:txBody>
                    <a:bodyPr wrap="square"/>
                    <a:lstStyle/>
                    <a:p>
                      <a:r>
                        <a:rPr sz="1050">
                          <a:solidFill>
                            <a:srgbClr val="1A1A1A"/>
                          </a:solidFill>
                        </a:rPr>
                        <a:t>Reliable connectivity/power</a:t>
                      </a:r>
                    </a:p>
                  </a:txBody>
                  <a:tcPr anchor="ctr" marL="73152" marR="54864" marT="27432" marB="27432">
                    <a:solidFill>
                      <a:srgbClr val="EEF3F8"/>
                    </a:solidFill>
                  </a:tcPr>
                </a:tc>
                <a:tc>
                  <a:txBody>
                    <a:bodyPr wrap="square"/>
                    <a:lstStyle/>
                    <a:p>
                      <a:r>
                        <a:rPr sz="1050">
                          <a:solidFill>
                            <a:srgbClr val="1A1A1A"/>
                          </a:solidFill>
                        </a:rPr>
                        <a:t>Weak rural internet &amp; power outages</a:t>
                      </a:r>
                    </a:p>
                  </a:txBody>
                  <a:tcPr anchor="ctr" marL="73152" marR="54864" marT="27432" marB="27432">
                    <a:solidFill>
                      <a:srgbClr val="EEF3F8"/>
                    </a:solidFill>
                  </a:tcPr>
                </a:tc>
              </a:tr>
              <a:tr h="630936">
                <a:tc>
                  <a:txBody>
                    <a:bodyPr wrap="square"/>
                    <a:lstStyle/>
                    <a:p>
                      <a:r>
                        <a:rPr sz="1050" b="1">
                          <a:solidFill>
                            <a:srgbClr val="0C2B4A"/>
                          </a:solidFill>
                        </a:rPr>
                        <a:t>Regulation</a:t>
                      </a:r>
                    </a:p>
                  </a:txBody>
                  <a:tcPr anchor="ctr" marL="73152" marR="54864" marT="27432" marB="27432">
                    <a:solidFill>
                      <a:srgbClr val="FFFFFF"/>
                    </a:solidFill>
                  </a:tcPr>
                </a:tc>
                <a:tc>
                  <a:txBody>
                    <a:bodyPr wrap="square"/>
                    <a:lstStyle/>
                    <a:p>
                      <a:r>
                        <a:rPr sz="1050">
                          <a:solidFill>
                            <a:srgbClr val="1A1A1A"/>
                          </a:solidFill>
                        </a:rPr>
                        <a:t>Rules lag innovation</a:t>
                      </a:r>
                    </a:p>
                  </a:txBody>
                  <a:tcPr anchor="ctr" marL="73152" marR="54864" marT="27432" marB="27432">
                    <a:solidFill>
                      <a:srgbClr val="FFFFFF"/>
                    </a:solidFill>
                  </a:tcPr>
                </a:tc>
                <a:tc>
                  <a:txBody>
                    <a:bodyPr wrap="square"/>
                    <a:lstStyle/>
                    <a:p>
                      <a:r>
                        <a:rPr sz="1050">
                          <a:solidFill>
                            <a:srgbClr val="1A1A1A"/>
                          </a:solidFill>
                        </a:rPr>
                        <a:t>Unclear fintech/data rules; slow approvals</a:t>
                      </a:r>
                    </a:p>
                  </a:txBody>
                  <a:tcPr anchor="ctr" marL="73152" marR="54864" marT="27432" marB="27432">
                    <a:solidFill>
                      <a:srgbClr val="FFFFFF"/>
                    </a:solidFill>
                  </a:tcPr>
                </a:tc>
              </a:tr>
              <a:tr h="630936">
                <a:tc>
                  <a:txBody>
                    <a:bodyPr wrap="square"/>
                    <a:lstStyle/>
                    <a:p>
                      <a:r>
                        <a:rPr sz="1050" b="1">
                          <a:solidFill>
                            <a:srgbClr val="0C2B4A"/>
                          </a:solidFill>
                        </a:rPr>
                        <a:t>Literacy</a:t>
                      </a:r>
                    </a:p>
                  </a:txBody>
                  <a:tcPr anchor="ctr" marL="73152" marR="54864" marT="27432" marB="27432">
                    <a:solidFill>
                      <a:srgbClr val="EEF3F8"/>
                    </a:solidFill>
                  </a:tcPr>
                </a:tc>
                <a:tc>
                  <a:txBody>
                    <a:bodyPr wrap="square"/>
                    <a:lstStyle/>
                    <a:p>
                      <a:r>
                        <a:rPr sz="1050">
                          <a:solidFill>
                            <a:srgbClr val="1A1A1A"/>
                          </a:solidFill>
                        </a:rPr>
                        <a:t>Users must adopt</a:t>
                      </a:r>
                    </a:p>
                  </a:txBody>
                  <a:tcPr anchor="ctr" marL="73152" marR="54864" marT="27432" marB="27432">
                    <a:solidFill>
                      <a:srgbClr val="EEF3F8"/>
                    </a:solidFill>
                  </a:tcPr>
                </a:tc>
                <a:tc>
                  <a:txBody>
                    <a:bodyPr wrap="square"/>
                    <a:lstStyle/>
                    <a:p>
                      <a:r>
                        <a:rPr sz="1050">
                          <a:solidFill>
                            <a:srgbClr val="1A1A1A"/>
                          </a:solidFill>
                        </a:rPr>
                        <a:t>Low digital/financial literacy outside cities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Nepal's fintech (eSewa/Khalti) and agri-tech successes worked by fitting the LOCAL context — solving a real Nepali problem cheaply — rather than importing a Silicon Valley model. Innovation is context, not just technology.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78 / 142</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S21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Enablers, the Process &amp; Nepal's Challenges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agri-tech startup might use cloud + big data + mobile (enablers) to connect farmers to buyers. It follows the process: ideation (farmers get poor prices) -&gt; MVP (a simple SMS/app price service in one district) -&gt; scale. But it hits Nepal's challenges — thin funding, low rural connectivity, digital literacy. The winners fit the CONTEXT: a lightweight, SMS-friendly, cash-aware design beats a data-heavy app copied from abroad.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"With the right technology, any innovation will succeed." Technology is only the enabler; success depends on CONTEXT — funding, market size, talent, infrastructure, regulation, and literacy. In Nepal, a 'lower-tech' solution that fits local realities (SMS, cash-aware, offline-tolerant) often beats a sophisticated one copied from Silicon Valley.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Six technologies enable digital innovation: AI, IoT, cloud, big data, AR, and VR. The process runs ideation -&gt; MVP (test cheaply) -&gt; scale (grow what works). Innovation faces challenges, sharpened in Nepal: limited funding, small market, talent/brain-drain, weak rural infrastructure, regulatory uncertainty, and low digital/financial literacy. Innovation is about context, not just technology — Nepal's fintech and agri-tech win by fitting local realities, not importing models wholesale.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enablers: AI/IoT/cloud/big data/AR/VR · ideation -&gt; MVP -&gt; scale · Nepal challenges · context over technology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79 / 142</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S21 — 'Pitch a Nepali innovation'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propose one digital innovation for a real Nepali problem (agriculture, health, transport).</a:t>
            </a:r>
          </a:p>
          <a:p>
            <a:pPr>
              <a:spcAft>
                <a:spcPts val="700"/>
              </a:spcAft>
            </a:pPr>
            <a:r>
              <a:rPr sz="1550">
                <a:solidFill>
                  <a:srgbClr val="1A1A1A"/>
                </a:solidFill>
              </a:rPr>
              <a:t>•  Name its TYPE (product/process/business-model/…), its ENABLER tech, and whether it's sustaining or disruptive.</a:t>
            </a:r>
          </a:p>
          <a:p>
            <a:pPr>
              <a:spcAft>
                <a:spcPts val="700"/>
              </a:spcAft>
            </a:pPr>
            <a:r>
              <a:rPr sz="1550">
                <a:solidFill>
                  <a:srgbClr val="1A1A1A"/>
                </a:solidFill>
              </a:rPr>
              <a:t>•  Name the biggest Nepal-specific CHALLENGE it must overcome.</a:t>
            </a:r>
          </a:p>
          <a:p>
            <a:pPr>
              <a:spcAft>
                <a:spcPts val="700"/>
              </a:spcAft>
            </a:pPr>
            <a:r>
              <a:rPr sz="1550">
                <a:solidFill>
                  <a:srgbClr val="1A1A1A"/>
                </a:solidFill>
              </a:rPr>
              <a:t>•  Take 3–4 answers aloud (2 min); reward context-fit over tech sophistication.</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pitch: an SMS-based crop-price service = service + business-model innovation, enabler = cloud/big data, disruptive (cheap, good-enough), biggest challenge = rural literacy/connectivity. Reward naming type + enabler + sustaining/disruptive + a real local challenge.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80 / 142</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S21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'Innovation is not invention' means innovation is about:</a:t>
            </a:r>
          </a:p>
          <a:p>
            <a:pPr lvl="1"/>
            <a:r>
              <a:rPr sz="1500" b="1">
                <a:solidFill>
                  <a:srgbClr val="0F6E56"/>
                </a:solidFill>
              </a:rPr>
              <a:t>a) ✅ creating value people use from an idea, not just inventing the tech   b) patents only   c) pure lab research   d) copying rivals</a:t>
            </a:r>
          </a:p>
          <a:p>
            <a:pPr lvl="1">
              <a:spcBef>
                <a:spcPts val="600"/>
              </a:spcBef>
            </a:pPr>
            <a:r>
              <a:rPr sz="1500" i="1">
                <a:solidFill>
                  <a:srgbClr val="1A1A1A"/>
                </a:solidFill>
              </a:rPr>
              <a:t>     Why: invention creates a technology; innovation turns it into value people actually use.</a:t>
            </a:r>
          </a:p>
          <a:p>
            <a:pPr>
              <a:spcBef>
                <a:spcPts val="900"/>
              </a:spcBef>
            </a:pPr>
            <a:r>
              <a:rPr sz="1700" b="1">
                <a:solidFill>
                  <a:srgbClr val="0C2B4A"/>
                </a:solidFill>
              </a:rPr>
              <a:t>Q2.  A cheaper, 'good-enough' newcomer that enters low and rises to overtake incumbents is:</a:t>
            </a:r>
          </a:p>
          <a:p>
            <a:pPr lvl="1"/>
            <a:r>
              <a:rPr sz="1500" b="1">
                <a:solidFill>
                  <a:srgbClr val="0F6E56"/>
                </a:solidFill>
              </a:rPr>
              <a:t>a) sustaining innovation   b) ✅ disruptive innovation   c) invention   d) marketing innovation</a:t>
            </a:r>
          </a:p>
          <a:p>
            <a:pPr lvl="1">
              <a:spcBef>
                <a:spcPts val="600"/>
              </a:spcBef>
            </a:pPr>
            <a:r>
              <a:rPr sz="1500" i="1">
                <a:solidFill>
                  <a:srgbClr val="1A1A1A"/>
                </a:solidFill>
              </a:rPr>
              <a:t>     Why: disruptive innovation enters at the low end and climbs to displace better, pricier incumbents.</a:t>
            </a:r>
          </a:p>
          <a:p>
            <a:pPr lvl="1">
              <a:spcBef>
                <a:spcPts val="600"/>
              </a:spcBef>
            </a:pPr>
            <a:r>
              <a:rPr sz="1500" i="1">
                <a:solidFill>
                  <a:srgbClr val="1A1A1A"/>
                </a:solidFill>
              </a:rPr>
              <a:t>Discussion: name a Nepali innovation — its type, and whether it is sustaining or disruptive.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81 / 142</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S21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Digital innovation = creating value with digital tech; innovation != invention (value, not just new tech). Sustaining improves; disruptive enters cheap &amp; rises.</a:t>
            </a:r>
          </a:p>
          <a:p>
            <a:pPr>
              <a:spcAft>
                <a:spcPts val="800"/>
              </a:spcAft>
            </a:pPr>
            <a:r>
              <a:rPr sz="1500">
                <a:solidFill>
                  <a:srgbClr val="1A1A1A"/>
                </a:solidFill>
              </a:rPr>
              <a:t>2.  Six types: product, process, business-model, service, marketing, organizational — business-model innovation matters most.</a:t>
            </a:r>
          </a:p>
          <a:p>
            <a:pPr>
              <a:spcAft>
                <a:spcPts val="800"/>
              </a:spcAft>
            </a:pPr>
            <a:r>
              <a:rPr sz="1500">
                <a:solidFill>
                  <a:srgbClr val="1A1A1A"/>
                </a:solidFill>
              </a:rPr>
              <a:t>3.  Enablers: AI/IoT/cloud/big data/AR/VR; process ideation -&gt; MVP -&gt; scale; Nepal challenges make CONTEXT decisive.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Innovation is how a Nepali startup can beat a giant without out-spending it — by fitting the local context and disrupting from below. The most powerful kind, business-model innovation, is exactly the subject of the next session.</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S22 — the innovation that reshapes markets: digital business models and the value triad.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82 / 142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22 · LECTURE HOUR 7 (OF 10)</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Digital Business Models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Netflix charges a flat monthly fee; Google is free but sells ads; Daraz takes a cut of each sale; Spotify gives you free-with-ads or paid. Same internet, wildly different ways to make money. A business model is the answer to one question: how do you CREATE, DELIVER, and CAPTURE value? Let's map the ten ways digital firms do it.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83 / 142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Value Triad: Create, Deliver, Capture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business model describes how a firm creates, delivers, and captures value. CREATE value: what problem you solve and for whom (the value proposition). DELIVER value: how you get it to customers (channels, platform, logistics). CAPTURE value: how you make money from it (the revenue mechanism — subscription, commission, ads). Many digital firms are brilliant at creating and delivering value but must think hard about capture — which is why 'free' products (Unit 2) still need a money side.</a:t>
            </a:r>
          </a:p>
          <a:p>
            <a:pPr>
              <a:spcAft>
                <a:spcPts val="500"/>
              </a:spcAft>
            </a:pPr>
            <a:r>
              <a:rPr sz="1200" b="1">
                <a:solidFill>
                  <a:srgbClr val="185FA5"/>
                </a:solidFill>
              </a:rPr>
              <a:t>HOW IT WORKS</a:t>
            </a:r>
          </a:p>
          <a:p>
            <a:pPr>
              <a:spcAft>
                <a:spcPts val="600"/>
              </a:spcAft>
            </a:pPr>
            <a:r>
              <a:rPr sz="1400">
                <a:solidFill>
                  <a:srgbClr val="1A1A1A"/>
                </a:solidFill>
              </a:rPr>
              <a:t>•  Create: the value proposition — the problem solved and for whom.</a:t>
            </a:r>
          </a:p>
          <a:p>
            <a:pPr>
              <a:spcAft>
                <a:spcPts val="600"/>
              </a:spcAft>
            </a:pPr>
            <a:r>
              <a:rPr sz="1400">
                <a:solidFill>
                  <a:srgbClr val="1A1A1A"/>
                </a:solidFill>
              </a:rPr>
              <a:t>•  Deliver: channels, platform, and logistics that get value to the user.</a:t>
            </a:r>
          </a:p>
          <a:p>
            <a:pPr>
              <a:spcAft>
                <a:spcPts val="600"/>
              </a:spcAft>
            </a:pPr>
            <a:r>
              <a:rPr sz="1400">
                <a:solidFill>
                  <a:srgbClr val="1A1A1A"/>
                </a:solidFill>
              </a:rPr>
              <a:t>•  Capture: the revenue mechanism — how the created value turns into money.</a:t>
            </a:r>
          </a:p>
          <a:p>
            <a:pPr>
              <a:spcAft>
                <a:spcPts val="600"/>
              </a:spcAft>
            </a:pPr>
            <a:r>
              <a:rPr sz="1400">
                <a:solidFill>
                  <a:srgbClr val="1A1A1A"/>
                </a:solidFill>
              </a:rPr>
              <a:t>•  Digital splits create/deliver (easy, cheap) from capture (the hard design choice).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Business model = how you CREATE (proposition) + DELIVER (channels) + CAPTURE (revenue) value.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84 / 142</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value triad — with a Nepal example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612571"/>
                <a:gridCol w="3918857"/>
                <a:gridCol w="4898571"/>
              </a:tblGrid>
              <a:tr h="1104138">
                <a:tc>
                  <a:txBody>
                    <a:bodyPr wrap="square"/>
                    <a:lstStyle/>
                    <a:p>
                      <a:r>
                        <a:rPr sz="1150" b="1">
                          <a:solidFill>
                            <a:srgbClr val="FFFFFF"/>
                          </a:solidFill>
                        </a:rPr>
                        <a:t>Element</a:t>
                      </a:r>
                    </a:p>
                  </a:txBody>
                  <a:tcPr anchor="ctr" marL="73152" marR="54864" marT="27432" marB="27432">
                    <a:solidFill>
                      <a:srgbClr val="0C2B4A"/>
                    </a:solidFill>
                  </a:tcPr>
                </a:tc>
                <a:tc>
                  <a:txBody>
                    <a:bodyPr wrap="square"/>
                    <a:lstStyle/>
                    <a:p>
                      <a:r>
                        <a:rPr sz="1150" b="1">
                          <a:solidFill>
                            <a:srgbClr val="FFFFFF"/>
                          </a:solidFill>
                        </a:rPr>
                        <a:t>The question</a:t>
                      </a:r>
                    </a:p>
                  </a:txBody>
                  <a:tcPr anchor="ctr" marL="73152" marR="54864" marT="27432" marB="27432">
                    <a:solidFill>
                      <a:srgbClr val="0C2B4A"/>
                    </a:solidFill>
                  </a:tcPr>
                </a:tc>
                <a:tc>
                  <a:txBody>
                    <a:bodyPr wrap="square"/>
                    <a:lstStyle/>
                    <a:p>
                      <a:r>
                        <a:rPr sz="1150" b="1">
                          <a:solidFill>
                            <a:srgbClr val="FFFFFF"/>
                          </a:solidFill>
                        </a:rPr>
                        <a:t>Foodmandu example</a:t>
                      </a:r>
                    </a:p>
                  </a:txBody>
                  <a:tcPr anchor="ctr" marL="73152" marR="54864" marT="27432" marB="27432">
                    <a:solidFill>
                      <a:srgbClr val="0C2B4A"/>
                    </a:solidFill>
                  </a:tcPr>
                </a:tc>
              </a:tr>
              <a:tr h="1104138">
                <a:tc>
                  <a:txBody>
                    <a:bodyPr wrap="square"/>
                    <a:lstStyle/>
                    <a:p>
                      <a:r>
                        <a:rPr sz="1100" b="1">
                          <a:solidFill>
                            <a:srgbClr val="0C2B4A"/>
                          </a:solidFill>
                        </a:rPr>
                        <a:t>Create value</a:t>
                      </a:r>
                    </a:p>
                  </a:txBody>
                  <a:tcPr anchor="ctr" marL="73152" marR="54864" marT="27432" marB="27432">
                    <a:solidFill>
                      <a:srgbClr val="FFFFFF"/>
                    </a:solidFill>
                  </a:tcPr>
                </a:tc>
                <a:tc>
                  <a:txBody>
                    <a:bodyPr wrap="square"/>
                    <a:lstStyle/>
                    <a:p>
                      <a:r>
                        <a:rPr sz="1100">
                          <a:solidFill>
                            <a:srgbClr val="1A1A1A"/>
                          </a:solidFill>
                        </a:rPr>
                        <a:t>What problem, for whom?</a:t>
                      </a:r>
                    </a:p>
                  </a:txBody>
                  <a:tcPr anchor="ctr" marL="73152" marR="54864" marT="27432" marB="27432">
                    <a:solidFill>
                      <a:srgbClr val="FFFFFF"/>
                    </a:solidFill>
                  </a:tcPr>
                </a:tc>
                <a:tc>
                  <a:txBody>
                    <a:bodyPr wrap="square"/>
                    <a:lstStyle/>
                    <a:p>
                      <a:r>
                        <a:rPr sz="1100">
                          <a:solidFill>
                            <a:srgbClr val="1A1A1A"/>
                          </a:solidFill>
                        </a:rPr>
                        <a:t>Get restaurant food to busy customers</a:t>
                      </a:r>
                    </a:p>
                  </a:txBody>
                  <a:tcPr anchor="ctr" marL="73152" marR="54864" marT="27432" marB="27432">
                    <a:solidFill>
                      <a:srgbClr val="FFFFFF"/>
                    </a:solidFill>
                  </a:tcPr>
                </a:tc>
              </a:tr>
              <a:tr h="1104138">
                <a:tc>
                  <a:txBody>
                    <a:bodyPr wrap="square"/>
                    <a:lstStyle/>
                    <a:p>
                      <a:r>
                        <a:rPr sz="1100" b="1">
                          <a:solidFill>
                            <a:srgbClr val="0C2B4A"/>
                          </a:solidFill>
                        </a:rPr>
                        <a:t>Deliver value</a:t>
                      </a:r>
                    </a:p>
                  </a:txBody>
                  <a:tcPr anchor="ctr" marL="73152" marR="54864" marT="27432" marB="27432">
                    <a:solidFill>
                      <a:srgbClr val="EEF3F8"/>
                    </a:solidFill>
                  </a:tcPr>
                </a:tc>
                <a:tc>
                  <a:txBody>
                    <a:bodyPr wrap="square"/>
                    <a:lstStyle/>
                    <a:p>
                      <a:r>
                        <a:rPr sz="1100">
                          <a:solidFill>
                            <a:srgbClr val="1A1A1A"/>
                          </a:solidFill>
                        </a:rPr>
                        <a:t>How does it reach the user?</a:t>
                      </a:r>
                    </a:p>
                  </a:txBody>
                  <a:tcPr anchor="ctr" marL="73152" marR="54864" marT="27432" marB="27432">
                    <a:solidFill>
                      <a:srgbClr val="EEF3F8"/>
                    </a:solidFill>
                  </a:tcPr>
                </a:tc>
                <a:tc>
                  <a:txBody>
                    <a:bodyPr wrap="square"/>
                    <a:lstStyle/>
                    <a:p>
                      <a:r>
                        <a:rPr sz="1100">
                          <a:solidFill>
                            <a:srgbClr val="1A1A1A"/>
                          </a:solidFill>
                        </a:rPr>
                        <a:t>App + rider network + live tracking</a:t>
                      </a:r>
                    </a:p>
                  </a:txBody>
                  <a:tcPr anchor="ctr" marL="73152" marR="54864" marT="27432" marB="27432">
                    <a:solidFill>
                      <a:srgbClr val="EEF3F8"/>
                    </a:solidFill>
                  </a:tcPr>
                </a:tc>
              </a:tr>
              <a:tr h="1104138">
                <a:tc>
                  <a:txBody>
                    <a:bodyPr wrap="square"/>
                    <a:lstStyle/>
                    <a:p>
                      <a:r>
                        <a:rPr sz="1100" b="1">
                          <a:solidFill>
                            <a:srgbClr val="0C2B4A"/>
                          </a:solidFill>
                        </a:rPr>
                        <a:t>Capture value</a:t>
                      </a:r>
                    </a:p>
                  </a:txBody>
                  <a:tcPr anchor="ctr" marL="73152" marR="54864" marT="27432" marB="27432">
                    <a:solidFill>
                      <a:srgbClr val="FFFFFF"/>
                    </a:solidFill>
                  </a:tcPr>
                </a:tc>
                <a:tc>
                  <a:txBody>
                    <a:bodyPr wrap="square"/>
                    <a:lstStyle/>
                    <a:p>
                      <a:r>
                        <a:rPr sz="1100">
                          <a:solidFill>
                            <a:srgbClr val="1A1A1A"/>
                          </a:solidFill>
                        </a:rPr>
                        <a:t>How is money made?</a:t>
                      </a:r>
                    </a:p>
                  </a:txBody>
                  <a:tcPr anchor="ctr" marL="73152" marR="54864" marT="27432" marB="27432">
                    <a:solidFill>
                      <a:srgbClr val="FFFFFF"/>
                    </a:solidFill>
                  </a:tcPr>
                </a:tc>
                <a:tc>
                  <a:txBody>
                    <a:bodyPr wrap="square"/>
                    <a:lstStyle/>
                    <a:p>
                      <a:r>
                        <a:rPr sz="1100">
                          <a:solidFill>
                            <a:srgbClr val="1A1A1A"/>
                          </a:solidFill>
                        </a:rPr>
                        <a:t>Commission per order + delivery fee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Every business model answers these three. Most digital firms find create and deliver relatively easy (software scales); the hard, distinctive choice is CAPTURE — which revenue mechanism, and from which side (Unit 2).</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85 / 142</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Value Triad: Create, Deliver, Capture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Foodmandu CREATES value by getting restaurant meals to busy customers, DELIVERS it via its app and rider network with live tracking, and CAPTURES it through a commission per order plus a delivery fee. Netflix creates value with content, delivers via streaming, and captures via a flat subscription. The triad shows why the same 'deliver food/video' idea can be monetised in very different ways — capture is the design choice.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business model is just how a company makes money." Making money is only the CAPTURE part. A full model also covers how value is CREATED (the proposition) and DELIVERED (channels/platform). Two firms can create and deliver the same value yet capture it differently (commission vs subscription vs ads) — capture is where models diverge.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business model describes how a firm creates, delivers, and captures value. Create = the value proposition (what problem, for whom). Deliver = the channels, platform, and logistics that get value to the customer. Capture = the revenue mechanism (subscription, commission, ads). Digital firms often find create and deliver easy but must carefully design capture — which is why even 'free' products need a money side (Unit 2). Foodmandu: create (food to customers), deliver (app + riders), capture (commission + fee).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value triad · create (proposition) · deliver (channels) · capture (revenue) · capture is the design choice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86 / 142</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10 Business Models — Part 1</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 firms mostly use ten model types. Part 1 covers the first five. PLATFORM/MARKETPLACE-adjacent models begin here: (1) PLATFORM — connect groups and take a cut (Daraz, Pathao). (2) SUBSCRIPTION — recurring fee for ongoing access (Netflix, Spotify Premium). (3) FREEMIUM — free basic tier, pay to upgrade (Spotify free vs paid, Zoom). (4) SHARING/ACCESS — pay to use, not own, an asset (Airbnb, ride/asset sharing). (5) MARKETPLACE — match many buyers and sellers, earn commission (Hamrobazar, eBay).</a:t>
            </a:r>
          </a:p>
          <a:p>
            <a:pPr>
              <a:spcAft>
                <a:spcPts val="500"/>
              </a:spcAft>
            </a:pPr>
            <a:r>
              <a:rPr sz="1200" b="1">
                <a:solidFill>
                  <a:srgbClr val="185FA5"/>
                </a:solidFill>
              </a:rPr>
              <a:t>HOW IT WORKS</a:t>
            </a:r>
          </a:p>
          <a:p>
            <a:pPr>
              <a:spcAft>
                <a:spcPts val="600"/>
              </a:spcAft>
            </a:pPr>
            <a:r>
              <a:rPr sz="1400">
                <a:solidFill>
                  <a:srgbClr val="1A1A1A"/>
                </a:solidFill>
              </a:rPr>
              <a:t>•  Platform: connect interdependent groups, capture via commission/fees (Unit 2 MSP).</a:t>
            </a:r>
          </a:p>
          <a:p>
            <a:pPr>
              <a:spcAft>
                <a:spcPts val="600"/>
              </a:spcAft>
            </a:pPr>
            <a:r>
              <a:rPr sz="1400">
                <a:solidFill>
                  <a:srgbClr val="1A1A1A"/>
                </a:solidFill>
              </a:rPr>
              <a:t>•  Subscription: recurring fee for continuous access — predictable revenue.</a:t>
            </a:r>
          </a:p>
          <a:p>
            <a:pPr>
              <a:spcAft>
                <a:spcPts val="600"/>
              </a:spcAft>
            </a:pPr>
            <a:r>
              <a:rPr sz="1400">
                <a:solidFill>
                  <a:srgbClr val="1A1A1A"/>
                </a:solidFill>
              </a:rPr>
              <a:t>•  Freemium: free base tier converts a fraction to paid — reach then upsell.</a:t>
            </a:r>
          </a:p>
          <a:p>
            <a:pPr>
              <a:spcAft>
                <a:spcPts val="600"/>
              </a:spcAft>
            </a:pPr>
            <a:r>
              <a:rPr sz="1400">
                <a:solidFill>
                  <a:srgbClr val="1A1A1A"/>
                </a:solidFill>
              </a:rPr>
              <a:t>•  Sharing &amp; marketplace: monetise access to assets / matching many sides.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Part 1: platform · subscription · freemium · sharing/access · marketplace.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87 / 142</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10 Business Models — Part 1</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Nepal: Daraz runs a PLATFORM/MARKETPLACE model (commission on sales), a gym app might use SUBSCRIPTION (monthly fee), a learning app uses FREEMIUM (free lessons, pay to unlock), and InDrive uses a SHARING/access model (pay to use a ride, not own the car). Each solves value capture differently — the same digital reach, monetised through commission, recurring fee, upsell, or usage.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"Every online business just sells things (e-commerce)." E-commerce is only one of ten models. Platform, subscription, freemium, sharing, and marketplace all capture value differently — via commission, recurring fees, upsell, or access — and most successful digital firms combine several rather than simply 'selling things'.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firms use ten model types; part 1 covers five. Platform: connect groups and take a cut (Daraz, Pathao) — an MSP (Unit 2). Subscription: recurring fee for ongoing access (Netflix, Spotify Premium). Freemium: free basic tier, pay to upgrade (Spotify, Zoom). Sharing/access: pay to use, not own, an asset (Airbnb, ride sharing). Marketplace: match many buyers and sellers for commission (Hamrobazar, eBay). Each captures value through a different mechanism.</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platform · subscription · freemium · sharing/access · marketplace · different capture mechanisms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88 / 142</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CONCEPTS 2–3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10 digital business models — revenue mechanism &amp; example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449285"/>
                <a:gridCol w="4245428"/>
                <a:gridCol w="4735285"/>
              </a:tblGrid>
              <a:tr h="736092">
                <a:tc>
                  <a:txBody>
                    <a:bodyPr wrap="square"/>
                    <a:lstStyle/>
                    <a:p>
                      <a:r>
                        <a:rPr sz="1100" b="1">
                          <a:solidFill>
                            <a:srgbClr val="FFFFFF"/>
                          </a:solidFill>
                        </a:rPr>
                        <a:t>Model</a:t>
                      </a:r>
                    </a:p>
                  </a:txBody>
                  <a:tcPr anchor="ctr" marL="73152" marR="54864" marT="27432" marB="27432">
                    <a:solidFill>
                      <a:srgbClr val="0C2B4A"/>
                    </a:solidFill>
                  </a:tcPr>
                </a:tc>
                <a:tc>
                  <a:txBody>
                    <a:bodyPr wrap="square"/>
                    <a:lstStyle/>
                    <a:p>
                      <a:r>
                        <a:rPr sz="1100" b="1">
                          <a:solidFill>
                            <a:srgbClr val="FFFFFF"/>
                          </a:solidFill>
                        </a:rPr>
                        <a:t>How it captures value</a:t>
                      </a:r>
                    </a:p>
                  </a:txBody>
                  <a:tcPr anchor="ctr" marL="73152" marR="54864" marT="27432" marB="27432">
                    <a:solidFill>
                      <a:srgbClr val="0C2B4A"/>
                    </a:solidFill>
                  </a:tcPr>
                </a:tc>
                <a:tc>
                  <a:txBody>
                    <a:bodyPr wrap="square"/>
                    <a:lstStyle/>
                    <a:p>
                      <a:r>
                        <a:rPr sz="1100" b="1">
                          <a:solidFill>
                            <a:srgbClr val="FFFFFF"/>
                          </a:solidFill>
                        </a:rPr>
                        <a:t>Example (Nepal / global)</a:t>
                      </a:r>
                    </a:p>
                  </a:txBody>
                  <a:tcPr anchor="ctr" marL="73152" marR="54864" marT="27432" marB="27432">
                    <a:solidFill>
                      <a:srgbClr val="0C2B4A"/>
                    </a:solidFill>
                  </a:tcPr>
                </a:tc>
              </a:tr>
              <a:tr h="736092">
                <a:tc>
                  <a:txBody>
                    <a:bodyPr wrap="square"/>
                    <a:lstStyle/>
                    <a:p>
                      <a:r>
                        <a:rPr sz="1050" b="1">
                          <a:solidFill>
                            <a:srgbClr val="0C2B4A"/>
                          </a:solidFill>
                        </a:rPr>
                        <a:t>Platform</a:t>
                      </a:r>
                    </a:p>
                  </a:txBody>
                  <a:tcPr anchor="ctr" marL="73152" marR="54864" marT="27432" marB="27432">
                    <a:solidFill>
                      <a:srgbClr val="FFFFFF"/>
                    </a:solidFill>
                  </a:tcPr>
                </a:tc>
                <a:tc>
                  <a:txBody>
                    <a:bodyPr wrap="square"/>
                    <a:lstStyle/>
                    <a:p>
                      <a:r>
                        <a:rPr sz="1050">
                          <a:solidFill>
                            <a:srgbClr val="1A1A1A"/>
                          </a:solidFill>
                        </a:rPr>
                        <a:t>Commission/fee on interactions</a:t>
                      </a:r>
                    </a:p>
                  </a:txBody>
                  <a:tcPr anchor="ctr" marL="73152" marR="54864" marT="27432" marB="27432">
                    <a:solidFill>
                      <a:srgbClr val="FFFFFF"/>
                    </a:solidFill>
                  </a:tcPr>
                </a:tc>
                <a:tc>
                  <a:txBody>
                    <a:bodyPr wrap="square"/>
                    <a:lstStyle/>
                    <a:p>
                      <a:r>
                        <a:rPr sz="1050">
                          <a:solidFill>
                            <a:srgbClr val="1A1A1A"/>
                          </a:solidFill>
                        </a:rPr>
                        <a:t>Pathao, Daraz / Uber, Airbnb</a:t>
                      </a:r>
                    </a:p>
                  </a:txBody>
                  <a:tcPr anchor="ctr" marL="73152" marR="54864" marT="27432" marB="27432">
                    <a:solidFill>
                      <a:srgbClr val="FFFFFF"/>
                    </a:solidFill>
                  </a:tcPr>
                </a:tc>
              </a:tr>
              <a:tr h="736092">
                <a:tc>
                  <a:txBody>
                    <a:bodyPr wrap="square"/>
                    <a:lstStyle/>
                    <a:p>
                      <a:r>
                        <a:rPr sz="1050" b="1">
                          <a:solidFill>
                            <a:srgbClr val="0C2B4A"/>
                          </a:solidFill>
                        </a:rPr>
                        <a:t>Subscription</a:t>
                      </a:r>
                    </a:p>
                  </a:txBody>
                  <a:tcPr anchor="ctr" marL="73152" marR="54864" marT="27432" marB="27432">
                    <a:solidFill>
                      <a:srgbClr val="EEF3F8"/>
                    </a:solidFill>
                  </a:tcPr>
                </a:tc>
                <a:tc>
                  <a:txBody>
                    <a:bodyPr wrap="square"/>
                    <a:lstStyle/>
                    <a:p>
                      <a:r>
                        <a:rPr sz="1050">
                          <a:solidFill>
                            <a:srgbClr val="1A1A1A"/>
                          </a:solidFill>
                        </a:rPr>
                        <a:t>Recurring fee for access</a:t>
                      </a:r>
                    </a:p>
                  </a:txBody>
                  <a:tcPr anchor="ctr" marL="73152" marR="54864" marT="27432" marB="27432">
                    <a:solidFill>
                      <a:srgbClr val="EEF3F8"/>
                    </a:solidFill>
                  </a:tcPr>
                </a:tc>
                <a:tc>
                  <a:txBody>
                    <a:bodyPr wrap="square"/>
                    <a:lstStyle/>
                    <a:p>
                      <a:r>
                        <a:rPr sz="1050">
                          <a:solidFill>
                            <a:srgbClr val="1A1A1A"/>
                          </a:solidFill>
                        </a:rPr>
                        <a:t>Netflix, Spotify Premium, SaaS</a:t>
                      </a:r>
                    </a:p>
                  </a:txBody>
                  <a:tcPr anchor="ctr" marL="73152" marR="54864" marT="27432" marB="27432">
                    <a:solidFill>
                      <a:srgbClr val="EEF3F8"/>
                    </a:solidFill>
                  </a:tcPr>
                </a:tc>
              </a:tr>
              <a:tr h="736092">
                <a:tc>
                  <a:txBody>
                    <a:bodyPr wrap="square"/>
                    <a:lstStyle/>
                    <a:p>
                      <a:r>
                        <a:rPr sz="1050" b="1">
                          <a:solidFill>
                            <a:srgbClr val="0C2B4A"/>
                          </a:solidFill>
                        </a:rPr>
                        <a:t>Freemium</a:t>
                      </a:r>
                    </a:p>
                  </a:txBody>
                  <a:tcPr anchor="ctr" marL="73152" marR="54864" marT="27432" marB="27432">
                    <a:solidFill>
                      <a:srgbClr val="FFFFFF"/>
                    </a:solidFill>
                  </a:tcPr>
                </a:tc>
                <a:tc>
                  <a:txBody>
                    <a:bodyPr wrap="square"/>
                    <a:lstStyle/>
                    <a:p>
                      <a:r>
                        <a:rPr sz="1050">
                          <a:solidFill>
                            <a:srgbClr val="1A1A1A"/>
                          </a:solidFill>
                        </a:rPr>
                        <a:t>Free base, pay to upgrade</a:t>
                      </a:r>
                    </a:p>
                  </a:txBody>
                  <a:tcPr anchor="ctr" marL="73152" marR="54864" marT="27432" marB="27432">
                    <a:solidFill>
                      <a:srgbClr val="FFFFFF"/>
                    </a:solidFill>
                  </a:tcPr>
                </a:tc>
                <a:tc>
                  <a:txBody>
                    <a:bodyPr wrap="square"/>
                    <a:lstStyle/>
                    <a:p>
                      <a:r>
                        <a:rPr sz="1050">
                          <a:solidFill>
                            <a:srgbClr val="1A1A1A"/>
                          </a:solidFill>
                        </a:rPr>
                        <a:t>Spotify free/paid, Zoom, LinkedIn</a:t>
                      </a:r>
                    </a:p>
                  </a:txBody>
                  <a:tcPr anchor="ctr" marL="73152" marR="54864" marT="27432" marB="27432">
                    <a:solidFill>
                      <a:srgbClr val="FFFFFF"/>
                    </a:solidFill>
                  </a:tcPr>
                </a:tc>
              </a:tr>
              <a:tr h="736092">
                <a:tc>
                  <a:txBody>
                    <a:bodyPr wrap="square"/>
                    <a:lstStyle/>
                    <a:p>
                      <a:r>
                        <a:rPr sz="1050" b="1">
                          <a:solidFill>
                            <a:srgbClr val="0C2B4A"/>
                          </a:solidFill>
                        </a:rPr>
                        <a:t>Sharing / access</a:t>
                      </a:r>
                    </a:p>
                  </a:txBody>
                  <a:tcPr anchor="ctr" marL="73152" marR="54864" marT="27432" marB="27432">
                    <a:solidFill>
                      <a:srgbClr val="EEF3F8"/>
                    </a:solidFill>
                  </a:tcPr>
                </a:tc>
                <a:tc>
                  <a:txBody>
                    <a:bodyPr wrap="square"/>
                    <a:lstStyle/>
                    <a:p>
                      <a:r>
                        <a:rPr sz="1050">
                          <a:solidFill>
                            <a:srgbClr val="1A1A1A"/>
                          </a:solidFill>
                        </a:rPr>
                        <a:t>Pay to use, not own</a:t>
                      </a:r>
                    </a:p>
                  </a:txBody>
                  <a:tcPr anchor="ctr" marL="73152" marR="54864" marT="27432" marB="27432">
                    <a:solidFill>
                      <a:srgbClr val="EEF3F8"/>
                    </a:solidFill>
                  </a:tcPr>
                </a:tc>
                <a:tc>
                  <a:txBody>
                    <a:bodyPr wrap="square"/>
                    <a:lstStyle/>
                    <a:p>
                      <a:r>
                        <a:rPr sz="1050">
                          <a:solidFill>
                            <a:srgbClr val="1A1A1A"/>
                          </a:solidFill>
                        </a:rPr>
                        <a:t>Airbnb, InDrive, asset sharing</a:t>
                      </a:r>
                    </a:p>
                  </a:txBody>
                  <a:tcPr anchor="ctr" marL="73152" marR="54864" marT="27432" marB="27432">
                    <a:solidFill>
                      <a:srgbClr val="EEF3F8"/>
                    </a:solidFill>
                  </a:tcPr>
                </a:tc>
              </a:tr>
              <a:tr h="736092">
                <a:tc>
                  <a:txBody>
                    <a:bodyPr wrap="square"/>
                    <a:lstStyle/>
                    <a:p>
                      <a:r>
                        <a:rPr sz="1050" b="1">
                          <a:solidFill>
                            <a:srgbClr val="0C2B4A"/>
                          </a:solidFill>
                        </a:rPr>
                        <a:t>Marketplace</a:t>
                      </a:r>
                    </a:p>
                  </a:txBody>
                  <a:tcPr anchor="ctr" marL="73152" marR="54864" marT="27432" marB="27432">
                    <a:solidFill>
                      <a:srgbClr val="FFFFFF"/>
                    </a:solidFill>
                  </a:tcPr>
                </a:tc>
                <a:tc>
                  <a:txBody>
                    <a:bodyPr wrap="square"/>
                    <a:lstStyle/>
                    <a:p>
                      <a:r>
                        <a:rPr sz="1050">
                          <a:solidFill>
                            <a:srgbClr val="1A1A1A"/>
                          </a:solidFill>
                        </a:rPr>
                        <a:t>Commission on matched trades</a:t>
                      </a:r>
                    </a:p>
                  </a:txBody>
                  <a:tcPr anchor="ctr" marL="73152" marR="54864" marT="27432" marB="27432">
                    <a:solidFill>
                      <a:srgbClr val="FFFFFF"/>
                    </a:solidFill>
                  </a:tcPr>
                </a:tc>
                <a:tc>
                  <a:txBody>
                    <a:bodyPr wrap="square"/>
                    <a:lstStyle/>
                    <a:p>
                      <a:r>
                        <a:rPr sz="1050">
                          <a:solidFill>
                            <a:srgbClr val="1A1A1A"/>
                          </a:solidFill>
                        </a:rPr>
                        <a:t>Hamrobazar, eBay, Etsy</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Read the middle column: models differ mainly in HOW they capture value (commission, subscription, upsell, ads, margin, usage). Most real firms are HYBRIDS — Daraz combines marketplace + advertising + e-commerce; Google combines advertising + ecosystem + usage (cloud). Data-monetization underlies the ad models.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89 / 142</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CONCEPTS 2–3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10 digital business models — revenue mechanism &amp; example  (cont.)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449285"/>
                <a:gridCol w="4245428"/>
                <a:gridCol w="4735285"/>
              </a:tblGrid>
              <a:tr h="736092">
                <a:tc>
                  <a:txBody>
                    <a:bodyPr wrap="square"/>
                    <a:lstStyle/>
                    <a:p>
                      <a:r>
                        <a:rPr sz="1100" b="1">
                          <a:solidFill>
                            <a:srgbClr val="FFFFFF"/>
                          </a:solidFill>
                        </a:rPr>
                        <a:t>Model</a:t>
                      </a:r>
                    </a:p>
                  </a:txBody>
                  <a:tcPr anchor="ctr" marL="73152" marR="54864" marT="27432" marB="27432">
                    <a:solidFill>
                      <a:srgbClr val="0C2B4A"/>
                    </a:solidFill>
                  </a:tcPr>
                </a:tc>
                <a:tc>
                  <a:txBody>
                    <a:bodyPr wrap="square"/>
                    <a:lstStyle/>
                    <a:p>
                      <a:r>
                        <a:rPr sz="1100" b="1">
                          <a:solidFill>
                            <a:srgbClr val="FFFFFF"/>
                          </a:solidFill>
                        </a:rPr>
                        <a:t>How it captures value</a:t>
                      </a:r>
                    </a:p>
                  </a:txBody>
                  <a:tcPr anchor="ctr" marL="73152" marR="54864" marT="27432" marB="27432">
                    <a:solidFill>
                      <a:srgbClr val="0C2B4A"/>
                    </a:solidFill>
                  </a:tcPr>
                </a:tc>
                <a:tc>
                  <a:txBody>
                    <a:bodyPr wrap="square"/>
                    <a:lstStyle/>
                    <a:p>
                      <a:r>
                        <a:rPr sz="1100" b="1">
                          <a:solidFill>
                            <a:srgbClr val="FFFFFF"/>
                          </a:solidFill>
                        </a:rPr>
                        <a:t>Example (Nepal / global)</a:t>
                      </a:r>
                    </a:p>
                  </a:txBody>
                  <a:tcPr anchor="ctr" marL="73152" marR="54864" marT="27432" marB="27432">
                    <a:solidFill>
                      <a:srgbClr val="0C2B4A"/>
                    </a:solidFill>
                  </a:tcPr>
                </a:tc>
              </a:tr>
              <a:tr h="736092">
                <a:tc>
                  <a:txBody>
                    <a:bodyPr wrap="square"/>
                    <a:lstStyle/>
                    <a:p>
                      <a:r>
                        <a:rPr sz="1050" b="1">
                          <a:solidFill>
                            <a:srgbClr val="0C2B4A"/>
                          </a:solidFill>
                        </a:rPr>
                        <a:t>Advertising</a:t>
                      </a:r>
                    </a:p>
                  </a:txBody>
                  <a:tcPr anchor="ctr" marL="73152" marR="54864" marT="27432" marB="27432">
                    <a:solidFill>
                      <a:srgbClr val="FFFFFF"/>
                    </a:solidFill>
                  </a:tcPr>
                </a:tc>
                <a:tc>
                  <a:txBody>
                    <a:bodyPr wrap="square"/>
                    <a:lstStyle/>
                    <a:p>
                      <a:r>
                        <a:rPr sz="1050">
                          <a:solidFill>
                            <a:srgbClr val="1A1A1A"/>
                          </a:solidFill>
                        </a:rPr>
                        <a:t>Sell user attention to advertisers</a:t>
                      </a:r>
                    </a:p>
                  </a:txBody>
                  <a:tcPr anchor="ctr" marL="73152" marR="54864" marT="27432" marB="27432">
                    <a:solidFill>
                      <a:srgbClr val="FFFFFF"/>
                    </a:solidFill>
                  </a:tcPr>
                </a:tc>
                <a:tc>
                  <a:txBody>
                    <a:bodyPr wrap="square"/>
                    <a:lstStyle/>
                    <a:p>
                      <a:r>
                        <a:rPr sz="1050">
                          <a:solidFill>
                            <a:srgbClr val="1A1A1A"/>
                          </a:solidFill>
                        </a:rPr>
                        <a:t>Google, Meta, YouTube, TikTok</a:t>
                      </a:r>
                    </a:p>
                  </a:txBody>
                  <a:tcPr anchor="ctr" marL="73152" marR="54864" marT="27432" marB="27432">
                    <a:solidFill>
                      <a:srgbClr val="FFFFFF"/>
                    </a:solidFill>
                  </a:tcPr>
                </a:tc>
              </a:tr>
              <a:tr h="736092">
                <a:tc>
                  <a:txBody>
                    <a:bodyPr wrap="square"/>
                    <a:lstStyle/>
                    <a:p>
                      <a:r>
                        <a:rPr sz="1050" b="1">
                          <a:solidFill>
                            <a:srgbClr val="0C2B4A"/>
                          </a:solidFill>
                        </a:rPr>
                        <a:t>E-commerce</a:t>
                      </a:r>
                    </a:p>
                  </a:txBody>
                  <a:tcPr anchor="ctr" marL="73152" marR="54864" marT="27432" marB="27432">
                    <a:solidFill>
                      <a:srgbClr val="EEF3F8"/>
                    </a:solidFill>
                  </a:tcPr>
                </a:tc>
                <a:tc>
                  <a:txBody>
                    <a:bodyPr wrap="square"/>
                    <a:lstStyle/>
                    <a:p>
                      <a:r>
                        <a:rPr sz="1050">
                          <a:solidFill>
                            <a:srgbClr val="1A1A1A"/>
                          </a:solidFill>
                        </a:rPr>
                        <a:t>Margin on goods sold online</a:t>
                      </a:r>
                    </a:p>
                  </a:txBody>
                  <a:tcPr anchor="ctr" marL="73152" marR="54864" marT="27432" marB="27432">
                    <a:solidFill>
                      <a:srgbClr val="EEF3F8"/>
                    </a:solidFill>
                  </a:tcPr>
                </a:tc>
                <a:tc>
                  <a:txBody>
                    <a:bodyPr wrap="square"/>
                    <a:lstStyle/>
                    <a:p>
                      <a:r>
                        <a:rPr sz="1050">
                          <a:solidFill>
                            <a:srgbClr val="1A1A1A"/>
                          </a:solidFill>
                        </a:rPr>
                        <a:t>Sastodeal, Amazon retail, brand stores</a:t>
                      </a:r>
                    </a:p>
                  </a:txBody>
                  <a:tcPr anchor="ctr" marL="73152" marR="54864" marT="27432" marB="27432">
                    <a:solidFill>
                      <a:srgbClr val="EEF3F8"/>
                    </a:solidFill>
                  </a:tcPr>
                </a:tc>
              </a:tr>
              <a:tr h="736092">
                <a:tc>
                  <a:txBody>
                    <a:bodyPr wrap="square"/>
                    <a:lstStyle/>
                    <a:p>
                      <a:r>
                        <a:rPr sz="1050" b="1">
                          <a:solidFill>
                            <a:srgbClr val="0C2B4A"/>
                          </a:solidFill>
                        </a:rPr>
                        <a:t>Ecosystem</a:t>
                      </a:r>
                    </a:p>
                  </a:txBody>
                  <a:tcPr anchor="ctr" marL="73152" marR="54864" marT="27432" marB="27432">
                    <a:solidFill>
                      <a:srgbClr val="FFFFFF"/>
                    </a:solidFill>
                  </a:tcPr>
                </a:tc>
                <a:tc>
                  <a:txBody>
                    <a:bodyPr wrap="square"/>
                    <a:lstStyle/>
                    <a:p>
                      <a:r>
                        <a:rPr sz="1050">
                          <a:solidFill>
                            <a:srgbClr val="1A1A1A"/>
                          </a:solidFill>
                        </a:rPr>
                        <a:t>Lock-in across bundled services</a:t>
                      </a:r>
                    </a:p>
                  </a:txBody>
                  <a:tcPr anchor="ctr" marL="73152" marR="54864" marT="27432" marB="27432">
                    <a:solidFill>
                      <a:srgbClr val="FFFFFF"/>
                    </a:solidFill>
                  </a:tcPr>
                </a:tc>
                <a:tc>
                  <a:txBody>
                    <a:bodyPr wrap="square"/>
                    <a:lstStyle/>
                    <a:p>
                      <a:r>
                        <a:rPr sz="1050">
                          <a:solidFill>
                            <a:srgbClr val="1A1A1A"/>
                          </a:solidFill>
                        </a:rPr>
                        <a:t>Apple, Google, Amazon ecosystems</a:t>
                      </a:r>
                    </a:p>
                  </a:txBody>
                  <a:tcPr anchor="ctr" marL="73152" marR="54864" marT="27432" marB="27432">
                    <a:solidFill>
                      <a:srgbClr val="FFFFFF"/>
                    </a:solidFill>
                  </a:tcPr>
                </a:tc>
              </a:tr>
              <a:tr h="736092">
                <a:tc>
                  <a:txBody>
                    <a:bodyPr wrap="square"/>
                    <a:lstStyle/>
                    <a:p>
                      <a:r>
                        <a:rPr sz="1050" b="1">
                          <a:solidFill>
                            <a:srgbClr val="0C2B4A"/>
                          </a:solidFill>
                        </a:rPr>
                        <a:t>Usage / on-demand</a:t>
                      </a:r>
                    </a:p>
                  </a:txBody>
                  <a:tcPr anchor="ctr" marL="73152" marR="54864" marT="27432" marB="27432">
                    <a:solidFill>
                      <a:srgbClr val="EEF3F8"/>
                    </a:solidFill>
                  </a:tcPr>
                </a:tc>
                <a:tc>
                  <a:txBody>
                    <a:bodyPr wrap="square"/>
                    <a:lstStyle/>
                    <a:p>
                      <a:r>
                        <a:rPr sz="1050">
                          <a:solidFill>
                            <a:srgbClr val="1A1A1A"/>
                          </a:solidFill>
                        </a:rPr>
                        <a:t>Pay per use / API call</a:t>
                      </a:r>
                    </a:p>
                  </a:txBody>
                  <a:tcPr anchor="ctr" marL="73152" marR="54864" marT="27432" marB="27432">
                    <a:solidFill>
                      <a:srgbClr val="EEF3F8"/>
                    </a:solidFill>
                  </a:tcPr>
                </a:tc>
                <a:tc>
                  <a:txBody>
                    <a:bodyPr wrap="square"/>
                    <a:lstStyle/>
                    <a:p>
                      <a:r>
                        <a:rPr sz="1050">
                          <a:solidFill>
                            <a:srgbClr val="1A1A1A"/>
                          </a:solidFill>
                        </a:rPr>
                        <a:t>AWS pay-as-you-go, cloud, SMS API</a:t>
                      </a:r>
                    </a:p>
                  </a:txBody>
                  <a:tcPr anchor="ctr" marL="73152" marR="54864" marT="27432" marB="27432">
                    <a:solidFill>
                      <a:srgbClr val="EEF3F8"/>
                    </a:solidFill>
                  </a:tcPr>
                </a:tc>
              </a:tr>
              <a:tr h="736092">
                <a:tc>
                  <a:txBody>
                    <a:bodyPr wrap="square"/>
                    <a:lstStyle/>
                    <a:p>
                      <a:r>
                        <a:rPr sz="1050" b="1">
                          <a:solidFill>
                            <a:srgbClr val="0C2B4A"/>
                          </a:solidFill>
                        </a:rPr>
                        <a:t>Experience</a:t>
                      </a:r>
                    </a:p>
                  </a:txBody>
                  <a:tcPr anchor="ctr" marL="73152" marR="54864" marT="27432" marB="27432">
                    <a:solidFill>
                      <a:srgbClr val="FFFFFF"/>
                    </a:solidFill>
                  </a:tcPr>
                </a:tc>
                <a:tc>
                  <a:txBody>
                    <a:bodyPr wrap="square"/>
                    <a:lstStyle/>
                    <a:p>
                      <a:r>
                        <a:rPr sz="1050">
                          <a:solidFill>
                            <a:srgbClr val="1A1A1A"/>
                          </a:solidFill>
                        </a:rPr>
                        <a:t>Charge for a premium experience</a:t>
                      </a:r>
                    </a:p>
                  </a:txBody>
                  <a:tcPr anchor="ctr" marL="73152" marR="54864" marT="27432" marB="27432">
                    <a:solidFill>
                      <a:srgbClr val="FFFFFF"/>
                    </a:solidFill>
                  </a:tcPr>
                </a:tc>
                <a:tc>
                  <a:txBody>
                    <a:bodyPr wrap="square"/>
                    <a:lstStyle/>
                    <a:p>
                      <a:r>
                        <a:rPr sz="1050">
                          <a:solidFill>
                            <a:srgbClr val="1A1A1A"/>
                          </a:solidFill>
                        </a:rPr>
                        <a:t>Netflix originals, events, premium UX</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Read the middle column: models differ mainly in HOW they capture value (commission, subscription, upsell, ads, margin, usage). Most real firms are HYBRIDS — Daraz combines marketplace + advertising + e-commerce; Google combines advertising + ecosystem + usage (cloud). Data-monetization underlies the ad models.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90 / 142</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10 Business Models — Part 2 + Hybrids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Part 2 covers the other five, plus hybrids. (6) ADVERTISING — give a service free, sell user attention (Google, Meta, TikTok). (7) E-COMMERCE — sell goods online for a margin (Sastodeal, brand stores). (8) ECOSYSTEM — bundle many services so users stay (Apple, Google). (9) USAGE/ON-DEMAND — pay per use or API call (AWS pay-as-you-go). (10) EXPERIENCE — charge for a premium experience (Netflix originals). Most real firms are HYBRIDS, and DATA-MONETIZATION (selling insights or targeting) underlies the advertising models.</a:t>
            </a:r>
          </a:p>
          <a:p>
            <a:pPr>
              <a:spcAft>
                <a:spcPts val="500"/>
              </a:spcAft>
            </a:pPr>
            <a:r>
              <a:rPr sz="1200" b="1">
                <a:solidFill>
                  <a:srgbClr val="185FA5"/>
                </a:solidFill>
              </a:rPr>
              <a:t>HOW IT WORKS</a:t>
            </a:r>
          </a:p>
          <a:p>
            <a:pPr>
              <a:spcAft>
                <a:spcPts val="600"/>
              </a:spcAft>
            </a:pPr>
            <a:r>
              <a:rPr sz="1400">
                <a:solidFill>
                  <a:srgbClr val="1A1A1A"/>
                </a:solidFill>
              </a:rPr>
              <a:t>•  Advertising &amp; data-monetization: free service, revenue from attention/data (Unit 2 subsidy side).</a:t>
            </a:r>
          </a:p>
          <a:p>
            <a:pPr>
              <a:spcAft>
                <a:spcPts val="600"/>
              </a:spcAft>
            </a:pPr>
            <a:r>
              <a:rPr sz="1400">
                <a:solidFill>
                  <a:srgbClr val="1A1A1A"/>
                </a:solidFill>
              </a:rPr>
              <a:t>•  E-commerce &amp; experience: margin on goods, or premium for a superior experience.</a:t>
            </a:r>
          </a:p>
          <a:p>
            <a:pPr>
              <a:spcAft>
                <a:spcPts val="600"/>
              </a:spcAft>
            </a:pPr>
            <a:r>
              <a:rPr sz="1400">
                <a:solidFill>
                  <a:srgbClr val="1A1A1A"/>
                </a:solidFill>
              </a:rPr>
              <a:t>•  Ecosystem &amp; usage: bundle to lock in, or charge pay-as-you-go per use.</a:t>
            </a:r>
          </a:p>
          <a:p>
            <a:pPr>
              <a:spcAft>
                <a:spcPts val="600"/>
              </a:spcAft>
            </a:pPr>
            <a:r>
              <a:rPr sz="1400">
                <a:solidFill>
                  <a:srgbClr val="1A1A1A"/>
                </a:solidFill>
              </a:rPr>
              <a:t>•  Real firms are hybrids: Daraz = marketplace + ads + e-commerce; Google = ads + ecosystem + cloud.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Part 2: advertising · e-commerce · ecosystem · usage/on-demand · experience (+ hybrid, data-monetization).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91 / 142</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10 Business Models — Part 2 + Hybrids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Google gives search free and captures value via ADVERTISING (Unit 2's money side), while also running an ECOSYSTEM (Android, Maps, Gmail) and USAGE-based cloud (Google Cloud) — a hybrid. In Nepal, Daraz is a hybrid too: a MARKETPLACE (commission), plus ADVERTISING (sellers pay for placement), plus E-COMMERCE (its own stock). Naming the mix — not a single label — is what describes a real firm accurately.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"Each company has exactly one business model." Most successful digital firms are HYBRIDS, combining several models — marketplace + advertising + e-commerce, or advertising + ecosystem + cloud. Advertising models are really data-monetization (Unit 2's subsidy side). Describe a firm by its MIX of capture mechanisms, not one label.</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Part 2 of the ten models: advertising (free service, sell attention — Google, Meta), e-commerce (margin on goods — Sastodeal), ecosystem (bundle services to lock in — Apple, Google), usage/on-demand (pay per use/API — AWS), and experience (charge for premium experience — Netflix originals). Most real firms are hybrids (Daraz = marketplace + ads + e-commerce), and data-monetization underlies the advertising models — the subsidy-side logic of Unit 2.</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advertising · e-commerce · ecosystem · usage/on-demand · experience · hybrids · data-monetization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92 / 142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digital lowers entry barriers (why so many models exist)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857499"/>
                <a:gridCol w="4538382"/>
                <a:gridCol w="4034117"/>
              </a:tblGrid>
              <a:tr h="736092">
                <a:tc>
                  <a:txBody>
                    <a:bodyPr wrap="square"/>
                    <a:lstStyle/>
                    <a:p>
                      <a:r>
                        <a:rPr sz="1150" b="1">
                          <a:solidFill>
                            <a:srgbClr val="FFFFFF"/>
                          </a:solidFill>
                        </a:rPr>
                        <a:t>Barrier lowered</a:t>
                      </a:r>
                    </a:p>
                  </a:txBody>
                  <a:tcPr anchor="ctr" marL="73152" marR="54864" marT="27432" marB="27432">
                    <a:solidFill>
                      <a:srgbClr val="0C2B4A"/>
                    </a:solidFill>
                  </a:tcPr>
                </a:tc>
                <a:tc>
                  <a:txBody>
                    <a:bodyPr wrap="square"/>
                    <a:lstStyle/>
                    <a:p>
                      <a:r>
                        <a:rPr sz="1150" b="1">
                          <a:solidFill>
                            <a:srgbClr val="FFFFFF"/>
                          </a:solidFill>
                        </a:rPr>
                        <a:t>How digital lowers it</a:t>
                      </a:r>
                    </a:p>
                  </a:txBody>
                  <a:tcPr anchor="ctr" marL="73152" marR="54864" marT="27432" marB="27432">
                    <a:solidFill>
                      <a:srgbClr val="0C2B4A"/>
                    </a:solidFill>
                  </a:tcPr>
                </a:tc>
                <a:tc>
                  <a:txBody>
                    <a:bodyPr wrap="square"/>
                    <a:lstStyle/>
                    <a:p>
                      <a:r>
                        <a:rPr sz="1150" b="1">
                          <a:solidFill>
                            <a:srgbClr val="FFFFFF"/>
                          </a:solidFill>
                        </a:rPr>
                        <a:t>Effect</a:t>
                      </a:r>
                    </a:p>
                  </a:txBody>
                  <a:tcPr anchor="ctr" marL="73152" marR="54864" marT="27432" marB="27432">
                    <a:solidFill>
                      <a:srgbClr val="0C2B4A"/>
                    </a:solidFill>
                  </a:tcPr>
                </a:tc>
              </a:tr>
              <a:tr h="736092">
                <a:tc>
                  <a:txBody>
                    <a:bodyPr wrap="square"/>
                    <a:lstStyle/>
                    <a:p>
                      <a:r>
                        <a:rPr sz="1100" b="1">
                          <a:solidFill>
                            <a:srgbClr val="0C2B4A"/>
                          </a:solidFill>
                        </a:rPr>
                        <a:t>Physical assets</a:t>
                      </a:r>
                    </a:p>
                  </a:txBody>
                  <a:tcPr anchor="ctr" marL="73152" marR="54864" marT="27432" marB="27432">
                    <a:solidFill>
                      <a:srgbClr val="FFFFFF"/>
                    </a:solidFill>
                  </a:tcPr>
                </a:tc>
                <a:tc>
                  <a:txBody>
                    <a:bodyPr wrap="square"/>
                    <a:lstStyle/>
                    <a:p>
                      <a:r>
                        <a:rPr sz="1100">
                          <a:solidFill>
                            <a:srgbClr val="1A1A1A"/>
                          </a:solidFill>
                        </a:rPr>
                        <a:t>Cloud rents compute; no factory needed</a:t>
                      </a:r>
                    </a:p>
                  </a:txBody>
                  <a:tcPr anchor="ctr" marL="73152" marR="54864" marT="27432" marB="27432">
                    <a:solidFill>
                      <a:srgbClr val="FFFFFF"/>
                    </a:solidFill>
                  </a:tcPr>
                </a:tc>
                <a:tc>
                  <a:txBody>
                    <a:bodyPr wrap="square"/>
                    <a:lstStyle/>
                    <a:p>
                      <a:r>
                        <a:rPr sz="1100">
                          <a:solidFill>
                            <a:srgbClr val="1A1A1A"/>
                          </a:solidFill>
                        </a:rPr>
                        <a:t>Start with little capital</a:t>
                      </a:r>
                    </a:p>
                  </a:txBody>
                  <a:tcPr anchor="ctr" marL="73152" marR="54864" marT="27432" marB="27432">
                    <a:solidFill>
                      <a:srgbClr val="FFFFFF"/>
                    </a:solidFill>
                  </a:tcPr>
                </a:tc>
              </a:tr>
              <a:tr h="736092">
                <a:tc>
                  <a:txBody>
                    <a:bodyPr wrap="square"/>
                    <a:lstStyle/>
                    <a:p>
                      <a:r>
                        <a:rPr sz="1100" b="1">
                          <a:solidFill>
                            <a:srgbClr val="0C2B4A"/>
                          </a:solidFill>
                        </a:rPr>
                        <a:t>Distribution</a:t>
                      </a:r>
                    </a:p>
                  </a:txBody>
                  <a:tcPr anchor="ctr" marL="73152" marR="54864" marT="27432" marB="27432">
                    <a:solidFill>
                      <a:srgbClr val="EEF3F8"/>
                    </a:solidFill>
                  </a:tcPr>
                </a:tc>
                <a:tc>
                  <a:txBody>
                    <a:bodyPr wrap="square"/>
                    <a:lstStyle/>
                    <a:p>
                      <a:r>
                        <a:rPr sz="1100">
                          <a:solidFill>
                            <a:srgbClr val="1A1A1A"/>
                          </a:solidFill>
                        </a:rPr>
                        <a:t>App stores &amp; internet reach all</a:t>
                      </a:r>
                    </a:p>
                  </a:txBody>
                  <a:tcPr anchor="ctr" marL="73152" marR="54864" marT="27432" marB="27432">
                    <a:solidFill>
                      <a:srgbClr val="EEF3F8"/>
                    </a:solidFill>
                  </a:tcPr>
                </a:tc>
                <a:tc>
                  <a:txBody>
                    <a:bodyPr wrap="square"/>
                    <a:lstStyle/>
                    <a:p>
                      <a:r>
                        <a:rPr sz="1100">
                          <a:solidFill>
                            <a:srgbClr val="1A1A1A"/>
                          </a:solidFill>
                        </a:rPr>
                        <a:t>Global reach from day one</a:t>
                      </a:r>
                    </a:p>
                  </a:txBody>
                  <a:tcPr anchor="ctr" marL="73152" marR="54864" marT="27432" marB="27432">
                    <a:solidFill>
                      <a:srgbClr val="EEF3F8"/>
                    </a:solidFill>
                  </a:tcPr>
                </a:tc>
              </a:tr>
              <a:tr h="736092">
                <a:tc>
                  <a:txBody>
                    <a:bodyPr wrap="square"/>
                    <a:lstStyle/>
                    <a:p>
                      <a:r>
                        <a:rPr sz="1100" b="1">
                          <a:solidFill>
                            <a:srgbClr val="0C2B4A"/>
                          </a:solidFill>
                        </a:rPr>
                        <a:t>Inventory</a:t>
                      </a:r>
                    </a:p>
                  </a:txBody>
                  <a:tcPr anchor="ctr" marL="73152" marR="54864" marT="27432" marB="27432">
                    <a:solidFill>
                      <a:srgbClr val="FFFFFF"/>
                    </a:solidFill>
                  </a:tcPr>
                </a:tc>
                <a:tc>
                  <a:txBody>
                    <a:bodyPr wrap="square"/>
                    <a:lstStyle/>
                    <a:p>
                      <a:r>
                        <a:rPr sz="1100">
                          <a:solidFill>
                            <a:srgbClr val="1A1A1A"/>
                          </a:solidFill>
                        </a:rPr>
                        <a:t>Marketplace lists others' stock</a:t>
                      </a:r>
                    </a:p>
                  </a:txBody>
                  <a:tcPr anchor="ctr" marL="73152" marR="54864" marT="27432" marB="27432">
                    <a:solidFill>
                      <a:srgbClr val="FFFFFF"/>
                    </a:solidFill>
                  </a:tcPr>
                </a:tc>
                <a:tc>
                  <a:txBody>
                    <a:bodyPr wrap="square"/>
                    <a:lstStyle/>
                    <a:p>
                      <a:r>
                        <a:rPr sz="1100">
                          <a:solidFill>
                            <a:srgbClr val="1A1A1A"/>
                          </a:solidFill>
                        </a:rPr>
                        <a:t>Sell without owning goods</a:t>
                      </a:r>
                    </a:p>
                  </a:txBody>
                  <a:tcPr anchor="ctr" marL="73152" marR="54864" marT="27432" marB="27432">
                    <a:solidFill>
                      <a:srgbClr val="FFFFFF"/>
                    </a:solidFill>
                  </a:tcPr>
                </a:tc>
              </a:tr>
              <a:tr h="736092">
                <a:tc>
                  <a:txBody>
                    <a:bodyPr wrap="square"/>
                    <a:lstStyle/>
                    <a:p>
                      <a:r>
                        <a:rPr sz="1100" b="1">
                          <a:solidFill>
                            <a:srgbClr val="0C2B4A"/>
                          </a:solidFill>
                        </a:rPr>
                        <a:t>Marketing</a:t>
                      </a:r>
                    </a:p>
                  </a:txBody>
                  <a:tcPr anchor="ctr" marL="73152" marR="54864" marT="27432" marB="27432">
                    <a:solidFill>
                      <a:srgbClr val="EEF3F8"/>
                    </a:solidFill>
                  </a:tcPr>
                </a:tc>
                <a:tc>
                  <a:txBody>
                    <a:bodyPr wrap="square"/>
                    <a:lstStyle/>
                    <a:p>
                      <a:r>
                        <a:rPr sz="1100">
                          <a:solidFill>
                            <a:srgbClr val="1A1A1A"/>
                          </a:solidFill>
                        </a:rPr>
                        <a:t>Social/targeted ads are cheap</a:t>
                      </a:r>
                    </a:p>
                  </a:txBody>
                  <a:tcPr anchor="ctr" marL="73152" marR="54864" marT="27432" marB="27432">
                    <a:solidFill>
                      <a:srgbClr val="EEF3F8"/>
                    </a:solidFill>
                  </a:tcPr>
                </a:tc>
                <a:tc>
                  <a:txBody>
                    <a:bodyPr wrap="square"/>
                    <a:lstStyle/>
                    <a:p>
                      <a:r>
                        <a:rPr sz="1100">
                          <a:solidFill>
                            <a:srgbClr val="1A1A1A"/>
                          </a:solidFill>
                        </a:rPr>
                        <a:t>Reach niche customers cheaply</a:t>
                      </a:r>
                    </a:p>
                  </a:txBody>
                  <a:tcPr anchor="ctr" marL="73152" marR="54864" marT="27432" marB="27432">
                    <a:solidFill>
                      <a:srgbClr val="EEF3F8"/>
                    </a:solidFill>
                  </a:tcPr>
                </a:tc>
              </a:tr>
              <a:tr h="736092">
                <a:tc>
                  <a:txBody>
                    <a:bodyPr wrap="square"/>
                    <a:lstStyle/>
                    <a:p>
                      <a:r>
                        <a:rPr sz="1100" b="1">
                          <a:solidFill>
                            <a:srgbClr val="0C2B4A"/>
                          </a:solidFill>
                        </a:rPr>
                        <a:t>Payments</a:t>
                      </a:r>
                    </a:p>
                  </a:txBody>
                  <a:tcPr anchor="ctr" marL="73152" marR="54864" marT="27432" marB="27432">
                    <a:solidFill>
                      <a:srgbClr val="FFFFFF"/>
                    </a:solidFill>
                  </a:tcPr>
                </a:tc>
                <a:tc>
                  <a:txBody>
                    <a:bodyPr wrap="square"/>
                    <a:lstStyle/>
                    <a:p>
                      <a:r>
                        <a:rPr sz="1100">
                          <a:solidFill>
                            <a:srgbClr val="1A1A1A"/>
                          </a:solidFill>
                        </a:rPr>
                        <a:t>Wallets/gateways plug in</a:t>
                      </a:r>
                    </a:p>
                  </a:txBody>
                  <a:tcPr anchor="ctr" marL="73152" marR="54864" marT="27432" marB="27432">
                    <a:solidFill>
                      <a:srgbClr val="FFFFFF"/>
                    </a:solidFill>
                  </a:tcPr>
                </a:tc>
                <a:tc>
                  <a:txBody>
                    <a:bodyPr wrap="square"/>
                    <a:lstStyle/>
                    <a:p>
                      <a:r>
                        <a:rPr sz="1100">
                          <a:solidFill>
                            <a:srgbClr val="1A1A1A"/>
                          </a:solidFill>
                        </a:rPr>
                        <a:t>Collect money instantly</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Because digital slashes the cost of assets, distribution, inventory, marketing, and payments, almost anyone can launch a business model — which is why so many models coexist and why competition is easy to START but hard to WIN (S17).</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93 / 142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S22 — 'Name the model(s)'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pick 3 digital firms (Nepali or global).</a:t>
            </a:r>
          </a:p>
          <a:p>
            <a:pPr>
              <a:spcAft>
                <a:spcPts val="700"/>
              </a:spcAft>
            </a:pPr>
            <a:r>
              <a:rPr sz="1550">
                <a:solidFill>
                  <a:srgbClr val="1A1A1A"/>
                </a:solidFill>
              </a:rPr>
              <a:t>•  Name each firm's business model(s) from the 10 — and its capture mechanism.</a:t>
            </a:r>
          </a:p>
          <a:p>
            <a:pPr>
              <a:spcAft>
                <a:spcPts val="700"/>
              </a:spcAft>
            </a:pPr>
            <a:r>
              <a:rPr sz="1550">
                <a:solidFill>
                  <a:srgbClr val="1A1A1A"/>
                </a:solidFill>
              </a:rPr>
              <a:t>•  Spot at least one HYBRID (a firm using two or more models).</a:t>
            </a:r>
          </a:p>
          <a:p>
            <a:pPr>
              <a:spcAft>
                <a:spcPts val="700"/>
              </a:spcAft>
            </a:pPr>
            <a:r>
              <a:rPr sz="1550">
                <a:solidFill>
                  <a:srgbClr val="1A1A1A"/>
                </a:solidFill>
              </a:rPr>
              <a:t>•  Take 3–4 answers aloud (2 min); reward correctly naming the capture mechanism + a hybrid.</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answers: Netflix = subscription + experience; Daraz = marketplace + advertising + e-commerce (hybrid); Spotify = freemium + subscription + advertising. Reward naming the capture mechanism and spotting hybrids.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94 / 142</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S22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Netflix charging a flat monthly fee for access is which model?</a:t>
            </a:r>
          </a:p>
          <a:p>
            <a:pPr lvl="1"/>
            <a:r>
              <a:rPr sz="1500" b="1">
                <a:solidFill>
                  <a:srgbClr val="0F6E56"/>
                </a:solidFill>
              </a:rPr>
              <a:t>a) freemium   b) marketplace   c) ✅ subscription   d) advertising</a:t>
            </a:r>
          </a:p>
          <a:p>
            <a:pPr lvl="1">
              <a:spcBef>
                <a:spcPts val="600"/>
              </a:spcBef>
            </a:pPr>
            <a:r>
              <a:rPr sz="1500" i="1">
                <a:solidFill>
                  <a:srgbClr val="1A1A1A"/>
                </a:solidFill>
              </a:rPr>
              <a:t>     Why: a recurring fee for ongoing access is the subscription model.</a:t>
            </a:r>
          </a:p>
          <a:p>
            <a:pPr>
              <a:spcBef>
                <a:spcPts val="900"/>
              </a:spcBef>
            </a:pPr>
            <a:r>
              <a:rPr sz="1700" b="1">
                <a:solidFill>
                  <a:srgbClr val="0C2B4A"/>
                </a:solidFill>
              </a:rPr>
              <a:t>Q2.  Google giving search free and earning from ads is capturing value via:</a:t>
            </a:r>
          </a:p>
          <a:p>
            <a:pPr lvl="1"/>
            <a:r>
              <a:rPr sz="1500" b="1">
                <a:solidFill>
                  <a:srgbClr val="0F6E56"/>
                </a:solidFill>
              </a:rPr>
              <a:t>a) subscription   b) ✅ advertising (selling user attention)   c) e-commerce   d) usage fees</a:t>
            </a:r>
          </a:p>
          <a:p>
            <a:pPr lvl="1">
              <a:spcBef>
                <a:spcPts val="600"/>
              </a:spcBef>
            </a:pPr>
            <a:r>
              <a:rPr sz="1500" i="1">
                <a:solidFill>
                  <a:srgbClr val="1A1A1A"/>
                </a:solidFill>
              </a:rPr>
              <a:t>     Why: the advertising model gives the service free and monetises attention/data — Unit 2's money side.</a:t>
            </a:r>
          </a:p>
          <a:p>
            <a:pPr lvl="1">
              <a:spcBef>
                <a:spcPts val="600"/>
              </a:spcBef>
            </a:pPr>
            <a:r>
              <a:rPr sz="1500" i="1">
                <a:solidFill>
                  <a:srgbClr val="1A1A1A"/>
                </a:solidFill>
              </a:rPr>
              <a:t>Discussion: name a Nepali hybrid firm and the two-plus models it combines.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95 / 142</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S22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 business model = how you CREATE (proposition) + DELIVER (channels) + CAPTURE (revenue) value; capture is the key design choice.</a:t>
            </a:r>
          </a:p>
          <a:p>
            <a:pPr>
              <a:spcAft>
                <a:spcPts val="800"/>
              </a:spcAft>
            </a:pPr>
            <a:r>
              <a:rPr sz="1500">
                <a:solidFill>
                  <a:srgbClr val="1A1A1A"/>
                </a:solidFill>
              </a:rPr>
              <a:t>2.  Ten models: platform, subscription, freemium, sharing, marketplace, advertising, e-commerce, ecosystem, usage/on-demand, experience.</a:t>
            </a:r>
          </a:p>
          <a:p>
            <a:pPr>
              <a:spcAft>
                <a:spcPts val="800"/>
              </a:spcAft>
            </a:pPr>
            <a:r>
              <a:rPr sz="1500">
                <a:solidFill>
                  <a:srgbClr val="1A1A1A"/>
                </a:solidFill>
              </a:rPr>
              <a:t>3.  Most real firms are HYBRIDS; digital lowers entry barriers (assets, distribution, inventory, marketing, payments) so many models coexist.</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Knowing the models lets you read any digital firm's money logic and design your own — the single most powerful innovation lever (S21). But a business model (how you EARN) is not the same as how value is GENERATED, which is the distinction the next session draws out.</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S23 — how value is actually generated: value-creation models and the classic chain/shop/network.</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96 / 142</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23 · LECTURE HOUR 8 (OF 10)</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Value-Creation Models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factory MAKES value by turning raw materials into products. A hospital SOLVES a problem to create value. Pathao creates value by CONNECTING riders and drivers — it builds nothing and solves no single problem, yet creates huge value. These are three fundamentally different ways to create value. Which one is a digital platform?</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97 / 142</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Value Creation vs Capture; Chain, Shop, Network</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Value CREATION is how a firm generates value; value CAPTURE (the business model, S22) is how it earns money from that value — two different questions. Stabell &amp; Fjeldstad's classic framework gives three ways to CREATE value: the VALUE CHAIN (transform inputs into outputs, like a factory or handset maker), the VALUE SHOP (solve a customer's unique problem, like a hospital, law firm, or IT consultancy), and the VALUE NETWORK (connect members so they create value for each other, like a bank, telecom, or platform).</a:t>
            </a:r>
          </a:p>
          <a:p>
            <a:pPr>
              <a:spcAft>
                <a:spcPts val="500"/>
              </a:spcAft>
            </a:pPr>
            <a:r>
              <a:rPr sz="1200" b="1">
                <a:solidFill>
                  <a:srgbClr val="185FA5"/>
                </a:solidFill>
              </a:rPr>
              <a:t>HOW IT WORKS</a:t>
            </a:r>
          </a:p>
          <a:p>
            <a:pPr>
              <a:spcAft>
                <a:spcPts val="600"/>
              </a:spcAft>
            </a:pPr>
            <a:r>
              <a:rPr sz="1400">
                <a:solidFill>
                  <a:srgbClr val="1A1A1A"/>
                </a:solidFill>
              </a:rPr>
              <a:t>•  Value creation = how value is GENERATED; value capture = how money is EARNED (S22).</a:t>
            </a:r>
          </a:p>
          <a:p>
            <a:pPr>
              <a:spcAft>
                <a:spcPts val="600"/>
              </a:spcAft>
            </a:pPr>
            <a:r>
              <a:rPr sz="1400">
                <a:solidFill>
                  <a:srgbClr val="1A1A1A"/>
                </a:solidFill>
              </a:rPr>
              <a:t>•  Value chain: transform inputs -&gt; outputs, sequential (factory, manufacturer).</a:t>
            </a:r>
          </a:p>
          <a:p>
            <a:pPr>
              <a:spcAft>
                <a:spcPts val="600"/>
              </a:spcAft>
            </a:pPr>
            <a:r>
              <a:rPr sz="1400">
                <a:solidFill>
                  <a:srgbClr val="1A1A1A"/>
                </a:solidFill>
              </a:rPr>
              <a:t>•  Value shop: diagnose and solve a unique problem, cyclical (hospital, consultancy).</a:t>
            </a:r>
          </a:p>
          <a:p>
            <a:pPr>
              <a:spcAft>
                <a:spcPts val="600"/>
              </a:spcAft>
            </a:pPr>
            <a:r>
              <a:rPr sz="1400">
                <a:solidFill>
                  <a:srgbClr val="1A1A1A"/>
                </a:solidFill>
              </a:rPr>
              <a:t>•  Value network: connect members to each other, mediating (bank, telecom, platform).</a:t>
            </a:r>
          </a:p>
        </p:txBody>
      </p:sp>
      <p:pic>
        <p:nvPicPr>
          <p:cNvPr id="6" name="Picture 5" descr="s23_value_creation.png"/>
          <p:cNvPicPr>
            <a:picLocks noChangeAspect="1"/>
          </p:cNvPicPr>
          <p:nvPr/>
        </p:nvPicPr>
        <p:blipFill>
          <a:blip r:embed="rId2"/>
          <a:stretch>
            <a:fillRect/>
          </a:stretch>
        </p:blipFill>
        <p:spPr>
          <a:xfrm>
            <a:off x="6355080" y="2339485"/>
            <a:ext cx="5532120" cy="295627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Three ways to CREATE value: chain (make), shop (solve), network (connect) — most platforms are networks.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98 / 142</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Value chain vs value shop vs value network</a:t>
            </a:r>
          </a:p>
        </p:txBody>
      </p:sp>
      <p:graphicFrame>
        <p:nvGraphicFramePr>
          <p:cNvPr id="5" name="Table 4"/>
          <p:cNvGraphicFramePr>
            <a:graphicFrameLocks noGrp="1"/>
          </p:cNvGraphicFramePr>
          <p:nvPr/>
        </p:nvGraphicFramePr>
        <p:xfrm>
          <a:off x="384048" y="1572768"/>
          <a:ext cx="11429997" cy="4416552"/>
        </p:xfrm>
        <a:graphic>
          <a:graphicData uri="http://schemas.openxmlformats.org/drawingml/2006/table">
            <a:tbl>
              <a:tblPr>
                <a:tableStyleId>{5C22544A-7EE6-4342-B048-85BDC9FD1C3A}</a:tableStyleId>
              </a:tblPr>
              <a:tblGrid>
                <a:gridCol w="2017058"/>
                <a:gridCol w="2958352"/>
                <a:gridCol w="3092823"/>
                <a:gridCol w="3361764"/>
              </a:tblGrid>
              <a:tr h="736092">
                <a:tc>
                  <a:txBody>
                    <a:bodyPr wrap="square"/>
                    <a:lstStyle/>
                    <a:p>
                      <a:r>
                        <a:rPr sz="1100" b="1">
                          <a:solidFill>
                            <a:srgbClr val="FFFFFF"/>
                          </a:solidFill>
                        </a:rPr>
                        <a:t>Dimension</a:t>
                      </a:r>
                    </a:p>
                  </a:txBody>
                  <a:tcPr anchor="ctr" marL="73152" marR="54864" marT="27432" marB="27432">
                    <a:solidFill>
                      <a:srgbClr val="0C2B4A"/>
                    </a:solidFill>
                  </a:tcPr>
                </a:tc>
                <a:tc>
                  <a:txBody>
                    <a:bodyPr wrap="square"/>
                    <a:lstStyle/>
                    <a:p>
                      <a:r>
                        <a:rPr sz="1100" b="1">
                          <a:solidFill>
                            <a:srgbClr val="FFFFFF"/>
                          </a:solidFill>
                        </a:rPr>
                        <a:t>Value chain</a:t>
                      </a:r>
                    </a:p>
                  </a:txBody>
                  <a:tcPr anchor="ctr" marL="73152" marR="54864" marT="27432" marB="27432">
                    <a:solidFill>
                      <a:srgbClr val="0C2B4A"/>
                    </a:solidFill>
                  </a:tcPr>
                </a:tc>
                <a:tc>
                  <a:txBody>
                    <a:bodyPr wrap="square"/>
                    <a:lstStyle/>
                    <a:p>
                      <a:r>
                        <a:rPr sz="1100" b="1">
                          <a:solidFill>
                            <a:srgbClr val="FFFFFF"/>
                          </a:solidFill>
                        </a:rPr>
                        <a:t>Value shop</a:t>
                      </a:r>
                    </a:p>
                  </a:txBody>
                  <a:tcPr anchor="ctr" marL="73152" marR="54864" marT="27432" marB="27432">
                    <a:solidFill>
                      <a:srgbClr val="0C2B4A"/>
                    </a:solidFill>
                  </a:tcPr>
                </a:tc>
                <a:tc>
                  <a:txBody>
                    <a:bodyPr wrap="square"/>
                    <a:lstStyle/>
                    <a:p>
                      <a:r>
                        <a:rPr sz="1100" b="1">
                          <a:solidFill>
                            <a:srgbClr val="FFFFFF"/>
                          </a:solidFill>
                        </a:rPr>
                        <a:t>Value network</a:t>
                      </a:r>
                    </a:p>
                  </a:txBody>
                  <a:tcPr anchor="ctr" marL="73152" marR="54864" marT="27432" marB="27432">
                    <a:solidFill>
                      <a:srgbClr val="0C2B4A"/>
                    </a:solidFill>
                  </a:tcPr>
                </a:tc>
              </a:tr>
              <a:tr h="736092">
                <a:tc>
                  <a:txBody>
                    <a:bodyPr wrap="square"/>
                    <a:lstStyle/>
                    <a:p>
                      <a:r>
                        <a:rPr sz="1050" b="1">
                          <a:solidFill>
                            <a:srgbClr val="0C2B4A"/>
                          </a:solidFill>
                        </a:rPr>
                        <a:t>Logic</a:t>
                      </a:r>
                    </a:p>
                  </a:txBody>
                  <a:tcPr anchor="ctr" marL="73152" marR="54864" marT="27432" marB="27432">
                    <a:solidFill>
                      <a:srgbClr val="FFFFFF"/>
                    </a:solidFill>
                  </a:tcPr>
                </a:tc>
                <a:tc>
                  <a:txBody>
                    <a:bodyPr wrap="square"/>
                    <a:lstStyle/>
                    <a:p>
                      <a:r>
                        <a:rPr sz="1050">
                          <a:solidFill>
                            <a:srgbClr val="1A1A1A"/>
                          </a:solidFill>
                        </a:rPr>
                        <a:t>Transform inputs -&gt; outputs</a:t>
                      </a:r>
                    </a:p>
                  </a:txBody>
                  <a:tcPr anchor="ctr" marL="73152" marR="54864" marT="27432" marB="27432">
                    <a:solidFill>
                      <a:srgbClr val="FFFFFF"/>
                    </a:solidFill>
                  </a:tcPr>
                </a:tc>
                <a:tc>
                  <a:txBody>
                    <a:bodyPr wrap="square"/>
                    <a:lstStyle/>
                    <a:p>
                      <a:r>
                        <a:rPr sz="1050">
                          <a:solidFill>
                            <a:srgbClr val="1A1A1A"/>
                          </a:solidFill>
                        </a:rPr>
                        <a:t>Diagnose &amp; solve a problem</a:t>
                      </a:r>
                    </a:p>
                  </a:txBody>
                  <a:tcPr anchor="ctr" marL="73152" marR="54864" marT="27432" marB="27432">
                    <a:solidFill>
                      <a:srgbClr val="FFFFFF"/>
                    </a:solidFill>
                  </a:tcPr>
                </a:tc>
                <a:tc>
                  <a:txBody>
                    <a:bodyPr wrap="square"/>
                    <a:lstStyle/>
                    <a:p>
                      <a:r>
                        <a:rPr sz="1050">
                          <a:solidFill>
                            <a:srgbClr val="1A1A1A"/>
                          </a:solidFill>
                        </a:rPr>
                        <a:t>Connect members to each other</a:t>
                      </a:r>
                    </a:p>
                  </a:txBody>
                  <a:tcPr anchor="ctr" marL="73152" marR="54864" marT="27432" marB="27432">
                    <a:solidFill>
                      <a:srgbClr val="FFFFFF"/>
                    </a:solidFill>
                  </a:tcPr>
                </a:tc>
              </a:tr>
              <a:tr h="736092">
                <a:tc>
                  <a:txBody>
                    <a:bodyPr wrap="square"/>
                    <a:lstStyle/>
                    <a:p>
                      <a:r>
                        <a:rPr sz="1050" b="1">
                          <a:solidFill>
                            <a:srgbClr val="0C2B4A"/>
                          </a:solidFill>
                        </a:rPr>
                        <a:t>Shape</a:t>
                      </a:r>
                    </a:p>
                  </a:txBody>
                  <a:tcPr anchor="ctr" marL="73152" marR="54864" marT="27432" marB="27432">
                    <a:solidFill>
                      <a:srgbClr val="EEF3F8"/>
                    </a:solidFill>
                  </a:tcPr>
                </a:tc>
                <a:tc>
                  <a:txBody>
                    <a:bodyPr wrap="square"/>
                    <a:lstStyle/>
                    <a:p>
                      <a:r>
                        <a:rPr sz="1050">
                          <a:solidFill>
                            <a:srgbClr val="1A1A1A"/>
                          </a:solidFill>
                        </a:rPr>
                        <a:t>Sequential / linear</a:t>
                      </a:r>
                    </a:p>
                  </a:txBody>
                  <a:tcPr anchor="ctr" marL="73152" marR="54864" marT="27432" marB="27432">
                    <a:solidFill>
                      <a:srgbClr val="EEF3F8"/>
                    </a:solidFill>
                  </a:tcPr>
                </a:tc>
                <a:tc>
                  <a:txBody>
                    <a:bodyPr wrap="square"/>
                    <a:lstStyle/>
                    <a:p>
                      <a:r>
                        <a:rPr sz="1050">
                          <a:solidFill>
                            <a:srgbClr val="1A1A1A"/>
                          </a:solidFill>
                        </a:rPr>
                        <a:t>Cyclical / iterative</a:t>
                      </a:r>
                    </a:p>
                  </a:txBody>
                  <a:tcPr anchor="ctr" marL="73152" marR="54864" marT="27432" marB="27432">
                    <a:solidFill>
                      <a:srgbClr val="EEF3F8"/>
                    </a:solidFill>
                  </a:tcPr>
                </a:tc>
                <a:tc>
                  <a:txBody>
                    <a:bodyPr wrap="square"/>
                    <a:lstStyle/>
                    <a:p>
                      <a:r>
                        <a:rPr sz="1050">
                          <a:solidFill>
                            <a:srgbClr val="1A1A1A"/>
                          </a:solidFill>
                        </a:rPr>
                        <a:t>Mediating / hub</a:t>
                      </a:r>
                    </a:p>
                  </a:txBody>
                  <a:tcPr anchor="ctr" marL="73152" marR="54864" marT="27432" marB="27432">
                    <a:solidFill>
                      <a:srgbClr val="EEF3F8"/>
                    </a:solidFill>
                  </a:tcPr>
                </a:tc>
              </a:tr>
              <a:tr h="736092">
                <a:tc>
                  <a:txBody>
                    <a:bodyPr wrap="square"/>
                    <a:lstStyle/>
                    <a:p>
                      <a:r>
                        <a:rPr sz="1050" b="1">
                          <a:solidFill>
                            <a:srgbClr val="0C2B4A"/>
                          </a:solidFill>
                        </a:rPr>
                        <a:t>Key activity</a:t>
                      </a:r>
                    </a:p>
                  </a:txBody>
                  <a:tcPr anchor="ctr" marL="73152" marR="54864" marT="27432" marB="27432">
                    <a:solidFill>
                      <a:srgbClr val="FFFFFF"/>
                    </a:solidFill>
                  </a:tcPr>
                </a:tc>
                <a:tc>
                  <a:txBody>
                    <a:bodyPr wrap="square"/>
                    <a:lstStyle/>
                    <a:p>
                      <a:r>
                        <a:rPr sz="1050">
                          <a:solidFill>
                            <a:srgbClr val="1A1A1A"/>
                          </a:solidFill>
                        </a:rPr>
                        <a:t>Production</a:t>
                      </a:r>
                    </a:p>
                  </a:txBody>
                  <a:tcPr anchor="ctr" marL="73152" marR="54864" marT="27432" marB="27432">
                    <a:solidFill>
                      <a:srgbClr val="FFFFFF"/>
                    </a:solidFill>
                  </a:tcPr>
                </a:tc>
                <a:tc>
                  <a:txBody>
                    <a:bodyPr wrap="square"/>
                    <a:lstStyle/>
                    <a:p>
                      <a:r>
                        <a:rPr sz="1050">
                          <a:solidFill>
                            <a:srgbClr val="1A1A1A"/>
                          </a:solidFill>
                        </a:rPr>
                        <a:t>Problem-solving</a:t>
                      </a:r>
                    </a:p>
                  </a:txBody>
                  <a:tcPr anchor="ctr" marL="73152" marR="54864" marT="27432" marB="27432">
                    <a:solidFill>
                      <a:srgbClr val="FFFFFF"/>
                    </a:solidFill>
                  </a:tcPr>
                </a:tc>
                <a:tc>
                  <a:txBody>
                    <a:bodyPr wrap="square"/>
                    <a:lstStyle/>
                    <a:p>
                      <a:r>
                        <a:rPr sz="1050">
                          <a:solidFill>
                            <a:srgbClr val="1A1A1A"/>
                          </a:solidFill>
                        </a:rPr>
                        <a:t>Matching &amp; facilitation</a:t>
                      </a:r>
                    </a:p>
                  </a:txBody>
                  <a:tcPr anchor="ctr" marL="73152" marR="54864" marT="27432" marB="27432">
                    <a:solidFill>
                      <a:srgbClr val="FFFFFF"/>
                    </a:solidFill>
                  </a:tcPr>
                </a:tc>
              </a:tr>
              <a:tr h="736092">
                <a:tc>
                  <a:txBody>
                    <a:bodyPr wrap="square"/>
                    <a:lstStyle/>
                    <a:p>
                      <a:r>
                        <a:rPr sz="1050" b="1">
                          <a:solidFill>
                            <a:srgbClr val="0C2B4A"/>
                          </a:solidFill>
                        </a:rPr>
                        <a:t>Value driver</a:t>
                      </a:r>
                    </a:p>
                  </a:txBody>
                  <a:tcPr anchor="ctr" marL="73152" marR="54864" marT="27432" marB="27432">
                    <a:solidFill>
                      <a:srgbClr val="EEF3F8"/>
                    </a:solidFill>
                  </a:tcPr>
                </a:tc>
                <a:tc>
                  <a:txBody>
                    <a:bodyPr wrap="square"/>
                    <a:lstStyle/>
                    <a:p>
                      <a:r>
                        <a:rPr sz="1050">
                          <a:solidFill>
                            <a:srgbClr val="1A1A1A"/>
                          </a:solidFill>
                        </a:rPr>
                        <a:t>Efficiency, scale</a:t>
                      </a:r>
                    </a:p>
                  </a:txBody>
                  <a:tcPr anchor="ctr" marL="73152" marR="54864" marT="27432" marB="27432">
                    <a:solidFill>
                      <a:srgbClr val="EEF3F8"/>
                    </a:solidFill>
                  </a:tcPr>
                </a:tc>
                <a:tc>
                  <a:txBody>
                    <a:bodyPr wrap="square"/>
                    <a:lstStyle/>
                    <a:p>
                      <a:r>
                        <a:rPr sz="1050">
                          <a:solidFill>
                            <a:srgbClr val="1A1A1A"/>
                          </a:solidFill>
                        </a:rPr>
                        <a:t>Expertise, solution quality</a:t>
                      </a:r>
                    </a:p>
                  </a:txBody>
                  <a:tcPr anchor="ctr" marL="73152" marR="54864" marT="27432" marB="27432">
                    <a:solidFill>
                      <a:srgbClr val="EEF3F8"/>
                    </a:solidFill>
                  </a:tcPr>
                </a:tc>
                <a:tc>
                  <a:txBody>
                    <a:bodyPr wrap="square"/>
                    <a:lstStyle/>
                    <a:p>
                      <a:r>
                        <a:rPr sz="1050">
                          <a:solidFill>
                            <a:srgbClr val="1A1A1A"/>
                          </a:solidFill>
                        </a:rPr>
                        <a:t>Size of the network</a:t>
                      </a:r>
                    </a:p>
                  </a:txBody>
                  <a:tcPr anchor="ctr" marL="73152" marR="54864" marT="27432" marB="27432">
                    <a:solidFill>
                      <a:srgbClr val="EEF3F8"/>
                    </a:solidFill>
                  </a:tcPr>
                </a:tc>
              </a:tr>
              <a:tr h="736092">
                <a:tc>
                  <a:txBody>
                    <a:bodyPr wrap="square"/>
                    <a:lstStyle/>
                    <a:p>
                      <a:r>
                        <a:rPr sz="1050" b="1">
                          <a:solidFill>
                            <a:srgbClr val="0C2B4A"/>
                          </a:solidFill>
                        </a:rPr>
                        <a:t>Example</a:t>
                      </a:r>
                    </a:p>
                  </a:txBody>
                  <a:tcPr anchor="ctr" marL="73152" marR="54864" marT="27432" marB="27432">
                    <a:solidFill>
                      <a:srgbClr val="FFFFFF"/>
                    </a:solidFill>
                  </a:tcPr>
                </a:tc>
                <a:tc>
                  <a:txBody>
                    <a:bodyPr wrap="square"/>
                    <a:lstStyle/>
                    <a:p>
                      <a:r>
                        <a:rPr sz="1050">
                          <a:solidFill>
                            <a:srgbClr val="1A1A1A"/>
                          </a:solidFill>
                        </a:rPr>
                        <a:t>Factory, handset maker</a:t>
                      </a:r>
                    </a:p>
                  </a:txBody>
                  <a:tcPr anchor="ctr" marL="73152" marR="54864" marT="27432" marB="27432">
                    <a:solidFill>
                      <a:srgbClr val="FFFFFF"/>
                    </a:solidFill>
                  </a:tcPr>
                </a:tc>
                <a:tc>
                  <a:txBody>
                    <a:bodyPr wrap="square"/>
                    <a:lstStyle/>
                    <a:p>
                      <a:r>
                        <a:rPr sz="1050">
                          <a:solidFill>
                            <a:srgbClr val="1A1A1A"/>
                          </a:solidFill>
                        </a:rPr>
                        <a:t>Hospital, law/audit, IT consult</a:t>
                      </a:r>
                    </a:p>
                  </a:txBody>
                  <a:tcPr anchor="ctr" marL="73152" marR="54864" marT="27432" marB="27432">
                    <a:solidFill>
                      <a:srgbClr val="FFFFFF"/>
                    </a:solidFill>
                  </a:tcPr>
                </a:tc>
                <a:tc>
                  <a:txBody>
                    <a:bodyPr wrap="square"/>
                    <a:lstStyle/>
                    <a:p>
                      <a:r>
                        <a:rPr sz="1050">
                          <a:solidFill>
                            <a:srgbClr val="1A1A1A"/>
                          </a:solidFill>
                        </a:rPr>
                        <a:t>Bank, telecom, Pathao, marketplace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Most digital platforms are value NETWORKS: their value grows with the number of connected members (network effects, Unit 2), not with production efficiency (chain) or expertise (shop). Naming the configuration tells you what drives the firm's value.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99 / 142</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Value Creation vs Capture; Chain, Shop, Network</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handset assembler is a value CHAIN (inputs -&gt; phones). A Kathmandu hospital or an audit firm is a value SHOP (diagnose and solve each client's problem). Pathao and eSewa are value NETWORKS — they create value by connecting members, and that value grows with network size. Separately, HOW each captures value (its business model, S22) is a different question: the network Pathao creates is captured via commission.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"Every business creates value the same way." There are three distinct configurations: chain (make things), shop (solve problems), network (connect people). And value CREATION (how value is generated) is not value CAPTURE (how money is earned, S22). A firm can create value as a network yet capture it via commission, ads, or subscription.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Value creation is how a firm generates value; value capture (the business model, S22) is how it earns money — two different questions. Stabell &amp; Fjeldstad give three creation configurations: value chain (transform inputs into outputs — factory), value shop (diagnose and solve a unique problem — hospital, consultancy), and value network (connect members so they create value for each other — bank, telecom, platform). Most digital platforms are value networks, whose value grows with network size.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value creation vs capture · value chain (make) · value shop (solve) · value network (connect) · platforms = networks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100 / 142</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7 Digital Value-Creation Models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Beyond the classic three, digital markets create value in seven observed ways: (1) PLATFORM/ECOSYSTEM (connect and orchestrate many participants); (2) DATA-DRIVEN (turn usage data into a better product); (3) DATA-MONETIZATION (sell insights/targeting); (4) ADVERTISING/ATTENTION (monetise engagement); (5) MULTI-STAKEHOLDER (create value for several groups at once); (6) EXPERIENCE (a superior, personalised experience); (7) VALUE-LOOP (a self-reinforcing feedback loop where use creates more value). These are digital SPECIALISATIONS of the value-network logic.</a:t>
            </a:r>
          </a:p>
          <a:p>
            <a:pPr>
              <a:spcAft>
                <a:spcPts val="500"/>
              </a:spcAft>
            </a:pPr>
            <a:r>
              <a:rPr sz="1200" b="1">
                <a:solidFill>
                  <a:srgbClr val="185FA5"/>
                </a:solidFill>
              </a:rPr>
              <a:t>HOW IT WORKS</a:t>
            </a:r>
          </a:p>
          <a:p>
            <a:pPr>
              <a:spcAft>
                <a:spcPts val="600"/>
              </a:spcAft>
            </a:pPr>
            <a:r>
              <a:rPr sz="1400">
                <a:solidFill>
                  <a:srgbClr val="1A1A1A"/>
                </a:solidFill>
              </a:rPr>
              <a:t>•  Platform/ecosystem &amp; multi-stakeholder: orchestrate value among many connected groups.</a:t>
            </a:r>
          </a:p>
          <a:p>
            <a:pPr>
              <a:spcAft>
                <a:spcPts val="600"/>
              </a:spcAft>
            </a:pPr>
            <a:r>
              <a:rPr sz="1400">
                <a:solidFill>
                  <a:srgbClr val="1A1A1A"/>
                </a:solidFill>
              </a:rPr>
              <a:t>•  Data-driven &amp; data-monetization: usage data becomes a better product or a sold asset.</a:t>
            </a:r>
          </a:p>
          <a:p>
            <a:pPr>
              <a:spcAft>
                <a:spcPts val="600"/>
              </a:spcAft>
            </a:pPr>
            <a:r>
              <a:rPr sz="1400">
                <a:solidFill>
                  <a:srgbClr val="1A1A1A"/>
                </a:solidFill>
              </a:rPr>
              <a:t>•  Advertising/attention &amp; experience: monetise engagement, or a superior experience.</a:t>
            </a:r>
          </a:p>
          <a:p>
            <a:pPr>
              <a:spcAft>
                <a:spcPts val="600"/>
              </a:spcAft>
            </a:pPr>
            <a:r>
              <a:rPr sz="1400">
                <a:solidFill>
                  <a:srgbClr val="1A1A1A"/>
                </a:solidFill>
              </a:rPr>
              <a:t>•  Value-loop: a self-reinforcing loop (use -&gt; data/value -&gt; more use) — like Unit 2's flywheel.</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Seven digital value-creation models: platform/ecosystem · data-driven · data-monetization · advertising · multi-stakeholder · experience · value-loop.</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101 / 142</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7 digital value-creation models — examples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857499"/>
                <a:gridCol w="4202205"/>
                <a:gridCol w="4370294"/>
              </a:tblGrid>
              <a:tr h="552069">
                <a:tc>
                  <a:txBody>
                    <a:bodyPr wrap="square"/>
                    <a:lstStyle/>
                    <a:p>
                      <a:r>
                        <a:rPr sz="1100" b="1">
                          <a:solidFill>
                            <a:srgbClr val="FFFFFF"/>
                          </a:solidFill>
                        </a:rPr>
                        <a:t>Model</a:t>
                      </a:r>
                    </a:p>
                  </a:txBody>
                  <a:tcPr anchor="ctr" marL="73152" marR="54864" marT="27432" marB="27432">
                    <a:solidFill>
                      <a:srgbClr val="0C2B4A"/>
                    </a:solidFill>
                  </a:tcPr>
                </a:tc>
                <a:tc>
                  <a:txBody>
                    <a:bodyPr wrap="square"/>
                    <a:lstStyle/>
                    <a:p>
                      <a:r>
                        <a:rPr sz="1100" b="1">
                          <a:solidFill>
                            <a:srgbClr val="FFFFFF"/>
                          </a:solidFill>
                        </a:rPr>
                        <a:t>How value is created</a:t>
                      </a:r>
                    </a:p>
                  </a:txBody>
                  <a:tcPr anchor="ctr" marL="73152" marR="54864" marT="27432" marB="27432">
                    <a:solidFill>
                      <a:srgbClr val="0C2B4A"/>
                    </a:solidFill>
                  </a:tcPr>
                </a:tc>
                <a:tc>
                  <a:txBody>
                    <a:bodyPr wrap="square"/>
                    <a:lstStyle/>
                    <a:p>
                      <a:r>
                        <a:rPr sz="1100" b="1">
                          <a:solidFill>
                            <a:srgbClr val="FFFFFF"/>
                          </a:solidFill>
                        </a:rPr>
                        <a:t>Example</a:t>
                      </a:r>
                    </a:p>
                  </a:txBody>
                  <a:tcPr anchor="ctr" marL="73152" marR="54864" marT="27432" marB="27432">
                    <a:solidFill>
                      <a:srgbClr val="0C2B4A"/>
                    </a:solidFill>
                  </a:tcPr>
                </a:tc>
              </a:tr>
              <a:tr h="552069">
                <a:tc>
                  <a:txBody>
                    <a:bodyPr wrap="square"/>
                    <a:lstStyle/>
                    <a:p>
                      <a:r>
                        <a:rPr sz="1050" b="1">
                          <a:solidFill>
                            <a:srgbClr val="0C2B4A"/>
                          </a:solidFill>
                        </a:rPr>
                        <a:t>Platform / ecosystem</a:t>
                      </a:r>
                    </a:p>
                  </a:txBody>
                  <a:tcPr anchor="ctr" marL="73152" marR="54864" marT="27432" marB="27432">
                    <a:solidFill>
                      <a:srgbClr val="FFFFFF"/>
                    </a:solidFill>
                  </a:tcPr>
                </a:tc>
                <a:tc>
                  <a:txBody>
                    <a:bodyPr wrap="square"/>
                    <a:lstStyle/>
                    <a:p>
                      <a:r>
                        <a:rPr sz="1050">
                          <a:solidFill>
                            <a:srgbClr val="1A1A1A"/>
                          </a:solidFill>
                        </a:rPr>
                        <a:t>Orchestrate many participants</a:t>
                      </a:r>
                    </a:p>
                  </a:txBody>
                  <a:tcPr anchor="ctr" marL="73152" marR="54864" marT="27432" marB="27432">
                    <a:solidFill>
                      <a:srgbClr val="FFFFFF"/>
                    </a:solidFill>
                  </a:tcPr>
                </a:tc>
                <a:tc>
                  <a:txBody>
                    <a:bodyPr wrap="square"/>
                    <a:lstStyle/>
                    <a:p>
                      <a:r>
                        <a:rPr sz="1050">
                          <a:solidFill>
                            <a:srgbClr val="1A1A1A"/>
                          </a:solidFill>
                        </a:rPr>
                        <a:t>Pathao, Daraz, Apple ecosystem</a:t>
                      </a:r>
                    </a:p>
                  </a:txBody>
                  <a:tcPr anchor="ctr" marL="73152" marR="54864" marT="27432" marB="27432">
                    <a:solidFill>
                      <a:srgbClr val="FFFFFF"/>
                    </a:solidFill>
                  </a:tcPr>
                </a:tc>
              </a:tr>
              <a:tr h="552069">
                <a:tc>
                  <a:txBody>
                    <a:bodyPr wrap="square"/>
                    <a:lstStyle/>
                    <a:p>
                      <a:r>
                        <a:rPr sz="1050" b="1">
                          <a:solidFill>
                            <a:srgbClr val="0C2B4A"/>
                          </a:solidFill>
                        </a:rPr>
                        <a:t>Data-driven</a:t>
                      </a:r>
                    </a:p>
                  </a:txBody>
                  <a:tcPr anchor="ctr" marL="73152" marR="54864" marT="27432" marB="27432">
                    <a:solidFill>
                      <a:srgbClr val="EEF3F8"/>
                    </a:solidFill>
                  </a:tcPr>
                </a:tc>
                <a:tc>
                  <a:txBody>
                    <a:bodyPr wrap="square"/>
                    <a:lstStyle/>
                    <a:p>
                      <a:r>
                        <a:rPr sz="1050">
                          <a:solidFill>
                            <a:srgbClr val="1A1A1A"/>
                          </a:solidFill>
                        </a:rPr>
                        <a:t>Usage data -&gt; better product</a:t>
                      </a:r>
                    </a:p>
                  </a:txBody>
                  <a:tcPr anchor="ctr" marL="73152" marR="54864" marT="27432" marB="27432">
                    <a:solidFill>
                      <a:srgbClr val="EEF3F8"/>
                    </a:solidFill>
                  </a:tcPr>
                </a:tc>
                <a:tc>
                  <a:txBody>
                    <a:bodyPr wrap="square"/>
                    <a:lstStyle/>
                    <a:p>
                      <a:r>
                        <a:rPr sz="1050">
                          <a:solidFill>
                            <a:srgbClr val="1A1A1A"/>
                          </a:solidFill>
                        </a:rPr>
                        <a:t>Google Maps, TikTok feed</a:t>
                      </a:r>
                    </a:p>
                  </a:txBody>
                  <a:tcPr anchor="ctr" marL="73152" marR="54864" marT="27432" marB="27432">
                    <a:solidFill>
                      <a:srgbClr val="EEF3F8"/>
                    </a:solidFill>
                  </a:tcPr>
                </a:tc>
              </a:tr>
              <a:tr h="552069">
                <a:tc>
                  <a:txBody>
                    <a:bodyPr wrap="square"/>
                    <a:lstStyle/>
                    <a:p>
                      <a:r>
                        <a:rPr sz="1050" b="1">
                          <a:solidFill>
                            <a:srgbClr val="0C2B4A"/>
                          </a:solidFill>
                        </a:rPr>
                        <a:t>Data-monetization</a:t>
                      </a:r>
                    </a:p>
                  </a:txBody>
                  <a:tcPr anchor="ctr" marL="73152" marR="54864" marT="27432" marB="27432">
                    <a:solidFill>
                      <a:srgbClr val="FFFFFF"/>
                    </a:solidFill>
                  </a:tcPr>
                </a:tc>
                <a:tc>
                  <a:txBody>
                    <a:bodyPr wrap="square"/>
                    <a:lstStyle/>
                    <a:p>
                      <a:r>
                        <a:rPr sz="1050">
                          <a:solidFill>
                            <a:srgbClr val="1A1A1A"/>
                          </a:solidFill>
                        </a:rPr>
                        <a:t>Sell insights / targeting</a:t>
                      </a:r>
                    </a:p>
                  </a:txBody>
                  <a:tcPr anchor="ctr" marL="73152" marR="54864" marT="27432" marB="27432">
                    <a:solidFill>
                      <a:srgbClr val="FFFFFF"/>
                    </a:solidFill>
                  </a:tcPr>
                </a:tc>
                <a:tc>
                  <a:txBody>
                    <a:bodyPr wrap="square"/>
                    <a:lstStyle/>
                    <a:p>
                      <a:r>
                        <a:rPr sz="1050">
                          <a:solidFill>
                            <a:srgbClr val="1A1A1A"/>
                          </a:solidFill>
                        </a:rPr>
                        <a:t>Ad networks, analytics firms</a:t>
                      </a:r>
                    </a:p>
                  </a:txBody>
                  <a:tcPr anchor="ctr" marL="73152" marR="54864" marT="27432" marB="27432">
                    <a:solidFill>
                      <a:srgbClr val="FFFFFF"/>
                    </a:solidFill>
                  </a:tcPr>
                </a:tc>
              </a:tr>
              <a:tr h="552069">
                <a:tc>
                  <a:txBody>
                    <a:bodyPr wrap="square"/>
                    <a:lstStyle/>
                    <a:p>
                      <a:r>
                        <a:rPr sz="1050" b="1">
                          <a:solidFill>
                            <a:srgbClr val="0C2B4A"/>
                          </a:solidFill>
                        </a:rPr>
                        <a:t>Advertising / attention</a:t>
                      </a:r>
                    </a:p>
                  </a:txBody>
                  <a:tcPr anchor="ctr" marL="73152" marR="54864" marT="27432" marB="27432">
                    <a:solidFill>
                      <a:srgbClr val="EEF3F8"/>
                    </a:solidFill>
                  </a:tcPr>
                </a:tc>
                <a:tc>
                  <a:txBody>
                    <a:bodyPr wrap="square"/>
                    <a:lstStyle/>
                    <a:p>
                      <a:r>
                        <a:rPr sz="1050">
                          <a:solidFill>
                            <a:srgbClr val="1A1A1A"/>
                          </a:solidFill>
                        </a:rPr>
                        <a:t>Monetise engagement</a:t>
                      </a:r>
                    </a:p>
                  </a:txBody>
                  <a:tcPr anchor="ctr" marL="73152" marR="54864" marT="27432" marB="27432">
                    <a:solidFill>
                      <a:srgbClr val="EEF3F8"/>
                    </a:solidFill>
                  </a:tcPr>
                </a:tc>
                <a:tc>
                  <a:txBody>
                    <a:bodyPr wrap="square"/>
                    <a:lstStyle/>
                    <a:p>
                      <a:r>
                        <a:rPr sz="1050">
                          <a:solidFill>
                            <a:srgbClr val="1A1A1A"/>
                          </a:solidFill>
                        </a:rPr>
                        <a:t>Meta, YouTube, TikTok</a:t>
                      </a:r>
                    </a:p>
                  </a:txBody>
                  <a:tcPr anchor="ctr" marL="73152" marR="54864" marT="27432" marB="27432">
                    <a:solidFill>
                      <a:srgbClr val="EEF3F8"/>
                    </a:solidFill>
                  </a:tcPr>
                </a:tc>
              </a:tr>
              <a:tr h="552069">
                <a:tc>
                  <a:txBody>
                    <a:bodyPr wrap="square"/>
                    <a:lstStyle/>
                    <a:p>
                      <a:r>
                        <a:rPr sz="1050" b="1">
                          <a:solidFill>
                            <a:srgbClr val="0C2B4A"/>
                          </a:solidFill>
                        </a:rPr>
                        <a:t>Multi-stakeholder</a:t>
                      </a:r>
                    </a:p>
                  </a:txBody>
                  <a:tcPr anchor="ctr" marL="73152" marR="54864" marT="27432" marB="27432">
                    <a:solidFill>
                      <a:srgbClr val="FFFFFF"/>
                    </a:solidFill>
                  </a:tcPr>
                </a:tc>
                <a:tc>
                  <a:txBody>
                    <a:bodyPr wrap="square"/>
                    <a:lstStyle/>
                    <a:p>
                      <a:r>
                        <a:rPr sz="1050">
                          <a:solidFill>
                            <a:srgbClr val="1A1A1A"/>
                          </a:solidFill>
                        </a:rPr>
                        <a:t>Value for several groups at once</a:t>
                      </a:r>
                    </a:p>
                  </a:txBody>
                  <a:tcPr anchor="ctr" marL="73152" marR="54864" marT="27432" marB="27432">
                    <a:solidFill>
                      <a:srgbClr val="FFFFFF"/>
                    </a:solidFill>
                  </a:tcPr>
                </a:tc>
                <a:tc>
                  <a:txBody>
                    <a:bodyPr wrap="square"/>
                    <a:lstStyle/>
                    <a:p>
                      <a:r>
                        <a:rPr sz="1050">
                          <a:solidFill>
                            <a:srgbClr val="1A1A1A"/>
                          </a:solidFill>
                        </a:rPr>
                        <a:t>eSewa (users/merchants/banks)</a:t>
                      </a:r>
                    </a:p>
                  </a:txBody>
                  <a:tcPr anchor="ctr" marL="73152" marR="54864" marT="27432" marB="27432">
                    <a:solidFill>
                      <a:srgbClr val="FFFFFF"/>
                    </a:solidFill>
                  </a:tcPr>
                </a:tc>
              </a:tr>
              <a:tr h="552069">
                <a:tc>
                  <a:txBody>
                    <a:bodyPr wrap="square"/>
                    <a:lstStyle/>
                    <a:p>
                      <a:r>
                        <a:rPr sz="1050" b="1">
                          <a:solidFill>
                            <a:srgbClr val="0C2B4A"/>
                          </a:solidFill>
                        </a:rPr>
                        <a:t>Experience</a:t>
                      </a:r>
                    </a:p>
                  </a:txBody>
                  <a:tcPr anchor="ctr" marL="73152" marR="54864" marT="27432" marB="27432">
                    <a:solidFill>
                      <a:srgbClr val="EEF3F8"/>
                    </a:solidFill>
                  </a:tcPr>
                </a:tc>
                <a:tc>
                  <a:txBody>
                    <a:bodyPr wrap="square"/>
                    <a:lstStyle/>
                    <a:p>
                      <a:r>
                        <a:rPr sz="1050">
                          <a:solidFill>
                            <a:srgbClr val="1A1A1A"/>
                          </a:solidFill>
                        </a:rPr>
                        <a:t>Superior, personalised experience</a:t>
                      </a:r>
                    </a:p>
                  </a:txBody>
                  <a:tcPr anchor="ctr" marL="73152" marR="54864" marT="27432" marB="27432">
                    <a:solidFill>
                      <a:srgbClr val="EEF3F8"/>
                    </a:solidFill>
                  </a:tcPr>
                </a:tc>
                <a:tc>
                  <a:txBody>
                    <a:bodyPr wrap="square"/>
                    <a:lstStyle/>
                    <a:p>
                      <a:r>
                        <a:rPr sz="1050">
                          <a:solidFill>
                            <a:srgbClr val="1A1A1A"/>
                          </a:solidFill>
                        </a:rPr>
                        <a:t>Netflix, Spotify personalisation</a:t>
                      </a:r>
                    </a:p>
                  </a:txBody>
                  <a:tcPr anchor="ctr" marL="73152" marR="54864" marT="27432" marB="27432">
                    <a:solidFill>
                      <a:srgbClr val="EEF3F8"/>
                    </a:solidFill>
                  </a:tcPr>
                </a:tc>
              </a:tr>
              <a:tr h="552069">
                <a:tc>
                  <a:txBody>
                    <a:bodyPr wrap="square"/>
                    <a:lstStyle/>
                    <a:p>
                      <a:r>
                        <a:rPr sz="1050" b="1">
                          <a:solidFill>
                            <a:srgbClr val="0C2B4A"/>
                          </a:solidFill>
                        </a:rPr>
                        <a:t>Value-loop</a:t>
                      </a:r>
                    </a:p>
                  </a:txBody>
                  <a:tcPr anchor="ctr" marL="73152" marR="54864" marT="27432" marB="27432">
                    <a:solidFill>
                      <a:srgbClr val="FFFFFF"/>
                    </a:solidFill>
                  </a:tcPr>
                </a:tc>
                <a:tc>
                  <a:txBody>
                    <a:bodyPr wrap="square"/>
                    <a:lstStyle/>
                    <a:p>
                      <a:r>
                        <a:rPr sz="1050">
                          <a:solidFill>
                            <a:srgbClr val="1A1A1A"/>
                          </a:solidFill>
                        </a:rPr>
                        <a:t>Self-reinforcing feedback loop</a:t>
                      </a:r>
                    </a:p>
                  </a:txBody>
                  <a:tcPr anchor="ctr" marL="73152" marR="54864" marT="27432" marB="27432">
                    <a:solidFill>
                      <a:srgbClr val="FFFFFF"/>
                    </a:solidFill>
                  </a:tcPr>
                </a:tc>
                <a:tc>
                  <a:txBody>
                    <a:bodyPr wrap="square"/>
                    <a:lstStyle/>
                    <a:p>
                      <a:r>
                        <a:rPr sz="1050">
                          <a:solidFill>
                            <a:srgbClr val="1A1A1A"/>
                          </a:solidFill>
                        </a:rPr>
                        <a:t>Amazon flywheel; TikTok use-&gt;feed</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These seven overlap and combine — they are digital specialisations of the value-NETWORK logic. Notice several depend on data and network size, the forces from Unit 2, and the value-loop is the flywheel by another name.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102 / 142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7 Digital Value-Creation Models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eSewa creates value as a MULTI-STAKEHOLDER platform (users, merchants, banks, billers all gain) and a PLATFORM/ECOSYSTEM (orchestrating payments). TikTok creates value as DATA-DRIVEN (every swipe improves the feed), ADVERTISING/ATTENTION, and a VALUE-LOOP (use -&gt; better feed -&gt; more use). Firms usually combine several of the seven — and all are digital versions of the value-network logic, powered by data and network size.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"Digital firms all create value the same way (they just connect people)." Connecting is the base, but digital value creation specialises into seven forms — data-driven, data-monetization, advertising, multi-stakeholder, experience, value-loop, and platform/ecosystem. Most firms combine several, and the value-loop is Unit 2's flywheel reappearing as value creation.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markets create value in seven observed ways: platform/ecosystem (connect and orchestrate participants), data-driven (usage data -&gt; better product), data-monetization (sell insights/targeting), advertising/attention (monetise engagement), multi-stakeholder (value for several groups at once), experience (superior personalised experience), and value-loop (self-reinforcing feedback — Unit 2's flywheel). These are digital specialisations of the value-network logic; firms usually combine several.</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platform/ecosystem · data-driven · data-monetization · advertising · multi-stakeholder · experience · value-loop</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103 / 142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Orchestration &amp; the Inputs-&gt;Process-&gt;Outputs-&gt;Impact Framework</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platform does not produce value directly — it ORCHESTRATES it: setting the rules, matching participants, ensuring trust, and steering the ecosystem so members create value for each other ('Uber doesn't drive cars — it orchestrates value creation'). A simple way to map any value-creation process is Inputs -&gt; Process -&gt; Outputs -&gt; Impact: what goes in (participants, data), what the platform does (match, govern), what comes out (transactions, experiences), and the wider impact (jobs, market growth, financial inclusion).</a:t>
            </a:r>
          </a:p>
          <a:p>
            <a:pPr>
              <a:spcAft>
                <a:spcPts val="500"/>
              </a:spcAft>
            </a:pPr>
            <a:r>
              <a:rPr sz="1200" b="1">
                <a:solidFill>
                  <a:srgbClr val="185FA5"/>
                </a:solidFill>
              </a:rPr>
              <a:t>HOW IT WORKS</a:t>
            </a:r>
          </a:p>
          <a:p>
            <a:pPr>
              <a:spcAft>
                <a:spcPts val="600"/>
              </a:spcAft>
            </a:pPr>
            <a:r>
              <a:rPr sz="1400">
                <a:solidFill>
                  <a:srgbClr val="1A1A1A"/>
                </a:solidFill>
              </a:rPr>
              <a:t>•  Orchestration: the platform sets rules, matches, ensures trust, steers the ecosystem.</a:t>
            </a:r>
          </a:p>
          <a:p>
            <a:pPr>
              <a:spcAft>
                <a:spcPts val="600"/>
              </a:spcAft>
            </a:pPr>
            <a:r>
              <a:rPr sz="1400">
                <a:solidFill>
                  <a:srgbClr val="1A1A1A"/>
                </a:solidFill>
              </a:rPr>
              <a:t>•  It enables value it doesn't produce — participants create it for each other.</a:t>
            </a:r>
          </a:p>
          <a:p>
            <a:pPr>
              <a:spcAft>
                <a:spcPts val="600"/>
              </a:spcAft>
            </a:pPr>
            <a:r>
              <a:rPr sz="1400">
                <a:solidFill>
                  <a:srgbClr val="1A1A1A"/>
                </a:solidFill>
              </a:rPr>
              <a:t>•  Inputs -&gt; Process -&gt; Outputs -&gt; Impact maps any value-creation flow end to end.</a:t>
            </a:r>
          </a:p>
          <a:p>
            <a:pPr>
              <a:spcAft>
                <a:spcPts val="600"/>
              </a:spcAft>
            </a:pPr>
            <a:r>
              <a:rPr sz="1400">
                <a:solidFill>
                  <a:srgbClr val="1A1A1A"/>
                </a:solidFill>
              </a:rPr>
              <a:t>•  Impact is the wider effect: jobs, market growth, financial inclusion (Nepal).</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Platforms ORCHESTRATE value (don't produce it). Map it: Inputs -&gt; Process -&gt; Outputs -&gt; Impact.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104 / 142</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Business model vs value-creation model (disambiguation)</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50434"/>
                <a:gridCol w="4306956"/>
                <a:gridCol w="4472608"/>
              </a:tblGrid>
              <a:tr h="736092">
                <a:tc>
                  <a:txBody>
                    <a:bodyPr wrap="square"/>
                    <a:lstStyle/>
                    <a:p>
                      <a:r>
                        <a:rPr sz="1150" b="1">
                          <a:solidFill>
                            <a:srgbClr val="FFFFFF"/>
                          </a:solidFill>
                        </a:rPr>
                        <a:t>Question</a:t>
                      </a:r>
                    </a:p>
                  </a:txBody>
                  <a:tcPr anchor="ctr" marL="73152" marR="54864" marT="27432" marB="27432">
                    <a:solidFill>
                      <a:srgbClr val="0C2B4A"/>
                    </a:solidFill>
                  </a:tcPr>
                </a:tc>
                <a:tc>
                  <a:txBody>
                    <a:bodyPr wrap="square"/>
                    <a:lstStyle/>
                    <a:p>
                      <a:r>
                        <a:rPr sz="1150" b="1">
                          <a:solidFill>
                            <a:srgbClr val="FFFFFF"/>
                          </a:solidFill>
                        </a:rPr>
                        <a:t>Business model (S22)</a:t>
                      </a:r>
                    </a:p>
                  </a:txBody>
                  <a:tcPr anchor="ctr" marL="73152" marR="54864" marT="27432" marB="27432">
                    <a:solidFill>
                      <a:srgbClr val="0C2B4A"/>
                    </a:solidFill>
                  </a:tcPr>
                </a:tc>
                <a:tc>
                  <a:txBody>
                    <a:bodyPr wrap="square"/>
                    <a:lstStyle/>
                    <a:p>
                      <a:r>
                        <a:rPr sz="1150" b="1">
                          <a:solidFill>
                            <a:srgbClr val="FFFFFF"/>
                          </a:solidFill>
                        </a:rPr>
                        <a:t>Value-creation model (S23)</a:t>
                      </a:r>
                    </a:p>
                  </a:txBody>
                  <a:tcPr anchor="ctr" marL="73152" marR="54864" marT="27432" marB="27432">
                    <a:solidFill>
                      <a:srgbClr val="0C2B4A"/>
                    </a:solidFill>
                  </a:tcPr>
                </a:tc>
              </a:tr>
              <a:tr h="736092">
                <a:tc>
                  <a:txBody>
                    <a:bodyPr wrap="square"/>
                    <a:lstStyle/>
                    <a:p>
                      <a:r>
                        <a:rPr sz="1100" b="1">
                          <a:solidFill>
                            <a:srgbClr val="0C2B4A"/>
                          </a:solidFill>
                        </a:rPr>
                        <a:t>Asks</a:t>
                      </a:r>
                    </a:p>
                  </a:txBody>
                  <a:tcPr anchor="ctr" marL="73152" marR="54864" marT="27432" marB="27432">
                    <a:solidFill>
                      <a:srgbClr val="FFFFFF"/>
                    </a:solidFill>
                  </a:tcPr>
                </a:tc>
                <a:tc>
                  <a:txBody>
                    <a:bodyPr wrap="square"/>
                    <a:lstStyle/>
                    <a:p>
                      <a:r>
                        <a:rPr sz="1100">
                          <a:solidFill>
                            <a:srgbClr val="1A1A1A"/>
                          </a:solidFill>
                        </a:rPr>
                        <a:t>How do you EARN money?</a:t>
                      </a:r>
                    </a:p>
                  </a:txBody>
                  <a:tcPr anchor="ctr" marL="73152" marR="54864" marT="27432" marB="27432">
                    <a:solidFill>
                      <a:srgbClr val="FFFFFF"/>
                    </a:solidFill>
                  </a:tcPr>
                </a:tc>
                <a:tc>
                  <a:txBody>
                    <a:bodyPr wrap="square"/>
                    <a:lstStyle/>
                    <a:p>
                      <a:r>
                        <a:rPr sz="1100">
                          <a:solidFill>
                            <a:srgbClr val="1A1A1A"/>
                          </a:solidFill>
                        </a:rPr>
                        <a:t>How is value GENERATED?</a:t>
                      </a:r>
                    </a:p>
                  </a:txBody>
                  <a:tcPr anchor="ctr" marL="73152" marR="54864" marT="27432" marB="27432">
                    <a:solidFill>
                      <a:srgbClr val="FFFFFF"/>
                    </a:solidFill>
                  </a:tcPr>
                </a:tc>
              </a:tr>
              <a:tr h="736092">
                <a:tc>
                  <a:txBody>
                    <a:bodyPr wrap="square"/>
                    <a:lstStyle/>
                    <a:p>
                      <a:r>
                        <a:rPr sz="1100" b="1">
                          <a:solidFill>
                            <a:srgbClr val="0C2B4A"/>
                          </a:solidFill>
                        </a:rPr>
                        <a:t>Focus</a:t>
                      </a:r>
                    </a:p>
                  </a:txBody>
                  <a:tcPr anchor="ctr" marL="73152" marR="54864" marT="27432" marB="27432">
                    <a:solidFill>
                      <a:srgbClr val="EEF3F8"/>
                    </a:solidFill>
                  </a:tcPr>
                </a:tc>
                <a:tc>
                  <a:txBody>
                    <a:bodyPr wrap="square"/>
                    <a:lstStyle/>
                    <a:p>
                      <a:r>
                        <a:rPr sz="1100">
                          <a:solidFill>
                            <a:srgbClr val="1A1A1A"/>
                          </a:solidFill>
                        </a:rPr>
                        <a:t>Revenue / capture mechanism</a:t>
                      </a:r>
                    </a:p>
                  </a:txBody>
                  <a:tcPr anchor="ctr" marL="73152" marR="54864" marT="27432" marB="27432">
                    <a:solidFill>
                      <a:srgbClr val="EEF3F8"/>
                    </a:solidFill>
                  </a:tcPr>
                </a:tc>
                <a:tc>
                  <a:txBody>
                    <a:bodyPr wrap="square"/>
                    <a:lstStyle/>
                    <a:p>
                      <a:r>
                        <a:rPr sz="1100">
                          <a:solidFill>
                            <a:srgbClr val="1A1A1A"/>
                          </a:solidFill>
                        </a:rPr>
                        <a:t>Configuration of value activities</a:t>
                      </a:r>
                    </a:p>
                  </a:txBody>
                  <a:tcPr anchor="ctr" marL="73152" marR="54864" marT="27432" marB="27432">
                    <a:solidFill>
                      <a:srgbClr val="EEF3F8"/>
                    </a:solidFill>
                  </a:tcPr>
                </a:tc>
              </a:tr>
              <a:tr h="736092">
                <a:tc>
                  <a:txBody>
                    <a:bodyPr wrap="square"/>
                    <a:lstStyle/>
                    <a:p>
                      <a:r>
                        <a:rPr sz="1100" b="1">
                          <a:solidFill>
                            <a:srgbClr val="0C2B4A"/>
                          </a:solidFill>
                        </a:rPr>
                        <a:t>Example labels</a:t>
                      </a:r>
                    </a:p>
                  </a:txBody>
                  <a:tcPr anchor="ctr" marL="73152" marR="54864" marT="27432" marB="27432">
                    <a:solidFill>
                      <a:srgbClr val="FFFFFF"/>
                    </a:solidFill>
                  </a:tcPr>
                </a:tc>
                <a:tc>
                  <a:txBody>
                    <a:bodyPr wrap="square"/>
                    <a:lstStyle/>
                    <a:p>
                      <a:r>
                        <a:rPr sz="1100">
                          <a:solidFill>
                            <a:srgbClr val="1A1A1A"/>
                          </a:solidFill>
                        </a:rPr>
                        <a:t>Subscription, ads, commission</a:t>
                      </a:r>
                    </a:p>
                  </a:txBody>
                  <a:tcPr anchor="ctr" marL="73152" marR="54864" marT="27432" marB="27432">
                    <a:solidFill>
                      <a:srgbClr val="FFFFFF"/>
                    </a:solidFill>
                  </a:tcPr>
                </a:tc>
                <a:tc>
                  <a:txBody>
                    <a:bodyPr wrap="square"/>
                    <a:lstStyle/>
                    <a:p>
                      <a:r>
                        <a:rPr sz="1100">
                          <a:solidFill>
                            <a:srgbClr val="1A1A1A"/>
                          </a:solidFill>
                        </a:rPr>
                        <a:t>Chain, shop, network; the 7 digital</a:t>
                      </a:r>
                    </a:p>
                  </a:txBody>
                  <a:tcPr anchor="ctr" marL="73152" marR="54864" marT="27432" marB="27432">
                    <a:solidFill>
                      <a:srgbClr val="FFFFFF"/>
                    </a:solidFill>
                  </a:tcPr>
                </a:tc>
              </a:tr>
              <a:tr h="736092">
                <a:tc>
                  <a:txBody>
                    <a:bodyPr wrap="square"/>
                    <a:lstStyle/>
                    <a:p>
                      <a:r>
                        <a:rPr sz="1100" b="1">
                          <a:solidFill>
                            <a:srgbClr val="0C2B4A"/>
                          </a:solidFill>
                        </a:rPr>
                        <a:t>Pathao</a:t>
                      </a:r>
                    </a:p>
                  </a:txBody>
                  <a:tcPr anchor="ctr" marL="73152" marR="54864" marT="27432" marB="27432">
                    <a:solidFill>
                      <a:srgbClr val="EEF3F8"/>
                    </a:solidFill>
                  </a:tcPr>
                </a:tc>
                <a:tc>
                  <a:txBody>
                    <a:bodyPr wrap="square"/>
                    <a:lstStyle/>
                    <a:p>
                      <a:r>
                        <a:rPr sz="1100">
                          <a:solidFill>
                            <a:srgbClr val="1A1A1A"/>
                          </a:solidFill>
                        </a:rPr>
                        <a:t>Commission (platform model)</a:t>
                      </a:r>
                    </a:p>
                  </a:txBody>
                  <a:tcPr anchor="ctr" marL="73152" marR="54864" marT="27432" marB="27432">
                    <a:solidFill>
                      <a:srgbClr val="EEF3F8"/>
                    </a:solidFill>
                  </a:tcPr>
                </a:tc>
                <a:tc>
                  <a:txBody>
                    <a:bodyPr wrap="square"/>
                    <a:lstStyle/>
                    <a:p>
                      <a:r>
                        <a:rPr sz="1100">
                          <a:solidFill>
                            <a:srgbClr val="1A1A1A"/>
                          </a:solidFill>
                        </a:rPr>
                        <a:t>Value network (connect riders/drivers)</a:t>
                      </a:r>
                    </a:p>
                  </a:txBody>
                  <a:tcPr anchor="ctr" marL="73152" marR="54864" marT="27432" marB="27432">
                    <a:solidFill>
                      <a:srgbClr val="EEF3F8"/>
                    </a:solidFill>
                  </a:tcPr>
                </a:tc>
              </a:tr>
              <a:tr h="736092">
                <a:tc>
                  <a:txBody>
                    <a:bodyPr wrap="square"/>
                    <a:lstStyle/>
                    <a:p>
                      <a:r>
                        <a:rPr sz="1100" b="1">
                          <a:solidFill>
                            <a:srgbClr val="0C2B4A"/>
                          </a:solidFill>
                        </a:rPr>
                        <a:t>Relationship</a:t>
                      </a:r>
                    </a:p>
                  </a:txBody>
                  <a:tcPr anchor="ctr" marL="73152" marR="54864" marT="27432" marB="27432">
                    <a:solidFill>
                      <a:srgbClr val="FFFFFF"/>
                    </a:solidFill>
                  </a:tcPr>
                </a:tc>
                <a:tc>
                  <a:txBody>
                    <a:bodyPr wrap="square"/>
                    <a:lstStyle/>
                    <a:p>
                      <a:r>
                        <a:rPr sz="1100">
                          <a:solidFill>
                            <a:srgbClr val="1A1A1A"/>
                          </a:solidFill>
                        </a:rPr>
                        <a:t>How you capture the value…</a:t>
                      </a:r>
                    </a:p>
                  </a:txBody>
                  <a:tcPr anchor="ctr" marL="73152" marR="54864" marT="27432" marB="27432">
                    <a:solidFill>
                      <a:srgbClr val="FFFFFF"/>
                    </a:solidFill>
                  </a:tcPr>
                </a:tc>
                <a:tc>
                  <a:txBody>
                    <a:bodyPr wrap="square"/>
                    <a:lstStyle/>
                    <a:p>
                      <a:r>
                        <a:rPr sz="1100">
                          <a:solidFill>
                            <a:srgbClr val="1A1A1A"/>
                          </a:solidFill>
                        </a:rPr>
                        <a:t>…the value you created here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Keep them distinct: value CREATION is how value is generated (chain/shop/network + the 7); the business model is how that value is CAPTURED as revenue (S22). A firm chooses both — Pathao creates as a network, captures via commission.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105 / 142</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Orchestration &amp; Inputs-&gt;Process-&gt;Outputs-&gt;Impact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Pathao orchestrates rather than produces: it sets fares and rules, matches riders to drivers, and ensures trust via ratings — the drivers create the rides. Mapped: Inputs (drivers, riders, data) -&gt; Process (match, price, govern) -&gt; Outputs (completed rides, ratings) -&gt; Impact (driver incomes, urban mobility, less idle capacity). This shows value CREATION (a network, orchestrated); its business model (S22) is how it CAPTURES that value — commission.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platform produces its service like a factory." A platform ORCHESTRATES value it doesn't produce — it sets rules, matches, and ensures trust while members create the value. And don't confuse value creation (how value is generated — a network here) with the business model (how it's captured — commission). Both are chosen deliberately.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platform orchestrates value rather than producing it: it sets rules, matches participants, ensures trust, and steers the ecosystem so members create value for each other ('Uber doesn't drive cars — it orchestrates value creation'). Any value-creation flow maps as Inputs -&gt; Process -&gt; Outputs -&gt; Impact: inputs (participants, data), process (match, govern), outputs (transactions, experiences), impact (jobs, market growth, financial inclusion). Value creation (how value is generated) stays distinct from the business model (how it is captured, S22).</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orchestration · enable not produce · Inputs -&gt; Process -&gt; Outputs -&gt; Impact · creation vs capture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106 / 142</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S23 — 'Chain, shop, or network?'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classify 4 organisations (a factory, a hospital, a bank, Pathao) as chain / shop / network.</a:t>
            </a:r>
          </a:p>
          <a:p>
            <a:pPr>
              <a:spcAft>
                <a:spcPts val="700"/>
              </a:spcAft>
            </a:pPr>
            <a:r>
              <a:rPr sz="1550">
                <a:solidFill>
                  <a:srgbClr val="1A1A1A"/>
                </a:solidFill>
              </a:rPr>
              <a:t>•  For the network one, map it as Inputs -&gt; Process -&gt; Outputs -&gt; Impact.</a:t>
            </a:r>
          </a:p>
          <a:p>
            <a:pPr>
              <a:spcAft>
                <a:spcPts val="700"/>
              </a:spcAft>
            </a:pPr>
            <a:r>
              <a:rPr sz="1550">
                <a:solidFill>
                  <a:srgbClr val="1A1A1A"/>
                </a:solidFill>
              </a:rPr>
              <a:t>•  Separately, state its business model (how it captures value) to show creation != capture.</a:t>
            </a:r>
          </a:p>
          <a:p>
            <a:pPr>
              <a:spcAft>
                <a:spcPts val="700"/>
              </a:spcAft>
            </a:pPr>
            <a:r>
              <a:rPr sz="1550">
                <a:solidFill>
                  <a:srgbClr val="1A1A1A"/>
                </a:solidFill>
              </a:rPr>
              <a:t>•  Take 3–4 answers aloud (2 min); check chain/shop/network is justified by its LOGIC.</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answers: factory = chain, hospital = shop, bank &amp; Pathao = network. Pathao IPOI: inputs (riders/drivers/data) -&gt; process (match/price) -&gt; outputs (rides) -&gt; impact (incomes, mobility); captures via commission. Reward justifying the configuration + separating creation from capture.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107 / 142</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S23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hospital or IT consultancy that diagnoses and solves a client's problem is a:</a:t>
            </a:r>
          </a:p>
          <a:p>
            <a:pPr lvl="1"/>
            <a:r>
              <a:rPr sz="1500" b="1">
                <a:solidFill>
                  <a:srgbClr val="0F6E56"/>
                </a:solidFill>
              </a:rPr>
              <a:t>a) value chain   b) ✅ value shop   c) value network   d) value pipe</a:t>
            </a:r>
          </a:p>
          <a:p>
            <a:pPr lvl="1">
              <a:spcBef>
                <a:spcPts val="600"/>
              </a:spcBef>
            </a:pPr>
            <a:r>
              <a:rPr sz="1500" i="1">
                <a:solidFill>
                  <a:srgbClr val="1A1A1A"/>
                </a:solidFill>
              </a:rPr>
              <a:t>     Why: the value shop creates value by solving a unique problem, iteratively — not by production or connection.</a:t>
            </a:r>
          </a:p>
          <a:p>
            <a:pPr>
              <a:spcBef>
                <a:spcPts val="900"/>
              </a:spcBef>
            </a:pPr>
            <a:r>
              <a:rPr sz="1700" b="1">
                <a:solidFill>
                  <a:srgbClr val="0C2B4A"/>
                </a:solidFill>
              </a:rPr>
              <a:t>Q2.  A business model and a value-creation model differ in that the business model answers:</a:t>
            </a:r>
          </a:p>
          <a:p>
            <a:pPr lvl="1"/>
            <a:r>
              <a:rPr sz="1500" b="1">
                <a:solidFill>
                  <a:srgbClr val="0F6E56"/>
                </a:solidFill>
              </a:rPr>
              <a:t>a) how value is generated   b) ✅ how you EARN money (capture)   c) the logo   d) the tax rate</a:t>
            </a:r>
          </a:p>
          <a:p>
            <a:pPr lvl="1">
              <a:spcBef>
                <a:spcPts val="600"/>
              </a:spcBef>
            </a:pPr>
            <a:r>
              <a:rPr sz="1500" i="1">
                <a:solidFill>
                  <a:srgbClr val="1A1A1A"/>
                </a:solidFill>
              </a:rPr>
              <a:t>     Why: value creation = how value is generated; business model = how that value is captured as revenue.</a:t>
            </a:r>
          </a:p>
          <a:p>
            <a:pPr lvl="1">
              <a:spcBef>
                <a:spcPts val="600"/>
              </a:spcBef>
            </a:pPr>
            <a:r>
              <a:rPr sz="1500" i="1">
                <a:solidFill>
                  <a:srgbClr val="1A1A1A"/>
                </a:solidFill>
              </a:rPr>
              <a:t>Discussion: classify a Nepali firm as chain/shop/network and name its business model.</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108 / 142</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S23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Value creation (how value is generated) != value capture (how money is earned, S22). Classic configs: chain (make), shop (solve), network (connect).</a:t>
            </a:r>
          </a:p>
          <a:p>
            <a:pPr>
              <a:spcAft>
                <a:spcPts val="800"/>
              </a:spcAft>
            </a:pPr>
            <a:r>
              <a:rPr sz="1500">
                <a:solidFill>
                  <a:srgbClr val="1A1A1A"/>
                </a:solidFill>
              </a:rPr>
              <a:t>2.  Seven digital value-creation models (platform/ecosystem, data-driven, data-monetization, advertising, multi-stakeholder, experience, value-loop) specialise the network logic.</a:t>
            </a:r>
          </a:p>
          <a:p>
            <a:pPr>
              <a:spcAft>
                <a:spcPts val="800"/>
              </a:spcAft>
            </a:pPr>
            <a:r>
              <a:rPr sz="1500">
                <a:solidFill>
                  <a:srgbClr val="1A1A1A"/>
                </a:solidFill>
              </a:rPr>
              <a:t>3.  Platforms ORCHESTRATE value they don't produce; map it as Inputs -&gt; Process -&gt; Outputs -&gt; Impact.</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Separating how value is created from how it's captured is what lets you design a platform deliberately — create as a network, capture via the right model. Next we make the market itself DYNAMIC: how it behaves and how pricing steers it over time.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S24 — putting it in motion: modelling digital markets — static business model vs dynamic market model.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109 / 142</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24 · LECTURE HOUR 9 (OF 10)</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Modelling Digital Markets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business model is a snapshot — it tells you how a firm earns today. But markets MOVE: users sign up, convert, stay, or churn; prices rise at peak and fall off-peak; a market tips to one winner. To run or predict a digital market you need a MODEL of how it behaves over time, not just a snapshot. How do we model a market in motion?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110 / 142</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Business Model (Static) vs Market Model (Dynamic)</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business model is largely STATIC — it describes how a firm creates, delivers, and captures value at a point in time (S22). A market model is DYNAMIC — it describes how the market behaves and evolves over time: how users are ACQUIRED, how many CONVERT (from free to paid or visitor to buyer), how many are RETAINED, and how many CHURN (leave). Modelling these flows lets a firm predict growth, spot when a market will tip, and test 'what-if' pricing or promotion decisions.</a:t>
            </a:r>
          </a:p>
          <a:p>
            <a:pPr>
              <a:spcAft>
                <a:spcPts val="500"/>
              </a:spcAft>
            </a:pPr>
            <a:r>
              <a:rPr sz="1200" b="1">
                <a:solidFill>
                  <a:srgbClr val="185FA5"/>
                </a:solidFill>
              </a:rPr>
              <a:t>HOW IT WORKS</a:t>
            </a:r>
          </a:p>
          <a:p>
            <a:pPr>
              <a:spcAft>
                <a:spcPts val="600"/>
              </a:spcAft>
            </a:pPr>
            <a:r>
              <a:rPr sz="1400">
                <a:solidFill>
                  <a:srgbClr val="1A1A1A"/>
                </a:solidFill>
              </a:rPr>
              <a:t>•  Business model = static snapshot (how you earn now).</a:t>
            </a:r>
          </a:p>
          <a:p>
            <a:pPr>
              <a:spcAft>
                <a:spcPts val="600"/>
              </a:spcAft>
            </a:pPr>
            <a:r>
              <a:rPr sz="1400">
                <a:solidFill>
                  <a:srgbClr val="1A1A1A"/>
                </a:solidFill>
              </a:rPr>
              <a:t>•  Market model = dynamic: adoption -&gt; conversion -&gt; retention -&gt; churn over time.</a:t>
            </a:r>
          </a:p>
          <a:p>
            <a:pPr>
              <a:spcAft>
                <a:spcPts val="600"/>
              </a:spcAft>
            </a:pPr>
            <a:r>
              <a:rPr sz="1400">
                <a:solidFill>
                  <a:srgbClr val="1A1A1A"/>
                </a:solidFill>
              </a:rPr>
              <a:t>•  It predicts growth, tipping, and the effect of pricing/promotion changes.</a:t>
            </a:r>
          </a:p>
          <a:p>
            <a:pPr>
              <a:spcAft>
                <a:spcPts val="600"/>
              </a:spcAft>
            </a:pPr>
            <a:r>
              <a:rPr sz="1400">
                <a:solidFill>
                  <a:srgbClr val="1A1A1A"/>
                </a:solidFill>
              </a:rPr>
              <a:t>•  Same firm, two views: the model of the firm vs the model of the market it lives in.</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Business model = static (how you earn now); market model = dynamic (adoption, conversion, retention, churn over time).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111 / 142</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Business model vs market model</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50434"/>
                <a:gridCol w="4306956"/>
                <a:gridCol w="4472608"/>
              </a:tblGrid>
              <a:tr h="736092">
                <a:tc>
                  <a:txBody>
                    <a:bodyPr wrap="square"/>
                    <a:lstStyle/>
                    <a:p>
                      <a:r>
                        <a:rPr sz="1150" b="1">
                          <a:solidFill>
                            <a:srgbClr val="FFFFFF"/>
                          </a:solidFill>
                        </a:rPr>
                        <a:t>Dimension</a:t>
                      </a:r>
                    </a:p>
                  </a:txBody>
                  <a:tcPr anchor="ctr" marL="73152" marR="54864" marT="27432" marB="27432">
                    <a:solidFill>
                      <a:srgbClr val="0C2B4A"/>
                    </a:solidFill>
                  </a:tcPr>
                </a:tc>
                <a:tc>
                  <a:txBody>
                    <a:bodyPr wrap="square"/>
                    <a:lstStyle/>
                    <a:p>
                      <a:r>
                        <a:rPr sz="1150" b="1">
                          <a:solidFill>
                            <a:srgbClr val="FFFFFF"/>
                          </a:solidFill>
                        </a:rPr>
                        <a:t>Business model (static)</a:t>
                      </a:r>
                    </a:p>
                  </a:txBody>
                  <a:tcPr anchor="ctr" marL="73152" marR="54864" marT="27432" marB="27432">
                    <a:solidFill>
                      <a:srgbClr val="0C2B4A"/>
                    </a:solidFill>
                  </a:tcPr>
                </a:tc>
                <a:tc>
                  <a:txBody>
                    <a:bodyPr wrap="square"/>
                    <a:lstStyle/>
                    <a:p>
                      <a:r>
                        <a:rPr sz="1150" b="1">
                          <a:solidFill>
                            <a:srgbClr val="FFFFFF"/>
                          </a:solidFill>
                        </a:rPr>
                        <a:t>Market model (dynamic)</a:t>
                      </a:r>
                    </a:p>
                  </a:txBody>
                  <a:tcPr anchor="ctr" marL="73152" marR="54864" marT="27432" marB="27432">
                    <a:solidFill>
                      <a:srgbClr val="0C2B4A"/>
                    </a:solidFill>
                  </a:tcPr>
                </a:tc>
              </a:tr>
              <a:tr h="736092">
                <a:tc>
                  <a:txBody>
                    <a:bodyPr wrap="square"/>
                    <a:lstStyle/>
                    <a:p>
                      <a:r>
                        <a:rPr sz="1100" b="1">
                          <a:solidFill>
                            <a:srgbClr val="0C2B4A"/>
                          </a:solidFill>
                        </a:rPr>
                        <a:t>Question</a:t>
                      </a:r>
                    </a:p>
                  </a:txBody>
                  <a:tcPr anchor="ctr" marL="73152" marR="54864" marT="27432" marB="27432">
                    <a:solidFill>
                      <a:srgbClr val="FFFFFF"/>
                    </a:solidFill>
                  </a:tcPr>
                </a:tc>
                <a:tc>
                  <a:txBody>
                    <a:bodyPr wrap="square"/>
                    <a:lstStyle/>
                    <a:p>
                      <a:r>
                        <a:rPr sz="1100">
                          <a:solidFill>
                            <a:srgbClr val="1A1A1A"/>
                          </a:solidFill>
                        </a:rPr>
                        <a:t>How does the firm earn?</a:t>
                      </a:r>
                    </a:p>
                  </a:txBody>
                  <a:tcPr anchor="ctr" marL="73152" marR="54864" marT="27432" marB="27432">
                    <a:solidFill>
                      <a:srgbClr val="FFFFFF"/>
                    </a:solidFill>
                  </a:tcPr>
                </a:tc>
                <a:tc>
                  <a:txBody>
                    <a:bodyPr wrap="square"/>
                    <a:lstStyle/>
                    <a:p>
                      <a:r>
                        <a:rPr sz="1100">
                          <a:solidFill>
                            <a:srgbClr val="1A1A1A"/>
                          </a:solidFill>
                        </a:rPr>
                        <a:t>How does the market behave over time?</a:t>
                      </a:r>
                    </a:p>
                  </a:txBody>
                  <a:tcPr anchor="ctr" marL="73152" marR="54864" marT="27432" marB="27432">
                    <a:solidFill>
                      <a:srgbClr val="FFFFFF"/>
                    </a:solidFill>
                  </a:tcPr>
                </a:tc>
              </a:tr>
              <a:tr h="736092">
                <a:tc>
                  <a:txBody>
                    <a:bodyPr wrap="square"/>
                    <a:lstStyle/>
                    <a:p>
                      <a:r>
                        <a:rPr sz="1100" b="1">
                          <a:solidFill>
                            <a:srgbClr val="0C2B4A"/>
                          </a:solidFill>
                        </a:rPr>
                        <a:t>Time</a:t>
                      </a:r>
                    </a:p>
                  </a:txBody>
                  <a:tcPr anchor="ctr" marL="73152" marR="54864" marT="27432" marB="27432">
                    <a:solidFill>
                      <a:srgbClr val="EEF3F8"/>
                    </a:solidFill>
                  </a:tcPr>
                </a:tc>
                <a:tc>
                  <a:txBody>
                    <a:bodyPr wrap="square"/>
                    <a:lstStyle/>
                    <a:p>
                      <a:r>
                        <a:rPr sz="1100">
                          <a:solidFill>
                            <a:srgbClr val="1A1A1A"/>
                          </a:solidFill>
                        </a:rPr>
                        <a:t>A snapshot</a:t>
                      </a:r>
                    </a:p>
                  </a:txBody>
                  <a:tcPr anchor="ctr" marL="73152" marR="54864" marT="27432" marB="27432">
                    <a:solidFill>
                      <a:srgbClr val="EEF3F8"/>
                    </a:solidFill>
                  </a:tcPr>
                </a:tc>
                <a:tc>
                  <a:txBody>
                    <a:bodyPr wrap="square"/>
                    <a:lstStyle/>
                    <a:p>
                      <a:r>
                        <a:rPr sz="1100">
                          <a:solidFill>
                            <a:srgbClr val="1A1A1A"/>
                          </a:solidFill>
                        </a:rPr>
                        <a:t>Evolution / motion</a:t>
                      </a:r>
                    </a:p>
                  </a:txBody>
                  <a:tcPr anchor="ctr" marL="73152" marR="54864" marT="27432" marB="27432">
                    <a:solidFill>
                      <a:srgbClr val="EEF3F8"/>
                    </a:solidFill>
                  </a:tcPr>
                </a:tc>
              </a:tr>
              <a:tr h="736092">
                <a:tc>
                  <a:txBody>
                    <a:bodyPr wrap="square"/>
                    <a:lstStyle/>
                    <a:p>
                      <a:r>
                        <a:rPr sz="1100" b="1">
                          <a:solidFill>
                            <a:srgbClr val="0C2B4A"/>
                          </a:solidFill>
                        </a:rPr>
                        <a:t>Key variables</a:t>
                      </a:r>
                    </a:p>
                  </a:txBody>
                  <a:tcPr anchor="ctr" marL="73152" marR="54864" marT="27432" marB="27432">
                    <a:solidFill>
                      <a:srgbClr val="FFFFFF"/>
                    </a:solidFill>
                  </a:tcPr>
                </a:tc>
                <a:tc>
                  <a:txBody>
                    <a:bodyPr wrap="square"/>
                    <a:lstStyle/>
                    <a:p>
                      <a:r>
                        <a:rPr sz="1100">
                          <a:solidFill>
                            <a:srgbClr val="1A1A1A"/>
                          </a:solidFill>
                        </a:rPr>
                        <a:t>Value proposition, revenue</a:t>
                      </a:r>
                    </a:p>
                  </a:txBody>
                  <a:tcPr anchor="ctr" marL="73152" marR="54864" marT="27432" marB="27432">
                    <a:solidFill>
                      <a:srgbClr val="FFFFFF"/>
                    </a:solidFill>
                  </a:tcPr>
                </a:tc>
                <a:tc>
                  <a:txBody>
                    <a:bodyPr wrap="square"/>
                    <a:lstStyle/>
                    <a:p>
                      <a:r>
                        <a:rPr sz="1100">
                          <a:solidFill>
                            <a:srgbClr val="1A1A1A"/>
                          </a:solidFill>
                        </a:rPr>
                        <a:t>Adoption, conversion, retention, churn</a:t>
                      </a:r>
                    </a:p>
                  </a:txBody>
                  <a:tcPr anchor="ctr" marL="73152" marR="54864" marT="27432" marB="27432">
                    <a:solidFill>
                      <a:srgbClr val="FFFFFF"/>
                    </a:solidFill>
                  </a:tcPr>
                </a:tc>
              </a:tr>
              <a:tr h="736092">
                <a:tc>
                  <a:txBody>
                    <a:bodyPr wrap="square"/>
                    <a:lstStyle/>
                    <a:p>
                      <a:r>
                        <a:rPr sz="1100" b="1">
                          <a:solidFill>
                            <a:srgbClr val="0C2B4A"/>
                          </a:solidFill>
                        </a:rPr>
                        <a:t>Use</a:t>
                      </a:r>
                    </a:p>
                  </a:txBody>
                  <a:tcPr anchor="ctr" marL="73152" marR="54864" marT="27432" marB="27432">
                    <a:solidFill>
                      <a:srgbClr val="EEF3F8"/>
                    </a:solidFill>
                  </a:tcPr>
                </a:tc>
                <a:tc>
                  <a:txBody>
                    <a:bodyPr wrap="square"/>
                    <a:lstStyle/>
                    <a:p>
                      <a:r>
                        <a:rPr sz="1100">
                          <a:solidFill>
                            <a:srgbClr val="1A1A1A"/>
                          </a:solidFill>
                        </a:rPr>
                        <a:t>Describe the firm</a:t>
                      </a:r>
                    </a:p>
                  </a:txBody>
                  <a:tcPr anchor="ctr" marL="73152" marR="54864" marT="27432" marB="27432">
                    <a:solidFill>
                      <a:srgbClr val="EEF3F8"/>
                    </a:solidFill>
                  </a:tcPr>
                </a:tc>
                <a:tc>
                  <a:txBody>
                    <a:bodyPr wrap="square"/>
                    <a:lstStyle/>
                    <a:p>
                      <a:r>
                        <a:rPr sz="1100">
                          <a:solidFill>
                            <a:srgbClr val="1A1A1A"/>
                          </a:solidFill>
                        </a:rPr>
                        <a:t>Predict growth &amp; tipping; test decisions</a:t>
                      </a:r>
                    </a:p>
                  </a:txBody>
                  <a:tcPr anchor="ctr" marL="73152" marR="54864" marT="27432" marB="27432">
                    <a:solidFill>
                      <a:srgbClr val="EEF3F8"/>
                    </a:solidFill>
                  </a:tcPr>
                </a:tc>
              </a:tr>
              <a:tr h="736092">
                <a:tc>
                  <a:txBody>
                    <a:bodyPr wrap="square"/>
                    <a:lstStyle/>
                    <a:p>
                      <a:r>
                        <a:rPr sz="1100" b="1">
                          <a:solidFill>
                            <a:srgbClr val="0C2B4A"/>
                          </a:solidFill>
                        </a:rPr>
                        <a:t>Example</a:t>
                      </a:r>
                    </a:p>
                  </a:txBody>
                  <a:tcPr anchor="ctr" marL="73152" marR="54864" marT="27432" marB="27432">
                    <a:solidFill>
                      <a:srgbClr val="FFFFFF"/>
                    </a:solidFill>
                  </a:tcPr>
                </a:tc>
                <a:tc>
                  <a:txBody>
                    <a:bodyPr wrap="square"/>
                    <a:lstStyle/>
                    <a:p>
                      <a:r>
                        <a:rPr sz="1100">
                          <a:solidFill>
                            <a:srgbClr val="1A1A1A"/>
                          </a:solidFill>
                        </a:rPr>
                        <a:t>Freemium (free + paid tiers)</a:t>
                      </a:r>
                    </a:p>
                  </a:txBody>
                  <a:tcPr anchor="ctr" marL="73152" marR="54864" marT="27432" marB="27432">
                    <a:solidFill>
                      <a:srgbClr val="FFFFFF"/>
                    </a:solidFill>
                  </a:tcPr>
                </a:tc>
                <a:tc>
                  <a:txBody>
                    <a:bodyPr wrap="square"/>
                    <a:lstStyle/>
                    <a:p>
                      <a:r>
                        <a:rPr sz="1100">
                          <a:solidFill>
                            <a:srgbClr val="1A1A1A"/>
                          </a:solidFill>
                        </a:rPr>
                        <a:t>How many free users convert &amp; stay per month</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You need BOTH: the business model says how a freemium app earns; the market model predicts how many free users will convert and how fast churn erodes them — which decides whether the business model actually works at scale.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112 / 142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Business Model (Static) vs Market Model (Dynamic)</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streaming startup's BUSINESS MODEL might be freemium (free tier + paid). Its MARKET MODEL asks the dynamic questions: how many users do we acquire per month, what fraction convert to paid, how many stay, how many churn? The business model can look great on paper yet fail if the market model shows churn outpacing acquisition. You need both — the snapshot and the motion picture.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the business model is sound, the firm will succeed." A sound business model can still fail if the market DYNAMICS are bad — high churn, low conversion, slow adoption. The market model captures that motion (acquire/convert/retain/churn) which the static business model cannot; both are needed to judge viability.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business model is largely static — it describes how a firm creates, delivers, and captures value at a point in time (S22). A market model is dynamic — it describes how the market behaves over time: how users are acquired, how many convert (free to paid, visitor to buyer), how many are retained, and how many churn. Modelling these flows lets a firm predict growth, anticipate tipping, and test pricing/promotion decisions. A freemium business model only works if its market model (conversion vs churn) adds up.</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business model (static) · market model (dynamic) · adoption · conversion · retention · churn · predict tipping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113 / 142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Pricing as a Lever; Dynamic &amp; Algorithmic Pricing</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Price is the most powerful LEVER in a market model — small changes swing adoption, conversion, and churn. Firms use several pricing strategies: fixed subscription, freemium (free + paid), loss-leader (sell below cost to win the market), penetration (low to grow fast), and DYNAMIC/ALGORITHMIC pricing — prices that change automatically with demand, time, or user data (surge pricing). Dynamic pricing maximises revenue and balances supply/demand, but can anger users and raise fairness concerns.</a:t>
            </a:r>
          </a:p>
          <a:p>
            <a:pPr>
              <a:spcAft>
                <a:spcPts val="500"/>
              </a:spcAft>
            </a:pPr>
            <a:r>
              <a:rPr sz="1200" b="1">
                <a:solidFill>
                  <a:srgbClr val="185FA5"/>
                </a:solidFill>
              </a:rPr>
              <a:t>HOW IT WORKS</a:t>
            </a:r>
          </a:p>
          <a:p>
            <a:pPr>
              <a:spcAft>
                <a:spcPts val="600"/>
              </a:spcAft>
            </a:pPr>
            <a:r>
              <a:rPr sz="1400">
                <a:solidFill>
                  <a:srgbClr val="1A1A1A"/>
                </a:solidFill>
              </a:rPr>
              <a:t>•  Price is the main lever: it moves adoption, conversion, and churn together.</a:t>
            </a:r>
          </a:p>
          <a:p>
            <a:pPr>
              <a:spcAft>
                <a:spcPts val="600"/>
              </a:spcAft>
            </a:pPr>
            <a:r>
              <a:rPr sz="1400">
                <a:solidFill>
                  <a:srgbClr val="1A1A1A"/>
                </a:solidFill>
              </a:rPr>
              <a:t>•  Strategies: fixed subscription, freemium, loss-leader, penetration pricing.</a:t>
            </a:r>
          </a:p>
          <a:p>
            <a:pPr>
              <a:spcAft>
                <a:spcPts val="600"/>
              </a:spcAft>
            </a:pPr>
            <a:r>
              <a:rPr sz="1400">
                <a:solidFill>
                  <a:srgbClr val="1A1A1A"/>
                </a:solidFill>
              </a:rPr>
              <a:t>•  Dynamic/algorithmic pricing: prices auto-adjust to demand, time, or user data (surge).</a:t>
            </a:r>
          </a:p>
          <a:p>
            <a:pPr>
              <a:spcAft>
                <a:spcPts val="600"/>
              </a:spcAft>
            </a:pPr>
            <a:r>
              <a:rPr sz="1400">
                <a:solidFill>
                  <a:srgbClr val="1A1A1A"/>
                </a:solidFill>
              </a:rPr>
              <a:t>•  Trade-off: dynamic pricing maximises revenue &amp; balances supply, but risks anger &amp; unfairness.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Price is the key lever. Strategies incl. subscription, freemium, loss-leader, and dynamic/algorithmic (surge) pricing.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114 / 142</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Pricing strategies — how they work &amp; examples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50434"/>
                <a:gridCol w="4141304"/>
                <a:gridCol w="4638260"/>
              </a:tblGrid>
              <a:tr h="630936">
                <a:tc>
                  <a:txBody>
                    <a:bodyPr wrap="square"/>
                    <a:lstStyle/>
                    <a:p>
                      <a:r>
                        <a:rPr sz="1100" b="1">
                          <a:solidFill>
                            <a:srgbClr val="FFFFFF"/>
                          </a:solidFill>
                        </a:rPr>
                        <a:t>Strategy</a:t>
                      </a:r>
                    </a:p>
                  </a:txBody>
                  <a:tcPr anchor="ctr" marL="73152" marR="54864" marT="27432" marB="27432">
                    <a:solidFill>
                      <a:srgbClr val="0C2B4A"/>
                    </a:solidFill>
                  </a:tcPr>
                </a:tc>
                <a:tc>
                  <a:txBody>
                    <a:bodyPr wrap="square"/>
                    <a:lstStyle/>
                    <a:p>
                      <a:r>
                        <a:rPr sz="1100" b="1">
                          <a:solidFill>
                            <a:srgbClr val="FFFFFF"/>
                          </a:solidFill>
                        </a:rPr>
                        <a:t>How it works</a:t>
                      </a:r>
                    </a:p>
                  </a:txBody>
                  <a:tcPr anchor="ctr" marL="73152" marR="54864" marT="27432" marB="27432">
                    <a:solidFill>
                      <a:srgbClr val="0C2B4A"/>
                    </a:solidFill>
                  </a:tcPr>
                </a:tc>
                <a:tc>
                  <a:txBody>
                    <a:bodyPr wrap="square"/>
                    <a:lstStyle/>
                    <a:p>
                      <a:r>
                        <a:rPr sz="1100" b="1">
                          <a:solidFill>
                            <a:srgbClr val="FFFFFF"/>
                          </a:solidFill>
                        </a:rPr>
                        <a:t>Example</a:t>
                      </a:r>
                    </a:p>
                  </a:txBody>
                  <a:tcPr anchor="ctr" marL="73152" marR="54864" marT="27432" marB="27432">
                    <a:solidFill>
                      <a:srgbClr val="0C2B4A"/>
                    </a:solidFill>
                  </a:tcPr>
                </a:tc>
              </a:tr>
              <a:tr h="630936">
                <a:tc>
                  <a:txBody>
                    <a:bodyPr wrap="square"/>
                    <a:lstStyle/>
                    <a:p>
                      <a:r>
                        <a:rPr sz="1050" b="1">
                          <a:solidFill>
                            <a:srgbClr val="0C2B4A"/>
                          </a:solidFill>
                        </a:rPr>
                        <a:t>Subscription</a:t>
                      </a:r>
                    </a:p>
                  </a:txBody>
                  <a:tcPr anchor="ctr" marL="73152" marR="54864" marT="27432" marB="27432">
                    <a:solidFill>
                      <a:srgbClr val="FFFFFF"/>
                    </a:solidFill>
                  </a:tcPr>
                </a:tc>
                <a:tc>
                  <a:txBody>
                    <a:bodyPr wrap="square"/>
                    <a:lstStyle/>
                    <a:p>
                      <a:r>
                        <a:rPr sz="1050">
                          <a:solidFill>
                            <a:srgbClr val="1A1A1A"/>
                          </a:solidFill>
                        </a:rPr>
                        <a:t>Flat recurring fee</a:t>
                      </a:r>
                    </a:p>
                  </a:txBody>
                  <a:tcPr anchor="ctr" marL="73152" marR="54864" marT="27432" marB="27432">
                    <a:solidFill>
                      <a:srgbClr val="FFFFFF"/>
                    </a:solidFill>
                  </a:tcPr>
                </a:tc>
                <a:tc>
                  <a:txBody>
                    <a:bodyPr wrap="square"/>
                    <a:lstStyle/>
                    <a:p>
                      <a:r>
                        <a:rPr sz="1050">
                          <a:solidFill>
                            <a:srgbClr val="1A1A1A"/>
                          </a:solidFill>
                        </a:rPr>
                        <a:t>Netflix, Spotify Premium</a:t>
                      </a:r>
                    </a:p>
                  </a:txBody>
                  <a:tcPr anchor="ctr" marL="73152" marR="54864" marT="27432" marB="27432">
                    <a:solidFill>
                      <a:srgbClr val="FFFFFF"/>
                    </a:solidFill>
                  </a:tcPr>
                </a:tc>
              </a:tr>
              <a:tr h="630936">
                <a:tc>
                  <a:txBody>
                    <a:bodyPr wrap="square"/>
                    <a:lstStyle/>
                    <a:p>
                      <a:r>
                        <a:rPr sz="1050" b="1">
                          <a:solidFill>
                            <a:srgbClr val="0C2B4A"/>
                          </a:solidFill>
                        </a:rPr>
                        <a:t>Freemium</a:t>
                      </a:r>
                    </a:p>
                  </a:txBody>
                  <a:tcPr anchor="ctr" marL="73152" marR="54864" marT="27432" marB="27432">
                    <a:solidFill>
                      <a:srgbClr val="EEF3F8"/>
                    </a:solidFill>
                  </a:tcPr>
                </a:tc>
                <a:tc>
                  <a:txBody>
                    <a:bodyPr wrap="square"/>
                    <a:lstStyle/>
                    <a:p>
                      <a:r>
                        <a:rPr sz="1050">
                          <a:solidFill>
                            <a:srgbClr val="1A1A1A"/>
                          </a:solidFill>
                        </a:rPr>
                        <a:t>Free base, pay to upgrade</a:t>
                      </a:r>
                    </a:p>
                  </a:txBody>
                  <a:tcPr anchor="ctr" marL="73152" marR="54864" marT="27432" marB="27432">
                    <a:solidFill>
                      <a:srgbClr val="EEF3F8"/>
                    </a:solidFill>
                  </a:tcPr>
                </a:tc>
                <a:tc>
                  <a:txBody>
                    <a:bodyPr wrap="square"/>
                    <a:lstStyle/>
                    <a:p>
                      <a:r>
                        <a:rPr sz="1050">
                          <a:solidFill>
                            <a:srgbClr val="1A1A1A"/>
                          </a:solidFill>
                        </a:rPr>
                        <a:t>Spotify, Zoom, LinkedIn</a:t>
                      </a:r>
                    </a:p>
                  </a:txBody>
                  <a:tcPr anchor="ctr" marL="73152" marR="54864" marT="27432" marB="27432">
                    <a:solidFill>
                      <a:srgbClr val="EEF3F8"/>
                    </a:solidFill>
                  </a:tcPr>
                </a:tc>
              </a:tr>
              <a:tr h="630936">
                <a:tc>
                  <a:txBody>
                    <a:bodyPr wrap="square"/>
                    <a:lstStyle/>
                    <a:p>
                      <a:r>
                        <a:rPr sz="1050" b="1">
                          <a:solidFill>
                            <a:srgbClr val="0C2B4A"/>
                          </a:solidFill>
                        </a:rPr>
                        <a:t>Loss-leader</a:t>
                      </a:r>
                    </a:p>
                  </a:txBody>
                  <a:tcPr anchor="ctr" marL="73152" marR="54864" marT="27432" marB="27432">
                    <a:solidFill>
                      <a:srgbClr val="FFFFFF"/>
                    </a:solidFill>
                  </a:tcPr>
                </a:tc>
                <a:tc>
                  <a:txBody>
                    <a:bodyPr wrap="square"/>
                    <a:lstStyle/>
                    <a:p>
                      <a:r>
                        <a:rPr sz="1050">
                          <a:solidFill>
                            <a:srgbClr val="1A1A1A"/>
                          </a:solidFill>
                        </a:rPr>
                        <a:t>Sell below cost to win market</a:t>
                      </a:r>
                    </a:p>
                  </a:txBody>
                  <a:tcPr anchor="ctr" marL="73152" marR="54864" marT="27432" marB="27432">
                    <a:solidFill>
                      <a:srgbClr val="FFFFFF"/>
                    </a:solidFill>
                  </a:tcPr>
                </a:tc>
                <a:tc>
                  <a:txBody>
                    <a:bodyPr wrap="square"/>
                    <a:lstStyle/>
                    <a:p>
                      <a:r>
                        <a:rPr sz="1050">
                          <a:solidFill>
                            <a:srgbClr val="1A1A1A"/>
                          </a:solidFill>
                        </a:rPr>
                        <a:t>Launch discounts; free delivery deals</a:t>
                      </a:r>
                    </a:p>
                  </a:txBody>
                  <a:tcPr anchor="ctr" marL="73152" marR="54864" marT="27432" marB="27432">
                    <a:solidFill>
                      <a:srgbClr val="FFFFFF"/>
                    </a:solidFill>
                  </a:tcPr>
                </a:tc>
              </a:tr>
              <a:tr h="630936">
                <a:tc>
                  <a:txBody>
                    <a:bodyPr wrap="square"/>
                    <a:lstStyle/>
                    <a:p>
                      <a:r>
                        <a:rPr sz="1050" b="1">
                          <a:solidFill>
                            <a:srgbClr val="0C2B4A"/>
                          </a:solidFill>
                        </a:rPr>
                        <a:t>Penetration</a:t>
                      </a:r>
                    </a:p>
                  </a:txBody>
                  <a:tcPr anchor="ctr" marL="73152" marR="54864" marT="27432" marB="27432">
                    <a:solidFill>
                      <a:srgbClr val="EEF3F8"/>
                    </a:solidFill>
                  </a:tcPr>
                </a:tc>
                <a:tc>
                  <a:txBody>
                    <a:bodyPr wrap="square"/>
                    <a:lstStyle/>
                    <a:p>
                      <a:r>
                        <a:rPr sz="1050">
                          <a:solidFill>
                            <a:srgbClr val="1A1A1A"/>
                          </a:solidFill>
                        </a:rPr>
                        <a:t>Low price to grow fast</a:t>
                      </a:r>
                    </a:p>
                  </a:txBody>
                  <a:tcPr anchor="ctr" marL="73152" marR="54864" marT="27432" marB="27432">
                    <a:solidFill>
                      <a:srgbClr val="EEF3F8"/>
                    </a:solidFill>
                  </a:tcPr>
                </a:tc>
                <a:tc>
                  <a:txBody>
                    <a:bodyPr wrap="square"/>
                    <a:lstStyle/>
                    <a:p>
                      <a:r>
                        <a:rPr sz="1050">
                          <a:solidFill>
                            <a:srgbClr val="1A1A1A"/>
                          </a:solidFill>
                        </a:rPr>
                        <a:t>New wallet's heavy cashback</a:t>
                      </a:r>
                    </a:p>
                  </a:txBody>
                  <a:tcPr anchor="ctr" marL="73152" marR="54864" marT="27432" marB="27432">
                    <a:solidFill>
                      <a:srgbClr val="EEF3F8"/>
                    </a:solidFill>
                  </a:tcPr>
                </a:tc>
              </a:tr>
              <a:tr h="630936">
                <a:tc>
                  <a:txBody>
                    <a:bodyPr wrap="square"/>
                    <a:lstStyle/>
                    <a:p>
                      <a:r>
                        <a:rPr sz="1050" b="1">
                          <a:solidFill>
                            <a:srgbClr val="0C2B4A"/>
                          </a:solidFill>
                        </a:rPr>
                        <a:t>Dynamic / surge</a:t>
                      </a:r>
                    </a:p>
                  </a:txBody>
                  <a:tcPr anchor="ctr" marL="73152" marR="54864" marT="27432" marB="27432">
                    <a:solidFill>
                      <a:srgbClr val="FFFFFF"/>
                    </a:solidFill>
                  </a:tcPr>
                </a:tc>
                <a:tc>
                  <a:txBody>
                    <a:bodyPr wrap="square"/>
                    <a:lstStyle/>
                    <a:p>
                      <a:r>
                        <a:rPr sz="1050">
                          <a:solidFill>
                            <a:srgbClr val="1A1A1A"/>
                          </a:solidFill>
                        </a:rPr>
                        <a:t>Auto-adjust to demand/time</a:t>
                      </a:r>
                    </a:p>
                  </a:txBody>
                  <a:tcPr anchor="ctr" marL="73152" marR="54864" marT="27432" marB="27432">
                    <a:solidFill>
                      <a:srgbClr val="FFFFFF"/>
                    </a:solidFill>
                  </a:tcPr>
                </a:tc>
                <a:tc>
                  <a:txBody>
                    <a:bodyPr wrap="square"/>
                    <a:lstStyle/>
                    <a:p>
                      <a:r>
                        <a:rPr sz="1050">
                          <a:solidFill>
                            <a:srgbClr val="1A1A1A"/>
                          </a:solidFill>
                        </a:rPr>
                        <a:t>Pathao peak fares; airline seats</a:t>
                      </a:r>
                    </a:p>
                  </a:txBody>
                  <a:tcPr anchor="ctr" marL="73152" marR="54864" marT="27432" marB="27432">
                    <a:solidFill>
                      <a:srgbClr val="FFFFFF"/>
                    </a:solidFill>
                  </a:tcPr>
                </a:tc>
              </a:tr>
              <a:tr h="630936">
                <a:tc>
                  <a:txBody>
                    <a:bodyPr wrap="square"/>
                    <a:lstStyle/>
                    <a:p>
                      <a:r>
                        <a:rPr sz="1050" b="1">
                          <a:solidFill>
                            <a:srgbClr val="0C2B4A"/>
                          </a:solidFill>
                        </a:rPr>
                        <a:t>Algorithmic</a:t>
                      </a:r>
                    </a:p>
                  </a:txBody>
                  <a:tcPr anchor="ctr" marL="73152" marR="54864" marT="27432" marB="27432">
                    <a:solidFill>
                      <a:srgbClr val="EEF3F8"/>
                    </a:solidFill>
                  </a:tcPr>
                </a:tc>
                <a:tc>
                  <a:txBody>
                    <a:bodyPr wrap="square"/>
                    <a:lstStyle/>
                    <a:p>
                      <a:r>
                        <a:rPr sz="1050">
                          <a:solidFill>
                            <a:srgbClr val="1A1A1A"/>
                          </a:solidFill>
                        </a:rPr>
                        <a:t>Price set by data/algorithm</a:t>
                      </a:r>
                    </a:p>
                  </a:txBody>
                  <a:tcPr anchor="ctr" marL="73152" marR="54864" marT="27432" marB="27432">
                    <a:solidFill>
                      <a:srgbClr val="EEF3F8"/>
                    </a:solidFill>
                  </a:tcPr>
                </a:tc>
                <a:tc>
                  <a:txBody>
                    <a:bodyPr wrap="square"/>
                    <a:lstStyle/>
                    <a:p>
                      <a:r>
                        <a:rPr sz="1050">
                          <a:solidFill>
                            <a:srgbClr val="1A1A1A"/>
                          </a:solidFill>
                        </a:rPr>
                        <a:t>E-commerce price changes by demand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Pricing is the fastest lever in the market model: a loss-leader launch buys adoption, freemium buys reach, surge balances supply. Dynamic/algorithmic pricing is efficient but can feel unfair — a real tension for Pathao at peak.</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115 / 142</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Pricing as a Lever; Dynamic &amp; Algorithmic Pricing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Pathao uses DYNAMIC (surge) pricing: when rush-hour demand exceeds available drivers, fares rise automatically to attract more drivers and ration rides. It balances supply and demand and lifts revenue — but riders resent paying more in the rain, a fairness tension. A new wallet instead uses PENETRATION pricing (heavy cashback) to win users fast, accepting losses now to build the network.</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"Dynamic pricing is just greed / random price hikes." Surge pricing is an algorithmic balancing tool — it raises price when demand exceeds supply to attract more supply and ration scarce capacity. It is efficient and often necessary, though it can feel unfair; the design challenge is transparency, not abandoning the lever.</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Price is the most powerful lever in a market model — small changes swing adoption, conversion, and churn. Strategies include fixed subscription, freemium, loss-leader (below cost to win the market), penetration (low to grow fast), and dynamic/algorithmic pricing — prices that auto-adjust to demand, time, or user data (surge). Dynamic pricing maximises revenue and balances supply and demand (Pathao at peak) but can anger users and raise fairness concerns.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price as lever · subscription · freemium · loss-leader · penetration · dynamic/algorithmic (surge) pricing · fairness tension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116 / 142</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Two-Sided Balance &amp; Tipping (cross-ref Unit 2)</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Modelling a digital market must handle its two-sided nature (Unit 2 S11): the platform decides who to SUBSIDISE and who to CHARGE, and must keep both sides in balance — too few drivers and riders leave; too few riders and drivers leave. The model also predicts TIPPING: with strong network effects and switching costs, the market can tip to one winner (winner-take-most, Unit 2 S13). Good market models track both sides' growth and watch for the tipping point.</a:t>
            </a:r>
          </a:p>
          <a:p>
            <a:pPr>
              <a:spcAft>
                <a:spcPts val="500"/>
              </a:spcAft>
            </a:pPr>
            <a:r>
              <a:rPr sz="1200" b="1">
                <a:solidFill>
                  <a:srgbClr val="185FA5"/>
                </a:solidFill>
              </a:rPr>
              <a:t>HOW IT WORKS</a:t>
            </a:r>
          </a:p>
          <a:p>
            <a:pPr>
              <a:spcAft>
                <a:spcPts val="600"/>
              </a:spcAft>
            </a:pPr>
            <a:r>
              <a:rPr sz="1400">
                <a:solidFill>
                  <a:srgbClr val="1A1A1A"/>
                </a:solidFill>
              </a:rPr>
              <a:t>•  Two-sided balance: subsidise one side, charge the other, keep both growing together (Unit 2 S11).</a:t>
            </a:r>
          </a:p>
          <a:p>
            <a:pPr>
              <a:spcAft>
                <a:spcPts val="600"/>
              </a:spcAft>
            </a:pPr>
            <a:r>
              <a:rPr sz="1400">
                <a:solidFill>
                  <a:srgbClr val="1A1A1A"/>
                </a:solidFill>
              </a:rPr>
              <a:t>•  Imbalance kills the market: too few on either side and the other leaves.</a:t>
            </a:r>
          </a:p>
          <a:p>
            <a:pPr>
              <a:spcAft>
                <a:spcPts val="600"/>
              </a:spcAft>
            </a:pPr>
            <a:r>
              <a:rPr sz="1400">
                <a:solidFill>
                  <a:srgbClr val="1A1A1A"/>
                </a:solidFill>
              </a:rPr>
              <a:t>•  Tipping: strong network effects + switching costs -&gt; winner-take-most (Unit 2 S13).</a:t>
            </a:r>
          </a:p>
          <a:p>
            <a:pPr>
              <a:spcAft>
                <a:spcPts val="600"/>
              </a:spcAft>
            </a:pPr>
            <a:r>
              <a:rPr sz="1400">
                <a:solidFill>
                  <a:srgbClr val="1A1A1A"/>
                </a:solidFill>
              </a:rPr>
              <a:t>•  A market model tracks both sides and forecasts if/when the market will tip.</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Model both sides (subsidise/charge, keep balanced) and watch for tipping (winner-take-most) — cross-ref Unit 2.</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117 / 142</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Two-sided pricing cases — who subsidises whom</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203373"/>
                <a:gridCol w="2754216"/>
                <a:gridCol w="2616506"/>
                <a:gridCol w="3855903"/>
              </a:tblGrid>
              <a:tr h="630936">
                <a:tc>
                  <a:txBody>
                    <a:bodyPr wrap="square"/>
                    <a:lstStyle/>
                    <a:p>
                      <a:r>
                        <a:rPr sz="1100" b="1">
                          <a:solidFill>
                            <a:srgbClr val="FFFFFF"/>
                          </a:solidFill>
                        </a:rPr>
                        <a:t>Case</a:t>
                      </a:r>
                    </a:p>
                  </a:txBody>
                  <a:tcPr anchor="ctr" marL="73152" marR="54864" marT="27432" marB="27432">
                    <a:solidFill>
                      <a:srgbClr val="0C2B4A"/>
                    </a:solidFill>
                  </a:tcPr>
                </a:tc>
                <a:tc>
                  <a:txBody>
                    <a:bodyPr wrap="square"/>
                    <a:lstStyle/>
                    <a:p>
                      <a:r>
                        <a:rPr sz="1100" b="1">
                          <a:solidFill>
                            <a:srgbClr val="FFFFFF"/>
                          </a:solidFill>
                        </a:rPr>
                        <a:t>Subsidised side</a:t>
                      </a:r>
                    </a:p>
                  </a:txBody>
                  <a:tcPr anchor="ctr" marL="73152" marR="54864" marT="27432" marB="27432">
                    <a:solidFill>
                      <a:srgbClr val="0C2B4A"/>
                    </a:solidFill>
                  </a:tcPr>
                </a:tc>
                <a:tc>
                  <a:txBody>
                    <a:bodyPr wrap="square"/>
                    <a:lstStyle/>
                    <a:p>
                      <a:r>
                        <a:rPr sz="1100" b="1">
                          <a:solidFill>
                            <a:srgbClr val="FFFFFF"/>
                          </a:solidFill>
                        </a:rPr>
                        <a:t>Paying side</a:t>
                      </a:r>
                    </a:p>
                  </a:txBody>
                  <a:tcPr anchor="ctr" marL="73152" marR="54864" marT="27432" marB="27432">
                    <a:solidFill>
                      <a:srgbClr val="0C2B4A"/>
                    </a:solidFill>
                  </a:tcPr>
                </a:tc>
                <a:tc>
                  <a:txBody>
                    <a:bodyPr wrap="square"/>
                    <a:lstStyle/>
                    <a:p>
                      <a:r>
                        <a:rPr sz="1100" b="1">
                          <a:solidFill>
                            <a:srgbClr val="FFFFFF"/>
                          </a:solidFill>
                        </a:rPr>
                        <a:t>Why</a:t>
                      </a:r>
                    </a:p>
                  </a:txBody>
                  <a:tcPr anchor="ctr" marL="73152" marR="54864" marT="27432" marB="27432">
                    <a:solidFill>
                      <a:srgbClr val="0C2B4A"/>
                    </a:solidFill>
                  </a:tcPr>
                </a:tc>
              </a:tr>
              <a:tr h="630936">
                <a:tc>
                  <a:txBody>
                    <a:bodyPr wrap="square"/>
                    <a:lstStyle/>
                    <a:p>
                      <a:r>
                        <a:rPr sz="1050" b="1">
                          <a:solidFill>
                            <a:srgbClr val="0C2B4A"/>
                          </a:solidFill>
                        </a:rPr>
                        <a:t>Credit card</a:t>
                      </a:r>
                    </a:p>
                  </a:txBody>
                  <a:tcPr anchor="ctr" marL="73152" marR="54864" marT="27432" marB="27432">
                    <a:solidFill>
                      <a:srgbClr val="FFFFFF"/>
                    </a:solidFill>
                  </a:tcPr>
                </a:tc>
                <a:tc>
                  <a:txBody>
                    <a:bodyPr wrap="square"/>
                    <a:lstStyle/>
                    <a:p>
                      <a:r>
                        <a:rPr sz="1050">
                          <a:solidFill>
                            <a:srgbClr val="1A1A1A"/>
                          </a:solidFill>
                        </a:rPr>
                        <a:t>Cardholders (rewards)</a:t>
                      </a:r>
                    </a:p>
                  </a:txBody>
                  <a:tcPr anchor="ctr" marL="73152" marR="54864" marT="27432" marB="27432">
                    <a:solidFill>
                      <a:srgbClr val="FFFFFF"/>
                    </a:solidFill>
                  </a:tcPr>
                </a:tc>
                <a:tc>
                  <a:txBody>
                    <a:bodyPr wrap="square"/>
                    <a:lstStyle/>
                    <a:p>
                      <a:r>
                        <a:rPr sz="1050">
                          <a:solidFill>
                            <a:srgbClr val="1A1A1A"/>
                          </a:solidFill>
                        </a:rPr>
                        <a:t>Merchants (fees)</a:t>
                      </a:r>
                    </a:p>
                  </a:txBody>
                  <a:tcPr anchor="ctr" marL="73152" marR="54864" marT="27432" marB="27432">
                    <a:solidFill>
                      <a:srgbClr val="FFFFFF"/>
                    </a:solidFill>
                  </a:tcPr>
                </a:tc>
                <a:tc>
                  <a:txBody>
                    <a:bodyPr wrap="square"/>
                    <a:lstStyle/>
                    <a:p>
                      <a:r>
                        <a:rPr sz="1050">
                          <a:solidFill>
                            <a:srgbClr val="1A1A1A"/>
                          </a:solidFill>
                        </a:rPr>
                        <a:t>Shoppers attract merchants who pay to accept</a:t>
                      </a:r>
                    </a:p>
                  </a:txBody>
                  <a:tcPr anchor="ctr" marL="73152" marR="54864" marT="27432" marB="27432">
                    <a:solidFill>
                      <a:srgbClr val="FFFFFF"/>
                    </a:solidFill>
                  </a:tcPr>
                </a:tc>
              </a:tr>
              <a:tr h="630936">
                <a:tc>
                  <a:txBody>
                    <a:bodyPr wrap="square"/>
                    <a:lstStyle/>
                    <a:p>
                      <a:r>
                        <a:rPr sz="1050" b="1">
                          <a:solidFill>
                            <a:srgbClr val="0C2B4A"/>
                          </a:solidFill>
                        </a:rPr>
                        <a:t>Adobe (PDF/Reader)</a:t>
                      </a:r>
                    </a:p>
                  </a:txBody>
                  <a:tcPr anchor="ctr" marL="73152" marR="54864" marT="27432" marB="27432">
                    <a:solidFill>
                      <a:srgbClr val="EEF3F8"/>
                    </a:solidFill>
                  </a:tcPr>
                </a:tc>
                <a:tc>
                  <a:txBody>
                    <a:bodyPr wrap="square"/>
                    <a:lstStyle/>
                    <a:p>
                      <a:r>
                        <a:rPr sz="1050">
                          <a:solidFill>
                            <a:srgbClr val="1A1A1A"/>
                          </a:solidFill>
                        </a:rPr>
                        <a:t>Readers (free)</a:t>
                      </a:r>
                    </a:p>
                  </a:txBody>
                  <a:tcPr anchor="ctr" marL="73152" marR="54864" marT="27432" marB="27432">
                    <a:solidFill>
                      <a:srgbClr val="EEF3F8"/>
                    </a:solidFill>
                  </a:tcPr>
                </a:tc>
                <a:tc>
                  <a:txBody>
                    <a:bodyPr wrap="square"/>
                    <a:lstStyle/>
                    <a:p>
                      <a:r>
                        <a:rPr sz="1050">
                          <a:solidFill>
                            <a:srgbClr val="1A1A1A"/>
                          </a:solidFill>
                        </a:rPr>
                        <a:t>Creators (pay for Acrobat)</a:t>
                      </a:r>
                    </a:p>
                  </a:txBody>
                  <a:tcPr anchor="ctr" marL="73152" marR="54864" marT="27432" marB="27432">
                    <a:solidFill>
                      <a:srgbClr val="EEF3F8"/>
                    </a:solidFill>
                  </a:tcPr>
                </a:tc>
                <a:tc>
                  <a:txBody>
                    <a:bodyPr wrap="square"/>
                    <a:lstStyle/>
                    <a:p>
                      <a:r>
                        <a:rPr sz="1050">
                          <a:solidFill>
                            <a:srgbClr val="1A1A1A"/>
                          </a:solidFill>
                        </a:rPr>
                        <a:t>Free readers make the paid tool worth buying</a:t>
                      </a:r>
                    </a:p>
                  </a:txBody>
                  <a:tcPr anchor="ctr" marL="73152" marR="54864" marT="27432" marB="27432">
                    <a:solidFill>
                      <a:srgbClr val="EEF3F8"/>
                    </a:solidFill>
                  </a:tcPr>
                </a:tc>
              </a:tr>
              <a:tr h="630936">
                <a:tc>
                  <a:txBody>
                    <a:bodyPr wrap="square"/>
                    <a:lstStyle/>
                    <a:p>
                      <a:r>
                        <a:rPr sz="1050" b="1">
                          <a:solidFill>
                            <a:srgbClr val="0C2B4A"/>
                          </a:solidFill>
                        </a:rPr>
                        <a:t>Pathao</a:t>
                      </a:r>
                    </a:p>
                  </a:txBody>
                  <a:tcPr anchor="ctr" marL="73152" marR="54864" marT="27432" marB="27432">
                    <a:solidFill>
                      <a:srgbClr val="FFFFFF"/>
                    </a:solidFill>
                  </a:tcPr>
                </a:tc>
                <a:tc>
                  <a:txBody>
                    <a:bodyPr wrap="square"/>
                    <a:lstStyle/>
                    <a:p>
                      <a:r>
                        <a:rPr sz="1050">
                          <a:solidFill>
                            <a:srgbClr val="1A1A1A"/>
                          </a:solidFill>
                        </a:rPr>
                        <a:t>Riders (low fares off-peak)</a:t>
                      </a:r>
                    </a:p>
                  </a:txBody>
                  <a:tcPr anchor="ctr" marL="73152" marR="54864" marT="27432" marB="27432">
                    <a:solidFill>
                      <a:srgbClr val="FFFFFF"/>
                    </a:solidFill>
                  </a:tcPr>
                </a:tc>
                <a:tc>
                  <a:txBody>
                    <a:bodyPr wrap="square"/>
                    <a:lstStyle/>
                    <a:p>
                      <a:r>
                        <a:rPr sz="1050">
                          <a:solidFill>
                            <a:srgbClr val="1A1A1A"/>
                          </a:solidFill>
                        </a:rPr>
                        <a:t>Riders at peak / commission</a:t>
                      </a:r>
                    </a:p>
                  </a:txBody>
                  <a:tcPr anchor="ctr" marL="73152" marR="54864" marT="27432" marB="27432">
                    <a:solidFill>
                      <a:srgbClr val="FFFFFF"/>
                    </a:solidFill>
                  </a:tcPr>
                </a:tc>
                <a:tc>
                  <a:txBody>
                    <a:bodyPr wrap="square"/>
                    <a:lstStyle/>
                    <a:p>
                      <a:r>
                        <a:rPr sz="1050">
                          <a:solidFill>
                            <a:srgbClr val="1A1A1A"/>
                          </a:solidFill>
                        </a:rPr>
                        <a:t>Balance demand; drivers earn, platform takes cut</a:t>
                      </a:r>
                    </a:p>
                  </a:txBody>
                  <a:tcPr anchor="ctr" marL="73152" marR="54864" marT="27432" marB="27432">
                    <a:solidFill>
                      <a:srgbClr val="FFFFFF"/>
                    </a:solidFill>
                  </a:tcPr>
                </a:tc>
              </a:tr>
              <a:tr h="630936">
                <a:tc>
                  <a:txBody>
                    <a:bodyPr wrap="square"/>
                    <a:lstStyle/>
                    <a:p>
                      <a:r>
                        <a:rPr sz="1050" b="1">
                          <a:solidFill>
                            <a:srgbClr val="0C2B4A"/>
                          </a:solidFill>
                        </a:rPr>
                        <a:t>Gillette (razor-blade)</a:t>
                      </a:r>
                    </a:p>
                  </a:txBody>
                  <a:tcPr anchor="ctr" marL="73152" marR="54864" marT="27432" marB="27432">
                    <a:solidFill>
                      <a:srgbClr val="EEF3F8"/>
                    </a:solidFill>
                  </a:tcPr>
                </a:tc>
                <a:tc>
                  <a:txBody>
                    <a:bodyPr wrap="square"/>
                    <a:lstStyle/>
                    <a:p>
                      <a:r>
                        <a:rPr sz="1050">
                          <a:solidFill>
                            <a:srgbClr val="1A1A1A"/>
                          </a:solidFill>
                        </a:rPr>
                        <a:t>Buyers (cheap razor)</a:t>
                      </a:r>
                    </a:p>
                  </a:txBody>
                  <a:tcPr anchor="ctr" marL="73152" marR="54864" marT="27432" marB="27432">
                    <a:solidFill>
                      <a:srgbClr val="EEF3F8"/>
                    </a:solidFill>
                  </a:tcPr>
                </a:tc>
                <a:tc>
                  <a:txBody>
                    <a:bodyPr wrap="square"/>
                    <a:lstStyle/>
                    <a:p>
                      <a:r>
                        <a:rPr sz="1050">
                          <a:solidFill>
                            <a:srgbClr val="1A1A1A"/>
                          </a:solidFill>
                        </a:rPr>
                        <a:t>Buyers (pricey blades)</a:t>
                      </a:r>
                    </a:p>
                  </a:txBody>
                  <a:tcPr anchor="ctr" marL="73152" marR="54864" marT="27432" marB="27432">
                    <a:solidFill>
                      <a:srgbClr val="EEF3F8"/>
                    </a:solidFill>
                  </a:tcPr>
                </a:tc>
                <a:tc>
                  <a:txBody>
                    <a:bodyPr wrap="square"/>
                    <a:lstStyle/>
                    <a:p>
                      <a:r>
                        <a:rPr sz="1050">
                          <a:solidFill>
                            <a:srgbClr val="1A1A1A"/>
                          </a:solidFill>
                        </a:rPr>
                        <a:t>Cheap razor locks in profitable blade sales</a:t>
                      </a:r>
                    </a:p>
                  </a:txBody>
                  <a:tcPr anchor="ctr" marL="73152" marR="54864" marT="27432" marB="27432">
                    <a:solidFill>
                      <a:srgbClr val="EEF3F8"/>
                    </a:solidFill>
                  </a:tcPr>
                </a:tc>
              </a:tr>
              <a:tr h="630936">
                <a:tc>
                  <a:txBody>
                    <a:bodyPr wrap="square"/>
                    <a:lstStyle/>
                    <a:p>
                      <a:r>
                        <a:rPr sz="1050" b="1">
                          <a:solidFill>
                            <a:srgbClr val="0C2B4A"/>
                          </a:solidFill>
                        </a:rPr>
                        <a:t>Google</a:t>
                      </a:r>
                    </a:p>
                  </a:txBody>
                  <a:tcPr anchor="ctr" marL="73152" marR="54864" marT="27432" marB="27432">
                    <a:solidFill>
                      <a:srgbClr val="FFFFFF"/>
                    </a:solidFill>
                  </a:tcPr>
                </a:tc>
                <a:tc>
                  <a:txBody>
                    <a:bodyPr wrap="square"/>
                    <a:lstStyle/>
                    <a:p>
                      <a:r>
                        <a:rPr sz="1050">
                          <a:solidFill>
                            <a:srgbClr val="1A1A1A"/>
                          </a:solidFill>
                        </a:rPr>
                        <a:t>Users (free search)</a:t>
                      </a:r>
                    </a:p>
                  </a:txBody>
                  <a:tcPr anchor="ctr" marL="73152" marR="54864" marT="27432" marB="27432">
                    <a:solidFill>
                      <a:srgbClr val="FFFFFF"/>
                    </a:solidFill>
                  </a:tcPr>
                </a:tc>
                <a:tc>
                  <a:txBody>
                    <a:bodyPr wrap="square"/>
                    <a:lstStyle/>
                    <a:p>
                      <a:r>
                        <a:rPr sz="1050">
                          <a:solidFill>
                            <a:srgbClr val="1A1A1A"/>
                          </a:solidFill>
                        </a:rPr>
                        <a:t>Advertisers</a:t>
                      </a:r>
                    </a:p>
                  </a:txBody>
                  <a:tcPr anchor="ctr" marL="73152" marR="54864" marT="27432" marB="27432">
                    <a:solidFill>
                      <a:srgbClr val="FFFFFF"/>
                    </a:solidFill>
                  </a:tcPr>
                </a:tc>
                <a:tc>
                  <a:txBody>
                    <a:bodyPr wrap="square"/>
                    <a:lstStyle/>
                    <a:p>
                      <a:r>
                        <a:rPr sz="1050">
                          <a:solidFill>
                            <a:srgbClr val="1A1A1A"/>
                          </a:solidFill>
                        </a:rPr>
                        <a:t>Users' attention is sold to advertisers</a:t>
                      </a:r>
                    </a:p>
                  </a:txBody>
                  <a:tcPr anchor="ctr" marL="73152" marR="54864" marT="27432" marB="27432">
                    <a:solidFill>
                      <a:srgbClr val="FFFFFF"/>
                    </a:solidFill>
                  </a:tcPr>
                </a:tc>
              </a:tr>
              <a:tr h="630936">
                <a:tc>
                  <a:txBody>
                    <a:bodyPr wrap="square"/>
                    <a:lstStyle/>
                    <a:p>
                      <a:r>
                        <a:rPr sz="1050" b="1">
                          <a:solidFill>
                            <a:srgbClr val="0C2B4A"/>
                          </a:solidFill>
                        </a:rPr>
                        <a:t>Console gaming</a:t>
                      </a:r>
                    </a:p>
                  </a:txBody>
                  <a:tcPr anchor="ctr" marL="73152" marR="54864" marT="27432" marB="27432">
                    <a:solidFill>
                      <a:srgbClr val="EEF3F8"/>
                    </a:solidFill>
                  </a:tcPr>
                </a:tc>
                <a:tc>
                  <a:txBody>
                    <a:bodyPr wrap="square"/>
                    <a:lstStyle/>
                    <a:p>
                      <a:r>
                        <a:rPr sz="1050">
                          <a:solidFill>
                            <a:srgbClr val="1A1A1A"/>
                          </a:solidFill>
                        </a:rPr>
                        <a:t>Gamers (cheap console)</a:t>
                      </a:r>
                    </a:p>
                  </a:txBody>
                  <a:tcPr anchor="ctr" marL="73152" marR="54864" marT="27432" marB="27432">
                    <a:solidFill>
                      <a:srgbClr val="EEF3F8"/>
                    </a:solidFill>
                  </a:tcPr>
                </a:tc>
                <a:tc>
                  <a:txBody>
                    <a:bodyPr wrap="square"/>
                    <a:lstStyle/>
                    <a:p>
                      <a:r>
                        <a:rPr sz="1050">
                          <a:solidFill>
                            <a:srgbClr val="1A1A1A"/>
                          </a:solidFill>
                        </a:rPr>
                        <a:t>Game publishers (licence fees)</a:t>
                      </a:r>
                    </a:p>
                  </a:txBody>
                  <a:tcPr anchor="ctr" marL="73152" marR="54864" marT="27432" marB="27432">
                    <a:solidFill>
                      <a:srgbClr val="EEF3F8"/>
                    </a:solidFill>
                  </a:tcPr>
                </a:tc>
                <a:tc>
                  <a:txBody>
                    <a:bodyPr wrap="square"/>
                    <a:lstStyle/>
                    <a:p>
                      <a:r>
                        <a:rPr sz="1050">
                          <a:solidFill>
                            <a:srgbClr val="1A1A1A"/>
                          </a:solidFill>
                        </a:rPr>
                        <a:t>Cheap console builds base; games earn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razor-and-blades and credit-card cases show two-sided pricing predates the internet — but digital markets run it dynamically. Modelling WHO subsidises WHOM, and keeping both sides balanced, is central to any market model (Unit 2 S11).</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118 / 142</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Two-Sided Balance &amp; Tipping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Pathao's market model must balance two sides: subsidise/attract enough drivers (bonuses, fair fares) or riders face long waits and leave; keep fares acceptable or riders leave and drivers idle. It also watches tipping — if it can lock in enough drivers and riders in a city, the market could tip its way (Unit 2 S13). Gillette's razor-and-blades and credit cards show the same two-sided logic long before the internet.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"Two-sided pricing and tipping are new internet ideas." Razor-and-blades (Gillette) and credit cards ran two-sided pricing for decades; digital just runs it dynamically and at scale. In a market model these are VARIABLES — who to subsidise, whether the market will tip — not fresh theory; they're Unit 2's concepts applied to the dynamic market.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Modelling a digital market must handle its two-sided nature (Unit 2 S11): the platform decides whom to subsidise and whom to charge, and must keep both sides balanced — too few on one side and the other leaves. The model also predicts tipping: strong network effects and switching costs can tip the market to one winner (winner-take-most, Unit 2 S13). Credit cards and Gillette's razor-and-blades show two-sided pricing predates the internet; digital runs it dynamically.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two-sided balance · subsidise/charge · keep both sides growing · tipping (Unit 2) · razor-and-blades · credit cards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119 / 142</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S24 — 'Model the market'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pick a Nepali platform (Pathao, a streaming app, a wallet).</a:t>
            </a:r>
          </a:p>
          <a:p>
            <a:pPr>
              <a:spcAft>
                <a:spcPts val="700"/>
              </a:spcAft>
            </a:pPr>
            <a:r>
              <a:rPr sz="1550">
                <a:solidFill>
                  <a:srgbClr val="1A1A1A"/>
                </a:solidFill>
              </a:rPr>
              <a:t>•  State its business model (static) AND its market-model variables (adoption/conversion/retention/churn).</a:t>
            </a:r>
          </a:p>
          <a:p>
            <a:pPr>
              <a:spcAft>
                <a:spcPts val="700"/>
              </a:spcAft>
            </a:pPr>
            <a:r>
              <a:rPr sz="1550">
                <a:solidFill>
                  <a:srgbClr val="1A1A1A"/>
                </a:solidFill>
              </a:rPr>
              <a:t>•  Choose a pricing strategy and predict whether the market will tip or stay contested.</a:t>
            </a:r>
          </a:p>
          <a:p>
            <a:pPr>
              <a:spcAft>
                <a:spcPts val="700"/>
              </a:spcAft>
            </a:pPr>
            <a:r>
              <a:rPr sz="1550">
                <a:solidFill>
                  <a:srgbClr val="1A1A1A"/>
                </a:solidFill>
              </a:rPr>
              <a:t>•  Take 3–4 answers aloud (2 min); check the static/dynamic distinction is explicit.</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 (a streaming app): business model = freemium; market model = acquire via ads, ~5% convert, watch churn; pricing = penetration then subscription; likely contested (easy multi-homing). Reward separating static business model from dynamic market variables + a tipping call.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120 / 142</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S24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business model describes how you EARN; a market model describes:</a:t>
            </a:r>
          </a:p>
          <a:p>
            <a:pPr lvl="1"/>
            <a:r>
              <a:rPr sz="1500" b="1">
                <a:solidFill>
                  <a:srgbClr val="0F6E56"/>
                </a:solidFill>
              </a:rPr>
              <a:t>a) the logo   b) the office   c) ✅ how the market behaves over time (adoption, churn, tipping)   d) the tax rate</a:t>
            </a:r>
          </a:p>
          <a:p>
            <a:pPr lvl="1">
              <a:spcBef>
                <a:spcPts val="600"/>
              </a:spcBef>
            </a:pPr>
            <a:r>
              <a:rPr sz="1500" i="1">
                <a:solidFill>
                  <a:srgbClr val="1A1A1A"/>
                </a:solidFill>
              </a:rPr>
              <a:t>     Why: the market model is dynamic — acquisition, conversion, retention, churn, and tipping over time.</a:t>
            </a:r>
          </a:p>
          <a:p>
            <a:pPr>
              <a:spcBef>
                <a:spcPts val="900"/>
              </a:spcBef>
            </a:pPr>
            <a:r>
              <a:rPr sz="1700" b="1">
                <a:solidFill>
                  <a:srgbClr val="0C2B4A"/>
                </a:solidFill>
              </a:rPr>
              <a:t>Q2.  Pathao raising fares automatically at peak demand is:</a:t>
            </a:r>
          </a:p>
          <a:p>
            <a:pPr lvl="1"/>
            <a:r>
              <a:rPr sz="1500" b="1">
                <a:solidFill>
                  <a:srgbClr val="0F6E56"/>
                </a:solidFill>
              </a:rPr>
              <a:t>a) freemium   b) a subsidy   c) loss-leader   d) ✅ dynamic (surge) pricing</a:t>
            </a:r>
          </a:p>
          <a:p>
            <a:pPr lvl="1">
              <a:spcBef>
                <a:spcPts val="600"/>
              </a:spcBef>
            </a:pPr>
            <a:r>
              <a:rPr sz="1500" i="1">
                <a:solidFill>
                  <a:srgbClr val="1A1A1A"/>
                </a:solidFill>
              </a:rPr>
              <a:t>     Why: prices auto-adjust to demand/time — dynamic/algorithmic (surge) pricing.</a:t>
            </a:r>
          </a:p>
          <a:p>
            <a:pPr lvl="1">
              <a:spcBef>
                <a:spcPts val="600"/>
              </a:spcBef>
            </a:pPr>
            <a:r>
              <a:rPr sz="1500" i="1">
                <a:solidFill>
                  <a:srgbClr val="1A1A1A"/>
                </a:solidFill>
              </a:rPr>
              <a:t>Discussion: for a Nepali platform, name its market-model variables and one pricing lever.</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121 / 142</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S24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Business model = static (how you earn); market model = dynamic (adoption, conversion, retention, churn) — you need both.</a:t>
            </a:r>
          </a:p>
          <a:p>
            <a:pPr>
              <a:spcAft>
                <a:spcPts val="800"/>
              </a:spcAft>
            </a:pPr>
            <a:r>
              <a:rPr sz="1500">
                <a:solidFill>
                  <a:srgbClr val="1A1A1A"/>
                </a:solidFill>
              </a:rPr>
              <a:t>2.  Price is the key lever: subscription, freemium, loss-leader, penetration, and dynamic/algorithmic (surge) pricing — efficient but with a fairness tension.</a:t>
            </a:r>
          </a:p>
          <a:p>
            <a:pPr>
              <a:spcAft>
                <a:spcPts val="800"/>
              </a:spcAft>
            </a:pPr>
            <a:r>
              <a:rPr sz="1500">
                <a:solidFill>
                  <a:srgbClr val="1A1A1A"/>
                </a:solidFill>
              </a:rPr>
              <a:t>3.  Model both sides (subsidise/charge, keep balanced) and watch for tipping (winner-take-most) — Unit 2 S11 &amp; S13 applied dynamically.</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Modelling the market in motion is how a firm predicts growth, prices smartly, and spots tipping before rivals do — the analytical core of digital strategy. The final session ties everything together: how firms create, capture, and DEFEND value.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S25 — the capstone: digital strategy, strategic control points, and the integrated framework.</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122 / 142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25 · LECTURE HOUR 10 (OF 10) — CLOSES UNIT 3</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Strategy &amp; Integration</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 now know how digital markets compete, cooperate, layer, innovate, earn, create value, and move. Strategy is what ties them together — and its hardest part is not creating or capturing value, but DEFENDING it. Why can two firms create the same value, yet one keeps the profit and the other loses it? The answer is control points — and it closes the unit.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123 / 142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Strategy = Create + Capture + Defend; Control Points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Digital strategy has three jobs: CREATE value (S23), CAPTURE it (S22), and — the hardest — DEFEND it against imitation and rivals. Value is defended through STRATEGIC CONTROL POINTS: the chokepoints others must pass through, which confer lasting power. The four main control points are DATA (who owns the user data), ALGORITHMS (who runs the matching/ranking), STANDARDS (the format others must adopt), and USER RELATIONSHIPS (who owns the customer). 'Whoever controls the control point controls the market.'</a:t>
            </a:r>
          </a:p>
          <a:p>
            <a:pPr>
              <a:spcAft>
                <a:spcPts val="500"/>
              </a:spcAft>
            </a:pPr>
            <a:r>
              <a:rPr sz="1200" b="1">
                <a:solidFill>
                  <a:srgbClr val="185FA5"/>
                </a:solidFill>
              </a:rPr>
              <a:t>HOW IT WORKS</a:t>
            </a:r>
          </a:p>
          <a:p>
            <a:pPr>
              <a:spcAft>
                <a:spcPts val="600"/>
              </a:spcAft>
            </a:pPr>
            <a:r>
              <a:rPr sz="1400">
                <a:solidFill>
                  <a:srgbClr val="1A1A1A"/>
                </a:solidFill>
              </a:rPr>
              <a:t>•  Strategy = create + capture + DEFEND value; defending is the hardest and most overlooked.</a:t>
            </a:r>
          </a:p>
          <a:p>
            <a:pPr>
              <a:spcAft>
                <a:spcPts val="600"/>
              </a:spcAft>
            </a:pPr>
            <a:r>
              <a:rPr sz="1400">
                <a:solidFill>
                  <a:srgbClr val="1A1A1A"/>
                </a:solidFill>
              </a:rPr>
              <a:t>•  Control point = a chokepoint others must pass through -&gt; lasting power (moat).</a:t>
            </a:r>
          </a:p>
          <a:p>
            <a:pPr>
              <a:spcAft>
                <a:spcPts val="600"/>
              </a:spcAft>
            </a:pPr>
            <a:r>
              <a:rPr sz="1400">
                <a:solidFill>
                  <a:srgbClr val="1A1A1A"/>
                </a:solidFill>
              </a:rPr>
              <a:t>•  Four control points: data, algorithms, standards, user relationships.</a:t>
            </a:r>
          </a:p>
          <a:p>
            <a:pPr>
              <a:spcAft>
                <a:spcPts val="600"/>
              </a:spcAft>
            </a:pPr>
            <a:r>
              <a:rPr sz="1400">
                <a:solidFill>
                  <a:srgbClr val="1A1A1A"/>
                </a:solidFill>
              </a:rPr>
              <a:t>•  Ecosystem strategy: own a control point, let others build around you (App Store, AWS).</a:t>
            </a:r>
          </a:p>
        </p:txBody>
      </p:sp>
      <p:pic>
        <p:nvPicPr>
          <p:cNvPr id="6" name="Picture 5" descr="s25_control_points.png"/>
          <p:cNvPicPr>
            <a:picLocks noChangeAspect="1"/>
          </p:cNvPicPr>
          <p:nvPr/>
        </p:nvPicPr>
        <p:blipFill>
          <a:blip r:embed="rId2"/>
          <a:stretch>
            <a:fillRect/>
          </a:stretch>
        </p:blipFill>
        <p:spPr>
          <a:xfrm>
            <a:off x="6355080" y="2339485"/>
            <a:ext cx="5532120" cy="295627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Strategy = create + capture + DEFEND. Control points (data, algorithms, standards, user relationship) hold the power.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124 / 142</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Strategic control points — who controls, and how</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9142"/>
                <a:gridCol w="4408714"/>
                <a:gridCol w="4082142"/>
              </a:tblGrid>
              <a:tr h="630936">
                <a:tc>
                  <a:txBody>
                    <a:bodyPr wrap="square"/>
                    <a:lstStyle/>
                    <a:p>
                      <a:r>
                        <a:rPr sz="1100" b="1">
                          <a:solidFill>
                            <a:srgbClr val="FFFFFF"/>
                          </a:solidFill>
                        </a:rPr>
                        <a:t>Control point</a:t>
                      </a:r>
                    </a:p>
                  </a:txBody>
                  <a:tcPr anchor="ctr" marL="73152" marR="54864" marT="27432" marB="27432">
                    <a:solidFill>
                      <a:srgbClr val="0C2B4A"/>
                    </a:solidFill>
                  </a:tcPr>
                </a:tc>
                <a:tc>
                  <a:txBody>
                    <a:bodyPr wrap="square"/>
                    <a:lstStyle/>
                    <a:p>
                      <a:r>
                        <a:rPr sz="1100" b="1">
                          <a:solidFill>
                            <a:srgbClr val="FFFFFF"/>
                          </a:solidFill>
                        </a:rPr>
                        <a:t>Why it confers power</a:t>
                      </a:r>
                    </a:p>
                  </a:txBody>
                  <a:tcPr anchor="ctr" marL="73152" marR="54864" marT="27432" marB="27432">
                    <a:solidFill>
                      <a:srgbClr val="0C2B4A"/>
                    </a:solidFill>
                  </a:tcPr>
                </a:tc>
                <a:tc>
                  <a:txBody>
                    <a:bodyPr wrap="square"/>
                    <a:lstStyle/>
                    <a:p>
                      <a:r>
                        <a:rPr sz="1100" b="1">
                          <a:solidFill>
                            <a:srgbClr val="FFFFFF"/>
                          </a:solidFill>
                        </a:rPr>
                        <a:t>Who holds it (example)</a:t>
                      </a:r>
                    </a:p>
                  </a:txBody>
                  <a:tcPr anchor="ctr" marL="73152" marR="54864" marT="27432" marB="27432">
                    <a:solidFill>
                      <a:srgbClr val="0C2B4A"/>
                    </a:solidFill>
                  </a:tcPr>
                </a:tc>
              </a:tr>
              <a:tr h="630936">
                <a:tc>
                  <a:txBody>
                    <a:bodyPr wrap="square"/>
                    <a:lstStyle/>
                    <a:p>
                      <a:r>
                        <a:rPr sz="1050" b="1">
                          <a:solidFill>
                            <a:srgbClr val="0C2B4A"/>
                          </a:solidFill>
                        </a:rPr>
                        <a:t>Data</a:t>
                      </a:r>
                    </a:p>
                  </a:txBody>
                  <a:tcPr anchor="ctr" marL="73152" marR="54864" marT="27432" marB="27432">
                    <a:solidFill>
                      <a:srgbClr val="FFFFFF"/>
                    </a:solidFill>
                  </a:tcPr>
                </a:tc>
                <a:tc>
                  <a:txBody>
                    <a:bodyPr wrap="square"/>
                    <a:lstStyle/>
                    <a:p>
                      <a:r>
                        <a:rPr sz="1050">
                          <a:solidFill>
                            <a:srgbClr val="1A1A1A"/>
                          </a:solidFill>
                        </a:rPr>
                        <a:t>Un-copyable user data -&gt; better product</a:t>
                      </a:r>
                    </a:p>
                  </a:txBody>
                  <a:tcPr anchor="ctr" marL="73152" marR="54864" marT="27432" marB="27432">
                    <a:solidFill>
                      <a:srgbClr val="FFFFFF"/>
                    </a:solidFill>
                  </a:tcPr>
                </a:tc>
                <a:tc>
                  <a:txBody>
                    <a:bodyPr wrap="square"/>
                    <a:lstStyle/>
                    <a:p>
                      <a:r>
                        <a:rPr sz="1050">
                          <a:solidFill>
                            <a:srgbClr val="1A1A1A"/>
                          </a:solidFill>
                        </a:rPr>
                        <a:t>Google, Meta, Amazon</a:t>
                      </a:r>
                    </a:p>
                  </a:txBody>
                  <a:tcPr anchor="ctr" marL="73152" marR="54864" marT="27432" marB="27432">
                    <a:solidFill>
                      <a:srgbClr val="FFFFFF"/>
                    </a:solidFill>
                  </a:tcPr>
                </a:tc>
              </a:tr>
              <a:tr h="630936">
                <a:tc>
                  <a:txBody>
                    <a:bodyPr wrap="square"/>
                    <a:lstStyle/>
                    <a:p>
                      <a:r>
                        <a:rPr sz="1050" b="1">
                          <a:solidFill>
                            <a:srgbClr val="0C2B4A"/>
                          </a:solidFill>
                        </a:rPr>
                        <a:t>Algorithms</a:t>
                      </a:r>
                    </a:p>
                  </a:txBody>
                  <a:tcPr anchor="ctr" marL="73152" marR="54864" marT="27432" marB="27432">
                    <a:solidFill>
                      <a:srgbClr val="EEF3F8"/>
                    </a:solidFill>
                  </a:tcPr>
                </a:tc>
                <a:tc>
                  <a:txBody>
                    <a:bodyPr wrap="square"/>
                    <a:lstStyle/>
                    <a:p>
                      <a:r>
                        <a:rPr sz="1050">
                          <a:solidFill>
                            <a:srgbClr val="1A1A1A"/>
                          </a:solidFill>
                        </a:rPr>
                        <a:t>Owns the matching/ranking/feed</a:t>
                      </a:r>
                    </a:p>
                  </a:txBody>
                  <a:tcPr anchor="ctr" marL="73152" marR="54864" marT="27432" marB="27432">
                    <a:solidFill>
                      <a:srgbClr val="EEF3F8"/>
                    </a:solidFill>
                  </a:tcPr>
                </a:tc>
                <a:tc>
                  <a:txBody>
                    <a:bodyPr wrap="square"/>
                    <a:lstStyle/>
                    <a:p>
                      <a:r>
                        <a:rPr sz="1050">
                          <a:solidFill>
                            <a:srgbClr val="1A1A1A"/>
                          </a:solidFill>
                        </a:rPr>
                        <a:t>TikTok feed; Uber/Pathao dispatch</a:t>
                      </a:r>
                    </a:p>
                  </a:txBody>
                  <a:tcPr anchor="ctr" marL="73152" marR="54864" marT="27432" marB="27432">
                    <a:solidFill>
                      <a:srgbClr val="EEF3F8"/>
                    </a:solidFill>
                  </a:tcPr>
                </a:tc>
              </a:tr>
              <a:tr h="630936">
                <a:tc>
                  <a:txBody>
                    <a:bodyPr wrap="square"/>
                    <a:lstStyle/>
                    <a:p>
                      <a:r>
                        <a:rPr sz="1050" b="1">
                          <a:solidFill>
                            <a:srgbClr val="0C2B4A"/>
                          </a:solidFill>
                        </a:rPr>
                        <a:t>Standards</a:t>
                      </a:r>
                    </a:p>
                  </a:txBody>
                  <a:tcPr anchor="ctr" marL="73152" marR="54864" marT="27432" marB="27432">
                    <a:solidFill>
                      <a:srgbClr val="FFFFFF"/>
                    </a:solidFill>
                  </a:tcPr>
                </a:tc>
                <a:tc>
                  <a:txBody>
                    <a:bodyPr wrap="square"/>
                    <a:lstStyle/>
                    <a:p>
                      <a:r>
                        <a:rPr sz="1050">
                          <a:solidFill>
                            <a:srgbClr val="1A1A1A"/>
                          </a:solidFill>
                        </a:rPr>
                        <a:t>Others must adopt the format</a:t>
                      </a:r>
                    </a:p>
                  </a:txBody>
                  <a:tcPr anchor="ctr" marL="73152" marR="54864" marT="27432" marB="27432">
                    <a:solidFill>
                      <a:srgbClr val="FFFFFF"/>
                    </a:solidFill>
                  </a:tcPr>
                </a:tc>
                <a:tc>
                  <a:txBody>
                    <a:bodyPr wrap="square"/>
                    <a:lstStyle/>
                    <a:p>
                      <a:r>
                        <a:rPr sz="1050">
                          <a:solidFill>
                            <a:srgbClr val="1A1A1A"/>
                          </a:solidFill>
                        </a:rPr>
                        <a:t>Visa, Fonepay QR, Windows, USB-C</a:t>
                      </a:r>
                    </a:p>
                  </a:txBody>
                  <a:tcPr anchor="ctr" marL="73152" marR="54864" marT="27432" marB="27432">
                    <a:solidFill>
                      <a:srgbClr val="FFFFFF"/>
                    </a:solidFill>
                  </a:tcPr>
                </a:tc>
              </a:tr>
              <a:tr h="630936">
                <a:tc>
                  <a:txBody>
                    <a:bodyPr wrap="square"/>
                    <a:lstStyle/>
                    <a:p>
                      <a:r>
                        <a:rPr sz="1050" b="1">
                          <a:solidFill>
                            <a:srgbClr val="0C2B4A"/>
                          </a:solidFill>
                        </a:rPr>
                        <a:t>User relationship</a:t>
                      </a:r>
                    </a:p>
                  </a:txBody>
                  <a:tcPr anchor="ctr" marL="73152" marR="54864" marT="27432" marB="27432">
                    <a:solidFill>
                      <a:srgbClr val="EEF3F8"/>
                    </a:solidFill>
                  </a:tcPr>
                </a:tc>
                <a:tc>
                  <a:txBody>
                    <a:bodyPr wrap="square"/>
                    <a:lstStyle/>
                    <a:p>
                      <a:r>
                        <a:rPr sz="1050">
                          <a:solidFill>
                            <a:srgbClr val="1A1A1A"/>
                          </a:solidFill>
                        </a:rPr>
                        <a:t>Owns the customer &amp; the demand</a:t>
                      </a:r>
                    </a:p>
                  </a:txBody>
                  <a:tcPr anchor="ctr" marL="73152" marR="54864" marT="27432" marB="27432">
                    <a:solidFill>
                      <a:srgbClr val="EEF3F8"/>
                    </a:solidFill>
                  </a:tcPr>
                </a:tc>
                <a:tc>
                  <a:txBody>
                    <a:bodyPr wrap="square"/>
                    <a:lstStyle/>
                    <a:p>
                      <a:r>
                        <a:rPr sz="1050">
                          <a:solidFill>
                            <a:srgbClr val="1A1A1A"/>
                          </a:solidFill>
                        </a:rPr>
                        <a:t>Apple, Amazon, the bank's app</a:t>
                      </a:r>
                    </a:p>
                  </a:txBody>
                  <a:tcPr anchor="ctr" marL="73152" marR="54864" marT="27432" marB="27432">
                    <a:solidFill>
                      <a:srgbClr val="EEF3F8"/>
                    </a:solidFill>
                  </a:tcPr>
                </a:tc>
              </a:tr>
              <a:tr h="630936">
                <a:tc>
                  <a:txBody>
                    <a:bodyPr wrap="square"/>
                    <a:lstStyle/>
                    <a:p>
                      <a:r>
                        <a:rPr sz="1050" b="1">
                          <a:solidFill>
                            <a:srgbClr val="0C2B4A"/>
                          </a:solidFill>
                        </a:rPr>
                        <a:t>App store / gateway</a:t>
                      </a:r>
                    </a:p>
                  </a:txBody>
                  <a:tcPr anchor="ctr" marL="73152" marR="54864" marT="27432" marB="27432">
                    <a:solidFill>
                      <a:srgbClr val="FFFFFF"/>
                    </a:solidFill>
                  </a:tcPr>
                </a:tc>
                <a:tc>
                  <a:txBody>
                    <a:bodyPr wrap="square"/>
                    <a:lstStyle/>
                    <a:p>
                      <a:r>
                        <a:rPr sz="1050">
                          <a:solidFill>
                            <a:srgbClr val="1A1A1A"/>
                          </a:solidFill>
                        </a:rPr>
                        <a:t>Others must pass through to reach users</a:t>
                      </a:r>
                    </a:p>
                  </a:txBody>
                  <a:tcPr anchor="ctr" marL="73152" marR="54864" marT="27432" marB="27432">
                    <a:solidFill>
                      <a:srgbClr val="FFFFFF"/>
                    </a:solidFill>
                  </a:tcPr>
                </a:tc>
                <a:tc>
                  <a:txBody>
                    <a:bodyPr wrap="square"/>
                    <a:lstStyle/>
                    <a:p>
                      <a:r>
                        <a:rPr sz="1050">
                          <a:solidFill>
                            <a:srgbClr val="1A1A1A"/>
                          </a:solidFill>
                        </a:rPr>
                        <a:t>Apple/Google Play (~30% cut)</a:t>
                      </a:r>
                    </a:p>
                  </a:txBody>
                  <a:tcPr anchor="ctr" marL="73152" marR="54864" marT="27432" marB="27432">
                    <a:solidFill>
                      <a:srgbClr val="FFFFFF"/>
                    </a:solidFill>
                  </a:tcPr>
                </a:tc>
              </a:tr>
              <a:tr h="630936">
                <a:tc>
                  <a:txBody>
                    <a:bodyPr wrap="square"/>
                    <a:lstStyle/>
                    <a:p>
                      <a:r>
                        <a:rPr sz="1050" b="1">
                          <a:solidFill>
                            <a:srgbClr val="0C2B4A"/>
                          </a:solidFill>
                        </a:rPr>
                        <a:t>Infrastructure / cloud</a:t>
                      </a:r>
                    </a:p>
                  </a:txBody>
                  <a:tcPr anchor="ctr" marL="73152" marR="54864" marT="27432" marB="27432">
                    <a:solidFill>
                      <a:srgbClr val="EEF3F8"/>
                    </a:solidFill>
                  </a:tcPr>
                </a:tc>
                <a:tc>
                  <a:txBody>
                    <a:bodyPr wrap="square"/>
                    <a:lstStyle/>
                    <a:p>
                      <a:r>
                        <a:rPr sz="1050">
                          <a:solidFill>
                            <a:srgbClr val="1A1A1A"/>
                          </a:solidFill>
                        </a:rPr>
                        <a:t>Everyone builds on it, pays rent</a:t>
                      </a:r>
                    </a:p>
                  </a:txBody>
                  <a:tcPr anchor="ctr" marL="73152" marR="54864" marT="27432" marB="27432">
                    <a:solidFill>
                      <a:srgbClr val="EEF3F8"/>
                    </a:solidFill>
                  </a:tcPr>
                </a:tc>
                <a:tc>
                  <a:txBody>
                    <a:bodyPr wrap="square"/>
                    <a:lstStyle/>
                    <a:p>
                      <a:r>
                        <a:rPr sz="1050">
                          <a:solidFill>
                            <a:srgbClr val="1A1A1A"/>
                          </a:solidFill>
                        </a:rPr>
                        <a:t>AWS, foreign cloud (Nepal depends)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Two firms can create the same value; the one holding a control point (data, algorithm, standard, or the customer) keeps the profit. For Nepal, the warning from S20 repeats: control points (cloud, app stores) sit largely abroad.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125 / 142</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Strategy = Create + Capture + Defend; Control Points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Pathao's real defence is its control points: the DATA on riders/drivers and city demand, the ALGORITHM that dispatches efficiently, and the USER RELATIONSHIP with everyday riders. A new rival can copy the app (create the same value) but not instantly copy Pathao's data, dispatch quality, or user base — that is what defends the profit. Globally, Apple defends via the App Store standard and the customer relationship (the ~30% cut).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you create value, you'll automatically keep the profit." Value that isn't DEFENDED is competed away — rivals copy it. Profit is kept by holding a control point (data, algorithms, standards, or the customer relationship) that others must pass through. Strategy is create + capture + DEFEND, and defending is the part firms most often neglect.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strategy has three jobs: create value (S23), capture it (S22), and defend it against imitation — the hardest. Value is defended through strategic control points: chokepoints others must pass through that confer lasting power. The four main ones are data (who owns user data), algorithms (who runs matching/ranking), standards (the format others must adopt), and user relationships (who owns the customer). 'Whoever controls the control point controls the market' — Pathao's data/dispatch/users; Apple's App Store.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create + capture + DEFEND · strategic control point · data · algorithms · standards · user relationship · ecosystem strategy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126 / 142</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Strategy Trade-Offs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 strategy is a series of trade-offs, not a single best answer. GROWTH vs PROFIT: chase market share now (subsidise, burn cash) or profit today? OPENNESS vs CONTROL: an open platform (anyone builds on it) grows faster but you control less; a closed one controls more but grows slower. Other trade-offs: scale vs focus, cooperation vs competition, and short-term revenue vs long-term trust. Amazon famously chose growth and cross-subsidy for years; a focused Nepali startup may choose profit and a niche instead.</a:t>
            </a:r>
          </a:p>
          <a:p>
            <a:pPr>
              <a:spcAft>
                <a:spcPts val="500"/>
              </a:spcAft>
            </a:pPr>
            <a:r>
              <a:rPr sz="1200" b="1">
                <a:solidFill>
                  <a:srgbClr val="185FA5"/>
                </a:solidFill>
              </a:rPr>
              <a:t>HOW IT WORKS</a:t>
            </a:r>
          </a:p>
          <a:p>
            <a:pPr>
              <a:spcAft>
                <a:spcPts val="600"/>
              </a:spcAft>
            </a:pPr>
            <a:r>
              <a:rPr sz="1400">
                <a:solidFill>
                  <a:srgbClr val="1A1A1A"/>
                </a:solidFill>
              </a:rPr>
              <a:t>•  Growth vs profit: win share now (subsidise) or earn today? — a core digital tension.</a:t>
            </a:r>
          </a:p>
          <a:p>
            <a:pPr>
              <a:spcAft>
                <a:spcPts val="600"/>
              </a:spcAft>
            </a:pPr>
            <a:r>
              <a:rPr sz="1400">
                <a:solidFill>
                  <a:srgbClr val="1A1A1A"/>
                </a:solidFill>
              </a:rPr>
              <a:t>•  Openness vs control: open grows faster but yields control; closed controls but grows slower.</a:t>
            </a:r>
          </a:p>
          <a:p>
            <a:pPr>
              <a:spcAft>
                <a:spcPts val="600"/>
              </a:spcAft>
            </a:pPr>
            <a:r>
              <a:rPr sz="1400">
                <a:solidFill>
                  <a:srgbClr val="1A1A1A"/>
                </a:solidFill>
              </a:rPr>
              <a:t>•  Scale vs focus, cooperation vs competition, short-term revenue vs long-term trust.</a:t>
            </a:r>
          </a:p>
          <a:p>
            <a:pPr>
              <a:spcAft>
                <a:spcPts val="600"/>
              </a:spcAft>
            </a:pPr>
            <a:r>
              <a:rPr sz="1400">
                <a:solidFill>
                  <a:srgbClr val="1A1A1A"/>
                </a:solidFill>
              </a:rPr>
              <a:t>•  No universal winner: the right trade-off depends on the market and the firm's position.</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Strategy = trade-offs: growth vs profit, openness vs control, scale vs focus, short-term vs long-term.</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127 / 142</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Strategy trade-offs — the two sides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981739"/>
                <a:gridCol w="4306956"/>
                <a:gridCol w="4141304"/>
              </a:tblGrid>
              <a:tr h="736092">
                <a:tc>
                  <a:txBody>
                    <a:bodyPr wrap="square"/>
                    <a:lstStyle/>
                    <a:p>
                      <a:r>
                        <a:rPr sz="1150" b="1">
                          <a:solidFill>
                            <a:srgbClr val="FFFFFF"/>
                          </a:solidFill>
                        </a:rPr>
                        <a:t>Trade-off</a:t>
                      </a:r>
                    </a:p>
                  </a:txBody>
                  <a:tcPr anchor="ctr" marL="73152" marR="54864" marT="27432" marB="27432">
                    <a:solidFill>
                      <a:srgbClr val="0C2B4A"/>
                    </a:solidFill>
                  </a:tcPr>
                </a:tc>
                <a:tc>
                  <a:txBody>
                    <a:bodyPr wrap="square"/>
                    <a:lstStyle/>
                    <a:p>
                      <a:r>
                        <a:rPr sz="1150" b="1">
                          <a:solidFill>
                            <a:srgbClr val="FFFFFF"/>
                          </a:solidFill>
                        </a:rPr>
                        <a:t>Choose one side…</a:t>
                      </a:r>
                    </a:p>
                  </a:txBody>
                  <a:tcPr anchor="ctr" marL="73152" marR="54864" marT="27432" marB="27432">
                    <a:solidFill>
                      <a:srgbClr val="0C2B4A"/>
                    </a:solidFill>
                  </a:tcPr>
                </a:tc>
                <a:tc>
                  <a:txBody>
                    <a:bodyPr wrap="square"/>
                    <a:lstStyle/>
                    <a:p>
                      <a:r>
                        <a:rPr sz="1150" b="1">
                          <a:solidFill>
                            <a:srgbClr val="FFFFFF"/>
                          </a:solidFill>
                        </a:rPr>
                        <a:t>…or the other</a:t>
                      </a:r>
                    </a:p>
                  </a:txBody>
                  <a:tcPr anchor="ctr" marL="73152" marR="54864" marT="27432" marB="27432">
                    <a:solidFill>
                      <a:srgbClr val="0C2B4A"/>
                    </a:solidFill>
                  </a:tcPr>
                </a:tc>
              </a:tr>
              <a:tr h="736092">
                <a:tc>
                  <a:txBody>
                    <a:bodyPr wrap="square"/>
                    <a:lstStyle/>
                    <a:p>
                      <a:r>
                        <a:rPr sz="1100" b="1">
                          <a:solidFill>
                            <a:srgbClr val="0C2B4A"/>
                          </a:solidFill>
                        </a:rPr>
                        <a:t>Growth vs profit</a:t>
                      </a:r>
                    </a:p>
                  </a:txBody>
                  <a:tcPr anchor="ctr" marL="73152" marR="54864" marT="27432" marB="27432">
                    <a:solidFill>
                      <a:srgbClr val="FFFFFF"/>
                    </a:solidFill>
                  </a:tcPr>
                </a:tc>
                <a:tc>
                  <a:txBody>
                    <a:bodyPr wrap="square"/>
                    <a:lstStyle/>
                    <a:p>
                      <a:r>
                        <a:rPr sz="1100">
                          <a:solidFill>
                            <a:srgbClr val="1A1A1A"/>
                          </a:solidFill>
                        </a:rPr>
                        <a:t>Growth: subsidise, win share now</a:t>
                      </a:r>
                    </a:p>
                  </a:txBody>
                  <a:tcPr anchor="ctr" marL="73152" marR="54864" marT="27432" marB="27432">
                    <a:solidFill>
                      <a:srgbClr val="FFFFFF"/>
                    </a:solidFill>
                  </a:tcPr>
                </a:tc>
                <a:tc>
                  <a:txBody>
                    <a:bodyPr wrap="square"/>
                    <a:lstStyle/>
                    <a:p>
                      <a:r>
                        <a:rPr sz="1100">
                          <a:solidFill>
                            <a:srgbClr val="1A1A1A"/>
                          </a:solidFill>
                        </a:rPr>
                        <a:t>Profit: earn today, grow slower</a:t>
                      </a:r>
                    </a:p>
                  </a:txBody>
                  <a:tcPr anchor="ctr" marL="73152" marR="54864" marT="27432" marB="27432">
                    <a:solidFill>
                      <a:srgbClr val="FFFFFF"/>
                    </a:solidFill>
                  </a:tcPr>
                </a:tc>
              </a:tr>
              <a:tr h="736092">
                <a:tc>
                  <a:txBody>
                    <a:bodyPr wrap="square"/>
                    <a:lstStyle/>
                    <a:p>
                      <a:r>
                        <a:rPr sz="1100" b="1">
                          <a:solidFill>
                            <a:srgbClr val="0C2B4A"/>
                          </a:solidFill>
                        </a:rPr>
                        <a:t>Openness vs control</a:t>
                      </a:r>
                    </a:p>
                  </a:txBody>
                  <a:tcPr anchor="ctr" marL="73152" marR="54864" marT="27432" marB="27432">
                    <a:solidFill>
                      <a:srgbClr val="EEF3F8"/>
                    </a:solidFill>
                  </a:tcPr>
                </a:tc>
                <a:tc>
                  <a:txBody>
                    <a:bodyPr wrap="square"/>
                    <a:lstStyle/>
                    <a:p>
                      <a:r>
                        <a:rPr sz="1100">
                          <a:solidFill>
                            <a:srgbClr val="1A1A1A"/>
                          </a:solidFill>
                        </a:rPr>
                        <a:t>Open: grow fast, control less</a:t>
                      </a:r>
                    </a:p>
                  </a:txBody>
                  <a:tcPr anchor="ctr" marL="73152" marR="54864" marT="27432" marB="27432">
                    <a:solidFill>
                      <a:srgbClr val="EEF3F8"/>
                    </a:solidFill>
                  </a:tcPr>
                </a:tc>
                <a:tc>
                  <a:txBody>
                    <a:bodyPr wrap="square"/>
                    <a:lstStyle/>
                    <a:p>
                      <a:r>
                        <a:rPr sz="1100">
                          <a:solidFill>
                            <a:srgbClr val="1A1A1A"/>
                          </a:solidFill>
                        </a:rPr>
                        <a:t>Closed: control more, grow slower</a:t>
                      </a:r>
                    </a:p>
                  </a:txBody>
                  <a:tcPr anchor="ctr" marL="73152" marR="54864" marT="27432" marB="27432">
                    <a:solidFill>
                      <a:srgbClr val="EEF3F8"/>
                    </a:solidFill>
                  </a:tcPr>
                </a:tc>
              </a:tr>
              <a:tr h="736092">
                <a:tc>
                  <a:txBody>
                    <a:bodyPr wrap="square"/>
                    <a:lstStyle/>
                    <a:p>
                      <a:r>
                        <a:rPr sz="1100" b="1">
                          <a:solidFill>
                            <a:srgbClr val="0C2B4A"/>
                          </a:solidFill>
                        </a:rPr>
                        <a:t>Scale vs focus</a:t>
                      </a:r>
                    </a:p>
                  </a:txBody>
                  <a:tcPr anchor="ctr" marL="73152" marR="54864" marT="27432" marB="27432">
                    <a:solidFill>
                      <a:srgbClr val="FFFFFF"/>
                    </a:solidFill>
                  </a:tcPr>
                </a:tc>
                <a:tc>
                  <a:txBody>
                    <a:bodyPr wrap="square"/>
                    <a:lstStyle/>
                    <a:p>
                      <a:r>
                        <a:rPr sz="1100">
                          <a:solidFill>
                            <a:srgbClr val="1A1A1A"/>
                          </a:solidFill>
                        </a:rPr>
                        <a:t>Scale: go broad, many markets</a:t>
                      </a:r>
                    </a:p>
                  </a:txBody>
                  <a:tcPr anchor="ctr" marL="73152" marR="54864" marT="27432" marB="27432">
                    <a:solidFill>
                      <a:srgbClr val="FFFFFF"/>
                    </a:solidFill>
                  </a:tcPr>
                </a:tc>
                <a:tc>
                  <a:txBody>
                    <a:bodyPr wrap="square"/>
                    <a:lstStyle/>
                    <a:p>
                      <a:r>
                        <a:rPr sz="1100">
                          <a:solidFill>
                            <a:srgbClr val="1A1A1A"/>
                          </a:solidFill>
                        </a:rPr>
                        <a:t>Focus: one niche done best</a:t>
                      </a:r>
                    </a:p>
                  </a:txBody>
                  <a:tcPr anchor="ctr" marL="73152" marR="54864" marT="27432" marB="27432">
                    <a:solidFill>
                      <a:srgbClr val="FFFFFF"/>
                    </a:solidFill>
                  </a:tcPr>
                </a:tc>
              </a:tr>
              <a:tr h="736092">
                <a:tc>
                  <a:txBody>
                    <a:bodyPr wrap="square"/>
                    <a:lstStyle/>
                    <a:p>
                      <a:r>
                        <a:rPr sz="1100" b="1">
                          <a:solidFill>
                            <a:srgbClr val="0C2B4A"/>
                          </a:solidFill>
                        </a:rPr>
                        <a:t>Cooperate vs compete</a:t>
                      </a:r>
                    </a:p>
                  </a:txBody>
                  <a:tcPr anchor="ctr" marL="73152" marR="54864" marT="27432" marB="27432">
                    <a:solidFill>
                      <a:srgbClr val="EEF3F8"/>
                    </a:solidFill>
                  </a:tcPr>
                </a:tc>
                <a:tc>
                  <a:txBody>
                    <a:bodyPr wrap="square"/>
                    <a:lstStyle/>
                    <a:p>
                      <a:r>
                        <a:rPr sz="1100">
                          <a:solidFill>
                            <a:srgbClr val="1A1A1A"/>
                          </a:solidFill>
                        </a:rPr>
                        <a:t>Cooperate: grow the pie (co-opetition)</a:t>
                      </a:r>
                    </a:p>
                  </a:txBody>
                  <a:tcPr anchor="ctr" marL="73152" marR="54864" marT="27432" marB="27432">
                    <a:solidFill>
                      <a:srgbClr val="EEF3F8"/>
                    </a:solidFill>
                  </a:tcPr>
                </a:tc>
                <a:tc>
                  <a:txBody>
                    <a:bodyPr wrap="square"/>
                    <a:lstStyle/>
                    <a:p>
                      <a:r>
                        <a:rPr sz="1100">
                          <a:solidFill>
                            <a:srgbClr val="1A1A1A"/>
                          </a:solidFill>
                        </a:rPr>
                        <a:t>Compete: fight for the whole slice</a:t>
                      </a:r>
                    </a:p>
                  </a:txBody>
                  <a:tcPr anchor="ctr" marL="73152" marR="54864" marT="27432" marB="27432">
                    <a:solidFill>
                      <a:srgbClr val="EEF3F8"/>
                    </a:solidFill>
                  </a:tcPr>
                </a:tc>
              </a:tr>
              <a:tr h="736092">
                <a:tc>
                  <a:txBody>
                    <a:bodyPr wrap="square"/>
                    <a:lstStyle/>
                    <a:p>
                      <a:r>
                        <a:rPr sz="1100" b="1">
                          <a:solidFill>
                            <a:srgbClr val="0C2B4A"/>
                          </a:solidFill>
                        </a:rPr>
                        <a:t>Short vs long term</a:t>
                      </a:r>
                    </a:p>
                  </a:txBody>
                  <a:tcPr anchor="ctr" marL="73152" marR="54864" marT="27432" marB="27432">
                    <a:solidFill>
                      <a:srgbClr val="FFFFFF"/>
                    </a:solidFill>
                  </a:tcPr>
                </a:tc>
                <a:tc>
                  <a:txBody>
                    <a:bodyPr wrap="square"/>
                    <a:lstStyle/>
                    <a:p>
                      <a:r>
                        <a:rPr sz="1100">
                          <a:solidFill>
                            <a:srgbClr val="1A1A1A"/>
                          </a:solidFill>
                        </a:rPr>
                        <a:t>Short: revenue now</a:t>
                      </a:r>
                    </a:p>
                  </a:txBody>
                  <a:tcPr anchor="ctr" marL="73152" marR="54864" marT="27432" marB="27432">
                    <a:solidFill>
                      <a:srgbClr val="FFFFFF"/>
                    </a:solidFill>
                  </a:tcPr>
                </a:tc>
                <a:tc>
                  <a:txBody>
                    <a:bodyPr wrap="square"/>
                    <a:lstStyle/>
                    <a:p>
                      <a:r>
                        <a:rPr sz="1100">
                          <a:solidFill>
                            <a:srgbClr val="1A1A1A"/>
                          </a:solidFill>
                        </a:rPr>
                        <a:t>Long: build trust, monetise later</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There is no universally right choice — the answer depends on the market, the firm's resources, and its position. Amazon chose growth/openness for years; a small Nepali startup usually wins by choosing focus and long-term trust.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128 / 142</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Strategy Trade-Offs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Amazon chose GROWTH over PROFIT for years — cross-subsidising, reinvesting, running thin margins to win share — a strategy only deep capital allows. Daraz pursued SCALE and data in Nepal. But a small Nepali startup usually cannot out-spend giants, so it should choose FOCUS over scale and PROFIT/trust over growth-at-all-costs — win one niche deeply (a district, a category) rather than fight everywhere. The right trade-off depends on your position.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"There is one winning digital strategy (just grow fast like Amazon)." Growth-at-all-costs suits firms with deep capital and tipping markets; it bankrupts a small player in a contested one. Strategy is trade-offs — growth vs profit, openness vs control, scale vs focus — and the right choice depends on the market and your resources. For most Nepali startups, focus beats scale.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strategy is a set of trade-offs, not one best answer: growth vs profit (win share now or earn today), openness vs control (open grows faster but yields control), scale vs focus, cooperation vs competition, and short-term revenue vs long-term trust. No choice is universally right — it depends on the market and the firm's position. Amazon chose growth and cross-subsidy for years; a focused Nepali startup usually wins by choosing profit and a niche.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growth vs profit · openness vs control · scale vs focus · cooperate vs compete · short vs long term · no universal answer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129 / 142</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Integrated Framework + Trends + Nepal</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Everything in this unit fits one integrated framework: a digital firm chooses a VALUE-CREATION model (S23), a BUSINESS model to capture it (S22), operates in a MARKET model it must manage (S24), and defends it all with STRATEGY and control points (S25) — while competing, cooperating, and co-opeting (S17–S19) across a layered internet (S20) through innovation (S21). Emerging trends (AI, blockchain, IoT) and regulation will reshape all four. For Nepal, the strategic lesson is 'focus, not scale': win a niche, fit the local context.</a:t>
            </a:r>
          </a:p>
          <a:p>
            <a:pPr>
              <a:spcAft>
                <a:spcPts val="500"/>
              </a:spcAft>
            </a:pPr>
            <a:r>
              <a:rPr sz="1200" b="1">
                <a:solidFill>
                  <a:srgbClr val="185FA5"/>
                </a:solidFill>
              </a:rPr>
              <a:t>HOW IT WORKS</a:t>
            </a:r>
          </a:p>
          <a:p>
            <a:pPr>
              <a:spcAft>
                <a:spcPts val="600"/>
              </a:spcAft>
            </a:pPr>
            <a:r>
              <a:rPr sz="1400">
                <a:solidFill>
                  <a:srgbClr val="1A1A1A"/>
                </a:solidFill>
              </a:rPr>
              <a:t>•  The four dimensions integrate: value creation + business model + market model + strategy.</a:t>
            </a:r>
          </a:p>
          <a:p>
            <a:pPr>
              <a:spcAft>
                <a:spcPts val="600"/>
              </a:spcAft>
            </a:pPr>
            <a:r>
              <a:rPr sz="1400">
                <a:solidFill>
                  <a:srgbClr val="1A1A1A"/>
                </a:solidFill>
              </a:rPr>
              <a:t>•  They sit on competition/cooperation/co-opetition, the layered model, and innovation.</a:t>
            </a:r>
          </a:p>
          <a:p>
            <a:pPr>
              <a:spcAft>
                <a:spcPts val="600"/>
              </a:spcAft>
            </a:pPr>
            <a:r>
              <a:rPr sz="1400">
                <a:solidFill>
                  <a:srgbClr val="1A1A1A"/>
                </a:solidFill>
              </a:rPr>
              <a:t>•  Trends: AI, blockchain, IoT — and regulation — will reshape all four dimensions.</a:t>
            </a:r>
          </a:p>
          <a:p>
            <a:pPr>
              <a:spcAft>
                <a:spcPts val="600"/>
              </a:spcAft>
            </a:pPr>
            <a:r>
              <a:rPr sz="1400">
                <a:solidFill>
                  <a:srgbClr val="1A1A1A"/>
                </a:solidFill>
              </a:rPr>
              <a:t>•  Nepal strategy: 'focus, not scale' — win a niche, fit local context, build trust.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Integrated: value creation + business model + market model + strategy — on competition/co-opetition, layers &amp; innovation. Nepal: focus, not scale.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130 / 142</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integrated framework applied to Pathao (4 dimensions)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775857"/>
                <a:gridCol w="3592285"/>
                <a:gridCol w="5061857"/>
              </a:tblGrid>
              <a:tr h="883310">
                <a:tc>
                  <a:txBody>
                    <a:bodyPr wrap="square"/>
                    <a:lstStyle/>
                    <a:p>
                      <a:r>
                        <a:rPr sz="1100" b="1">
                          <a:solidFill>
                            <a:srgbClr val="FFFFFF"/>
                          </a:solidFill>
                        </a:rPr>
                        <a:t>Dimension</a:t>
                      </a:r>
                    </a:p>
                  </a:txBody>
                  <a:tcPr anchor="ctr" marL="73152" marR="54864" marT="27432" marB="27432">
                    <a:solidFill>
                      <a:srgbClr val="0C2B4A"/>
                    </a:solidFill>
                  </a:tcPr>
                </a:tc>
                <a:tc>
                  <a:txBody>
                    <a:bodyPr wrap="square"/>
                    <a:lstStyle/>
                    <a:p>
                      <a:r>
                        <a:rPr sz="1100" b="1">
                          <a:solidFill>
                            <a:srgbClr val="FFFFFF"/>
                          </a:solidFill>
                        </a:rPr>
                        <a:t>What it asks</a:t>
                      </a:r>
                    </a:p>
                  </a:txBody>
                  <a:tcPr anchor="ctr" marL="73152" marR="54864" marT="27432" marB="27432">
                    <a:solidFill>
                      <a:srgbClr val="0C2B4A"/>
                    </a:solidFill>
                  </a:tcPr>
                </a:tc>
                <a:tc>
                  <a:txBody>
                    <a:bodyPr wrap="square"/>
                    <a:lstStyle/>
                    <a:p>
                      <a:r>
                        <a:rPr sz="1100" b="1">
                          <a:solidFill>
                            <a:srgbClr val="FFFFFF"/>
                          </a:solidFill>
                        </a:rPr>
                        <a:t>Pathao</a:t>
                      </a:r>
                    </a:p>
                  </a:txBody>
                  <a:tcPr anchor="ctr" marL="73152" marR="54864" marT="27432" marB="27432">
                    <a:solidFill>
                      <a:srgbClr val="0C2B4A"/>
                    </a:solidFill>
                  </a:tcPr>
                </a:tc>
              </a:tr>
              <a:tr h="883310">
                <a:tc>
                  <a:txBody>
                    <a:bodyPr wrap="square"/>
                    <a:lstStyle/>
                    <a:p>
                      <a:r>
                        <a:rPr sz="1050" b="1">
                          <a:solidFill>
                            <a:srgbClr val="0C2B4A"/>
                          </a:solidFill>
                        </a:rPr>
                        <a:t>Value creation (S23)</a:t>
                      </a:r>
                    </a:p>
                  </a:txBody>
                  <a:tcPr anchor="ctr" marL="73152" marR="54864" marT="27432" marB="27432">
                    <a:solidFill>
                      <a:srgbClr val="FFFFFF"/>
                    </a:solidFill>
                  </a:tcPr>
                </a:tc>
                <a:tc>
                  <a:txBody>
                    <a:bodyPr wrap="square"/>
                    <a:lstStyle/>
                    <a:p>
                      <a:r>
                        <a:rPr sz="1050">
                          <a:solidFill>
                            <a:srgbClr val="1A1A1A"/>
                          </a:solidFill>
                        </a:rPr>
                        <a:t>How is value generated?</a:t>
                      </a:r>
                    </a:p>
                  </a:txBody>
                  <a:tcPr anchor="ctr" marL="73152" marR="54864" marT="27432" marB="27432">
                    <a:solidFill>
                      <a:srgbClr val="FFFFFF"/>
                    </a:solidFill>
                  </a:tcPr>
                </a:tc>
                <a:tc>
                  <a:txBody>
                    <a:bodyPr wrap="square"/>
                    <a:lstStyle/>
                    <a:p>
                      <a:r>
                        <a:rPr sz="1050">
                          <a:solidFill>
                            <a:srgbClr val="1A1A1A"/>
                          </a:solidFill>
                        </a:rPr>
                        <a:t>Value NETWORK — connects riders &amp; drivers</a:t>
                      </a:r>
                    </a:p>
                  </a:txBody>
                  <a:tcPr anchor="ctr" marL="73152" marR="54864" marT="27432" marB="27432">
                    <a:solidFill>
                      <a:srgbClr val="FFFFFF"/>
                    </a:solidFill>
                  </a:tcPr>
                </a:tc>
              </a:tr>
              <a:tr h="883310">
                <a:tc>
                  <a:txBody>
                    <a:bodyPr wrap="square"/>
                    <a:lstStyle/>
                    <a:p>
                      <a:r>
                        <a:rPr sz="1050" b="1">
                          <a:solidFill>
                            <a:srgbClr val="0C2B4A"/>
                          </a:solidFill>
                        </a:rPr>
                        <a:t>Business model (S22)</a:t>
                      </a:r>
                    </a:p>
                  </a:txBody>
                  <a:tcPr anchor="ctr" marL="73152" marR="54864" marT="27432" marB="27432">
                    <a:solidFill>
                      <a:srgbClr val="EEF3F8"/>
                    </a:solidFill>
                  </a:tcPr>
                </a:tc>
                <a:tc>
                  <a:txBody>
                    <a:bodyPr wrap="square"/>
                    <a:lstStyle/>
                    <a:p>
                      <a:r>
                        <a:rPr sz="1050">
                          <a:solidFill>
                            <a:srgbClr val="1A1A1A"/>
                          </a:solidFill>
                        </a:rPr>
                        <a:t>How is value captured?</a:t>
                      </a:r>
                    </a:p>
                  </a:txBody>
                  <a:tcPr anchor="ctr" marL="73152" marR="54864" marT="27432" marB="27432">
                    <a:solidFill>
                      <a:srgbClr val="EEF3F8"/>
                    </a:solidFill>
                  </a:tcPr>
                </a:tc>
                <a:tc>
                  <a:txBody>
                    <a:bodyPr wrap="square"/>
                    <a:lstStyle/>
                    <a:p>
                      <a:r>
                        <a:rPr sz="1050">
                          <a:solidFill>
                            <a:srgbClr val="1A1A1A"/>
                          </a:solidFill>
                        </a:rPr>
                        <a:t>Platform/commission per ride (+ Food)</a:t>
                      </a:r>
                    </a:p>
                  </a:txBody>
                  <a:tcPr anchor="ctr" marL="73152" marR="54864" marT="27432" marB="27432">
                    <a:solidFill>
                      <a:srgbClr val="EEF3F8"/>
                    </a:solidFill>
                  </a:tcPr>
                </a:tc>
              </a:tr>
              <a:tr h="883310">
                <a:tc>
                  <a:txBody>
                    <a:bodyPr wrap="square"/>
                    <a:lstStyle/>
                    <a:p>
                      <a:r>
                        <a:rPr sz="1050" b="1">
                          <a:solidFill>
                            <a:srgbClr val="0C2B4A"/>
                          </a:solidFill>
                        </a:rPr>
                        <a:t>Market model (S24)</a:t>
                      </a:r>
                    </a:p>
                  </a:txBody>
                  <a:tcPr anchor="ctr" marL="73152" marR="54864" marT="27432" marB="27432">
                    <a:solidFill>
                      <a:srgbClr val="FFFFFF"/>
                    </a:solidFill>
                  </a:tcPr>
                </a:tc>
                <a:tc>
                  <a:txBody>
                    <a:bodyPr wrap="square"/>
                    <a:lstStyle/>
                    <a:p>
                      <a:r>
                        <a:rPr sz="1050">
                          <a:solidFill>
                            <a:srgbClr val="1A1A1A"/>
                          </a:solidFill>
                        </a:rPr>
                        <a:t>How does the market behave?</a:t>
                      </a:r>
                    </a:p>
                  </a:txBody>
                  <a:tcPr anchor="ctr" marL="73152" marR="54864" marT="27432" marB="27432">
                    <a:solidFill>
                      <a:srgbClr val="FFFFFF"/>
                    </a:solidFill>
                  </a:tcPr>
                </a:tc>
                <a:tc>
                  <a:txBody>
                    <a:bodyPr wrap="square"/>
                    <a:lstStyle/>
                    <a:p>
                      <a:r>
                        <a:rPr sz="1050">
                          <a:solidFill>
                            <a:srgbClr val="1A1A1A"/>
                          </a:solidFill>
                        </a:rPr>
                        <a:t>Two-sided; surge pricing; contested (multi-homing)</a:t>
                      </a:r>
                    </a:p>
                  </a:txBody>
                  <a:tcPr anchor="ctr" marL="73152" marR="54864" marT="27432" marB="27432">
                    <a:solidFill>
                      <a:srgbClr val="FFFFFF"/>
                    </a:solidFill>
                  </a:tcPr>
                </a:tc>
              </a:tr>
              <a:tr h="883312">
                <a:tc>
                  <a:txBody>
                    <a:bodyPr wrap="square"/>
                    <a:lstStyle/>
                    <a:p>
                      <a:r>
                        <a:rPr sz="1050" b="1">
                          <a:solidFill>
                            <a:srgbClr val="0C2B4A"/>
                          </a:solidFill>
                        </a:rPr>
                        <a:t>Strategy (S25)</a:t>
                      </a:r>
                    </a:p>
                  </a:txBody>
                  <a:tcPr anchor="ctr" marL="73152" marR="54864" marT="27432" marB="27432">
                    <a:solidFill>
                      <a:srgbClr val="EEF3F8"/>
                    </a:solidFill>
                  </a:tcPr>
                </a:tc>
                <a:tc>
                  <a:txBody>
                    <a:bodyPr wrap="square"/>
                    <a:lstStyle/>
                    <a:p>
                      <a:r>
                        <a:rPr sz="1050">
                          <a:solidFill>
                            <a:srgbClr val="1A1A1A"/>
                          </a:solidFill>
                        </a:rPr>
                        <a:t>How is value defended?</a:t>
                      </a:r>
                    </a:p>
                  </a:txBody>
                  <a:tcPr anchor="ctr" marL="73152" marR="54864" marT="27432" marB="27432">
                    <a:solidFill>
                      <a:srgbClr val="EEF3F8"/>
                    </a:solidFill>
                  </a:tcPr>
                </a:tc>
                <a:tc>
                  <a:txBody>
                    <a:bodyPr wrap="square"/>
                    <a:lstStyle/>
                    <a:p>
                      <a:r>
                        <a:rPr sz="1050">
                          <a:solidFill>
                            <a:srgbClr val="1A1A1A"/>
                          </a:solidFill>
                        </a:rPr>
                        <a:t>Data, dispatch algorithm, user relationship; focus on Nepal</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This one table IS the unit: any digital firm can be read across the four dimensions — how it creates value, captures it, behaves as a market, and defends it. Pathao's edge is local focus + control points, not out-spending global giants.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131 / 142</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Integrated Framework + Trends + Nepal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Read Pathao across the four dimensions: it CREATES value as a network (S23), CAPTURES it via commission (S22), operates a two-sided, surge-priced, contested MARKET (S24), and DEFENDS it with data, its dispatch algorithm, and local user relationships (S25) — competing with InDrive while co-opeting with banks. Trends (AI dispatch, digital ID) will reshape it. Its winning Nepal strategy is focus, not scale — own the local market giants underprioritise.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four topics — value, business model, market, strategy — are separate." They are one integrated system: value creation feeds the business model, which plays out in a market model, all defended by strategy and control points, on top of the layered internet and driven by innovation. Analysing a firm on ALL four at once (as the exam's Pathao question asks) is the point of Unit 3.</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One integrated framework ties the unit together: a firm chooses a value-creation model (S23), a business model to capture it (S22), operates in a market model it must manage (S24), and defends it with strategy and control points (S25) — while competing, cooperating, and co-opeting (S17–S19) across a layered internet (S20) via innovation (S21). Trends (AI, blockchain, IoT) and regulation will reshape all four. Nepal's lesson: focus, not scale — win a niche and fit local context.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integrated framework · value creation + business model + market model + strategy · trends AI/blockchain/IoT · Nepal: focus not scale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132 / 142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S25 — 'Integrate a Nepali platform'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(4 min): pick a Nepali platform (eSewa, Daraz, Foodmandu — not Pathao).</a:t>
            </a:r>
          </a:p>
          <a:p>
            <a:pPr>
              <a:spcAft>
                <a:spcPts val="700"/>
              </a:spcAft>
            </a:pPr>
            <a:r>
              <a:rPr sz="1550">
                <a:solidFill>
                  <a:srgbClr val="1A1A1A"/>
                </a:solidFill>
              </a:rPr>
              <a:t>•  Map it across ALL FOUR dimensions: value creation, business model, market model, strategy/control points.</a:t>
            </a:r>
          </a:p>
          <a:p>
            <a:pPr>
              <a:spcAft>
                <a:spcPts val="700"/>
              </a:spcAft>
            </a:pPr>
            <a:r>
              <a:rPr sz="1550">
                <a:solidFill>
                  <a:srgbClr val="1A1A1A"/>
                </a:solidFill>
              </a:rPr>
              <a:t>•  Name its strongest control point and one strategy trade-off it faces.</a:t>
            </a:r>
          </a:p>
          <a:p>
            <a:pPr>
              <a:spcAft>
                <a:spcPts val="700"/>
              </a:spcAft>
            </a:pPr>
            <a:r>
              <a:rPr sz="1550">
                <a:solidFill>
                  <a:srgbClr val="1A1A1A"/>
                </a:solidFill>
              </a:rPr>
              <a:t>•  Take 3–4 answers aloud (1 min); this rehearses the integration exam question directly.</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Good answer (eSewa): creation = multi-stakeholder network; business model = platform/commission + float; market = two-sided, concentrating; strategy = control points (merchant network, data, user relationship), trade-off = openness vs control. Reward all four dimensions + a named control point.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133 / 142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S25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Controlling the data, algorithms, or standards others must pass through is holding a:</a:t>
            </a:r>
          </a:p>
          <a:p>
            <a:pPr lvl="1"/>
            <a:r>
              <a:rPr sz="1500" b="1">
                <a:solidFill>
                  <a:srgbClr val="0F6E56"/>
                </a:solidFill>
              </a:rPr>
              <a:t>a) ✅ strategic control point   b) a patent   c) a subsidy   d) a pipe</a:t>
            </a:r>
          </a:p>
          <a:p>
            <a:pPr lvl="1">
              <a:spcBef>
                <a:spcPts val="600"/>
              </a:spcBef>
            </a:pPr>
            <a:r>
              <a:rPr sz="1500" i="1">
                <a:solidFill>
                  <a:srgbClr val="1A1A1A"/>
                </a:solidFill>
              </a:rPr>
              <a:t>     Why: a control point is a chokepoint others must pass through — it defends value and confers power.</a:t>
            </a:r>
          </a:p>
          <a:p>
            <a:pPr>
              <a:spcBef>
                <a:spcPts val="900"/>
              </a:spcBef>
            </a:pPr>
            <a:r>
              <a:rPr sz="1700" b="1">
                <a:solidFill>
                  <a:srgbClr val="0C2B4A"/>
                </a:solidFill>
              </a:rPr>
              <a:t>Q2.  For most Nepali startups facing global giants, the wisest strategy is usually:</a:t>
            </a:r>
          </a:p>
          <a:p>
            <a:pPr lvl="1"/>
            <a:r>
              <a:rPr sz="1500" b="1">
                <a:solidFill>
                  <a:srgbClr val="0F6E56"/>
                </a:solidFill>
              </a:rPr>
              <a:t>a) out-spend them on scale   b) ✅ focus on a niche and fit local context   c) copy them exactly   d) avoid digital</a:t>
            </a:r>
          </a:p>
          <a:p>
            <a:pPr lvl="1">
              <a:spcBef>
                <a:spcPts val="600"/>
              </a:spcBef>
            </a:pPr>
            <a:r>
              <a:rPr sz="1500" i="1">
                <a:solidFill>
                  <a:srgbClr val="1A1A1A"/>
                </a:solidFill>
              </a:rPr>
              <a:t>     Why: small players can't win a spending war; 'focus, not scale' wins a niche giants underprioritise.</a:t>
            </a:r>
          </a:p>
          <a:p>
            <a:pPr lvl="1">
              <a:spcBef>
                <a:spcPts val="600"/>
              </a:spcBef>
            </a:pPr>
            <a:r>
              <a:rPr sz="1500" i="1">
                <a:solidFill>
                  <a:srgbClr val="1A1A1A"/>
                </a:solidFill>
              </a:rPr>
              <a:t>Discussion: map any Nepali platform across value creation, business model, market model, strategy.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134 / 142</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S25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Digital strategy = create + capture + DEFEND value; defence comes from control points (data, algorithms, standards, user relationships).</a:t>
            </a:r>
          </a:p>
          <a:p>
            <a:pPr>
              <a:spcAft>
                <a:spcPts val="800"/>
              </a:spcAft>
            </a:pPr>
            <a:r>
              <a:rPr sz="1500">
                <a:solidFill>
                  <a:srgbClr val="1A1A1A"/>
                </a:solidFill>
              </a:rPr>
              <a:t>2.  Strategy is trade-offs: growth vs profit, openness vs control, scale vs focus — no universally right answer.</a:t>
            </a:r>
          </a:p>
          <a:p>
            <a:pPr>
              <a:spcAft>
                <a:spcPts val="800"/>
              </a:spcAft>
            </a:pPr>
            <a:r>
              <a:rPr sz="1500">
                <a:solidFill>
                  <a:srgbClr val="1A1A1A"/>
                </a:solidFill>
              </a:rPr>
              <a:t>3.  Integrated framework: value creation + business model + market model + strategy, on competition/co-opetition, layers &amp; innovation. Nepal: focus, not scale.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closes Unit 3: you can now analyse ANY digital firm across all four dimensions and judge how it competes, cooperates, and defends its value — the exact skill the integration exam question tests, and the skill a founder or analyst uses in the real Nepali market.</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Unit 4 — Digital transformation &amp; currencies: how organisations and money themselves go digital.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135 / 142</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3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Digital markets (S16)</a:t>
            </a:r>
          </a:p>
          <a:p>
            <a:pPr>
              <a:spcBef>
                <a:spcPts val="300"/>
              </a:spcBef>
            </a:pPr>
            <a:r>
              <a:rPr sz="1200">
                <a:solidFill>
                  <a:srgbClr val="1A1A1A"/>
                </a:solidFill>
              </a:rPr>
              <a:t>Online space matching buyers &amp; sellers. 4 traits: speed, scale, network effects, LOW marginal cost. 5 components: platform, payments, logistics, data &amp; analytics, support/trust. 5 types: B2C, B2B, C2C, C2B, P2P.</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Competition &amp; cooperation (S17–S18)</a:t>
            </a:r>
          </a:p>
          <a:p>
            <a:pPr>
              <a:spcBef>
                <a:spcPts val="300"/>
              </a:spcBef>
            </a:pPr>
            <a:r>
              <a:rPr sz="1200">
                <a:solidFill>
                  <a:srgbClr val="1A1A1A"/>
                </a:solidFill>
              </a:rPr>
              <a:t>Digital competes on data, network, speed, UX (Porter's 5 forces bent by network effects) -&gt; winner-take-most, but multi-homing keeps some contested. Cooperation (grow the pie first): 5 reasons; 3 forms = joint platforms, partnerships, service integration.</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Co-opetition &amp; layers (S19–S20)</a:t>
            </a:r>
          </a:p>
          <a:p>
            <a:pPr>
              <a:spcBef>
                <a:spcPts val="300"/>
              </a:spcBef>
            </a:pPr>
            <a:r>
              <a:rPr sz="1200">
                <a:solidFill>
                  <a:srgbClr val="1A1A1A"/>
                </a:solidFill>
              </a:rPr>
              <a:t>Co-opetition = cooperate UPSTREAM (tech/rails/standards) + compete DOWNSTREAM (customers); Value-Net adds complementors. Layered internet: infrastructure -&gt; platform -&gt; application (+user); value flows UP, power flows DOWN (control lower = power over higher).</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Innovation &amp; business models (S21–S22)</a:t>
            </a:r>
          </a:p>
          <a:p>
            <a:pPr>
              <a:spcBef>
                <a:spcPts val="300"/>
              </a:spcBef>
            </a:pPr>
            <a:r>
              <a:rPr sz="1200">
                <a:solidFill>
                  <a:srgbClr val="1A1A1A"/>
                </a:solidFill>
              </a:rPr>
              <a:t>Innovation != invention (value, not just tech); sustaining vs disruptive; 6 types; enablers AI/IoT/cloud/big data/AR/VR; ideation-&gt;MVP-&gt;scale. Value triad: create/deliver/capture. 10 models (platform, subscription, freemium, sharing, marketplace, advertising, e-commerce, ecosystem, usage, experience) — hybrids normal.</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Value creation &amp; market model (S23–S24)</a:t>
            </a:r>
          </a:p>
          <a:p>
            <a:pPr>
              <a:spcBef>
                <a:spcPts val="300"/>
              </a:spcBef>
            </a:pPr>
            <a:r>
              <a:rPr sz="1200">
                <a:solidFill>
                  <a:srgbClr val="1A1A1A"/>
                </a:solidFill>
              </a:rPr>
              <a:t>Creation != capture. Chain (make) / shop (solve) / network (connect); platforms = networks; 7 digital models; orchestration; Inputs-&gt;Process-&gt;Outputs-&gt;Impact. Business model (static) vs market model (dynamic: adoption/conversion/retention/churn). Pricing lever incl. dynamic/surge; two-sided balance &amp; tipping.</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Strategy &amp; integration (S25)</a:t>
            </a:r>
          </a:p>
          <a:p>
            <a:pPr>
              <a:spcBef>
                <a:spcPts val="300"/>
              </a:spcBef>
            </a:pPr>
            <a:r>
              <a:rPr sz="1200">
                <a:solidFill>
                  <a:srgbClr val="1A1A1A"/>
                </a:solidFill>
              </a:rPr>
              <a:t>Strategy = create + capture + DEFEND. Control points: data, algorithms, standards, user relationships. Trade-offs: growth vs profit, openness vs control, scale vs focus. Integrated framework = value creation + business model + market model + strategy. Nepal: focus, not scale.</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136 / 142</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3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 (1 of 2)</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Digital market — </a:t>
            </a:r>
            <a:r>
              <a:rPr sz="1150">
                <a:solidFill>
                  <a:srgbClr val="1A1A1A"/>
                </a:solidFill>
              </a:rPr>
              <a:t>An online space where buyers &amp; sellers match, price &amp; transact.</a:t>
            </a:r>
          </a:p>
          <a:p>
            <a:pPr>
              <a:spcAft>
                <a:spcPts val="600"/>
              </a:spcAft>
            </a:pPr>
            <a:r>
              <a:rPr sz="1150" b="1">
                <a:solidFill>
                  <a:srgbClr val="0C2B4A"/>
                </a:solidFill>
              </a:rPr>
              <a:t>Marginal cost — </a:t>
            </a:r>
            <a:r>
              <a:rPr sz="1150">
                <a:solidFill>
                  <a:srgbClr val="1A1A1A"/>
                </a:solidFill>
              </a:rPr>
              <a:t>Cost of serving one more user — near-zero for digital markets.</a:t>
            </a:r>
          </a:p>
          <a:p>
            <a:pPr>
              <a:spcAft>
                <a:spcPts val="600"/>
              </a:spcAft>
            </a:pPr>
            <a:r>
              <a:rPr sz="1150" b="1">
                <a:solidFill>
                  <a:srgbClr val="0C2B4A"/>
                </a:solidFill>
              </a:rPr>
              <a:t>Digital market types — </a:t>
            </a:r>
            <a:r>
              <a:rPr sz="1150">
                <a:solidFill>
                  <a:srgbClr val="1A1A1A"/>
                </a:solidFill>
              </a:rPr>
              <a:t>B2C, B2B, C2C, C2B, P2P — classified by who sells to whom.</a:t>
            </a:r>
          </a:p>
          <a:p>
            <a:pPr>
              <a:spcAft>
                <a:spcPts val="600"/>
              </a:spcAft>
            </a:pPr>
            <a:r>
              <a:rPr sz="1150" b="1">
                <a:solidFill>
                  <a:srgbClr val="0C2B4A"/>
                </a:solidFill>
              </a:rPr>
              <a:t>Winner-take-most — </a:t>
            </a:r>
            <a:r>
              <a:rPr sz="1150">
                <a:solidFill>
                  <a:srgbClr val="1A1A1A"/>
                </a:solidFill>
              </a:rPr>
              <a:t>The leading platform captures the bulk of the market.</a:t>
            </a:r>
          </a:p>
          <a:p>
            <a:pPr>
              <a:spcAft>
                <a:spcPts val="600"/>
              </a:spcAft>
            </a:pPr>
            <a:r>
              <a:rPr sz="1150" b="1">
                <a:solidFill>
                  <a:srgbClr val="0C2B4A"/>
                </a:solidFill>
              </a:rPr>
              <a:t>Multi-homing — </a:t>
            </a:r>
            <a:r>
              <a:rPr sz="1150">
                <a:solidFill>
                  <a:srgbClr val="1A1A1A"/>
                </a:solidFill>
              </a:rPr>
              <a:t>Users/suppliers using several competing platforms at once.</a:t>
            </a:r>
          </a:p>
          <a:p>
            <a:pPr>
              <a:spcAft>
                <a:spcPts val="600"/>
              </a:spcAft>
            </a:pPr>
            <a:r>
              <a:rPr sz="1150" b="1">
                <a:solidFill>
                  <a:srgbClr val="0C2B4A"/>
                </a:solidFill>
              </a:rPr>
              <a:t>Porter's Five Forces — </a:t>
            </a:r>
            <a:r>
              <a:rPr sz="1150">
                <a:solidFill>
                  <a:srgbClr val="1A1A1A"/>
                </a:solidFill>
              </a:rPr>
              <a:t>Rivalry, entrants, buyer power, supplier power, substitutes.</a:t>
            </a:r>
          </a:p>
          <a:p>
            <a:pPr>
              <a:spcAft>
                <a:spcPts val="600"/>
              </a:spcAft>
            </a:pPr>
            <a:r>
              <a:rPr sz="1150" b="1">
                <a:solidFill>
                  <a:srgbClr val="0C2B4A"/>
                </a:solidFill>
              </a:rPr>
              <a:t>Cooperation — </a:t>
            </a:r>
            <a:r>
              <a:rPr sz="1150">
                <a:solidFill>
                  <a:srgbClr val="1A1A1A"/>
                </a:solidFill>
              </a:rPr>
              <a:t>Firms working together to create value none could alone.</a:t>
            </a:r>
          </a:p>
          <a:p>
            <a:pPr>
              <a:spcAft>
                <a:spcPts val="600"/>
              </a:spcAft>
            </a:pPr>
            <a:r>
              <a:rPr sz="1150" b="1">
                <a:solidFill>
                  <a:srgbClr val="0C2B4A"/>
                </a:solidFill>
              </a:rPr>
              <a:t>Joint platform — </a:t>
            </a:r>
            <a:r>
              <a:rPr sz="1150">
                <a:solidFill>
                  <a:srgbClr val="1A1A1A"/>
                </a:solidFill>
              </a:rPr>
              <a:t>Rivals sharing common rails/standards (ConnectIPS, SWIFT).</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Service integration — </a:t>
            </a:r>
            <a:r>
              <a:rPr sz="1150">
                <a:solidFill>
                  <a:srgbClr val="1A1A1A"/>
                </a:solidFill>
              </a:rPr>
              <a:t>Embedding one service inside another for seamlessness.</a:t>
            </a:r>
          </a:p>
          <a:p>
            <a:pPr>
              <a:spcAft>
                <a:spcPts val="600"/>
              </a:spcAft>
            </a:pPr>
            <a:r>
              <a:rPr sz="1150" b="1">
                <a:solidFill>
                  <a:srgbClr val="0C2B4A"/>
                </a:solidFill>
              </a:rPr>
              <a:t>Co-opetition — </a:t>
            </a:r>
            <a:r>
              <a:rPr sz="1150">
                <a:solidFill>
                  <a:srgbClr val="1A1A1A"/>
                </a:solidFill>
              </a:rPr>
              <a:t>Cooperating &amp; competing with the same firm at once.</a:t>
            </a:r>
          </a:p>
          <a:p>
            <a:pPr>
              <a:spcAft>
                <a:spcPts val="600"/>
              </a:spcAft>
            </a:pPr>
            <a:r>
              <a:rPr sz="1150" b="1">
                <a:solidFill>
                  <a:srgbClr val="0C2B4A"/>
                </a:solidFill>
              </a:rPr>
              <a:t>Upstream / downstream — </a:t>
            </a:r>
            <a:r>
              <a:rPr sz="1150">
                <a:solidFill>
                  <a:srgbClr val="1A1A1A"/>
                </a:solidFill>
              </a:rPr>
              <a:t>Shared tech/rails (upstream) vs customers/brand (downstream).</a:t>
            </a:r>
          </a:p>
          <a:p>
            <a:pPr>
              <a:spcAft>
                <a:spcPts val="600"/>
              </a:spcAft>
            </a:pPr>
            <a:r>
              <a:rPr sz="1150" b="1">
                <a:solidFill>
                  <a:srgbClr val="0C2B4A"/>
                </a:solidFill>
              </a:rPr>
              <a:t>Value-Net — </a:t>
            </a:r>
            <a:r>
              <a:rPr sz="1150">
                <a:solidFill>
                  <a:srgbClr val="1A1A1A"/>
                </a:solidFill>
              </a:rPr>
              <a:t>Customers, suppliers, competitors &amp; complementors around a firm.</a:t>
            </a:r>
          </a:p>
          <a:p>
            <a:pPr>
              <a:spcAft>
                <a:spcPts val="600"/>
              </a:spcAft>
            </a:pPr>
            <a:r>
              <a:rPr sz="1150" b="1">
                <a:solidFill>
                  <a:srgbClr val="0C2B4A"/>
                </a:solidFill>
              </a:rPr>
              <a:t>Complementor — </a:t>
            </a:r>
            <a:r>
              <a:rPr sz="1150">
                <a:solidFill>
                  <a:srgbClr val="1A1A1A"/>
                </a:solidFill>
              </a:rPr>
              <a:t>A firm whose product makes yours more valuable.</a:t>
            </a:r>
          </a:p>
          <a:p>
            <a:pPr>
              <a:spcAft>
                <a:spcPts val="600"/>
              </a:spcAft>
            </a:pPr>
            <a:r>
              <a:rPr sz="1150" b="1">
                <a:solidFill>
                  <a:srgbClr val="0C2B4A"/>
                </a:solidFill>
              </a:rPr>
              <a:t>Layered internet model — </a:t>
            </a:r>
            <a:r>
              <a:rPr sz="1150">
                <a:solidFill>
                  <a:srgbClr val="1A1A1A"/>
                </a:solidFill>
              </a:rPr>
              <a:t>Infrastructure -&gt; platform -&gt; application (+ user), business view.</a:t>
            </a:r>
          </a:p>
          <a:p>
            <a:pPr>
              <a:spcAft>
                <a:spcPts val="600"/>
              </a:spcAft>
            </a:pPr>
            <a:r>
              <a:rPr sz="1150" b="1">
                <a:solidFill>
                  <a:srgbClr val="0C2B4A"/>
                </a:solidFill>
              </a:rPr>
              <a:t>Layer power — </a:t>
            </a:r>
            <a:r>
              <a:rPr sz="1150">
                <a:solidFill>
                  <a:srgbClr val="1A1A1A"/>
                </a:solidFill>
              </a:rPr>
              <a:t>Control of a lower layer confers power over higher layers.</a:t>
            </a:r>
          </a:p>
          <a:p>
            <a:pPr>
              <a:spcAft>
                <a:spcPts val="600"/>
              </a:spcAft>
            </a:pPr>
            <a:r>
              <a:rPr sz="1150" b="1">
                <a:solidFill>
                  <a:srgbClr val="0C2B4A"/>
                </a:solidFill>
              </a:rPr>
              <a:t>Digital innovation — </a:t>
            </a:r>
            <a:r>
              <a:rPr sz="1150">
                <a:solidFill>
                  <a:srgbClr val="1A1A1A"/>
                </a:solidFill>
              </a:rPr>
              <a:t>Creating new value with digital tech (product, process, model…).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137 / 142</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3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 (2 of 2)</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Innovation vs invention — </a:t>
            </a:r>
            <a:r>
              <a:rPr sz="1150">
                <a:solidFill>
                  <a:srgbClr val="1A1A1A"/>
                </a:solidFill>
              </a:rPr>
              <a:t>Value people use (innovation) vs a new technology (invention).</a:t>
            </a:r>
          </a:p>
          <a:p>
            <a:pPr>
              <a:spcAft>
                <a:spcPts val="600"/>
              </a:spcAft>
            </a:pPr>
            <a:r>
              <a:rPr sz="1150" b="1">
                <a:solidFill>
                  <a:srgbClr val="0C2B4A"/>
                </a:solidFill>
              </a:rPr>
              <a:t>Sustaining innovation — </a:t>
            </a:r>
            <a:r>
              <a:rPr sz="1150">
                <a:solidFill>
                  <a:srgbClr val="1A1A1A"/>
                </a:solidFill>
              </a:rPr>
              <a:t>Improving a product for existing customers.</a:t>
            </a:r>
          </a:p>
          <a:p>
            <a:pPr>
              <a:spcAft>
                <a:spcPts val="600"/>
              </a:spcAft>
            </a:pPr>
            <a:r>
              <a:rPr sz="1150" b="1">
                <a:solidFill>
                  <a:srgbClr val="0C2B4A"/>
                </a:solidFill>
              </a:rPr>
              <a:t>Disruptive innovation — </a:t>
            </a:r>
            <a:r>
              <a:rPr sz="1150">
                <a:solidFill>
                  <a:srgbClr val="1A1A1A"/>
                </a:solidFill>
              </a:rPr>
              <a:t>Cheap, 'good-enough' entry that rises to overtake incumbents.</a:t>
            </a:r>
          </a:p>
          <a:p>
            <a:pPr>
              <a:spcAft>
                <a:spcPts val="600"/>
              </a:spcAft>
            </a:pPr>
            <a:r>
              <a:rPr sz="1150" b="1">
                <a:solidFill>
                  <a:srgbClr val="0C2B4A"/>
                </a:solidFill>
              </a:rPr>
              <a:t>Business model — </a:t>
            </a:r>
            <a:r>
              <a:rPr sz="1150">
                <a:solidFill>
                  <a:srgbClr val="1A1A1A"/>
                </a:solidFill>
              </a:rPr>
              <a:t>How a firm creates, delivers &amp; captures value.</a:t>
            </a:r>
          </a:p>
          <a:p>
            <a:pPr>
              <a:spcAft>
                <a:spcPts val="600"/>
              </a:spcAft>
            </a:pPr>
            <a:r>
              <a:rPr sz="1150" b="1">
                <a:solidFill>
                  <a:srgbClr val="0C2B4A"/>
                </a:solidFill>
              </a:rPr>
              <a:t>Value triad — </a:t>
            </a:r>
            <a:r>
              <a:rPr sz="1150">
                <a:solidFill>
                  <a:srgbClr val="1A1A1A"/>
                </a:solidFill>
              </a:rPr>
              <a:t>Create + deliver + capture value.</a:t>
            </a:r>
          </a:p>
          <a:p>
            <a:pPr>
              <a:spcAft>
                <a:spcPts val="600"/>
              </a:spcAft>
            </a:pPr>
            <a:r>
              <a:rPr sz="1150" b="1">
                <a:solidFill>
                  <a:srgbClr val="0C2B4A"/>
                </a:solidFill>
              </a:rPr>
              <a:t>Freemium — </a:t>
            </a:r>
            <a:r>
              <a:rPr sz="1150">
                <a:solidFill>
                  <a:srgbClr val="1A1A1A"/>
                </a:solidFill>
              </a:rPr>
              <a:t>Free base tier, pay to upgrade.</a:t>
            </a:r>
          </a:p>
          <a:p>
            <a:pPr>
              <a:spcAft>
                <a:spcPts val="600"/>
              </a:spcAft>
            </a:pPr>
            <a:r>
              <a:rPr sz="1150" b="1">
                <a:solidFill>
                  <a:srgbClr val="0C2B4A"/>
                </a:solidFill>
              </a:rPr>
              <a:t>Ecosystem model — </a:t>
            </a:r>
            <a:r>
              <a:rPr sz="1150">
                <a:solidFill>
                  <a:srgbClr val="1A1A1A"/>
                </a:solidFill>
              </a:rPr>
              <a:t>Bundling services to lock users in.</a:t>
            </a:r>
          </a:p>
          <a:p>
            <a:pPr>
              <a:spcAft>
                <a:spcPts val="600"/>
              </a:spcAft>
            </a:pPr>
            <a:r>
              <a:rPr sz="1150" b="1">
                <a:solidFill>
                  <a:srgbClr val="0C2B4A"/>
                </a:solidFill>
              </a:rPr>
              <a:t>Value creation — </a:t>
            </a:r>
            <a:r>
              <a:rPr sz="1150">
                <a:solidFill>
                  <a:srgbClr val="1A1A1A"/>
                </a:solidFill>
              </a:rPr>
              <a:t>How a firm generates value (vs capture = how it earns).</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Value chain / shop / network — </a:t>
            </a:r>
            <a:r>
              <a:rPr sz="1150">
                <a:solidFill>
                  <a:srgbClr val="1A1A1A"/>
                </a:solidFill>
              </a:rPr>
              <a:t>Make / solve a problem / connect members (Stabell-Fjeldstad).</a:t>
            </a:r>
          </a:p>
          <a:p>
            <a:pPr>
              <a:spcAft>
                <a:spcPts val="600"/>
              </a:spcAft>
            </a:pPr>
            <a:r>
              <a:rPr sz="1150" b="1">
                <a:solidFill>
                  <a:srgbClr val="0C2B4A"/>
                </a:solidFill>
              </a:rPr>
              <a:t>Orchestration — </a:t>
            </a:r>
            <a:r>
              <a:rPr sz="1150">
                <a:solidFill>
                  <a:srgbClr val="1A1A1A"/>
                </a:solidFill>
              </a:rPr>
              <a:t>A platform enabling value it does not itself produce.</a:t>
            </a:r>
          </a:p>
          <a:p>
            <a:pPr>
              <a:spcAft>
                <a:spcPts val="600"/>
              </a:spcAft>
            </a:pPr>
            <a:r>
              <a:rPr sz="1150" b="1">
                <a:solidFill>
                  <a:srgbClr val="0C2B4A"/>
                </a:solidFill>
              </a:rPr>
              <a:t>Inputs-&gt;Process-&gt;Outputs-&gt;Impact — </a:t>
            </a:r>
            <a:r>
              <a:rPr sz="1150">
                <a:solidFill>
                  <a:srgbClr val="1A1A1A"/>
                </a:solidFill>
              </a:rPr>
              <a:t>A map of any value-creation flow end to end.</a:t>
            </a:r>
          </a:p>
          <a:p>
            <a:pPr>
              <a:spcAft>
                <a:spcPts val="600"/>
              </a:spcAft>
            </a:pPr>
            <a:r>
              <a:rPr sz="1150" b="1">
                <a:solidFill>
                  <a:srgbClr val="0C2B4A"/>
                </a:solidFill>
              </a:rPr>
              <a:t>Market model — </a:t>
            </a:r>
            <a:r>
              <a:rPr sz="1150">
                <a:solidFill>
                  <a:srgbClr val="1A1A1A"/>
                </a:solidFill>
              </a:rPr>
              <a:t>Dynamic view: adoption, conversion, retention, churn over time.</a:t>
            </a:r>
          </a:p>
          <a:p>
            <a:pPr>
              <a:spcAft>
                <a:spcPts val="600"/>
              </a:spcAft>
            </a:pPr>
            <a:r>
              <a:rPr sz="1150" b="1">
                <a:solidFill>
                  <a:srgbClr val="0C2B4A"/>
                </a:solidFill>
              </a:rPr>
              <a:t>Dynamic / surge pricing — </a:t>
            </a:r>
            <a:r>
              <a:rPr sz="1150">
                <a:solidFill>
                  <a:srgbClr val="1A1A1A"/>
                </a:solidFill>
              </a:rPr>
              <a:t>Prices that auto-adjust to demand, time, or data.</a:t>
            </a:r>
          </a:p>
          <a:p>
            <a:pPr>
              <a:spcAft>
                <a:spcPts val="600"/>
              </a:spcAft>
            </a:pPr>
            <a:r>
              <a:rPr sz="1150" b="1">
                <a:solidFill>
                  <a:srgbClr val="0C2B4A"/>
                </a:solidFill>
              </a:rPr>
              <a:t>Two-sided balance — </a:t>
            </a:r>
            <a:r>
              <a:rPr sz="1150">
                <a:solidFill>
                  <a:srgbClr val="1A1A1A"/>
                </a:solidFill>
              </a:rPr>
              <a:t>Keeping both platform sides growing (subsidise/charge).</a:t>
            </a:r>
          </a:p>
          <a:p>
            <a:pPr>
              <a:spcAft>
                <a:spcPts val="600"/>
              </a:spcAft>
            </a:pPr>
            <a:r>
              <a:rPr sz="1150" b="1">
                <a:solidFill>
                  <a:srgbClr val="0C2B4A"/>
                </a:solidFill>
              </a:rPr>
              <a:t>Strategic control point — </a:t>
            </a:r>
            <a:r>
              <a:rPr sz="1150">
                <a:solidFill>
                  <a:srgbClr val="1A1A1A"/>
                </a:solidFill>
              </a:rPr>
              <a:t>A chokepoint (data, algorithm, standard, customer) that defends value.</a:t>
            </a:r>
          </a:p>
          <a:p>
            <a:pPr>
              <a:spcAft>
                <a:spcPts val="600"/>
              </a:spcAft>
            </a:pPr>
            <a:r>
              <a:rPr sz="1150" b="1">
                <a:solidFill>
                  <a:srgbClr val="0C2B4A"/>
                </a:solidFill>
              </a:rPr>
              <a:t>Focus, not scale — </a:t>
            </a:r>
            <a:r>
              <a:rPr sz="1150">
                <a:solidFill>
                  <a:srgbClr val="1A1A1A"/>
                </a:solidFill>
              </a:rPr>
              <a:t>Nepal strategy: win a niche &amp; fit local context, don't out-spend giants.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138 / 142</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3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Twelve MCQs across the whole unit with real a/b/c/d options (correct answer varies position; answers shown), then short-answer, applied-case, and discussion questions to work from the concept slides and Unit3_material.md.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139 / 142</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 A — Multiple choice (answers shown · correct letter varies)</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A defining characteristic of a digital market is:  a) high marginal cost per user  b) ✅ near-zero marginal cost &amp; network effects  c) fixed local reach  d) slow price changes</a:t>
            </a:r>
          </a:p>
          <a:p>
            <a:pPr lvl="1"/>
            <a:r>
              <a:rPr sz="1250" b="1">
                <a:solidFill>
                  <a:srgbClr val="0F6E56"/>
                </a:solidFill>
              </a:rPr>
              <a:t>2.  'Winner-take-most' means:  a) all firms share equally  b) the newest firm wins  c) ✅ the leading platform captures the bulk of the market  d) government picks the winner</a:t>
            </a:r>
          </a:p>
          <a:p>
            <a:pPr lvl="1"/>
            <a:r>
              <a:rPr sz="1250" b="1">
                <a:solidFill>
                  <a:srgbClr val="0F6E56"/>
                </a:solidFill>
              </a:rPr>
              <a:t>3.  Two banks jointly running ConnectIPS is cooperation via:  a) ✅ a joint platform  b) a price war  c) an acquisition  d) advertising</a:t>
            </a:r>
          </a:p>
          <a:p>
            <a:pPr lvl="1"/>
            <a:r>
              <a:rPr sz="1250" b="1">
                <a:solidFill>
                  <a:srgbClr val="0F6E56"/>
                </a:solidFill>
              </a:rPr>
              <a:t>4.  Co-opetition typically means firms:  a) compete on everything  b) cooperate on everything  c) merge  d) ✅ cooperate upstream (tech) &amp; compete downstream (customers)</a:t>
            </a:r>
          </a:p>
          <a:p>
            <a:pPr lvl="1"/>
            <a:r>
              <a:rPr sz="1250" b="1">
                <a:solidFill>
                  <a:srgbClr val="0F6E56"/>
                </a:solidFill>
              </a:rPr>
              <a:t>5.  Cloud, data-centres &amp; connectivity belong to which layer?  a) application  b) ✅ infrastructure  c) user  d) payment</a:t>
            </a:r>
          </a:p>
          <a:p>
            <a:pPr lvl="1"/>
            <a:r>
              <a:rPr sz="1250" b="1">
                <a:solidFill>
                  <a:srgbClr val="0F6E56"/>
                </a:solidFill>
              </a:rPr>
              <a:t>6.  'Innovation is not invention' means innovation is about:  a) ✅ creating value people use, not just inventing tech  b) patents only  c) pure research  d) copying</a:t>
            </a:r>
          </a:p>
          <a:p>
            <a:pPr lvl="1"/>
            <a:r>
              <a:rPr sz="1250" b="1">
                <a:solidFill>
                  <a:srgbClr val="0F6E56"/>
                </a:solidFill>
              </a:rPr>
              <a:t>7.  A cheap, 'good-enough' entrant that rises to overtake incumbents is:  a) sustaining innovation  b) ✅ disruptive innovation  c) invention  d) marketing innovation</a:t>
            </a:r>
          </a:p>
          <a:p>
            <a:pPr lvl="1"/>
            <a:r>
              <a:rPr sz="1250" b="1">
                <a:solidFill>
                  <a:srgbClr val="0F6E56"/>
                </a:solidFill>
              </a:rPr>
              <a:t>8.  Netflix charging a flat monthly fee is which business model?  a) freemium  b) marketplace  c) ✅ subscription  d) advertising</a:t>
            </a:r>
          </a:p>
          <a:p>
            <a:pPr lvl="1"/>
            <a:r>
              <a:rPr sz="1250" b="1">
                <a:solidFill>
                  <a:srgbClr val="0F6E56"/>
                </a:solidFill>
              </a:rPr>
              <a:t>9.  A hospital or consultancy that diagnoses &amp; solves a problem is a:  a) value chain  b) ✅ value shop  c) value network  d) value pipe</a:t>
            </a:r>
          </a:p>
          <a:p>
            <a:pPr lvl="1"/>
            <a:r>
              <a:rPr sz="1250" b="1">
                <a:solidFill>
                  <a:srgbClr val="0F6E56"/>
                </a:solidFill>
              </a:rPr>
              <a:t>10.  A business model shows how you EARN; a market model shows:  a) the logo  b) the office  c) ✅ how the market behaves over time (adoption, churn, tipping)  d) the tax rate</a:t>
            </a:r>
          </a:p>
          <a:p>
            <a:pPr lvl="1"/>
            <a:r>
              <a:rPr sz="1250" b="1">
                <a:solidFill>
                  <a:srgbClr val="0F6E56"/>
                </a:solidFill>
              </a:rPr>
              <a:t>11.  Pathao raising fares automatically at peak demand is:  a) freemium  b) a subsidy  c) loss-leader  d) ✅ dynamic (surge) pricing</a:t>
            </a:r>
          </a:p>
          <a:p>
            <a:pPr lvl="1"/>
            <a:r>
              <a:rPr sz="1250" b="1">
                <a:solidFill>
                  <a:srgbClr val="0F6E56"/>
                </a:solidFill>
              </a:rPr>
              <a:t>12.  Controlling data/algorithms/standards others must pass through is holding a:  a) ✅ strategic control point  b) a patent  c) a subsidy  d) a pipe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140 / 142</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Sections B–D — short answer, applied case &amp; discussion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Section B — Short answer</a:t>
            </a:r>
          </a:p>
          <a:p>
            <a:pPr lvl="1">
              <a:spcBef>
                <a:spcPts val="200"/>
              </a:spcBef>
            </a:pPr>
            <a:r>
              <a:rPr sz="1250" i="1">
                <a:solidFill>
                  <a:srgbClr val="1A1A1A"/>
                </a:solidFill>
              </a:rPr>
              <a:t>13. Define co-opetition and give a Nepali example.   14. Name the 3 internet layers and the direction value flows.   15. Name 3 digital business-model types.</a:t>
            </a:r>
          </a:p>
          <a:p>
            <a:pPr lvl="1">
              <a:spcBef>
                <a:spcPts val="200"/>
              </a:spcBef>
            </a:pPr>
            <a:r>
              <a:rPr sz="1250" i="1">
                <a:solidFill>
                  <a:srgbClr val="1A1A1A"/>
                </a:solidFill>
              </a:rPr>
              <a:t>16. Explain value chain vs value shop vs value network.   17. What is a strategic control point? Name two.</a:t>
            </a:r>
          </a:p>
          <a:p>
            <a:pPr>
              <a:spcBef>
                <a:spcPts val="500"/>
              </a:spcBef>
            </a:pPr>
            <a:r>
              <a:rPr sz="1400" b="1">
                <a:solidFill>
                  <a:srgbClr val="0C2B4A"/>
                </a:solidFill>
              </a:rPr>
              <a:t>Section C — Applied case</a:t>
            </a:r>
          </a:p>
          <a:p>
            <a:pPr lvl="1">
              <a:spcBef>
                <a:spcPts val="200"/>
              </a:spcBef>
            </a:pPr>
            <a:r>
              <a:rPr sz="1250" i="1">
                <a:solidFill>
                  <a:srgbClr val="1A1A1A"/>
                </a:solidFill>
              </a:rPr>
              <a:t>18. Map Pathao across ALL FOUR dimensions: value creation · business model · market model · strategy (the integration question).</a:t>
            </a:r>
          </a:p>
          <a:p>
            <a:pPr lvl="1">
              <a:spcBef>
                <a:spcPts val="200"/>
              </a:spcBef>
            </a:pPr>
            <a:r>
              <a:rPr sz="1250" i="1">
                <a:solidFill>
                  <a:srgbClr val="1A1A1A"/>
                </a:solidFill>
              </a:rPr>
              <a:t>19. Explain a Nepali co-opetition case (eSewa + Nabil, or Daraz + Pathao): what is shared upstream, what is competed downstream?</a:t>
            </a:r>
          </a:p>
          <a:p>
            <a:pPr>
              <a:spcBef>
                <a:spcPts val="500"/>
              </a:spcBef>
            </a:pPr>
            <a:r>
              <a:rPr sz="1400" b="1">
                <a:solidFill>
                  <a:srgbClr val="0C2B4A"/>
                </a:solidFill>
              </a:rPr>
              <a:t>Section D — Discussion</a:t>
            </a:r>
          </a:p>
          <a:p>
            <a:pPr lvl="1">
              <a:spcBef>
                <a:spcPts val="200"/>
              </a:spcBef>
            </a:pPr>
            <a:r>
              <a:rPr sz="1250" i="1">
                <a:solidFill>
                  <a:srgbClr val="1A1A1A"/>
                </a:solidFill>
              </a:rPr>
              <a:t>20. Is Pathao's dominance good for Nepal? Should digital platforms be regulated? Can Nepali startups compete — focus or scale?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141 / 142</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End of Unit 3  ·  IT 250</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S16–S25 complete: digital markets · competition, cooperation &amp; co-opetition · the layered internet model · digital innovation · business models (the 10) · value-creation models (chain/shop/network + the 7) · modelling markets (pricing, two-sided, tipping) · strategy, control points &amp; integration</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Built to COURSE_MATERIAL_STANDARD.md incl. the §7A depth rule · comparison &amp; concrete-example tables throughout · self-contained, PDF-safe, Nepal-localised · builds on Unit 2 · Next: Unit 4 — Digital Transformation &amp; Currencies.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142 / 142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