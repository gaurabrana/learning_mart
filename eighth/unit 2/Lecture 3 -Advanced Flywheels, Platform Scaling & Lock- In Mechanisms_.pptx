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84" r:id="rId7"/>
    <p:sldId id="285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9" r:id="rId25"/>
    <p:sldId id="280" r:id="rId26"/>
    <p:sldId id="281" r:id="rId27"/>
    <p:sldId id="282" r:id="rId28"/>
    <p:sldId id="277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5F3E9-E5B8-0600-EC10-16AA56648537}" v="2" dt="2025-12-07T00:44:14.6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255F07-FE48-4A7A-A4ED-FFE67150ED4D}" type="datetimeFigureOut"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550F4-1754-4B5C-83BC-E0EC87D0D6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228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How platforms intentionally design growth loops</a:t>
            </a:r>
            <a:endParaRPr lang="en-US"/>
          </a:p>
          <a:p>
            <a:r>
              <a:rPr lang="en-US" dirty="0"/>
              <a:t>Platforms do not grow by accident.</a:t>
            </a:r>
            <a:br>
              <a:rPr lang="en-US" dirty="0">
                <a:cs typeface="+mn-lt"/>
              </a:rPr>
            </a:br>
            <a:r>
              <a:rPr lang="en-US" dirty="0"/>
              <a:t> They are engineered to: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Acquire new users automatically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Keep users active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Make users bring more users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Reduce how many users leave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Platforms build </a:t>
            </a:r>
            <a:r>
              <a:rPr lang="en-US" b="1" dirty="0"/>
              <a:t>mechanisms</a:t>
            </a:r>
            <a:r>
              <a:rPr lang="en-US" dirty="0"/>
              <a:t> (algorithms, incentives, tools, content systems) that drive growth 24/7.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2. How they scale from 1,000 → 1 million → 100 million users</a:t>
            </a:r>
            <a:endParaRPr lang="en-US" dirty="0"/>
          </a:p>
          <a:p>
            <a:r>
              <a:rPr lang="en-US" dirty="0"/>
              <a:t>Small platforms require human effort and marketing.</a:t>
            </a:r>
            <a:br>
              <a:rPr lang="en-US" dirty="0">
                <a:cs typeface="+mn-lt"/>
              </a:rPr>
            </a:br>
            <a:r>
              <a:rPr lang="en-US" dirty="0"/>
              <a:t> Large platforms grow differently: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Strong network effects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Automated onboarding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Content algorithms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Viral loops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Retention engines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Growth becomes </a:t>
            </a:r>
            <a:r>
              <a:rPr lang="en-US" b="1" dirty="0"/>
              <a:t>self-reinforcing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3. How lock-in and switching costs create long-term dominance</a:t>
            </a:r>
            <a:endParaRPr lang="en-US" dirty="0"/>
          </a:p>
          <a:p>
            <a:r>
              <a:rPr lang="en-US" dirty="0"/>
              <a:t>Even if a competitor appears, people don’t leave because: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Too many friends are here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Too much data is stored here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Too much convenience is built here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Learning a new platform is tiring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Emotional attachment is strong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protects platforms for </a:t>
            </a:r>
            <a:r>
              <a:rPr lang="en-US" b="1" dirty="0"/>
              <a:t>years or decades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252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Explains how big companies stay powerful</a:t>
            </a:r>
            <a:endParaRPr lang="en-US"/>
          </a:p>
          <a:p>
            <a:r>
              <a:rPr lang="en-US"/>
              <a:t>Meta, Amazon, Apple, TikTok are not dominating by luck.</a:t>
            </a:r>
            <a:br>
              <a:rPr lang="en-US" dirty="0"/>
            </a:br>
            <a:r>
              <a:rPr lang="en-US"/>
              <a:t> They use: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Network effects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Algorithmic feedback loops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Lock-in strategies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Massive data advantages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This creates </a:t>
            </a:r>
            <a:r>
              <a:rPr lang="en-US" i="1" dirty="0"/>
              <a:t>long-term dominance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2. Explains how startups transform into global giants</a:t>
            </a:r>
            <a:endParaRPr lang="en-US" dirty="0"/>
          </a:p>
          <a:p>
            <a:r>
              <a:rPr lang="en-US" dirty="0"/>
              <a:t>Every giant platform started small: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Facebook (college dorm)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Amazon (small bookstore)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Apple (garage)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TikTok (small Chinese app)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Understanding these growth mechanics reveals </a:t>
            </a:r>
            <a:r>
              <a:rPr lang="en-US" b="1" dirty="0"/>
              <a:t>how they scaled</a:t>
            </a:r>
            <a:r>
              <a:rPr lang="en-US" dirty="0"/>
              <a:t> and what makes them hard to beat.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3. Helps students who want to build platforms</a:t>
            </a:r>
            <a:endParaRPr lang="en-US" dirty="0"/>
          </a:p>
          <a:p>
            <a:r>
              <a:rPr lang="en-US" dirty="0"/>
              <a:t>If any student wants to: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Create a startup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Build an app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Launch a digital marketplace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Work in product or growth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They need to understand: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 to design a growth loop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 to trigger network effects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 to retain users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How to compete in platform markets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/>
              <a:t>TikTok </a:t>
            </a:r>
            <a:r>
              <a:rPr lang="en-US" b="1"/>
              <a:t>engineered</a:t>
            </a:r>
            <a:r>
              <a:rPr lang="en-US"/>
              <a:t> its success:</a:t>
            </a:r>
          </a:p>
          <a:p>
            <a:pPr marL="171450" indent="-171450">
              <a:buFont typeface="Arial"/>
              <a:buChar char="•"/>
            </a:pPr>
            <a:r>
              <a:rPr lang="en-US" b="1" dirty="0"/>
              <a:t>Fast onboarding:</a:t>
            </a:r>
            <a:r>
              <a:rPr lang="en-US" dirty="0"/>
              <a:t> the app shows exciting videos immediately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Highly addictive engagement loops:</a:t>
            </a:r>
            <a:r>
              <a:rPr lang="en-US" dirty="0"/>
              <a:t> infinite scroll + personalized algorithm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Creator lock-in:</a:t>
            </a:r>
            <a:r>
              <a:rPr lang="en-US" dirty="0"/>
              <a:t> easy editing tools, virality, monetization → creators stay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b="1" dirty="0"/>
              <a:t>Strong network effects:</a:t>
            </a:r>
            <a:r>
              <a:rPr lang="en-US" dirty="0"/>
              <a:t> more creators → more viewers → more creators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TikTok built these elements </a:t>
            </a:r>
            <a:r>
              <a:rPr lang="en-US" b="1" dirty="0"/>
              <a:t>deliberately</a:t>
            </a:r>
            <a:r>
              <a:rPr lang="en-US" dirty="0"/>
              <a:t>, so growth became automatic.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17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 effects happen </a:t>
            </a:r>
            <a:r>
              <a:rPr lang="en-US" b="1" dirty="0"/>
              <a:t>automatically</a:t>
            </a:r>
            <a:r>
              <a:rPr lang="en-US" dirty="0"/>
              <a:t> when more users make a platform more valuable.</a:t>
            </a:r>
          </a:p>
          <a:p>
            <a:r>
              <a:rPr lang="en-US" b="1" dirty="0"/>
              <a:t>Examples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More sellers → better buyer experience</a:t>
            </a:r>
            <a:br>
              <a:rPr lang="en-US" b="1" dirty="0">
                <a:cs typeface="+mn-lt"/>
              </a:rPr>
            </a:br>
            <a:r>
              <a:rPr lang="en-US" b="1" dirty="0"/>
              <a:t> (Example: </a:t>
            </a:r>
            <a:r>
              <a:rPr lang="en-US" b="1" dirty="0" err="1"/>
              <a:t>Daraz</a:t>
            </a:r>
            <a:r>
              <a:rPr lang="en-US" b="1" dirty="0"/>
              <a:t>, Amazon — more product choices)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More riders → higher driver earnings → more drivers</a:t>
            </a:r>
            <a:br>
              <a:rPr lang="en-US" b="1" dirty="0">
                <a:cs typeface="+mn-lt"/>
              </a:rPr>
            </a:br>
            <a:r>
              <a:rPr lang="en-US" b="1" dirty="0"/>
              <a:t> (Example: Uber/</a:t>
            </a:r>
            <a:r>
              <a:rPr lang="en-US" b="1" dirty="0" err="1"/>
              <a:t>Pathao</a:t>
            </a:r>
            <a:r>
              <a:rPr lang="en-US" b="1" dirty="0"/>
              <a:t> — more riders means drivers earn more, so more drivers join)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 dirty="0"/>
              <a:t>More users → better AI recommendations → more users</a:t>
            </a:r>
            <a:br>
              <a:rPr lang="en-US" b="1" dirty="0">
                <a:cs typeface="+mn-lt"/>
              </a:rPr>
            </a:br>
            <a:r>
              <a:rPr lang="en-US" b="1" dirty="0"/>
              <a:t> (Example: TikTok or Instagram — more engagement improves algorithm accuracy)</a:t>
            </a:r>
            <a:endParaRPr lang="en-US"/>
          </a:p>
          <a:p>
            <a:r>
              <a:rPr lang="en-US" b="1" dirty="0"/>
              <a:t>Key Point</a:t>
            </a:r>
            <a:endParaRPr lang="en-US"/>
          </a:p>
          <a:p>
            <a:r>
              <a:rPr lang="en-US" dirty="0"/>
              <a:t>Network effects </a:t>
            </a:r>
            <a:r>
              <a:rPr lang="en-US" b="1" dirty="0"/>
              <a:t>do not require intentional design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They are a </a:t>
            </a:r>
            <a:r>
              <a:rPr lang="en-US" i="1" dirty="0"/>
              <a:t>natural outcome</a:t>
            </a:r>
            <a:r>
              <a:rPr lang="en-US" dirty="0"/>
              <a:t> of having more users.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/>
              <a:t>A flywheel is a </a:t>
            </a:r>
            <a:r>
              <a:rPr lang="en-US" b="1" dirty="0"/>
              <a:t>deliberately designed system</a:t>
            </a:r>
            <a:r>
              <a:rPr lang="en-US" dirty="0"/>
              <a:t> that turns network effects into </a:t>
            </a:r>
            <a:r>
              <a:rPr lang="en-US" b="1" dirty="0"/>
              <a:t>continuous, unstoppable momentum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Simple Difference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 dirty="0"/>
              <a:t>Network effect = natural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b="1" dirty="0"/>
              <a:t>Flywheel = intentionally built</a:t>
            </a:r>
            <a:endParaRPr lang="en-US"/>
          </a:p>
          <a:p>
            <a:r>
              <a:rPr lang="en-US" b="1" dirty="0"/>
              <a:t>What is a Flywheel?</a:t>
            </a:r>
            <a:endParaRPr lang="en-US"/>
          </a:p>
          <a:p>
            <a:r>
              <a:rPr lang="en-US" dirty="0"/>
              <a:t>A growth cycle that becomes stronger each time it repeats: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Better service → more users → better data → better service → more users</a:t>
            </a:r>
            <a:br>
              <a:rPr lang="en-US" b="1" dirty="0">
                <a:cs typeface="+mn-lt"/>
              </a:rPr>
            </a:br>
            <a:r>
              <a:rPr lang="en-US" b="1" dirty="0"/>
              <a:t> …and the cycle keeps accelerating like a spinning wheel.</a:t>
            </a:r>
            <a:endParaRPr lang="en-US"/>
          </a:p>
          <a:p>
            <a:r>
              <a:rPr lang="en-US" b="1" dirty="0"/>
              <a:t>Purpose of a Flywheel</a:t>
            </a:r>
            <a:endParaRPr lang="en-US"/>
          </a:p>
          <a:p>
            <a:r>
              <a:rPr lang="en-US" dirty="0"/>
              <a:t>To transform network effects from: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“Something that happens when users join”</a:t>
            </a:r>
            <a:br>
              <a:rPr lang="en-US" dirty="0">
                <a:cs typeface="+mn-lt"/>
              </a:rPr>
            </a:br>
            <a:r>
              <a:rPr lang="en-US" dirty="0"/>
              <a:t> into</a:t>
            </a:r>
            <a:endParaRPr lang="en-US" dirty="0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 dirty="0"/>
              <a:t>“A system that </a:t>
            </a:r>
            <a:r>
              <a:rPr lang="en-US" i="1" dirty="0"/>
              <a:t>actively pushes</a:t>
            </a:r>
            <a:r>
              <a:rPr lang="en-US" dirty="0"/>
              <a:t> the platform to grow.”</a:t>
            </a:r>
          </a:p>
          <a:p>
            <a:pPr marL="171450" indent="-171450"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dirty="0"/>
              <a:t>Network effect:</a:t>
            </a:r>
            <a:br>
              <a:rPr lang="en-US" dirty="0">
                <a:cs typeface="+mn-lt"/>
              </a:rPr>
            </a:br>
            <a:r>
              <a:rPr lang="en-US" dirty="0"/>
              <a:t> “Users join → value increases.”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/>
              <a:buChar char="•"/>
            </a:pPr>
            <a:r>
              <a:rPr lang="en-US" dirty="0"/>
              <a:t>Flywheel:</a:t>
            </a:r>
            <a:br>
              <a:rPr lang="en-US" dirty="0">
                <a:cs typeface="+mn-lt"/>
              </a:rPr>
            </a:br>
            <a:r>
              <a:rPr lang="en-US" dirty="0"/>
              <a:t> “We built a system so every user automatically triggers new growth.”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Network Effects</a:t>
            </a:r>
            <a:endParaRPr lang="en-US"/>
          </a:p>
          <a:p>
            <a:r>
              <a:rPr lang="en-US"/>
              <a:t>Network effects are a </a:t>
            </a:r>
            <a:r>
              <a:rPr lang="en-US" b="1"/>
              <a:t>natural outcome</a:t>
            </a:r>
            <a:r>
              <a:rPr lang="en-US"/>
              <a:t> of having more users on a platform.</a:t>
            </a:r>
          </a:p>
          <a:p>
            <a:r>
              <a:rPr lang="en-US" b="1" dirty="0"/>
              <a:t>Key Idea:</a:t>
            </a:r>
            <a:endParaRPr lang="en-US" dirty="0"/>
          </a:p>
          <a:p>
            <a:r>
              <a:rPr lang="en-US" b="1" dirty="0"/>
              <a:t>More users → more value for each user</a:t>
            </a:r>
            <a:endParaRPr lang="en-US" dirty="0"/>
          </a:p>
          <a:p>
            <a:r>
              <a:rPr lang="en-US" dirty="0"/>
              <a:t>Examples: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More sellers on </a:t>
            </a:r>
            <a:r>
              <a:rPr lang="en-US" dirty="0" err="1"/>
              <a:t>Daraz</a:t>
            </a:r>
            <a:r>
              <a:rPr lang="en-US" dirty="0"/>
              <a:t> → better shopping experience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More friends on Facebook → more messages, photos, content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More drivers on Uber → shorter wait times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But:</a:t>
            </a:r>
            <a:endParaRPr lang="en-US" dirty="0"/>
          </a:p>
          <a:p>
            <a:r>
              <a:rPr lang="en-US" dirty="0"/>
              <a:t>Network effects </a:t>
            </a:r>
            <a:r>
              <a:rPr lang="en-US" b="1" dirty="0"/>
              <a:t>do not guarantee dominance</a:t>
            </a:r>
            <a:r>
              <a:rPr lang="en-US" dirty="0"/>
              <a:t>.</a:t>
            </a:r>
            <a:br>
              <a:rPr lang="en-US" dirty="0">
                <a:cs typeface="+mn-lt"/>
              </a:rPr>
            </a:br>
            <a:r>
              <a:rPr lang="en-US" dirty="0"/>
              <a:t> A platform can still fail even with network effects (e.g., early social networks like </a:t>
            </a:r>
            <a:r>
              <a:rPr lang="en-US" dirty="0" err="1"/>
              <a:t>MySpace</a:t>
            </a:r>
            <a:r>
              <a:rPr lang="en-US" dirty="0"/>
              <a:t> or Orkut).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Why?</a:t>
            </a:r>
            <a:br>
              <a:rPr lang="en-US" dirty="0">
                <a:cs typeface="+mn-lt"/>
              </a:rPr>
            </a:br>
            <a:r>
              <a:rPr lang="en-US" dirty="0"/>
              <a:t> Because network effects alone are </a:t>
            </a:r>
            <a:r>
              <a:rPr lang="en-US" b="1" dirty="0"/>
              <a:t>passive</a:t>
            </a:r>
            <a:r>
              <a:rPr lang="en-US" dirty="0"/>
              <a:t> — they happen naturally but don’t actively push growth.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Flywheel</a:t>
            </a:r>
            <a:endParaRPr lang="en-US" dirty="0"/>
          </a:p>
          <a:p>
            <a:r>
              <a:rPr lang="en-US" dirty="0"/>
              <a:t>A flywheel is an </a:t>
            </a:r>
            <a:r>
              <a:rPr lang="en-US" b="1" dirty="0"/>
              <a:t>engineered growth system</a:t>
            </a:r>
            <a:r>
              <a:rPr lang="en-US" dirty="0"/>
              <a:t> designed by the platform.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Key Idea:</a:t>
            </a:r>
            <a:endParaRPr lang="en-US" dirty="0"/>
          </a:p>
          <a:p>
            <a:r>
              <a:rPr lang="en-US" b="1" dirty="0"/>
              <a:t>A structured cycle that amplifies network effects and accelerates growth</a:t>
            </a:r>
            <a:endParaRPr lang="en-US" dirty="0"/>
          </a:p>
          <a:p>
            <a:r>
              <a:rPr lang="en-US" dirty="0"/>
              <a:t>Example components: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Onboarding loops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Engagement loops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Creator incentives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Recommendation algorithms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Retention mechanisms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What it does: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Turns every new user into a trigger for more users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Constantly increases speed over time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Reduces the platform’s dependence on marketing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Creates a self-reinforcing cycle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Outcome:</a:t>
            </a:r>
            <a:endParaRPr lang="en-US" dirty="0"/>
          </a:p>
          <a:p>
            <a:r>
              <a:rPr lang="en-US" dirty="0"/>
              <a:t>Platforms with strong flywheels </a:t>
            </a:r>
            <a:r>
              <a:rPr lang="en-US" b="1" dirty="0"/>
              <a:t>tend to dominate markets</a:t>
            </a:r>
            <a:br>
              <a:rPr lang="en-US" b="1" dirty="0">
                <a:cs typeface="+mn-lt"/>
              </a:rPr>
            </a:br>
            <a:r>
              <a:rPr lang="en-US" b="1" dirty="0"/>
              <a:t> (e.g., Amazon, TikTok, Facebook).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302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Instagram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Acquisition → viral posts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Activation → instant photo filters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Engagement → Likes, Stories, Reels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Retention → every follower increases your switching cost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Influencer Network Loop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Famous users → bring followers → who become creators → more content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i="1" dirty="0"/>
              <a:t>Example: TikTok, Instagram</a:t>
            </a:r>
            <a:endParaRPr lang="en-US" dirty="0"/>
          </a:p>
          <a:p>
            <a:r>
              <a:rPr lang="en-US" b="1" dirty="0"/>
              <a:t>2. Marketplace Variety → Attraction Loop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More restaurants/sellers → more customers → more sellers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i="1" dirty="0"/>
              <a:t>Example: </a:t>
            </a:r>
            <a:r>
              <a:rPr lang="en-US" i="1" dirty="0" err="1"/>
              <a:t>Foodmandu</a:t>
            </a:r>
            <a:r>
              <a:rPr lang="en-US" i="1" dirty="0"/>
              <a:t>, </a:t>
            </a:r>
            <a:r>
              <a:rPr lang="en-US" i="1" dirty="0" err="1"/>
              <a:t>Daraz</a:t>
            </a:r>
            <a:r>
              <a:rPr lang="en-US" i="1" dirty="0"/>
              <a:t>, Amazon</a:t>
            </a:r>
            <a:endParaRPr lang="en-US" dirty="0"/>
          </a:p>
          <a:p>
            <a:r>
              <a:rPr lang="en-US" b="1" dirty="0"/>
              <a:t>3. Developer Ecosystem Loop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More apps → more users → more developers → even more apps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i="1" dirty="0"/>
              <a:t>Example: Android, iOS App Store</a:t>
            </a:r>
            <a:endParaRPr lang="en-US" dirty="0"/>
          </a:p>
          <a:p>
            <a:r>
              <a:rPr lang="en-US" b="1" dirty="0"/>
              <a:t>4. AI/Data Loop (Modern Acquisition Loop)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Better AI → more users → more data → even better AI</a:t>
            </a:r>
            <a:br>
              <a:rPr lang="en-US" dirty="0">
                <a:cs typeface="+mn-lt"/>
              </a:rPr>
            </a:br>
            <a:r>
              <a:rPr lang="en-US" dirty="0"/>
              <a:t> </a:t>
            </a:r>
            <a:r>
              <a:rPr lang="en-US" i="1" dirty="0"/>
              <a:t>Example: ChatGPT, Spotify, Google Search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8395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Activation Loop Explained</a:t>
            </a:r>
            <a:endParaRPr lang="en-US"/>
          </a:p>
          <a:p>
            <a:r>
              <a:rPr lang="en-US" b="1"/>
              <a:t>1. Definition</a:t>
            </a:r>
            <a:endParaRPr lang="en-US"/>
          </a:p>
          <a:p>
            <a:r>
              <a:rPr lang="en-US"/>
              <a:t>An </a:t>
            </a:r>
            <a:r>
              <a:rPr lang="en-US" b="1"/>
              <a:t>activation loop</a:t>
            </a:r>
            <a:r>
              <a:rPr lang="en-US"/>
              <a:t> is the part of a platform that helps </a:t>
            </a:r>
            <a:r>
              <a:rPr lang="en-US" b="1"/>
              <a:t>new users experience value quickly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This is often called the </a:t>
            </a:r>
            <a:r>
              <a:rPr lang="en-US" b="1" dirty="0"/>
              <a:t>“aha moment”</a:t>
            </a:r>
            <a:r>
              <a:rPr lang="en-US" dirty="0"/>
              <a:t> — when a user realizes, </a:t>
            </a:r>
            <a:r>
              <a:rPr lang="en-US" i="1" dirty="0"/>
              <a:t>“Wow, this platform is useful for me!”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Fast activation is critical because </a:t>
            </a:r>
            <a:r>
              <a:rPr lang="en-US" b="1" dirty="0"/>
              <a:t>users who see value quickly are more likely to stay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Why It Matters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Critical period:</a:t>
            </a:r>
            <a:r>
              <a:rPr lang="en-US" dirty="0"/>
              <a:t> Usually the </a:t>
            </a:r>
            <a:r>
              <a:rPr lang="en-US" b="1" dirty="0"/>
              <a:t>first 7–14 days</a:t>
            </a:r>
            <a:r>
              <a:rPr lang="en-US" dirty="0"/>
              <a:t> of a user’s journey.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Onboarding experience is crucial:</a:t>
            </a:r>
            <a:r>
              <a:rPr lang="en-US" dirty="0"/>
              <a:t> Step-by-step guidance, tutorials, or instant value make users stick.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Reduces drop-off/churn:</a:t>
            </a:r>
            <a:r>
              <a:rPr lang="en-US" dirty="0"/>
              <a:t> If users don’t see value quickly, they leave and never return.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 of Activation Loops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TikTok: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 opens app → sees personalized video feed immediately → engagement starts instantly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Duolingo: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 starts first lesson → sees progress streak → motivated to continue learning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Food delivery apps (</a:t>
            </a:r>
            <a:r>
              <a:rPr lang="en-US" b="1" dirty="0" err="1"/>
              <a:t>Foodmandu</a:t>
            </a:r>
            <a:r>
              <a:rPr lang="en-US" b="1" dirty="0"/>
              <a:t>, </a:t>
            </a:r>
            <a:r>
              <a:rPr lang="en-US" b="1" dirty="0" err="1"/>
              <a:t>Daraz</a:t>
            </a:r>
            <a:r>
              <a:rPr lang="en-US" b="1" dirty="0"/>
              <a:t>, </a:t>
            </a:r>
            <a:r>
              <a:rPr lang="en-US" b="1" dirty="0" err="1"/>
              <a:t>Pathao</a:t>
            </a:r>
            <a:r>
              <a:rPr lang="en-US" b="1" dirty="0"/>
              <a:t>):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First order is fast, tracked, and easy → user likely to reorder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4. Teaching Insight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Activation loops </a:t>
            </a:r>
            <a:r>
              <a:rPr lang="en-US" b="1" dirty="0"/>
              <a:t>convert new users into active participants quickly</a:t>
            </a:r>
            <a:r>
              <a:rPr lang="en-US" dirty="0"/>
              <a:t>, feeding the </a:t>
            </a:r>
            <a:r>
              <a:rPr lang="en-US" b="1" dirty="0"/>
              <a:t>engagement and retention loops</a:t>
            </a:r>
            <a:r>
              <a:rPr lang="en-US" dirty="0"/>
              <a:t> in the flywheel.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Without a good activation loop, even a platform with strong network effects can </a:t>
            </a:r>
            <a:r>
              <a:rPr lang="en-US" b="1" dirty="0"/>
              <a:t>struggle to grow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activation like a </a:t>
            </a:r>
            <a:r>
              <a:rPr lang="en-US" b="1" dirty="0"/>
              <a:t>first date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If it’s smooth, fun, and meaningful → the user comes back.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If it’s confusing or boring → the user never returns.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196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dirty="0"/>
              <a:t>Repeated engagement reinforces </a:t>
            </a:r>
            <a:r>
              <a:rPr lang="en-US" b="1" dirty="0"/>
              <a:t>habit</a:t>
            </a:r>
            <a:r>
              <a:rPr lang="en-US" dirty="0"/>
              <a:t> and keeps the platform’s </a:t>
            </a:r>
            <a:r>
              <a:rPr lang="en-US" b="1" dirty="0"/>
              <a:t>flywheel spinning</a:t>
            </a:r>
            <a:r>
              <a:rPr lang="en-US" dirty="0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more users engage, the more </a:t>
            </a:r>
            <a:r>
              <a:rPr lang="en-US" b="1" dirty="0"/>
              <a:t>content, data, and activity</a:t>
            </a:r>
            <a:r>
              <a:rPr lang="en-US" dirty="0"/>
              <a:t> the platform generates → which attracts even more users.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Key Points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Users generate </a:t>
            </a:r>
            <a:r>
              <a:rPr lang="en-US" b="1" dirty="0"/>
              <a:t>value for themselves and others</a:t>
            </a:r>
            <a:r>
              <a:rPr lang="en-US" dirty="0"/>
              <a:t> through their interactions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More engagement → more data/content → improves recommendations and experiences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Engagement is </a:t>
            </a:r>
            <a:r>
              <a:rPr lang="en-US" b="1" dirty="0"/>
              <a:t>critical for retention and growth</a:t>
            </a:r>
            <a:r>
              <a:rPr lang="en-US" dirty="0"/>
              <a:t>, not just acquisition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TikTok: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Likes, comments, shares → algorithm tailors more content → user stays engaged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Food Apps: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Personalized deals, push notifications → encourage repeat orders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Gaming Platforms: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Daily challenges, rewards, leaderboards → users log in regularly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LinkedIn: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Posting → likes/comments → notifications → keeps users returning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>
                <a:cs typeface="+mn-lt"/>
              </a:rPr>
            </a:br>
            <a:endParaRPr lang="en-US" dirty="0">
              <a:cs typeface="+mn-lt"/>
            </a:endParaRPr>
          </a:p>
          <a:p>
            <a:pPr lvl="1"/>
            <a:r>
              <a:rPr lang="en-US" dirty="0"/>
              <a:t>Engagement loops are </a:t>
            </a:r>
            <a:r>
              <a:rPr lang="en-US" b="1" dirty="0"/>
              <a:t>self-reinforcing</a:t>
            </a:r>
            <a:r>
              <a:rPr lang="en-US" dirty="0"/>
              <a:t>: more engagement produces more content → attracts more users → more engagement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often use </a:t>
            </a:r>
            <a:r>
              <a:rPr lang="en-US" b="1" dirty="0"/>
              <a:t>gamification, notifications, and social triggers</a:t>
            </a:r>
            <a:r>
              <a:rPr lang="en-US" dirty="0"/>
              <a:t> to maximize engagement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engagement like </a:t>
            </a:r>
            <a:r>
              <a:rPr lang="en-US" b="1" dirty="0"/>
              <a:t>watering a plant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Regular attention (interactions) helps the platform grow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Ignoring it → growth slows, flywheel loses speed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167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</a:t>
            </a:r>
            <a:r>
              <a:rPr lang="en-US" b="1"/>
              <a:t>retention loop</a:t>
            </a:r>
            <a:r>
              <a:rPr lang="en-US"/>
              <a:t> is the process by which </a:t>
            </a:r>
            <a:r>
              <a:rPr lang="en-US" b="1"/>
              <a:t>existing users continue to engage</a:t>
            </a:r>
            <a:r>
              <a:rPr lang="en-US"/>
              <a:t> and </a:t>
            </a:r>
            <a:r>
              <a:rPr lang="en-US" b="1"/>
              <a:t>strengthen the platform</a:t>
            </a:r>
            <a:r>
              <a:rPr lang="en-US"/>
              <a:t> over time.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Existing users not only stay but also help </a:t>
            </a:r>
            <a:r>
              <a:rPr lang="en-US" b="1" dirty="0"/>
              <a:t>bring in new users</a:t>
            </a:r>
            <a:r>
              <a:rPr lang="en-US" dirty="0"/>
              <a:t> and contribute content or feedback.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This loop is critical for </a:t>
            </a:r>
            <a:r>
              <a:rPr lang="en-US" b="1" dirty="0"/>
              <a:t>flywheel acceleration</a:t>
            </a:r>
            <a:r>
              <a:rPr lang="en-US" dirty="0"/>
              <a:t> because it turns one-time users into </a:t>
            </a:r>
            <a:r>
              <a:rPr lang="en-US" b="1" dirty="0"/>
              <a:t>long-term, active participants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Key Points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Combines </a:t>
            </a:r>
            <a:r>
              <a:rPr lang="en-US" b="1" dirty="0"/>
              <a:t>retention</a:t>
            </a:r>
            <a:r>
              <a:rPr lang="en-US" dirty="0"/>
              <a:t> + </a:t>
            </a:r>
            <a:r>
              <a:rPr lang="en-US" b="1" dirty="0"/>
              <a:t>network effects</a:t>
            </a:r>
            <a:r>
              <a:rPr lang="en-US" dirty="0"/>
              <a:t> → accelerates the platform’s growth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Existing users act as: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b="1" dirty="0"/>
              <a:t>Content creators</a:t>
            </a:r>
            <a:r>
              <a:rPr lang="en-US" dirty="0"/>
              <a:t> → post, upload, or share content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b="1" dirty="0"/>
              <a:t>Reviewers</a:t>
            </a:r>
            <a:r>
              <a:rPr lang="en-US" dirty="0"/>
              <a:t> → provide ratings, feedback, or testimonials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b="1" dirty="0"/>
              <a:t>Advocates</a:t>
            </a:r>
            <a:r>
              <a:rPr lang="en-US" dirty="0"/>
              <a:t> → refer or invite new users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Keeps the platform </a:t>
            </a:r>
            <a:r>
              <a:rPr lang="en-US" b="1" dirty="0"/>
              <a:t>self-reinforcing</a:t>
            </a:r>
            <a:r>
              <a:rPr lang="en-US" dirty="0"/>
              <a:t>, making it harder for competitors to disrupt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Airbnb: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Guests leave reviews → reviews improve trust → attract more guests → more hosts join → more listings → more guests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Uber / </a:t>
            </a:r>
            <a:r>
              <a:rPr lang="en-US" b="1" dirty="0" err="1"/>
              <a:t>Pathao</a:t>
            </a:r>
            <a:r>
              <a:rPr lang="en-US" b="1" dirty="0"/>
              <a:t>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Riders use the app repeatedly → more trips → more driver incentives → more drivers join → platform grows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OpenAI Models: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Users provide feedback → model improves → better service → more users adopt → more feedback → cycle repeats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endParaRPr lang="en-US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The retention loop ensures the </a:t>
            </a:r>
            <a:r>
              <a:rPr lang="en-US" b="1" dirty="0"/>
              <a:t>platform doesn’t just acquire users, but keeps them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Strengthening this loop is crucial for </a:t>
            </a:r>
            <a:r>
              <a:rPr lang="en-US" b="1" dirty="0"/>
              <a:t>long-term dominance</a:t>
            </a:r>
            <a:r>
              <a:rPr lang="en-US" dirty="0"/>
              <a:t> and </a:t>
            </a:r>
            <a:r>
              <a:rPr lang="en-US" b="1" dirty="0"/>
              <a:t>sustainable flywheel growth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a </a:t>
            </a:r>
            <a:r>
              <a:rPr lang="en-US" b="1" dirty="0"/>
              <a:t>garden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Plant seeds (new users) → water and nurture them (engagement &amp; retention) → they grow into trees → attract birds and pollinators (new users) → garden flourishes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84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Some platforms don’t rely on just one growth loop — they have </a:t>
            </a:r>
            <a:r>
              <a:rPr lang="en-US" b="1"/>
              <a:t>several flywheels operating simultaneously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Each loop </a:t>
            </a:r>
            <a:r>
              <a:rPr lang="en-US" b="1"/>
              <a:t>reinforces the others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Combined effect → </a:t>
            </a:r>
            <a:r>
              <a:rPr lang="en-US" b="1" dirty="0"/>
              <a:t>exponential growth</a:t>
            </a:r>
            <a:r>
              <a:rPr lang="en-US" dirty="0"/>
              <a:t> rather than linear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How It Works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Flywheels can target </a:t>
            </a:r>
            <a:r>
              <a:rPr lang="en-US" b="1" dirty="0"/>
              <a:t>different parts of the platform ecosystem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Marketplace growth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 engagement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Retention &amp; loyalty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Technology improvement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When loops interact, </a:t>
            </a:r>
            <a:r>
              <a:rPr lang="en-US" b="1" dirty="0"/>
              <a:t>one loop strengthens the others</a:t>
            </a:r>
            <a:r>
              <a:rPr lang="en-US" dirty="0"/>
              <a:t>, accelerating overall platform growth.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r>
              <a:rPr lang="en-US" b="1" dirty="0"/>
              <a:t>Amazon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Marketplace Flywheel: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More sellers → more products → more buyers → attracts more sellers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Logistics Flywheel: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Faster delivery → better experience → more buyers → more sellers list products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Prime Flywheel: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Membership loyalty → more purchases → more sellers → richer product selection</a:t>
            </a:r>
            <a:endParaRPr lang="en-US" dirty="0">
              <a:ea typeface="Calibri"/>
              <a:cs typeface="Calibri"/>
            </a:endParaRPr>
          </a:p>
          <a:p>
            <a:pPr lvl="1"/>
            <a:r>
              <a:rPr lang="en-US" b="1" dirty="0"/>
              <a:t>OpenAI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User Interaction Flywheel: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Users interact → model improves → more adoption → more API developers → better models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Enterprise Usage Flywheel: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Enterprise adoption → more data → model improvement → more adoption → more enterprise integration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with </a:t>
            </a:r>
            <a:r>
              <a:rPr lang="en-US" b="1" dirty="0"/>
              <a:t>multiple flywheels</a:t>
            </a:r>
            <a:r>
              <a:rPr lang="en-US" dirty="0"/>
              <a:t> are harder to compete against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Each loop </a:t>
            </a:r>
            <a:r>
              <a:rPr lang="en-US" b="1" dirty="0"/>
              <a:t>feeds the others</a:t>
            </a:r>
            <a:r>
              <a:rPr lang="en-US" dirty="0"/>
              <a:t> → reinforcing ecosystem, retention, and network effects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Understanding how loops interact helps </a:t>
            </a:r>
            <a:r>
              <a:rPr lang="en-US" b="1" dirty="0"/>
              <a:t>design stronger platforms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</a:t>
            </a:r>
            <a:r>
              <a:rPr lang="en-US" b="1" dirty="0"/>
              <a:t>interlocking gears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When one gear spins, it powers the next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Together, all gears spin faster than any single one alone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288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Liquidity</a:t>
            </a:r>
            <a:r>
              <a:rPr lang="en-US"/>
              <a:t> = how quickly </a:t>
            </a:r>
            <a:r>
              <a:rPr lang="en-US" b="1"/>
              <a:t>supply meets demand</a:t>
            </a:r>
            <a:r>
              <a:rPr lang="en-US"/>
              <a:t> on a platform.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In other words: can the platform </a:t>
            </a:r>
            <a:r>
              <a:rPr lang="en-US" b="1" dirty="0"/>
              <a:t>deliver what users want, when they want it</a:t>
            </a:r>
            <a:r>
              <a:rPr lang="en-US" dirty="0"/>
              <a:t>?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Without liquidity, even strong network effects or flywheels are </a:t>
            </a:r>
            <a:r>
              <a:rPr lang="en-US" b="1" dirty="0"/>
              <a:t>ineffective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Why It Matters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High liquidity</a:t>
            </a:r>
            <a:r>
              <a:rPr lang="en-US" dirty="0"/>
              <a:t> → fast, reliable interactions → better user experience → retention ↑ → flywheel spins faster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Low liquidity</a:t>
            </a:r>
            <a:r>
              <a:rPr lang="en-US" dirty="0"/>
              <a:t> → users wait, get frustrated → platform stagnates → churn increases → feedback loops fail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Key Points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Liquidity is </a:t>
            </a:r>
            <a:r>
              <a:rPr lang="en-US" b="1" dirty="0"/>
              <a:t>critical for activation and engagement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must </a:t>
            </a:r>
            <a:r>
              <a:rPr lang="en-US" b="1" dirty="0"/>
              <a:t>balance supply and demand</a:t>
            </a:r>
            <a:r>
              <a:rPr lang="en-US" dirty="0"/>
              <a:t> continuously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Early-stage platforms often struggle with liquidity (cold start problem)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4. Examples</a:t>
            </a:r>
            <a:endParaRPr lang="en-US" dirty="0"/>
          </a:p>
          <a:p>
            <a:r>
              <a:rPr lang="en-US" b="1" dirty="0"/>
              <a:t>Ride-sharing (Uber/</a:t>
            </a:r>
            <a:r>
              <a:rPr lang="en-US" b="1" dirty="0" err="1"/>
              <a:t>Pathao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High liquidity = short wait times for rides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More riders → more driver earnings → more drivers join → faster service → flywheel accelerates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Food Delivery (</a:t>
            </a:r>
            <a:r>
              <a:rPr lang="en-US" b="1" dirty="0" err="1"/>
              <a:t>Foodmandu</a:t>
            </a:r>
            <a:r>
              <a:rPr lang="en-US" b="1" dirty="0"/>
              <a:t>, </a:t>
            </a:r>
            <a:r>
              <a:rPr lang="en-US" b="1" dirty="0" err="1"/>
              <a:t>Daraz</a:t>
            </a:r>
            <a:r>
              <a:rPr lang="en-US" b="1" dirty="0"/>
              <a:t>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Many restaurants + many users → orders matched quickly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Fast delivery = satisfied users → repeat orders → platform grows</a:t>
            </a:r>
            <a:endParaRPr lang="en-US" dirty="0">
              <a:ea typeface="Calibri"/>
              <a:cs typeface="Calibri"/>
            </a:endParaRPr>
          </a:p>
          <a:p>
            <a:r>
              <a:rPr lang="en-US" b="1" dirty="0"/>
              <a:t>Marketplace (</a:t>
            </a:r>
            <a:r>
              <a:rPr lang="en-US" b="1" dirty="0" err="1"/>
              <a:t>Daraz</a:t>
            </a:r>
            <a:r>
              <a:rPr lang="en-US" b="1" dirty="0"/>
              <a:t>, Amazon)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Many sellers → instant product availability → buyers satisfied → repeat purchases → sellers attracted → platform grows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Liquidity is the </a:t>
            </a:r>
            <a:r>
              <a:rPr lang="en-US" b="1" dirty="0"/>
              <a:t>foundation of a healthy flywheel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with low liquidity risk </a:t>
            </a:r>
            <a:r>
              <a:rPr lang="en-US" b="1" dirty="0"/>
              <a:t>user frustration and churn</a:t>
            </a:r>
            <a:r>
              <a:rPr lang="en-US" dirty="0"/>
              <a:t>, even if network effects exist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Early growth strategies often focus on </a:t>
            </a:r>
            <a:r>
              <a:rPr lang="en-US" b="1" dirty="0"/>
              <a:t>boosting liquidity</a:t>
            </a:r>
            <a:r>
              <a:rPr lang="en-US" dirty="0"/>
              <a:t> (subsidies, promotions, incentives)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liquidity like a </a:t>
            </a:r>
            <a:r>
              <a:rPr lang="en-US" b="1" dirty="0"/>
              <a:t>well-stocked cafeteria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Enough food for everyone → customers satisfied → more people come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Not enough food → long waits → customers leave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96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Uber:</a:t>
            </a:r>
            <a:r>
              <a:rPr lang="en-US" dirty="0"/>
              <a:t> Early driver subsidies and guaranteed earnings to attract supply before riders existed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Airbnb:</a:t>
            </a:r>
            <a:r>
              <a:rPr lang="en-US" dirty="0"/>
              <a:t> Founders posted their own listings to provide initial inventory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TikTok:</a:t>
            </a:r>
            <a:r>
              <a:rPr lang="en-US" dirty="0"/>
              <a:t> Algorithmically seeded content to ensure new users had immediate value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Cold Start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/>
              <a:t>Problem:</a:t>
            </a:r>
            <a:r>
              <a:rPr lang="en-US"/>
              <a:t> Low value → hard to attract participants → network effects and flywheels don’t work yet.</a:t>
            </a:r>
          </a:p>
          <a:p>
            <a:pPr>
              <a:buFont typeface="Arial"/>
              <a:buChar char="•"/>
            </a:pPr>
            <a:r>
              <a:rPr lang="en-US" b="1"/>
              <a:t>Key Insight:</a:t>
            </a:r>
            <a:r>
              <a:rPr lang="en-US" dirty="0"/>
              <a:t> </a:t>
            </a:r>
            <a:r>
              <a:rPr lang="en-US" b="1"/>
              <a:t>This is the biggest challenge for startups.</a:t>
            </a:r>
            <a:endParaRPr lang="en-US"/>
          </a:p>
          <a:p>
            <a:pPr>
              <a:buFont typeface="Arial"/>
              <a:buChar char="•"/>
            </a:pPr>
            <a:r>
              <a:rPr lang="en-US" b="1"/>
              <a:t>Example:</a:t>
            </a:r>
            <a:endParaRPr lang="en-US"/>
          </a:p>
          <a:p>
            <a:pPr>
              <a:buFont typeface="Arial"/>
              <a:buChar char="•"/>
            </a:pPr>
            <a:r>
              <a:rPr lang="en-US"/>
              <a:t>A new ride-sharing app with only 5 drivers → riders wait long → users leave</a:t>
            </a:r>
          </a:p>
          <a:p>
            <a:pPr>
              <a:buFont typeface="Arial"/>
              <a:buChar char="•"/>
            </a:pPr>
            <a:r>
              <a:rPr lang="en-US" dirty="0"/>
              <a:t>A new marketplace with few sellers → buyers can’t find products → low engagement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How to overcome: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Targeted incentives (discounts, bonuses)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Partnerships (restaurants, local businesses, influencers)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Content seeding (upload initial videos, products, or listings)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2. Warm Start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Enough users exist for meaningful interactions → initial network effects appear.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Growth begins to stabilize → flywheels start spinning, but not at full speed.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A food delivery app with 50 restaurants and 1,000 users → orders match efficiently → retention improves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Key Insight: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At this stage, platforms must </a:t>
            </a:r>
            <a:r>
              <a:rPr lang="en-US" b="1" dirty="0"/>
              <a:t>focus on engagement loops and retention</a:t>
            </a:r>
            <a:r>
              <a:rPr lang="en-US" dirty="0"/>
              <a:t> to move to the next stage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3. Hot Start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Platform reaches </a:t>
            </a:r>
            <a:r>
              <a:rPr lang="en-US" b="1" dirty="0"/>
              <a:t>critical mass</a:t>
            </a:r>
            <a:r>
              <a:rPr lang="en-US" dirty="0"/>
              <a:t> → interactions scale exponentially → flywheels accelerate automatically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Growth becomes self-sustaining → network effects dominate → marketing cost per user drops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TikTok in its global expansion → content variety + algorithm → every new user improves experience for others → rapid viral growth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Uber with thousands of drivers in a city → short waits → riders attract more drivers → growth snowballs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Key Points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Cold start is the hardest stage</a:t>
            </a:r>
            <a:r>
              <a:rPr lang="en-US" dirty="0"/>
              <a:t> → requires strategic intervention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Flywheels only spin effectively after warm/hot start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Designers must </a:t>
            </a:r>
            <a:r>
              <a:rPr lang="en-US" b="1" dirty="0"/>
              <a:t>plan incentives, partnerships, and content seeding</a:t>
            </a:r>
            <a:r>
              <a:rPr lang="en-US" dirty="0"/>
              <a:t> to overcome cold start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8939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Spotify:</a:t>
            </a:r>
            <a:r>
              <a:rPr lang="en-US" dirty="0"/>
              <a:t> Personalized playlists (Discover Weekly) to keep users engaged long-term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Amazon:</a:t>
            </a:r>
            <a:r>
              <a:rPr lang="en-US" dirty="0"/>
              <a:t> Prime loyalty programs and multi-category expansion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Facebook / Meta:</a:t>
            </a:r>
            <a:r>
              <a:rPr lang="en-US" dirty="0"/>
              <a:t> Network lock-in, Groups, Messenger integration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869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Apple ecosystem:</a:t>
            </a:r>
            <a:r>
              <a:rPr lang="en-US" dirty="0"/>
              <a:t> iPhone + iPad + Mac + iCloud → seamless experience → hard to leave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OpenAI ecosystem:</a:t>
            </a:r>
            <a:r>
              <a:rPr lang="en-US" dirty="0"/>
              <a:t> API integration + model fine-tuning + enterprise adoption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Facebook / Instagram:</a:t>
            </a:r>
            <a:r>
              <a:rPr lang="en-US" dirty="0"/>
              <a:t> Social graph and personal content lock-in</a:t>
            </a: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Lock-in:</a:t>
            </a:r>
            <a:r>
              <a:rPr lang="en-US" dirty="0"/>
              <a:t> Strategies that make it </a:t>
            </a:r>
            <a:r>
              <a:rPr lang="en-US" b="1" dirty="0"/>
              <a:t>difficult or costly for users to leave a platform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Switching costs:</a:t>
            </a:r>
            <a:r>
              <a:rPr lang="en-US" dirty="0"/>
              <a:t> The </a:t>
            </a:r>
            <a:r>
              <a:rPr lang="en-US" b="1" dirty="0"/>
              <a:t>effort, time, or value lost</a:t>
            </a:r>
            <a:r>
              <a:rPr lang="en-US" dirty="0"/>
              <a:t> if a user switches to a competitor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Purpose: </a:t>
            </a:r>
            <a:r>
              <a:rPr lang="en-US" b="1" dirty="0"/>
              <a:t>Ensure users remain engaged</a:t>
            </a:r>
            <a:r>
              <a:rPr lang="en-US" dirty="0"/>
              <a:t> → maintain flywheel momentum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2. Why It Matters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Platforms naturally retain users via flywheels and retention loops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Lock-in strengthens this effect</a:t>
            </a:r>
            <a:r>
              <a:rPr lang="en-US" dirty="0"/>
              <a:t> by turning temporary users into </a:t>
            </a:r>
            <a:r>
              <a:rPr lang="en-US" b="1" dirty="0"/>
              <a:t>long-term advocates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Reduces churn → accelerates growth and strengthens network effects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3. Strategies for Lock-In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Ecosystem Bundling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/>
              <a:t>Offering multiple integrated services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dirty="0"/>
              <a:t>Example: Apple → iPhone + iCloud + Apple Music + App Store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Data / Personalization Advantage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/>
              <a:t>Users’ behavior and preferences stored → better recommendations → leaving means losing personalized experience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dirty="0"/>
              <a:t>Example: TikTok, YouTube, Netflix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b="1" dirty="0"/>
              <a:t>Loyalty Programs</a:t>
            </a:r>
            <a:endParaRPr lang="en-US" dirty="0"/>
          </a:p>
          <a:p>
            <a:pPr lvl="1">
              <a:buFont typeface="Arial"/>
              <a:buChar char="•"/>
            </a:pPr>
            <a:r>
              <a:rPr lang="en-US" dirty="0"/>
              <a:t>Rewards, points, or perks that accumulate over time → leaving means losing benefits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dirty="0"/>
              <a:t>Example: Amazon Prime, food delivery credits</a:t>
            </a:r>
            <a:br>
              <a:rPr lang="en-US" dirty="0">
                <a:cs typeface="+mn-lt"/>
              </a:rPr>
            </a:br>
            <a:endParaRPr lang="en-US">
              <a:ea typeface="Calibri" panose="020F0502020204030204"/>
              <a:cs typeface="Calibri" panose="020F0502020204030204"/>
            </a:endParaRPr>
          </a:p>
          <a:p>
            <a:pPr lvl="1">
              <a:buFont typeface="Arial"/>
              <a:buChar char="•"/>
            </a:pPr>
            <a:r>
              <a:rPr lang="en-US" b="1" dirty="0"/>
              <a:t>4. Key Points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Lock-in is </a:t>
            </a:r>
            <a:r>
              <a:rPr lang="en-US" b="1" dirty="0"/>
              <a:t>more deliberate</a:t>
            </a:r>
            <a:r>
              <a:rPr lang="en-US" dirty="0"/>
              <a:t> than network effects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It </a:t>
            </a:r>
            <a:r>
              <a:rPr lang="en-US" b="1" dirty="0"/>
              <a:t>reinforces retention loops and flywheels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Users not only stay but also </a:t>
            </a:r>
            <a:r>
              <a:rPr lang="en-US" b="1" dirty="0"/>
              <a:t>bring in new participants</a:t>
            </a:r>
            <a:endParaRPr lang="en-US" dirty="0"/>
          </a:p>
          <a:p>
            <a:pPr>
              <a:buFont typeface="Arial"/>
              <a:buChar char="•"/>
            </a:pPr>
            <a:br>
              <a:rPr lang="en-US" dirty="0"/>
            </a:br>
            <a:endParaRPr lang="en-US" dirty="0"/>
          </a:p>
          <a:p>
            <a:pPr>
              <a:buFont typeface="Arial"/>
              <a:buChar char="•"/>
            </a:pPr>
            <a:r>
              <a:rPr lang="en-US" b="1" dirty="0"/>
              <a:t>5. Simple Analogy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dirty="0"/>
              <a:t>Think of lock-in like a </a:t>
            </a:r>
            <a:r>
              <a:rPr lang="en-US" b="1" dirty="0"/>
              <a:t>magnet keeping the wheel spinning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dirty="0"/>
              <a:t>Flywheel = wheel spinning</a:t>
            </a:r>
            <a:endParaRPr lang="en-US" dirty="0">
              <a:ea typeface="Calibri"/>
              <a:cs typeface="Calibri"/>
            </a:endParaRPr>
          </a:p>
          <a:p>
            <a:pPr lvl="1">
              <a:buFont typeface="Arial"/>
              <a:buChar char="•"/>
            </a:pPr>
            <a:r>
              <a:rPr lang="en-US" dirty="0"/>
              <a:t>Lock-in = magnet that prevents it from slowing down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78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Lock-in</a:t>
            </a:r>
            <a:r>
              <a:rPr lang="en-US"/>
              <a:t> occurs when </a:t>
            </a:r>
            <a:r>
              <a:rPr lang="en-US" b="1"/>
              <a:t>users face high costs to switch platforms</a:t>
            </a:r>
            <a:r>
              <a:rPr lang="en-US"/>
              <a:t>, which can be: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Time:</a:t>
            </a:r>
            <a:r>
              <a:rPr lang="en-US"/>
              <a:t> effort to learn a new platform or move data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Money:</a:t>
            </a:r>
            <a:r>
              <a:rPr lang="en-US" dirty="0"/>
              <a:t> lost discounts, subscriptions, or rewards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Data:</a:t>
            </a:r>
            <a:r>
              <a:rPr lang="en-US" dirty="0"/>
              <a:t> losing saved content, progress, or personalization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Network:</a:t>
            </a:r>
            <a:r>
              <a:rPr lang="en-US" dirty="0"/>
              <a:t> losing friends, connections, or collaborators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Psychological:</a:t>
            </a:r>
            <a:r>
              <a:rPr lang="en-US" dirty="0"/>
              <a:t> habit, comfort, or attachment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Why Lock-In Matters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Protects the user base</a:t>
            </a:r>
            <a:r>
              <a:rPr lang="en-US" dirty="0"/>
              <a:t> from competitors → reduces churn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Increases lifetime value</a:t>
            </a:r>
            <a:r>
              <a:rPr lang="en-US" dirty="0"/>
              <a:t> of each user → more revenue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Reinforces flywheel</a:t>
            </a:r>
            <a:r>
              <a:rPr lang="en-US" dirty="0"/>
              <a:t> → more users → more data → better services → stronger network effects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Creates a competitive moat</a:t>
            </a:r>
            <a:r>
              <a:rPr lang="en-US" dirty="0"/>
              <a:t> → makes it hard for rivals to enter the market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Uber / </a:t>
            </a:r>
            <a:r>
              <a:rPr lang="en-US" b="1" dirty="0" err="1"/>
              <a:t>Pathao</a:t>
            </a:r>
            <a:r>
              <a:rPr lang="en-US" b="1" dirty="0"/>
              <a:t>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Driver and rider incentives, loyalty programs, and app familiarity → switching is inconvenient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Gmail → Google ecosystem: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Emails, Google Docs, Drive, Calendar → moving to another service means losing integration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Game Consoles: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Exclusive titles (PS5 vs Xbox) → players stick with one console to keep games and friends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deliberately </a:t>
            </a:r>
            <a:r>
              <a:rPr lang="en-US" b="1" dirty="0"/>
              <a:t>increase switching costs</a:t>
            </a:r>
            <a:r>
              <a:rPr lang="en-US" dirty="0"/>
              <a:t> at the mature stage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High lock-in </a:t>
            </a:r>
            <a:r>
              <a:rPr lang="en-US" b="1" dirty="0"/>
              <a:t>protects network effects</a:t>
            </a:r>
            <a:r>
              <a:rPr lang="en-US" dirty="0"/>
              <a:t> and ensures the flywheel keeps spinning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5.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Lock-in is like </a:t>
            </a:r>
            <a:r>
              <a:rPr lang="en-US" b="1" dirty="0"/>
              <a:t>cementing a wheel to the axle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Flywheel = spinning wheel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Lock-in = prevents users from leaving → wheel spins faster and longer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7020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 b="1" dirty="0"/>
              <a:t>Financial:</a:t>
            </a:r>
            <a:r>
              <a:rPr lang="en-US" dirty="0"/>
              <a:t> Early termination fee for a software subscription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Learning:</a:t>
            </a:r>
            <a:r>
              <a:rPr lang="en-US" dirty="0"/>
              <a:t> Moving from Photoshop to Figma requires retraining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Data:</a:t>
            </a:r>
            <a:r>
              <a:rPr lang="en-US" dirty="0"/>
              <a:t> WhatsApp chat backups incompatible with Signal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Network:</a:t>
            </a:r>
            <a:r>
              <a:rPr lang="en-US" dirty="0"/>
              <a:t> Leaving Facebook → lose all friends’ social network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Psychological:</a:t>
            </a:r>
            <a:r>
              <a:rPr lang="en-US" dirty="0"/>
              <a:t> Habit of daily TikTok browsing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27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Ecosystem Bundling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Definition:</a:t>
            </a:r>
            <a:r>
              <a:rPr lang="en-US"/>
              <a:t> Multiple services/products are connected and integrated</a:t>
            </a:r>
          </a:p>
          <a:p>
            <a:pPr marL="285750" indent="-285750">
              <a:buFont typeface="Arial"/>
              <a:buChar char="•"/>
            </a:pPr>
            <a:r>
              <a:rPr lang="en-US" b="1"/>
              <a:t>Effect:</a:t>
            </a:r>
            <a:r>
              <a:rPr lang="en-US"/>
              <a:t> Users stay because leaving one service affects access to others</a:t>
            </a:r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Apple → iPhone + iPad + Mac + Apple Music + iCloud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Leaving Apple means losing seamless integration across devices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2. Proprietary Formats / Data Lock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User data or files are </a:t>
            </a:r>
            <a:r>
              <a:rPr lang="en-US" b="1" dirty="0"/>
              <a:t>only usable within the platform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Switching is inconvenient → higher switching costs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WhatsApp chat backups can’t easily move to other platform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Users stick with the original platform to preserve data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3. Loyalty Programs / Rewards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Points, streaks, credits, or perks </a:t>
            </a:r>
            <a:r>
              <a:rPr lang="en-US" b="1" dirty="0"/>
              <a:t>reward continued use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Users are motivated to stay active and return frequently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Starbucks Rewards → accumulate points for free drinks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Amazon Prime → exclusive benefits like fast delivery, streaming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4. Seamless Cross-Device Sync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Users can </a:t>
            </a:r>
            <a:r>
              <a:rPr lang="en-US" b="1" dirty="0"/>
              <a:t>continue their workflow or activity on any device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Convenience reinforces stickiness and reduces likelihood of switching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Google Workspace → docs, emails, calendar accessible on multiple devices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Apple ecosystem → Handoff, iCloud sync between iPhone, iPad, Mac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5. Exclusive Features / Integrations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Definition:</a:t>
            </a:r>
            <a:r>
              <a:rPr lang="en-US" dirty="0"/>
              <a:t> Features or content </a:t>
            </a:r>
            <a:r>
              <a:rPr lang="en-US" b="1" dirty="0"/>
              <a:t>not available elsewhere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Effect:</a:t>
            </a:r>
            <a:r>
              <a:rPr lang="en-US" dirty="0"/>
              <a:t> Users stay to access these unique advantages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Example: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Instagram Stories → unique filters and effects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Game consoles → exclusive titles like PS5 or Xbox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Key Insight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combine </a:t>
            </a:r>
            <a:r>
              <a:rPr lang="en-US" b="1" dirty="0"/>
              <a:t>multiple lock-in strategies</a:t>
            </a:r>
            <a:r>
              <a:rPr lang="en-US" dirty="0"/>
              <a:t> to make leaving inconvenient, costly, or less rewarding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Strong lock-in </a:t>
            </a:r>
            <a:r>
              <a:rPr lang="en-US" b="1" dirty="0"/>
              <a:t>protects user base, strengthens flywheels, and enhances long-term growth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lock-in like a </a:t>
            </a:r>
            <a:r>
              <a:rPr lang="en-US" b="1" dirty="0" err="1"/>
              <a:t>velcro</a:t>
            </a:r>
            <a:r>
              <a:rPr lang="en-US" b="1" dirty="0"/>
              <a:t> system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Each hook (strategy) makes it harder to pull users away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Multiple hooks → users are firmly attached to the platform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8119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Definition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Walled Garden:</a:t>
            </a:r>
            <a:r>
              <a:rPr lang="en-US"/>
              <a:t> A </a:t>
            </a:r>
            <a:r>
              <a:rPr lang="en-US" b="1"/>
              <a:t>closed ecosystem controlled by a single platform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Users get a </a:t>
            </a:r>
            <a:r>
              <a:rPr lang="en-US" b="1" dirty="0"/>
              <a:t>highly optimized experience</a:t>
            </a:r>
            <a:r>
              <a:rPr lang="en-US" dirty="0"/>
              <a:t>, but </a:t>
            </a:r>
            <a:r>
              <a:rPr lang="en-US" b="1" dirty="0"/>
              <a:t>switching to competitors is difficult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Why Platforms Use Walled Gardens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Increase </a:t>
            </a:r>
            <a:r>
              <a:rPr lang="en-US" b="1" dirty="0"/>
              <a:t>user retention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Reduce </a:t>
            </a:r>
            <a:r>
              <a:rPr lang="en-US" b="1" dirty="0"/>
              <a:t>multi-homing</a:t>
            </a:r>
            <a:r>
              <a:rPr lang="en-US" dirty="0"/>
              <a:t> (users splitting time across competitors)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Keep users </a:t>
            </a:r>
            <a:r>
              <a:rPr lang="en-US" b="1" dirty="0"/>
              <a:t>locked in</a:t>
            </a:r>
            <a:r>
              <a:rPr lang="en-US" dirty="0"/>
              <a:t> by providing integrated services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Apple: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iOS + App Store + iMessage + iCloud → seamless experience across devices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Meta / Facebook: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Facebook + Instagram + Messenger + WhatsApp → interconnected social ecosystem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Amazon: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Kindle + Prime Video + e-commerce integration → users stay within Amazon ecosystem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4. Key Points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High convenience = high retention</a:t>
            </a:r>
            <a:r>
              <a:rPr lang="en-US" dirty="0"/>
              <a:t> → users rarely leave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Reduces multi-homing</a:t>
            </a:r>
            <a:r>
              <a:rPr lang="en-US" dirty="0"/>
              <a:t> → fewer users switch between competing platforms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Tradeoff: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Less interoperability with outside services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Regulatory scrutiny for anti-competitive practices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5.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A walled garden is like a </a:t>
            </a:r>
            <a:r>
              <a:rPr lang="en-US" b="1" dirty="0"/>
              <a:t>theme park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Everything you need is inside → convenient and fun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Leaving is hard → once inside, you stay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183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Definition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Multi-homing:</a:t>
            </a:r>
            <a:r>
              <a:rPr lang="en-US"/>
              <a:t> When users or providers </a:t>
            </a:r>
            <a:r>
              <a:rPr lang="en-US" b="1"/>
              <a:t>use multiple competing platforms at the same time</a:t>
            </a:r>
            <a:r>
              <a:rPr lang="en-US"/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Occurs naturally when </a:t>
            </a:r>
            <a:r>
              <a:rPr lang="en-US" b="1" dirty="0"/>
              <a:t>switching costs are low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Why It Matters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Weakens platform flywheels if users </a:t>
            </a:r>
            <a:r>
              <a:rPr lang="en-US" b="1" dirty="0"/>
              <a:t>divide attention, engagement, or spending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Reduces network effects and slows growth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Ride-sharing: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Drivers work on Uber + </a:t>
            </a:r>
            <a:r>
              <a:rPr lang="en-US" dirty="0" err="1"/>
              <a:t>Pathao</a:t>
            </a:r>
            <a:r>
              <a:rPr lang="en-US" dirty="0"/>
              <a:t> + </a:t>
            </a:r>
            <a:r>
              <a:rPr lang="en-US" dirty="0" err="1"/>
              <a:t>InDrive</a:t>
            </a:r>
            <a:r>
              <a:rPr lang="en-US" dirty="0"/>
              <a:t> → loyalty and network effects are weaker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Food delivery: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Restaurants list on multiple apps → orders spread out, weaker platform advantage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Messaging apps: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Some users use both Telegram + WhatsApp → reduces exclusive engagement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4. Strategies Platforms Use to Reduce Multi-Homing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Loyalty points / rewards:</a:t>
            </a:r>
            <a:r>
              <a:rPr lang="en-US" dirty="0"/>
              <a:t> Encourage exclusive activity on the platform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Exclusive features or content:</a:t>
            </a:r>
            <a:r>
              <a:rPr lang="en-US" dirty="0"/>
              <a:t> Give users something they cannot get elsewhere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Ecosystem integration:</a:t>
            </a:r>
            <a:r>
              <a:rPr lang="en-US" dirty="0"/>
              <a:t> Connect multiple services so leaving becomes inconvenient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Multi-homing is a </a:t>
            </a:r>
            <a:r>
              <a:rPr lang="en-US" b="1" dirty="0"/>
              <a:t>challenge to platform dominance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Platforms must </a:t>
            </a:r>
            <a:r>
              <a:rPr lang="en-US" b="1" dirty="0"/>
              <a:t>increase switching costs or incentives</a:t>
            </a:r>
            <a:r>
              <a:rPr lang="en-US" dirty="0"/>
              <a:t> to retain exclusive engagement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6. 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Think of multi-homing like </a:t>
            </a:r>
            <a:r>
              <a:rPr lang="en-US" b="1" dirty="0"/>
              <a:t>watering multiple gardens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If you split water between gardens → each grows slower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Platforms want users focused on their “garden” to accelerate growth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41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How Lock-In Helps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Lock-in keeps users </a:t>
            </a:r>
            <a:r>
              <a:rPr lang="en-US" b="1"/>
              <a:t>on the platform longer</a:t>
            </a:r>
            <a:r>
              <a:rPr lang="en-US"/>
              <a:t> → continuous engagement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Engaged users generate </a:t>
            </a:r>
            <a:r>
              <a:rPr lang="en-US" b="1" dirty="0"/>
              <a:t>more data</a:t>
            </a:r>
            <a:r>
              <a:rPr lang="en-US" dirty="0"/>
              <a:t>, which improves the platform</a:t>
            </a:r>
            <a:endParaRPr lang="en-US" dirty="0">
              <a:ea typeface="Calibri"/>
              <a:cs typeface="Calibri"/>
            </a:endParaRP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2. How It Strengthens the Flywheel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More data → better algorithms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Personalized recommendations and services improve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Better experience → attracts more users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New users join because the platform is valuable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Flywheel accelerates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Network effects strengthen → competitors find it harder to catch up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3. Examples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Spotify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Playlists + personalized music recommendations → users rarely switch → data improves recommendations → attracts new users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Uber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Driver/rider loyalty → stable ride availability → faster pickups → higher growth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OpenAI API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Enterprise adoption → API usage + feedback → improved models → more users adopt → loop continues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pPr marL="0" lvl="1"/>
            <a:endParaRPr lang="en-US" dirty="0"/>
          </a:p>
          <a:p>
            <a:pPr marL="0" lvl="1">
              <a:buFont typeface="Arial"/>
            </a:pPr>
            <a:r>
              <a:rPr lang="en-US" dirty="0"/>
              <a:t>Think of it like </a:t>
            </a:r>
            <a:r>
              <a:rPr lang="en-US" b="1" dirty="0"/>
              <a:t>feeding a growing plant</a:t>
            </a:r>
            <a:r>
              <a:rPr lang="en-US" dirty="0"/>
              <a:t>:</a:t>
            </a:r>
            <a:endParaRPr lang="en-US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Lock-in = water and sunlight that keep the plant healthy</a:t>
            </a:r>
            <a:endParaRPr lang="en-US" dirty="0">
              <a:ea typeface="Calibri"/>
              <a:cs typeface="Calibri"/>
            </a:endParaRPr>
          </a:p>
          <a:p>
            <a:pPr>
              <a:buFont typeface="Arial"/>
              <a:buChar char="•"/>
            </a:pPr>
            <a:r>
              <a:rPr lang="en-US" dirty="0"/>
              <a:t>Healthy plant → attracts bees (new users) → grows faster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071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Why Governments Care About Platforms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b="1"/>
              <a:t>Too much lock-in is bad for users</a:t>
            </a:r>
            <a:endParaRPr lang="en-US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If a platform makes it too hard to leave, people get “stuck.”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They have fewer choices and may pay more or get lower-quality service.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Big platforms can be unfair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Dominant companies might </a:t>
            </a:r>
            <a:r>
              <a:rPr lang="en-US" b="1" dirty="0"/>
              <a:t>hurt competitors</a:t>
            </a:r>
            <a:r>
              <a:rPr lang="en-US" dirty="0"/>
              <a:t> or </a:t>
            </a:r>
            <a:r>
              <a:rPr lang="en-US" b="1" dirty="0"/>
              <a:t>control the market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What Governments Do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b="1" dirty="0"/>
              <a:t>Data Portability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You can </a:t>
            </a:r>
            <a:r>
              <a:rPr lang="en-US" b="1" dirty="0"/>
              <a:t>take your data with you</a:t>
            </a:r>
            <a:r>
              <a:rPr lang="en-US" dirty="0"/>
              <a:t> if you switch platforms.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Example: EU law lets you move your emails, contacts, or photos to another service.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Interoperability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Competing services can </a:t>
            </a:r>
            <a:r>
              <a:rPr lang="en-US" b="1" dirty="0"/>
              <a:t>work together</a:t>
            </a:r>
            <a:r>
              <a:rPr lang="en-US" dirty="0"/>
              <a:t>.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Example: Messaging apps must allow users to send messages across platforms.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/>
              <a:t>Antitrust / Monopoly Checks</a:t>
            </a:r>
            <a:endParaRPr lang="en-US" dirty="0"/>
          </a:p>
          <a:p>
            <a:pPr marL="285750" lvl="1" indent="-285750">
              <a:buFont typeface="Arial"/>
              <a:buChar char="•"/>
            </a:pPr>
            <a:r>
              <a:rPr lang="en-US" dirty="0"/>
              <a:t>Stop platforms from </a:t>
            </a:r>
            <a:r>
              <a:rPr lang="en-US" b="1" dirty="0"/>
              <a:t>abusing their power</a:t>
            </a:r>
            <a:r>
              <a:rPr lang="en-US" dirty="0"/>
              <a:t> or blocking competitors.</a:t>
            </a:r>
            <a:endParaRPr lang="en-US" dirty="0">
              <a:ea typeface="Calibri"/>
              <a:cs typeface="Calibri"/>
            </a:endParaRPr>
          </a:p>
          <a:p>
            <a:pPr lvl="1"/>
            <a:br>
              <a:rPr lang="en-US" dirty="0"/>
            </a:br>
            <a:endParaRPr lang="en-US" dirty="0"/>
          </a:p>
          <a:p>
            <a:pPr lvl="1"/>
            <a:r>
              <a:rPr lang="en-US" b="1" dirty="0"/>
              <a:t>Simple Analogy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Imagine a </a:t>
            </a:r>
            <a:r>
              <a:rPr lang="en-US" b="1" dirty="0"/>
              <a:t>mall with only one shop</a:t>
            </a:r>
            <a:r>
              <a:rPr lang="en-US" dirty="0"/>
              <a:t>:</a:t>
            </a:r>
            <a:endParaRPr lang="en-US" dirty="0">
              <a:ea typeface="Calibri"/>
              <a:cs typeface="Calibri"/>
            </a:endParaRPr>
          </a:p>
          <a:p>
            <a:pPr marL="285750" lvl="1" indent="-285750">
              <a:buFont typeface="Arial"/>
              <a:buChar char="•"/>
            </a:pPr>
            <a:r>
              <a:rPr lang="en-US" dirty="0"/>
              <a:t>Prices are high, and you have no alternatives.</a:t>
            </a:r>
            <a:endParaRPr lang="en-US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dirty="0"/>
              <a:t>Regulations = </a:t>
            </a:r>
            <a:r>
              <a:rPr lang="en-US" b="1" dirty="0"/>
              <a:t>open more shops and let people switch freely</a:t>
            </a:r>
            <a:r>
              <a:rPr lang="en-US" dirty="0"/>
              <a:t>, so everyone benefits.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D550F4-1754-4B5C-83BC-E0EC87D0D6A8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8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7DF210-17E0-68C7-CF64-045FEE5E9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  <a:ea typeface="+mj-lt"/>
                <a:cs typeface="+mj-lt"/>
              </a:rPr>
              <a:t>Advanced Flywheels, Platform Scaling &amp; Lock-In Mechanisms</a:t>
            </a:r>
          </a:p>
          <a:p>
            <a:pPr algn="ctr"/>
            <a:endParaRPr lang="en-US" sz="5400" dirty="0">
              <a:solidFill>
                <a:schemeClr val="bg1">
                  <a:lumMod val="95000"/>
                  <a:lumOff val="5000"/>
                </a:schemeClr>
              </a:solidFill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74681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9FE96-645D-9151-5EC7-5DB55692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Why We Need a Deeper View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5F31C-82EE-2BE2-590F-1C663945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200">
                <a:ea typeface="+mn-lt"/>
                <a:cs typeface="+mn-lt"/>
              </a:rPr>
              <a:t>Last lecture = </a:t>
            </a:r>
            <a:r>
              <a:rPr lang="en-US" sz="2200" i="1">
                <a:ea typeface="+mn-lt"/>
                <a:cs typeface="+mn-lt"/>
              </a:rPr>
              <a:t>foundation</a:t>
            </a:r>
            <a:endParaRPr lang="en-US" sz="2200">
              <a:ea typeface="+mn-lt"/>
              <a:cs typeface="+mn-lt"/>
            </a:endParaRPr>
          </a:p>
          <a:p>
            <a:pPr lvl="1"/>
            <a:r>
              <a:rPr lang="en-US" sz="2200">
                <a:ea typeface="+mn-lt"/>
                <a:cs typeface="+mn-lt"/>
              </a:rPr>
              <a:t>Network effects</a:t>
            </a:r>
          </a:p>
          <a:p>
            <a:pPr lvl="1"/>
            <a:r>
              <a:rPr lang="en-US" sz="2200">
                <a:ea typeface="+mn-lt"/>
                <a:cs typeface="+mn-lt"/>
              </a:rPr>
              <a:t>Basic positive feedback loops</a:t>
            </a:r>
          </a:p>
          <a:p>
            <a:pPr lvl="1"/>
            <a:r>
              <a:rPr lang="en-US" sz="2200">
                <a:ea typeface="+mn-lt"/>
                <a:cs typeface="+mn-lt"/>
              </a:rPr>
              <a:t>Platform examples</a:t>
            </a:r>
          </a:p>
          <a:p>
            <a:r>
              <a:rPr lang="en-US" sz="2200">
                <a:ea typeface="+mn-lt"/>
                <a:cs typeface="+mn-lt"/>
              </a:rPr>
              <a:t>Today = </a:t>
            </a:r>
            <a:r>
              <a:rPr lang="en-US" sz="2200" i="1">
                <a:ea typeface="+mn-lt"/>
                <a:cs typeface="+mn-lt"/>
              </a:rPr>
              <a:t>advanced mechanics</a:t>
            </a:r>
            <a:endParaRPr lang="en-US" sz="2200">
              <a:ea typeface="+mn-lt"/>
              <a:cs typeface="+mn-lt"/>
            </a:endParaRPr>
          </a:p>
          <a:p>
            <a:pPr lvl="1"/>
            <a:r>
              <a:rPr lang="en-US" sz="2200">
                <a:ea typeface="+mn-lt"/>
                <a:cs typeface="+mn-lt"/>
              </a:rPr>
              <a:t>How platforms intentionally design growth loops</a:t>
            </a:r>
          </a:p>
          <a:p>
            <a:pPr lvl="1"/>
            <a:r>
              <a:rPr lang="en-US" sz="2200">
                <a:ea typeface="+mn-lt"/>
                <a:cs typeface="+mn-lt"/>
              </a:rPr>
              <a:t>How they scale from 1,000 → 1M → 100M users</a:t>
            </a:r>
          </a:p>
          <a:p>
            <a:pPr lvl="1"/>
            <a:r>
              <a:rPr lang="en-US" sz="2200">
                <a:ea typeface="+mn-lt"/>
                <a:cs typeface="+mn-lt"/>
              </a:rPr>
              <a:t>How lock-in and switching costs shape long-term dominance</a:t>
            </a:r>
          </a:p>
          <a:p>
            <a:endParaRPr lang="en-US" sz="22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2865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6A24B-B0FE-99CF-29D0-BACE0D417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/>
              <a:t>Why It Matters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Understanding of </a:t>
            </a:r>
            <a:r>
              <a:rPr lang="en-US" sz="2000" i="1">
                <a:ea typeface="+mn-lt"/>
                <a:cs typeface="+mn-lt"/>
              </a:rPr>
              <a:t>why companies like Meta, Amazon, Apple dominate</a:t>
            </a:r>
            <a:r>
              <a:rPr lang="en-US" sz="2000">
                <a:ea typeface="+mn-lt"/>
                <a:cs typeface="+mn-lt"/>
              </a:rPr>
              <a:t> for decades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Shows </a:t>
            </a:r>
            <a:r>
              <a:rPr lang="en-US" sz="2000" i="1">
                <a:ea typeface="+mn-lt"/>
                <a:cs typeface="+mn-lt"/>
              </a:rPr>
              <a:t>how startups become giants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Helps students think strategically if they create a platform in the future</a:t>
            </a:r>
            <a:endParaRPr lang="en-US" sz="2000"/>
          </a:p>
          <a:p>
            <a:r>
              <a:rPr lang="en-US" sz="2000" b="1"/>
              <a:t>Example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TikTok didn’t just “go viral”; it </a:t>
            </a:r>
            <a:r>
              <a:rPr lang="en-US" sz="2000" b="1">
                <a:ea typeface="+mn-lt"/>
                <a:cs typeface="+mn-lt"/>
              </a:rPr>
              <a:t>engineered</a:t>
            </a:r>
            <a:r>
              <a:rPr lang="en-US" sz="2000">
                <a:ea typeface="+mn-lt"/>
                <a:cs typeface="+mn-lt"/>
              </a:rPr>
              <a:t> fast onboarding, addictive engagement loops, and creator lock-in</a:t>
            </a:r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294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B6971F-DB30-429C-3664-5CA12B5E9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>
                <a:ea typeface="+mj-lt"/>
                <a:cs typeface="+mj-lt"/>
              </a:rPr>
              <a:t>From Network Effects → Flywheels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79620-C43D-B1B9-8184-B3FA5C7B7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 b="1"/>
              <a:t>Network Effects = Value ↑ as users ↑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More sellers → better buyer experience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More riders → higher driver earning → more drivers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More users → better AI recommendations → more users</a:t>
            </a:r>
            <a:endParaRPr lang="en-US" sz="1900"/>
          </a:p>
          <a:p>
            <a:r>
              <a:rPr lang="en-US" sz="1900" b="1"/>
              <a:t>Flywheel = System built on network effects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 network effect is natural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A flywheel is </a:t>
            </a:r>
            <a:r>
              <a:rPr lang="en-US" sz="1900" b="1">
                <a:ea typeface="+mn-lt"/>
                <a:cs typeface="+mn-lt"/>
              </a:rPr>
              <a:t>designed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Flywheel = </a:t>
            </a:r>
            <a:r>
              <a:rPr lang="en-US" sz="1900" i="1">
                <a:ea typeface="+mn-lt"/>
                <a:cs typeface="+mn-lt"/>
              </a:rPr>
              <a:t>how to turn network effects into unstoppable momentum</a:t>
            </a:r>
            <a:endParaRPr lang="en-US" sz="1900"/>
          </a:p>
          <a:p>
            <a:endParaRPr lang="en-US" sz="19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034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6A92A-4EF0-7A76-C61A-4BE6FC97F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Difference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5F13C51-A462-429C-9119-030FBE2821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04602" y="3214374"/>
          <a:ext cx="10378440" cy="281619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84790">
                  <a:extLst>
                    <a:ext uri="{9D8B030D-6E8A-4147-A177-3AD203B41FA5}">
                      <a16:colId xmlns:a16="http://schemas.microsoft.com/office/drawing/2014/main" val="3704486007"/>
                    </a:ext>
                  </a:extLst>
                </a:gridCol>
                <a:gridCol w="5293650">
                  <a:extLst>
                    <a:ext uri="{9D8B030D-6E8A-4147-A177-3AD203B41FA5}">
                      <a16:colId xmlns:a16="http://schemas.microsoft.com/office/drawing/2014/main" val="513573562"/>
                    </a:ext>
                  </a:extLst>
                </a:gridCol>
              </a:tblGrid>
              <a:tr h="60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Network Effects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Flywheel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17630"/>
                  </a:ext>
                </a:extLst>
              </a:tr>
              <a:tr h="10116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Increases value as users grow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A structured cycle that amplifies network effects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032450"/>
                  </a:ext>
                </a:extLst>
              </a:tr>
              <a:tr h="60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Natural characteristic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Engineered system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240149"/>
                  </a:ext>
                </a:extLst>
              </a:tr>
              <a:tr h="6015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Doesn’t guarantee dominance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/>
                        <a:t>Leads to dominance</a:t>
                      </a:r>
                    </a:p>
                  </a:txBody>
                  <a:tcPr marL="136708" marR="136708" marT="68354" marB="6835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6802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83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B1B22-B72F-E765-DA28-FC884B610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Tik Tok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5373C-2AC4-B09E-6906-71FEB1B01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Network effect (passive):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More users → more videos → more content variety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Flywheel (active):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TikTok built an algorithm that: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Uses new user behavior immediately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Refines recommendations instantly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Makes content go viral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Pulls more creators in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Makes those creators attract more users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TikTok didn’t </a:t>
            </a:r>
            <a:r>
              <a:rPr lang="en-US" i="1" dirty="0">
                <a:ea typeface="+mn-lt"/>
                <a:cs typeface="+mn-lt"/>
              </a:rPr>
              <a:t>wait</a:t>
            </a:r>
            <a:r>
              <a:rPr lang="en-US" dirty="0">
                <a:ea typeface="+mn-lt"/>
                <a:cs typeface="+mn-lt"/>
              </a:rPr>
              <a:t> for growth.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It </a:t>
            </a:r>
            <a:r>
              <a:rPr lang="en-US" b="1" dirty="0">
                <a:ea typeface="+mn-lt"/>
                <a:cs typeface="+mn-lt"/>
              </a:rPr>
              <a:t>designed</a:t>
            </a:r>
            <a:r>
              <a:rPr lang="en-US" dirty="0">
                <a:ea typeface="+mn-lt"/>
                <a:cs typeface="+mn-lt"/>
              </a:rPr>
              <a:t> tools and algorithms that constantly accelerate growth.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454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5D72D-429A-0C57-F25F-FB3B66A85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– 2 Uber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60006-8556-9A31-546D-FE0CFCD87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Network effect (passive):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More sellers → more products → more buyers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Flywheel (active):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 Amazon </a:t>
            </a:r>
            <a:r>
              <a:rPr lang="en-US" i="1" dirty="0">
                <a:ea typeface="+mn-lt"/>
                <a:cs typeface="+mn-lt"/>
              </a:rPr>
              <a:t>intentionally</a:t>
            </a:r>
            <a:r>
              <a:rPr lang="en-US" dirty="0">
                <a:ea typeface="+mn-lt"/>
                <a:cs typeface="+mn-lt"/>
              </a:rPr>
              <a:t> created:</a:t>
            </a:r>
          </a:p>
          <a:p>
            <a:r>
              <a:rPr lang="en-US" dirty="0">
                <a:ea typeface="+mn-lt"/>
                <a:cs typeface="+mn-lt"/>
              </a:rPr>
              <a:t>Prime membership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Fast delivery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Product recommendations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Seller tools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Review systems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Each new user → creates more data → improves recommendations → increases sales → attracts more sellers → improves delivery → attracts more users.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system pushes growth forward </a:t>
            </a:r>
            <a:r>
              <a:rPr lang="en-US" i="1" dirty="0">
                <a:ea typeface="+mn-lt"/>
                <a:cs typeface="+mn-lt"/>
              </a:rPr>
              <a:t>by design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946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7F736-19A5-5C96-B791-8E79FF5D5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4-Part Platform Flywheel Framework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D4D0AA-4772-664B-4F1E-508E8C43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400" b="1" dirty="0"/>
              <a:t>Acquisition Loop</a:t>
            </a:r>
            <a:br>
              <a:rPr lang="en-US" sz="2400" b="1" dirty="0"/>
            </a:br>
            <a:r>
              <a:rPr lang="en-US" sz="2400" b="1" dirty="0"/>
              <a:t> “How do new users find us?”</a:t>
            </a:r>
            <a:endParaRPr lang="en-US" sz="2400" dirty="0"/>
          </a:p>
          <a:p>
            <a:r>
              <a:rPr lang="en-US" sz="2400" b="1" dirty="0"/>
              <a:t>Activation Loop</a:t>
            </a:r>
            <a:br>
              <a:rPr lang="en-US" sz="2400" b="1" dirty="0"/>
            </a:br>
            <a:r>
              <a:rPr lang="en-US" sz="2400" b="1" dirty="0"/>
              <a:t> “How do new users reach value </a:t>
            </a:r>
            <a:r>
              <a:rPr lang="en-US" sz="2400" i="1" dirty="0"/>
              <a:t>quickly</a:t>
            </a:r>
            <a:r>
              <a:rPr lang="en-US" sz="2400" dirty="0"/>
              <a:t>?”</a:t>
            </a:r>
          </a:p>
          <a:p>
            <a:r>
              <a:rPr lang="en-US" sz="2400" b="1" dirty="0"/>
              <a:t>Engagement Loop</a:t>
            </a:r>
            <a:br>
              <a:rPr lang="en-US" sz="2400" b="1" dirty="0"/>
            </a:br>
            <a:r>
              <a:rPr lang="en-US" sz="2400" b="1" dirty="0"/>
              <a:t> “Why do users keep returning?”</a:t>
            </a:r>
            <a:endParaRPr lang="en-US" sz="2400" dirty="0"/>
          </a:p>
          <a:p>
            <a:r>
              <a:rPr lang="en-US" sz="2400" b="1" dirty="0"/>
              <a:t>Retention / Reinforcement Loop</a:t>
            </a:r>
            <a:br>
              <a:rPr lang="en-US" sz="2400" b="1" dirty="0"/>
            </a:br>
            <a:r>
              <a:rPr lang="en-US" sz="2400" b="1" dirty="0"/>
              <a:t> “How do old users continuously strengthen the platform?”</a:t>
            </a:r>
            <a:endParaRPr lang="en-US" sz="2400" dirty="0"/>
          </a:p>
          <a:p>
            <a:r>
              <a:rPr lang="en-US" sz="2400" b="1" dirty="0"/>
              <a:t>Why It’s Important</a:t>
            </a:r>
            <a:endParaRPr lang="en-US" sz="2400" dirty="0"/>
          </a:p>
          <a:p>
            <a:r>
              <a:rPr lang="en-US" sz="2400" dirty="0"/>
              <a:t>A platform without these loops = slow, expensive, and stuck</a:t>
            </a:r>
          </a:p>
          <a:p>
            <a:r>
              <a:rPr lang="en-US" sz="2400" dirty="0"/>
              <a:t>With loops, each user improves the platform → which brings the next user cheaper</a:t>
            </a:r>
          </a:p>
        </p:txBody>
      </p:sp>
    </p:spTree>
    <p:extLst>
      <p:ext uri="{BB962C8B-B14F-4D97-AF65-F5344CB8AC3E}">
        <p14:creationId xmlns:p14="http://schemas.microsoft.com/office/powerpoint/2010/main" val="3554572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045B-0131-0A4B-F035-F6D57523D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Acquisition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FA33EF-82AF-BB43-6F6E-6D5D561A2F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 repeatable cycle where </a:t>
            </a:r>
            <a:r>
              <a:rPr lang="en-US" b="1" dirty="0">
                <a:ea typeface="+mn-lt"/>
                <a:cs typeface="+mn-lt"/>
              </a:rPr>
              <a:t>each new user helps attract more new users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Not the same as: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Paid ads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One-time campaigns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Promotions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Acquisition loops are </a:t>
            </a:r>
            <a:r>
              <a:rPr lang="en-US" i="1" dirty="0">
                <a:ea typeface="+mn-lt"/>
                <a:cs typeface="+mn-lt"/>
              </a:rPr>
              <a:t>self-sustaining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403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726AB-B135-ED35-B842-F05D4D2EE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Activation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5BDD3-72A5-AE9F-4DD6-A99F26B18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Activation loop = </a:t>
            </a:r>
            <a:r>
              <a:rPr lang="en-US" i="1" dirty="0">
                <a:ea typeface="+mn-lt"/>
                <a:cs typeface="+mn-lt"/>
              </a:rPr>
              <a:t>how users experience value quickly</a:t>
            </a:r>
            <a:r>
              <a:rPr lang="en-US" dirty="0">
                <a:ea typeface="+mn-lt"/>
                <a:cs typeface="+mn-lt"/>
              </a:rPr>
              <a:t> after joining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“aha moment” → users realize the platform is useful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Faster activation → higher retention → strengthens flywheel</a:t>
            </a:r>
            <a:endParaRPr lang="en-US" dirty="0"/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Critical for </a:t>
            </a:r>
            <a:r>
              <a:rPr lang="en-US" b="1" dirty="0">
                <a:ea typeface="+mn-lt"/>
                <a:cs typeface="+mn-lt"/>
              </a:rPr>
              <a:t>first 7–14 days</a:t>
            </a:r>
            <a:r>
              <a:rPr lang="en-US" dirty="0">
                <a:ea typeface="+mn-lt"/>
                <a:cs typeface="+mn-lt"/>
              </a:rPr>
              <a:t> of user journey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Onboarding experience is crucial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Reduces drop-off and churn</a:t>
            </a:r>
            <a:endParaRPr lang="en-US" dirty="0"/>
          </a:p>
          <a:p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TikTok</a:t>
            </a:r>
            <a:r>
              <a:rPr lang="en-US" dirty="0">
                <a:ea typeface="+mn-lt"/>
                <a:cs typeface="+mn-lt"/>
              </a:rPr>
              <a:t> → user opens app → immediately gets personalized feed → instant engagement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Duolingo</a:t>
            </a:r>
            <a:r>
              <a:rPr lang="en-US" dirty="0">
                <a:ea typeface="+mn-lt"/>
                <a:cs typeface="+mn-lt"/>
              </a:rPr>
              <a:t> → user starts first lesson → sees progress streak → motivated to continue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Food delivery apps</a:t>
            </a:r>
            <a:r>
              <a:rPr lang="en-US" dirty="0">
                <a:ea typeface="+mn-lt"/>
                <a:cs typeface="+mn-lt"/>
              </a:rPr>
              <a:t> → first order is fast, tracked, easy → user likely to reorder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9816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3AC3D-BD67-0159-BDDB-1D53A5CC8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Engagement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1B624-8DD9-C414-DA34-96A1A14D6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Engagement loop = </a:t>
            </a:r>
            <a:r>
              <a:rPr lang="en-US" i="1" dirty="0">
                <a:ea typeface="+mn-lt"/>
                <a:cs typeface="+mn-lt"/>
              </a:rPr>
              <a:t>how users keep interacting repeatedly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Reinforces habit and keeps flywheel spinning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Users generate more value for themselves and others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Engagement leads to more content/data → attracts more users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TikTok</a:t>
            </a:r>
            <a:r>
              <a:rPr lang="en-US" dirty="0">
                <a:ea typeface="+mn-lt"/>
                <a:cs typeface="+mn-lt"/>
              </a:rPr>
              <a:t> → Likes, Comments, Shares → more content tailored to user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Food Apps</a:t>
            </a:r>
            <a:r>
              <a:rPr lang="en-US" dirty="0">
                <a:ea typeface="+mn-lt"/>
                <a:cs typeface="+mn-lt"/>
              </a:rPr>
              <a:t> → personalized deals → encourages repeat orders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Gaming Platforms</a:t>
            </a:r>
            <a:r>
              <a:rPr lang="en-US" dirty="0">
                <a:ea typeface="+mn-lt"/>
                <a:cs typeface="+mn-lt"/>
              </a:rPr>
              <a:t> → daily challenges, rewards → users log in daily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LinkedIn</a:t>
            </a:r>
            <a:r>
              <a:rPr lang="en-US" dirty="0">
                <a:ea typeface="+mn-lt"/>
                <a:cs typeface="+mn-lt"/>
              </a:rPr>
              <a:t> → posting → likes → notifications → keeps users active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95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76F44-1B06-A242-12B1-A6E656BC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Retention / Reinforcement Loop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2B26-7A00-37AD-4D38-BDDDF60AD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Retention loop = </a:t>
            </a:r>
            <a:r>
              <a:rPr lang="en-US" i="1" dirty="0">
                <a:ea typeface="+mn-lt"/>
                <a:cs typeface="+mn-lt"/>
              </a:rPr>
              <a:t>how existing users continuously strengthen the platform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Helps users stay and bring in new participants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Combines retention + network effect → flywheel acceleration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Users act as content creators, reviewers, and advocates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Airbnb</a:t>
            </a:r>
            <a:r>
              <a:rPr lang="en-US" dirty="0">
                <a:ea typeface="+mn-lt"/>
                <a:cs typeface="+mn-lt"/>
              </a:rPr>
              <a:t> → guests leave reviews → reviews attract more guests → more hosts join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Uber</a:t>
            </a:r>
            <a:r>
              <a:rPr lang="en-US" dirty="0">
                <a:ea typeface="+mn-lt"/>
                <a:cs typeface="+mn-lt"/>
              </a:rPr>
              <a:t> → riders use app repeatedly → more trips → more driver incentives → system grows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OpenAI Models</a:t>
            </a:r>
            <a:r>
              <a:rPr lang="en-US" dirty="0">
                <a:ea typeface="+mn-lt"/>
                <a:cs typeface="+mn-lt"/>
              </a:rPr>
              <a:t> → users give feedback → model improves → more users adopt → more feedback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52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FD96E-DC32-791F-147A-AD17AD1CB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Multi-Flywheel Platforms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70A4B-04BF-55FF-4EF6-AE8D82775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Platforms may have several simultaneous flywheels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Each loop strengthens another → exponential growth</a:t>
            </a:r>
            <a:endParaRPr lang="en-US"/>
          </a:p>
          <a:p>
            <a:r>
              <a:rPr lang="en-US" b="1" dirty="0"/>
              <a:t>Examples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Amazon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Marketplace flywheel → sellers → more products → more buyers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Logistics flywheel → faster delivery → better experience → more buyers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Prime flywheel → membership loyalty → more purchases → more sellers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OpenAI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User interaction → better models → more adoption → more API developers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Enterprise usage → data → model improvement → more adoption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68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D525-7FC0-C23E-5DD9-B6C9EC525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Liquidity: The Heart of Growth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62C9-2785-61DB-0DC5-F759F9E0B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Liquidity = </a:t>
            </a:r>
            <a:r>
              <a:rPr lang="en-US" i="1" dirty="0">
                <a:ea typeface="+mn-lt"/>
                <a:cs typeface="+mn-lt"/>
              </a:rPr>
              <a:t>how quickly supply meets demand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Without liquidity, flywheels and network effects are weak</a:t>
            </a:r>
            <a:endParaRPr lang="en-US" dirty="0"/>
          </a:p>
          <a:p>
            <a:pPr marL="0" indent="0">
              <a:buNone/>
            </a:pPr>
            <a:r>
              <a:rPr lang="en-US" b="1"/>
              <a:t>Key Points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High liquidity → better user experience → retention ↑ → flywheel spins faster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Low liquidity → platform stagnates → users churn → feedback loops fail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Ride-sharing (Uber/</a:t>
            </a:r>
            <a:r>
              <a:rPr lang="en-US" b="1" dirty="0" err="1">
                <a:ea typeface="+mn-lt"/>
                <a:cs typeface="+mn-lt"/>
              </a:rPr>
              <a:t>Pathao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Short wait times = high liquidity → more riders → more drivers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Food delivery (</a:t>
            </a:r>
            <a:r>
              <a:rPr lang="en-US" b="1" dirty="0" err="1">
                <a:ea typeface="+mn-lt"/>
                <a:cs typeface="+mn-lt"/>
              </a:rPr>
              <a:t>Foodmandu</a:t>
            </a:r>
            <a:r>
              <a:rPr lang="en-US" b="1" dirty="0">
                <a:ea typeface="+mn-lt"/>
                <a:cs typeface="+mn-lt"/>
              </a:rPr>
              <a:t>, </a:t>
            </a:r>
            <a:r>
              <a:rPr lang="en-US" b="1" dirty="0" err="1">
                <a:ea typeface="+mn-lt"/>
                <a:cs typeface="+mn-lt"/>
              </a:rPr>
              <a:t>Daraz</a:t>
            </a:r>
            <a:r>
              <a:rPr lang="en-US" b="1" dirty="0">
                <a:ea typeface="+mn-lt"/>
                <a:cs typeface="+mn-lt"/>
              </a:rPr>
              <a:t>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Many restaurants → many users → orders matched efficiently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Marketplace (</a:t>
            </a:r>
            <a:r>
              <a:rPr lang="en-US" b="1" dirty="0" err="1">
                <a:ea typeface="+mn-lt"/>
                <a:cs typeface="+mn-lt"/>
              </a:rPr>
              <a:t>Daraz</a:t>
            </a:r>
            <a:r>
              <a:rPr lang="en-US" b="1" dirty="0">
                <a:ea typeface="+mn-lt"/>
                <a:cs typeface="+mn-lt"/>
              </a:rPr>
              <a:t>, Amazon)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Many sellers → instant availability → buyers satisfied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7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CC3C-AD59-1DB9-CE42-54450E0BF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Cold Start → Warm Start → Hot Start Curve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C63C3-3BD4-B65A-4D79-BC08A6878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Cold Start:</a:t>
            </a:r>
            <a:r>
              <a:rPr lang="en-US" dirty="0">
                <a:ea typeface="+mn-lt"/>
                <a:cs typeface="+mn-lt"/>
              </a:rPr>
              <a:t> Platform just launched, few users, limited value, hard to attract participants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Warm Start:</a:t>
            </a:r>
            <a:r>
              <a:rPr lang="en-US" dirty="0">
                <a:ea typeface="+mn-lt"/>
                <a:cs typeface="+mn-lt"/>
              </a:rPr>
              <a:t> Enough users exist for interactions, growth begins to stabilize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Hot Start:</a:t>
            </a:r>
            <a:r>
              <a:rPr lang="en-US" dirty="0">
                <a:ea typeface="+mn-lt"/>
                <a:cs typeface="+mn-lt"/>
              </a:rPr>
              <a:t> Critical mass reached, interactions scale exponentially, platform accelerates automatically</a:t>
            </a:r>
            <a:endParaRPr lang="en-US" dirty="0"/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Cold start is the biggest challenge for platform startups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Flywheels only spin effectively after reaching warm/hot stage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Designers must </a:t>
            </a:r>
            <a:r>
              <a:rPr lang="en-US" b="1" dirty="0">
                <a:ea typeface="+mn-lt"/>
                <a:cs typeface="+mn-lt"/>
              </a:rPr>
              <a:t>strategically overcome cold start</a:t>
            </a:r>
            <a:r>
              <a:rPr lang="en-US" dirty="0">
                <a:ea typeface="+mn-lt"/>
                <a:cs typeface="+mn-lt"/>
              </a:rPr>
              <a:t> using targeted incentives, partnerships, or content seeding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102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B822D-ACD3-7ADD-3B30-80A574FF1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Mature Platform Growth (Beyond Early Stages)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74A27-A3DD-C0C7-EDD8-69375002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Stage where platform already has liquidity, critical mass, and active loops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Focus shifts from raw user acquisition → </a:t>
            </a:r>
            <a:r>
              <a:rPr lang="en-US" b="1" dirty="0">
                <a:ea typeface="+mn-lt"/>
                <a:cs typeface="+mn-lt"/>
              </a:rPr>
              <a:t>deepening user engagement and retention</a:t>
            </a:r>
            <a:endParaRPr lang="en-US" dirty="0"/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Growth optimization becomes about: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Reducing churn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Increasing user lifetime value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Expanding ecosystem (cross-products, integrations)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Enhancing personalization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3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3B3E-8850-9553-0753-6BF54A8E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Transition to Lock-In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5A8C3-D22A-B761-7ED4-BF453BF7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Platforms at mature stage often </a:t>
            </a:r>
            <a:r>
              <a:rPr lang="en-US" b="1" dirty="0">
                <a:ea typeface="+mn-lt"/>
                <a:cs typeface="+mn-lt"/>
              </a:rPr>
              <a:t>increase switching costs intentionally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Lock-in ensures users remain engaged and maintain flywheel momentum</a:t>
            </a:r>
            <a:endParaRPr lang="en-US" dirty="0"/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Flywheel growth + retention loops → naturally encourage stickiness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Lock-in transforms temporary users into </a:t>
            </a:r>
            <a:r>
              <a:rPr lang="en-US" b="1" dirty="0">
                <a:ea typeface="+mn-lt"/>
                <a:cs typeface="+mn-lt"/>
              </a:rPr>
              <a:t>long-term platform advocates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Strategies include: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Ecosystem bundling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Data / personalization advantage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Loyalty programs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163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8A042-41D4-AC24-3F21-C6CE3EB46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Lock-In: Definition &amp; Importance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3455-73EF-2818-EC1F-759C304CA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Lock-in</a:t>
            </a:r>
            <a:r>
              <a:rPr lang="en-US" dirty="0">
                <a:ea typeface="+mn-lt"/>
                <a:cs typeface="+mn-lt"/>
              </a:rPr>
              <a:t> = users face high costs (time, money, data, network, psychological) to switch platforms</a:t>
            </a:r>
            <a:endParaRPr lang="en-US" dirty="0"/>
          </a:p>
          <a:p>
            <a:r>
              <a:rPr lang="en-US" b="1"/>
              <a:t>Importance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Protects user base from competitors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Increases </a:t>
            </a:r>
            <a:r>
              <a:rPr lang="en-US" b="1">
                <a:ea typeface="+mn-lt"/>
                <a:cs typeface="+mn-lt"/>
              </a:rPr>
              <a:t>lifetime value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Reinforces flywheel → more data, better services, stronger network effects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Creates competitive moat → difficult for rivals to enter market</a:t>
            </a:r>
            <a:endParaRPr lang="en-US" dirty="0"/>
          </a:p>
          <a:p>
            <a:r>
              <a:rPr lang="en-US" b="1" dirty="0"/>
              <a:t>Examples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Uber/</a:t>
            </a:r>
            <a:r>
              <a:rPr lang="en-US" dirty="0" err="1">
                <a:ea typeface="+mn-lt"/>
                <a:cs typeface="+mn-lt"/>
              </a:rPr>
              <a:t>Pathao</a:t>
            </a:r>
            <a:r>
              <a:rPr lang="en-US" dirty="0">
                <a:ea typeface="+mn-lt"/>
                <a:cs typeface="+mn-lt"/>
              </a:rPr>
              <a:t>: Driver and rider incentives make switching inconvenient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Gmail → Google ecosystem: emails, docs, drive, calendars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Game consoles → exclusive titles (PS5 vs Xbox)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459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509DB-EF22-D04B-E11C-BC07BC683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Types of Switching Costs (Overview)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FF8A7-CB50-983A-4235-22698C85F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Financial Costs:</a:t>
            </a:r>
            <a:r>
              <a:rPr lang="en-US" dirty="0">
                <a:ea typeface="+mn-lt"/>
                <a:cs typeface="+mn-lt"/>
              </a:rPr>
              <a:t> Subscriptions, paid assets, termination fees</a:t>
            </a:r>
            <a:endParaRPr lang="en-US" dirty="0"/>
          </a:p>
          <a:p>
            <a:r>
              <a:rPr lang="en-US" b="1">
                <a:ea typeface="+mn-lt"/>
                <a:cs typeface="+mn-lt"/>
              </a:rPr>
              <a:t>Learning / Effort Costs:</a:t>
            </a:r>
            <a:r>
              <a:rPr lang="en-US">
                <a:ea typeface="+mn-lt"/>
                <a:cs typeface="+mn-lt"/>
              </a:rPr>
              <a:t> Time and effort to learn a new platform</a:t>
            </a:r>
            <a:endParaRPr lang="en-US"/>
          </a:p>
          <a:p>
            <a:r>
              <a:rPr lang="en-US" b="1" dirty="0">
                <a:ea typeface="+mn-lt"/>
                <a:cs typeface="+mn-lt"/>
              </a:rPr>
              <a:t>Data / Asset Loss:</a:t>
            </a:r>
            <a:r>
              <a:rPr lang="en-US" dirty="0">
                <a:ea typeface="+mn-lt"/>
                <a:cs typeface="+mn-lt"/>
              </a:rPr>
              <a:t> Losing photos, files, chat history, saved preferences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Network Loss:</a:t>
            </a:r>
            <a:r>
              <a:rPr lang="en-US" dirty="0">
                <a:ea typeface="+mn-lt"/>
                <a:cs typeface="+mn-lt"/>
              </a:rPr>
              <a:t> Losing friends, followers, community, ratings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Psychological / Habitual Costs:</a:t>
            </a:r>
            <a:r>
              <a:rPr lang="en-US" dirty="0">
                <a:ea typeface="+mn-lt"/>
                <a:cs typeface="+mn-lt"/>
              </a:rPr>
              <a:t> Emotional attachment, habit, fear of loss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744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4AB89-650F-9683-2638-302F8795A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How Platforms Intentionally Create Lock-In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F66BA-1D7D-6A1F-C0B8-FBD238286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Ecosystem Bundling</a:t>
            </a:r>
            <a:endParaRPr lang="en-US" dirty="0"/>
          </a:p>
          <a:p>
            <a:pPr lvl="1"/>
            <a:r>
              <a:rPr lang="en-US">
                <a:ea typeface="+mn-lt"/>
                <a:cs typeface="+mn-lt"/>
              </a:rPr>
              <a:t>Multiple services connected (hardware, software, subscriptions)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Example: Apple → iPhone, iPad, Mac, Apple Music, iCloud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Proprietary Formats / Data Lock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Files, chats, saved settings only usable within platform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WhatsApp chat backup cannot move easily to Signal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Loyalty Programs / Rewards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Points, streaks, credits → encourage continued use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Starbucks Rewards, Amazon Prime benefits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Seamless Cross-Device Sync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Convenience of continuing workflow on any device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Google Workspace, Apple ecosystem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Exclusive Features / Integrations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Features unavailable elsewhere → stickiness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Instagram Stories → unique filters, effects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918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24D1-E40F-E454-B376-211972BF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Walled Gardens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EDC1A-76A5-6118-124C-1341031EC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Closed ecosystems controlled by a single platform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experience optimized but </a:t>
            </a:r>
            <a:r>
              <a:rPr lang="en-US" b="1" dirty="0">
                <a:ea typeface="+mn-lt"/>
                <a:cs typeface="+mn-lt"/>
              </a:rPr>
              <a:t>switching difficult</a:t>
            </a:r>
            <a:endParaRPr lang="en-US" dirty="0"/>
          </a:p>
          <a:p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Apple</a:t>
            </a:r>
            <a:r>
              <a:rPr lang="en-US" dirty="0">
                <a:ea typeface="+mn-lt"/>
                <a:cs typeface="+mn-lt"/>
              </a:rPr>
              <a:t> → iOS + App Store + iMessage + iCloud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Meta / Facebook</a:t>
            </a:r>
            <a:r>
              <a:rPr lang="en-US" dirty="0">
                <a:ea typeface="+mn-lt"/>
                <a:cs typeface="+mn-lt"/>
              </a:rPr>
              <a:t> → Facebook + Instagram + Messenger + WhatsApp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Amazon</a:t>
            </a:r>
            <a:r>
              <a:rPr lang="en-US" dirty="0">
                <a:ea typeface="+mn-lt"/>
                <a:cs typeface="+mn-lt"/>
              </a:rPr>
              <a:t> → Kindle, Prime Video, e-commerce integration</a:t>
            </a:r>
            <a:endParaRPr lang="en-US" dirty="0"/>
          </a:p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 convenience = high retention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Reduces multi-homing (users using competitors)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Tradeoff: less interoperability, regulatory scrutiny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04859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2831-BE17-5AC3-8E67-D7FB0ED89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Multi-Homing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3E856-EF4C-4D4B-20AB-9377734FB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Users using </a:t>
            </a:r>
            <a:r>
              <a:rPr lang="en-US" b="1" dirty="0">
                <a:ea typeface="+mn-lt"/>
                <a:cs typeface="+mn-lt"/>
              </a:rPr>
              <a:t>multiple competing platforms simultaneously</a:t>
            </a:r>
            <a:endParaRPr lang="en-US" dirty="0"/>
          </a:p>
          <a:p>
            <a:r>
              <a:rPr lang="en-US" b="1"/>
              <a:t>Key Points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Occurs when </a:t>
            </a:r>
            <a:r>
              <a:rPr lang="en-US" b="1">
                <a:ea typeface="+mn-lt"/>
                <a:cs typeface="+mn-lt"/>
              </a:rPr>
              <a:t>switching costs are low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Weakens flywheels if users divide attention between platforms</a:t>
            </a:r>
            <a:endParaRPr lang="en-US" dirty="0"/>
          </a:p>
          <a:p>
            <a:r>
              <a:rPr lang="en-US" b="1" dirty="0"/>
              <a:t>Examples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Ride-sharing: Drivers using Uber + </a:t>
            </a:r>
            <a:r>
              <a:rPr lang="en-US" dirty="0" err="1">
                <a:ea typeface="+mn-lt"/>
                <a:cs typeface="+mn-lt"/>
              </a:rPr>
              <a:t>Pathao</a:t>
            </a:r>
            <a:r>
              <a:rPr lang="en-US" dirty="0">
                <a:ea typeface="+mn-lt"/>
                <a:cs typeface="+mn-lt"/>
              </a:rPr>
              <a:t> + </a:t>
            </a:r>
            <a:r>
              <a:rPr lang="en-US" dirty="0" err="1">
                <a:ea typeface="+mn-lt"/>
                <a:cs typeface="+mn-lt"/>
              </a:rPr>
              <a:t>InDrive</a:t>
            </a:r>
            <a:endParaRPr lang="en-US" dirty="0" err="1"/>
          </a:p>
          <a:p>
            <a:r>
              <a:rPr lang="en-US" dirty="0">
                <a:ea typeface="+mn-lt"/>
                <a:cs typeface="+mn-lt"/>
              </a:rPr>
              <a:t>Food delivery: Restaurants listing on multiple apps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Messaging apps: Some people use both Telegram + WhatsApp</a:t>
            </a:r>
            <a:endParaRPr lang="en-US" dirty="0"/>
          </a:p>
          <a:p>
            <a:r>
              <a:rPr lang="en-US" b="1" dirty="0"/>
              <a:t>Strategies to Reduce Multi-Homing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Loyalty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Exclusive features or content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Ecosystem integration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8480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31F9F-771B-D6D9-57F6-1438F7C8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How Lock-In Reinforces Flywheels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BB756-01D6-B85A-0C3D-592C74B78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b="1" dirty="0"/>
              <a:t>Key Points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Lock-in ensures users stay → continuous engagement → more data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More data → better algorithms → more personalized experience → attracts more users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Flywheel accelerates → network effects strengthen → harder for competitors to disrupt</a:t>
            </a:r>
            <a:endParaRPr lang="en-US" dirty="0"/>
          </a:p>
          <a:p>
            <a:r>
              <a:rPr lang="en-US" b="1" dirty="0"/>
              <a:t>Examples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Spotify:</a:t>
            </a:r>
            <a:r>
              <a:rPr lang="en-US" dirty="0">
                <a:ea typeface="+mn-lt"/>
                <a:cs typeface="+mn-lt"/>
              </a:rPr>
              <a:t> Playlists + personalized recommendations → users rarely switch → data improves recommendation → attracts new users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Uber:</a:t>
            </a:r>
            <a:r>
              <a:rPr lang="en-US" dirty="0">
                <a:ea typeface="+mn-lt"/>
                <a:cs typeface="+mn-lt"/>
              </a:rPr>
              <a:t> Driver/rider loyalty → stable rides → higher matching efficiency → faster growth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OpenAI API:</a:t>
            </a:r>
            <a:r>
              <a:rPr lang="en-US" dirty="0">
                <a:ea typeface="+mn-lt"/>
                <a:cs typeface="+mn-lt"/>
              </a:rPr>
              <a:t> Enterprises integrate models → API usage + feedback → improved models → more adoption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938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A7EE-9733-BCFD-EAF7-844C545C3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Case Study 1: Airbnb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8821B-5485-44DA-9AF1-8A486A308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/>
              <a:t>Flywheel Mechanics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Guests leave reviews → improves trust → attracts more guests → more hosts → more listings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High-quality photos, ratings, and reviews strengthen retention</a:t>
            </a:r>
            <a:endParaRPr lang="en-US"/>
          </a:p>
          <a:p>
            <a:r>
              <a:rPr lang="en-US" b="1" dirty="0"/>
              <a:t>Lock-In Mechanisms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Saved favorite listings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Reviews and host history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Personalized recommendations → habit formation</a:t>
            </a:r>
            <a:endParaRPr lang="en-US" dirty="0"/>
          </a:p>
          <a:p>
            <a:r>
              <a:rPr lang="en-US" b="1" dirty="0"/>
              <a:t>Key Insight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Airbnb’s flywheel + lock-in created a dominant marketplace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Hard for competitors to replicate trust and supply quickly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241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5160-EDA4-BF60-7FC5-B0AFC8144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Case Study 2: Uber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7BA0C-821A-6D3B-0E6B-5B8184233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Flywheel Mechanics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Drivers → shorter wait times → more riders → more trips → more driver earnings → more drivers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Dynamic pricing → ensures supply-demand match → faster growth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Lock-In Mechanisms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Ratings, driver preferences, loyalty programs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Driver bonuses and surge incentives make switching costly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Rider payment methods linked → convenience lock-in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Insight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Uber’s ecosystem ensures </a:t>
            </a:r>
            <a:r>
              <a:rPr lang="en-US" b="1" dirty="0">
                <a:ea typeface="+mn-lt"/>
                <a:cs typeface="+mn-lt"/>
              </a:rPr>
              <a:t>drivers and riders reinforce each other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Lock-in + flywheel = sustainable competitive advantage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9628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890C2-4178-1E11-EC00-CF8F2271C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Case Study 3: OpenAI Models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5A0E9-DA4E-6C34-FE0B-7D79FD2AE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Flywheel Mechanics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 interactions → feedback → better models → more adoption → more feedback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API adoption → developer ecosystem growth → further platform expansion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Lock-In Mechanisms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Data integration in workflows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Fine-tuned models unique to organizations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Continuous updates → “platform-dependent” advantage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Key Insight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AI platforms rely on </a:t>
            </a:r>
            <a:r>
              <a:rPr lang="en-US" b="1" dirty="0">
                <a:ea typeface="+mn-lt"/>
                <a:cs typeface="+mn-lt"/>
              </a:rPr>
              <a:t>data-driven flywheels + enterprise lock-in</a:t>
            </a:r>
            <a:r>
              <a:rPr lang="en-US" dirty="0">
                <a:ea typeface="+mn-lt"/>
                <a:cs typeface="+mn-lt"/>
              </a:rPr>
              <a:t> to sustain growth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Competitors must build similar ecosystems to compete effectively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964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9CAA-13FE-99D8-4454-9810EDB15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Case Study 4: Food Delivery Platforms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A77B5-5406-7CAC-DD24-FCFE75795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b="1" dirty="0"/>
              <a:t>Flywheel Mechanics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More restaurants → more menu variety → more users → more orders → more restaurants sign up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Faster delivery times → better ratings → repeat orders</a:t>
            </a:r>
            <a:endParaRPr lang="en-US" dirty="0"/>
          </a:p>
          <a:p>
            <a:r>
              <a:rPr lang="en-US" b="1" dirty="0"/>
              <a:t>Lock-In Mechanisms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Loyalty points, credits, first-order discounts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Saved addresses, payment methods → convenience lock-in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App habit → daily engagement</a:t>
            </a:r>
            <a:endParaRPr lang="en-US" dirty="0"/>
          </a:p>
          <a:p>
            <a:r>
              <a:rPr lang="en-US" b="1" dirty="0"/>
              <a:t>Key Insight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Combined flywheel + retention strategies make switching to competitors harder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5870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9796-ED9A-B6F8-83DC-7FCE70D5F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Regulatory Concerns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EFE6A-8A40-13FD-64A7-EA8A97D0C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b="1" dirty="0"/>
              <a:t>Why Governments Care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Excessive lock-in → less competition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Users trapped in walled gardens → limited choice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Dominant platforms → anticompetitive behavior</a:t>
            </a:r>
            <a:endParaRPr lang="en-US" dirty="0"/>
          </a:p>
          <a:p>
            <a:r>
              <a:rPr lang="en-US" b="1" dirty="0"/>
              <a:t>Regulatory Measures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Data Portability</a:t>
            </a:r>
            <a:r>
              <a:rPr lang="en-US" dirty="0">
                <a:ea typeface="+mn-lt"/>
                <a:cs typeface="+mn-lt"/>
              </a:rPr>
              <a:t> → let users take data to new platforms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GDPR Right to Data Portability in EU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Interoperability Requirements</a:t>
            </a:r>
            <a:r>
              <a:rPr lang="en-US" dirty="0">
                <a:ea typeface="+mn-lt"/>
                <a:cs typeface="+mn-lt"/>
              </a:rPr>
              <a:t> → competing services can interact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Example: EU Digital Markets Act (Meta must allow messaging interoperability)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Antitrust Investigations</a:t>
            </a:r>
            <a:r>
              <a:rPr lang="en-US" dirty="0">
                <a:ea typeface="+mn-lt"/>
                <a:cs typeface="+mn-lt"/>
              </a:rPr>
              <a:t> → prevent monopoly abuse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864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3AA6E-A30A-445E-4217-65F0A7A7B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Combined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7B420-0B32-990E-754C-6482CA8F4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Key Takeaways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Flywheels sustain growth; lock-in preserves it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Acquisition, activation, engagement, retention loops are interdependent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Liquidity and multi-flywheel systems accelerate scale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Switching costs protect users and data → long-term advantage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Regulatory oversight may limit extreme lock-in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149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29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Advanced Flywheels, Platform Scaling &amp; Lock-In Mechanisms </vt:lpstr>
      <vt:lpstr>Why We Need a Deeper View</vt:lpstr>
      <vt:lpstr>PowerPoint Presentation</vt:lpstr>
      <vt:lpstr>From Network Effects → Flywheels</vt:lpstr>
      <vt:lpstr>Difference</vt:lpstr>
      <vt:lpstr>Example – Tik Tok</vt:lpstr>
      <vt:lpstr>Example – 2 Uber</vt:lpstr>
      <vt:lpstr>4-Part Platform Flywheel Framework</vt:lpstr>
      <vt:lpstr>Acquisition Loop</vt:lpstr>
      <vt:lpstr>Activation Loop</vt:lpstr>
      <vt:lpstr>Engagement Loop</vt:lpstr>
      <vt:lpstr>Retention / Reinforcement Loop</vt:lpstr>
      <vt:lpstr>Multi-Flywheel Platforms</vt:lpstr>
      <vt:lpstr>Liquidity: The Heart of Growth</vt:lpstr>
      <vt:lpstr>Cold Start → Warm Start → Hot Start Curve</vt:lpstr>
      <vt:lpstr>Mature Platform Growth (Beyond Early Stages)</vt:lpstr>
      <vt:lpstr>Transition to Lock-In</vt:lpstr>
      <vt:lpstr>Lock-In: Definition &amp; Importance</vt:lpstr>
      <vt:lpstr>Types of Switching Costs (Overview)</vt:lpstr>
      <vt:lpstr>How Platforms Intentionally Create Lock-In</vt:lpstr>
      <vt:lpstr>Walled Gardens</vt:lpstr>
      <vt:lpstr>Multi-Homing</vt:lpstr>
      <vt:lpstr>How Lock-In Reinforces Flywheels</vt:lpstr>
      <vt:lpstr>Case Study 1: Airbnb</vt:lpstr>
      <vt:lpstr>Case Study 2: Uber</vt:lpstr>
      <vt:lpstr>Case Study 3: OpenAI Models</vt:lpstr>
      <vt:lpstr>Case Study 4: Food Delivery Platforms</vt:lpstr>
      <vt:lpstr>Regulatory Concerns</vt:lpstr>
      <vt:lpstr>Combined 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202</cp:revision>
  <dcterms:created xsi:type="dcterms:W3CDTF">2025-12-04T07:12:56Z</dcterms:created>
  <dcterms:modified xsi:type="dcterms:W3CDTF">2025-12-07T03:04:34Z</dcterms:modified>
</cp:coreProperties>
</file>